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wmf" ContentType="image/x-w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3" r:id="rId1"/>
  </p:sldMasterIdLst>
  <p:notesMasterIdLst>
    <p:notesMasterId r:id="rId48"/>
  </p:notesMasterIdLst>
  <p:handoutMasterIdLst>
    <p:handoutMasterId r:id="rId49"/>
  </p:handoutMasterIdLst>
  <p:sldIdLst>
    <p:sldId id="262" r:id="rId2"/>
    <p:sldId id="347" r:id="rId3"/>
    <p:sldId id="345" r:id="rId4"/>
    <p:sldId id="350" r:id="rId5"/>
    <p:sldId id="348" r:id="rId6"/>
    <p:sldId id="383" r:id="rId7"/>
    <p:sldId id="400" r:id="rId8"/>
    <p:sldId id="351" r:id="rId9"/>
    <p:sldId id="358" r:id="rId10"/>
    <p:sldId id="359" r:id="rId11"/>
    <p:sldId id="360" r:id="rId12"/>
    <p:sldId id="361" r:id="rId13"/>
    <p:sldId id="362" r:id="rId14"/>
    <p:sldId id="364" r:id="rId15"/>
    <p:sldId id="398" r:id="rId16"/>
    <p:sldId id="365" r:id="rId17"/>
    <p:sldId id="401" r:id="rId18"/>
    <p:sldId id="402" r:id="rId19"/>
    <p:sldId id="391" r:id="rId20"/>
    <p:sldId id="392" r:id="rId21"/>
    <p:sldId id="393" r:id="rId22"/>
    <p:sldId id="367" r:id="rId23"/>
    <p:sldId id="399" r:id="rId24"/>
    <p:sldId id="403" r:id="rId25"/>
    <p:sldId id="404" r:id="rId26"/>
    <p:sldId id="405" r:id="rId27"/>
    <p:sldId id="406" r:id="rId28"/>
    <p:sldId id="370" r:id="rId29"/>
    <p:sldId id="373" r:id="rId30"/>
    <p:sldId id="371" r:id="rId31"/>
    <p:sldId id="372" r:id="rId32"/>
    <p:sldId id="384" r:id="rId33"/>
    <p:sldId id="369" r:id="rId34"/>
    <p:sldId id="374" r:id="rId35"/>
    <p:sldId id="385" r:id="rId36"/>
    <p:sldId id="376" r:id="rId37"/>
    <p:sldId id="377" r:id="rId38"/>
    <p:sldId id="386" r:id="rId39"/>
    <p:sldId id="387" r:id="rId40"/>
    <p:sldId id="380" r:id="rId41"/>
    <p:sldId id="394" r:id="rId42"/>
    <p:sldId id="381" r:id="rId43"/>
    <p:sldId id="395" r:id="rId44"/>
    <p:sldId id="396" r:id="rId45"/>
    <p:sldId id="382" r:id="rId46"/>
    <p:sldId id="397" r:id="rId47"/>
  </p:sldIdLst>
  <p:sldSz cx="9144000" cy="6858000" type="screen4x3"/>
  <p:notesSz cx="6858000" cy="9144000"/>
  <p:kinsoku lang="ko-KR" invalStChars="、。，．・：；？！゛゜ヽヾゝゞ々ー’”）〕］｝〉》」』】°‰′″℃￠％ぁぃぅぇぉっゃゅょゎァィゥェォッャュョヮヵヶ!%),.:;?]}｡｣､･ｧｨｩｪｫｬｭｮｯｰﾞﾟ" invalEndChars="‘“（〔［｛〈《「『【￥＄$([\{｢￡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900" b="1" kern="1200">
        <a:solidFill>
          <a:srgbClr val="8D7DFF"/>
        </a:solidFill>
        <a:latin typeface="Verdana" panose="020B060403050404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900" b="1" kern="1200">
        <a:solidFill>
          <a:srgbClr val="8D7DFF"/>
        </a:solidFill>
        <a:latin typeface="Verdana" panose="020B060403050404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900" b="1" kern="1200">
        <a:solidFill>
          <a:srgbClr val="8D7DFF"/>
        </a:solidFill>
        <a:latin typeface="Verdana" panose="020B060403050404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900" b="1" kern="1200">
        <a:solidFill>
          <a:srgbClr val="8D7DFF"/>
        </a:solidFill>
        <a:latin typeface="Verdana" panose="020B060403050404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900" b="1" kern="1200">
        <a:solidFill>
          <a:srgbClr val="8D7DFF"/>
        </a:solidFill>
        <a:latin typeface="Verdana" panose="020B0604030504040204" pitchFamily="34" charset="0"/>
        <a:ea typeface="+mn-ea"/>
        <a:cs typeface="+mn-cs"/>
      </a:defRPr>
    </a:lvl5pPr>
    <a:lvl6pPr marL="2286000" algn="l" defTabSz="914400" rtl="0" eaLnBrk="1" latinLnBrk="1" hangingPunct="1">
      <a:defRPr sz="2900" b="1" kern="1200">
        <a:solidFill>
          <a:srgbClr val="8D7DFF"/>
        </a:solidFill>
        <a:latin typeface="Verdana" panose="020B0604030504040204" pitchFamily="34" charset="0"/>
        <a:ea typeface="+mn-ea"/>
        <a:cs typeface="+mn-cs"/>
      </a:defRPr>
    </a:lvl6pPr>
    <a:lvl7pPr marL="2743200" algn="l" defTabSz="914400" rtl="0" eaLnBrk="1" latinLnBrk="1" hangingPunct="1">
      <a:defRPr sz="2900" b="1" kern="1200">
        <a:solidFill>
          <a:srgbClr val="8D7DFF"/>
        </a:solidFill>
        <a:latin typeface="Verdana" panose="020B0604030504040204" pitchFamily="34" charset="0"/>
        <a:ea typeface="+mn-ea"/>
        <a:cs typeface="+mn-cs"/>
      </a:defRPr>
    </a:lvl7pPr>
    <a:lvl8pPr marL="3200400" algn="l" defTabSz="914400" rtl="0" eaLnBrk="1" latinLnBrk="1" hangingPunct="1">
      <a:defRPr sz="2900" b="1" kern="1200">
        <a:solidFill>
          <a:srgbClr val="8D7DFF"/>
        </a:solidFill>
        <a:latin typeface="Verdana" panose="020B0604030504040204" pitchFamily="34" charset="0"/>
        <a:ea typeface="+mn-ea"/>
        <a:cs typeface="+mn-cs"/>
      </a:defRPr>
    </a:lvl8pPr>
    <a:lvl9pPr marL="3657600" algn="l" defTabSz="914400" rtl="0" eaLnBrk="1" latinLnBrk="1" hangingPunct="1">
      <a:defRPr sz="2900" b="1" kern="1200">
        <a:solidFill>
          <a:srgbClr val="8D7DFF"/>
        </a:solidFill>
        <a:latin typeface="Verdana" panose="020B060403050404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혜원 이" initials="혜이" lastIdx="1" clrIdx="0">
    <p:extLst>
      <p:ext uri="{19B8F6BF-5375-455C-9EA6-DF929625EA0E}">
        <p15:presenceInfo xmlns:p15="http://schemas.microsoft.com/office/powerpoint/2012/main" userId="99893eec1c1f37fa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0000FF"/>
    <a:srgbClr val="DAEDD1"/>
    <a:srgbClr val="C4E3B5"/>
    <a:srgbClr val="663300"/>
    <a:srgbClr val="1C4E35"/>
    <a:srgbClr val="FFFFFF"/>
    <a:srgbClr val="B2B2B2"/>
    <a:srgbClr val="CCC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309" autoAdjust="0"/>
    <p:restoredTop sz="94662" autoAdjust="0"/>
  </p:normalViewPr>
  <p:slideViewPr>
    <p:cSldViewPr snapToGrid="0">
      <p:cViewPr varScale="1">
        <p:scale>
          <a:sx n="88" d="100"/>
          <a:sy n="88" d="100"/>
        </p:scale>
        <p:origin x="874" y="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>
      <p:cViewPr varScale="1">
        <p:scale>
          <a:sx n="37" d="100"/>
          <a:sy n="37" d="100"/>
        </p:scale>
        <p:origin x="-1470" y="-96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commentAuthors" Target="commentAuthor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presProps" Target="pres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handoutMaster" Target="handoutMasters/handoutMaster1.xml"/></Relationships>
</file>

<file path=ppt/drawings/_rels/vmlDrawing1.vml.rels><?xml version="1.0" encoding="UTF-8" standalone="yes"?>
<Relationships xmlns="http://schemas.openxmlformats.org/package/2006/relationships"><Relationship Id="rId2" Type="http://schemas.openxmlformats.org/officeDocument/2006/relationships/image" Target="../media/image20.wmf"/><Relationship Id="rId1" Type="http://schemas.openxmlformats.org/officeDocument/2006/relationships/image" Target="../media/image19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3137218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9350" y="692150"/>
            <a:ext cx="4559300" cy="3416300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051" name="Rectangle 3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vert="horz" wrap="square" lIns="90488" tIns="44450" rIns="90488" bIns="4445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ko-KR" noProof="0"/>
              <a:t>Click to edit Master text styles</a:t>
            </a:r>
          </a:p>
          <a:p>
            <a:pPr lvl="1"/>
            <a:r>
              <a:rPr lang="en-US" altLang="ko-KR" noProof="0"/>
              <a:t>Second level</a:t>
            </a:r>
          </a:p>
          <a:p>
            <a:pPr lvl="2"/>
            <a:r>
              <a:rPr lang="en-US" altLang="ko-KR" noProof="0"/>
              <a:t>Third level</a:t>
            </a:r>
          </a:p>
          <a:p>
            <a:pPr lvl="3"/>
            <a:r>
              <a:rPr lang="en-US" altLang="ko-KR" noProof="0"/>
              <a:t>Fourth level</a:t>
            </a:r>
          </a:p>
          <a:p>
            <a:pPr lvl="4"/>
            <a:r>
              <a:rPr lang="en-US" altLang="ko-KR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474278526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entury Gothic" pitchFamily="34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entury Gothic" pitchFamily="34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entury Gothic" pitchFamily="34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entury Gothic" pitchFamily="34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entury Gothic" pitchFamily="34" charset="0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ChangeArrowheads="1"/>
          </p:cNvSpPr>
          <p:nvPr/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19459" name="Rectangle 3"/>
          <p:cNvSpPr>
            <a:spLocks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 anchor="b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pPr algn="r"/>
            <a:r>
              <a:rPr lang="en-US" altLang="ko-KR" sz="1200" b="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rPr>
              <a:t>2</a:t>
            </a:r>
          </a:p>
        </p:txBody>
      </p:sp>
      <p:sp>
        <p:nvSpPr>
          <p:cNvPr id="19460" name="Rectangle 4"/>
          <p:cNvSpPr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19461" name="Rectangle 5"/>
          <p:cNvSpPr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19462" name="Rectangle 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 cap="flat"/>
        </p:spPr>
      </p:sp>
      <p:sp>
        <p:nvSpPr>
          <p:cNvPr id="19463" name="Rectangle 7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>
              <a:ea typeface="굴림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91612060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ChangeArrowheads="1"/>
          </p:cNvSpPr>
          <p:nvPr/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20483" name="Rectangle 3"/>
          <p:cNvSpPr>
            <a:spLocks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 anchor="b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pPr algn="r"/>
            <a:r>
              <a:rPr lang="en-US" altLang="ko-KR" sz="1200" b="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rPr>
              <a:t>5</a:t>
            </a:r>
          </a:p>
        </p:txBody>
      </p:sp>
      <p:sp>
        <p:nvSpPr>
          <p:cNvPr id="20484" name="Rectangle 4"/>
          <p:cNvSpPr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20485" name="Rectangle 5"/>
          <p:cNvSpPr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20486" name="Rectangle 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 cap="flat"/>
        </p:spPr>
      </p:sp>
      <p:sp>
        <p:nvSpPr>
          <p:cNvPr id="20487" name="Rectangle 7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>
              <a:ea typeface="굴림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66449734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ChangeArrowheads="1"/>
          </p:cNvSpPr>
          <p:nvPr/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20483" name="Rectangle 3"/>
          <p:cNvSpPr>
            <a:spLocks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 anchor="b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pPr algn="r"/>
            <a:r>
              <a:rPr lang="en-US" altLang="ko-KR" sz="1200" b="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rPr>
              <a:t>5</a:t>
            </a:r>
          </a:p>
        </p:txBody>
      </p:sp>
      <p:sp>
        <p:nvSpPr>
          <p:cNvPr id="20484" name="Rectangle 4"/>
          <p:cNvSpPr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20485" name="Rectangle 5"/>
          <p:cNvSpPr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20486" name="Rectangle 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 cap="flat"/>
        </p:spPr>
      </p:sp>
      <p:sp>
        <p:nvSpPr>
          <p:cNvPr id="20487" name="Rectangle 7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>
              <a:ea typeface="굴림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38013551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ChangeArrowheads="1"/>
          </p:cNvSpPr>
          <p:nvPr/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20483" name="Rectangle 3"/>
          <p:cNvSpPr>
            <a:spLocks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 anchor="b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pPr algn="r"/>
            <a:r>
              <a:rPr lang="en-US" altLang="ko-KR" sz="1200" b="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rPr>
              <a:t>5</a:t>
            </a:r>
          </a:p>
        </p:txBody>
      </p:sp>
      <p:sp>
        <p:nvSpPr>
          <p:cNvPr id="20484" name="Rectangle 4"/>
          <p:cNvSpPr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20485" name="Rectangle 5"/>
          <p:cNvSpPr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20486" name="Rectangle 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 cap="flat"/>
        </p:spPr>
      </p:sp>
      <p:sp>
        <p:nvSpPr>
          <p:cNvPr id="20487" name="Rectangle 7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>
              <a:ea typeface="굴림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07070150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ChangeArrowheads="1"/>
          </p:cNvSpPr>
          <p:nvPr/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20483" name="Rectangle 3"/>
          <p:cNvSpPr>
            <a:spLocks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 anchor="b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pPr algn="r"/>
            <a:r>
              <a:rPr lang="en-US" altLang="ko-KR" sz="1200" b="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rPr>
              <a:t>5</a:t>
            </a:r>
          </a:p>
        </p:txBody>
      </p:sp>
      <p:sp>
        <p:nvSpPr>
          <p:cNvPr id="20484" name="Rectangle 4"/>
          <p:cNvSpPr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20485" name="Rectangle 5"/>
          <p:cNvSpPr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20486" name="Rectangle 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 cap="flat"/>
        </p:spPr>
      </p:sp>
      <p:sp>
        <p:nvSpPr>
          <p:cNvPr id="20487" name="Rectangle 7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>
              <a:ea typeface="굴림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31637518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ChangeArrowheads="1"/>
          </p:cNvSpPr>
          <p:nvPr/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20483" name="Rectangle 3"/>
          <p:cNvSpPr>
            <a:spLocks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 anchor="b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pPr algn="r"/>
            <a:r>
              <a:rPr lang="en-US" altLang="ko-KR" sz="1200" b="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rPr>
              <a:t>5</a:t>
            </a:r>
          </a:p>
        </p:txBody>
      </p:sp>
      <p:sp>
        <p:nvSpPr>
          <p:cNvPr id="20484" name="Rectangle 4"/>
          <p:cNvSpPr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20485" name="Rectangle 5"/>
          <p:cNvSpPr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20486" name="Rectangle 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 cap="flat"/>
        </p:spPr>
      </p:sp>
      <p:sp>
        <p:nvSpPr>
          <p:cNvPr id="20487" name="Rectangle 7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>
              <a:ea typeface="굴림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65054587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ChangeArrowheads="1"/>
          </p:cNvSpPr>
          <p:nvPr/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20483" name="Rectangle 3"/>
          <p:cNvSpPr>
            <a:spLocks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 anchor="b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pPr algn="r"/>
            <a:r>
              <a:rPr lang="en-US" altLang="ko-KR" sz="1200" b="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rPr>
              <a:t>5</a:t>
            </a:r>
          </a:p>
        </p:txBody>
      </p:sp>
      <p:sp>
        <p:nvSpPr>
          <p:cNvPr id="20484" name="Rectangle 4"/>
          <p:cNvSpPr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20485" name="Rectangle 5"/>
          <p:cNvSpPr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20486" name="Rectangle 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 cap="flat"/>
        </p:spPr>
      </p:sp>
      <p:sp>
        <p:nvSpPr>
          <p:cNvPr id="20487" name="Rectangle 7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>
              <a:ea typeface="굴림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37149546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ChangeArrowheads="1"/>
          </p:cNvSpPr>
          <p:nvPr/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20483" name="Rectangle 3"/>
          <p:cNvSpPr>
            <a:spLocks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 anchor="b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pPr algn="r"/>
            <a:r>
              <a:rPr lang="en-US" altLang="ko-KR" sz="1200" b="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rPr>
              <a:t>5</a:t>
            </a:r>
          </a:p>
        </p:txBody>
      </p:sp>
      <p:sp>
        <p:nvSpPr>
          <p:cNvPr id="20484" name="Rectangle 4"/>
          <p:cNvSpPr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20485" name="Rectangle 5"/>
          <p:cNvSpPr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20486" name="Rectangle 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 cap="flat"/>
        </p:spPr>
      </p:sp>
      <p:sp>
        <p:nvSpPr>
          <p:cNvPr id="20487" name="Rectangle 7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>
              <a:ea typeface="굴림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65054587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ChangeArrowheads="1"/>
          </p:cNvSpPr>
          <p:nvPr/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20483" name="Rectangle 3"/>
          <p:cNvSpPr>
            <a:spLocks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 anchor="b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pPr algn="r"/>
            <a:r>
              <a:rPr lang="en-US" altLang="ko-KR" sz="1200" b="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rPr>
              <a:t>5</a:t>
            </a:r>
          </a:p>
        </p:txBody>
      </p:sp>
      <p:sp>
        <p:nvSpPr>
          <p:cNvPr id="20484" name="Rectangle 4"/>
          <p:cNvSpPr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20485" name="Rectangle 5"/>
          <p:cNvSpPr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20486" name="Rectangle 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 cap="flat"/>
        </p:spPr>
      </p:sp>
      <p:sp>
        <p:nvSpPr>
          <p:cNvPr id="20487" name="Rectangle 7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>
              <a:ea typeface="굴림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79045247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ChangeArrowheads="1"/>
          </p:cNvSpPr>
          <p:nvPr/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20483" name="Rectangle 3"/>
          <p:cNvSpPr>
            <a:spLocks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 anchor="b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pPr algn="r"/>
            <a:r>
              <a:rPr lang="en-US" altLang="ko-KR" sz="1200" b="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rPr>
              <a:t>5</a:t>
            </a:r>
          </a:p>
        </p:txBody>
      </p:sp>
      <p:sp>
        <p:nvSpPr>
          <p:cNvPr id="20484" name="Rectangle 4"/>
          <p:cNvSpPr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20485" name="Rectangle 5"/>
          <p:cNvSpPr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20486" name="Rectangle 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 cap="flat"/>
        </p:spPr>
      </p:sp>
      <p:sp>
        <p:nvSpPr>
          <p:cNvPr id="20487" name="Rectangle 7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>
              <a:ea typeface="굴림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09906547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ChangeArrowheads="1"/>
          </p:cNvSpPr>
          <p:nvPr/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20483" name="Rectangle 3"/>
          <p:cNvSpPr>
            <a:spLocks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 anchor="b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pPr algn="r"/>
            <a:r>
              <a:rPr lang="en-US" altLang="ko-KR" sz="1200" b="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rPr>
              <a:t>5</a:t>
            </a:r>
          </a:p>
        </p:txBody>
      </p:sp>
      <p:sp>
        <p:nvSpPr>
          <p:cNvPr id="20484" name="Rectangle 4"/>
          <p:cNvSpPr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20485" name="Rectangle 5"/>
          <p:cNvSpPr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20486" name="Rectangle 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 cap="flat"/>
        </p:spPr>
      </p:sp>
      <p:sp>
        <p:nvSpPr>
          <p:cNvPr id="20487" name="Rectangle 7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>
              <a:ea typeface="굴림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54331815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ChangeArrowheads="1"/>
          </p:cNvSpPr>
          <p:nvPr/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20483" name="Rectangle 3"/>
          <p:cNvSpPr>
            <a:spLocks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 anchor="b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pPr algn="r"/>
            <a:r>
              <a:rPr lang="en-US" altLang="ko-KR" sz="1200" b="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rPr>
              <a:t>5</a:t>
            </a:r>
          </a:p>
        </p:txBody>
      </p:sp>
      <p:sp>
        <p:nvSpPr>
          <p:cNvPr id="20484" name="Rectangle 4"/>
          <p:cNvSpPr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20485" name="Rectangle 5"/>
          <p:cNvSpPr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20486" name="Rectangle 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 cap="flat"/>
        </p:spPr>
      </p:sp>
      <p:sp>
        <p:nvSpPr>
          <p:cNvPr id="20487" name="Rectangle 7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>
              <a:ea typeface="굴림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39506629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ChangeArrowheads="1"/>
          </p:cNvSpPr>
          <p:nvPr/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20483" name="Rectangle 3"/>
          <p:cNvSpPr>
            <a:spLocks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 anchor="b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pPr algn="r"/>
            <a:r>
              <a:rPr lang="en-US" altLang="ko-KR" sz="1200" b="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rPr>
              <a:t>5</a:t>
            </a:r>
          </a:p>
        </p:txBody>
      </p:sp>
      <p:sp>
        <p:nvSpPr>
          <p:cNvPr id="20484" name="Rectangle 4"/>
          <p:cNvSpPr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20485" name="Rectangle 5"/>
          <p:cNvSpPr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20486" name="Rectangle 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 cap="flat"/>
        </p:spPr>
      </p:sp>
      <p:sp>
        <p:nvSpPr>
          <p:cNvPr id="20487" name="Rectangle 7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>
              <a:ea typeface="굴림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3859613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ChangeArrowheads="1"/>
          </p:cNvSpPr>
          <p:nvPr/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20483" name="Rectangle 3"/>
          <p:cNvSpPr>
            <a:spLocks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 anchor="b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pPr algn="r"/>
            <a:r>
              <a:rPr lang="en-US" altLang="ko-KR" sz="1200" b="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rPr>
              <a:t>5</a:t>
            </a:r>
          </a:p>
        </p:txBody>
      </p:sp>
      <p:sp>
        <p:nvSpPr>
          <p:cNvPr id="20484" name="Rectangle 4"/>
          <p:cNvSpPr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20485" name="Rectangle 5"/>
          <p:cNvSpPr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20486" name="Rectangle 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 cap="flat"/>
        </p:spPr>
      </p:sp>
      <p:sp>
        <p:nvSpPr>
          <p:cNvPr id="20487" name="Rectangle 7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>
              <a:ea typeface="굴림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70906329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ChangeArrowheads="1"/>
          </p:cNvSpPr>
          <p:nvPr/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20483" name="Rectangle 3"/>
          <p:cNvSpPr>
            <a:spLocks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 anchor="b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pPr algn="r"/>
            <a:r>
              <a:rPr lang="en-US" altLang="ko-KR" sz="1200" b="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rPr>
              <a:t>5</a:t>
            </a:r>
          </a:p>
        </p:txBody>
      </p:sp>
      <p:sp>
        <p:nvSpPr>
          <p:cNvPr id="20484" name="Rectangle 4"/>
          <p:cNvSpPr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20485" name="Rectangle 5"/>
          <p:cNvSpPr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20486" name="Rectangle 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 cap="flat"/>
        </p:spPr>
      </p:sp>
      <p:sp>
        <p:nvSpPr>
          <p:cNvPr id="20487" name="Rectangle 7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>
              <a:ea typeface="굴림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19344859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ChangeArrowheads="1"/>
          </p:cNvSpPr>
          <p:nvPr/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20483" name="Rectangle 3"/>
          <p:cNvSpPr>
            <a:spLocks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 anchor="b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pPr algn="r"/>
            <a:r>
              <a:rPr lang="en-US" altLang="ko-KR" sz="1200" b="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rPr>
              <a:t>5</a:t>
            </a:r>
          </a:p>
        </p:txBody>
      </p:sp>
      <p:sp>
        <p:nvSpPr>
          <p:cNvPr id="20484" name="Rectangle 4"/>
          <p:cNvSpPr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20485" name="Rectangle 5"/>
          <p:cNvSpPr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20486" name="Rectangle 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 cap="flat"/>
        </p:spPr>
      </p:sp>
      <p:sp>
        <p:nvSpPr>
          <p:cNvPr id="20487" name="Rectangle 7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>
              <a:ea typeface="굴림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60844931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ChangeArrowheads="1"/>
          </p:cNvSpPr>
          <p:nvPr/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20483" name="Rectangle 3"/>
          <p:cNvSpPr>
            <a:spLocks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 anchor="b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pPr algn="r"/>
            <a:r>
              <a:rPr lang="en-US" altLang="ko-KR" sz="1200" b="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rPr>
              <a:t>5</a:t>
            </a:r>
          </a:p>
        </p:txBody>
      </p:sp>
      <p:sp>
        <p:nvSpPr>
          <p:cNvPr id="20484" name="Rectangle 4"/>
          <p:cNvSpPr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20485" name="Rectangle 5"/>
          <p:cNvSpPr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20486" name="Rectangle 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 cap="flat"/>
        </p:spPr>
      </p:sp>
      <p:sp>
        <p:nvSpPr>
          <p:cNvPr id="20487" name="Rectangle 7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>
              <a:ea typeface="굴림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9828860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ChangeArrowheads="1"/>
          </p:cNvSpPr>
          <p:nvPr/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20483" name="Rectangle 3"/>
          <p:cNvSpPr>
            <a:spLocks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 anchor="b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pPr algn="r"/>
            <a:r>
              <a:rPr lang="en-US" altLang="ko-KR" sz="1200" b="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rPr>
              <a:t>5</a:t>
            </a:r>
          </a:p>
        </p:txBody>
      </p:sp>
      <p:sp>
        <p:nvSpPr>
          <p:cNvPr id="20484" name="Rectangle 4"/>
          <p:cNvSpPr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20485" name="Rectangle 5"/>
          <p:cNvSpPr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20486" name="Rectangle 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 cap="flat"/>
        </p:spPr>
      </p:sp>
      <p:sp>
        <p:nvSpPr>
          <p:cNvPr id="20487" name="Rectangle 7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>
              <a:ea typeface="굴림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5392927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ChangeArrowheads="1"/>
          </p:cNvSpPr>
          <p:nvPr/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20483" name="Rectangle 3"/>
          <p:cNvSpPr>
            <a:spLocks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 anchor="b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pPr algn="r"/>
            <a:r>
              <a:rPr lang="en-US" altLang="ko-KR" sz="1200" b="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rPr>
              <a:t>5</a:t>
            </a:r>
          </a:p>
        </p:txBody>
      </p:sp>
      <p:sp>
        <p:nvSpPr>
          <p:cNvPr id="20484" name="Rectangle 4"/>
          <p:cNvSpPr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20485" name="Rectangle 5"/>
          <p:cNvSpPr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20486" name="Rectangle 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 cap="flat"/>
        </p:spPr>
      </p:sp>
      <p:sp>
        <p:nvSpPr>
          <p:cNvPr id="20487" name="Rectangle 7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>
              <a:ea typeface="굴림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2317608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ChangeArrowheads="1"/>
          </p:cNvSpPr>
          <p:nvPr/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20483" name="Rectangle 3"/>
          <p:cNvSpPr>
            <a:spLocks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 anchor="b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pPr algn="r"/>
            <a:r>
              <a:rPr lang="en-US" altLang="ko-KR" sz="1200" b="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rPr>
              <a:t>5</a:t>
            </a:r>
          </a:p>
        </p:txBody>
      </p:sp>
      <p:sp>
        <p:nvSpPr>
          <p:cNvPr id="20484" name="Rectangle 4"/>
          <p:cNvSpPr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20485" name="Rectangle 5"/>
          <p:cNvSpPr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20486" name="Rectangle 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 cap="flat"/>
        </p:spPr>
      </p:sp>
      <p:sp>
        <p:nvSpPr>
          <p:cNvPr id="20487" name="Rectangle 7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>
              <a:ea typeface="굴림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785705103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ChangeArrowheads="1"/>
          </p:cNvSpPr>
          <p:nvPr/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20483" name="Rectangle 3"/>
          <p:cNvSpPr>
            <a:spLocks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 anchor="b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pPr algn="r"/>
            <a:r>
              <a:rPr lang="en-US" altLang="ko-KR" sz="1200" b="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rPr>
              <a:t>5</a:t>
            </a:r>
          </a:p>
        </p:txBody>
      </p:sp>
      <p:sp>
        <p:nvSpPr>
          <p:cNvPr id="20484" name="Rectangle 4"/>
          <p:cNvSpPr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20485" name="Rectangle 5"/>
          <p:cNvSpPr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20486" name="Rectangle 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 cap="flat"/>
        </p:spPr>
      </p:sp>
      <p:sp>
        <p:nvSpPr>
          <p:cNvPr id="20487" name="Rectangle 7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>
              <a:ea typeface="굴림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826270298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ChangeArrowheads="1"/>
          </p:cNvSpPr>
          <p:nvPr/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20483" name="Rectangle 3"/>
          <p:cNvSpPr>
            <a:spLocks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 anchor="b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pPr algn="r"/>
            <a:r>
              <a:rPr lang="en-US" altLang="ko-KR" sz="1200" b="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rPr>
              <a:t>5</a:t>
            </a:r>
          </a:p>
        </p:txBody>
      </p:sp>
      <p:sp>
        <p:nvSpPr>
          <p:cNvPr id="20484" name="Rectangle 4"/>
          <p:cNvSpPr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20485" name="Rectangle 5"/>
          <p:cNvSpPr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20486" name="Rectangle 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 cap="flat"/>
        </p:spPr>
      </p:sp>
      <p:sp>
        <p:nvSpPr>
          <p:cNvPr id="20487" name="Rectangle 7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>
              <a:ea typeface="굴림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301815948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ChangeArrowheads="1"/>
          </p:cNvSpPr>
          <p:nvPr/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20483" name="Rectangle 3"/>
          <p:cNvSpPr>
            <a:spLocks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 anchor="b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pPr algn="r"/>
            <a:r>
              <a:rPr lang="en-US" altLang="ko-KR" sz="1200" b="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rPr>
              <a:t>5</a:t>
            </a:r>
          </a:p>
        </p:txBody>
      </p:sp>
      <p:sp>
        <p:nvSpPr>
          <p:cNvPr id="20484" name="Rectangle 4"/>
          <p:cNvSpPr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20485" name="Rectangle 5"/>
          <p:cNvSpPr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20486" name="Rectangle 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 cap="flat"/>
        </p:spPr>
      </p:sp>
      <p:sp>
        <p:nvSpPr>
          <p:cNvPr id="20487" name="Rectangle 7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>
              <a:ea typeface="굴림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052053016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ChangeArrowheads="1"/>
          </p:cNvSpPr>
          <p:nvPr/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20483" name="Rectangle 3"/>
          <p:cNvSpPr>
            <a:spLocks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 anchor="b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pPr algn="r"/>
            <a:r>
              <a:rPr lang="en-US" altLang="ko-KR" sz="1200" b="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rPr>
              <a:t>5</a:t>
            </a:r>
          </a:p>
        </p:txBody>
      </p:sp>
      <p:sp>
        <p:nvSpPr>
          <p:cNvPr id="20484" name="Rectangle 4"/>
          <p:cNvSpPr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20485" name="Rectangle 5"/>
          <p:cNvSpPr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20486" name="Rectangle 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 cap="flat"/>
        </p:spPr>
      </p:sp>
      <p:sp>
        <p:nvSpPr>
          <p:cNvPr id="20487" name="Rectangle 7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>
              <a:ea typeface="굴림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984276344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ChangeArrowheads="1"/>
          </p:cNvSpPr>
          <p:nvPr/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20483" name="Rectangle 3"/>
          <p:cNvSpPr>
            <a:spLocks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 anchor="b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pPr algn="r"/>
            <a:r>
              <a:rPr lang="en-US" altLang="ko-KR" sz="1200" b="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rPr>
              <a:t>5</a:t>
            </a:r>
          </a:p>
        </p:txBody>
      </p:sp>
      <p:sp>
        <p:nvSpPr>
          <p:cNvPr id="20484" name="Rectangle 4"/>
          <p:cNvSpPr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20485" name="Rectangle 5"/>
          <p:cNvSpPr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20486" name="Rectangle 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 cap="flat"/>
        </p:spPr>
      </p:sp>
      <p:sp>
        <p:nvSpPr>
          <p:cNvPr id="20487" name="Rectangle 7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>
              <a:ea typeface="굴림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207197189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ChangeArrowheads="1"/>
          </p:cNvSpPr>
          <p:nvPr/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20483" name="Rectangle 3"/>
          <p:cNvSpPr>
            <a:spLocks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 anchor="b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pPr algn="r"/>
            <a:r>
              <a:rPr lang="en-US" altLang="ko-KR" sz="1200" b="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rPr>
              <a:t>5</a:t>
            </a:r>
          </a:p>
        </p:txBody>
      </p:sp>
      <p:sp>
        <p:nvSpPr>
          <p:cNvPr id="20484" name="Rectangle 4"/>
          <p:cNvSpPr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20485" name="Rectangle 5"/>
          <p:cNvSpPr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20486" name="Rectangle 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 cap="flat"/>
        </p:spPr>
      </p:sp>
      <p:sp>
        <p:nvSpPr>
          <p:cNvPr id="20487" name="Rectangle 7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>
              <a:ea typeface="굴림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076950074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ChangeArrowheads="1"/>
          </p:cNvSpPr>
          <p:nvPr/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20483" name="Rectangle 3"/>
          <p:cNvSpPr>
            <a:spLocks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 anchor="b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pPr algn="r"/>
            <a:r>
              <a:rPr lang="en-US" altLang="ko-KR" sz="1200" b="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rPr>
              <a:t>5</a:t>
            </a:r>
          </a:p>
        </p:txBody>
      </p:sp>
      <p:sp>
        <p:nvSpPr>
          <p:cNvPr id="20484" name="Rectangle 4"/>
          <p:cNvSpPr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20485" name="Rectangle 5"/>
          <p:cNvSpPr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20486" name="Rectangle 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 cap="flat"/>
        </p:spPr>
      </p:sp>
      <p:sp>
        <p:nvSpPr>
          <p:cNvPr id="20487" name="Rectangle 7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>
              <a:ea typeface="굴림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91976747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ChangeArrowheads="1"/>
          </p:cNvSpPr>
          <p:nvPr/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20483" name="Rectangle 3"/>
          <p:cNvSpPr>
            <a:spLocks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 anchor="b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pPr algn="r"/>
            <a:r>
              <a:rPr lang="en-US" altLang="ko-KR" sz="1200" b="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rPr>
              <a:t>5</a:t>
            </a:r>
          </a:p>
        </p:txBody>
      </p:sp>
      <p:sp>
        <p:nvSpPr>
          <p:cNvPr id="20484" name="Rectangle 4"/>
          <p:cNvSpPr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20485" name="Rectangle 5"/>
          <p:cNvSpPr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20486" name="Rectangle 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 cap="flat"/>
        </p:spPr>
      </p:sp>
      <p:sp>
        <p:nvSpPr>
          <p:cNvPr id="20487" name="Rectangle 7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>
              <a:ea typeface="굴림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91976747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ChangeArrowheads="1"/>
          </p:cNvSpPr>
          <p:nvPr/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20483" name="Rectangle 3"/>
          <p:cNvSpPr>
            <a:spLocks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 anchor="b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pPr algn="r"/>
            <a:r>
              <a:rPr lang="en-US" altLang="ko-KR" sz="1200" b="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rPr>
              <a:t>5</a:t>
            </a:r>
          </a:p>
        </p:txBody>
      </p:sp>
      <p:sp>
        <p:nvSpPr>
          <p:cNvPr id="20484" name="Rectangle 4"/>
          <p:cNvSpPr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20485" name="Rectangle 5"/>
          <p:cNvSpPr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20486" name="Rectangle 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 cap="flat"/>
        </p:spPr>
      </p:sp>
      <p:sp>
        <p:nvSpPr>
          <p:cNvPr id="20487" name="Rectangle 7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>
              <a:ea typeface="굴림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080937353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ChangeArrowheads="1"/>
          </p:cNvSpPr>
          <p:nvPr/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20483" name="Rectangle 3"/>
          <p:cNvSpPr>
            <a:spLocks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 anchor="b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pPr algn="r"/>
            <a:r>
              <a:rPr lang="en-US" altLang="ko-KR" sz="1200" b="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rPr>
              <a:t>5</a:t>
            </a:r>
          </a:p>
        </p:txBody>
      </p:sp>
      <p:sp>
        <p:nvSpPr>
          <p:cNvPr id="20484" name="Rectangle 4"/>
          <p:cNvSpPr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20485" name="Rectangle 5"/>
          <p:cNvSpPr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20486" name="Rectangle 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 cap="flat"/>
        </p:spPr>
      </p:sp>
      <p:sp>
        <p:nvSpPr>
          <p:cNvPr id="20487" name="Rectangle 7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>
              <a:ea typeface="굴림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080937353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ChangeArrowheads="1"/>
          </p:cNvSpPr>
          <p:nvPr/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20483" name="Rectangle 3"/>
          <p:cNvSpPr>
            <a:spLocks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 anchor="b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pPr algn="r"/>
            <a:r>
              <a:rPr lang="en-US" altLang="ko-KR" sz="1200" b="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rPr>
              <a:t>5</a:t>
            </a:r>
          </a:p>
        </p:txBody>
      </p:sp>
      <p:sp>
        <p:nvSpPr>
          <p:cNvPr id="20484" name="Rectangle 4"/>
          <p:cNvSpPr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20485" name="Rectangle 5"/>
          <p:cNvSpPr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20486" name="Rectangle 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 cap="flat"/>
        </p:spPr>
      </p:sp>
      <p:sp>
        <p:nvSpPr>
          <p:cNvPr id="20487" name="Rectangle 7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>
              <a:ea typeface="굴림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534696229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ChangeArrowheads="1"/>
          </p:cNvSpPr>
          <p:nvPr/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20483" name="Rectangle 3"/>
          <p:cNvSpPr>
            <a:spLocks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 anchor="b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pPr algn="r"/>
            <a:r>
              <a:rPr lang="en-US" altLang="ko-KR" sz="1200" b="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rPr>
              <a:t>5</a:t>
            </a:r>
          </a:p>
        </p:txBody>
      </p:sp>
      <p:sp>
        <p:nvSpPr>
          <p:cNvPr id="20484" name="Rectangle 4"/>
          <p:cNvSpPr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20485" name="Rectangle 5"/>
          <p:cNvSpPr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20486" name="Rectangle 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 cap="flat"/>
        </p:spPr>
      </p:sp>
      <p:sp>
        <p:nvSpPr>
          <p:cNvPr id="20487" name="Rectangle 7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>
              <a:ea typeface="굴림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250530307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ChangeArrowheads="1"/>
          </p:cNvSpPr>
          <p:nvPr/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20483" name="Rectangle 3"/>
          <p:cNvSpPr>
            <a:spLocks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 anchor="b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pPr algn="r"/>
            <a:r>
              <a:rPr lang="en-US" altLang="ko-KR" sz="1200" b="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rPr>
              <a:t>5</a:t>
            </a:r>
          </a:p>
        </p:txBody>
      </p:sp>
      <p:sp>
        <p:nvSpPr>
          <p:cNvPr id="20484" name="Rectangle 4"/>
          <p:cNvSpPr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20485" name="Rectangle 5"/>
          <p:cNvSpPr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20486" name="Rectangle 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 cap="flat"/>
        </p:spPr>
      </p:sp>
      <p:sp>
        <p:nvSpPr>
          <p:cNvPr id="20487" name="Rectangle 7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>
              <a:ea typeface="굴림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250530307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ChangeArrowheads="1"/>
          </p:cNvSpPr>
          <p:nvPr/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20483" name="Rectangle 3"/>
          <p:cNvSpPr>
            <a:spLocks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 anchor="b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pPr algn="r"/>
            <a:r>
              <a:rPr lang="en-US" altLang="ko-KR" sz="1200" b="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rPr>
              <a:t>5</a:t>
            </a:r>
          </a:p>
        </p:txBody>
      </p:sp>
      <p:sp>
        <p:nvSpPr>
          <p:cNvPr id="20484" name="Rectangle 4"/>
          <p:cNvSpPr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20485" name="Rectangle 5"/>
          <p:cNvSpPr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20486" name="Rectangle 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 cap="flat"/>
        </p:spPr>
      </p:sp>
      <p:sp>
        <p:nvSpPr>
          <p:cNvPr id="20487" name="Rectangle 7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>
              <a:ea typeface="굴림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834721536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ChangeArrowheads="1"/>
          </p:cNvSpPr>
          <p:nvPr/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20483" name="Rectangle 3"/>
          <p:cNvSpPr>
            <a:spLocks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 anchor="b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pPr algn="r"/>
            <a:r>
              <a:rPr lang="en-US" altLang="ko-KR" sz="1200" b="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rPr>
              <a:t>5</a:t>
            </a:r>
          </a:p>
        </p:txBody>
      </p:sp>
      <p:sp>
        <p:nvSpPr>
          <p:cNvPr id="20484" name="Rectangle 4"/>
          <p:cNvSpPr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20485" name="Rectangle 5"/>
          <p:cNvSpPr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20486" name="Rectangle 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 cap="flat"/>
        </p:spPr>
      </p:sp>
      <p:sp>
        <p:nvSpPr>
          <p:cNvPr id="20487" name="Rectangle 7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>
              <a:ea typeface="굴림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834721536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ChangeArrowheads="1"/>
          </p:cNvSpPr>
          <p:nvPr/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20483" name="Rectangle 3"/>
          <p:cNvSpPr>
            <a:spLocks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 anchor="b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pPr algn="r"/>
            <a:r>
              <a:rPr lang="en-US" altLang="ko-KR" sz="1200" b="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rPr>
              <a:t>5</a:t>
            </a:r>
          </a:p>
        </p:txBody>
      </p:sp>
      <p:sp>
        <p:nvSpPr>
          <p:cNvPr id="20484" name="Rectangle 4"/>
          <p:cNvSpPr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20485" name="Rectangle 5"/>
          <p:cNvSpPr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20486" name="Rectangle 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 cap="flat"/>
        </p:spPr>
      </p:sp>
      <p:sp>
        <p:nvSpPr>
          <p:cNvPr id="20487" name="Rectangle 7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>
              <a:ea typeface="굴림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104029499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ChangeArrowheads="1"/>
          </p:cNvSpPr>
          <p:nvPr/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20483" name="Rectangle 3"/>
          <p:cNvSpPr>
            <a:spLocks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 anchor="b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pPr algn="r"/>
            <a:r>
              <a:rPr lang="en-US" altLang="ko-KR" sz="1200" b="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rPr>
              <a:t>5</a:t>
            </a:r>
          </a:p>
        </p:txBody>
      </p:sp>
      <p:sp>
        <p:nvSpPr>
          <p:cNvPr id="20484" name="Rectangle 4"/>
          <p:cNvSpPr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20485" name="Rectangle 5"/>
          <p:cNvSpPr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20486" name="Rectangle 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 cap="flat"/>
        </p:spPr>
      </p:sp>
      <p:sp>
        <p:nvSpPr>
          <p:cNvPr id="20487" name="Rectangle 7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>
              <a:ea typeface="굴림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226481043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ChangeArrowheads="1"/>
          </p:cNvSpPr>
          <p:nvPr/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20483" name="Rectangle 3"/>
          <p:cNvSpPr>
            <a:spLocks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 anchor="b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pPr algn="r"/>
            <a:r>
              <a:rPr lang="en-US" altLang="ko-KR" sz="1200" b="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rPr>
              <a:t>5</a:t>
            </a:r>
          </a:p>
        </p:txBody>
      </p:sp>
      <p:sp>
        <p:nvSpPr>
          <p:cNvPr id="20484" name="Rectangle 4"/>
          <p:cNvSpPr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20485" name="Rectangle 5"/>
          <p:cNvSpPr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20486" name="Rectangle 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 cap="flat"/>
        </p:spPr>
      </p:sp>
      <p:sp>
        <p:nvSpPr>
          <p:cNvPr id="20487" name="Rectangle 7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>
              <a:ea typeface="굴림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223168796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ChangeArrowheads="1"/>
          </p:cNvSpPr>
          <p:nvPr/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20483" name="Rectangle 3"/>
          <p:cNvSpPr>
            <a:spLocks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 anchor="b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pPr algn="r"/>
            <a:r>
              <a:rPr lang="en-US" altLang="ko-KR" sz="1200" b="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rPr>
              <a:t>5</a:t>
            </a:r>
          </a:p>
        </p:txBody>
      </p:sp>
      <p:sp>
        <p:nvSpPr>
          <p:cNvPr id="20484" name="Rectangle 4"/>
          <p:cNvSpPr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20485" name="Rectangle 5"/>
          <p:cNvSpPr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20486" name="Rectangle 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 cap="flat"/>
        </p:spPr>
      </p:sp>
      <p:sp>
        <p:nvSpPr>
          <p:cNvPr id="20487" name="Rectangle 7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>
              <a:ea typeface="굴림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923499417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ChangeArrowheads="1"/>
          </p:cNvSpPr>
          <p:nvPr/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20483" name="Rectangle 3"/>
          <p:cNvSpPr>
            <a:spLocks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 anchor="b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pPr algn="r"/>
            <a:r>
              <a:rPr lang="en-US" altLang="ko-KR" sz="1200" b="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rPr>
              <a:t>5</a:t>
            </a:r>
          </a:p>
        </p:txBody>
      </p:sp>
      <p:sp>
        <p:nvSpPr>
          <p:cNvPr id="20484" name="Rectangle 4"/>
          <p:cNvSpPr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20485" name="Rectangle 5"/>
          <p:cNvSpPr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20486" name="Rectangle 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 cap="flat"/>
        </p:spPr>
      </p:sp>
      <p:sp>
        <p:nvSpPr>
          <p:cNvPr id="20487" name="Rectangle 7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>
              <a:ea typeface="굴림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65416236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1026"/>
          <p:cNvGrpSpPr>
            <a:grpSpLocks/>
          </p:cNvGrpSpPr>
          <p:nvPr/>
        </p:nvGrpSpPr>
        <p:grpSpPr bwMode="auto">
          <a:xfrm>
            <a:off x="-3222625" y="304800"/>
            <a:ext cx="11909425" cy="4724400"/>
            <a:chOff x="-2030" y="192"/>
            <a:chExt cx="7502" cy="2976"/>
          </a:xfrm>
        </p:grpSpPr>
        <p:sp>
          <p:nvSpPr>
            <p:cNvPr id="5" name="Line 1027"/>
            <p:cNvSpPr>
              <a:spLocks noChangeShapeType="1"/>
            </p:cNvSpPr>
            <p:nvPr/>
          </p:nvSpPr>
          <p:spPr bwMode="auto">
            <a:xfrm>
              <a:off x="912" y="1584"/>
              <a:ext cx="4560" cy="0"/>
            </a:xfrm>
            <a:prstGeom prst="line">
              <a:avLst/>
            </a:prstGeom>
            <a:noFill/>
            <a:ln w="57150" cmpd="thickThin">
              <a:solidFill>
                <a:srgbClr val="8D7DFF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/>
            </a:p>
          </p:txBody>
        </p:sp>
        <p:sp>
          <p:nvSpPr>
            <p:cNvPr id="6" name="AutoShape 1028"/>
            <p:cNvSpPr>
              <a:spLocks noChangeArrowheads="1"/>
            </p:cNvSpPr>
            <p:nvPr/>
          </p:nvSpPr>
          <p:spPr bwMode="auto">
            <a:xfrm>
              <a:off x="-1584" y="864"/>
              <a:ext cx="2304" cy="2304"/>
            </a:xfrm>
            <a:custGeom>
              <a:avLst/>
              <a:gdLst>
                <a:gd name="T0" fmla="*/ 1587 w 64000"/>
                <a:gd name="T1" fmla="*/ 85 h 64000"/>
                <a:gd name="T2" fmla="*/ 2304 w 64000"/>
                <a:gd name="T3" fmla="*/ 1152 h 64000"/>
                <a:gd name="T4" fmla="*/ 1587 w 64000"/>
                <a:gd name="T5" fmla="*/ 2219 h 64000"/>
                <a:gd name="T6" fmla="*/ 1587 w 64000"/>
                <a:gd name="T7" fmla="*/ 2219 h 64000"/>
                <a:gd name="T8" fmla="*/ 1587 w 64000"/>
                <a:gd name="T9" fmla="*/ 2219 h 64000"/>
                <a:gd name="T10" fmla="*/ 1587 w 64000"/>
                <a:gd name="T11" fmla="*/ 2219 h 64000"/>
                <a:gd name="T12" fmla="*/ 1587 w 64000"/>
                <a:gd name="T13" fmla="*/ 85 h 64000"/>
                <a:gd name="T14" fmla="*/ 1587 w 64000"/>
                <a:gd name="T15" fmla="*/ 85 h 64000"/>
                <a:gd name="T16" fmla="*/ 1587 w 64000"/>
                <a:gd name="T17" fmla="*/ 85 h 64000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44083 w 64000"/>
                <a:gd name="T28" fmla="*/ -29639 h 64000"/>
                <a:gd name="T29" fmla="*/ 44083 w 64000"/>
                <a:gd name="T30" fmla="*/ 29639 h 64000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64000" h="64000">
                  <a:moveTo>
                    <a:pt x="44083" y="2368"/>
                  </a:moveTo>
                  <a:cubicBezTo>
                    <a:pt x="56127" y="7280"/>
                    <a:pt x="64000" y="18993"/>
                    <a:pt x="64000" y="32000"/>
                  </a:cubicBezTo>
                  <a:cubicBezTo>
                    <a:pt x="64000" y="45006"/>
                    <a:pt x="56127" y="56719"/>
                    <a:pt x="44083" y="61631"/>
                  </a:cubicBezTo>
                  <a:cubicBezTo>
                    <a:pt x="44082" y="61631"/>
                    <a:pt x="44082" y="61631"/>
                    <a:pt x="44082" y="61631"/>
                  </a:cubicBezTo>
                  <a:lnTo>
                    <a:pt x="44083" y="61632"/>
                  </a:lnTo>
                  <a:lnTo>
                    <a:pt x="44083" y="2368"/>
                  </a:lnTo>
                  <a:lnTo>
                    <a:pt x="44082" y="2368"/>
                  </a:lnTo>
                  <a:cubicBezTo>
                    <a:pt x="44082" y="2368"/>
                    <a:pt x="44082" y="2368"/>
                    <a:pt x="44083" y="2368"/>
                  </a:cubicBezTo>
                  <a:close/>
                </a:path>
              </a:pathLst>
            </a:custGeom>
            <a:solidFill>
              <a:srgbClr val="9999FF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/>
            </a:p>
          </p:txBody>
        </p:sp>
        <p:sp>
          <p:nvSpPr>
            <p:cNvPr id="7" name="AutoShape 1029"/>
            <p:cNvSpPr>
              <a:spLocks noChangeArrowheads="1"/>
            </p:cNvSpPr>
            <p:nvPr/>
          </p:nvSpPr>
          <p:spPr bwMode="auto">
            <a:xfrm>
              <a:off x="-2030" y="192"/>
              <a:ext cx="2544" cy="2544"/>
            </a:xfrm>
            <a:custGeom>
              <a:avLst/>
              <a:gdLst>
                <a:gd name="T0" fmla="*/ 2027 w 64000"/>
                <a:gd name="T1" fmla="*/ 248 h 64000"/>
                <a:gd name="T2" fmla="*/ 2544 w 64000"/>
                <a:gd name="T3" fmla="*/ 1272 h 64000"/>
                <a:gd name="T4" fmla="*/ 2027 w 64000"/>
                <a:gd name="T5" fmla="*/ 2296 h 64000"/>
                <a:gd name="T6" fmla="*/ 2027 w 64000"/>
                <a:gd name="T7" fmla="*/ 2296 h 64000"/>
                <a:gd name="T8" fmla="*/ 2027 w 64000"/>
                <a:gd name="T9" fmla="*/ 2296 h 64000"/>
                <a:gd name="T10" fmla="*/ 2027 w 64000"/>
                <a:gd name="T11" fmla="*/ 2296 h 64000"/>
                <a:gd name="T12" fmla="*/ 2027 w 64000"/>
                <a:gd name="T13" fmla="*/ 248 h 64000"/>
                <a:gd name="T14" fmla="*/ 2027 w 64000"/>
                <a:gd name="T15" fmla="*/ 248 h 64000"/>
                <a:gd name="T16" fmla="*/ 2027 w 64000"/>
                <a:gd name="T17" fmla="*/ 248 h 64000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50994 w 64000"/>
                <a:gd name="T28" fmla="*/ -25761 h 64000"/>
                <a:gd name="T29" fmla="*/ 50994 w 64000"/>
                <a:gd name="T30" fmla="*/ 25761 h 64000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64000" h="64000">
                  <a:moveTo>
                    <a:pt x="50994" y="6246"/>
                  </a:moveTo>
                  <a:cubicBezTo>
                    <a:pt x="59172" y="12279"/>
                    <a:pt x="64000" y="21837"/>
                    <a:pt x="64000" y="32000"/>
                  </a:cubicBezTo>
                  <a:cubicBezTo>
                    <a:pt x="64000" y="42162"/>
                    <a:pt x="59172" y="51720"/>
                    <a:pt x="50994" y="57753"/>
                  </a:cubicBezTo>
                  <a:cubicBezTo>
                    <a:pt x="50993" y="57753"/>
                    <a:pt x="50993" y="57753"/>
                    <a:pt x="50993" y="57753"/>
                  </a:cubicBezTo>
                  <a:lnTo>
                    <a:pt x="50994" y="57754"/>
                  </a:lnTo>
                  <a:lnTo>
                    <a:pt x="50994" y="6246"/>
                  </a:lnTo>
                  <a:lnTo>
                    <a:pt x="50993" y="6246"/>
                  </a:lnTo>
                  <a:cubicBezTo>
                    <a:pt x="50993" y="6246"/>
                    <a:pt x="50993" y="6246"/>
                    <a:pt x="50994" y="6246"/>
                  </a:cubicBezTo>
                  <a:close/>
                </a:path>
              </a:pathLst>
            </a:custGeom>
            <a:solidFill>
              <a:srgbClr val="CCCCFF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/>
            </a:p>
          </p:txBody>
        </p:sp>
      </p:grpSp>
      <p:sp>
        <p:nvSpPr>
          <p:cNvPr id="216070" name="Rectangle 1030"/>
          <p:cNvSpPr>
            <a:spLocks noGrp="1" noChangeArrowheads="1"/>
          </p:cNvSpPr>
          <p:nvPr>
            <p:ph type="ctrTitle"/>
          </p:nvPr>
        </p:nvSpPr>
        <p:spPr>
          <a:xfrm>
            <a:off x="1443038" y="985838"/>
            <a:ext cx="7239000" cy="1444625"/>
          </a:xfrm>
        </p:spPr>
        <p:txBody>
          <a:bodyPr/>
          <a:lstStyle>
            <a:lvl1pPr algn="ctr">
              <a:defRPr sz="4400"/>
            </a:lvl1pPr>
          </a:lstStyle>
          <a:p>
            <a:r>
              <a:rPr lang="en-US" altLang="ko-KR"/>
              <a:t>Click to edit Master title style</a:t>
            </a:r>
          </a:p>
        </p:txBody>
      </p:sp>
      <p:sp>
        <p:nvSpPr>
          <p:cNvPr id="216071" name="Rectangle 1031"/>
          <p:cNvSpPr>
            <a:spLocks noGrp="1" noChangeArrowheads="1"/>
          </p:cNvSpPr>
          <p:nvPr>
            <p:ph type="subTitle" idx="1"/>
          </p:nvPr>
        </p:nvSpPr>
        <p:spPr>
          <a:xfrm>
            <a:off x="1443038" y="3427413"/>
            <a:ext cx="7239000" cy="175260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 sz="4000"/>
            </a:lvl1pPr>
          </a:lstStyle>
          <a:p>
            <a:r>
              <a:rPr lang="en-US" altLang="ko-KR"/>
              <a:t>Click to edit Master subtitle style</a:t>
            </a:r>
          </a:p>
        </p:txBody>
      </p:sp>
      <p:sp>
        <p:nvSpPr>
          <p:cNvPr id="8" name="Rectangle 1032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6248400"/>
            <a:ext cx="320675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9" name="Rectangle 1033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/>
              <a:t>Chapter 15</a:t>
            </a:r>
            <a:endParaRPr lang="ko-KR" altLang="en-US"/>
          </a:p>
        </p:txBody>
      </p:sp>
      <p:sp>
        <p:nvSpPr>
          <p:cNvPr id="10" name="Rectangle 1034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669306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Rectangle 8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9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/>
              <a:t>Chapter 15</a:t>
            </a:r>
          </a:p>
        </p:txBody>
      </p:sp>
      <p:sp>
        <p:nvSpPr>
          <p:cNvPr id="6" name="Rectangle 10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119FF04-9146-4048-BDA6-3A9E8714DE63}" type="slidenum">
              <a:rPr lang="ko-KR" altLang="en-US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7099213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Rectangle 8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9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/>
              <a:t>Chapter 15</a:t>
            </a:r>
          </a:p>
        </p:txBody>
      </p:sp>
      <p:sp>
        <p:nvSpPr>
          <p:cNvPr id="6" name="Rectangle 10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7361027-BB9F-4785-B52A-1F2EB3428B55}" type="slidenum">
              <a:rPr lang="ko-KR" altLang="en-US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4612780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1370013" y="1827213"/>
            <a:ext cx="3579812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5102225" y="1827213"/>
            <a:ext cx="35814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Rectangle 8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9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/>
              <a:t>Chapter 15</a:t>
            </a:r>
          </a:p>
        </p:txBody>
      </p:sp>
      <p:sp>
        <p:nvSpPr>
          <p:cNvPr id="7" name="Rectangle 10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49B7138-FB06-4FB2-8C13-B21C977F4346}" type="slidenum">
              <a:rPr lang="ko-KR" altLang="en-US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41948780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Rectangle 8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8" name="Rectangle 9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/>
              <a:t>Chapter 15</a:t>
            </a:r>
          </a:p>
        </p:txBody>
      </p:sp>
      <p:sp>
        <p:nvSpPr>
          <p:cNvPr id="9" name="Rectangle 10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FE1CA52-43B0-4550-B9A5-86B71639541C}" type="slidenum">
              <a:rPr lang="ko-KR" altLang="en-US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7498092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Rectangle 8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4" name="Rectangle 9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/>
              <a:t>Chapter 15</a:t>
            </a:r>
          </a:p>
        </p:txBody>
      </p:sp>
      <p:sp>
        <p:nvSpPr>
          <p:cNvPr id="5" name="Rectangle 10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EAB4276-6240-407A-A7F1-8CCC8D025D13}" type="slidenum">
              <a:rPr lang="ko-KR" altLang="en-US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4469408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8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3" name="Rectangle 9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/>
              <a:t>Chapter 15</a:t>
            </a:r>
          </a:p>
        </p:txBody>
      </p:sp>
      <p:sp>
        <p:nvSpPr>
          <p:cNvPr id="4" name="Rectangle 10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1F2D0A1-1138-42FB-8F5B-5782D0521112}" type="slidenum">
              <a:rPr lang="ko-KR" altLang="en-US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3987893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Rectangle 8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9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/>
              <a:t>Chapter 15</a:t>
            </a:r>
          </a:p>
        </p:txBody>
      </p:sp>
      <p:sp>
        <p:nvSpPr>
          <p:cNvPr id="7" name="Rectangle 10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EB35C15-4A41-42CA-9B3C-C8E515D51B83}" type="slidenum">
              <a:rPr lang="ko-KR" altLang="en-US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42436488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ko-KR" altLang="en-US" noProof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Rectangle 8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9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/>
              <a:t>Chapter 15</a:t>
            </a:r>
          </a:p>
        </p:txBody>
      </p:sp>
      <p:sp>
        <p:nvSpPr>
          <p:cNvPr id="7" name="Rectangle 10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C8DD9A2-7AA5-4D75-B734-505E2664B062}" type="slidenum">
              <a:rPr lang="ko-KR" altLang="en-US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3004181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Rectangle 8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9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/>
              <a:t>Chapter 15</a:t>
            </a:r>
          </a:p>
        </p:txBody>
      </p:sp>
      <p:sp>
        <p:nvSpPr>
          <p:cNvPr id="6" name="Rectangle 10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C4384FD-3975-4BC0-9C63-BC0E7CEF8BC8}" type="slidenum">
              <a:rPr lang="ko-KR" altLang="en-US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6868995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856413" y="301625"/>
            <a:ext cx="1827212" cy="564038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1370013" y="301625"/>
            <a:ext cx="5334000" cy="564038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Rectangle 8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9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/>
              <a:t>Chapter 15</a:t>
            </a:r>
          </a:p>
        </p:txBody>
      </p:sp>
      <p:sp>
        <p:nvSpPr>
          <p:cNvPr id="6" name="Rectangle 10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BF0D39A-3603-4AD9-9DE7-651E11587E05}" type="slidenum">
              <a:rPr lang="ko-KR" altLang="en-US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4438979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50" name="Group 2"/>
          <p:cNvGrpSpPr>
            <a:grpSpLocks/>
          </p:cNvGrpSpPr>
          <p:nvPr/>
        </p:nvGrpSpPr>
        <p:grpSpPr bwMode="auto">
          <a:xfrm>
            <a:off x="-3238500" y="0"/>
            <a:ext cx="11925300" cy="3810000"/>
            <a:chOff x="-2040" y="0"/>
            <a:chExt cx="7512" cy="2400"/>
          </a:xfrm>
        </p:grpSpPr>
        <p:sp>
          <p:nvSpPr>
            <p:cNvPr id="1032" name="AutoShape 3"/>
            <p:cNvSpPr>
              <a:spLocks noChangeArrowheads="1"/>
            </p:cNvSpPr>
            <p:nvPr/>
          </p:nvSpPr>
          <p:spPr bwMode="auto">
            <a:xfrm>
              <a:off x="-2040" y="432"/>
              <a:ext cx="2592" cy="1968"/>
            </a:xfrm>
            <a:custGeom>
              <a:avLst/>
              <a:gdLst>
                <a:gd name="T0" fmla="*/ 2037 w 64000"/>
                <a:gd name="T1" fmla="*/ 177 h 64000"/>
                <a:gd name="T2" fmla="*/ 2592 w 64000"/>
                <a:gd name="T3" fmla="*/ 984 h 64000"/>
                <a:gd name="T4" fmla="*/ 2037 w 64000"/>
                <a:gd name="T5" fmla="*/ 1791 h 64000"/>
                <a:gd name="T6" fmla="*/ 2037 w 64000"/>
                <a:gd name="T7" fmla="*/ 1791 h 64000"/>
                <a:gd name="T8" fmla="*/ 2037 w 64000"/>
                <a:gd name="T9" fmla="*/ 1791 h 64000"/>
                <a:gd name="T10" fmla="*/ 2037 w 64000"/>
                <a:gd name="T11" fmla="*/ 1791 h 64000"/>
                <a:gd name="T12" fmla="*/ 2037 w 64000"/>
                <a:gd name="T13" fmla="*/ 177 h 64000"/>
                <a:gd name="T14" fmla="*/ 2037 w 64000"/>
                <a:gd name="T15" fmla="*/ 177 h 64000"/>
                <a:gd name="T16" fmla="*/ 2037 w 64000"/>
                <a:gd name="T17" fmla="*/ 177 h 64000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50296 w 64000"/>
                <a:gd name="T28" fmla="*/ -26244 h 64000"/>
                <a:gd name="T29" fmla="*/ 50296 w 64000"/>
                <a:gd name="T30" fmla="*/ 26244 h 64000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64000" h="64000">
                  <a:moveTo>
                    <a:pt x="50296" y="5746"/>
                  </a:moveTo>
                  <a:cubicBezTo>
                    <a:pt x="58882" y="11730"/>
                    <a:pt x="64000" y="21534"/>
                    <a:pt x="64000" y="32000"/>
                  </a:cubicBezTo>
                  <a:cubicBezTo>
                    <a:pt x="64000" y="42465"/>
                    <a:pt x="58882" y="52269"/>
                    <a:pt x="50296" y="58253"/>
                  </a:cubicBezTo>
                  <a:cubicBezTo>
                    <a:pt x="50296" y="58253"/>
                    <a:pt x="50296" y="58253"/>
                    <a:pt x="50295" y="58253"/>
                  </a:cubicBezTo>
                  <a:lnTo>
                    <a:pt x="50296" y="58254"/>
                  </a:lnTo>
                  <a:lnTo>
                    <a:pt x="50296" y="5746"/>
                  </a:lnTo>
                  <a:lnTo>
                    <a:pt x="50295" y="5746"/>
                  </a:lnTo>
                  <a:cubicBezTo>
                    <a:pt x="50296" y="5746"/>
                    <a:pt x="50296" y="5746"/>
                    <a:pt x="50296" y="5746"/>
                  </a:cubicBezTo>
                  <a:close/>
                </a:path>
              </a:pathLst>
            </a:custGeom>
            <a:solidFill>
              <a:srgbClr val="9999FF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/>
            </a:p>
          </p:txBody>
        </p:sp>
        <p:sp>
          <p:nvSpPr>
            <p:cNvPr id="1033" name="AutoShape 4"/>
            <p:cNvSpPr>
              <a:spLocks noChangeArrowheads="1"/>
            </p:cNvSpPr>
            <p:nvPr/>
          </p:nvSpPr>
          <p:spPr bwMode="auto">
            <a:xfrm>
              <a:off x="-1528" y="0"/>
              <a:ext cx="1949" cy="1987"/>
            </a:xfrm>
            <a:custGeom>
              <a:avLst/>
              <a:gdLst>
                <a:gd name="T0" fmla="*/ 1525 w 64000"/>
                <a:gd name="T1" fmla="*/ 174 h 64000"/>
                <a:gd name="T2" fmla="*/ 1949 w 64000"/>
                <a:gd name="T3" fmla="*/ 994 h 64000"/>
                <a:gd name="T4" fmla="*/ 1525 w 64000"/>
                <a:gd name="T5" fmla="*/ 1813 h 64000"/>
                <a:gd name="T6" fmla="*/ 1525 w 64000"/>
                <a:gd name="T7" fmla="*/ 1813 h 64000"/>
                <a:gd name="T8" fmla="*/ 1525 w 64000"/>
                <a:gd name="T9" fmla="*/ 1813 h 64000"/>
                <a:gd name="T10" fmla="*/ 1525 w 64000"/>
                <a:gd name="T11" fmla="*/ 1813 h 64000"/>
                <a:gd name="T12" fmla="*/ 1525 w 64000"/>
                <a:gd name="T13" fmla="*/ 174 h 64000"/>
                <a:gd name="T14" fmla="*/ 1525 w 64000"/>
                <a:gd name="T15" fmla="*/ 174 h 64000"/>
                <a:gd name="T16" fmla="*/ 1525 w 64000"/>
                <a:gd name="T17" fmla="*/ 174 h 64000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50077 w 64000"/>
                <a:gd name="T28" fmla="*/ -26412 h 64000"/>
                <a:gd name="T29" fmla="*/ 50077 w 64000"/>
                <a:gd name="T30" fmla="*/ 26412 h 64000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64000" h="64000">
                  <a:moveTo>
                    <a:pt x="50077" y="5595"/>
                  </a:moveTo>
                  <a:cubicBezTo>
                    <a:pt x="58790" y="11560"/>
                    <a:pt x="64000" y="21440"/>
                    <a:pt x="64000" y="32000"/>
                  </a:cubicBezTo>
                  <a:cubicBezTo>
                    <a:pt x="64000" y="42559"/>
                    <a:pt x="58790" y="52439"/>
                    <a:pt x="50077" y="58404"/>
                  </a:cubicBezTo>
                  <a:cubicBezTo>
                    <a:pt x="50077" y="58404"/>
                    <a:pt x="50077" y="58404"/>
                    <a:pt x="50076" y="58404"/>
                  </a:cubicBezTo>
                  <a:lnTo>
                    <a:pt x="50077" y="58405"/>
                  </a:lnTo>
                  <a:lnTo>
                    <a:pt x="50077" y="5595"/>
                  </a:lnTo>
                  <a:lnTo>
                    <a:pt x="50076" y="5595"/>
                  </a:lnTo>
                  <a:cubicBezTo>
                    <a:pt x="50077" y="5595"/>
                    <a:pt x="50077" y="5595"/>
                    <a:pt x="50077" y="5595"/>
                  </a:cubicBezTo>
                  <a:close/>
                </a:path>
              </a:pathLst>
            </a:custGeom>
            <a:solidFill>
              <a:srgbClr val="CCCCFF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/>
            </a:p>
          </p:txBody>
        </p:sp>
        <p:sp>
          <p:nvSpPr>
            <p:cNvPr id="1034" name="Line 5"/>
            <p:cNvSpPr>
              <a:spLocks noChangeShapeType="1"/>
            </p:cNvSpPr>
            <p:nvPr/>
          </p:nvSpPr>
          <p:spPr bwMode="auto">
            <a:xfrm>
              <a:off x="864" y="960"/>
              <a:ext cx="460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/>
            </a:p>
          </p:txBody>
        </p:sp>
      </p:grpSp>
      <p:sp>
        <p:nvSpPr>
          <p:cNvPr id="2051" name="Rectangle 6"/>
          <p:cNvSpPr>
            <a:spLocks noGrp="1" noChangeArrowheads="1"/>
          </p:cNvSpPr>
          <p:nvPr>
            <p:ph type="title"/>
          </p:nvPr>
        </p:nvSpPr>
        <p:spPr bwMode="auto">
          <a:xfrm>
            <a:off x="1370013" y="301625"/>
            <a:ext cx="7313612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ko-KR"/>
              <a:t>Click to edit Master title style</a:t>
            </a:r>
          </a:p>
        </p:txBody>
      </p:sp>
      <p:sp>
        <p:nvSpPr>
          <p:cNvPr id="2052" name="Rectangle 7"/>
          <p:cNvSpPr>
            <a:spLocks noGrp="1" noChangeArrowheads="1"/>
          </p:cNvSpPr>
          <p:nvPr>
            <p:ph type="body" idx="1"/>
          </p:nvPr>
        </p:nvSpPr>
        <p:spPr bwMode="auto">
          <a:xfrm>
            <a:off x="1370013" y="1827213"/>
            <a:ext cx="7313612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</a:p>
        </p:txBody>
      </p:sp>
      <p:sp>
        <p:nvSpPr>
          <p:cNvPr id="215048" name="Rectangle 8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8400"/>
            <a:ext cx="2871788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 b="0">
                <a:solidFill>
                  <a:schemeClr val="tx1"/>
                </a:solidFill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215049" name="Rectangle 9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 eaLnBrk="1" hangingPunct="1">
              <a:defRPr sz="1200" b="0">
                <a:solidFill>
                  <a:schemeClr val="tx1"/>
                </a:solidFill>
                <a:ea typeface="굴림" pitchFamily="50" charset="-127"/>
              </a:defRPr>
            </a:lvl1pPr>
          </a:lstStyle>
          <a:p>
            <a:pPr>
              <a:defRPr/>
            </a:pPr>
            <a:r>
              <a:rPr lang="en-US" altLang="ko-KR"/>
              <a:t>Chapter 15</a:t>
            </a:r>
          </a:p>
        </p:txBody>
      </p:sp>
      <p:sp>
        <p:nvSpPr>
          <p:cNvPr id="215050" name="Rectangle 10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 b="0">
                <a:solidFill>
                  <a:schemeClr val="tx1"/>
                </a:solidFill>
                <a:ea typeface="굴림" panose="020B0600000101010101" pitchFamily="50" charset="-127"/>
              </a:defRPr>
            </a:lvl1pPr>
          </a:lstStyle>
          <a:p>
            <a:fld id="{7F1D530B-ADAB-4AF6-AD21-C86B86FB44FA}" type="slidenum">
              <a:rPr lang="ko-KR" altLang="en-US"/>
              <a:pPr/>
              <a:t>‹#›</a:t>
            </a:fld>
            <a:endParaRPr lang="en-US" altLang="ko-K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088" r:id="rId1"/>
    <p:sldLayoutId id="2147484089" r:id="rId2"/>
    <p:sldLayoutId id="2147484090" r:id="rId3"/>
    <p:sldLayoutId id="2147484091" r:id="rId4"/>
    <p:sldLayoutId id="2147484092" r:id="rId5"/>
    <p:sldLayoutId id="2147484093" r:id="rId6"/>
    <p:sldLayoutId id="2147484094" r:id="rId7"/>
    <p:sldLayoutId id="2147484095" r:id="rId8"/>
    <p:sldLayoutId id="2147484096" r:id="rId9"/>
    <p:sldLayoutId id="2147484097" r:id="rId10"/>
    <p:sldLayoutId id="2147484098" r:id="rId11"/>
  </p:sldLayoutIdLst>
  <p:hf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600" b="1">
          <a:solidFill>
            <a:srgbClr val="8D7DFF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600" b="1">
          <a:solidFill>
            <a:srgbClr val="8D7DFF"/>
          </a:solidFill>
          <a:latin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600" b="1">
          <a:solidFill>
            <a:srgbClr val="8D7DFF"/>
          </a:solidFill>
          <a:latin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600" b="1">
          <a:solidFill>
            <a:srgbClr val="8D7DFF"/>
          </a:solidFill>
          <a:latin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600" b="1">
          <a:solidFill>
            <a:srgbClr val="8D7DFF"/>
          </a:solidFill>
          <a:latin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600" b="1">
          <a:solidFill>
            <a:srgbClr val="8D7DFF"/>
          </a:solidFill>
          <a:latin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600" b="1">
          <a:solidFill>
            <a:srgbClr val="8D7DFF"/>
          </a:solidFill>
          <a:latin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600" b="1">
          <a:solidFill>
            <a:srgbClr val="8D7DFF"/>
          </a:solidFill>
          <a:latin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600" b="1">
          <a:solidFill>
            <a:srgbClr val="8D7DFF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rgbClr val="8D7DFF"/>
        </a:buClr>
        <a:buFont typeface="Wingdings" panose="05000000000000000000" pitchFamily="2" charset="2"/>
        <a:buChar char="l"/>
        <a:defRPr sz="29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rgbClr val="8D7DFF"/>
        </a:buClr>
        <a:buFont typeface="Wingdings" panose="05000000000000000000" pitchFamily="2" charset="2"/>
        <a:buChar char="m"/>
        <a:defRPr sz="25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rgbClr val="8D7DFF"/>
        </a:buClr>
        <a:buSzPct val="80000"/>
        <a:buFont typeface="Wingdings" panose="05000000000000000000" pitchFamily="2" charset="2"/>
        <a:buChar char="l"/>
        <a:defRPr sz="22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rgbClr val="8D7DFF"/>
        </a:buClr>
        <a:buSzPct val="80000"/>
        <a:buFont typeface="Wingdings" panose="05000000000000000000" pitchFamily="2" charset="2"/>
        <a:buChar char="m"/>
        <a:defRPr sz="19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rgbClr val="8D7DFF"/>
        </a:buClr>
        <a:buSzPct val="70000"/>
        <a:buFont typeface="Wingdings" panose="05000000000000000000" pitchFamily="2" charset="2"/>
        <a:buChar char="l"/>
        <a:defRPr sz="19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rgbClr val="8D7DFF"/>
        </a:buClr>
        <a:buSzPct val="70000"/>
        <a:buFont typeface="Wingdings" pitchFamily="2" charset="2"/>
        <a:buChar char="l"/>
        <a:defRPr sz="19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rgbClr val="8D7DFF"/>
        </a:buClr>
        <a:buSzPct val="70000"/>
        <a:buFont typeface="Wingdings" pitchFamily="2" charset="2"/>
        <a:buChar char="l"/>
        <a:defRPr sz="19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rgbClr val="8D7DFF"/>
        </a:buClr>
        <a:buSzPct val="70000"/>
        <a:buFont typeface="Wingdings" pitchFamily="2" charset="2"/>
        <a:buChar char="l"/>
        <a:defRPr sz="19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rgbClr val="8D7DFF"/>
        </a:buClr>
        <a:buSzPct val="70000"/>
        <a:buFont typeface="Wingdings" pitchFamily="2" charset="2"/>
        <a:buChar char="l"/>
        <a:defRPr sz="1900">
          <a:solidFill>
            <a:schemeClr val="tx1"/>
          </a:solidFill>
          <a:latin typeface="+mn-lt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0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0.xml"/><Relationship Id="rId7" Type="http://schemas.openxmlformats.org/officeDocument/2006/relationships/image" Target="../media/image20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6" Type="http://schemas.openxmlformats.org/officeDocument/2006/relationships/oleObject" Target="../embeddings/oleObject2.bin"/><Relationship Id="rId5" Type="http://schemas.openxmlformats.org/officeDocument/2006/relationships/image" Target="../media/image19.wmf"/><Relationship Id="rId4" Type="http://schemas.openxmlformats.org/officeDocument/2006/relationships/oleObject" Target="../embeddings/oleObject1.bin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1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0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0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1036"/>
          <p:cNvSpPr>
            <a:spLocks noGrp="1" noChangeArrowheads="1"/>
          </p:cNvSpPr>
          <p:nvPr>
            <p:ph type="title"/>
          </p:nvPr>
        </p:nvSpPr>
        <p:spPr>
          <a:xfrm>
            <a:off x="554038" y="2593975"/>
            <a:ext cx="7313612" cy="1143000"/>
          </a:xfrm>
        </p:spPr>
        <p:txBody>
          <a:bodyPr/>
          <a:lstStyle/>
          <a:p>
            <a:pPr eaLnBrk="1" hangingPunct="1"/>
            <a:r>
              <a:rPr lang="en-US" altLang="ko-KR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15</a:t>
            </a:r>
            <a:r>
              <a:rPr lang="ko-KR" altLang="en-US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장 개요</a:t>
            </a:r>
            <a:endParaRPr lang="en-US" altLang="ko-KR">
              <a:solidFill>
                <a:srgbClr val="0070C0"/>
              </a:solidFill>
              <a:latin typeface="나눔명조" pitchFamily="18" charset="-127"/>
              <a:ea typeface="나눔명조" pitchFamily="18" charset="-127"/>
            </a:endParaRPr>
          </a:p>
        </p:txBody>
      </p:sp>
      <p:sp>
        <p:nvSpPr>
          <p:cNvPr id="75789" name="Rectangle 1037"/>
          <p:cNvSpPr>
            <a:spLocks noGrp="1" noChangeArrowheads="1"/>
          </p:cNvSpPr>
          <p:nvPr>
            <p:ph idx="1"/>
          </p:nvPr>
        </p:nvSpPr>
        <p:spPr>
          <a:xfrm>
            <a:off x="3071813" y="2686050"/>
            <a:ext cx="6072187" cy="4114800"/>
          </a:xfrm>
        </p:spPr>
        <p:txBody>
          <a:bodyPr/>
          <a:lstStyle/>
          <a:p>
            <a:pPr eaLnBrk="1" hangingPunct="1">
              <a:buClr>
                <a:srgbClr val="3366CC"/>
              </a:buClr>
            </a:pPr>
            <a:r>
              <a:rPr lang="ko-KR" altLang="en-US" dirty="0" err="1">
                <a:latin typeface="나눔명조" pitchFamily="18" charset="-127"/>
                <a:ea typeface="나눔명조" pitchFamily="18" charset="-127"/>
              </a:rPr>
              <a:t>환경재의</a:t>
            </a:r>
            <a:r>
              <a:rPr lang="ko-KR" altLang="en-US" dirty="0">
                <a:latin typeface="나눔명조" pitchFamily="18" charset="-127"/>
                <a:ea typeface="나눔명조" pitchFamily="18" charset="-127"/>
              </a:rPr>
              <a:t> 가치평가 방법</a:t>
            </a:r>
            <a:endParaRPr lang="en-US" altLang="ko-KR" dirty="0">
              <a:latin typeface="나눔명조" pitchFamily="18" charset="-127"/>
              <a:ea typeface="나눔명조" pitchFamily="18" charset="-127"/>
            </a:endParaRPr>
          </a:p>
          <a:p>
            <a:pPr eaLnBrk="1" hangingPunct="1">
              <a:buClr>
                <a:srgbClr val="3366CC"/>
              </a:buClr>
            </a:pPr>
            <a:r>
              <a:rPr lang="ko-KR" altLang="en-US" dirty="0">
                <a:latin typeface="나눔명조" pitchFamily="18" charset="-127"/>
                <a:ea typeface="나눔명조" pitchFamily="18" charset="-127"/>
              </a:rPr>
              <a:t>시장적 방법 </a:t>
            </a:r>
            <a:endParaRPr lang="en-US" altLang="ko-KR" dirty="0">
              <a:latin typeface="나눔명조" pitchFamily="18" charset="-127"/>
              <a:ea typeface="나눔명조" pitchFamily="18" charset="-127"/>
            </a:endParaRPr>
          </a:p>
          <a:p>
            <a:pPr eaLnBrk="1" hangingPunct="1">
              <a:buClr>
                <a:srgbClr val="3366CC"/>
              </a:buClr>
            </a:pPr>
            <a:r>
              <a:rPr lang="ko-KR" altLang="en-US" dirty="0">
                <a:latin typeface="나눔명조" pitchFamily="18" charset="-127"/>
                <a:ea typeface="나눔명조" pitchFamily="18" charset="-127"/>
              </a:rPr>
              <a:t>현시선호방법의 이론적 기초</a:t>
            </a:r>
            <a:endParaRPr lang="en-US" altLang="ko-KR" dirty="0">
              <a:latin typeface="나눔명조" pitchFamily="18" charset="-127"/>
              <a:ea typeface="나눔명조" pitchFamily="18" charset="-127"/>
            </a:endParaRPr>
          </a:p>
          <a:p>
            <a:pPr eaLnBrk="1" hangingPunct="1">
              <a:buClr>
                <a:srgbClr val="3366CC"/>
              </a:buClr>
            </a:pPr>
            <a:r>
              <a:rPr lang="ko-KR" altLang="en-US" dirty="0">
                <a:latin typeface="나눔명조" pitchFamily="18" charset="-127"/>
                <a:ea typeface="나눔명조" pitchFamily="18" charset="-127"/>
              </a:rPr>
              <a:t>회피행위모형을 이용한 </a:t>
            </a:r>
            <a:r>
              <a:rPr lang="ko-KR" altLang="en-US" dirty="0" err="1">
                <a:latin typeface="나눔명조" pitchFamily="18" charset="-127"/>
                <a:ea typeface="나눔명조" pitchFamily="18" charset="-127"/>
              </a:rPr>
              <a:t>건강편익의</a:t>
            </a:r>
            <a:r>
              <a:rPr lang="ko-KR" altLang="en-US" dirty="0">
                <a:latin typeface="나눔명조" pitchFamily="18" charset="-127"/>
                <a:ea typeface="나눔명조" pitchFamily="18" charset="-127"/>
              </a:rPr>
              <a:t> 추정</a:t>
            </a:r>
            <a:endParaRPr lang="en-US" altLang="ko-KR" dirty="0">
              <a:latin typeface="나눔명조" pitchFamily="18" charset="-127"/>
              <a:ea typeface="나눔명조" pitchFamily="18" charset="-127"/>
            </a:endParaRPr>
          </a:p>
        </p:txBody>
      </p:sp>
      <p:sp>
        <p:nvSpPr>
          <p:cNvPr id="14340" name="바닥글 개체 틀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r>
              <a:rPr lang="ko-KR" altLang="en-US" sz="1200" b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Chapter </a:t>
            </a:r>
            <a:r>
              <a:rPr lang="en-US" altLang="ko-KR" sz="1200" b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15</a:t>
            </a:r>
          </a:p>
        </p:txBody>
      </p:sp>
      <p:sp>
        <p:nvSpPr>
          <p:cNvPr id="14341" name="슬라이드 번호 개체 틀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fld id="{ABF1025D-D759-4AE5-961A-A25EA9FE8A4B}" type="slidenum">
              <a:rPr lang="ko-KR" altLang="en-US" sz="1200" b="0">
                <a:solidFill>
                  <a:schemeClr val="tx1"/>
                </a:solidFill>
                <a:latin typeface="나눔명조" pitchFamily="18" charset="-127"/>
                <a:ea typeface="나눔명조" pitchFamily="18" charset="-127"/>
              </a:rPr>
              <a:pPr/>
              <a:t>1</a:t>
            </a:fld>
            <a:endParaRPr lang="en-US" altLang="ko-KR" sz="1200" b="0">
              <a:solidFill>
                <a:schemeClr val="tx1"/>
              </a:solidFill>
              <a:latin typeface="나눔명조" pitchFamily="18" charset="-127"/>
              <a:ea typeface="나눔명조" pitchFamily="18" charset="-127"/>
            </a:endParaRPr>
          </a:p>
        </p:txBody>
      </p:sp>
      <p:sp>
        <p:nvSpPr>
          <p:cNvPr id="14342" name="Rectangle 1026"/>
          <p:cNvSpPr>
            <a:spLocks noChangeArrowheads="1"/>
          </p:cNvSpPr>
          <p:nvPr/>
        </p:nvSpPr>
        <p:spPr bwMode="auto">
          <a:xfrm>
            <a:off x="7620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>
              <a:latin typeface="나눔명조" pitchFamily="18" charset="-127"/>
              <a:ea typeface="나눔명조" pitchFamily="18" charset="-127"/>
            </a:endParaRPr>
          </a:p>
        </p:txBody>
      </p:sp>
      <p:sp>
        <p:nvSpPr>
          <p:cNvPr id="14343" name="Rectangle 1027"/>
          <p:cNvSpPr>
            <a:spLocks noChangeArrowheads="1"/>
          </p:cNvSpPr>
          <p:nvPr/>
        </p:nvSpPr>
        <p:spPr bwMode="auto">
          <a:xfrm>
            <a:off x="32766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>
              <a:latin typeface="나눔명조" pitchFamily="18" charset="-127"/>
              <a:ea typeface="나눔명조" pitchFamily="18" charset="-127"/>
            </a:endParaRPr>
          </a:p>
        </p:txBody>
      </p:sp>
      <p:sp>
        <p:nvSpPr>
          <p:cNvPr id="8" name="Rectangle 2"/>
          <p:cNvSpPr txBox="1">
            <a:spLocks noChangeArrowheads="1"/>
          </p:cNvSpPr>
          <p:nvPr/>
        </p:nvSpPr>
        <p:spPr bwMode="auto">
          <a:xfrm>
            <a:off x="463550" y="0"/>
            <a:ext cx="8301038" cy="1444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eaLnBrk="1" hangingPunct="1">
              <a:defRPr/>
            </a:pPr>
            <a:r>
              <a:rPr lang="ko-KR" altLang="en-US" sz="3600" kern="0" dirty="0">
                <a:solidFill>
                  <a:srgbClr val="002060"/>
                </a:solidFill>
                <a:latin typeface="나눔명조" pitchFamily="18" charset="-127"/>
                <a:ea typeface="나눔명조" pitchFamily="18" charset="-127"/>
                <a:cs typeface="+mj-cs"/>
              </a:rPr>
              <a:t>제 </a:t>
            </a:r>
            <a:r>
              <a:rPr lang="en-US" altLang="ko-KR" sz="3600" kern="0" dirty="0">
                <a:solidFill>
                  <a:srgbClr val="002060"/>
                </a:solidFill>
                <a:latin typeface="나눔명조" pitchFamily="18" charset="-127"/>
                <a:ea typeface="나눔명조" pitchFamily="18" charset="-127"/>
                <a:cs typeface="+mj-cs"/>
              </a:rPr>
              <a:t>15</a:t>
            </a:r>
            <a:r>
              <a:rPr lang="ko-KR" altLang="en-US" sz="3600" kern="0" dirty="0">
                <a:solidFill>
                  <a:srgbClr val="002060"/>
                </a:solidFill>
                <a:latin typeface="나눔명조" pitchFamily="18" charset="-127"/>
                <a:ea typeface="나눔명조" pitchFamily="18" charset="-127"/>
                <a:cs typeface="+mj-cs"/>
              </a:rPr>
              <a:t>장 </a:t>
            </a:r>
            <a:r>
              <a:rPr lang="en-US" altLang="ko-KR" sz="3600" kern="0" dirty="0">
                <a:solidFill>
                  <a:srgbClr val="002060"/>
                </a:solidFill>
                <a:latin typeface="나눔명조" pitchFamily="18" charset="-127"/>
                <a:ea typeface="나눔명조" pitchFamily="18" charset="-127"/>
                <a:cs typeface="+mj-cs"/>
              </a:rPr>
              <a:t>: </a:t>
            </a:r>
            <a:r>
              <a:rPr lang="ko-KR" altLang="en-US" sz="3600" kern="0" dirty="0">
                <a:solidFill>
                  <a:srgbClr val="002060"/>
                </a:solidFill>
                <a:latin typeface="나눔명조" pitchFamily="18" charset="-127"/>
                <a:ea typeface="나눔명조" pitchFamily="18" charset="-127"/>
                <a:cs typeface="+mj-cs"/>
              </a:rPr>
              <a:t>환경개선의 편익분석 </a:t>
            </a:r>
            <a:r>
              <a:rPr lang="en-US" altLang="ko-KR" sz="3600" kern="0" dirty="0">
                <a:solidFill>
                  <a:srgbClr val="002060"/>
                </a:solidFill>
                <a:latin typeface="나눔명조" pitchFamily="18" charset="-127"/>
                <a:ea typeface="나눔명조" pitchFamily="18" charset="-127"/>
                <a:cs typeface="+mj-cs"/>
              </a:rPr>
              <a:t>1</a:t>
            </a:r>
          </a:p>
          <a:p>
            <a:pPr algn="r" eaLnBrk="1" hangingPunct="1">
              <a:defRPr/>
            </a:pPr>
            <a:r>
              <a:rPr lang="en-US" altLang="ko-KR" sz="3600" kern="0" dirty="0">
                <a:solidFill>
                  <a:srgbClr val="002060"/>
                </a:solidFill>
                <a:latin typeface="나눔명조" pitchFamily="18" charset="-127"/>
                <a:ea typeface="나눔명조" pitchFamily="18" charset="-127"/>
                <a:cs typeface="+mj-cs"/>
              </a:rPr>
              <a:t>: </a:t>
            </a:r>
            <a:r>
              <a:rPr lang="ko-KR" altLang="en-US" sz="3600" kern="0" dirty="0">
                <a:solidFill>
                  <a:srgbClr val="002060"/>
                </a:solidFill>
                <a:latin typeface="나눔명조" pitchFamily="18" charset="-127"/>
                <a:ea typeface="나눔명조" pitchFamily="18" charset="-127"/>
                <a:cs typeface="+mj-cs"/>
              </a:rPr>
              <a:t>시장적 방법과 회피행위모형</a:t>
            </a:r>
            <a:endParaRPr lang="en-US" altLang="ko-KR" sz="3600" kern="0" dirty="0">
              <a:solidFill>
                <a:srgbClr val="002060"/>
              </a:solidFill>
              <a:latin typeface="나눔명조" pitchFamily="18" charset="-127"/>
              <a:ea typeface="나눔명조" pitchFamily="18" charset="-127"/>
              <a:cs typeface="+mj-cs"/>
            </a:endParaRPr>
          </a:p>
        </p:txBody>
      </p:sp>
    </p:spTree>
  </p:cSld>
  <p:clrMapOvr>
    <a:masterClrMapping/>
  </p:clrMapOvr>
  <p:transition spd="med">
    <p:pull dir="r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8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578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8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578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8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7578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8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7578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5789" grpId="0" build="p" autoUpdateAnimBg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9"/>
          <p:cNvSpPr>
            <a:spLocks noGrp="1" noChangeArrowheads="1"/>
          </p:cNvSpPr>
          <p:nvPr>
            <p:ph idx="1"/>
          </p:nvPr>
        </p:nvSpPr>
        <p:spPr>
          <a:xfrm>
            <a:off x="900113" y="1671638"/>
            <a:ext cx="7737475" cy="4114800"/>
          </a:xfrm>
        </p:spPr>
        <p:txBody>
          <a:bodyPr/>
          <a:lstStyle/>
          <a:p>
            <a:pPr eaLnBrk="1" hangingPunct="1"/>
            <a:r>
              <a:rPr lang="ko-KR" altLang="en-US" sz="2800" dirty="0">
                <a:latin typeface="나눔명조" pitchFamily="18" charset="-127"/>
                <a:ea typeface="나눔명조" pitchFamily="18" charset="-127"/>
              </a:rPr>
              <a:t>환경정책의 편익을 평가하기 위해서는 우선 환경재의 가치를 추정할 수 있어야 함</a:t>
            </a:r>
            <a:endParaRPr lang="en-US" altLang="ko-KR" sz="2800" dirty="0">
              <a:latin typeface="나눔명조" pitchFamily="18" charset="-127"/>
              <a:ea typeface="나눔명조" pitchFamily="18" charset="-127"/>
            </a:endParaRPr>
          </a:p>
          <a:p>
            <a:pPr eaLnBrk="1" hangingPunct="1"/>
            <a:r>
              <a:rPr lang="en-US" altLang="ko-KR" sz="2800" dirty="0">
                <a:latin typeface="나눔명조" pitchFamily="18" charset="-127"/>
                <a:ea typeface="나눔명조" pitchFamily="18" charset="-127"/>
              </a:rPr>
              <a:t>15</a:t>
            </a:r>
            <a:r>
              <a:rPr lang="ko-KR" altLang="en-US" sz="2800" dirty="0">
                <a:latin typeface="나눔명조" pitchFamily="18" charset="-127"/>
                <a:ea typeface="나눔명조" pitchFamily="18" charset="-127"/>
              </a:rPr>
              <a:t>장에서는 환경재의 가치 평가방법을 소개하고 그 중 시장적 방법과 비시장적 방법 중 현시선호방법에 대해 다룰 것임</a:t>
            </a:r>
            <a:endParaRPr lang="en-US" altLang="ko-KR" sz="2800" dirty="0">
              <a:latin typeface="나눔명조" pitchFamily="18" charset="-127"/>
              <a:ea typeface="나눔명조" pitchFamily="18" charset="-127"/>
            </a:endParaRPr>
          </a:p>
        </p:txBody>
      </p:sp>
      <p:sp>
        <p:nvSpPr>
          <p:cNvPr id="15363" name="바닥글 개체 틀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r>
              <a:rPr lang="ko-KR" altLang="en-US" sz="1200" b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Chapter </a:t>
            </a:r>
            <a:r>
              <a:rPr lang="en-US" altLang="ko-KR" sz="1200" b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15</a:t>
            </a:r>
          </a:p>
        </p:txBody>
      </p:sp>
      <p:sp>
        <p:nvSpPr>
          <p:cNvPr id="15364" name="슬라이드 번호 개체 틀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fld id="{C753D822-DF5B-4203-821F-E37D763E2E34}" type="slidenum">
              <a:rPr lang="ko-KR" altLang="en-US" sz="1200" b="0">
                <a:solidFill>
                  <a:schemeClr val="tx1"/>
                </a:solidFill>
              </a:rPr>
              <a:pPr/>
              <a:t>2</a:t>
            </a:fld>
            <a:endParaRPr lang="en-US" altLang="ko-KR" sz="1200" b="0">
              <a:solidFill>
                <a:schemeClr val="tx1"/>
              </a:solidFill>
            </a:endParaRPr>
          </a:p>
        </p:txBody>
      </p:sp>
      <p:sp>
        <p:nvSpPr>
          <p:cNvPr id="15365" name="Rectangle 2"/>
          <p:cNvSpPr>
            <a:spLocks noChangeArrowheads="1"/>
          </p:cNvSpPr>
          <p:nvPr/>
        </p:nvSpPr>
        <p:spPr bwMode="auto">
          <a:xfrm>
            <a:off x="7620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>
              <a:ea typeface="굴림" panose="020B0600000101010101" pitchFamily="50" charset="-127"/>
            </a:endParaRPr>
          </a:p>
        </p:txBody>
      </p:sp>
      <p:sp>
        <p:nvSpPr>
          <p:cNvPr id="15366" name="Rectangle 3"/>
          <p:cNvSpPr>
            <a:spLocks noChangeArrowheads="1"/>
          </p:cNvSpPr>
          <p:nvPr/>
        </p:nvSpPr>
        <p:spPr bwMode="auto">
          <a:xfrm>
            <a:off x="32766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>
              <a:ea typeface="굴림" panose="020B0600000101010101" pitchFamily="50" charset="-127"/>
            </a:endParaRPr>
          </a:p>
        </p:txBody>
      </p:sp>
      <p:sp>
        <p:nvSpPr>
          <p:cNvPr id="15367" name="Rectangle 6"/>
          <p:cNvSpPr>
            <a:spLocks noGrp="1" noChangeArrowheads="1"/>
          </p:cNvSpPr>
          <p:nvPr>
            <p:ph type="title"/>
          </p:nvPr>
        </p:nvSpPr>
        <p:spPr>
          <a:xfrm>
            <a:off x="1355725" y="0"/>
            <a:ext cx="7313613" cy="1143000"/>
          </a:xfrm>
        </p:spPr>
        <p:txBody>
          <a:bodyPr/>
          <a:lstStyle/>
          <a:p>
            <a:pPr eaLnBrk="1" hangingPunct="1"/>
            <a:r>
              <a:rPr lang="ko-KR" altLang="en-US" dirty="0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환경개선의 편익분석 </a:t>
            </a:r>
            <a:r>
              <a:rPr lang="en-US" altLang="ko-KR" dirty="0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1</a:t>
            </a:r>
            <a:br>
              <a:rPr lang="en-US" altLang="ko-KR" dirty="0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</a:br>
            <a:r>
              <a:rPr lang="en-US" altLang="ko-KR" dirty="0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: </a:t>
            </a:r>
            <a:r>
              <a:rPr lang="ko-KR" altLang="en-US" dirty="0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시장적 방법과 회피행위모형</a:t>
            </a:r>
          </a:p>
        </p:txBody>
      </p:sp>
    </p:spTree>
    <p:extLst>
      <p:ext uri="{BB962C8B-B14F-4D97-AF65-F5344CB8AC3E}">
        <p14:creationId xmlns:p14="http://schemas.microsoft.com/office/powerpoint/2010/main" val="2903109955"/>
      </p:ext>
    </p:extLst>
  </p:cSld>
  <p:clrMapOvr>
    <a:masterClrMapping/>
  </p:clrMapOvr>
  <p:transition spd="med">
    <p:wipe dir="r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9"/>
          <p:cNvSpPr>
            <a:spLocks noGrp="1" noChangeArrowheads="1"/>
          </p:cNvSpPr>
          <p:nvPr>
            <p:ph idx="1"/>
          </p:nvPr>
        </p:nvSpPr>
        <p:spPr>
          <a:xfrm>
            <a:off x="900113" y="1671638"/>
            <a:ext cx="7737475" cy="4114800"/>
          </a:xfrm>
        </p:spPr>
        <p:txBody>
          <a:bodyPr/>
          <a:lstStyle/>
          <a:p>
            <a:pPr eaLnBrk="1" hangingPunct="1"/>
            <a:r>
              <a:rPr lang="ko-KR" altLang="en-US" sz="2400" dirty="0">
                <a:latin typeface="나눔명조" pitchFamily="18" charset="-127"/>
                <a:ea typeface="나눔명조" pitchFamily="18" charset="-127"/>
              </a:rPr>
              <a:t>환경재의 가치를 평가하고 환경정책의 편익을 분석하기 위해 환경재의 특성을 파악해야 함</a:t>
            </a:r>
            <a:endParaRPr lang="en-US" altLang="ko-KR" sz="2400" dirty="0">
              <a:latin typeface="나눔명조" pitchFamily="18" charset="-127"/>
              <a:ea typeface="나눔명조" pitchFamily="18" charset="-127"/>
            </a:endParaRPr>
          </a:p>
          <a:p>
            <a:pPr eaLnBrk="1" hangingPunct="1"/>
            <a:r>
              <a:rPr lang="ko-KR" altLang="en-US" sz="2400" dirty="0">
                <a:latin typeface="나눔명조" pitchFamily="18" charset="-127"/>
                <a:ea typeface="나눔명조" pitchFamily="18" charset="-127"/>
              </a:rPr>
              <a:t>모든 재화나 서비스는 다음 세 범주 중 하나에 포함됨</a:t>
            </a:r>
            <a:endParaRPr lang="ko-KR" altLang="en-US" sz="2200" dirty="0">
              <a:latin typeface="나눔명조" pitchFamily="18" charset="-127"/>
              <a:ea typeface="나눔명조" pitchFamily="18" charset="-127"/>
            </a:endParaRPr>
          </a:p>
          <a:p>
            <a:pPr lvl="1" eaLnBrk="1" hangingPunct="1"/>
            <a:r>
              <a:rPr lang="ko-KR" altLang="en-US" sz="2200" b="1" dirty="0" err="1">
                <a:solidFill>
                  <a:srgbClr val="0000FF"/>
                </a:solidFill>
                <a:latin typeface="나눔명조" pitchFamily="18" charset="-127"/>
                <a:ea typeface="나눔명조" pitchFamily="18" charset="-127"/>
              </a:rPr>
              <a:t>순수사유재</a:t>
            </a:r>
            <a:r>
              <a:rPr lang="en-US" altLang="ko-KR" sz="2200" dirty="0">
                <a:latin typeface="나눔명조" pitchFamily="18" charset="-127"/>
                <a:ea typeface="나눔명조" pitchFamily="18" charset="-127"/>
              </a:rPr>
              <a:t>: </a:t>
            </a:r>
            <a:r>
              <a:rPr lang="ko-KR" altLang="en-US" sz="2200" dirty="0">
                <a:latin typeface="나눔명조" pitchFamily="18" charset="-127"/>
                <a:ea typeface="나눔명조" pitchFamily="18" charset="-127"/>
              </a:rPr>
              <a:t>시장가격이 가치를 반영</a:t>
            </a:r>
            <a:endParaRPr lang="en-US" altLang="ko-KR" sz="2200" dirty="0">
              <a:latin typeface="나눔명조" pitchFamily="18" charset="-127"/>
              <a:ea typeface="나눔명조" pitchFamily="18" charset="-127"/>
            </a:endParaRPr>
          </a:p>
          <a:p>
            <a:pPr lvl="1" eaLnBrk="1" hangingPunct="1"/>
            <a:r>
              <a:rPr lang="ko-KR" altLang="en-US" sz="2200" b="1" dirty="0" err="1">
                <a:solidFill>
                  <a:srgbClr val="0000FF"/>
                </a:solidFill>
                <a:latin typeface="나눔명조" pitchFamily="18" charset="-127"/>
                <a:ea typeface="나눔명조" pitchFamily="18" charset="-127"/>
              </a:rPr>
              <a:t>준사유재</a:t>
            </a:r>
            <a:r>
              <a:rPr lang="en-US" altLang="ko-KR" sz="2200" dirty="0">
                <a:latin typeface="나눔명조" pitchFamily="18" charset="-127"/>
                <a:ea typeface="나눔명조" pitchFamily="18" charset="-127"/>
              </a:rPr>
              <a:t>: </a:t>
            </a:r>
            <a:r>
              <a:rPr lang="ko-KR" altLang="en-US" sz="2200" dirty="0">
                <a:latin typeface="나눔명조" pitchFamily="18" charset="-127"/>
                <a:ea typeface="나눔명조" pitchFamily="18" charset="-127"/>
              </a:rPr>
              <a:t>정부 등에 의해 임의로 가격이 설정됨 가격과 별도로 가치를 추정할 필요가 있음</a:t>
            </a:r>
            <a:endParaRPr lang="en-US" altLang="ko-KR" sz="2200" dirty="0">
              <a:latin typeface="나눔명조" pitchFamily="18" charset="-127"/>
              <a:ea typeface="나눔명조" pitchFamily="18" charset="-127"/>
            </a:endParaRPr>
          </a:p>
          <a:p>
            <a:pPr lvl="2" eaLnBrk="1" hangingPunct="1"/>
            <a:r>
              <a:rPr lang="ko-KR" altLang="en-US" sz="1900" dirty="0">
                <a:latin typeface="나눔명조" pitchFamily="18" charset="-127"/>
                <a:ea typeface="나눔명조" pitchFamily="18" charset="-127"/>
              </a:rPr>
              <a:t>준사유재 가격의 예</a:t>
            </a:r>
            <a:r>
              <a:rPr lang="en-US" altLang="ko-KR" sz="1900" dirty="0">
                <a:latin typeface="나눔명조" pitchFamily="18" charset="-127"/>
                <a:ea typeface="나눔명조" pitchFamily="18" charset="-127"/>
              </a:rPr>
              <a:t>: </a:t>
            </a:r>
            <a:r>
              <a:rPr lang="ko-KR" altLang="en-US" sz="1900" dirty="0">
                <a:latin typeface="나눔명조" pitchFamily="18" charset="-127"/>
                <a:ea typeface="나눔명조" pitchFamily="18" charset="-127"/>
              </a:rPr>
              <a:t>공원 입장료</a:t>
            </a:r>
            <a:endParaRPr lang="en-US" altLang="ko-KR" sz="1900" dirty="0">
              <a:latin typeface="나눔명조" pitchFamily="18" charset="-127"/>
              <a:ea typeface="나눔명조" pitchFamily="18" charset="-127"/>
            </a:endParaRPr>
          </a:p>
          <a:p>
            <a:pPr lvl="1" eaLnBrk="1" hangingPunct="1"/>
            <a:r>
              <a:rPr lang="ko-KR" altLang="en-US" sz="2200" b="1" dirty="0">
                <a:solidFill>
                  <a:srgbClr val="0000FF"/>
                </a:solidFill>
                <a:latin typeface="나눔명조" pitchFamily="18" charset="-127"/>
                <a:ea typeface="나눔명조" pitchFamily="18" charset="-127"/>
              </a:rPr>
              <a:t>순수공공재</a:t>
            </a:r>
            <a:r>
              <a:rPr lang="en-US" altLang="ko-KR" sz="2200" dirty="0">
                <a:latin typeface="나눔명조" pitchFamily="18" charset="-127"/>
                <a:ea typeface="나눔명조" pitchFamily="18" charset="-127"/>
              </a:rPr>
              <a:t>: </a:t>
            </a:r>
            <a:r>
              <a:rPr lang="ko-KR" altLang="en-US" sz="2200" dirty="0">
                <a:latin typeface="나눔명조" pitchFamily="18" charset="-127"/>
                <a:ea typeface="나눔명조" pitchFamily="18" charset="-127"/>
              </a:rPr>
              <a:t>시장가격 자체가 존재하지 않아 가치를 추정해야 하며</a:t>
            </a:r>
            <a:r>
              <a:rPr lang="en-US" altLang="ko-KR" sz="2200" dirty="0">
                <a:latin typeface="나눔명조" pitchFamily="18" charset="-127"/>
                <a:ea typeface="나눔명조" pitchFamily="18" charset="-127"/>
              </a:rPr>
              <a:t>, </a:t>
            </a:r>
            <a:r>
              <a:rPr lang="ko-KR" altLang="en-US" sz="2200" dirty="0">
                <a:latin typeface="나눔명조" pitchFamily="18" charset="-127"/>
                <a:ea typeface="나눔명조" pitchFamily="18" charset="-127"/>
              </a:rPr>
              <a:t>많은 환경재가 이 범주에 속함</a:t>
            </a:r>
            <a:endParaRPr lang="en-US" altLang="ko-KR" sz="2200" dirty="0">
              <a:latin typeface="나눔명조" pitchFamily="18" charset="-127"/>
              <a:ea typeface="나눔명조" pitchFamily="18" charset="-127"/>
            </a:endParaRPr>
          </a:p>
          <a:p>
            <a:pPr eaLnBrk="1" hangingPunct="1"/>
            <a:r>
              <a:rPr lang="ko-KR" altLang="en-US" sz="2400" dirty="0">
                <a:latin typeface="나눔명조" pitchFamily="18" charset="-127"/>
                <a:ea typeface="나눔명조" pitchFamily="18" charset="-127"/>
              </a:rPr>
              <a:t>대부분의 </a:t>
            </a:r>
            <a:r>
              <a:rPr lang="ko-KR" altLang="en-US" sz="2400" dirty="0" err="1">
                <a:latin typeface="나눔명조" pitchFamily="18" charset="-127"/>
                <a:ea typeface="나눔명조" pitchFamily="18" charset="-127"/>
              </a:rPr>
              <a:t>환경재는</a:t>
            </a:r>
            <a:r>
              <a:rPr lang="ko-KR" altLang="en-US" sz="2400" dirty="0">
                <a:latin typeface="나눔명조" pitchFamily="18" charset="-127"/>
                <a:ea typeface="나눔명조" pitchFamily="18" charset="-127"/>
              </a:rPr>
              <a:t> </a:t>
            </a:r>
            <a:r>
              <a:rPr lang="ko-KR" altLang="en-US" sz="2400" dirty="0" err="1">
                <a:latin typeface="나눔명조" pitchFamily="18" charset="-127"/>
                <a:ea typeface="나눔명조" pitchFamily="18" charset="-127"/>
              </a:rPr>
              <a:t>준사유재이거나</a:t>
            </a:r>
            <a:r>
              <a:rPr lang="ko-KR" altLang="en-US" sz="2400" dirty="0">
                <a:latin typeface="나눔명조" pitchFamily="18" charset="-127"/>
                <a:ea typeface="나눔명조" pitchFamily="18" charset="-127"/>
              </a:rPr>
              <a:t> 공공재이므로 가격과 별도로 환경재의 가치를 추정할 필요가 있음</a:t>
            </a:r>
            <a:endParaRPr lang="en-US" altLang="ko-KR" sz="2600" dirty="0">
              <a:latin typeface="나눔명조" pitchFamily="18" charset="-127"/>
              <a:ea typeface="나눔명조" pitchFamily="18" charset="-127"/>
            </a:endParaRPr>
          </a:p>
        </p:txBody>
      </p:sp>
      <p:sp>
        <p:nvSpPr>
          <p:cNvPr id="15363" name="바닥글 개체 틀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r>
              <a:rPr lang="ko-KR" altLang="en-US" sz="1200" b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Chapter </a:t>
            </a:r>
            <a:r>
              <a:rPr lang="en-US" altLang="ko-KR" sz="1200" b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15</a:t>
            </a:r>
          </a:p>
        </p:txBody>
      </p:sp>
      <p:sp>
        <p:nvSpPr>
          <p:cNvPr id="15364" name="슬라이드 번호 개체 틀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fld id="{C753D822-DF5B-4203-821F-E37D763E2E34}" type="slidenum">
              <a:rPr lang="ko-KR" altLang="en-US" sz="1200" b="0">
                <a:solidFill>
                  <a:schemeClr val="tx1"/>
                </a:solidFill>
              </a:rPr>
              <a:pPr/>
              <a:t>3</a:t>
            </a:fld>
            <a:endParaRPr lang="en-US" altLang="ko-KR" sz="1200" b="0">
              <a:solidFill>
                <a:schemeClr val="tx1"/>
              </a:solidFill>
            </a:endParaRPr>
          </a:p>
        </p:txBody>
      </p:sp>
      <p:sp>
        <p:nvSpPr>
          <p:cNvPr id="15365" name="Rectangle 2"/>
          <p:cNvSpPr>
            <a:spLocks noChangeArrowheads="1"/>
          </p:cNvSpPr>
          <p:nvPr/>
        </p:nvSpPr>
        <p:spPr bwMode="auto">
          <a:xfrm>
            <a:off x="7620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>
              <a:ea typeface="굴림" panose="020B0600000101010101" pitchFamily="50" charset="-127"/>
            </a:endParaRPr>
          </a:p>
        </p:txBody>
      </p:sp>
      <p:sp>
        <p:nvSpPr>
          <p:cNvPr id="15366" name="Rectangle 3"/>
          <p:cNvSpPr>
            <a:spLocks noChangeArrowheads="1"/>
          </p:cNvSpPr>
          <p:nvPr/>
        </p:nvSpPr>
        <p:spPr bwMode="auto">
          <a:xfrm>
            <a:off x="32766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>
              <a:ea typeface="굴림" panose="020B0600000101010101" pitchFamily="50" charset="-127"/>
            </a:endParaRPr>
          </a:p>
        </p:txBody>
      </p:sp>
      <p:sp>
        <p:nvSpPr>
          <p:cNvPr id="15367" name="Rectangle 6"/>
          <p:cNvSpPr>
            <a:spLocks noGrp="1" noChangeArrowheads="1"/>
          </p:cNvSpPr>
          <p:nvPr>
            <p:ph type="title"/>
          </p:nvPr>
        </p:nvSpPr>
        <p:spPr>
          <a:xfrm>
            <a:off x="1355725" y="0"/>
            <a:ext cx="7313613" cy="1143000"/>
          </a:xfrm>
        </p:spPr>
        <p:txBody>
          <a:bodyPr/>
          <a:lstStyle/>
          <a:p>
            <a:pPr eaLnBrk="1" hangingPunct="1"/>
            <a:r>
              <a:rPr lang="ko-KR" altLang="en-US" dirty="0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재화와 서비스의 구분</a:t>
            </a:r>
          </a:p>
        </p:txBody>
      </p:sp>
    </p:spTree>
  </p:cSld>
  <p:clrMapOvr>
    <a:masterClrMapping/>
  </p:clrMapOvr>
  <p:transition spd="med">
    <p:wipe dir="r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9"/>
          <p:cNvSpPr>
            <a:spLocks noGrp="1" noChangeArrowheads="1"/>
          </p:cNvSpPr>
          <p:nvPr>
            <p:ph idx="1"/>
          </p:nvPr>
        </p:nvSpPr>
        <p:spPr>
          <a:xfrm>
            <a:off x="900113" y="1671638"/>
            <a:ext cx="7737475" cy="4114800"/>
          </a:xfrm>
        </p:spPr>
        <p:txBody>
          <a:bodyPr/>
          <a:lstStyle/>
          <a:p>
            <a:pPr eaLnBrk="1" hangingPunct="1"/>
            <a:r>
              <a:rPr lang="ko-KR" altLang="en-US" sz="2400" dirty="0">
                <a:latin typeface="나눔명조" pitchFamily="18" charset="-127"/>
                <a:ea typeface="나눔명조" pitchFamily="18" charset="-127"/>
              </a:rPr>
              <a:t>환경정책의 편익은 매우 다양하고 편익을 추정하는 방법 또한 다양함</a:t>
            </a:r>
            <a:endParaRPr lang="ko-KR" altLang="en-US" sz="2200" dirty="0">
              <a:latin typeface="나눔명조" pitchFamily="18" charset="-127"/>
              <a:ea typeface="나눔명조" pitchFamily="18" charset="-127"/>
            </a:endParaRPr>
          </a:p>
          <a:p>
            <a:pPr lvl="1" eaLnBrk="1" hangingPunct="1"/>
            <a:r>
              <a:rPr lang="ko-KR" altLang="en-US" sz="2200" b="1" dirty="0">
                <a:solidFill>
                  <a:srgbClr val="0000FF"/>
                </a:solidFill>
                <a:latin typeface="나눔명조" pitchFamily="18" charset="-127"/>
                <a:ea typeface="나눔명조" pitchFamily="18" charset="-127"/>
              </a:rPr>
              <a:t>시장적 방법</a:t>
            </a:r>
            <a:r>
              <a:rPr lang="en-US" altLang="ko-KR" sz="2200" dirty="0">
                <a:latin typeface="나눔명조" pitchFamily="18" charset="-127"/>
                <a:ea typeface="나눔명조" pitchFamily="18" charset="-127"/>
              </a:rPr>
              <a:t>: </a:t>
            </a:r>
            <a:r>
              <a:rPr lang="ko-KR" altLang="en-US" sz="2200" dirty="0">
                <a:latin typeface="나눔명조" pitchFamily="18" charset="-127"/>
                <a:ea typeface="나눔명조" pitchFamily="18" charset="-127"/>
              </a:rPr>
              <a:t>환경이 제공하는 재화나 서비스 시장을 관측하여 가치를 추정</a:t>
            </a:r>
            <a:endParaRPr lang="en-US" altLang="ko-KR" sz="2200" dirty="0">
              <a:latin typeface="나눔명조" pitchFamily="18" charset="-127"/>
              <a:ea typeface="나눔명조" pitchFamily="18" charset="-127"/>
            </a:endParaRPr>
          </a:p>
          <a:p>
            <a:pPr lvl="1" eaLnBrk="1" hangingPunct="1"/>
            <a:r>
              <a:rPr lang="ko-KR" altLang="en-US" sz="2200" b="1" dirty="0">
                <a:solidFill>
                  <a:srgbClr val="0000FF"/>
                </a:solidFill>
                <a:latin typeface="나눔명조" pitchFamily="18" charset="-127"/>
                <a:ea typeface="나눔명조" pitchFamily="18" charset="-127"/>
              </a:rPr>
              <a:t>현시선호방법</a:t>
            </a:r>
            <a:r>
              <a:rPr lang="en-US" altLang="ko-KR" sz="2200" dirty="0">
                <a:latin typeface="나눔명조" pitchFamily="18" charset="-127"/>
                <a:ea typeface="나눔명조" pitchFamily="18" charset="-127"/>
              </a:rPr>
              <a:t>: </a:t>
            </a:r>
            <a:r>
              <a:rPr lang="ko-KR" altLang="en-US" sz="2200" dirty="0" err="1">
                <a:latin typeface="나눔명조" pitchFamily="18" charset="-127"/>
                <a:ea typeface="나눔명조" pitchFamily="18" charset="-127"/>
              </a:rPr>
              <a:t>환경재와</a:t>
            </a:r>
            <a:r>
              <a:rPr lang="ko-KR" altLang="en-US" sz="2200" dirty="0">
                <a:latin typeface="나눔명조" pitchFamily="18" charset="-127"/>
                <a:ea typeface="나눔명조" pitchFamily="18" charset="-127"/>
              </a:rPr>
              <a:t> 관련된 시장에서 발생하는 변화를 분석하여 지불의사를 도출</a:t>
            </a:r>
            <a:endParaRPr lang="en-US" altLang="ko-KR" sz="2200" dirty="0">
              <a:latin typeface="나눔명조" pitchFamily="18" charset="-127"/>
              <a:ea typeface="나눔명조" pitchFamily="18" charset="-127"/>
            </a:endParaRPr>
          </a:p>
          <a:p>
            <a:pPr lvl="1" eaLnBrk="1" hangingPunct="1"/>
            <a:r>
              <a:rPr lang="ko-KR" altLang="en-US" sz="2200" b="1" dirty="0" err="1">
                <a:solidFill>
                  <a:srgbClr val="0000FF"/>
                </a:solidFill>
                <a:latin typeface="나눔명조" pitchFamily="18" charset="-127"/>
                <a:ea typeface="나눔명조" pitchFamily="18" charset="-127"/>
              </a:rPr>
              <a:t>진술선호법</a:t>
            </a:r>
            <a:r>
              <a:rPr lang="en-US" altLang="ko-KR" sz="2200" dirty="0">
                <a:latin typeface="나눔명조" pitchFamily="18" charset="-127"/>
                <a:ea typeface="나눔명조" pitchFamily="18" charset="-127"/>
              </a:rPr>
              <a:t>: </a:t>
            </a:r>
            <a:r>
              <a:rPr lang="ko-KR" altLang="en-US" sz="2200" dirty="0">
                <a:latin typeface="나눔명조" pitchFamily="18" charset="-127"/>
                <a:ea typeface="나눔명조" pitchFamily="18" charset="-127"/>
              </a:rPr>
              <a:t>소비자에게 </a:t>
            </a:r>
            <a:r>
              <a:rPr lang="ko-KR" altLang="en-US" sz="2200" dirty="0" err="1">
                <a:latin typeface="나눔명조" pitchFamily="18" charset="-127"/>
                <a:ea typeface="나눔명조" pitchFamily="18" charset="-127"/>
              </a:rPr>
              <a:t>환경질에</a:t>
            </a:r>
            <a:r>
              <a:rPr lang="ko-KR" altLang="en-US" sz="2200" dirty="0">
                <a:latin typeface="나눔명조" pitchFamily="18" charset="-127"/>
                <a:ea typeface="나눔명조" pitchFamily="18" charset="-127"/>
              </a:rPr>
              <a:t> 대한 지불의사를 직접 설문하며 존재가치까지 평가할 수 있음</a:t>
            </a:r>
            <a:endParaRPr lang="en-US" altLang="ko-KR" sz="2200" dirty="0">
              <a:latin typeface="나눔명조" pitchFamily="18" charset="-127"/>
              <a:ea typeface="나눔명조" pitchFamily="18" charset="-127"/>
            </a:endParaRPr>
          </a:p>
          <a:p>
            <a:pPr lvl="1" eaLnBrk="1" hangingPunct="1"/>
            <a:r>
              <a:rPr lang="ko-KR" altLang="en-US" sz="2200" b="1" dirty="0">
                <a:solidFill>
                  <a:srgbClr val="0000FF"/>
                </a:solidFill>
                <a:latin typeface="나눔명조" pitchFamily="18" charset="-127"/>
                <a:ea typeface="나눔명조" pitchFamily="18" charset="-127"/>
              </a:rPr>
              <a:t>모의시장분석법</a:t>
            </a:r>
            <a:r>
              <a:rPr lang="en-US" altLang="ko-KR" sz="2200" dirty="0">
                <a:latin typeface="나눔명조" pitchFamily="18" charset="-127"/>
                <a:ea typeface="나눔명조" pitchFamily="18" charset="-127"/>
              </a:rPr>
              <a:t>: </a:t>
            </a:r>
            <a:r>
              <a:rPr lang="ko-KR" altLang="en-US" sz="2200" dirty="0">
                <a:latin typeface="나눔명조" pitchFamily="18" charset="-127"/>
                <a:ea typeface="나눔명조" pitchFamily="18" charset="-127"/>
              </a:rPr>
              <a:t>모의시장에서의 거래행위를 분석하여 환경재의 편익을 분석</a:t>
            </a:r>
            <a:endParaRPr lang="en-US" altLang="ko-KR" sz="2200" dirty="0">
              <a:latin typeface="나눔명조" pitchFamily="18" charset="-127"/>
              <a:ea typeface="나눔명조" pitchFamily="18" charset="-127"/>
            </a:endParaRPr>
          </a:p>
          <a:p>
            <a:pPr eaLnBrk="1" hangingPunct="1"/>
            <a:r>
              <a:rPr lang="ko-KR" altLang="en-US" sz="2400" dirty="0">
                <a:latin typeface="나눔명조" pitchFamily="18" charset="-127"/>
                <a:ea typeface="나눔명조" pitchFamily="18" charset="-127"/>
              </a:rPr>
              <a:t>이러한 경제적 방법들은 관례적인 </a:t>
            </a:r>
            <a:r>
              <a:rPr lang="ko-KR" altLang="en-US" sz="2400">
                <a:latin typeface="나눔명조" pitchFamily="18" charset="-127"/>
                <a:ea typeface="나눔명조" pitchFamily="18" charset="-127"/>
              </a:rPr>
              <a:t>대체비용법과는 상이함  </a:t>
            </a:r>
            <a:endParaRPr lang="en-US" altLang="ko-KR" sz="2600" dirty="0">
              <a:latin typeface="나눔명조" pitchFamily="18" charset="-127"/>
              <a:ea typeface="나눔명조" pitchFamily="18" charset="-127"/>
            </a:endParaRPr>
          </a:p>
        </p:txBody>
      </p:sp>
      <p:sp>
        <p:nvSpPr>
          <p:cNvPr id="15363" name="바닥글 개체 틀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r>
              <a:rPr lang="ko-KR" altLang="en-US" sz="1200" b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Chapter </a:t>
            </a:r>
            <a:r>
              <a:rPr lang="en-US" altLang="ko-KR" sz="1200" b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15</a:t>
            </a:r>
          </a:p>
        </p:txBody>
      </p:sp>
      <p:sp>
        <p:nvSpPr>
          <p:cNvPr id="15364" name="슬라이드 번호 개체 틀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fld id="{C753D822-DF5B-4203-821F-E37D763E2E34}" type="slidenum">
              <a:rPr lang="ko-KR" altLang="en-US" sz="1200" b="0">
                <a:solidFill>
                  <a:schemeClr val="tx1"/>
                </a:solidFill>
              </a:rPr>
              <a:pPr/>
              <a:t>4</a:t>
            </a:fld>
            <a:endParaRPr lang="en-US" altLang="ko-KR" sz="1200" b="0">
              <a:solidFill>
                <a:schemeClr val="tx1"/>
              </a:solidFill>
            </a:endParaRPr>
          </a:p>
        </p:txBody>
      </p:sp>
      <p:sp>
        <p:nvSpPr>
          <p:cNvPr id="15365" name="Rectangle 2"/>
          <p:cNvSpPr>
            <a:spLocks noChangeArrowheads="1"/>
          </p:cNvSpPr>
          <p:nvPr/>
        </p:nvSpPr>
        <p:spPr bwMode="auto">
          <a:xfrm>
            <a:off x="7620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>
              <a:ea typeface="굴림" panose="020B0600000101010101" pitchFamily="50" charset="-127"/>
            </a:endParaRPr>
          </a:p>
        </p:txBody>
      </p:sp>
      <p:sp>
        <p:nvSpPr>
          <p:cNvPr id="15366" name="Rectangle 3"/>
          <p:cNvSpPr>
            <a:spLocks noChangeArrowheads="1"/>
          </p:cNvSpPr>
          <p:nvPr/>
        </p:nvSpPr>
        <p:spPr bwMode="auto">
          <a:xfrm>
            <a:off x="32766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>
              <a:ea typeface="굴림" panose="020B0600000101010101" pitchFamily="50" charset="-127"/>
            </a:endParaRPr>
          </a:p>
        </p:txBody>
      </p:sp>
      <p:sp>
        <p:nvSpPr>
          <p:cNvPr id="15367" name="Rectangle 6"/>
          <p:cNvSpPr>
            <a:spLocks noGrp="1" noChangeArrowheads="1"/>
          </p:cNvSpPr>
          <p:nvPr>
            <p:ph type="title"/>
          </p:nvPr>
        </p:nvSpPr>
        <p:spPr>
          <a:xfrm>
            <a:off x="1355725" y="0"/>
            <a:ext cx="7313613" cy="1143000"/>
          </a:xfrm>
        </p:spPr>
        <p:txBody>
          <a:bodyPr/>
          <a:lstStyle/>
          <a:p>
            <a:pPr eaLnBrk="1" hangingPunct="1"/>
            <a:r>
              <a:rPr lang="ko-KR" altLang="en-US" dirty="0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환경재의 가치평가방법</a:t>
            </a:r>
          </a:p>
        </p:txBody>
      </p:sp>
    </p:spTree>
    <p:extLst>
      <p:ext uri="{BB962C8B-B14F-4D97-AF65-F5344CB8AC3E}">
        <p14:creationId xmlns:p14="http://schemas.microsoft.com/office/powerpoint/2010/main" val="171171568"/>
      </p:ext>
    </p:extLst>
  </p:cSld>
  <p:clrMapOvr>
    <a:masterClrMapping/>
  </p:clrMapOvr>
  <p:transition spd="med">
    <p:wipe dir="r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3" name="바닥글 개체 틀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r>
              <a:rPr lang="ko-KR" altLang="en-US" sz="1200" b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Chapter </a:t>
            </a:r>
            <a:r>
              <a:rPr lang="en-US" altLang="ko-KR" sz="1200" b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15</a:t>
            </a:r>
          </a:p>
        </p:txBody>
      </p:sp>
      <p:sp>
        <p:nvSpPr>
          <p:cNvPr id="15364" name="슬라이드 번호 개체 틀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fld id="{C753D822-DF5B-4203-821F-E37D763E2E34}" type="slidenum">
              <a:rPr lang="ko-KR" altLang="en-US" sz="1200" b="0">
                <a:solidFill>
                  <a:schemeClr val="tx1"/>
                </a:solidFill>
              </a:rPr>
              <a:pPr/>
              <a:t>5</a:t>
            </a:fld>
            <a:endParaRPr lang="en-US" altLang="ko-KR" sz="1200" b="0">
              <a:solidFill>
                <a:schemeClr val="tx1"/>
              </a:solidFill>
            </a:endParaRPr>
          </a:p>
        </p:txBody>
      </p:sp>
      <p:sp>
        <p:nvSpPr>
          <p:cNvPr id="15365" name="Rectangle 2"/>
          <p:cNvSpPr>
            <a:spLocks noChangeArrowheads="1"/>
          </p:cNvSpPr>
          <p:nvPr/>
        </p:nvSpPr>
        <p:spPr bwMode="auto">
          <a:xfrm>
            <a:off x="7620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>
              <a:ea typeface="굴림" panose="020B0600000101010101" pitchFamily="50" charset="-127"/>
            </a:endParaRPr>
          </a:p>
        </p:txBody>
      </p:sp>
      <p:sp>
        <p:nvSpPr>
          <p:cNvPr id="15366" name="Rectangle 3"/>
          <p:cNvSpPr>
            <a:spLocks noChangeArrowheads="1"/>
          </p:cNvSpPr>
          <p:nvPr/>
        </p:nvSpPr>
        <p:spPr bwMode="auto">
          <a:xfrm>
            <a:off x="32766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>
              <a:ea typeface="굴림" panose="020B0600000101010101" pitchFamily="50" charset="-127"/>
            </a:endParaRPr>
          </a:p>
        </p:txBody>
      </p:sp>
      <p:sp>
        <p:nvSpPr>
          <p:cNvPr id="15367" name="Rectangle 6"/>
          <p:cNvSpPr>
            <a:spLocks noGrp="1" noChangeArrowheads="1"/>
          </p:cNvSpPr>
          <p:nvPr>
            <p:ph type="title"/>
          </p:nvPr>
        </p:nvSpPr>
        <p:spPr>
          <a:xfrm>
            <a:off x="1355725" y="0"/>
            <a:ext cx="7313613" cy="1143000"/>
          </a:xfrm>
        </p:spPr>
        <p:txBody>
          <a:bodyPr/>
          <a:lstStyle/>
          <a:p>
            <a:pPr eaLnBrk="1" hangingPunct="1"/>
            <a:r>
              <a:rPr lang="ko-KR" altLang="en-US" dirty="0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환경재의 가치평가방법</a:t>
            </a: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33AAC91A-1D90-42F5-B7C2-7E3AC5E032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4130" y="1143000"/>
            <a:ext cx="6615740" cy="52638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4689980"/>
      </p:ext>
    </p:extLst>
  </p:cSld>
  <p:clrMapOvr>
    <a:masterClrMapping/>
  </p:clrMapOvr>
  <p:transition spd="med">
    <p:wipe dir="r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5362" name="Rectangle 9"/>
              <p:cNvSpPr>
                <a:spLocks noGrp="1" noChangeArrowheads="1"/>
              </p:cNvSpPr>
              <p:nvPr>
                <p:ph idx="1"/>
              </p:nvPr>
            </p:nvSpPr>
            <p:spPr>
              <a:xfrm>
                <a:off x="900113" y="1418420"/>
                <a:ext cx="7737475" cy="4114800"/>
              </a:xfrm>
            </p:spPr>
            <p:txBody>
              <a:bodyPr/>
              <a:lstStyle/>
              <a:p>
                <a:pPr eaLnBrk="1" hangingPunct="1"/>
                <a:r>
                  <a:rPr lang="ko-KR" altLang="en-US" sz="24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시장적 방법을 통한 분석은 환경개선에 따른 두 가지 효과를 분석해야 함</a:t>
                </a:r>
                <a:endParaRPr lang="en-US" altLang="ko-KR" sz="2400" dirty="0">
                  <a:latin typeface="Times New Roman" pitchFamily="18" charset="0"/>
                  <a:ea typeface="나눔명조" pitchFamily="18" charset="-127"/>
                  <a:cs typeface="Times New Roman" pitchFamily="18" charset="0"/>
                </a:endParaRPr>
              </a:p>
              <a:p>
                <a:pPr eaLnBrk="1" hangingPunct="1"/>
                <a:r>
                  <a:rPr lang="ko-KR" altLang="en-US" sz="24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물리적 효과 분석</a:t>
                </a:r>
              </a:p>
              <a:p>
                <a:pPr lvl="1" eaLnBrk="1" hangingPunct="1"/>
                <a:r>
                  <a:rPr lang="ko-KR" altLang="en-US" sz="20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 환경개선으로 인한 최종산출물의 공급량 변화를 계측해야 하며</a:t>
                </a:r>
                <a:r>
                  <a:rPr lang="en-US" altLang="ko-KR" sz="20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, </a:t>
                </a:r>
                <a:r>
                  <a:rPr lang="ko-KR" altLang="en-US" sz="20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피해함수나 생산함수를 추정하여 분석함</a:t>
                </a:r>
              </a:p>
              <a:p>
                <a:pPr lvl="1" eaLnBrk="1" hangingPunct="1"/>
                <a:r>
                  <a:rPr lang="en-US" altLang="ko-KR" sz="20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y=f(x, q) (y</a:t>
                </a:r>
                <a:r>
                  <a:rPr lang="ko-KR" altLang="en-US" sz="20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는 생산량</a:t>
                </a:r>
                <a:r>
                  <a:rPr lang="en-US" altLang="ko-KR" sz="20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, x</a:t>
                </a:r>
                <a:r>
                  <a:rPr lang="ko-KR" altLang="en-US" sz="20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는 투입요소</a:t>
                </a:r>
                <a:r>
                  <a:rPr lang="en-US" altLang="ko-KR" sz="20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, q</a:t>
                </a:r>
                <a:r>
                  <a:rPr lang="ko-KR" altLang="en-US" sz="20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는 환경질</a:t>
                </a:r>
                <a:r>
                  <a:rPr lang="en-US" altLang="ko-KR" sz="20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)</a:t>
                </a:r>
              </a:p>
              <a:p>
                <a:pPr lvl="1" eaLnBrk="1" hangingPunct="1"/>
                <a14:m>
                  <m:oMath xmlns:m="http://schemas.openxmlformats.org/officeDocument/2006/math">
                    <m:r>
                      <a:rPr lang="ko-KR" altLang="en-US" sz="2000" i="1" dirty="0">
                        <a:latin typeface="Cambria Math" panose="02040503050406030204" pitchFamily="18" charset="0"/>
                        <a:ea typeface="나눔명조" pitchFamily="18" charset="-127"/>
                        <a:cs typeface="Times New Roman" pitchFamily="18" charset="0"/>
                      </a:rPr>
                      <m:t>환</m:t>
                    </m:r>
                    <m:r>
                      <a:rPr lang="ko-KR" altLang="en-US" sz="2000" i="1" dirty="0" smtClean="0">
                        <a:latin typeface="Cambria Math" panose="02040503050406030204" pitchFamily="18" charset="0"/>
                        <a:ea typeface="나눔명조" pitchFamily="18" charset="-127"/>
                        <a:cs typeface="Times New Roman" pitchFamily="18" charset="0"/>
                      </a:rPr>
                      <m:t>경</m:t>
                    </m:r>
                    <m:r>
                      <a:rPr lang="ko-KR" altLang="en-US" sz="2000" i="1" dirty="0">
                        <a:latin typeface="Cambria Math" panose="02040503050406030204" pitchFamily="18" charset="0"/>
                        <a:ea typeface="나눔명조" pitchFamily="18" charset="-127"/>
                        <a:cs typeface="Times New Roman" pitchFamily="18" charset="0"/>
                      </a:rPr>
                      <m:t>질</m:t>
                    </m:r>
                    <m:r>
                      <a:rPr lang="ko-KR" altLang="en-US" sz="2000" i="1" dirty="0" smtClean="0">
                        <a:latin typeface="Cambria Math" panose="02040503050406030204" pitchFamily="18" charset="0"/>
                        <a:ea typeface="나눔명조" pitchFamily="18" charset="-127"/>
                        <a:cs typeface="Times New Roman" pitchFamily="18" charset="0"/>
                      </a:rPr>
                      <m:t>이</m:t>
                    </m:r>
                    <m:r>
                      <a:rPr lang="en-US" altLang="ko-KR" sz="2000" b="0" i="1" dirty="0" smtClean="0">
                        <a:latin typeface="Cambria Math" panose="02040503050406030204" pitchFamily="18" charset="0"/>
                        <a:ea typeface="나눔명조" pitchFamily="18" charset="-127"/>
                        <a:cs typeface="Times New Roman" pitchFamily="18" charset="0"/>
                      </a:rPr>
                      <m:t> </m:t>
                    </m:r>
                    <m:r>
                      <a:rPr lang="en-US" altLang="ko-KR" sz="2000" i="1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itchFamily="18" charset="0"/>
                      </a:rPr>
                      <m:t>∆</m:t>
                    </m:r>
                    <m:r>
                      <a:rPr lang="en-US" altLang="ko-KR" sz="2000" i="1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itchFamily="18" charset="0"/>
                      </a:rPr>
                      <m:t>𝑞</m:t>
                    </m:r>
                    <m:r>
                      <a:rPr lang="ko-KR" altLang="en-US" sz="2000" i="1" dirty="0">
                        <a:latin typeface="Cambria Math" panose="02040503050406030204" pitchFamily="18" charset="0"/>
                        <a:ea typeface="나눔명조" pitchFamily="18" charset="-127"/>
                        <a:cs typeface="Times New Roman" pitchFamily="18" charset="0"/>
                      </a:rPr>
                      <m:t>만</m:t>
                    </m:r>
                    <m:r>
                      <a:rPr lang="ko-KR" altLang="en-US" sz="2000" i="1" dirty="0" smtClean="0">
                        <a:latin typeface="Cambria Math" panose="02040503050406030204" pitchFamily="18" charset="0"/>
                        <a:ea typeface="나눔명조" pitchFamily="18" charset="-127"/>
                        <a:cs typeface="Times New Roman" pitchFamily="18" charset="0"/>
                      </a:rPr>
                      <m:t>큼</m:t>
                    </m:r>
                    <m:r>
                      <a:rPr lang="en-US" altLang="ko-KR" sz="2000" b="0" i="1" dirty="0" smtClean="0">
                        <a:latin typeface="Cambria Math" panose="02040503050406030204" pitchFamily="18" charset="0"/>
                        <a:ea typeface="나눔명조" pitchFamily="18" charset="-127"/>
                        <a:cs typeface="Times New Roman" pitchFamily="18" charset="0"/>
                      </a:rPr>
                      <m:t> </m:t>
                    </m:r>
                    <m:r>
                      <a:rPr lang="ko-KR" altLang="en-US" sz="2000" i="1" dirty="0">
                        <a:latin typeface="Cambria Math" panose="02040503050406030204" pitchFamily="18" charset="0"/>
                        <a:ea typeface="나눔명조" pitchFamily="18" charset="-127"/>
                        <a:cs typeface="Times New Roman" pitchFamily="18" charset="0"/>
                      </a:rPr>
                      <m:t>변</m:t>
                    </m:r>
                    <m:r>
                      <a:rPr lang="ko-KR" altLang="en-US" sz="2000" i="1" dirty="0" smtClean="0">
                        <a:latin typeface="Cambria Math" panose="02040503050406030204" pitchFamily="18" charset="0"/>
                        <a:ea typeface="나눔명조" pitchFamily="18" charset="-127"/>
                        <a:cs typeface="Times New Roman" pitchFamily="18" charset="0"/>
                      </a:rPr>
                      <m:t>할</m:t>
                    </m:r>
                    <m:r>
                      <a:rPr lang="en-US" altLang="ko-KR" sz="2000" b="0" i="1" dirty="0" smtClean="0">
                        <a:latin typeface="Cambria Math" panose="02040503050406030204" pitchFamily="18" charset="0"/>
                        <a:ea typeface="나눔명조" pitchFamily="18" charset="-127"/>
                        <a:cs typeface="Times New Roman" pitchFamily="18" charset="0"/>
                      </a:rPr>
                      <m:t> </m:t>
                    </m:r>
                    <m:r>
                      <a:rPr lang="ko-KR" altLang="en-US" sz="2000" i="1" dirty="0">
                        <a:latin typeface="Cambria Math" panose="02040503050406030204" pitchFamily="18" charset="0"/>
                        <a:ea typeface="나눔명조" pitchFamily="18" charset="-127"/>
                        <a:cs typeface="Times New Roman" pitchFamily="18" charset="0"/>
                      </a:rPr>
                      <m:t>경</m:t>
                    </m:r>
                    <m:r>
                      <a:rPr lang="ko-KR" altLang="en-US" sz="2000" i="1" dirty="0" smtClean="0">
                        <a:latin typeface="Cambria Math" panose="02040503050406030204" pitchFamily="18" charset="0"/>
                        <a:ea typeface="나눔명조" pitchFamily="18" charset="-127"/>
                        <a:cs typeface="Times New Roman" pitchFamily="18" charset="0"/>
                      </a:rPr>
                      <m:t>우</m:t>
                    </m:r>
                    <m:r>
                      <a:rPr lang="en-US" altLang="ko-KR" sz="2000" b="0" i="1" dirty="0" smtClean="0">
                        <a:latin typeface="Cambria Math" panose="02040503050406030204" pitchFamily="18" charset="0"/>
                        <a:ea typeface="나눔명조" pitchFamily="18" charset="-127"/>
                        <a:cs typeface="Times New Roman" pitchFamily="18" charset="0"/>
                      </a:rPr>
                      <m:t> </m:t>
                    </m:r>
                    <m:f>
                      <m:fPr>
                        <m:ctrlPr>
                          <a:rPr lang="en-US" altLang="ko-KR" sz="2000" i="1" dirty="0" smtClean="0">
                            <a:latin typeface="Cambria Math" panose="02040503050406030204" pitchFamily="18" charset="0"/>
                            <a:ea typeface="나눔명조" pitchFamily="18" charset="-127"/>
                            <a:cs typeface="Times New Roman" pitchFamily="18" charset="0"/>
                          </a:rPr>
                        </m:ctrlPr>
                      </m:fPr>
                      <m:num>
                        <m:r>
                          <a:rPr lang="en-US" altLang="ko-KR" sz="200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itchFamily="18" charset="0"/>
                          </a:rPr>
                          <m:t>∆</m:t>
                        </m:r>
                        <m:r>
                          <a:rPr lang="en-US" altLang="ko-KR" sz="20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itchFamily="18" charset="0"/>
                          </a:rPr>
                          <m:t>𝑦</m:t>
                        </m:r>
                      </m:num>
                      <m:den>
                        <m:r>
                          <a:rPr lang="en-US" altLang="ko-KR" sz="200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itchFamily="18" charset="0"/>
                          </a:rPr>
                          <m:t>∆</m:t>
                        </m:r>
                        <m:r>
                          <a:rPr lang="en-US" altLang="ko-KR" sz="20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itchFamily="18" charset="0"/>
                          </a:rPr>
                          <m:t>𝑞</m:t>
                        </m:r>
                      </m:den>
                    </m:f>
                    <m:r>
                      <a:rPr lang="en-US" altLang="ko-KR" sz="2000" b="0" i="1" dirty="0" smtClean="0">
                        <a:latin typeface="Cambria Math" panose="02040503050406030204" pitchFamily="18" charset="0"/>
                        <a:ea typeface="나눔명조" pitchFamily="18" charset="-127"/>
                        <a:cs typeface="Times New Roman" pitchFamily="18" charset="0"/>
                      </a:rPr>
                      <m:t>=</m:t>
                    </m:r>
                    <m:f>
                      <m:fPr>
                        <m:ctrlPr>
                          <a:rPr lang="en-US" altLang="ko-KR" sz="2000" b="0" i="1" dirty="0" smtClean="0">
                            <a:latin typeface="Cambria Math" panose="02040503050406030204" pitchFamily="18" charset="0"/>
                            <a:ea typeface="나눔명조" pitchFamily="18" charset="-127"/>
                            <a:cs typeface="Times New Roman" pitchFamily="18" charset="0"/>
                          </a:rPr>
                        </m:ctrlPr>
                      </m:fPr>
                      <m:num>
                        <m:r>
                          <a:rPr lang="en-US" altLang="ko-KR" sz="20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itchFamily="18" charset="0"/>
                          </a:rPr>
                          <m:t>∆</m:t>
                        </m:r>
                        <m:r>
                          <a:rPr lang="en-US" altLang="ko-KR" sz="20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itchFamily="18" charset="0"/>
                          </a:rPr>
                          <m:t>𝑓</m:t>
                        </m:r>
                        <m:r>
                          <a:rPr lang="en-US" altLang="ko-KR" sz="20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itchFamily="18" charset="0"/>
                          </a:rPr>
                          <m:t>(</m:t>
                        </m:r>
                        <m:r>
                          <a:rPr lang="en-US" altLang="ko-KR" sz="20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itchFamily="18" charset="0"/>
                          </a:rPr>
                          <m:t>𝑥</m:t>
                        </m:r>
                        <m:r>
                          <a:rPr lang="en-US" altLang="ko-KR" sz="20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itchFamily="18" charset="0"/>
                          </a:rPr>
                          <m:t>,</m:t>
                        </m:r>
                        <m:r>
                          <a:rPr lang="en-US" altLang="ko-KR" sz="20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itchFamily="18" charset="0"/>
                          </a:rPr>
                          <m:t>𝑞</m:t>
                        </m:r>
                        <m:r>
                          <a:rPr lang="en-US" altLang="ko-KR" sz="20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itchFamily="18" charset="0"/>
                          </a:rPr>
                          <m:t>)</m:t>
                        </m:r>
                      </m:num>
                      <m:den>
                        <m:r>
                          <a:rPr lang="en-US" altLang="ko-KR" sz="20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itchFamily="18" charset="0"/>
                          </a:rPr>
                          <m:t>∆</m:t>
                        </m:r>
                        <m:r>
                          <a:rPr lang="en-US" altLang="ko-KR" sz="20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itchFamily="18" charset="0"/>
                          </a:rPr>
                          <m:t>𝑞</m:t>
                        </m:r>
                      </m:den>
                    </m:f>
                  </m:oMath>
                </a14:m>
                <a:r>
                  <a:rPr lang="ko-KR" altLang="en-US" sz="20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를 계산하고 여기에 산출물 가격을 곱해 환경개선의 편익을 구할 수 있음</a:t>
                </a:r>
                <a:endParaRPr lang="ko-KR" altLang="en-US" sz="1600" dirty="0">
                  <a:latin typeface="Times New Roman" pitchFamily="18" charset="0"/>
                  <a:ea typeface="나눔명조" pitchFamily="18" charset="-127"/>
                  <a:cs typeface="Times New Roman" pitchFamily="18" charset="0"/>
                </a:endParaRPr>
              </a:p>
              <a:p>
                <a:pPr eaLnBrk="1" hangingPunct="1"/>
                <a:r>
                  <a:rPr lang="ko-KR" altLang="en-US" sz="24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많은 경우 물리적인 효과만을 분석하는 것으로는 환경정책의 편익을 제대로 평가할 수 없음</a:t>
                </a:r>
                <a:endParaRPr lang="en-US" altLang="ko-KR" sz="2400" dirty="0">
                  <a:latin typeface="Times New Roman" pitchFamily="18" charset="0"/>
                  <a:ea typeface="나눔명조" pitchFamily="18" charset="-127"/>
                  <a:cs typeface="Times New Roman" pitchFamily="18" charset="0"/>
                </a:endParaRPr>
              </a:p>
              <a:p>
                <a:pPr lvl="1" eaLnBrk="1" hangingPunct="1"/>
                <a:r>
                  <a:rPr lang="ko-KR" altLang="en-US" sz="20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환경개선으로 인해 시장재의 생산성이 달라지면 이로 인해 생산자 및 소비자의 선택까지도 바뀌고</a:t>
                </a:r>
                <a:r>
                  <a:rPr lang="en-US" altLang="ko-KR" sz="20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, </a:t>
                </a:r>
                <a:r>
                  <a:rPr lang="ko-KR" altLang="en-US" sz="20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따라서 시장균형 자체가 달라짐</a:t>
                </a:r>
                <a:endParaRPr lang="en-US" altLang="ko-KR" sz="2000" dirty="0">
                  <a:latin typeface="Times New Roman" pitchFamily="18" charset="0"/>
                  <a:ea typeface="나눔명조" pitchFamily="18" charset="-127"/>
                  <a:cs typeface="Times New Roman" pitchFamily="18" charset="0"/>
                </a:endParaRPr>
              </a:p>
            </p:txBody>
          </p:sp>
        </mc:Choice>
        <mc:Fallback xmlns="">
          <p:sp>
            <p:nvSpPr>
              <p:cNvPr id="15362" name="Rectangle 9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900113" y="1418420"/>
                <a:ext cx="7737475" cy="4114800"/>
              </a:xfrm>
              <a:blipFill>
                <a:blip r:embed="rId3"/>
                <a:stretch>
                  <a:fillRect l="-1103" t="-1630" b="-22815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363" name="바닥글 개체 틀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r>
              <a:rPr lang="ko-KR" altLang="en-US" sz="1200" b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Chapter </a:t>
            </a:r>
            <a:r>
              <a:rPr lang="en-US" altLang="ko-KR" sz="1200" b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15</a:t>
            </a:r>
          </a:p>
        </p:txBody>
      </p:sp>
      <p:sp>
        <p:nvSpPr>
          <p:cNvPr id="15364" name="슬라이드 번호 개체 틀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fld id="{C753D822-DF5B-4203-821F-E37D763E2E34}" type="slidenum">
              <a:rPr lang="ko-KR" altLang="en-US" sz="1200" b="0">
                <a:solidFill>
                  <a:schemeClr val="tx1"/>
                </a:solidFill>
              </a:rPr>
              <a:pPr/>
              <a:t>6</a:t>
            </a:fld>
            <a:endParaRPr lang="en-US" altLang="ko-KR" sz="1200" b="0" dirty="0">
              <a:solidFill>
                <a:schemeClr val="tx1"/>
              </a:solidFill>
            </a:endParaRPr>
          </a:p>
        </p:txBody>
      </p:sp>
      <p:sp>
        <p:nvSpPr>
          <p:cNvPr id="15365" name="Rectangle 2"/>
          <p:cNvSpPr>
            <a:spLocks noChangeArrowheads="1"/>
          </p:cNvSpPr>
          <p:nvPr/>
        </p:nvSpPr>
        <p:spPr bwMode="auto">
          <a:xfrm>
            <a:off x="7620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>
              <a:ea typeface="굴림" panose="020B0600000101010101" pitchFamily="50" charset="-127"/>
            </a:endParaRPr>
          </a:p>
        </p:txBody>
      </p:sp>
      <p:sp>
        <p:nvSpPr>
          <p:cNvPr id="15366" name="Rectangle 3"/>
          <p:cNvSpPr>
            <a:spLocks noChangeArrowheads="1"/>
          </p:cNvSpPr>
          <p:nvPr/>
        </p:nvSpPr>
        <p:spPr bwMode="auto">
          <a:xfrm>
            <a:off x="32766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>
              <a:ea typeface="굴림" panose="020B0600000101010101" pitchFamily="50" charset="-127"/>
            </a:endParaRPr>
          </a:p>
        </p:txBody>
      </p:sp>
      <p:sp>
        <p:nvSpPr>
          <p:cNvPr id="15367" name="Rectangle 6"/>
          <p:cNvSpPr>
            <a:spLocks noGrp="1" noChangeArrowheads="1"/>
          </p:cNvSpPr>
          <p:nvPr>
            <p:ph type="title"/>
          </p:nvPr>
        </p:nvSpPr>
        <p:spPr>
          <a:xfrm>
            <a:off x="1355725" y="0"/>
            <a:ext cx="7313613" cy="1143000"/>
          </a:xfrm>
        </p:spPr>
        <p:txBody>
          <a:bodyPr/>
          <a:lstStyle/>
          <a:p>
            <a:pPr eaLnBrk="1" hangingPunct="1"/>
            <a:r>
              <a:rPr lang="ko-KR" altLang="en-US" dirty="0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시장적 방법</a:t>
            </a:r>
          </a:p>
        </p:txBody>
      </p:sp>
    </p:spTree>
    <p:extLst>
      <p:ext uri="{BB962C8B-B14F-4D97-AF65-F5344CB8AC3E}">
        <p14:creationId xmlns:p14="http://schemas.microsoft.com/office/powerpoint/2010/main" val="3291452300"/>
      </p:ext>
    </p:extLst>
  </p:cSld>
  <p:clrMapOvr>
    <a:masterClrMapping/>
  </p:clrMapOvr>
  <p:transition spd="med">
    <p:wipe dir="r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3" name="바닥글 개체 틀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r>
              <a:rPr lang="ko-KR" altLang="en-US" sz="1200" b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Chapter </a:t>
            </a:r>
            <a:r>
              <a:rPr lang="en-US" altLang="ko-KR" sz="1200" b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15</a:t>
            </a:r>
          </a:p>
        </p:txBody>
      </p:sp>
      <p:sp>
        <p:nvSpPr>
          <p:cNvPr id="15364" name="슬라이드 번호 개체 틀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fld id="{C753D822-DF5B-4203-821F-E37D763E2E34}" type="slidenum">
              <a:rPr lang="ko-KR" altLang="en-US" sz="1200" b="0">
                <a:solidFill>
                  <a:schemeClr val="tx1"/>
                </a:solidFill>
              </a:rPr>
              <a:pPr/>
              <a:t>7</a:t>
            </a:fld>
            <a:endParaRPr lang="en-US" altLang="ko-KR" sz="1200" b="0">
              <a:solidFill>
                <a:schemeClr val="tx1"/>
              </a:solidFill>
            </a:endParaRPr>
          </a:p>
        </p:txBody>
      </p:sp>
      <p:sp>
        <p:nvSpPr>
          <p:cNvPr id="15365" name="Rectangle 2"/>
          <p:cNvSpPr>
            <a:spLocks noChangeArrowheads="1"/>
          </p:cNvSpPr>
          <p:nvPr/>
        </p:nvSpPr>
        <p:spPr bwMode="auto">
          <a:xfrm>
            <a:off x="7620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>
              <a:ea typeface="굴림" panose="020B0600000101010101" pitchFamily="50" charset="-127"/>
            </a:endParaRPr>
          </a:p>
        </p:txBody>
      </p:sp>
      <p:sp>
        <p:nvSpPr>
          <p:cNvPr id="15366" name="Rectangle 3"/>
          <p:cNvSpPr>
            <a:spLocks noChangeArrowheads="1"/>
          </p:cNvSpPr>
          <p:nvPr/>
        </p:nvSpPr>
        <p:spPr bwMode="auto">
          <a:xfrm>
            <a:off x="32766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>
              <a:ea typeface="굴림" panose="020B0600000101010101" pitchFamily="50" charset="-127"/>
            </a:endParaRPr>
          </a:p>
        </p:txBody>
      </p:sp>
      <p:sp>
        <p:nvSpPr>
          <p:cNvPr id="15367" name="Rectangle 6"/>
          <p:cNvSpPr>
            <a:spLocks noGrp="1" noChangeArrowheads="1"/>
          </p:cNvSpPr>
          <p:nvPr>
            <p:ph type="title"/>
          </p:nvPr>
        </p:nvSpPr>
        <p:spPr>
          <a:xfrm>
            <a:off x="1355725" y="0"/>
            <a:ext cx="7313613" cy="1143000"/>
          </a:xfrm>
        </p:spPr>
        <p:txBody>
          <a:bodyPr/>
          <a:lstStyle/>
          <a:p>
            <a:pPr eaLnBrk="1" hangingPunct="1"/>
            <a:r>
              <a:rPr lang="ko-KR" altLang="en-US" dirty="0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시장적 방법</a:t>
            </a: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AF397D0D-D13A-4265-B2A7-5B8738E9A2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1938" y="1389407"/>
            <a:ext cx="6624675" cy="38913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3392349"/>
      </p:ext>
    </p:extLst>
  </p:cSld>
  <p:clrMapOvr>
    <a:masterClrMapping/>
  </p:clrMapOvr>
  <p:transition spd="med">
    <p:wipe dir="r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9"/>
          <p:cNvSpPr>
            <a:spLocks noGrp="1" noChangeArrowheads="1"/>
          </p:cNvSpPr>
          <p:nvPr>
            <p:ph idx="1"/>
          </p:nvPr>
        </p:nvSpPr>
        <p:spPr>
          <a:xfrm>
            <a:off x="703262" y="1143000"/>
            <a:ext cx="7737475" cy="4303112"/>
          </a:xfrm>
        </p:spPr>
        <p:txBody>
          <a:bodyPr/>
          <a:lstStyle/>
          <a:p>
            <a:pPr eaLnBrk="1" hangingPunct="1"/>
            <a:r>
              <a:rPr lang="ko-KR" altLang="en-US" sz="24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시장균형분석</a:t>
            </a:r>
            <a:endParaRPr lang="en-US" altLang="ko-KR" sz="2400" dirty="0">
              <a:latin typeface="Times New Roman" pitchFamily="18" charset="0"/>
              <a:ea typeface="나눔명조" pitchFamily="18" charset="-127"/>
              <a:cs typeface="Times New Roman" pitchFamily="18" charset="0"/>
            </a:endParaRPr>
          </a:p>
          <a:p>
            <a:pPr lvl="1" eaLnBrk="1" hangingPunct="1"/>
            <a:r>
              <a:rPr lang="ko-KR" altLang="en-US" sz="16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환경개선으로 인한 생산성의 변화는 경제주체의 선택을 변경시키고 시장균형을 다르게 하므로 이러한 측면 또한 분석되어야 함</a:t>
            </a:r>
            <a:endParaRPr lang="en-US" altLang="ko-KR" sz="1600" dirty="0">
              <a:latin typeface="Times New Roman" pitchFamily="18" charset="0"/>
              <a:ea typeface="나눔명조" pitchFamily="18" charset="-127"/>
              <a:cs typeface="Times New Roman" pitchFamily="18" charset="0"/>
            </a:endParaRPr>
          </a:p>
          <a:p>
            <a:pPr lvl="1" eaLnBrk="1" hangingPunct="1"/>
            <a:endParaRPr lang="en-US" altLang="ko-KR" sz="1600" dirty="0">
              <a:latin typeface="Times New Roman" pitchFamily="18" charset="0"/>
              <a:ea typeface="나눔명조" pitchFamily="18" charset="-127"/>
              <a:cs typeface="Times New Roman" pitchFamily="18" charset="0"/>
            </a:endParaRPr>
          </a:p>
          <a:p>
            <a:pPr lvl="1" eaLnBrk="1" hangingPunct="1"/>
            <a:endParaRPr lang="en-US" altLang="ko-KR" sz="1600" dirty="0">
              <a:latin typeface="Times New Roman" pitchFamily="18" charset="0"/>
              <a:ea typeface="나눔명조" pitchFamily="18" charset="-127"/>
              <a:cs typeface="Times New Roman" pitchFamily="18" charset="0"/>
            </a:endParaRPr>
          </a:p>
          <a:p>
            <a:pPr lvl="1" eaLnBrk="1" hangingPunct="1"/>
            <a:endParaRPr lang="en-US" altLang="ko-KR" sz="1600" dirty="0">
              <a:latin typeface="Times New Roman" pitchFamily="18" charset="0"/>
              <a:ea typeface="나눔명조" pitchFamily="18" charset="-127"/>
              <a:cs typeface="Times New Roman" pitchFamily="18" charset="0"/>
            </a:endParaRPr>
          </a:p>
          <a:p>
            <a:pPr lvl="1" eaLnBrk="1" hangingPunct="1"/>
            <a:endParaRPr lang="en-US" altLang="ko-KR" sz="1600" dirty="0">
              <a:latin typeface="Times New Roman" pitchFamily="18" charset="0"/>
              <a:ea typeface="나눔명조" pitchFamily="18" charset="-127"/>
              <a:cs typeface="Times New Roman" pitchFamily="18" charset="0"/>
            </a:endParaRPr>
          </a:p>
          <a:p>
            <a:pPr lvl="1" eaLnBrk="1" hangingPunct="1"/>
            <a:endParaRPr lang="en-US" altLang="ko-KR" sz="1600" dirty="0">
              <a:latin typeface="Times New Roman" pitchFamily="18" charset="0"/>
              <a:ea typeface="나눔명조" pitchFamily="18" charset="-127"/>
              <a:cs typeface="Times New Roman" pitchFamily="18" charset="0"/>
            </a:endParaRPr>
          </a:p>
          <a:p>
            <a:pPr eaLnBrk="1" hangingPunct="1"/>
            <a:endParaRPr lang="en-US" altLang="ko-KR" sz="1800" dirty="0">
              <a:latin typeface="Times New Roman" pitchFamily="18" charset="0"/>
              <a:ea typeface="나눔명조" pitchFamily="18" charset="-127"/>
              <a:cs typeface="Times New Roman" pitchFamily="18" charset="0"/>
            </a:endParaRPr>
          </a:p>
          <a:p>
            <a:pPr eaLnBrk="1" hangingPunct="1"/>
            <a:r>
              <a:rPr lang="en-US" altLang="ko-KR" sz="18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&lt;</a:t>
            </a:r>
            <a:r>
              <a:rPr lang="ko-KR" altLang="en-US" sz="18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그림 </a:t>
            </a:r>
            <a:r>
              <a:rPr lang="en-US" altLang="ko-KR" sz="18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15-1&gt;, </a:t>
            </a:r>
            <a:r>
              <a:rPr lang="ko-KR" altLang="en-US" sz="1800" dirty="0" err="1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환경질</a:t>
            </a:r>
            <a:r>
              <a:rPr lang="ko-KR" altLang="en-US" sz="18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 개선으로 인해 공급곡선이 </a:t>
            </a:r>
            <a:r>
              <a:rPr lang="en-US" altLang="ko-KR" sz="18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S</a:t>
            </a:r>
            <a:r>
              <a:rPr lang="en-US" altLang="ko-KR" sz="1800" baseline="-250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0</a:t>
            </a:r>
            <a:r>
              <a:rPr lang="ko-KR" altLang="en-US" sz="18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에서 </a:t>
            </a:r>
            <a:r>
              <a:rPr lang="en-US" altLang="ko-KR" sz="18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S</a:t>
            </a:r>
            <a:r>
              <a:rPr lang="en-US" altLang="ko-KR" sz="1800" baseline="-250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1</a:t>
            </a:r>
            <a:r>
              <a:rPr lang="ko-KR" altLang="en-US" sz="18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로 이동</a:t>
            </a:r>
            <a:endParaRPr lang="en-US" altLang="ko-KR" sz="1800" dirty="0">
              <a:latin typeface="Times New Roman" pitchFamily="18" charset="0"/>
              <a:ea typeface="나눔명조" pitchFamily="18" charset="-127"/>
              <a:cs typeface="Times New Roman" pitchFamily="18" charset="0"/>
            </a:endParaRPr>
          </a:p>
          <a:p>
            <a:pPr lvl="1" eaLnBrk="1" hangingPunct="1"/>
            <a:r>
              <a:rPr lang="ko-KR" altLang="en-US" sz="18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시장균형은 </a:t>
            </a:r>
            <a:r>
              <a:rPr lang="en-US" altLang="ko-KR" sz="18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b</a:t>
            </a:r>
            <a:r>
              <a:rPr lang="ko-KR" altLang="en-US" sz="18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에서 </a:t>
            </a:r>
            <a:r>
              <a:rPr lang="en-US" altLang="ko-KR" sz="18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c</a:t>
            </a:r>
            <a:r>
              <a:rPr lang="ko-KR" altLang="en-US" sz="18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로 이동</a:t>
            </a:r>
            <a:r>
              <a:rPr lang="en-US" altLang="ko-KR" sz="18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, </a:t>
            </a:r>
            <a:r>
              <a:rPr lang="ko-KR" altLang="en-US" sz="18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사회 전체의 후생은 면적 </a:t>
            </a:r>
            <a:r>
              <a:rPr lang="en-US" altLang="ko-KR" sz="1800" dirty="0" err="1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dbc</a:t>
            </a:r>
            <a:r>
              <a:rPr lang="ko-KR" altLang="en-US" sz="18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만큼 증가</a:t>
            </a:r>
            <a:endParaRPr lang="en-US" altLang="ko-KR" sz="1800" dirty="0">
              <a:latin typeface="Times New Roman" pitchFamily="18" charset="0"/>
              <a:ea typeface="나눔명조" pitchFamily="18" charset="-127"/>
              <a:cs typeface="Times New Roman" pitchFamily="18" charset="0"/>
            </a:endParaRPr>
          </a:p>
          <a:p>
            <a:pPr lvl="1" eaLnBrk="1" hangingPunct="1"/>
            <a:r>
              <a:rPr lang="ko-KR" altLang="en-US" sz="18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하지만 생산자잉여는 증가할 수도 있고 감소할 수도 있음</a:t>
            </a:r>
            <a:endParaRPr lang="en-US" altLang="ko-KR" sz="1800" dirty="0">
              <a:latin typeface="Times New Roman" pitchFamily="18" charset="0"/>
              <a:ea typeface="나눔명조" pitchFamily="18" charset="-127"/>
              <a:cs typeface="Times New Roman" pitchFamily="18" charset="0"/>
            </a:endParaRPr>
          </a:p>
          <a:p>
            <a:pPr eaLnBrk="1" hangingPunct="1"/>
            <a:r>
              <a:rPr lang="ko-KR" altLang="en-US" sz="18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산출물시장의 형태 및 가격지지정책 등에 따라 제품의 시장가격 자체가 왜곡이 될 경우에는 시장정보 등을 추가로 활용하여 제품의 사회적 가치를 찾아서 분석해야 함</a:t>
            </a:r>
            <a:endParaRPr lang="en-US" altLang="ko-KR" sz="2000" dirty="0">
              <a:latin typeface="Times New Roman" pitchFamily="18" charset="0"/>
              <a:ea typeface="나눔명조" pitchFamily="18" charset="-127"/>
              <a:cs typeface="Times New Roman" pitchFamily="18" charset="0"/>
            </a:endParaRPr>
          </a:p>
        </p:txBody>
      </p:sp>
      <p:sp>
        <p:nvSpPr>
          <p:cNvPr id="15363" name="바닥글 개체 틀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r>
              <a:rPr lang="ko-KR" altLang="en-US" sz="1200" b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Chapter </a:t>
            </a:r>
            <a:r>
              <a:rPr lang="en-US" altLang="ko-KR" sz="1200" b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15</a:t>
            </a:r>
          </a:p>
        </p:txBody>
      </p:sp>
      <p:sp>
        <p:nvSpPr>
          <p:cNvPr id="15364" name="슬라이드 번호 개체 틀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fld id="{C753D822-DF5B-4203-821F-E37D763E2E34}" type="slidenum">
              <a:rPr lang="ko-KR" altLang="en-US" sz="1200" b="0">
                <a:solidFill>
                  <a:schemeClr val="tx1"/>
                </a:solidFill>
              </a:rPr>
              <a:pPr/>
              <a:t>8</a:t>
            </a:fld>
            <a:endParaRPr lang="en-US" altLang="ko-KR" sz="1200" b="0">
              <a:solidFill>
                <a:schemeClr val="tx1"/>
              </a:solidFill>
            </a:endParaRPr>
          </a:p>
        </p:txBody>
      </p:sp>
      <p:sp>
        <p:nvSpPr>
          <p:cNvPr id="15365" name="Rectangle 2"/>
          <p:cNvSpPr>
            <a:spLocks noChangeArrowheads="1"/>
          </p:cNvSpPr>
          <p:nvPr/>
        </p:nvSpPr>
        <p:spPr bwMode="auto">
          <a:xfrm>
            <a:off x="7620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>
              <a:ea typeface="굴림" panose="020B0600000101010101" pitchFamily="50" charset="-127"/>
            </a:endParaRPr>
          </a:p>
        </p:txBody>
      </p:sp>
      <p:sp>
        <p:nvSpPr>
          <p:cNvPr id="15366" name="Rectangle 3"/>
          <p:cNvSpPr>
            <a:spLocks noChangeArrowheads="1"/>
          </p:cNvSpPr>
          <p:nvPr/>
        </p:nvSpPr>
        <p:spPr bwMode="auto">
          <a:xfrm>
            <a:off x="32766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>
              <a:ea typeface="굴림" panose="020B0600000101010101" pitchFamily="50" charset="-127"/>
            </a:endParaRPr>
          </a:p>
        </p:txBody>
      </p:sp>
      <p:sp>
        <p:nvSpPr>
          <p:cNvPr id="15367" name="Rectangle 6"/>
          <p:cNvSpPr>
            <a:spLocks noGrp="1" noChangeArrowheads="1"/>
          </p:cNvSpPr>
          <p:nvPr>
            <p:ph type="title"/>
          </p:nvPr>
        </p:nvSpPr>
        <p:spPr>
          <a:xfrm>
            <a:off x="1355725" y="0"/>
            <a:ext cx="7313613" cy="1143000"/>
          </a:xfrm>
        </p:spPr>
        <p:txBody>
          <a:bodyPr/>
          <a:lstStyle/>
          <a:p>
            <a:pPr eaLnBrk="1" hangingPunct="1"/>
            <a:r>
              <a:rPr lang="ko-KR" altLang="en-US" dirty="0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시장적 방법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0FF7C2F4-DCC4-4543-9F6B-7A66A64D1E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05337" y="2096278"/>
            <a:ext cx="5596875" cy="18198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1452300"/>
      </p:ext>
    </p:extLst>
  </p:cSld>
  <p:clrMapOvr>
    <a:masterClrMapping/>
  </p:clrMapOvr>
  <p:transition spd="med">
    <p:wipe dir="r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9"/>
          <p:cNvSpPr>
            <a:spLocks noGrp="1" noChangeArrowheads="1"/>
          </p:cNvSpPr>
          <p:nvPr>
            <p:ph idx="1"/>
          </p:nvPr>
        </p:nvSpPr>
        <p:spPr>
          <a:xfrm>
            <a:off x="900113" y="1671638"/>
            <a:ext cx="7737475" cy="4114800"/>
          </a:xfrm>
        </p:spPr>
        <p:txBody>
          <a:bodyPr/>
          <a:lstStyle/>
          <a:p>
            <a:pPr eaLnBrk="1" hangingPunct="1"/>
            <a:r>
              <a:rPr lang="ko-KR" altLang="en-US" sz="2400" dirty="0">
                <a:latin typeface="나눔명조" pitchFamily="18" charset="-127"/>
                <a:ea typeface="나눔명조" pitchFamily="18" charset="-127"/>
              </a:rPr>
              <a:t>현시선호분석법은 환경재와 </a:t>
            </a:r>
            <a:r>
              <a:rPr lang="ko-KR" altLang="en-US" sz="2400" dirty="0" err="1">
                <a:latin typeface="나눔명조" pitchFamily="18" charset="-127"/>
                <a:ea typeface="나눔명조" pitchFamily="18" charset="-127"/>
              </a:rPr>
              <a:t>사유재</a:t>
            </a:r>
            <a:r>
              <a:rPr lang="ko-KR" altLang="en-US" sz="2400" dirty="0">
                <a:latin typeface="나눔명조" pitchFamily="18" charset="-127"/>
                <a:ea typeface="나눔명조" pitchFamily="18" charset="-127"/>
              </a:rPr>
              <a:t> 혹은 시장재를 소비하는 개인의 최적화 행위를 분석하여 환경재의 가치를 평가함</a:t>
            </a:r>
            <a:endParaRPr lang="en-US" altLang="ko-KR" sz="2400" dirty="0">
              <a:latin typeface="나눔명조" pitchFamily="18" charset="-127"/>
              <a:ea typeface="나눔명조" pitchFamily="18" charset="-127"/>
            </a:endParaRPr>
          </a:p>
          <a:p>
            <a:pPr eaLnBrk="1" hangingPunct="1"/>
            <a:r>
              <a:rPr lang="ko-KR" altLang="en-US" sz="2400" dirty="0">
                <a:latin typeface="나눔명조" pitchFamily="18" charset="-127"/>
                <a:ea typeface="나눔명조" pitchFamily="18" charset="-127"/>
              </a:rPr>
              <a:t>환경질의 변화가 초래하는 </a:t>
            </a:r>
            <a:r>
              <a:rPr lang="ko-KR" altLang="en-US" sz="2400" dirty="0" err="1">
                <a:latin typeface="나눔명조" pitchFamily="18" charset="-127"/>
                <a:ea typeface="나눔명조" pitchFamily="18" charset="-127"/>
              </a:rPr>
              <a:t>시장재</a:t>
            </a:r>
            <a:r>
              <a:rPr lang="ko-KR" altLang="en-US" sz="2400" dirty="0">
                <a:latin typeface="나눔명조" pitchFamily="18" charset="-127"/>
                <a:ea typeface="나눔명조" pitchFamily="18" charset="-127"/>
              </a:rPr>
              <a:t> 소비량의 변화를 통해 </a:t>
            </a:r>
            <a:r>
              <a:rPr lang="ko-KR" altLang="en-US" sz="2400" dirty="0" err="1">
                <a:latin typeface="나눔명조" pitchFamily="18" charset="-127"/>
                <a:ea typeface="나눔명조" pitchFamily="18" charset="-127"/>
              </a:rPr>
              <a:t>환경질</a:t>
            </a:r>
            <a:r>
              <a:rPr lang="ko-KR" altLang="en-US" sz="2400" dirty="0">
                <a:latin typeface="나눔명조" pitchFamily="18" charset="-127"/>
                <a:ea typeface="나눔명조" pitchFamily="18" charset="-127"/>
              </a:rPr>
              <a:t> 개선의 편익을 추정함</a:t>
            </a:r>
            <a:endParaRPr lang="en-US" altLang="ko-KR" sz="2400" dirty="0">
              <a:latin typeface="나눔명조" pitchFamily="18" charset="-127"/>
              <a:ea typeface="나눔명조" pitchFamily="18" charset="-127"/>
            </a:endParaRPr>
          </a:p>
          <a:p>
            <a:pPr eaLnBrk="1" hangingPunct="1"/>
            <a:r>
              <a:rPr lang="ko-KR" altLang="en-US" sz="2400" dirty="0">
                <a:latin typeface="나눔명조" pitchFamily="18" charset="-127"/>
                <a:ea typeface="나눔명조" pitchFamily="18" charset="-127"/>
              </a:rPr>
              <a:t>이러한 현시선호방법을 사용하기 위해서는 소비측면에서 </a:t>
            </a:r>
            <a:r>
              <a:rPr lang="ko-KR" altLang="en-US" sz="2400" u="sng" dirty="0">
                <a:latin typeface="나눔명조" pitchFamily="18" charset="-127"/>
                <a:ea typeface="나눔명조" pitchFamily="18" charset="-127"/>
              </a:rPr>
              <a:t>환경재와 </a:t>
            </a:r>
            <a:r>
              <a:rPr lang="ko-KR" altLang="en-US" sz="2400" u="sng" dirty="0" err="1">
                <a:latin typeface="나눔명조" pitchFamily="18" charset="-127"/>
                <a:ea typeface="나눔명조" pitchFamily="18" charset="-127"/>
              </a:rPr>
              <a:t>시장재의</a:t>
            </a:r>
            <a:r>
              <a:rPr lang="ko-KR" altLang="en-US" sz="2400" u="sng" dirty="0">
                <a:latin typeface="나눔명조" pitchFamily="18" charset="-127"/>
                <a:ea typeface="나눔명조" pitchFamily="18" charset="-127"/>
              </a:rPr>
              <a:t> 사이에 형성되는 관계</a:t>
            </a:r>
            <a:r>
              <a:rPr lang="ko-KR" altLang="en-US" sz="2400" dirty="0">
                <a:latin typeface="나눔명조" pitchFamily="18" charset="-127"/>
                <a:ea typeface="나눔명조" pitchFamily="18" charset="-127"/>
              </a:rPr>
              <a:t>를 먼저 검토할 필요가 있음</a:t>
            </a:r>
            <a:endParaRPr lang="en-US" altLang="ko-KR" sz="2600" dirty="0">
              <a:latin typeface="나눔명조" pitchFamily="18" charset="-127"/>
              <a:ea typeface="나눔명조" pitchFamily="18" charset="-127"/>
            </a:endParaRPr>
          </a:p>
        </p:txBody>
      </p:sp>
      <p:sp>
        <p:nvSpPr>
          <p:cNvPr id="15363" name="바닥글 개체 틀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r>
              <a:rPr lang="ko-KR" altLang="en-US" sz="1200" b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Chapter </a:t>
            </a:r>
            <a:r>
              <a:rPr lang="en-US" altLang="ko-KR" sz="1200" b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15</a:t>
            </a:r>
          </a:p>
        </p:txBody>
      </p:sp>
      <p:sp>
        <p:nvSpPr>
          <p:cNvPr id="15364" name="슬라이드 번호 개체 틀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fld id="{C753D822-DF5B-4203-821F-E37D763E2E34}" type="slidenum">
              <a:rPr lang="ko-KR" altLang="en-US" sz="1200" b="0">
                <a:solidFill>
                  <a:schemeClr val="tx1"/>
                </a:solidFill>
              </a:rPr>
              <a:pPr/>
              <a:t>9</a:t>
            </a:fld>
            <a:endParaRPr lang="en-US" altLang="ko-KR" sz="1200" b="0">
              <a:solidFill>
                <a:schemeClr val="tx1"/>
              </a:solidFill>
            </a:endParaRPr>
          </a:p>
        </p:txBody>
      </p:sp>
      <p:sp>
        <p:nvSpPr>
          <p:cNvPr id="15365" name="Rectangle 2"/>
          <p:cNvSpPr>
            <a:spLocks noChangeArrowheads="1"/>
          </p:cNvSpPr>
          <p:nvPr/>
        </p:nvSpPr>
        <p:spPr bwMode="auto">
          <a:xfrm>
            <a:off x="7620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>
              <a:ea typeface="굴림" panose="020B0600000101010101" pitchFamily="50" charset="-127"/>
            </a:endParaRPr>
          </a:p>
        </p:txBody>
      </p:sp>
      <p:sp>
        <p:nvSpPr>
          <p:cNvPr id="15366" name="Rectangle 3"/>
          <p:cNvSpPr>
            <a:spLocks noChangeArrowheads="1"/>
          </p:cNvSpPr>
          <p:nvPr/>
        </p:nvSpPr>
        <p:spPr bwMode="auto">
          <a:xfrm>
            <a:off x="32766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>
              <a:ea typeface="굴림" panose="020B0600000101010101" pitchFamily="50" charset="-127"/>
            </a:endParaRPr>
          </a:p>
        </p:txBody>
      </p:sp>
      <p:sp>
        <p:nvSpPr>
          <p:cNvPr id="15367" name="Rectangle 6"/>
          <p:cNvSpPr>
            <a:spLocks noGrp="1" noChangeArrowheads="1"/>
          </p:cNvSpPr>
          <p:nvPr>
            <p:ph type="title"/>
          </p:nvPr>
        </p:nvSpPr>
        <p:spPr>
          <a:xfrm>
            <a:off x="1355725" y="0"/>
            <a:ext cx="7313613" cy="1143000"/>
          </a:xfrm>
        </p:spPr>
        <p:txBody>
          <a:bodyPr/>
          <a:lstStyle/>
          <a:p>
            <a:pPr eaLnBrk="1" hangingPunct="1"/>
            <a:r>
              <a:rPr lang="ko-KR" altLang="en-US" dirty="0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현시선호방법의 이론적 기초</a:t>
            </a:r>
          </a:p>
        </p:txBody>
      </p:sp>
    </p:spTree>
    <p:extLst>
      <p:ext uri="{BB962C8B-B14F-4D97-AF65-F5344CB8AC3E}">
        <p14:creationId xmlns:p14="http://schemas.microsoft.com/office/powerpoint/2010/main" val="1732171759"/>
      </p:ext>
    </p:extLst>
  </p:cSld>
  <p:clrMapOvr>
    <a:masterClrMapping/>
  </p:clrMapOvr>
  <p:transition spd="med">
    <p:wipe dir="r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9"/>
          <p:cNvSpPr>
            <a:spLocks noGrp="1" noChangeArrowheads="1"/>
          </p:cNvSpPr>
          <p:nvPr>
            <p:ph idx="1"/>
          </p:nvPr>
        </p:nvSpPr>
        <p:spPr>
          <a:xfrm>
            <a:off x="900113" y="1559096"/>
            <a:ext cx="7737475" cy="4114800"/>
          </a:xfrm>
        </p:spPr>
        <p:txBody>
          <a:bodyPr/>
          <a:lstStyle/>
          <a:p>
            <a:pPr eaLnBrk="1" hangingPunct="1"/>
            <a:r>
              <a:rPr lang="ko-KR" altLang="en-US" sz="24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시장에서 거래되는 두 </a:t>
            </a:r>
            <a:r>
              <a:rPr lang="ko-KR" altLang="en-US" sz="2400" dirty="0" err="1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사유재</a:t>
            </a:r>
            <a:r>
              <a:rPr lang="ko-KR" altLang="en-US" sz="24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 혹은 시장재의 소비량을 </a:t>
            </a:r>
            <a:r>
              <a:rPr lang="en-US" altLang="ko-KR" sz="24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x</a:t>
            </a:r>
            <a:r>
              <a:rPr lang="en-US" altLang="ko-KR" sz="2400" baseline="-250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1</a:t>
            </a:r>
            <a:r>
              <a:rPr lang="en-US" altLang="ko-KR" sz="24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, x</a:t>
            </a:r>
            <a:r>
              <a:rPr lang="en-US" altLang="ko-KR" sz="2400" baseline="-250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2</a:t>
            </a:r>
            <a:r>
              <a:rPr lang="ko-KR" altLang="en-US" sz="24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라 하고 </a:t>
            </a:r>
            <a:r>
              <a:rPr lang="ko-KR" altLang="en-US" sz="2400" dirty="0" err="1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환경질을</a:t>
            </a:r>
            <a:r>
              <a:rPr lang="ko-KR" altLang="en-US" sz="24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 </a:t>
            </a:r>
            <a:r>
              <a:rPr lang="en-US" altLang="ko-KR" sz="24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q</a:t>
            </a:r>
            <a:r>
              <a:rPr lang="ko-KR" altLang="en-US" sz="24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라 하면 개인의 효용함수를 다음과 같이 나타낼 수 있음</a:t>
            </a:r>
            <a:endParaRPr lang="en-US" altLang="ko-KR" sz="2400" dirty="0">
              <a:latin typeface="Times New Roman" pitchFamily="18" charset="0"/>
              <a:ea typeface="나눔명조" pitchFamily="18" charset="-127"/>
              <a:cs typeface="Times New Roman" pitchFamily="18" charset="0"/>
            </a:endParaRPr>
          </a:p>
          <a:p>
            <a:pPr lvl="1" eaLnBrk="1" hangingPunct="1"/>
            <a:r>
              <a:rPr lang="en-US" altLang="ko-KR" sz="20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u = u(x</a:t>
            </a:r>
            <a:r>
              <a:rPr lang="en-US" altLang="ko-KR" sz="2000" baseline="-250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1</a:t>
            </a:r>
            <a:r>
              <a:rPr lang="en-US" altLang="ko-KR" sz="20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, x</a:t>
            </a:r>
            <a:r>
              <a:rPr lang="en-US" altLang="ko-KR" sz="2000" baseline="-250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2</a:t>
            </a:r>
            <a:r>
              <a:rPr lang="en-US" altLang="ko-KR" sz="20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, q)</a:t>
            </a:r>
          </a:p>
          <a:p>
            <a:pPr eaLnBrk="1" hangingPunct="1"/>
            <a:r>
              <a:rPr lang="ko-KR" altLang="en-US" sz="24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효용함수가 </a:t>
            </a:r>
            <a:r>
              <a:rPr lang="ko-KR" altLang="en-US" sz="2400" b="1" dirty="0">
                <a:solidFill>
                  <a:srgbClr val="0000FF"/>
                </a:solidFill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분리적</a:t>
            </a:r>
            <a:r>
              <a:rPr lang="ko-KR" altLang="en-US" sz="24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이라는 것은 </a:t>
            </a:r>
            <a:r>
              <a:rPr lang="ko-KR" altLang="en-US" sz="2400" dirty="0" err="1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환경질이</a:t>
            </a:r>
            <a:r>
              <a:rPr lang="en-US" altLang="ko-KR" sz="24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 </a:t>
            </a:r>
            <a:r>
              <a:rPr lang="ko-KR" altLang="en-US" sz="24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변해도 사유재간의 </a:t>
            </a:r>
            <a:r>
              <a:rPr lang="ko-KR" altLang="en-US" sz="2400" dirty="0" err="1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한계대체율이</a:t>
            </a:r>
            <a:r>
              <a:rPr lang="ko-KR" altLang="en-US" sz="24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 변하지 않음을 의미</a:t>
            </a:r>
            <a:endParaRPr lang="en-US" altLang="ko-KR" sz="2400" dirty="0">
              <a:latin typeface="Times New Roman" pitchFamily="18" charset="0"/>
              <a:ea typeface="나눔명조" pitchFamily="18" charset="-127"/>
              <a:cs typeface="Times New Roman" pitchFamily="18" charset="0"/>
            </a:endParaRPr>
          </a:p>
          <a:p>
            <a:pPr lvl="1" eaLnBrk="1" hangingPunct="1"/>
            <a:r>
              <a:rPr lang="ko-KR" altLang="en-US" sz="2200" dirty="0" err="1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환경질이</a:t>
            </a:r>
            <a:r>
              <a:rPr lang="ko-KR" altLang="en-US" sz="22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 변해도 사유재의 소비양상이 뚜렷하게 변화하지 않고</a:t>
            </a:r>
            <a:r>
              <a:rPr lang="en-US" altLang="ko-KR" sz="22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, </a:t>
            </a:r>
            <a:r>
              <a:rPr lang="ko-KR" altLang="en-US" sz="22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따라서 사유재의 소비량 변화를 통해 환경개선의 편익을 추정하는 현시선호방법을 사용하기 어려워짐</a:t>
            </a:r>
            <a:endParaRPr lang="en-US" altLang="ko-KR" sz="2200" dirty="0">
              <a:latin typeface="Times New Roman" pitchFamily="18" charset="0"/>
              <a:ea typeface="나눔명조" pitchFamily="18" charset="-127"/>
              <a:cs typeface="Times New Roman" pitchFamily="18" charset="0"/>
            </a:endParaRPr>
          </a:p>
          <a:p>
            <a:pPr lvl="1" eaLnBrk="1" hangingPunct="1"/>
            <a:r>
              <a:rPr lang="ko-KR" altLang="en-US" sz="22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예</a:t>
            </a:r>
            <a:r>
              <a:rPr lang="en-US" altLang="ko-KR" sz="22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) u = u</a:t>
            </a:r>
            <a:r>
              <a:rPr lang="en-US" altLang="ko-KR" sz="2200" baseline="-250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1</a:t>
            </a:r>
            <a:r>
              <a:rPr lang="en-US" altLang="ko-KR" sz="22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(x</a:t>
            </a:r>
            <a:r>
              <a:rPr lang="en-US" altLang="ko-KR" sz="2200" baseline="-250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1</a:t>
            </a:r>
            <a:r>
              <a:rPr lang="en-US" altLang="ko-KR" sz="22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, x</a:t>
            </a:r>
            <a:r>
              <a:rPr lang="en-US" altLang="ko-KR" sz="2200" baseline="-250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2</a:t>
            </a:r>
            <a:r>
              <a:rPr lang="en-US" altLang="ko-KR" sz="22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) + u</a:t>
            </a:r>
            <a:r>
              <a:rPr lang="en-US" altLang="ko-KR" sz="2200" baseline="-250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2</a:t>
            </a:r>
            <a:r>
              <a:rPr lang="en-US" altLang="ko-KR" sz="22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(q)</a:t>
            </a:r>
          </a:p>
        </p:txBody>
      </p:sp>
      <p:sp>
        <p:nvSpPr>
          <p:cNvPr id="15363" name="바닥글 개체 틀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r>
              <a:rPr lang="ko-KR" altLang="en-US" sz="1200" b="0" dirty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Chapter </a:t>
            </a:r>
            <a:r>
              <a:rPr lang="en-US" altLang="ko-KR" sz="1200" b="0" dirty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15</a:t>
            </a:r>
          </a:p>
        </p:txBody>
      </p:sp>
      <p:sp>
        <p:nvSpPr>
          <p:cNvPr id="15364" name="슬라이드 번호 개체 틀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fld id="{C753D822-DF5B-4203-821F-E37D763E2E34}" type="slidenum">
              <a:rPr lang="ko-KR" altLang="en-US" sz="1200" b="0">
                <a:solidFill>
                  <a:schemeClr val="tx1"/>
                </a:solidFill>
              </a:rPr>
              <a:pPr/>
              <a:t>10</a:t>
            </a:fld>
            <a:endParaRPr lang="en-US" altLang="ko-KR" sz="1200" b="0">
              <a:solidFill>
                <a:schemeClr val="tx1"/>
              </a:solidFill>
            </a:endParaRPr>
          </a:p>
        </p:txBody>
      </p:sp>
      <p:sp>
        <p:nvSpPr>
          <p:cNvPr id="15365" name="Rectangle 2"/>
          <p:cNvSpPr>
            <a:spLocks noChangeArrowheads="1"/>
          </p:cNvSpPr>
          <p:nvPr/>
        </p:nvSpPr>
        <p:spPr bwMode="auto">
          <a:xfrm>
            <a:off x="7620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>
              <a:ea typeface="굴림" panose="020B0600000101010101" pitchFamily="50" charset="-127"/>
            </a:endParaRPr>
          </a:p>
        </p:txBody>
      </p:sp>
      <p:sp>
        <p:nvSpPr>
          <p:cNvPr id="15366" name="Rectangle 3"/>
          <p:cNvSpPr>
            <a:spLocks noChangeArrowheads="1"/>
          </p:cNvSpPr>
          <p:nvPr/>
        </p:nvSpPr>
        <p:spPr bwMode="auto">
          <a:xfrm>
            <a:off x="32766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>
              <a:ea typeface="굴림" panose="020B0600000101010101" pitchFamily="50" charset="-127"/>
            </a:endParaRPr>
          </a:p>
        </p:txBody>
      </p:sp>
      <p:sp>
        <p:nvSpPr>
          <p:cNvPr id="15367" name="Rectangle 6"/>
          <p:cNvSpPr>
            <a:spLocks noGrp="1" noChangeArrowheads="1"/>
          </p:cNvSpPr>
          <p:nvPr>
            <p:ph type="title"/>
          </p:nvPr>
        </p:nvSpPr>
        <p:spPr>
          <a:xfrm>
            <a:off x="1355725" y="0"/>
            <a:ext cx="7313613" cy="1143000"/>
          </a:xfrm>
        </p:spPr>
        <p:txBody>
          <a:bodyPr/>
          <a:lstStyle/>
          <a:p>
            <a:pPr eaLnBrk="1" hangingPunct="1"/>
            <a:r>
              <a:rPr lang="ko-KR" altLang="en-US" dirty="0" err="1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분리성</a:t>
            </a:r>
            <a:endParaRPr lang="ko-KR" altLang="en-US" dirty="0">
              <a:solidFill>
                <a:srgbClr val="0070C0"/>
              </a:solidFill>
              <a:latin typeface="나눔명조" pitchFamily="18" charset="-127"/>
              <a:ea typeface="나눔명조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131362625"/>
      </p:ext>
    </p:extLst>
  </p:cSld>
  <p:clrMapOvr>
    <a:masterClrMapping/>
  </p:clrMapOvr>
  <p:transition spd="med">
    <p:wipe dir="r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9"/>
          <p:cNvSpPr>
            <a:spLocks noGrp="1" noChangeArrowheads="1"/>
          </p:cNvSpPr>
          <p:nvPr>
            <p:ph idx="1"/>
          </p:nvPr>
        </p:nvSpPr>
        <p:spPr>
          <a:xfrm>
            <a:off x="703262" y="1296189"/>
            <a:ext cx="7737475" cy="4114800"/>
          </a:xfrm>
        </p:spPr>
        <p:txBody>
          <a:bodyPr/>
          <a:lstStyle/>
          <a:p>
            <a:pPr eaLnBrk="1" hangingPunct="1"/>
            <a:r>
              <a:rPr lang="ko-KR" altLang="en-US" sz="2400" dirty="0" err="1">
                <a:latin typeface="나눔명조" pitchFamily="18" charset="-127"/>
                <a:ea typeface="나눔명조" pitchFamily="18" charset="-127"/>
              </a:rPr>
              <a:t>환경질은</a:t>
            </a:r>
            <a:r>
              <a:rPr lang="ko-KR" altLang="en-US" sz="2400" dirty="0">
                <a:latin typeface="나눔명조" pitchFamily="18" charset="-127"/>
                <a:ea typeface="나눔명조" pitchFamily="18" charset="-127"/>
              </a:rPr>
              <a:t> 일부 </a:t>
            </a:r>
            <a:r>
              <a:rPr lang="ko-KR" altLang="en-US" sz="2400" dirty="0" err="1">
                <a:latin typeface="나눔명조" pitchFamily="18" charset="-127"/>
                <a:ea typeface="나눔명조" pitchFamily="18" charset="-127"/>
              </a:rPr>
              <a:t>시장재의</a:t>
            </a:r>
            <a:r>
              <a:rPr lang="ko-KR" altLang="en-US" sz="2400" dirty="0">
                <a:latin typeface="나눔명조" pitchFamily="18" charset="-127"/>
                <a:ea typeface="나눔명조" pitchFamily="18" charset="-127"/>
              </a:rPr>
              <a:t> 소비만족도를 직접 높이고</a:t>
            </a:r>
            <a:r>
              <a:rPr lang="en-US" altLang="ko-KR" sz="2400" dirty="0">
                <a:latin typeface="나눔명조" pitchFamily="18" charset="-127"/>
                <a:ea typeface="나눔명조" pitchFamily="18" charset="-127"/>
              </a:rPr>
              <a:t>, </a:t>
            </a:r>
            <a:r>
              <a:rPr lang="ko-KR" altLang="en-US" sz="2400" dirty="0">
                <a:latin typeface="나눔명조" pitchFamily="18" charset="-127"/>
                <a:ea typeface="나눔명조" pitchFamily="18" charset="-127"/>
              </a:rPr>
              <a:t>따라서 보완관계를 가질 수 있음</a:t>
            </a:r>
            <a:endParaRPr lang="en-US" altLang="ko-KR" sz="2400" dirty="0">
              <a:latin typeface="나눔명조" pitchFamily="18" charset="-127"/>
              <a:ea typeface="나눔명조" pitchFamily="18" charset="-127"/>
            </a:endParaRPr>
          </a:p>
          <a:p>
            <a:pPr lvl="1" eaLnBrk="1" hangingPunct="1"/>
            <a:r>
              <a:rPr lang="ko-KR" altLang="en-US" sz="2200" dirty="0">
                <a:latin typeface="나눔명조" pitchFamily="18" charset="-127"/>
                <a:ea typeface="나눔명조" pitchFamily="18" charset="-127"/>
              </a:rPr>
              <a:t>예</a:t>
            </a:r>
            <a:r>
              <a:rPr lang="en-US" altLang="ko-KR" sz="2200" dirty="0">
                <a:latin typeface="나눔명조" pitchFamily="18" charset="-127"/>
                <a:ea typeface="나눔명조" pitchFamily="18" charset="-127"/>
              </a:rPr>
              <a:t>: </a:t>
            </a:r>
            <a:r>
              <a:rPr lang="ko-KR" altLang="en-US" sz="2200" dirty="0">
                <a:latin typeface="나눔명조" pitchFamily="18" charset="-127"/>
                <a:ea typeface="나눔명조" pitchFamily="18" charset="-127"/>
              </a:rPr>
              <a:t>뱃놀이 횟수</a:t>
            </a:r>
            <a:r>
              <a:rPr lang="en-US" altLang="ko-KR" sz="2200" dirty="0">
                <a:latin typeface="나눔명조" pitchFamily="18" charset="-127"/>
                <a:ea typeface="나눔명조" pitchFamily="18" charset="-127"/>
              </a:rPr>
              <a:t>(=</a:t>
            </a:r>
            <a:r>
              <a:rPr lang="ko-KR" altLang="en-US" sz="2200" dirty="0" err="1">
                <a:latin typeface="나눔명조" pitchFamily="18" charset="-127"/>
                <a:ea typeface="나눔명조" pitchFamily="18" charset="-127"/>
              </a:rPr>
              <a:t>시장재</a:t>
            </a:r>
            <a:r>
              <a:rPr lang="en-US" altLang="ko-KR" sz="2200" dirty="0">
                <a:latin typeface="나눔명조" pitchFamily="18" charset="-127"/>
                <a:ea typeface="나눔명조" pitchFamily="18" charset="-127"/>
              </a:rPr>
              <a:t>)</a:t>
            </a:r>
            <a:r>
              <a:rPr lang="ko-KR" altLang="en-US" sz="2200" dirty="0">
                <a:latin typeface="나눔명조" pitchFamily="18" charset="-127"/>
                <a:ea typeface="나눔명조" pitchFamily="18" charset="-127"/>
              </a:rPr>
              <a:t>와 호수의 수질</a:t>
            </a:r>
            <a:r>
              <a:rPr lang="en-US" altLang="ko-KR" sz="2200" dirty="0">
                <a:latin typeface="나눔명조" pitchFamily="18" charset="-127"/>
                <a:ea typeface="나눔명조" pitchFamily="18" charset="-127"/>
              </a:rPr>
              <a:t>(=</a:t>
            </a:r>
            <a:r>
              <a:rPr lang="ko-KR" altLang="en-US" sz="2200" dirty="0" err="1">
                <a:latin typeface="나눔명조" pitchFamily="18" charset="-127"/>
                <a:ea typeface="나눔명조" pitchFamily="18" charset="-127"/>
              </a:rPr>
              <a:t>환경재</a:t>
            </a:r>
            <a:r>
              <a:rPr lang="en-US" altLang="ko-KR" sz="2200" dirty="0">
                <a:latin typeface="나눔명조" pitchFamily="18" charset="-127"/>
                <a:ea typeface="나눔명조" pitchFamily="18" charset="-127"/>
              </a:rPr>
              <a:t>)</a:t>
            </a:r>
            <a:endParaRPr lang="en-US" altLang="ko-KR" sz="2400" dirty="0">
              <a:latin typeface="나눔명조" pitchFamily="18" charset="-127"/>
              <a:ea typeface="나눔명조" pitchFamily="18" charset="-127"/>
            </a:endParaRPr>
          </a:p>
          <a:p>
            <a:pPr eaLnBrk="1" hangingPunct="1"/>
            <a:r>
              <a:rPr lang="ko-KR" altLang="en-US" sz="2400" dirty="0" err="1">
                <a:latin typeface="나눔명조" pitchFamily="18" charset="-127"/>
                <a:ea typeface="나눔명조" pitchFamily="18" charset="-127"/>
              </a:rPr>
              <a:t>시장재</a:t>
            </a:r>
            <a:r>
              <a:rPr lang="ko-KR" altLang="en-US" sz="2400" dirty="0">
                <a:latin typeface="나눔명조" pitchFamily="18" charset="-127"/>
                <a:ea typeface="나눔명조" pitchFamily="18" charset="-127"/>
              </a:rPr>
              <a:t> 소비행위를 분석해 </a:t>
            </a:r>
            <a:r>
              <a:rPr lang="ko-KR" altLang="en-US" sz="2400" dirty="0" err="1">
                <a:latin typeface="나눔명조" pitchFamily="18" charset="-127"/>
                <a:ea typeface="나눔명조" pitchFamily="18" charset="-127"/>
              </a:rPr>
              <a:t>환경질</a:t>
            </a:r>
            <a:r>
              <a:rPr lang="ko-KR" altLang="en-US" sz="2400" dirty="0">
                <a:latin typeface="나눔명조" pitchFamily="18" charset="-127"/>
                <a:ea typeface="나눔명조" pitchFamily="18" charset="-127"/>
              </a:rPr>
              <a:t> 가치를 평가하기 위해서는 </a:t>
            </a:r>
            <a:r>
              <a:rPr lang="ko-KR" altLang="en-US" sz="2400" b="1" dirty="0">
                <a:solidFill>
                  <a:srgbClr val="0000FF"/>
                </a:solidFill>
                <a:latin typeface="나눔명조" pitchFamily="18" charset="-127"/>
                <a:ea typeface="나눔명조" pitchFamily="18" charset="-127"/>
              </a:rPr>
              <a:t>약보완성</a:t>
            </a:r>
            <a:r>
              <a:rPr lang="en-US" altLang="ko-KR" sz="2400" b="1" dirty="0">
                <a:solidFill>
                  <a:srgbClr val="0000FF"/>
                </a:solidFill>
                <a:latin typeface="나눔명조" pitchFamily="18" charset="-127"/>
                <a:ea typeface="나눔명조" pitchFamily="18" charset="-127"/>
              </a:rPr>
              <a:t>(weak complementarity)</a:t>
            </a:r>
            <a:r>
              <a:rPr lang="ko-KR" altLang="en-US" sz="2400" dirty="0">
                <a:latin typeface="나눔명조" pitchFamily="18" charset="-127"/>
                <a:ea typeface="나눔명조" pitchFamily="18" charset="-127"/>
              </a:rPr>
              <a:t>이라는 좀더 특수한 관계가 요구됨</a:t>
            </a:r>
            <a:endParaRPr lang="en-US" altLang="ko-KR" sz="2400" dirty="0">
              <a:latin typeface="나눔명조" pitchFamily="18" charset="-127"/>
              <a:ea typeface="나눔명조" pitchFamily="18" charset="-127"/>
            </a:endParaRPr>
          </a:p>
          <a:p>
            <a:pPr lvl="1" eaLnBrk="1" hangingPunct="1"/>
            <a:r>
              <a:rPr lang="ko-KR" altLang="en-US" sz="2200" dirty="0" err="1">
                <a:latin typeface="나눔명조" pitchFamily="18" charset="-127"/>
                <a:ea typeface="나눔명조" pitchFamily="18" charset="-127"/>
              </a:rPr>
              <a:t>환경재와</a:t>
            </a:r>
            <a:r>
              <a:rPr lang="ko-KR" altLang="en-US" sz="2200" dirty="0">
                <a:latin typeface="나눔명조" pitchFamily="18" charset="-127"/>
                <a:ea typeface="나눔명조" pitchFamily="18" charset="-127"/>
              </a:rPr>
              <a:t> 약보완관계를 가지는 시장재의 가격이 너무 높아 그 수요가 </a:t>
            </a:r>
            <a:r>
              <a:rPr lang="en-US" altLang="ko-KR" sz="2200" dirty="0">
                <a:latin typeface="나눔명조" pitchFamily="18" charset="-127"/>
                <a:ea typeface="나눔명조" pitchFamily="18" charset="-127"/>
              </a:rPr>
              <a:t>0</a:t>
            </a:r>
            <a:r>
              <a:rPr lang="ko-KR" altLang="en-US" sz="2200" dirty="0">
                <a:latin typeface="나눔명조" pitchFamily="18" charset="-127"/>
                <a:ea typeface="나눔명조" pitchFamily="18" charset="-127"/>
              </a:rPr>
              <a:t>인 상태에서는 환경질이 변해도 소비자의 후생은 변하지 않음</a:t>
            </a:r>
            <a:endParaRPr lang="en-US" altLang="ko-KR" sz="2200" dirty="0">
              <a:latin typeface="나눔명조" pitchFamily="18" charset="-127"/>
              <a:ea typeface="나눔명조" pitchFamily="18" charset="-127"/>
            </a:endParaRPr>
          </a:p>
          <a:p>
            <a:pPr lvl="2" eaLnBrk="1" hangingPunct="1"/>
            <a:r>
              <a:rPr lang="ko-KR" altLang="en-US" sz="1900" dirty="0">
                <a:latin typeface="나눔명조" pitchFamily="18" charset="-127"/>
                <a:ea typeface="나눔명조" pitchFamily="18" charset="-127"/>
              </a:rPr>
              <a:t>환경재의 직접적 이용만이 후생에 영향을 미치므로 존재가치를 인정하지 않음</a:t>
            </a:r>
            <a:endParaRPr lang="en-US" altLang="ko-KR" sz="1900" dirty="0">
              <a:latin typeface="나눔명조" pitchFamily="18" charset="-127"/>
              <a:ea typeface="나눔명조" pitchFamily="18" charset="-127"/>
            </a:endParaRPr>
          </a:p>
          <a:p>
            <a:pPr lvl="1" eaLnBrk="1" hangingPunct="1"/>
            <a:r>
              <a:rPr lang="ko-KR" altLang="en-US" sz="2200" dirty="0">
                <a:latin typeface="나눔명조" pitchFamily="18" charset="-127"/>
                <a:ea typeface="나눔명조" pitchFamily="18" charset="-127"/>
              </a:rPr>
              <a:t>약보완관계를 갖는 </a:t>
            </a:r>
            <a:r>
              <a:rPr lang="ko-KR" altLang="en-US" sz="2200" dirty="0" err="1">
                <a:latin typeface="나눔명조" pitchFamily="18" charset="-127"/>
                <a:ea typeface="나눔명조" pitchFamily="18" charset="-127"/>
              </a:rPr>
              <a:t>사유재는</a:t>
            </a:r>
            <a:r>
              <a:rPr lang="ko-KR" altLang="en-US" sz="2200" dirty="0">
                <a:latin typeface="나눔명조" pitchFamily="18" charset="-127"/>
                <a:ea typeface="나눔명조" pitchFamily="18" charset="-127"/>
              </a:rPr>
              <a:t> 필수적인 재화가 아니어서 가격이 매우 높을 때 수요가 </a:t>
            </a:r>
            <a:r>
              <a:rPr lang="en-US" altLang="ko-KR" sz="2200" dirty="0">
                <a:latin typeface="나눔명조" pitchFamily="18" charset="-127"/>
                <a:ea typeface="나눔명조" pitchFamily="18" charset="-127"/>
              </a:rPr>
              <a:t>0</a:t>
            </a:r>
          </a:p>
        </p:txBody>
      </p:sp>
      <p:sp>
        <p:nvSpPr>
          <p:cNvPr id="15363" name="바닥글 개체 틀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r>
              <a:rPr lang="ko-KR" altLang="en-US" sz="1200" b="0" dirty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Chapter </a:t>
            </a:r>
            <a:r>
              <a:rPr lang="en-US" altLang="ko-KR" sz="1200" b="0" dirty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15</a:t>
            </a:r>
          </a:p>
        </p:txBody>
      </p:sp>
      <p:sp>
        <p:nvSpPr>
          <p:cNvPr id="15364" name="슬라이드 번호 개체 틀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fld id="{C753D822-DF5B-4203-821F-E37D763E2E34}" type="slidenum">
              <a:rPr lang="ko-KR" altLang="en-US" sz="1200" b="0">
                <a:solidFill>
                  <a:schemeClr val="tx1"/>
                </a:solidFill>
              </a:rPr>
              <a:pPr/>
              <a:t>11</a:t>
            </a:fld>
            <a:endParaRPr lang="en-US" altLang="ko-KR" sz="1200" b="0">
              <a:solidFill>
                <a:schemeClr val="tx1"/>
              </a:solidFill>
            </a:endParaRPr>
          </a:p>
        </p:txBody>
      </p:sp>
      <p:sp>
        <p:nvSpPr>
          <p:cNvPr id="15365" name="Rectangle 2"/>
          <p:cNvSpPr>
            <a:spLocks noChangeArrowheads="1"/>
          </p:cNvSpPr>
          <p:nvPr/>
        </p:nvSpPr>
        <p:spPr bwMode="auto">
          <a:xfrm>
            <a:off x="7620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>
              <a:ea typeface="굴림" panose="020B0600000101010101" pitchFamily="50" charset="-127"/>
            </a:endParaRPr>
          </a:p>
        </p:txBody>
      </p:sp>
      <p:sp>
        <p:nvSpPr>
          <p:cNvPr id="15366" name="Rectangle 3"/>
          <p:cNvSpPr>
            <a:spLocks noChangeArrowheads="1"/>
          </p:cNvSpPr>
          <p:nvPr/>
        </p:nvSpPr>
        <p:spPr bwMode="auto">
          <a:xfrm>
            <a:off x="32766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>
              <a:ea typeface="굴림" panose="020B0600000101010101" pitchFamily="50" charset="-127"/>
            </a:endParaRPr>
          </a:p>
        </p:txBody>
      </p:sp>
      <p:sp>
        <p:nvSpPr>
          <p:cNvPr id="15367" name="Rectangle 6"/>
          <p:cNvSpPr>
            <a:spLocks noGrp="1" noChangeArrowheads="1"/>
          </p:cNvSpPr>
          <p:nvPr>
            <p:ph type="title"/>
          </p:nvPr>
        </p:nvSpPr>
        <p:spPr>
          <a:xfrm>
            <a:off x="1355725" y="0"/>
            <a:ext cx="7313613" cy="1143000"/>
          </a:xfrm>
        </p:spPr>
        <p:txBody>
          <a:bodyPr/>
          <a:lstStyle/>
          <a:p>
            <a:pPr eaLnBrk="1" hangingPunct="1"/>
            <a:r>
              <a:rPr lang="ko-KR" altLang="en-US" dirty="0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보완성</a:t>
            </a:r>
          </a:p>
        </p:txBody>
      </p:sp>
    </p:spTree>
    <p:extLst>
      <p:ext uri="{BB962C8B-B14F-4D97-AF65-F5344CB8AC3E}">
        <p14:creationId xmlns:p14="http://schemas.microsoft.com/office/powerpoint/2010/main" val="1127869049"/>
      </p:ext>
    </p:extLst>
  </p:cSld>
  <p:clrMapOvr>
    <a:masterClrMapping/>
  </p:clrMapOvr>
  <p:transition spd="med">
    <p:wipe dir="r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5362" name="Rectangle 9"/>
              <p:cNvSpPr>
                <a:spLocks noGrp="1" noChangeArrowheads="1"/>
              </p:cNvSpPr>
              <p:nvPr>
                <p:ph idx="1"/>
              </p:nvPr>
            </p:nvSpPr>
            <p:spPr>
              <a:xfrm>
                <a:off x="997770" y="1259855"/>
                <a:ext cx="7737475" cy="4114800"/>
              </a:xfrm>
            </p:spPr>
            <p:txBody>
              <a:bodyPr/>
              <a:lstStyle/>
              <a:p>
                <a:pPr eaLnBrk="1" hangingPunct="1"/>
                <a:r>
                  <a:rPr lang="ko-KR" altLang="en-US" sz="2000" dirty="0">
                    <a:ea typeface="나눔명조" pitchFamily="18" charset="-127"/>
                    <a:cs typeface="Times New Roman" pitchFamily="18" charset="0"/>
                  </a:rPr>
                  <a:t>최초의 수질 수준에서</a:t>
                </a:r>
                <a:r>
                  <a:rPr lang="en-US" altLang="ko-KR" sz="2000" dirty="0">
                    <a:ea typeface="나눔명조" pitchFamily="18" charset="-127"/>
                    <a:cs typeface="Times New Roman" pitchFamily="18" charset="0"/>
                  </a:rPr>
                  <a:t> </a:t>
                </a:r>
                <a:r>
                  <a:rPr lang="ko-KR" altLang="en-US" sz="2000" dirty="0" err="1">
                    <a:ea typeface="나눔명조" pitchFamily="18" charset="-127"/>
                    <a:cs typeface="Times New Roman" pitchFamily="18" charset="0"/>
                  </a:rPr>
                  <a:t>뱃</a:t>
                </a:r>
                <a14:m>
                  <m:oMath xmlns:m="http://schemas.openxmlformats.org/officeDocument/2006/math">
                    <m:r>
                      <a:rPr lang="ko-KR" altLang="en-US" sz="2000" i="1">
                        <a:latin typeface="Cambria Math" panose="02040503050406030204" pitchFamily="18" charset="0"/>
                        <a:ea typeface="나눔명조" pitchFamily="18" charset="-127"/>
                        <a:cs typeface="Times New Roman" pitchFamily="18" charset="0"/>
                      </a:rPr>
                      <m:t>놀</m:t>
                    </m:r>
                    <m:r>
                      <a:rPr lang="ko-KR" altLang="en-US" sz="2000" i="1" smtClean="0">
                        <a:latin typeface="Cambria Math" panose="02040503050406030204" pitchFamily="18" charset="0"/>
                        <a:ea typeface="나눔명조" pitchFamily="18" charset="-127"/>
                        <a:cs typeface="Times New Roman" pitchFamily="18" charset="0"/>
                      </a:rPr>
                      <m:t>이</m:t>
                    </m:r>
                    <m:r>
                      <a:rPr lang="ko-KR" altLang="en-US" sz="2000" i="1">
                        <a:latin typeface="Cambria Math" panose="02040503050406030204" pitchFamily="18" charset="0"/>
                        <a:ea typeface="나눔명조" pitchFamily="18" charset="-127"/>
                        <a:cs typeface="Times New Roman" pitchFamily="18" charset="0"/>
                      </a:rPr>
                      <m:t>에</m:t>
                    </m:r>
                    <m:r>
                      <a:rPr lang="en-US" altLang="ko-KR" sz="2000" b="0" i="1" smtClean="0">
                        <a:latin typeface="Cambria Math" panose="02040503050406030204" pitchFamily="18" charset="0"/>
                        <a:ea typeface="나눔명조" pitchFamily="18" charset="-127"/>
                        <a:cs typeface="Times New Roman" pitchFamily="18" charset="0"/>
                      </a:rPr>
                      <m:t> </m:t>
                    </m:r>
                    <m:r>
                      <a:rPr lang="ko-KR" altLang="en-US" sz="2000" i="1">
                        <a:latin typeface="Cambria Math" panose="02040503050406030204" pitchFamily="18" charset="0"/>
                        <a:ea typeface="나눔명조" pitchFamily="18" charset="-127"/>
                        <a:cs typeface="Times New Roman" pitchFamily="18" charset="0"/>
                      </a:rPr>
                      <m:t>대</m:t>
                    </m:r>
                    <m:r>
                      <a:rPr lang="ko-KR" altLang="en-US" sz="2000" i="1" smtClean="0">
                        <a:latin typeface="Cambria Math" panose="02040503050406030204" pitchFamily="18" charset="0"/>
                        <a:ea typeface="나눔명조" pitchFamily="18" charset="-127"/>
                        <a:cs typeface="Times New Roman" pitchFamily="18" charset="0"/>
                      </a:rPr>
                      <m:t>한</m:t>
                    </m:r>
                    <m:r>
                      <a:rPr lang="en-US" altLang="ko-KR" sz="2000" b="0" i="1" smtClean="0">
                        <a:latin typeface="Cambria Math" panose="02040503050406030204" pitchFamily="18" charset="0"/>
                        <a:ea typeface="나눔명조" pitchFamily="18" charset="-127"/>
                        <a:cs typeface="Times New Roman" pitchFamily="18" charset="0"/>
                      </a:rPr>
                      <m:t> </m:t>
                    </m:r>
                    <m:r>
                      <a:rPr lang="ko-KR" altLang="en-US" sz="2000" i="1">
                        <a:latin typeface="Cambria Math" panose="02040503050406030204" pitchFamily="18" charset="0"/>
                        <a:ea typeface="나눔명조" pitchFamily="18" charset="-127"/>
                        <a:cs typeface="Times New Roman" pitchFamily="18" charset="0"/>
                      </a:rPr>
                      <m:t>보</m:t>
                    </m:r>
                    <m:r>
                      <a:rPr lang="ko-KR" altLang="en-US" sz="2000" i="1" smtClean="0">
                        <a:latin typeface="Cambria Math" panose="02040503050406030204" pitchFamily="18" charset="0"/>
                        <a:ea typeface="나눔명조" pitchFamily="18" charset="-127"/>
                        <a:cs typeface="Times New Roman" pitchFamily="18" charset="0"/>
                      </a:rPr>
                      <m:t>상</m:t>
                    </m:r>
                    <m:r>
                      <a:rPr lang="ko-KR" altLang="en-US" sz="2000" i="1">
                        <a:latin typeface="Cambria Math" panose="02040503050406030204" pitchFamily="18" charset="0"/>
                        <a:ea typeface="나눔명조" pitchFamily="18" charset="-127"/>
                        <a:cs typeface="Times New Roman" pitchFamily="18" charset="0"/>
                      </a:rPr>
                      <m:t>수</m:t>
                    </m:r>
                    <m:r>
                      <a:rPr lang="ko-KR" altLang="en-US" sz="2000" i="1" smtClean="0">
                        <a:latin typeface="Cambria Math" panose="02040503050406030204" pitchFamily="18" charset="0"/>
                        <a:ea typeface="나눔명조" pitchFamily="18" charset="-127"/>
                        <a:cs typeface="Times New Roman" pitchFamily="18" charset="0"/>
                      </a:rPr>
                      <m:t>요</m:t>
                    </m:r>
                    <m:r>
                      <a:rPr lang="ko-KR" altLang="en-US" sz="2000" i="1">
                        <a:latin typeface="Cambria Math" panose="02040503050406030204" pitchFamily="18" charset="0"/>
                        <a:ea typeface="나눔명조" pitchFamily="18" charset="-127"/>
                        <a:cs typeface="Times New Roman" pitchFamily="18" charset="0"/>
                      </a:rPr>
                      <m:t>곡</m:t>
                    </m:r>
                    <m:r>
                      <a:rPr lang="ko-KR" altLang="en-US" sz="2000" i="1" smtClean="0">
                        <a:latin typeface="Cambria Math" panose="02040503050406030204" pitchFamily="18" charset="0"/>
                        <a:ea typeface="나눔명조" pitchFamily="18" charset="-127"/>
                        <a:cs typeface="Times New Roman" pitchFamily="18" charset="0"/>
                      </a:rPr>
                      <m:t>선</m:t>
                    </m:r>
                    <m:r>
                      <a:rPr lang="en-US" altLang="ko-KR" sz="2000" b="0" i="1" smtClean="0">
                        <a:latin typeface="Cambria Math" panose="02040503050406030204" pitchFamily="18" charset="0"/>
                        <a:ea typeface="나눔명조" pitchFamily="18" charset="-127"/>
                        <a:cs typeface="Times New Roman" pitchFamily="18" charset="0"/>
                      </a:rPr>
                      <m:t> </m:t>
                    </m:r>
                    <m:sSub>
                      <m:sSubPr>
                        <m:ctrlPr>
                          <a:rPr lang="en-US" altLang="ko-KR" sz="2000" i="1" smtClean="0">
                            <a:latin typeface="Cambria Math" panose="02040503050406030204" pitchFamily="18" charset="0"/>
                            <a:ea typeface="나눔명조" pitchFamily="18" charset="-127"/>
                            <a:cs typeface="Times New Roman" pitchFamily="18" charset="0"/>
                          </a:rPr>
                        </m:ctrlPr>
                      </m:sSubPr>
                      <m:e>
                        <m:r>
                          <a:rPr lang="en-US" altLang="ko-KR" sz="2000" b="0" i="1" smtClean="0">
                            <a:latin typeface="Cambria Math" panose="02040503050406030204" pitchFamily="18" charset="0"/>
                            <a:ea typeface="나눔명조" pitchFamily="18" charset="-127"/>
                            <a:cs typeface="Times New Roman" pitchFamily="18" charset="0"/>
                          </a:rPr>
                          <m:t>h</m:t>
                        </m:r>
                      </m:e>
                      <m:sub>
                        <m:r>
                          <a:rPr lang="en-US" altLang="ko-KR" sz="2000" b="0" i="1" smtClean="0">
                            <a:latin typeface="Cambria Math" panose="02040503050406030204" pitchFamily="18" charset="0"/>
                            <a:ea typeface="나눔명조" pitchFamily="18" charset="-127"/>
                            <a:cs typeface="Times New Roman" pitchFamily="18" charset="0"/>
                          </a:rPr>
                          <m:t>1</m:t>
                        </m:r>
                      </m:sub>
                    </m:sSub>
                    <m:r>
                      <a:rPr lang="en-US" altLang="ko-KR" sz="2000" b="0" i="1" smtClean="0">
                        <a:latin typeface="Cambria Math" panose="02040503050406030204" pitchFamily="18" charset="0"/>
                        <a:ea typeface="나눔명조" pitchFamily="18" charset="-127"/>
                        <a:cs typeface="Times New Roman" pitchFamily="18" charset="0"/>
                      </a:rPr>
                      <m:t>(</m:t>
                    </m:r>
                    <m:sSup>
                      <m:sSupPr>
                        <m:ctrlPr>
                          <a:rPr lang="en-US" altLang="ko-KR" sz="2000" i="1" smtClean="0">
                            <a:latin typeface="Cambria Math" panose="02040503050406030204" pitchFamily="18" charset="0"/>
                            <a:ea typeface="나눔명조" pitchFamily="18" charset="-127"/>
                            <a:cs typeface="Times New Roman" pitchFamily="18" charset="0"/>
                          </a:rPr>
                        </m:ctrlPr>
                      </m:sSupPr>
                      <m:e>
                        <m:r>
                          <a:rPr lang="en-US" altLang="ko-KR" sz="2000" b="0" i="1" smtClean="0">
                            <a:latin typeface="Cambria Math" panose="02040503050406030204" pitchFamily="18" charset="0"/>
                            <a:ea typeface="나눔명조" pitchFamily="18" charset="-127"/>
                            <a:cs typeface="Times New Roman" pitchFamily="18" charset="0"/>
                          </a:rPr>
                          <m:t>𝑞</m:t>
                        </m:r>
                      </m:e>
                      <m:sup>
                        <m:r>
                          <a:rPr lang="en-US" altLang="ko-KR" sz="2000" b="0" i="1" smtClean="0">
                            <a:latin typeface="Cambria Math" panose="02040503050406030204" pitchFamily="18" charset="0"/>
                            <a:ea typeface="나눔명조" pitchFamily="18" charset="-127"/>
                            <a:cs typeface="Times New Roman" pitchFamily="18" charset="0"/>
                          </a:rPr>
                          <m:t>0</m:t>
                        </m:r>
                      </m:sup>
                    </m:sSup>
                    <m:r>
                      <a:rPr lang="en-US" altLang="ko-KR" sz="2000" b="0" i="1" smtClean="0">
                        <a:latin typeface="Cambria Math" panose="02040503050406030204" pitchFamily="18" charset="0"/>
                        <a:ea typeface="나눔명조" pitchFamily="18" charset="-127"/>
                        <a:cs typeface="Times New Roman" pitchFamily="18" charset="0"/>
                      </a:rPr>
                      <m:t>)</m:t>
                    </m:r>
                  </m:oMath>
                </a14:m>
                <a:endParaRPr lang="en-US" altLang="ko-KR" sz="2000" dirty="0">
                  <a:latin typeface="Times New Roman" pitchFamily="18" charset="0"/>
                  <a:ea typeface="나눔명조" pitchFamily="18" charset="-127"/>
                  <a:cs typeface="Times New Roman" pitchFamily="18" charset="0"/>
                </a:endParaRPr>
              </a:p>
              <a:p>
                <a:pPr eaLnBrk="1" hangingPunct="1"/>
                <a:r>
                  <a:rPr lang="ko-KR" altLang="en-US" sz="20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수질이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2000" i="1">
                            <a:latin typeface="Cambria Math" panose="02040503050406030204" pitchFamily="18" charset="0"/>
                            <a:ea typeface="나눔명조" pitchFamily="18" charset="-127"/>
                            <a:cs typeface="Times New Roman" pitchFamily="18" charset="0"/>
                          </a:rPr>
                        </m:ctrlPr>
                      </m:sSupPr>
                      <m:e>
                        <m:r>
                          <a:rPr lang="en-US" altLang="ko-KR" sz="2000" i="1">
                            <a:latin typeface="Cambria Math" panose="02040503050406030204" pitchFamily="18" charset="0"/>
                            <a:ea typeface="나눔명조" pitchFamily="18" charset="-127"/>
                            <a:cs typeface="Times New Roman" pitchFamily="18" charset="0"/>
                          </a:rPr>
                          <m:t>𝑞</m:t>
                        </m:r>
                      </m:e>
                      <m:sup>
                        <m:r>
                          <a:rPr lang="en-US" altLang="ko-KR" sz="2000" b="0" i="1" smtClean="0">
                            <a:latin typeface="Cambria Math" panose="02040503050406030204" pitchFamily="18" charset="0"/>
                            <a:ea typeface="나눔명조" pitchFamily="18" charset="-127"/>
                            <a:cs typeface="Times New Roman" pitchFamily="18" charset="0"/>
                          </a:rPr>
                          <m:t>1</m:t>
                        </m:r>
                      </m:sup>
                    </m:sSup>
                  </m:oMath>
                </a14:m>
                <a:r>
                  <a:rPr lang="ko-KR" altLang="en-US" sz="20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으로 개선되면서 수요곡선은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2000" i="1">
                            <a:latin typeface="Cambria Math" panose="02040503050406030204" pitchFamily="18" charset="0"/>
                            <a:ea typeface="나눔명조" pitchFamily="18" charset="-127"/>
                            <a:cs typeface="Times New Roman" pitchFamily="18" charset="0"/>
                          </a:rPr>
                        </m:ctrlPr>
                      </m:sSubPr>
                      <m:e>
                        <m:r>
                          <a:rPr lang="en-US" altLang="ko-KR" sz="2000" i="1">
                            <a:latin typeface="Cambria Math" panose="02040503050406030204" pitchFamily="18" charset="0"/>
                            <a:ea typeface="나눔명조" pitchFamily="18" charset="-127"/>
                            <a:cs typeface="Times New Roman" pitchFamily="18" charset="0"/>
                          </a:rPr>
                          <m:t>h</m:t>
                        </m:r>
                      </m:e>
                      <m:sub>
                        <m:r>
                          <a:rPr lang="en-US" altLang="ko-KR" sz="2000" i="1">
                            <a:latin typeface="Cambria Math" panose="02040503050406030204" pitchFamily="18" charset="0"/>
                            <a:ea typeface="나눔명조" pitchFamily="18" charset="-127"/>
                            <a:cs typeface="Times New Roman" pitchFamily="18" charset="0"/>
                          </a:rPr>
                          <m:t>1</m:t>
                        </m:r>
                      </m:sub>
                    </m:sSub>
                    <m:r>
                      <a:rPr lang="en-US" altLang="ko-KR" sz="2000" i="1">
                        <a:latin typeface="Cambria Math" panose="02040503050406030204" pitchFamily="18" charset="0"/>
                        <a:ea typeface="나눔명조" pitchFamily="18" charset="-127"/>
                        <a:cs typeface="Times New Roman" pitchFamily="18" charset="0"/>
                      </a:rPr>
                      <m:t>(</m:t>
                    </m:r>
                    <m:sSup>
                      <m:sSupPr>
                        <m:ctrlPr>
                          <a:rPr lang="en-US" altLang="ko-KR" sz="2000" i="1">
                            <a:latin typeface="Cambria Math" panose="02040503050406030204" pitchFamily="18" charset="0"/>
                            <a:ea typeface="나눔명조" pitchFamily="18" charset="-127"/>
                            <a:cs typeface="Times New Roman" pitchFamily="18" charset="0"/>
                          </a:rPr>
                        </m:ctrlPr>
                      </m:sSupPr>
                      <m:e>
                        <m:r>
                          <a:rPr lang="en-US" altLang="ko-KR" sz="2000" i="1">
                            <a:latin typeface="Cambria Math" panose="02040503050406030204" pitchFamily="18" charset="0"/>
                            <a:ea typeface="나눔명조" pitchFamily="18" charset="-127"/>
                            <a:cs typeface="Times New Roman" pitchFamily="18" charset="0"/>
                          </a:rPr>
                          <m:t>𝑞</m:t>
                        </m:r>
                      </m:e>
                      <m:sup>
                        <m:r>
                          <a:rPr lang="en-US" altLang="ko-KR" sz="2000" b="0" i="1" smtClean="0">
                            <a:latin typeface="Cambria Math" panose="02040503050406030204" pitchFamily="18" charset="0"/>
                            <a:ea typeface="나눔명조" pitchFamily="18" charset="-127"/>
                            <a:cs typeface="Times New Roman" pitchFamily="18" charset="0"/>
                          </a:rPr>
                          <m:t>1</m:t>
                        </m:r>
                      </m:sup>
                    </m:sSup>
                    <m:r>
                      <a:rPr lang="en-US" altLang="ko-KR" sz="2000" i="1">
                        <a:latin typeface="Cambria Math" panose="02040503050406030204" pitchFamily="18" charset="0"/>
                        <a:ea typeface="나눔명조" pitchFamily="18" charset="-127"/>
                        <a:cs typeface="Times New Roman" pitchFamily="18" charset="0"/>
                      </a:rPr>
                      <m:t>)</m:t>
                    </m:r>
                  </m:oMath>
                </a14:m>
                <a:r>
                  <a:rPr lang="ko-KR" altLang="en-US" sz="20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으로 이동하고</a:t>
                </a:r>
                <a:r>
                  <a:rPr lang="en-US" altLang="ko-KR" sz="20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, </a:t>
                </a:r>
                <a:r>
                  <a:rPr lang="ko-KR" altLang="en-US" sz="20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뱃놀이를 한 번 갈 때마다 소비자는 </a:t>
                </a:r>
                <a:r>
                  <a:rPr lang="en-US" altLang="ko-KR" sz="20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p</a:t>
                </a:r>
                <a:r>
                  <a:rPr lang="ko-KR" altLang="en-US" sz="20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의 비용을 지불함</a:t>
                </a:r>
                <a:endParaRPr lang="en-US" altLang="ko-KR" sz="2000" dirty="0">
                  <a:latin typeface="Times New Roman" pitchFamily="18" charset="0"/>
                  <a:ea typeface="나눔명조" pitchFamily="18" charset="-127"/>
                  <a:cs typeface="Times New Roman" pitchFamily="18" charset="0"/>
                </a:endParaRPr>
              </a:p>
              <a:p>
                <a:pPr eaLnBrk="1" hangingPunct="1"/>
                <a:r>
                  <a:rPr lang="ko-KR" altLang="en-US" sz="20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소비자가 선택하는 뱃놀이 횟수는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ko-KR" sz="2000" i="1" smtClean="0">
                            <a:latin typeface="Cambria Math" panose="02040503050406030204" pitchFamily="18" charset="0"/>
                            <a:ea typeface="나눔명조" pitchFamily="18" charset="-127"/>
                            <a:cs typeface="Times New Roman" pitchFamily="18" charset="0"/>
                          </a:rPr>
                        </m:ctrlPr>
                      </m:sSubSupPr>
                      <m:e>
                        <m:r>
                          <a:rPr lang="en-US" altLang="ko-KR" sz="2000" b="0" i="1" smtClean="0">
                            <a:latin typeface="Cambria Math" panose="02040503050406030204" pitchFamily="18" charset="0"/>
                            <a:ea typeface="나눔명조" pitchFamily="18" charset="-127"/>
                            <a:cs typeface="Times New Roman" pitchFamily="18" charset="0"/>
                          </a:rPr>
                          <m:t> </m:t>
                        </m:r>
                        <m:r>
                          <a:rPr lang="en-US" altLang="ko-KR" sz="2000" b="0" i="1" smtClean="0">
                            <a:latin typeface="Cambria Math" panose="02040503050406030204" pitchFamily="18" charset="0"/>
                            <a:ea typeface="나눔명조" pitchFamily="18" charset="-127"/>
                            <a:cs typeface="Times New Roman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ko-KR" sz="2000" b="0" i="1" smtClean="0">
                            <a:latin typeface="Cambria Math" panose="02040503050406030204" pitchFamily="18" charset="0"/>
                            <a:ea typeface="나눔명조" pitchFamily="18" charset="-127"/>
                            <a:cs typeface="Times New Roman" pitchFamily="18" charset="0"/>
                          </a:rPr>
                          <m:t>1</m:t>
                        </m:r>
                      </m:sub>
                      <m:sup>
                        <m:r>
                          <a:rPr lang="en-US" altLang="ko-KR" sz="2000" b="0" i="1" smtClean="0">
                            <a:latin typeface="Cambria Math" panose="02040503050406030204" pitchFamily="18" charset="0"/>
                            <a:ea typeface="나눔명조" pitchFamily="18" charset="-127"/>
                            <a:cs typeface="Times New Roman" pitchFamily="18" charset="0"/>
                          </a:rPr>
                          <m:t>0</m:t>
                        </m:r>
                      </m:sup>
                    </m:sSubSup>
                  </m:oMath>
                </a14:m>
                <a:r>
                  <a:rPr lang="ko-KR" altLang="en-US" sz="20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에서</a:t>
                </a:r>
                <a:r>
                  <a:rPr lang="en-US" altLang="ko-KR" sz="20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ko-KR" sz="2000" i="1">
                            <a:latin typeface="Cambria Math" panose="02040503050406030204" pitchFamily="18" charset="0"/>
                            <a:ea typeface="나눔명조" pitchFamily="18" charset="-127"/>
                            <a:cs typeface="Times New Roman" pitchFamily="18" charset="0"/>
                          </a:rPr>
                        </m:ctrlPr>
                      </m:sSubSupPr>
                      <m:e>
                        <m:r>
                          <a:rPr lang="en-US" altLang="ko-KR" sz="2000" i="1">
                            <a:latin typeface="Cambria Math" panose="02040503050406030204" pitchFamily="18" charset="0"/>
                            <a:ea typeface="나눔명조" pitchFamily="18" charset="-127"/>
                            <a:cs typeface="Times New Roman" pitchFamily="18" charset="0"/>
                          </a:rPr>
                          <m:t> </m:t>
                        </m:r>
                        <m:r>
                          <a:rPr lang="en-US" altLang="ko-KR" sz="2000" i="1">
                            <a:latin typeface="Cambria Math" panose="02040503050406030204" pitchFamily="18" charset="0"/>
                            <a:ea typeface="나눔명조" pitchFamily="18" charset="-127"/>
                            <a:cs typeface="Times New Roman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ko-KR" sz="2000" i="1">
                            <a:latin typeface="Cambria Math" panose="02040503050406030204" pitchFamily="18" charset="0"/>
                            <a:ea typeface="나눔명조" pitchFamily="18" charset="-127"/>
                            <a:cs typeface="Times New Roman" pitchFamily="18" charset="0"/>
                          </a:rPr>
                          <m:t>1</m:t>
                        </m:r>
                      </m:sub>
                      <m:sup>
                        <m:r>
                          <a:rPr lang="en-US" altLang="ko-KR" sz="2000" b="0" i="1" smtClean="0">
                            <a:latin typeface="Cambria Math" panose="02040503050406030204" pitchFamily="18" charset="0"/>
                            <a:ea typeface="나눔명조" pitchFamily="18" charset="-127"/>
                            <a:cs typeface="Times New Roman" pitchFamily="18" charset="0"/>
                          </a:rPr>
                          <m:t>1</m:t>
                        </m:r>
                      </m:sup>
                    </m:sSubSup>
                  </m:oMath>
                </a14:m>
                <a:r>
                  <a:rPr lang="ko-KR" altLang="en-US" sz="20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으로 늘림</a:t>
                </a:r>
                <a:endParaRPr lang="en-US" altLang="ko-KR" sz="2000" dirty="0">
                  <a:latin typeface="Times New Roman" pitchFamily="18" charset="0"/>
                  <a:ea typeface="나눔명조" pitchFamily="18" charset="-127"/>
                  <a:cs typeface="Times New Roman" pitchFamily="18" charset="0"/>
                </a:endParaRPr>
              </a:p>
            </p:txBody>
          </p:sp>
        </mc:Choice>
        <mc:Fallback xmlns="">
          <p:sp>
            <p:nvSpPr>
              <p:cNvPr id="15362" name="Rectangle 9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997770" y="1259855"/>
                <a:ext cx="7737475" cy="4114800"/>
              </a:xfrm>
              <a:blipFill>
                <a:blip r:embed="rId3"/>
                <a:stretch>
                  <a:fillRect l="-709" t="-1185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363" name="바닥글 개체 틀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r>
              <a:rPr lang="ko-KR" altLang="en-US" sz="1200" b="0" dirty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Chapter </a:t>
            </a:r>
            <a:r>
              <a:rPr lang="en-US" altLang="ko-KR" sz="1200" b="0" dirty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15</a:t>
            </a:r>
          </a:p>
        </p:txBody>
      </p:sp>
      <p:sp>
        <p:nvSpPr>
          <p:cNvPr id="15364" name="슬라이드 번호 개체 틀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fld id="{C753D822-DF5B-4203-821F-E37D763E2E34}" type="slidenum">
              <a:rPr lang="ko-KR" altLang="en-US" sz="1200" b="0">
                <a:solidFill>
                  <a:schemeClr val="tx1"/>
                </a:solidFill>
              </a:rPr>
              <a:pPr/>
              <a:t>12</a:t>
            </a:fld>
            <a:endParaRPr lang="en-US" altLang="ko-KR" sz="1200" b="0">
              <a:solidFill>
                <a:schemeClr val="tx1"/>
              </a:solidFill>
            </a:endParaRPr>
          </a:p>
        </p:txBody>
      </p:sp>
      <p:sp>
        <p:nvSpPr>
          <p:cNvPr id="15365" name="Rectangle 2"/>
          <p:cNvSpPr>
            <a:spLocks noChangeArrowheads="1"/>
          </p:cNvSpPr>
          <p:nvPr/>
        </p:nvSpPr>
        <p:spPr bwMode="auto">
          <a:xfrm>
            <a:off x="7620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>
              <a:ea typeface="굴림" panose="020B0600000101010101" pitchFamily="50" charset="-127"/>
            </a:endParaRPr>
          </a:p>
        </p:txBody>
      </p:sp>
      <p:sp>
        <p:nvSpPr>
          <p:cNvPr id="15366" name="Rectangle 3"/>
          <p:cNvSpPr>
            <a:spLocks noChangeArrowheads="1"/>
          </p:cNvSpPr>
          <p:nvPr/>
        </p:nvSpPr>
        <p:spPr bwMode="auto">
          <a:xfrm>
            <a:off x="32766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>
              <a:ea typeface="굴림" panose="020B0600000101010101" pitchFamily="50" charset="-127"/>
            </a:endParaRPr>
          </a:p>
        </p:txBody>
      </p:sp>
      <p:sp>
        <p:nvSpPr>
          <p:cNvPr id="15367" name="Rectangle 6"/>
          <p:cNvSpPr>
            <a:spLocks noGrp="1" noChangeArrowheads="1"/>
          </p:cNvSpPr>
          <p:nvPr>
            <p:ph type="title"/>
          </p:nvPr>
        </p:nvSpPr>
        <p:spPr>
          <a:xfrm>
            <a:off x="1355725" y="0"/>
            <a:ext cx="7313613" cy="1143000"/>
          </a:xfrm>
        </p:spPr>
        <p:txBody>
          <a:bodyPr/>
          <a:lstStyle/>
          <a:p>
            <a:pPr eaLnBrk="1" hangingPunct="1"/>
            <a:r>
              <a:rPr lang="ko-KR" altLang="en-US" dirty="0" err="1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약보완성</a:t>
            </a:r>
            <a:r>
              <a:rPr lang="ko-KR" altLang="en-US" dirty="0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 하에서의 </a:t>
            </a:r>
            <a:r>
              <a:rPr lang="ko-KR" altLang="en-US" dirty="0" err="1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시장재</a:t>
            </a:r>
            <a:r>
              <a:rPr lang="ko-KR" altLang="en-US" dirty="0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 수요</a:t>
            </a: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01921" y="2691201"/>
            <a:ext cx="4850761" cy="36550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9689557"/>
      </p:ext>
    </p:extLst>
  </p:cSld>
  <p:clrMapOvr>
    <a:masterClrMapping/>
  </p:clrMapOvr>
  <p:transition spd="med">
    <p:wipe dir="r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5362" name="Rectangle 9"/>
              <p:cNvSpPr>
                <a:spLocks noGrp="1" noChangeArrowheads="1"/>
              </p:cNvSpPr>
              <p:nvPr>
                <p:ph idx="1"/>
              </p:nvPr>
            </p:nvSpPr>
            <p:spPr>
              <a:xfrm>
                <a:off x="900113" y="1262335"/>
                <a:ext cx="7737475" cy="4114800"/>
              </a:xfrm>
            </p:spPr>
            <p:txBody>
              <a:bodyPr/>
              <a:lstStyle/>
              <a:p>
                <a:pPr eaLnBrk="1" hangingPunct="1"/>
                <a:r>
                  <a:rPr lang="ko-KR" altLang="en-US" sz="24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수질개선 전후의 편익을 비교하는 과정</a:t>
                </a:r>
                <a:r>
                  <a:rPr lang="en-US" altLang="ko-KR" sz="24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 </a:t>
                </a:r>
                <a:endParaRPr lang="en-US" altLang="ko-KR" sz="2200" dirty="0">
                  <a:latin typeface="Times New Roman" pitchFamily="18" charset="0"/>
                  <a:ea typeface="나눔명조" pitchFamily="18" charset="-127"/>
                  <a:cs typeface="Times New Roman" pitchFamily="18" charset="0"/>
                </a:endParaRPr>
              </a:p>
              <a:p>
                <a:pPr lvl="1" eaLnBrk="1" hangingPunct="1"/>
                <a:r>
                  <a:rPr lang="en-US" altLang="ko-KR" sz="20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b → d</a:t>
                </a:r>
                <a:r>
                  <a:rPr lang="ko-KR" altLang="en-US" sz="20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로의 </a:t>
                </a:r>
                <a:r>
                  <a:rPr lang="ko-KR" altLang="en-US" sz="2000" dirty="0" err="1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소비점</a:t>
                </a:r>
                <a:r>
                  <a:rPr lang="ko-KR" altLang="en-US" sz="20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 변화를 </a:t>
                </a:r>
                <a:r>
                  <a:rPr lang="en-US" altLang="ko-KR" sz="20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b → a → c → d</a:t>
                </a:r>
                <a:r>
                  <a:rPr lang="ko-KR" altLang="en-US" sz="20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로 분해해 검토</a:t>
                </a:r>
                <a:endParaRPr lang="en-US" altLang="ko-KR" sz="2000" dirty="0">
                  <a:latin typeface="Times New Roman" pitchFamily="18" charset="0"/>
                  <a:ea typeface="나눔명조" pitchFamily="18" charset="-127"/>
                  <a:cs typeface="Times New Roman" pitchFamily="18" charset="0"/>
                </a:endParaRPr>
              </a:p>
              <a:p>
                <a:pPr lvl="1" eaLnBrk="1" hangingPunct="1"/>
                <a:r>
                  <a:rPr lang="en-US" altLang="ko-KR" sz="20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b </a:t>
                </a:r>
                <a:r>
                  <a:rPr lang="ko-KR" altLang="en-US" sz="20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→</a:t>
                </a:r>
                <a:r>
                  <a:rPr lang="en-US" altLang="ko-KR" sz="20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 a: </a:t>
                </a:r>
                <a:r>
                  <a:rPr lang="ko-KR" altLang="en-US" sz="2000" dirty="0" err="1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환경질은</a:t>
                </a:r>
                <a:r>
                  <a:rPr lang="ko-KR" altLang="en-US" sz="20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 불변인 채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2000" i="1" smtClean="0">
                            <a:latin typeface="Cambria Math" panose="02040503050406030204" pitchFamily="18" charset="0"/>
                            <a:ea typeface="나눔명조" pitchFamily="18" charset="-127"/>
                            <a:cs typeface="Times New Roman" pitchFamily="18" charset="0"/>
                          </a:rPr>
                        </m:ctrlPr>
                      </m:sSubPr>
                      <m:e>
                        <m:r>
                          <a:rPr lang="en-US" altLang="ko-KR" sz="2000" b="0" i="1" smtClean="0">
                            <a:latin typeface="Cambria Math" panose="02040503050406030204" pitchFamily="18" charset="0"/>
                            <a:ea typeface="나눔명조" pitchFamily="18" charset="-127"/>
                            <a:cs typeface="Times New Roman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ko-KR" sz="2000" b="0" i="1" smtClean="0">
                            <a:latin typeface="Cambria Math" panose="02040503050406030204" pitchFamily="18" charset="0"/>
                            <a:ea typeface="나눔명조" pitchFamily="18" charset="-127"/>
                            <a:cs typeface="Times New Roman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ko-KR" altLang="en-US" sz="20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소비량이 </a:t>
                </a:r>
                <a:r>
                  <a:rPr lang="en-US" altLang="ko-KR" sz="20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0</a:t>
                </a:r>
                <a:r>
                  <a:rPr lang="ko-KR" altLang="en-US" sz="20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이 되도록 가격을 높임</a:t>
                </a:r>
                <a:r>
                  <a:rPr lang="en-US" altLang="ko-KR" sz="20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, </a:t>
                </a:r>
                <a:r>
                  <a:rPr lang="ko-KR" altLang="en-US" sz="20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후생은 면적 </a:t>
                </a:r>
                <a:r>
                  <a:rPr lang="en-US" altLang="ko-KR" sz="2000" dirty="0" err="1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pab</a:t>
                </a:r>
                <a:r>
                  <a:rPr lang="ko-KR" altLang="en-US" sz="20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만큼 감소</a:t>
                </a:r>
                <a:endParaRPr lang="en-US" altLang="ko-KR" sz="2000" dirty="0">
                  <a:latin typeface="Times New Roman" pitchFamily="18" charset="0"/>
                  <a:ea typeface="나눔명조" pitchFamily="18" charset="-127"/>
                  <a:cs typeface="Times New Roman" pitchFamily="18" charset="0"/>
                </a:endParaRPr>
              </a:p>
              <a:p>
                <a:pPr lvl="1" eaLnBrk="1" hangingPunct="1"/>
                <a:r>
                  <a:rPr lang="en-US" altLang="ko-KR" sz="20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a </a:t>
                </a:r>
                <a:r>
                  <a:rPr lang="ko-KR" altLang="en-US" sz="20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→ </a:t>
                </a:r>
                <a:r>
                  <a:rPr lang="en-US" altLang="ko-KR" sz="20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c:  </a:t>
                </a:r>
                <a:r>
                  <a:rPr lang="ko-KR" altLang="en-US" sz="20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환경개선에도 불구하고 소비량은 불변이며 </a:t>
                </a:r>
                <a:r>
                  <a:rPr lang="ko-KR" altLang="en-US" sz="2000" u="sng" dirty="0" err="1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약보완성</a:t>
                </a:r>
                <a:r>
                  <a:rPr lang="ko-KR" altLang="en-US" sz="2000" u="sng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 가정으로 인해 이 경우 후생은 불변</a:t>
                </a:r>
                <a:r>
                  <a:rPr lang="ko-KR" altLang="en-US" sz="20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임</a:t>
                </a:r>
                <a:endParaRPr lang="en-US" altLang="ko-KR" sz="2000" dirty="0">
                  <a:latin typeface="Times New Roman" pitchFamily="18" charset="0"/>
                  <a:ea typeface="나눔명조" pitchFamily="18" charset="-127"/>
                  <a:cs typeface="Times New Roman" pitchFamily="18" charset="0"/>
                </a:endParaRPr>
              </a:p>
              <a:p>
                <a:pPr lvl="1" eaLnBrk="1" hangingPunct="1"/>
                <a:r>
                  <a:rPr lang="en-US" altLang="ko-KR" sz="20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c </a:t>
                </a:r>
                <a:r>
                  <a:rPr lang="ko-KR" altLang="en-US" sz="20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→</a:t>
                </a:r>
                <a:r>
                  <a:rPr lang="en-US" altLang="ko-KR" sz="20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 d: </a:t>
                </a:r>
                <a:r>
                  <a:rPr lang="ko-KR" altLang="en-US" sz="20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환경이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2000" i="1" smtClean="0">
                            <a:latin typeface="Cambria Math" panose="02040503050406030204" pitchFamily="18" charset="0"/>
                            <a:ea typeface="나눔명조" pitchFamily="18" charset="-127"/>
                            <a:cs typeface="Times New Roman" pitchFamily="18" charset="0"/>
                          </a:rPr>
                        </m:ctrlPr>
                      </m:sSupPr>
                      <m:e>
                        <m:r>
                          <a:rPr lang="en-US" altLang="ko-KR" sz="2000" b="0" i="1" smtClean="0">
                            <a:latin typeface="Cambria Math" panose="02040503050406030204" pitchFamily="18" charset="0"/>
                            <a:ea typeface="나눔명조" pitchFamily="18" charset="-127"/>
                            <a:cs typeface="Times New Roman" pitchFamily="18" charset="0"/>
                          </a:rPr>
                          <m:t>𝑞</m:t>
                        </m:r>
                      </m:e>
                      <m:sup>
                        <m:r>
                          <a:rPr lang="en-US" altLang="ko-KR" sz="2000" b="0" i="1" smtClean="0">
                            <a:latin typeface="Cambria Math" panose="02040503050406030204" pitchFamily="18" charset="0"/>
                            <a:ea typeface="나눔명조" pitchFamily="18" charset="-127"/>
                            <a:cs typeface="Times New Roman" pitchFamily="18" charset="0"/>
                          </a:rPr>
                          <m:t>1</m:t>
                        </m:r>
                      </m:sup>
                    </m:sSup>
                    <m:r>
                      <a:rPr lang="ko-KR" altLang="en-US" sz="2000" i="1">
                        <a:latin typeface="Cambria Math" panose="02040503050406030204" pitchFamily="18" charset="0"/>
                        <a:ea typeface="나눔명조" pitchFamily="18" charset="-127"/>
                        <a:cs typeface="Times New Roman" pitchFamily="18" charset="0"/>
                      </a:rPr>
                      <m:t>일</m:t>
                    </m:r>
                  </m:oMath>
                </a14:m>
                <a:r>
                  <a:rPr lang="ko-KR" altLang="en-US" sz="20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때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2000" i="1">
                            <a:latin typeface="Cambria Math" panose="02040503050406030204" pitchFamily="18" charset="0"/>
                            <a:ea typeface="나눔명조" pitchFamily="18" charset="-127"/>
                            <a:cs typeface="Times New Roman" pitchFamily="18" charset="0"/>
                          </a:rPr>
                        </m:ctrlPr>
                      </m:sSupPr>
                      <m:e>
                        <m:r>
                          <a:rPr lang="en-US" altLang="ko-KR" sz="2000" b="0" i="1" smtClean="0">
                            <a:latin typeface="Cambria Math" panose="02040503050406030204" pitchFamily="18" charset="0"/>
                            <a:ea typeface="나눔명조" pitchFamily="18" charset="-127"/>
                            <a:cs typeface="Times New Roman" pitchFamily="18" charset="0"/>
                          </a:rPr>
                          <m:t>𝑢</m:t>
                        </m:r>
                      </m:e>
                      <m:sup>
                        <m:r>
                          <a:rPr lang="en-US" altLang="ko-KR" sz="2000" b="0" i="1" smtClean="0">
                            <a:latin typeface="Cambria Math" panose="02040503050406030204" pitchFamily="18" charset="0"/>
                            <a:ea typeface="나눔명조" pitchFamily="18" charset="-127"/>
                            <a:cs typeface="Times New Roman" pitchFamily="18" charset="0"/>
                          </a:rPr>
                          <m:t>0</m:t>
                        </m:r>
                      </m:sup>
                    </m:sSup>
                  </m:oMath>
                </a14:m>
                <a:r>
                  <a:rPr lang="ko-KR" altLang="en-US" sz="20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를 얻는 보상수요곡선에 있어서 가격이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2000" i="1">
                            <a:latin typeface="Cambria Math" panose="02040503050406030204" pitchFamily="18" charset="0"/>
                            <a:ea typeface="나눔명조" pitchFamily="18" charset="-127"/>
                            <a:cs typeface="Times New Roman" pitchFamily="18" charset="0"/>
                          </a:rPr>
                        </m:ctrlPr>
                      </m:sSubPr>
                      <m:e>
                        <m:r>
                          <a:rPr lang="en-US" altLang="ko-KR" sz="2000" i="1">
                            <a:latin typeface="Cambria Math" panose="02040503050406030204" pitchFamily="18" charset="0"/>
                            <a:ea typeface="나눔명조" pitchFamily="18" charset="-127"/>
                            <a:cs typeface="Times New Roman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ko-KR" sz="2000" i="1">
                            <a:latin typeface="Cambria Math" panose="02040503050406030204" pitchFamily="18" charset="0"/>
                            <a:ea typeface="나눔명조" pitchFamily="18" charset="-127"/>
                            <a:cs typeface="Times New Roman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ko-KR" altLang="en-US" sz="20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소비가 </a:t>
                </a:r>
                <a:r>
                  <a:rPr lang="en-US" altLang="ko-KR" sz="20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0</a:t>
                </a:r>
                <a:r>
                  <a:rPr lang="ko-KR" altLang="en-US" sz="20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일정도로 높다가 다시 원래 수준인 </a:t>
                </a:r>
                <a:r>
                  <a:rPr lang="en-US" altLang="ko-KR" sz="20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p</a:t>
                </a:r>
                <a:r>
                  <a:rPr lang="ko-KR" altLang="en-US" sz="20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로 하락하는 효과</a:t>
                </a:r>
                <a:r>
                  <a:rPr lang="en-US" altLang="ko-KR" sz="20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, </a:t>
                </a:r>
                <a:r>
                  <a:rPr lang="ko-KR" altLang="en-US" sz="20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후생은 면적 </a:t>
                </a:r>
                <a:r>
                  <a:rPr lang="en-US" altLang="ko-KR" sz="2000" dirty="0" err="1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pcd</a:t>
                </a:r>
                <a:r>
                  <a:rPr lang="ko-KR" altLang="en-US" sz="20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만큼 증대</a:t>
                </a:r>
                <a:endParaRPr lang="en-US" altLang="ko-KR" sz="2000" dirty="0">
                  <a:latin typeface="Times New Roman" pitchFamily="18" charset="0"/>
                  <a:ea typeface="나눔명조" pitchFamily="18" charset="-127"/>
                  <a:cs typeface="Times New Roman" pitchFamily="18" charset="0"/>
                </a:endParaRPr>
              </a:p>
              <a:p>
                <a:pPr lvl="1" eaLnBrk="1" hangingPunct="1"/>
                <a:r>
                  <a:rPr lang="ko-KR" altLang="en-US" sz="20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총 후생의 </a:t>
                </a:r>
                <a:r>
                  <a:rPr lang="ko-KR" altLang="en-US" sz="2000" dirty="0" err="1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변화분</a:t>
                </a:r>
                <a:r>
                  <a:rPr lang="en-US" altLang="ko-KR" sz="20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(CS)=</a:t>
                </a:r>
                <a:r>
                  <a:rPr lang="ko-KR" altLang="en-US" sz="20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면적 </a:t>
                </a:r>
                <a:r>
                  <a:rPr lang="en-US" altLang="ko-KR" sz="2000" dirty="0" err="1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acdb</a:t>
                </a:r>
                <a:endParaRPr lang="en-US" altLang="ko-KR" sz="2000" dirty="0">
                  <a:latin typeface="Times New Roman" pitchFamily="18" charset="0"/>
                  <a:ea typeface="나눔명조" pitchFamily="18" charset="-127"/>
                  <a:cs typeface="Times New Roman" pitchFamily="18" charset="0"/>
                </a:endParaRPr>
              </a:p>
              <a:p>
                <a:pPr lvl="1" eaLnBrk="1" hangingPunct="1"/>
                <a:r>
                  <a:rPr lang="ko-KR" altLang="en-US" sz="2000" u="sng" dirty="0" err="1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시장재의</a:t>
                </a:r>
                <a:r>
                  <a:rPr lang="en-US" altLang="ko-KR" sz="20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 </a:t>
                </a:r>
                <a:r>
                  <a:rPr lang="ko-KR" altLang="en-US" sz="2000" u="sng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두 수요곡선이 만들어내는 면적</a:t>
                </a:r>
                <a:r>
                  <a:rPr lang="ko-KR" altLang="en-US" sz="20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이 이렇게 </a:t>
                </a:r>
                <a:r>
                  <a:rPr lang="ko-KR" altLang="en-US" sz="2000" dirty="0" err="1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약보완성때문에</a:t>
                </a:r>
                <a:r>
                  <a:rPr lang="ko-KR" altLang="en-US" sz="20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 편익지표가 됨</a:t>
                </a:r>
                <a:endParaRPr lang="en-US" altLang="ko-KR" sz="2000" dirty="0">
                  <a:latin typeface="Times New Roman" pitchFamily="18" charset="0"/>
                  <a:ea typeface="나눔명조" pitchFamily="18" charset="-127"/>
                  <a:cs typeface="Times New Roman" pitchFamily="18" charset="0"/>
                </a:endParaRPr>
              </a:p>
              <a:p>
                <a:pPr lvl="1" eaLnBrk="1" hangingPunct="1"/>
                <a:endParaRPr lang="en-US" altLang="ko-KR" sz="2200" dirty="0">
                  <a:latin typeface="나눔명조" pitchFamily="18" charset="-127"/>
                  <a:ea typeface="나눔명조" pitchFamily="18" charset="-127"/>
                </a:endParaRPr>
              </a:p>
            </p:txBody>
          </p:sp>
        </mc:Choice>
        <mc:Fallback xmlns="">
          <p:sp>
            <p:nvSpPr>
              <p:cNvPr id="15362" name="Rectangle 9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900113" y="1262335"/>
                <a:ext cx="7737475" cy="4114800"/>
              </a:xfrm>
              <a:blipFill>
                <a:blip r:embed="rId3"/>
                <a:stretch>
                  <a:fillRect l="-1103" t="-1333" b="-429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363" name="바닥글 개체 틀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r>
              <a:rPr lang="ko-KR" altLang="en-US" sz="1200" b="0" dirty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Chapter </a:t>
            </a:r>
            <a:r>
              <a:rPr lang="en-US" altLang="ko-KR" sz="1200" b="0" dirty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15</a:t>
            </a:r>
          </a:p>
        </p:txBody>
      </p:sp>
      <p:sp>
        <p:nvSpPr>
          <p:cNvPr id="15364" name="슬라이드 번호 개체 틀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fld id="{C753D822-DF5B-4203-821F-E37D763E2E34}" type="slidenum">
              <a:rPr lang="ko-KR" altLang="en-US" sz="1200" b="0">
                <a:solidFill>
                  <a:schemeClr val="tx1"/>
                </a:solidFill>
              </a:rPr>
              <a:pPr/>
              <a:t>13</a:t>
            </a:fld>
            <a:endParaRPr lang="en-US" altLang="ko-KR" sz="1200" b="0">
              <a:solidFill>
                <a:schemeClr val="tx1"/>
              </a:solidFill>
            </a:endParaRPr>
          </a:p>
        </p:txBody>
      </p:sp>
      <p:sp>
        <p:nvSpPr>
          <p:cNvPr id="15365" name="Rectangle 2"/>
          <p:cNvSpPr>
            <a:spLocks noChangeArrowheads="1"/>
          </p:cNvSpPr>
          <p:nvPr/>
        </p:nvSpPr>
        <p:spPr bwMode="auto">
          <a:xfrm>
            <a:off x="7620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>
              <a:ea typeface="굴림" panose="020B0600000101010101" pitchFamily="50" charset="-127"/>
            </a:endParaRPr>
          </a:p>
        </p:txBody>
      </p:sp>
      <p:sp>
        <p:nvSpPr>
          <p:cNvPr id="15366" name="Rectangle 3"/>
          <p:cNvSpPr>
            <a:spLocks noChangeArrowheads="1"/>
          </p:cNvSpPr>
          <p:nvPr/>
        </p:nvSpPr>
        <p:spPr bwMode="auto">
          <a:xfrm>
            <a:off x="32766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>
              <a:ea typeface="굴림" panose="020B0600000101010101" pitchFamily="50" charset="-127"/>
            </a:endParaRPr>
          </a:p>
        </p:txBody>
      </p:sp>
      <p:sp>
        <p:nvSpPr>
          <p:cNvPr id="15367" name="Rectangle 6"/>
          <p:cNvSpPr>
            <a:spLocks noGrp="1" noChangeArrowheads="1"/>
          </p:cNvSpPr>
          <p:nvPr>
            <p:ph type="title"/>
          </p:nvPr>
        </p:nvSpPr>
        <p:spPr>
          <a:xfrm>
            <a:off x="1355725" y="0"/>
            <a:ext cx="7313613" cy="1143000"/>
          </a:xfrm>
        </p:spPr>
        <p:txBody>
          <a:bodyPr/>
          <a:lstStyle/>
          <a:p>
            <a:pPr eaLnBrk="1" hangingPunct="1"/>
            <a:r>
              <a:rPr lang="ko-KR" altLang="en-US" dirty="0" err="1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약보완성</a:t>
            </a:r>
            <a:r>
              <a:rPr lang="ko-KR" altLang="en-US" dirty="0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 하에서의 </a:t>
            </a:r>
            <a:r>
              <a:rPr lang="ko-KR" altLang="en-US" dirty="0" err="1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시장재</a:t>
            </a:r>
            <a:r>
              <a:rPr lang="ko-KR" altLang="en-US" dirty="0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 수요</a:t>
            </a:r>
          </a:p>
        </p:txBody>
      </p:sp>
    </p:spTree>
    <p:extLst>
      <p:ext uri="{BB962C8B-B14F-4D97-AF65-F5344CB8AC3E}">
        <p14:creationId xmlns:p14="http://schemas.microsoft.com/office/powerpoint/2010/main" val="3050093031"/>
      </p:ext>
    </p:extLst>
  </p:cSld>
  <p:clrMapOvr>
    <a:masterClrMapping/>
  </p:clrMapOvr>
  <p:transition spd="med">
    <p:wipe dir="r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5362" name="Rectangle 9"/>
              <p:cNvSpPr>
                <a:spLocks noGrp="1" noChangeArrowheads="1"/>
              </p:cNvSpPr>
              <p:nvPr>
                <p:ph idx="1"/>
              </p:nvPr>
            </p:nvSpPr>
            <p:spPr>
              <a:xfrm>
                <a:off x="900113" y="1671638"/>
                <a:ext cx="7737475" cy="4114800"/>
              </a:xfrm>
            </p:spPr>
            <p:txBody>
              <a:bodyPr/>
              <a:lstStyle/>
              <a:p>
                <a:pPr eaLnBrk="1" hangingPunct="1"/>
                <a:r>
                  <a:rPr lang="ko-KR" altLang="en-US" sz="24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앞 그림에서 시장재의 수요곡선은 보상수요곡선</a:t>
                </a:r>
                <a:endParaRPr lang="en-US" altLang="ko-KR" sz="2400" dirty="0">
                  <a:latin typeface="Times New Roman" pitchFamily="18" charset="0"/>
                  <a:ea typeface="나눔명조" pitchFamily="18" charset="-127"/>
                  <a:cs typeface="Times New Roman" pitchFamily="18" charset="0"/>
                </a:endParaRPr>
              </a:p>
              <a:p>
                <a:pPr eaLnBrk="1" hangingPunct="1"/>
                <a:r>
                  <a:rPr lang="ko-KR" altLang="en-US" sz="24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보상수요곡선은 자료로부터 직접 추정하지 못하므로</a:t>
                </a:r>
                <a:r>
                  <a:rPr lang="en-US" altLang="ko-KR" sz="24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, </a:t>
                </a:r>
                <a:r>
                  <a:rPr lang="ko-KR" altLang="en-US" sz="24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통상수요곡선을 대신 사용할 수 있음</a:t>
                </a:r>
                <a:endParaRPr lang="en-US" altLang="ko-KR" sz="2400" dirty="0">
                  <a:latin typeface="Times New Roman" pitchFamily="18" charset="0"/>
                  <a:ea typeface="나눔명조" pitchFamily="18" charset="-127"/>
                  <a:cs typeface="Times New Roman" pitchFamily="18" charset="0"/>
                </a:endParaRPr>
              </a:p>
              <a:p>
                <a:pPr eaLnBrk="1" hangingPunct="1"/>
                <a:r>
                  <a:rPr lang="ko-KR" altLang="en-US" sz="24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다음 그림은 </a:t>
                </a:r>
                <a:r>
                  <a:rPr lang="ko-KR" altLang="en-US" sz="2400" dirty="0" err="1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환경질</a:t>
                </a:r>
                <a:r>
                  <a:rPr lang="ko-KR" altLang="en-US" sz="24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2400" i="1" smtClean="0">
                            <a:latin typeface="Cambria Math" panose="02040503050406030204" pitchFamily="18" charset="0"/>
                            <a:ea typeface="나눔명조" pitchFamily="18" charset="-127"/>
                            <a:cs typeface="Times New Roman" pitchFamily="18" charset="0"/>
                          </a:rPr>
                        </m:ctrlPr>
                      </m:sSupPr>
                      <m:e>
                        <m:r>
                          <a:rPr lang="en-US" altLang="ko-KR" sz="2400" b="0" i="1" smtClean="0">
                            <a:latin typeface="Cambria Math" panose="02040503050406030204" pitchFamily="18" charset="0"/>
                            <a:ea typeface="나눔명조" pitchFamily="18" charset="-127"/>
                            <a:cs typeface="Times New Roman" pitchFamily="18" charset="0"/>
                          </a:rPr>
                          <m:t>𝑞</m:t>
                        </m:r>
                      </m:e>
                      <m:sup>
                        <m:r>
                          <a:rPr lang="en-US" altLang="ko-KR" sz="2400" b="0" i="1" smtClean="0">
                            <a:latin typeface="Cambria Math" panose="02040503050406030204" pitchFamily="18" charset="0"/>
                            <a:ea typeface="나눔명조" pitchFamily="18" charset="-127"/>
                            <a:cs typeface="Times New Roman" pitchFamily="18" charset="0"/>
                          </a:rPr>
                          <m:t>0</m:t>
                        </m:r>
                      </m:sup>
                    </m:sSup>
                  </m:oMath>
                </a14:m>
                <a:r>
                  <a:rPr lang="ko-KR" altLang="en-US" sz="24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에서의 </a:t>
                </a:r>
                <a:r>
                  <a:rPr lang="ko-KR" altLang="en-US" sz="2400" dirty="0" err="1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시장재</a:t>
                </a:r>
                <a:r>
                  <a:rPr lang="ko-KR" altLang="en-US" sz="24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2400" i="1" smtClean="0">
                            <a:latin typeface="Cambria Math" panose="02040503050406030204" pitchFamily="18" charset="0"/>
                            <a:ea typeface="나눔명조" pitchFamily="18" charset="-127"/>
                            <a:cs typeface="Times New Roman" pitchFamily="18" charset="0"/>
                          </a:rPr>
                        </m:ctrlPr>
                      </m:sSubPr>
                      <m:e>
                        <m:r>
                          <a:rPr lang="en-US" altLang="ko-KR" sz="2400" b="0" i="1" smtClean="0">
                            <a:latin typeface="Cambria Math" panose="02040503050406030204" pitchFamily="18" charset="0"/>
                            <a:ea typeface="나눔명조" pitchFamily="18" charset="-127"/>
                            <a:cs typeface="Times New Roman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ko-KR" sz="2400" b="0" i="1" smtClean="0">
                            <a:latin typeface="Cambria Math" panose="02040503050406030204" pitchFamily="18" charset="0"/>
                            <a:ea typeface="나눔명조" pitchFamily="18" charset="-127"/>
                            <a:cs typeface="Times New Roman" pitchFamily="18" charset="0"/>
                          </a:rPr>
                          <m:t>1</m:t>
                        </m:r>
                      </m:sub>
                    </m:sSub>
                    <m:r>
                      <a:rPr lang="ko-KR" altLang="en-US" sz="2400" i="1">
                        <a:latin typeface="Cambria Math" panose="02040503050406030204" pitchFamily="18" charset="0"/>
                        <a:ea typeface="나눔명조" pitchFamily="18" charset="-127"/>
                        <a:cs typeface="Times New Roman" pitchFamily="18" charset="0"/>
                      </a:rPr>
                      <m:t>의</m:t>
                    </m:r>
                  </m:oMath>
                </a14:m>
                <a:r>
                  <a:rPr lang="en-US" altLang="ko-KR" sz="24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 </a:t>
                </a:r>
                <a:r>
                  <a:rPr lang="ko-KR" altLang="en-US" sz="24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통상수요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2400" i="1" dirty="0" smtClean="0">
                            <a:latin typeface="Cambria Math" panose="02040503050406030204" pitchFamily="18" charset="0"/>
                            <a:ea typeface="나눔명조" pitchFamily="18" charset="-127"/>
                            <a:cs typeface="Times New Roman" pitchFamily="18" charset="0"/>
                          </a:rPr>
                        </m:ctrlPr>
                      </m:sSubPr>
                      <m:e>
                        <m:r>
                          <a:rPr lang="en-US" altLang="ko-KR" sz="2400" b="0" i="1" dirty="0" smtClean="0">
                            <a:latin typeface="Cambria Math" panose="02040503050406030204" pitchFamily="18" charset="0"/>
                            <a:ea typeface="나눔명조" pitchFamily="18" charset="-127"/>
                            <a:cs typeface="Times New Roman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ko-KR" sz="2400" b="0" i="1" dirty="0" smtClean="0">
                            <a:latin typeface="Cambria Math" panose="02040503050406030204" pitchFamily="18" charset="0"/>
                            <a:ea typeface="나눔명조" pitchFamily="18" charset="-127"/>
                            <a:cs typeface="Times New Roman" pitchFamily="18" charset="0"/>
                          </a:rPr>
                          <m:t>1</m:t>
                        </m:r>
                      </m:sub>
                    </m:sSub>
                    <m:r>
                      <a:rPr lang="en-US" altLang="ko-KR" sz="2400" b="0" i="1" dirty="0" smtClean="0">
                        <a:latin typeface="Cambria Math" panose="02040503050406030204" pitchFamily="18" charset="0"/>
                        <a:ea typeface="나눔명조" pitchFamily="18" charset="-127"/>
                        <a:cs typeface="Times New Roman" pitchFamily="18" charset="0"/>
                      </a:rPr>
                      <m:t>(</m:t>
                    </m:r>
                    <m:sSup>
                      <m:sSupPr>
                        <m:ctrlPr>
                          <a:rPr lang="en-US" altLang="ko-KR" sz="2400" i="1" dirty="0" smtClean="0">
                            <a:latin typeface="Cambria Math" panose="02040503050406030204" pitchFamily="18" charset="0"/>
                            <a:ea typeface="나눔명조" pitchFamily="18" charset="-127"/>
                            <a:cs typeface="Times New Roman" pitchFamily="18" charset="0"/>
                          </a:rPr>
                        </m:ctrlPr>
                      </m:sSupPr>
                      <m:e>
                        <m:r>
                          <a:rPr lang="en-US" altLang="ko-KR" sz="2400" b="0" i="1" dirty="0" smtClean="0">
                            <a:latin typeface="Cambria Math" panose="02040503050406030204" pitchFamily="18" charset="0"/>
                            <a:ea typeface="나눔명조" pitchFamily="18" charset="-127"/>
                            <a:cs typeface="Times New Roman" pitchFamily="18" charset="0"/>
                          </a:rPr>
                          <m:t>𝑞</m:t>
                        </m:r>
                      </m:e>
                      <m:sup>
                        <m:r>
                          <a:rPr lang="en-US" altLang="ko-KR" sz="2400" b="0" i="1" dirty="0" smtClean="0">
                            <a:latin typeface="Cambria Math" panose="02040503050406030204" pitchFamily="18" charset="0"/>
                            <a:ea typeface="나눔명조" pitchFamily="18" charset="-127"/>
                            <a:cs typeface="Times New Roman" pitchFamily="18" charset="0"/>
                          </a:rPr>
                          <m:t>0</m:t>
                        </m:r>
                      </m:sup>
                    </m:sSup>
                    <m:r>
                      <a:rPr lang="en-US" altLang="ko-KR" sz="2400" b="0" i="1" dirty="0" smtClean="0">
                        <a:latin typeface="Cambria Math" panose="02040503050406030204" pitchFamily="18" charset="0"/>
                        <a:ea typeface="나눔명조" pitchFamily="18" charset="-127"/>
                        <a:cs typeface="Times New Roman" pitchFamily="18" charset="0"/>
                      </a:rPr>
                      <m:t>)</m:t>
                    </m:r>
                  </m:oMath>
                </a14:m>
                <a:r>
                  <a:rPr lang="ko-KR" altLang="en-US" sz="24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와 보상수요</a:t>
                </a:r>
                <a:r>
                  <a:rPr lang="en-US" altLang="ko-KR" sz="2400" dirty="0">
                    <a:ea typeface="나눔명조" pitchFamily="18" charset="-127"/>
                    <a:cs typeface="Times New Roman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2400" i="1" dirty="0">
                            <a:latin typeface="Cambria Math" panose="02040503050406030204" pitchFamily="18" charset="0"/>
                            <a:ea typeface="나눔명조" pitchFamily="18" charset="-127"/>
                            <a:cs typeface="Times New Roman" pitchFamily="18" charset="0"/>
                          </a:rPr>
                        </m:ctrlPr>
                      </m:sSubPr>
                      <m:e>
                        <m:r>
                          <a:rPr lang="en-US" altLang="ko-KR" sz="2400" b="0" i="1" dirty="0" smtClean="0">
                            <a:latin typeface="Cambria Math" panose="02040503050406030204" pitchFamily="18" charset="0"/>
                            <a:ea typeface="나눔명조" pitchFamily="18" charset="-127"/>
                            <a:cs typeface="Times New Roman" pitchFamily="18" charset="0"/>
                          </a:rPr>
                          <m:t>h</m:t>
                        </m:r>
                      </m:e>
                      <m:sub>
                        <m:r>
                          <a:rPr lang="en-US" altLang="ko-KR" sz="2400" i="1" dirty="0">
                            <a:latin typeface="Cambria Math" panose="02040503050406030204" pitchFamily="18" charset="0"/>
                            <a:ea typeface="나눔명조" pitchFamily="18" charset="-127"/>
                            <a:cs typeface="Times New Roman" pitchFamily="18" charset="0"/>
                          </a:rPr>
                          <m:t>1</m:t>
                        </m:r>
                      </m:sub>
                    </m:sSub>
                    <m:r>
                      <a:rPr lang="en-US" altLang="ko-KR" sz="2400" i="1" dirty="0">
                        <a:latin typeface="Cambria Math" panose="02040503050406030204" pitchFamily="18" charset="0"/>
                        <a:ea typeface="나눔명조" pitchFamily="18" charset="-127"/>
                        <a:cs typeface="Times New Roman" pitchFamily="18" charset="0"/>
                      </a:rPr>
                      <m:t>(</m:t>
                    </m:r>
                    <m:sSup>
                      <m:sSupPr>
                        <m:ctrlPr>
                          <a:rPr lang="en-US" altLang="ko-KR" sz="2400" i="1" dirty="0">
                            <a:latin typeface="Cambria Math" panose="02040503050406030204" pitchFamily="18" charset="0"/>
                            <a:ea typeface="나눔명조" pitchFamily="18" charset="-127"/>
                            <a:cs typeface="Times New Roman" pitchFamily="18" charset="0"/>
                          </a:rPr>
                        </m:ctrlPr>
                      </m:sSupPr>
                      <m:e>
                        <m:r>
                          <a:rPr lang="en-US" altLang="ko-KR" sz="2400" i="1" dirty="0">
                            <a:latin typeface="Cambria Math" panose="02040503050406030204" pitchFamily="18" charset="0"/>
                            <a:ea typeface="나눔명조" pitchFamily="18" charset="-127"/>
                            <a:cs typeface="Times New Roman" pitchFamily="18" charset="0"/>
                          </a:rPr>
                          <m:t>𝑞</m:t>
                        </m:r>
                      </m:e>
                      <m:sup>
                        <m:r>
                          <a:rPr lang="en-US" altLang="ko-KR" sz="2400" i="1" dirty="0">
                            <a:latin typeface="Cambria Math" panose="02040503050406030204" pitchFamily="18" charset="0"/>
                            <a:ea typeface="나눔명조" pitchFamily="18" charset="-127"/>
                            <a:cs typeface="Times New Roman" pitchFamily="18" charset="0"/>
                          </a:rPr>
                          <m:t>0</m:t>
                        </m:r>
                      </m:sup>
                    </m:sSup>
                    <m:r>
                      <a:rPr lang="en-US" altLang="ko-KR" sz="2400" i="1" dirty="0">
                        <a:latin typeface="Cambria Math" panose="02040503050406030204" pitchFamily="18" charset="0"/>
                        <a:ea typeface="나눔명조" pitchFamily="18" charset="-127"/>
                        <a:cs typeface="Times New Roman" pitchFamily="18" charset="0"/>
                      </a:rPr>
                      <m:t>) </m:t>
                    </m:r>
                  </m:oMath>
                </a14:m>
                <a:r>
                  <a:rPr lang="ko-KR" altLang="en-US" sz="24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를 나타냄</a:t>
                </a:r>
                <a:endParaRPr lang="en-US" altLang="ko-KR" sz="2400" dirty="0">
                  <a:latin typeface="Times New Roman" pitchFamily="18" charset="0"/>
                  <a:ea typeface="나눔명조" pitchFamily="18" charset="-127"/>
                  <a:cs typeface="Times New Roman" pitchFamily="18" charset="0"/>
                </a:endParaRPr>
              </a:p>
              <a:p>
                <a:pPr lvl="1" eaLnBrk="1" hangingPunct="1"/>
                <a:r>
                  <a:rPr lang="ko-KR" altLang="en-US" sz="20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통상수요의 변화에는 일종의 소득효과가 포함됨</a:t>
                </a:r>
                <a:endParaRPr lang="en-US" altLang="ko-KR" sz="2000" dirty="0">
                  <a:latin typeface="Times New Roman" pitchFamily="18" charset="0"/>
                  <a:ea typeface="나눔명조" pitchFamily="18" charset="-127"/>
                  <a:cs typeface="Times New Roman" pitchFamily="18" charset="0"/>
                </a:endParaRPr>
              </a:p>
              <a:p>
                <a:pPr lvl="1" eaLnBrk="1" hangingPunct="1"/>
                <a:r>
                  <a:rPr lang="ko-KR" altLang="en-US" sz="2000" dirty="0" err="1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시장재가</a:t>
                </a:r>
                <a:r>
                  <a:rPr lang="ko-KR" altLang="en-US" sz="20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 </a:t>
                </a:r>
                <a:r>
                  <a:rPr lang="ko-KR" altLang="en-US" sz="2000" dirty="0" err="1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정상재일</a:t>
                </a:r>
                <a:r>
                  <a:rPr lang="ko-KR" altLang="en-US" sz="20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 경우 </a:t>
                </a:r>
                <a:r>
                  <a:rPr lang="ko-KR" altLang="en-US" sz="2000" dirty="0" err="1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환경질</a:t>
                </a:r>
                <a:r>
                  <a:rPr lang="ko-KR" altLang="en-US" sz="20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 개선에 따른 </a:t>
                </a:r>
                <a:r>
                  <a:rPr lang="en-US" altLang="ko-KR" sz="20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[</a:t>
                </a:r>
                <a:r>
                  <a:rPr lang="ko-KR" altLang="en-US" sz="2000" dirty="0" err="1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통상수요의</a:t>
                </a:r>
                <a:r>
                  <a:rPr lang="ko-KR" altLang="en-US" sz="20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 증가 </a:t>
                </a:r>
                <a:r>
                  <a:rPr lang="en-US" altLang="ko-KR" sz="20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&gt; </a:t>
                </a:r>
                <a:r>
                  <a:rPr lang="ko-KR" altLang="en-US" sz="2000" dirty="0" err="1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보상수요의</a:t>
                </a:r>
                <a:r>
                  <a:rPr lang="ko-KR" altLang="en-US" sz="20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 증가</a:t>
                </a:r>
                <a:r>
                  <a:rPr lang="en-US" altLang="ko-KR" sz="20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]</a:t>
                </a:r>
              </a:p>
              <a:p>
                <a:pPr lvl="1" eaLnBrk="1" hangingPunct="1"/>
                <a:r>
                  <a:rPr lang="ko-KR" altLang="en-US" sz="20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최초에 통상수요와 보상수요가 모두 같은 수준의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2000" i="1">
                            <a:latin typeface="Cambria Math" panose="02040503050406030204" pitchFamily="18" charset="0"/>
                            <a:ea typeface="나눔명조" pitchFamily="18" charset="-127"/>
                            <a:cs typeface="Times New Roman" pitchFamily="18" charset="0"/>
                          </a:rPr>
                        </m:ctrlPr>
                      </m:sSubPr>
                      <m:e>
                        <m:r>
                          <a:rPr lang="en-US" altLang="ko-KR" sz="2000" i="1">
                            <a:latin typeface="Cambria Math" panose="02040503050406030204" pitchFamily="18" charset="0"/>
                            <a:ea typeface="나눔명조" pitchFamily="18" charset="-127"/>
                            <a:cs typeface="Times New Roman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ko-KR" sz="2000" i="1">
                            <a:latin typeface="Cambria Math" panose="02040503050406030204" pitchFamily="18" charset="0"/>
                            <a:ea typeface="나눔명조" pitchFamily="18" charset="-127"/>
                            <a:cs typeface="Times New Roman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ko-KR" altLang="en-US" sz="20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만 소비하게 하더라도 환경질이 변하게 되면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2000" i="1">
                            <a:latin typeface="Cambria Math" panose="02040503050406030204" pitchFamily="18" charset="0"/>
                            <a:ea typeface="나눔명조" pitchFamily="18" charset="-127"/>
                            <a:cs typeface="Times New Roman" pitchFamily="18" charset="0"/>
                          </a:rPr>
                        </m:ctrlPr>
                      </m:sSubPr>
                      <m:e>
                        <m:r>
                          <a:rPr lang="en-US" altLang="ko-KR" sz="2000" i="1">
                            <a:latin typeface="Cambria Math" panose="02040503050406030204" pitchFamily="18" charset="0"/>
                            <a:ea typeface="나눔명조" pitchFamily="18" charset="-127"/>
                            <a:cs typeface="Times New Roman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ko-KR" sz="2000" i="1">
                            <a:latin typeface="Cambria Math" panose="02040503050406030204" pitchFamily="18" charset="0"/>
                            <a:ea typeface="나눔명조" pitchFamily="18" charset="-127"/>
                            <a:cs typeface="Times New Roman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ko-KR" altLang="en-US" sz="20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의 소비량이 변하는 정도는 </a:t>
                </a:r>
                <a:r>
                  <a:rPr lang="ko-KR" altLang="en-US" sz="2000" dirty="0" err="1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통상수요이냐</a:t>
                </a:r>
                <a:r>
                  <a:rPr lang="ko-KR" altLang="en-US" sz="20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 </a:t>
                </a:r>
                <a:r>
                  <a:rPr lang="ko-KR" altLang="en-US" sz="2000" dirty="0" err="1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보상수요이냐에</a:t>
                </a:r>
                <a:r>
                  <a:rPr lang="ko-KR" altLang="en-US" sz="20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 따라 차이가 있음</a:t>
                </a:r>
                <a:endParaRPr lang="en-US" altLang="ko-KR" sz="2000" dirty="0">
                  <a:latin typeface="Times New Roman" pitchFamily="18" charset="0"/>
                  <a:ea typeface="나눔명조" pitchFamily="18" charset="-127"/>
                  <a:cs typeface="Times New Roman" pitchFamily="18" charset="0"/>
                </a:endParaRPr>
              </a:p>
              <a:p>
                <a:pPr lvl="1" eaLnBrk="1" hangingPunct="1"/>
                <a:endParaRPr lang="en-US" altLang="ko-KR" sz="2000" dirty="0">
                  <a:latin typeface="Times New Roman" pitchFamily="18" charset="0"/>
                  <a:ea typeface="나눔명조" pitchFamily="18" charset="-127"/>
                  <a:cs typeface="Times New Roman" pitchFamily="18" charset="0"/>
                </a:endParaRPr>
              </a:p>
            </p:txBody>
          </p:sp>
        </mc:Choice>
        <mc:Fallback xmlns="">
          <p:sp>
            <p:nvSpPr>
              <p:cNvPr id="15362" name="Rectangle 9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900113" y="1671638"/>
                <a:ext cx="7737475" cy="4114800"/>
              </a:xfrm>
              <a:blipFill>
                <a:blip r:embed="rId3"/>
                <a:stretch>
                  <a:fillRect l="-1103" t="-1630" r="-552" b="-8889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363" name="바닥글 개체 틀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r>
              <a:rPr lang="ko-KR" altLang="en-US" sz="1200" b="0" dirty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Chapter </a:t>
            </a:r>
            <a:r>
              <a:rPr lang="en-US" altLang="ko-KR" sz="1200" b="0" dirty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15</a:t>
            </a:r>
          </a:p>
        </p:txBody>
      </p:sp>
      <p:sp>
        <p:nvSpPr>
          <p:cNvPr id="15364" name="슬라이드 번호 개체 틀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fld id="{C753D822-DF5B-4203-821F-E37D763E2E34}" type="slidenum">
              <a:rPr lang="ko-KR" altLang="en-US" sz="1200" b="0">
                <a:solidFill>
                  <a:schemeClr val="tx1"/>
                </a:solidFill>
              </a:rPr>
              <a:pPr/>
              <a:t>14</a:t>
            </a:fld>
            <a:endParaRPr lang="en-US" altLang="ko-KR" sz="1200" b="0">
              <a:solidFill>
                <a:schemeClr val="tx1"/>
              </a:solidFill>
            </a:endParaRPr>
          </a:p>
        </p:txBody>
      </p:sp>
      <p:sp>
        <p:nvSpPr>
          <p:cNvPr id="15365" name="Rectangle 2"/>
          <p:cNvSpPr>
            <a:spLocks noChangeArrowheads="1"/>
          </p:cNvSpPr>
          <p:nvPr/>
        </p:nvSpPr>
        <p:spPr bwMode="auto">
          <a:xfrm>
            <a:off x="7620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>
              <a:ea typeface="굴림" panose="020B0600000101010101" pitchFamily="50" charset="-127"/>
            </a:endParaRPr>
          </a:p>
        </p:txBody>
      </p:sp>
      <p:sp>
        <p:nvSpPr>
          <p:cNvPr id="15366" name="Rectangle 3"/>
          <p:cNvSpPr>
            <a:spLocks noChangeArrowheads="1"/>
          </p:cNvSpPr>
          <p:nvPr/>
        </p:nvSpPr>
        <p:spPr bwMode="auto">
          <a:xfrm>
            <a:off x="32766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>
              <a:ea typeface="굴림" panose="020B0600000101010101" pitchFamily="50" charset="-127"/>
            </a:endParaRPr>
          </a:p>
        </p:txBody>
      </p:sp>
      <p:sp>
        <p:nvSpPr>
          <p:cNvPr id="15367" name="Rectangle 6"/>
          <p:cNvSpPr>
            <a:spLocks noGrp="1" noChangeArrowheads="1"/>
          </p:cNvSpPr>
          <p:nvPr>
            <p:ph type="title"/>
          </p:nvPr>
        </p:nvSpPr>
        <p:spPr>
          <a:xfrm>
            <a:off x="1355725" y="0"/>
            <a:ext cx="7313613" cy="1143000"/>
          </a:xfrm>
        </p:spPr>
        <p:txBody>
          <a:bodyPr/>
          <a:lstStyle/>
          <a:p>
            <a:pPr eaLnBrk="1" hangingPunct="1"/>
            <a:r>
              <a:rPr lang="ko-KR" altLang="en-US" dirty="0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측정 오차와 보상수요곡선</a:t>
            </a:r>
          </a:p>
        </p:txBody>
      </p:sp>
    </p:spTree>
    <p:extLst>
      <p:ext uri="{BB962C8B-B14F-4D97-AF65-F5344CB8AC3E}">
        <p14:creationId xmlns:p14="http://schemas.microsoft.com/office/powerpoint/2010/main" val="3779608609"/>
      </p:ext>
    </p:extLst>
  </p:cSld>
  <p:clrMapOvr>
    <a:masterClrMapping/>
  </p:clrMapOvr>
  <p:transition spd="med">
    <p:wipe dir="r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3" name="바닥글 개체 틀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r>
              <a:rPr lang="ko-KR" altLang="en-US" sz="1200" b="0" dirty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Chapter </a:t>
            </a:r>
            <a:r>
              <a:rPr lang="en-US" altLang="ko-KR" sz="1200" b="0" dirty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15</a:t>
            </a:r>
          </a:p>
        </p:txBody>
      </p:sp>
      <p:sp>
        <p:nvSpPr>
          <p:cNvPr id="15364" name="슬라이드 번호 개체 틀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fld id="{C753D822-DF5B-4203-821F-E37D763E2E34}" type="slidenum">
              <a:rPr lang="ko-KR" altLang="en-US" sz="1200" b="0">
                <a:solidFill>
                  <a:schemeClr val="tx1"/>
                </a:solidFill>
              </a:rPr>
              <a:pPr/>
              <a:t>15</a:t>
            </a:fld>
            <a:endParaRPr lang="en-US" altLang="ko-KR" sz="1200" b="0">
              <a:solidFill>
                <a:schemeClr val="tx1"/>
              </a:solidFill>
            </a:endParaRPr>
          </a:p>
        </p:txBody>
      </p:sp>
      <p:sp>
        <p:nvSpPr>
          <p:cNvPr id="15365" name="Rectangle 2"/>
          <p:cNvSpPr>
            <a:spLocks noChangeArrowheads="1"/>
          </p:cNvSpPr>
          <p:nvPr/>
        </p:nvSpPr>
        <p:spPr bwMode="auto">
          <a:xfrm>
            <a:off x="7620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>
              <a:ea typeface="굴림" panose="020B0600000101010101" pitchFamily="50" charset="-127"/>
            </a:endParaRPr>
          </a:p>
        </p:txBody>
      </p:sp>
      <p:sp>
        <p:nvSpPr>
          <p:cNvPr id="15366" name="Rectangle 3"/>
          <p:cNvSpPr>
            <a:spLocks noChangeArrowheads="1"/>
          </p:cNvSpPr>
          <p:nvPr/>
        </p:nvSpPr>
        <p:spPr bwMode="auto">
          <a:xfrm>
            <a:off x="32766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>
              <a:ea typeface="굴림" panose="020B0600000101010101" pitchFamily="50" charset="-127"/>
            </a:endParaRPr>
          </a:p>
        </p:txBody>
      </p:sp>
      <p:sp>
        <p:nvSpPr>
          <p:cNvPr id="15367" name="Rectangle 6"/>
          <p:cNvSpPr>
            <a:spLocks noGrp="1" noChangeArrowheads="1"/>
          </p:cNvSpPr>
          <p:nvPr>
            <p:ph type="title"/>
          </p:nvPr>
        </p:nvSpPr>
        <p:spPr>
          <a:xfrm>
            <a:off x="1355725" y="0"/>
            <a:ext cx="7313613" cy="1143000"/>
          </a:xfrm>
        </p:spPr>
        <p:txBody>
          <a:bodyPr/>
          <a:lstStyle/>
          <a:p>
            <a:pPr eaLnBrk="1" hangingPunct="1"/>
            <a:r>
              <a:rPr lang="ko-KR" altLang="en-US" dirty="0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측정 오차와 보상수요곡선</a:t>
            </a: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55725" y="1311875"/>
            <a:ext cx="6401536" cy="48463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2177933"/>
      </p:ext>
    </p:extLst>
  </p:cSld>
  <p:clrMapOvr>
    <a:masterClrMapping/>
  </p:clrMapOvr>
  <p:transition spd="med">
    <p:wipe dir="r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9"/>
          <p:cNvSpPr>
            <a:spLocks noGrp="1" noChangeArrowheads="1"/>
          </p:cNvSpPr>
          <p:nvPr>
            <p:ph idx="1"/>
          </p:nvPr>
        </p:nvSpPr>
        <p:spPr>
          <a:xfrm>
            <a:off x="900113" y="1671638"/>
            <a:ext cx="7737475" cy="4114800"/>
          </a:xfrm>
        </p:spPr>
        <p:txBody>
          <a:bodyPr/>
          <a:lstStyle/>
          <a:p>
            <a:pPr eaLnBrk="1" hangingPunct="1"/>
            <a:r>
              <a:rPr lang="ko-KR" altLang="en-US" sz="20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자료를 이용하여 추정되는 통상수요를 이용해 </a:t>
            </a:r>
            <a:r>
              <a:rPr lang="ko-KR" altLang="en-US" sz="2000" dirty="0" err="1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환경질</a:t>
            </a:r>
            <a:r>
              <a:rPr lang="ko-KR" altLang="en-US" sz="20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 개선의 소비자잉여를 분석하고자 한다면</a:t>
            </a:r>
            <a:r>
              <a:rPr lang="en-US" altLang="ko-KR" sz="20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, </a:t>
            </a:r>
            <a:r>
              <a:rPr lang="ko-KR" altLang="en-US" sz="20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두 통상수요곡선 사이의 면적을 계산해야 함</a:t>
            </a:r>
            <a:endParaRPr lang="en-US" altLang="ko-KR" sz="2000" dirty="0">
              <a:latin typeface="Times New Roman" pitchFamily="18" charset="0"/>
              <a:ea typeface="나눔명조" pitchFamily="18" charset="-127"/>
              <a:cs typeface="Times New Roman" pitchFamily="18" charset="0"/>
            </a:endParaRPr>
          </a:p>
          <a:p>
            <a:pPr eaLnBrk="1" hangingPunct="1"/>
            <a:r>
              <a:rPr lang="ko-KR" altLang="en-US" sz="20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반면</a:t>
            </a:r>
            <a:r>
              <a:rPr lang="en-US" altLang="ko-KR" sz="20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, </a:t>
            </a:r>
            <a:r>
              <a:rPr lang="ko-KR" altLang="en-US" sz="20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약보완성이 성립할 때의 정확한 후생지표 </a:t>
            </a:r>
            <a:r>
              <a:rPr lang="en-US" altLang="ko-KR" sz="20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CS</a:t>
            </a:r>
            <a:r>
              <a:rPr lang="ko-KR" altLang="en-US" sz="20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는 두 보상수요곡선 사이의 면적임</a:t>
            </a:r>
            <a:endParaRPr lang="en-US" altLang="ko-KR" sz="2000" dirty="0">
              <a:latin typeface="Times New Roman" pitchFamily="18" charset="0"/>
              <a:ea typeface="나눔명조" pitchFamily="18" charset="-127"/>
              <a:cs typeface="Times New Roman" pitchFamily="18" charset="0"/>
            </a:endParaRPr>
          </a:p>
          <a:p>
            <a:pPr eaLnBrk="1" hangingPunct="1"/>
            <a:r>
              <a:rPr lang="ko-KR" altLang="en-US" sz="20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보상수요곡선 대신 통상수요곡선을 이용하면</a:t>
            </a:r>
            <a:r>
              <a:rPr lang="en-US" altLang="ko-KR" sz="20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, </a:t>
            </a:r>
            <a:r>
              <a:rPr lang="ko-KR" altLang="en-US" sz="20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약보완성이 성립한다 해도 면적 </a:t>
            </a:r>
            <a:r>
              <a:rPr lang="en-US" altLang="ko-KR" sz="20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A+C-B</a:t>
            </a:r>
            <a:r>
              <a:rPr lang="ko-KR" altLang="en-US" sz="20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의 오차 발생</a:t>
            </a:r>
            <a:endParaRPr lang="en-US" altLang="ko-KR" sz="2000" dirty="0">
              <a:latin typeface="Times New Roman" pitchFamily="18" charset="0"/>
              <a:ea typeface="나눔명조" pitchFamily="18" charset="-127"/>
              <a:cs typeface="Times New Roman" pitchFamily="18" charset="0"/>
            </a:endParaRPr>
          </a:p>
          <a:p>
            <a:pPr lvl="1" eaLnBrk="1" hangingPunct="1"/>
            <a:r>
              <a:rPr lang="ko-KR" altLang="en-US" sz="18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이 오차의 크기와 </a:t>
            </a:r>
            <a:r>
              <a:rPr lang="ko-KR" altLang="en-US" sz="1800" dirty="0" err="1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부호은</a:t>
            </a:r>
            <a:r>
              <a:rPr lang="ko-KR" altLang="en-US" sz="18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 불분명한 문제를 가짐</a:t>
            </a:r>
          </a:p>
          <a:p>
            <a:pPr eaLnBrk="1" hangingPunct="1"/>
            <a:r>
              <a:rPr lang="ko-KR" altLang="en-US" sz="20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다만 현실에서는 환경재와 약보완성을 가지는 시장재는 소득변화에 크게 민감하지 않은 소비재들이므로 </a:t>
            </a:r>
            <a:r>
              <a:rPr lang="ko-KR" altLang="en-US" sz="2000" dirty="0" err="1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환경재</a:t>
            </a:r>
            <a:r>
              <a:rPr lang="ko-KR" altLang="en-US" sz="20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 변화에 따른 보상수요와 통상수요의 이동 폭의 차이가 지나치게 크지는 않을 것이라는 점을 들어 보상수요 대신 통상수요를 이용한 후생분석을 함</a:t>
            </a:r>
          </a:p>
        </p:txBody>
      </p:sp>
      <p:sp>
        <p:nvSpPr>
          <p:cNvPr id="15363" name="바닥글 개체 틀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r>
              <a:rPr lang="ko-KR" altLang="en-US" sz="1200" b="0" dirty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Chapter </a:t>
            </a:r>
            <a:r>
              <a:rPr lang="en-US" altLang="ko-KR" sz="1200" b="0" dirty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15</a:t>
            </a:r>
          </a:p>
        </p:txBody>
      </p:sp>
      <p:sp>
        <p:nvSpPr>
          <p:cNvPr id="15364" name="슬라이드 번호 개체 틀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fld id="{C753D822-DF5B-4203-821F-E37D763E2E34}" type="slidenum">
              <a:rPr lang="ko-KR" altLang="en-US" sz="1200" b="0">
                <a:solidFill>
                  <a:schemeClr val="tx1"/>
                </a:solidFill>
              </a:rPr>
              <a:pPr/>
              <a:t>16</a:t>
            </a:fld>
            <a:endParaRPr lang="en-US" altLang="ko-KR" sz="1200" b="0" dirty="0">
              <a:solidFill>
                <a:schemeClr val="tx1"/>
              </a:solidFill>
            </a:endParaRPr>
          </a:p>
        </p:txBody>
      </p:sp>
      <p:sp>
        <p:nvSpPr>
          <p:cNvPr id="15365" name="Rectangle 2"/>
          <p:cNvSpPr>
            <a:spLocks noChangeArrowheads="1"/>
          </p:cNvSpPr>
          <p:nvPr/>
        </p:nvSpPr>
        <p:spPr bwMode="auto">
          <a:xfrm>
            <a:off x="7620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>
              <a:ea typeface="굴림" panose="020B0600000101010101" pitchFamily="50" charset="-127"/>
            </a:endParaRPr>
          </a:p>
        </p:txBody>
      </p:sp>
      <p:sp>
        <p:nvSpPr>
          <p:cNvPr id="15366" name="Rectangle 3"/>
          <p:cNvSpPr>
            <a:spLocks noChangeArrowheads="1"/>
          </p:cNvSpPr>
          <p:nvPr/>
        </p:nvSpPr>
        <p:spPr bwMode="auto">
          <a:xfrm>
            <a:off x="32766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>
              <a:ea typeface="굴림" panose="020B0600000101010101" pitchFamily="50" charset="-127"/>
            </a:endParaRPr>
          </a:p>
        </p:txBody>
      </p:sp>
      <p:sp>
        <p:nvSpPr>
          <p:cNvPr id="15367" name="Rectangle 6"/>
          <p:cNvSpPr>
            <a:spLocks noGrp="1" noChangeArrowheads="1"/>
          </p:cNvSpPr>
          <p:nvPr>
            <p:ph type="title"/>
          </p:nvPr>
        </p:nvSpPr>
        <p:spPr>
          <a:xfrm>
            <a:off x="1355725" y="0"/>
            <a:ext cx="7313613" cy="1143000"/>
          </a:xfrm>
        </p:spPr>
        <p:txBody>
          <a:bodyPr/>
          <a:lstStyle/>
          <a:p>
            <a:pPr eaLnBrk="1" hangingPunct="1"/>
            <a:r>
              <a:rPr lang="ko-KR" altLang="en-US" dirty="0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측정 오차와 보상수요곡선</a:t>
            </a:r>
          </a:p>
        </p:txBody>
      </p:sp>
    </p:spTree>
    <p:extLst>
      <p:ext uri="{BB962C8B-B14F-4D97-AF65-F5344CB8AC3E}">
        <p14:creationId xmlns:p14="http://schemas.microsoft.com/office/powerpoint/2010/main" val="3920663835"/>
      </p:ext>
    </p:extLst>
  </p:cSld>
  <p:clrMapOvr>
    <a:masterClrMapping/>
  </p:clrMapOvr>
  <p:transition spd="med">
    <p:wipe dir="r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6B69269-485C-4257-99C1-B69748C03C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9127" y="1615719"/>
            <a:ext cx="7519679" cy="4114800"/>
          </a:xfrm>
        </p:spPr>
        <p:txBody>
          <a:bodyPr/>
          <a:lstStyle/>
          <a:p>
            <a:r>
              <a:rPr lang="ko-KR" altLang="en-US" sz="2400" dirty="0"/>
              <a:t>소비자 행위에 큰 영향을 미치는 </a:t>
            </a:r>
            <a:r>
              <a:rPr lang="ko-KR" altLang="en-US" sz="2400" dirty="0" err="1"/>
              <a:t>환경질</a:t>
            </a:r>
            <a:r>
              <a:rPr lang="ko-KR" altLang="en-US" sz="2400" dirty="0"/>
              <a:t> </a:t>
            </a:r>
            <a:r>
              <a:rPr lang="en-US" altLang="ko-KR" sz="2400" dirty="0"/>
              <a:t>q </a:t>
            </a:r>
            <a:r>
              <a:rPr lang="ko-KR" altLang="en-US" sz="2400" dirty="0"/>
              <a:t>변화는 </a:t>
            </a:r>
            <a:r>
              <a:rPr lang="ko-KR" altLang="en-US" sz="2400" dirty="0" err="1"/>
              <a:t>시장재</a:t>
            </a:r>
            <a:r>
              <a:rPr lang="ko-KR" altLang="en-US" sz="2400" dirty="0"/>
              <a:t> </a:t>
            </a:r>
            <a:r>
              <a:rPr lang="en-US" altLang="ko-KR" sz="2400" dirty="0"/>
              <a:t>x</a:t>
            </a:r>
            <a:r>
              <a:rPr lang="en-US" altLang="ko-KR" sz="2400" baseline="-25000" dirty="0"/>
              <a:t>1</a:t>
            </a:r>
            <a:r>
              <a:rPr lang="ko-KR" altLang="en-US" sz="2400" dirty="0"/>
              <a:t>의 가격변화까지 초래할 수 있음</a:t>
            </a:r>
            <a:endParaRPr lang="en-US" altLang="ko-KR" sz="2400" dirty="0"/>
          </a:p>
          <a:p>
            <a:pPr lvl="1"/>
            <a:r>
              <a:rPr lang="ko-KR" altLang="en-US" sz="2000" dirty="0"/>
              <a:t>안전성 문제로 식품 수요곡선이 크게 이동해 식품가격 변화</a:t>
            </a:r>
            <a:endParaRPr lang="en-US" altLang="ko-KR" sz="2000" dirty="0"/>
          </a:p>
          <a:p>
            <a:pPr lvl="1"/>
            <a:r>
              <a:rPr lang="en-US" altLang="ko-KR" sz="2000" dirty="0"/>
              <a:t>COVID-19</a:t>
            </a:r>
            <a:r>
              <a:rPr lang="ko-KR" altLang="en-US" sz="2000" dirty="0"/>
              <a:t>이나 미세먼지로 마스크 품귀와 가격 폭등</a:t>
            </a:r>
            <a:endParaRPr lang="en-US" altLang="ko-KR" sz="2000" dirty="0"/>
          </a:p>
          <a:p>
            <a:r>
              <a:rPr lang="en-US" altLang="ko-KR" sz="2400" dirty="0"/>
              <a:t>x</a:t>
            </a:r>
            <a:r>
              <a:rPr lang="en-US" altLang="ko-KR" sz="2400" baseline="-25000" dirty="0"/>
              <a:t>1</a:t>
            </a:r>
            <a:r>
              <a:rPr lang="ko-KR" altLang="en-US" sz="2400" dirty="0"/>
              <a:t>의 개인 수요가 </a:t>
            </a:r>
            <a:r>
              <a:rPr lang="en-US" altLang="ko-KR" sz="2400" dirty="0"/>
              <a:t>q </a:t>
            </a:r>
            <a:r>
              <a:rPr lang="ko-KR" altLang="en-US" sz="2400" dirty="0"/>
              <a:t>변화로 모두 우측 이동하면 시장전체 수요도 우측 이동하고</a:t>
            </a:r>
            <a:r>
              <a:rPr lang="en-US" altLang="ko-KR" sz="2400" dirty="0"/>
              <a:t>, </a:t>
            </a:r>
            <a:r>
              <a:rPr lang="ko-KR" altLang="en-US" sz="2400" dirty="0"/>
              <a:t>공급곡선이 </a:t>
            </a:r>
            <a:r>
              <a:rPr lang="ko-KR" altLang="en-US" sz="2400" dirty="0" err="1"/>
              <a:t>우상향할</a:t>
            </a:r>
            <a:r>
              <a:rPr lang="ko-KR" altLang="en-US" sz="2400" dirty="0"/>
              <a:t> 때 시장가격이 상승함</a:t>
            </a:r>
            <a:endParaRPr lang="en-US" altLang="ko-KR" sz="2400" dirty="0"/>
          </a:p>
          <a:p>
            <a:r>
              <a:rPr lang="en-US" altLang="ko-KR" sz="2400" dirty="0"/>
              <a:t>x</a:t>
            </a:r>
            <a:r>
              <a:rPr lang="en-US" altLang="ko-KR" sz="2400" baseline="-25000" dirty="0"/>
              <a:t>1</a:t>
            </a:r>
            <a:r>
              <a:rPr lang="en-US" altLang="ko-KR" sz="2400" dirty="0"/>
              <a:t> </a:t>
            </a:r>
            <a:r>
              <a:rPr lang="ko-KR" altLang="en-US" sz="2400" dirty="0"/>
              <a:t>시장가격 상승은 소비의 대체 혹은 보완관계로 인해 여타 상품 </a:t>
            </a:r>
            <a:r>
              <a:rPr lang="en-US" altLang="ko-KR" sz="2400" dirty="0"/>
              <a:t>(x</a:t>
            </a:r>
            <a:r>
              <a:rPr lang="en-US" altLang="ko-KR" sz="2400" baseline="-25000" dirty="0"/>
              <a:t>2</a:t>
            </a:r>
            <a:r>
              <a:rPr lang="en-US" altLang="ko-KR" sz="2400" dirty="0"/>
              <a:t>, x</a:t>
            </a:r>
            <a:r>
              <a:rPr lang="en-US" altLang="ko-KR" sz="2400" baseline="-25000" dirty="0"/>
              <a:t>3</a:t>
            </a:r>
            <a:r>
              <a:rPr lang="en-US" altLang="ko-KR" sz="2400" dirty="0"/>
              <a:t>,…)</a:t>
            </a:r>
            <a:r>
              <a:rPr lang="ko-KR" altLang="en-US" sz="2400" dirty="0"/>
              <a:t>의</a:t>
            </a:r>
            <a:r>
              <a:rPr lang="en-US" altLang="ko-KR" sz="2400" dirty="0"/>
              <a:t> </a:t>
            </a:r>
            <a:r>
              <a:rPr lang="ko-KR" altLang="en-US" sz="2400" dirty="0"/>
              <a:t>가격도 바꿀 수 있음</a:t>
            </a:r>
            <a:endParaRPr lang="en-US" altLang="ko-KR" sz="2400" dirty="0"/>
          </a:p>
          <a:p>
            <a:r>
              <a:rPr lang="ko-KR" altLang="en-US" sz="2400" dirty="0"/>
              <a:t>이로 인해 소비자는 물론 생산자의 후생까지 달라질 수 있음</a:t>
            </a: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E1C4E053-B3DE-4116-946A-231F7E71F8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ko-KR"/>
              <a:t>Chapter 15</a:t>
            </a: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53609201-2984-4D6E-8045-BA43016A33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19FF04-9146-4048-BDA6-3A9E8714DE63}" type="slidenum">
              <a:rPr lang="ko-KR" altLang="en-US" smtClean="0"/>
              <a:pPr/>
              <a:t>17</a:t>
            </a:fld>
            <a:endParaRPr lang="en-US" altLang="ko-KR"/>
          </a:p>
        </p:txBody>
      </p:sp>
      <p:sp>
        <p:nvSpPr>
          <p:cNvPr id="6" name="제목 1">
            <a:extLst>
              <a:ext uri="{FF2B5EF4-FFF2-40B4-BE49-F238E27FC236}">
                <a16:creationId xmlns:a16="http://schemas.microsoft.com/office/drawing/2014/main" id="{6CD58EE9-A1A3-49BF-8763-298D4B63D202}"/>
              </a:ext>
            </a:extLst>
          </p:cNvPr>
          <p:cNvSpPr txBox="1">
            <a:spLocks/>
          </p:cNvSpPr>
          <p:nvPr/>
        </p:nvSpPr>
        <p:spPr bwMode="auto">
          <a:xfrm>
            <a:off x="915194" y="301625"/>
            <a:ext cx="7313612" cy="1143000"/>
          </a:xfrm>
          <a:prstGeom prst="rect">
            <a:avLst/>
          </a:prstGeom>
          <a:noFill/>
          <a:ln>
            <a:solidFill>
              <a:srgbClr val="7030A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8D7DFF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8D7DFF"/>
                </a:solidFill>
                <a:latin typeface="Arial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8D7DFF"/>
                </a:solidFill>
                <a:latin typeface="Arial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8D7DFF"/>
                </a:solidFill>
                <a:latin typeface="Arial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8D7DFF"/>
                </a:solidFill>
                <a:latin typeface="Arial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8D7DFF"/>
                </a:solidFill>
                <a:latin typeface="Arial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8D7DFF"/>
                </a:solidFill>
                <a:latin typeface="Arial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8D7DFF"/>
                </a:solidFill>
                <a:latin typeface="Arial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8D7DFF"/>
                </a:solidFill>
                <a:latin typeface="Arial" charset="0"/>
              </a:defRPr>
            </a:lvl9pPr>
          </a:lstStyle>
          <a:p>
            <a:r>
              <a:rPr lang="ko-KR" altLang="en-US" kern="0" dirty="0" err="1">
                <a:solidFill>
                  <a:srgbClr val="7030A0"/>
                </a:solidFill>
                <a:latin typeface="나눔명조" panose="02020603020101020101" pitchFamily="18" charset="-127"/>
                <a:ea typeface="나눔명조" panose="02020603020101020101" pitchFamily="18" charset="-127"/>
              </a:rPr>
              <a:t>시장재</a:t>
            </a:r>
            <a:r>
              <a:rPr lang="ko-KR" altLang="en-US" kern="0" dirty="0">
                <a:solidFill>
                  <a:srgbClr val="7030A0"/>
                </a:solidFill>
                <a:latin typeface="나눔명조" panose="02020603020101020101" pitchFamily="18" charset="-127"/>
                <a:ea typeface="나눔명조" panose="02020603020101020101" pitchFamily="18" charset="-127"/>
              </a:rPr>
              <a:t> 가격변화까지 초래하는 </a:t>
            </a:r>
            <a:r>
              <a:rPr lang="ko-KR" altLang="en-US" kern="0" dirty="0" err="1">
                <a:solidFill>
                  <a:srgbClr val="7030A0"/>
                </a:solidFill>
                <a:latin typeface="나눔명조" panose="02020603020101020101" pitchFamily="18" charset="-127"/>
                <a:ea typeface="나눔명조" panose="02020603020101020101" pitchFamily="18" charset="-127"/>
              </a:rPr>
              <a:t>환경질</a:t>
            </a:r>
            <a:r>
              <a:rPr lang="ko-KR" altLang="en-US" kern="0" dirty="0">
                <a:solidFill>
                  <a:srgbClr val="7030A0"/>
                </a:solidFill>
                <a:latin typeface="나눔명조" panose="02020603020101020101" pitchFamily="18" charset="-127"/>
                <a:ea typeface="나눔명조" panose="02020603020101020101" pitchFamily="18" charset="-127"/>
              </a:rPr>
              <a:t> 변화의 후생효과</a:t>
            </a:r>
          </a:p>
        </p:txBody>
      </p:sp>
    </p:spTree>
    <p:extLst>
      <p:ext uri="{BB962C8B-B14F-4D97-AF65-F5344CB8AC3E}">
        <p14:creationId xmlns:p14="http://schemas.microsoft.com/office/powerpoint/2010/main" val="422387850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6B69269-485C-4257-99C1-B69748C03C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9127" y="1615719"/>
            <a:ext cx="7519679" cy="4114800"/>
          </a:xfrm>
        </p:spPr>
        <p:txBody>
          <a:bodyPr/>
          <a:lstStyle/>
          <a:p>
            <a:r>
              <a:rPr lang="en-US" altLang="ko-KR" sz="2400" dirty="0"/>
              <a:t>q </a:t>
            </a:r>
            <a:r>
              <a:rPr lang="ko-KR" altLang="en-US" sz="2400" dirty="0"/>
              <a:t>변화와 그로 인한 </a:t>
            </a:r>
            <a:r>
              <a:rPr lang="en-US" altLang="ko-KR" sz="2400" dirty="0"/>
              <a:t>x</a:t>
            </a:r>
            <a:r>
              <a:rPr lang="en-US" altLang="ko-KR" sz="2400" baseline="-25000" dirty="0"/>
              <a:t>1</a:t>
            </a:r>
            <a:r>
              <a:rPr lang="ko-KR" altLang="en-US" sz="2400" dirty="0"/>
              <a:t> 가격변화의 두 가지 효과는 </a:t>
            </a:r>
            <a:r>
              <a:rPr lang="en-US" altLang="ko-KR" sz="2400" dirty="0"/>
              <a:t>&lt;</a:t>
            </a:r>
            <a:r>
              <a:rPr lang="ko-KR" altLang="en-US" sz="2400" dirty="0"/>
              <a:t>그림 </a:t>
            </a:r>
            <a:r>
              <a:rPr lang="en-US" altLang="ko-KR" sz="2400" dirty="0"/>
              <a:t>15-2&gt;</a:t>
            </a:r>
            <a:r>
              <a:rPr lang="ko-KR" altLang="en-US" sz="2400" dirty="0"/>
              <a:t>처럼 </a:t>
            </a:r>
            <a:r>
              <a:rPr lang="en-US" altLang="ko-KR" sz="2400" dirty="0"/>
              <a:t>x</a:t>
            </a:r>
            <a:r>
              <a:rPr lang="en-US" altLang="ko-KR" sz="2400" baseline="-25000" dirty="0"/>
              <a:t>1 </a:t>
            </a:r>
            <a:r>
              <a:rPr lang="ko-KR" altLang="en-US" sz="2400" dirty="0"/>
              <a:t>수요곡선 이동이 만들어내는 면적을 이용해 계산할 수 있음</a:t>
            </a:r>
            <a:endParaRPr lang="en-US" altLang="ko-KR" sz="2400" dirty="0"/>
          </a:p>
          <a:p>
            <a:pPr lvl="1"/>
            <a:r>
              <a:rPr lang="ko-KR" altLang="en-US" sz="2000" dirty="0"/>
              <a:t>다만 </a:t>
            </a:r>
            <a:r>
              <a:rPr lang="en-US" altLang="ko-KR" sz="2000" dirty="0"/>
              <a:t>q </a:t>
            </a:r>
            <a:r>
              <a:rPr lang="ko-KR" altLang="en-US" sz="2000" dirty="0"/>
              <a:t>변화</a:t>
            </a:r>
            <a:r>
              <a:rPr lang="en-US" altLang="ko-KR" sz="2000" dirty="0"/>
              <a:t> </a:t>
            </a:r>
            <a:r>
              <a:rPr lang="ko-KR" altLang="en-US" sz="2000" dirty="0"/>
              <a:t>이전과 이후 </a:t>
            </a:r>
            <a:r>
              <a:rPr lang="en-US" altLang="ko-KR" sz="2000" dirty="0"/>
              <a:t>x</a:t>
            </a:r>
            <a:r>
              <a:rPr lang="en-US" altLang="ko-KR" sz="2000" baseline="-25000" dirty="0"/>
              <a:t>1 </a:t>
            </a:r>
            <a:r>
              <a:rPr lang="ko-KR" altLang="en-US" sz="2000" dirty="0"/>
              <a:t>의 가격이 다르다는 점만 반영</a:t>
            </a:r>
            <a:endParaRPr lang="en-US" altLang="ko-KR" sz="2000" dirty="0"/>
          </a:p>
          <a:p>
            <a:r>
              <a:rPr lang="en-US" altLang="ko-KR" sz="2400" dirty="0"/>
              <a:t>x</a:t>
            </a:r>
            <a:r>
              <a:rPr lang="en-US" altLang="ko-KR" sz="2400" baseline="-25000" dirty="0"/>
              <a:t>1 </a:t>
            </a:r>
            <a:r>
              <a:rPr lang="ko-KR" altLang="en-US" sz="2400" dirty="0"/>
              <a:t>외 시장재의 가격변화는 해당 수요곡선을 이용해 </a:t>
            </a:r>
            <a:r>
              <a:rPr lang="en-US" altLang="ko-KR" sz="2400" dirty="0"/>
              <a:t>CV </a:t>
            </a:r>
            <a:r>
              <a:rPr lang="ko-KR" altLang="en-US" sz="2400" dirty="0"/>
              <a:t>혹은</a:t>
            </a:r>
            <a:r>
              <a:rPr lang="en-US" altLang="ko-KR" sz="2400" dirty="0"/>
              <a:t> EV</a:t>
            </a:r>
            <a:r>
              <a:rPr lang="ko-KR" altLang="en-US" sz="2400" dirty="0"/>
              <a:t>를 별도로 계산함</a:t>
            </a:r>
            <a:endParaRPr lang="en-US" altLang="ko-KR" sz="2400" dirty="0"/>
          </a:p>
          <a:p>
            <a:r>
              <a:rPr lang="ko-KR" altLang="en-US" sz="2400" dirty="0"/>
              <a:t>생산자 후생의 변화는 각 시장에서의 생산자 잉여 변화를 계산해 도출</a:t>
            </a:r>
            <a:endParaRPr lang="en-US" altLang="ko-KR" sz="2400" dirty="0"/>
          </a:p>
          <a:p>
            <a:r>
              <a:rPr lang="ko-KR" altLang="en-US" sz="2400" dirty="0"/>
              <a:t>따라서 </a:t>
            </a:r>
            <a:r>
              <a:rPr lang="en-US" altLang="ko-KR" sz="2400" dirty="0"/>
              <a:t>q</a:t>
            </a:r>
            <a:r>
              <a:rPr lang="ko-KR" altLang="en-US" sz="2400" dirty="0"/>
              <a:t>변화에도 불구하고 </a:t>
            </a:r>
            <a:r>
              <a:rPr lang="en-US" altLang="ko-KR" sz="2400" dirty="0"/>
              <a:t>x</a:t>
            </a:r>
            <a:r>
              <a:rPr lang="en-US" altLang="ko-KR" sz="2400" baseline="-25000" dirty="0"/>
              <a:t>1</a:t>
            </a:r>
            <a:r>
              <a:rPr lang="ko-KR" altLang="en-US" sz="2400" dirty="0"/>
              <a:t> 가격이 변하지 않을 때에 비해 더 많은 분석절차가 필요함</a:t>
            </a: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E1C4E053-B3DE-4116-946A-231F7E71F8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ko-KR"/>
              <a:t>Chapter 15</a:t>
            </a: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53609201-2984-4D6E-8045-BA43016A33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19FF04-9146-4048-BDA6-3A9E8714DE63}" type="slidenum">
              <a:rPr lang="ko-KR" altLang="en-US" smtClean="0"/>
              <a:pPr/>
              <a:t>18</a:t>
            </a:fld>
            <a:endParaRPr lang="en-US" altLang="ko-KR"/>
          </a:p>
        </p:txBody>
      </p:sp>
      <p:sp>
        <p:nvSpPr>
          <p:cNvPr id="6" name="제목 1">
            <a:extLst>
              <a:ext uri="{FF2B5EF4-FFF2-40B4-BE49-F238E27FC236}">
                <a16:creationId xmlns:a16="http://schemas.microsoft.com/office/drawing/2014/main" id="{6CD58EE9-A1A3-49BF-8763-298D4B63D202}"/>
              </a:ext>
            </a:extLst>
          </p:cNvPr>
          <p:cNvSpPr txBox="1">
            <a:spLocks/>
          </p:cNvSpPr>
          <p:nvPr/>
        </p:nvSpPr>
        <p:spPr bwMode="auto">
          <a:xfrm>
            <a:off x="915194" y="301625"/>
            <a:ext cx="7313612" cy="1143000"/>
          </a:xfrm>
          <a:prstGeom prst="rect">
            <a:avLst/>
          </a:prstGeom>
          <a:noFill/>
          <a:ln>
            <a:solidFill>
              <a:srgbClr val="7030A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8D7DFF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8D7DFF"/>
                </a:solidFill>
                <a:latin typeface="Arial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8D7DFF"/>
                </a:solidFill>
                <a:latin typeface="Arial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8D7DFF"/>
                </a:solidFill>
                <a:latin typeface="Arial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8D7DFF"/>
                </a:solidFill>
                <a:latin typeface="Arial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8D7DFF"/>
                </a:solidFill>
                <a:latin typeface="Arial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8D7DFF"/>
                </a:solidFill>
                <a:latin typeface="Arial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8D7DFF"/>
                </a:solidFill>
                <a:latin typeface="Arial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8D7DFF"/>
                </a:solidFill>
                <a:latin typeface="Arial" charset="0"/>
              </a:defRPr>
            </a:lvl9pPr>
          </a:lstStyle>
          <a:p>
            <a:r>
              <a:rPr lang="ko-KR" altLang="en-US" kern="0" dirty="0" err="1">
                <a:solidFill>
                  <a:srgbClr val="7030A0"/>
                </a:solidFill>
                <a:latin typeface="나눔명조" panose="02020603020101020101" pitchFamily="18" charset="-127"/>
                <a:ea typeface="나눔명조" panose="02020603020101020101" pitchFamily="18" charset="-127"/>
              </a:rPr>
              <a:t>시장재</a:t>
            </a:r>
            <a:r>
              <a:rPr lang="ko-KR" altLang="en-US" kern="0" dirty="0">
                <a:solidFill>
                  <a:srgbClr val="7030A0"/>
                </a:solidFill>
                <a:latin typeface="나눔명조" panose="02020603020101020101" pitchFamily="18" charset="-127"/>
                <a:ea typeface="나눔명조" panose="02020603020101020101" pitchFamily="18" charset="-127"/>
              </a:rPr>
              <a:t> 가격변화까지 초래하는 </a:t>
            </a:r>
            <a:r>
              <a:rPr lang="ko-KR" altLang="en-US" kern="0" dirty="0" err="1">
                <a:solidFill>
                  <a:srgbClr val="7030A0"/>
                </a:solidFill>
                <a:latin typeface="나눔명조" panose="02020603020101020101" pitchFamily="18" charset="-127"/>
                <a:ea typeface="나눔명조" panose="02020603020101020101" pitchFamily="18" charset="-127"/>
              </a:rPr>
              <a:t>환경질</a:t>
            </a:r>
            <a:r>
              <a:rPr lang="ko-KR" altLang="en-US" kern="0" dirty="0">
                <a:solidFill>
                  <a:srgbClr val="7030A0"/>
                </a:solidFill>
                <a:latin typeface="나눔명조" panose="02020603020101020101" pitchFamily="18" charset="-127"/>
                <a:ea typeface="나눔명조" panose="02020603020101020101" pitchFamily="18" charset="-127"/>
              </a:rPr>
              <a:t> 변화의 후생효과</a:t>
            </a:r>
          </a:p>
        </p:txBody>
      </p:sp>
    </p:spTree>
    <p:extLst>
      <p:ext uri="{BB962C8B-B14F-4D97-AF65-F5344CB8AC3E}">
        <p14:creationId xmlns:p14="http://schemas.microsoft.com/office/powerpoint/2010/main" val="102096517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6C849E4-6B2A-4077-BF3F-046236F62B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5194" y="301625"/>
            <a:ext cx="7313612" cy="1143000"/>
          </a:xfrm>
          <a:ln>
            <a:solidFill>
              <a:srgbClr val="7030A0"/>
            </a:solidFill>
          </a:ln>
        </p:spPr>
        <p:txBody>
          <a:bodyPr/>
          <a:lstStyle/>
          <a:p>
            <a:r>
              <a:rPr lang="ko-KR" altLang="en-US" dirty="0">
                <a:solidFill>
                  <a:srgbClr val="7030A0"/>
                </a:solidFill>
                <a:latin typeface="나눔명조" panose="02020603020101020101" pitchFamily="18" charset="-127"/>
                <a:ea typeface="나눔명조" panose="02020603020101020101" pitchFamily="18" charset="-127"/>
              </a:rPr>
              <a:t>약보완성과 식품안전도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D143276-F179-48D8-B821-602476248E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12730" y="1645544"/>
            <a:ext cx="7549929" cy="4422196"/>
          </a:xfrm>
        </p:spPr>
        <p:txBody>
          <a:bodyPr/>
          <a:lstStyle/>
          <a:p>
            <a:r>
              <a:rPr lang="ko-KR" altLang="en-US" sz="2000" dirty="0" err="1">
                <a:latin typeface="나눔명조" panose="02020603020101020101" pitchFamily="18" charset="-127"/>
                <a:ea typeface="나눔명조" panose="02020603020101020101" pitchFamily="18" charset="-127"/>
              </a:rPr>
              <a:t>약보완성은</a:t>
            </a:r>
            <a:r>
              <a:rPr lang="ko-KR" altLang="en-US" sz="2000" dirty="0">
                <a:latin typeface="나눔명조" panose="02020603020101020101" pitchFamily="18" charset="-127"/>
                <a:ea typeface="나눔명조" panose="02020603020101020101" pitchFamily="18" charset="-127"/>
              </a:rPr>
              <a:t> </a:t>
            </a:r>
            <a:r>
              <a:rPr lang="ko-KR" altLang="en-US" sz="2000" dirty="0" err="1">
                <a:latin typeface="나눔명조" panose="02020603020101020101" pitchFamily="18" charset="-127"/>
                <a:ea typeface="나눔명조" panose="02020603020101020101" pitchFamily="18" charset="-127"/>
              </a:rPr>
              <a:t>환경질뿐</a:t>
            </a:r>
            <a:r>
              <a:rPr lang="ko-KR" altLang="en-US" sz="2000" dirty="0">
                <a:latin typeface="나눔명조" panose="02020603020101020101" pitchFamily="18" charset="-127"/>
                <a:ea typeface="나눔명조" panose="02020603020101020101" pitchFamily="18" charset="-127"/>
              </a:rPr>
              <a:t> 아니라 품질이 외생적으로 변하는 모든 경우의 소비자 </a:t>
            </a:r>
            <a:r>
              <a:rPr lang="ko-KR" altLang="en-US" sz="2000" dirty="0" err="1">
                <a:latin typeface="나눔명조" panose="02020603020101020101" pitchFamily="18" charset="-127"/>
                <a:ea typeface="나눔명조" panose="02020603020101020101" pitchFamily="18" charset="-127"/>
              </a:rPr>
              <a:t>후생효과</a:t>
            </a:r>
            <a:r>
              <a:rPr lang="ko-KR" altLang="en-US" sz="2000" dirty="0">
                <a:latin typeface="나눔명조" panose="02020603020101020101" pitchFamily="18" charset="-127"/>
                <a:ea typeface="나눔명조" panose="02020603020101020101" pitchFamily="18" charset="-127"/>
              </a:rPr>
              <a:t> 분석에 사용됨</a:t>
            </a:r>
            <a:endParaRPr lang="en-US" altLang="ko-KR" sz="2000" dirty="0">
              <a:latin typeface="나눔명조" panose="02020603020101020101" pitchFamily="18" charset="-127"/>
              <a:ea typeface="나눔명조" panose="02020603020101020101" pitchFamily="18" charset="-127"/>
            </a:endParaRPr>
          </a:p>
          <a:p>
            <a:r>
              <a:rPr lang="en-US" altLang="ko-KR" sz="2000" dirty="0">
                <a:latin typeface="나눔명조" panose="02020603020101020101" pitchFamily="18" charset="-127"/>
                <a:ea typeface="나눔명조" panose="02020603020101020101" pitchFamily="18" charset="-127"/>
              </a:rPr>
              <a:t>2017</a:t>
            </a:r>
            <a:r>
              <a:rPr lang="ko-KR" altLang="en-US" sz="2000" dirty="0">
                <a:latin typeface="나눔명조" panose="02020603020101020101" pitchFamily="18" charset="-127"/>
                <a:ea typeface="나눔명조" panose="02020603020101020101" pitchFamily="18" charset="-127"/>
              </a:rPr>
              <a:t>년 </a:t>
            </a:r>
            <a:r>
              <a:rPr lang="en-US" altLang="ko-KR" sz="2000" dirty="0">
                <a:latin typeface="나눔명조" panose="02020603020101020101" pitchFamily="18" charset="-127"/>
                <a:ea typeface="나눔명조" panose="02020603020101020101" pitchFamily="18" charset="-127"/>
              </a:rPr>
              <a:t>8</a:t>
            </a:r>
            <a:r>
              <a:rPr lang="ko-KR" altLang="en-US" sz="2000" dirty="0">
                <a:latin typeface="나눔명조" panose="02020603020101020101" pitchFamily="18" charset="-127"/>
                <a:ea typeface="나눔명조" panose="02020603020101020101" pitchFamily="18" charset="-127"/>
              </a:rPr>
              <a:t>월 한국에서 발생했던 ‘계란 살충제 검출 </a:t>
            </a:r>
            <a:r>
              <a:rPr lang="ko-KR" altLang="en-US" sz="2000" dirty="0" err="1">
                <a:latin typeface="나눔명조" panose="02020603020101020101" pitchFamily="18" charset="-127"/>
                <a:ea typeface="나눔명조" panose="02020603020101020101" pitchFamily="18" charset="-127"/>
              </a:rPr>
              <a:t>사건’의</a:t>
            </a:r>
            <a:r>
              <a:rPr lang="ko-KR" altLang="en-US" sz="2000" dirty="0">
                <a:latin typeface="나눔명조" panose="02020603020101020101" pitchFamily="18" charset="-127"/>
                <a:ea typeface="나눔명조" panose="02020603020101020101" pitchFamily="18" charset="-127"/>
              </a:rPr>
              <a:t> </a:t>
            </a:r>
            <a:r>
              <a:rPr lang="ko-KR" altLang="en-US" sz="2000" dirty="0" err="1">
                <a:latin typeface="나눔명조" panose="02020603020101020101" pitchFamily="18" charset="-127"/>
                <a:ea typeface="나눔명조" panose="02020603020101020101" pitchFamily="18" charset="-127"/>
              </a:rPr>
              <a:t>후생효과</a:t>
            </a:r>
            <a:r>
              <a:rPr lang="ko-KR" altLang="en-US" sz="2000" dirty="0">
                <a:latin typeface="나눔명조" panose="02020603020101020101" pitchFamily="18" charset="-127"/>
                <a:ea typeface="나눔명조" panose="02020603020101020101" pitchFamily="18" charset="-127"/>
              </a:rPr>
              <a:t> 분석</a:t>
            </a:r>
            <a:r>
              <a:rPr lang="en-US" altLang="ko-KR" sz="2000" dirty="0">
                <a:latin typeface="나눔명조" panose="02020603020101020101" pitchFamily="18" charset="-127"/>
                <a:ea typeface="나눔명조" panose="02020603020101020101" pitchFamily="18" charset="-127"/>
              </a:rPr>
              <a:t>(</a:t>
            </a:r>
            <a:r>
              <a:rPr lang="ko-KR" altLang="en-US" sz="2000" dirty="0" err="1">
                <a:latin typeface="나눔명조" panose="02020603020101020101" pitchFamily="18" charset="-127"/>
                <a:ea typeface="나눔명조" panose="02020603020101020101" pitchFamily="18" charset="-127"/>
              </a:rPr>
              <a:t>조현경</a:t>
            </a:r>
            <a:r>
              <a:rPr lang="ko-KR" altLang="en-US" sz="2000" dirty="0">
                <a:latin typeface="나눔명조" panose="02020603020101020101" pitchFamily="18" charset="-127"/>
                <a:ea typeface="나눔명조" panose="02020603020101020101" pitchFamily="18" charset="-127"/>
              </a:rPr>
              <a:t> 외</a:t>
            </a:r>
            <a:r>
              <a:rPr lang="en-US" altLang="ko-KR" sz="2000" dirty="0">
                <a:latin typeface="나눔명조" panose="02020603020101020101" pitchFamily="18" charset="-127"/>
                <a:ea typeface="나눔명조" panose="02020603020101020101" pitchFamily="18" charset="-127"/>
              </a:rPr>
              <a:t> 2019, </a:t>
            </a:r>
            <a:r>
              <a:rPr lang="ko-KR" altLang="en-US" sz="2000" dirty="0" err="1">
                <a:latin typeface="나눔명조" panose="02020603020101020101" pitchFamily="18" charset="-127"/>
                <a:ea typeface="나눔명조" panose="02020603020101020101" pitchFamily="18" charset="-127"/>
              </a:rPr>
              <a:t>진행경과는</a:t>
            </a:r>
            <a:r>
              <a:rPr lang="ko-KR" altLang="en-US" sz="2000" dirty="0">
                <a:latin typeface="나눔명조" panose="02020603020101020101" pitchFamily="18" charset="-127"/>
                <a:ea typeface="나눔명조" panose="02020603020101020101" pitchFamily="18" charset="-127"/>
              </a:rPr>
              <a:t> 교과서 참조</a:t>
            </a:r>
            <a:r>
              <a:rPr lang="en-US" altLang="ko-KR" sz="2000" dirty="0">
                <a:latin typeface="나눔명조" panose="02020603020101020101" pitchFamily="18" charset="-127"/>
                <a:ea typeface="나눔명조" panose="02020603020101020101" pitchFamily="18" charset="-127"/>
              </a:rPr>
              <a:t>)</a:t>
            </a:r>
          </a:p>
          <a:p>
            <a:pPr lvl="1"/>
            <a:r>
              <a:rPr lang="ko-KR" altLang="en-US" sz="1600" dirty="0">
                <a:latin typeface="나눔명조" panose="02020603020101020101" pitchFamily="18" charset="-127"/>
                <a:ea typeface="나눔명조" panose="02020603020101020101" pitchFamily="18" charset="-127"/>
              </a:rPr>
              <a:t>식품오염사고는 오염이 되어도 눈에 띄는 피해가 나타나지 않기 때문에</a:t>
            </a:r>
            <a:r>
              <a:rPr lang="en-US" altLang="ko-KR" sz="1600" dirty="0">
                <a:latin typeface="나눔명조" panose="02020603020101020101" pitchFamily="18" charset="-127"/>
                <a:ea typeface="나눔명조" panose="02020603020101020101" pitchFamily="18" charset="-127"/>
              </a:rPr>
              <a:t>, </a:t>
            </a:r>
            <a:r>
              <a:rPr lang="ko-KR" altLang="en-US" sz="1600" dirty="0">
                <a:latin typeface="나눔명조" panose="02020603020101020101" pitchFamily="18" charset="-127"/>
                <a:ea typeface="나눔명조" panose="02020603020101020101" pitchFamily="18" charset="-127"/>
              </a:rPr>
              <a:t>상당기간 그 사실 자체를 모르고 지나가고</a:t>
            </a:r>
            <a:r>
              <a:rPr lang="en-US" altLang="ko-KR" sz="1600" dirty="0">
                <a:latin typeface="나눔명조" panose="02020603020101020101" pitchFamily="18" charset="-127"/>
                <a:ea typeface="나눔명조" panose="02020603020101020101" pitchFamily="18" charset="-127"/>
              </a:rPr>
              <a:t>,</a:t>
            </a:r>
            <a:r>
              <a:rPr lang="ko-KR" altLang="en-US" sz="1600" dirty="0">
                <a:latin typeface="나눔명조" panose="02020603020101020101" pitchFamily="18" charset="-127"/>
                <a:ea typeface="나눔명조" panose="02020603020101020101" pitchFamily="18" charset="-127"/>
              </a:rPr>
              <a:t> 실제 질병이나 사망률에 영향을 주는 정도도 계측하기 어려울 정도로 작은 편</a:t>
            </a:r>
            <a:endParaRPr lang="en-US" altLang="ko-KR" sz="1600" dirty="0">
              <a:latin typeface="나눔명조" panose="02020603020101020101" pitchFamily="18" charset="-127"/>
              <a:ea typeface="나눔명조" panose="02020603020101020101" pitchFamily="18" charset="-127"/>
            </a:endParaRPr>
          </a:p>
          <a:p>
            <a:pPr lvl="1"/>
            <a:r>
              <a:rPr lang="ko-KR" altLang="en-US" sz="1600" dirty="0">
                <a:latin typeface="나눔명조" panose="02020603020101020101" pitchFamily="18" charset="-127"/>
                <a:ea typeface="나눔명조" panose="02020603020101020101" pitchFamily="18" charset="-127"/>
              </a:rPr>
              <a:t>그러나 소비자들이 오염사실을 인식하면 계란을 소비하지 않으려 하고</a:t>
            </a:r>
            <a:r>
              <a:rPr lang="en-US" altLang="ko-KR" sz="1600" dirty="0">
                <a:latin typeface="나눔명조" panose="02020603020101020101" pitchFamily="18" charset="-127"/>
                <a:ea typeface="나눔명조" panose="02020603020101020101" pitchFamily="18" charset="-127"/>
              </a:rPr>
              <a:t>, </a:t>
            </a:r>
            <a:r>
              <a:rPr lang="ko-KR" altLang="en-US" sz="1600" dirty="0">
                <a:latin typeface="나눔명조" panose="02020603020101020101" pitchFamily="18" charset="-127"/>
                <a:ea typeface="나눔명조" panose="02020603020101020101" pitchFamily="18" charset="-127"/>
              </a:rPr>
              <a:t>실제로 소비도 줄이기 때문에 구체적인 질병이나 사망 발생 없이도 후생이 줄어듦</a:t>
            </a:r>
            <a:endParaRPr lang="en-US" altLang="ko-KR" sz="1600" dirty="0">
              <a:latin typeface="나눔명조" panose="02020603020101020101" pitchFamily="18" charset="-127"/>
              <a:ea typeface="나눔명조" panose="02020603020101020101" pitchFamily="18" charset="-127"/>
            </a:endParaRPr>
          </a:p>
          <a:p>
            <a:r>
              <a:rPr lang="ko-KR" altLang="en-US" sz="2000" dirty="0">
                <a:latin typeface="나눔명조" panose="02020603020101020101" pitchFamily="18" charset="-127"/>
                <a:ea typeface="나눔명조" panose="02020603020101020101" pitchFamily="18" charset="-127"/>
              </a:rPr>
              <a:t>오염 사고의 다음 세 단계별 </a:t>
            </a:r>
            <a:r>
              <a:rPr lang="ko-KR" altLang="en-US" sz="2000" dirty="0" err="1">
                <a:latin typeface="나눔명조" panose="02020603020101020101" pitchFamily="18" charset="-127"/>
                <a:ea typeface="나눔명조" panose="02020603020101020101" pitchFamily="18" charset="-127"/>
              </a:rPr>
              <a:t>후생효과</a:t>
            </a:r>
            <a:r>
              <a:rPr lang="ko-KR" altLang="en-US" sz="2000" dirty="0">
                <a:latin typeface="나눔명조" panose="02020603020101020101" pitchFamily="18" charset="-127"/>
                <a:ea typeface="나눔명조" panose="02020603020101020101" pitchFamily="18" charset="-127"/>
              </a:rPr>
              <a:t> 분석</a:t>
            </a:r>
            <a:endParaRPr lang="en-US" altLang="ko-KR" sz="2000" dirty="0">
              <a:latin typeface="나눔명조" panose="02020603020101020101" pitchFamily="18" charset="-127"/>
              <a:ea typeface="나눔명조" panose="02020603020101020101" pitchFamily="18" charset="-127"/>
            </a:endParaRPr>
          </a:p>
          <a:p>
            <a:pPr lvl="1"/>
            <a:r>
              <a:rPr lang="ko-KR" altLang="en-US" sz="1600" dirty="0">
                <a:latin typeface="나눔명조" panose="02020603020101020101" pitchFamily="18" charset="-127"/>
                <a:ea typeface="나눔명조" panose="02020603020101020101" pitchFamily="18" charset="-127"/>
              </a:rPr>
              <a:t>오염이 있었으나 인지하지 못하고 평소처럼 </a:t>
            </a:r>
            <a:r>
              <a:rPr lang="ko-KR" altLang="en-US" sz="1600" dirty="0" err="1">
                <a:latin typeface="나눔명조" panose="02020603020101020101" pitchFamily="18" charset="-127"/>
                <a:ea typeface="나눔명조" panose="02020603020101020101" pitchFamily="18" charset="-127"/>
              </a:rPr>
              <a:t>소비행위</a:t>
            </a:r>
            <a:endParaRPr lang="en-US" altLang="ko-KR" sz="1600" dirty="0">
              <a:latin typeface="나눔명조" panose="02020603020101020101" pitchFamily="18" charset="-127"/>
              <a:ea typeface="나눔명조" panose="02020603020101020101" pitchFamily="18" charset="-127"/>
            </a:endParaRPr>
          </a:p>
          <a:p>
            <a:pPr lvl="1"/>
            <a:r>
              <a:rPr lang="ko-KR" altLang="en-US" sz="1600" dirty="0">
                <a:latin typeface="나눔명조" panose="02020603020101020101" pitchFamily="18" charset="-127"/>
                <a:ea typeface="나눔명조" panose="02020603020101020101" pitchFamily="18" charset="-127"/>
              </a:rPr>
              <a:t>오염이 알려지고 불안감이 크게 증폭되어 계란시장 거의 붕괴</a:t>
            </a:r>
            <a:endParaRPr lang="en-US" altLang="ko-KR" sz="1600" dirty="0">
              <a:latin typeface="나눔명조" panose="02020603020101020101" pitchFamily="18" charset="-127"/>
              <a:ea typeface="나눔명조" panose="02020603020101020101" pitchFamily="18" charset="-127"/>
            </a:endParaRPr>
          </a:p>
          <a:p>
            <a:pPr lvl="1"/>
            <a:r>
              <a:rPr lang="ko-KR" altLang="en-US" sz="1600" dirty="0">
                <a:latin typeface="나눔명조" panose="02020603020101020101" pitchFamily="18" charset="-127"/>
                <a:ea typeface="나눔명조" panose="02020603020101020101" pitchFamily="18" charset="-127"/>
              </a:rPr>
              <a:t>사태가 수습되어 소비가 점진적으로 회복되는 단계</a:t>
            </a:r>
            <a:endParaRPr lang="en-US" altLang="ko-KR" sz="1600" dirty="0">
              <a:latin typeface="나눔명조" panose="02020603020101020101" pitchFamily="18" charset="-127"/>
              <a:ea typeface="나눔명조" panose="02020603020101020101" pitchFamily="18" charset="-127"/>
            </a:endParaRP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D1EC4816-0A8B-4311-8701-51C464164C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ko-KR"/>
              <a:t>Chapter 15</a:t>
            </a:r>
            <a:endParaRPr lang="en-US" altLang="ko-KR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60AE2559-43B6-44E4-BEA7-75323DACF8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19FF04-9146-4048-BDA6-3A9E8714DE63}" type="slidenum">
              <a:rPr lang="ko-KR" altLang="en-US" smtClean="0"/>
              <a:pPr/>
              <a:t>19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35444503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6C849E4-6B2A-4077-BF3F-046236F62B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1414" y="167681"/>
            <a:ext cx="7313612" cy="1143000"/>
          </a:xfrm>
          <a:ln>
            <a:solidFill>
              <a:srgbClr val="7030A0"/>
            </a:solidFill>
          </a:ln>
        </p:spPr>
        <p:txBody>
          <a:bodyPr/>
          <a:lstStyle/>
          <a:p>
            <a:r>
              <a:rPr lang="ko-KR" altLang="en-US" dirty="0">
                <a:solidFill>
                  <a:srgbClr val="7030A0"/>
                </a:solidFill>
                <a:latin typeface="나눔명조" panose="02020603020101020101" pitchFamily="18" charset="-127"/>
                <a:ea typeface="나눔명조" panose="02020603020101020101" pitchFamily="18" charset="-127"/>
              </a:rPr>
              <a:t>약보완성과 식품안전도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DD143276-F179-48D8-B821-602476248E6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21414" y="1584987"/>
                <a:ext cx="7313612" cy="4114800"/>
              </a:xfrm>
            </p:spPr>
            <p:txBody>
              <a:bodyPr/>
              <a:lstStyle/>
              <a:p>
                <a:r>
                  <a:rPr lang="ko-KR" altLang="en-US" sz="2000" b="0" dirty="0">
                    <a:ea typeface="나눔명조" panose="02020603020101020101" pitchFamily="18" charset="-127"/>
                  </a:rPr>
                  <a:t>가</a:t>
                </a:r>
                <a14:m>
                  <m:oMath xmlns:m="http://schemas.openxmlformats.org/officeDocument/2006/math">
                    <m:r>
                      <a:rPr lang="ko-KR" altLang="en-US" sz="2000" i="1">
                        <a:latin typeface="Cambria Math" panose="02040503050406030204" pitchFamily="18" charset="0"/>
                        <a:ea typeface="나눔명조" panose="02020603020101020101" pitchFamily="18" charset="-127"/>
                      </a:rPr>
                      <m:t>구</m:t>
                    </m:r>
                    <m:r>
                      <a:rPr lang="ko-KR" altLang="en-US" sz="2000" i="1" smtClean="0">
                        <a:latin typeface="Cambria Math" panose="02040503050406030204" pitchFamily="18" charset="0"/>
                        <a:ea typeface="나눔명조" panose="02020603020101020101" pitchFamily="18" charset="-127"/>
                      </a:rPr>
                      <m:t>는</m:t>
                    </m:r>
                    <m:r>
                      <a:rPr lang="en-US" altLang="ko-KR" sz="2000" b="0" i="1" smtClean="0">
                        <a:latin typeface="Cambria Math" panose="02040503050406030204" pitchFamily="18" charset="0"/>
                        <a:ea typeface="나눔명조" panose="02020603020101020101" pitchFamily="18" charset="-127"/>
                      </a:rPr>
                      <m:t> </m:t>
                    </m:r>
                    <m:r>
                      <a:rPr lang="en-US" altLang="ko-KR" sz="2000" b="0" i="1" smtClean="0">
                        <a:latin typeface="Cambria Math" panose="02040503050406030204" pitchFamily="18" charset="0"/>
                        <a:ea typeface="나눔명조" panose="02020603020101020101" pitchFamily="18" charset="-127"/>
                      </a:rPr>
                      <m:t>𝑝𝑥</m:t>
                    </m:r>
                    <m:r>
                      <a:rPr lang="en-US" altLang="ko-KR" sz="2000" b="0" i="1" smtClean="0">
                        <a:latin typeface="Cambria Math" panose="02040503050406030204" pitchFamily="18" charset="0"/>
                        <a:ea typeface="나눔명조" panose="02020603020101020101" pitchFamily="18" charset="-127"/>
                      </a:rPr>
                      <m:t>+</m:t>
                    </m:r>
                    <m:r>
                      <a:rPr lang="en-US" altLang="ko-KR" sz="2000" b="0" i="1" smtClean="0">
                        <a:latin typeface="Cambria Math" panose="02040503050406030204" pitchFamily="18" charset="0"/>
                        <a:ea typeface="나눔명조" panose="02020603020101020101" pitchFamily="18" charset="-127"/>
                      </a:rPr>
                      <m:t>𝑦</m:t>
                    </m:r>
                    <m:r>
                      <a:rPr lang="en-US" altLang="ko-KR" sz="2000" b="0" i="1" smtClean="0">
                        <a:latin typeface="Cambria Math" panose="02040503050406030204" pitchFamily="18" charset="0"/>
                        <a:ea typeface="나눔명조" panose="02020603020101020101" pitchFamily="18" charset="-127"/>
                      </a:rPr>
                      <m:t>=</m:t>
                    </m:r>
                    <m:r>
                      <a:rPr lang="en-US" altLang="ko-KR" sz="2000" b="0" i="1" smtClean="0">
                        <a:latin typeface="Cambria Math" panose="02040503050406030204" pitchFamily="18" charset="0"/>
                        <a:ea typeface="나눔명조" panose="02020603020101020101" pitchFamily="18" charset="-127"/>
                      </a:rPr>
                      <m:t>𝑚</m:t>
                    </m:r>
                    <m:r>
                      <a:rPr lang="ko-KR" altLang="en-US" sz="2000" i="1">
                        <a:latin typeface="Cambria Math" panose="02040503050406030204" pitchFamily="18" charset="0"/>
                        <a:ea typeface="나눔명조" panose="02020603020101020101" pitchFamily="18" charset="-127"/>
                      </a:rPr>
                      <m:t>의</m:t>
                    </m:r>
                  </m:oMath>
                </a14:m>
                <a:r>
                  <a:rPr lang="en-US" altLang="ko-KR" sz="20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 </a:t>
                </a:r>
                <a:r>
                  <a:rPr lang="ko-KR" altLang="en-US" sz="20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예산제약 하에서 </a:t>
                </a:r>
                <a:r>
                  <a:rPr lang="en-US" altLang="ko-KR" sz="20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(</a:t>
                </a:r>
                <a:r>
                  <a:rPr lang="ko-KR" altLang="en-US" sz="20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기대</a:t>
                </a:r>
                <a:r>
                  <a:rPr lang="en-US" altLang="ko-KR" sz="20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)</a:t>
                </a:r>
                <a:r>
                  <a:rPr lang="ko-KR" altLang="en-US" sz="20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효용 </a:t>
                </a:r>
                <a14:m>
                  <m:oMath xmlns:m="http://schemas.openxmlformats.org/officeDocument/2006/math">
                    <m:r>
                      <a:rPr lang="en-US" altLang="ko-KR" sz="2000" b="0" i="1" smtClean="0">
                        <a:latin typeface="Cambria Math" panose="02040503050406030204" pitchFamily="18" charset="0"/>
                        <a:ea typeface="나눔명조" panose="02020603020101020101" pitchFamily="18" charset="-127"/>
                      </a:rPr>
                      <m:t>𝑢</m:t>
                    </m:r>
                    <m:d>
                      <m:dPr>
                        <m:ctrlPr>
                          <a:rPr lang="en-US" altLang="ko-KR" sz="2000" b="0" i="1" smtClean="0">
                            <a:latin typeface="Cambria Math" panose="02040503050406030204" pitchFamily="18" charset="0"/>
                            <a:ea typeface="나눔명조" panose="02020603020101020101" pitchFamily="18" charset="-127"/>
                          </a:rPr>
                        </m:ctrlPr>
                      </m:dPr>
                      <m:e>
                        <m:r>
                          <a:rPr lang="en-US" altLang="ko-KR" sz="2000" b="0" i="1" smtClean="0">
                            <a:latin typeface="Cambria Math" panose="02040503050406030204" pitchFamily="18" charset="0"/>
                            <a:ea typeface="나눔명조" panose="02020603020101020101" pitchFamily="18" charset="-127"/>
                          </a:rPr>
                          <m:t>𝑥</m:t>
                        </m:r>
                        <m:r>
                          <a:rPr lang="en-US" altLang="ko-KR" sz="2000" b="0" i="1" smtClean="0">
                            <a:latin typeface="Cambria Math" panose="02040503050406030204" pitchFamily="18" charset="0"/>
                            <a:ea typeface="나눔명조" panose="02020603020101020101" pitchFamily="18" charset="-127"/>
                          </a:rPr>
                          <m:t>,</m:t>
                        </m:r>
                        <m:r>
                          <a:rPr lang="en-US" altLang="ko-KR" sz="2000" b="0" i="1" smtClean="0">
                            <a:latin typeface="Cambria Math" panose="02040503050406030204" pitchFamily="18" charset="0"/>
                            <a:ea typeface="나눔명조" panose="02020603020101020101" pitchFamily="18" charset="-127"/>
                          </a:rPr>
                          <m:t>𝑞</m:t>
                        </m:r>
                        <m:r>
                          <a:rPr lang="en-US" altLang="ko-KR" sz="2000" b="0" i="1" smtClean="0">
                            <a:latin typeface="Cambria Math" panose="02040503050406030204" pitchFamily="18" charset="0"/>
                            <a:ea typeface="나눔명조" panose="02020603020101020101" pitchFamily="18" charset="-127"/>
                          </a:rPr>
                          <m:t>,</m:t>
                        </m:r>
                        <m:r>
                          <a:rPr lang="en-US" altLang="ko-KR" sz="2000" b="0" i="1" smtClean="0">
                            <a:latin typeface="Cambria Math" panose="02040503050406030204" pitchFamily="18" charset="0"/>
                            <a:ea typeface="나눔명조" panose="02020603020101020101" pitchFamily="18" charset="-127"/>
                          </a:rPr>
                          <m:t>𝑦</m:t>
                        </m:r>
                      </m:e>
                    </m:d>
                  </m:oMath>
                </a14:m>
                <a:r>
                  <a:rPr lang="ko-KR" altLang="en-US" sz="20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를 극대화하는 선택을 함</a:t>
                </a:r>
                <a:endParaRPr lang="en-US" altLang="ko-KR" sz="2000" dirty="0">
                  <a:latin typeface="나눔명조" panose="02020603020101020101" pitchFamily="18" charset="-127"/>
                  <a:ea typeface="나눔명조" panose="02020603020101020101" pitchFamily="18" charset="-127"/>
                </a:endParaRPr>
              </a:p>
              <a:p>
                <a:pPr lvl="1"/>
                <a:r>
                  <a:rPr lang="ko-KR" altLang="en-US" sz="16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통상수요함수는 </a:t>
                </a:r>
                <a14:m>
                  <m:oMath xmlns:m="http://schemas.openxmlformats.org/officeDocument/2006/math">
                    <m:r>
                      <a:rPr lang="en-US" altLang="ko-KR" sz="1600" b="0" i="1" smtClean="0">
                        <a:latin typeface="Cambria Math" panose="02040503050406030204" pitchFamily="18" charset="0"/>
                        <a:ea typeface="나눔명조" panose="02020603020101020101" pitchFamily="18" charset="-127"/>
                      </a:rPr>
                      <m:t>𝑥</m:t>
                    </m:r>
                    <m:r>
                      <a:rPr lang="en-US" altLang="ko-KR" sz="1600" b="0" i="1" smtClean="0">
                        <a:latin typeface="Cambria Math" panose="02040503050406030204" pitchFamily="18" charset="0"/>
                        <a:ea typeface="나눔명조" panose="02020603020101020101" pitchFamily="18" charset="-127"/>
                      </a:rPr>
                      <m:t>(</m:t>
                    </m:r>
                    <m:r>
                      <a:rPr lang="en-US" altLang="ko-KR" sz="1600" b="0" i="1" smtClean="0">
                        <a:latin typeface="Cambria Math" panose="02040503050406030204" pitchFamily="18" charset="0"/>
                        <a:ea typeface="나눔명조" panose="02020603020101020101" pitchFamily="18" charset="-127"/>
                      </a:rPr>
                      <m:t>𝑝</m:t>
                    </m:r>
                    <m:r>
                      <a:rPr lang="en-US" altLang="ko-KR" sz="1600" b="0" i="1" smtClean="0">
                        <a:latin typeface="Cambria Math" panose="02040503050406030204" pitchFamily="18" charset="0"/>
                        <a:ea typeface="나눔명조" panose="02020603020101020101" pitchFamily="18" charset="-127"/>
                      </a:rPr>
                      <m:t>,</m:t>
                    </m:r>
                    <m:r>
                      <a:rPr lang="en-US" altLang="ko-KR" sz="1600" b="0" i="1" smtClean="0">
                        <a:latin typeface="Cambria Math" panose="02040503050406030204" pitchFamily="18" charset="0"/>
                        <a:ea typeface="나눔명조" panose="02020603020101020101" pitchFamily="18" charset="-127"/>
                      </a:rPr>
                      <m:t>𝑞</m:t>
                    </m:r>
                    <m:r>
                      <a:rPr lang="en-US" altLang="ko-KR" sz="1600" b="0" i="1" smtClean="0">
                        <a:latin typeface="Cambria Math" panose="02040503050406030204" pitchFamily="18" charset="0"/>
                        <a:ea typeface="나눔명조" panose="02020603020101020101" pitchFamily="18" charset="-127"/>
                      </a:rPr>
                      <m:t>,</m:t>
                    </m:r>
                    <m:r>
                      <a:rPr lang="en-US" altLang="ko-KR" sz="1600" b="0" i="1" smtClean="0">
                        <a:latin typeface="Cambria Math" panose="02040503050406030204" pitchFamily="18" charset="0"/>
                        <a:ea typeface="나눔명조" panose="02020603020101020101" pitchFamily="18" charset="-127"/>
                      </a:rPr>
                      <m:t>𝑚</m:t>
                    </m:r>
                    <m:r>
                      <a:rPr lang="en-US" altLang="ko-KR" sz="1600" b="0" i="1" smtClean="0">
                        <a:latin typeface="Cambria Math" panose="02040503050406030204" pitchFamily="18" charset="0"/>
                        <a:ea typeface="나눔명조" panose="02020603020101020101" pitchFamily="18" charset="-127"/>
                      </a:rPr>
                      <m:t>)</m:t>
                    </m:r>
                  </m:oMath>
                </a14:m>
                <a:r>
                  <a:rPr lang="en-US" altLang="ko-KR" sz="16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, </a:t>
                </a:r>
                <a:r>
                  <a:rPr lang="ko-KR" altLang="en-US" sz="16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보상수요함수는</a:t>
                </a:r>
                <a:r>
                  <a:rPr lang="en-US" altLang="ko-KR" sz="16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ko-KR" sz="1600" b="0" i="1" smtClean="0">
                        <a:latin typeface="Cambria Math" panose="02040503050406030204" pitchFamily="18" charset="0"/>
                        <a:ea typeface="나눔명조" panose="02020603020101020101" pitchFamily="18" charset="-127"/>
                      </a:rPr>
                      <m:t>h</m:t>
                    </m:r>
                    <m:r>
                      <a:rPr lang="en-US" altLang="ko-KR" sz="1600" b="0" i="1" smtClean="0">
                        <a:latin typeface="Cambria Math" panose="02040503050406030204" pitchFamily="18" charset="0"/>
                        <a:ea typeface="나눔명조" panose="02020603020101020101" pitchFamily="18" charset="-127"/>
                      </a:rPr>
                      <m:t>(</m:t>
                    </m:r>
                    <m:r>
                      <a:rPr lang="en-US" altLang="ko-KR" sz="1600" b="0" i="1" smtClean="0">
                        <a:latin typeface="Cambria Math" panose="02040503050406030204" pitchFamily="18" charset="0"/>
                        <a:ea typeface="나눔명조" panose="02020603020101020101" pitchFamily="18" charset="-127"/>
                      </a:rPr>
                      <m:t>𝑝</m:t>
                    </m:r>
                    <m:r>
                      <a:rPr lang="en-US" altLang="ko-KR" sz="1600" b="0" i="1" smtClean="0">
                        <a:latin typeface="Cambria Math" panose="02040503050406030204" pitchFamily="18" charset="0"/>
                        <a:ea typeface="나눔명조" panose="02020603020101020101" pitchFamily="18" charset="-127"/>
                      </a:rPr>
                      <m:t>,</m:t>
                    </m:r>
                    <m:r>
                      <a:rPr lang="en-US" altLang="ko-KR" sz="1600" b="0" i="1" smtClean="0">
                        <a:latin typeface="Cambria Math" panose="02040503050406030204" pitchFamily="18" charset="0"/>
                        <a:ea typeface="나눔명조" panose="02020603020101020101" pitchFamily="18" charset="-127"/>
                      </a:rPr>
                      <m:t>𝑞</m:t>
                    </m:r>
                    <m:r>
                      <a:rPr lang="en-US" altLang="ko-KR" sz="1600" b="0" i="1" smtClean="0">
                        <a:latin typeface="Cambria Math" panose="02040503050406030204" pitchFamily="18" charset="0"/>
                        <a:ea typeface="나눔명조" panose="02020603020101020101" pitchFamily="18" charset="-127"/>
                      </a:rPr>
                      <m:t>,</m:t>
                    </m:r>
                    <m:r>
                      <a:rPr lang="en-US" altLang="ko-KR" sz="1600" b="0" i="1" smtClean="0">
                        <a:latin typeface="Cambria Math" panose="02040503050406030204" pitchFamily="18" charset="0"/>
                        <a:ea typeface="나눔명조" panose="02020603020101020101" pitchFamily="18" charset="-127"/>
                      </a:rPr>
                      <m:t>𝑢</m:t>
                    </m:r>
                    <m:r>
                      <a:rPr lang="en-US" altLang="ko-KR" sz="1600" b="0" i="1" smtClean="0">
                        <a:latin typeface="Cambria Math" panose="02040503050406030204" pitchFamily="18" charset="0"/>
                        <a:ea typeface="나눔명조" panose="02020603020101020101" pitchFamily="18" charset="-127"/>
                      </a:rPr>
                      <m:t>)</m:t>
                    </m:r>
                  </m:oMath>
                </a14:m>
                <a:endParaRPr lang="en-US" altLang="ko-KR" sz="1600" dirty="0">
                  <a:latin typeface="나눔명조" panose="02020603020101020101" pitchFamily="18" charset="-127"/>
                  <a:ea typeface="나눔명조" panose="02020603020101020101" pitchFamily="18" charset="-127"/>
                </a:endParaRPr>
              </a:p>
              <a:p>
                <a:pPr lvl="1"/>
                <a:r>
                  <a:rPr lang="ko-KR" altLang="en-US" sz="16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계란 소비량 </a:t>
                </a:r>
                <a14:m>
                  <m:oMath xmlns:m="http://schemas.openxmlformats.org/officeDocument/2006/math">
                    <m:r>
                      <a:rPr lang="en-US" altLang="ko-KR" sz="1600" b="0" i="1" smtClean="0">
                        <a:latin typeface="Cambria Math" panose="02040503050406030204" pitchFamily="18" charset="0"/>
                        <a:ea typeface="나눔명조" panose="02020603020101020101" pitchFamily="18" charset="-127"/>
                      </a:rPr>
                      <m:t>𝑥</m:t>
                    </m:r>
                    <m:r>
                      <a:rPr lang="en-US" altLang="ko-KR" sz="1600" b="0" i="1" smtClean="0">
                        <a:latin typeface="Cambria Math" panose="02040503050406030204" pitchFamily="18" charset="0"/>
                        <a:ea typeface="나눔명조" panose="02020603020101020101" pitchFamily="18" charset="-127"/>
                      </a:rPr>
                      <m:t>,</m:t>
                    </m:r>
                  </m:oMath>
                </a14:m>
                <a:r>
                  <a:rPr lang="en-US" altLang="ko-KR" sz="16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 </a:t>
                </a:r>
                <a:r>
                  <a:rPr lang="ko-KR" altLang="en-US" sz="16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다른</a:t>
                </a:r>
                <a:r>
                  <a:rPr lang="en-US" altLang="ko-KR" sz="16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 </a:t>
                </a:r>
                <a:r>
                  <a:rPr lang="ko-KR" altLang="en-US" sz="16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상품에 대한 지출액 </a:t>
                </a:r>
                <a14:m>
                  <m:oMath xmlns:m="http://schemas.openxmlformats.org/officeDocument/2006/math">
                    <m:r>
                      <a:rPr lang="en-US" altLang="ko-KR" sz="1600" b="0" i="1" smtClean="0">
                        <a:latin typeface="Cambria Math" panose="02040503050406030204" pitchFamily="18" charset="0"/>
                        <a:ea typeface="나눔명조" panose="02020603020101020101" pitchFamily="18" charset="-127"/>
                      </a:rPr>
                      <m:t>𝑦</m:t>
                    </m:r>
                  </m:oMath>
                </a14:m>
                <a:r>
                  <a:rPr lang="en-US" altLang="ko-KR" sz="16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, </a:t>
                </a:r>
                <a:r>
                  <a:rPr lang="ko-KR" altLang="en-US" sz="16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계란 가격 </a:t>
                </a:r>
                <a14:m>
                  <m:oMath xmlns:m="http://schemas.openxmlformats.org/officeDocument/2006/math">
                    <m:r>
                      <a:rPr lang="en-US" altLang="ko-KR" sz="1600" i="1">
                        <a:latin typeface="Cambria Math" panose="02040503050406030204" pitchFamily="18" charset="0"/>
                        <a:ea typeface="나눔명조" panose="02020603020101020101" pitchFamily="18" charset="-127"/>
                      </a:rPr>
                      <m:t>𝑝</m:t>
                    </m:r>
                  </m:oMath>
                </a14:m>
                <a:r>
                  <a:rPr lang="en-US" altLang="ko-KR" sz="16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, </a:t>
                </a:r>
                <a:r>
                  <a:rPr lang="ko-KR" altLang="en-US" sz="16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계란의 </a:t>
                </a:r>
                <a:r>
                  <a:rPr lang="en-US" altLang="ko-KR" sz="16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(</a:t>
                </a:r>
                <a:r>
                  <a:rPr lang="ko-KR" altLang="en-US" sz="16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예상</a:t>
                </a:r>
                <a:r>
                  <a:rPr lang="en-US" altLang="ko-KR" sz="16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)</a:t>
                </a:r>
                <a:r>
                  <a:rPr lang="ko-KR" altLang="en-US" sz="16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안전도 </a:t>
                </a:r>
                <a14:m>
                  <m:oMath xmlns:m="http://schemas.openxmlformats.org/officeDocument/2006/math">
                    <m:r>
                      <a:rPr lang="en-US" altLang="ko-KR" sz="1600" i="1">
                        <a:latin typeface="Cambria Math" panose="02040503050406030204" pitchFamily="18" charset="0"/>
                        <a:ea typeface="나눔명조" panose="02020603020101020101" pitchFamily="18" charset="-127"/>
                      </a:rPr>
                      <m:t>𝑞</m:t>
                    </m:r>
                  </m:oMath>
                </a14:m>
                <a:r>
                  <a:rPr lang="en-US" altLang="ko-KR" sz="16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, </a:t>
                </a:r>
                <a:r>
                  <a:rPr lang="ko-KR" altLang="en-US" sz="16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가구소득 </a:t>
                </a:r>
                <a14:m>
                  <m:oMath xmlns:m="http://schemas.openxmlformats.org/officeDocument/2006/math">
                    <m:r>
                      <a:rPr lang="en-US" altLang="ko-KR" sz="1600" i="1">
                        <a:latin typeface="Cambria Math" panose="02040503050406030204" pitchFamily="18" charset="0"/>
                        <a:ea typeface="나눔명조" panose="02020603020101020101" pitchFamily="18" charset="-127"/>
                      </a:rPr>
                      <m:t>𝑚</m:t>
                    </m:r>
                    <m:r>
                      <a:rPr lang="en-US" altLang="ko-KR" sz="1600" i="1">
                        <a:latin typeface="Cambria Math" panose="02040503050406030204" pitchFamily="18" charset="0"/>
                        <a:ea typeface="나눔명조" panose="02020603020101020101" pitchFamily="18" charset="-127"/>
                      </a:rPr>
                      <m:t> </m:t>
                    </m:r>
                  </m:oMath>
                </a14:m>
                <a:endParaRPr lang="en-US" altLang="ko-KR" sz="1600" dirty="0">
                  <a:latin typeface="나눔명조" panose="02020603020101020101" pitchFamily="18" charset="-127"/>
                  <a:ea typeface="나눔명조" panose="02020603020101020101" pitchFamily="18" charset="-127"/>
                </a:endParaRPr>
              </a:p>
              <a:p>
                <a:r>
                  <a:rPr lang="ko-KR" altLang="en-US" sz="2000" dirty="0" err="1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약보완성을</a:t>
                </a:r>
                <a:r>
                  <a:rPr lang="ko-KR" altLang="en-US" sz="20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 충족하는 통상수요함수를 추정하되</a:t>
                </a:r>
                <a:r>
                  <a:rPr lang="en-US" altLang="ko-KR" sz="20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, </a:t>
                </a:r>
                <a:r>
                  <a:rPr lang="ko-KR" altLang="en-US" sz="20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그로부터 보상수요함수까지 도출하고 </a:t>
                </a:r>
                <a14:m>
                  <m:oMath xmlns:m="http://schemas.openxmlformats.org/officeDocument/2006/math">
                    <m:r>
                      <a:rPr lang="en-US" altLang="ko-KR" sz="2000" i="1">
                        <a:latin typeface="Cambria Math" panose="02040503050406030204" pitchFamily="18" charset="0"/>
                        <a:ea typeface="나눔명조" panose="02020603020101020101" pitchFamily="18" charset="-127"/>
                      </a:rPr>
                      <m:t>𝑞</m:t>
                    </m:r>
                    <m:r>
                      <a:rPr lang="en-US" altLang="ko-KR" sz="2000" i="1">
                        <a:latin typeface="Cambria Math" panose="02040503050406030204" pitchFamily="18" charset="0"/>
                        <a:ea typeface="나눔명조" panose="02020603020101020101" pitchFamily="18" charset="-127"/>
                      </a:rPr>
                      <m:t> </m:t>
                    </m:r>
                  </m:oMath>
                </a14:m>
                <a:r>
                  <a:rPr lang="ko-KR" altLang="en-US" sz="20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의 변화 효과 파악</a:t>
                </a:r>
                <a:endParaRPr lang="en-US" altLang="ko-KR" sz="2000" dirty="0">
                  <a:latin typeface="나눔명조" panose="02020603020101020101" pitchFamily="18" charset="-127"/>
                  <a:ea typeface="나눔명조" panose="02020603020101020101" pitchFamily="18" charset="-127"/>
                </a:endParaRPr>
              </a:p>
              <a:p>
                <a:r>
                  <a:rPr lang="ko-KR" altLang="en-US" sz="20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두 번째 및 세 번째 단계의 피해는 보상수요곡선의 이동을 통해 파악</a:t>
                </a:r>
                <a:endParaRPr lang="en-US" altLang="ko-KR" sz="2000" dirty="0">
                  <a:latin typeface="나눔명조" panose="02020603020101020101" pitchFamily="18" charset="-127"/>
                  <a:ea typeface="나눔명조" panose="02020603020101020101" pitchFamily="18" charset="-127"/>
                </a:endParaRPr>
              </a:p>
              <a:p>
                <a:r>
                  <a:rPr lang="ko-KR" altLang="en-US" sz="20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첫 번째 단계에서는 오염 사실의 정보부재 때문에 오염에도 불구하고 소비자들이 평소처럼 계속 소비하도록 제약당함에 따른 손실 평가해야</a:t>
                </a:r>
                <a:endParaRPr lang="en-US" altLang="ko-KR" sz="2000" dirty="0">
                  <a:latin typeface="나눔명조" panose="02020603020101020101" pitchFamily="18" charset="-127"/>
                  <a:ea typeface="나눔명조" panose="02020603020101020101" pitchFamily="18" charset="-127"/>
                </a:endParaRPr>
              </a:p>
            </p:txBody>
          </p:sp>
        </mc:Choice>
        <mc:Fallback xmlns="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DD143276-F179-48D8-B821-602476248E6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21414" y="1584987"/>
                <a:ext cx="7313612" cy="4114800"/>
              </a:xfrm>
              <a:blipFill>
                <a:blip r:embed="rId2"/>
                <a:stretch>
                  <a:fillRect l="-750" t="-59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D1EC4816-0A8B-4311-8701-51C464164C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ko-KR"/>
              <a:t>Chapter 15</a:t>
            </a:r>
            <a:endParaRPr lang="en-US" altLang="ko-KR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60AE2559-43B6-44E4-BEA7-75323DACF8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19FF04-9146-4048-BDA6-3A9E8714DE63}" type="slidenum">
              <a:rPr lang="ko-KR" altLang="en-US" smtClean="0"/>
              <a:pPr/>
              <a:t>20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23150932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6C849E4-6B2A-4077-BF3F-046236F62B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5194" y="301625"/>
            <a:ext cx="7313612" cy="1143000"/>
          </a:xfrm>
          <a:ln>
            <a:solidFill>
              <a:srgbClr val="7030A0"/>
            </a:solidFill>
          </a:ln>
        </p:spPr>
        <p:txBody>
          <a:bodyPr/>
          <a:lstStyle/>
          <a:p>
            <a:r>
              <a:rPr lang="ko-KR" altLang="en-US" dirty="0">
                <a:solidFill>
                  <a:srgbClr val="7030A0"/>
                </a:solidFill>
                <a:latin typeface="나눔명조" panose="02020603020101020101" pitchFamily="18" charset="-127"/>
                <a:ea typeface="나눔명조" panose="02020603020101020101" pitchFamily="18" charset="-127"/>
              </a:rPr>
              <a:t>약보완성과 식품안전도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DD143276-F179-48D8-B821-602476248E6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182288" y="1651600"/>
                <a:ext cx="7313612" cy="4114800"/>
              </a:xfrm>
            </p:spPr>
            <p:txBody>
              <a:bodyPr/>
              <a:lstStyle/>
              <a:p>
                <a:r>
                  <a:rPr lang="ko-KR" altLang="en-US" sz="20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오염사실 발견 후에 소비자들이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2000" i="1" smtClean="0">
                            <a:latin typeface="Cambria Math" panose="02040503050406030204" pitchFamily="18" charset="0"/>
                            <a:ea typeface="나눔명조" panose="02020603020101020101" pitchFamily="18" charset="-127"/>
                          </a:rPr>
                        </m:ctrlPr>
                      </m:sSubPr>
                      <m:e>
                        <m:r>
                          <a:rPr lang="en-US" altLang="ko-KR" sz="2000" b="0" i="1" smtClean="0">
                            <a:latin typeface="Cambria Math" panose="02040503050406030204" pitchFamily="18" charset="0"/>
                            <a:ea typeface="나눔명조" panose="02020603020101020101" pitchFamily="18" charset="-127"/>
                          </a:rPr>
                          <m:t>𝑥</m:t>
                        </m:r>
                      </m:e>
                      <m:sub>
                        <m:r>
                          <a:rPr lang="en-US" altLang="ko-KR" sz="2000" b="0" i="1" smtClean="0">
                            <a:latin typeface="Cambria Math" panose="02040503050406030204" pitchFamily="18" charset="0"/>
                            <a:ea typeface="나눔명조" panose="02020603020101020101" pitchFamily="18" charset="-127"/>
                          </a:rPr>
                          <m:t>1</m:t>
                        </m:r>
                      </m:sub>
                    </m:sSub>
                  </m:oMath>
                </a14:m>
                <a:r>
                  <a:rPr lang="ko-KR" altLang="en-US" sz="20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만큼 소비하기를 원하는 것으로 밝혀졌지만 오염 사실 발견 전에는 </a:t>
                </a:r>
                <a:r>
                  <a:rPr lang="ko-KR" altLang="en-US" sz="2000" dirty="0" err="1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오염사실이</a:t>
                </a:r>
                <a:r>
                  <a:rPr lang="ko-KR" altLang="en-US" sz="20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 알려지지 않아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2000" i="1">
                            <a:latin typeface="Cambria Math" panose="02040503050406030204" pitchFamily="18" charset="0"/>
                            <a:ea typeface="나눔명조" panose="02020603020101020101" pitchFamily="18" charset="-127"/>
                          </a:rPr>
                        </m:ctrlPr>
                      </m:sSubPr>
                      <m:e>
                        <m:r>
                          <a:rPr lang="en-US" altLang="ko-KR" sz="2000" i="1">
                            <a:latin typeface="Cambria Math" panose="02040503050406030204" pitchFamily="18" charset="0"/>
                            <a:ea typeface="나눔명조" panose="02020603020101020101" pitchFamily="18" charset="-127"/>
                          </a:rPr>
                          <m:t>𝑥</m:t>
                        </m:r>
                      </m:e>
                      <m:sub>
                        <m:r>
                          <a:rPr lang="en-US" altLang="ko-KR" sz="2000" b="0" i="1" smtClean="0">
                            <a:latin typeface="Cambria Math" panose="02040503050406030204" pitchFamily="18" charset="0"/>
                            <a:ea typeface="나눔명조" panose="02020603020101020101" pitchFamily="18" charset="-127"/>
                          </a:rPr>
                          <m:t>0</m:t>
                        </m:r>
                      </m:sub>
                    </m:sSub>
                  </m:oMath>
                </a14:m>
                <a:r>
                  <a:rPr lang="ko-KR" altLang="en-US" sz="20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만큼 소비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2000" i="1">
                            <a:latin typeface="Cambria Math" panose="02040503050406030204" pitchFamily="18" charset="0"/>
                            <a:ea typeface="나눔명조" panose="02020603020101020101" pitchFamily="18" charset="-127"/>
                          </a:rPr>
                        </m:ctrlPr>
                      </m:sSubPr>
                      <m:e>
                        <m:r>
                          <a:rPr lang="en-US" altLang="ko-KR" sz="2000" b="0" i="1" smtClean="0">
                            <a:latin typeface="Cambria Math" panose="02040503050406030204" pitchFamily="18" charset="0"/>
                            <a:ea typeface="나눔명조" panose="02020603020101020101" pitchFamily="18" charset="-127"/>
                          </a:rPr>
                          <m:t>(</m:t>
                        </m:r>
                        <m:r>
                          <a:rPr lang="en-US" altLang="ko-KR" sz="2000" i="1">
                            <a:latin typeface="Cambria Math" panose="02040503050406030204" pitchFamily="18" charset="0"/>
                            <a:ea typeface="나눔명조" panose="02020603020101020101" pitchFamily="18" charset="-127"/>
                          </a:rPr>
                          <m:t>𝑥</m:t>
                        </m:r>
                      </m:e>
                      <m:sub>
                        <m:r>
                          <a:rPr lang="en-US" altLang="ko-KR" sz="2000" i="1">
                            <a:latin typeface="Cambria Math" panose="02040503050406030204" pitchFamily="18" charset="0"/>
                            <a:ea typeface="나눔명조" panose="02020603020101020101" pitchFamily="18" charset="-127"/>
                          </a:rPr>
                          <m:t>1</m:t>
                        </m:r>
                      </m:sub>
                    </m:sSub>
                    <m:r>
                      <a:rPr lang="en-US" altLang="ko-KR" sz="2000" b="0" i="1" smtClean="0">
                        <a:latin typeface="Cambria Math" panose="02040503050406030204" pitchFamily="18" charset="0"/>
                        <a:ea typeface="나눔명조" panose="02020603020101020101" pitchFamily="18" charset="-127"/>
                      </a:rPr>
                      <m:t>&lt;</m:t>
                    </m:r>
                    <m:sSub>
                      <m:sSubPr>
                        <m:ctrlPr>
                          <a:rPr lang="en-US" altLang="ko-KR" sz="2000" i="1">
                            <a:latin typeface="Cambria Math" panose="02040503050406030204" pitchFamily="18" charset="0"/>
                            <a:ea typeface="나눔명조" panose="02020603020101020101" pitchFamily="18" charset="-127"/>
                          </a:rPr>
                        </m:ctrlPr>
                      </m:sSubPr>
                      <m:e>
                        <m:r>
                          <a:rPr lang="en-US" altLang="ko-KR" sz="2000" i="1">
                            <a:latin typeface="Cambria Math" panose="02040503050406030204" pitchFamily="18" charset="0"/>
                            <a:ea typeface="나눔명조" panose="02020603020101020101" pitchFamily="18" charset="-127"/>
                          </a:rPr>
                          <m:t>𝑥</m:t>
                        </m:r>
                      </m:e>
                      <m:sub>
                        <m:r>
                          <a:rPr lang="en-US" altLang="ko-KR" sz="2000" b="0" i="1" smtClean="0">
                            <a:latin typeface="Cambria Math" panose="02040503050406030204" pitchFamily="18" charset="0"/>
                            <a:ea typeface="나눔명조" panose="02020603020101020101" pitchFamily="18" charset="-127"/>
                          </a:rPr>
                          <m:t>0</m:t>
                        </m:r>
                      </m:sub>
                    </m:sSub>
                    <m:r>
                      <a:rPr lang="en-US" altLang="ko-KR" sz="2000" b="0" i="1" smtClean="0">
                        <a:latin typeface="Cambria Math" panose="02040503050406030204" pitchFamily="18" charset="0"/>
                        <a:ea typeface="나눔명조" panose="02020603020101020101" pitchFamily="18" charset="-127"/>
                      </a:rPr>
                      <m:t>)</m:t>
                    </m:r>
                  </m:oMath>
                </a14:m>
                <a:endParaRPr lang="en-US" altLang="ko-KR" sz="2000" dirty="0">
                  <a:latin typeface="나눔명조" panose="02020603020101020101" pitchFamily="18" charset="-127"/>
                  <a:ea typeface="나눔명조" panose="02020603020101020101" pitchFamily="18" charset="-127"/>
                </a:endParaRPr>
              </a:p>
              <a:p>
                <a:r>
                  <a:rPr lang="ko-KR" altLang="en-US" sz="20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오염 전 계란가격은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2000" i="1" smtClean="0">
                            <a:latin typeface="Cambria Math" panose="02040503050406030204" pitchFamily="18" charset="0"/>
                            <a:ea typeface="나눔명조" panose="02020603020101020101" pitchFamily="18" charset="-127"/>
                          </a:rPr>
                        </m:ctrlPr>
                      </m:sSubPr>
                      <m:e>
                        <m:r>
                          <a:rPr lang="en-US" altLang="ko-KR" sz="2000" b="0" i="1" smtClean="0">
                            <a:latin typeface="Cambria Math" panose="02040503050406030204" pitchFamily="18" charset="0"/>
                            <a:ea typeface="나눔명조" panose="02020603020101020101" pitchFamily="18" charset="-127"/>
                          </a:rPr>
                          <m:t>𝑝</m:t>
                        </m:r>
                      </m:e>
                      <m:sub>
                        <m:r>
                          <a:rPr lang="en-US" altLang="ko-KR" sz="2000" b="0" i="1" smtClean="0">
                            <a:latin typeface="Cambria Math" panose="02040503050406030204" pitchFamily="18" charset="0"/>
                            <a:ea typeface="나눔명조" panose="02020603020101020101" pitchFamily="18" charset="-127"/>
                          </a:rPr>
                          <m:t>0</m:t>
                        </m:r>
                      </m:sub>
                    </m:sSub>
                  </m:oMath>
                </a14:m>
                <a:r>
                  <a:rPr lang="ko-KR" altLang="en-US" sz="20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인데</a:t>
                </a:r>
                <a:r>
                  <a:rPr lang="en-US" altLang="ko-KR" sz="20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, </a:t>
                </a:r>
                <a:r>
                  <a:rPr lang="ko-KR" altLang="en-US" sz="20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오염 후에도 여전히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2000" i="1">
                            <a:latin typeface="Cambria Math" panose="02040503050406030204" pitchFamily="18" charset="0"/>
                            <a:ea typeface="나눔명조" panose="02020603020101020101" pitchFamily="18" charset="-127"/>
                          </a:rPr>
                        </m:ctrlPr>
                      </m:sSubPr>
                      <m:e>
                        <m:r>
                          <a:rPr lang="en-US" altLang="ko-KR" sz="2000" i="1">
                            <a:latin typeface="Cambria Math" panose="02040503050406030204" pitchFamily="18" charset="0"/>
                            <a:ea typeface="나눔명조" panose="02020603020101020101" pitchFamily="18" charset="-127"/>
                          </a:rPr>
                          <m:t>𝑥</m:t>
                        </m:r>
                      </m:e>
                      <m:sub>
                        <m:r>
                          <a:rPr lang="en-US" altLang="ko-KR" sz="2000" b="0" i="1" smtClean="0">
                            <a:latin typeface="Cambria Math" panose="02040503050406030204" pitchFamily="18" charset="0"/>
                            <a:ea typeface="나눔명조" panose="02020603020101020101" pitchFamily="18" charset="-127"/>
                          </a:rPr>
                          <m:t>0</m:t>
                        </m:r>
                      </m:sub>
                    </m:sSub>
                  </m:oMath>
                </a14:m>
                <a:r>
                  <a:rPr lang="ko-KR" altLang="en-US" sz="20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만큼 소비하게 하려면 가격은 많이 감소한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2000" i="1">
                            <a:latin typeface="Cambria Math" panose="02040503050406030204" pitchFamily="18" charset="0"/>
                            <a:ea typeface="나눔명조" panose="02020603020101020101" pitchFamily="18" charset="-127"/>
                          </a:rPr>
                        </m:ctrlPr>
                      </m:sSubPr>
                      <m:e>
                        <m:r>
                          <a:rPr lang="en-US" altLang="ko-KR" sz="2000" b="0" i="1" smtClean="0">
                            <a:latin typeface="Cambria Math" panose="02040503050406030204" pitchFamily="18" charset="0"/>
                            <a:ea typeface="나눔명조" panose="02020603020101020101" pitchFamily="18" charset="-127"/>
                          </a:rPr>
                          <m:t>𝑝</m:t>
                        </m:r>
                      </m:e>
                      <m:sub>
                        <m:r>
                          <a:rPr lang="en-US" altLang="ko-KR" sz="2000" i="1">
                            <a:latin typeface="Cambria Math" panose="02040503050406030204" pitchFamily="18" charset="0"/>
                            <a:ea typeface="나눔명조" panose="02020603020101020101" pitchFamily="18" charset="-127"/>
                          </a:rPr>
                          <m:t>1</m:t>
                        </m:r>
                      </m:sub>
                    </m:sSub>
                  </m:oMath>
                </a14:m>
                <a:r>
                  <a:rPr lang="ko-KR" altLang="en-US" sz="20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이 되었어야 하나</a:t>
                </a:r>
                <a:r>
                  <a:rPr lang="en-US" altLang="ko-KR" sz="20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, </a:t>
                </a:r>
                <a:r>
                  <a:rPr lang="ko-KR" altLang="en-US" sz="20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오염사실이 밝혀지지 않아 소비자들은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2000" i="1" smtClean="0">
                            <a:latin typeface="Cambria Math" panose="02040503050406030204" pitchFamily="18" charset="0"/>
                            <a:ea typeface="나눔명조" panose="02020603020101020101" pitchFamily="18" charset="-127"/>
                          </a:rPr>
                        </m:ctrlPr>
                      </m:sSubPr>
                      <m:e>
                        <m:r>
                          <a:rPr lang="en-US" altLang="ko-KR" sz="2000" b="0" i="1" smtClean="0">
                            <a:latin typeface="Cambria Math" panose="02040503050406030204" pitchFamily="18" charset="0"/>
                            <a:ea typeface="나눔명조" panose="02020603020101020101" pitchFamily="18" charset="-127"/>
                          </a:rPr>
                          <m:t>𝑝</m:t>
                        </m:r>
                      </m:e>
                      <m:sub>
                        <m:r>
                          <a:rPr lang="en-US" altLang="ko-KR" sz="2000" b="0" i="1" smtClean="0">
                            <a:latin typeface="Cambria Math" panose="02040503050406030204" pitchFamily="18" charset="0"/>
                            <a:ea typeface="나눔명조" panose="02020603020101020101" pitchFamily="18" charset="-127"/>
                          </a:rPr>
                          <m:t>0</m:t>
                        </m:r>
                      </m:sub>
                    </m:sSub>
                  </m:oMath>
                </a14:m>
                <a:r>
                  <a:rPr lang="ko-KR" altLang="en-US" sz="20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가격에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2000" i="1">
                            <a:latin typeface="Cambria Math" panose="02040503050406030204" pitchFamily="18" charset="0"/>
                            <a:ea typeface="나눔명조" panose="02020603020101020101" pitchFamily="18" charset="-127"/>
                          </a:rPr>
                        </m:ctrlPr>
                      </m:sSubPr>
                      <m:e>
                        <m:r>
                          <a:rPr lang="en-US" altLang="ko-KR" sz="2000" i="1">
                            <a:latin typeface="Cambria Math" panose="02040503050406030204" pitchFamily="18" charset="0"/>
                            <a:ea typeface="나눔명조" panose="02020603020101020101" pitchFamily="18" charset="-127"/>
                          </a:rPr>
                          <m:t>𝑥</m:t>
                        </m:r>
                      </m:e>
                      <m:sub>
                        <m:r>
                          <a:rPr lang="en-US" altLang="ko-KR" sz="2000" b="0" i="1" smtClean="0">
                            <a:latin typeface="Cambria Math" panose="02040503050406030204" pitchFamily="18" charset="0"/>
                            <a:ea typeface="나눔명조" panose="02020603020101020101" pitchFamily="18" charset="-127"/>
                          </a:rPr>
                          <m:t>0</m:t>
                        </m:r>
                      </m:sub>
                    </m:sSub>
                  </m:oMath>
                </a14:m>
                <a:r>
                  <a:rPr lang="ko-KR" altLang="en-US" sz="20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소비함</a:t>
                </a:r>
                <a:endParaRPr lang="en-US" altLang="ko-KR" sz="2000" dirty="0">
                  <a:latin typeface="나눔명조" panose="02020603020101020101" pitchFamily="18" charset="-127"/>
                  <a:ea typeface="나눔명조" panose="02020603020101020101" pitchFamily="18" charset="-127"/>
                </a:endParaRPr>
              </a:p>
              <a:p>
                <a:r>
                  <a:rPr lang="ko-KR" altLang="en-US" sz="20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그러므로 제</a:t>
                </a:r>
                <a:r>
                  <a:rPr lang="en-US" altLang="ko-KR" sz="20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1</a:t>
                </a:r>
                <a:r>
                  <a:rPr lang="ko-KR" altLang="en-US" sz="20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단계에서의 후생손실은 제 </a:t>
                </a:r>
                <a:r>
                  <a:rPr lang="en-US" altLang="ko-KR" sz="20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2,3 </a:t>
                </a:r>
                <a:r>
                  <a:rPr lang="ko-KR" altLang="en-US" sz="20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단계에서의 </a:t>
                </a:r>
                <a:r>
                  <a:rPr lang="en-US" altLang="ko-KR" sz="20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(</a:t>
                </a:r>
                <a:r>
                  <a:rPr lang="ko-KR" altLang="en-US" sz="20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평균</a:t>
                </a:r>
                <a:r>
                  <a:rPr lang="en-US" altLang="ko-KR" sz="20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) </a:t>
                </a:r>
                <a:r>
                  <a:rPr lang="ko-KR" altLang="en-US" sz="2000" dirty="0" err="1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후생손실에</a:t>
                </a:r>
                <a:r>
                  <a:rPr lang="ko-KR" altLang="en-US" sz="20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2000" i="1" smtClean="0">
                            <a:latin typeface="Cambria Math" panose="02040503050406030204" pitchFamily="18" charset="0"/>
                            <a:ea typeface="나눔명조" panose="02020603020101020101" pitchFamily="18" charset="-127"/>
                          </a:rPr>
                        </m:ctrlPr>
                      </m:sSubPr>
                      <m:e>
                        <m:r>
                          <a:rPr lang="en-US" altLang="ko-KR" sz="2000" b="0" i="1" smtClean="0">
                            <a:latin typeface="Cambria Math" panose="02040503050406030204" pitchFamily="18" charset="0"/>
                            <a:ea typeface="나눔명조" panose="02020603020101020101" pitchFamily="18" charset="-127"/>
                          </a:rPr>
                          <m:t>(</m:t>
                        </m:r>
                        <m:r>
                          <a:rPr lang="en-US" altLang="ko-KR" sz="2000" b="0" i="1" smtClean="0">
                            <a:latin typeface="Cambria Math" panose="02040503050406030204" pitchFamily="18" charset="0"/>
                            <a:ea typeface="나눔명조" panose="02020603020101020101" pitchFamily="18" charset="-127"/>
                          </a:rPr>
                          <m:t>𝑝</m:t>
                        </m:r>
                      </m:e>
                      <m:sub>
                        <m:r>
                          <a:rPr lang="en-US" altLang="ko-KR" sz="2000" b="0" i="1" smtClean="0">
                            <a:latin typeface="Cambria Math" panose="02040503050406030204" pitchFamily="18" charset="0"/>
                            <a:ea typeface="나눔명조" panose="02020603020101020101" pitchFamily="18" charset="-127"/>
                          </a:rPr>
                          <m:t>0</m:t>
                        </m:r>
                      </m:sub>
                    </m:sSub>
                    <m:r>
                      <a:rPr lang="en-US" altLang="ko-KR" sz="2000" b="0" i="1" smtClean="0">
                        <a:latin typeface="Cambria Math" panose="02040503050406030204" pitchFamily="18" charset="0"/>
                        <a:ea typeface="나눔명조" panose="02020603020101020101" pitchFamily="18" charset="-127"/>
                      </a:rPr>
                      <m:t>−</m:t>
                    </m:r>
                    <m:sSub>
                      <m:sSubPr>
                        <m:ctrlPr>
                          <a:rPr lang="en-US" altLang="ko-KR" sz="2000" i="1">
                            <a:latin typeface="Cambria Math" panose="02040503050406030204" pitchFamily="18" charset="0"/>
                            <a:ea typeface="나눔명조" panose="02020603020101020101" pitchFamily="18" charset="-127"/>
                          </a:rPr>
                        </m:ctrlPr>
                      </m:sSubPr>
                      <m:e>
                        <m:r>
                          <a:rPr lang="en-US" altLang="ko-KR" sz="2000" i="1">
                            <a:latin typeface="Cambria Math" panose="02040503050406030204" pitchFamily="18" charset="0"/>
                            <a:ea typeface="나눔명조" panose="02020603020101020101" pitchFamily="18" charset="-127"/>
                          </a:rPr>
                          <m:t>𝑝</m:t>
                        </m:r>
                      </m:e>
                      <m:sub>
                        <m:r>
                          <a:rPr lang="en-US" altLang="ko-KR" sz="2000" b="0" i="1" smtClean="0">
                            <a:latin typeface="Cambria Math" panose="02040503050406030204" pitchFamily="18" charset="0"/>
                            <a:ea typeface="나눔명조" panose="02020603020101020101" pitchFamily="18" charset="-127"/>
                          </a:rPr>
                          <m:t>1</m:t>
                        </m:r>
                      </m:sub>
                    </m:sSub>
                    <m:r>
                      <a:rPr lang="en-US" altLang="ko-KR" sz="2000" b="0" i="1" smtClean="0">
                        <a:latin typeface="Cambria Math" panose="02040503050406030204" pitchFamily="18" charset="0"/>
                        <a:ea typeface="나눔명조" panose="02020603020101020101" pitchFamily="18" charset="-127"/>
                      </a:rPr>
                      <m:t>)</m:t>
                    </m:r>
                    <m:sSub>
                      <m:sSubPr>
                        <m:ctrlPr>
                          <a:rPr lang="en-US" altLang="ko-KR" sz="2000" i="1">
                            <a:latin typeface="Cambria Math" panose="02040503050406030204" pitchFamily="18" charset="0"/>
                            <a:ea typeface="나눔명조" panose="02020603020101020101" pitchFamily="18" charset="-127"/>
                          </a:rPr>
                        </m:ctrlPr>
                      </m:sSubPr>
                      <m:e>
                        <m:r>
                          <a:rPr lang="en-US" altLang="ko-KR" sz="2000" b="0" i="1" smtClean="0">
                            <a:latin typeface="Cambria Math" panose="02040503050406030204" pitchFamily="18" charset="0"/>
                            <a:ea typeface="나눔명조" panose="02020603020101020101" pitchFamily="18" charset="-127"/>
                          </a:rPr>
                          <m:t>𝑥</m:t>
                        </m:r>
                      </m:e>
                      <m:sub>
                        <m:r>
                          <a:rPr lang="en-US" altLang="ko-KR" sz="2000" i="1">
                            <a:latin typeface="Cambria Math" panose="02040503050406030204" pitchFamily="18" charset="0"/>
                            <a:ea typeface="나눔명조" panose="02020603020101020101" pitchFamily="18" charset="-127"/>
                          </a:rPr>
                          <m:t>0</m:t>
                        </m:r>
                      </m:sub>
                    </m:sSub>
                  </m:oMath>
                </a14:m>
                <a:r>
                  <a:rPr lang="ko-KR" altLang="en-US" sz="20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의</a:t>
                </a:r>
                <a:r>
                  <a:rPr lang="en-US" altLang="ko-KR" sz="20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 </a:t>
                </a:r>
                <a:r>
                  <a:rPr lang="ko-KR" altLang="en-US" sz="20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값을 더해 도출해야 함</a:t>
                </a:r>
                <a:endParaRPr lang="en-US" altLang="ko-KR" sz="2000" dirty="0">
                  <a:latin typeface="나눔명조" panose="02020603020101020101" pitchFamily="18" charset="-127"/>
                  <a:ea typeface="나눔명조" panose="02020603020101020101" pitchFamily="18" charset="-127"/>
                </a:endParaRPr>
              </a:p>
              <a:p>
                <a:pPr lvl="1"/>
                <a:r>
                  <a:rPr lang="ko-KR" altLang="en-US" sz="16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제</a:t>
                </a:r>
                <a:r>
                  <a:rPr lang="en-US" altLang="ko-KR" sz="16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1</a:t>
                </a:r>
                <a:r>
                  <a:rPr lang="ko-KR" altLang="en-US" sz="16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단계에서는 소비량을 줄여야 했던 제</a:t>
                </a:r>
                <a:r>
                  <a:rPr lang="en-US" altLang="ko-KR" sz="16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2,3</a:t>
                </a:r>
                <a:r>
                  <a:rPr lang="ko-KR" altLang="en-US" sz="16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단계에서의 손실에 더해 계란 품질을 제대로 알지 못해 행동을 바꾸지 못한 손실까지 발생</a:t>
                </a:r>
                <a:endParaRPr lang="en-US" altLang="ko-KR" sz="1600" dirty="0">
                  <a:latin typeface="나눔명조" panose="02020603020101020101" pitchFamily="18" charset="-127"/>
                  <a:ea typeface="나눔명조" panose="02020603020101020101" pitchFamily="18" charset="-127"/>
                </a:endParaRPr>
              </a:p>
              <a:p>
                <a:r>
                  <a:rPr lang="ko-KR" altLang="en-US" sz="20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가구당 매일 손실액</a:t>
                </a:r>
                <a:endParaRPr lang="en-US" altLang="ko-KR" sz="2000" dirty="0">
                  <a:latin typeface="나눔명조" panose="02020603020101020101" pitchFamily="18" charset="-127"/>
                  <a:ea typeface="나눔명조" panose="02020603020101020101" pitchFamily="18" charset="-127"/>
                </a:endParaRPr>
              </a:p>
              <a:p>
                <a:pPr lvl="1"/>
                <a:r>
                  <a:rPr lang="en-US" altLang="ko-KR" sz="16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1</a:t>
                </a:r>
                <a:r>
                  <a:rPr lang="ko-KR" altLang="en-US" sz="16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단계</a:t>
                </a:r>
                <a:r>
                  <a:rPr lang="en-US" altLang="ko-KR" sz="16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: 227</a:t>
                </a:r>
                <a:r>
                  <a:rPr lang="ko-KR" altLang="en-US" sz="16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원</a:t>
                </a:r>
                <a:endParaRPr lang="en-US" altLang="ko-KR" sz="1600" dirty="0">
                  <a:latin typeface="나눔명조" panose="02020603020101020101" pitchFamily="18" charset="-127"/>
                  <a:ea typeface="나눔명조" panose="02020603020101020101" pitchFamily="18" charset="-127"/>
                </a:endParaRPr>
              </a:p>
              <a:p>
                <a:pPr lvl="1"/>
                <a:r>
                  <a:rPr lang="en-US" altLang="ko-KR" sz="16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2</a:t>
                </a:r>
                <a:r>
                  <a:rPr lang="ko-KR" altLang="en-US" sz="16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단계</a:t>
                </a:r>
                <a:r>
                  <a:rPr lang="en-US" altLang="ko-KR" sz="16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: 152~529</a:t>
                </a:r>
                <a:r>
                  <a:rPr lang="ko-KR" altLang="en-US" sz="16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원</a:t>
                </a:r>
                <a:endParaRPr lang="en-US" altLang="ko-KR" sz="1600" dirty="0">
                  <a:latin typeface="나눔명조" panose="02020603020101020101" pitchFamily="18" charset="-127"/>
                  <a:ea typeface="나눔명조" panose="02020603020101020101" pitchFamily="18" charset="-127"/>
                </a:endParaRPr>
              </a:p>
              <a:p>
                <a:pPr lvl="1"/>
                <a:r>
                  <a:rPr lang="en-US" altLang="ko-KR" sz="16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3</a:t>
                </a:r>
                <a:r>
                  <a:rPr lang="ko-KR" altLang="en-US" sz="16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단계</a:t>
                </a:r>
                <a:r>
                  <a:rPr lang="en-US" altLang="ko-KR" sz="16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: 193(8</a:t>
                </a:r>
                <a:r>
                  <a:rPr lang="ko-KR" altLang="en-US" sz="16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월</a:t>
                </a:r>
                <a:r>
                  <a:rPr lang="en-US" altLang="ko-KR" sz="16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)~53</a:t>
                </a:r>
                <a:r>
                  <a:rPr lang="ko-KR" altLang="en-US" sz="16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원</a:t>
                </a:r>
                <a:r>
                  <a:rPr lang="en-US" altLang="ko-KR" sz="16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(12</a:t>
                </a:r>
                <a:r>
                  <a:rPr lang="ko-KR" altLang="en-US" sz="16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월</a:t>
                </a:r>
                <a:r>
                  <a:rPr lang="en-US" altLang="ko-KR" sz="16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)</a:t>
                </a:r>
              </a:p>
            </p:txBody>
          </p:sp>
        </mc:Choice>
        <mc:Fallback xmlns="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DD143276-F179-48D8-B821-602476248E6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182288" y="1651600"/>
                <a:ext cx="7313612" cy="4114800"/>
              </a:xfrm>
              <a:blipFill>
                <a:blip r:embed="rId2"/>
                <a:stretch>
                  <a:fillRect l="-750" t="-1185" b="-963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D1EC4816-0A8B-4311-8701-51C464164C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ko-KR"/>
              <a:t>Chapter 15</a:t>
            </a:r>
            <a:endParaRPr lang="en-US" altLang="ko-KR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60AE2559-43B6-44E4-BEA7-75323DACF8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19FF04-9146-4048-BDA6-3A9E8714DE63}" type="slidenum">
              <a:rPr lang="ko-KR" altLang="en-US" smtClean="0"/>
              <a:pPr/>
              <a:t>21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47649002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9"/>
          <p:cNvSpPr>
            <a:spLocks noGrp="1" noChangeArrowheads="1"/>
          </p:cNvSpPr>
          <p:nvPr>
            <p:ph idx="1"/>
          </p:nvPr>
        </p:nvSpPr>
        <p:spPr>
          <a:xfrm>
            <a:off x="926239" y="1289130"/>
            <a:ext cx="7737475" cy="4114800"/>
          </a:xfrm>
        </p:spPr>
        <p:txBody>
          <a:bodyPr/>
          <a:lstStyle/>
          <a:p>
            <a:pPr eaLnBrk="1" hangingPunct="1"/>
            <a:r>
              <a:rPr lang="ko-KR" altLang="en-US" sz="2400" dirty="0" err="1">
                <a:latin typeface="나눔명조" pitchFamily="18" charset="-127"/>
                <a:ea typeface="나눔명조" pitchFamily="18" charset="-127"/>
              </a:rPr>
              <a:t>환경재와</a:t>
            </a:r>
            <a:r>
              <a:rPr lang="ko-KR" altLang="en-US" sz="2400" dirty="0">
                <a:latin typeface="나눔명조" pitchFamily="18" charset="-127"/>
                <a:ea typeface="나눔명조" pitchFamily="18" charset="-127"/>
              </a:rPr>
              <a:t> </a:t>
            </a:r>
            <a:r>
              <a:rPr lang="ko-KR" altLang="en-US" sz="2400" dirty="0" err="1">
                <a:latin typeface="나눔명조" pitchFamily="18" charset="-127"/>
                <a:ea typeface="나눔명조" pitchFamily="18" charset="-127"/>
              </a:rPr>
              <a:t>시장재</a:t>
            </a:r>
            <a:r>
              <a:rPr lang="ko-KR" altLang="en-US" sz="2400" dirty="0">
                <a:latin typeface="나눔명조" pitchFamily="18" charset="-127"/>
                <a:ea typeface="나눔명조" pitchFamily="18" charset="-127"/>
              </a:rPr>
              <a:t> 사이에 대체관계가 형성되는 경우도 있음</a:t>
            </a:r>
            <a:endParaRPr lang="en-US" altLang="ko-KR" sz="2400" dirty="0">
              <a:latin typeface="나눔명조" pitchFamily="18" charset="-127"/>
              <a:ea typeface="나눔명조" pitchFamily="18" charset="-127"/>
            </a:endParaRPr>
          </a:p>
          <a:p>
            <a:pPr lvl="1" eaLnBrk="1" hangingPunct="1"/>
            <a:r>
              <a:rPr lang="ko-KR" altLang="en-US" sz="2200" dirty="0">
                <a:latin typeface="나눔명조" pitchFamily="18" charset="-127"/>
                <a:ea typeface="나눔명조" pitchFamily="18" charset="-127"/>
              </a:rPr>
              <a:t>수돗물의 </a:t>
            </a:r>
            <a:r>
              <a:rPr lang="ko-KR" altLang="en-US" sz="2200" dirty="0" err="1">
                <a:latin typeface="나눔명조" pitchFamily="18" charset="-127"/>
                <a:ea typeface="나눔명조" pitchFamily="18" charset="-127"/>
              </a:rPr>
              <a:t>오염정도와</a:t>
            </a:r>
            <a:r>
              <a:rPr lang="ko-KR" altLang="en-US" sz="2200" dirty="0">
                <a:latin typeface="나눔명조" pitchFamily="18" charset="-127"/>
                <a:ea typeface="나눔명조" pitchFamily="18" charset="-127"/>
              </a:rPr>
              <a:t> 정수기 및 먹는 샘물의 수요</a:t>
            </a:r>
            <a:endParaRPr lang="en-US" altLang="ko-KR" sz="2200" dirty="0">
              <a:latin typeface="나눔명조" pitchFamily="18" charset="-127"/>
              <a:ea typeface="나눔명조" pitchFamily="18" charset="-127"/>
            </a:endParaRPr>
          </a:p>
          <a:p>
            <a:pPr lvl="1" eaLnBrk="1" hangingPunct="1"/>
            <a:r>
              <a:rPr lang="ko-KR" altLang="en-US" sz="2200" dirty="0">
                <a:latin typeface="나눔명조" pitchFamily="18" charset="-127"/>
                <a:ea typeface="나눔명조" pitchFamily="18" charset="-127"/>
              </a:rPr>
              <a:t>대기질의 악화와 공기정화기</a:t>
            </a:r>
            <a:r>
              <a:rPr lang="en-US" altLang="ko-KR" sz="2200" dirty="0">
                <a:latin typeface="나눔명조" pitchFamily="18" charset="-127"/>
                <a:ea typeface="나눔명조" pitchFamily="18" charset="-127"/>
              </a:rPr>
              <a:t>, </a:t>
            </a:r>
            <a:r>
              <a:rPr lang="ko-KR" altLang="en-US" sz="2200" dirty="0">
                <a:latin typeface="나눔명조" pitchFamily="18" charset="-127"/>
                <a:ea typeface="나눔명조" pitchFamily="18" charset="-127"/>
              </a:rPr>
              <a:t>의약품 구입</a:t>
            </a:r>
            <a:endParaRPr lang="en-US" altLang="ko-KR" sz="2200" dirty="0">
              <a:latin typeface="나눔명조" pitchFamily="18" charset="-127"/>
              <a:ea typeface="나눔명조" pitchFamily="18" charset="-127"/>
            </a:endParaRPr>
          </a:p>
          <a:p>
            <a:pPr eaLnBrk="1" hangingPunct="1"/>
            <a:r>
              <a:rPr lang="ko-KR" altLang="en-US" sz="2400" dirty="0">
                <a:latin typeface="나눔명조" pitchFamily="18" charset="-127"/>
                <a:ea typeface="나눔명조" pitchFamily="18" charset="-127"/>
              </a:rPr>
              <a:t>회피행위모형은 환경재와 소비재간의 대체관계를 이용하는 대표적인 분석법임</a:t>
            </a:r>
            <a:endParaRPr lang="en-US" altLang="ko-KR" sz="2200" dirty="0">
              <a:latin typeface="나눔명조" pitchFamily="18" charset="-127"/>
              <a:ea typeface="나눔명조" pitchFamily="18" charset="-127"/>
            </a:endParaRPr>
          </a:p>
          <a:p>
            <a:pPr lvl="1" eaLnBrk="1" hangingPunct="1"/>
            <a:r>
              <a:rPr lang="ko-KR" altLang="en-US" sz="2200" dirty="0">
                <a:latin typeface="나눔명조" pitchFamily="18" charset="-127"/>
                <a:ea typeface="나눔명조" pitchFamily="18" charset="-127"/>
              </a:rPr>
              <a:t>개인은 환경오염으로 발생하는 위험을 예방하고 발생한 피해를 완화하기 위한 행위를 할 수 있음</a:t>
            </a:r>
            <a:endParaRPr lang="en-US" altLang="ko-KR" sz="2200" dirty="0">
              <a:latin typeface="나눔명조" pitchFamily="18" charset="-127"/>
              <a:ea typeface="나눔명조" pitchFamily="18" charset="-127"/>
            </a:endParaRPr>
          </a:p>
          <a:p>
            <a:pPr eaLnBrk="1" hangingPunct="1"/>
            <a:r>
              <a:rPr lang="ko-KR" altLang="en-US" sz="2400" dirty="0">
                <a:latin typeface="나눔명조" pitchFamily="18" charset="-127"/>
                <a:ea typeface="나눔명조" pitchFamily="18" charset="-127"/>
              </a:rPr>
              <a:t>이 모형에서는 </a:t>
            </a:r>
            <a:r>
              <a:rPr lang="ko-KR" altLang="en-US" sz="2400" b="1" dirty="0">
                <a:solidFill>
                  <a:srgbClr val="0000FF"/>
                </a:solidFill>
                <a:latin typeface="나눔명조" pitchFamily="18" charset="-127"/>
                <a:ea typeface="나눔명조" pitchFamily="18" charset="-127"/>
              </a:rPr>
              <a:t>전체 환경</a:t>
            </a:r>
            <a:r>
              <a:rPr lang="ko-KR" altLang="en-US" sz="2400" dirty="0">
                <a:latin typeface="나눔명조" pitchFamily="18" charset="-127"/>
                <a:ea typeface="나눔명조" pitchFamily="18" charset="-127"/>
              </a:rPr>
              <a:t>과 </a:t>
            </a:r>
            <a:r>
              <a:rPr lang="ko-KR" altLang="en-US" sz="2400" b="1" dirty="0">
                <a:solidFill>
                  <a:srgbClr val="0000FF"/>
                </a:solidFill>
                <a:latin typeface="나눔명조" pitchFamily="18" charset="-127"/>
                <a:ea typeface="나눔명조" pitchFamily="18" charset="-127"/>
              </a:rPr>
              <a:t>개인 환경</a:t>
            </a:r>
            <a:r>
              <a:rPr lang="ko-KR" altLang="en-US" sz="2400" dirty="0">
                <a:latin typeface="나눔명조" pitchFamily="18" charset="-127"/>
                <a:ea typeface="나눔명조" pitchFamily="18" charset="-127"/>
              </a:rPr>
              <a:t>이 구분되며 개인은 개인 환경질의 변화로 인해 효용변화를 경험한다고 가정됨</a:t>
            </a:r>
            <a:endParaRPr lang="en-US" altLang="ko-KR" sz="2400" dirty="0">
              <a:latin typeface="나눔명조" pitchFamily="18" charset="-127"/>
              <a:ea typeface="나눔명조" pitchFamily="18" charset="-127"/>
            </a:endParaRPr>
          </a:p>
          <a:p>
            <a:pPr lvl="1" eaLnBrk="1" hangingPunct="1"/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회피행위는 전체 환경이 악화될 때 개인 환경을 보호하려는 행동임</a:t>
            </a:r>
            <a:endParaRPr lang="en-US" altLang="ko-KR" sz="2000" dirty="0">
              <a:latin typeface="나눔명조" pitchFamily="18" charset="-127"/>
              <a:ea typeface="나눔명조" pitchFamily="18" charset="-127"/>
            </a:endParaRPr>
          </a:p>
        </p:txBody>
      </p:sp>
      <p:sp>
        <p:nvSpPr>
          <p:cNvPr id="15363" name="바닥글 개체 틀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r>
              <a:rPr lang="ko-KR" altLang="en-US" sz="1200" b="0" dirty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Chapter </a:t>
            </a:r>
            <a:r>
              <a:rPr lang="en-US" altLang="ko-KR" sz="1200" b="0" dirty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15</a:t>
            </a:r>
          </a:p>
        </p:txBody>
      </p:sp>
      <p:sp>
        <p:nvSpPr>
          <p:cNvPr id="15364" name="슬라이드 번호 개체 틀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fld id="{C753D822-DF5B-4203-821F-E37D763E2E34}" type="slidenum">
              <a:rPr lang="ko-KR" altLang="en-US" sz="1200" b="0">
                <a:solidFill>
                  <a:schemeClr val="tx1"/>
                </a:solidFill>
              </a:rPr>
              <a:pPr/>
              <a:t>22</a:t>
            </a:fld>
            <a:endParaRPr lang="en-US" altLang="ko-KR" sz="1200" b="0" dirty="0">
              <a:solidFill>
                <a:schemeClr val="tx1"/>
              </a:solidFill>
            </a:endParaRPr>
          </a:p>
        </p:txBody>
      </p:sp>
      <p:sp>
        <p:nvSpPr>
          <p:cNvPr id="15365" name="Rectangle 2"/>
          <p:cNvSpPr>
            <a:spLocks noChangeArrowheads="1"/>
          </p:cNvSpPr>
          <p:nvPr/>
        </p:nvSpPr>
        <p:spPr bwMode="auto">
          <a:xfrm>
            <a:off x="7620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>
              <a:ea typeface="굴림" panose="020B0600000101010101" pitchFamily="50" charset="-127"/>
            </a:endParaRPr>
          </a:p>
        </p:txBody>
      </p:sp>
      <p:sp>
        <p:nvSpPr>
          <p:cNvPr id="15366" name="Rectangle 3"/>
          <p:cNvSpPr>
            <a:spLocks noChangeArrowheads="1"/>
          </p:cNvSpPr>
          <p:nvPr/>
        </p:nvSpPr>
        <p:spPr bwMode="auto">
          <a:xfrm>
            <a:off x="32766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>
              <a:ea typeface="굴림" panose="020B0600000101010101" pitchFamily="50" charset="-127"/>
            </a:endParaRPr>
          </a:p>
        </p:txBody>
      </p:sp>
      <p:sp>
        <p:nvSpPr>
          <p:cNvPr id="15367" name="Rectangle 6"/>
          <p:cNvSpPr>
            <a:spLocks noGrp="1" noChangeArrowheads="1"/>
          </p:cNvSpPr>
          <p:nvPr>
            <p:ph type="title"/>
          </p:nvPr>
        </p:nvSpPr>
        <p:spPr>
          <a:xfrm>
            <a:off x="1355725" y="0"/>
            <a:ext cx="7313613" cy="1143000"/>
          </a:xfrm>
        </p:spPr>
        <p:txBody>
          <a:bodyPr/>
          <a:lstStyle/>
          <a:p>
            <a:pPr eaLnBrk="1" hangingPunct="1"/>
            <a:r>
              <a:rPr lang="ko-KR" altLang="en-US" dirty="0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대체관계와 가계생산</a:t>
            </a:r>
          </a:p>
        </p:txBody>
      </p:sp>
    </p:spTree>
    <p:extLst>
      <p:ext uri="{BB962C8B-B14F-4D97-AF65-F5344CB8AC3E}">
        <p14:creationId xmlns:p14="http://schemas.microsoft.com/office/powerpoint/2010/main" val="2014080624"/>
      </p:ext>
    </p:extLst>
  </p:cSld>
  <p:clrMapOvr>
    <a:masterClrMapping/>
  </p:clrMapOvr>
  <p:transition spd="med">
    <p:wipe dir="r"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3" name="바닥글 개체 틀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r>
              <a:rPr lang="ko-KR" altLang="en-US" sz="1200" b="0" dirty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Chapter </a:t>
            </a:r>
            <a:r>
              <a:rPr lang="en-US" altLang="ko-KR" sz="1200" b="0" dirty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15</a:t>
            </a:r>
          </a:p>
        </p:txBody>
      </p:sp>
      <p:sp>
        <p:nvSpPr>
          <p:cNvPr id="15364" name="슬라이드 번호 개체 틀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fld id="{C753D822-DF5B-4203-821F-E37D763E2E34}" type="slidenum">
              <a:rPr lang="ko-KR" altLang="en-US" sz="1200" b="0">
                <a:solidFill>
                  <a:schemeClr val="tx1"/>
                </a:solidFill>
              </a:rPr>
              <a:pPr/>
              <a:t>23</a:t>
            </a:fld>
            <a:endParaRPr lang="en-US" altLang="ko-KR" sz="1200" b="0" dirty="0">
              <a:solidFill>
                <a:schemeClr val="tx1"/>
              </a:solidFill>
            </a:endParaRPr>
          </a:p>
        </p:txBody>
      </p:sp>
      <p:sp>
        <p:nvSpPr>
          <p:cNvPr id="15365" name="Rectangle 2"/>
          <p:cNvSpPr>
            <a:spLocks noChangeArrowheads="1"/>
          </p:cNvSpPr>
          <p:nvPr/>
        </p:nvSpPr>
        <p:spPr bwMode="auto">
          <a:xfrm>
            <a:off x="7620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>
              <a:ea typeface="굴림" panose="020B0600000101010101" pitchFamily="50" charset="-127"/>
            </a:endParaRPr>
          </a:p>
        </p:txBody>
      </p:sp>
      <p:sp>
        <p:nvSpPr>
          <p:cNvPr id="15366" name="Rectangle 3"/>
          <p:cNvSpPr>
            <a:spLocks noChangeArrowheads="1"/>
          </p:cNvSpPr>
          <p:nvPr/>
        </p:nvSpPr>
        <p:spPr bwMode="auto">
          <a:xfrm>
            <a:off x="32766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>
              <a:ea typeface="굴림" panose="020B0600000101010101" pitchFamily="50" charset="-127"/>
            </a:endParaRPr>
          </a:p>
        </p:txBody>
      </p:sp>
      <p:sp>
        <p:nvSpPr>
          <p:cNvPr id="15367" name="Rectangle 6"/>
          <p:cNvSpPr>
            <a:spLocks noGrp="1" noChangeArrowheads="1"/>
          </p:cNvSpPr>
          <p:nvPr>
            <p:ph type="title"/>
          </p:nvPr>
        </p:nvSpPr>
        <p:spPr>
          <a:xfrm>
            <a:off x="1355725" y="0"/>
            <a:ext cx="7313613" cy="1143000"/>
          </a:xfrm>
        </p:spPr>
        <p:txBody>
          <a:bodyPr/>
          <a:lstStyle/>
          <a:p>
            <a:pPr eaLnBrk="1" hangingPunct="1"/>
            <a:r>
              <a:rPr lang="ko-KR" altLang="en-US" sz="3000" dirty="0" err="1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회피행위</a:t>
            </a:r>
            <a:r>
              <a:rPr lang="en-US" altLang="ko-KR" sz="3000" dirty="0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(</a:t>
            </a:r>
            <a:r>
              <a:rPr lang="ko-KR" altLang="en-US" sz="3000" dirty="0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일부 </a:t>
            </a:r>
            <a:r>
              <a:rPr lang="ko-KR" altLang="en-US" sz="3000" dirty="0" err="1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완화행위</a:t>
            </a:r>
            <a:r>
              <a:rPr lang="ko-KR" altLang="en-US" sz="3000" dirty="0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 포함</a:t>
            </a:r>
            <a:r>
              <a:rPr lang="en-US" altLang="ko-KR" sz="3000" dirty="0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)</a:t>
            </a:r>
            <a:r>
              <a:rPr lang="ko-KR" altLang="en-US" sz="3000" dirty="0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의 종류</a:t>
            </a: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F53B95E8-D012-4AA9-BF8F-C5D400B249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86062" y="1143000"/>
            <a:ext cx="6302213" cy="5158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8634147"/>
      </p:ext>
    </p:extLst>
  </p:cSld>
  <p:clrMapOvr>
    <a:masterClrMapping/>
  </p:clrMapOvr>
  <p:transition spd="med">
    <p:wipe dir="r"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9"/>
          <p:cNvSpPr>
            <a:spLocks noGrp="1" noChangeArrowheads="1"/>
          </p:cNvSpPr>
          <p:nvPr>
            <p:ph idx="1"/>
          </p:nvPr>
        </p:nvSpPr>
        <p:spPr>
          <a:xfrm>
            <a:off x="615821" y="1289130"/>
            <a:ext cx="8248262" cy="4114800"/>
          </a:xfrm>
        </p:spPr>
        <p:txBody>
          <a:bodyPr/>
          <a:lstStyle/>
          <a:p>
            <a:pPr eaLnBrk="1" hangingPunct="1"/>
            <a:r>
              <a:rPr lang="ko-KR" altLang="en-US" sz="2400" b="1" dirty="0">
                <a:solidFill>
                  <a:srgbClr val="0000FF"/>
                </a:solidFill>
                <a:latin typeface="나눔명조" pitchFamily="18" charset="-127"/>
                <a:ea typeface="나눔명조" pitchFamily="18" charset="-127"/>
              </a:rPr>
              <a:t>전체 환경</a:t>
            </a:r>
            <a:r>
              <a:rPr lang="ko-KR" altLang="en-US" sz="2400" dirty="0">
                <a:latin typeface="나눔명조" pitchFamily="18" charset="-127"/>
                <a:ea typeface="나눔명조" pitchFamily="18" charset="-127"/>
              </a:rPr>
              <a:t>과 </a:t>
            </a:r>
            <a:r>
              <a:rPr lang="ko-KR" altLang="en-US" sz="2400" b="1" dirty="0">
                <a:solidFill>
                  <a:srgbClr val="0000FF"/>
                </a:solidFill>
                <a:latin typeface="나눔명조" pitchFamily="18" charset="-127"/>
                <a:ea typeface="나눔명조" pitchFamily="18" charset="-127"/>
              </a:rPr>
              <a:t>개인 환경</a:t>
            </a:r>
            <a:r>
              <a:rPr lang="ko-KR" altLang="en-US" sz="2400" dirty="0">
                <a:latin typeface="나눔명조" pitchFamily="18" charset="-127"/>
                <a:ea typeface="나눔명조" pitchFamily="18" charset="-127"/>
              </a:rPr>
              <a:t>을 구분하여 전체 환경 변화의 후생효과를 분석하는 데에는 </a:t>
            </a:r>
            <a:r>
              <a:rPr lang="ko-KR" altLang="en-US" sz="2400" b="1" dirty="0">
                <a:solidFill>
                  <a:srgbClr val="0000FF"/>
                </a:solidFill>
                <a:latin typeface="나눔명조" pitchFamily="18" charset="-127"/>
                <a:ea typeface="나눔명조" pitchFamily="18" charset="-127"/>
              </a:rPr>
              <a:t>가계생산함수 </a:t>
            </a:r>
            <a:r>
              <a:rPr lang="en-US" altLang="ko-KR" sz="2400" b="1" dirty="0">
                <a:solidFill>
                  <a:srgbClr val="0000FF"/>
                </a:solidFill>
                <a:latin typeface="나눔명조" pitchFamily="18" charset="-127"/>
                <a:ea typeface="나눔명조" pitchFamily="18" charset="-127"/>
              </a:rPr>
              <a:t>(household production function, HPF)</a:t>
            </a:r>
            <a:r>
              <a:rPr lang="ko-KR" altLang="en-US" sz="2400" b="1" dirty="0">
                <a:solidFill>
                  <a:srgbClr val="0000FF"/>
                </a:solidFill>
                <a:latin typeface="나눔명조" pitchFamily="18" charset="-127"/>
                <a:ea typeface="나눔명조" pitchFamily="18" charset="-127"/>
              </a:rPr>
              <a:t>모형</a:t>
            </a:r>
            <a:r>
              <a:rPr lang="ko-KR" altLang="en-US" sz="2400" dirty="0">
                <a:latin typeface="나눔명조" pitchFamily="18" charset="-127"/>
                <a:ea typeface="나눔명조" pitchFamily="18" charset="-127"/>
              </a:rPr>
              <a:t>이 유용하게 사용됨</a:t>
            </a:r>
            <a:endParaRPr lang="en-US" altLang="ko-KR" sz="2400" dirty="0">
              <a:latin typeface="나눔명조" pitchFamily="18" charset="-127"/>
              <a:ea typeface="나눔명조" pitchFamily="18" charset="-127"/>
            </a:endParaRPr>
          </a:p>
          <a:p>
            <a:pPr lvl="1" eaLnBrk="1" hangingPunct="1"/>
            <a:r>
              <a:rPr lang="en-US" altLang="ko-KR" sz="2000" dirty="0">
                <a:latin typeface="나눔명조" pitchFamily="18" charset="-127"/>
                <a:ea typeface="나눔명조" pitchFamily="18" charset="-127"/>
              </a:rPr>
              <a:t>G. Becker(1965)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에 의해 다양한 사회</a:t>
            </a:r>
            <a:r>
              <a:rPr lang="en-US" altLang="ko-KR" sz="2000" dirty="0">
                <a:latin typeface="Arial" panose="020B0604020202020204" pitchFamily="34" charset="0"/>
                <a:ea typeface="나눔명조" pitchFamily="18" charset="-127"/>
                <a:cs typeface="Arial" panose="020B0604020202020204" pitchFamily="34" charset="0"/>
              </a:rPr>
              <a:t>·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경제적 현상을 분석하기 위해 개발되었으며</a:t>
            </a:r>
            <a:r>
              <a:rPr lang="en-US" altLang="ko-KR" sz="2000" dirty="0">
                <a:latin typeface="나눔명조" pitchFamily="18" charset="-127"/>
                <a:ea typeface="나눔명조" pitchFamily="18" charset="-127"/>
              </a:rPr>
              <a:t>, </a:t>
            </a:r>
            <a:r>
              <a:rPr lang="en-US" altLang="ko-KR" sz="2000" dirty="0" err="1">
                <a:latin typeface="나눔명조" pitchFamily="18" charset="-127"/>
                <a:ea typeface="나눔명조" pitchFamily="18" charset="-127"/>
              </a:rPr>
              <a:t>Bockstael</a:t>
            </a:r>
            <a:r>
              <a:rPr lang="en-US" altLang="ko-KR" sz="2000" dirty="0">
                <a:latin typeface="나눔명조" pitchFamily="18" charset="-127"/>
                <a:ea typeface="나눔명조" pitchFamily="18" charset="-127"/>
              </a:rPr>
              <a:t> and </a:t>
            </a:r>
            <a:r>
              <a:rPr lang="en-US" altLang="ko-KR" sz="2000" dirty="0" err="1">
                <a:latin typeface="나눔명조" pitchFamily="18" charset="-127"/>
                <a:ea typeface="나눔명조" pitchFamily="18" charset="-127"/>
              </a:rPr>
              <a:t>McConell</a:t>
            </a:r>
            <a:r>
              <a:rPr lang="en-US" altLang="ko-KR" sz="2000" dirty="0">
                <a:latin typeface="나눔명조" pitchFamily="18" charset="-127"/>
                <a:ea typeface="나눔명조" pitchFamily="18" charset="-127"/>
              </a:rPr>
              <a:t>(1983)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에 의해 공공재 가치평가에 가능하도록 발전됨</a:t>
            </a:r>
            <a:endParaRPr lang="en-US" altLang="ko-KR" sz="2000" dirty="0">
              <a:latin typeface="나눔명조" pitchFamily="18" charset="-127"/>
              <a:ea typeface="나눔명조" pitchFamily="18" charset="-127"/>
            </a:endParaRPr>
          </a:p>
          <a:p>
            <a:pPr lvl="1" eaLnBrk="1" hangingPunct="1"/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환경재와 시장재가 대체관계는 물론 보완관계를 가지는 경우에 대해서도 적용될 수 있음</a:t>
            </a:r>
            <a:endParaRPr lang="en-US" altLang="ko-KR" sz="2000" dirty="0">
              <a:latin typeface="나눔명조" pitchFamily="18" charset="-127"/>
              <a:ea typeface="나눔명조" pitchFamily="18" charset="-127"/>
            </a:endParaRPr>
          </a:p>
          <a:p>
            <a:pPr lvl="1" eaLnBrk="1" hangingPunct="1"/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소비자는 최종 소비재 중 적어도 일부는 시장에서 바로 구입하지 않고 구입한 시장재와 자신의 시간이나 자연환경과 같은 비시장재를 결합하여 최종 소비재를 </a:t>
            </a:r>
            <a:r>
              <a:rPr lang="en-US" altLang="ko-KR" sz="2000" dirty="0">
                <a:latin typeface="나눔명조" pitchFamily="18" charset="-127"/>
                <a:ea typeface="나눔명조" pitchFamily="18" charset="-127"/>
              </a:rPr>
              <a:t>‘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생산</a:t>
            </a:r>
            <a:r>
              <a:rPr lang="en-US" altLang="ko-KR" sz="2000" dirty="0">
                <a:latin typeface="나눔명조" pitchFamily="18" charset="-127"/>
                <a:ea typeface="나눔명조" pitchFamily="18" charset="-127"/>
              </a:rPr>
              <a:t>’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한 후 소비</a:t>
            </a:r>
            <a:endParaRPr lang="en-US" altLang="ko-KR" sz="2000" dirty="0">
              <a:latin typeface="나눔명조" pitchFamily="18" charset="-127"/>
              <a:ea typeface="나눔명조" pitchFamily="18" charset="-127"/>
            </a:endParaRPr>
          </a:p>
          <a:p>
            <a:pPr lvl="1" eaLnBrk="1" hangingPunct="1"/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따라서 가계는 소비자와 생산자의 모습을 모두 갖고 있음</a:t>
            </a:r>
            <a:endParaRPr lang="en-US" altLang="ko-KR" sz="2000" dirty="0">
              <a:latin typeface="나눔명조" pitchFamily="18" charset="-127"/>
              <a:ea typeface="나눔명조" pitchFamily="18" charset="-127"/>
            </a:endParaRPr>
          </a:p>
          <a:p>
            <a:pPr lvl="1" eaLnBrk="1" hangingPunct="1"/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생산자로서는 최종 소비재 생산의 비용을 최소화하려 하고</a:t>
            </a:r>
            <a:r>
              <a:rPr lang="en-US" altLang="ko-KR" sz="2000" dirty="0">
                <a:latin typeface="나눔명조" pitchFamily="18" charset="-127"/>
                <a:ea typeface="나눔명조" pitchFamily="18" charset="-127"/>
              </a:rPr>
              <a:t>, 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소비자로서는 어떤 최종 소비재를 얼마나 소비할지 선택</a:t>
            </a:r>
            <a:endParaRPr lang="en-US" altLang="ko-KR" sz="2000" dirty="0">
              <a:latin typeface="나눔명조" pitchFamily="18" charset="-127"/>
              <a:ea typeface="나눔명조" pitchFamily="18" charset="-127"/>
            </a:endParaRPr>
          </a:p>
        </p:txBody>
      </p:sp>
      <p:sp>
        <p:nvSpPr>
          <p:cNvPr id="15363" name="바닥글 개체 틀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r>
              <a:rPr lang="ko-KR" altLang="en-US" sz="1200" b="0" dirty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Chapter </a:t>
            </a:r>
            <a:r>
              <a:rPr lang="en-US" altLang="ko-KR" sz="1200" b="0" dirty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15</a:t>
            </a:r>
          </a:p>
        </p:txBody>
      </p:sp>
      <p:sp>
        <p:nvSpPr>
          <p:cNvPr id="15364" name="슬라이드 번호 개체 틀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fld id="{C753D822-DF5B-4203-821F-E37D763E2E34}" type="slidenum">
              <a:rPr lang="ko-KR" altLang="en-US" sz="1200" b="0">
                <a:solidFill>
                  <a:schemeClr val="tx1"/>
                </a:solidFill>
              </a:rPr>
              <a:pPr/>
              <a:t>24</a:t>
            </a:fld>
            <a:endParaRPr lang="en-US" altLang="ko-KR" sz="1200" b="0" dirty="0">
              <a:solidFill>
                <a:schemeClr val="tx1"/>
              </a:solidFill>
            </a:endParaRPr>
          </a:p>
        </p:txBody>
      </p:sp>
      <p:sp>
        <p:nvSpPr>
          <p:cNvPr id="15365" name="Rectangle 2"/>
          <p:cNvSpPr>
            <a:spLocks noChangeArrowheads="1"/>
          </p:cNvSpPr>
          <p:nvPr/>
        </p:nvSpPr>
        <p:spPr bwMode="auto">
          <a:xfrm>
            <a:off x="7620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>
              <a:ea typeface="굴림" panose="020B0600000101010101" pitchFamily="50" charset="-127"/>
            </a:endParaRPr>
          </a:p>
        </p:txBody>
      </p:sp>
      <p:sp>
        <p:nvSpPr>
          <p:cNvPr id="15366" name="Rectangle 3"/>
          <p:cNvSpPr>
            <a:spLocks noChangeArrowheads="1"/>
          </p:cNvSpPr>
          <p:nvPr/>
        </p:nvSpPr>
        <p:spPr bwMode="auto">
          <a:xfrm>
            <a:off x="32766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>
              <a:ea typeface="굴림" panose="020B0600000101010101" pitchFamily="50" charset="-127"/>
            </a:endParaRPr>
          </a:p>
        </p:txBody>
      </p:sp>
      <p:sp>
        <p:nvSpPr>
          <p:cNvPr id="15367" name="Rectangle 6"/>
          <p:cNvSpPr>
            <a:spLocks noGrp="1" noChangeArrowheads="1"/>
          </p:cNvSpPr>
          <p:nvPr>
            <p:ph type="title"/>
          </p:nvPr>
        </p:nvSpPr>
        <p:spPr>
          <a:xfrm>
            <a:off x="1355725" y="0"/>
            <a:ext cx="7313613" cy="1143000"/>
          </a:xfrm>
        </p:spPr>
        <p:txBody>
          <a:bodyPr/>
          <a:lstStyle/>
          <a:p>
            <a:pPr eaLnBrk="1" hangingPunct="1"/>
            <a:r>
              <a:rPr lang="ko-KR" altLang="en-US" dirty="0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대체관계와 가계생산</a:t>
            </a:r>
          </a:p>
        </p:txBody>
      </p:sp>
    </p:spTree>
    <p:extLst>
      <p:ext uri="{BB962C8B-B14F-4D97-AF65-F5344CB8AC3E}">
        <p14:creationId xmlns:p14="http://schemas.microsoft.com/office/powerpoint/2010/main" val="3536445290"/>
      </p:ext>
    </p:extLst>
  </p:cSld>
  <p:clrMapOvr>
    <a:masterClrMapping/>
  </p:clrMapOvr>
  <p:transition spd="med">
    <p:wipe dir="r"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5362" name="Rectangle 9"/>
              <p:cNvSpPr>
                <a:spLocks noGrp="1" noChangeArrowheads="1"/>
              </p:cNvSpPr>
              <p:nvPr>
                <p:ph idx="1"/>
              </p:nvPr>
            </p:nvSpPr>
            <p:spPr>
              <a:xfrm>
                <a:off x="926239" y="1289130"/>
                <a:ext cx="7937843" cy="4114800"/>
              </a:xfrm>
            </p:spPr>
            <p:txBody>
              <a:bodyPr/>
              <a:lstStyle/>
              <a:p>
                <a:pPr eaLnBrk="1" hangingPunct="1"/>
                <a:r>
                  <a:rPr lang="ko-KR" altLang="en-US" sz="2400" dirty="0">
                    <a:latin typeface="나눔명조" pitchFamily="18" charset="-127"/>
                    <a:ea typeface="나눔명조" pitchFamily="18" charset="-127"/>
                  </a:rPr>
                  <a:t>두 가지 최종 소비재 </a:t>
                </a:r>
                <a14:m>
                  <m:oMath xmlns:m="http://schemas.openxmlformats.org/officeDocument/2006/math">
                    <m:r>
                      <a:rPr lang="en-US" altLang="ko-KR" sz="2400">
                        <a:latin typeface="Cambria Math" panose="02040503050406030204" pitchFamily="18" charset="0"/>
                        <a:ea typeface="나눔명조" pitchFamily="18" charset="-127"/>
                      </a:rPr>
                      <m:t>(</m:t>
                    </m:r>
                    <m:r>
                      <a:rPr lang="en-US" altLang="ko-KR" sz="2400" b="0" i="1" smtClean="0">
                        <a:latin typeface="Cambria Math" panose="02040503050406030204" pitchFamily="18" charset="0"/>
                        <a:ea typeface="나눔명조" pitchFamily="18" charset="-127"/>
                      </a:rPr>
                      <m:t>𝑞</m:t>
                    </m:r>
                    <m:r>
                      <a:rPr lang="en-US" altLang="ko-KR" sz="2400" i="1">
                        <a:latin typeface="Cambria Math" panose="02040503050406030204" pitchFamily="18" charset="0"/>
                        <a:ea typeface="나눔명조" pitchFamily="18" charset="-127"/>
                      </a:rPr>
                      <m:t>,</m:t>
                    </m:r>
                    <m:r>
                      <a:rPr lang="en-US" altLang="ko-KR" sz="2400" i="1">
                        <a:latin typeface="Cambria Math" panose="02040503050406030204" pitchFamily="18" charset="0"/>
                        <a:ea typeface="나눔명조" pitchFamily="18" charset="-127"/>
                      </a:rPr>
                      <m:t>𝑧</m:t>
                    </m:r>
                    <m:r>
                      <a:rPr lang="en-US" altLang="ko-KR" sz="2400" i="1">
                        <a:latin typeface="Cambria Math" panose="02040503050406030204" pitchFamily="18" charset="0"/>
                        <a:ea typeface="나눔명조" pitchFamily="18" charset="-127"/>
                      </a:rPr>
                      <m:t>)</m:t>
                    </m:r>
                  </m:oMath>
                </a14:m>
                <a:r>
                  <a:rPr lang="en-US" altLang="ko-KR" sz="2400" dirty="0">
                    <a:latin typeface="나눔명조" pitchFamily="18" charset="-127"/>
                    <a:ea typeface="나눔명조" pitchFamily="18" charset="-127"/>
                  </a:rPr>
                  <a:t> </a:t>
                </a:r>
                <a:r>
                  <a:rPr lang="ko-KR" altLang="en-US" sz="2400" dirty="0">
                    <a:latin typeface="나눔명조" pitchFamily="18" charset="-127"/>
                    <a:ea typeface="나눔명조" pitchFamily="18" charset="-127"/>
                  </a:rPr>
                  <a:t>중 </a:t>
                </a:r>
                <a14:m>
                  <m:oMath xmlns:m="http://schemas.openxmlformats.org/officeDocument/2006/math">
                    <m:r>
                      <a:rPr lang="en-US" altLang="ko-KR" sz="2400" b="0" i="1" smtClean="0">
                        <a:latin typeface="Cambria Math" panose="02040503050406030204" pitchFamily="18" charset="0"/>
                        <a:ea typeface="나눔명조" pitchFamily="18" charset="-127"/>
                      </a:rPr>
                      <m:t>𝑞</m:t>
                    </m:r>
                  </m:oMath>
                </a14:m>
                <a:r>
                  <a:rPr lang="ko-KR" altLang="en-US" sz="2400" dirty="0">
                    <a:latin typeface="나눔명조" pitchFamily="18" charset="-127"/>
                    <a:ea typeface="나눔명조" pitchFamily="18" charset="-127"/>
                  </a:rPr>
                  <a:t>는 개인 환경이며</a:t>
                </a:r>
                <a:r>
                  <a:rPr lang="en-US" altLang="ko-KR" sz="2400" dirty="0">
                    <a:latin typeface="나눔명조" pitchFamily="18" charset="-127"/>
                    <a:ea typeface="나눔명조" pitchFamily="18" charset="-127"/>
                  </a:rPr>
                  <a:t>, </a:t>
                </a:r>
                <a14:m>
                  <m:oMath xmlns:m="http://schemas.openxmlformats.org/officeDocument/2006/math">
                    <m:r>
                      <a:rPr lang="en-US" altLang="ko-KR" sz="2400" i="1">
                        <a:latin typeface="Cambria Math" panose="02040503050406030204" pitchFamily="18" charset="0"/>
                        <a:ea typeface="나눔명조" pitchFamily="18" charset="-127"/>
                      </a:rPr>
                      <m:t>𝑧</m:t>
                    </m:r>
                    <m:r>
                      <a:rPr lang="en-US" altLang="ko-KR" sz="2400" i="1">
                        <a:latin typeface="Cambria Math" panose="02040503050406030204" pitchFamily="18" charset="0"/>
                        <a:ea typeface="나눔명조" pitchFamily="18" charset="-127"/>
                      </a:rPr>
                      <m:t> </m:t>
                    </m:r>
                  </m:oMath>
                </a14:m>
                <a:r>
                  <a:rPr lang="ko-KR" altLang="en-US" sz="2400" dirty="0">
                    <a:latin typeface="나눔명조" pitchFamily="18" charset="-127"/>
                    <a:ea typeface="나눔명조" pitchFamily="18" charset="-127"/>
                  </a:rPr>
                  <a:t>는 일반 소비재 지출액임</a:t>
                </a:r>
                <a:r>
                  <a:rPr lang="en-US" altLang="ko-KR" sz="2400" dirty="0">
                    <a:latin typeface="나눔명조" pitchFamily="18" charset="-127"/>
                    <a:ea typeface="나눔명조" pitchFamily="18" charset="-127"/>
                  </a:rPr>
                  <a:t>. </a:t>
                </a:r>
                <a:r>
                  <a:rPr lang="ko-KR" altLang="en-US" sz="2400" dirty="0">
                    <a:latin typeface="나눔명조" pitchFamily="18" charset="-127"/>
                    <a:ea typeface="나눔명조" pitchFamily="18" charset="-127"/>
                  </a:rPr>
                  <a:t>효용은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ko-KR" sz="2400">
                        <a:latin typeface="Cambria Math" panose="02040503050406030204" pitchFamily="18" charset="0"/>
                        <a:ea typeface="나눔명조" pitchFamily="18" charset="-127"/>
                      </a:rPr>
                      <m:t>u</m:t>
                    </m:r>
                    <m:r>
                      <a:rPr lang="en-US" altLang="ko-KR" sz="2400">
                        <a:latin typeface="Cambria Math" panose="02040503050406030204" pitchFamily="18" charset="0"/>
                        <a:ea typeface="나눔명조" pitchFamily="18" charset="-127"/>
                      </a:rPr>
                      <m:t>(</m:t>
                    </m:r>
                    <m:r>
                      <a:rPr lang="en-US" altLang="ko-KR" sz="2400" i="1">
                        <a:latin typeface="Cambria Math" panose="02040503050406030204" pitchFamily="18" charset="0"/>
                        <a:ea typeface="나눔명조" pitchFamily="18" charset="-127"/>
                      </a:rPr>
                      <m:t>𝑞</m:t>
                    </m:r>
                    <m:r>
                      <a:rPr lang="en-US" altLang="ko-KR" sz="2400" i="1">
                        <a:latin typeface="Cambria Math" panose="02040503050406030204" pitchFamily="18" charset="0"/>
                        <a:ea typeface="나눔명조" pitchFamily="18" charset="-127"/>
                      </a:rPr>
                      <m:t>,</m:t>
                    </m:r>
                    <m:r>
                      <a:rPr lang="en-US" altLang="ko-KR" sz="2400" i="1">
                        <a:latin typeface="Cambria Math" panose="02040503050406030204" pitchFamily="18" charset="0"/>
                        <a:ea typeface="나눔명조" pitchFamily="18" charset="-127"/>
                      </a:rPr>
                      <m:t>𝑧</m:t>
                    </m:r>
                    <m:r>
                      <a:rPr lang="en-US" altLang="ko-KR" sz="2400" i="1">
                        <a:latin typeface="Cambria Math" panose="02040503050406030204" pitchFamily="18" charset="0"/>
                        <a:ea typeface="나눔명조" pitchFamily="18" charset="-127"/>
                      </a:rPr>
                      <m:t>) </m:t>
                    </m:r>
                  </m:oMath>
                </a14:m>
                <a:endParaRPr lang="en-US" altLang="ko-KR" sz="2400" b="0" i="0" dirty="0">
                  <a:latin typeface="Cambria Math" panose="02040503050406030204" pitchFamily="18" charset="0"/>
                  <a:ea typeface="나눔명조" pitchFamily="18" charset="-127"/>
                </a:endParaRPr>
              </a:p>
              <a:p>
                <a:pPr eaLnBrk="1" hangingPunct="1"/>
                <a:r>
                  <a:rPr lang="ko-KR" altLang="en-US" sz="2400" b="0" i="0" dirty="0">
                    <a:latin typeface="Cambria Math" panose="02040503050406030204" pitchFamily="18" charset="0"/>
                    <a:ea typeface="나눔명조" pitchFamily="18" charset="-127"/>
                  </a:rPr>
                  <a:t>개인</a:t>
                </a:r>
                <a:r>
                  <a:rPr lang="en-US" altLang="ko-KR" sz="2400" dirty="0">
                    <a:latin typeface="Cambria Math" panose="02040503050406030204" pitchFamily="18" charset="0"/>
                    <a:ea typeface="나눔명조" pitchFamily="18" charset="-127"/>
                  </a:rPr>
                  <a:t> </a:t>
                </a:r>
                <a:r>
                  <a:rPr lang="ko-KR" altLang="en-US" sz="2400" dirty="0">
                    <a:latin typeface="Cambria Math" panose="02040503050406030204" pitchFamily="18" charset="0"/>
                    <a:ea typeface="나눔명조" pitchFamily="18" charset="-127"/>
                  </a:rPr>
                  <a:t>환경 </a:t>
                </a:r>
                <a14:m>
                  <m:oMath xmlns:m="http://schemas.openxmlformats.org/officeDocument/2006/math">
                    <m:r>
                      <a:rPr lang="en-US" altLang="ko-KR" sz="2400" i="1">
                        <a:latin typeface="Cambria Math" panose="02040503050406030204" pitchFamily="18" charset="0"/>
                        <a:ea typeface="나눔명조" pitchFamily="18" charset="-127"/>
                      </a:rPr>
                      <m:t>𝑞</m:t>
                    </m:r>
                  </m:oMath>
                </a14:m>
                <a:r>
                  <a:rPr lang="ko-KR" altLang="en-US" sz="2400" b="0" i="0" dirty="0">
                    <a:latin typeface="Cambria Math" panose="02040503050406030204" pitchFamily="18" charset="0"/>
                    <a:ea typeface="나눔명조" pitchFamily="18" charset="-127"/>
                  </a:rPr>
                  <a:t>는 </a:t>
                </a:r>
                <a14:m>
                  <m:oMath xmlns:m="http://schemas.openxmlformats.org/officeDocument/2006/math">
                    <m:r>
                      <a:rPr lang="en-US" altLang="ko-KR" sz="2400" i="1">
                        <a:latin typeface="Cambria Math" panose="02040503050406030204" pitchFamily="18" charset="0"/>
                        <a:ea typeface="나눔명조" pitchFamily="18" charset="-127"/>
                      </a:rPr>
                      <m:t>𝑄</m:t>
                    </m:r>
                  </m:oMath>
                </a14:m>
                <a:r>
                  <a:rPr lang="ko-KR" altLang="en-US" sz="2400" b="0" i="0" dirty="0">
                    <a:latin typeface="Cambria Math" panose="02040503050406030204" pitchFamily="18" charset="0"/>
                    <a:ea typeface="나눔명조" pitchFamily="18" charset="-127"/>
                  </a:rPr>
                  <a:t>를 공공재인 전체 환경이라 할 때</a:t>
                </a:r>
                <a14:m>
                  <m:oMath xmlns:m="http://schemas.openxmlformats.org/officeDocument/2006/math">
                    <m:r>
                      <a:rPr lang="en-US" altLang="ko-KR" sz="2400" b="0" i="0" smtClean="0">
                        <a:latin typeface="Cambria Math" panose="02040503050406030204" pitchFamily="18" charset="0"/>
                        <a:ea typeface="나눔명조" pitchFamily="18" charset="-127"/>
                      </a:rPr>
                      <m:t> </m:t>
                    </m:r>
                    <m:r>
                      <a:rPr lang="en-US" altLang="ko-KR" sz="2400" b="0" i="1" smtClean="0">
                        <a:latin typeface="Cambria Math" panose="02040503050406030204" pitchFamily="18" charset="0"/>
                        <a:ea typeface="나눔명조" pitchFamily="18" charset="-127"/>
                      </a:rPr>
                      <m:t>𝑞</m:t>
                    </m:r>
                    <m:r>
                      <a:rPr lang="en-US" altLang="ko-KR" sz="2400" b="0" i="1" smtClean="0">
                        <a:latin typeface="Cambria Math" panose="02040503050406030204" pitchFamily="18" charset="0"/>
                        <a:ea typeface="나눔명조" pitchFamily="18" charset="-127"/>
                      </a:rPr>
                      <m:t>=</m:t>
                    </m:r>
                    <m:r>
                      <a:rPr lang="en-US" altLang="ko-KR" sz="2400" b="0" i="1" smtClean="0">
                        <a:latin typeface="Cambria Math" panose="02040503050406030204" pitchFamily="18" charset="0"/>
                        <a:ea typeface="나눔명조" pitchFamily="18" charset="-127"/>
                      </a:rPr>
                      <m:t>𝑓</m:t>
                    </m:r>
                    <m:r>
                      <a:rPr lang="en-US" altLang="ko-KR" sz="2400" b="0" i="1" smtClean="0">
                        <a:latin typeface="Cambria Math" panose="02040503050406030204" pitchFamily="18" charset="0"/>
                        <a:ea typeface="나눔명조" pitchFamily="18" charset="-127"/>
                      </a:rPr>
                      <m:t>(</m:t>
                    </m:r>
                    <m:r>
                      <a:rPr lang="en-US" altLang="ko-KR" sz="2400" b="0" i="1" smtClean="0">
                        <a:latin typeface="Cambria Math" panose="02040503050406030204" pitchFamily="18" charset="0"/>
                        <a:ea typeface="나눔명조" pitchFamily="18" charset="-127"/>
                      </a:rPr>
                      <m:t>𝑥</m:t>
                    </m:r>
                    <m:r>
                      <a:rPr lang="en-US" altLang="ko-KR" sz="2400" b="0" i="1" smtClean="0">
                        <a:latin typeface="Cambria Math" panose="02040503050406030204" pitchFamily="18" charset="0"/>
                        <a:ea typeface="나눔명조" pitchFamily="18" charset="-127"/>
                      </a:rPr>
                      <m:t>,</m:t>
                    </m:r>
                    <m:r>
                      <a:rPr lang="en-US" altLang="ko-KR" sz="2400" b="0" i="1" smtClean="0">
                        <a:latin typeface="Cambria Math" panose="02040503050406030204" pitchFamily="18" charset="0"/>
                        <a:ea typeface="나눔명조" pitchFamily="18" charset="-127"/>
                      </a:rPr>
                      <m:t>𝑄</m:t>
                    </m:r>
                    <m:r>
                      <a:rPr lang="en-US" altLang="ko-KR" sz="2400" b="0" i="1" smtClean="0">
                        <a:latin typeface="Cambria Math" panose="02040503050406030204" pitchFamily="18" charset="0"/>
                        <a:ea typeface="나눔명조" pitchFamily="18" charset="-127"/>
                      </a:rPr>
                      <m:t>)</m:t>
                    </m:r>
                    <m:r>
                      <a:rPr lang="ko-KR" altLang="en-US" sz="2400" i="1">
                        <a:latin typeface="Cambria Math" panose="02040503050406030204" pitchFamily="18" charset="0"/>
                        <a:ea typeface="나눔명조" pitchFamily="18" charset="-127"/>
                      </a:rPr>
                      <m:t>와</m:t>
                    </m:r>
                  </m:oMath>
                </a14:m>
                <a:r>
                  <a:rPr lang="ko-KR" altLang="en-US" sz="2400" dirty="0">
                    <a:latin typeface="나눔명조" pitchFamily="18" charset="-127"/>
                    <a:ea typeface="나눔명조" pitchFamily="18" charset="-127"/>
                  </a:rPr>
                  <a:t> 같이 </a:t>
                </a:r>
                <a:r>
                  <a:rPr lang="en-US" altLang="ko-KR" sz="2400" dirty="0">
                    <a:latin typeface="나눔명조" pitchFamily="18" charset="-127"/>
                    <a:ea typeface="나눔명조" pitchFamily="18" charset="-127"/>
                  </a:rPr>
                  <a:t>‘</a:t>
                </a:r>
                <a:r>
                  <a:rPr lang="ko-KR" altLang="en-US" sz="2400" dirty="0">
                    <a:latin typeface="나눔명조" pitchFamily="18" charset="-127"/>
                    <a:ea typeface="나눔명조" pitchFamily="18" charset="-127"/>
                  </a:rPr>
                  <a:t>생산</a:t>
                </a:r>
                <a:r>
                  <a:rPr lang="en-US" altLang="ko-KR" sz="2400" dirty="0">
                    <a:latin typeface="나눔명조" pitchFamily="18" charset="-127"/>
                    <a:ea typeface="나눔명조" pitchFamily="18" charset="-127"/>
                  </a:rPr>
                  <a:t>’</a:t>
                </a:r>
                <a:r>
                  <a:rPr lang="ko-KR" altLang="en-US" sz="2400" dirty="0">
                    <a:latin typeface="나눔명조" pitchFamily="18" charset="-127"/>
                    <a:ea typeface="나눔명조" pitchFamily="18" charset="-127"/>
                  </a:rPr>
                  <a:t>됨</a:t>
                </a:r>
                <a:r>
                  <a:rPr lang="en-US" altLang="ko-KR" sz="2400" dirty="0">
                    <a:latin typeface="나눔명조" pitchFamily="18" charset="-127"/>
                    <a:ea typeface="나눔명조" pitchFamily="18" charset="-127"/>
                  </a:rPr>
                  <a:t>. </a:t>
                </a:r>
                <a14:m>
                  <m:oMath xmlns:m="http://schemas.openxmlformats.org/officeDocument/2006/math">
                    <m:r>
                      <a:rPr lang="en-US" altLang="ko-KR" sz="2400" i="1">
                        <a:latin typeface="Cambria Math" panose="02040503050406030204" pitchFamily="18" charset="0"/>
                        <a:ea typeface="나눔명조" pitchFamily="18" charset="-127"/>
                      </a:rPr>
                      <m:t>𝑥</m:t>
                    </m:r>
                  </m:oMath>
                </a14:m>
                <a:r>
                  <a:rPr lang="ko-KR" altLang="en-US" sz="2400" dirty="0">
                    <a:latin typeface="나눔명조" pitchFamily="18" charset="-127"/>
                    <a:ea typeface="나눔명조" pitchFamily="18" charset="-127"/>
                  </a:rPr>
                  <a:t>는 </a:t>
                </a:r>
                <a:r>
                  <a:rPr lang="ko-KR" altLang="en-US" sz="2400" dirty="0" err="1">
                    <a:latin typeface="나눔명조" pitchFamily="18" charset="-127"/>
                    <a:ea typeface="나눔명조" pitchFamily="18" charset="-127"/>
                  </a:rPr>
                  <a:t>시장재임</a:t>
                </a:r>
                <a:endParaRPr lang="en-US" altLang="ko-KR" sz="2400" dirty="0">
                  <a:latin typeface="나눔명조" pitchFamily="18" charset="-127"/>
                  <a:ea typeface="나눔명조" pitchFamily="18" charset="-127"/>
                </a:endParaRPr>
              </a:p>
              <a:p>
                <a:pPr lvl="1" eaLnBrk="1" hangingPunct="1"/>
                <a:r>
                  <a:rPr lang="ko-KR" altLang="en-US" sz="2000" dirty="0">
                    <a:latin typeface="나눔명조" pitchFamily="18" charset="-127"/>
                    <a:ea typeface="나눔명조" pitchFamily="18" charset="-127"/>
                  </a:rPr>
                  <a:t>공공재 </a:t>
                </a:r>
                <a14:m>
                  <m:oMath xmlns:m="http://schemas.openxmlformats.org/officeDocument/2006/math">
                    <m:r>
                      <a:rPr lang="en-US" altLang="ko-KR" sz="2000" i="1">
                        <a:latin typeface="Cambria Math" panose="02040503050406030204" pitchFamily="18" charset="0"/>
                        <a:ea typeface="나눔명조" pitchFamily="18" charset="-127"/>
                      </a:rPr>
                      <m:t>𝑄</m:t>
                    </m:r>
                  </m:oMath>
                </a14:m>
                <a:r>
                  <a:rPr lang="ko-KR" altLang="en-US" sz="2000" dirty="0">
                    <a:latin typeface="나눔명조" pitchFamily="18" charset="-127"/>
                    <a:ea typeface="나눔명조" pitchFamily="18" charset="-127"/>
                  </a:rPr>
                  <a:t>는</a:t>
                </a:r>
                <a:r>
                  <a:rPr lang="en-US" altLang="ko-KR" sz="2000" dirty="0">
                    <a:latin typeface="나눔명조" pitchFamily="18" charset="-127"/>
                    <a:ea typeface="나눔명조" pitchFamily="18" charset="-127"/>
                  </a:rPr>
                  <a:t> </a:t>
                </a:r>
                <a:r>
                  <a:rPr lang="ko-KR" altLang="en-US" sz="2000" dirty="0">
                    <a:latin typeface="나눔명조" pitchFamily="18" charset="-127"/>
                    <a:ea typeface="나눔명조" pitchFamily="18" charset="-127"/>
                  </a:rPr>
                  <a:t>직접 효용에 영향을 미치지 않고 개인 환경 </a:t>
                </a:r>
                <a14:m>
                  <m:oMath xmlns:m="http://schemas.openxmlformats.org/officeDocument/2006/math">
                    <m:r>
                      <a:rPr lang="en-US" altLang="ko-KR" sz="2000" i="1">
                        <a:latin typeface="Cambria Math" panose="02040503050406030204" pitchFamily="18" charset="0"/>
                        <a:ea typeface="나눔명조" pitchFamily="18" charset="-127"/>
                      </a:rPr>
                      <m:t>𝑞</m:t>
                    </m:r>
                    <m:r>
                      <a:rPr lang="en-US" altLang="ko-KR" sz="2000" i="1">
                        <a:latin typeface="Cambria Math" panose="02040503050406030204" pitchFamily="18" charset="0"/>
                        <a:ea typeface="나눔명조" pitchFamily="18" charset="-127"/>
                      </a:rPr>
                      <m:t> </m:t>
                    </m:r>
                  </m:oMath>
                </a14:m>
                <a:r>
                  <a:rPr lang="ko-KR" altLang="en-US" sz="2000" dirty="0">
                    <a:latin typeface="나눔명조" pitchFamily="18" charset="-127"/>
                    <a:ea typeface="나눔명조" pitchFamily="18" charset="-127"/>
                  </a:rPr>
                  <a:t> 생산을 통해 효용에 영향을 미침</a:t>
                </a:r>
                <a:endParaRPr lang="en-US" altLang="ko-KR" sz="2000" dirty="0">
                  <a:latin typeface="나눔명조" pitchFamily="18" charset="-127"/>
                  <a:ea typeface="나눔명조" pitchFamily="18" charset="-127"/>
                </a:endParaRPr>
              </a:p>
              <a:p>
                <a:pPr eaLnBrk="1" hangingPunct="1"/>
                <a:r>
                  <a:rPr lang="ko-KR" altLang="en-US" sz="2400" dirty="0">
                    <a:latin typeface="나눔명조" pitchFamily="18" charset="-127"/>
                    <a:ea typeface="나눔명조" pitchFamily="18" charset="-127"/>
                  </a:rPr>
                  <a:t>소비자의 예산제약</a:t>
                </a:r>
                <a:r>
                  <a:rPr lang="en-US" altLang="ko-KR" sz="2400" dirty="0">
                    <a:latin typeface="나눔명조" pitchFamily="18" charset="-127"/>
                    <a:ea typeface="나눔명조" pitchFamily="18" charset="-127"/>
                  </a:rPr>
                  <a:t>: </a:t>
                </a:r>
                <a14:m>
                  <m:oMath xmlns:m="http://schemas.openxmlformats.org/officeDocument/2006/math">
                    <m:r>
                      <a:rPr lang="en-US" altLang="ko-KR" sz="2400" b="0" i="1" smtClean="0">
                        <a:latin typeface="Cambria Math" panose="02040503050406030204" pitchFamily="18" charset="0"/>
                        <a:ea typeface="나눔명조" pitchFamily="18" charset="-127"/>
                      </a:rPr>
                      <m:t>𝑝𝑥</m:t>
                    </m:r>
                    <m:r>
                      <a:rPr lang="en-US" altLang="ko-KR" sz="2400" b="0" i="1" smtClean="0">
                        <a:latin typeface="Cambria Math" panose="02040503050406030204" pitchFamily="18" charset="0"/>
                        <a:ea typeface="나눔명조" pitchFamily="18" charset="-127"/>
                      </a:rPr>
                      <m:t>+</m:t>
                    </m:r>
                    <m:r>
                      <a:rPr lang="en-US" altLang="ko-KR" sz="2400" b="0" i="1" smtClean="0">
                        <a:latin typeface="Cambria Math" panose="02040503050406030204" pitchFamily="18" charset="0"/>
                        <a:ea typeface="나눔명조" pitchFamily="18" charset="-127"/>
                      </a:rPr>
                      <m:t>𝑧</m:t>
                    </m:r>
                    <m:r>
                      <a:rPr lang="en-US" altLang="ko-KR" sz="2400" b="0" i="1" smtClean="0">
                        <a:latin typeface="Cambria Math" panose="02040503050406030204" pitchFamily="18" charset="0"/>
                        <a:ea typeface="나눔명조" pitchFamily="18" charset="-127"/>
                      </a:rPr>
                      <m:t>=</m:t>
                    </m:r>
                    <m:r>
                      <a:rPr lang="en-US" altLang="ko-KR" sz="2400" b="0" i="1" smtClean="0">
                        <a:latin typeface="Cambria Math" panose="02040503050406030204" pitchFamily="18" charset="0"/>
                        <a:ea typeface="나눔명조" pitchFamily="18" charset="-127"/>
                      </a:rPr>
                      <m:t>𝑚</m:t>
                    </m:r>
                  </m:oMath>
                </a14:m>
                <a:endParaRPr lang="en-US" altLang="ko-KR" sz="2400" dirty="0">
                  <a:latin typeface="나눔명조" pitchFamily="18" charset="-127"/>
                  <a:ea typeface="나눔명조" pitchFamily="18" charset="-127"/>
                </a:endParaRPr>
              </a:p>
              <a:p>
                <a:pPr eaLnBrk="1" hangingPunct="1"/>
                <a:r>
                  <a:rPr lang="ko-KR" altLang="en-US" sz="2400" dirty="0">
                    <a:latin typeface="나눔명조" pitchFamily="18" charset="-127"/>
                    <a:ea typeface="나눔명조" pitchFamily="18" charset="-127"/>
                  </a:rPr>
                  <a:t>예산제약 하에서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ko-KR" sz="2400" b="0" i="0" smtClean="0">
                        <a:latin typeface="Cambria Math" panose="02040503050406030204" pitchFamily="18" charset="0"/>
                        <a:ea typeface="나눔명조" pitchFamily="18" charset="-127"/>
                      </a:rPr>
                      <m:t>u</m:t>
                    </m:r>
                    <m:r>
                      <a:rPr lang="en-US" altLang="ko-KR" sz="2400" b="0" i="0" smtClean="0">
                        <a:latin typeface="Cambria Math" panose="02040503050406030204" pitchFamily="18" charset="0"/>
                        <a:ea typeface="나눔명조" pitchFamily="18" charset="-127"/>
                      </a:rPr>
                      <m:t>(</m:t>
                    </m:r>
                    <m:r>
                      <a:rPr lang="en-US" altLang="ko-KR" sz="2400" b="0" i="1" smtClean="0">
                        <a:latin typeface="Cambria Math" panose="02040503050406030204" pitchFamily="18" charset="0"/>
                        <a:ea typeface="나눔명조" pitchFamily="18" charset="-127"/>
                      </a:rPr>
                      <m:t>𝑞</m:t>
                    </m:r>
                    <m:r>
                      <a:rPr lang="en-US" altLang="ko-KR" sz="2400" b="0" i="1" smtClean="0">
                        <a:latin typeface="Cambria Math" panose="02040503050406030204" pitchFamily="18" charset="0"/>
                        <a:ea typeface="나눔명조" pitchFamily="18" charset="-127"/>
                      </a:rPr>
                      <m:t>,</m:t>
                    </m:r>
                    <m:r>
                      <a:rPr lang="en-US" altLang="ko-KR" sz="2400" b="0" i="1" smtClean="0">
                        <a:latin typeface="Cambria Math" panose="02040503050406030204" pitchFamily="18" charset="0"/>
                        <a:ea typeface="나눔명조" pitchFamily="18" charset="-127"/>
                      </a:rPr>
                      <m:t>𝑧</m:t>
                    </m:r>
                    <m:r>
                      <a:rPr lang="en-US" altLang="ko-KR" sz="2400" b="0" i="1" smtClean="0">
                        <a:latin typeface="Cambria Math" panose="02040503050406030204" pitchFamily="18" charset="0"/>
                        <a:ea typeface="나눔명조" pitchFamily="18" charset="-127"/>
                      </a:rPr>
                      <m:t>) </m:t>
                    </m:r>
                  </m:oMath>
                </a14:m>
                <a:r>
                  <a:rPr lang="ko-KR" altLang="en-US" sz="2400" dirty="0">
                    <a:latin typeface="나눔명조" pitchFamily="18" charset="-127"/>
                    <a:ea typeface="나눔명조" pitchFamily="18" charset="-127"/>
                  </a:rPr>
                  <a:t>혹은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ko-KR" sz="2400" b="0" i="0" smtClean="0">
                        <a:latin typeface="Cambria Math" panose="02040503050406030204" pitchFamily="18" charset="0"/>
                        <a:ea typeface="나눔명조" pitchFamily="18" charset="-127"/>
                      </a:rPr>
                      <m:t>u</m:t>
                    </m:r>
                    <m:r>
                      <a:rPr lang="en-US" altLang="ko-KR" sz="2400" b="0" i="0" smtClean="0">
                        <a:latin typeface="Cambria Math" panose="02040503050406030204" pitchFamily="18" charset="0"/>
                        <a:ea typeface="나눔명조" pitchFamily="18" charset="-127"/>
                      </a:rPr>
                      <m:t>(</m:t>
                    </m:r>
                    <m:r>
                      <m:rPr>
                        <m:sty m:val="p"/>
                      </m:rPr>
                      <a:rPr lang="en-US" altLang="ko-KR" sz="2400" b="0" i="0" smtClean="0">
                        <a:latin typeface="Cambria Math" panose="02040503050406030204" pitchFamily="18" charset="0"/>
                        <a:ea typeface="나눔명조" pitchFamily="18" charset="-127"/>
                      </a:rPr>
                      <m:t>f</m:t>
                    </m:r>
                    <m:d>
                      <m:dPr>
                        <m:ctrlPr>
                          <a:rPr lang="en-US" altLang="ko-KR" sz="2400" b="0" i="1" smtClean="0">
                            <a:latin typeface="Cambria Math" panose="02040503050406030204" pitchFamily="18" charset="0"/>
                            <a:ea typeface="나눔명조" pitchFamily="18" charset="-127"/>
                          </a:rPr>
                        </m:ctrlPr>
                      </m:dPr>
                      <m:e>
                        <m:r>
                          <a:rPr lang="en-US" altLang="ko-KR" sz="2400" b="0" i="1" smtClean="0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𝑥</m:t>
                        </m:r>
                        <m:r>
                          <a:rPr lang="en-US" altLang="ko-KR" sz="2400" b="0" i="1" smtClean="0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,</m:t>
                        </m:r>
                        <m:r>
                          <a:rPr lang="en-US" altLang="ko-KR" sz="2400" b="0" i="1" smtClean="0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𝑄</m:t>
                        </m:r>
                      </m:e>
                    </m:d>
                    <m:r>
                      <a:rPr lang="en-US" altLang="ko-KR" sz="2400" b="0" i="1" smtClean="0">
                        <a:latin typeface="Cambria Math" panose="02040503050406030204" pitchFamily="18" charset="0"/>
                        <a:ea typeface="나눔명조" pitchFamily="18" charset="-127"/>
                      </a:rPr>
                      <m:t>,</m:t>
                    </m:r>
                    <m:r>
                      <a:rPr lang="en-US" altLang="ko-KR" sz="2400" b="0" i="1" smtClean="0">
                        <a:latin typeface="Cambria Math" panose="02040503050406030204" pitchFamily="18" charset="0"/>
                        <a:ea typeface="나눔명조" pitchFamily="18" charset="-127"/>
                      </a:rPr>
                      <m:t>𝑧</m:t>
                    </m:r>
                    <m:r>
                      <a:rPr lang="en-US" altLang="ko-KR" sz="2400" b="0" i="1" smtClean="0">
                        <a:latin typeface="Cambria Math" panose="02040503050406030204" pitchFamily="18" charset="0"/>
                        <a:ea typeface="나눔명조" pitchFamily="18" charset="-127"/>
                      </a:rPr>
                      <m:t>) </m:t>
                    </m:r>
                  </m:oMath>
                </a14:m>
                <a:r>
                  <a:rPr lang="ko-KR" altLang="en-US" sz="2400" dirty="0">
                    <a:latin typeface="나눔명조" pitchFamily="18" charset="-127"/>
                    <a:ea typeface="나눔명조" pitchFamily="18" charset="-127"/>
                  </a:rPr>
                  <a:t>를 극대화하는 </a:t>
                </a:r>
                <a14:m>
                  <m:oMath xmlns:m="http://schemas.openxmlformats.org/officeDocument/2006/math">
                    <m:r>
                      <a:rPr lang="en-US" altLang="ko-KR" sz="2400" b="0" i="0" smtClean="0">
                        <a:latin typeface="Cambria Math" panose="02040503050406030204" pitchFamily="18" charset="0"/>
                        <a:ea typeface="나눔명조" pitchFamily="18" charset="-127"/>
                      </a:rPr>
                      <m:t>(</m:t>
                    </m:r>
                    <m:r>
                      <a:rPr lang="en-US" altLang="ko-KR" sz="2400" b="0" i="1" smtClean="0">
                        <a:latin typeface="Cambria Math" panose="02040503050406030204" pitchFamily="18" charset="0"/>
                        <a:ea typeface="나눔명조" pitchFamily="18" charset="-127"/>
                      </a:rPr>
                      <m:t>𝑥</m:t>
                    </m:r>
                    <m:r>
                      <a:rPr lang="en-US" altLang="ko-KR" sz="2400" b="0" i="1" smtClean="0">
                        <a:latin typeface="Cambria Math" panose="02040503050406030204" pitchFamily="18" charset="0"/>
                        <a:ea typeface="나눔명조" pitchFamily="18" charset="-127"/>
                      </a:rPr>
                      <m:t>,</m:t>
                    </m:r>
                    <m:r>
                      <a:rPr lang="en-US" altLang="ko-KR" sz="2400" b="0" i="1" smtClean="0">
                        <a:latin typeface="Cambria Math" panose="02040503050406030204" pitchFamily="18" charset="0"/>
                        <a:ea typeface="나눔명조" pitchFamily="18" charset="-127"/>
                      </a:rPr>
                      <m:t>𝑧</m:t>
                    </m:r>
                    <m:r>
                      <a:rPr lang="en-US" altLang="ko-KR" sz="2400" b="0" i="1" smtClean="0">
                        <a:latin typeface="Cambria Math" panose="02040503050406030204" pitchFamily="18" charset="0"/>
                        <a:ea typeface="나눔명조" pitchFamily="18" charset="-127"/>
                      </a:rPr>
                      <m:t>)</m:t>
                    </m:r>
                  </m:oMath>
                </a14:m>
                <a:r>
                  <a:rPr lang="ko-KR" altLang="en-US" sz="2400" dirty="0">
                    <a:latin typeface="나눔명조" pitchFamily="18" charset="-127"/>
                    <a:ea typeface="나눔명조" pitchFamily="18" charset="-127"/>
                  </a:rPr>
                  <a:t>를</a:t>
                </a:r>
                <a:r>
                  <a:rPr lang="en-US" altLang="ko-KR" sz="2400" dirty="0">
                    <a:latin typeface="나눔명조" pitchFamily="18" charset="-127"/>
                    <a:ea typeface="나눔명조" pitchFamily="18" charset="-127"/>
                  </a:rPr>
                  <a:t> </a:t>
                </a:r>
                <a:r>
                  <a:rPr lang="ko-KR" altLang="en-US" sz="2400" dirty="0">
                    <a:latin typeface="나눔명조" pitchFamily="18" charset="-127"/>
                    <a:ea typeface="나눔명조" pitchFamily="18" charset="-127"/>
                  </a:rPr>
                  <a:t>선택하며</a:t>
                </a:r>
                <a:r>
                  <a:rPr lang="en-US" altLang="ko-KR" sz="2400" dirty="0">
                    <a:latin typeface="나눔명조" pitchFamily="18" charset="-127"/>
                    <a:ea typeface="나눔명조" pitchFamily="18" charset="-127"/>
                  </a:rPr>
                  <a:t>, </a:t>
                </a:r>
                <a:r>
                  <a:rPr lang="ko-KR" altLang="en-US" sz="2400" dirty="0">
                    <a:latin typeface="나눔명조" pitchFamily="18" charset="-127"/>
                    <a:ea typeface="나눔명조" pitchFamily="18" charset="-127"/>
                  </a:rPr>
                  <a:t>그로 인해 </a:t>
                </a:r>
                <a14:m>
                  <m:oMath xmlns:m="http://schemas.openxmlformats.org/officeDocument/2006/math">
                    <m:r>
                      <a:rPr lang="en-US" altLang="ko-KR" sz="2400" i="1">
                        <a:latin typeface="Cambria Math" panose="02040503050406030204" pitchFamily="18" charset="0"/>
                        <a:ea typeface="나눔명조" pitchFamily="18" charset="-127"/>
                      </a:rPr>
                      <m:t>𝑞</m:t>
                    </m:r>
                    <m:r>
                      <a:rPr lang="ko-KR" altLang="en-US" sz="2400" i="1" smtClean="0">
                        <a:latin typeface="Cambria Math" panose="02040503050406030204" pitchFamily="18" charset="0"/>
                        <a:ea typeface="나눔명조" pitchFamily="18" charset="-127"/>
                      </a:rPr>
                      <m:t>도</m:t>
                    </m:r>
                  </m:oMath>
                </a14:m>
                <a:r>
                  <a:rPr lang="ko-KR" altLang="en-US" sz="2400" dirty="0">
                    <a:latin typeface="나눔명조" pitchFamily="18" charset="-127"/>
                    <a:ea typeface="나눔명조" pitchFamily="18" charset="-127"/>
                  </a:rPr>
                  <a:t> 결정됨</a:t>
                </a:r>
                <a:endParaRPr lang="en-US" altLang="ko-KR" sz="2400" dirty="0">
                  <a:latin typeface="나눔명조" pitchFamily="18" charset="-127"/>
                  <a:ea typeface="나눔명조" pitchFamily="18" charset="-127"/>
                </a:endParaRPr>
              </a:p>
              <a:p>
                <a:pPr eaLnBrk="1" hangingPunct="1"/>
                <a:r>
                  <a:rPr lang="ko-KR" altLang="en-US" sz="2400" dirty="0" err="1">
                    <a:latin typeface="나눔명조" pitchFamily="18" charset="-127"/>
                    <a:ea typeface="나눔명조" pitchFamily="18" charset="-127"/>
                  </a:rPr>
                  <a:t>시장재</a:t>
                </a:r>
                <a:r>
                  <a:rPr lang="ko-KR" altLang="en-US" sz="2400" dirty="0">
                    <a:latin typeface="나눔명조" pitchFamily="18" charset="-127"/>
                    <a:ea typeface="나눔명조" pitchFamily="18" charset="-127"/>
                  </a:rPr>
                  <a:t> 수요함수는 </a:t>
                </a:r>
                <a14:m>
                  <m:oMath xmlns:m="http://schemas.openxmlformats.org/officeDocument/2006/math">
                    <m:r>
                      <a:rPr lang="en-US" altLang="ko-KR" sz="2400" i="1">
                        <a:latin typeface="Cambria Math" panose="02040503050406030204" pitchFamily="18" charset="0"/>
                        <a:ea typeface="나눔명조" pitchFamily="18" charset="-127"/>
                      </a:rPr>
                      <m:t>𝑥</m:t>
                    </m:r>
                    <m:r>
                      <a:rPr lang="en-US" altLang="ko-KR" sz="2400" b="0" i="1" smtClean="0">
                        <a:latin typeface="Cambria Math" panose="02040503050406030204" pitchFamily="18" charset="0"/>
                        <a:ea typeface="나눔명조" pitchFamily="18" charset="-127"/>
                      </a:rPr>
                      <m:t>(</m:t>
                    </m:r>
                    <m:r>
                      <a:rPr lang="en-US" altLang="ko-KR" sz="2400" b="0" i="1" smtClean="0">
                        <a:latin typeface="Cambria Math" panose="02040503050406030204" pitchFamily="18" charset="0"/>
                        <a:ea typeface="나눔명조" pitchFamily="18" charset="-127"/>
                      </a:rPr>
                      <m:t>𝑝</m:t>
                    </m:r>
                    <m:r>
                      <a:rPr lang="en-US" altLang="ko-KR" sz="2400" b="0" i="1" smtClean="0">
                        <a:latin typeface="Cambria Math" panose="02040503050406030204" pitchFamily="18" charset="0"/>
                        <a:ea typeface="나눔명조" pitchFamily="18" charset="-127"/>
                      </a:rPr>
                      <m:t>,</m:t>
                    </m:r>
                    <m:r>
                      <a:rPr lang="en-US" altLang="ko-KR" sz="2400" b="0" i="1" smtClean="0">
                        <a:latin typeface="Cambria Math" panose="02040503050406030204" pitchFamily="18" charset="0"/>
                        <a:ea typeface="나눔명조" pitchFamily="18" charset="-127"/>
                      </a:rPr>
                      <m:t>𝑄</m:t>
                    </m:r>
                    <m:r>
                      <a:rPr lang="en-US" altLang="ko-KR" sz="2400" b="0" i="1" smtClean="0">
                        <a:latin typeface="Cambria Math" panose="02040503050406030204" pitchFamily="18" charset="0"/>
                        <a:ea typeface="나눔명조" pitchFamily="18" charset="-127"/>
                      </a:rPr>
                      <m:t>,</m:t>
                    </m:r>
                    <m:r>
                      <a:rPr lang="en-US" altLang="ko-KR" sz="2400" b="0" i="1" smtClean="0">
                        <a:latin typeface="Cambria Math" panose="02040503050406030204" pitchFamily="18" charset="0"/>
                        <a:ea typeface="나눔명조" pitchFamily="18" charset="-127"/>
                      </a:rPr>
                      <m:t>𝑚</m:t>
                    </m:r>
                    <m:r>
                      <a:rPr lang="en-US" altLang="ko-KR" sz="2400" b="0" i="1" smtClean="0">
                        <a:latin typeface="Cambria Math" panose="02040503050406030204" pitchFamily="18" charset="0"/>
                        <a:ea typeface="나눔명조" pitchFamily="18" charset="-127"/>
                      </a:rPr>
                      <m:t>)</m:t>
                    </m:r>
                  </m:oMath>
                </a14:m>
                <a:r>
                  <a:rPr lang="ko-KR" altLang="en-US" sz="2400" dirty="0">
                    <a:latin typeface="나눔명조" pitchFamily="18" charset="-127"/>
                    <a:ea typeface="나눔명조" pitchFamily="18" charset="-127"/>
                  </a:rPr>
                  <a:t>과</a:t>
                </a:r>
                <a:r>
                  <a:rPr lang="en-US" altLang="ko-KR" sz="2400" dirty="0">
                    <a:latin typeface="나눔명조" pitchFamily="18" charset="-127"/>
                    <a:ea typeface="나눔명조" pitchFamily="18" charset="-127"/>
                  </a:rPr>
                  <a:t> z</a:t>
                </a:r>
                <a14:m>
                  <m:oMath xmlns:m="http://schemas.openxmlformats.org/officeDocument/2006/math">
                    <m:r>
                      <a:rPr lang="en-US" altLang="ko-KR" sz="2400" b="0" i="1" smtClean="0">
                        <a:latin typeface="Cambria Math" panose="02040503050406030204" pitchFamily="18" charset="0"/>
                        <a:ea typeface="나눔명조" pitchFamily="18" charset="-127"/>
                      </a:rPr>
                      <m:t>(</m:t>
                    </m:r>
                    <m:r>
                      <a:rPr lang="en-US" altLang="ko-KR" sz="2400" b="0" i="1" smtClean="0">
                        <a:latin typeface="Cambria Math" panose="02040503050406030204" pitchFamily="18" charset="0"/>
                        <a:ea typeface="나눔명조" pitchFamily="18" charset="-127"/>
                      </a:rPr>
                      <m:t>𝑝</m:t>
                    </m:r>
                    <m:r>
                      <a:rPr lang="en-US" altLang="ko-KR" sz="2400" b="0" i="1" smtClean="0">
                        <a:latin typeface="Cambria Math" panose="02040503050406030204" pitchFamily="18" charset="0"/>
                        <a:ea typeface="나눔명조" pitchFamily="18" charset="-127"/>
                      </a:rPr>
                      <m:t>,</m:t>
                    </m:r>
                    <m:r>
                      <a:rPr lang="en-US" altLang="ko-KR" sz="2400" b="0" i="1" smtClean="0">
                        <a:latin typeface="Cambria Math" panose="02040503050406030204" pitchFamily="18" charset="0"/>
                        <a:ea typeface="나눔명조" pitchFamily="18" charset="-127"/>
                      </a:rPr>
                      <m:t>𝑄</m:t>
                    </m:r>
                    <m:r>
                      <a:rPr lang="en-US" altLang="ko-KR" sz="2400" b="0" i="1" smtClean="0">
                        <a:latin typeface="Cambria Math" panose="02040503050406030204" pitchFamily="18" charset="0"/>
                        <a:ea typeface="나눔명조" pitchFamily="18" charset="-127"/>
                      </a:rPr>
                      <m:t>,</m:t>
                    </m:r>
                    <m:r>
                      <a:rPr lang="en-US" altLang="ko-KR" sz="2400" b="0" i="1" smtClean="0">
                        <a:latin typeface="Cambria Math" panose="02040503050406030204" pitchFamily="18" charset="0"/>
                        <a:ea typeface="나눔명조" pitchFamily="18" charset="-127"/>
                      </a:rPr>
                      <m:t>𝑚</m:t>
                    </m:r>
                    <m:r>
                      <a:rPr lang="en-US" altLang="ko-KR" sz="2400" b="0" i="1" smtClean="0">
                        <a:latin typeface="Cambria Math" panose="02040503050406030204" pitchFamily="18" charset="0"/>
                        <a:ea typeface="나눔명조" pitchFamily="18" charset="-127"/>
                      </a:rPr>
                      <m:t>)</m:t>
                    </m:r>
                  </m:oMath>
                </a14:m>
                <a:endParaRPr lang="en-US" altLang="ko-KR" sz="2400" dirty="0">
                  <a:latin typeface="나눔명조" pitchFamily="18" charset="-127"/>
                  <a:ea typeface="나눔명조" pitchFamily="18" charset="-127"/>
                </a:endParaRPr>
              </a:p>
            </p:txBody>
          </p:sp>
        </mc:Choice>
        <mc:Fallback xmlns="">
          <p:sp>
            <p:nvSpPr>
              <p:cNvPr id="15362" name="Rectangle 9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926239" y="1289130"/>
                <a:ext cx="7937843" cy="4114800"/>
              </a:xfrm>
              <a:blipFill>
                <a:blip r:embed="rId3"/>
                <a:stretch>
                  <a:fillRect l="-1075" t="-1185" b="-29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363" name="바닥글 개체 틀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r>
              <a:rPr lang="ko-KR" altLang="en-US" sz="1200" b="0" dirty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Chapter </a:t>
            </a:r>
            <a:r>
              <a:rPr lang="en-US" altLang="ko-KR" sz="1200" b="0" dirty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15</a:t>
            </a:r>
          </a:p>
        </p:txBody>
      </p:sp>
      <p:sp>
        <p:nvSpPr>
          <p:cNvPr id="15364" name="슬라이드 번호 개체 틀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fld id="{C753D822-DF5B-4203-821F-E37D763E2E34}" type="slidenum">
              <a:rPr lang="ko-KR" altLang="en-US" sz="1200" b="0">
                <a:solidFill>
                  <a:schemeClr val="tx1"/>
                </a:solidFill>
              </a:rPr>
              <a:pPr/>
              <a:t>25</a:t>
            </a:fld>
            <a:endParaRPr lang="en-US" altLang="ko-KR" sz="1200" b="0" dirty="0">
              <a:solidFill>
                <a:schemeClr val="tx1"/>
              </a:solidFill>
            </a:endParaRPr>
          </a:p>
        </p:txBody>
      </p:sp>
      <p:sp>
        <p:nvSpPr>
          <p:cNvPr id="15365" name="Rectangle 2"/>
          <p:cNvSpPr>
            <a:spLocks noChangeArrowheads="1"/>
          </p:cNvSpPr>
          <p:nvPr/>
        </p:nvSpPr>
        <p:spPr bwMode="auto">
          <a:xfrm>
            <a:off x="7620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>
              <a:ea typeface="굴림" panose="020B0600000101010101" pitchFamily="50" charset="-127"/>
            </a:endParaRPr>
          </a:p>
        </p:txBody>
      </p:sp>
      <p:sp>
        <p:nvSpPr>
          <p:cNvPr id="15366" name="Rectangle 3"/>
          <p:cNvSpPr>
            <a:spLocks noChangeArrowheads="1"/>
          </p:cNvSpPr>
          <p:nvPr/>
        </p:nvSpPr>
        <p:spPr bwMode="auto">
          <a:xfrm>
            <a:off x="32766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>
              <a:ea typeface="굴림" panose="020B0600000101010101" pitchFamily="50" charset="-127"/>
            </a:endParaRPr>
          </a:p>
        </p:txBody>
      </p:sp>
      <p:sp>
        <p:nvSpPr>
          <p:cNvPr id="15367" name="Rectangle 6"/>
          <p:cNvSpPr>
            <a:spLocks noGrp="1" noChangeArrowheads="1"/>
          </p:cNvSpPr>
          <p:nvPr>
            <p:ph type="title"/>
          </p:nvPr>
        </p:nvSpPr>
        <p:spPr>
          <a:xfrm>
            <a:off x="1355725" y="0"/>
            <a:ext cx="7313613" cy="1143000"/>
          </a:xfrm>
        </p:spPr>
        <p:txBody>
          <a:bodyPr/>
          <a:lstStyle/>
          <a:p>
            <a:pPr eaLnBrk="1" hangingPunct="1"/>
            <a:r>
              <a:rPr lang="ko-KR" altLang="en-US" dirty="0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대체관계와 가계생산</a:t>
            </a:r>
          </a:p>
        </p:txBody>
      </p:sp>
    </p:spTree>
    <p:extLst>
      <p:ext uri="{BB962C8B-B14F-4D97-AF65-F5344CB8AC3E}">
        <p14:creationId xmlns:p14="http://schemas.microsoft.com/office/powerpoint/2010/main" val="2173176965"/>
      </p:ext>
    </p:extLst>
  </p:cSld>
  <p:clrMapOvr>
    <a:masterClrMapping/>
  </p:clrMapOvr>
  <p:transition spd="med">
    <p:wipe dir="r"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5362" name="Rectangle 9"/>
              <p:cNvSpPr>
                <a:spLocks noGrp="1" noChangeArrowheads="1"/>
              </p:cNvSpPr>
              <p:nvPr>
                <p:ph idx="1"/>
              </p:nvPr>
            </p:nvSpPr>
            <p:spPr>
              <a:xfrm>
                <a:off x="882696" y="1216064"/>
                <a:ext cx="8105794" cy="5190955"/>
              </a:xfrm>
            </p:spPr>
            <p:txBody>
              <a:bodyPr/>
              <a:lstStyle/>
              <a:p>
                <a:pPr eaLnBrk="1" hangingPunct="1"/>
                <a:r>
                  <a:rPr lang="en-US" altLang="ko-KR" sz="2200" dirty="0">
                    <a:latin typeface="나눔명조" pitchFamily="18" charset="-127"/>
                    <a:ea typeface="나눔명조" pitchFamily="18" charset="-127"/>
                  </a:rPr>
                  <a:t>HPF</a:t>
                </a:r>
                <a:r>
                  <a:rPr lang="ko-KR" altLang="en-US" sz="2200" dirty="0">
                    <a:latin typeface="나눔명조" pitchFamily="18" charset="-127"/>
                    <a:ea typeface="나눔명조" pitchFamily="18" charset="-127"/>
                  </a:rPr>
                  <a:t>모형을 편익 분석에 적용하는 방법은 </a:t>
                </a:r>
                <a:r>
                  <a:rPr lang="en-US" altLang="ko-KR" sz="2200" dirty="0">
                    <a:latin typeface="나눔명조" pitchFamily="18" charset="-127"/>
                    <a:ea typeface="나눔명조" pitchFamily="18" charset="-127"/>
                  </a:rPr>
                  <a:t>HPF</a:t>
                </a:r>
                <a:r>
                  <a:rPr lang="ko-KR" altLang="en-US" sz="2200" dirty="0">
                    <a:latin typeface="나눔명조" pitchFamily="18" charset="-127"/>
                    <a:ea typeface="나눔명조" pitchFamily="18" charset="-127"/>
                  </a:rPr>
                  <a:t>에서 시장재의 한계생산성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ko-KR" sz="2200" i="1" smtClean="0">
                            <a:latin typeface="Cambria Math" panose="02040503050406030204" pitchFamily="18" charset="0"/>
                            <a:ea typeface="나눔명조" pitchFamily="18" charset="-127"/>
                          </a:rPr>
                        </m:ctrlPr>
                      </m:fPr>
                      <m:num>
                        <m:r>
                          <a:rPr lang="ko-KR" altLang="en-US" sz="2200" i="1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∆</m:t>
                        </m:r>
                        <m:r>
                          <a:rPr lang="en-US" altLang="ko-KR" sz="2200" i="1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𝑓</m:t>
                        </m:r>
                      </m:num>
                      <m:den>
                        <m:r>
                          <a:rPr lang="ko-KR" altLang="en-US" sz="2200" i="1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∆</m:t>
                        </m:r>
                        <m:r>
                          <a:rPr lang="en-US" altLang="ko-KR" sz="2200" b="0" i="1" smtClean="0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𝑥</m:t>
                        </m:r>
                      </m:den>
                    </m:f>
                  </m:oMath>
                </a14:m>
                <a:r>
                  <a:rPr lang="ko-KR" altLang="en-US" sz="2200" dirty="0">
                    <a:latin typeface="나눔명조" pitchFamily="18" charset="-127"/>
                    <a:ea typeface="나눔명조" pitchFamily="18" charset="-127"/>
                  </a:rPr>
                  <a:t> 가</a:t>
                </a:r>
                <a:r>
                  <a:rPr lang="en-US" altLang="ko-KR" sz="2200" dirty="0">
                    <a:latin typeface="나눔명조" pitchFamily="18" charset="-127"/>
                    <a:ea typeface="나눔명조" pitchFamily="18" charset="-127"/>
                  </a:rPr>
                  <a:t> Q</a:t>
                </a:r>
                <a:r>
                  <a:rPr lang="ko-KR" altLang="en-US" sz="2200" dirty="0">
                    <a:latin typeface="나눔명조" pitchFamily="18" charset="-127"/>
                    <a:ea typeface="나눔명조" pitchFamily="18" charset="-127"/>
                  </a:rPr>
                  <a:t>에 어떤 영향을 받는지에 따라 달라짐</a:t>
                </a:r>
                <a:endParaRPr lang="en-US" altLang="ko-KR" sz="2200" dirty="0">
                  <a:latin typeface="나눔명조" pitchFamily="18" charset="-127"/>
                  <a:ea typeface="나눔명조" pitchFamily="18" charset="-127"/>
                </a:endParaRPr>
              </a:p>
              <a:p>
                <a:pPr eaLnBrk="1" hangingPunct="1"/>
                <a14:m>
                  <m:oMath xmlns:m="http://schemas.openxmlformats.org/officeDocument/2006/math">
                    <m:f>
                      <m:fPr>
                        <m:ctrlPr>
                          <a:rPr lang="en-US" altLang="ko-KR" sz="2200" i="1">
                            <a:latin typeface="Cambria Math" panose="02040503050406030204" pitchFamily="18" charset="0"/>
                            <a:ea typeface="나눔명조" pitchFamily="18" charset="-127"/>
                          </a:rPr>
                        </m:ctrlPr>
                      </m:fPr>
                      <m:num>
                        <m:r>
                          <a:rPr lang="ko-KR" altLang="en-US" sz="2200" i="1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∆</m:t>
                        </m:r>
                        <m:r>
                          <a:rPr lang="en-US" altLang="ko-KR" sz="2200" b="0" i="1" smtClean="0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(</m:t>
                        </m:r>
                        <m:f>
                          <m:fPr>
                            <m:ctrlPr>
                              <a:rPr lang="en-US" altLang="ko-KR" sz="2200" b="0" i="1" smtClean="0">
                                <a:latin typeface="Cambria Math" panose="02040503050406030204" pitchFamily="18" charset="0"/>
                                <a:ea typeface="나눔명조" pitchFamily="18" charset="-127"/>
                              </a:rPr>
                            </m:ctrlPr>
                          </m:fPr>
                          <m:num>
                            <m:r>
                              <a:rPr lang="ko-KR" altLang="en-US" sz="2200" i="1">
                                <a:latin typeface="Cambria Math" panose="02040503050406030204" pitchFamily="18" charset="0"/>
                                <a:ea typeface="나눔명조" pitchFamily="18" charset="-127"/>
                              </a:rPr>
                              <m:t>∆</m:t>
                            </m:r>
                            <m:r>
                              <a:rPr lang="en-US" altLang="ko-KR" sz="2200" i="1">
                                <a:latin typeface="Cambria Math" panose="02040503050406030204" pitchFamily="18" charset="0"/>
                                <a:ea typeface="나눔명조" pitchFamily="18" charset="-127"/>
                              </a:rPr>
                              <m:t>𝑓</m:t>
                            </m:r>
                          </m:num>
                          <m:den>
                            <m:r>
                              <a:rPr lang="ko-KR" altLang="en-US" sz="2200" i="1">
                                <a:latin typeface="Cambria Math" panose="02040503050406030204" pitchFamily="18" charset="0"/>
                                <a:ea typeface="나눔명조" pitchFamily="18" charset="-127"/>
                              </a:rPr>
                              <m:t>∆</m:t>
                            </m:r>
                            <m:r>
                              <a:rPr lang="en-US" altLang="ko-KR" sz="2200" b="0" i="1" smtClean="0">
                                <a:latin typeface="Cambria Math" panose="02040503050406030204" pitchFamily="18" charset="0"/>
                                <a:ea typeface="나눔명조" pitchFamily="18" charset="-127"/>
                              </a:rPr>
                              <m:t>𝑥</m:t>
                            </m:r>
                          </m:den>
                        </m:f>
                        <m:r>
                          <a:rPr lang="en-US" altLang="ko-KR" sz="2200" b="0" i="1" smtClean="0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)</m:t>
                        </m:r>
                      </m:num>
                      <m:den>
                        <m:r>
                          <a:rPr lang="ko-KR" altLang="en-US" sz="2200" i="1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∆</m:t>
                        </m:r>
                        <m:r>
                          <a:rPr lang="en-US" altLang="ko-KR" sz="2200" b="0" i="1" smtClean="0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𝑄</m:t>
                        </m:r>
                      </m:den>
                    </m:f>
                    <m:r>
                      <a:rPr lang="en-US" altLang="ko-KR" sz="2200" b="0" i="1" smtClean="0">
                        <a:latin typeface="Cambria Math" panose="02040503050406030204" pitchFamily="18" charset="0"/>
                        <a:ea typeface="나눔명조" pitchFamily="18" charset="-127"/>
                      </a:rPr>
                      <m:t>&gt;0</m:t>
                    </m:r>
                    <m:r>
                      <a:rPr lang="en-US" altLang="ko-KR" sz="2200" i="1">
                        <a:latin typeface="Cambria Math" panose="02040503050406030204" pitchFamily="18" charset="0"/>
                        <a:ea typeface="나눔명조" pitchFamily="18" charset="-127"/>
                      </a:rPr>
                      <m:t> </m:t>
                    </m:r>
                  </m:oMath>
                </a14:m>
                <a:r>
                  <a:rPr lang="ko-KR" altLang="en-US" sz="2200" dirty="0">
                    <a:latin typeface="나눔명조" pitchFamily="18" charset="-127"/>
                    <a:ea typeface="나눔명조" pitchFamily="18" charset="-127"/>
                  </a:rPr>
                  <a:t>인</a:t>
                </a:r>
                <a:r>
                  <a:rPr lang="en-US" altLang="ko-KR" sz="2200" dirty="0">
                    <a:latin typeface="나눔명조" pitchFamily="18" charset="-127"/>
                    <a:ea typeface="나눔명조" pitchFamily="18" charset="-127"/>
                  </a:rPr>
                  <a:t> </a:t>
                </a:r>
                <a:r>
                  <a:rPr lang="ko-KR" altLang="en-US" sz="2200" dirty="0">
                    <a:latin typeface="나눔명조" pitchFamily="18" charset="-127"/>
                    <a:ea typeface="나눔명조" pitchFamily="18" charset="-127"/>
                  </a:rPr>
                  <a:t>경우</a:t>
                </a:r>
                <a:r>
                  <a:rPr lang="en-US" altLang="ko-KR" sz="2200" dirty="0">
                    <a:latin typeface="나눔명조" pitchFamily="18" charset="-127"/>
                    <a:ea typeface="나눔명조" pitchFamily="18" charset="-127"/>
                  </a:rPr>
                  <a:t>(</a:t>
                </a:r>
                <a:r>
                  <a:rPr lang="ko-KR" altLang="en-US" sz="2200" dirty="0">
                    <a:latin typeface="나눔명조" pitchFamily="18" charset="-127"/>
                    <a:ea typeface="나눔명조" pitchFamily="18" charset="-127"/>
                  </a:rPr>
                  <a:t>공공재와 시장재가 보완적</a:t>
                </a:r>
                <a:r>
                  <a:rPr lang="en-US" altLang="ko-KR" sz="2200" dirty="0">
                    <a:latin typeface="나눔명조" pitchFamily="18" charset="-127"/>
                    <a:ea typeface="나눔명조" pitchFamily="18" charset="-127"/>
                  </a:rPr>
                  <a:t>)</a:t>
                </a:r>
              </a:p>
              <a:p>
                <a:pPr lvl="1" eaLnBrk="1" hangingPunct="1"/>
                <a:r>
                  <a:rPr lang="ko-KR" altLang="en-US" sz="2000" dirty="0">
                    <a:latin typeface="나눔명조" pitchFamily="18" charset="-127"/>
                    <a:ea typeface="나눔명조" pitchFamily="18" charset="-127"/>
                  </a:rPr>
                  <a:t>약보완성이 이에 해당됨</a:t>
                </a:r>
                <a:r>
                  <a:rPr lang="en-US" altLang="ko-KR" sz="2000" dirty="0">
                    <a:latin typeface="나눔명조" pitchFamily="18" charset="-127"/>
                    <a:ea typeface="나눔명조" pitchFamily="18" charset="-127"/>
                  </a:rPr>
                  <a:t>: </a:t>
                </a:r>
                <a14:m>
                  <m:oMath xmlns:m="http://schemas.openxmlformats.org/officeDocument/2006/math">
                    <m:r>
                      <a:rPr lang="en-US" altLang="ko-KR" sz="2000" b="0" i="1" smtClean="0">
                        <a:latin typeface="Cambria Math" panose="02040503050406030204" pitchFamily="18" charset="0"/>
                        <a:ea typeface="나눔명조" pitchFamily="18" charset="-127"/>
                      </a:rPr>
                      <m:t>𝑞</m:t>
                    </m:r>
                  </m:oMath>
                </a14:m>
                <a:r>
                  <a:rPr lang="en-US" altLang="ko-KR" sz="2000" dirty="0">
                    <a:latin typeface="나눔명조" pitchFamily="18" charset="-127"/>
                    <a:ea typeface="나눔명조" pitchFamily="18" charset="-127"/>
                  </a:rPr>
                  <a:t>=</a:t>
                </a:r>
                <a:r>
                  <a:rPr lang="ko-KR" altLang="en-US" sz="2000" dirty="0">
                    <a:latin typeface="나눔명조" pitchFamily="18" charset="-127"/>
                    <a:ea typeface="나눔명조" pitchFamily="18" charset="-127"/>
                  </a:rPr>
                  <a:t>자연 생태계 휴양서비스</a:t>
                </a:r>
                <a:r>
                  <a:rPr lang="en-US" altLang="ko-KR" sz="2000" dirty="0">
                    <a:latin typeface="나눔명조" pitchFamily="18" charset="-127"/>
                    <a:ea typeface="나눔명조" pitchFamily="18" charset="-127"/>
                  </a:rPr>
                  <a:t>, </a:t>
                </a:r>
                <a14:m>
                  <m:oMath xmlns:m="http://schemas.openxmlformats.org/officeDocument/2006/math">
                    <m:r>
                      <a:rPr lang="en-US" altLang="ko-KR" sz="2000" b="0" i="1" smtClean="0">
                        <a:latin typeface="Cambria Math" panose="02040503050406030204" pitchFamily="18" charset="0"/>
                        <a:ea typeface="나눔명조" pitchFamily="18" charset="-127"/>
                      </a:rPr>
                      <m:t>𝑥</m:t>
                    </m:r>
                    <m:r>
                      <a:rPr lang="en-US" altLang="ko-KR" sz="2000" i="1">
                        <a:latin typeface="Cambria Math" panose="02040503050406030204" pitchFamily="18" charset="0"/>
                        <a:ea typeface="나눔명조" pitchFamily="18" charset="-127"/>
                      </a:rPr>
                      <m:t> </m:t>
                    </m:r>
                  </m:oMath>
                </a14:m>
                <a:r>
                  <a:rPr lang="en-US" altLang="ko-KR" sz="2000" dirty="0">
                    <a:latin typeface="나눔명조" pitchFamily="18" charset="-127"/>
                    <a:ea typeface="나눔명조" pitchFamily="18" charset="-127"/>
                  </a:rPr>
                  <a:t>=</a:t>
                </a:r>
                <a:r>
                  <a:rPr lang="ko-KR" altLang="en-US" sz="2000" dirty="0">
                    <a:latin typeface="나눔명조" pitchFamily="18" charset="-127"/>
                    <a:ea typeface="나눔명조" pitchFamily="18" charset="-127"/>
                  </a:rPr>
                  <a:t>방문</a:t>
                </a:r>
                <a:r>
                  <a:rPr lang="en-US" altLang="ko-KR" sz="2000" dirty="0">
                    <a:latin typeface="나눔명조" pitchFamily="18" charset="-127"/>
                    <a:ea typeface="나눔명조" pitchFamily="18" charset="-127"/>
                  </a:rPr>
                  <a:t> </a:t>
                </a:r>
                <a:r>
                  <a:rPr lang="ko-KR" altLang="en-US" sz="2000" dirty="0">
                    <a:latin typeface="나눔명조" pitchFamily="18" charset="-127"/>
                    <a:ea typeface="나눔명조" pitchFamily="18" charset="-127"/>
                  </a:rPr>
                  <a:t>횟수</a:t>
                </a:r>
                <a:r>
                  <a:rPr lang="en-US" altLang="ko-KR" sz="2000" dirty="0">
                    <a:latin typeface="나눔명조" pitchFamily="18" charset="-127"/>
                    <a:ea typeface="나눔명조" pitchFamily="18" charset="-127"/>
                  </a:rPr>
                  <a:t>, </a:t>
                </a:r>
                <a14:m>
                  <m:oMath xmlns:m="http://schemas.openxmlformats.org/officeDocument/2006/math">
                    <m:r>
                      <a:rPr lang="en-US" altLang="ko-KR" sz="2000" b="0" i="1" smtClean="0">
                        <a:latin typeface="Cambria Math" panose="02040503050406030204" pitchFamily="18" charset="0"/>
                        <a:ea typeface="나눔명조" pitchFamily="18" charset="-127"/>
                      </a:rPr>
                      <m:t>𝑄</m:t>
                    </m:r>
                    <m:r>
                      <a:rPr lang="en-US" altLang="ko-KR" sz="2000" i="1">
                        <a:latin typeface="Cambria Math" panose="02040503050406030204" pitchFamily="18" charset="0"/>
                        <a:ea typeface="나눔명조" pitchFamily="18" charset="-127"/>
                      </a:rPr>
                      <m:t> </m:t>
                    </m:r>
                  </m:oMath>
                </a14:m>
                <a:r>
                  <a:rPr lang="en-US" altLang="ko-KR" sz="2000" dirty="0">
                    <a:latin typeface="나눔명조" pitchFamily="18" charset="-127"/>
                    <a:ea typeface="나눔명조" pitchFamily="18" charset="-127"/>
                  </a:rPr>
                  <a:t>= </a:t>
                </a:r>
                <a:r>
                  <a:rPr lang="ko-KR" altLang="en-US" sz="2000" dirty="0">
                    <a:latin typeface="나눔명조" pitchFamily="18" charset="-127"/>
                    <a:ea typeface="나눔명조" pitchFamily="18" charset="-127"/>
                  </a:rPr>
                  <a:t>생태계 보존 상태</a:t>
                </a:r>
                <a:endParaRPr lang="en-US" altLang="ko-KR" sz="2000" b="0" i="0" dirty="0">
                  <a:latin typeface="Cambria Math" panose="02040503050406030204" pitchFamily="18" charset="0"/>
                  <a:ea typeface="나눔명조" pitchFamily="18" charset="-127"/>
                </a:endParaRPr>
              </a:p>
              <a:p>
                <a:pPr eaLnBrk="1" hangingPunct="1"/>
                <a14:m>
                  <m:oMath xmlns:m="http://schemas.openxmlformats.org/officeDocument/2006/math">
                    <m:f>
                      <m:fPr>
                        <m:ctrlPr>
                          <a:rPr lang="en-US" altLang="ko-KR" sz="2200" i="1">
                            <a:latin typeface="Cambria Math" panose="02040503050406030204" pitchFamily="18" charset="0"/>
                            <a:ea typeface="나눔명조" pitchFamily="18" charset="-127"/>
                          </a:rPr>
                        </m:ctrlPr>
                      </m:fPr>
                      <m:num>
                        <m:r>
                          <a:rPr lang="ko-KR" altLang="en-US" sz="2200" i="1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∆</m:t>
                        </m:r>
                        <m:r>
                          <a:rPr lang="en-US" altLang="ko-KR" sz="2200" i="1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(</m:t>
                        </m:r>
                        <m:f>
                          <m:fPr>
                            <m:ctrlPr>
                              <a:rPr lang="en-US" altLang="ko-KR" sz="2200" i="1">
                                <a:latin typeface="Cambria Math" panose="02040503050406030204" pitchFamily="18" charset="0"/>
                                <a:ea typeface="나눔명조" pitchFamily="18" charset="-127"/>
                              </a:rPr>
                            </m:ctrlPr>
                          </m:fPr>
                          <m:num>
                            <m:r>
                              <a:rPr lang="ko-KR" altLang="en-US" sz="2200" i="1">
                                <a:latin typeface="Cambria Math" panose="02040503050406030204" pitchFamily="18" charset="0"/>
                                <a:ea typeface="나눔명조" pitchFamily="18" charset="-127"/>
                              </a:rPr>
                              <m:t>∆</m:t>
                            </m:r>
                            <m:r>
                              <a:rPr lang="en-US" altLang="ko-KR" sz="2200" i="1">
                                <a:latin typeface="Cambria Math" panose="02040503050406030204" pitchFamily="18" charset="0"/>
                                <a:ea typeface="나눔명조" pitchFamily="18" charset="-127"/>
                              </a:rPr>
                              <m:t>𝑓</m:t>
                            </m:r>
                          </m:num>
                          <m:den>
                            <m:r>
                              <a:rPr lang="ko-KR" altLang="en-US" sz="2200" i="1">
                                <a:latin typeface="Cambria Math" panose="02040503050406030204" pitchFamily="18" charset="0"/>
                                <a:ea typeface="나눔명조" pitchFamily="18" charset="-127"/>
                              </a:rPr>
                              <m:t>∆</m:t>
                            </m:r>
                            <m:r>
                              <a:rPr lang="en-US" altLang="ko-KR" sz="2200" i="1">
                                <a:latin typeface="Cambria Math" panose="02040503050406030204" pitchFamily="18" charset="0"/>
                                <a:ea typeface="나눔명조" pitchFamily="18" charset="-127"/>
                              </a:rPr>
                              <m:t>𝑥</m:t>
                            </m:r>
                          </m:den>
                        </m:f>
                        <m:r>
                          <a:rPr lang="en-US" altLang="ko-KR" sz="2200" i="1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)</m:t>
                        </m:r>
                      </m:num>
                      <m:den>
                        <m:r>
                          <a:rPr lang="ko-KR" altLang="en-US" sz="2200" i="1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∆</m:t>
                        </m:r>
                        <m:r>
                          <a:rPr lang="en-US" altLang="ko-KR" sz="2200" i="1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𝑄</m:t>
                        </m:r>
                      </m:den>
                    </m:f>
                    <m:r>
                      <a:rPr lang="en-US" altLang="ko-KR" sz="2200" b="0" i="1" smtClean="0">
                        <a:latin typeface="Cambria Math" panose="02040503050406030204" pitchFamily="18" charset="0"/>
                        <a:ea typeface="나눔명조" pitchFamily="18" charset="-127"/>
                      </a:rPr>
                      <m:t>&lt;</m:t>
                    </m:r>
                    <m:r>
                      <a:rPr lang="en-US" altLang="ko-KR" sz="2200" i="1">
                        <a:latin typeface="Cambria Math" panose="02040503050406030204" pitchFamily="18" charset="0"/>
                        <a:ea typeface="나눔명조" pitchFamily="18" charset="-127"/>
                      </a:rPr>
                      <m:t>0 </m:t>
                    </m:r>
                  </m:oMath>
                </a14:m>
                <a:r>
                  <a:rPr lang="ko-KR" altLang="en-US" sz="2200" dirty="0">
                    <a:latin typeface="나눔명조" pitchFamily="18" charset="-127"/>
                    <a:ea typeface="나눔명조" pitchFamily="18" charset="-127"/>
                  </a:rPr>
                  <a:t>인</a:t>
                </a:r>
                <a:r>
                  <a:rPr lang="en-US" altLang="ko-KR" sz="2200" dirty="0">
                    <a:latin typeface="나눔명조" pitchFamily="18" charset="-127"/>
                    <a:ea typeface="나눔명조" pitchFamily="18" charset="-127"/>
                  </a:rPr>
                  <a:t> </a:t>
                </a:r>
                <a:r>
                  <a:rPr lang="ko-KR" altLang="en-US" sz="2200" dirty="0">
                    <a:latin typeface="나눔명조" pitchFamily="18" charset="-127"/>
                    <a:ea typeface="나눔명조" pitchFamily="18" charset="-127"/>
                  </a:rPr>
                  <a:t>경우</a:t>
                </a:r>
                <a:r>
                  <a:rPr lang="en-US" altLang="ko-KR" sz="2200" dirty="0">
                    <a:latin typeface="나눔명조" pitchFamily="18" charset="-127"/>
                    <a:ea typeface="나눔명조" pitchFamily="18" charset="-127"/>
                  </a:rPr>
                  <a:t>(</a:t>
                </a:r>
                <a:r>
                  <a:rPr lang="ko-KR" altLang="en-US" sz="2200" dirty="0">
                    <a:latin typeface="나눔명조" pitchFamily="18" charset="-127"/>
                    <a:ea typeface="나눔명조" pitchFamily="18" charset="-127"/>
                  </a:rPr>
                  <a:t>공공재와 시장재가 대체관계</a:t>
                </a:r>
                <a:r>
                  <a:rPr lang="en-US" altLang="ko-KR" sz="2200" dirty="0">
                    <a:latin typeface="나눔명조" pitchFamily="18" charset="-127"/>
                    <a:ea typeface="나눔명조" pitchFamily="18" charset="-127"/>
                  </a:rPr>
                  <a:t>)</a:t>
                </a:r>
              </a:p>
              <a:p>
                <a:pPr lvl="1" eaLnBrk="1" hangingPunct="1"/>
                <a:r>
                  <a:rPr lang="ko-KR" altLang="en-US" sz="2400" dirty="0">
                    <a:latin typeface="나눔명조" pitchFamily="18" charset="-127"/>
                    <a:ea typeface="나눔명조" pitchFamily="18" charset="-127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ko-KR" sz="2000" i="1">
                        <a:latin typeface="Cambria Math" panose="02040503050406030204" pitchFamily="18" charset="0"/>
                        <a:ea typeface="나눔명조" pitchFamily="18" charset="-127"/>
                      </a:rPr>
                      <m:t>𝑞</m:t>
                    </m:r>
                  </m:oMath>
                </a14:m>
                <a:r>
                  <a:rPr lang="en-US" altLang="ko-KR" sz="2000" dirty="0">
                    <a:latin typeface="나눔명조" pitchFamily="18" charset="-127"/>
                    <a:ea typeface="나눔명조" pitchFamily="18" charset="-127"/>
                  </a:rPr>
                  <a:t>=(</a:t>
                </a:r>
                <a:r>
                  <a:rPr lang="ko-KR" altLang="en-US" sz="2000" dirty="0">
                    <a:latin typeface="나눔명조" pitchFamily="18" charset="-127"/>
                    <a:ea typeface="나눔명조" pitchFamily="18" charset="-127"/>
                  </a:rPr>
                  <a:t>수질까지 반영하는</a:t>
                </a:r>
                <a:r>
                  <a:rPr lang="en-US" altLang="ko-KR" sz="2000" dirty="0">
                    <a:latin typeface="나눔명조" pitchFamily="18" charset="-127"/>
                    <a:ea typeface="나눔명조" pitchFamily="18" charset="-127"/>
                  </a:rPr>
                  <a:t>) </a:t>
                </a:r>
                <a:r>
                  <a:rPr lang="ko-KR" altLang="en-US" sz="2000" dirty="0">
                    <a:latin typeface="나눔명조" pitchFamily="18" charset="-127"/>
                    <a:ea typeface="나눔명조" pitchFamily="18" charset="-127"/>
                  </a:rPr>
                  <a:t>음용수 소비량</a:t>
                </a:r>
                <a:r>
                  <a:rPr lang="en-US" altLang="ko-KR" sz="2000" dirty="0">
                    <a:latin typeface="나눔명조" pitchFamily="18" charset="-127"/>
                    <a:ea typeface="나눔명조" pitchFamily="18" charset="-127"/>
                  </a:rPr>
                  <a:t>, </a:t>
                </a:r>
                <a14:m>
                  <m:oMath xmlns:m="http://schemas.openxmlformats.org/officeDocument/2006/math">
                    <m:r>
                      <a:rPr lang="en-US" altLang="ko-KR" sz="2000" i="1">
                        <a:latin typeface="Cambria Math" panose="02040503050406030204" pitchFamily="18" charset="0"/>
                        <a:ea typeface="나눔명조" pitchFamily="18" charset="-127"/>
                      </a:rPr>
                      <m:t>𝑥</m:t>
                    </m:r>
                    <m:r>
                      <a:rPr lang="en-US" altLang="ko-KR" sz="2000" i="1">
                        <a:latin typeface="Cambria Math" panose="02040503050406030204" pitchFamily="18" charset="0"/>
                        <a:ea typeface="나눔명조" pitchFamily="18" charset="-127"/>
                      </a:rPr>
                      <m:t> </m:t>
                    </m:r>
                  </m:oMath>
                </a14:m>
                <a:r>
                  <a:rPr lang="en-US" altLang="ko-KR" sz="2000" dirty="0">
                    <a:latin typeface="나눔명조" pitchFamily="18" charset="-127"/>
                    <a:ea typeface="나눔명조" pitchFamily="18" charset="-127"/>
                  </a:rPr>
                  <a:t>=</a:t>
                </a:r>
                <a:r>
                  <a:rPr lang="ko-KR" altLang="en-US" sz="2000" dirty="0">
                    <a:latin typeface="나눔명조" pitchFamily="18" charset="-127"/>
                    <a:ea typeface="나눔명조" pitchFamily="18" charset="-127"/>
                  </a:rPr>
                  <a:t>생수 구입량</a:t>
                </a:r>
                <a:r>
                  <a:rPr lang="en-US" altLang="ko-KR" sz="2000" dirty="0">
                    <a:latin typeface="나눔명조" pitchFamily="18" charset="-127"/>
                    <a:ea typeface="나눔명조" pitchFamily="18" charset="-127"/>
                  </a:rPr>
                  <a:t>, </a:t>
                </a:r>
                <a14:m>
                  <m:oMath xmlns:m="http://schemas.openxmlformats.org/officeDocument/2006/math">
                    <m:r>
                      <a:rPr lang="en-US" altLang="ko-KR" sz="2000" i="1">
                        <a:latin typeface="Cambria Math" panose="02040503050406030204" pitchFamily="18" charset="0"/>
                        <a:ea typeface="나눔명조" pitchFamily="18" charset="-127"/>
                      </a:rPr>
                      <m:t>𝑄</m:t>
                    </m:r>
                    <m:r>
                      <a:rPr lang="en-US" altLang="ko-KR" sz="2000" i="1">
                        <a:latin typeface="Cambria Math" panose="02040503050406030204" pitchFamily="18" charset="0"/>
                        <a:ea typeface="나눔명조" pitchFamily="18" charset="-127"/>
                      </a:rPr>
                      <m:t> </m:t>
                    </m:r>
                  </m:oMath>
                </a14:m>
                <a:r>
                  <a:rPr lang="en-US" altLang="ko-KR" sz="2000" dirty="0">
                    <a:latin typeface="나눔명조" pitchFamily="18" charset="-127"/>
                    <a:ea typeface="나눔명조" pitchFamily="18" charset="-127"/>
                  </a:rPr>
                  <a:t>=</a:t>
                </a:r>
                <a:r>
                  <a:rPr lang="ko-KR" altLang="en-US" sz="2000" dirty="0">
                    <a:latin typeface="나눔명조" pitchFamily="18" charset="-127"/>
                    <a:ea typeface="나눔명조" pitchFamily="18" charset="-127"/>
                  </a:rPr>
                  <a:t>수돗물 수질</a:t>
                </a:r>
                <a:endParaRPr lang="en-US" altLang="ko-KR" sz="2000" dirty="0">
                  <a:latin typeface="나눔명조" pitchFamily="18" charset="-127"/>
                  <a:ea typeface="나눔명조" pitchFamily="18" charset="-127"/>
                </a:endParaRPr>
              </a:p>
              <a:p>
                <a:pPr eaLnBrk="1" hangingPunct="1"/>
                <a14:m>
                  <m:oMath xmlns:m="http://schemas.openxmlformats.org/officeDocument/2006/math">
                    <m:f>
                      <m:fPr>
                        <m:ctrlPr>
                          <a:rPr lang="en-US" altLang="ko-KR" sz="2200" i="1">
                            <a:latin typeface="Cambria Math" panose="02040503050406030204" pitchFamily="18" charset="0"/>
                            <a:ea typeface="나눔명조" pitchFamily="18" charset="-127"/>
                          </a:rPr>
                        </m:ctrlPr>
                      </m:fPr>
                      <m:num>
                        <m:r>
                          <a:rPr lang="ko-KR" altLang="en-US" sz="2200" i="1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∆</m:t>
                        </m:r>
                        <m:r>
                          <a:rPr lang="en-US" altLang="ko-KR" sz="2200" i="1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(</m:t>
                        </m:r>
                        <m:f>
                          <m:fPr>
                            <m:ctrlPr>
                              <a:rPr lang="en-US" altLang="ko-KR" sz="2200" i="1">
                                <a:latin typeface="Cambria Math" panose="02040503050406030204" pitchFamily="18" charset="0"/>
                                <a:ea typeface="나눔명조" pitchFamily="18" charset="-127"/>
                              </a:rPr>
                            </m:ctrlPr>
                          </m:fPr>
                          <m:num>
                            <m:r>
                              <a:rPr lang="ko-KR" altLang="en-US" sz="2200" i="1">
                                <a:latin typeface="Cambria Math" panose="02040503050406030204" pitchFamily="18" charset="0"/>
                                <a:ea typeface="나눔명조" pitchFamily="18" charset="-127"/>
                              </a:rPr>
                              <m:t>∆</m:t>
                            </m:r>
                            <m:r>
                              <a:rPr lang="en-US" altLang="ko-KR" sz="2200" i="1">
                                <a:latin typeface="Cambria Math" panose="02040503050406030204" pitchFamily="18" charset="0"/>
                                <a:ea typeface="나눔명조" pitchFamily="18" charset="-127"/>
                              </a:rPr>
                              <m:t>𝑓</m:t>
                            </m:r>
                          </m:num>
                          <m:den>
                            <m:r>
                              <a:rPr lang="ko-KR" altLang="en-US" sz="2200" i="1">
                                <a:latin typeface="Cambria Math" panose="02040503050406030204" pitchFamily="18" charset="0"/>
                                <a:ea typeface="나눔명조" pitchFamily="18" charset="-127"/>
                              </a:rPr>
                              <m:t>∆</m:t>
                            </m:r>
                            <m:r>
                              <a:rPr lang="en-US" altLang="ko-KR" sz="2200" i="1">
                                <a:latin typeface="Cambria Math" panose="02040503050406030204" pitchFamily="18" charset="0"/>
                                <a:ea typeface="나눔명조" pitchFamily="18" charset="-127"/>
                              </a:rPr>
                              <m:t>𝑥</m:t>
                            </m:r>
                          </m:den>
                        </m:f>
                        <m:r>
                          <a:rPr lang="en-US" altLang="ko-KR" sz="2200" i="1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)</m:t>
                        </m:r>
                      </m:num>
                      <m:den>
                        <m:r>
                          <a:rPr lang="ko-KR" altLang="en-US" sz="2200" i="1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∆</m:t>
                        </m:r>
                        <m:r>
                          <a:rPr lang="en-US" altLang="ko-KR" sz="2200" i="1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𝑄</m:t>
                        </m:r>
                      </m:den>
                    </m:f>
                    <m:r>
                      <a:rPr lang="en-US" altLang="ko-KR" sz="2200" b="0" i="1" smtClean="0">
                        <a:latin typeface="Cambria Math" panose="02040503050406030204" pitchFamily="18" charset="0"/>
                        <a:ea typeface="나눔명조" pitchFamily="18" charset="-127"/>
                      </a:rPr>
                      <m:t>=</m:t>
                    </m:r>
                    <m:r>
                      <a:rPr lang="en-US" altLang="ko-KR" sz="2200" i="1">
                        <a:latin typeface="Cambria Math" panose="02040503050406030204" pitchFamily="18" charset="0"/>
                        <a:ea typeface="나눔명조" pitchFamily="18" charset="-127"/>
                      </a:rPr>
                      <m:t>0 </m:t>
                    </m:r>
                  </m:oMath>
                </a14:m>
                <a:r>
                  <a:rPr lang="ko-KR" altLang="en-US" sz="2200" dirty="0">
                    <a:latin typeface="나눔명조" pitchFamily="18" charset="-127"/>
                    <a:ea typeface="나눔명조" pitchFamily="18" charset="-127"/>
                  </a:rPr>
                  <a:t>인</a:t>
                </a:r>
                <a:r>
                  <a:rPr lang="en-US" altLang="ko-KR" sz="2200" dirty="0">
                    <a:latin typeface="나눔명조" pitchFamily="18" charset="-127"/>
                    <a:ea typeface="나눔명조" pitchFamily="18" charset="-127"/>
                  </a:rPr>
                  <a:t> </a:t>
                </a:r>
                <a:r>
                  <a:rPr lang="ko-KR" altLang="en-US" sz="2200" dirty="0">
                    <a:latin typeface="나눔명조" pitchFamily="18" charset="-127"/>
                    <a:ea typeface="나눔명조" pitchFamily="18" charset="-127"/>
                  </a:rPr>
                  <a:t>경우</a:t>
                </a:r>
                <a:r>
                  <a:rPr lang="en-US" altLang="ko-KR" sz="2200" dirty="0">
                    <a:latin typeface="나눔명조" pitchFamily="18" charset="-127"/>
                    <a:ea typeface="나눔명조" pitchFamily="18" charset="-127"/>
                  </a:rPr>
                  <a:t>(</a:t>
                </a:r>
                <a:r>
                  <a:rPr lang="ko-KR" altLang="en-US" sz="2200" dirty="0">
                    <a:latin typeface="나눔명조" pitchFamily="18" charset="-127"/>
                    <a:ea typeface="나눔명조" pitchFamily="18" charset="-127"/>
                  </a:rPr>
                  <a:t>공공재와 시장재가 완전 대체관계</a:t>
                </a:r>
                <a:r>
                  <a:rPr lang="en-US" altLang="ko-KR" sz="2400" dirty="0">
                    <a:latin typeface="나눔명조" pitchFamily="18" charset="-127"/>
                    <a:ea typeface="나눔명조" pitchFamily="18" charset="-127"/>
                  </a:rPr>
                  <a:t>)</a:t>
                </a:r>
              </a:p>
              <a:p>
                <a:pPr lvl="1" eaLnBrk="1" hangingPunct="1"/>
                <a:r>
                  <a:rPr lang="ko-KR" altLang="en-US" sz="2400" dirty="0">
                    <a:latin typeface="나눔명조" pitchFamily="18" charset="-127"/>
                    <a:ea typeface="나눔명조" pitchFamily="18" charset="-127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ko-KR" sz="2000" i="1">
                        <a:latin typeface="Cambria Math" panose="02040503050406030204" pitchFamily="18" charset="0"/>
                        <a:ea typeface="나눔명조" pitchFamily="18" charset="-127"/>
                      </a:rPr>
                      <m:t>𝑞</m:t>
                    </m:r>
                  </m:oMath>
                </a14:m>
                <a:r>
                  <a:rPr lang="en-US" altLang="ko-KR" sz="2000" dirty="0">
                    <a:latin typeface="나눔명조" pitchFamily="18" charset="-127"/>
                    <a:ea typeface="나눔명조" pitchFamily="18" charset="-127"/>
                  </a:rPr>
                  <a:t>=</a:t>
                </a:r>
                <a:r>
                  <a:rPr lang="ko-KR" altLang="en-US" sz="2000" dirty="0">
                    <a:latin typeface="나눔명조" pitchFamily="18" charset="-127"/>
                    <a:ea typeface="나눔명조" pitchFamily="18" charset="-127"/>
                  </a:rPr>
                  <a:t>해충 </a:t>
                </a:r>
                <a:r>
                  <a:rPr lang="ko-KR" altLang="en-US" sz="2000" dirty="0" err="1">
                    <a:latin typeface="나눔명조" pitchFamily="18" charset="-127"/>
                    <a:ea typeface="나눔명조" pitchFamily="18" charset="-127"/>
                  </a:rPr>
                  <a:t>방제량</a:t>
                </a:r>
                <a:r>
                  <a:rPr lang="en-US" altLang="ko-KR" sz="2000" dirty="0">
                    <a:latin typeface="나눔명조" pitchFamily="18" charset="-127"/>
                    <a:ea typeface="나눔명조" pitchFamily="18" charset="-127"/>
                  </a:rPr>
                  <a:t>, </a:t>
                </a:r>
                <a14:m>
                  <m:oMath xmlns:m="http://schemas.openxmlformats.org/officeDocument/2006/math">
                    <m:r>
                      <a:rPr lang="en-US" altLang="ko-KR" sz="2000" i="1">
                        <a:latin typeface="Cambria Math" panose="02040503050406030204" pitchFamily="18" charset="0"/>
                        <a:ea typeface="나눔명조" pitchFamily="18" charset="-127"/>
                      </a:rPr>
                      <m:t>𝑥</m:t>
                    </m:r>
                    <m:r>
                      <a:rPr lang="en-US" altLang="ko-KR" sz="2000" i="1">
                        <a:latin typeface="Cambria Math" panose="02040503050406030204" pitchFamily="18" charset="0"/>
                        <a:ea typeface="나눔명조" pitchFamily="18" charset="-127"/>
                      </a:rPr>
                      <m:t> </m:t>
                    </m:r>
                  </m:oMath>
                </a14:m>
                <a:r>
                  <a:rPr lang="en-US" altLang="ko-KR" sz="2000" dirty="0">
                    <a:latin typeface="나눔명조" pitchFamily="18" charset="-127"/>
                    <a:ea typeface="나눔명조" pitchFamily="18" charset="-127"/>
                  </a:rPr>
                  <a:t>=</a:t>
                </a:r>
                <a:r>
                  <a:rPr lang="ko-KR" altLang="en-US" sz="2000" dirty="0">
                    <a:latin typeface="나눔명조" pitchFamily="18" charset="-127"/>
                    <a:ea typeface="나눔명조" pitchFamily="18" charset="-127"/>
                  </a:rPr>
                  <a:t>개인 </a:t>
                </a:r>
                <a:r>
                  <a:rPr lang="ko-KR" altLang="en-US" sz="2000" dirty="0" err="1">
                    <a:latin typeface="나눔명조" pitchFamily="18" charset="-127"/>
                    <a:ea typeface="나눔명조" pitchFamily="18" charset="-127"/>
                  </a:rPr>
                  <a:t>방제량</a:t>
                </a:r>
                <a:r>
                  <a:rPr lang="en-US" altLang="ko-KR" sz="2000" dirty="0">
                    <a:latin typeface="나눔명조" pitchFamily="18" charset="-127"/>
                    <a:ea typeface="나눔명조" pitchFamily="18" charset="-127"/>
                  </a:rPr>
                  <a:t>, </a:t>
                </a:r>
                <a14:m>
                  <m:oMath xmlns:m="http://schemas.openxmlformats.org/officeDocument/2006/math">
                    <m:r>
                      <a:rPr lang="en-US" altLang="ko-KR" sz="2000" i="1">
                        <a:latin typeface="Cambria Math" panose="02040503050406030204" pitchFamily="18" charset="0"/>
                        <a:ea typeface="나눔명조" pitchFamily="18" charset="-127"/>
                      </a:rPr>
                      <m:t>𝑄</m:t>
                    </m:r>
                    <m:r>
                      <a:rPr lang="en-US" altLang="ko-KR" sz="2000" i="1">
                        <a:latin typeface="Cambria Math" panose="02040503050406030204" pitchFamily="18" charset="0"/>
                        <a:ea typeface="나눔명조" pitchFamily="18" charset="-127"/>
                      </a:rPr>
                      <m:t> </m:t>
                    </m:r>
                  </m:oMath>
                </a14:m>
                <a:r>
                  <a:rPr lang="en-US" altLang="ko-KR" sz="2000" dirty="0">
                    <a:latin typeface="나눔명조" pitchFamily="18" charset="-127"/>
                    <a:ea typeface="나눔명조" pitchFamily="18" charset="-127"/>
                  </a:rPr>
                  <a:t>=</a:t>
                </a:r>
                <a:r>
                  <a:rPr lang="ko-KR" altLang="en-US" sz="2000" dirty="0">
                    <a:latin typeface="나눔명조" pitchFamily="18" charset="-127"/>
                    <a:ea typeface="나눔명조" pitchFamily="18" charset="-127"/>
                  </a:rPr>
                  <a:t>공공기관 </a:t>
                </a:r>
                <a:r>
                  <a:rPr lang="ko-KR" altLang="en-US" sz="2000" dirty="0" err="1">
                    <a:latin typeface="나눔명조" pitchFamily="18" charset="-127"/>
                    <a:ea typeface="나눔명조" pitchFamily="18" charset="-127"/>
                  </a:rPr>
                  <a:t>방제량</a:t>
                </a:r>
                <a:endParaRPr lang="en-US" altLang="ko-KR" sz="2000" dirty="0">
                  <a:latin typeface="Cambria Math" panose="02040503050406030204" pitchFamily="18" charset="0"/>
                  <a:ea typeface="나눔명조" pitchFamily="18" charset="-127"/>
                </a:endParaRPr>
              </a:p>
              <a:p>
                <a:pPr lvl="1" eaLnBrk="1" hangingPunct="1"/>
                <a:endParaRPr lang="en-US" altLang="ko-KR" sz="2000" dirty="0">
                  <a:latin typeface="Cambria Math" panose="02040503050406030204" pitchFamily="18" charset="0"/>
                  <a:ea typeface="나눔명조" pitchFamily="18" charset="-127"/>
                </a:endParaRPr>
              </a:p>
            </p:txBody>
          </p:sp>
        </mc:Choice>
        <mc:Fallback xmlns="">
          <p:sp>
            <p:nvSpPr>
              <p:cNvPr id="15362" name="Rectangle 9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82696" y="1216064"/>
                <a:ext cx="8105794" cy="5190955"/>
              </a:xfrm>
              <a:blipFill>
                <a:blip r:embed="rId3"/>
                <a:stretch>
                  <a:fillRect l="-828" t="-704" b="-1995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363" name="바닥글 개체 틀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r>
              <a:rPr lang="ko-KR" altLang="en-US" sz="1200" b="0" dirty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Chapter </a:t>
            </a:r>
            <a:r>
              <a:rPr lang="en-US" altLang="ko-KR" sz="1200" b="0" dirty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15</a:t>
            </a:r>
          </a:p>
        </p:txBody>
      </p:sp>
      <p:sp>
        <p:nvSpPr>
          <p:cNvPr id="15364" name="슬라이드 번호 개체 틀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fld id="{C753D822-DF5B-4203-821F-E37D763E2E34}" type="slidenum">
              <a:rPr lang="ko-KR" altLang="en-US" sz="1200" b="0">
                <a:solidFill>
                  <a:schemeClr val="tx1"/>
                </a:solidFill>
              </a:rPr>
              <a:pPr/>
              <a:t>26</a:t>
            </a:fld>
            <a:endParaRPr lang="en-US" altLang="ko-KR" sz="1200" b="0" dirty="0">
              <a:solidFill>
                <a:schemeClr val="tx1"/>
              </a:solidFill>
            </a:endParaRPr>
          </a:p>
        </p:txBody>
      </p:sp>
      <p:sp>
        <p:nvSpPr>
          <p:cNvPr id="15365" name="Rectangle 2"/>
          <p:cNvSpPr>
            <a:spLocks noChangeArrowheads="1"/>
          </p:cNvSpPr>
          <p:nvPr/>
        </p:nvSpPr>
        <p:spPr bwMode="auto">
          <a:xfrm>
            <a:off x="7620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>
              <a:ea typeface="굴림" panose="020B0600000101010101" pitchFamily="50" charset="-127"/>
            </a:endParaRPr>
          </a:p>
        </p:txBody>
      </p:sp>
      <p:sp>
        <p:nvSpPr>
          <p:cNvPr id="15366" name="Rectangle 3"/>
          <p:cNvSpPr>
            <a:spLocks noChangeArrowheads="1"/>
          </p:cNvSpPr>
          <p:nvPr/>
        </p:nvSpPr>
        <p:spPr bwMode="auto">
          <a:xfrm>
            <a:off x="32766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>
              <a:ea typeface="굴림" panose="020B0600000101010101" pitchFamily="50" charset="-127"/>
            </a:endParaRPr>
          </a:p>
        </p:txBody>
      </p:sp>
      <p:sp>
        <p:nvSpPr>
          <p:cNvPr id="15367" name="Rectangle 6"/>
          <p:cNvSpPr>
            <a:spLocks noGrp="1" noChangeArrowheads="1"/>
          </p:cNvSpPr>
          <p:nvPr>
            <p:ph type="title"/>
          </p:nvPr>
        </p:nvSpPr>
        <p:spPr>
          <a:xfrm>
            <a:off x="1355725" y="0"/>
            <a:ext cx="7313613" cy="1143000"/>
          </a:xfrm>
        </p:spPr>
        <p:txBody>
          <a:bodyPr/>
          <a:lstStyle/>
          <a:p>
            <a:pPr eaLnBrk="1" hangingPunct="1"/>
            <a:r>
              <a:rPr lang="ko-KR" altLang="en-US" dirty="0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대체관계와 가계생산</a:t>
            </a:r>
          </a:p>
        </p:txBody>
      </p:sp>
    </p:spTree>
    <p:extLst>
      <p:ext uri="{BB962C8B-B14F-4D97-AF65-F5344CB8AC3E}">
        <p14:creationId xmlns:p14="http://schemas.microsoft.com/office/powerpoint/2010/main" val="1866000571"/>
      </p:ext>
    </p:extLst>
  </p:cSld>
  <p:clrMapOvr>
    <a:masterClrMapping/>
  </p:clrMapOvr>
  <p:transition spd="med">
    <p:wipe dir="r"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15362" name="Rectangle 9"/>
              <p:cNvSpPr>
                <a:spLocks noGrp="1" noChangeArrowheads="1"/>
              </p:cNvSpPr>
              <p:nvPr>
                <p:ph idx="1"/>
              </p:nvPr>
            </p:nvSpPr>
            <p:spPr>
              <a:xfrm>
                <a:off x="882696" y="1216064"/>
                <a:ext cx="8105794" cy="5190955"/>
              </a:xfrm>
            </p:spPr>
            <p:txBody>
              <a:bodyPr/>
              <a:lstStyle/>
              <a:p>
                <a:pPr eaLnBrk="1" hangingPunct="1"/>
                <a:r>
                  <a:rPr lang="en-US" altLang="ko-KR" sz="2200" dirty="0">
                    <a:latin typeface="나눔명조" pitchFamily="18" charset="-127"/>
                    <a:ea typeface="나눔명조" pitchFamily="18" charset="-127"/>
                  </a:rPr>
                  <a:t>HPF</a:t>
                </a:r>
                <a:r>
                  <a:rPr lang="ko-KR" altLang="en-US" sz="2200" dirty="0">
                    <a:latin typeface="나눔명조" pitchFamily="18" charset="-127"/>
                    <a:ea typeface="나눔명조" pitchFamily="18" charset="-127"/>
                  </a:rPr>
                  <a:t>모형에서 </a:t>
                </a:r>
                <a14:m>
                  <m:oMath xmlns:m="http://schemas.openxmlformats.org/officeDocument/2006/math">
                    <m:r>
                      <a:rPr lang="en-US" altLang="ko-KR" sz="2000" i="1">
                        <a:latin typeface="Cambria Math" panose="02040503050406030204" pitchFamily="18" charset="0"/>
                        <a:ea typeface="나눔명조" pitchFamily="18" charset="-127"/>
                      </a:rPr>
                      <m:t>𝑥</m:t>
                    </m:r>
                    <m:r>
                      <a:rPr lang="en-US" altLang="ko-KR" sz="2000" i="1">
                        <a:latin typeface="Cambria Math" panose="02040503050406030204" pitchFamily="18" charset="0"/>
                        <a:ea typeface="나눔명조" pitchFamily="18" charset="-127"/>
                      </a:rPr>
                      <m:t>(</m:t>
                    </m:r>
                    <m:r>
                      <a:rPr lang="en-US" altLang="ko-KR" sz="2000" i="1">
                        <a:latin typeface="Cambria Math" panose="02040503050406030204" pitchFamily="18" charset="0"/>
                        <a:ea typeface="나눔명조" pitchFamily="18" charset="-127"/>
                      </a:rPr>
                      <m:t>𝑝</m:t>
                    </m:r>
                    <m:r>
                      <a:rPr lang="en-US" altLang="ko-KR" sz="2000" i="1">
                        <a:latin typeface="Cambria Math" panose="02040503050406030204" pitchFamily="18" charset="0"/>
                        <a:ea typeface="나눔명조" pitchFamily="18" charset="-127"/>
                      </a:rPr>
                      <m:t>,</m:t>
                    </m:r>
                    <m:r>
                      <a:rPr lang="en-US" altLang="ko-KR" sz="2000" i="1">
                        <a:latin typeface="Cambria Math" panose="02040503050406030204" pitchFamily="18" charset="0"/>
                        <a:ea typeface="나눔명조" pitchFamily="18" charset="-127"/>
                      </a:rPr>
                      <m:t>𝑄</m:t>
                    </m:r>
                    <m:r>
                      <a:rPr lang="en-US" altLang="ko-KR" sz="2000" i="1">
                        <a:latin typeface="Cambria Math" panose="02040503050406030204" pitchFamily="18" charset="0"/>
                        <a:ea typeface="나눔명조" pitchFamily="18" charset="-127"/>
                      </a:rPr>
                      <m:t>,</m:t>
                    </m:r>
                    <m:r>
                      <a:rPr lang="en-US" altLang="ko-KR" sz="2000" i="1">
                        <a:latin typeface="Cambria Math" panose="02040503050406030204" pitchFamily="18" charset="0"/>
                        <a:ea typeface="나눔명조" pitchFamily="18" charset="-127"/>
                      </a:rPr>
                      <m:t>𝑚</m:t>
                    </m:r>
                    <m:r>
                      <a:rPr lang="en-US" altLang="ko-KR" sz="2000" i="1">
                        <a:latin typeface="Cambria Math" panose="02040503050406030204" pitchFamily="18" charset="0"/>
                        <a:ea typeface="나눔명조" pitchFamily="18" charset="-127"/>
                      </a:rPr>
                      <m:t>) </m:t>
                    </m:r>
                  </m:oMath>
                </a14:m>
                <a:r>
                  <a:rPr lang="ko-KR" altLang="en-US" sz="2200" dirty="0">
                    <a:latin typeface="나눔명조" pitchFamily="18" charset="-127"/>
                    <a:ea typeface="나눔명조" pitchFamily="18" charset="-127"/>
                  </a:rPr>
                  <a:t> 혹은 보상수요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ko-KR" sz="2000" b="0" i="0" smtClean="0">
                        <a:latin typeface="Cambria Math" panose="02040503050406030204" pitchFamily="18" charset="0"/>
                        <a:ea typeface="나눔명조" pitchFamily="18" charset="-127"/>
                      </a:rPr>
                      <m:t>h</m:t>
                    </m:r>
                    <m:d>
                      <m:dPr>
                        <m:ctrlPr>
                          <a:rPr lang="en-US" altLang="ko-KR" sz="2000" b="0" i="1" smtClean="0">
                            <a:latin typeface="Cambria Math" panose="02040503050406030204" pitchFamily="18" charset="0"/>
                            <a:ea typeface="나눔명조" pitchFamily="18" charset="-127"/>
                          </a:rPr>
                        </m:ctrlPr>
                      </m:dPr>
                      <m:e>
                        <m:r>
                          <a:rPr lang="en-US" altLang="ko-KR" sz="2000" i="1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𝑝</m:t>
                        </m:r>
                        <m:r>
                          <a:rPr lang="en-US" altLang="ko-KR" sz="2000" i="1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,</m:t>
                        </m:r>
                        <m:r>
                          <a:rPr lang="en-US" altLang="ko-KR" sz="2000" i="1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𝑄</m:t>
                        </m:r>
                        <m:r>
                          <a:rPr lang="en-US" altLang="ko-KR" sz="2000" i="1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,</m:t>
                        </m:r>
                        <m:r>
                          <a:rPr lang="en-US" altLang="ko-KR" sz="2000" b="0" i="1" smtClean="0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𝑢</m:t>
                        </m:r>
                      </m:e>
                    </m:d>
                    <m:r>
                      <a:rPr lang="ko-KR" altLang="en-US" sz="2000" i="1">
                        <a:latin typeface="Cambria Math" panose="02040503050406030204" pitchFamily="18" charset="0"/>
                        <a:ea typeface="나눔명조" pitchFamily="18" charset="-127"/>
                      </a:rPr>
                      <m:t>를</m:t>
                    </m:r>
                  </m:oMath>
                </a14:m>
                <a:r>
                  <a:rPr lang="ko-KR" altLang="en-US" sz="2200" dirty="0">
                    <a:latin typeface="나눔명조" pitchFamily="18" charset="-127"/>
                    <a:ea typeface="나눔명조" pitchFamily="18" charset="-127"/>
                  </a:rPr>
                  <a:t> 추정하고</a:t>
                </a:r>
                <a:r>
                  <a:rPr lang="en-US" altLang="ko-KR" sz="2200" dirty="0">
                    <a:latin typeface="나눔명조" pitchFamily="18" charset="-127"/>
                    <a:ea typeface="나눔명조" pitchFamily="18" charset="-127"/>
                  </a:rPr>
                  <a:t>, </a:t>
                </a:r>
                <a:r>
                  <a:rPr lang="ko-KR" altLang="en-US" sz="2200" dirty="0">
                    <a:latin typeface="나눔명조" pitchFamily="18" charset="-127"/>
                    <a:ea typeface="나눔명조" pitchFamily="18" charset="-127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ko-KR" sz="2400" i="1">
                        <a:latin typeface="Cambria Math" panose="02040503050406030204" pitchFamily="18" charset="0"/>
                        <a:ea typeface="나눔명조" pitchFamily="18" charset="-127"/>
                      </a:rPr>
                      <m:t>𝑄</m:t>
                    </m:r>
                  </m:oMath>
                </a14:m>
                <a:r>
                  <a:rPr lang="ko-KR" altLang="en-US" sz="2200" dirty="0">
                    <a:latin typeface="나눔명조" pitchFamily="18" charset="-127"/>
                    <a:ea typeface="나눔명조" pitchFamily="18" charset="-127"/>
                  </a:rPr>
                  <a:t> 변화 시 이동하는 정도를 파악해 후생변화를 정확히 도출할 수 있으려면 </a:t>
                </a:r>
                <a:r>
                  <a:rPr lang="ko-KR" altLang="en-US" sz="2200" dirty="0" err="1">
                    <a:latin typeface="나눔명조" pitchFamily="18" charset="-127"/>
                    <a:ea typeface="나눔명조" pitchFamily="18" charset="-127"/>
                  </a:rPr>
                  <a:t>시장재</a:t>
                </a:r>
                <a:r>
                  <a:rPr lang="ko-KR" altLang="en-US" sz="2200" dirty="0">
                    <a:latin typeface="나눔명조" pitchFamily="18" charset="-127"/>
                    <a:ea typeface="나눔명조" pitchFamily="18" charset="-127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ko-KR" sz="2400" i="1">
                        <a:latin typeface="Cambria Math" panose="02040503050406030204" pitchFamily="18" charset="0"/>
                        <a:ea typeface="나눔명조" pitchFamily="18" charset="-127"/>
                      </a:rPr>
                      <m:t>𝑥</m:t>
                    </m:r>
                    <m:r>
                      <a:rPr lang="en-US" altLang="ko-KR" sz="2400" i="1">
                        <a:latin typeface="Cambria Math" panose="02040503050406030204" pitchFamily="18" charset="0"/>
                        <a:ea typeface="나눔명조" pitchFamily="18" charset="-127"/>
                      </a:rPr>
                      <m:t> </m:t>
                    </m:r>
                  </m:oMath>
                </a14:m>
                <a:r>
                  <a:rPr lang="ko-KR" altLang="en-US" sz="2200" dirty="0">
                    <a:latin typeface="나눔명조" pitchFamily="18" charset="-127"/>
                    <a:ea typeface="나눔명조" pitchFamily="18" charset="-127"/>
                  </a:rPr>
                  <a:t>가 </a:t>
                </a:r>
                <a:r>
                  <a:rPr lang="ko-KR" altLang="en-US" sz="2200" b="1" dirty="0">
                    <a:solidFill>
                      <a:srgbClr val="0000FF"/>
                    </a:solidFill>
                    <a:latin typeface="나눔명조" pitchFamily="18" charset="-127"/>
                    <a:ea typeface="나눔명조" pitchFamily="18" charset="-127"/>
                  </a:rPr>
                  <a:t>필수투입요소</a:t>
                </a:r>
                <a:r>
                  <a:rPr lang="en-US" altLang="ko-KR" sz="2200" b="1" dirty="0">
                    <a:solidFill>
                      <a:srgbClr val="0000FF"/>
                    </a:solidFill>
                    <a:latin typeface="나눔명조" pitchFamily="18" charset="-127"/>
                    <a:ea typeface="나눔명조" pitchFamily="18" charset="-127"/>
                  </a:rPr>
                  <a:t>(essential input)</a:t>
                </a:r>
                <a:r>
                  <a:rPr lang="ko-KR" altLang="en-US" sz="2200" dirty="0">
                    <a:latin typeface="나눔명조" pitchFamily="18" charset="-127"/>
                    <a:ea typeface="나눔명조" pitchFamily="18" charset="-127"/>
                  </a:rPr>
                  <a:t>이어야 함</a:t>
                </a:r>
                <a:endParaRPr lang="en-US" altLang="ko-KR" sz="2200" dirty="0">
                  <a:latin typeface="나눔명조" pitchFamily="18" charset="-127"/>
                  <a:ea typeface="나눔명조" pitchFamily="18" charset="-127"/>
                </a:endParaRPr>
              </a:p>
              <a:p>
                <a:pPr lvl="1" eaLnBrk="1" hangingPunct="1"/>
                <a:r>
                  <a:rPr lang="ko-KR" altLang="en-US" sz="1800" dirty="0" err="1">
                    <a:latin typeface="나눔명조" pitchFamily="18" charset="-127"/>
                    <a:ea typeface="나눔명조" pitchFamily="18" charset="-127"/>
                  </a:rPr>
                  <a:t>시장재</a:t>
                </a:r>
                <a:r>
                  <a:rPr lang="ko-KR" altLang="en-US" sz="1800" dirty="0">
                    <a:latin typeface="나눔명조" pitchFamily="18" charset="-127"/>
                    <a:ea typeface="나눔명조" pitchFamily="18" charset="-127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ko-KR" sz="1800" i="1">
                        <a:latin typeface="Cambria Math" panose="02040503050406030204" pitchFamily="18" charset="0"/>
                        <a:ea typeface="나눔명조" pitchFamily="18" charset="-127"/>
                      </a:rPr>
                      <m:t>𝑥</m:t>
                    </m:r>
                  </m:oMath>
                </a14:m>
                <a:r>
                  <a:rPr lang="en-US" altLang="ko-KR" sz="1800" dirty="0">
                    <a:latin typeface="나눔명조" pitchFamily="18" charset="-127"/>
                    <a:ea typeface="나눔명조" pitchFamily="18" charset="-127"/>
                  </a:rPr>
                  <a:t> </a:t>
                </a:r>
                <a:r>
                  <a:rPr lang="ko-KR" altLang="en-US" sz="1800" dirty="0">
                    <a:latin typeface="나눔명조" pitchFamily="18" charset="-127"/>
                    <a:ea typeface="나눔명조" pitchFamily="18" charset="-127"/>
                  </a:rPr>
                  <a:t>소비량이 </a:t>
                </a:r>
                <a:r>
                  <a:rPr lang="en-US" altLang="ko-KR" sz="1800" dirty="0">
                    <a:latin typeface="나눔명조" pitchFamily="18" charset="-127"/>
                    <a:ea typeface="나눔명조" pitchFamily="18" charset="-127"/>
                  </a:rPr>
                  <a:t>0</a:t>
                </a:r>
                <a:r>
                  <a:rPr lang="ko-KR" altLang="en-US" sz="1800" dirty="0">
                    <a:latin typeface="나눔명조" pitchFamily="18" charset="-127"/>
                    <a:ea typeface="나눔명조" pitchFamily="18" charset="-127"/>
                  </a:rPr>
                  <a:t>이면 </a:t>
                </a:r>
                <a14:m>
                  <m:oMath xmlns:m="http://schemas.openxmlformats.org/officeDocument/2006/math">
                    <m:r>
                      <a:rPr lang="en-US" altLang="ko-KR" sz="1800" i="1">
                        <a:latin typeface="Cambria Math" panose="02040503050406030204" pitchFamily="18" charset="0"/>
                        <a:ea typeface="나눔명조" pitchFamily="18" charset="-127"/>
                      </a:rPr>
                      <m:t>𝑄</m:t>
                    </m:r>
                  </m:oMath>
                </a14:m>
                <a:r>
                  <a:rPr lang="ko-KR" altLang="en-US" sz="1800" dirty="0">
                    <a:latin typeface="나눔명조" pitchFamily="18" charset="-127"/>
                    <a:ea typeface="나눔명조" pitchFamily="18" charset="-127"/>
                  </a:rPr>
                  <a:t>의 값과 상관없이 </a:t>
                </a:r>
                <a14:m>
                  <m:oMath xmlns:m="http://schemas.openxmlformats.org/officeDocument/2006/math">
                    <m:r>
                      <a:rPr lang="en-US" altLang="ko-KR" sz="1800" b="0" i="1" dirty="0" smtClean="0">
                        <a:latin typeface="Cambria Math" panose="02040503050406030204" pitchFamily="18" charset="0"/>
                        <a:ea typeface="나눔명조" pitchFamily="18" charset="-127"/>
                      </a:rPr>
                      <m:t>𝑞</m:t>
                    </m:r>
                  </m:oMath>
                </a14:m>
                <a:r>
                  <a:rPr lang="en-US" altLang="ko-KR" sz="1800" dirty="0">
                    <a:latin typeface="나눔명조" pitchFamily="18" charset="-127"/>
                    <a:ea typeface="나눔명조" pitchFamily="18" charset="-127"/>
                  </a:rPr>
                  <a:t> </a:t>
                </a:r>
                <a:r>
                  <a:rPr lang="ko-KR" altLang="en-US" sz="1800" dirty="0">
                    <a:latin typeface="나눔명조" pitchFamily="18" charset="-127"/>
                    <a:ea typeface="나눔명조" pitchFamily="18" charset="-127"/>
                  </a:rPr>
                  <a:t>생산량이 </a:t>
                </a:r>
                <a:r>
                  <a:rPr lang="en-US" altLang="ko-KR" sz="1800" dirty="0">
                    <a:latin typeface="나눔명조" pitchFamily="18" charset="-127"/>
                    <a:ea typeface="나눔명조" pitchFamily="18" charset="-127"/>
                  </a:rPr>
                  <a:t>0</a:t>
                </a:r>
                <a:r>
                  <a:rPr lang="ko-KR" altLang="en-US" sz="1800" dirty="0">
                    <a:latin typeface="나눔명조" pitchFamily="18" charset="-127"/>
                    <a:ea typeface="나눔명조" pitchFamily="18" charset="-127"/>
                  </a:rPr>
                  <a:t>이어야 함</a:t>
                </a:r>
                <a:endParaRPr lang="en-US" altLang="ko-KR" sz="1800" dirty="0">
                  <a:latin typeface="나눔명조" pitchFamily="18" charset="-127"/>
                  <a:ea typeface="나눔명조" pitchFamily="18" charset="-127"/>
                </a:endParaRPr>
              </a:p>
              <a:p>
                <a:pPr lvl="1" eaLnBrk="1" hangingPunct="1"/>
                <a:r>
                  <a:rPr lang="ko-KR" altLang="en-US" sz="1800" dirty="0">
                    <a:latin typeface="나눔명조" pitchFamily="18" charset="-127"/>
                    <a:ea typeface="나눔명조" pitchFamily="18" charset="-127"/>
                  </a:rPr>
                  <a:t>따라서 </a:t>
                </a:r>
                <a14:m>
                  <m:oMath xmlns:m="http://schemas.openxmlformats.org/officeDocument/2006/math">
                    <m:r>
                      <a:rPr lang="en-US" altLang="ko-KR" sz="1800" i="1">
                        <a:latin typeface="Cambria Math" panose="02040503050406030204" pitchFamily="18" charset="0"/>
                        <a:ea typeface="나눔명조" pitchFamily="18" charset="-127"/>
                      </a:rPr>
                      <m:t>𝑥</m:t>
                    </m:r>
                  </m:oMath>
                </a14:m>
                <a:r>
                  <a:rPr lang="en-US" altLang="ko-KR" sz="1800" dirty="0">
                    <a:latin typeface="나눔명조" pitchFamily="18" charset="-127"/>
                    <a:ea typeface="나눔명조" pitchFamily="18" charset="-127"/>
                  </a:rPr>
                  <a:t>=0</a:t>
                </a:r>
                <a:r>
                  <a:rPr lang="ko-KR" altLang="en-US" sz="1800" dirty="0">
                    <a:latin typeface="나눔명조" pitchFamily="18" charset="-127"/>
                    <a:ea typeface="나눔명조" pitchFamily="18" charset="-127"/>
                  </a:rPr>
                  <a:t>일 때 </a:t>
                </a:r>
                <a14:m>
                  <m:oMath xmlns:m="http://schemas.openxmlformats.org/officeDocument/2006/math">
                    <m:r>
                      <a:rPr lang="en-US" altLang="ko-KR" sz="1800" b="0" i="1" smtClean="0">
                        <a:latin typeface="Cambria Math" panose="02040503050406030204" pitchFamily="18" charset="0"/>
                        <a:ea typeface="나눔명조" pitchFamily="18" charset="-127"/>
                      </a:rPr>
                      <m:t>𝑢</m:t>
                    </m:r>
                    <m:r>
                      <a:rPr lang="en-US" altLang="ko-KR" sz="1800" b="0" i="1" smtClean="0">
                        <a:latin typeface="Cambria Math" panose="02040503050406030204" pitchFamily="18" charset="0"/>
                        <a:ea typeface="나눔명조" pitchFamily="18" charset="-127"/>
                      </a:rPr>
                      <m:t>(0,</m:t>
                    </m:r>
                    <m:r>
                      <a:rPr lang="en-US" altLang="ko-KR" sz="1800" b="0" i="1" smtClean="0">
                        <a:latin typeface="Cambria Math" panose="02040503050406030204" pitchFamily="18" charset="0"/>
                        <a:ea typeface="나눔명조" pitchFamily="18" charset="-127"/>
                      </a:rPr>
                      <m:t>𝑄</m:t>
                    </m:r>
                    <m:r>
                      <a:rPr lang="en-US" altLang="ko-KR" sz="1800" b="0" i="1" smtClean="0">
                        <a:latin typeface="Cambria Math" panose="02040503050406030204" pitchFamily="18" charset="0"/>
                        <a:ea typeface="나눔명조" pitchFamily="18" charset="-127"/>
                      </a:rPr>
                      <m:t>)</m:t>
                    </m:r>
                  </m:oMath>
                </a14:m>
                <a:r>
                  <a:rPr lang="ko-KR" altLang="en-US" sz="1800" dirty="0">
                    <a:latin typeface="Cambria Math" panose="02040503050406030204" pitchFamily="18" charset="0"/>
                    <a:ea typeface="나눔명조" pitchFamily="18" charset="-127"/>
                  </a:rPr>
                  <a:t>이므로</a:t>
                </a:r>
                <a:r>
                  <a:rPr lang="en-US" altLang="ko-KR" sz="1800" dirty="0">
                    <a:latin typeface="Cambria Math" panose="02040503050406030204" pitchFamily="18" charset="0"/>
                    <a:ea typeface="나눔명조" pitchFamily="18" charset="-127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ko-KR" sz="1800" i="1">
                        <a:latin typeface="Cambria Math" panose="02040503050406030204" pitchFamily="18" charset="0"/>
                        <a:ea typeface="나눔명조" pitchFamily="18" charset="-127"/>
                      </a:rPr>
                      <m:t>𝑄</m:t>
                    </m:r>
                  </m:oMath>
                </a14:m>
                <a:r>
                  <a:rPr lang="ko-KR" altLang="en-US" sz="1800" dirty="0">
                    <a:latin typeface="Cambria Math" panose="02040503050406030204" pitchFamily="18" charset="0"/>
                    <a:ea typeface="나눔명조" pitchFamily="18" charset="-127"/>
                  </a:rPr>
                  <a:t>가 변해도 만족도가 달라지지 않는 약보완성이 성립하며</a:t>
                </a:r>
                <a:r>
                  <a:rPr lang="en-US" altLang="ko-KR" sz="1800" dirty="0">
                    <a:latin typeface="Cambria Math" panose="02040503050406030204" pitchFamily="18" charset="0"/>
                    <a:ea typeface="나눔명조" pitchFamily="18" charset="-127"/>
                  </a:rPr>
                  <a:t>, </a:t>
                </a:r>
                <a14:m>
                  <m:oMath xmlns:m="http://schemas.openxmlformats.org/officeDocument/2006/math">
                    <m:r>
                      <a:rPr lang="en-US" altLang="ko-KR" sz="1800" b="0" i="1" smtClean="0">
                        <a:latin typeface="Cambria Math" panose="02040503050406030204" pitchFamily="18" charset="0"/>
                        <a:ea typeface="나눔명조" pitchFamily="18" charset="-127"/>
                      </a:rPr>
                      <m:t>𝑥</m:t>
                    </m:r>
                  </m:oMath>
                </a14:m>
                <a:r>
                  <a:rPr lang="en-US" altLang="ko-KR" sz="1800" dirty="0">
                    <a:latin typeface="Cambria Math" panose="02040503050406030204" pitchFamily="18" charset="0"/>
                    <a:ea typeface="나눔명조" pitchFamily="18" charset="-127"/>
                  </a:rPr>
                  <a:t> </a:t>
                </a:r>
                <a:r>
                  <a:rPr lang="ko-KR" altLang="en-US" sz="1800" dirty="0">
                    <a:latin typeface="Cambria Math" panose="02040503050406030204" pitchFamily="18" charset="0"/>
                    <a:ea typeface="나눔명조" pitchFamily="18" charset="-127"/>
                  </a:rPr>
                  <a:t>수요곡선 이동을 분석하여 </a:t>
                </a:r>
                <a14:m>
                  <m:oMath xmlns:m="http://schemas.openxmlformats.org/officeDocument/2006/math">
                    <m:r>
                      <a:rPr lang="en-US" altLang="ko-KR" sz="1800" i="1">
                        <a:latin typeface="Cambria Math" panose="02040503050406030204" pitchFamily="18" charset="0"/>
                        <a:ea typeface="나눔명조" pitchFamily="18" charset="-127"/>
                      </a:rPr>
                      <m:t>𝑄</m:t>
                    </m:r>
                  </m:oMath>
                </a14:m>
                <a:r>
                  <a:rPr lang="en-US" altLang="ko-KR" sz="1800" dirty="0">
                    <a:latin typeface="Cambria Math" panose="02040503050406030204" pitchFamily="18" charset="0"/>
                    <a:ea typeface="나눔명조" pitchFamily="18" charset="-127"/>
                  </a:rPr>
                  <a:t> </a:t>
                </a:r>
                <a:r>
                  <a:rPr lang="ko-KR" altLang="en-US" sz="1800" dirty="0">
                    <a:latin typeface="Cambria Math" panose="02040503050406030204" pitchFamily="18" charset="0"/>
                    <a:ea typeface="나눔명조" pitchFamily="18" charset="-127"/>
                  </a:rPr>
                  <a:t>변화의 가치를 추정함</a:t>
                </a:r>
                <a:endParaRPr lang="en-US" altLang="ko-KR" sz="1800" dirty="0">
                  <a:latin typeface="Cambria Math" panose="02040503050406030204" pitchFamily="18" charset="0"/>
                  <a:ea typeface="나눔명조" pitchFamily="18" charset="-127"/>
                </a:endParaRPr>
              </a:p>
              <a:p>
                <a:pPr lvl="1" eaLnBrk="1" hangingPunct="1"/>
                <a:r>
                  <a:rPr lang="ko-KR" altLang="en-US" sz="1800" dirty="0">
                    <a:latin typeface="Cambria Math" panose="02040503050406030204" pitchFamily="18" charset="0"/>
                    <a:ea typeface="나눔명조" pitchFamily="18" charset="-127"/>
                  </a:rPr>
                  <a:t>그러나</a:t>
                </a:r>
                <a:r>
                  <a:rPr lang="en-US" altLang="ko-KR" sz="1800" dirty="0">
                    <a:latin typeface="Cambria Math" panose="02040503050406030204" pitchFamily="18" charset="0"/>
                    <a:ea typeface="나눔명조" pitchFamily="18" charset="-127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ko-KR" sz="1800" i="1">
                        <a:latin typeface="Cambria Math" panose="02040503050406030204" pitchFamily="18" charset="0"/>
                        <a:ea typeface="나눔명조" pitchFamily="18" charset="-127"/>
                      </a:rPr>
                      <m:t>𝑥</m:t>
                    </m:r>
                  </m:oMath>
                </a14:m>
                <a:r>
                  <a:rPr lang="ko-KR" altLang="en-US" sz="1800" dirty="0">
                    <a:latin typeface="Cambria Math" panose="02040503050406030204" pitchFamily="18" charset="0"/>
                    <a:ea typeface="나눔명조" pitchFamily="18" charset="-127"/>
                  </a:rPr>
                  <a:t>와 </a:t>
                </a:r>
                <a14:m>
                  <m:oMath xmlns:m="http://schemas.openxmlformats.org/officeDocument/2006/math">
                    <m:r>
                      <a:rPr lang="en-US" altLang="ko-KR" sz="1800" i="1">
                        <a:latin typeface="Cambria Math" panose="02040503050406030204" pitchFamily="18" charset="0"/>
                        <a:ea typeface="나눔명조" pitchFamily="18" charset="-127"/>
                      </a:rPr>
                      <m:t>𝑄</m:t>
                    </m:r>
                  </m:oMath>
                </a14:m>
                <a:r>
                  <a:rPr lang="ko-KR" altLang="en-US" sz="1800" dirty="0">
                    <a:latin typeface="Cambria Math" panose="02040503050406030204" pitchFamily="18" charset="0"/>
                    <a:ea typeface="나눔명조" pitchFamily="18" charset="-127"/>
                  </a:rPr>
                  <a:t>가 상호 대체적이면 이 가정 적용 불가</a:t>
                </a:r>
                <a:r>
                  <a:rPr lang="en-US" altLang="ko-KR" sz="1800" dirty="0">
                    <a:latin typeface="Cambria Math" panose="02040503050406030204" pitchFamily="18" charset="0"/>
                    <a:ea typeface="나눔명조" pitchFamily="18" charset="-127"/>
                  </a:rPr>
                  <a:t>(</a:t>
                </a:r>
                <a:r>
                  <a:rPr lang="ko-KR" altLang="en-US" sz="1800" dirty="0">
                    <a:latin typeface="Cambria Math" panose="02040503050406030204" pitchFamily="18" charset="0"/>
                    <a:ea typeface="나눔명조" pitchFamily="18" charset="-127"/>
                  </a:rPr>
                  <a:t>예</a:t>
                </a:r>
                <a:r>
                  <a:rPr lang="en-US" altLang="ko-KR" sz="1800" dirty="0">
                    <a:latin typeface="Cambria Math" panose="02040503050406030204" pitchFamily="18" charset="0"/>
                    <a:ea typeface="나눔명조" pitchFamily="18" charset="-127"/>
                  </a:rPr>
                  <a:t>: </a:t>
                </a:r>
                <a:r>
                  <a:rPr lang="ko-KR" altLang="en-US" sz="1800" dirty="0">
                    <a:latin typeface="Cambria Math" panose="02040503050406030204" pitchFamily="18" charset="0"/>
                    <a:ea typeface="나눔명조" pitchFamily="18" charset="-127"/>
                  </a:rPr>
                  <a:t>생수 구입량이 </a:t>
                </a:r>
                <a:r>
                  <a:rPr lang="en-US" altLang="ko-KR" sz="1800" dirty="0">
                    <a:latin typeface="Cambria Math" panose="02040503050406030204" pitchFamily="18" charset="0"/>
                    <a:ea typeface="나눔명조" pitchFamily="18" charset="-127"/>
                  </a:rPr>
                  <a:t>0</a:t>
                </a:r>
                <a:r>
                  <a:rPr lang="ko-KR" altLang="en-US" sz="1800" dirty="0">
                    <a:latin typeface="Cambria Math" panose="02040503050406030204" pitchFamily="18" charset="0"/>
                    <a:ea typeface="나눔명조" pitchFamily="18" charset="-127"/>
                  </a:rPr>
                  <a:t>이라 해서 </a:t>
                </a:r>
                <a:r>
                  <a:rPr lang="en-US" altLang="ko-KR" sz="1800" dirty="0">
                    <a:latin typeface="Cambria Math" panose="02040503050406030204" pitchFamily="18" charset="0"/>
                    <a:ea typeface="나눔명조" pitchFamily="18" charset="-127"/>
                  </a:rPr>
                  <a:t>(</a:t>
                </a:r>
                <a:r>
                  <a:rPr lang="ko-KR" altLang="en-US" sz="1800" dirty="0">
                    <a:latin typeface="Cambria Math" panose="02040503050406030204" pitchFamily="18" charset="0"/>
                    <a:ea typeface="나눔명조" pitchFamily="18" charset="-127"/>
                  </a:rPr>
                  <a:t>수질을 감안한</a:t>
                </a:r>
                <a:r>
                  <a:rPr lang="en-US" altLang="ko-KR" sz="1800" dirty="0">
                    <a:latin typeface="Cambria Math" panose="02040503050406030204" pitchFamily="18" charset="0"/>
                    <a:ea typeface="나눔명조" pitchFamily="18" charset="-127"/>
                  </a:rPr>
                  <a:t>) </a:t>
                </a:r>
                <a:r>
                  <a:rPr lang="ko-KR" altLang="en-US" sz="1800" dirty="0">
                    <a:latin typeface="Cambria Math" panose="02040503050406030204" pitchFamily="18" charset="0"/>
                    <a:ea typeface="나눔명조" pitchFamily="18" charset="-127"/>
                  </a:rPr>
                  <a:t>음용수 소비가 항상 </a:t>
                </a:r>
                <a:r>
                  <a:rPr lang="en-US" altLang="ko-KR" sz="1800" dirty="0">
                    <a:latin typeface="Cambria Math" panose="02040503050406030204" pitchFamily="18" charset="0"/>
                    <a:ea typeface="나눔명조" pitchFamily="18" charset="-127"/>
                  </a:rPr>
                  <a:t>0</a:t>
                </a:r>
                <a:r>
                  <a:rPr lang="ko-KR" altLang="en-US" sz="1800" dirty="0">
                    <a:latin typeface="Cambria Math" panose="02040503050406030204" pitchFamily="18" charset="0"/>
                    <a:ea typeface="나눔명조" pitchFamily="18" charset="-127"/>
                  </a:rPr>
                  <a:t>이라 가정할 수 없음</a:t>
                </a:r>
                <a:r>
                  <a:rPr lang="en-US" altLang="ko-KR" sz="1800" dirty="0">
                    <a:latin typeface="Cambria Math" panose="02040503050406030204" pitchFamily="18" charset="0"/>
                    <a:ea typeface="나눔명조" pitchFamily="18" charset="-127"/>
                  </a:rPr>
                  <a:t>)</a:t>
                </a:r>
              </a:p>
              <a:p>
                <a:pPr eaLnBrk="1" hangingPunct="1"/>
                <a14:m>
                  <m:oMath xmlns:m="http://schemas.openxmlformats.org/officeDocument/2006/math">
                    <m:f>
                      <m:fPr>
                        <m:ctrlPr>
                          <a:rPr lang="en-US" altLang="ko-KR" sz="2200" i="1">
                            <a:latin typeface="Cambria Math" panose="02040503050406030204" pitchFamily="18" charset="0"/>
                            <a:ea typeface="나눔명조" pitchFamily="18" charset="-127"/>
                          </a:rPr>
                        </m:ctrlPr>
                      </m:fPr>
                      <m:num>
                        <m:r>
                          <a:rPr lang="ko-KR" altLang="en-US" sz="2200" i="1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∆</m:t>
                        </m:r>
                        <m:r>
                          <a:rPr lang="en-US" altLang="ko-KR" sz="2200" i="1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(</m:t>
                        </m:r>
                        <m:f>
                          <m:fPr>
                            <m:ctrlPr>
                              <a:rPr lang="en-US" altLang="ko-KR" sz="2200" i="1">
                                <a:latin typeface="Cambria Math" panose="02040503050406030204" pitchFamily="18" charset="0"/>
                                <a:ea typeface="나눔명조" pitchFamily="18" charset="-127"/>
                              </a:rPr>
                            </m:ctrlPr>
                          </m:fPr>
                          <m:num>
                            <m:r>
                              <a:rPr lang="ko-KR" altLang="en-US" sz="2200" i="1">
                                <a:latin typeface="Cambria Math" panose="02040503050406030204" pitchFamily="18" charset="0"/>
                                <a:ea typeface="나눔명조" pitchFamily="18" charset="-127"/>
                              </a:rPr>
                              <m:t>∆</m:t>
                            </m:r>
                            <m:r>
                              <a:rPr lang="en-US" altLang="ko-KR" sz="2200" i="1">
                                <a:latin typeface="Cambria Math" panose="02040503050406030204" pitchFamily="18" charset="0"/>
                                <a:ea typeface="나눔명조" pitchFamily="18" charset="-127"/>
                              </a:rPr>
                              <m:t>𝑓</m:t>
                            </m:r>
                          </m:num>
                          <m:den>
                            <m:r>
                              <a:rPr lang="ko-KR" altLang="en-US" sz="2200" i="1">
                                <a:latin typeface="Cambria Math" panose="02040503050406030204" pitchFamily="18" charset="0"/>
                                <a:ea typeface="나눔명조" pitchFamily="18" charset="-127"/>
                              </a:rPr>
                              <m:t>∆</m:t>
                            </m:r>
                            <m:r>
                              <a:rPr lang="en-US" altLang="ko-KR" sz="2200" i="1">
                                <a:latin typeface="Cambria Math" panose="02040503050406030204" pitchFamily="18" charset="0"/>
                                <a:ea typeface="나눔명조" pitchFamily="18" charset="-127"/>
                              </a:rPr>
                              <m:t>𝑥</m:t>
                            </m:r>
                          </m:den>
                        </m:f>
                        <m:r>
                          <a:rPr lang="en-US" altLang="ko-KR" sz="2200" i="1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)</m:t>
                        </m:r>
                      </m:num>
                      <m:den>
                        <m:r>
                          <a:rPr lang="ko-KR" altLang="en-US" sz="2200" i="1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∆</m:t>
                        </m:r>
                        <m:r>
                          <a:rPr lang="en-US" altLang="ko-KR" sz="2200" i="1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𝑄</m:t>
                        </m:r>
                      </m:den>
                    </m:f>
                    <m:r>
                      <a:rPr lang="en-US" altLang="ko-KR" sz="2200" i="1">
                        <a:latin typeface="Cambria Math" panose="02040503050406030204" pitchFamily="18" charset="0"/>
                        <a:ea typeface="나눔명조" pitchFamily="18" charset="-127"/>
                      </a:rPr>
                      <m:t>&lt;0</m:t>
                    </m:r>
                  </m:oMath>
                </a14:m>
                <a:r>
                  <a:rPr lang="ko-KR" altLang="en-US" sz="2200" dirty="0">
                    <a:latin typeface="Cambria Math" panose="02040503050406030204" pitchFamily="18" charset="0"/>
                    <a:ea typeface="나눔명조" pitchFamily="18" charset="-127"/>
                  </a:rPr>
                  <a:t>일 경우 </a:t>
                </a:r>
                <a14:m>
                  <m:oMath xmlns:m="http://schemas.openxmlformats.org/officeDocument/2006/math">
                    <m:r>
                      <a:rPr lang="en-US" altLang="ko-KR" sz="2400" i="1">
                        <a:latin typeface="Cambria Math" panose="02040503050406030204" pitchFamily="18" charset="0"/>
                        <a:ea typeface="나눔명조" pitchFamily="18" charset="-127"/>
                      </a:rPr>
                      <m:t>𝑥</m:t>
                    </m:r>
                  </m:oMath>
                </a14:m>
                <a:r>
                  <a:rPr lang="en-US" altLang="ko-KR" sz="2200" dirty="0">
                    <a:latin typeface="Cambria Math" panose="02040503050406030204" pitchFamily="18" charset="0"/>
                    <a:ea typeface="나눔명조" pitchFamily="18" charset="-127"/>
                  </a:rPr>
                  <a:t> </a:t>
                </a:r>
                <a:r>
                  <a:rPr lang="ko-KR" altLang="en-US" sz="2200" dirty="0">
                    <a:latin typeface="Cambria Math" panose="02040503050406030204" pitchFamily="18" charset="0"/>
                    <a:ea typeface="나눔명조" pitchFamily="18" charset="-127"/>
                  </a:rPr>
                  <a:t>수요함수 추정보다는 생산함수 </a:t>
                </a:r>
                <a14:m>
                  <m:oMath xmlns:m="http://schemas.openxmlformats.org/officeDocument/2006/math">
                    <m:r>
                      <a:rPr lang="en-US" altLang="ko-KR" sz="2000" i="1">
                        <a:latin typeface="Cambria Math" panose="02040503050406030204" pitchFamily="18" charset="0"/>
                        <a:ea typeface="나눔명조" pitchFamily="18" charset="-127"/>
                      </a:rPr>
                      <m:t>𝑓</m:t>
                    </m:r>
                    <m:r>
                      <a:rPr lang="en-US" altLang="ko-KR" sz="2000" i="1">
                        <a:latin typeface="Cambria Math" panose="02040503050406030204" pitchFamily="18" charset="0"/>
                        <a:ea typeface="나눔명조" pitchFamily="18" charset="-127"/>
                      </a:rPr>
                      <m:t>(</m:t>
                    </m:r>
                    <m:r>
                      <a:rPr lang="en-US" altLang="ko-KR" sz="2000" i="1">
                        <a:latin typeface="Cambria Math" panose="02040503050406030204" pitchFamily="18" charset="0"/>
                        <a:ea typeface="나눔명조" pitchFamily="18" charset="-127"/>
                      </a:rPr>
                      <m:t>𝑥</m:t>
                    </m:r>
                    <m:r>
                      <a:rPr lang="en-US" altLang="ko-KR" sz="2000" i="1">
                        <a:latin typeface="Cambria Math" panose="02040503050406030204" pitchFamily="18" charset="0"/>
                        <a:ea typeface="나눔명조" pitchFamily="18" charset="-127"/>
                      </a:rPr>
                      <m:t>,</m:t>
                    </m:r>
                    <m:r>
                      <a:rPr lang="en-US" altLang="ko-KR" sz="2000" i="1">
                        <a:latin typeface="Cambria Math" panose="02040503050406030204" pitchFamily="18" charset="0"/>
                        <a:ea typeface="나눔명조" pitchFamily="18" charset="-127"/>
                      </a:rPr>
                      <m:t>𝑄</m:t>
                    </m:r>
                    <m:r>
                      <a:rPr lang="en-US" altLang="ko-KR" sz="2000" i="1">
                        <a:latin typeface="Cambria Math" panose="02040503050406030204" pitchFamily="18" charset="0"/>
                        <a:ea typeface="나눔명조" pitchFamily="18" charset="-127"/>
                      </a:rPr>
                      <m:t>)</m:t>
                    </m:r>
                  </m:oMath>
                </a14:m>
                <a:r>
                  <a:rPr lang="ko-KR" altLang="en-US" sz="2200" dirty="0">
                    <a:latin typeface="Cambria Math" panose="02040503050406030204" pitchFamily="18" charset="0"/>
                    <a:ea typeface="나눔명조" pitchFamily="18" charset="-127"/>
                  </a:rPr>
                  <a:t>가 분석에서 주된 역할을 담당함</a:t>
                </a:r>
                <a:r>
                  <a:rPr lang="en-US" altLang="ko-KR" sz="2200" dirty="0">
                    <a:latin typeface="Cambria Math" panose="02040503050406030204" pitchFamily="18" charset="0"/>
                    <a:ea typeface="나눔명조" pitchFamily="18" charset="-127"/>
                  </a:rPr>
                  <a:t>(</a:t>
                </a:r>
                <a:r>
                  <a:rPr lang="ko-KR" altLang="en-US" sz="2200" dirty="0">
                    <a:latin typeface="Cambria Math" panose="02040503050406030204" pitchFamily="18" charset="0"/>
                    <a:ea typeface="나눔명조" pitchFamily="18" charset="-127"/>
                  </a:rPr>
                  <a:t>따라서 효용함수 </a:t>
                </a:r>
                <a14:m>
                  <m:oMath xmlns:m="http://schemas.openxmlformats.org/officeDocument/2006/math">
                    <m:r>
                      <a:rPr lang="en-US" altLang="ko-KR" sz="2000" b="0" i="1" smtClean="0">
                        <a:latin typeface="Cambria Math" panose="02040503050406030204" pitchFamily="18" charset="0"/>
                        <a:ea typeface="나눔명조" pitchFamily="18" charset="-127"/>
                      </a:rPr>
                      <m:t>𝑢</m:t>
                    </m:r>
                    <m:r>
                      <a:rPr lang="en-US" altLang="ko-KR" sz="2000" i="1">
                        <a:latin typeface="Cambria Math" panose="02040503050406030204" pitchFamily="18" charset="0"/>
                        <a:ea typeface="나눔명조" pitchFamily="18" charset="-127"/>
                      </a:rPr>
                      <m:t>(</m:t>
                    </m:r>
                    <m:r>
                      <a:rPr lang="en-US" altLang="ko-KR" sz="2000" b="0" i="1" smtClean="0">
                        <a:latin typeface="Cambria Math" panose="02040503050406030204" pitchFamily="18" charset="0"/>
                        <a:ea typeface="나눔명조" pitchFamily="18" charset="-127"/>
                      </a:rPr>
                      <m:t>𝑞</m:t>
                    </m:r>
                    <m:r>
                      <a:rPr lang="en-US" altLang="ko-KR" sz="2000" i="1">
                        <a:latin typeface="Cambria Math" panose="02040503050406030204" pitchFamily="18" charset="0"/>
                        <a:ea typeface="나눔명조" pitchFamily="18" charset="-127"/>
                      </a:rPr>
                      <m:t>,</m:t>
                    </m:r>
                    <m:r>
                      <a:rPr lang="en-US" altLang="ko-KR" sz="2000" b="0" i="1" smtClean="0">
                        <a:latin typeface="Cambria Math" panose="02040503050406030204" pitchFamily="18" charset="0"/>
                        <a:ea typeface="나눔명조" pitchFamily="18" charset="-127"/>
                      </a:rPr>
                      <m:t>𝑧</m:t>
                    </m:r>
                    <m:r>
                      <a:rPr lang="en-US" altLang="ko-KR" sz="2000" i="1">
                        <a:latin typeface="Cambria Math" panose="02040503050406030204" pitchFamily="18" charset="0"/>
                        <a:ea typeface="나눔명조" pitchFamily="18" charset="-127"/>
                      </a:rPr>
                      <m:t>)</m:t>
                    </m:r>
                  </m:oMath>
                </a14:m>
                <a:r>
                  <a:rPr lang="ko-KR" altLang="en-US" sz="2200" dirty="0">
                    <a:latin typeface="Cambria Math" panose="02040503050406030204" pitchFamily="18" charset="0"/>
                    <a:ea typeface="나눔명조" pitchFamily="18" charset="-127"/>
                  </a:rPr>
                  <a:t>는</a:t>
                </a:r>
                <a:r>
                  <a:rPr lang="en-US" altLang="ko-KR" sz="2200" dirty="0">
                    <a:latin typeface="Cambria Math" panose="02040503050406030204" pitchFamily="18" charset="0"/>
                    <a:ea typeface="나눔명조" pitchFamily="18" charset="-127"/>
                  </a:rPr>
                  <a:t> </a:t>
                </a:r>
                <a:r>
                  <a:rPr lang="ko-KR" altLang="en-US" sz="2200" dirty="0">
                    <a:latin typeface="Cambria Math" panose="02040503050406030204" pitchFamily="18" charset="0"/>
                    <a:ea typeface="나눔명조" pitchFamily="18" charset="-127"/>
                  </a:rPr>
                  <a:t>역할을 하지 않음</a:t>
                </a:r>
                <a:r>
                  <a:rPr lang="en-US" altLang="ko-KR" sz="2200" dirty="0">
                    <a:latin typeface="Cambria Math" panose="02040503050406030204" pitchFamily="18" charset="0"/>
                    <a:ea typeface="나눔명조" pitchFamily="18" charset="-127"/>
                  </a:rPr>
                  <a:t>)</a:t>
                </a:r>
              </a:p>
            </p:txBody>
          </p:sp>
        </mc:Choice>
        <mc:Fallback>
          <p:sp>
            <p:nvSpPr>
              <p:cNvPr id="15362" name="Rectangle 9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82696" y="1216064"/>
                <a:ext cx="8105794" cy="5190955"/>
              </a:xfrm>
              <a:blipFill>
                <a:blip r:embed="rId3"/>
                <a:stretch>
                  <a:fillRect l="-828" t="-704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363" name="바닥글 개체 틀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r>
              <a:rPr lang="ko-KR" altLang="en-US" sz="1200" b="0" dirty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Chapter </a:t>
            </a:r>
            <a:r>
              <a:rPr lang="en-US" altLang="ko-KR" sz="1200" b="0" dirty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15</a:t>
            </a:r>
          </a:p>
        </p:txBody>
      </p:sp>
      <p:sp>
        <p:nvSpPr>
          <p:cNvPr id="15364" name="슬라이드 번호 개체 틀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fld id="{C753D822-DF5B-4203-821F-E37D763E2E34}" type="slidenum">
              <a:rPr lang="ko-KR" altLang="en-US" sz="1200" b="0">
                <a:solidFill>
                  <a:schemeClr val="tx1"/>
                </a:solidFill>
              </a:rPr>
              <a:pPr/>
              <a:t>27</a:t>
            </a:fld>
            <a:endParaRPr lang="en-US" altLang="ko-KR" sz="1200" b="0" dirty="0">
              <a:solidFill>
                <a:schemeClr val="tx1"/>
              </a:solidFill>
            </a:endParaRPr>
          </a:p>
        </p:txBody>
      </p:sp>
      <p:sp>
        <p:nvSpPr>
          <p:cNvPr id="15365" name="Rectangle 2"/>
          <p:cNvSpPr>
            <a:spLocks noChangeArrowheads="1"/>
          </p:cNvSpPr>
          <p:nvPr/>
        </p:nvSpPr>
        <p:spPr bwMode="auto">
          <a:xfrm>
            <a:off x="7620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>
              <a:ea typeface="굴림" panose="020B0600000101010101" pitchFamily="50" charset="-127"/>
            </a:endParaRPr>
          </a:p>
        </p:txBody>
      </p:sp>
      <p:sp>
        <p:nvSpPr>
          <p:cNvPr id="15366" name="Rectangle 3"/>
          <p:cNvSpPr>
            <a:spLocks noChangeArrowheads="1"/>
          </p:cNvSpPr>
          <p:nvPr/>
        </p:nvSpPr>
        <p:spPr bwMode="auto">
          <a:xfrm>
            <a:off x="32766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>
              <a:ea typeface="굴림" panose="020B0600000101010101" pitchFamily="50" charset="-127"/>
            </a:endParaRPr>
          </a:p>
        </p:txBody>
      </p:sp>
      <p:sp>
        <p:nvSpPr>
          <p:cNvPr id="15367" name="Rectangle 6"/>
          <p:cNvSpPr>
            <a:spLocks noGrp="1" noChangeArrowheads="1"/>
          </p:cNvSpPr>
          <p:nvPr>
            <p:ph type="title"/>
          </p:nvPr>
        </p:nvSpPr>
        <p:spPr>
          <a:xfrm>
            <a:off x="1355725" y="0"/>
            <a:ext cx="7313613" cy="1143000"/>
          </a:xfrm>
        </p:spPr>
        <p:txBody>
          <a:bodyPr/>
          <a:lstStyle/>
          <a:p>
            <a:pPr eaLnBrk="1" hangingPunct="1"/>
            <a:r>
              <a:rPr lang="ko-KR" altLang="en-US" dirty="0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대체관계와 가계생산</a:t>
            </a:r>
          </a:p>
        </p:txBody>
      </p:sp>
    </p:spTree>
    <p:extLst>
      <p:ext uri="{BB962C8B-B14F-4D97-AF65-F5344CB8AC3E}">
        <p14:creationId xmlns:p14="http://schemas.microsoft.com/office/powerpoint/2010/main" val="2870404875"/>
      </p:ext>
    </p:extLst>
  </p:cSld>
  <p:clrMapOvr>
    <a:masterClrMapping/>
  </p:clrMapOvr>
  <p:transition spd="med">
    <p:wipe dir="r"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15362" name="Rectangle 9"/>
              <p:cNvSpPr>
                <a:spLocks noGrp="1" noChangeArrowheads="1"/>
              </p:cNvSpPr>
              <p:nvPr>
                <p:ph idx="1"/>
              </p:nvPr>
            </p:nvSpPr>
            <p:spPr>
              <a:xfrm>
                <a:off x="855662" y="1254010"/>
                <a:ext cx="7939995" cy="4848210"/>
              </a:xfrm>
            </p:spPr>
            <p:txBody>
              <a:bodyPr/>
              <a:lstStyle/>
              <a:p>
                <a:pPr eaLnBrk="1" hangingPunct="1"/>
                <a:r>
                  <a:rPr lang="ko-KR" altLang="en-US" sz="20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즉 공공재와 시장재가 대체관계 가질 경우 </a:t>
                </a:r>
                <a:r>
                  <a:rPr lang="ko-KR" altLang="en-US" sz="2000" dirty="0" err="1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시장재</a:t>
                </a:r>
                <a:r>
                  <a:rPr lang="ko-KR" altLang="en-US" sz="20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 수요곡선을 직접 분석하기보다는 개인 환경 </a:t>
                </a:r>
                <a:r>
                  <a:rPr lang="ko-KR" altLang="en-US" sz="2000" u="sng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달성 비용을 </a:t>
                </a:r>
                <a:r>
                  <a:rPr lang="ko-KR" altLang="en-US" sz="20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이용해 편익을 도출</a:t>
                </a:r>
                <a:endParaRPr lang="en-US" altLang="ko-KR" sz="2000" dirty="0">
                  <a:latin typeface="Times New Roman" pitchFamily="18" charset="0"/>
                  <a:ea typeface="나눔명조" pitchFamily="18" charset="-127"/>
                  <a:cs typeface="Times New Roman" pitchFamily="18" charset="0"/>
                </a:endParaRPr>
              </a:p>
              <a:p>
                <a:pPr eaLnBrk="1" hangingPunct="1"/>
                <a:r>
                  <a:rPr lang="en-US" altLang="ko-KR" sz="20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&lt;</a:t>
                </a:r>
                <a:r>
                  <a:rPr lang="ko-KR" altLang="en-US" sz="20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그림 </a:t>
                </a:r>
                <a:r>
                  <a:rPr lang="en-US" altLang="ko-KR" sz="20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15-5&gt;</a:t>
                </a:r>
                <a:r>
                  <a:rPr lang="ko-KR" altLang="en-US" sz="20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에서 환경질의 개선은 회피행위의 비용을 하락시켜 개인 환경질을 </a:t>
                </a:r>
                <a:r>
                  <a:rPr lang="en-US" altLang="ko-KR" sz="20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b</a:t>
                </a:r>
                <a:r>
                  <a:rPr lang="ko-KR" altLang="en-US" sz="20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에서 </a:t>
                </a:r>
                <a:r>
                  <a:rPr lang="en-US" altLang="ko-KR" sz="20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d</a:t>
                </a:r>
                <a:r>
                  <a:rPr lang="ko-KR" altLang="en-US" sz="20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로 이동시킴</a:t>
                </a:r>
                <a:endParaRPr lang="en-US" altLang="ko-KR" sz="2000" dirty="0">
                  <a:latin typeface="Times New Roman" pitchFamily="18" charset="0"/>
                  <a:ea typeface="나눔명조" pitchFamily="18" charset="-127"/>
                  <a:cs typeface="Times New Roman" pitchFamily="18" charset="0"/>
                </a:endParaRPr>
              </a:p>
              <a:p>
                <a:pPr lvl="1" eaLnBrk="1" hangingPunct="1"/>
                <a:r>
                  <a:rPr lang="ko-KR" altLang="en-US" sz="18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비용 곡선 이동은 생산함수 </a:t>
                </a:r>
                <a14:m>
                  <m:oMath xmlns:m="http://schemas.openxmlformats.org/officeDocument/2006/math">
                    <m:r>
                      <a:rPr lang="en-US" altLang="ko-KR" sz="1800" i="1">
                        <a:latin typeface="Cambria Math" panose="02040503050406030204" pitchFamily="18" charset="0"/>
                        <a:ea typeface="나눔명조" pitchFamily="18" charset="-127"/>
                      </a:rPr>
                      <m:t>𝑓</m:t>
                    </m:r>
                    <m:r>
                      <a:rPr lang="en-US" altLang="ko-KR" sz="1800" i="1">
                        <a:latin typeface="Cambria Math" panose="02040503050406030204" pitchFamily="18" charset="0"/>
                        <a:ea typeface="나눔명조" pitchFamily="18" charset="-127"/>
                      </a:rPr>
                      <m:t>(</m:t>
                    </m:r>
                    <m:r>
                      <a:rPr lang="en-US" altLang="ko-KR" sz="1800" i="1">
                        <a:latin typeface="Cambria Math" panose="02040503050406030204" pitchFamily="18" charset="0"/>
                        <a:ea typeface="나눔명조" pitchFamily="18" charset="-127"/>
                      </a:rPr>
                      <m:t>𝑥</m:t>
                    </m:r>
                    <m:r>
                      <a:rPr lang="en-US" altLang="ko-KR" sz="1800" i="1">
                        <a:latin typeface="Cambria Math" panose="02040503050406030204" pitchFamily="18" charset="0"/>
                        <a:ea typeface="나눔명조" pitchFamily="18" charset="-127"/>
                      </a:rPr>
                      <m:t>,</m:t>
                    </m:r>
                    <m:r>
                      <a:rPr lang="en-US" altLang="ko-KR" sz="1800" i="1">
                        <a:latin typeface="Cambria Math" panose="02040503050406030204" pitchFamily="18" charset="0"/>
                        <a:ea typeface="나눔명조" pitchFamily="18" charset="-127"/>
                      </a:rPr>
                      <m:t>𝑄</m:t>
                    </m:r>
                    <m:r>
                      <a:rPr lang="en-US" altLang="ko-KR" sz="1800" i="1">
                        <a:latin typeface="Cambria Math" panose="02040503050406030204" pitchFamily="18" charset="0"/>
                        <a:ea typeface="나눔명조" pitchFamily="18" charset="-127"/>
                      </a:rPr>
                      <m:t>)</m:t>
                    </m:r>
                  </m:oMath>
                </a14:m>
                <a:r>
                  <a:rPr lang="ko-KR" altLang="en-US" sz="18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로 부터 도출 </a:t>
                </a:r>
                <a:r>
                  <a:rPr lang="en-US" altLang="ko-KR" sz="18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(</a:t>
                </a:r>
                <a:r>
                  <a:rPr lang="ko-KR" altLang="en-US" sz="18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연습문제 참조</a:t>
                </a:r>
                <a:r>
                  <a:rPr lang="en-US" altLang="ko-KR" sz="18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)</a:t>
                </a:r>
                <a:endParaRPr lang="ko-KR" altLang="en-US" sz="1800" dirty="0">
                  <a:latin typeface="Times New Roman" pitchFamily="18" charset="0"/>
                  <a:ea typeface="나눔명조" pitchFamily="18" charset="-127"/>
                  <a:cs typeface="Times New Roman" pitchFamily="18" charset="0"/>
                </a:endParaRPr>
              </a:p>
              <a:p>
                <a:pPr lvl="1" eaLnBrk="1" hangingPunct="1"/>
                <a:r>
                  <a:rPr lang="ko-KR" altLang="en-US" sz="18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면적 </a:t>
                </a:r>
                <a:r>
                  <a:rPr lang="en-US" altLang="ko-KR" sz="1800" dirty="0" err="1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abe</a:t>
                </a:r>
                <a:r>
                  <a:rPr lang="ko-KR" altLang="en-US" sz="18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는 원래의 </a:t>
                </a:r>
                <a:r>
                  <a:rPr lang="ko-KR" altLang="en-US" sz="1800" dirty="0" err="1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환경질에서</a:t>
                </a:r>
                <a:r>
                  <a:rPr lang="ko-KR" altLang="en-US" sz="18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 달성하던 개인 </a:t>
                </a:r>
                <a:r>
                  <a:rPr lang="ko-KR" altLang="en-US" sz="1800" dirty="0" err="1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환경질을</a:t>
                </a:r>
                <a:r>
                  <a:rPr lang="ko-KR" altLang="en-US" sz="18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 </a:t>
                </a:r>
                <a:r>
                  <a:rPr lang="ko-KR" altLang="en-US" sz="1800" dirty="0" err="1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환경질</a:t>
                </a:r>
                <a:r>
                  <a:rPr lang="ko-KR" altLang="en-US" sz="18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 개선 이후에도 그대로 유지하고자 할 때 절약되는 비용임</a:t>
                </a:r>
                <a:endParaRPr lang="en-US" altLang="ko-KR" sz="1800" dirty="0">
                  <a:latin typeface="Times New Roman" pitchFamily="18" charset="0"/>
                  <a:ea typeface="나눔명조" pitchFamily="18" charset="-127"/>
                  <a:cs typeface="Times New Roman" pitchFamily="18" charset="0"/>
                </a:endParaRPr>
              </a:p>
              <a:p>
                <a:pPr lvl="1" eaLnBrk="1" hangingPunct="1"/>
                <a:r>
                  <a:rPr lang="ko-KR" altLang="en-US" sz="18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면적 </a:t>
                </a:r>
                <a:r>
                  <a:rPr lang="en-US" altLang="ko-KR" sz="1800" dirty="0" err="1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acd</a:t>
                </a:r>
                <a:r>
                  <a:rPr lang="ko-KR" altLang="en-US" sz="18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는 개선된 환경질 하에서 개인이 유지하고자 하는 </a:t>
                </a:r>
                <a:r>
                  <a:rPr lang="ko-KR" altLang="en-US" sz="1800" dirty="0" err="1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환경질을</a:t>
                </a:r>
                <a:r>
                  <a:rPr lang="ko-KR" altLang="en-US" sz="18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 원래의 </a:t>
                </a:r>
                <a:r>
                  <a:rPr lang="ko-KR" altLang="en-US" sz="1800" dirty="0" err="1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환경질에서</a:t>
                </a:r>
                <a:r>
                  <a:rPr lang="ko-KR" altLang="en-US" sz="18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 달성하고자 할 때 추가적으로 지출해야 하는 비용임</a:t>
                </a:r>
                <a:endParaRPr lang="en-US" altLang="ko-KR" sz="1800" dirty="0">
                  <a:latin typeface="Times New Roman" pitchFamily="18" charset="0"/>
                  <a:ea typeface="나눔명조" pitchFamily="18" charset="-127"/>
                  <a:cs typeface="Times New Roman" pitchFamily="18" charset="0"/>
                </a:endParaRPr>
              </a:p>
              <a:p>
                <a:pPr lvl="1" eaLnBrk="1" hangingPunct="1"/>
                <a:r>
                  <a:rPr lang="ko-KR" altLang="en-US" sz="18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이 경우 </a:t>
                </a:r>
                <a:r>
                  <a:rPr lang="en-US" altLang="ko-KR" sz="18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CS</a:t>
                </a:r>
                <a:r>
                  <a:rPr lang="ko-KR" altLang="en-US" sz="18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와 </a:t>
                </a:r>
                <a:r>
                  <a:rPr lang="en-US" altLang="ko-KR" sz="18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ES</a:t>
                </a:r>
                <a:r>
                  <a:rPr lang="ko-KR" altLang="en-US" sz="18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는 다음의 관계를 만족함</a:t>
                </a:r>
                <a:endParaRPr lang="en-US" altLang="ko-KR" sz="1800" dirty="0">
                  <a:latin typeface="Times New Roman" pitchFamily="18" charset="0"/>
                  <a:ea typeface="나눔명조" pitchFamily="18" charset="-127"/>
                  <a:cs typeface="Times New Roman" pitchFamily="18" charset="0"/>
                </a:endParaRPr>
              </a:p>
              <a:p>
                <a:pPr marL="457200" lvl="1" indent="0" eaLnBrk="1" hangingPunct="1">
                  <a:buNone/>
                </a:pPr>
                <a:r>
                  <a:rPr lang="en-US" altLang="ko-KR" sz="18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	</a:t>
                </a:r>
                <a:r>
                  <a:rPr lang="ko-KR" altLang="en-US" sz="18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면적 </a:t>
                </a:r>
                <a:r>
                  <a:rPr lang="en-US" altLang="ko-KR" sz="1800" dirty="0" err="1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abe</a:t>
                </a:r>
                <a:r>
                  <a:rPr lang="en-US" altLang="ko-KR" sz="18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 </a:t>
                </a:r>
                <a:r>
                  <a:rPr lang="ko-KR" altLang="en-US" sz="18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≤ </a:t>
                </a:r>
                <a:r>
                  <a:rPr lang="en-US" altLang="ko-KR" sz="18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CS </a:t>
                </a:r>
                <a:r>
                  <a:rPr lang="ko-KR" altLang="en-US" sz="18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≤ </a:t>
                </a:r>
                <a:r>
                  <a:rPr lang="en-US" altLang="ko-KR" sz="18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ES </a:t>
                </a:r>
                <a:r>
                  <a:rPr lang="ko-KR" altLang="en-US" sz="18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≤ 면적 </a:t>
                </a:r>
                <a:r>
                  <a:rPr lang="en-US" altLang="ko-KR" sz="1800" dirty="0" err="1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acd</a:t>
                </a:r>
                <a:endParaRPr lang="en-US" altLang="ko-KR" sz="1800" dirty="0">
                  <a:latin typeface="Times New Roman" pitchFamily="18" charset="0"/>
                  <a:ea typeface="나눔명조" pitchFamily="18" charset="-127"/>
                  <a:cs typeface="Times New Roman" pitchFamily="18" charset="0"/>
                </a:endParaRPr>
              </a:p>
              <a:p>
                <a:pPr lvl="2" eaLnBrk="1" hangingPunct="1"/>
                <a:r>
                  <a:rPr lang="ko-KR" altLang="en-US" sz="17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실제</a:t>
                </a:r>
                <a:r>
                  <a:rPr lang="en-US" altLang="ko-KR" sz="17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 </a:t>
                </a:r>
                <a:r>
                  <a:rPr lang="ko-KR" altLang="en-US" sz="17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편익의 하한이나 상한으로 사용 가능</a:t>
                </a:r>
                <a:endParaRPr lang="en-US" altLang="ko-KR" sz="1700" dirty="0">
                  <a:latin typeface="Times New Roman" pitchFamily="18" charset="0"/>
                  <a:ea typeface="나눔명조" pitchFamily="18" charset="-127"/>
                  <a:cs typeface="Times New Roman" pitchFamily="18" charset="0"/>
                </a:endParaRPr>
              </a:p>
              <a:p>
                <a:pPr eaLnBrk="1" hangingPunct="1"/>
                <a:r>
                  <a:rPr lang="ko-KR" altLang="en-US" sz="20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한편</a:t>
                </a:r>
                <a:r>
                  <a:rPr lang="en-US" altLang="ko-KR" sz="2000" dirty="0">
                    <a:ea typeface="나눔명조" pitchFamily="18" charset="-127"/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ko-KR" sz="2000" i="1">
                            <a:latin typeface="Cambria Math" panose="02040503050406030204" pitchFamily="18" charset="0"/>
                            <a:ea typeface="나눔명조" pitchFamily="18" charset="-127"/>
                          </a:rPr>
                        </m:ctrlPr>
                      </m:fPr>
                      <m:num>
                        <m:r>
                          <a:rPr lang="ko-KR" altLang="en-US" sz="2000" i="1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∆</m:t>
                        </m:r>
                        <m:r>
                          <a:rPr lang="en-US" altLang="ko-KR" sz="2000" i="1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𝑓</m:t>
                        </m:r>
                      </m:num>
                      <m:den>
                        <m:r>
                          <a:rPr lang="ko-KR" altLang="en-US" sz="2000" i="1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∆</m:t>
                        </m:r>
                        <m:r>
                          <a:rPr lang="en-US" altLang="ko-KR" sz="2000" i="1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𝑥</m:t>
                        </m:r>
                      </m:den>
                    </m:f>
                    <m:r>
                      <a:rPr lang="en-US" altLang="ko-KR" sz="2000" i="1">
                        <a:latin typeface="Cambria Math" panose="02040503050406030204" pitchFamily="18" charset="0"/>
                        <a:ea typeface="나눔명조" pitchFamily="18" charset="-127"/>
                      </a:rPr>
                      <m:t> </m:t>
                    </m:r>
                  </m:oMath>
                </a14:m>
                <a:r>
                  <a:rPr lang="ko-KR" altLang="en-US" sz="20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가 </a:t>
                </a:r>
                <a14:m>
                  <m:oMath xmlns:m="http://schemas.openxmlformats.org/officeDocument/2006/math">
                    <m:r>
                      <a:rPr lang="en-US" altLang="ko-KR" sz="2000" i="1">
                        <a:latin typeface="Cambria Math" panose="02040503050406030204" pitchFamily="18" charset="0"/>
                        <a:ea typeface="나눔명조" pitchFamily="18" charset="-127"/>
                      </a:rPr>
                      <m:t>𝑄</m:t>
                    </m:r>
                  </m:oMath>
                </a14:m>
                <a:r>
                  <a:rPr lang="ko-KR" altLang="en-US" sz="20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의 영향을 받지 않는 경우에도 생산함수를 편익 추정에 이용하며</a:t>
                </a:r>
                <a:r>
                  <a:rPr lang="en-US" altLang="ko-KR" sz="20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, </a:t>
                </a:r>
                <a:r>
                  <a:rPr lang="ko-KR" altLang="en-US" sz="20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정확한 편익 추정 가능</a:t>
                </a:r>
                <a:r>
                  <a:rPr lang="en-US" altLang="ko-KR" sz="20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(</a:t>
                </a:r>
                <a:r>
                  <a:rPr lang="ko-KR" altLang="en-US" sz="20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예</a:t>
                </a:r>
                <a:r>
                  <a:rPr lang="en-US" altLang="ko-KR" sz="20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ko-KR" sz="2000" b="0" i="0" smtClean="0">
                        <a:latin typeface="Cambria Math" panose="02040503050406030204" pitchFamily="18" charset="0"/>
                        <a:ea typeface="나눔명조" pitchFamily="18" charset="-127"/>
                      </a:rPr>
                      <m:t>q</m:t>
                    </m:r>
                    <m:r>
                      <a:rPr lang="en-US" altLang="ko-KR" sz="2000" b="0" i="0" smtClean="0">
                        <a:latin typeface="Cambria Math" panose="02040503050406030204" pitchFamily="18" charset="0"/>
                        <a:ea typeface="나눔명조" pitchFamily="18" charset="-127"/>
                      </a:rPr>
                      <m:t>=</m:t>
                    </m:r>
                    <m:r>
                      <m:rPr>
                        <m:sty m:val="p"/>
                      </m:rPr>
                      <a:rPr lang="en-US" altLang="ko-KR" sz="2000" b="0" i="0" smtClean="0">
                        <a:latin typeface="Cambria Math" panose="02040503050406030204" pitchFamily="18" charset="0"/>
                        <a:ea typeface="나눔명조" pitchFamily="18" charset="-127"/>
                      </a:rPr>
                      <m:t>x</m:t>
                    </m:r>
                    <m:r>
                      <a:rPr lang="en-US" altLang="ko-KR" sz="2000" b="0" i="0" smtClean="0">
                        <a:latin typeface="Cambria Math" panose="02040503050406030204" pitchFamily="18" charset="0"/>
                        <a:ea typeface="나눔명조" pitchFamily="18" charset="-127"/>
                      </a:rPr>
                      <m:t>+</m:t>
                    </m:r>
                    <m:r>
                      <m:rPr>
                        <m:sty m:val="p"/>
                      </m:rPr>
                      <a:rPr lang="en-US" altLang="ko-KR" sz="2000" b="0" i="0" smtClean="0">
                        <a:latin typeface="Cambria Math" panose="02040503050406030204" pitchFamily="18" charset="0"/>
                        <a:ea typeface="나눔명조" pitchFamily="18" charset="-127"/>
                      </a:rPr>
                      <m:t>Q</m:t>
                    </m:r>
                    <m:r>
                      <a:rPr lang="en-US" altLang="ko-KR" sz="2000" b="0" i="0" smtClean="0">
                        <a:latin typeface="Cambria Math" panose="02040503050406030204" pitchFamily="18" charset="0"/>
                        <a:ea typeface="나눔명조" pitchFamily="18" charset="-127"/>
                      </a:rPr>
                      <m:t>,</m:t>
                    </m:r>
                    <m:r>
                      <a:rPr lang="en-US" altLang="ko-KR" sz="2000" i="1">
                        <a:latin typeface="Cambria Math" panose="02040503050406030204" pitchFamily="18" charset="0"/>
                        <a:ea typeface="나눔명조" pitchFamily="18" charset="-127"/>
                      </a:rPr>
                      <m:t> </m:t>
                    </m:r>
                  </m:oMath>
                </a14:m>
                <a:r>
                  <a:rPr lang="en-US" altLang="ko-KR" sz="20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 </a:t>
                </a:r>
                <a:r>
                  <a:rPr lang="ko-KR" altLang="en-US" sz="20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교과서 참조</a:t>
                </a:r>
                <a:r>
                  <a:rPr lang="en-US" altLang="ko-KR" sz="20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)</a:t>
                </a:r>
              </a:p>
            </p:txBody>
          </p:sp>
        </mc:Choice>
        <mc:Fallback>
          <p:sp>
            <p:nvSpPr>
              <p:cNvPr id="15362" name="Rectangle 9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55662" y="1254010"/>
                <a:ext cx="7939995" cy="4848210"/>
              </a:xfrm>
              <a:blipFill>
                <a:blip r:embed="rId3"/>
                <a:stretch>
                  <a:fillRect l="-691" t="-881" r="-460" b="-515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363" name="바닥글 개체 틀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r>
              <a:rPr lang="ko-KR" altLang="en-US" sz="1200" b="0" dirty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Chapter </a:t>
            </a:r>
            <a:r>
              <a:rPr lang="en-US" altLang="ko-KR" sz="1200" b="0" dirty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15</a:t>
            </a:r>
          </a:p>
        </p:txBody>
      </p:sp>
      <p:sp>
        <p:nvSpPr>
          <p:cNvPr id="15364" name="슬라이드 번호 개체 틀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fld id="{C753D822-DF5B-4203-821F-E37D763E2E34}" type="slidenum">
              <a:rPr lang="ko-KR" altLang="en-US" sz="1200" b="0">
                <a:solidFill>
                  <a:schemeClr val="tx1"/>
                </a:solidFill>
              </a:rPr>
              <a:pPr/>
              <a:t>28</a:t>
            </a:fld>
            <a:endParaRPr lang="en-US" altLang="ko-KR" sz="1200" b="0" dirty="0">
              <a:solidFill>
                <a:schemeClr val="tx1"/>
              </a:solidFill>
            </a:endParaRPr>
          </a:p>
        </p:txBody>
      </p:sp>
      <p:sp>
        <p:nvSpPr>
          <p:cNvPr id="15365" name="Rectangle 2"/>
          <p:cNvSpPr>
            <a:spLocks noChangeArrowheads="1"/>
          </p:cNvSpPr>
          <p:nvPr/>
        </p:nvSpPr>
        <p:spPr bwMode="auto">
          <a:xfrm>
            <a:off x="7620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>
              <a:ea typeface="굴림" panose="020B0600000101010101" pitchFamily="50" charset="-127"/>
            </a:endParaRPr>
          </a:p>
        </p:txBody>
      </p:sp>
      <p:sp>
        <p:nvSpPr>
          <p:cNvPr id="15366" name="Rectangle 3"/>
          <p:cNvSpPr>
            <a:spLocks noChangeArrowheads="1"/>
          </p:cNvSpPr>
          <p:nvPr/>
        </p:nvSpPr>
        <p:spPr bwMode="auto">
          <a:xfrm>
            <a:off x="32766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>
              <a:ea typeface="굴림" panose="020B0600000101010101" pitchFamily="50" charset="-127"/>
            </a:endParaRPr>
          </a:p>
        </p:txBody>
      </p:sp>
      <p:sp>
        <p:nvSpPr>
          <p:cNvPr id="15367" name="Rectangle 6"/>
          <p:cNvSpPr>
            <a:spLocks noGrp="1" noChangeArrowheads="1"/>
          </p:cNvSpPr>
          <p:nvPr>
            <p:ph type="title"/>
          </p:nvPr>
        </p:nvSpPr>
        <p:spPr>
          <a:xfrm>
            <a:off x="1355725" y="0"/>
            <a:ext cx="7313613" cy="1143000"/>
          </a:xfrm>
        </p:spPr>
        <p:txBody>
          <a:bodyPr/>
          <a:lstStyle/>
          <a:p>
            <a:pPr eaLnBrk="1" hangingPunct="1"/>
            <a:r>
              <a:rPr lang="ko-KR" altLang="en-US" dirty="0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비용분석을 통한 편익측정</a:t>
            </a:r>
          </a:p>
        </p:txBody>
      </p:sp>
    </p:spTree>
    <p:extLst>
      <p:ext uri="{BB962C8B-B14F-4D97-AF65-F5344CB8AC3E}">
        <p14:creationId xmlns:p14="http://schemas.microsoft.com/office/powerpoint/2010/main" val="1537140967"/>
      </p:ext>
    </p:extLst>
  </p:cSld>
  <p:clrMapOvr>
    <a:masterClrMapping/>
  </p:clrMapOvr>
  <p:transition spd="med">
    <p:wipe dir="r"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3" name="바닥글 개체 틀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r>
              <a:rPr lang="ko-KR" altLang="en-US" sz="1200" b="0" dirty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Chapter </a:t>
            </a:r>
            <a:r>
              <a:rPr lang="en-US" altLang="ko-KR" sz="1200" b="0" dirty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15</a:t>
            </a:r>
          </a:p>
        </p:txBody>
      </p:sp>
      <p:sp>
        <p:nvSpPr>
          <p:cNvPr id="15364" name="슬라이드 번호 개체 틀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fld id="{C753D822-DF5B-4203-821F-E37D763E2E34}" type="slidenum">
              <a:rPr lang="ko-KR" altLang="en-US" sz="1200" b="0">
                <a:solidFill>
                  <a:schemeClr val="tx1"/>
                </a:solidFill>
              </a:rPr>
              <a:pPr/>
              <a:t>29</a:t>
            </a:fld>
            <a:endParaRPr lang="en-US" altLang="ko-KR" sz="1200" b="0" dirty="0">
              <a:solidFill>
                <a:schemeClr val="tx1"/>
              </a:solidFill>
            </a:endParaRPr>
          </a:p>
        </p:txBody>
      </p:sp>
      <p:sp>
        <p:nvSpPr>
          <p:cNvPr id="15365" name="Rectangle 2"/>
          <p:cNvSpPr>
            <a:spLocks noChangeArrowheads="1"/>
          </p:cNvSpPr>
          <p:nvPr/>
        </p:nvSpPr>
        <p:spPr bwMode="auto">
          <a:xfrm>
            <a:off x="7620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>
              <a:ea typeface="굴림" panose="020B0600000101010101" pitchFamily="50" charset="-127"/>
            </a:endParaRPr>
          </a:p>
        </p:txBody>
      </p:sp>
      <p:sp>
        <p:nvSpPr>
          <p:cNvPr id="15366" name="Rectangle 3"/>
          <p:cNvSpPr>
            <a:spLocks noChangeArrowheads="1"/>
          </p:cNvSpPr>
          <p:nvPr/>
        </p:nvSpPr>
        <p:spPr bwMode="auto">
          <a:xfrm>
            <a:off x="32766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>
              <a:ea typeface="굴림" panose="020B0600000101010101" pitchFamily="50" charset="-127"/>
            </a:endParaRPr>
          </a:p>
        </p:txBody>
      </p:sp>
      <p:sp>
        <p:nvSpPr>
          <p:cNvPr id="15367" name="Rectangle 6"/>
          <p:cNvSpPr>
            <a:spLocks noGrp="1" noChangeArrowheads="1"/>
          </p:cNvSpPr>
          <p:nvPr>
            <p:ph type="title"/>
          </p:nvPr>
        </p:nvSpPr>
        <p:spPr>
          <a:xfrm>
            <a:off x="1355725" y="0"/>
            <a:ext cx="7313613" cy="1143000"/>
          </a:xfrm>
        </p:spPr>
        <p:txBody>
          <a:bodyPr/>
          <a:lstStyle/>
          <a:p>
            <a:pPr eaLnBrk="1" hangingPunct="1"/>
            <a:r>
              <a:rPr lang="ko-KR" altLang="en-US" dirty="0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비용분석을 통한 편익측정</a:t>
            </a: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49689" y="1580518"/>
            <a:ext cx="4503511" cy="3712353"/>
          </a:xfrm>
          <a:prstGeom prst="rect">
            <a:avLst/>
          </a:prstGeom>
        </p:spPr>
      </p:pic>
      <p:sp>
        <p:nvSpPr>
          <p:cNvPr id="3" name="직사각형 2"/>
          <p:cNvSpPr/>
          <p:nvPr/>
        </p:nvSpPr>
        <p:spPr>
          <a:xfrm>
            <a:off x="5838680" y="2410135"/>
            <a:ext cx="1968889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 eaLnBrk="1" hangingPunct="1"/>
            <a:r>
              <a:rPr lang="ko-KR" altLang="en-US" sz="20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면적 </a:t>
            </a:r>
            <a:r>
              <a:rPr lang="en-US" altLang="ko-KR" sz="2000" dirty="0" err="1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abe</a:t>
            </a:r>
            <a:endParaRPr lang="en-US" altLang="ko-KR" sz="2000" dirty="0">
              <a:latin typeface="Times New Roman" pitchFamily="18" charset="0"/>
              <a:ea typeface="나눔명조" pitchFamily="18" charset="-127"/>
              <a:cs typeface="Times New Roman" pitchFamily="18" charset="0"/>
            </a:endParaRPr>
          </a:p>
          <a:p>
            <a:pPr lvl="1" eaLnBrk="1" hangingPunct="1"/>
            <a:r>
              <a:rPr lang="en-US" altLang="ko-KR" sz="20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 </a:t>
            </a:r>
            <a:r>
              <a:rPr lang="ko-KR" altLang="en-US" sz="20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≤ </a:t>
            </a:r>
            <a:r>
              <a:rPr lang="en-US" altLang="ko-KR" sz="20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CS </a:t>
            </a:r>
          </a:p>
          <a:p>
            <a:pPr lvl="1" eaLnBrk="1" hangingPunct="1"/>
            <a:r>
              <a:rPr lang="ko-KR" altLang="en-US" sz="20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≤ </a:t>
            </a:r>
            <a:r>
              <a:rPr lang="en-US" altLang="ko-KR" sz="20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ES </a:t>
            </a:r>
          </a:p>
          <a:p>
            <a:pPr lvl="1" eaLnBrk="1" hangingPunct="1"/>
            <a:r>
              <a:rPr lang="ko-KR" altLang="en-US" sz="20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≤ 면적 </a:t>
            </a:r>
            <a:r>
              <a:rPr lang="en-US" altLang="ko-KR" sz="2000" dirty="0" err="1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acd</a:t>
            </a:r>
            <a:endParaRPr lang="en-US" altLang="ko-KR" sz="2000" dirty="0">
              <a:latin typeface="Times New Roman" pitchFamily="18" charset="0"/>
              <a:ea typeface="나눔명조" pitchFamily="18" charset="-127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56652394"/>
      </p:ext>
    </p:extLst>
  </p:cSld>
  <p:clrMapOvr>
    <a:masterClrMapping/>
  </p:clrMapOvr>
  <p:transition spd="med">
    <p:wipe dir="r"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9"/>
          <p:cNvSpPr>
            <a:spLocks noGrp="1" noChangeArrowheads="1"/>
          </p:cNvSpPr>
          <p:nvPr>
            <p:ph idx="1"/>
          </p:nvPr>
        </p:nvSpPr>
        <p:spPr>
          <a:xfrm>
            <a:off x="871978" y="1587232"/>
            <a:ext cx="7737475" cy="4114800"/>
          </a:xfrm>
        </p:spPr>
        <p:txBody>
          <a:bodyPr/>
          <a:lstStyle/>
          <a:p>
            <a:pPr eaLnBrk="1" hangingPunct="1"/>
            <a:r>
              <a:rPr lang="ko-KR" altLang="en-US" sz="24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면적 </a:t>
            </a:r>
            <a:r>
              <a:rPr lang="en-US" altLang="ko-KR" sz="2400" dirty="0" err="1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abe</a:t>
            </a:r>
            <a:r>
              <a:rPr lang="en-US" altLang="ko-KR" sz="24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,</a:t>
            </a:r>
            <a:r>
              <a:rPr lang="ko-KR" altLang="en-US" sz="24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 면적 </a:t>
            </a:r>
            <a:r>
              <a:rPr lang="en-US" altLang="ko-KR" sz="2400" dirty="0" err="1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acd</a:t>
            </a:r>
            <a:r>
              <a:rPr lang="en-US" altLang="ko-KR" sz="24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, CS, </a:t>
            </a:r>
            <a:r>
              <a:rPr lang="ko-KR" altLang="en-US" sz="24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그리고 </a:t>
            </a:r>
            <a:r>
              <a:rPr lang="en-US" altLang="ko-KR" sz="24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ES</a:t>
            </a:r>
            <a:r>
              <a:rPr lang="ko-KR" altLang="en-US" sz="24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의 관계를 분명하게 확인하기 위해 개인 </a:t>
            </a:r>
            <a:r>
              <a:rPr lang="ko-KR" altLang="en-US" sz="2400" dirty="0" err="1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환경질</a:t>
            </a:r>
            <a:r>
              <a:rPr lang="ko-KR" altLang="en-US" sz="24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 </a:t>
            </a:r>
            <a:r>
              <a:rPr lang="en-US" altLang="ko-KR" sz="24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q</a:t>
            </a:r>
            <a:r>
              <a:rPr lang="ko-KR" altLang="en-US" sz="24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와 </a:t>
            </a:r>
            <a:r>
              <a:rPr lang="ko-KR" altLang="en-US" sz="2400" dirty="0" err="1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시장재</a:t>
            </a:r>
            <a:r>
              <a:rPr lang="ko-KR" altLang="en-US" sz="24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 지출 </a:t>
            </a:r>
            <a:r>
              <a:rPr lang="en-US" altLang="ko-KR" sz="24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z</a:t>
            </a:r>
            <a:r>
              <a:rPr lang="ko-KR" altLang="en-US" sz="24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로부터 효용을 얻는 소비자를 가정함</a:t>
            </a:r>
            <a:endParaRPr lang="en-US" altLang="ko-KR" sz="2400" dirty="0">
              <a:latin typeface="Times New Roman" pitchFamily="18" charset="0"/>
              <a:ea typeface="나눔명조" pitchFamily="18" charset="-127"/>
              <a:cs typeface="Times New Roman" pitchFamily="18" charset="0"/>
            </a:endParaRPr>
          </a:p>
          <a:p>
            <a:pPr lvl="1" eaLnBrk="1" hangingPunct="1"/>
            <a:r>
              <a:rPr lang="ko-KR" altLang="en-US" sz="20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이 소비자의 효용함수는 </a:t>
            </a:r>
            <a:r>
              <a:rPr lang="en-US" altLang="ko-KR" sz="20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u(z, q)</a:t>
            </a:r>
            <a:r>
              <a:rPr lang="ko-KR" altLang="en-US" sz="20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이며 </a:t>
            </a:r>
            <a:r>
              <a:rPr lang="en-US" altLang="ko-KR" sz="20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q=q(x, Q)</a:t>
            </a:r>
            <a:r>
              <a:rPr lang="ko-KR" altLang="en-US" sz="20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로 나타남</a:t>
            </a:r>
            <a:endParaRPr lang="en-US" altLang="ko-KR" sz="2000" dirty="0">
              <a:latin typeface="Times New Roman" pitchFamily="18" charset="0"/>
              <a:ea typeface="나눔명조" pitchFamily="18" charset="-127"/>
              <a:cs typeface="Times New Roman" pitchFamily="18" charset="0"/>
            </a:endParaRPr>
          </a:p>
          <a:p>
            <a:pPr marL="457200" lvl="1" indent="0" eaLnBrk="1" hangingPunct="1">
              <a:buNone/>
            </a:pPr>
            <a:r>
              <a:rPr lang="en-US" altLang="ko-KR" sz="20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    (x</a:t>
            </a:r>
            <a:r>
              <a:rPr lang="ko-KR" altLang="en-US" sz="20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는 회피행위</a:t>
            </a:r>
            <a:r>
              <a:rPr lang="en-US" altLang="ko-KR" sz="20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, Q</a:t>
            </a:r>
            <a:r>
              <a:rPr lang="ko-KR" altLang="en-US" sz="20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는 전체 </a:t>
            </a:r>
            <a:r>
              <a:rPr lang="ko-KR" altLang="en-US" sz="2000" dirty="0" err="1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환경질</a:t>
            </a:r>
            <a:r>
              <a:rPr lang="en-US" altLang="ko-KR" sz="20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)</a:t>
            </a:r>
          </a:p>
          <a:p>
            <a:pPr lvl="1" eaLnBrk="1" hangingPunct="1"/>
            <a:r>
              <a:rPr lang="ko-KR" altLang="en-US" sz="20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이 소비자는 </a:t>
            </a:r>
            <a:r>
              <a:rPr lang="en-US" altLang="ko-KR" sz="20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Q</a:t>
            </a:r>
            <a:r>
              <a:rPr lang="en-US" altLang="ko-KR" sz="2000" baseline="300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0</a:t>
            </a:r>
            <a:r>
              <a:rPr lang="en-US" altLang="ko-KR" sz="20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 </a:t>
            </a:r>
            <a:r>
              <a:rPr lang="ko-KR" altLang="en-US" sz="20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하에서 </a:t>
            </a:r>
            <a:r>
              <a:rPr lang="en-US" altLang="ko-KR" sz="20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z</a:t>
            </a:r>
            <a:r>
              <a:rPr lang="en-US" altLang="ko-KR" sz="2000" baseline="300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0</a:t>
            </a:r>
            <a:r>
              <a:rPr lang="ko-KR" altLang="en-US" sz="20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와 </a:t>
            </a:r>
            <a:r>
              <a:rPr lang="en-US" altLang="ko-KR" sz="20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q</a:t>
            </a:r>
            <a:r>
              <a:rPr lang="en-US" altLang="ko-KR" sz="2000" baseline="300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0</a:t>
            </a:r>
            <a:r>
              <a:rPr lang="ko-KR" altLang="en-US" sz="20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를 선택하여 </a:t>
            </a:r>
            <a:r>
              <a:rPr lang="en-US" altLang="ko-KR" sz="20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u</a:t>
            </a:r>
            <a:r>
              <a:rPr lang="en-US" altLang="ko-KR" sz="2000" baseline="300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0</a:t>
            </a:r>
            <a:r>
              <a:rPr lang="ko-KR" altLang="en-US" sz="20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의 만족을 얻음</a:t>
            </a:r>
            <a:endParaRPr lang="en-US" altLang="ko-KR" sz="2000" dirty="0">
              <a:latin typeface="Times New Roman" pitchFamily="18" charset="0"/>
              <a:ea typeface="나눔명조" pitchFamily="18" charset="-127"/>
              <a:cs typeface="Times New Roman" pitchFamily="18" charset="0"/>
            </a:endParaRPr>
          </a:p>
          <a:p>
            <a:pPr eaLnBrk="1" hangingPunct="1"/>
            <a:r>
              <a:rPr lang="ko-KR" altLang="en-US" sz="24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면적 </a:t>
            </a:r>
            <a:r>
              <a:rPr lang="en-US" altLang="ko-KR" sz="2400" dirty="0" err="1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abe</a:t>
            </a:r>
            <a:r>
              <a:rPr lang="ko-KR" altLang="en-US" sz="24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는 다음을 의미함</a:t>
            </a:r>
            <a:endParaRPr lang="en-US" altLang="ko-KR" sz="2400" dirty="0">
              <a:latin typeface="Times New Roman" pitchFamily="18" charset="0"/>
              <a:ea typeface="나눔명조" pitchFamily="18" charset="-127"/>
              <a:cs typeface="Times New Roman" pitchFamily="18" charset="0"/>
            </a:endParaRPr>
          </a:p>
          <a:p>
            <a:pPr lvl="1" eaLnBrk="1" hangingPunct="1"/>
            <a:r>
              <a:rPr lang="en-US" altLang="ko-KR" sz="20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[</a:t>
            </a:r>
            <a:r>
              <a:rPr lang="ko-KR" altLang="en-US" sz="20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전체 </a:t>
            </a:r>
            <a:r>
              <a:rPr lang="ko-KR" altLang="en-US" sz="2000" dirty="0" err="1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환경질이</a:t>
            </a:r>
            <a:r>
              <a:rPr lang="ko-KR" altLang="en-US" sz="20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 </a:t>
            </a:r>
            <a:r>
              <a:rPr lang="en-US" altLang="ko-KR" sz="20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Q</a:t>
            </a:r>
            <a:r>
              <a:rPr lang="en-US" altLang="ko-KR" sz="2000" baseline="300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0</a:t>
            </a:r>
            <a:r>
              <a:rPr lang="ko-KR" altLang="en-US" sz="20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일 때 </a:t>
            </a:r>
            <a:r>
              <a:rPr lang="en-US" altLang="ko-KR" sz="20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z</a:t>
            </a:r>
            <a:r>
              <a:rPr lang="en-US" altLang="ko-KR" sz="2000" baseline="300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0</a:t>
            </a:r>
            <a:r>
              <a:rPr lang="ko-KR" altLang="en-US" sz="20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와 </a:t>
            </a:r>
            <a:r>
              <a:rPr lang="en-US" altLang="ko-KR" sz="20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q</a:t>
            </a:r>
            <a:r>
              <a:rPr lang="en-US" altLang="ko-KR" sz="2000" baseline="300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0</a:t>
            </a:r>
            <a:r>
              <a:rPr lang="ko-KR" altLang="en-US" sz="20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를 선택하여 만족도 </a:t>
            </a:r>
            <a:r>
              <a:rPr lang="en-US" altLang="ko-KR" sz="20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u</a:t>
            </a:r>
            <a:r>
              <a:rPr lang="en-US" altLang="ko-KR" sz="2000" baseline="300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0</a:t>
            </a:r>
            <a:r>
              <a:rPr lang="ko-KR" altLang="en-US" sz="20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를 달성하는 비용</a:t>
            </a:r>
            <a:r>
              <a:rPr lang="en-US" altLang="ko-KR" sz="20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] – [</a:t>
            </a:r>
            <a:r>
              <a:rPr lang="ko-KR" altLang="en-US" sz="20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전체 </a:t>
            </a:r>
            <a:r>
              <a:rPr lang="ko-KR" altLang="en-US" sz="2000" dirty="0" err="1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환경질이</a:t>
            </a:r>
            <a:r>
              <a:rPr lang="ko-KR" altLang="en-US" sz="20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 </a:t>
            </a:r>
            <a:r>
              <a:rPr lang="en-US" altLang="ko-KR" sz="20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Q</a:t>
            </a:r>
            <a:r>
              <a:rPr lang="en-US" altLang="ko-KR" sz="2000" baseline="300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1</a:t>
            </a:r>
            <a:r>
              <a:rPr lang="ko-KR" altLang="en-US" sz="20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일 때 </a:t>
            </a:r>
            <a:r>
              <a:rPr lang="en-US" altLang="ko-KR" sz="20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z</a:t>
            </a:r>
            <a:r>
              <a:rPr lang="en-US" altLang="ko-KR" sz="2000" baseline="300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0</a:t>
            </a:r>
            <a:r>
              <a:rPr lang="ko-KR" altLang="en-US" sz="20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와 </a:t>
            </a:r>
            <a:r>
              <a:rPr lang="en-US" altLang="ko-KR" sz="20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q</a:t>
            </a:r>
            <a:r>
              <a:rPr lang="en-US" altLang="ko-KR" sz="2000" baseline="300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0</a:t>
            </a:r>
            <a:r>
              <a:rPr lang="ko-KR" altLang="en-US" sz="20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를 선택하여 만족도 </a:t>
            </a:r>
            <a:r>
              <a:rPr lang="en-US" altLang="ko-KR" sz="20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u</a:t>
            </a:r>
            <a:r>
              <a:rPr lang="en-US" altLang="ko-KR" sz="2000" baseline="300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0</a:t>
            </a:r>
            <a:r>
              <a:rPr lang="ko-KR" altLang="en-US" sz="20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를 달성하는 비용</a:t>
            </a:r>
            <a:r>
              <a:rPr lang="en-US" altLang="ko-KR" sz="20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]</a:t>
            </a:r>
          </a:p>
        </p:txBody>
      </p:sp>
      <p:sp>
        <p:nvSpPr>
          <p:cNvPr id="15363" name="바닥글 개체 틀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r>
              <a:rPr lang="ko-KR" altLang="en-US" sz="1200" b="0" dirty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Chapter </a:t>
            </a:r>
            <a:r>
              <a:rPr lang="en-US" altLang="ko-KR" sz="1200" b="0" dirty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15</a:t>
            </a:r>
          </a:p>
        </p:txBody>
      </p:sp>
      <p:sp>
        <p:nvSpPr>
          <p:cNvPr id="15364" name="슬라이드 번호 개체 틀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fld id="{C753D822-DF5B-4203-821F-E37D763E2E34}" type="slidenum">
              <a:rPr lang="ko-KR" altLang="en-US" sz="1200" b="0">
                <a:solidFill>
                  <a:schemeClr val="tx1"/>
                </a:solidFill>
              </a:rPr>
              <a:pPr/>
              <a:t>30</a:t>
            </a:fld>
            <a:endParaRPr lang="en-US" altLang="ko-KR" sz="1200" b="0" dirty="0">
              <a:solidFill>
                <a:schemeClr val="tx1"/>
              </a:solidFill>
            </a:endParaRPr>
          </a:p>
        </p:txBody>
      </p:sp>
      <p:sp>
        <p:nvSpPr>
          <p:cNvPr id="15365" name="Rectangle 2"/>
          <p:cNvSpPr>
            <a:spLocks noChangeArrowheads="1"/>
          </p:cNvSpPr>
          <p:nvPr/>
        </p:nvSpPr>
        <p:spPr bwMode="auto">
          <a:xfrm>
            <a:off x="7620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>
              <a:ea typeface="굴림" panose="020B0600000101010101" pitchFamily="50" charset="-127"/>
            </a:endParaRPr>
          </a:p>
        </p:txBody>
      </p:sp>
      <p:sp>
        <p:nvSpPr>
          <p:cNvPr id="15366" name="Rectangle 3"/>
          <p:cNvSpPr>
            <a:spLocks noChangeArrowheads="1"/>
          </p:cNvSpPr>
          <p:nvPr/>
        </p:nvSpPr>
        <p:spPr bwMode="auto">
          <a:xfrm>
            <a:off x="32766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>
              <a:ea typeface="굴림" panose="020B0600000101010101" pitchFamily="50" charset="-127"/>
            </a:endParaRPr>
          </a:p>
        </p:txBody>
      </p:sp>
      <p:sp>
        <p:nvSpPr>
          <p:cNvPr id="15367" name="Rectangle 6"/>
          <p:cNvSpPr>
            <a:spLocks noGrp="1" noChangeArrowheads="1"/>
          </p:cNvSpPr>
          <p:nvPr>
            <p:ph type="title"/>
          </p:nvPr>
        </p:nvSpPr>
        <p:spPr>
          <a:xfrm>
            <a:off x="915193" y="284864"/>
            <a:ext cx="7313613" cy="756000"/>
          </a:xfrm>
          <a:ln>
            <a:solidFill>
              <a:srgbClr val="7030A0"/>
            </a:solidFill>
          </a:ln>
        </p:spPr>
        <p:txBody>
          <a:bodyPr/>
          <a:lstStyle/>
          <a:p>
            <a:pPr eaLnBrk="1" hangingPunct="1"/>
            <a:r>
              <a:rPr lang="ko-KR" altLang="en-US" dirty="0" err="1">
                <a:solidFill>
                  <a:srgbClr val="7030A0"/>
                </a:solidFill>
                <a:latin typeface="나눔명조" panose="02020603020101020101" pitchFamily="18" charset="-127"/>
                <a:ea typeface="나눔명조" panose="02020603020101020101" pitchFamily="18" charset="-127"/>
              </a:rPr>
              <a:t>바르틱</a:t>
            </a:r>
            <a:r>
              <a:rPr lang="en-US" altLang="ko-KR" dirty="0">
                <a:solidFill>
                  <a:srgbClr val="7030A0"/>
                </a:solidFill>
                <a:latin typeface="나눔명조" panose="02020603020101020101" pitchFamily="18" charset="-127"/>
                <a:ea typeface="나눔명조" panose="02020603020101020101" pitchFamily="18" charset="-127"/>
              </a:rPr>
              <a:t>(</a:t>
            </a:r>
            <a:r>
              <a:rPr lang="en-US" altLang="ko-KR" dirty="0" err="1">
                <a:solidFill>
                  <a:srgbClr val="7030A0"/>
                </a:solidFill>
                <a:latin typeface="나눔명조" panose="02020603020101020101" pitchFamily="18" charset="-127"/>
                <a:ea typeface="나눔명조" panose="02020603020101020101" pitchFamily="18" charset="-127"/>
              </a:rPr>
              <a:t>Bartik</a:t>
            </a:r>
            <a:r>
              <a:rPr lang="en-US" altLang="ko-KR" dirty="0">
                <a:solidFill>
                  <a:srgbClr val="7030A0"/>
                </a:solidFill>
                <a:latin typeface="나눔명조" panose="02020603020101020101" pitchFamily="18" charset="-127"/>
                <a:ea typeface="나눔명조" panose="02020603020101020101" pitchFamily="18" charset="-127"/>
              </a:rPr>
              <a:t>)</a:t>
            </a:r>
            <a:r>
              <a:rPr lang="ko-KR" altLang="en-US" dirty="0">
                <a:solidFill>
                  <a:srgbClr val="7030A0"/>
                </a:solidFill>
                <a:latin typeface="나눔명조" panose="02020603020101020101" pitchFamily="18" charset="-127"/>
                <a:ea typeface="나눔명조" panose="02020603020101020101" pitchFamily="18" charset="-127"/>
              </a:rPr>
              <a:t>의 지표와 </a:t>
            </a:r>
            <a:r>
              <a:rPr lang="en-US" altLang="ko-KR" dirty="0">
                <a:solidFill>
                  <a:srgbClr val="7030A0"/>
                </a:solidFill>
                <a:latin typeface="나눔명조" panose="02020603020101020101" pitchFamily="18" charset="-127"/>
                <a:ea typeface="나눔명조" panose="02020603020101020101" pitchFamily="18" charset="-127"/>
              </a:rPr>
              <a:t>CS </a:t>
            </a:r>
            <a:r>
              <a:rPr lang="ko-KR" altLang="en-US" dirty="0">
                <a:solidFill>
                  <a:srgbClr val="7030A0"/>
                </a:solidFill>
                <a:latin typeface="나눔명조" panose="02020603020101020101" pitchFamily="18" charset="-127"/>
                <a:ea typeface="나눔명조" panose="02020603020101020101" pitchFamily="18" charset="-127"/>
              </a:rPr>
              <a:t>및 </a:t>
            </a:r>
            <a:r>
              <a:rPr lang="en-US" altLang="ko-KR" dirty="0">
                <a:solidFill>
                  <a:srgbClr val="7030A0"/>
                </a:solidFill>
                <a:latin typeface="나눔명조" panose="02020603020101020101" pitchFamily="18" charset="-127"/>
                <a:ea typeface="나눔명조" panose="02020603020101020101" pitchFamily="18" charset="-127"/>
              </a:rPr>
              <a:t>ES</a:t>
            </a:r>
            <a:endParaRPr lang="ko-KR" altLang="en-US" dirty="0">
              <a:solidFill>
                <a:srgbClr val="0070C0"/>
              </a:solidFill>
              <a:latin typeface="나눔명조" pitchFamily="18" charset="-127"/>
              <a:ea typeface="나눔명조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926897844"/>
      </p:ext>
    </p:extLst>
  </p:cSld>
  <p:clrMapOvr>
    <a:masterClrMapping/>
  </p:clrMapOvr>
  <p:transition spd="med">
    <p:wipe dir="r"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9"/>
          <p:cNvSpPr>
            <a:spLocks noGrp="1" noChangeArrowheads="1"/>
          </p:cNvSpPr>
          <p:nvPr>
            <p:ph idx="1"/>
          </p:nvPr>
        </p:nvSpPr>
        <p:spPr>
          <a:xfrm>
            <a:off x="900113" y="1530961"/>
            <a:ext cx="7737475" cy="4114800"/>
          </a:xfrm>
        </p:spPr>
        <p:txBody>
          <a:bodyPr/>
          <a:lstStyle/>
          <a:p>
            <a:pPr eaLnBrk="1" hangingPunct="1"/>
            <a:r>
              <a:rPr lang="ko-KR" altLang="en-US" sz="24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한편 </a:t>
            </a:r>
            <a:r>
              <a:rPr lang="en-US" altLang="ko-KR" sz="24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CS</a:t>
            </a:r>
            <a:r>
              <a:rPr lang="ko-KR" altLang="en-US" sz="24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는 다음과 같음</a:t>
            </a:r>
            <a:endParaRPr lang="en-US" altLang="ko-KR" sz="2400" dirty="0">
              <a:latin typeface="Times New Roman" pitchFamily="18" charset="0"/>
              <a:ea typeface="나눔명조" pitchFamily="18" charset="-127"/>
              <a:cs typeface="Times New Roman" pitchFamily="18" charset="0"/>
            </a:endParaRPr>
          </a:p>
          <a:p>
            <a:pPr lvl="1" eaLnBrk="1" hangingPunct="1"/>
            <a:r>
              <a:rPr lang="en-US" altLang="ko-KR" sz="22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[</a:t>
            </a:r>
            <a:r>
              <a:rPr lang="ko-KR" altLang="en-US" sz="22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전체 </a:t>
            </a:r>
            <a:r>
              <a:rPr lang="ko-KR" altLang="en-US" sz="2200" dirty="0" err="1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환경질이</a:t>
            </a:r>
            <a:r>
              <a:rPr lang="ko-KR" altLang="en-US" sz="22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 </a:t>
            </a:r>
            <a:r>
              <a:rPr lang="en-US" altLang="ko-KR" sz="22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Q</a:t>
            </a:r>
            <a:r>
              <a:rPr lang="en-US" altLang="ko-KR" sz="2200" baseline="300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0</a:t>
            </a:r>
            <a:r>
              <a:rPr lang="ko-KR" altLang="en-US" sz="22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일 때 </a:t>
            </a:r>
            <a:r>
              <a:rPr lang="en-US" altLang="ko-KR" sz="22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z</a:t>
            </a:r>
            <a:r>
              <a:rPr lang="en-US" altLang="ko-KR" sz="2200" baseline="300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0</a:t>
            </a:r>
            <a:r>
              <a:rPr lang="ko-KR" altLang="en-US" sz="22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와 </a:t>
            </a:r>
            <a:r>
              <a:rPr lang="en-US" altLang="ko-KR" sz="22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q</a:t>
            </a:r>
            <a:r>
              <a:rPr lang="en-US" altLang="ko-KR" sz="2200" baseline="300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0</a:t>
            </a:r>
            <a:r>
              <a:rPr lang="ko-KR" altLang="en-US" sz="22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를 선택하여 만족도 </a:t>
            </a:r>
            <a:r>
              <a:rPr lang="en-US" altLang="ko-KR" sz="22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u</a:t>
            </a:r>
            <a:r>
              <a:rPr lang="en-US" altLang="ko-KR" sz="2200" baseline="300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0</a:t>
            </a:r>
            <a:r>
              <a:rPr lang="ko-KR" altLang="en-US" sz="22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를 달성하는 비용</a:t>
            </a:r>
            <a:r>
              <a:rPr lang="en-US" altLang="ko-KR" sz="22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] – [</a:t>
            </a:r>
            <a:r>
              <a:rPr lang="ko-KR" altLang="en-US" sz="22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전체 </a:t>
            </a:r>
            <a:r>
              <a:rPr lang="ko-KR" altLang="en-US" sz="2200" dirty="0" err="1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환경질이</a:t>
            </a:r>
            <a:r>
              <a:rPr lang="ko-KR" altLang="en-US" sz="22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 </a:t>
            </a:r>
            <a:r>
              <a:rPr lang="en-US" altLang="ko-KR" sz="22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Q</a:t>
            </a:r>
            <a:r>
              <a:rPr lang="en-US" altLang="ko-KR" sz="2200" baseline="300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1</a:t>
            </a:r>
            <a:r>
              <a:rPr lang="ko-KR" altLang="en-US" sz="22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일 때 만족도 </a:t>
            </a:r>
            <a:r>
              <a:rPr lang="en-US" altLang="ko-KR" sz="22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u</a:t>
            </a:r>
            <a:r>
              <a:rPr lang="en-US" altLang="ko-KR" sz="2200" baseline="300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0</a:t>
            </a:r>
            <a:r>
              <a:rPr lang="ko-KR" altLang="en-US" sz="22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를 최소비용으로 달성하도록 </a:t>
            </a:r>
            <a:r>
              <a:rPr lang="en-US" altLang="ko-KR" sz="22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z</a:t>
            </a:r>
            <a:r>
              <a:rPr lang="ko-KR" altLang="en-US" sz="22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와 </a:t>
            </a:r>
            <a:r>
              <a:rPr lang="en-US" altLang="ko-KR" sz="22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q</a:t>
            </a:r>
            <a:r>
              <a:rPr lang="ko-KR" altLang="en-US" sz="22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를 선택할 때의 비용</a:t>
            </a:r>
            <a:r>
              <a:rPr lang="en-US" altLang="ko-KR" sz="22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] </a:t>
            </a:r>
          </a:p>
          <a:p>
            <a:pPr eaLnBrk="1" hangingPunct="1"/>
            <a:r>
              <a:rPr lang="ko-KR" altLang="en-US" sz="24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전체 </a:t>
            </a:r>
            <a:r>
              <a:rPr lang="ko-KR" altLang="en-US" sz="2400" dirty="0" err="1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환경질이</a:t>
            </a:r>
            <a:r>
              <a:rPr lang="ko-KR" altLang="en-US" sz="24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 </a:t>
            </a:r>
            <a:r>
              <a:rPr lang="en-US" altLang="ko-KR" sz="24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Q</a:t>
            </a:r>
            <a:r>
              <a:rPr lang="en-US" altLang="ko-KR" sz="2400" baseline="300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1</a:t>
            </a:r>
            <a:r>
              <a:rPr lang="ko-KR" altLang="en-US" sz="24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일</a:t>
            </a:r>
            <a:r>
              <a:rPr lang="en-US" altLang="ko-KR" sz="24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 </a:t>
            </a:r>
            <a:r>
              <a:rPr lang="ko-KR" altLang="en-US" sz="24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경우 </a:t>
            </a:r>
            <a:r>
              <a:rPr lang="en-US" altLang="ko-KR" sz="24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z</a:t>
            </a:r>
            <a:r>
              <a:rPr lang="ko-KR" altLang="en-US" sz="24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와 </a:t>
            </a:r>
            <a:r>
              <a:rPr lang="en-US" altLang="ko-KR" sz="24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q</a:t>
            </a:r>
            <a:r>
              <a:rPr lang="ko-KR" altLang="en-US" sz="24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를 </a:t>
            </a:r>
            <a:r>
              <a:rPr lang="en-US" altLang="ko-KR" sz="24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z</a:t>
            </a:r>
            <a:r>
              <a:rPr lang="en-US" altLang="ko-KR" sz="2400" baseline="300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0</a:t>
            </a:r>
            <a:r>
              <a:rPr lang="ko-KR" altLang="en-US" sz="24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와 </a:t>
            </a:r>
            <a:r>
              <a:rPr lang="en-US" altLang="ko-KR" sz="24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q</a:t>
            </a:r>
            <a:r>
              <a:rPr lang="en-US" altLang="ko-KR" sz="2400" baseline="300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0</a:t>
            </a:r>
            <a:r>
              <a:rPr lang="ko-KR" altLang="en-US" sz="24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로 고정시키는 것은 최적의 선택이 아님</a:t>
            </a:r>
            <a:r>
              <a:rPr lang="en-US" altLang="ko-KR" sz="24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(</a:t>
            </a:r>
            <a:r>
              <a:rPr lang="ko-KR" altLang="en-US" sz="2400" dirty="0" err="1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환경질</a:t>
            </a:r>
            <a:r>
              <a:rPr lang="ko-KR" altLang="en-US" sz="24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 변화가 있으면 동일 </a:t>
            </a:r>
            <a:r>
              <a:rPr lang="en-US" altLang="ko-KR" sz="24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q</a:t>
            </a:r>
            <a:r>
              <a:rPr lang="ko-KR" altLang="en-US" sz="24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를 얻는 </a:t>
            </a:r>
            <a:r>
              <a:rPr lang="ko-KR" altLang="en-US" sz="2400" dirty="0" err="1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비용최소</a:t>
            </a:r>
            <a:r>
              <a:rPr lang="ko-KR" altLang="en-US" sz="24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 선택이 달라짐</a:t>
            </a:r>
            <a:r>
              <a:rPr lang="en-US" altLang="ko-KR" sz="24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)</a:t>
            </a:r>
          </a:p>
          <a:p>
            <a:pPr lvl="1" eaLnBrk="1" hangingPunct="1"/>
            <a:r>
              <a:rPr lang="ko-KR" altLang="en-US" sz="22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 </a:t>
            </a:r>
            <a:r>
              <a:rPr lang="en-US" altLang="ko-KR" sz="22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z</a:t>
            </a:r>
            <a:r>
              <a:rPr lang="en-US" altLang="ko-KR" sz="2200" baseline="300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0</a:t>
            </a:r>
            <a:r>
              <a:rPr lang="ko-KR" altLang="en-US" sz="22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와 </a:t>
            </a:r>
            <a:r>
              <a:rPr lang="en-US" altLang="ko-KR" sz="22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q</a:t>
            </a:r>
            <a:r>
              <a:rPr lang="en-US" altLang="ko-KR" sz="2200" baseline="300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0</a:t>
            </a:r>
            <a:r>
              <a:rPr lang="ko-KR" altLang="en-US" sz="22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를 유지하게 되면 </a:t>
            </a:r>
            <a:r>
              <a:rPr lang="en-US" altLang="ko-KR" sz="22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u</a:t>
            </a:r>
            <a:r>
              <a:rPr lang="en-US" altLang="ko-KR" sz="2200" baseline="300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0</a:t>
            </a:r>
            <a:r>
              <a:rPr lang="ko-KR" altLang="en-US" sz="22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를 최소의 비용으로 얻을 수 없음</a:t>
            </a:r>
            <a:r>
              <a:rPr lang="en-US" altLang="ko-KR" sz="22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. </a:t>
            </a:r>
            <a:r>
              <a:rPr lang="ko-KR" altLang="en-US" sz="22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따라서 면적 </a:t>
            </a:r>
            <a:r>
              <a:rPr lang="en-US" altLang="ko-KR" sz="2200" dirty="0" err="1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abe</a:t>
            </a:r>
            <a:r>
              <a:rPr lang="en-US" altLang="ko-KR" sz="22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 </a:t>
            </a:r>
            <a:r>
              <a:rPr lang="ko-KR" altLang="en-US" sz="22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≤ </a:t>
            </a:r>
            <a:r>
              <a:rPr lang="en-US" altLang="ko-KR" sz="22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CS</a:t>
            </a:r>
            <a:r>
              <a:rPr lang="ko-KR" altLang="en-US" sz="22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임</a:t>
            </a:r>
            <a:endParaRPr lang="en-US" altLang="ko-KR" sz="2200" dirty="0">
              <a:latin typeface="Times New Roman" pitchFamily="18" charset="0"/>
              <a:ea typeface="나눔명조" pitchFamily="18" charset="-127"/>
              <a:cs typeface="Times New Roman" pitchFamily="18" charset="0"/>
            </a:endParaRPr>
          </a:p>
          <a:p>
            <a:pPr lvl="1" eaLnBrk="1" hangingPunct="1"/>
            <a:r>
              <a:rPr lang="ko-KR" altLang="en-US" sz="22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 유사한 방법을 통해 면적 </a:t>
            </a:r>
            <a:r>
              <a:rPr lang="en-US" altLang="ko-KR" sz="2200" dirty="0" err="1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acd</a:t>
            </a:r>
            <a:r>
              <a:rPr lang="ko-KR" altLang="en-US" sz="22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가 </a:t>
            </a:r>
            <a:r>
              <a:rPr lang="en-US" altLang="ko-KR" sz="22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ES</a:t>
            </a:r>
            <a:r>
              <a:rPr lang="ko-KR" altLang="en-US" sz="22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의 상한임을 보일 수 있음</a:t>
            </a:r>
            <a:endParaRPr lang="en-US" altLang="ko-KR" sz="2200" baseline="-25000" dirty="0">
              <a:latin typeface="Times New Roman" pitchFamily="18" charset="0"/>
              <a:ea typeface="나눔명조" pitchFamily="18" charset="-127"/>
              <a:cs typeface="Times New Roman" pitchFamily="18" charset="0"/>
            </a:endParaRPr>
          </a:p>
        </p:txBody>
      </p:sp>
      <p:sp>
        <p:nvSpPr>
          <p:cNvPr id="15363" name="바닥글 개체 틀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r>
              <a:rPr lang="ko-KR" altLang="en-US" sz="1200" b="0" dirty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Chapter </a:t>
            </a:r>
            <a:r>
              <a:rPr lang="en-US" altLang="ko-KR" sz="1200" b="0" dirty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15</a:t>
            </a:r>
          </a:p>
        </p:txBody>
      </p:sp>
      <p:sp>
        <p:nvSpPr>
          <p:cNvPr id="15364" name="슬라이드 번호 개체 틀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fld id="{C753D822-DF5B-4203-821F-E37D763E2E34}" type="slidenum">
              <a:rPr lang="ko-KR" altLang="en-US" sz="1200" b="0">
                <a:solidFill>
                  <a:schemeClr val="tx1"/>
                </a:solidFill>
              </a:rPr>
              <a:pPr/>
              <a:t>31</a:t>
            </a:fld>
            <a:endParaRPr lang="en-US" altLang="ko-KR" sz="1200" b="0" dirty="0">
              <a:solidFill>
                <a:schemeClr val="tx1"/>
              </a:solidFill>
            </a:endParaRPr>
          </a:p>
        </p:txBody>
      </p:sp>
      <p:sp>
        <p:nvSpPr>
          <p:cNvPr id="15365" name="Rectangle 2"/>
          <p:cNvSpPr>
            <a:spLocks noChangeArrowheads="1"/>
          </p:cNvSpPr>
          <p:nvPr/>
        </p:nvSpPr>
        <p:spPr bwMode="auto">
          <a:xfrm>
            <a:off x="7620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>
              <a:ea typeface="굴림" panose="020B0600000101010101" pitchFamily="50" charset="-127"/>
            </a:endParaRPr>
          </a:p>
        </p:txBody>
      </p:sp>
      <p:sp>
        <p:nvSpPr>
          <p:cNvPr id="15366" name="Rectangle 3"/>
          <p:cNvSpPr>
            <a:spLocks noChangeArrowheads="1"/>
          </p:cNvSpPr>
          <p:nvPr/>
        </p:nvSpPr>
        <p:spPr bwMode="auto">
          <a:xfrm>
            <a:off x="32766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>
              <a:ea typeface="굴림" panose="020B0600000101010101" pitchFamily="50" charset="-127"/>
            </a:endParaRPr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50196A88-D910-4058-94C6-D22E7056C1F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15193" y="284864"/>
            <a:ext cx="7313613" cy="756000"/>
          </a:xfrm>
          <a:ln>
            <a:solidFill>
              <a:srgbClr val="7030A0"/>
            </a:solidFill>
          </a:ln>
        </p:spPr>
        <p:txBody>
          <a:bodyPr/>
          <a:lstStyle/>
          <a:p>
            <a:pPr eaLnBrk="1" hangingPunct="1"/>
            <a:r>
              <a:rPr lang="ko-KR" altLang="en-US" dirty="0" err="1">
                <a:solidFill>
                  <a:srgbClr val="7030A0"/>
                </a:solidFill>
                <a:latin typeface="나눔명조" panose="02020603020101020101" pitchFamily="18" charset="-127"/>
                <a:ea typeface="나눔명조" panose="02020603020101020101" pitchFamily="18" charset="-127"/>
              </a:rPr>
              <a:t>바르틱</a:t>
            </a:r>
            <a:r>
              <a:rPr lang="en-US" altLang="ko-KR" dirty="0">
                <a:solidFill>
                  <a:srgbClr val="7030A0"/>
                </a:solidFill>
                <a:latin typeface="나눔명조" panose="02020603020101020101" pitchFamily="18" charset="-127"/>
                <a:ea typeface="나눔명조" panose="02020603020101020101" pitchFamily="18" charset="-127"/>
              </a:rPr>
              <a:t>(</a:t>
            </a:r>
            <a:r>
              <a:rPr lang="en-US" altLang="ko-KR" dirty="0" err="1">
                <a:solidFill>
                  <a:srgbClr val="7030A0"/>
                </a:solidFill>
                <a:latin typeface="나눔명조" panose="02020603020101020101" pitchFamily="18" charset="-127"/>
                <a:ea typeface="나눔명조" panose="02020603020101020101" pitchFamily="18" charset="-127"/>
              </a:rPr>
              <a:t>Bartik</a:t>
            </a:r>
            <a:r>
              <a:rPr lang="en-US" altLang="ko-KR" dirty="0">
                <a:solidFill>
                  <a:srgbClr val="7030A0"/>
                </a:solidFill>
                <a:latin typeface="나눔명조" panose="02020603020101020101" pitchFamily="18" charset="-127"/>
                <a:ea typeface="나눔명조" panose="02020603020101020101" pitchFamily="18" charset="-127"/>
              </a:rPr>
              <a:t>)</a:t>
            </a:r>
            <a:r>
              <a:rPr lang="ko-KR" altLang="en-US" dirty="0">
                <a:solidFill>
                  <a:srgbClr val="7030A0"/>
                </a:solidFill>
                <a:latin typeface="나눔명조" panose="02020603020101020101" pitchFamily="18" charset="-127"/>
                <a:ea typeface="나눔명조" panose="02020603020101020101" pitchFamily="18" charset="-127"/>
              </a:rPr>
              <a:t>의 지표와 </a:t>
            </a:r>
            <a:r>
              <a:rPr lang="en-US" altLang="ko-KR" dirty="0">
                <a:solidFill>
                  <a:srgbClr val="7030A0"/>
                </a:solidFill>
                <a:latin typeface="나눔명조" panose="02020603020101020101" pitchFamily="18" charset="-127"/>
                <a:ea typeface="나눔명조" panose="02020603020101020101" pitchFamily="18" charset="-127"/>
              </a:rPr>
              <a:t>CS </a:t>
            </a:r>
            <a:r>
              <a:rPr lang="ko-KR" altLang="en-US" dirty="0">
                <a:solidFill>
                  <a:srgbClr val="7030A0"/>
                </a:solidFill>
                <a:latin typeface="나눔명조" panose="02020603020101020101" pitchFamily="18" charset="-127"/>
                <a:ea typeface="나눔명조" panose="02020603020101020101" pitchFamily="18" charset="-127"/>
              </a:rPr>
              <a:t>및 </a:t>
            </a:r>
            <a:r>
              <a:rPr lang="en-US" altLang="ko-KR" dirty="0">
                <a:solidFill>
                  <a:srgbClr val="7030A0"/>
                </a:solidFill>
                <a:latin typeface="나눔명조" panose="02020603020101020101" pitchFamily="18" charset="-127"/>
                <a:ea typeface="나눔명조" panose="02020603020101020101" pitchFamily="18" charset="-127"/>
              </a:rPr>
              <a:t>ES</a:t>
            </a:r>
            <a:endParaRPr lang="ko-KR" altLang="en-US" dirty="0">
              <a:solidFill>
                <a:srgbClr val="0070C0"/>
              </a:solidFill>
              <a:latin typeface="나눔명조" pitchFamily="18" charset="-127"/>
              <a:ea typeface="나눔명조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711253033"/>
      </p:ext>
    </p:extLst>
  </p:cSld>
  <p:clrMapOvr>
    <a:masterClrMapping/>
  </p:clrMapOvr>
  <p:transition spd="med">
    <p:wipe dir="r"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3" name="바닥글 개체 틀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r>
              <a:rPr lang="ko-KR" altLang="en-US" sz="1200" b="0" dirty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Chapter </a:t>
            </a:r>
            <a:r>
              <a:rPr lang="en-US" altLang="ko-KR" sz="1200" b="0" dirty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15</a:t>
            </a:r>
          </a:p>
        </p:txBody>
      </p:sp>
      <p:sp>
        <p:nvSpPr>
          <p:cNvPr id="15364" name="슬라이드 번호 개체 틀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fld id="{C753D822-DF5B-4203-821F-E37D763E2E34}" type="slidenum">
              <a:rPr lang="ko-KR" altLang="en-US" sz="1200" b="0">
                <a:solidFill>
                  <a:schemeClr val="tx1"/>
                </a:solidFill>
              </a:rPr>
              <a:pPr/>
              <a:t>32</a:t>
            </a:fld>
            <a:endParaRPr lang="en-US" altLang="ko-KR" sz="1200" b="0" dirty="0">
              <a:solidFill>
                <a:schemeClr val="tx1"/>
              </a:solidFill>
            </a:endParaRPr>
          </a:p>
        </p:txBody>
      </p:sp>
      <p:sp>
        <p:nvSpPr>
          <p:cNvPr id="15365" name="Rectangle 2"/>
          <p:cNvSpPr>
            <a:spLocks noChangeArrowheads="1"/>
          </p:cNvSpPr>
          <p:nvPr/>
        </p:nvSpPr>
        <p:spPr bwMode="auto">
          <a:xfrm>
            <a:off x="7620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>
              <a:ea typeface="굴림" panose="020B0600000101010101" pitchFamily="50" charset="-127"/>
            </a:endParaRPr>
          </a:p>
        </p:txBody>
      </p:sp>
      <p:sp>
        <p:nvSpPr>
          <p:cNvPr id="15366" name="Rectangle 3"/>
          <p:cNvSpPr>
            <a:spLocks noChangeArrowheads="1"/>
          </p:cNvSpPr>
          <p:nvPr/>
        </p:nvSpPr>
        <p:spPr bwMode="auto">
          <a:xfrm>
            <a:off x="32766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>
              <a:ea typeface="굴림" panose="020B0600000101010101" pitchFamily="50" charset="-127"/>
            </a:endParaRPr>
          </a:p>
        </p:txBody>
      </p:sp>
      <p:sp>
        <p:nvSpPr>
          <p:cNvPr id="15367" name="Rectangle 6"/>
          <p:cNvSpPr>
            <a:spLocks noGrp="1" noChangeArrowheads="1"/>
          </p:cNvSpPr>
          <p:nvPr>
            <p:ph type="title"/>
          </p:nvPr>
        </p:nvSpPr>
        <p:spPr>
          <a:xfrm>
            <a:off x="1355725" y="0"/>
            <a:ext cx="7313613" cy="1143000"/>
          </a:xfrm>
        </p:spPr>
        <p:txBody>
          <a:bodyPr/>
          <a:lstStyle/>
          <a:p>
            <a:pPr eaLnBrk="1" hangingPunct="1"/>
            <a:r>
              <a:rPr lang="ko-KR" altLang="en-US" dirty="0" err="1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약대체성과</a:t>
            </a:r>
            <a:r>
              <a:rPr lang="ko-KR" altLang="en-US" dirty="0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 그 현실성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Rectangle 9"/>
              <p:cNvSpPr>
                <a:spLocks noGrp="1" noChangeArrowheads="1"/>
              </p:cNvSpPr>
              <p:nvPr>
                <p:ph idx="1"/>
              </p:nvPr>
            </p:nvSpPr>
            <p:spPr>
              <a:xfrm>
                <a:off x="855662" y="1201814"/>
                <a:ext cx="7737475" cy="5105680"/>
              </a:xfrm>
            </p:spPr>
            <p:txBody>
              <a:bodyPr/>
              <a:lstStyle/>
              <a:p>
                <a:pPr eaLnBrk="1" hangingPunct="1"/>
                <a:r>
                  <a:rPr lang="ko-KR" altLang="en-US" sz="24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바르틱 지표가 후생지표의 근사치만 도출하므로 </a:t>
                </a:r>
                <a:r>
                  <a:rPr lang="en-US" altLang="ko-KR" sz="24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HPF </a:t>
                </a:r>
                <a:r>
                  <a:rPr lang="ko-KR" altLang="en-US" sz="24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사용을 포기하고 대신 약보완성에 상응하는 수요행위 가정을 바로 도입해볼 수도 있음</a:t>
                </a:r>
                <a:r>
                  <a:rPr lang="en-US" altLang="ko-KR" sz="24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(= </a:t>
                </a:r>
                <a:r>
                  <a:rPr lang="ko-KR" altLang="en-US" sz="2400" b="1" dirty="0">
                    <a:solidFill>
                      <a:srgbClr val="0000FF"/>
                    </a:solidFill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약대체성</a:t>
                </a:r>
                <a:r>
                  <a:rPr lang="ko-KR" altLang="en-US" sz="24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 가정</a:t>
                </a:r>
                <a:r>
                  <a:rPr lang="en-US" altLang="ko-KR" sz="24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)</a:t>
                </a:r>
                <a:endParaRPr lang="ko-KR" altLang="en-US" sz="2400" dirty="0">
                  <a:latin typeface="Times New Roman" pitchFamily="18" charset="0"/>
                  <a:ea typeface="나눔명조" pitchFamily="18" charset="-127"/>
                  <a:cs typeface="Times New Roman" pitchFamily="18" charset="0"/>
                </a:endParaRPr>
              </a:p>
              <a:p>
                <a:pPr lvl="1" eaLnBrk="1" hangingPunct="1"/>
                <a:r>
                  <a:rPr lang="ko-KR" altLang="en-US" sz="20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회피행위를 통해 환경오염 문제를 완전히 해결할 수 있어서 회피행위가 일정 수준에 이르면 전체 환경질의 변화가 후생이나 회피행위에 영향을 미치지 못한다는 것을 의미</a:t>
                </a:r>
                <a:endParaRPr lang="ko-KR" altLang="en-US" sz="2400" dirty="0">
                  <a:latin typeface="Times New Roman" pitchFamily="18" charset="0"/>
                  <a:ea typeface="나눔명조" pitchFamily="18" charset="-127"/>
                  <a:cs typeface="Times New Roman" pitchFamily="18" charset="0"/>
                </a:endParaRPr>
              </a:p>
              <a:p>
                <a:pPr eaLnBrk="1" hangingPunct="1"/>
                <a:r>
                  <a:rPr lang="en-US" altLang="ko-KR" sz="24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&lt;</a:t>
                </a:r>
                <a:r>
                  <a:rPr lang="ko-KR" altLang="en-US" sz="24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그림 </a:t>
                </a:r>
                <a:r>
                  <a:rPr lang="en-US" altLang="ko-KR" sz="24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15-4&gt;</a:t>
                </a:r>
                <a:r>
                  <a:rPr lang="ko-KR" altLang="en-US" sz="24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에서 먹는 샘물의 구입량이</a:t>
                </a:r>
                <a:r>
                  <a:rPr lang="en-US" altLang="ko-KR" sz="24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ko-KR" sz="2400" i="1" smtClean="0">
                            <a:latin typeface="Cambria Math" panose="02040503050406030204" pitchFamily="18" charset="0"/>
                            <a:ea typeface="나눔명조" pitchFamily="18" charset="-127"/>
                            <a:cs typeface="Times New Roman" pitchFamily="18" charset="0"/>
                          </a:rPr>
                        </m:ctrlPr>
                      </m:accPr>
                      <m:e>
                        <m:r>
                          <a:rPr lang="en-US" altLang="ko-KR" sz="2400" b="0" i="1" smtClean="0">
                            <a:latin typeface="Cambria Math" panose="02040503050406030204" pitchFamily="18" charset="0"/>
                            <a:ea typeface="나눔명조" pitchFamily="18" charset="-127"/>
                            <a:cs typeface="Times New Roman" pitchFamily="18" charset="0"/>
                          </a:rPr>
                          <m:t>𝑥</m:t>
                        </m:r>
                      </m:e>
                    </m:acc>
                  </m:oMath>
                </a14:m>
                <a:r>
                  <a:rPr lang="ko-KR" altLang="en-US" sz="24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에 이르면 먹는 샘물로 수질문제를 완벽히 해결할 수 있음</a:t>
                </a:r>
              </a:p>
              <a:p>
                <a:pPr lvl="1" eaLnBrk="1" hangingPunct="1"/>
                <a:r>
                  <a:rPr lang="ko-KR" altLang="en-US" sz="20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수질개선의 편익은 면적 </a:t>
                </a:r>
                <a:r>
                  <a:rPr lang="en-US" altLang="ko-KR" sz="2000" dirty="0" err="1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abc</a:t>
                </a:r>
                <a:r>
                  <a:rPr lang="ko-KR" altLang="en-US" sz="20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이며</a:t>
                </a:r>
                <a:r>
                  <a:rPr lang="en-US" altLang="ko-KR" sz="20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, </a:t>
                </a:r>
                <a:r>
                  <a:rPr lang="ko-KR" altLang="en-US" sz="20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보상수요곡선을 사용하기 때문에 이 면적은 정확히 </a:t>
                </a:r>
                <a:r>
                  <a:rPr lang="en-US" altLang="ko-KR" sz="20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CS</a:t>
                </a:r>
                <a:r>
                  <a:rPr lang="ko-KR" altLang="en-US" sz="20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를 의미함</a:t>
                </a:r>
                <a:endParaRPr lang="en-US" altLang="ko-KR" sz="2000" dirty="0">
                  <a:latin typeface="Times New Roman" pitchFamily="18" charset="0"/>
                  <a:ea typeface="나눔명조" pitchFamily="18" charset="-127"/>
                  <a:cs typeface="Times New Roman" pitchFamily="18" charset="0"/>
                </a:endParaRPr>
              </a:p>
              <a:p>
                <a:pPr lvl="2" eaLnBrk="1" hangingPunct="1"/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1700" i="1" smtClean="0">
                            <a:latin typeface="Cambria Math" panose="02040503050406030204" pitchFamily="18" charset="0"/>
                            <a:ea typeface="나눔명조" pitchFamily="18" charset="-127"/>
                            <a:cs typeface="Times New Roman" pitchFamily="18" charset="0"/>
                          </a:rPr>
                        </m:ctrlPr>
                      </m:sSupPr>
                      <m:e>
                        <m:r>
                          <a:rPr lang="en-US" altLang="ko-KR" sz="1700" b="0" i="1" smtClean="0">
                            <a:latin typeface="Cambria Math" panose="02040503050406030204" pitchFamily="18" charset="0"/>
                            <a:ea typeface="나눔명조" pitchFamily="18" charset="-127"/>
                            <a:cs typeface="Times New Roman" pitchFamily="18" charset="0"/>
                          </a:rPr>
                          <m:t>𝑄</m:t>
                        </m:r>
                      </m:e>
                      <m:sup>
                        <m:r>
                          <a:rPr lang="en-US" altLang="ko-KR" sz="1700" b="0" i="1" smtClean="0">
                            <a:latin typeface="Cambria Math" panose="02040503050406030204" pitchFamily="18" charset="0"/>
                            <a:ea typeface="나눔명조" pitchFamily="18" charset="-127"/>
                            <a:cs typeface="Times New Roman" pitchFamily="18" charset="0"/>
                          </a:rPr>
                          <m:t>0</m:t>
                        </m:r>
                      </m:sup>
                    </m:sSup>
                    <m:r>
                      <a:rPr lang="en-US" altLang="ko-KR" sz="1700" b="0" i="1" smtClean="0">
                        <a:latin typeface="Cambria Math" panose="02040503050406030204" pitchFamily="18" charset="0"/>
                        <a:ea typeface="나눔명조" pitchFamily="18" charset="-127"/>
                        <a:cs typeface="Times New Roman" pitchFamily="18" charset="0"/>
                      </a:rPr>
                      <m:t>→</m:t>
                    </m:r>
                    <m:sSup>
                      <m:sSupPr>
                        <m:ctrlPr>
                          <a:rPr lang="en-US" altLang="ko-KR" sz="1700" i="1" smtClean="0">
                            <a:latin typeface="Cambria Math" panose="02040503050406030204" pitchFamily="18" charset="0"/>
                            <a:ea typeface="나눔명조" pitchFamily="18" charset="-127"/>
                            <a:cs typeface="Times New Roman" pitchFamily="18" charset="0"/>
                          </a:rPr>
                        </m:ctrlPr>
                      </m:sSupPr>
                      <m:e>
                        <m:r>
                          <a:rPr lang="en-US" altLang="ko-KR" sz="1700" b="0" i="1" smtClean="0">
                            <a:latin typeface="Cambria Math" panose="02040503050406030204" pitchFamily="18" charset="0"/>
                            <a:ea typeface="나눔명조" pitchFamily="18" charset="-127"/>
                            <a:cs typeface="Times New Roman" pitchFamily="18" charset="0"/>
                          </a:rPr>
                          <m:t>𝑄</m:t>
                        </m:r>
                      </m:e>
                      <m:sup>
                        <m:r>
                          <a:rPr lang="en-US" altLang="ko-KR" sz="1700" b="0" i="1" smtClean="0">
                            <a:latin typeface="Cambria Math" panose="02040503050406030204" pitchFamily="18" charset="0"/>
                            <a:ea typeface="나눔명조" pitchFamily="18" charset="-127"/>
                            <a:cs typeface="Times New Roman" pitchFamily="18" charset="0"/>
                          </a:rPr>
                          <m:t>1</m:t>
                        </m:r>
                      </m:sup>
                    </m:sSup>
                  </m:oMath>
                </a14:m>
                <a:r>
                  <a:rPr lang="ko-KR" altLang="en-US" sz="17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의</a:t>
                </a:r>
                <a:r>
                  <a:rPr lang="en-US" altLang="ko-KR" sz="17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 </a:t>
                </a:r>
                <a:r>
                  <a:rPr lang="ko-KR" altLang="en-US" sz="17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변화로 인해 소비점이 </a:t>
                </a:r>
                <a14:m>
                  <m:oMath xmlns:m="http://schemas.openxmlformats.org/officeDocument/2006/math">
                    <m:r>
                      <a:rPr lang="en-US" altLang="ko-KR" sz="1700" b="0" i="1" smtClean="0">
                        <a:latin typeface="Cambria Math" panose="02040503050406030204" pitchFamily="18" charset="0"/>
                        <a:ea typeface="나눔명조" pitchFamily="18" charset="-127"/>
                        <a:cs typeface="Times New Roman" pitchFamily="18" charset="0"/>
                      </a:rPr>
                      <m:t>𝑎</m:t>
                    </m:r>
                    <m:r>
                      <a:rPr lang="en-US" altLang="ko-KR" sz="1700" b="0" i="1" smtClean="0">
                        <a:latin typeface="Cambria Math" panose="02040503050406030204" pitchFamily="18" charset="0"/>
                        <a:ea typeface="나눔명조" pitchFamily="18" charset="-127"/>
                        <a:cs typeface="Times New Roman" pitchFamily="18" charset="0"/>
                      </a:rPr>
                      <m:t>→</m:t>
                    </m:r>
                    <m:r>
                      <a:rPr lang="en-US" altLang="ko-KR" sz="1700" b="0" i="1" smtClean="0">
                        <a:latin typeface="Cambria Math" panose="02040503050406030204" pitchFamily="18" charset="0"/>
                        <a:ea typeface="나눔명조" pitchFamily="18" charset="-127"/>
                        <a:cs typeface="Times New Roman" pitchFamily="18" charset="0"/>
                      </a:rPr>
                      <m:t>𝑏</m:t>
                    </m:r>
                    <m:r>
                      <a:rPr lang="en-US" altLang="ko-KR" sz="1700" b="0" i="1" smtClean="0">
                        <a:latin typeface="Cambria Math" panose="02040503050406030204" pitchFamily="18" charset="0"/>
                        <a:ea typeface="나눔명조" pitchFamily="18" charset="-127"/>
                        <a:cs typeface="Times New Roman" pitchFamily="18" charset="0"/>
                      </a:rPr>
                      <m:t>→</m:t>
                    </m:r>
                    <m:r>
                      <a:rPr lang="en-US" altLang="ko-KR" sz="1700" b="0" i="1" smtClean="0">
                        <a:latin typeface="Cambria Math" panose="02040503050406030204" pitchFamily="18" charset="0"/>
                        <a:ea typeface="나눔명조" pitchFamily="18" charset="-127"/>
                        <a:cs typeface="Times New Roman" pitchFamily="18" charset="0"/>
                      </a:rPr>
                      <m:t>𝑐</m:t>
                    </m:r>
                  </m:oMath>
                </a14:m>
                <a:r>
                  <a:rPr lang="ko-KR" altLang="en-US" sz="17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로</a:t>
                </a:r>
                <a:r>
                  <a:rPr lang="en-US" altLang="ko-KR" sz="17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 </a:t>
                </a:r>
                <a:r>
                  <a:rPr lang="ko-KR" altLang="en-US" sz="17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변화</a:t>
                </a:r>
                <a:endParaRPr lang="en-US" altLang="ko-KR" sz="1700" dirty="0">
                  <a:latin typeface="Times New Roman" pitchFamily="18" charset="0"/>
                  <a:ea typeface="나눔명조" pitchFamily="18" charset="-127"/>
                  <a:cs typeface="Times New Roman" pitchFamily="18" charset="0"/>
                </a:endParaRPr>
              </a:p>
              <a:p>
                <a:pPr eaLnBrk="1" hangingPunct="1"/>
                <a:r>
                  <a:rPr lang="ko-KR" altLang="en-US" sz="24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약보완성과 달리 약대체성은 비현실적 가정임</a:t>
                </a:r>
                <a:endParaRPr lang="en-US" altLang="ko-KR" sz="2400" dirty="0">
                  <a:latin typeface="Times New Roman" pitchFamily="18" charset="0"/>
                  <a:ea typeface="나눔명조" pitchFamily="18" charset="-127"/>
                  <a:cs typeface="Times New Roman" pitchFamily="18" charset="0"/>
                </a:endParaRPr>
              </a:p>
              <a:p>
                <a:pPr lvl="1" eaLnBrk="1" hangingPunct="1"/>
                <a:r>
                  <a:rPr lang="ko-KR" altLang="en-US" sz="20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예</a:t>
                </a:r>
                <a:r>
                  <a:rPr lang="en-US" altLang="ko-KR" sz="20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: </a:t>
                </a:r>
                <a:r>
                  <a:rPr lang="ko-KR" altLang="en-US" sz="20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생수 구입량이 아무리 많아도 수돗물을 전혀 사용하지 않을 수는 없으며</a:t>
                </a:r>
                <a:r>
                  <a:rPr lang="en-US" altLang="ko-KR" sz="20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, </a:t>
                </a:r>
                <a:r>
                  <a:rPr lang="ko-KR" altLang="en-US" sz="20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수돗물 수질은 여전히 문제가 됨</a:t>
                </a:r>
                <a:r>
                  <a:rPr lang="en-US" altLang="ko-KR" sz="20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					</a:t>
                </a:r>
              </a:p>
            </p:txBody>
          </p:sp>
        </mc:Choice>
        <mc:Fallback>
          <p:sp>
            <p:nvSpPr>
              <p:cNvPr id="8" name="Rectangle 9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55662" y="1201814"/>
                <a:ext cx="7737475" cy="5105680"/>
              </a:xfrm>
              <a:blipFill>
                <a:blip r:embed="rId3"/>
                <a:stretch>
                  <a:fillRect l="-1024" t="-1074" b="-119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43135894"/>
      </p:ext>
    </p:extLst>
  </p:cSld>
  <p:clrMapOvr>
    <a:masterClrMapping/>
  </p:clrMapOvr>
  <p:transition spd="med">
    <p:wipe dir="r"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3" name="바닥글 개체 틀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r>
              <a:rPr lang="ko-KR" altLang="en-US" sz="1200" b="0" dirty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Chapter </a:t>
            </a:r>
            <a:r>
              <a:rPr lang="en-US" altLang="ko-KR" sz="1200" b="0" dirty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15</a:t>
            </a:r>
          </a:p>
        </p:txBody>
      </p:sp>
      <p:sp>
        <p:nvSpPr>
          <p:cNvPr id="15364" name="슬라이드 번호 개체 틀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fld id="{C753D822-DF5B-4203-821F-E37D763E2E34}" type="slidenum">
              <a:rPr lang="ko-KR" altLang="en-US" sz="1200" b="0">
                <a:solidFill>
                  <a:schemeClr val="tx1"/>
                </a:solidFill>
              </a:rPr>
              <a:pPr/>
              <a:t>33</a:t>
            </a:fld>
            <a:endParaRPr lang="en-US" altLang="ko-KR" sz="1200" b="0" dirty="0">
              <a:solidFill>
                <a:schemeClr val="tx1"/>
              </a:solidFill>
            </a:endParaRPr>
          </a:p>
        </p:txBody>
      </p:sp>
      <p:sp>
        <p:nvSpPr>
          <p:cNvPr id="15365" name="Rectangle 2"/>
          <p:cNvSpPr>
            <a:spLocks noChangeArrowheads="1"/>
          </p:cNvSpPr>
          <p:nvPr/>
        </p:nvSpPr>
        <p:spPr bwMode="auto">
          <a:xfrm>
            <a:off x="7620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>
              <a:ea typeface="굴림" panose="020B0600000101010101" pitchFamily="50" charset="-127"/>
            </a:endParaRPr>
          </a:p>
        </p:txBody>
      </p:sp>
      <p:sp>
        <p:nvSpPr>
          <p:cNvPr id="15366" name="Rectangle 3"/>
          <p:cNvSpPr>
            <a:spLocks noChangeArrowheads="1"/>
          </p:cNvSpPr>
          <p:nvPr/>
        </p:nvSpPr>
        <p:spPr bwMode="auto">
          <a:xfrm>
            <a:off x="32766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>
              <a:ea typeface="굴림" panose="020B0600000101010101" pitchFamily="50" charset="-127"/>
            </a:endParaRPr>
          </a:p>
        </p:txBody>
      </p:sp>
      <p:sp>
        <p:nvSpPr>
          <p:cNvPr id="15367" name="Rectangle 6"/>
          <p:cNvSpPr>
            <a:spLocks noGrp="1" noChangeArrowheads="1"/>
          </p:cNvSpPr>
          <p:nvPr>
            <p:ph type="title"/>
          </p:nvPr>
        </p:nvSpPr>
        <p:spPr>
          <a:xfrm>
            <a:off x="1355725" y="0"/>
            <a:ext cx="7313613" cy="1143000"/>
          </a:xfrm>
        </p:spPr>
        <p:txBody>
          <a:bodyPr/>
          <a:lstStyle/>
          <a:p>
            <a:pPr eaLnBrk="1" hangingPunct="1"/>
            <a:r>
              <a:rPr lang="ko-KR" altLang="en-US" dirty="0" err="1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약대체성과</a:t>
            </a:r>
            <a:r>
              <a:rPr lang="ko-KR" altLang="en-US" dirty="0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 그 현실성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7FF10560-1B66-44E4-9994-B4A07AEC41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9186" y="1406701"/>
            <a:ext cx="6311287" cy="39185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3135894"/>
      </p:ext>
    </p:extLst>
  </p:cSld>
  <p:clrMapOvr>
    <a:masterClrMapping/>
  </p:clrMapOvr>
  <p:transition spd="med">
    <p:wipe dir="r"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9"/>
          <p:cNvSpPr>
            <a:spLocks noGrp="1" noChangeArrowheads="1"/>
          </p:cNvSpPr>
          <p:nvPr>
            <p:ph idx="1"/>
          </p:nvPr>
        </p:nvSpPr>
        <p:spPr>
          <a:xfrm>
            <a:off x="775648" y="1371600"/>
            <a:ext cx="7737475" cy="4114800"/>
          </a:xfrm>
        </p:spPr>
        <p:txBody>
          <a:bodyPr/>
          <a:lstStyle/>
          <a:p>
            <a:pPr eaLnBrk="1" hangingPunct="1"/>
            <a:r>
              <a:rPr lang="ko-KR" altLang="en-US" sz="2400" dirty="0">
                <a:latin typeface="나눔명조" pitchFamily="18" charset="-127"/>
                <a:ea typeface="나눔명조" pitchFamily="18" charset="-127"/>
              </a:rPr>
              <a:t>현시선호기법의</a:t>
            </a:r>
            <a:r>
              <a:rPr lang="en-US" altLang="ko-KR" sz="2400" dirty="0">
                <a:latin typeface="나눔명조" pitchFamily="18" charset="-127"/>
                <a:ea typeface="나눔명조" pitchFamily="18" charset="-127"/>
              </a:rPr>
              <a:t> </a:t>
            </a:r>
            <a:r>
              <a:rPr lang="ko-KR" altLang="en-US" sz="2400" dirty="0">
                <a:latin typeface="나눔명조" pitchFamily="18" charset="-127"/>
                <a:ea typeface="나눔명조" pitchFamily="18" charset="-127"/>
              </a:rPr>
              <a:t>핵심은 </a:t>
            </a:r>
            <a:r>
              <a:rPr lang="ko-KR" altLang="en-US" sz="2400" dirty="0" err="1">
                <a:latin typeface="나눔명조" pitchFamily="18" charset="-127"/>
                <a:ea typeface="나눔명조" pitchFamily="18" charset="-127"/>
              </a:rPr>
              <a:t>시장재</a:t>
            </a:r>
            <a:r>
              <a:rPr lang="ko-KR" altLang="en-US" sz="2400" dirty="0">
                <a:latin typeface="나눔명조" pitchFamily="18" charset="-127"/>
                <a:ea typeface="나눔명조" pitchFamily="18" charset="-127"/>
              </a:rPr>
              <a:t> 수요를 분석하여 </a:t>
            </a:r>
            <a:r>
              <a:rPr lang="ko-KR" altLang="en-US" sz="2400" dirty="0" err="1">
                <a:latin typeface="나눔명조" pitchFamily="18" charset="-127"/>
                <a:ea typeface="나눔명조" pitchFamily="18" charset="-127"/>
              </a:rPr>
              <a:t>환경질</a:t>
            </a:r>
            <a:r>
              <a:rPr lang="ko-KR" altLang="en-US" sz="2400" dirty="0">
                <a:latin typeface="나눔명조" pitchFamily="18" charset="-127"/>
                <a:ea typeface="나눔명조" pitchFamily="18" charset="-127"/>
              </a:rPr>
              <a:t> 변화의 편익을 분석한다는 것임</a:t>
            </a:r>
            <a:endParaRPr lang="en-US" altLang="ko-KR" sz="2400" dirty="0">
              <a:latin typeface="나눔명조" pitchFamily="18" charset="-127"/>
              <a:ea typeface="나눔명조" pitchFamily="18" charset="-127"/>
            </a:endParaRPr>
          </a:p>
          <a:p>
            <a:pPr eaLnBrk="1" hangingPunct="1"/>
            <a:r>
              <a:rPr lang="ko-KR" altLang="en-US" sz="2400" dirty="0">
                <a:latin typeface="나눔명조" pitchFamily="18" charset="-127"/>
                <a:ea typeface="나눔명조" pitchFamily="18" charset="-127"/>
              </a:rPr>
              <a:t>시장재가 회피행위인 경우 필수투입요소 가정이나 약대체성가정을 적용하기 어렵기 때문에 보통 </a:t>
            </a:r>
            <a:r>
              <a:rPr lang="ko-KR" altLang="en-US" sz="2400" dirty="0" err="1">
                <a:latin typeface="나눔명조" pitchFamily="18" charset="-127"/>
                <a:ea typeface="나눔명조" pitchFamily="18" charset="-127"/>
              </a:rPr>
              <a:t>시장재</a:t>
            </a:r>
            <a:r>
              <a:rPr lang="ko-KR" altLang="en-US" sz="2400" dirty="0">
                <a:latin typeface="나눔명조" pitchFamily="18" charset="-127"/>
                <a:ea typeface="나눔명조" pitchFamily="18" charset="-127"/>
              </a:rPr>
              <a:t> 수요곡선을 추정하지 않음</a:t>
            </a:r>
            <a:endParaRPr lang="en-US" altLang="ko-KR" sz="2400" dirty="0">
              <a:latin typeface="나눔명조" pitchFamily="18" charset="-127"/>
              <a:ea typeface="나눔명조" pitchFamily="18" charset="-127"/>
            </a:endParaRPr>
          </a:p>
          <a:p>
            <a:pPr eaLnBrk="1" hangingPunct="1"/>
            <a:r>
              <a:rPr lang="ko-KR" altLang="en-US" sz="2400" dirty="0">
                <a:latin typeface="나눔명조" pitchFamily="18" charset="-127"/>
                <a:ea typeface="나눔명조" pitchFamily="18" charset="-127"/>
              </a:rPr>
              <a:t>환경질과 회피행위 사이의 물리적</a:t>
            </a:r>
            <a:r>
              <a:rPr lang="en-US" altLang="ko-KR" sz="2400" dirty="0">
                <a:latin typeface="나눔명조" pitchFamily="18" charset="-127"/>
                <a:ea typeface="나눔명조" pitchFamily="18" charset="-127"/>
              </a:rPr>
              <a:t>, </a:t>
            </a:r>
            <a:r>
              <a:rPr lang="ko-KR" altLang="en-US" sz="2400" dirty="0">
                <a:latin typeface="나눔명조" pitchFamily="18" charset="-127"/>
                <a:ea typeface="나눔명조" pitchFamily="18" charset="-127"/>
              </a:rPr>
              <a:t>기술적 관계를 활용하여 평가가 이루어짐</a:t>
            </a:r>
            <a:endParaRPr lang="en-US" altLang="ko-KR" sz="2200" dirty="0">
              <a:latin typeface="나눔명조" pitchFamily="18" charset="-127"/>
              <a:ea typeface="나눔명조" pitchFamily="18" charset="-127"/>
            </a:endParaRPr>
          </a:p>
          <a:p>
            <a:pPr lvl="1" eaLnBrk="1" hangingPunct="1"/>
            <a:r>
              <a:rPr lang="ko-KR" altLang="en-US" sz="2200" dirty="0">
                <a:latin typeface="나눔명조" pitchFamily="18" charset="-127"/>
                <a:ea typeface="나눔명조" pitchFamily="18" charset="-127"/>
              </a:rPr>
              <a:t>이러한 기술적 관계에 대한 분석은 환경질의 변화가 한계적인지 아닌지의 여부에 따라 적용방법이 달라질 수 있음</a:t>
            </a:r>
            <a:endParaRPr lang="en-US" altLang="ko-KR" sz="2200" baseline="-25000" dirty="0">
              <a:latin typeface="나눔명조" pitchFamily="18" charset="-127"/>
              <a:ea typeface="나눔명조" pitchFamily="18" charset="-127"/>
            </a:endParaRPr>
          </a:p>
        </p:txBody>
      </p:sp>
      <p:sp>
        <p:nvSpPr>
          <p:cNvPr id="15363" name="바닥글 개체 틀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r>
              <a:rPr lang="ko-KR" altLang="en-US" sz="1200" b="0" dirty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Chapter </a:t>
            </a:r>
            <a:r>
              <a:rPr lang="en-US" altLang="ko-KR" sz="1200" b="0" dirty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15</a:t>
            </a:r>
          </a:p>
        </p:txBody>
      </p:sp>
      <p:sp>
        <p:nvSpPr>
          <p:cNvPr id="15364" name="슬라이드 번호 개체 틀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fld id="{C753D822-DF5B-4203-821F-E37D763E2E34}" type="slidenum">
              <a:rPr lang="ko-KR" altLang="en-US" sz="1200" b="0">
                <a:solidFill>
                  <a:schemeClr val="tx1"/>
                </a:solidFill>
              </a:rPr>
              <a:pPr/>
              <a:t>34</a:t>
            </a:fld>
            <a:endParaRPr lang="en-US" altLang="ko-KR" sz="1200" b="0" dirty="0">
              <a:solidFill>
                <a:schemeClr val="tx1"/>
              </a:solidFill>
            </a:endParaRPr>
          </a:p>
        </p:txBody>
      </p:sp>
      <p:sp>
        <p:nvSpPr>
          <p:cNvPr id="15365" name="Rectangle 2"/>
          <p:cNvSpPr>
            <a:spLocks noChangeArrowheads="1"/>
          </p:cNvSpPr>
          <p:nvPr/>
        </p:nvSpPr>
        <p:spPr bwMode="auto">
          <a:xfrm>
            <a:off x="7620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>
              <a:ea typeface="굴림" panose="020B0600000101010101" pitchFamily="50" charset="-127"/>
            </a:endParaRPr>
          </a:p>
        </p:txBody>
      </p:sp>
      <p:sp>
        <p:nvSpPr>
          <p:cNvPr id="15366" name="Rectangle 3"/>
          <p:cNvSpPr>
            <a:spLocks noChangeArrowheads="1"/>
          </p:cNvSpPr>
          <p:nvPr/>
        </p:nvSpPr>
        <p:spPr bwMode="auto">
          <a:xfrm>
            <a:off x="32766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>
              <a:ea typeface="굴림" panose="020B0600000101010101" pitchFamily="50" charset="-127"/>
            </a:endParaRPr>
          </a:p>
        </p:txBody>
      </p:sp>
      <p:sp>
        <p:nvSpPr>
          <p:cNvPr id="15367" name="Rectangle 6"/>
          <p:cNvSpPr>
            <a:spLocks noGrp="1" noChangeArrowheads="1"/>
          </p:cNvSpPr>
          <p:nvPr>
            <p:ph type="title"/>
          </p:nvPr>
        </p:nvSpPr>
        <p:spPr>
          <a:xfrm>
            <a:off x="619433" y="0"/>
            <a:ext cx="8049906" cy="1143000"/>
          </a:xfrm>
        </p:spPr>
        <p:txBody>
          <a:bodyPr/>
          <a:lstStyle/>
          <a:p>
            <a:pPr eaLnBrk="1" hangingPunct="1"/>
            <a:r>
              <a:rPr lang="ko-KR" altLang="en-US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회피행위모형을 이용한 건강편익의 추정</a:t>
            </a:r>
            <a:endParaRPr lang="ko-KR" altLang="en-US" dirty="0">
              <a:solidFill>
                <a:srgbClr val="0070C0"/>
              </a:solidFill>
              <a:latin typeface="나눔명조" pitchFamily="18" charset="-127"/>
              <a:ea typeface="나눔명조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306325804"/>
      </p:ext>
    </p:extLst>
  </p:cSld>
  <p:clrMapOvr>
    <a:masterClrMapping/>
  </p:clrMapOvr>
  <p:transition spd="med">
    <p:wipe dir="r"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9"/>
          <p:cNvSpPr>
            <a:spLocks noGrp="1" noChangeArrowheads="1"/>
          </p:cNvSpPr>
          <p:nvPr>
            <p:ph idx="1"/>
          </p:nvPr>
        </p:nvSpPr>
        <p:spPr>
          <a:xfrm>
            <a:off x="776547" y="1248649"/>
            <a:ext cx="8000449" cy="4654517"/>
          </a:xfrm>
        </p:spPr>
        <p:txBody>
          <a:bodyPr/>
          <a:lstStyle/>
          <a:p>
            <a:pPr eaLnBrk="1" hangingPunct="1"/>
            <a:r>
              <a:rPr lang="ko-KR" altLang="en-US" sz="26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회피행위모형을 통해 환경개선의 편익을 추정하는 대표적 사례는 환경개선에 따른 건강피해의 감소 정도를 분석하는 것임</a:t>
            </a:r>
          </a:p>
          <a:p>
            <a:pPr lvl="1" eaLnBrk="1" hangingPunct="1"/>
            <a:r>
              <a:rPr lang="ko-KR" altLang="en-US" sz="20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연간 호흡기 질환을 앓는 일수</a:t>
            </a:r>
            <a:r>
              <a:rPr lang="en-US" altLang="ko-KR" sz="20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: S</a:t>
            </a:r>
          </a:p>
          <a:p>
            <a:pPr lvl="1" eaLnBrk="1" hangingPunct="1"/>
            <a:r>
              <a:rPr lang="ko-KR" altLang="en-US" sz="20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전체 </a:t>
            </a:r>
            <a:r>
              <a:rPr lang="ko-KR" altLang="en-US" sz="2000" dirty="0" err="1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대기질</a:t>
            </a:r>
            <a:r>
              <a:rPr lang="en-US" altLang="ko-KR" sz="20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: Q</a:t>
            </a:r>
          </a:p>
          <a:p>
            <a:pPr lvl="1" eaLnBrk="1" hangingPunct="1"/>
            <a:r>
              <a:rPr lang="ko-KR" altLang="en-US" sz="20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회피행위 정도</a:t>
            </a:r>
            <a:r>
              <a:rPr lang="en-US" altLang="ko-KR" sz="20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: x</a:t>
            </a:r>
          </a:p>
          <a:p>
            <a:pPr lvl="1" eaLnBrk="1" hangingPunct="1"/>
            <a:r>
              <a:rPr lang="ko-KR" altLang="en-US" sz="20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개인이 가장 건강한 상태</a:t>
            </a:r>
            <a:r>
              <a:rPr lang="en-US" altLang="ko-KR" sz="20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: </a:t>
            </a:r>
          </a:p>
          <a:p>
            <a:pPr lvl="1" eaLnBrk="1" hangingPunct="1"/>
            <a:r>
              <a:rPr lang="ko-KR" altLang="en-US" sz="20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개인의 만족도에 영향을 주는 건강상태</a:t>
            </a:r>
            <a:r>
              <a:rPr lang="en-US" altLang="ko-KR" sz="20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: </a:t>
            </a:r>
          </a:p>
          <a:p>
            <a:pPr lvl="1" eaLnBrk="1" hangingPunct="1">
              <a:buNone/>
            </a:pPr>
            <a:r>
              <a:rPr lang="en-US" altLang="ko-KR" sz="20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    (S</a:t>
            </a:r>
            <a:r>
              <a:rPr lang="ko-KR" altLang="en-US" sz="20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는 </a:t>
            </a:r>
            <a:r>
              <a:rPr lang="en-US" altLang="ko-KR" sz="20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x</a:t>
            </a:r>
            <a:r>
              <a:rPr lang="ko-KR" altLang="en-US" sz="20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와 </a:t>
            </a:r>
            <a:r>
              <a:rPr lang="en-US" altLang="ko-KR" sz="20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Q</a:t>
            </a:r>
            <a:r>
              <a:rPr lang="ko-KR" altLang="en-US" sz="20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가 커질수록 감소함</a:t>
            </a:r>
            <a:r>
              <a:rPr lang="en-US" altLang="ko-KR" sz="20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)</a:t>
            </a:r>
          </a:p>
          <a:p>
            <a:pPr eaLnBrk="1" hangingPunct="1"/>
            <a:r>
              <a:rPr lang="ko-KR" altLang="en-US" sz="26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이렇게 건강도를 오염도 및 회피행위의 함수로 표현한 것은 가계생산함수</a:t>
            </a:r>
            <a:r>
              <a:rPr lang="en-US" altLang="ko-KR" sz="26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(HPF)</a:t>
            </a:r>
            <a:r>
              <a:rPr lang="ko-KR" altLang="en-US" sz="26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의 일종이며  </a:t>
            </a:r>
            <a:r>
              <a:rPr lang="ko-KR" altLang="en-US" sz="2600" b="1" dirty="0">
                <a:solidFill>
                  <a:srgbClr val="0000FF"/>
                </a:solidFill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건강생산함수</a:t>
            </a:r>
            <a:r>
              <a:rPr lang="ko-KR" altLang="en-US" sz="26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라 부름</a:t>
            </a:r>
            <a:endParaRPr lang="en-US" altLang="ko-KR" sz="2600" baseline="-25000" dirty="0">
              <a:latin typeface="Times New Roman" pitchFamily="18" charset="0"/>
              <a:ea typeface="나눔명조" pitchFamily="18" charset="-127"/>
              <a:cs typeface="Times New Roman" pitchFamily="18" charset="0"/>
            </a:endParaRPr>
          </a:p>
        </p:txBody>
      </p:sp>
      <p:sp>
        <p:nvSpPr>
          <p:cNvPr id="15363" name="바닥글 개체 틀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r>
              <a:rPr lang="ko-KR" altLang="en-US" sz="1200" b="0" dirty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Chapter </a:t>
            </a:r>
            <a:r>
              <a:rPr lang="en-US" altLang="ko-KR" sz="1200" b="0" dirty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15</a:t>
            </a:r>
          </a:p>
        </p:txBody>
      </p:sp>
      <p:sp>
        <p:nvSpPr>
          <p:cNvPr id="15364" name="슬라이드 번호 개체 틀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fld id="{C753D822-DF5B-4203-821F-E37D763E2E34}" type="slidenum">
              <a:rPr lang="ko-KR" altLang="en-US" sz="1200" b="0">
                <a:solidFill>
                  <a:schemeClr val="tx1"/>
                </a:solidFill>
              </a:rPr>
              <a:pPr/>
              <a:t>35</a:t>
            </a:fld>
            <a:endParaRPr lang="en-US" altLang="ko-KR" sz="1200" b="0" dirty="0">
              <a:solidFill>
                <a:schemeClr val="tx1"/>
              </a:solidFill>
            </a:endParaRPr>
          </a:p>
        </p:txBody>
      </p:sp>
      <p:sp>
        <p:nvSpPr>
          <p:cNvPr id="15365" name="Rectangle 2"/>
          <p:cNvSpPr>
            <a:spLocks noChangeArrowheads="1"/>
          </p:cNvSpPr>
          <p:nvPr/>
        </p:nvSpPr>
        <p:spPr bwMode="auto">
          <a:xfrm>
            <a:off x="7620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>
              <a:ea typeface="굴림" panose="020B0600000101010101" pitchFamily="50" charset="-127"/>
            </a:endParaRPr>
          </a:p>
        </p:txBody>
      </p:sp>
      <p:sp>
        <p:nvSpPr>
          <p:cNvPr id="15366" name="Rectangle 3"/>
          <p:cNvSpPr>
            <a:spLocks noChangeArrowheads="1"/>
          </p:cNvSpPr>
          <p:nvPr/>
        </p:nvSpPr>
        <p:spPr bwMode="auto">
          <a:xfrm>
            <a:off x="32766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>
              <a:ea typeface="굴림" panose="020B0600000101010101" pitchFamily="50" charset="-127"/>
            </a:endParaRPr>
          </a:p>
        </p:txBody>
      </p:sp>
      <p:sp>
        <p:nvSpPr>
          <p:cNvPr id="15367" name="Rectangle 6"/>
          <p:cNvSpPr>
            <a:spLocks noGrp="1" noChangeArrowheads="1"/>
          </p:cNvSpPr>
          <p:nvPr>
            <p:ph type="title"/>
          </p:nvPr>
        </p:nvSpPr>
        <p:spPr>
          <a:xfrm>
            <a:off x="1355725" y="0"/>
            <a:ext cx="7313613" cy="1143000"/>
          </a:xfrm>
        </p:spPr>
        <p:txBody>
          <a:bodyPr/>
          <a:lstStyle/>
          <a:p>
            <a:pPr eaLnBrk="1" hangingPunct="1"/>
            <a:r>
              <a:rPr lang="ko-KR" altLang="en-US" dirty="0" err="1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환경질</a:t>
            </a:r>
            <a:r>
              <a:rPr lang="ko-KR" altLang="en-US" dirty="0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 변화의 한계편익</a:t>
            </a:r>
          </a:p>
        </p:txBody>
      </p:sp>
      <p:graphicFrame>
        <p:nvGraphicFramePr>
          <p:cNvPr id="3" name="Object 13">
            <a:hlinkClick r:id="" action="ppaction://ole?verb=0"/>
          </p:cNvPr>
          <p:cNvGraphicFramePr>
            <a:graphicFrameLocks/>
          </p:cNvGraphicFramePr>
          <p:nvPr/>
        </p:nvGraphicFramePr>
        <p:xfrm>
          <a:off x="4632723" y="4070692"/>
          <a:ext cx="384175" cy="33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80" name="수식" r:id="rId4" imgW="177480" imgH="203040" progId="Equation.3">
                  <p:embed/>
                </p:oleObj>
              </mc:Choice>
              <mc:Fallback>
                <p:oleObj name="수식" r:id="rId4" imgW="177480" imgH="203040" progId="Equation.3">
                  <p:embed/>
                  <p:pic>
                    <p:nvPicPr>
                      <p:cNvPr id="0" name="Object 13"/>
                      <p:cNvPicPr>
                        <a:picLocks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32723" y="4070692"/>
                        <a:ext cx="384175" cy="330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CCCC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Object 13">
            <a:hlinkClick r:id="" action="ppaction://ole?verb=0"/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201156367"/>
              </p:ext>
            </p:extLst>
          </p:nvPr>
        </p:nvGraphicFramePr>
        <p:xfrm>
          <a:off x="6080657" y="3999402"/>
          <a:ext cx="1646238" cy="392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81" name="수식" r:id="rId6" imgW="761760" imgH="241200" progId="Equation.3">
                  <p:embed/>
                </p:oleObj>
              </mc:Choice>
              <mc:Fallback>
                <p:oleObj name="수식" r:id="rId6" imgW="761760" imgH="241200" progId="Equation.3">
                  <p:embed/>
                  <p:pic>
                    <p:nvPicPr>
                      <p:cNvPr id="0" name="Picture 3"/>
                      <p:cNvPicPr>
                        <a:picLocks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80657" y="3999402"/>
                        <a:ext cx="1646238" cy="3921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CCCC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306325804"/>
      </p:ext>
    </p:extLst>
  </p:cSld>
  <p:clrMapOvr>
    <a:masterClrMapping/>
  </p:clrMapOvr>
  <p:transition spd="med">
    <p:wipe dir="r"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9"/>
          <p:cNvSpPr>
            <a:spLocks noGrp="1" noChangeArrowheads="1"/>
          </p:cNvSpPr>
          <p:nvPr>
            <p:ph idx="1"/>
          </p:nvPr>
        </p:nvSpPr>
        <p:spPr>
          <a:xfrm>
            <a:off x="900113" y="1671638"/>
            <a:ext cx="7737475" cy="4114800"/>
          </a:xfrm>
        </p:spPr>
        <p:txBody>
          <a:bodyPr/>
          <a:lstStyle/>
          <a:p>
            <a:pPr eaLnBrk="1" hangingPunct="1"/>
            <a:r>
              <a:rPr lang="ko-KR" altLang="en-US" sz="26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개인은 예방조치인 </a:t>
            </a:r>
            <a:r>
              <a:rPr lang="en-US" altLang="ko-KR" sz="26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x</a:t>
            </a:r>
            <a:r>
              <a:rPr lang="ko-KR" altLang="en-US" sz="26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뿐만 아니라 사후 치료를 위한 </a:t>
            </a:r>
            <a:r>
              <a:rPr lang="en-US" altLang="ko-KR" sz="26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M</a:t>
            </a:r>
            <a:r>
              <a:rPr lang="ko-KR" altLang="en-US" sz="26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을 선택할 수 있음</a:t>
            </a:r>
            <a:endParaRPr lang="en-US" altLang="ko-KR" sz="2600" dirty="0">
              <a:latin typeface="Times New Roman" pitchFamily="18" charset="0"/>
              <a:ea typeface="나눔명조" pitchFamily="18" charset="-127"/>
              <a:cs typeface="Times New Roman" pitchFamily="18" charset="0"/>
            </a:endParaRPr>
          </a:p>
          <a:p>
            <a:pPr lvl="1" eaLnBrk="1" hangingPunct="1"/>
            <a:r>
              <a:rPr lang="ko-KR" altLang="en-US" sz="22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치료행위 </a:t>
            </a:r>
            <a:r>
              <a:rPr lang="en-US" altLang="ko-KR" sz="22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M</a:t>
            </a:r>
            <a:r>
              <a:rPr lang="ko-KR" altLang="en-US" sz="22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은 </a:t>
            </a:r>
            <a:r>
              <a:rPr lang="en-US" altLang="ko-KR" sz="22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S</a:t>
            </a:r>
            <a:r>
              <a:rPr lang="ko-KR" altLang="en-US" sz="22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에 의해 결정되므로 </a:t>
            </a:r>
            <a:r>
              <a:rPr lang="en-US" altLang="ko-KR" sz="22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M = M(S(x, Q))</a:t>
            </a:r>
          </a:p>
          <a:p>
            <a:pPr eaLnBrk="1" hangingPunct="1"/>
            <a:r>
              <a:rPr lang="ko-KR" altLang="en-US" sz="26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건강생산함수를 인식하는 개인은 만족도를 극대화하는 </a:t>
            </a:r>
            <a:r>
              <a:rPr lang="ko-KR" altLang="en-US" sz="2600" dirty="0" err="1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시장재</a:t>
            </a:r>
            <a:r>
              <a:rPr lang="ko-KR" altLang="en-US" sz="26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 소비량과 회피행위를 선택함</a:t>
            </a:r>
            <a:endParaRPr lang="en-US" altLang="ko-KR" sz="2600" dirty="0">
              <a:latin typeface="Times New Roman" pitchFamily="18" charset="0"/>
              <a:ea typeface="나눔명조" pitchFamily="18" charset="-127"/>
              <a:cs typeface="Times New Roman" pitchFamily="18" charset="0"/>
            </a:endParaRPr>
          </a:p>
          <a:p>
            <a:pPr eaLnBrk="1" hangingPunct="1"/>
            <a:r>
              <a:rPr lang="ko-KR" altLang="en-US" sz="26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이러한 개인의 선택행위는 전체 </a:t>
            </a:r>
            <a:r>
              <a:rPr lang="ko-KR" altLang="en-US" sz="2600" dirty="0" err="1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환경질</a:t>
            </a:r>
            <a:r>
              <a:rPr lang="ko-KR" altLang="en-US" sz="26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 </a:t>
            </a:r>
            <a:r>
              <a:rPr lang="en-US" altLang="ko-KR" sz="26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Q</a:t>
            </a:r>
            <a:r>
              <a:rPr lang="ko-KR" altLang="en-US" sz="26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가 변하면 바뀌게 됨</a:t>
            </a:r>
            <a:endParaRPr lang="en-US" altLang="ko-KR" sz="2600" dirty="0">
              <a:latin typeface="Times New Roman" pitchFamily="18" charset="0"/>
              <a:ea typeface="나눔명조" pitchFamily="18" charset="-127"/>
              <a:cs typeface="Times New Roman" pitchFamily="18" charset="0"/>
            </a:endParaRPr>
          </a:p>
          <a:p>
            <a:pPr eaLnBrk="1" hangingPunct="1"/>
            <a:endParaRPr lang="en-US" altLang="ko-KR" sz="2200" baseline="-25000" dirty="0">
              <a:latin typeface="Times New Roman" pitchFamily="18" charset="0"/>
              <a:ea typeface="나눔명조" pitchFamily="18" charset="-127"/>
              <a:cs typeface="Times New Roman" pitchFamily="18" charset="0"/>
            </a:endParaRPr>
          </a:p>
        </p:txBody>
      </p:sp>
      <p:sp>
        <p:nvSpPr>
          <p:cNvPr id="15363" name="바닥글 개체 틀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r>
              <a:rPr lang="ko-KR" altLang="en-US" sz="1200" b="0" dirty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Chapter </a:t>
            </a:r>
            <a:r>
              <a:rPr lang="en-US" altLang="ko-KR" sz="1200" b="0" dirty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15</a:t>
            </a:r>
          </a:p>
        </p:txBody>
      </p:sp>
      <p:sp>
        <p:nvSpPr>
          <p:cNvPr id="15364" name="슬라이드 번호 개체 틀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fld id="{C753D822-DF5B-4203-821F-E37D763E2E34}" type="slidenum">
              <a:rPr lang="ko-KR" altLang="en-US" sz="1200" b="0">
                <a:solidFill>
                  <a:schemeClr val="tx1"/>
                </a:solidFill>
              </a:rPr>
              <a:pPr/>
              <a:t>36</a:t>
            </a:fld>
            <a:endParaRPr lang="en-US" altLang="ko-KR" sz="1200" b="0" dirty="0">
              <a:solidFill>
                <a:schemeClr val="tx1"/>
              </a:solidFill>
            </a:endParaRPr>
          </a:p>
        </p:txBody>
      </p:sp>
      <p:sp>
        <p:nvSpPr>
          <p:cNvPr id="15365" name="Rectangle 2"/>
          <p:cNvSpPr>
            <a:spLocks noChangeArrowheads="1"/>
          </p:cNvSpPr>
          <p:nvPr/>
        </p:nvSpPr>
        <p:spPr bwMode="auto">
          <a:xfrm>
            <a:off x="7620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>
              <a:ea typeface="굴림" panose="020B0600000101010101" pitchFamily="50" charset="-127"/>
            </a:endParaRPr>
          </a:p>
        </p:txBody>
      </p:sp>
      <p:sp>
        <p:nvSpPr>
          <p:cNvPr id="15366" name="Rectangle 3"/>
          <p:cNvSpPr>
            <a:spLocks noChangeArrowheads="1"/>
          </p:cNvSpPr>
          <p:nvPr/>
        </p:nvSpPr>
        <p:spPr bwMode="auto">
          <a:xfrm>
            <a:off x="32766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>
              <a:ea typeface="굴림" panose="020B0600000101010101" pitchFamily="50" charset="-127"/>
            </a:endParaRPr>
          </a:p>
        </p:txBody>
      </p:sp>
      <p:sp>
        <p:nvSpPr>
          <p:cNvPr id="15367" name="Rectangle 6"/>
          <p:cNvSpPr>
            <a:spLocks noGrp="1" noChangeArrowheads="1"/>
          </p:cNvSpPr>
          <p:nvPr>
            <p:ph type="title"/>
          </p:nvPr>
        </p:nvSpPr>
        <p:spPr>
          <a:xfrm>
            <a:off x="1355725" y="0"/>
            <a:ext cx="7313613" cy="1143000"/>
          </a:xfrm>
        </p:spPr>
        <p:txBody>
          <a:bodyPr/>
          <a:lstStyle/>
          <a:p>
            <a:pPr eaLnBrk="1" hangingPunct="1"/>
            <a:r>
              <a:rPr lang="ko-KR" altLang="en-US" dirty="0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건강생산함수를 통한 편익추정</a:t>
            </a:r>
          </a:p>
        </p:txBody>
      </p:sp>
    </p:spTree>
    <p:extLst>
      <p:ext uri="{BB962C8B-B14F-4D97-AF65-F5344CB8AC3E}">
        <p14:creationId xmlns:p14="http://schemas.microsoft.com/office/powerpoint/2010/main" val="936788472"/>
      </p:ext>
    </p:extLst>
  </p:cSld>
  <p:clrMapOvr>
    <a:masterClrMapping/>
  </p:clrMapOvr>
  <p:transition spd="med">
    <p:wipe dir="r"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9"/>
          <p:cNvSpPr>
            <a:spLocks noGrp="1" noChangeArrowheads="1"/>
          </p:cNvSpPr>
          <p:nvPr>
            <p:ph idx="1"/>
          </p:nvPr>
        </p:nvSpPr>
        <p:spPr>
          <a:xfrm>
            <a:off x="900113" y="1446555"/>
            <a:ext cx="7737475" cy="4114800"/>
          </a:xfrm>
        </p:spPr>
        <p:txBody>
          <a:bodyPr/>
          <a:lstStyle/>
          <a:p>
            <a:pPr eaLnBrk="1" hangingPunct="1"/>
            <a:r>
              <a:rPr lang="ko-KR" altLang="en-US" sz="24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전체 </a:t>
            </a:r>
            <a:r>
              <a:rPr lang="ko-KR" altLang="en-US" sz="2400" dirty="0" err="1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대기질</a:t>
            </a:r>
            <a:r>
              <a:rPr lang="ko-KR" altLang="en-US" sz="24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 </a:t>
            </a:r>
            <a:r>
              <a:rPr lang="en-US" altLang="ko-KR" sz="24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Q</a:t>
            </a:r>
            <a:r>
              <a:rPr lang="ko-KR" altLang="en-US" sz="24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가 한 단위 변화했을 때의 후생효과를 환산하기 위해 다음 </a:t>
            </a:r>
            <a:r>
              <a:rPr lang="en-US" altLang="ko-KR" sz="24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4</a:t>
            </a:r>
            <a:r>
              <a:rPr lang="ko-KR" altLang="en-US" sz="24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가지를 고려할 수 있음</a:t>
            </a:r>
            <a:endParaRPr lang="en-US" altLang="ko-KR" sz="2400" dirty="0">
              <a:latin typeface="Times New Roman" pitchFamily="18" charset="0"/>
              <a:ea typeface="나눔명조" pitchFamily="18" charset="-127"/>
              <a:cs typeface="Times New Roman" pitchFamily="18" charset="0"/>
            </a:endParaRPr>
          </a:p>
          <a:p>
            <a:pPr lvl="1" eaLnBrk="1" hangingPunct="1"/>
            <a:r>
              <a:rPr lang="ko-KR" altLang="en-US" sz="20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병원비</a:t>
            </a:r>
            <a:r>
              <a:rPr lang="en-US" altLang="ko-KR" sz="20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, </a:t>
            </a:r>
            <a:r>
              <a:rPr lang="ko-KR" altLang="en-US" sz="20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약값</a:t>
            </a:r>
            <a:r>
              <a:rPr lang="en-US" altLang="ko-KR" sz="20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, </a:t>
            </a:r>
            <a:r>
              <a:rPr lang="ko-KR" altLang="en-US" sz="20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병원방문의 시간비용 등 치료비용</a:t>
            </a:r>
            <a:endParaRPr lang="en-US" altLang="ko-KR" sz="2000" dirty="0">
              <a:latin typeface="Times New Roman" pitchFamily="18" charset="0"/>
              <a:ea typeface="나눔명조" pitchFamily="18" charset="-127"/>
              <a:cs typeface="Times New Roman" pitchFamily="18" charset="0"/>
            </a:endParaRPr>
          </a:p>
          <a:p>
            <a:pPr lvl="1" eaLnBrk="1" hangingPunct="1"/>
            <a:r>
              <a:rPr lang="ko-KR" altLang="en-US" sz="2000" dirty="0">
                <a:solidFill>
                  <a:srgbClr val="0000FF"/>
                </a:solidFill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오염에 노출되지 않기 위해 지불하였던 회피행위비용</a:t>
            </a:r>
            <a:endParaRPr lang="en-US" altLang="ko-KR" sz="2000" dirty="0">
              <a:solidFill>
                <a:srgbClr val="0000FF"/>
              </a:solidFill>
              <a:latin typeface="Times New Roman" pitchFamily="18" charset="0"/>
              <a:ea typeface="나눔명조" pitchFamily="18" charset="-127"/>
              <a:cs typeface="Times New Roman" pitchFamily="18" charset="0"/>
            </a:endParaRPr>
          </a:p>
          <a:p>
            <a:pPr lvl="1" eaLnBrk="1" hangingPunct="1"/>
            <a:r>
              <a:rPr lang="ko-KR" altLang="en-US" sz="20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앓는 동안 일을 하지 못했다면 이로 인한 소득손실</a:t>
            </a:r>
            <a:endParaRPr lang="en-US" altLang="ko-KR" sz="2000" dirty="0">
              <a:latin typeface="Times New Roman" pitchFamily="18" charset="0"/>
              <a:ea typeface="나눔명조" pitchFamily="18" charset="-127"/>
              <a:cs typeface="Times New Roman" pitchFamily="18" charset="0"/>
            </a:endParaRPr>
          </a:p>
          <a:p>
            <a:pPr lvl="1" eaLnBrk="1" hangingPunct="1"/>
            <a:r>
              <a:rPr lang="ko-KR" altLang="en-US" sz="20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질병자체의 고통</a:t>
            </a:r>
            <a:r>
              <a:rPr lang="en-US" altLang="ko-KR" sz="20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,</a:t>
            </a:r>
            <a:r>
              <a:rPr lang="ko-KR" altLang="en-US" sz="20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 여가를 즐기지 못해 발생하는 손실 </a:t>
            </a:r>
            <a:endParaRPr lang="en-US" altLang="ko-KR" sz="2000" dirty="0">
              <a:latin typeface="Times New Roman" pitchFamily="18" charset="0"/>
              <a:ea typeface="나눔명조" pitchFamily="18" charset="-127"/>
              <a:cs typeface="Times New Roman" pitchFamily="18" charset="0"/>
            </a:endParaRPr>
          </a:p>
          <a:p>
            <a:pPr eaLnBrk="1" hangingPunct="1"/>
            <a:r>
              <a:rPr lang="ko-KR" altLang="en-US" sz="24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그러나</a:t>
            </a:r>
            <a:r>
              <a:rPr lang="en-US" altLang="ko-KR" sz="24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, </a:t>
            </a:r>
            <a:r>
              <a:rPr lang="ko-KR" altLang="en-US" sz="24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회피행위비용은 소비자가 스스로 선택하는 것으로 </a:t>
            </a:r>
            <a:r>
              <a:rPr lang="ko-KR" altLang="en-US" sz="2400" dirty="0" err="1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외생변수가</a:t>
            </a:r>
            <a:r>
              <a:rPr lang="ko-KR" altLang="en-US" sz="24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 아니므로 후생 변화의 요소로 포함하지 않아도 됨</a:t>
            </a:r>
            <a:endParaRPr lang="en-US" altLang="ko-KR" sz="2400" dirty="0">
              <a:latin typeface="Times New Roman" pitchFamily="18" charset="0"/>
              <a:ea typeface="나눔명조" pitchFamily="18" charset="-127"/>
              <a:cs typeface="Times New Roman" pitchFamily="18" charset="0"/>
            </a:endParaRPr>
          </a:p>
          <a:p>
            <a:pPr lvl="1" eaLnBrk="1" hangingPunct="1"/>
            <a:r>
              <a:rPr lang="ko-KR" altLang="en-US" sz="20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전체 환경질의 변화는 회피비용도 바꾸지만</a:t>
            </a:r>
            <a:r>
              <a:rPr lang="en-US" altLang="ko-KR" sz="20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,</a:t>
            </a:r>
            <a:r>
              <a:rPr lang="ko-KR" altLang="en-US" sz="20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 소비자는 한 단위 회피행위 비용지출액이 그로 인한 질병감소에 따른 편익과 일치되도록 선택하기 때문에 회피행위 비용지출액은 질병감소 편익에 의해 상쇄됨</a:t>
            </a:r>
            <a:endParaRPr lang="en-US" altLang="ko-KR" sz="2000" baseline="-25000" dirty="0">
              <a:latin typeface="Times New Roman" pitchFamily="18" charset="0"/>
              <a:ea typeface="나눔명조" pitchFamily="18" charset="-127"/>
              <a:cs typeface="Times New Roman" pitchFamily="18" charset="0"/>
            </a:endParaRPr>
          </a:p>
        </p:txBody>
      </p:sp>
      <p:sp>
        <p:nvSpPr>
          <p:cNvPr id="15363" name="바닥글 개체 틀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r>
              <a:rPr lang="ko-KR" altLang="en-US" sz="1200" b="0" dirty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Chapter </a:t>
            </a:r>
            <a:r>
              <a:rPr lang="en-US" altLang="ko-KR" sz="1200" b="0" dirty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15</a:t>
            </a:r>
          </a:p>
        </p:txBody>
      </p:sp>
      <p:sp>
        <p:nvSpPr>
          <p:cNvPr id="15364" name="슬라이드 번호 개체 틀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fld id="{C753D822-DF5B-4203-821F-E37D763E2E34}" type="slidenum">
              <a:rPr lang="ko-KR" altLang="en-US" sz="1200" b="0">
                <a:solidFill>
                  <a:schemeClr val="tx1"/>
                </a:solidFill>
              </a:rPr>
              <a:pPr/>
              <a:t>37</a:t>
            </a:fld>
            <a:endParaRPr lang="en-US" altLang="ko-KR" sz="1200" b="0" dirty="0">
              <a:solidFill>
                <a:schemeClr val="tx1"/>
              </a:solidFill>
            </a:endParaRPr>
          </a:p>
        </p:txBody>
      </p:sp>
      <p:sp>
        <p:nvSpPr>
          <p:cNvPr id="15365" name="Rectangle 2"/>
          <p:cNvSpPr>
            <a:spLocks noChangeArrowheads="1"/>
          </p:cNvSpPr>
          <p:nvPr/>
        </p:nvSpPr>
        <p:spPr bwMode="auto">
          <a:xfrm>
            <a:off x="7620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>
              <a:ea typeface="굴림" panose="020B0600000101010101" pitchFamily="50" charset="-127"/>
            </a:endParaRPr>
          </a:p>
        </p:txBody>
      </p:sp>
      <p:sp>
        <p:nvSpPr>
          <p:cNvPr id="15366" name="Rectangle 3"/>
          <p:cNvSpPr>
            <a:spLocks noChangeArrowheads="1"/>
          </p:cNvSpPr>
          <p:nvPr/>
        </p:nvSpPr>
        <p:spPr bwMode="auto">
          <a:xfrm>
            <a:off x="32766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>
              <a:ea typeface="굴림" panose="020B0600000101010101" pitchFamily="50" charset="-127"/>
            </a:endParaRPr>
          </a:p>
        </p:txBody>
      </p:sp>
      <p:sp>
        <p:nvSpPr>
          <p:cNvPr id="15367" name="Rectangle 6"/>
          <p:cNvSpPr>
            <a:spLocks noGrp="1" noChangeArrowheads="1"/>
          </p:cNvSpPr>
          <p:nvPr>
            <p:ph type="title"/>
          </p:nvPr>
        </p:nvSpPr>
        <p:spPr>
          <a:xfrm>
            <a:off x="1355725" y="0"/>
            <a:ext cx="7313613" cy="1143000"/>
          </a:xfrm>
        </p:spPr>
        <p:txBody>
          <a:bodyPr/>
          <a:lstStyle/>
          <a:p>
            <a:pPr eaLnBrk="1" hangingPunct="1"/>
            <a:r>
              <a:rPr lang="ko-KR" altLang="en-US" dirty="0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건강생산함수를 통한 편익추정</a:t>
            </a:r>
          </a:p>
        </p:txBody>
      </p:sp>
    </p:spTree>
    <p:extLst>
      <p:ext uri="{BB962C8B-B14F-4D97-AF65-F5344CB8AC3E}">
        <p14:creationId xmlns:p14="http://schemas.microsoft.com/office/powerpoint/2010/main" val="1041467602"/>
      </p:ext>
    </p:extLst>
  </p:cSld>
  <p:clrMapOvr>
    <a:masterClrMapping/>
  </p:clrMapOvr>
  <p:transition spd="med">
    <p:wipe dir="r"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9"/>
          <p:cNvSpPr>
            <a:spLocks noGrp="1" noChangeArrowheads="1"/>
          </p:cNvSpPr>
          <p:nvPr>
            <p:ph idx="1"/>
          </p:nvPr>
        </p:nvSpPr>
        <p:spPr>
          <a:xfrm>
            <a:off x="886045" y="1587232"/>
            <a:ext cx="7737475" cy="4114800"/>
          </a:xfrm>
        </p:spPr>
        <p:txBody>
          <a:bodyPr/>
          <a:lstStyle/>
          <a:p>
            <a:pPr eaLnBrk="1" hangingPunct="1"/>
            <a:r>
              <a:rPr lang="ko-KR" altLang="en-US" sz="24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따라서 대기질의 한계적 개선의 편익은 치료비 감소액</a:t>
            </a:r>
            <a:r>
              <a:rPr lang="en-US" altLang="ko-KR" sz="24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, </a:t>
            </a:r>
            <a:r>
              <a:rPr lang="ko-KR" altLang="en-US" sz="24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노동손실 감소액</a:t>
            </a:r>
            <a:r>
              <a:rPr lang="en-US" altLang="ko-KR" sz="24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, </a:t>
            </a:r>
            <a:r>
              <a:rPr lang="ko-KR" altLang="en-US" sz="24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그리고 질병 자체의 고통 및 여가의 감소를 </a:t>
            </a:r>
            <a:r>
              <a:rPr lang="ko-KR" altLang="en-US" sz="2400" dirty="0" err="1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화폐액으로</a:t>
            </a:r>
            <a:r>
              <a:rPr lang="ko-KR" altLang="en-US" sz="24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 환산하여 합산하면 됨</a:t>
            </a:r>
          </a:p>
          <a:p>
            <a:pPr lvl="1" eaLnBrk="1" hangingPunct="1"/>
            <a:r>
              <a:rPr lang="ko-KR" altLang="en-US" sz="20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이 중 질병자체가 주는 고통</a:t>
            </a:r>
            <a:r>
              <a:rPr lang="en-US" altLang="ko-KR" sz="20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, </a:t>
            </a:r>
            <a:r>
              <a:rPr lang="ko-KR" altLang="en-US" sz="20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여가를 즐기지 못해 발생하는 손실은 경제적 가치로 환산하기 어려움</a:t>
            </a:r>
            <a:endParaRPr lang="ko-KR" altLang="en-US" sz="2400" dirty="0">
              <a:latin typeface="Times New Roman" pitchFamily="18" charset="0"/>
              <a:ea typeface="나눔명조" pitchFamily="18" charset="-127"/>
              <a:cs typeface="Times New Roman" pitchFamily="18" charset="0"/>
            </a:endParaRPr>
          </a:p>
          <a:p>
            <a:pPr eaLnBrk="1" hangingPunct="1"/>
            <a:r>
              <a:rPr lang="ko-KR" altLang="en-US" sz="24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건강생산함수를 </a:t>
            </a:r>
            <a:r>
              <a:rPr lang="ko-KR" altLang="en-US" sz="2400" dirty="0" err="1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대기질</a:t>
            </a:r>
            <a:r>
              <a:rPr lang="ko-KR" altLang="en-US" sz="24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 </a:t>
            </a:r>
            <a:r>
              <a:rPr lang="en-US" altLang="ko-KR" sz="24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Q</a:t>
            </a:r>
            <a:r>
              <a:rPr lang="ko-KR" altLang="en-US" sz="24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와 회피행위 </a:t>
            </a:r>
            <a:r>
              <a:rPr lang="en-US" altLang="ko-KR" sz="24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x</a:t>
            </a:r>
            <a:r>
              <a:rPr lang="ko-KR" altLang="en-US" sz="24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의 함수로 추정하면 세 가지 효과를 동시에 파악할 수 있음</a:t>
            </a:r>
            <a:endParaRPr lang="en-US" altLang="ko-KR" sz="2400" dirty="0">
              <a:latin typeface="Times New Roman" pitchFamily="18" charset="0"/>
              <a:ea typeface="나눔명조" pitchFamily="18" charset="-127"/>
              <a:cs typeface="Times New Roman" pitchFamily="18" charset="0"/>
            </a:endParaRPr>
          </a:p>
          <a:p>
            <a:pPr lvl="1" eaLnBrk="1" hangingPunct="1"/>
            <a:r>
              <a:rPr lang="ko-KR" altLang="en-US" sz="2000" dirty="0" err="1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개인은</a:t>
            </a:r>
            <a:r>
              <a:rPr lang="ko-KR" altLang="en-US" sz="20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 </a:t>
            </a:r>
            <a:r>
              <a:rPr lang="ko-KR" altLang="en-US" sz="2000" dirty="0" err="1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대기질</a:t>
            </a:r>
            <a:r>
              <a:rPr lang="ko-KR" altLang="en-US" sz="20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 </a:t>
            </a:r>
            <a:r>
              <a:rPr lang="en-US" altLang="ko-KR" sz="20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Q</a:t>
            </a:r>
            <a:r>
              <a:rPr lang="ko-KR" altLang="en-US" sz="20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가 변함에도 불구하고 회피행위 </a:t>
            </a:r>
            <a:r>
              <a:rPr lang="en-US" altLang="ko-KR" sz="20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x</a:t>
            </a:r>
            <a:r>
              <a:rPr lang="ko-KR" altLang="en-US" sz="20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를 바꾸어서 개인 환경질을 동일하게 유지할 수 있기 때문</a:t>
            </a:r>
          </a:p>
          <a:p>
            <a:pPr lvl="1" eaLnBrk="1" hangingPunct="1"/>
            <a:r>
              <a:rPr lang="en-US" altLang="ko-KR" sz="20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S=S(x, Q)</a:t>
            </a:r>
            <a:r>
              <a:rPr lang="ko-KR" altLang="en-US" sz="20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이므로</a:t>
            </a:r>
            <a:r>
              <a:rPr lang="en-US" altLang="ko-KR" sz="20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,  Q</a:t>
            </a:r>
            <a:r>
              <a:rPr lang="ko-KR" altLang="en-US" sz="20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가 한 단위 변하면 </a:t>
            </a:r>
            <a:r>
              <a:rPr lang="en-US" altLang="ko-KR" sz="20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S</a:t>
            </a:r>
            <a:r>
              <a:rPr lang="ko-KR" altLang="en-US" sz="20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는 </a:t>
            </a:r>
            <a:r>
              <a:rPr lang="en-US" altLang="ko-KR" sz="20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∆S/ ∆Q</a:t>
            </a:r>
            <a:r>
              <a:rPr lang="ko-KR" altLang="en-US" sz="20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만큼 변함</a:t>
            </a:r>
          </a:p>
          <a:p>
            <a:pPr lvl="1" eaLnBrk="1" hangingPunct="1"/>
            <a:r>
              <a:rPr lang="ko-KR" altLang="en-US" sz="20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이는 회피행위수준을 변화시키지 않을 때 </a:t>
            </a:r>
            <a:r>
              <a:rPr lang="ko-KR" altLang="en-US" sz="2000" dirty="0" err="1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대기질</a:t>
            </a:r>
            <a:r>
              <a:rPr lang="ko-KR" altLang="en-US" sz="20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 한 단위 변화로 인해 발생하는 건강변화를 의미함</a:t>
            </a:r>
            <a:endParaRPr lang="en-US" altLang="ko-KR" sz="1600" baseline="-25000" dirty="0">
              <a:latin typeface="Times New Roman" pitchFamily="18" charset="0"/>
              <a:ea typeface="나눔명조" pitchFamily="18" charset="-127"/>
              <a:cs typeface="Times New Roman" pitchFamily="18" charset="0"/>
            </a:endParaRPr>
          </a:p>
        </p:txBody>
      </p:sp>
      <p:sp>
        <p:nvSpPr>
          <p:cNvPr id="15363" name="바닥글 개체 틀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r>
              <a:rPr lang="ko-KR" altLang="en-US" sz="1200" b="0" dirty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Chapter </a:t>
            </a:r>
            <a:r>
              <a:rPr lang="en-US" altLang="ko-KR" sz="1200" b="0" dirty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15</a:t>
            </a:r>
          </a:p>
        </p:txBody>
      </p:sp>
      <p:sp>
        <p:nvSpPr>
          <p:cNvPr id="15364" name="슬라이드 번호 개체 틀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fld id="{C753D822-DF5B-4203-821F-E37D763E2E34}" type="slidenum">
              <a:rPr lang="ko-KR" altLang="en-US" sz="1200" b="0">
                <a:solidFill>
                  <a:schemeClr val="tx1"/>
                </a:solidFill>
              </a:rPr>
              <a:pPr/>
              <a:t>38</a:t>
            </a:fld>
            <a:endParaRPr lang="en-US" altLang="ko-KR" sz="1200" b="0" dirty="0">
              <a:solidFill>
                <a:schemeClr val="tx1"/>
              </a:solidFill>
            </a:endParaRPr>
          </a:p>
        </p:txBody>
      </p:sp>
      <p:sp>
        <p:nvSpPr>
          <p:cNvPr id="15365" name="Rectangle 2"/>
          <p:cNvSpPr>
            <a:spLocks noChangeArrowheads="1"/>
          </p:cNvSpPr>
          <p:nvPr/>
        </p:nvSpPr>
        <p:spPr bwMode="auto">
          <a:xfrm>
            <a:off x="7620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>
              <a:ea typeface="굴림" panose="020B0600000101010101" pitchFamily="50" charset="-127"/>
            </a:endParaRPr>
          </a:p>
        </p:txBody>
      </p:sp>
      <p:sp>
        <p:nvSpPr>
          <p:cNvPr id="15366" name="Rectangle 3"/>
          <p:cNvSpPr>
            <a:spLocks noChangeArrowheads="1"/>
          </p:cNvSpPr>
          <p:nvPr/>
        </p:nvSpPr>
        <p:spPr bwMode="auto">
          <a:xfrm>
            <a:off x="32766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>
              <a:ea typeface="굴림" panose="020B0600000101010101" pitchFamily="50" charset="-127"/>
            </a:endParaRPr>
          </a:p>
        </p:txBody>
      </p:sp>
      <p:sp>
        <p:nvSpPr>
          <p:cNvPr id="15367" name="Rectangle 6"/>
          <p:cNvSpPr>
            <a:spLocks noGrp="1" noChangeArrowheads="1"/>
          </p:cNvSpPr>
          <p:nvPr>
            <p:ph type="title"/>
          </p:nvPr>
        </p:nvSpPr>
        <p:spPr>
          <a:xfrm>
            <a:off x="1355725" y="0"/>
            <a:ext cx="7313613" cy="1143000"/>
          </a:xfrm>
        </p:spPr>
        <p:txBody>
          <a:bodyPr/>
          <a:lstStyle/>
          <a:p>
            <a:pPr eaLnBrk="1" hangingPunct="1"/>
            <a:r>
              <a:rPr lang="ko-KR" altLang="en-US" dirty="0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건강생산함수를 통한 편익추정</a:t>
            </a:r>
          </a:p>
        </p:txBody>
      </p:sp>
    </p:spTree>
    <p:extLst>
      <p:ext uri="{BB962C8B-B14F-4D97-AF65-F5344CB8AC3E}">
        <p14:creationId xmlns:p14="http://schemas.microsoft.com/office/powerpoint/2010/main" val="1041467602"/>
      </p:ext>
    </p:extLst>
  </p:cSld>
  <p:clrMapOvr>
    <a:masterClrMapping/>
  </p:clrMapOvr>
  <p:transition spd="med">
    <p:wipe dir="r"/>
  </p:transition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15362" name="Rectangle 9"/>
              <p:cNvSpPr>
                <a:spLocks noGrp="1" noChangeArrowheads="1"/>
              </p:cNvSpPr>
              <p:nvPr>
                <p:ph idx="1"/>
              </p:nvPr>
            </p:nvSpPr>
            <p:spPr>
              <a:xfrm>
                <a:off x="871978" y="1488758"/>
                <a:ext cx="7737475" cy="4652160"/>
              </a:xfrm>
            </p:spPr>
            <p:txBody>
              <a:bodyPr/>
              <a:lstStyle/>
              <a:p>
                <a:pPr eaLnBrk="1" hangingPunct="1"/>
                <a:r>
                  <a:rPr lang="ko-KR" altLang="en-US" sz="24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한 단위 </a:t>
                </a:r>
                <a:r>
                  <a:rPr lang="ko-KR" altLang="en-US" sz="2400" dirty="0" err="1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대기질의</a:t>
                </a:r>
                <a:r>
                  <a:rPr lang="ko-KR" altLang="en-US" sz="24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 개선이 있으면 동일 건강수준을 유지하기 위한 필요한 </a:t>
                </a:r>
                <a:r>
                  <a:rPr lang="ko-KR" altLang="en-US" sz="2400" dirty="0" err="1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회피행위</a:t>
                </a:r>
                <a:r>
                  <a:rPr lang="ko-KR" altLang="en-US" sz="24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 </a:t>
                </a:r>
                <a:r>
                  <a:rPr lang="en-US" altLang="ko-KR" sz="24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x</a:t>
                </a:r>
                <a:r>
                  <a:rPr lang="ko-KR" altLang="en-US" sz="24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를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ko-KR" sz="2400" i="1" smtClean="0">
                            <a:latin typeface="Cambria Math" panose="02040503050406030204" pitchFamily="18" charset="0"/>
                            <a:ea typeface="나눔명조" pitchFamily="18" charset="-127"/>
                            <a:cs typeface="Times New Roman" pitchFamily="18" charset="0"/>
                          </a:rPr>
                        </m:ctrlPr>
                      </m:fPr>
                      <m:num>
                        <m:f>
                          <m:fPr>
                            <m:type m:val="lin"/>
                            <m:ctrlPr>
                              <a:rPr lang="en-US" altLang="ko-KR" sz="2400" i="1" smtClean="0">
                                <a:latin typeface="Cambria Math" panose="02040503050406030204" pitchFamily="18" charset="0"/>
                                <a:ea typeface="나눔명조" pitchFamily="18" charset="-127"/>
                                <a:cs typeface="Times New Roman" pitchFamily="18" charset="0"/>
                              </a:rPr>
                            </m:ctrlPr>
                          </m:fPr>
                          <m:num>
                            <m:r>
                              <a:rPr lang="en-US" altLang="ko-KR" sz="24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itchFamily="18" charset="0"/>
                              </a:rPr>
                              <m:t>∆</m:t>
                            </m:r>
                            <m:r>
                              <a:rPr lang="en-US" altLang="ko-KR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itchFamily="18" charset="0"/>
                              </a:rPr>
                              <m:t>𝑆</m:t>
                            </m:r>
                          </m:num>
                          <m:den>
                            <m:r>
                              <a:rPr lang="en-US" altLang="ko-KR" sz="24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itchFamily="18" charset="0"/>
                              </a:rPr>
                              <m:t>∆</m:t>
                            </m:r>
                            <m:r>
                              <a:rPr lang="en-US" altLang="ko-KR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itchFamily="18" charset="0"/>
                              </a:rPr>
                              <m:t>𝑄</m:t>
                            </m:r>
                          </m:den>
                        </m:f>
                      </m:num>
                      <m:den>
                        <m:f>
                          <m:fPr>
                            <m:type m:val="lin"/>
                            <m:ctrlPr>
                              <a:rPr lang="en-US" altLang="ko-KR" sz="2400" i="1" smtClean="0">
                                <a:latin typeface="Cambria Math" panose="02040503050406030204" pitchFamily="18" charset="0"/>
                                <a:ea typeface="나눔명조" pitchFamily="18" charset="-127"/>
                                <a:cs typeface="Times New Roman" pitchFamily="18" charset="0"/>
                              </a:rPr>
                            </m:ctrlPr>
                          </m:fPr>
                          <m:num>
                            <m:r>
                              <a:rPr lang="en-US" altLang="ko-KR" sz="24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itchFamily="18" charset="0"/>
                              </a:rPr>
                              <m:t>∆</m:t>
                            </m:r>
                            <m:r>
                              <a:rPr lang="en-US" altLang="ko-KR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itchFamily="18" charset="0"/>
                              </a:rPr>
                              <m:t>𝑆</m:t>
                            </m:r>
                          </m:num>
                          <m:den>
                            <m:r>
                              <a:rPr lang="en-US" altLang="ko-KR" sz="24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itchFamily="18" charset="0"/>
                              </a:rPr>
                              <m:t>∆</m:t>
                            </m:r>
                            <m:r>
                              <a:rPr lang="en-US" altLang="ko-KR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itchFamily="18" charset="0"/>
                              </a:rPr>
                              <m:t>𝑥</m:t>
                            </m:r>
                          </m:den>
                        </m:f>
                      </m:den>
                    </m:f>
                  </m:oMath>
                </a14:m>
                <a:r>
                  <a:rPr lang="ko-KR" altLang="en-US" sz="24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만큼 줄일 수 있음</a:t>
                </a:r>
              </a:p>
              <a:p>
                <a:pPr lvl="1" eaLnBrk="1" hangingPunct="1"/>
                <a:r>
                  <a:rPr lang="ko-KR" altLang="en-US" sz="20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이는 </a:t>
                </a:r>
                <a:r>
                  <a:rPr lang="en-US" altLang="ko-KR" sz="20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Q</a:t>
                </a:r>
                <a:r>
                  <a:rPr lang="ko-KR" altLang="en-US" sz="20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의 변화로 인한 </a:t>
                </a:r>
                <a:r>
                  <a:rPr lang="en-US" altLang="ko-KR" sz="20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S</a:t>
                </a:r>
                <a:r>
                  <a:rPr lang="ko-KR" altLang="en-US" sz="20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의 변화를 정확히 상쇄하는 </a:t>
                </a:r>
                <a:r>
                  <a:rPr lang="en-US" altLang="ko-KR" sz="20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S</a:t>
                </a:r>
                <a:r>
                  <a:rPr lang="ko-KR" altLang="en-US" sz="20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의 변화량을 의미함</a:t>
                </a:r>
              </a:p>
              <a:p>
                <a:pPr lvl="1" eaLnBrk="1" hangingPunct="1"/>
                <a14:m>
                  <m:oMath xmlns:m="http://schemas.openxmlformats.org/officeDocument/2006/math">
                    <m:r>
                      <a:rPr lang="en-US" altLang="ko-KR" sz="2000" b="0" i="1" smtClean="0">
                        <a:latin typeface="Cambria Math" panose="02040503050406030204" pitchFamily="18" charset="0"/>
                        <a:ea typeface="나눔명조" pitchFamily="18" charset="-127"/>
                        <a:cs typeface="Times New Roman" pitchFamily="18" charset="0"/>
                      </a:rPr>
                      <m:t>𝑝</m:t>
                    </m:r>
                    <m:f>
                      <m:fPr>
                        <m:ctrlPr>
                          <a:rPr lang="en-US" altLang="ko-KR" sz="2000" i="1" smtClean="0">
                            <a:latin typeface="Cambria Math" panose="02040503050406030204" pitchFamily="18" charset="0"/>
                            <a:ea typeface="나눔명조" pitchFamily="18" charset="-127"/>
                            <a:cs typeface="Times New Roman" pitchFamily="18" charset="0"/>
                          </a:rPr>
                        </m:ctrlPr>
                      </m:fPr>
                      <m:num>
                        <m:f>
                          <m:fPr>
                            <m:type m:val="lin"/>
                            <m:ctrlPr>
                              <a:rPr lang="en-US" altLang="ko-KR" sz="2000" i="1" smtClean="0">
                                <a:latin typeface="Cambria Math" panose="02040503050406030204" pitchFamily="18" charset="0"/>
                                <a:ea typeface="나눔명조" pitchFamily="18" charset="-127"/>
                                <a:cs typeface="Times New Roman" pitchFamily="18" charset="0"/>
                              </a:rPr>
                            </m:ctrlPr>
                          </m:fPr>
                          <m:num>
                            <m:r>
                              <a:rPr lang="en-US" altLang="ko-KR" sz="20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itchFamily="18" charset="0"/>
                              </a:rPr>
                              <m:t>∆</m:t>
                            </m:r>
                            <m:r>
                              <a:rPr lang="en-US" altLang="ko-KR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itchFamily="18" charset="0"/>
                              </a:rPr>
                              <m:t>𝑆</m:t>
                            </m:r>
                          </m:num>
                          <m:den>
                            <m:r>
                              <a:rPr lang="en-US" altLang="ko-KR" sz="20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itchFamily="18" charset="0"/>
                              </a:rPr>
                              <m:t>∆</m:t>
                            </m:r>
                            <m:r>
                              <a:rPr lang="en-US" altLang="ko-KR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itchFamily="18" charset="0"/>
                              </a:rPr>
                              <m:t>𝑄</m:t>
                            </m:r>
                          </m:den>
                        </m:f>
                      </m:num>
                      <m:den>
                        <m:f>
                          <m:fPr>
                            <m:type m:val="lin"/>
                            <m:ctrlPr>
                              <a:rPr lang="en-US" altLang="ko-KR" sz="2000" i="1" smtClean="0">
                                <a:latin typeface="Cambria Math" panose="02040503050406030204" pitchFamily="18" charset="0"/>
                                <a:ea typeface="나눔명조" pitchFamily="18" charset="-127"/>
                                <a:cs typeface="Times New Roman" pitchFamily="18" charset="0"/>
                              </a:rPr>
                            </m:ctrlPr>
                          </m:fPr>
                          <m:num>
                            <m:r>
                              <a:rPr lang="en-US" altLang="ko-KR" sz="20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itchFamily="18" charset="0"/>
                              </a:rPr>
                              <m:t>∆</m:t>
                            </m:r>
                            <m:r>
                              <a:rPr lang="en-US" altLang="ko-KR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itchFamily="18" charset="0"/>
                              </a:rPr>
                              <m:t>𝑆</m:t>
                            </m:r>
                          </m:num>
                          <m:den>
                            <m:r>
                              <a:rPr lang="en-US" altLang="ko-KR" sz="20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itchFamily="18" charset="0"/>
                              </a:rPr>
                              <m:t>∆</m:t>
                            </m:r>
                            <m:r>
                              <a:rPr lang="en-US" altLang="ko-KR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itchFamily="18" charset="0"/>
                              </a:rPr>
                              <m:t>𝑥</m:t>
                            </m:r>
                          </m:den>
                        </m:f>
                      </m:den>
                    </m:f>
                    <m:r>
                      <a:rPr lang="en-US" altLang="ko-KR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itchFamily="18" charset="0"/>
                      </a:rPr>
                      <m:t> </m:t>
                    </m:r>
                  </m:oMath>
                </a14:m>
                <a:r>
                  <a:rPr lang="ko-KR" altLang="en-US" sz="20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는 </a:t>
                </a:r>
                <a:r>
                  <a:rPr lang="en-US" altLang="ko-KR" sz="20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Q</a:t>
                </a:r>
                <a:r>
                  <a:rPr lang="ko-KR" altLang="en-US" sz="20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가 한 단위 개선됨으로 인해 줄여도 되는 회피행위 비용을 의미하며</a:t>
                </a:r>
                <a:r>
                  <a:rPr lang="en-US" altLang="ko-KR" sz="20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, </a:t>
                </a:r>
                <a:r>
                  <a:rPr lang="ko-KR" altLang="en-US" sz="2000" dirty="0" err="1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대기질</a:t>
                </a:r>
                <a:r>
                  <a:rPr lang="ko-KR" altLang="en-US" sz="20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 개선에 대한 후생지표가 됨</a:t>
                </a:r>
                <a:r>
                  <a:rPr lang="en-US" altLang="ko-KR" sz="20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(p</a:t>
                </a:r>
                <a:r>
                  <a:rPr lang="ko-KR" altLang="en-US" sz="20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는 </a:t>
                </a:r>
                <a:r>
                  <a:rPr lang="en-US" altLang="ko-KR" sz="20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x</a:t>
                </a:r>
                <a:r>
                  <a:rPr lang="ko-KR" altLang="en-US" sz="20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의 가격</a:t>
                </a:r>
                <a:r>
                  <a:rPr lang="en-US" altLang="ko-KR" sz="20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)</a:t>
                </a:r>
              </a:p>
              <a:p>
                <a:pPr lvl="1" eaLnBrk="1" hangingPunct="1"/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2000" b="0" i="1" smtClean="0">
                            <a:latin typeface="Cambria Math" panose="02040503050406030204" pitchFamily="18" charset="0"/>
                            <a:ea typeface="나눔명조" pitchFamily="18" charset="-127"/>
                            <a:cs typeface="Times New Roman" pitchFamily="18" charset="0"/>
                          </a:rPr>
                        </m:ctrlPr>
                      </m:sSubPr>
                      <m:e>
                        <m:r>
                          <a:rPr lang="en-US" altLang="ko-KR" sz="2000" b="0" i="1" smtClean="0">
                            <a:latin typeface="Cambria Math" panose="02040503050406030204" pitchFamily="18" charset="0"/>
                            <a:ea typeface="나눔명조" pitchFamily="18" charset="-127"/>
                            <a:cs typeface="Times New Roman" pitchFamily="18" charset="0"/>
                          </a:rPr>
                          <m:t>𝑤</m:t>
                        </m:r>
                      </m:e>
                      <m:sub>
                        <m:r>
                          <a:rPr lang="en-US" altLang="ko-KR" sz="2000" b="0" i="1" smtClean="0">
                            <a:latin typeface="Cambria Math" panose="02040503050406030204" pitchFamily="18" charset="0"/>
                            <a:ea typeface="나눔명조" pitchFamily="18" charset="-127"/>
                            <a:cs typeface="Times New Roman" pitchFamily="18" charset="0"/>
                          </a:rPr>
                          <m:t>𝑄</m:t>
                        </m:r>
                      </m:sub>
                    </m:sSub>
                    <m:r>
                      <a:rPr lang="en-US" altLang="ko-KR" sz="2000" b="0" i="1" smtClean="0">
                        <a:latin typeface="Cambria Math" panose="02040503050406030204" pitchFamily="18" charset="0"/>
                        <a:ea typeface="나눔명조" pitchFamily="18" charset="-127"/>
                        <a:cs typeface="Times New Roman" pitchFamily="18" charset="0"/>
                      </a:rPr>
                      <m:t>=</m:t>
                    </m:r>
                    <m:r>
                      <a:rPr lang="en-US" altLang="ko-KR" sz="2000" b="0" i="1" smtClean="0">
                        <a:latin typeface="Cambria Math" panose="02040503050406030204" pitchFamily="18" charset="0"/>
                        <a:ea typeface="나눔명조" pitchFamily="18" charset="-127"/>
                        <a:cs typeface="Times New Roman" pitchFamily="18" charset="0"/>
                      </a:rPr>
                      <m:t>𝑝</m:t>
                    </m:r>
                    <m:f>
                      <m:fPr>
                        <m:ctrlPr>
                          <a:rPr lang="en-US" altLang="ko-KR" sz="2000" i="1" smtClean="0">
                            <a:latin typeface="Cambria Math" panose="02040503050406030204" pitchFamily="18" charset="0"/>
                            <a:ea typeface="나눔명조" pitchFamily="18" charset="-127"/>
                            <a:cs typeface="Times New Roman" pitchFamily="18" charset="0"/>
                          </a:rPr>
                        </m:ctrlPr>
                      </m:fPr>
                      <m:num>
                        <m:f>
                          <m:fPr>
                            <m:type m:val="lin"/>
                            <m:ctrlPr>
                              <a:rPr lang="en-US" altLang="ko-KR" sz="2000" i="1" smtClean="0">
                                <a:latin typeface="Cambria Math" panose="02040503050406030204" pitchFamily="18" charset="0"/>
                                <a:ea typeface="나눔명조" pitchFamily="18" charset="-127"/>
                                <a:cs typeface="Times New Roman" pitchFamily="18" charset="0"/>
                              </a:rPr>
                            </m:ctrlPr>
                          </m:fPr>
                          <m:num>
                            <m:r>
                              <a:rPr lang="en-US" altLang="ko-KR" sz="20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itchFamily="18" charset="0"/>
                              </a:rPr>
                              <m:t>∆</m:t>
                            </m:r>
                            <m:r>
                              <a:rPr lang="en-US" altLang="ko-KR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itchFamily="18" charset="0"/>
                              </a:rPr>
                              <m:t>𝑆</m:t>
                            </m:r>
                          </m:num>
                          <m:den>
                            <m:r>
                              <a:rPr lang="en-US" altLang="ko-KR" sz="20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itchFamily="18" charset="0"/>
                              </a:rPr>
                              <m:t>∆</m:t>
                            </m:r>
                            <m:r>
                              <a:rPr lang="en-US" altLang="ko-KR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itchFamily="18" charset="0"/>
                              </a:rPr>
                              <m:t>𝑄</m:t>
                            </m:r>
                          </m:den>
                        </m:f>
                      </m:num>
                      <m:den>
                        <m:f>
                          <m:fPr>
                            <m:type m:val="lin"/>
                            <m:ctrlPr>
                              <a:rPr lang="en-US" altLang="ko-KR" sz="2000" i="1" smtClean="0">
                                <a:latin typeface="Cambria Math" panose="02040503050406030204" pitchFamily="18" charset="0"/>
                                <a:ea typeface="나눔명조" pitchFamily="18" charset="-127"/>
                                <a:cs typeface="Times New Roman" pitchFamily="18" charset="0"/>
                              </a:rPr>
                            </m:ctrlPr>
                          </m:fPr>
                          <m:num>
                            <m:r>
                              <a:rPr lang="en-US" altLang="ko-KR" sz="20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itchFamily="18" charset="0"/>
                              </a:rPr>
                              <m:t>∆</m:t>
                            </m:r>
                            <m:r>
                              <a:rPr lang="en-US" altLang="ko-KR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itchFamily="18" charset="0"/>
                              </a:rPr>
                              <m:t>𝑆</m:t>
                            </m:r>
                          </m:num>
                          <m:den>
                            <m:r>
                              <a:rPr lang="en-US" altLang="ko-KR" sz="20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itchFamily="18" charset="0"/>
                              </a:rPr>
                              <m:t>∆</m:t>
                            </m:r>
                            <m:r>
                              <a:rPr lang="en-US" altLang="ko-KR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itchFamily="18" charset="0"/>
                              </a:rPr>
                              <m:t>𝑥</m:t>
                            </m:r>
                          </m:den>
                        </m:f>
                      </m:den>
                    </m:f>
                    <m:r>
                      <a:rPr lang="en-US" altLang="ko-KR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itchFamily="18" charset="0"/>
                      </a:rPr>
                      <m:t> </m:t>
                    </m:r>
                  </m:oMath>
                </a14:m>
                <a:r>
                  <a:rPr lang="ko-KR" altLang="en-US" sz="20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라 하면</a:t>
                </a:r>
                <a:r>
                  <a:rPr lang="en-US" altLang="ko-KR" sz="20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2000" i="1">
                            <a:latin typeface="Cambria Math" panose="02040503050406030204" pitchFamily="18" charset="0"/>
                            <a:ea typeface="나눔명조" pitchFamily="18" charset="-127"/>
                            <a:cs typeface="Times New Roman" pitchFamily="18" charset="0"/>
                          </a:rPr>
                        </m:ctrlPr>
                      </m:sSubPr>
                      <m:e>
                        <m:r>
                          <a:rPr lang="en-US" altLang="ko-KR" sz="2000" i="1">
                            <a:latin typeface="Cambria Math" panose="02040503050406030204" pitchFamily="18" charset="0"/>
                            <a:ea typeface="나눔명조" pitchFamily="18" charset="-127"/>
                            <a:cs typeface="Times New Roman" pitchFamily="18" charset="0"/>
                          </a:rPr>
                          <m:t>𝑤</m:t>
                        </m:r>
                      </m:e>
                      <m:sub>
                        <m:r>
                          <a:rPr lang="en-US" altLang="ko-KR" sz="2000" i="1">
                            <a:latin typeface="Cambria Math" panose="02040503050406030204" pitchFamily="18" charset="0"/>
                            <a:ea typeface="나눔명조" pitchFamily="18" charset="-127"/>
                            <a:cs typeface="Times New Roman" pitchFamily="18" charset="0"/>
                          </a:rPr>
                          <m:t>𝑄</m:t>
                        </m:r>
                      </m:sub>
                    </m:sSub>
                  </m:oMath>
                </a14:m>
                <a:r>
                  <a:rPr lang="ko-KR" altLang="en-US" sz="20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는 앞에서 제시된 세 가지 후생효과의 </a:t>
                </a:r>
                <a:r>
                  <a:rPr lang="ko-KR" altLang="en-US" sz="28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 </a:t>
                </a:r>
                <a:r>
                  <a:rPr lang="ko-KR" altLang="en-US" sz="20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합과 동일함 </a:t>
                </a:r>
                <a:r>
                  <a:rPr lang="en-US" altLang="ko-KR" sz="20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(</a:t>
                </a:r>
                <a:r>
                  <a:rPr lang="ko-KR" altLang="en-US" sz="20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부록 참조</a:t>
                </a:r>
                <a:r>
                  <a:rPr lang="en-US" altLang="ko-KR" sz="20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)</a:t>
                </a:r>
                <a:endParaRPr lang="en-US" altLang="ko-KR" sz="1800" dirty="0">
                  <a:latin typeface="Times New Roman" pitchFamily="18" charset="0"/>
                  <a:ea typeface="나눔명조" pitchFamily="18" charset="-127"/>
                  <a:cs typeface="Times New Roman" pitchFamily="18" charset="0"/>
                </a:endParaRPr>
              </a:p>
            </p:txBody>
          </p:sp>
        </mc:Choice>
        <mc:Fallback>
          <p:sp>
            <p:nvSpPr>
              <p:cNvPr id="15362" name="Rectangle 9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71978" y="1488758"/>
                <a:ext cx="7737475" cy="4652160"/>
              </a:xfrm>
              <a:blipFill>
                <a:blip r:embed="rId3"/>
                <a:stretch>
                  <a:fillRect l="-1024" t="-118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363" name="바닥글 개체 틀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r>
              <a:rPr lang="ko-KR" altLang="en-US" sz="1200" b="0" dirty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Chapter </a:t>
            </a:r>
            <a:r>
              <a:rPr lang="en-US" altLang="ko-KR" sz="1200" b="0" dirty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15</a:t>
            </a:r>
          </a:p>
        </p:txBody>
      </p:sp>
      <p:sp>
        <p:nvSpPr>
          <p:cNvPr id="15364" name="슬라이드 번호 개체 틀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fld id="{C753D822-DF5B-4203-821F-E37D763E2E34}" type="slidenum">
              <a:rPr lang="ko-KR" altLang="en-US" sz="1200" b="0">
                <a:solidFill>
                  <a:schemeClr val="tx1"/>
                </a:solidFill>
              </a:rPr>
              <a:pPr/>
              <a:t>39</a:t>
            </a:fld>
            <a:endParaRPr lang="en-US" altLang="ko-KR" sz="1200" b="0" dirty="0">
              <a:solidFill>
                <a:schemeClr val="tx1"/>
              </a:solidFill>
            </a:endParaRPr>
          </a:p>
        </p:txBody>
      </p:sp>
      <p:sp>
        <p:nvSpPr>
          <p:cNvPr id="15365" name="Rectangle 2"/>
          <p:cNvSpPr>
            <a:spLocks noChangeArrowheads="1"/>
          </p:cNvSpPr>
          <p:nvPr/>
        </p:nvSpPr>
        <p:spPr bwMode="auto">
          <a:xfrm>
            <a:off x="7620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>
              <a:ea typeface="굴림" panose="020B0600000101010101" pitchFamily="50" charset="-127"/>
            </a:endParaRPr>
          </a:p>
        </p:txBody>
      </p:sp>
      <p:sp>
        <p:nvSpPr>
          <p:cNvPr id="15366" name="Rectangle 3"/>
          <p:cNvSpPr>
            <a:spLocks noChangeArrowheads="1"/>
          </p:cNvSpPr>
          <p:nvPr/>
        </p:nvSpPr>
        <p:spPr bwMode="auto">
          <a:xfrm>
            <a:off x="32766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>
              <a:ea typeface="굴림" panose="020B0600000101010101" pitchFamily="50" charset="-127"/>
            </a:endParaRPr>
          </a:p>
        </p:txBody>
      </p:sp>
      <p:sp>
        <p:nvSpPr>
          <p:cNvPr id="15367" name="Rectangle 6"/>
          <p:cNvSpPr>
            <a:spLocks noGrp="1" noChangeArrowheads="1"/>
          </p:cNvSpPr>
          <p:nvPr>
            <p:ph type="title"/>
          </p:nvPr>
        </p:nvSpPr>
        <p:spPr>
          <a:xfrm>
            <a:off x="1355725" y="0"/>
            <a:ext cx="7313613" cy="1143000"/>
          </a:xfrm>
        </p:spPr>
        <p:txBody>
          <a:bodyPr/>
          <a:lstStyle/>
          <a:p>
            <a:pPr eaLnBrk="1" hangingPunct="1"/>
            <a:r>
              <a:rPr lang="ko-KR" altLang="en-US" dirty="0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건강생산함수를 통한 편익추정</a:t>
            </a:r>
          </a:p>
        </p:txBody>
      </p:sp>
    </p:spTree>
    <p:extLst>
      <p:ext uri="{BB962C8B-B14F-4D97-AF65-F5344CB8AC3E}">
        <p14:creationId xmlns:p14="http://schemas.microsoft.com/office/powerpoint/2010/main" val="1007939721"/>
      </p:ext>
    </p:extLst>
  </p:cSld>
  <p:clrMapOvr>
    <a:masterClrMapping/>
  </p:clrMapOvr>
  <p:transition spd="med">
    <p:wipe dir="r"/>
  </p:transition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9"/>
          <p:cNvSpPr>
            <a:spLocks noGrp="1" noChangeArrowheads="1"/>
          </p:cNvSpPr>
          <p:nvPr>
            <p:ph idx="1"/>
          </p:nvPr>
        </p:nvSpPr>
        <p:spPr>
          <a:xfrm>
            <a:off x="855662" y="1371600"/>
            <a:ext cx="7737475" cy="4114800"/>
          </a:xfrm>
        </p:spPr>
        <p:txBody>
          <a:bodyPr/>
          <a:lstStyle/>
          <a:p>
            <a:pPr eaLnBrk="1" hangingPunct="1"/>
            <a:r>
              <a:rPr lang="ko-KR" altLang="en-US" sz="26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이상과 같이 개인의 효용함수 등에 대한 정보가 없어도 </a:t>
            </a:r>
            <a:r>
              <a:rPr lang="en-US" altLang="ko-KR" sz="26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Q</a:t>
            </a:r>
            <a:r>
              <a:rPr lang="ko-KR" altLang="en-US" sz="26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와 </a:t>
            </a:r>
            <a:r>
              <a:rPr lang="en-US" altLang="ko-KR" sz="26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x</a:t>
            </a:r>
            <a:r>
              <a:rPr lang="ko-KR" altLang="en-US" sz="26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의 기술적 관계를 통해 환경개선의 한계편익을 도출할 수 있음</a:t>
            </a:r>
            <a:endParaRPr lang="en-US" altLang="ko-KR" sz="2600" dirty="0">
              <a:latin typeface="Times New Roman" pitchFamily="18" charset="0"/>
              <a:ea typeface="나눔명조" pitchFamily="18" charset="-127"/>
              <a:cs typeface="Times New Roman" pitchFamily="18" charset="0"/>
            </a:endParaRPr>
          </a:p>
        </p:txBody>
      </p:sp>
      <p:sp>
        <p:nvSpPr>
          <p:cNvPr id="15363" name="바닥글 개체 틀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r>
              <a:rPr lang="ko-KR" altLang="en-US" sz="1200" b="0" dirty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Chapter </a:t>
            </a:r>
            <a:r>
              <a:rPr lang="en-US" altLang="ko-KR" sz="1200" b="0" dirty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15</a:t>
            </a:r>
          </a:p>
        </p:txBody>
      </p:sp>
      <p:sp>
        <p:nvSpPr>
          <p:cNvPr id="15364" name="슬라이드 번호 개체 틀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fld id="{C753D822-DF5B-4203-821F-E37D763E2E34}" type="slidenum">
              <a:rPr lang="ko-KR" altLang="en-US" sz="1200" b="0">
                <a:solidFill>
                  <a:schemeClr val="tx1"/>
                </a:solidFill>
              </a:rPr>
              <a:pPr/>
              <a:t>40</a:t>
            </a:fld>
            <a:endParaRPr lang="en-US" altLang="ko-KR" sz="1200" b="0" dirty="0">
              <a:solidFill>
                <a:schemeClr val="tx1"/>
              </a:solidFill>
            </a:endParaRPr>
          </a:p>
        </p:txBody>
      </p:sp>
      <p:sp>
        <p:nvSpPr>
          <p:cNvPr id="15365" name="Rectangle 2"/>
          <p:cNvSpPr>
            <a:spLocks noChangeArrowheads="1"/>
          </p:cNvSpPr>
          <p:nvPr/>
        </p:nvSpPr>
        <p:spPr bwMode="auto">
          <a:xfrm>
            <a:off x="7620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>
              <a:ea typeface="굴림" panose="020B0600000101010101" pitchFamily="50" charset="-127"/>
            </a:endParaRPr>
          </a:p>
        </p:txBody>
      </p:sp>
      <p:sp>
        <p:nvSpPr>
          <p:cNvPr id="15366" name="Rectangle 3"/>
          <p:cNvSpPr>
            <a:spLocks noChangeArrowheads="1"/>
          </p:cNvSpPr>
          <p:nvPr/>
        </p:nvSpPr>
        <p:spPr bwMode="auto">
          <a:xfrm>
            <a:off x="32766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>
              <a:ea typeface="굴림" panose="020B0600000101010101" pitchFamily="50" charset="-127"/>
            </a:endParaRPr>
          </a:p>
        </p:txBody>
      </p:sp>
      <p:sp>
        <p:nvSpPr>
          <p:cNvPr id="15367" name="Rectangle 6"/>
          <p:cNvSpPr>
            <a:spLocks noGrp="1" noChangeArrowheads="1"/>
          </p:cNvSpPr>
          <p:nvPr>
            <p:ph type="title"/>
          </p:nvPr>
        </p:nvSpPr>
        <p:spPr>
          <a:xfrm>
            <a:off x="1355725" y="0"/>
            <a:ext cx="7313613" cy="1143000"/>
          </a:xfrm>
        </p:spPr>
        <p:txBody>
          <a:bodyPr/>
          <a:lstStyle/>
          <a:p>
            <a:pPr eaLnBrk="1" hangingPunct="1"/>
            <a:r>
              <a:rPr lang="ko-KR" altLang="en-US" dirty="0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건강생산함수를 통한 편익추정</a:t>
            </a: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F1A80D29-92A8-4FE2-8744-37DD27D8CF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9526" y="2717046"/>
            <a:ext cx="6419461" cy="1760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7939721"/>
      </p:ext>
    </p:extLst>
  </p:cSld>
  <p:clrMapOvr>
    <a:masterClrMapping/>
  </p:clrMapOvr>
  <p:transition spd="med">
    <p:wipe dir="r"/>
  </p:transition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5362" name="Rectangle 9"/>
              <p:cNvSpPr>
                <a:spLocks noGrp="1" noChangeArrowheads="1"/>
              </p:cNvSpPr>
              <p:nvPr>
                <p:ph idx="1"/>
              </p:nvPr>
            </p:nvSpPr>
            <p:spPr>
              <a:xfrm>
                <a:off x="900113" y="1671638"/>
                <a:ext cx="7737475" cy="4114800"/>
              </a:xfrm>
            </p:spPr>
            <p:txBody>
              <a:bodyPr/>
              <a:lstStyle/>
              <a:p>
                <a:pPr eaLnBrk="1" hangingPunct="1"/>
                <a:r>
                  <a:rPr lang="ko-KR" altLang="en-US" sz="24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딕키와 </a:t>
                </a:r>
                <a:r>
                  <a:rPr lang="ko-KR" altLang="en-US" sz="2400" dirty="0" err="1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거킹</a:t>
                </a:r>
                <a:r>
                  <a:rPr lang="en-US" altLang="ko-KR" sz="24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(Dickie and </a:t>
                </a:r>
                <a:r>
                  <a:rPr lang="en-US" altLang="ko-KR" sz="2400" dirty="0" err="1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Gerking</a:t>
                </a:r>
                <a:r>
                  <a:rPr lang="en-US" altLang="ko-KR" sz="24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, 1991)</a:t>
                </a:r>
                <a:r>
                  <a:rPr lang="ko-KR" altLang="en-US" sz="24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의 미국 </a:t>
                </a:r>
                <a:r>
                  <a:rPr lang="en-US" altLang="ko-KR" sz="24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LA</a:t>
                </a:r>
                <a:r>
                  <a:rPr lang="ko-KR" altLang="en-US" sz="24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주민 대상  건강생산함수 추정</a:t>
                </a:r>
                <a:endParaRPr lang="en-US" altLang="ko-KR" sz="2400" dirty="0">
                  <a:latin typeface="Times New Roman" pitchFamily="18" charset="0"/>
                  <a:ea typeface="나눔명조" pitchFamily="18" charset="-127"/>
                  <a:cs typeface="Times New Roman" pitchFamily="18" charset="0"/>
                </a:endParaRPr>
              </a:p>
              <a:p>
                <a:pPr lvl="1" eaLnBrk="1" hangingPunct="1"/>
                <a:r>
                  <a:rPr lang="ko-KR" altLang="en-US" sz="20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대기오염물질 농도와 에어컨 사용과 같은 회피행위가 증상의 정도에 미치는 영향을 건강생산함수를 이용하여 추정함</a:t>
                </a:r>
                <a:endParaRPr lang="en-US" altLang="ko-KR" sz="2000" dirty="0">
                  <a:latin typeface="Times New Roman" pitchFamily="18" charset="0"/>
                  <a:ea typeface="나눔명조" pitchFamily="18" charset="-127"/>
                  <a:cs typeface="Times New Roman" pitchFamily="18" charset="0"/>
                </a:endParaRPr>
              </a:p>
              <a:p>
                <a:pPr marL="87313" lvl="1" indent="0" eaLnBrk="1" hangingPunct="1">
                  <a:buNone/>
                </a:pPr>
                <a:r>
                  <a:rPr lang="ko-KR" altLang="en-US" sz="20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증상의 정도 </a:t>
                </a:r>
                <a:r>
                  <a:rPr lang="en-US" altLang="ko-KR" sz="20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=</a:t>
                </a:r>
              </a:p>
              <a:p>
                <a:pPr marL="87313" lvl="1" indent="0" eaLnBrk="1" hangingPunct="1">
                  <a:buNone/>
                </a:pPr>
                <a:r>
                  <a:rPr lang="en-US" altLang="ko-KR" sz="20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-2.253+0.163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2000" i="1" smtClean="0">
                            <a:latin typeface="Cambria Math" panose="02040503050406030204" pitchFamily="18" charset="0"/>
                            <a:ea typeface="나눔명조" pitchFamily="18" charset="-127"/>
                            <a:cs typeface="Times New Roman" pitchFamily="18" charset="0"/>
                          </a:rPr>
                        </m:ctrlPr>
                      </m:sSubPr>
                      <m:e>
                        <m:r>
                          <a:rPr lang="en-US" altLang="ko-KR" sz="2000" b="0" i="1" smtClean="0">
                            <a:latin typeface="Cambria Math" panose="02040503050406030204" pitchFamily="18" charset="0"/>
                            <a:ea typeface="나눔명조" pitchFamily="18" charset="-127"/>
                            <a:cs typeface="Times New Roman" pitchFamily="18" charset="0"/>
                          </a:rPr>
                          <m:t>𝑂</m:t>
                        </m:r>
                      </m:e>
                      <m:sub>
                        <m:r>
                          <a:rPr lang="en-US" altLang="ko-KR" sz="2000" b="0" i="1" smtClean="0">
                            <a:latin typeface="Cambria Math" panose="02040503050406030204" pitchFamily="18" charset="0"/>
                            <a:ea typeface="나눔명조" pitchFamily="18" charset="-127"/>
                            <a:cs typeface="Times New Roman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ko-KR" altLang="en-US" sz="20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농도</a:t>
                </a:r>
                <a:r>
                  <a:rPr lang="en-US" altLang="ko-KR" sz="20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+1.013</a:t>
                </a:r>
                <a14:m>
                  <m:oMath xmlns:m="http://schemas.openxmlformats.org/officeDocument/2006/math">
                    <m:r>
                      <a:rPr lang="en-US" altLang="ko-KR" sz="2000" b="0" i="1" smtClean="0">
                        <a:latin typeface="Cambria Math" panose="02040503050406030204" pitchFamily="18" charset="0"/>
                        <a:ea typeface="나눔명조" pitchFamily="18" charset="-127"/>
                        <a:cs typeface="Times New Roman" pitchFamily="18" charset="0"/>
                      </a:rPr>
                      <m:t>𝐶𝑂</m:t>
                    </m:r>
                  </m:oMath>
                </a14:m>
                <a:r>
                  <a:rPr lang="ko-KR" altLang="en-US" sz="20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농도</a:t>
                </a:r>
                <a:r>
                  <a:rPr lang="en-US" altLang="ko-KR" sz="20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+0.893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2000" i="1" smtClean="0">
                            <a:latin typeface="Cambria Math" panose="02040503050406030204" pitchFamily="18" charset="0"/>
                            <a:ea typeface="나눔명조" pitchFamily="18" charset="-127"/>
                            <a:cs typeface="Times New Roman" pitchFamily="18" charset="0"/>
                          </a:rPr>
                        </m:ctrlPr>
                      </m:sSubPr>
                      <m:e>
                        <m:r>
                          <a:rPr lang="en-US" altLang="ko-KR" sz="2000" b="0" i="1" smtClean="0">
                            <a:latin typeface="Cambria Math" panose="02040503050406030204" pitchFamily="18" charset="0"/>
                            <a:ea typeface="나눔명조" pitchFamily="18" charset="-127"/>
                            <a:cs typeface="Times New Roman" pitchFamily="18" charset="0"/>
                          </a:rPr>
                          <m:t>𝑁𝑂</m:t>
                        </m:r>
                      </m:e>
                      <m:sub>
                        <m:r>
                          <a:rPr lang="en-US" altLang="ko-KR" sz="2000" b="0" i="1" smtClean="0">
                            <a:latin typeface="Cambria Math" panose="02040503050406030204" pitchFamily="18" charset="0"/>
                            <a:ea typeface="나눔명조" pitchFamily="18" charset="-127"/>
                            <a:cs typeface="Times New Roman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ko-KR" altLang="en-US" sz="20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농도</a:t>
                </a:r>
                <a:r>
                  <a:rPr lang="en-US" altLang="ko-KR" sz="20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+1.200</a:t>
                </a:r>
                <a:r>
                  <a:rPr lang="ko-KR" altLang="en-US" sz="20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나이</a:t>
                </a:r>
                <a:r>
                  <a:rPr lang="en-US" altLang="ko-KR" sz="20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-0.59</a:t>
                </a:r>
                <a:r>
                  <a:rPr lang="ko-KR" altLang="en-US" sz="2000" dirty="0" err="1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자동차에어컨사용</a:t>
                </a:r>
                <a:r>
                  <a:rPr lang="en-US" altLang="ko-KR" sz="20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+…</a:t>
                </a:r>
              </a:p>
              <a:p>
                <a:pPr marL="373063" lvl="1" eaLnBrk="1" hangingPunct="1">
                  <a:buFont typeface="Wingdings" panose="05000000000000000000" pitchFamily="2" charset="2"/>
                  <a:buChar char="l"/>
                </a:pPr>
                <a:r>
                  <a:rPr lang="ko-KR" altLang="en-US" sz="24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그러나</a:t>
                </a:r>
                <a:r>
                  <a:rPr lang="en-US" altLang="ko-KR" sz="24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, </a:t>
                </a:r>
                <a:r>
                  <a:rPr lang="ko-KR" altLang="en-US" sz="24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건강생산함수를 이용하여 분석하는 것은 적절한 회피행위 수단을 찾아 지표화하기도 어렵고</a:t>
                </a:r>
                <a:r>
                  <a:rPr lang="en-US" altLang="ko-KR" sz="24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, </a:t>
                </a:r>
                <a:r>
                  <a:rPr lang="ko-KR" altLang="en-US" sz="24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회피행위 정도가 건강에 미치는 영향을 통계적으로 파악하기도 어려운 현실적 문제가 있음</a:t>
                </a:r>
                <a:endParaRPr lang="en-US" altLang="ko-KR" sz="2400" dirty="0">
                  <a:latin typeface="Times New Roman" pitchFamily="18" charset="0"/>
                  <a:ea typeface="나눔명조" pitchFamily="18" charset="-127"/>
                  <a:cs typeface="Times New Roman" pitchFamily="18" charset="0"/>
                </a:endParaRPr>
              </a:p>
              <a:p>
                <a:pPr marL="457200" lvl="1" indent="0" eaLnBrk="1" hangingPunct="1">
                  <a:buNone/>
                </a:pPr>
                <a:endParaRPr lang="en-US" altLang="ko-KR" sz="2000" dirty="0">
                  <a:latin typeface="Times New Roman" pitchFamily="18" charset="0"/>
                  <a:ea typeface="나눔명조" pitchFamily="18" charset="-127"/>
                  <a:cs typeface="Times New Roman" pitchFamily="18" charset="0"/>
                </a:endParaRPr>
              </a:p>
            </p:txBody>
          </p:sp>
        </mc:Choice>
        <mc:Fallback xmlns="">
          <p:sp>
            <p:nvSpPr>
              <p:cNvPr id="15362" name="Rectangle 9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900113" y="1671638"/>
                <a:ext cx="7737475" cy="4114800"/>
              </a:xfrm>
              <a:blipFill>
                <a:blip r:embed="rId3"/>
                <a:stretch>
                  <a:fillRect l="-1103" t="-1333" b="-2074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363" name="바닥글 개체 틀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r>
              <a:rPr lang="ko-KR" altLang="en-US" sz="1200" b="0" dirty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Chapter </a:t>
            </a:r>
            <a:r>
              <a:rPr lang="en-US" altLang="ko-KR" sz="1200" b="0" dirty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15</a:t>
            </a:r>
          </a:p>
        </p:txBody>
      </p:sp>
      <p:sp>
        <p:nvSpPr>
          <p:cNvPr id="15364" name="슬라이드 번호 개체 틀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fld id="{C753D822-DF5B-4203-821F-E37D763E2E34}" type="slidenum">
              <a:rPr lang="ko-KR" altLang="en-US" sz="1200" b="0">
                <a:solidFill>
                  <a:schemeClr val="tx1"/>
                </a:solidFill>
              </a:rPr>
              <a:pPr/>
              <a:t>41</a:t>
            </a:fld>
            <a:endParaRPr lang="en-US" altLang="ko-KR" sz="1200" b="0" dirty="0">
              <a:solidFill>
                <a:schemeClr val="tx1"/>
              </a:solidFill>
            </a:endParaRPr>
          </a:p>
        </p:txBody>
      </p:sp>
      <p:sp>
        <p:nvSpPr>
          <p:cNvPr id="15365" name="Rectangle 2"/>
          <p:cNvSpPr>
            <a:spLocks noChangeArrowheads="1"/>
          </p:cNvSpPr>
          <p:nvPr/>
        </p:nvSpPr>
        <p:spPr bwMode="auto">
          <a:xfrm>
            <a:off x="7620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>
              <a:ea typeface="굴림" panose="020B0600000101010101" pitchFamily="50" charset="-127"/>
            </a:endParaRPr>
          </a:p>
        </p:txBody>
      </p:sp>
      <p:sp>
        <p:nvSpPr>
          <p:cNvPr id="15366" name="Rectangle 3"/>
          <p:cNvSpPr>
            <a:spLocks noChangeArrowheads="1"/>
          </p:cNvSpPr>
          <p:nvPr/>
        </p:nvSpPr>
        <p:spPr bwMode="auto">
          <a:xfrm>
            <a:off x="32766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>
              <a:ea typeface="굴림" panose="020B0600000101010101" pitchFamily="50" charset="-127"/>
            </a:endParaRPr>
          </a:p>
        </p:txBody>
      </p:sp>
      <p:sp>
        <p:nvSpPr>
          <p:cNvPr id="15367" name="Rectangle 6"/>
          <p:cNvSpPr>
            <a:spLocks noGrp="1" noChangeArrowheads="1"/>
          </p:cNvSpPr>
          <p:nvPr>
            <p:ph type="title"/>
          </p:nvPr>
        </p:nvSpPr>
        <p:spPr>
          <a:xfrm>
            <a:off x="1355725" y="0"/>
            <a:ext cx="7313613" cy="1143000"/>
          </a:xfrm>
        </p:spPr>
        <p:txBody>
          <a:bodyPr/>
          <a:lstStyle/>
          <a:p>
            <a:pPr eaLnBrk="1" hangingPunct="1"/>
            <a:r>
              <a:rPr lang="ko-KR" altLang="en-US" dirty="0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건강생산함수를 통한 편익추정</a:t>
            </a:r>
          </a:p>
        </p:txBody>
      </p:sp>
    </p:spTree>
    <p:extLst>
      <p:ext uri="{BB962C8B-B14F-4D97-AF65-F5344CB8AC3E}">
        <p14:creationId xmlns:p14="http://schemas.microsoft.com/office/powerpoint/2010/main" val="1037805620"/>
      </p:ext>
    </p:extLst>
  </p:cSld>
  <p:clrMapOvr>
    <a:masterClrMapping/>
  </p:clrMapOvr>
  <p:transition spd="med">
    <p:wipe dir="r"/>
  </p:transition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9"/>
          <p:cNvSpPr>
            <a:spLocks noGrp="1" noChangeArrowheads="1"/>
          </p:cNvSpPr>
          <p:nvPr>
            <p:ph idx="1"/>
          </p:nvPr>
        </p:nvSpPr>
        <p:spPr>
          <a:xfrm>
            <a:off x="808132" y="1259345"/>
            <a:ext cx="7737475" cy="4114800"/>
          </a:xfrm>
        </p:spPr>
        <p:txBody>
          <a:bodyPr/>
          <a:lstStyle/>
          <a:p>
            <a:pPr eaLnBrk="1" hangingPunct="1"/>
            <a:r>
              <a:rPr lang="ko-KR" altLang="en-US" sz="2400" dirty="0">
                <a:latin typeface="나눔명조" pitchFamily="18" charset="-127"/>
                <a:ea typeface="나눔명조" pitchFamily="18" charset="-127"/>
              </a:rPr>
              <a:t>대안적 방법으로 </a:t>
            </a:r>
            <a:r>
              <a:rPr lang="ko-KR" altLang="en-US" sz="2400" b="1" dirty="0">
                <a:solidFill>
                  <a:srgbClr val="0000FF"/>
                </a:solidFill>
                <a:latin typeface="나눔명조" pitchFamily="18" charset="-127"/>
                <a:ea typeface="나눔명조" pitchFamily="18" charset="-127"/>
              </a:rPr>
              <a:t>질병비용법</a:t>
            </a:r>
            <a:r>
              <a:rPr lang="en-US" altLang="ko-KR" sz="2400" b="1" dirty="0">
                <a:solidFill>
                  <a:srgbClr val="0000FF"/>
                </a:solidFill>
                <a:latin typeface="나눔명조" pitchFamily="18" charset="-127"/>
                <a:ea typeface="나눔명조" pitchFamily="18" charset="-127"/>
              </a:rPr>
              <a:t>(COI)</a:t>
            </a:r>
            <a:r>
              <a:rPr lang="ko-KR" altLang="en-US" sz="2400" dirty="0">
                <a:latin typeface="나눔명조" pitchFamily="18" charset="-127"/>
                <a:ea typeface="나눔명조" pitchFamily="18" charset="-127"/>
              </a:rPr>
              <a:t>이 사용됨</a:t>
            </a:r>
            <a:endParaRPr lang="en-US" altLang="ko-KR" sz="2400" dirty="0">
              <a:latin typeface="나눔명조" pitchFamily="18" charset="-127"/>
              <a:ea typeface="나눔명조" pitchFamily="18" charset="-127"/>
            </a:endParaRPr>
          </a:p>
          <a:p>
            <a:pPr lvl="1" eaLnBrk="1" hangingPunct="1"/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오염도 변화에 따른 치료비의 변화만을 추정함</a:t>
            </a:r>
            <a:r>
              <a:rPr lang="en-US" altLang="ko-KR" sz="2000" dirty="0">
                <a:latin typeface="나눔명조" pitchFamily="18" charset="-127"/>
                <a:ea typeface="나눔명조" pitchFamily="18" charset="-127"/>
              </a:rPr>
              <a:t>(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간혹 앓는 기간에 발생하는 노동력 손실비용도 반영</a:t>
            </a:r>
            <a:r>
              <a:rPr lang="en-US" altLang="ko-KR" sz="2000" dirty="0">
                <a:latin typeface="나눔명조" pitchFamily="18" charset="-127"/>
                <a:ea typeface="나눔명조" pitchFamily="18" charset="-127"/>
              </a:rPr>
              <a:t>)</a:t>
            </a:r>
          </a:p>
          <a:p>
            <a:pPr lvl="1" eaLnBrk="1" hangingPunct="1"/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통상적으로 치료비용에는 병원비나 약값과 같은 금전적 비용과 병원 방문에 따른 시간손실 등을 적용함</a:t>
            </a:r>
            <a:endParaRPr lang="en-US" altLang="ko-KR" sz="2000" dirty="0">
              <a:latin typeface="나눔명조" pitchFamily="18" charset="-127"/>
              <a:ea typeface="나눔명조" pitchFamily="18" charset="-127"/>
            </a:endParaRPr>
          </a:p>
          <a:p>
            <a:pPr lvl="1" eaLnBrk="1" hangingPunct="1"/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자료를 쉽게 얻을 수 있으므로 분석이 용이한 장점이 있음</a:t>
            </a:r>
            <a:endParaRPr lang="en-US" altLang="ko-KR" sz="2000" dirty="0">
              <a:latin typeface="나눔명조" pitchFamily="18" charset="-127"/>
              <a:ea typeface="나눔명조" pitchFamily="18" charset="-127"/>
            </a:endParaRPr>
          </a:p>
          <a:p>
            <a:pPr lvl="1" eaLnBrk="1" hangingPunct="1"/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그러나 </a:t>
            </a:r>
            <a:r>
              <a:rPr lang="ko-KR" altLang="en-US" sz="2000" dirty="0" err="1">
                <a:latin typeface="나눔명조" pitchFamily="18" charset="-127"/>
                <a:ea typeface="나눔명조" pitchFamily="18" charset="-127"/>
              </a:rPr>
              <a:t>환경질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 변화에 따라 발생하는 편익 가운데 질병 자체가 주는 고통의 변화에 따른 편익은 반영하지 못하는 한계도 있음</a:t>
            </a:r>
            <a:endParaRPr lang="en-US" altLang="ko-KR" sz="2000" dirty="0">
              <a:latin typeface="나눔명조" pitchFamily="18" charset="-127"/>
              <a:ea typeface="나눔명조" pitchFamily="18" charset="-127"/>
            </a:endParaRPr>
          </a:p>
        </p:txBody>
      </p:sp>
      <p:sp>
        <p:nvSpPr>
          <p:cNvPr id="15363" name="바닥글 개체 틀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r>
              <a:rPr lang="ko-KR" altLang="en-US" sz="1200" b="0" dirty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Chapter </a:t>
            </a:r>
            <a:r>
              <a:rPr lang="en-US" altLang="ko-KR" sz="1200" b="0" dirty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15</a:t>
            </a:r>
          </a:p>
        </p:txBody>
      </p:sp>
      <p:sp>
        <p:nvSpPr>
          <p:cNvPr id="15364" name="슬라이드 번호 개체 틀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fld id="{C753D822-DF5B-4203-821F-E37D763E2E34}" type="slidenum">
              <a:rPr lang="ko-KR" altLang="en-US" sz="1200" b="0">
                <a:solidFill>
                  <a:schemeClr val="tx1"/>
                </a:solidFill>
              </a:rPr>
              <a:pPr/>
              <a:t>42</a:t>
            </a:fld>
            <a:endParaRPr lang="en-US" altLang="ko-KR" sz="1200" b="0" dirty="0">
              <a:solidFill>
                <a:schemeClr val="tx1"/>
              </a:solidFill>
            </a:endParaRPr>
          </a:p>
        </p:txBody>
      </p:sp>
      <p:sp>
        <p:nvSpPr>
          <p:cNvPr id="15365" name="Rectangle 2"/>
          <p:cNvSpPr>
            <a:spLocks noChangeArrowheads="1"/>
          </p:cNvSpPr>
          <p:nvPr/>
        </p:nvSpPr>
        <p:spPr bwMode="auto">
          <a:xfrm>
            <a:off x="7620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>
              <a:ea typeface="굴림" panose="020B0600000101010101" pitchFamily="50" charset="-127"/>
            </a:endParaRPr>
          </a:p>
        </p:txBody>
      </p:sp>
      <p:sp>
        <p:nvSpPr>
          <p:cNvPr id="15366" name="Rectangle 3"/>
          <p:cNvSpPr>
            <a:spLocks noChangeArrowheads="1"/>
          </p:cNvSpPr>
          <p:nvPr/>
        </p:nvSpPr>
        <p:spPr bwMode="auto">
          <a:xfrm>
            <a:off x="32766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>
              <a:ea typeface="굴림" panose="020B0600000101010101" pitchFamily="50" charset="-127"/>
            </a:endParaRPr>
          </a:p>
        </p:txBody>
      </p:sp>
      <p:sp>
        <p:nvSpPr>
          <p:cNvPr id="15367" name="Rectangle 6"/>
          <p:cNvSpPr>
            <a:spLocks noGrp="1" noChangeArrowheads="1"/>
          </p:cNvSpPr>
          <p:nvPr>
            <p:ph type="title"/>
          </p:nvPr>
        </p:nvSpPr>
        <p:spPr>
          <a:xfrm>
            <a:off x="1355725" y="0"/>
            <a:ext cx="7313613" cy="1143000"/>
          </a:xfrm>
        </p:spPr>
        <p:txBody>
          <a:bodyPr/>
          <a:lstStyle/>
          <a:p>
            <a:pPr eaLnBrk="1" hangingPunct="1"/>
            <a:r>
              <a:rPr lang="ko-KR" altLang="en-US" dirty="0" err="1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질병비용법</a:t>
            </a:r>
            <a:endParaRPr lang="ko-KR" altLang="en-US" dirty="0">
              <a:solidFill>
                <a:srgbClr val="0070C0"/>
              </a:solidFill>
              <a:latin typeface="나눔명조" pitchFamily="18" charset="-127"/>
              <a:ea typeface="나눔명조" pitchFamily="18" charset="-127"/>
            </a:endParaRP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0B853C06-34EF-443B-8292-FDCA8BE459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9719" y="4320890"/>
            <a:ext cx="6929362" cy="19275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3712064"/>
      </p:ext>
    </p:extLst>
  </p:cSld>
  <p:clrMapOvr>
    <a:masterClrMapping/>
  </p:clrMapOvr>
  <p:transition spd="med">
    <p:wipe dir="r"/>
  </p:transition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5362" name="Rectangle 9"/>
              <p:cNvSpPr>
                <a:spLocks noGrp="1" noChangeArrowheads="1"/>
              </p:cNvSpPr>
              <p:nvPr>
                <p:ph idx="1"/>
              </p:nvPr>
            </p:nvSpPr>
            <p:spPr>
              <a:xfrm>
                <a:off x="900113" y="1502825"/>
                <a:ext cx="7737475" cy="4114800"/>
              </a:xfrm>
            </p:spPr>
            <p:txBody>
              <a:bodyPr/>
              <a:lstStyle/>
              <a:p>
                <a:pPr eaLnBrk="1" hangingPunct="1"/>
                <a:r>
                  <a:rPr lang="ko-KR" altLang="en-US" sz="2400" dirty="0">
                    <a:latin typeface="나눔명조" pitchFamily="18" charset="-127"/>
                    <a:ea typeface="나눔명조" pitchFamily="18" charset="-127"/>
                  </a:rPr>
                  <a:t>신영철</a:t>
                </a:r>
                <a:r>
                  <a:rPr lang="en-US" altLang="ko-KR" sz="2400" dirty="0">
                    <a:latin typeface="나눔명조" pitchFamily="18" charset="-127"/>
                    <a:ea typeface="나눔명조" pitchFamily="18" charset="-127"/>
                  </a:rPr>
                  <a:t>(2002)</a:t>
                </a:r>
                <a:r>
                  <a:rPr lang="ko-KR" altLang="en-US" sz="2400" dirty="0">
                    <a:latin typeface="나눔명조" pitchFamily="18" charset="-127"/>
                    <a:ea typeface="나눔명조" pitchFamily="18" charset="-127"/>
                  </a:rPr>
                  <a:t>의 질병비용모형을 적용한 질병발생정도와 오염도 간의 관계 분석</a:t>
                </a:r>
                <a:endParaRPr lang="en-US" altLang="ko-KR" sz="2400" dirty="0">
                  <a:latin typeface="나눔명조" pitchFamily="18" charset="-127"/>
                  <a:ea typeface="나눔명조" pitchFamily="18" charset="-127"/>
                </a:endParaRPr>
              </a:p>
              <a:p>
                <a:pPr marL="400050" lvl="1" indent="0" eaLnBrk="1" hangingPunct="1">
                  <a:buNone/>
                </a:pPr>
                <a:endParaRPr lang="en-US" altLang="ko-KR" sz="2000" dirty="0">
                  <a:latin typeface="나눔명조" pitchFamily="18" charset="-127"/>
                  <a:ea typeface="나눔명조" pitchFamily="18" charset="-127"/>
                </a:endParaRPr>
              </a:p>
              <a:p>
                <a:pPr marL="457200" lvl="1" indent="0" eaLnBrk="1" hangingPunct="1">
                  <a:buNone/>
                </a:pPr>
                <a:r>
                  <a:rPr lang="ko-KR" altLang="en-US" sz="2000" dirty="0">
                    <a:latin typeface="나눔명조" pitchFamily="18" charset="-127"/>
                    <a:ea typeface="나눔명조" pitchFamily="18" charset="-127"/>
                  </a:rPr>
                  <a:t>호흡기 질환</a:t>
                </a:r>
                <a:r>
                  <a:rPr lang="en-US" altLang="ko-KR" sz="2000" dirty="0">
                    <a:latin typeface="나눔명조" pitchFamily="18" charset="-127"/>
                    <a:ea typeface="나눔명조" pitchFamily="18" charset="-127"/>
                  </a:rPr>
                  <a:t>(</a:t>
                </a:r>
                <a:r>
                  <a:rPr lang="ko-KR" altLang="en-US" sz="2000" dirty="0">
                    <a:latin typeface="나눔명조" pitchFamily="18" charset="-127"/>
                    <a:ea typeface="나눔명조" pitchFamily="18" charset="-127"/>
                  </a:rPr>
                  <a:t>발생하면 </a:t>
                </a:r>
                <a:r>
                  <a:rPr lang="en-US" altLang="ko-KR" sz="2000" dirty="0">
                    <a:latin typeface="나눔명조" pitchFamily="18" charset="-127"/>
                    <a:ea typeface="나눔명조" pitchFamily="18" charset="-127"/>
                  </a:rPr>
                  <a:t>1, </a:t>
                </a:r>
                <a:r>
                  <a:rPr lang="ko-KR" altLang="en-US" sz="2000" dirty="0">
                    <a:latin typeface="나눔명조" pitchFamily="18" charset="-127"/>
                    <a:ea typeface="나눔명조" pitchFamily="18" charset="-127"/>
                  </a:rPr>
                  <a:t>아니면 </a:t>
                </a:r>
                <a:r>
                  <a:rPr lang="en-US" altLang="ko-KR" sz="2000" dirty="0">
                    <a:latin typeface="나눔명조" pitchFamily="18" charset="-127"/>
                    <a:ea typeface="나눔명조" pitchFamily="18" charset="-127"/>
                  </a:rPr>
                  <a:t>0) = -0.404+3.092NOx</a:t>
                </a:r>
                <a:r>
                  <a:rPr lang="ko-KR" altLang="en-US" sz="2000" dirty="0">
                    <a:latin typeface="나눔명조" pitchFamily="18" charset="-127"/>
                    <a:ea typeface="나눔명조" pitchFamily="18" charset="-127"/>
                  </a:rPr>
                  <a:t>농도</a:t>
                </a:r>
                <a:r>
                  <a:rPr lang="en-US" altLang="ko-KR" sz="2000" dirty="0">
                    <a:latin typeface="나눔명조" pitchFamily="18" charset="-127"/>
                    <a:ea typeface="나눔명조" pitchFamily="18" charset="-127"/>
                  </a:rPr>
                  <a:t>-0.054</a:t>
                </a:r>
                <a:r>
                  <a:rPr lang="ko-KR" altLang="en-US" sz="2000" dirty="0">
                    <a:latin typeface="나눔명조" pitchFamily="18" charset="-127"/>
                    <a:ea typeface="나눔명조" pitchFamily="18" charset="-127"/>
                  </a:rPr>
                  <a:t>성별</a:t>
                </a:r>
                <a:r>
                  <a:rPr lang="en-US" altLang="ko-KR" sz="2000" dirty="0">
                    <a:latin typeface="나눔명조" pitchFamily="18" charset="-127"/>
                    <a:ea typeface="나눔명조" pitchFamily="18" charset="-127"/>
                  </a:rPr>
                  <a:t>(</a:t>
                </a:r>
                <a:r>
                  <a:rPr lang="ko-KR" altLang="en-US" sz="2000" dirty="0">
                    <a:latin typeface="나눔명조" pitchFamily="18" charset="-127"/>
                    <a:ea typeface="나눔명조" pitchFamily="18" charset="-127"/>
                  </a:rPr>
                  <a:t>남</a:t>
                </a:r>
                <a:r>
                  <a:rPr lang="en-US" altLang="ko-KR" sz="2000" dirty="0">
                    <a:latin typeface="나눔명조" pitchFamily="18" charset="-127"/>
                    <a:ea typeface="나눔명조" pitchFamily="18" charset="-127"/>
                  </a:rPr>
                  <a:t>=1) -0.012</a:t>
                </a:r>
                <a:r>
                  <a:rPr lang="ko-KR" altLang="en-US" sz="2000" dirty="0">
                    <a:latin typeface="나눔명조" pitchFamily="18" charset="-127"/>
                    <a:ea typeface="나눔명조" pitchFamily="18" charset="-127"/>
                  </a:rPr>
                  <a:t>나이</a:t>
                </a:r>
                <a:r>
                  <a:rPr lang="en-US" altLang="ko-KR" sz="2000" dirty="0">
                    <a:latin typeface="나눔명조" pitchFamily="18" charset="-127"/>
                    <a:ea typeface="나눔명조" pitchFamily="18" charset="-127"/>
                  </a:rPr>
                  <a:t>+0.189</a:t>
                </a:r>
                <a:r>
                  <a:rPr lang="ko-KR" altLang="en-US" sz="2000" dirty="0">
                    <a:latin typeface="나눔명조" pitchFamily="18" charset="-127"/>
                    <a:ea typeface="나눔명조" pitchFamily="18" charset="-127"/>
                  </a:rPr>
                  <a:t>어린이</a:t>
                </a:r>
                <a:r>
                  <a:rPr lang="en-US" altLang="ko-KR" sz="2000" dirty="0">
                    <a:latin typeface="나눔명조" pitchFamily="18" charset="-127"/>
                    <a:ea typeface="나눔명조" pitchFamily="18" charset="-127"/>
                  </a:rPr>
                  <a:t>(14</a:t>
                </a:r>
                <a:r>
                  <a:rPr lang="ko-KR" altLang="en-US" sz="2000" dirty="0">
                    <a:latin typeface="나눔명조" pitchFamily="18" charset="-127"/>
                    <a:ea typeface="나눔명조" pitchFamily="18" charset="-127"/>
                  </a:rPr>
                  <a:t>세 미만이면 </a:t>
                </a:r>
                <a:r>
                  <a:rPr lang="en-US" altLang="ko-KR" sz="2000" dirty="0">
                    <a:latin typeface="나눔명조" pitchFamily="18" charset="-127"/>
                    <a:ea typeface="나눔명조" pitchFamily="18" charset="-127"/>
                  </a:rPr>
                  <a:t>1)+0.192(</a:t>
                </a:r>
                <a:r>
                  <a:rPr lang="ko-KR" altLang="en-US" sz="2000" dirty="0">
                    <a:latin typeface="나눔명조" pitchFamily="18" charset="-127"/>
                    <a:ea typeface="나눔명조" pitchFamily="18" charset="-127"/>
                  </a:rPr>
                  <a:t>기혼이면 </a:t>
                </a:r>
                <a:r>
                  <a:rPr lang="en-US" altLang="ko-KR" sz="2000" dirty="0">
                    <a:latin typeface="나눔명조" pitchFamily="18" charset="-127"/>
                    <a:ea typeface="나눔명조" pitchFamily="18" charset="-127"/>
                  </a:rPr>
                  <a:t>1)-0.035</a:t>
                </a:r>
                <a:r>
                  <a:rPr lang="ko-KR" altLang="en-US" sz="2000" dirty="0">
                    <a:latin typeface="나눔명조" pitchFamily="18" charset="-127"/>
                    <a:ea typeface="나눔명조" pitchFamily="18" charset="-127"/>
                  </a:rPr>
                  <a:t>교육기간</a:t>
                </a:r>
                <a:r>
                  <a:rPr lang="en-US" altLang="ko-KR" sz="2000" dirty="0">
                    <a:latin typeface="나눔명조" pitchFamily="18" charset="-127"/>
                    <a:ea typeface="나눔명조" pitchFamily="18" charset="-127"/>
                  </a:rPr>
                  <a:t>(</a:t>
                </a:r>
                <a:r>
                  <a:rPr lang="ko-KR" altLang="en-US" sz="2000" dirty="0">
                    <a:latin typeface="나눔명조" pitchFamily="18" charset="-127"/>
                    <a:ea typeface="나눔명조" pitchFamily="18" charset="-127"/>
                  </a:rPr>
                  <a:t>연수</a:t>
                </a:r>
                <a:r>
                  <a:rPr lang="en-US" altLang="ko-KR" sz="2000" dirty="0">
                    <a:latin typeface="나눔명조" pitchFamily="18" charset="-127"/>
                    <a:ea typeface="나눔명조" pitchFamily="18" charset="-127"/>
                  </a:rPr>
                  <a:t>) -0.044</a:t>
                </a:r>
                <a:r>
                  <a:rPr lang="ko-KR" altLang="en-US" sz="2000" dirty="0" err="1">
                    <a:latin typeface="나눔명조" pitchFamily="18" charset="-127"/>
                    <a:ea typeface="나눔명조" pitchFamily="18" charset="-127"/>
                  </a:rPr>
                  <a:t>가족수</a:t>
                </a:r>
                <a:r>
                  <a:rPr lang="en-US" altLang="ko-KR" sz="2000" dirty="0">
                    <a:latin typeface="나눔명조" pitchFamily="18" charset="-127"/>
                    <a:ea typeface="나눔명조" pitchFamily="18" charset="-127"/>
                  </a:rPr>
                  <a:t>(</a:t>
                </a:r>
                <a:r>
                  <a:rPr lang="ko-KR" altLang="en-US" sz="2000" dirty="0">
                    <a:latin typeface="나눔명조" pitchFamily="18" charset="-127"/>
                    <a:ea typeface="나눔명조" pitchFamily="18" charset="-127"/>
                  </a:rPr>
                  <a:t>명</a:t>
                </a:r>
                <a:r>
                  <a:rPr lang="en-US" altLang="ko-KR" sz="2000" dirty="0">
                    <a:latin typeface="나눔명조" pitchFamily="18" charset="-127"/>
                    <a:ea typeface="나눔명조" pitchFamily="18" charset="-127"/>
                  </a:rPr>
                  <a:t>)+0.001</a:t>
                </a:r>
                <a:r>
                  <a:rPr lang="ko-KR" altLang="en-US" sz="2000" dirty="0">
                    <a:latin typeface="나눔명조" pitchFamily="18" charset="-127"/>
                    <a:ea typeface="나눔명조" pitchFamily="18" charset="-127"/>
                  </a:rPr>
                  <a:t>소득</a:t>
                </a:r>
                <a:endParaRPr lang="en-US" altLang="ko-KR" sz="2000" dirty="0">
                  <a:latin typeface="나눔명조" pitchFamily="18" charset="-127"/>
                  <a:ea typeface="나눔명조" pitchFamily="18" charset="-127"/>
                </a:endParaRPr>
              </a:p>
              <a:p>
                <a:pPr marL="457200" lvl="1" indent="0" eaLnBrk="1" hangingPunct="1">
                  <a:buNone/>
                </a:pPr>
                <a:endParaRPr lang="en-US" altLang="ko-KR" sz="2000" dirty="0">
                  <a:latin typeface="나눔명조" pitchFamily="18" charset="-127"/>
                  <a:ea typeface="나눔명조" pitchFamily="18" charset="-127"/>
                </a:endParaRPr>
              </a:p>
              <a:p>
                <a:pPr marL="800100" lvl="1" eaLnBrk="1" hangingPunct="1"/>
                <a:r>
                  <a:rPr lang="ko-KR" altLang="en-US" sz="2000" dirty="0">
                    <a:latin typeface="나눔명조" pitchFamily="18" charset="-127"/>
                    <a:ea typeface="나눔명조" pitchFamily="18" charset="-127"/>
                  </a:rPr>
                  <a:t>대기오염도가 심할수록 호흡기 질환을 앓을 가능성이 커짐</a:t>
                </a:r>
                <a:endParaRPr lang="en-US" altLang="ko-KR" sz="2000" dirty="0">
                  <a:latin typeface="나눔명조" pitchFamily="18" charset="-127"/>
                  <a:ea typeface="나눔명조" pitchFamily="18" charset="-127"/>
                </a:endParaRPr>
              </a:p>
              <a:p>
                <a:pPr marL="800100" lvl="1" eaLnBrk="1" hangingPunct="1"/>
                <a:r>
                  <a:rPr lang="ko-KR" altLang="en-US" sz="2000" dirty="0">
                    <a:latin typeface="나눔명조" pitchFamily="18" charset="-127"/>
                    <a:ea typeface="나눔명조" pitchFamily="18" charset="-127"/>
                  </a:rPr>
                  <a:t>추정결과에 개인별 시간비용과 의료비용 등을 적용하여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2000" i="1" smtClean="0">
                            <a:latin typeface="Cambria Math" panose="02040503050406030204" pitchFamily="18" charset="0"/>
                            <a:ea typeface="나눔명조" pitchFamily="18" charset="-127"/>
                          </a:rPr>
                        </m:ctrlPr>
                      </m:sSubPr>
                      <m:e>
                        <m:r>
                          <a:rPr lang="en-US" altLang="ko-KR" sz="2000" b="0" i="1" smtClean="0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𝑁𝑂</m:t>
                        </m:r>
                      </m:e>
                      <m:sub>
                        <m:r>
                          <a:rPr lang="en-US" altLang="ko-KR" sz="2000" b="0" i="1" smtClean="0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2</m:t>
                        </m:r>
                      </m:sub>
                    </m:sSub>
                  </m:oMath>
                </a14:m>
                <a:r>
                  <a:rPr lang="ko-KR" altLang="en-US" sz="2000" dirty="0">
                    <a:latin typeface="나눔명조" pitchFamily="18" charset="-127"/>
                    <a:ea typeface="나눔명조" pitchFamily="18" charset="-127"/>
                  </a:rPr>
                  <a:t>농도가</a:t>
                </a:r>
                <a:r>
                  <a:rPr lang="en-US" altLang="ko-KR" sz="2000" dirty="0">
                    <a:latin typeface="나눔명조" pitchFamily="18" charset="-127"/>
                    <a:ea typeface="나눔명조" pitchFamily="18" charset="-127"/>
                  </a:rPr>
                  <a:t> 0.027ppm</a:t>
                </a:r>
                <a:r>
                  <a:rPr lang="ko-KR" altLang="en-US" sz="2000" dirty="0">
                    <a:latin typeface="나눔명조" pitchFamily="18" charset="-127"/>
                    <a:ea typeface="나눔명조" pitchFamily="18" charset="-127"/>
                  </a:rPr>
                  <a:t>에서 </a:t>
                </a:r>
                <a:r>
                  <a:rPr lang="en-US" altLang="ko-KR" sz="2000" dirty="0">
                    <a:latin typeface="나눔명조" pitchFamily="18" charset="-127"/>
                    <a:ea typeface="나눔명조" pitchFamily="18" charset="-127"/>
                  </a:rPr>
                  <a:t>0.01ppm</a:t>
                </a:r>
                <a:r>
                  <a:rPr lang="ko-KR" altLang="en-US" sz="2000" dirty="0">
                    <a:latin typeface="나눔명조" pitchFamily="18" charset="-127"/>
                    <a:ea typeface="나눔명조" pitchFamily="18" charset="-127"/>
                  </a:rPr>
                  <a:t>으로 </a:t>
                </a:r>
                <a:r>
                  <a:rPr lang="en-US" altLang="ko-KR" sz="2000" dirty="0">
                    <a:latin typeface="나눔명조" pitchFamily="18" charset="-127"/>
                    <a:ea typeface="나눔명조" pitchFamily="18" charset="-127"/>
                  </a:rPr>
                  <a:t>2</a:t>
                </a:r>
                <a:r>
                  <a:rPr lang="ko-KR" altLang="en-US" sz="2000" dirty="0">
                    <a:latin typeface="나눔명조" pitchFamily="18" charset="-127"/>
                    <a:ea typeface="나눔명조" pitchFamily="18" charset="-127"/>
                  </a:rPr>
                  <a:t>주간 감소할 경우의 편익이 약 </a:t>
                </a:r>
                <a:r>
                  <a:rPr lang="en-US" altLang="ko-KR" sz="2000" dirty="0">
                    <a:latin typeface="나눔명조" pitchFamily="18" charset="-127"/>
                    <a:ea typeface="나눔명조" pitchFamily="18" charset="-127"/>
                  </a:rPr>
                  <a:t>17</a:t>
                </a:r>
                <a:r>
                  <a:rPr lang="ko-KR" altLang="en-US" sz="2000" dirty="0">
                    <a:latin typeface="나눔명조" pitchFamily="18" charset="-127"/>
                    <a:ea typeface="나눔명조" pitchFamily="18" charset="-127"/>
                  </a:rPr>
                  <a:t>억원이라는 결과를 보임</a:t>
                </a:r>
                <a:endParaRPr lang="en-US" altLang="ko-KR" sz="2000" dirty="0">
                  <a:latin typeface="나눔명조" pitchFamily="18" charset="-127"/>
                  <a:ea typeface="나눔명조" pitchFamily="18" charset="-127"/>
                </a:endParaRPr>
              </a:p>
            </p:txBody>
          </p:sp>
        </mc:Choice>
        <mc:Fallback xmlns="">
          <p:sp>
            <p:nvSpPr>
              <p:cNvPr id="15362" name="Rectangle 9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900113" y="1502825"/>
                <a:ext cx="7737475" cy="4114800"/>
              </a:xfrm>
              <a:blipFill>
                <a:blip r:embed="rId3"/>
                <a:stretch>
                  <a:fillRect l="-1103" t="-1185" r="-158" b="-4148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363" name="바닥글 개체 틀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r>
              <a:rPr lang="ko-KR" altLang="en-US" sz="1200" b="0" dirty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Chapter </a:t>
            </a:r>
            <a:r>
              <a:rPr lang="en-US" altLang="ko-KR" sz="1200" b="0" dirty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15</a:t>
            </a:r>
          </a:p>
        </p:txBody>
      </p:sp>
      <p:sp>
        <p:nvSpPr>
          <p:cNvPr id="15364" name="슬라이드 번호 개체 틀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fld id="{C753D822-DF5B-4203-821F-E37D763E2E34}" type="slidenum">
              <a:rPr lang="ko-KR" altLang="en-US" sz="1200" b="0">
                <a:solidFill>
                  <a:schemeClr val="tx1"/>
                </a:solidFill>
              </a:rPr>
              <a:pPr/>
              <a:t>43</a:t>
            </a:fld>
            <a:endParaRPr lang="en-US" altLang="ko-KR" sz="1200" b="0" dirty="0">
              <a:solidFill>
                <a:schemeClr val="tx1"/>
              </a:solidFill>
            </a:endParaRPr>
          </a:p>
        </p:txBody>
      </p:sp>
      <p:sp>
        <p:nvSpPr>
          <p:cNvPr id="15365" name="Rectangle 2"/>
          <p:cNvSpPr>
            <a:spLocks noChangeArrowheads="1"/>
          </p:cNvSpPr>
          <p:nvPr/>
        </p:nvSpPr>
        <p:spPr bwMode="auto">
          <a:xfrm>
            <a:off x="7620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>
              <a:ea typeface="굴림" panose="020B0600000101010101" pitchFamily="50" charset="-127"/>
            </a:endParaRPr>
          </a:p>
        </p:txBody>
      </p:sp>
      <p:sp>
        <p:nvSpPr>
          <p:cNvPr id="15366" name="Rectangle 3"/>
          <p:cNvSpPr>
            <a:spLocks noChangeArrowheads="1"/>
          </p:cNvSpPr>
          <p:nvPr/>
        </p:nvSpPr>
        <p:spPr bwMode="auto">
          <a:xfrm>
            <a:off x="32766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>
              <a:ea typeface="굴림" panose="020B0600000101010101" pitchFamily="50" charset="-127"/>
            </a:endParaRPr>
          </a:p>
        </p:txBody>
      </p:sp>
      <p:sp>
        <p:nvSpPr>
          <p:cNvPr id="15367" name="Rectangle 6"/>
          <p:cNvSpPr>
            <a:spLocks noGrp="1" noChangeArrowheads="1"/>
          </p:cNvSpPr>
          <p:nvPr>
            <p:ph type="title"/>
          </p:nvPr>
        </p:nvSpPr>
        <p:spPr>
          <a:xfrm>
            <a:off x="1355725" y="0"/>
            <a:ext cx="7313613" cy="1143000"/>
          </a:xfrm>
        </p:spPr>
        <p:txBody>
          <a:bodyPr/>
          <a:lstStyle/>
          <a:p>
            <a:pPr eaLnBrk="1" hangingPunct="1"/>
            <a:r>
              <a:rPr lang="ko-KR" altLang="en-US" dirty="0" err="1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질병비용법</a:t>
            </a:r>
            <a:endParaRPr lang="ko-KR" altLang="en-US" dirty="0">
              <a:solidFill>
                <a:srgbClr val="0070C0"/>
              </a:solidFill>
              <a:latin typeface="나눔명조" pitchFamily="18" charset="-127"/>
              <a:ea typeface="나눔명조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535838257"/>
      </p:ext>
    </p:extLst>
  </p:cSld>
  <p:clrMapOvr>
    <a:masterClrMapping/>
  </p:clrMapOvr>
  <p:transition spd="med">
    <p:wipe dir="r"/>
  </p:transition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9394C44-F62F-4755-9FB9-20542C2FBE9E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solidFill>
              <a:srgbClr val="7030A0"/>
            </a:solidFill>
          </a:ln>
        </p:spPr>
        <p:txBody>
          <a:bodyPr/>
          <a:lstStyle/>
          <a:p>
            <a:r>
              <a:rPr lang="ko-KR" altLang="en-US" dirty="0">
                <a:solidFill>
                  <a:srgbClr val="7030A0"/>
                </a:solidFill>
                <a:ea typeface="나눔명조" panose="02020603020101020101"/>
              </a:rPr>
              <a:t>함수추정법 </a:t>
            </a:r>
            <a:r>
              <a:rPr lang="en-US" altLang="ko-KR" dirty="0">
                <a:solidFill>
                  <a:srgbClr val="7030A0"/>
                </a:solidFill>
                <a:ea typeface="나눔명조" panose="02020603020101020101"/>
              </a:rPr>
              <a:t>: </a:t>
            </a:r>
            <a:r>
              <a:rPr lang="ko-KR" altLang="en-US" dirty="0">
                <a:solidFill>
                  <a:srgbClr val="7030A0"/>
                </a:solidFill>
                <a:ea typeface="나눔명조" panose="02020603020101020101"/>
              </a:rPr>
              <a:t>회귀분석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2BC1302D-D081-442C-84A0-09162878BF5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ko-KR" altLang="en-US" sz="20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추정</a:t>
                </a:r>
                <a:r>
                  <a:rPr lang="en-US" altLang="ko-KR" sz="20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(estimation)</a:t>
                </a:r>
                <a:r>
                  <a:rPr lang="ko-KR" altLang="en-US" sz="20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이란</a:t>
                </a:r>
                <a:r>
                  <a:rPr lang="en-US" altLang="ko-KR" sz="20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 </a:t>
                </a:r>
                <a:r>
                  <a:rPr lang="ko-KR" altLang="en-US" sz="20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활용할 수 있는 자료를 이용해 우리가 알고 싶은 함수의 형태를 구체적으로 파악한다는 의미</a:t>
                </a:r>
                <a:endParaRPr lang="en-US" altLang="ko-KR" sz="2000" dirty="0">
                  <a:latin typeface="나눔명조" panose="02020603020101020101" pitchFamily="18" charset="-127"/>
                  <a:ea typeface="나눔명조" panose="02020603020101020101" pitchFamily="18" charset="-127"/>
                </a:endParaRPr>
              </a:p>
              <a:p>
                <a:pPr lvl="1"/>
                <a:r>
                  <a:rPr lang="ko-KR" altLang="en-US" sz="18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예</a:t>
                </a:r>
                <a:r>
                  <a:rPr lang="en-US" altLang="ko-KR" sz="18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: </a:t>
                </a:r>
                <a:r>
                  <a:rPr lang="ko-KR" altLang="en-US" sz="18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건강생산함수가 </a:t>
                </a:r>
                <a14:m>
                  <m:oMath xmlns:m="http://schemas.openxmlformats.org/officeDocument/2006/math">
                    <m:r>
                      <a:rPr lang="en-US" altLang="ko-KR" sz="1800" b="0" i="1" smtClean="0">
                        <a:latin typeface="Cambria Math" panose="02040503050406030204" pitchFamily="18" charset="0"/>
                        <a:ea typeface="나눔명조" panose="02020603020101020101" pitchFamily="18" charset="-127"/>
                      </a:rPr>
                      <m:t>𝑆</m:t>
                    </m:r>
                    <m:r>
                      <a:rPr lang="en-US" altLang="ko-KR" sz="1800" b="0" i="1" smtClean="0">
                        <a:latin typeface="Cambria Math" panose="02040503050406030204" pitchFamily="18" charset="0"/>
                        <a:ea typeface="나눔명조" panose="02020603020101020101" pitchFamily="18" charset="-127"/>
                      </a:rPr>
                      <m:t>=</m:t>
                    </m:r>
                    <m:r>
                      <a:rPr lang="ko-KR" altLang="en-US" sz="1800" b="0" i="1" smtClean="0">
                        <a:latin typeface="Cambria Math" panose="02040503050406030204" pitchFamily="18" charset="0"/>
                        <a:ea typeface="나눔명조" panose="02020603020101020101" pitchFamily="18" charset="-127"/>
                      </a:rPr>
                      <m:t>𝛼</m:t>
                    </m:r>
                    <m:r>
                      <a:rPr lang="en-US" altLang="ko-KR" sz="1800" b="0" i="1" smtClean="0">
                        <a:latin typeface="Cambria Math" panose="02040503050406030204" pitchFamily="18" charset="0"/>
                        <a:ea typeface="나눔명조" panose="02020603020101020101" pitchFamily="18" charset="-127"/>
                      </a:rPr>
                      <m:t>+</m:t>
                    </m:r>
                    <m:r>
                      <a:rPr lang="ko-KR" altLang="en-US" sz="1800" b="0" i="1" smtClean="0">
                        <a:latin typeface="Cambria Math" panose="02040503050406030204" pitchFamily="18" charset="0"/>
                        <a:ea typeface="나눔명조" panose="02020603020101020101" pitchFamily="18" charset="-127"/>
                      </a:rPr>
                      <m:t>𝛽</m:t>
                    </m:r>
                    <m:r>
                      <a:rPr lang="en-US" altLang="ko-KR" sz="1800" b="0" i="1" smtClean="0">
                        <a:latin typeface="Cambria Math" panose="02040503050406030204" pitchFamily="18" charset="0"/>
                        <a:ea typeface="나눔명조" panose="02020603020101020101" pitchFamily="18" charset="-127"/>
                      </a:rPr>
                      <m:t>𝑥</m:t>
                    </m:r>
                    <m:r>
                      <a:rPr lang="en-US" altLang="ko-KR" sz="1800" b="0" i="1" smtClean="0">
                        <a:latin typeface="Cambria Math" panose="02040503050406030204" pitchFamily="18" charset="0"/>
                        <a:ea typeface="나눔명조" panose="02020603020101020101" pitchFamily="18" charset="-127"/>
                      </a:rPr>
                      <m:t>+</m:t>
                    </m:r>
                    <m:r>
                      <a:rPr lang="ko-KR" altLang="en-US" sz="1800" b="0" i="1" smtClean="0">
                        <a:latin typeface="Cambria Math" panose="02040503050406030204" pitchFamily="18" charset="0"/>
                        <a:ea typeface="나눔명조" panose="02020603020101020101" pitchFamily="18" charset="-127"/>
                      </a:rPr>
                      <m:t>𝛾</m:t>
                    </m:r>
                    <m:r>
                      <a:rPr lang="en-US" altLang="ko-KR" sz="1800" b="0" i="1" smtClean="0">
                        <a:latin typeface="Cambria Math" panose="02040503050406030204" pitchFamily="18" charset="0"/>
                        <a:ea typeface="나눔명조" panose="02020603020101020101" pitchFamily="18" charset="-127"/>
                      </a:rPr>
                      <m:t>𝑄</m:t>
                    </m:r>
                  </m:oMath>
                </a14:m>
                <a:r>
                  <a:rPr lang="ko-KR" altLang="en-US" sz="18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의</a:t>
                </a:r>
                <a:r>
                  <a:rPr lang="en-US" altLang="ko-KR" sz="18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 </a:t>
                </a:r>
                <a:r>
                  <a:rPr lang="ko-KR" altLang="en-US" sz="18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선형함수 형태일때 추정을 한다는 것은 </a:t>
                </a:r>
                <a14:m>
                  <m:oMath xmlns:m="http://schemas.openxmlformats.org/officeDocument/2006/math">
                    <m:r>
                      <a:rPr lang="ko-KR" altLang="en-US" sz="1800" i="1">
                        <a:latin typeface="Cambria Math" panose="02040503050406030204" pitchFamily="18" charset="0"/>
                        <a:ea typeface="나눔명조" panose="02020603020101020101" pitchFamily="18" charset="-127"/>
                      </a:rPr>
                      <m:t>𝛼</m:t>
                    </m:r>
                    <m:r>
                      <a:rPr lang="en-US" altLang="ko-KR" sz="1800" b="0" i="1" smtClean="0">
                        <a:latin typeface="Cambria Math" panose="02040503050406030204" pitchFamily="18" charset="0"/>
                        <a:ea typeface="나눔명조" panose="02020603020101020101" pitchFamily="18" charset="-127"/>
                      </a:rPr>
                      <m:t>, </m:t>
                    </m:r>
                    <m:r>
                      <a:rPr lang="ko-KR" altLang="en-US" sz="1800" i="1">
                        <a:latin typeface="Cambria Math" panose="02040503050406030204" pitchFamily="18" charset="0"/>
                        <a:ea typeface="나눔명조" panose="02020603020101020101" pitchFamily="18" charset="-127"/>
                      </a:rPr>
                      <m:t>𝛽</m:t>
                    </m:r>
                    <m:r>
                      <a:rPr lang="en-US" altLang="ko-KR" sz="1800" b="0" i="1" smtClean="0">
                        <a:latin typeface="Cambria Math" panose="02040503050406030204" pitchFamily="18" charset="0"/>
                        <a:ea typeface="나눔명조" panose="02020603020101020101" pitchFamily="18" charset="-127"/>
                      </a:rPr>
                      <m:t>, </m:t>
                    </m:r>
                    <m:r>
                      <a:rPr lang="ko-KR" altLang="en-US" sz="1800" i="1" smtClean="0">
                        <a:latin typeface="Cambria Math" panose="02040503050406030204" pitchFamily="18" charset="0"/>
                        <a:ea typeface="나눔명조" panose="02020603020101020101" pitchFamily="18" charset="-127"/>
                      </a:rPr>
                      <m:t>𝛾</m:t>
                    </m:r>
                  </m:oMath>
                </a14:m>
                <a:r>
                  <a:rPr lang="en-US" altLang="ko-KR" sz="18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(</a:t>
                </a:r>
                <a:r>
                  <a:rPr lang="ko-KR" altLang="en-US" sz="18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파라메터</a:t>
                </a:r>
                <a:r>
                  <a:rPr lang="en-US" altLang="ko-KR" sz="18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)</a:t>
                </a:r>
                <a:r>
                  <a:rPr lang="ko-KR" altLang="en-US" sz="18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값을 알아낸다는 것</a:t>
                </a:r>
                <a:endParaRPr lang="en-US" altLang="ko-KR" sz="1800" dirty="0">
                  <a:latin typeface="나눔명조" panose="02020603020101020101" pitchFamily="18" charset="-127"/>
                  <a:ea typeface="나눔명조" panose="02020603020101020101" pitchFamily="18" charset="-127"/>
                </a:endParaRPr>
              </a:p>
              <a:p>
                <a:pPr lvl="1"/>
                <a:r>
                  <a:rPr lang="ko-KR" altLang="en-US" sz="1800" dirty="0" err="1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추정파라메터를</a:t>
                </a:r>
                <a:r>
                  <a:rPr lang="ko-KR" altLang="en-US" sz="18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 찾아내는 가장 좋은 방법은 실제 </a:t>
                </a:r>
                <a:r>
                  <a:rPr lang="ko-KR" altLang="en-US" sz="1800" dirty="0" err="1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관측자료와</a:t>
                </a:r>
                <a:r>
                  <a:rPr lang="ko-KR" altLang="en-US" sz="180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 모형이 예측하는 값이 가장 </a:t>
                </a:r>
                <a:r>
                  <a:rPr lang="ko-KR" altLang="en-US" sz="18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가깝도록 하는 파라메터를 찾는 것</a:t>
                </a:r>
                <a:endParaRPr lang="en-US" altLang="ko-KR" sz="1800" dirty="0">
                  <a:latin typeface="나눔명조" panose="02020603020101020101" pitchFamily="18" charset="-127"/>
                  <a:ea typeface="나눔명조" panose="02020603020101020101" pitchFamily="18" charset="-127"/>
                </a:endParaRPr>
              </a:p>
              <a:p>
                <a:r>
                  <a:rPr lang="ko-KR" altLang="en-US" sz="22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회귀분석</a:t>
                </a:r>
                <a:r>
                  <a:rPr lang="en-US" altLang="ko-KR" sz="22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(regression)</a:t>
                </a:r>
                <a:r>
                  <a:rPr lang="ko-KR" altLang="en-US" sz="22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기법</a:t>
                </a:r>
                <a:endParaRPr lang="en-US" altLang="ko-KR" sz="2200" dirty="0">
                  <a:latin typeface="나눔명조" panose="02020603020101020101" pitchFamily="18" charset="-127"/>
                  <a:ea typeface="나눔명조" panose="02020603020101020101" pitchFamily="18" charset="-127"/>
                </a:endParaRPr>
              </a:p>
              <a:p>
                <a:pPr lvl="1"/>
                <a:r>
                  <a:rPr lang="ko-KR" altLang="en-US" sz="18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예측하는 값과 실제 관측치 사이의 차이를 반영하기 위해 어떤 확률변수 </a:t>
                </a:r>
                <a14:m>
                  <m:oMath xmlns:m="http://schemas.openxmlformats.org/officeDocument/2006/math">
                    <m:r>
                      <a:rPr lang="ko-KR" altLang="en-US" sz="1800" i="1" smtClean="0">
                        <a:latin typeface="Cambria Math" panose="02040503050406030204" pitchFamily="18" charset="0"/>
                        <a:ea typeface="나눔명조" panose="02020603020101020101" pitchFamily="18" charset="-127"/>
                      </a:rPr>
                      <m:t>𝜖</m:t>
                    </m:r>
                  </m:oMath>
                </a14:m>
                <a:r>
                  <a:rPr lang="ko-KR" altLang="en-US" sz="18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을 도입하여 추정식을 </a:t>
                </a:r>
                <a14:m>
                  <m:oMath xmlns:m="http://schemas.openxmlformats.org/officeDocument/2006/math">
                    <m:r>
                      <a:rPr lang="en-US" altLang="ko-KR" sz="1800" i="1">
                        <a:latin typeface="Cambria Math" panose="02040503050406030204" pitchFamily="18" charset="0"/>
                        <a:ea typeface="나눔명조" panose="02020603020101020101" pitchFamily="18" charset="-127"/>
                      </a:rPr>
                      <m:t>𝑆</m:t>
                    </m:r>
                    <m:r>
                      <a:rPr lang="en-US" altLang="ko-KR" sz="1800" i="1">
                        <a:latin typeface="Cambria Math" panose="02040503050406030204" pitchFamily="18" charset="0"/>
                        <a:ea typeface="나눔명조" panose="02020603020101020101" pitchFamily="18" charset="-127"/>
                      </a:rPr>
                      <m:t>=</m:t>
                    </m:r>
                    <m:r>
                      <a:rPr lang="ko-KR" altLang="en-US" sz="1800" i="1">
                        <a:latin typeface="Cambria Math" panose="02040503050406030204" pitchFamily="18" charset="0"/>
                        <a:ea typeface="나눔명조" panose="02020603020101020101" pitchFamily="18" charset="-127"/>
                      </a:rPr>
                      <m:t>𝛼</m:t>
                    </m:r>
                    <m:r>
                      <a:rPr lang="en-US" altLang="ko-KR" sz="1800" i="1">
                        <a:latin typeface="Cambria Math" panose="02040503050406030204" pitchFamily="18" charset="0"/>
                        <a:ea typeface="나눔명조" panose="02020603020101020101" pitchFamily="18" charset="-127"/>
                      </a:rPr>
                      <m:t>+</m:t>
                    </m:r>
                    <m:r>
                      <a:rPr lang="ko-KR" altLang="en-US" sz="1800" i="1">
                        <a:latin typeface="Cambria Math" panose="02040503050406030204" pitchFamily="18" charset="0"/>
                        <a:ea typeface="나눔명조" panose="02020603020101020101" pitchFamily="18" charset="-127"/>
                      </a:rPr>
                      <m:t>𝛽</m:t>
                    </m:r>
                    <m:r>
                      <a:rPr lang="en-US" altLang="ko-KR" sz="1800" i="1">
                        <a:latin typeface="Cambria Math" panose="02040503050406030204" pitchFamily="18" charset="0"/>
                        <a:ea typeface="나눔명조" panose="02020603020101020101" pitchFamily="18" charset="-127"/>
                      </a:rPr>
                      <m:t>𝑥</m:t>
                    </m:r>
                    <m:r>
                      <a:rPr lang="en-US" altLang="ko-KR" sz="1800" i="1">
                        <a:latin typeface="Cambria Math" panose="02040503050406030204" pitchFamily="18" charset="0"/>
                        <a:ea typeface="나눔명조" panose="02020603020101020101" pitchFamily="18" charset="-127"/>
                      </a:rPr>
                      <m:t>+</m:t>
                    </m:r>
                    <m:r>
                      <a:rPr lang="ko-KR" altLang="en-US" sz="1800" i="1">
                        <a:latin typeface="Cambria Math" panose="02040503050406030204" pitchFamily="18" charset="0"/>
                        <a:ea typeface="나눔명조" panose="02020603020101020101" pitchFamily="18" charset="-127"/>
                      </a:rPr>
                      <m:t>𝛾</m:t>
                    </m:r>
                    <m:r>
                      <a:rPr lang="en-US" altLang="ko-KR" sz="1800" i="1">
                        <a:latin typeface="Cambria Math" panose="02040503050406030204" pitchFamily="18" charset="0"/>
                        <a:ea typeface="나눔명조" panose="02020603020101020101" pitchFamily="18" charset="-127"/>
                      </a:rPr>
                      <m:t>𝑄</m:t>
                    </m:r>
                    <m:r>
                      <a:rPr lang="en-US" altLang="ko-KR" sz="1800" b="0" i="1" smtClean="0">
                        <a:latin typeface="Cambria Math" panose="02040503050406030204" pitchFamily="18" charset="0"/>
                        <a:ea typeface="나눔명조" panose="02020603020101020101" pitchFamily="18" charset="-127"/>
                      </a:rPr>
                      <m:t>+</m:t>
                    </m:r>
                    <m:r>
                      <a:rPr lang="ko-KR" altLang="en-US" sz="1800" b="0" i="1" smtClean="0">
                        <a:latin typeface="Cambria Math" panose="02040503050406030204" pitchFamily="18" charset="0"/>
                        <a:ea typeface="나눔명조" panose="02020603020101020101" pitchFamily="18" charset="-127"/>
                      </a:rPr>
                      <m:t>𝜖</m:t>
                    </m:r>
                  </m:oMath>
                </a14:m>
                <a:r>
                  <a:rPr lang="ko-KR" altLang="en-US" sz="18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과 같이 표현함</a:t>
                </a:r>
                <a:r>
                  <a:rPr lang="en-US" altLang="ko-KR" sz="18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. </a:t>
                </a:r>
                <a14:m>
                  <m:oMath xmlns:m="http://schemas.openxmlformats.org/officeDocument/2006/math">
                    <m:r>
                      <a:rPr lang="ko-KR" altLang="en-US" sz="1800" i="1">
                        <a:latin typeface="Cambria Math" panose="02040503050406030204" pitchFamily="18" charset="0"/>
                        <a:ea typeface="나눔명조" panose="02020603020101020101" pitchFamily="18" charset="-127"/>
                      </a:rPr>
                      <m:t>𝜖</m:t>
                    </m:r>
                  </m:oMath>
                </a14:m>
                <a:r>
                  <a:rPr lang="ko-KR" altLang="en-US" sz="18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은 평균이 </a:t>
                </a:r>
                <a:r>
                  <a:rPr lang="en-US" altLang="ko-KR" sz="18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0, </a:t>
                </a:r>
                <a:r>
                  <a:rPr lang="ko-KR" altLang="en-US" sz="18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분산이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1800" i="1" smtClean="0">
                            <a:latin typeface="Cambria Math" panose="02040503050406030204" pitchFamily="18" charset="0"/>
                            <a:ea typeface="나눔명조" panose="02020603020101020101" pitchFamily="18" charset="-127"/>
                          </a:rPr>
                        </m:ctrlPr>
                      </m:sSupPr>
                      <m:e>
                        <m:r>
                          <a:rPr lang="en-US" altLang="ko-KR" sz="1800" b="0" i="1" smtClean="0">
                            <a:latin typeface="Cambria Math" panose="02040503050406030204" pitchFamily="18" charset="0"/>
                            <a:ea typeface="나눔명조" panose="02020603020101020101" pitchFamily="18" charset="-127"/>
                          </a:rPr>
                          <m:t>𝜎</m:t>
                        </m:r>
                      </m:e>
                      <m:sup>
                        <m:r>
                          <a:rPr lang="en-US" altLang="ko-KR" sz="1800" b="0" i="1" smtClean="0">
                            <a:latin typeface="Cambria Math" panose="02040503050406030204" pitchFamily="18" charset="0"/>
                            <a:ea typeface="나눔명조" panose="02020603020101020101" pitchFamily="18" charset="-127"/>
                          </a:rPr>
                          <m:t>2</m:t>
                        </m:r>
                      </m:sup>
                    </m:sSup>
                  </m:oMath>
                </a14:m>
                <a:r>
                  <a:rPr lang="ko-KR" altLang="en-US" sz="18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인 일종의 확률변수</a:t>
                </a:r>
                <a:endParaRPr lang="en-US" altLang="ko-KR" sz="1800" dirty="0">
                  <a:latin typeface="나눔명조" panose="02020603020101020101" pitchFamily="18" charset="-127"/>
                  <a:ea typeface="나눔명조" panose="02020603020101020101" pitchFamily="18" charset="-127"/>
                </a:endParaRPr>
              </a:p>
              <a:p>
                <a:pPr lvl="1"/>
                <a:r>
                  <a:rPr lang="ko-KR" altLang="en-US" sz="18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회귀분석은 각 관측치에서의 추정식이 제시하는 </a:t>
                </a:r>
                <a14:m>
                  <m:oMath xmlns:m="http://schemas.openxmlformats.org/officeDocument/2006/math">
                    <m:r>
                      <a:rPr lang="en-US" altLang="ko-KR" sz="1800" i="1" smtClean="0">
                        <a:latin typeface="Cambria Math" panose="02040503050406030204" pitchFamily="18" charset="0"/>
                        <a:ea typeface="나눔명조" panose="02020603020101020101" pitchFamily="18" charset="-127"/>
                      </a:rPr>
                      <m:t>𝑆</m:t>
                    </m:r>
                    <m:r>
                      <a:rPr lang="en-US" altLang="ko-KR" sz="1800" i="1" smtClean="0">
                        <a:latin typeface="Cambria Math" panose="02040503050406030204" pitchFamily="18" charset="0"/>
                        <a:ea typeface="나눔명조" panose="02020603020101020101" pitchFamily="18" charset="-127"/>
                      </a:rPr>
                      <m:t> </m:t>
                    </m:r>
                  </m:oMath>
                </a14:m>
                <a:r>
                  <a:rPr lang="ko-KR" altLang="en-US" sz="18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값과 실제 관측되는 </a:t>
                </a:r>
                <a14:m>
                  <m:oMath xmlns:m="http://schemas.openxmlformats.org/officeDocument/2006/math">
                    <m:r>
                      <a:rPr lang="en-US" altLang="ko-KR" sz="1800" i="1">
                        <a:latin typeface="Cambria Math" panose="02040503050406030204" pitchFamily="18" charset="0"/>
                        <a:ea typeface="나눔명조" panose="02020603020101020101" pitchFamily="18" charset="-127"/>
                      </a:rPr>
                      <m:t>𝑆</m:t>
                    </m:r>
                  </m:oMath>
                </a14:m>
                <a:r>
                  <a:rPr lang="ko-KR" altLang="en-US" sz="18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값 사이의 오차인 </a:t>
                </a:r>
                <a14:m>
                  <m:oMath xmlns:m="http://schemas.openxmlformats.org/officeDocument/2006/math">
                    <m:r>
                      <a:rPr lang="ko-KR" altLang="en-US" sz="1800" i="1">
                        <a:latin typeface="Cambria Math" panose="02040503050406030204" pitchFamily="18" charset="0"/>
                        <a:ea typeface="나눔명조" panose="02020603020101020101" pitchFamily="18" charset="-127"/>
                      </a:rPr>
                      <m:t>𝜖</m:t>
                    </m:r>
                  </m:oMath>
                </a14:m>
                <a:r>
                  <a:rPr lang="ko-KR" altLang="en-US" sz="18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의 제곱을 모두 더해준 것</a:t>
                </a:r>
                <a:r>
                  <a:rPr lang="en-US" altLang="ko-KR" sz="18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(=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subHide m:val="on"/>
                        <m:supHide m:val="on"/>
                        <m:ctrlPr>
                          <a:rPr lang="en-US" altLang="ko-KR" sz="1800" i="1" smtClean="0">
                            <a:latin typeface="Cambria Math" panose="02040503050406030204" pitchFamily="18" charset="0"/>
                            <a:ea typeface="나눔명조" panose="02020603020101020101" pitchFamily="18" charset="-127"/>
                          </a:rPr>
                        </m:ctrlPr>
                      </m:naryPr>
                      <m:sub/>
                      <m:sup/>
                      <m:e>
                        <m:sSubSup>
                          <m:sSubSupPr>
                            <m:ctrlPr>
                              <a:rPr lang="en-US" altLang="ko-KR" sz="1800" b="0" i="1" smtClean="0">
                                <a:latin typeface="Cambria Math" panose="02040503050406030204" pitchFamily="18" charset="0"/>
                                <a:ea typeface="나눔명조" panose="02020603020101020101" pitchFamily="18" charset="-127"/>
                              </a:rPr>
                            </m:ctrlPr>
                          </m:sSubSupPr>
                          <m:e>
                            <m:r>
                              <a:rPr lang="en-US" altLang="ko-KR" sz="1800" b="0" i="1" smtClean="0">
                                <a:latin typeface="Cambria Math" panose="02040503050406030204" pitchFamily="18" charset="0"/>
                                <a:ea typeface="나눔명조" panose="02020603020101020101" pitchFamily="18" charset="-127"/>
                              </a:rPr>
                              <m:t>𝜖</m:t>
                            </m:r>
                          </m:e>
                          <m:sub>
                            <m:r>
                              <a:rPr lang="en-US" altLang="ko-KR" sz="1800" b="0" i="1" smtClean="0">
                                <a:latin typeface="Cambria Math" panose="02040503050406030204" pitchFamily="18" charset="0"/>
                                <a:ea typeface="나눔명조" panose="02020603020101020101" pitchFamily="18" charset="-127"/>
                              </a:rPr>
                              <m:t>𝑖</m:t>
                            </m:r>
                          </m:sub>
                          <m:sup>
                            <m:r>
                              <a:rPr lang="en-US" altLang="ko-KR" sz="1800" b="0" i="1" smtClean="0">
                                <a:latin typeface="Cambria Math" panose="02040503050406030204" pitchFamily="18" charset="0"/>
                                <a:ea typeface="나눔명조" panose="02020603020101020101" pitchFamily="18" charset="-127"/>
                              </a:rPr>
                              <m:t>2</m:t>
                            </m:r>
                          </m:sup>
                        </m:sSubSup>
                      </m:e>
                    </m:nary>
                  </m:oMath>
                </a14:m>
                <a:r>
                  <a:rPr lang="en-US" altLang="ko-KR" sz="18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)</a:t>
                </a:r>
                <a:r>
                  <a:rPr lang="ko-KR" altLang="en-US" sz="18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을 최소로 만들어주는 </a:t>
                </a:r>
                <a:r>
                  <a:rPr lang="ko-KR" altLang="en-US" sz="1800" dirty="0" err="1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추정파라메터</a:t>
                </a:r>
                <a:r>
                  <a:rPr lang="ko-KR" altLang="en-US" sz="18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 </a:t>
                </a:r>
                <a14:m>
                  <m:oMath xmlns:m="http://schemas.openxmlformats.org/officeDocument/2006/math">
                    <m:r>
                      <a:rPr lang="ko-KR" altLang="en-US" sz="1800" i="1">
                        <a:latin typeface="Cambria Math" panose="02040503050406030204" pitchFamily="18" charset="0"/>
                        <a:ea typeface="나눔명조" panose="02020603020101020101" pitchFamily="18" charset="-127"/>
                      </a:rPr>
                      <m:t>𝛼</m:t>
                    </m:r>
                    <m:r>
                      <a:rPr lang="en-US" altLang="ko-KR" sz="1800" i="1">
                        <a:latin typeface="Cambria Math" panose="02040503050406030204" pitchFamily="18" charset="0"/>
                        <a:ea typeface="나눔명조" panose="02020603020101020101" pitchFamily="18" charset="-127"/>
                      </a:rPr>
                      <m:t>, </m:t>
                    </m:r>
                    <m:r>
                      <a:rPr lang="ko-KR" altLang="en-US" sz="1800" i="1">
                        <a:latin typeface="Cambria Math" panose="02040503050406030204" pitchFamily="18" charset="0"/>
                        <a:ea typeface="나눔명조" panose="02020603020101020101" pitchFamily="18" charset="-127"/>
                      </a:rPr>
                      <m:t>𝛽</m:t>
                    </m:r>
                    <m:r>
                      <a:rPr lang="en-US" altLang="ko-KR" sz="1800" i="1">
                        <a:latin typeface="Cambria Math" panose="02040503050406030204" pitchFamily="18" charset="0"/>
                        <a:ea typeface="나눔명조" panose="02020603020101020101" pitchFamily="18" charset="-127"/>
                      </a:rPr>
                      <m:t>, </m:t>
                    </m:r>
                    <m:r>
                      <a:rPr lang="ko-KR" altLang="en-US" sz="1800" i="1">
                        <a:latin typeface="Cambria Math" panose="02040503050406030204" pitchFamily="18" charset="0"/>
                        <a:ea typeface="나눔명조" panose="02020603020101020101" pitchFamily="18" charset="-127"/>
                      </a:rPr>
                      <m:t>𝛾</m:t>
                    </m:r>
                  </m:oMath>
                </a14:m>
                <a:r>
                  <a:rPr lang="ko-KR" altLang="en-US" sz="18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를 찾는 방식</a:t>
                </a:r>
                <a:endParaRPr lang="en-US" altLang="ko-KR" sz="1800" dirty="0">
                  <a:latin typeface="나눔명조" panose="02020603020101020101" pitchFamily="18" charset="-127"/>
                  <a:ea typeface="나눔명조" panose="02020603020101020101" pitchFamily="18" charset="-127"/>
                </a:endParaRPr>
              </a:p>
            </p:txBody>
          </p:sp>
        </mc:Choice>
        <mc:Fallback xmlns="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2BC1302D-D081-442C-84A0-09162878BF5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17" t="-889" r="-751" b="-1600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BF30AFF8-7601-44B4-ACF8-017B42FC24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19FF04-9146-4048-BDA6-3A9E8714DE63}" type="slidenum">
              <a:rPr lang="ko-KR" altLang="en-US" smtClean="0"/>
              <a:pPr/>
              <a:t>44</a:t>
            </a:fld>
            <a:endParaRPr lang="en-US" altLang="ko-KR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ko-KR"/>
              <a:t>Chapter 15</a:t>
            </a:r>
          </a:p>
        </p:txBody>
      </p:sp>
    </p:spTree>
    <p:extLst>
      <p:ext uri="{BB962C8B-B14F-4D97-AF65-F5344CB8AC3E}">
        <p14:creationId xmlns:p14="http://schemas.microsoft.com/office/powerpoint/2010/main" val="30213081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9"/>
          <p:cNvSpPr>
            <a:spLocks noGrp="1" noChangeArrowheads="1"/>
          </p:cNvSpPr>
          <p:nvPr>
            <p:ph idx="1"/>
          </p:nvPr>
        </p:nvSpPr>
        <p:spPr>
          <a:xfrm>
            <a:off x="855662" y="1143000"/>
            <a:ext cx="7737475" cy="4114800"/>
          </a:xfrm>
        </p:spPr>
        <p:txBody>
          <a:bodyPr/>
          <a:lstStyle/>
          <a:p>
            <a:pPr eaLnBrk="1" hangingPunct="1"/>
            <a:r>
              <a:rPr lang="ko-KR" altLang="en-US" sz="2400" dirty="0">
                <a:latin typeface="나눔명조" pitchFamily="18" charset="-127"/>
                <a:ea typeface="나눔명조" pitchFamily="18" charset="-127"/>
              </a:rPr>
              <a:t>회피행위모형을 이용하여 </a:t>
            </a:r>
            <a:r>
              <a:rPr lang="ko-KR" altLang="en-US" sz="2400" u="sng" dirty="0" err="1">
                <a:latin typeface="나눔명조" pitchFamily="18" charset="-127"/>
                <a:ea typeface="나눔명조" pitchFamily="18" charset="-127"/>
              </a:rPr>
              <a:t>비한계적인</a:t>
            </a:r>
            <a:r>
              <a:rPr lang="ko-KR" altLang="en-US" sz="2400" dirty="0">
                <a:latin typeface="나눔명조" pitchFamily="18" charset="-127"/>
                <a:ea typeface="나눔명조" pitchFamily="18" charset="-127"/>
              </a:rPr>
              <a:t> 오염도의 편익을 정확히 도출하는 방법은 개발되어있지 않음</a:t>
            </a:r>
            <a:endParaRPr lang="en-US" altLang="ko-KR" sz="2200" dirty="0">
              <a:latin typeface="나눔명조" pitchFamily="18" charset="-127"/>
              <a:ea typeface="나눔명조" pitchFamily="18" charset="-127"/>
            </a:endParaRPr>
          </a:p>
          <a:p>
            <a:pPr eaLnBrk="1" hangingPunct="1"/>
            <a:r>
              <a:rPr lang="ko-KR" altLang="en-US" sz="2400" dirty="0">
                <a:latin typeface="나눔명조" pitchFamily="18" charset="-127"/>
                <a:ea typeface="나눔명조" pitchFamily="18" charset="-127"/>
              </a:rPr>
              <a:t>몇 가지 방법들이 대안으로 사용됨</a:t>
            </a:r>
            <a:endParaRPr lang="en-US" altLang="ko-KR" sz="2200" dirty="0">
              <a:latin typeface="나눔명조" pitchFamily="18" charset="-127"/>
              <a:ea typeface="나눔명조" pitchFamily="18" charset="-127"/>
            </a:endParaRPr>
          </a:p>
          <a:p>
            <a:pPr lvl="1" eaLnBrk="1" hangingPunct="1"/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신영철</a:t>
            </a:r>
            <a:r>
              <a:rPr lang="en-US" altLang="ko-KR" sz="2000" dirty="0">
                <a:latin typeface="나눔명조" pitchFamily="18" charset="-127"/>
                <a:ea typeface="나눔명조" pitchFamily="18" charset="-127"/>
              </a:rPr>
              <a:t>(2002)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처럼 질병비용법을 비한계적 오염도 변화에 적용</a:t>
            </a:r>
            <a:endParaRPr lang="en-US" altLang="ko-KR" sz="2000" dirty="0">
              <a:latin typeface="나눔명조" pitchFamily="18" charset="-127"/>
              <a:ea typeface="나눔명조" pitchFamily="18" charset="-127"/>
            </a:endParaRPr>
          </a:p>
          <a:p>
            <a:pPr lvl="1" eaLnBrk="1" hangingPunct="1"/>
            <a:r>
              <a:rPr lang="ko-KR" altLang="en-US" sz="2000" dirty="0" err="1">
                <a:latin typeface="나눔명조" pitchFamily="18" charset="-127"/>
                <a:ea typeface="나눔명조" pitchFamily="18" charset="-127"/>
              </a:rPr>
              <a:t>바르틱이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 제시한 편익분석치의 상한과 하한을 사용</a:t>
            </a:r>
            <a:endParaRPr lang="en-US" altLang="ko-KR" sz="2000" dirty="0">
              <a:latin typeface="나눔명조" pitchFamily="18" charset="-127"/>
              <a:ea typeface="나눔명조" pitchFamily="18" charset="-127"/>
            </a:endParaRPr>
          </a:p>
          <a:p>
            <a:pPr lvl="1" eaLnBrk="1" hangingPunct="1">
              <a:buNone/>
            </a:pPr>
            <a:r>
              <a:rPr lang="en-US" altLang="ko-KR" sz="2000" dirty="0">
                <a:latin typeface="나눔명조" pitchFamily="18" charset="-127"/>
                <a:ea typeface="나눔명조" pitchFamily="18" charset="-127"/>
              </a:rPr>
              <a:t>   : 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과소평가와 과대평가의 가능성이 존재</a:t>
            </a:r>
            <a:endParaRPr lang="en-US" altLang="ko-KR" sz="2000" dirty="0">
              <a:latin typeface="나눔명조" pitchFamily="18" charset="-127"/>
              <a:ea typeface="나눔명조" pitchFamily="18" charset="-127"/>
            </a:endParaRPr>
          </a:p>
          <a:p>
            <a:pPr lvl="1" eaLnBrk="1" hangingPunct="1"/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회피행위비용 변화를 계산하되</a:t>
            </a:r>
            <a:r>
              <a:rPr lang="en-US" altLang="ko-KR" sz="2000" dirty="0">
                <a:latin typeface="나눔명조" pitchFamily="18" charset="-127"/>
                <a:ea typeface="나눔명조" pitchFamily="18" charset="-127"/>
              </a:rPr>
              <a:t>, </a:t>
            </a:r>
            <a:r>
              <a:rPr lang="ko-KR" altLang="en-US" sz="2000" dirty="0" err="1">
                <a:latin typeface="나눔명조" pitchFamily="18" charset="-127"/>
                <a:ea typeface="나눔명조" pitchFamily="18" charset="-127"/>
              </a:rPr>
              <a:t>환경질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 변화 이전과 이후에 소비자들이 실제로 선택한 회피행위로 인해 발생한 비용변화를 계산하는 방법</a:t>
            </a:r>
            <a:endParaRPr lang="en-US" altLang="ko-KR" sz="2000" dirty="0">
              <a:latin typeface="나눔명조" pitchFamily="18" charset="-127"/>
              <a:ea typeface="나눔명조" pitchFamily="18" charset="-127"/>
            </a:endParaRPr>
          </a:p>
          <a:p>
            <a:pPr lvl="2" eaLnBrk="1" hangingPunct="1"/>
            <a:r>
              <a:rPr lang="ko-KR" altLang="en-US" sz="1700" dirty="0">
                <a:latin typeface="나눔명조" pitchFamily="18" charset="-127"/>
                <a:ea typeface="나눔명조" pitchFamily="18" charset="-127"/>
              </a:rPr>
              <a:t>개인 </a:t>
            </a:r>
            <a:r>
              <a:rPr lang="ko-KR" altLang="en-US" sz="1700" dirty="0" err="1">
                <a:latin typeface="나눔명조" pitchFamily="18" charset="-127"/>
                <a:ea typeface="나눔명조" pitchFamily="18" charset="-127"/>
              </a:rPr>
              <a:t>환경질</a:t>
            </a:r>
            <a:r>
              <a:rPr lang="ko-KR" altLang="en-US" sz="1700" dirty="0">
                <a:latin typeface="나눔명조" pitchFamily="18" charset="-127"/>
                <a:ea typeface="나눔명조" pitchFamily="18" charset="-127"/>
              </a:rPr>
              <a:t> 수준이 전체 환경질이 변하면 바뀌게 된다는 것을 인정함</a:t>
            </a:r>
            <a:endParaRPr lang="en-US" altLang="ko-KR" sz="1700" dirty="0">
              <a:latin typeface="나눔명조" pitchFamily="18" charset="-127"/>
              <a:ea typeface="나눔명조" pitchFamily="18" charset="-127"/>
            </a:endParaRPr>
          </a:p>
          <a:p>
            <a:pPr lvl="1" eaLnBrk="1" hangingPunct="1"/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마지막 방법에 의한 추정치와 </a:t>
            </a:r>
            <a:r>
              <a:rPr lang="ko-KR" altLang="en-US" sz="2000" dirty="0" err="1">
                <a:latin typeface="나눔명조" pitchFamily="18" charset="-127"/>
                <a:ea typeface="나눔명조" pitchFamily="18" charset="-127"/>
              </a:rPr>
              <a:t>바르틱의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 지표 사이의 격차는 전체 환경질의 변화 방향과 이에 따른 소비자의 최적화의 양상에 의해 결정될 것임</a:t>
            </a:r>
            <a:r>
              <a:rPr lang="en-US" altLang="ko-KR" sz="2000" dirty="0">
                <a:latin typeface="나눔명조" pitchFamily="18" charset="-127"/>
                <a:ea typeface="나눔명조" pitchFamily="18" charset="-127"/>
              </a:rPr>
              <a:t>(</a:t>
            </a:r>
            <a:r>
              <a:rPr lang="ko-KR" altLang="en-US" sz="2000">
                <a:latin typeface="나눔명조" pitchFamily="18" charset="-127"/>
                <a:ea typeface="나눔명조" pitchFamily="18" charset="-127"/>
              </a:rPr>
              <a:t>본문 및 연습문제 참조</a:t>
            </a:r>
            <a:r>
              <a:rPr lang="en-US" altLang="ko-KR" sz="2000" dirty="0">
                <a:latin typeface="나눔명조" pitchFamily="18" charset="-127"/>
                <a:ea typeface="나눔명조" pitchFamily="18" charset="-127"/>
              </a:rPr>
              <a:t>)</a:t>
            </a:r>
          </a:p>
        </p:txBody>
      </p:sp>
      <p:sp>
        <p:nvSpPr>
          <p:cNvPr id="15363" name="바닥글 개체 틀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r>
              <a:rPr lang="ko-KR" altLang="en-US" sz="1200" b="0" dirty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Chapter </a:t>
            </a:r>
            <a:r>
              <a:rPr lang="en-US" altLang="ko-KR" sz="1200" b="0" dirty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15</a:t>
            </a:r>
          </a:p>
        </p:txBody>
      </p:sp>
      <p:sp>
        <p:nvSpPr>
          <p:cNvPr id="15364" name="슬라이드 번호 개체 틀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fld id="{C753D822-DF5B-4203-821F-E37D763E2E34}" type="slidenum">
              <a:rPr lang="ko-KR" altLang="en-US" sz="1200" b="0">
                <a:solidFill>
                  <a:schemeClr val="tx1"/>
                </a:solidFill>
              </a:rPr>
              <a:pPr/>
              <a:t>45</a:t>
            </a:fld>
            <a:endParaRPr lang="en-US" altLang="ko-KR" sz="1200" b="0" dirty="0">
              <a:solidFill>
                <a:schemeClr val="tx1"/>
              </a:solidFill>
            </a:endParaRPr>
          </a:p>
        </p:txBody>
      </p:sp>
      <p:sp>
        <p:nvSpPr>
          <p:cNvPr id="15365" name="Rectangle 2"/>
          <p:cNvSpPr>
            <a:spLocks noChangeArrowheads="1"/>
          </p:cNvSpPr>
          <p:nvPr/>
        </p:nvSpPr>
        <p:spPr bwMode="auto">
          <a:xfrm>
            <a:off x="7620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>
              <a:ea typeface="굴림" panose="020B0600000101010101" pitchFamily="50" charset="-127"/>
            </a:endParaRPr>
          </a:p>
        </p:txBody>
      </p:sp>
      <p:sp>
        <p:nvSpPr>
          <p:cNvPr id="15366" name="Rectangle 3"/>
          <p:cNvSpPr>
            <a:spLocks noChangeArrowheads="1"/>
          </p:cNvSpPr>
          <p:nvPr/>
        </p:nvSpPr>
        <p:spPr bwMode="auto">
          <a:xfrm>
            <a:off x="32766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>
              <a:ea typeface="굴림" panose="020B0600000101010101" pitchFamily="50" charset="-127"/>
            </a:endParaRPr>
          </a:p>
        </p:txBody>
      </p:sp>
      <p:sp>
        <p:nvSpPr>
          <p:cNvPr id="15367" name="Rectangle 6"/>
          <p:cNvSpPr>
            <a:spLocks noGrp="1" noChangeArrowheads="1"/>
          </p:cNvSpPr>
          <p:nvPr>
            <p:ph type="title"/>
          </p:nvPr>
        </p:nvSpPr>
        <p:spPr>
          <a:xfrm>
            <a:off x="1355725" y="0"/>
            <a:ext cx="7313613" cy="1143000"/>
          </a:xfrm>
        </p:spPr>
        <p:txBody>
          <a:bodyPr/>
          <a:lstStyle/>
          <a:p>
            <a:pPr eaLnBrk="1" hangingPunct="1"/>
            <a:r>
              <a:rPr lang="ko-KR" altLang="en-US" dirty="0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비한계적 오염도 변화의 편익</a:t>
            </a:r>
          </a:p>
        </p:txBody>
      </p:sp>
    </p:spTree>
    <p:extLst>
      <p:ext uri="{BB962C8B-B14F-4D97-AF65-F5344CB8AC3E}">
        <p14:creationId xmlns:p14="http://schemas.microsoft.com/office/powerpoint/2010/main" val="3842566094"/>
      </p:ext>
    </p:extLst>
  </p:cSld>
  <p:clrMapOvr>
    <a:masterClrMapping/>
  </p:clrMapOvr>
  <p:transition spd="med">
    <p:wipe dir="r"/>
  </p:transition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5362" name="Rectangle 9"/>
              <p:cNvSpPr>
                <a:spLocks noGrp="1" noChangeArrowheads="1"/>
              </p:cNvSpPr>
              <p:nvPr>
                <p:ph idx="1"/>
              </p:nvPr>
            </p:nvSpPr>
            <p:spPr>
              <a:xfrm>
                <a:off x="900113" y="1474691"/>
                <a:ext cx="7737475" cy="4114800"/>
              </a:xfrm>
            </p:spPr>
            <p:txBody>
              <a:bodyPr/>
              <a:lstStyle/>
              <a:p>
                <a:pPr eaLnBrk="1" hangingPunct="1"/>
                <a:r>
                  <a:rPr lang="ko-KR" altLang="en-US" sz="2000" dirty="0">
                    <a:latin typeface="나눔명조" pitchFamily="18" charset="-127"/>
                    <a:ea typeface="나눔명조" pitchFamily="18" charset="-127"/>
                  </a:rPr>
                  <a:t>압달라 외</a:t>
                </a:r>
                <a:r>
                  <a:rPr lang="en-US" altLang="ko-KR" sz="2000" dirty="0">
                    <a:latin typeface="나눔명조" pitchFamily="18" charset="-127"/>
                    <a:ea typeface="나눔명조" pitchFamily="18" charset="-127"/>
                  </a:rPr>
                  <a:t>(Abdalla et al., 1992)</a:t>
                </a:r>
                <a:r>
                  <a:rPr lang="ko-KR" altLang="en-US" sz="2000" dirty="0">
                    <a:latin typeface="나눔명조" pitchFamily="18" charset="-127"/>
                    <a:ea typeface="나눔명조" pitchFamily="18" charset="-127"/>
                  </a:rPr>
                  <a:t>의 회피행위 실제 변화 분석</a:t>
                </a:r>
                <a:endParaRPr lang="en-US" altLang="ko-KR" sz="2000" dirty="0">
                  <a:latin typeface="나눔명조" pitchFamily="18" charset="-127"/>
                  <a:ea typeface="나눔명조" pitchFamily="18" charset="-127"/>
                </a:endParaRPr>
              </a:p>
              <a:p>
                <a:pPr eaLnBrk="1" hangingPunct="1"/>
                <a:r>
                  <a:rPr lang="ko-KR" altLang="en-US" sz="2000" dirty="0">
                    <a:latin typeface="나눔명조" pitchFamily="18" charset="-127"/>
                    <a:ea typeface="나눔명조" pitchFamily="18" charset="-127"/>
                  </a:rPr>
                  <a:t>식수로 사용되는 지하수가 오염되는 사고가 발생했을 때 사고가 영향을 미친 기간 동안 소비자들이 실제로 지불한 먹는 샘물 구입비용 증가액</a:t>
                </a:r>
                <a:r>
                  <a:rPr lang="en-US" altLang="ko-KR" sz="2000" dirty="0">
                    <a:latin typeface="나눔명조" pitchFamily="18" charset="-127"/>
                    <a:ea typeface="나눔명조" pitchFamily="18" charset="-127"/>
                  </a:rPr>
                  <a:t>, </a:t>
                </a:r>
                <a:r>
                  <a:rPr lang="ko-KR" altLang="en-US" sz="2000" dirty="0">
                    <a:latin typeface="나눔명조" pitchFamily="18" charset="-127"/>
                    <a:ea typeface="나눔명조" pitchFamily="18" charset="-127"/>
                  </a:rPr>
                  <a:t>먹는 샘물 신규구입자가 지급하는 비용</a:t>
                </a:r>
                <a:r>
                  <a:rPr lang="en-US" altLang="ko-KR" sz="2000" dirty="0">
                    <a:latin typeface="나눔명조" pitchFamily="18" charset="-127"/>
                    <a:ea typeface="나눔명조" pitchFamily="18" charset="-127"/>
                  </a:rPr>
                  <a:t>, </a:t>
                </a:r>
                <a:r>
                  <a:rPr lang="ko-KR" altLang="en-US" sz="2000" dirty="0">
                    <a:latin typeface="나눔명조" pitchFamily="18" charset="-127"/>
                    <a:ea typeface="나눔명조" pitchFamily="18" charset="-127"/>
                  </a:rPr>
                  <a:t>가정용 정수기 비용</a:t>
                </a:r>
                <a:r>
                  <a:rPr lang="en-US" altLang="ko-KR" sz="2000" dirty="0">
                    <a:latin typeface="나눔명조" pitchFamily="18" charset="-127"/>
                    <a:ea typeface="나눔명조" pitchFamily="18" charset="-127"/>
                  </a:rPr>
                  <a:t>, </a:t>
                </a:r>
                <a:r>
                  <a:rPr lang="ko-KR" altLang="en-US" sz="2000" dirty="0">
                    <a:latin typeface="나눔명조" pitchFamily="18" charset="-127"/>
                    <a:ea typeface="나눔명조" pitchFamily="18" charset="-127"/>
                  </a:rPr>
                  <a:t>물을 외지에서 운반해오는 비용</a:t>
                </a:r>
                <a:r>
                  <a:rPr lang="en-US" altLang="ko-KR" sz="2000" dirty="0">
                    <a:latin typeface="나눔명조" pitchFamily="18" charset="-127"/>
                    <a:ea typeface="나눔명조" pitchFamily="18" charset="-127"/>
                  </a:rPr>
                  <a:t>, </a:t>
                </a:r>
                <a:r>
                  <a:rPr lang="ko-KR" altLang="en-US" sz="2000" dirty="0">
                    <a:latin typeface="나눔명조" pitchFamily="18" charset="-127"/>
                    <a:ea typeface="나눔명조" pitchFamily="18" charset="-127"/>
                  </a:rPr>
                  <a:t>물을 </a:t>
                </a:r>
                <a:r>
                  <a:rPr lang="ko-KR" altLang="en-US" sz="2000" dirty="0" err="1">
                    <a:latin typeface="나눔명조" pitchFamily="18" charset="-127"/>
                    <a:ea typeface="나눔명조" pitchFamily="18" charset="-127"/>
                  </a:rPr>
                  <a:t>끓여먹는</a:t>
                </a:r>
                <a:r>
                  <a:rPr lang="ko-KR" altLang="en-US" sz="2000" dirty="0">
                    <a:latin typeface="나눔명조" pitchFamily="18" charset="-127"/>
                    <a:ea typeface="나눔명조" pitchFamily="18" charset="-127"/>
                  </a:rPr>
                  <a:t> 비용 등을 모두 계산하여 합해줌으로써 지하수질 악화의 편익효과를 추정함</a:t>
                </a:r>
                <a:endParaRPr lang="en-US" altLang="ko-KR" sz="2000" dirty="0">
                  <a:latin typeface="나눔명조" pitchFamily="18" charset="-127"/>
                  <a:ea typeface="나눔명조" pitchFamily="18" charset="-127"/>
                </a:endParaRPr>
              </a:p>
              <a:p>
                <a:pPr lvl="1" eaLnBrk="1" hangingPunct="1"/>
                <a:r>
                  <a:rPr lang="ko-KR" altLang="en-US" sz="1800" dirty="0">
                    <a:latin typeface="나눔명조" pitchFamily="18" charset="-127"/>
                    <a:ea typeface="나눔명조" pitchFamily="18" charset="-127"/>
                  </a:rPr>
                  <a:t>사고발생 유무와 같은 변화가 아니라 대기오염도처럼 </a:t>
                </a:r>
                <a:r>
                  <a:rPr lang="en-US" altLang="ko-KR" sz="1800" dirty="0">
                    <a:latin typeface="나눔명조" pitchFamily="18" charset="-127"/>
                    <a:ea typeface="나눔명조" pitchFamily="18" charset="-127"/>
                  </a:rPr>
                  <a:t>Q</a:t>
                </a:r>
                <a:r>
                  <a:rPr lang="ko-KR" altLang="en-US" sz="1800" dirty="0">
                    <a:latin typeface="나눔명조" pitchFamily="18" charset="-127"/>
                    <a:ea typeface="나눔명조" pitchFamily="18" charset="-127"/>
                  </a:rPr>
                  <a:t>가 연속적으로 변하는 경우에는</a:t>
                </a:r>
                <a:r>
                  <a:rPr lang="en-US" altLang="ko-KR" sz="1800" dirty="0">
                    <a:latin typeface="나눔명조" pitchFamily="18" charset="-127"/>
                    <a:ea typeface="나눔명조" pitchFamily="18" charset="-127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1800" i="1" smtClean="0">
                            <a:latin typeface="Cambria Math" panose="02040503050406030204" pitchFamily="18" charset="0"/>
                            <a:ea typeface="나눔명조" pitchFamily="18" charset="-127"/>
                          </a:rPr>
                        </m:ctrlPr>
                      </m:sSupPr>
                      <m:e>
                        <m:r>
                          <a:rPr lang="en-US" altLang="ko-KR" sz="1800" b="0" i="1" smtClean="0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𝑄</m:t>
                        </m:r>
                      </m:e>
                      <m:sup>
                        <m:r>
                          <a:rPr lang="en-US" altLang="ko-KR" sz="1800" b="0" i="1" smtClean="0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0</m:t>
                        </m:r>
                      </m:sup>
                    </m:sSup>
                    <m:r>
                      <a:rPr lang="en-US" altLang="ko-KR" sz="1800" b="0" i="1" smtClean="0">
                        <a:latin typeface="Cambria Math" panose="02040503050406030204" pitchFamily="18" charset="0"/>
                        <a:ea typeface="나눔명조" pitchFamily="18" charset="-127"/>
                      </a:rPr>
                      <m:t>→</m:t>
                    </m:r>
                    <m:sSup>
                      <m:sSupPr>
                        <m:ctrlPr>
                          <a:rPr lang="en-US" altLang="ko-KR" sz="1800" i="1" smtClean="0">
                            <a:latin typeface="Cambria Math" panose="02040503050406030204" pitchFamily="18" charset="0"/>
                            <a:ea typeface="나눔명조" pitchFamily="18" charset="-127"/>
                          </a:rPr>
                        </m:ctrlPr>
                      </m:sSupPr>
                      <m:e>
                        <m:r>
                          <a:rPr lang="en-US" altLang="ko-KR" sz="1800" b="0" i="1" smtClean="0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𝑄</m:t>
                        </m:r>
                      </m:e>
                      <m:sup>
                        <m:r>
                          <a:rPr lang="en-US" altLang="ko-KR" sz="1800" b="0" i="1" smtClean="0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1</m:t>
                        </m:r>
                      </m:sup>
                    </m:sSup>
                  </m:oMath>
                </a14:m>
                <a:r>
                  <a:rPr lang="ko-KR" altLang="en-US" sz="1800" dirty="0">
                    <a:latin typeface="나눔명조" pitchFamily="18" charset="-127"/>
                    <a:ea typeface="나눔명조" pitchFamily="18" charset="-127"/>
                  </a:rPr>
                  <a:t>로</a:t>
                </a:r>
                <a:r>
                  <a:rPr lang="en-US" altLang="ko-KR" sz="1800" dirty="0">
                    <a:latin typeface="나눔명조" pitchFamily="18" charset="-127"/>
                    <a:ea typeface="나눔명조" pitchFamily="18" charset="-127"/>
                  </a:rPr>
                  <a:t> </a:t>
                </a:r>
                <a:r>
                  <a:rPr lang="ko-KR" altLang="en-US" sz="1800" dirty="0">
                    <a:latin typeface="나눔명조" pitchFamily="18" charset="-127"/>
                    <a:ea typeface="나눔명조" pitchFamily="18" charset="-127"/>
                  </a:rPr>
                  <a:t>대기질이 변할 때</a:t>
                </a:r>
                <a:r>
                  <a:rPr lang="en-US" altLang="ko-KR" sz="1800" dirty="0">
                    <a:latin typeface="나눔명조" pitchFamily="18" charset="-127"/>
                    <a:ea typeface="나눔명조" pitchFamily="18" charset="-127"/>
                  </a:rPr>
                  <a:t>, </a:t>
                </a:r>
                <a:r>
                  <a:rPr lang="ko-KR" altLang="en-US" sz="1800" dirty="0">
                    <a:latin typeface="나눔명조" pitchFamily="18" charset="-127"/>
                    <a:ea typeface="나눔명조" pitchFamily="18" charset="-127"/>
                  </a:rPr>
                  <a:t>소비자 회피행위가 얼마나 변하는지를 예측하기 위해 </a:t>
                </a:r>
                <a14:m>
                  <m:oMath xmlns:m="http://schemas.openxmlformats.org/officeDocument/2006/math">
                    <m:r>
                      <a:rPr lang="en-US" altLang="ko-KR" sz="1800" b="0" i="1" smtClean="0">
                        <a:latin typeface="Cambria Math" panose="02040503050406030204" pitchFamily="18" charset="0"/>
                        <a:ea typeface="나눔명조" pitchFamily="18" charset="-127"/>
                      </a:rPr>
                      <m:t>𝑥</m:t>
                    </m:r>
                    <m:r>
                      <a:rPr lang="en-US" altLang="ko-KR" sz="1800" b="0" i="1" smtClean="0">
                        <a:latin typeface="Cambria Math" panose="02040503050406030204" pitchFamily="18" charset="0"/>
                        <a:ea typeface="나눔명조" pitchFamily="18" charset="-127"/>
                      </a:rPr>
                      <m:t>(</m:t>
                    </m:r>
                    <m:r>
                      <a:rPr lang="en-US" altLang="ko-KR" sz="1800" b="0" i="1" smtClean="0">
                        <a:latin typeface="Cambria Math" panose="02040503050406030204" pitchFamily="18" charset="0"/>
                        <a:ea typeface="나눔명조" pitchFamily="18" charset="-127"/>
                      </a:rPr>
                      <m:t>𝑝</m:t>
                    </m:r>
                    <m:r>
                      <a:rPr lang="en-US" altLang="ko-KR" sz="1800" b="0" i="1" smtClean="0">
                        <a:latin typeface="Cambria Math" panose="02040503050406030204" pitchFamily="18" charset="0"/>
                        <a:ea typeface="나눔명조" pitchFamily="18" charset="-127"/>
                      </a:rPr>
                      <m:t>,</m:t>
                    </m:r>
                    <m:r>
                      <a:rPr lang="en-US" altLang="ko-KR" sz="1800" b="0" i="1" smtClean="0">
                        <a:latin typeface="Cambria Math" panose="02040503050406030204" pitchFamily="18" charset="0"/>
                        <a:ea typeface="나눔명조" pitchFamily="18" charset="-127"/>
                      </a:rPr>
                      <m:t>𝑄</m:t>
                    </m:r>
                    <m:r>
                      <a:rPr lang="en-US" altLang="ko-KR" sz="1800" b="0" i="1" smtClean="0">
                        <a:latin typeface="Cambria Math" panose="02040503050406030204" pitchFamily="18" charset="0"/>
                        <a:ea typeface="나눔명조" pitchFamily="18" charset="-127"/>
                      </a:rPr>
                      <m:t>,</m:t>
                    </m:r>
                    <m:r>
                      <a:rPr lang="en-US" altLang="ko-KR" sz="1800" b="0" i="1" smtClean="0">
                        <a:latin typeface="Cambria Math" panose="02040503050406030204" pitchFamily="18" charset="0"/>
                        <a:ea typeface="나눔명조" pitchFamily="18" charset="-127"/>
                      </a:rPr>
                      <m:t>𝑚</m:t>
                    </m:r>
                    <m:r>
                      <a:rPr lang="en-US" altLang="ko-KR" sz="1800" b="0" i="1" smtClean="0">
                        <a:latin typeface="Cambria Math" panose="02040503050406030204" pitchFamily="18" charset="0"/>
                        <a:ea typeface="나눔명조" pitchFamily="18" charset="-127"/>
                      </a:rPr>
                      <m:t>)</m:t>
                    </m:r>
                  </m:oMath>
                </a14:m>
                <a:r>
                  <a:rPr lang="ko-KR" altLang="en-US" sz="1800" dirty="0">
                    <a:latin typeface="나눔명조" pitchFamily="18" charset="-127"/>
                    <a:ea typeface="나눔명조" pitchFamily="18" charset="-127"/>
                  </a:rPr>
                  <a:t>과 같은 회피행위 수요함수를 추정할 수 있음</a:t>
                </a:r>
                <a:endParaRPr lang="en-US" altLang="ko-KR" sz="1800" dirty="0">
                  <a:latin typeface="나눔명조" pitchFamily="18" charset="-127"/>
                  <a:ea typeface="나눔명조" pitchFamily="18" charset="-127"/>
                </a:endParaRPr>
              </a:p>
              <a:p>
                <a:pPr lvl="1" eaLnBrk="1" hangingPunct="1"/>
                <a:r>
                  <a:rPr lang="ko-KR" altLang="en-US" sz="1800" dirty="0">
                    <a:latin typeface="나눔명조" pitchFamily="18" charset="-127"/>
                    <a:ea typeface="나눔명조" pitchFamily="18" charset="-127"/>
                  </a:rPr>
                  <a:t>그러나 이 방법은 이 함수를 효용이론과 연결하여 </a:t>
                </a:r>
                <a:r>
                  <a:rPr lang="en-US" altLang="ko-KR" sz="1800" dirty="0">
                    <a:latin typeface="나눔명조" pitchFamily="18" charset="-127"/>
                    <a:ea typeface="나눔명조" pitchFamily="18" charset="-127"/>
                  </a:rPr>
                  <a:t>Q</a:t>
                </a:r>
                <a:r>
                  <a:rPr lang="ko-KR" altLang="en-US" sz="1800" dirty="0">
                    <a:latin typeface="나눔명조" pitchFamily="18" charset="-127"/>
                    <a:ea typeface="나눔명조" pitchFamily="18" charset="-127"/>
                  </a:rPr>
                  <a:t>변화의 가치를 도출하기 보다는 </a:t>
                </a:r>
                <a14:m>
                  <m:oMath xmlns:m="http://schemas.openxmlformats.org/officeDocument/2006/math">
                    <m:r>
                      <a:rPr lang="en-US" altLang="ko-KR" sz="1800" b="0" i="1" smtClean="0">
                        <a:latin typeface="Cambria Math" panose="02040503050406030204" pitchFamily="18" charset="0"/>
                        <a:ea typeface="나눔명조" pitchFamily="18" charset="-127"/>
                      </a:rPr>
                      <m:t>𝑝</m:t>
                    </m:r>
                    <m:r>
                      <a:rPr lang="en-US" altLang="ko-KR" sz="1800" b="0" i="1" smtClean="0">
                        <a:latin typeface="Cambria Math" panose="02040503050406030204" pitchFamily="18" charset="0"/>
                        <a:ea typeface="나눔명조" pitchFamily="18" charset="-127"/>
                      </a:rPr>
                      <m:t>[</m:t>
                    </m:r>
                    <m:r>
                      <a:rPr lang="en-US" altLang="ko-KR" sz="1800" b="0" i="1" smtClean="0">
                        <a:latin typeface="Cambria Math" panose="02040503050406030204" pitchFamily="18" charset="0"/>
                        <a:ea typeface="나눔명조" pitchFamily="18" charset="-127"/>
                      </a:rPr>
                      <m:t>𝑥</m:t>
                    </m:r>
                    <m:d>
                      <m:dPr>
                        <m:ctrlPr>
                          <a:rPr lang="en-US" altLang="ko-KR" sz="1800" b="0" i="1" smtClean="0">
                            <a:latin typeface="Cambria Math" panose="02040503050406030204" pitchFamily="18" charset="0"/>
                            <a:ea typeface="나눔명조" pitchFamily="18" charset="-127"/>
                          </a:rPr>
                        </m:ctrlPr>
                      </m:dPr>
                      <m:e>
                        <m:r>
                          <a:rPr lang="en-US" altLang="ko-KR" sz="1800" b="0" i="1" smtClean="0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𝑝</m:t>
                        </m:r>
                        <m:r>
                          <a:rPr lang="en-US" altLang="ko-KR" sz="1800" b="0" i="1" smtClean="0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,</m:t>
                        </m:r>
                        <m:sSup>
                          <m:sSupPr>
                            <m:ctrlPr>
                              <a:rPr lang="en-US" altLang="ko-KR" sz="1800" i="1">
                                <a:latin typeface="Cambria Math" panose="02040503050406030204" pitchFamily="18" charset="0"/>
                                <a:ea typeface="나눔명조" pitchFamily="18" charset="-127"/>
                              </a:rPr>
                            </m:ctrlPr>
                          </m:sSupPr>
                          <m:e>
                            <m:r>
                              <a:rPr lang="en-US" altLang="ko-KR" sz="1800" i="1">
                                <a:latin typeface="Cambria Math" panose="02040503050406030204" pitchFamily="18" charset="0"/>
                                <a:ea typeface="나눔명조" pitchFamily="18" charset="-127"/>
                              </a:rPr>
                              <m:t>𝑄</m:t>
                            </m:r>
                          </m:e>
                          <m:sup>
                            <m:r>
                              <a:rPr lang="en-US" altLang="ko-KR" sz="1800" i="1">
                                <a:latin typeface="Cambria Math" panose="02040503050406030204" pitchFamily="18" charset="0"/>
                                <a:ea typeface="나눔명조" pitchFamily="18" charset="-127"/>
                              </a:rPr>
                              <m:t>0</m:t>
                            </m:r>
                          </m:sup>
                        </m:sSup>
                        <m:r>
                          <a:rPr lang="en-US" altLang="ko-KR" sz="1800" b="0" i="0" smtClean="0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, </m:t>
                        </m:r>
                        <m:r>
                          <m:rPr>
                            <m:sty m:val="p"/>
                          </m:rPr>
                          <a:rPr lang="en-US" altLang="ko-KR" sz="1800" b="0" i="0" smtClean="0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m</m:t>
                        </m:r>
                      </m:e>
                    </m:d>
                    <m:r>
                      <a:rPr lang="en-US" altLang="ko-KR" sz="1800" b="0" i="0" smtClean="0">
                        <a:latin typeface="Cambria Math" panose="02040503050406030204" pitchFamily="18" charset="0"/>
                        <a:ea typeface="나눔명조" pitchFamily="18" charset="-127"/>
                      </a:rPr>
                      <m:t>−</m:t>
                    </m:r>
                    <m:r>
                      <m:rPr>
                        <m:sty m:val="p"/>
                      </m:rPr>
                      <a:rPr lang="en-US" altLang="ko-KR" sz="1800" b="0" i="0" smtClean="0">
                        <a:latin typeface="Cambria Math" panose="02040503050406030204" pitchFamily="18" charset="0"/>
                        <a:ea typeface="나눔명조" pitchFamily="18" charset="-127"/>
                      </a:rPr>
                      <m:t>x</m:t>
                    </m:r>
                    <m:d>
                      <m:dPr>
                        <m:ctrlPr>
                          <a:rPr lang="en-US" altLang="ko-KR" sz="1800" i="1">
                            <a:latin typeface="Cambria Math" panose="02040503050406030204" pitchFamily="18" charset="0"/>
                            <a:ea typeface="나눔명조" pitchFamily="18" charset="-127"/>
                          </a:rPr>
                        </m:ctrlPr>
                      </m:dPr>
                      <m:e>
                        <m:r>
                          <a:rPr lang="en-US" altLang="ko-KR" sz="1800" i="1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𝑝</m:t>
                        </m:r>
                        <m:r>
                          <a:rPr lang="en-US" altLang="ko-KR" sz="1800" i="1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,</m:t>
                        </m:r>
                        <m:sSup>
                          <m:sSupPr>
                            <m:ctrlPr>
                              <a:rPr lang="en-US" altLang="ko-KR" sz="1800" i="1">
                                <a:latin typeface="Cambria Math" panose="02040503050406030204" pitchFamily="18" charset="0"/>
                                <a:ea typeface="나눔명조" pitchFamily="18" charset="-127"/>
                              </a:rPr>
                            </m:ctrlPr>
                          </m:sSupPr>
                          <m:e>
                            <m:r>
                              <a:rPr lang="en-US" altLang="ko-KR" sz="1800" i="1">
                                <a:latin typeface="Cambria Math" panose="02040503050406030204" pitchFamily="18" charset="0"/>
                                <a:ea typeface="나눔명조" pitchFamily="18" charset="-127"/>
                              </a:rPr>
                              <m:t>𝑄</m:t>
                            </m:r>
                          </m:e>
                          <m:sup>
                            <m:r>
                              <a:rPr lang="en-US" altLang="ko-KR" sz="1800" b="0" i="1" smtClean="0">
                                <a:latin typeface="Cambria Math" panose="02040503050406030204" pitchFamily="18" charset="0"/>
                                <a:ea typeface="나눔명조" pitchFamily="18" charset="-127"/>
                              </a:rPr>
                              <m:t>1</m:t>
                            </m:r>
                          </m:sup>
                        </m:sSup>
                        <m:r>
                          <a:rPr lang="en-US" altLang="ko-KR" sz="1800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, </m:t>
                        </m:r>
                        <m:r>
                          <m:rPr>
                            <m:sty m:val="p"/>
                          </m:rPr>
                          <a:rPr lang="en-US" altLang="ko-KR" sz="1800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m</m:t>
                        </m:r>
                      </m:e>
                    </m:d>
                    <m:r>
                      <a:rPr lang="en-US" altLang="ko-KR" sz="1800" b="0" i="1" smtClean="0">
                        <a:latin typeface="Cambria Math" panose="02040503050406030204" pitchFamily="18" charset="0"/>
                        <a:ea typeface="나눔명조" pitchFamily="18" charset="-127"/>
                      </a:rPr>
                      <m:t>]</m:t>
                    </m:r>
                    <m:r>
                      <a:rPr lang="ko-KR" altLang="en-US" sz="1800" i="1">
                        <a:latin typeface="Cambria Math" panose="02040503050406030204" pitchFamily="18" charset="0"/>
                        <a:ea typeface="나눔명조" pitchFamily="18" charset="-127"/>
                      </a:rPr>
                      <m:t>처</m:t>
                    </m:r>
                  </m:oMath>
                </a14:m>
                <a:r>
                  <a:rPr lang="ko-KR" altLang="en-US" sz="1800" dirty="0">
                    <a:latin typeface="나눔명조" pitchFamily="18" charset="-127"/>
                    <a:ea typeface="나눔명조" pitchFamily="18" charset="-127"/>
                  </a:rPr>
                  <a:t>럼 회피행위 비용변화 예측치를 도출하기 위해 사용함</a:t>
                </a:r>
                <a:endParaRPr lang="en-US" altLang="ko-KR" sz="1800" dirty="0">
                  <a:latin typeface="나눔명조" pitchFamily="18" charset="-127"/>
                  <a:ea typeface="나눔명조" pitchFamily="18" charset="-127"/>
                </a:endParaRPr>
              </a:p>
            </p:txBody>
          </p:sp>
        </mc:Choice>
        <mc:Fallback xmlns="">
          <p:sp>
            <p:nvSpPr>
              <p:cNvPr id="15362" name="Rectangle 9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900113" y="1474691"/>
                <a:ext cx="7737475" cy="4114800"/>
              </a:xfrm>
              <a:blipFill>
                <a:blip r:embed="rId3"/>
                <a:stretch>
                  <a:fillRect l="-709" t="-889" r="-158" b="-7259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363" name="바닥글 개체 틀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r>
              <a:rPr lang="ko-KR" altLang="en-US" sz="1200" b="0" dirty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Chapter </a:t>
            </a:r>
            <a:r>
              <a:rPr lang="en-US" altLang="ko-KR" sz="1200" b="0" dirty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15</a:t>
            </a:r>
          </a:p>
        </p:txBody>
      </p:sp>
      <p:sp>
        <p:nvSpPr>
          <p:cNvPr id="15364" name="슬라이드 번호 개체 틀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fld id="{C753D822-DF5B-4203-821F-E37D763E2E34}" type="slidenum">
              <a:rPr lang="ko-KR" altLang="en-US" sz="1200" b="0">
                <a:solidFill>
                  <a:schemeClr val="tx1"/>
                </a:solidFill>
              </a:rPr>
              <a:pPr/>
              <a:t>46</a:t>
            </a:fld>
            <a:endParaRPr lang="en-US" altLang="ko-KR" sz="1200" b="0" dirty="0">
              <a:solidFill>
                <a:schemeClr val="tx1"/>
              </a:solidFill>
            </a:endParaRPr>
          </a:p>
        </p:txBody>
      </p:sp>
      <p:sp>
        <p:nvSpPr>
          <p:cNvPr id="15365" name="Rectangle 2"/>
          <p:cNvSpPr>
            <a:spLocks noChangeArrowheads="1"/>
          </p:cNvSpPr>
          <p:nvPr/>
        </p:nvSpPr>
        <p:spPr bwMode="auto">
          <a:xfrm>
            <a:off x="7620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>
              <a:ea typeface="굴림" panose="020B0600000101010101" pitchFamily="50" charset="-127"/>
            </a:endParaRPr>
          </a:p>
        </p:txBody>
      </p:sp>
      <p:sp>
        <p:nvSpPr>
          <p:cNvPr id="15366" name="Rectangle 3"/>
          <p:cNvSpPr>
            <a:spLocks noChangeArrowheads="1"/>
          </p:cNvSpPr>
          <p:nvPr/>
        </p:nvSpPr>
        <p:spPr bwMode="auto">
          <a:xfrm>
            <a:off x="32766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>
              <a:ea typeface="굴림" panose="020B0600000101010101" pitchFamily="50" charset="-127"/>
            </a:endParaRPr>
          </a:p>
        </p:txBody>
      </p:sp>
      <p:sp>
        <p:nvSpPr>
          <p:cNvPr id="15367" name="Rectangle 6"/>
          <p:cNvSpPr>
            <a:spLocks noGrp="1" noChangeArrowheads="1"/>
          </p:cNvSpPr>
          <p:nvPr>
            <p:ph type="title"/>
          </p:nvPr>
        </p:nvSpPr>
        <p:spPr>
          <a:xfrm>
            <a:off x="1355725" y="0"/>
            <a:ext cx="7313613" cy="1143000"/>
          </a:xfrm>
        </p:spPr>
        <p:txBody>
          <a:bodyPr/>
          <a:lstStyle/>
          <a:p>
            <a:pPr eaLnBrk="1" hangingPunct="1"/>
            <a:r>
              <a:rPr lang="ko-KR" altLang="en-US" dirty="0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비한계적 오염도 변화의 편익</a:t>
            </a:r>
          </a:p>
        </p:txBody>
      </p:sp>
    </p:spTree>
    <p:extLst>
      <p:ext uri="{BB962C8B-B14F-4D97-AF65-F5344CB8AC3E}">
        <p14:creationId xmlns:p14="http://schemas.microsoft.com/office/powerpoint/2010/main" val="3100228745"/>
      </p:ext>
    </p:extLst>
  </p:cSld>
  <p:clrMapOvr>
    <a:masterClrMapping/>
  </p:clrMapOvr>
  <p:transition spd="med">
    <p:wipe dir="r"/>
  </p:transition>
</p:sld>
</file>

<file path=ppt/theme/theme1.xml><?xml version="1.0" encoding="utf-8"?>
<a:theme xmlns:a="http://schemas.openxmlformats.org/drawingml/2006/main" name="Pindyck">
  <a:themeElements>
    <a:clrScheme name="Pindyck 1">
      <a:dk1>
        <a:srgbClr val="000000"/>
      </a:dk1>
      <a:lt1>
        <a:srgbClr val="FFFFFF"/>
      </a:lt1>
      <a:dk2>
        <a:srgbClr val="006666"/>
      </a:dk2>
      <a:lt2>
        <a:srgbClr val="5F5F5F"/>
      </a:lt2>
      <a:accent1>
        <a:srgbClr val="33CCCC"/>
      </a:accent1>
      <a:accent2>
        <a:srgbClr val="99CCCC"/>
      </a:accent2>
      <a:accent3>
        <a:srgbClr val="FFFFFF"/>
      </a:accent3>
      <a:accent4>
        <a:srgbClr val="000000"/>
      </a:accent4>
      <a:accent5>
        <a:srgbClr val="ADE2E2"/>
      </a:accent5>
      <a:accent6>
        <a:srgbClr val="8AB9B9"/>
      </a:accent6>
      <a:hlink>
        <a:srgbClr val="006666"/>
      </a:hlink>
      <a:folHlink>
        <a:srgbClr val="B2B2B2"/>
      </a:folHlink>
    </a:clrScheme>
    <a:fontScheme name="Pindyck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900" b="1" i="0" u="none" strike="noStrike" cap="none" normalizeH="0" baseline="0" smtClean="0">
            <a:ln>
              <a:noFill/>
            </a:ln>
            <a:solidFill>
              <a:srgbClr val="8D7DFF"/>
            </a:solidFill>
            <a:effectLst/>
            <a:latin typeface="Verdana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900" b="1" i="0" u="none" strike="noStrike" cap="none" normalizeH="0" baseline="0" smtClean="0">
            <a:ln>
              <a:noFill/>
            </a:ln>
            <a:solidFill>
              <a:srgbClr val="8D7DFF"/>
            </a:solidFill>
            <a:effectLst/>
            <a:latin typeface="Verdana" pitchFamily="34" charset="0"/>
          </a:defRPr>
        </a:defPPr>
      </a:lstStyle>
    </a:lnDef>
  </a:objectDefaults>
  <a:extraClrSchemeLst>
    <a:extraClrScheme>
      <a:clrScheme name="Pindyck 1">
        <a:dk1>
          <a:srgbClr val="000000"/>
        </a:dk1>
        <a:lt1>
          <a:srgbClr val="FFFFFF"/>
        </a:lt1>
        <a:dk2>
          <a:srgbClr val="006666"/>
        </a:dk2>
        <a:lt2>
          <a:srgbClr val="5F5F5F"/>
        </a:lt2>
        <a:accent1>
          <a:srgbClr val="33CCCC"/>
        </a:accent1>
        <a:accent2>
          <a:srgbClr val="99CCCC"/>
        </a:accent2>
        <a:accent3>
          <a:srgbClr val="FFFFFF"/>
        </a:accent3>
        <a:accent4>
          <a:srgbClr val="000000"/>
        </a:accent4>
        <a:accent5>
          <a:srgbClr val="ADE2E2"/>
        </a:accent5>
        <a:accent6>
          <a:srgbClr val="8AB9B9"/>
        </a:accent6>
        <a:hlink>
          <a:srgbClr val="006666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ndyck 2">
        <a:dk1>
          <a:srgbClr val="000000"/>
        </a:dk1>
        <a:lt1>
          <a:srgbClr val="FFFFFF"/>
        </a:lt1>
        <a:dk2>
          <a:srgbClr val="333366"/>
        </a:dk2>
        <a:lt2>
          <a:srgbClr val="5F5F5F"/>
        </a:lt2>
        <a:accent1>
          <a:srgbClr val="CC99FF"/>
        </a:accent1>
        <a:accent2>
          <a:srgbClr val="99CCCC"/>
        </a:accent2>
        <a:accent3>
          <a:srgbClr val="FFFFFF"/>
        </a:accent3>
        <a:accent4>
          <a:srgbClr val="000000"/>
        </a:accent4>
        <a:accent5>
          <a:srgbClr val="E2CAFF"/>
        </a:accent5>
        <a:accent6>
          <a:srgbClr val="8AB9B9"/>
        </a:accent6>
        <a:hlink>
          <a:srgbClr val="666699"/>
        </a:hlink>
        <a:folHlink>
          <a:srgbClr val="6600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ndyck 3">
        <a:dk1>
          <a:srgbClr val="000000"/>
        </a:dk1>
        <a:lt1>
          <a:srgbClr val="FFFFFF"/>
        </a:lt1>
        <a:dk2>
          <a:srgbClr val="0000CC"/>
        </a:dk2>
        <a:lt2>
          <a:srgbClr val="434343"/>
        </a:lt2>
        <a:accent1>
          <a:srgbClr val="99CC00"/>
        </a:accent1>
        <a:accent2>
          <a:srgbClr val="FFCC00"/>
        </a:accent2>
        <a:accent3>
          <a:srgbClr val="FFFFFF"/>
        </a:accent3>
        <a:accent4>
          <a:srgbClr val="000000"/>
        </a:accent4>
        <a:accent5>
          <a:srgbClr val="CAE2AA"/>
        </a:accent5>
        <a:accent6>
          <a:srgbClr val="E7B900"/>
        </a:accent6>
        <a:hlink>
          <a:srgbClr val="FF0000"/>
        </a:hlink>
        <a:folHlink>
          <a:srgbClr val="80808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ndyck 4">
        <a:dk1>
          <a:srgbClr val="000000"/>
        </a:dk1>
        <a:lt1>
          <a:srgbClr val="64AAAE"/>
        </a:lt1>
        <a:dk2>
          <a:srgbClr val="FFFFCC"/>
        </a:dk2>
        <a:lt2>
          <a:srgbClr val="5F5F5F"/>
        </a:lt2>
        <a:accent1>
          <a:srgbClr val="B4B1DB"/>
        </a:accent1>
        <a:accent2>
          <a:srgbClr val="61C1D7"/>
        </a:accent2>
        <a:accent3>
          <a:srgbClr val="B8D2D3"/>
        </a:accent3>
        <a:accent4>
          <a:srgbClr val="000000"/>
        </a:accent4>
        <a:accent5>
          <a:srgbClr val="D6D5EA"/>
        </a:accent5>
        <a:accent6>
          <a:srgbClr val="57AFC3"/>
        </a:accent6>
        <a:hlink>
          <a:srgbClr val="257177"/>
        </a:hlink>
        <a:folHlink>
          <a:srgbClr val="CCCC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ndyck 5">
        <a:dk1>
          <a:srgbClr val="5F5F5F"/>
        </a:dk1>
        <a:lt1>
          <a:srgbClr val="F8F8F8"/>
        </a:lt1>
        <a:dk2>
          <a:srgbClr val="2A285A"/>
        </a:dk2>
        <a:lt2>
          <a:srgbClr val="FFFFFF"/>
        </a:lt2>
        <a:accent1>
          <a:srgbClr val="999966"/>
        </a:accent1>
        <a:accent2>
          <a:srgbClr val="8C8B9D"/>
        </a:accent2>
        <a:accent3>
          <a:srgbClr val="ACACB5"/>
        </a:accent3>
        <a:accent4>
          <a:srgbClr val="D4D4D4"/>
        </a:accent4>
        <a:accent5>
          <a:srgbClr val="CACAB8"/>
        </a:accent5>
        <a:accent6>
          <a:srgbClr val="7E7D8E"/>
        </a:accent6>
        <a:hlink>
          <a:srgbClr val="465174"/>
        </a:hlink>
        <a:folHlink>
          <a:srgbClr val="C0C0C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ndyck 6">
        <a:dk1>
          <a:srgbClr val="434343"/>
        </a:dk1>
        <a:lt1>
          <a:srgbClr val="FFFFFF"/>
        </a:lt1>
        <a:dk2>
          <a:srgbClr val="360404"/>
        </a:dk2>
        <a:lt2>
          <a:srgbClr val="FFFFFF"/>
        </a:lt2>
        <a:accent1>
          <a:srgbClr val="669900"/>
        </a:accent1>
        <a:accent2>
          <a:srgbClr val="CC6600"/>
        </a:accent2>
        <a:accent3>
          <a:srgbClr val="AEAAAA"/>
        </a:accent3>
        <a:accent4>
          <a:srgbClr val="DADADA"/>
        </a:accent4>
        <a:accent5>
          <a:srgbClr val="B8CAAA"/>
        </a:accent5>
        <a:accent6>
          <a:srgbClr val="B95C00"/>
        </a:accent6>
        <a:hlink>
          <a:srgbClr val="CC3300"/>
        </a:hlink>
        <a:folHlink>
          <a:srgbClr val="80808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ndyck 7">
        <a:dk1>
          <a:srgbClr val="434343"/>
        </a:dk1>
        <a:lt1>
          <a:srgbClr val="FFFFFF"/>
        </a:lt1>
        <a:dk2>
          <a:srgbClr val="000000"/>
        </a:dk2>
        <a:lt2>
          <a:srgbClr val="8285FE"/>
        </a:lt2>
        <a:accent1>
          <a:srgbClr val="669900"/>
        </a:accent1>
        <a:accent2>
          <a:srgbClr val="9900FF"/>
        </a:accent2>
        <a:accent3>
          <a:srgbClr val="AAAAAA"/>
        </a:accent3>
        <a:accent4>
          <a:srgbClr val="DADADA"/>
        </a:accent4>
        <a:accent5>
          <a:srgbClr val="B8CAAA"/>
        </a:accent5>
        <a:accent6>
          <a:srgbClr val="8A00E7"/>
        </a:accent6>
        <a:hlink>
          <a:srgbClr val="6600CC"/>
        </a:hlink>
        <a:folHlink>
          <a:srgbClr val="80808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ndyck 8">
        <a:dk1>
          <a:srgbClr val="434343"/>
        </a:dk1>
        <a:lt1>
          <a:srgbClr val="FFFFFF"/>
        </a:lt1>
        <a:dk2>
          <a:srgbClr val="000000"/>
        </a:dk2>
        <a:lt2>
          <a:srgbClr val="0066FF"/>
        </a:lt2>
        <a:accent1>
          <a:srgbClr val="339966"/>
        </a:accent1>
        <a:accent2>
          <a:srgbClr val="FFCC00"/>
        </a:accent2>
        <a:accent3>
          <a:srgbClr val="AAAAAA"/>
        </a:accent3>
        <a:accent4>
          <a:srgbClr val="DADADA"/>
        </a:accent4>
        <a:accent5>
          <a:srgbClr val="ADCAB8"/>
        </a:accent5>
        <a:accent6>
          <a:srgbClr val="E7B900"/>
        </a:accent6>
        <a:hlink>
          <a:srgbClr val="CC0000"/>
        </a:hlink>
        <a:folHlink>
          <a:srgbClr val="80808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ndyck 9">
        <a:dk1>
          <a:srgbClr val="333300"/>
        </a:dk1>
        <a:lt1>
          <a:srgbClr val="FFFFFF"/>
        </a:lt1>
        <a:dk2>
          <a:srgbClr val="669900"/>
        </a:dk2>
        <a:lt2>
          <a:srgbClr val="FFFFCC"/>
        </a:lt2>
        <a:accent1>
          <a:srgbClr val="CCCC00"/>
        </a:accent1>
        <a:accent2>
          <a:srgbClr val="99CC00"/>
        </a:accent2>
        <a:accent3>
          <a:srgbClr val="B8CAAA"/>
        </a:accent3>
        <a:accent4>
          <a:srgbClr val="DADADA"/>
        </a:accent4>
        <a:accent5>
          <a:srgbClr val="E2E2AA"/>
        </a:accent5>
        <a:accent6>
          <a:srgbClr val="8AB900"/>
        </a:accent6>
        <a:hlink>
          <a:srgbClr val="336600"/>
        </a:hlink>
        <a:folHlink>
          <a:srgbClr val="FFFF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ndyck 10">
        <a:dk1>
          <a:srgbClr val="333333"/>
        </a:dk1>
        <a:lt1>
          <a:srgbClr val="FFFFCC"/>
        </a:lt1>
        <a:dk2>
          <a:srgbClr val="660000"/>
        </a:dk2>
        <a:lt2>
          <a:srgbClr val="CCCCCC"/>
        </a:lt2>
        <a:accent1>
          <a:srgbClr val="FF6600"/>
        </a:accent1>
        <a:accent2>
          <a:srgbClr val="CC3300"/>
        </a:accent2>
        <a:accent3>
          <a:srgbClr val="B8AAAA"/>
        </a:accent3>
        <a:accent4>
          <a:srgbClr val="DADAAE"/>
        </a:accent4>
        <a:accent5>
          <a:srgbClr val="FFB8AA"/>
        </a:accent5>
        <a:accent6>
          <a:srgbClr val="B92D00"/>
        </a:accent6>
        <a:hlink>
          <a:srgbClr val="990000"/>
        </a:hlink>
        <a:folHlink>
          <a:srgbClr val="CC990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2498</TotalTime>
  <Words>3745</Words>
  <Application>Microsoft Office PowerPoint</Application>
  <PresentationFormat>화면 슬라이드 쇼(4:3)</PresentationFormat>
  <Paragraphs>416</Paragraphs>
  <Slides>46</Slides>
  <Notes>40</Notes>
  <HiddenSlides>0</HiddenSlides>
  <MMClips>0</MMClips>
  <ScaleCrop>false</ScaleCrop>
  <HeadingPairs>
    <vt:vector size="8" baseType="variant">
      <vt:variant>
        <vt:lpstr>사용한 글꼴</vt:lpstr>
      </vt:variant>
      <vt:variant>
        <vt:i4>10</vt:i4>
      </vt:variant>
      <vt:variant>
        <vt:lpstr>테마</vt:lpstr>
      </vt:variant>
      <vt:variant>
        <vt:i4>1</vt:i4>
      </vt:variant>
      <vt:variant>
        <vt:lpstr>포함된 OLE 서버</vt:lpstr>
      </vt:variant>
      <vt:variant>
        <vt:i4>1</vt:i4>
      </vt:variant>
      <vt:variant>
        <vt:lpstr>슬라이드 제목</vt:lpstr>
      </vt:variant>
      <vt:variant>
        <vt:i4>46</vt:i4>
      </vt:variant>
    </vt:vector>
  </HeadingPairs>
  <TitlesOfParts>
    <vt:vector size="58" baseType="lpstr">
      <vt:lpstr>굴림</vt:lpstr>
      <vt:lpstr>나눔고딕</vt:lpstr>
      <vt:lpstr>나눔명조</vt:lpstr>
      <vt:lpstr>맑은 고딕</vt:lpstr>
      <vt:lpstr>Arial</vt:lpstr>
      <vt:lpstr>Cambria Math</vt:lpstr>
      <vt:lpstr>Century Gothic</vt:lpstr>
      <vt:lpstr>Times New Roman</vt:lpstr>
      <vt:lpstr>Verdana</vt:lpstr>
      <vt:lpstr>Wingdings</vt:lpstr>
      <vt:lpstr>Pindyck</vt:lpstr>
      <vt:lpstr>수식</vt:lpstr>
      <vt:lpstr>15장 개요</vt:lpstr>
      <vt:lpstr>환경개선의 편익분석 1 : 시장적 방법과 회피행위모형</vt:lpstr>
      <vt:lpstr>재화와 서비스의 구분</vt:lpstr>
      <vt:lpstr>환경재의 가치평가방법</vt:lpstr>
      <vt:lpstr>환경재의 가치평가방법</vt:lpstr>
      <vt:lpstr>시장적 방법</vt:lpstr>
      <vt:lpstr>시장적 방법</vt:lpstr>
      <vt:lpstr>시장적 방법</vt:lpstr>
      <vt:lpstr>현시선호방법의 이론적 기초</vt:lpstr>
      <vt:lpstr>분리성</vt:lpstr>
      <vt:lpstr>보완성</vt:lpstr>
      <vt:lpstr>약보완성 하에서의 시장재 수요</vt:lpstr>
      <vt:lpstr>약보완성 하에서의 시장재 수요</vt:lpstr>
      <vt:lpstr>측정 오차와 보상수요곡선</vt:lpstr>
      <vt:lpstr>측정 오차와 보상수요곡선</vt:lpstr>
      <vt:lpstr>측정 오차와 보상수요곡선</vt:lpstr>
      <vt:lpstr>PowerPoint 프레젠테이션</vt:lpstr>
      <vt:lpstr>PowerPoint 프레젠테이션</vt:lpstr>
      <vt:lpstr>약보완성과 식품안전도</vt:lpstr>
      <vt:lpstr>약보완성과 식품안전도</vt:lpstr>
      <vt:lpstr>약보완성과 식품안전도</vt:lpstr>
      <vt:lpstr>대체관계와 가계생산</vt:lpstr>
      <vt:lpstr>회피행위(일부 완화행위 포함)의 종류</vt:lpstr>
      <vt:lpstr>대체관계와 가계생산</vt:lpstr>
      <vt:lpstr>대체관계와 가계생산</vt:lpstr>
      <vt:lpstr>대체관계와 가계생산</vt:lpstr>
      <vt:lpstr>대체관계와 가계생산</vt:lpstr>
      <vt:lpstr>비용분석을 통한 편익측정</vt:lpstr>
      <vt:lpstr>비용분석을 통한 편익측정</vt:lpstr>
      <vt:lpstr>바르틱(Bartik)의 지표와 CS 및 ES</vt:lpstr>
      <vt:lpstr>바르틱(Bartik)의 지표와 CS 및 ES</vt:lpstr>
      <vt:lpstr>약대체성과 그 현실성</vt:lpstr>
      <vt:lpstr>약대체성과 그 현실성</vt:lpstr>
      <vt:lpstr>회피행위모형을 이용한 건강편익의 추정</vt:lpstr>
      <vt:lpstr>환경질 변화의 한계편익</vt:lpstr>
      <vt:lpstr>건강생산함수를 통한 편익추정</vt:lpstr>
      <vt:lpstr>건강생산함수를 통한 편익추정</vt:lpstr>
      <vt:lpstr>건강생산함수를 통한 편익추정</vt:lpstr>
      <vt:lpstr>건강생산함수를 통한 편익추정</vt:lpstr>
      <vt:lpstr>건강생산함수를 통한 편익추정</vt:lpstr>
      <vt:lpstr>건강생산함수를 통한 편익추정</vt:lpstr>
      <vt:lpstr>질병비용법</vt:lpstr>
      <vt:lpstr>질병비용법</vt:lpstr>
      <vt:lpstr>함수추정법 : 회귀분석</vt:lpstr>
      <vt:lpstr>비한계적 오염도 변화의 편익</vt:lpstr>
      <vt:lpstr>비한계적 오염도 변화의 편익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1</dc:title>
  <dc:creator>Marie Truesdell</dc:creator>
  <cp:lastModifiedBy>User</cp:lastModifiedBy>
  <cp:revision>283</cp:revision>
  <dcterms:created xsi:type="dcterms:W3CDTF">1997-07-14T00:22:12Z</dcterms:created>
  <dcterms:modified xsi:type="dcterms:W3CDTF">2025-02-19T00:15:13Z</dcterms:modified>
</cp:coreProperties>
</file>