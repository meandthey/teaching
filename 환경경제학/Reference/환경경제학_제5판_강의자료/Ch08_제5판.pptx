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1"/>
  </p:notesMasterIdLst>
  <p:handoutMasterIdLst>
    <p:handoutMasterId r:id="rId62"/>
  </p:handoutMasterIdLst>
  <p:sldIdLst>
    <p:sldId id="262" r:id="rId2"/>
    <p:sldId id="332" r:id="rId3"/>
    <p:sldId id="359" r:id="rId4"/>
    <p:sldId id="402" r:id="rId5"/>
    <p:sldId id="293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8" r:id="rId14"/>
    <p:sldId id="369" r:id="rId15"/>
    <p:sldId id="403" r:id="rId16"/>
    <p:sldId id="406" r:id="rId17"/>
    <p:sldId id="407" r:id="rId18"/>
    <p:sldId id="348" r:id="rId19"/>
    <p:sldId id="370" r:id="rId20"/>
    <p:sldId id="266" r:id="rId21"/>
    <p:sldId id="346" r:id="rId22"/>
    <p:sldId id="371" r:id="rId23"/>
    <p:sldId id="372" r:id="rId24"/>
    <p:sldId id="268" r:id="rId25"/>
    <p:sldId id="373" r:id="rId26"/>
    <p:sldId id="342" r:id="rId27"/>
    <p:sldId id="352" r:id="rId28"/>
    <p:sldId id="374" r:id="rId29"/>
    <p:sldId id="338" r:id="rId30"/>
    <p:sldId id="375" r:id="rId31"/>
    <p:sldId id="355" r:id="rId32"/>
    <p:sldId id="339" r:id="rId33"/>
    <p:sldId id="376" r:id="rId34"/>
    <p:sldId id="377" r:id="rId35"/>
    <p:sldId id="378" r:id="rId36"/>
    <p:sldId id="357" r:id="rId37"/>
    <p:sldId id="384" r:id="rId38"/>
    <p:sldId id="385" r:id="rId39"/>
    <p:sldId id="386" r:id="rId40"/>
    <p:sldId id="380" r:id="rId41"/>
    <p:sldId id="387" r:id="rId42"/>
    <p:sldId id="392" r:id="rId43"/>
    <p:sldId id="381" r:id="rId44"/>
    <p:sldId id="393" r:id="rId45"/>
    <p:sldId id="390" r:id="rId46"/>
    <p:sldId id="396" r:id="rId47"/>
    <p:sldId id="409" r:id="rId48"/>
    <p:sldId id="382" r:id="rId49"/>
    <p:sldId id="399" r:id="rId50"/>
    <p:sldId id="412" r:id="rId51"/>
    <p:sldId id="383" r:id="rId52"/>
    <p:sldId id="418" r:id="rId53"/>
    <p:sldId id="413" r:id="rId54"/>
    <p:sldId id="414" r:id="rId55"/>
    <p:sldId id="416" r:id="rId56"/>
    <p:sldId id="419" r:id="rId57"/>
    <p:sldId id="420" r:id="rId58"/>
    <p:sldId id="421" r:id="rId59"/>
    <p:sldId id="401" r:id="rId60"/>
  </p:sldIdLst>
  <p:sldSz cx="9144000" cy="6858000" type="screen4x3"/>
  <p:notesSz cx="7104063" cy="10234613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663300"/>
    <a:srgbClr val="DAEDD1"/>
    <a:srgbClr val="C4E3B5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120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3224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3300" y="774700"/>
            <a:ext cx="5097463" cy="38242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209" y="4861441"/>
            <a:ext cx="5209646" cy="46055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8044" tIns="48162" rIns="98044" bIns="481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963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6963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5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7066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16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7168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373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7373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7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7475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577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578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7578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7680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778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7885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7987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809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80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8807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8909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9216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89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9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9319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421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9421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5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9523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9333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933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9933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0357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035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035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0357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035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035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18019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4453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445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445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547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547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87510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65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65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76190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65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00997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65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84811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65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49767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65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2079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65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22442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4025636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44" tIns="48162" rIns="98044" bIns="48162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3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9722882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075" tIns="49538" rIns="99075" bIns="49538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4700"/>
            <a:ext cx="5097463" cy="3824288"/>
          </a:xfrm>
          <a:ln cap="flat"/>
        </p:spPr>
      </p:sp>
      <p:sp>
        <p:nvSpPr>
          <p:cNvPr id="1065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5100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AutoShape 1028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1587 w 64000"/>
                <a:gd name="T1" fmla="*/ 85 h 64000"/>
                <a:gd name="T2" fmla="*/ 2304 w 64000"/>
                <a:gd name="T3" fmla="*/ 1152 h 64000"/>
                <a:gd name="T4" fmla="*/ 1587 w 64000"/>
                <a:gd name="T5" fmla="*/ 2219 h 64000"/>
                <a:gd name="T6" fmla="*/ 1587 w 64000"/>
                <a:gd name="T7" fmla="*/ 2219 h 64000"/>
                <a:gd name="T8" fmla="*/ 1587 w 64000"/>
                <a:gd name="T9" fmla="*/ 2219 h 64000"/>
                <a:gd name="T10" fmla="*/ 1587 w 64000"/>
                <a:gd name="T11" fmla="*/ 2219 h 64000"/>
                <a:gd name="T12" fmla="*/ 1587 w 64000"/>
                <a:gd name="T13" fmla="*/ 85 h 64000"/>
                <a:gd name="T14" fmla="*/ 1587 w 64000"/>
                <a:gd name="T15" fmla="*/ 85 h 64000"/>
                <a:gd name="T16" fmla="*/ 1587 w 64000"/>
                <a:gd name="T17" fmla="*/ 8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AutoShape 1029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2027 w 64000"/>
                <a:gd name="T1" fmla="*/ 248 h 64000"/>
                <a:gd name="T2" fmla="*/ 2544 w 64000"/>
                <a:gd name="T3" fmla="*/ 1272 h 64000"/>
                <a:gd name="T4" fmla="*/ 2027 w 64000"/>
                <a:gd name="T5" fmla="*/ 2296 h 64000"/>
                <a:gd name="T6" fmla="*/ 2027 w 64000"/>
                <a:gd name="T7" fmla="*/ 2296 h 64000"/>
                <a:gd name="T8" fmla="*/ 2027 w 64000"/>
                <a:gd name="T9" fmla="*/ 2296 h 64000"/>
                <a:gd name="T10" fmla="*/ 2027 w 64000"/>
                <a:gd name="T11" fmla="*/ 2296 h 64000"/>
                <a:gd name="T12" fmla="*/ 2027 w 64000"/>
                <a:gd name="T13" fmla="*/ 248 h 64000"/>
                <a:gd name="T14" fmla="*/ 2027 w 64000"/>
                <a:gd name="T15" fmla="*/ 248 h 64000"/>
                <a:gd name="T16" fmla="*/ 2027 w 64000"/>
                <a:gd name="T17" fmla="*/ 248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8</a:t>
            </a:r>
            <a:endParaRPr lang="ko-KR" altLang="en-U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23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8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0435A0-EED3-4ECB-9C70-B6AD56AC185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202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8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4F8E7-3FC1-4711-8EF8-2FFB29E6397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194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8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B1ED75-6F12-437D-B1B2-0430039E7DB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83228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8</a:t>
            </a: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D1BD8A-5648-442C-9F3B-5E2264D703B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133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8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098707-EC42-4793-A235-3914EB58AAF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521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8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036EC-C49E-41A5-80F5-94079884E3C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3451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8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CCD82C-2FA1-401A-8239-FDEE5B26B27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9730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8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39346B-A036-433D-B831-840611477B3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0225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8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EC47BB-3F25-4314-87FC-5152477335A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4111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8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2396A3-5865-4AC5-B639-8D8C4770299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9004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177 h 64000"/>
                <a:gd name="T2" fmla="*/ 2592 w 64000"/>
                <a:gd name="T3" fmla="*/ 984 h 64000"/>
                <a:gd name="T4" fmla="*/ 2037 w 64000"/>
                <a:gd name="T5" fmla="*/ 1791 h 64000"/>
                <a:gd name="T6" fmla="*/ 2037 w 64000"/>
                <a:gd name="T7" fmla="*/ 1791 h 64000"/>
                <a:gd name="T8" fmla="*/ 2037 w 64000"/>
                <a:gd name="T9" fmla="*/ 1791 h 64000"/>
                <a:gd name="T10" fmla="*/ 2037 w 64000"/>
                <a:gd name="T11" fmla="*/ 1791 h 64000"/>
                <a:gd name="T12" fmla="*/ 2037 w 64000"/>
                <a:gd name="T13" fmla="*/ 177 h 64000"/>
                <a:gd name="T14" fmla="*/ 2037 w 64000"/>
                <a:gd name="T15" fmla="*/ 177 h 64000"/>
                <a:gd name="T16" fmla="*/ 2037 w 64000"/>
                <a:gd name="T17" fmla="*/ 17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3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174 h 64000"/>
                <a:gd name="T2" fmla="*/ 1949 w 64000"/>
                <a:gd name="T3" fmla="*/ 994 h 64000"/>
                <a:gd name="T4" fmla="*/ 1525 w 64000"/>
                <a:gd name="T5" fmla="*/ 1813 h 64000"/>
                <a:gd name="T6" fmla="*/ 1525 w 64000"/>
                <a:gd name="T7" fmla="*/ 1813 h 64000"/>
                <a:gd name="T8" fmla="*/ 1525 w 64000"/>
                <a:gd name="T9" fmla="*/ 1813 h 64000"/>
                <a:gd name="T10" fmla="*/ 1525 w 64000"/>
                <a:gd name="T11" fmla="*/ 1813 h 64000"/>
                <a:gd name="T12" fmla="*/ 1525 w 64000"/>
                <a:gd name="T13" fmla="*/ 174 h 64000"/>
                <a:gd name="T14" fmla="*/ 1525 w 64000"/>
                <a:gd name="T15" fmla="*/ 174 h 64000"/>
                <a:gd name="T16" fmla="*/ 1525 w 64000"/>
                <a:gd name="T17" fmla="*/ 174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4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717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717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8</a:t>
            </a:r>
          </a:p>
        </p:txBody>
      </p:sp>
      <p:sp>
        <p:nvSpPr>
          <p:cNvPr id="21505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F2D82367-BFE4-438E-811F-736329707C07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  <p:sldLayoutId id="2147484202" r:id="rId5"/>
    <p:sldLayoutId id="2147484203" r:id="rId6"/>
    <p:sldLayoutId id="2147484204" r:id="rId7"/>
    <p:sldLayoutId id="2147484205" r:id="rId8"/>
    <p:sldLayoutId id="2147484206" r:id="rId9"/>
    <p:sldLayoutId id="2147484207" r:id="rId10"/>
    <p:sldLayoutId id="214748420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36"/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8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59" name="Rectangle 1037"/>
          <p:cNvSpPr>
            <a:spLocks noGrp="1" noChangeArrowheads="1"/>
          </p:cNvSpPr>
          <p:nvPr>
            <p:ph idx="1"/>
          </p:nvPr>
        </p:nvSpPr>
        <p:spPr>
          <a:xfrm>
            <a:off x="2855913" y="2798763"/>
            <a:ext cx="62880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배출권거래제의 실행원리와 효율성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배출권거래제의 구체적인 실행 방안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배출권거래제 실행 사례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6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1946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4AFFE09-17C5-4782-AB9F-107C4F69BB69}" type="slidenum">
              <a:rPr lang="ko-KR" altLang="en-US" sz="1200" b="0">
                <a:solidFill>
                  <a:schemeClr val="tx1"/>
                </a:solidFill>
                <a:latin typeface="나눔명조" pitchFamily="18" charset="-127"/>
                <a:ea typeface="나눔명조" pitchFamily="18" charset="-127"/>
              </a:rPr>
              <a:pPr/>
              <a:t>1</a:t>
            </a:fld>
            <a:endParaRPr lang="en-US" altLang="ko-KR" sz="1200" b="0">
              <a:solidFill>
                <a:schemeClr val="tx1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6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6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3550" y="-112713"/>
            <a:ext cx="8301038" cy="144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8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 err="1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배출권거래제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36"/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배출권거래제의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실행원리와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효율성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483" name="Rectangle 1037"/>
          <p:cNvSpPr>
            <a:spLocks noGrp="1" noChangeArrowheads="1"/>
          </p:cNvSpPr>
          <p:nvPr>
            <p:ph idx="1"/>
          </p:nvPr>
        </p:nvSpPr>
        <p:spPr>
          <a:xfrm>
            <a:off x="957263" y="1476375"/>
            <a:ext cx="7989887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배출권거래제는 경제적 유인을 제공하여 효율적인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환경이용을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유도하기 위해 고안된 또다른 제도임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배출부과금제도가 오염물질 배출량에 대한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가격변수를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변화시켜 오염행위를 조절하는 데 반해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배출권거래제는 오염과 관련된 수량을 직접 조절하는 정책임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오염원이 오염물질을 배출하려면 배출량만큼의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가지고 있어야 함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보유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&lt;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희망 배출량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=&gt;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추가 구입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보유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&gt;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희망 배출량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=&gt;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보유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일부 판매</a:t>
            </a:r>
          </a:p>
          <a:p>
            <a:pPr lvl="1" eaLnBrk="1" hangingPunct="1"/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가격은 정부가 결정하는 것이 아니라 배출권시장에서 결정됨</a:t>
            </a:r>
          </a:p>
        </p:txBody>
      </p:sp>
      <p:sp>
        <p:nvSpPr>
          <p:cNvPr id="2048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048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4634DAB-7305-4085-8E9D-DBE331F0661C}" type="slidenum">
              <a:rPr lang="ko-KR" altLang="en-US" sz="1200" b="0">
                <a:solidFill>
                  <a:schemeClr val="tx1"/>
                </a:solidFill>
              </a:rPr>
              <a:pPr/>
              <a:t>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486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487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6"/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배출권거래제의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실행원리와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효율성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1507" name="Rectangle 1037"/>
          <p:cNvSpPr>
            <a:spLocks noGrp="1" noChangeArrowheads="1"/>
          </p:cNvSpPr>
          <p:nvPr>
            <p:ph idx="1"/>
          </p:nvPr>
        </p:nvSpPr>
        <p:spPr>
          <a:xfrm>
            <a:off x="957263" y="1476375"/>
            <a:ext cx="7989887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배출권거래제는 배출부과금제에 비해 더 민영화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분권화된 제도임</a:t>
            </a: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배출부과금제도에서는 오염원이 부과금을 정부에 납부해야 하므로 오염원과 정부가 지속적으로 접촉하여야 함</a:t>
            </a: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배출권거래제에서 정부 역할은 목표 배출량을 정하여 이를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배출권으로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분배하는 것으로 끝나며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오염원들이 자신들이 보유한 배출권리보다 더 많은 양의 오염물질을 배출하지 않도록 감시하는 의무만 가지게 됨</a:t>
            </a:r>
          </a:p>
        </p:txBody>
      </p:sp>
      <p:sp>
        <p:nvSpPr>
          <p:cNvPr id="2150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150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C57482F-A127-4177-8BA3-AE1D5F602CD8}" type="slidenum">
              <a:rPr lang="ko-KR" altLang="en-US" sz="1200" b="0">
                <a:solidFill>
                  <a:schemeClr val="tx1"/>
                </a:solidFill>
              </a:rPr>
              <a:pPr/>
              <a:t>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1510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1511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36"/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anose="02020603020101020101"/>
              </a:rPr>
              <a:t>배출권거래제의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anose="02020603020101020101"/>
              </a:rPr>
              <a:t>실행원리와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anose="02020603020101020101"/>
              </a:rPr>
              <a:t> 효율성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anose="02020603020101020101"/>
            </a:endParaRPr>
          </a:p>
        </p:txBody>
      </p:sp>
      <p:sp>
        <p:nvSpPr>
          <p:cNvPr id="21507" name="Rectangle 1037"/>
          <p:cNvSpPr>
            <a:spLocks noGrp="1" noChangeArrowheads="1"/>
          </p:cNvSpPr>
          <p:nvPr>
            <p:ph idx="1"/>
          </p:nvPr>
        </p:nvSpPr>
        <p:spPr>
          <a:xfrm>
            <a:off x="957263" y="1476375"/>
            <a:ext cx="7989887" cy="4114800"/>
          </a:xfrm>
        </p:spPr>
        <p:txBody>
          <a:bodyPr/>
          <a:lstStyle/>
          <a:p>
            <a:pPr latinLnBrk="1"/>
            <a:r>
              <a:rPr lang="ko-KR" altLang="en-US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데일즈</a:t>
            </a:r>
            <a:r>
              <a:rPr lang="en-US" altLang="ko-KR" dirty="0">
                <a:latin typeface="나눔명조" panose="02020603020101020101" pitchFamily="18" charset="-127"/>
                <a:ea typeface="나눔명조" panose="02020603020101020101" pitchFamily="18" charset="-127"/>
              </a:rPr>
              <a:t>(1968, pp. 107</a:t>
            </a:r>
            <a:r>
              <a:rPr lang="ko-KR" altLang="en-US" dirty="0">
                <a:latin typeface="나눔명조" panose="02020603020101020101" pitchFamily="18" charset="-127"/>
                <a:ea typeface="나눔명조" panose="02020603020101020101" pitchFamily="18" charset="-127"/>
              </a:rPr>
              <a:t>∼</a:t>
            </a:r>
            <a:r>
              <a:rPr lang="en-US" altLang="ko-KR" dirty="0">
                <a:latin typeface="나눔명조" panose="02020603020101020101" pitchFamily="18" charset="-127"/>
                <a:ea typeface="나눔명조" panose="02020603020101020101" pitchFamily="18" charset="-127"/>
              </a:rPr>
              <a:t>108)</a:t>
            </a:r>
            <a:endParaRPr lang="ko-KR" altLang="en-US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 latinLnBrk="1"/>
            <a:r>
              <a:rPr lang="en-US" altLang="ko-KR" sz="16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"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이 에세이가 제시하는 방법은 지금까지 논의하였던 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다른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)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제도들의 문제점들을 해결하기 위해 고안된 것이다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. (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이 에세이는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)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거래가 가능한 오염물질을 배출할 수 있는 권리를 설정할 것을 제안한다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.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정부는 지역단위로 발행될 </a:t>
            </a:r>
            <a:r>
              <a:rPr lang="ko-KR" altLang="en-US" sz="18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오염권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(pollution rights)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의 양을 정함으로써 어떤 </a:t>
            </a:r>
            <a:r>
              <a:rPr lang="ko-KR" altLang="en-US" sz="18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오염수준도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원하는 대로 선택할 수 있고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8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오염권의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양은 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5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 내지 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10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년 단위로 변화시킬 수 있다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. </a:t>
            </a:r>
            <a:r>
              <a:rPr lang="ko-KR" altLang="en-US" sz="18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거래가능한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권리는 명시적으로 어떤 가격을 가지게 되기 때문에 </a:t>
            </a:r>
            <a:r>
              <a:rPr lang="ko-KR" altLang="en-US" sz="18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배출권이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거래되는 시장을 설립하는 것은 쉬운 일이다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.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또한 공개시장에서 권리를 사고파는 행위를 통해 오염물질을 하천이나 대기로 배출할 수 있는 권리의 가격이 설정되면 이를 통해 이론적으로는 서로 다른 오염원들 간에 가장 효율적으로 오염저감행위를 배분하게 된다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.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즉 시장은 필요한 만큼의 오염물질 저감을 가장 적은 사회적 비용을 지불하고 달성하게 한다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. (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중략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)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마지막으로 배출권시장은 다른 종류의 제도와 비교할 때 매우 적은 행정비용만을 필요로 할 것으로 보인다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.”</a:t>
            </a:r>
            <a:endParaRPr lang="ko-KR" altLang="en-US" sz="18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2253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253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A96B1EC-F3D7-45D2-8F66-B235239D0E38}" type="slidenum">
              <a:rPr lang="ko-KR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2534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2535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052"/>
          <p:cNvSpPr>
            <a:spLocks noGrp="1" noChangeArrowheads="1"/>
          </p:cNvSpPr>
          <p:nvPr>
            <p:ph type="title"/>
          </p:nvPr>
        </p:nvSpPr>
        <p:spPr>
          <a:xfrm>
            <a:off x="1370013" y="2667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동질적 오염에 대한 적용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배출량기준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거래제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 sz="18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(emission permit system, EPS)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5" name="Rectangle 2053"/>
          <p:cNvSpPr>
            <a:spLocks noGrp="1" noChangeArrowheads="1"/>
          </p:cNvSpPr>
          <p:nvPr>
            <p:ph idx="1"/>
          </p:nvPr>
        </p:nvSpPr>
        <p:spPr>
          <a:xfrm>
            <a:off x="1027113" y="1587500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배출량기준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거래제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동질적 오염물질에 대해 시행되는 배출권거래제</a:t>
            </a:r>
          </a:p>
          <a:p>
            <a:pPr lvl="1"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오염원이 참여하는 시장이 하나만 존재</a:t>
            </a:r>
          </a:p>
          <a:p>
            <a:pPr lvl="1" eaLnBrk="1" hangingPunct="1"/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배출권은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동일한 가격을 가지고 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1:1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로 거래됨</a:t>
            </a: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정부는 이 제도를 시행하기 위해 오염원에 대한 아무런 정보도 필요하지 않음</a:t>
            </a:r>
          </a:p>
          <a:p>
            <a:pPr lvl="1"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정부가 목표로 하는 지역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산업의 배출 수준이 있으면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그만큼을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오염원에게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무상이나 경매 등을 통해 분배하면 됨</a:t>
            </a:r>
          </a:p>
          <a:p>
            <a:pPr lvl="1" eaLnBrk="1" hangingPunct="1"/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배출권의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시장가격은 오염원들 간의 거래에 의해 결정되며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이는 비용효과성을 충족시킴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355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8A792DF-2260-442B-B14A-B24534298A81}" type="slidenum">
              <a:rPr lang="ko-KR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052"/>
          <p:cNvSpPr>
            <a:spLocks noGrp="1" noChangeArrowheads="1"/>
          </p:cNvSpPr>
          <p:nvPr>
            <p:ph type="title"/>
          </p:nvPr>
        </p:nvSpPr>
        <p:spPr>
          <a:xfrm>
            <a:off x="1370013" y="2667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동질적 오염에 대한 적용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배출량기준 거래제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79" name="Rectangle 2053"/>
          <p:cNvSpPr>
            <a:spLocks noGrp="1" noChangeArrowheads="1"/>
          </p:cNvSpPr>
          <p:nvPr>
            <p:ph idx="1"/>
          </p:nvPr>
        </p:nvSpPr>
        <p:spPr>
          <a:xfrm>
            <a:off x="998538" y="1489075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오염물질을 저감하고자 하며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이를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임의로  오염원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과 오염원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에게 저감량을 분배했다면 예를 들어 오염원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1, 2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각각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20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2000" baseline="30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a</a:t>
            </a:r>
            <a:r>
              <a:rPr lang="en-US" altLang="ko-KR" sz="20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sz="2000" baseline="30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만큼을 저감해야 함</a:t>
            </a:r>
          </a:p>
        </p:txBody>
      </p:sp>
      <p:sp>
        <p:nvSpPr>
          <p:cNvPr id="2458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458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03792E4-9C23-47C3-97DD-66D609604A15}" type="slidenum">
              <a:rPr lang="ko-KR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pic>
        <p:nvPicPr>
          <p:cNvPr id="24582" name="그림 7" descr="Cap 2014-06-19 09-45-12-946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50" y="2497138"/>
            <a:ext cx="5894388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052"/>
          <p:cNvSpPr>
            <a:spLocks noGrp="1" noChangeArrowheads="1"/>
          </p:cNvSpPr>
          <p:nvPr>
            <p:ph type="title"/>
          </p:nvPr>
        </p:nvSpPr>
        <p:spPr>
          <a:xfrm>
            <a:off x="1370013" y="2667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동질적 오염에 대한 적용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배출량기준 거래제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Rectangle 205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98538" y="1614488"/>
                <a:ext cx="7685087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배출권 분배 시점의 두 오염원의 한계저감비용을 비교하면 오염원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2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의 한계저감비용이 더 큼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0</m:t>
                              </m:r>
                            </m:sup>
                          </m:sSubSup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𝛼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&lt;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Sup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0</m:t>
                              </m:r>
                            </m:sup>
                          </m:sSubSup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𝛽</m:t>
                      </m:r>
                    </m:oMath>
                  </m:oMathPara>
                </a14:m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이 상태에서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시장이 형성되고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오염원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2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가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β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와 </a:t>
                </a:r>
                <a:r>
                  <a:rPr lang="el-GR" altLang="ko-KR" sz="2400" dirty="0">
                    <a:latin typeface="Times New Roman" panose="02020603050405020304" pitchFamily="18" charset="0"/>
                    <a:ea typeface="나눔명조" pitchFamily="18" charset="-127"/>
                  </a:rPr>
                  <a:t>α</a:t>
                </a:r>
                <a:r>
                  <a:rPr lang="el-GR" altLang="ko-KR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사이의 어떤 값을 단위 배출량당 지불하고 오염원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1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로부터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배출권을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구입할 것을 제안하면</a:t>
                </a:r>
              </a:p>
              <a:p>
                <a:pPr lvl="1" eaLnBrk="1" hangingPunct="1"/>
                <a:r>
                  <a:rPr lang="ko-KR" altLang="en-US" sz="2100" dirty="0">
                    <a:latin typeface="나눔명조" pitchFamily="18" charset="-127"/>
                    <a:ea typeface="나눔명조" pitchFamily="18" charset="-127"/>
                  </a:rPr>
                  <a:t>오염원 </a:t>
                </a:r>
                <a:r>
                  <a:rPr lang="en-US" altLang="ko-KR" sz="2100" dirty="0">
                    <a:latin typeface="나눔명조" pitchFamily="18" charset="-127"/>
                    <a:ea typeface="나눔명조" pitchFamily="18" charset="-127"/>
                  </a:rPr>
                  <a:t>1</a:t>
                </a:r>
                <a:r>
                  <a:rPr lang="ko-KR" altLang="en-US" sz="2100" dirty="0">
                    <a:latin typeface="나눔명조" pitchFamily="18" charset="-127"/>
                    <a:ea typeface="나눔명조" pitchFamily="18" charset="-127"/>
                  </a:rPr>
                  <a:t>의 경우 자신의 한계저감비용보다 오염원 </a:t>
                </a:r>
                <a:r>
                  <a:rPr lang="en-US" altLang="ko-KR" sz="2100" dirty="0">
                    <a:latin typeface="나눔명조" pitchFamily="18" charset="-127"/>
                    <a:ea typeface="나눔명조" pitchFamily="18" charset="-127"/>
                  </a:rPr>
                  <a:t>2</a:t>
                </a:r>
                <a:r>
                  <a:rPr lang="ko-KR" altLang="en-US" sz="2100" dirty="0">
                    <a:latin typeface="나눔명조" pitchFamily="18" charset="-127"/>
                    <a:ea typeface="나눔명조" pitchFamily="18" charset="-127"/>
                  </a:rPr>
                  <a:t>가 제시하는 금액이 더 높으므로 이 제안을 받아들일 것임</a:t>
                </a:r>
                <a:endParaRPr lang="en-US" altLang="ko-KR" sz="21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028" name="Rectangle 205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8538" y="1614488"/>
                <a:ext cx="7685087" cy="4114800"/>
              </a:xfrm>
              <a:blipFill>
                <a:blip r:embed="rId2"/>
                <a:stretch>
                  <a:fillRect l="-1111" t="-1185" r="-1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103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8BB38F0-BE31-43FB-B2FD-479C28AF9249}" type="slidenum">
              <a:rPr lang="ko-KR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052"/>
          <p:cNvSpPr>
            <a:spLocks noGrp="1" noChangeArrowheads="1"/>
          </p:cNvSpPr>
          <p:nvPr>
            <p:ph type="title"/>
          </p:nvPr>
        </p:nvSpPr>
        <p:spPr>
          <a:xfrm>
            <a:off x="1370013" y="2667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동질적 오염에 대한 적용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배출량기준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거래제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5603" name="Rectangle 2053"/>
          <p:cNvSpPr>
            <a:spLocks noGrp="1" noChangeArrowheads="1"/>
          </p:cNvSpPr>
          <p:nvPr>
            <p:ph idx="1"/>
          </p:nvPr>
        </p:nvSpPr>
        <p:spPr>
          <a:xfrm>
            <a:off x="830263" y="1811338"/>
            <a:ext cx="8088312" cy="4114800"/>
          </a:xfrm>
        </p:spPr>
        <p:txBody>
          <a:bodyPr/>
          <a:lstStyle/>
          <a:p>
            <a:pPr eaLnBrk="1" hangingPunct="1"/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두 오염원의 한계저감비용이 일치하는 저감량 </a:t>
            </a:r>
            <a:r>
              <a:rPr lang="en-US" altLang="ko-KR" sz="2800">
                <a:latin typeface="나눔명조" pitchFamily="18" charset="-127"/>
                <a:ea typeface="나눔명조" pitchFamily="18" charset="-127"/>
              </a:rPr>
              <a:t>a</a:t>
            </a:r>
            <a:r>
              <a:rPr lang="en-US" altLang="ko-KR" sz="2800" baseline="-2500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en-US" altLang="ko-KR" sz="2800" baseline="30000">
                <a:latin typeface="나눔명조" pitchFamily="18" charset="-127"/>
                <a:ea typeface="나눔명조" pitchFamily="18" charset="-127"/>
              </a:rPr>
              <a:t>*</a:t>
            </a:r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en-US" altLang="ko-KR" sz="2800">
                <a:latin typeface="나눔명조" pitchFamily="18" charset="-127"/>
                <a:ea typeface="나눔명조" pitchFamily="18" charset="-127"/>
              </a:rPr>
              <a:t>a</a:t>
            </a:r>
            <a:r>
              <a:rPr lang="en-US" altLang="ko-KR" sz="2800" baseline="-2500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en-US" altLang="ko-KR" sz="2800" baseline="30000">
                <a:latin typeface="나눔명조" pitchFamily="18" charset="-127"/>
                <a:ea typeface="나눔명조" pitchFamily="18" charset="-127"/>
              </a:rPr>
              <a:t>*</a:t>
            </a:r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가 달성될 때까지 거래가 계속됨</a:t>
            </a:r>
          </a:p>
          <a:p>
            <a:pPr lvl="1"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 균형점에서는 두 오염원의 한계저감비용이 일치하고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배출권의 시장가격인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γ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가 됨</a:t>
            </a:r>
          </a:p>
          <a:p>
            <a:pPr eaLnBrk="1" hangingPunct="1"/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각 오염원의 한계저감비용이 다를 경우 오염원들이 자발적으로 배출권을 거래하여 한계저감비용이 서로 일치되게 함</a:t>
            </a:r>
            <a:endParaRPr lang="en-US" altLang="ko-KR" sz="280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2800">
                <a:latin typeface="나눔명조" pitchFamily="18" charset="-127"/>
                <a:ea typeface="나눔명조" pitchFamily="18" charset="-127"/>
              </a:rPr>
              <a:t>   (</a:t>
            </a:r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비용효과성 충족</a:t>
            </a:r>
            <a:r>
              <a:rPr lang="en-US" altLang="ko-KR" sz="280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eaLnBrk="1" hangingPunct="1"/>
            <a:endParaRPr lang="en-US" altLang="ko-KR" sz="21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56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56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1406633-921F-4757-9BD8-2CDE5DD2D814}" type="slidenum">
              <a:rPr lang="ko-KR" altLang="en-US" sz="1200" b="0">
                <a:solidFill>
                  <a:schemeClr val="tx1"/>
                </a:solidFill>
              </a:rPr>
              <a:pPr/>
              <a:t>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70013" y="404446"/>
            <a:ext cx="7220195" cy="738554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배출량기준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거래제의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비용효과성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3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98538" y="1392238"/>
                <a:ext cx="7670800" cy="4367212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어떤 지역에 동질적인 오염물질을 배출하는 오염원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N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개가 있고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총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</a:rPr>
                  <a:t>A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만큼의 오염물질을 저감하고자 함</a:t>
                </a:r>
              </a:p>
              <a:p>
                <a:pPr eaLnBrk="1" hangingPunct="1"/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A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를 가장 적은 비용으로 저감하기 위해 각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오염원에게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할당되어야 할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저감량을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결정하려면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ko-KR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begChr m:val="["/>
                          <m:endChr m:val="]"/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</a:rPr>
                  <a:t>λ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는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전체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저감량이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한 단위 늘어나면서 추가로 지불하여야 하는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저감비용의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최소치임</a:t>
                </a:r>
                <a:endParaRPr lang="ko-KR" altLang="en-US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위 문제의 최적화 조건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𝑀𝐴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=1,...,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2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2053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8538" y="1392238"/>
                <a:ext cx="7670800" cy="4367212"/>
              </a:xfrm>
              <a:blipFill>
                <a:blip r:embed="rId2"/>
                <a:stretch>
                  <a:fillRect l="-874" t="-8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05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32283EF-5E6E-4C09-933B-B959736CD7B4}" type="slidenum">
              <a:rPr lang="ko-KR" altLang="en-US" sz="1200" b="0">
                <a:solidFill>
                  <a:schemeClr val="tx1"/>
                </a:solidFill>
              </a:rPr>
              <a:pPr/>
              <a:t>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7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98538" y="1392238"/>
                <a:ext cx="7670800" cy="4367212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한편 </a:t>
                </a:r>
                <a:r>
                  <a:rPr lang="en-US" altLang="ko-KR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번째 기업이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</a:rPr>
                  <a:t>r</a:t>
                </a:r>
                <a:r>
                  <a:rPr lang="en-US" altLang="ko-KR" sz="2400" baseline="-25000" dirty="0">
                    <a:latin typeface="Times New Roman" panose="02020603050405020304" pitchFamily="18" charset="0"/>
                    <a:ea typeface="나눔명조" pitchFamily="18" charset="-127"/>
                  </a:rPr>
                  <a:t>i</a:t>
                </a:r>
                <a:r>
                  <a:rPr lang="en-US" altLang="ko-KR" sz="2400" baseline="30000" dirty="0">
                    <a:latin typeface="Times New Roman" panose="02020603050405020304" pitchFamily="18" charset="0"/>
                    <a:ea typeface="나눔명조" pitchFamily="18" charset="-127"/>
                  </a:rPr>
                  <a:t>0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에 해당되는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배출권을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얻었으며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이 때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배출권의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시장가격은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</a:rPr>
                  <a:t>P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라고 가정</a:t>
                </a: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이 기업이 최소화하고자 하는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순비용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endParaRPr lang="ko-KR" altLang="en-US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p>
                            <m:sSup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ko-KR" altLang="en-US" sz="2400" dirty="0"/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저감비용에서 배출권을 판매하여 벌어들인 수입을 빼준 것이 순비용이 됨</a:t>
                </a: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각 기업이 순비용을 최소화하기 위해 선택하는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저감량은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다음의 조건을 충족해야 함   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𝑀𝐴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=1,...,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3077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8538" y="1392238"/>
                <a:ext cx="7670800" cy="4367212"/>
              </a:xfrm>
              <a:blipFill>
                <a:blip r:embed="rId2"/>
                <a:stretch>
                  <a:fillRect l="-1113" t="-1534" r="-2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307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64EE539-258F-41E8-9720-FD858F2D8170}" type="slidenum">
              <a:rPr lang="ko-KR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9" name="Rectangle 1028"/>
          <p:cNvSpPr txBox="1">
            <a:spLocks noChangeArrowheads="1"/>
          </p:cNvSpPr>
          <p:nvPr/>
        </p:nvSpPr>
        <p:spPr bwMode="auto">
          <a:xfrm>
            <a:off x="1370013" y="404446"/>
            <a:ext cx="7299325" cy="738554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pPr eaLnBrk="1" hangingPunct="1"/>
            <a:r>
              <a:rPr lang="ko-KR" altLang="en-US" kern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배출량기준 거래제의 비용효과성</a:t>
            </a:r>
            <a:endParaRPr lang="en-US" altLang="ko-KR" kern="0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101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44550" y="1392238"/>
                <a:ext cx="7824788" cy="4367212"/>
              </a:xfrm>
            </p:spPr>
            <p:txBody>
              <a:bodyPr/>
              <a:lstStyle/>
              <a:p>
                <a:pPr eaLnBrk="1" hangingPunct="1"/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P=</a:t>
                </a:r>
                <a:r>
                  <a:rPr lang="el-GR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λ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일 때 개별기업의 행위에 의해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비용최소화가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 달성됨</a:t>
                </a:r>
              </a:p>
              <a:p>
                <a:pPr lvl="1"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개별기업이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비용최소화를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 위해 선택하는 조건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𝑀𝐴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=1,...,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2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전체 저감비용을 최소화하기 위한 조건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:</a:t>
                </a: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𝑀𝐴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=1,...,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2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그런데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배출권의 시장가격은 균형에서 각 오염원의 한계비용인 </a:t>
                </a:r>
                <a:r>
                  <a:rPr lang="el-GR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λ</a:t>
                </a:r>
                <a:r>
                  <a:rPr lang="el-GR" altLang="ko-KR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와 동일 하므로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(&lt;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그림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8-1&gt;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참조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),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P=</a:t>
                </a:r>
                <a:r>
                  <a:rPr lang="el-GR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λ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의 조건이 충족되어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배출권시장의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 효율성조건이 만족됨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01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4550" y="1392238"/>
                <a:ext cx="7824788" cy="4367212"/>
              </a:xfrm>
              <a:blipFill>
                <a:blip r:embed="rId2"/>
                <a:stretch>
                  <a:fillRect l="-1091" t="-12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410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552DCBC-F972-4A20-BCF1-EDA90E032706}" type="slidenum">
              <a:rPr lang="ko-KR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9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70013" y="404446"/>
            <a:ext cx="7316787" cy="738554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배출량기준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거래제의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비용효과성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052"/>
          <p:cNvSpPr>
            <a:spLocks noGrp="1" noChangeArrowheads="1"/>
          </p:cNvSpPr>
          <p:nvPr>
            <p:ph type="title"/>
          </p:nvPr>
        </p:nvSpPr>
        <p:spPr>
          <a:xfrm>
            <a:off x="1370013" y="2667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이질적 오염에 대한 적용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오염도기준 거래제</a:t>
            </a:r>
            <a:r>
              <a:rPr lang="en-US" altLang="ko-KR" sz="18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(ambient permit system, APS)</a:t>
            </a:r>
          </a:p>
        </p:txBody>
      </p:sp>
      <p:sp>
        <p:nvSpPr>
          <p:cNvPr id="26627" name="Rectangle 2053"/>
          <p:cNvSpPr>
            <a:spLocks noGrp="1" noChangeArrowheads="1"/>
          </p:cNvSpPr>
          <p:nvPr>
            <p:ph idx="1"/>
          </p:nvPr>
        </p:nvSpPr>
        <p:spPr>
          <a:xfrm>
            <a:off x="1027113" y="1727200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오염물질이 서로 이질적일 경우 환경정책을 추진하는 정부정책은 오염물질이 피해지역에 유발하는 오염도의 정도를 감안하여 작성되어야 함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지구온난화가스의 경우 동질적인 성격이 강하지만 총비산먼지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(TSP),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아황산가스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질소산화물 등은 이질적 오염물질로 분류되고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수질오염물질의 경우 대부분 이질적 오염물질임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662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61494D2-B3BB-4709-AD3F-55FE19641A1D}" type="slidenum">
              <a:rPr lang="ko-KR" altLang="en-US" sz="1200" b="0">
                <a:solidFill>
                  <a:schemeClr val="tx1"/>
                </a:solidFill>
              </a:rPr>
              <a:pPr/>
              <a:t>12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052"/>
          <p:cNvSpPr>
            <a:spLocks noGrp="1" noChangeArrowheads="1"/>
          </p:cNvSpPr>
          <p:nvPr>
            <p:ph type="title"/>
          </p:nvPr>
        </p:nvSpPr>
        <p:spPr>
          <a:xfrm>
            <a:off x="1370013" y="2667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이질적 오염에 대한 적용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오염도기준 거래제</a:t>
            </a:r>
            <a:endParaRPr lang="en-US" altLang="ko-KR" sz="180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7651" name="Rectangle 2053"/>
          <p:cNvSpPr>
            <a:spLocks noGrp="1" noChangeArrowheads="1"/>
          </p:cNvSpPr>
          <p:nvPr>
            <p:ph idx="1"/>
          </p:nvPr>
        </p:nvSpPr>
        <p:spPr>
          <a:xfrm>
            <a:off x="830263" y="1547813"/>
            <a:ext cx="7881937" cy="4238625"/>
          </a:xfrm>
        </p:spPr>
        <p:txBody>
          <a:bodyPr/>
          <a:lstStyle/>
          <a:p>
            <a:pPr eaLnBrk="1" hangingPunct="1"/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오염도기준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거래제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오염물질의 이질성을 반영하여 실행되는 배출권거래제 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오염물질이 이질적인 경우에도 비용효과성을 달성함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각 오염원에 대한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배출권은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오염원이 피해지역에 축적할 수 있는 오염물질 양을 기준으로 설정됨</a:t>
            </a:r>
          </a:p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그러나 완전한 의미의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오염도기준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거래제를 실행하는 것은 거의 불가능하며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대부분의 실제 배출권거래제는 배출량기준거래제의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형식임</a:t>
            </a:r>
            <a:endParaRPr lang="ko-KR" altLang="en-US" sz="21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오염도기준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거래제를 실행하기 위해서는 각 오염원의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전이계수를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완전히 파악해야 함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오염으로 인해 피해를 입는 지역이 여러 군데일 경우 문제가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복잡해짐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765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765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83DBCAB-7623-4ED3-BCE9-2EB7F813F51C}" type="slidenum">
              <a:rPr lang="ko-KR" altLang="en-US" sz="1200" b="0">
                <a:solidFill>
                  <a:schemeClr val="tx1"/>
                </a:solidFill>
              </a:rPr>
              <a:pPr/>
              <a:t>13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052"/>
          <p:cNvSpPr>
            <a:spLocks noGrp="1" noChangeArrowheads="1"/>
          </p:cNvSpPr>
          <p:nvPr>
            <p:ph type="title"/>
          </p:nvPr>
        </p:nvSpPr>
        <p:spPr>
          <a:xfrm>
            <a:off x="1370013" y="2667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이질적 오염에 대한 적용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오염도기준 거래제</a:t>
            </a:r>
            <a:endParaRPr lang="en-US" altLang="ko-KR" sz="180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5" name="Rectangle 2053"/>
          <p:cNvSpPr>
            <a:spLocks noGrp="1" noChangeArrowheads="1"/>
          </p:cNvSpPr>
          <p:nvPr>
            <p:ph idx="1"/>
          </p:nvPr>
        </p:nvSpPr>
        <p:spPr>
          <a:xfrm>
            <a:off x="830263" y="1674813"/>
            <a:ext cx="7881937" cy="4238625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오염피해가 발생하는 지역이 다수이고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정부가 모든 피해지역에서의 목표오염도를 설정할 경우 모든 오염원은 모든 피해지역에서 형성되는 배출권 시장에 일일이 참여해야 함 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엄청난 거래비용으로 인해 오염도기준 배출권거래제를 실제 시행하는 것이 어려움</a:t>
            </a:r>
          </a:p>
          <a:p>
            <a:pPr eaLnBrk="1" hangingPunct="1"/>
            <a:endParaRPr lang="en-US" altLang="ko-KR" sz="19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867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4752940-9EB4-4F50-875A-441B81E68F22}" type="slidenum">
              <a:rPr lang="ko-KR" altLang="en-US" sz="1200" b="0">
                <a:solidFill>
                  <a:schemeClr val="tx1"/>
                </a:solidFill>
              </a:rPr>
              <a:pPr/>
              <a:t>14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pic>
        <p:nvPicPr>
          <p:cNvPr id="28678" name="그림 5" descr="Cap 2014-06-19 09-45-24-606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4143375"/>
            <a:ext cx="7751762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70013" y="483576"/>
            <a:ext cx="6833210" cy="6594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오염도기준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거래제의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비용효과성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3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98538" y="1392238"/>
                <a:ext cx="7670800" cy="4367212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어떤 지역에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N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개의 오염원이 있고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개의 오염도 측정 지점이 있음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오염원 </a:t>
                </a:r>
                <a:r>
                  <a:rPr lang="en-US" altLang="ko-KR" sz="22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의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정책도입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이전 배출량을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2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</m:t>
                        </m:r>
                      </m:sub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정책도입으로 저감하는 양을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2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𝑎</m:t>
                        </m:r>
                      </m:e>
                      <m:sub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2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e>
                      <m:sub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측정지점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j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에서 자연적으로 축적되는 오염물질의 양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측정지점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j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에서의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목포오염도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2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220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22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를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가장 적은 비용으로 저감하기 위해 각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오염원에게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할당되어야 할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저감량을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결정하려면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𝐿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𝑖</m:t>
                          </m:r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)</m:t>
                          </m:r>
                        </m:e>
                      </m:nary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ko-KR" altLang="en-US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𝑖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22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sz="22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2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ko-KR" sz="22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𝜆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각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측정지점의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오염물질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축적량을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한 단위 더 줄이기 위해 추가로 지불하여야 하는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저감비용</a:t>
                </a:r>
                <a:endParaRPr lang="ko-KR" altLang="en-US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2053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8538" y="1392238"/>
                <a:ext cx="7670800" cy="4367212"/>
              </a:xfrm>
              <a:blipFill>
                <a:blip r:embed="rId2"/>
                <a:stretch>
                  <a:fillRect l="-874" t="-1116" b="-115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05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32283EF-5E6E-4C09-933B-B959736CD7B4}" type="slidenum">
              <a:rPr lang="ko-KR" altLang="en-US" sz="1200" b="0">
                <a:solidFill>
                  <a:schemeClr val="tx1"/>
                </a:solidFill>
              </a:rPr>
              <a:pPr/>
              <a:t>15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308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3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98538" y="1392238"/>
                <a:ext cx="7670800" cy="4367212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앞선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라그랑지안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함수를 통해 도출되는 비용최소화의 필요조건은 다음과 같음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: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ko-KR" altLang="en-US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, (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𝑖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=1,…, 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𝑁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)</m:t>
                      </m:r>
                    </m:oMath>
                  </m:oMathPara>
                </a14:m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이제 정부가 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M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개의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오염도기준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배출권시장을 형성하여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배출권이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거래되도록 하되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오염원 </a:t>
                </a:r>
                <a:r>
                  <a:rPr lang="en-US" altLang="ko-KR" sz="2200" dirty="0" err="1">
                    <a:latin typeface="나눔명조" pitchFamily="18" charset="-127"/>
                    <a:ea typeface="나눔명조" pitchFamily="18" charset="-127"/>
                  </a:rPr>
                  <a:t>i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에게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측정지점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j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에 대한 최초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배출권을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2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𝑖𝑗</m:t>
                        </m:r>
                      </m:sub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만큼 분배함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</a:p>
              <a:p>
                <a:pPr eaLnBrk="1" hangingPunct="1"/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ko-KR" altLang="en-US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2053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8538" y="1392238"/>
                <a:ext cx="7670800" cy="4367212"/>
              </a:xfrm>
              <a:blipFill>
                <a:blip r:embed="rId2"/>
                <a:stretch>
                  <a:fillRect l="-874" t="-8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05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32283EF-5E6E-4C09-933B-B959736CD7B4}" type="slidenum">
              <a:rPr lang="ko-KR" altLang="en-US" sz="1200" b="0">
                <a:solidFill>
                  <a:schemeClr val="tx1"/>
                </a:solidFill>
              </a:rPr>
              <a:pPr/>
              <a:t>16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7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70013" y="483576"/>
            <a:ext cx="6833210" cy="6594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오염도기준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거래제의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비용효과성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1650715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3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98538" y="1392238"/>
                <a:ext cx="7670800" cy="4367212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측정지점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j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에서 형성된 </a:t>
                </a:r>
                <a:r>
                  <a:rPr lang="ko-KR" altLang="en-US" sz="22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배출권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시장의 가격을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라 하면 </a:t>
                </a:r>
                <a:r>
                  <a:rPr lang="en-US" altLang="ko-KR" sz="22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번째 오염원의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순비용은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다음과 같음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: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2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2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𝐴𝐶</m:t>
                          </m:r>
                        </m:e>
                        <m:sub>
                          <m:r>
                            <a:rPr lang="en-US" altLang="ko-KR" sz="22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22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200" i="1">
                          <a:latin typeface="Cambria Math" panose="02040503050406030204" pitchFamily="18" charset="0"/>
                          <a:ea typeface="나눔명조" pitchFamily="18" charset="-127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ko-KR" sz="22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2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  <m:r>
                            <a:rPr lang="en-US" altLang="ko-KR" sz="22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2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각 오염원은 자신의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순비용을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최소화하는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저감량을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결정하며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비용최소화는 다음의 조건에서 이루어짐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.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bPr>
                        <m:e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𝑗</m:t>
                          </m:r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, (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𝑖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=1,…, 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𝑁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)</m:t>
                      </m:r>
                    </m:oMath>
                  </m:oMathPara>
                </a14:m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따라서 각 배출권시장에서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2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sSub>
                      <m:sSubPr>
                        <m:ctrlP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ko-KR" altLang="en-US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𝜆</m:t>
                        </m:r>
                      </m:e>
                      <m:sub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이면 효율성조건이 충족됨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ko-KR" altLang="en-US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2053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8538" y="1392238"/>
                <a:ext cx="7670800" cy="4367212"/>
              </a:xfrm>
              <a:blipFill>
                <a:blip r:embed="rId2"/>
                <a:stretch>
                  <a:fillRect l="-874" t="-1255" b="-4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05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32283EF-5E6E-4C09-933B-B959736CD7B4}" type="slidenum">
              <a:rPr lang="ko-KR" altLang="en-US" sz="1200" b="0">
                <a:solidFill>
                  <a:schemeClr val="tx1"/>
                </a:solidFill>
              </a:rPr>
              <a:pPr/>
              <a:t>17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7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70013" y="483576"/>
            <a:ext cx="6833210" cy="6594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오염도기준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거래제의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비용효과성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57861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052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기술혁신유인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동태적 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9699" name="Rectangle 2053"/>
          <p:cNvSpPr>
            <a:spLocks noGrp="1" noChangeArrowheads="1"/>
          </p:cNvSpPr>
          <p:nvPr>
            <p:ph idx="1"/>
          </p:nvPr>
        </p:nvSpPr>
        <p:spPr>
          <a:xfrm>
            <a:off x="941388" y="1433513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그림에서는 배출량기준 거래제가 시행되고 있고</a:t>
            </a:r>
            <a:r>
              <a:rPr lang="en-US" altLang="ko-KR" sz="25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배출권의 시장가격은 </a:t>
            </a:r>
            <a:r>
              <a:rPr lang="en-US" altLang="ko-KR" sz="25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임</a:t>
            </a:r>
            <a:endParaRPr lang="en-US" altLang="ko-KR" sz="25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970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2970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B726758-9AAD-4612-B58D-AA61EE4FC2B7}" type="slidenum">
              <a:rPr lang="ko-KR" altLang="en-US" sz="1200" b="0">
                <a:solidFill>
                  <a:schemeClr val="tx1"/>
                </a:solidFill>
              </a:rPr>
              <a:pPr/>
              <a:t>18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pic>
        <p:nvPicPr>
          <p:cNvPr id="29702" name="그림 5" descr="Cap 2014-06-19 09-45-34-08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2278063"/>
            <a:ext cx="7666037" cy="407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052"/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기술혁신유인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동태적 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3" name="Rectangle 2053"/>
          <p:cNvSpPr>
            <a:spLocks noGrp="1" noChangeArrowheads="1"/>
          </p:cNvSpPr>
          <p:nvPr>
            <p:ph idx="1"/>
          </p:nvPr>
        </p:nvSpPr>
        <p:spPr>
          <a:xfrm>
            <a:off x="688975" y="1419225"/>
            <a:ext cx="7937500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기술혁신 전</a:t>
            </a: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오염원은 배출권의 시장가격과 한계저감비용이 일치하는 </a:t>
            </a:r>
            <a:r>
              <a:rPr lang="en-US" altLang="ko-KR" sz="21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1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의 배출량을 선택함</a:t>
            </a: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저감비용으로 </a:t>
            </a:r>
            <a:r>
              <a:rPr lang="en-US" altLang="ko-KR" sz="2100">
                <a:latin typeface="Times New Roman" panose="02020603050405020304" pitchFamily="18" charset="0"/>
                <a:ea typeface="나눔명조" pitchFamily="18" charset="-127"/>
              </a:rPr>
              <a:t>d+e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배출권 구입을 위해 </a:t>
            </a:r>
            <a:r>
              <a:rPr lang="en-US" altLang="ko-KR" sz="2100">
                <a:latin typeface="Times New Roman" panose="02020603050405020304" pitchFamily="18" charset="0"/>
                <a:ea typeface="나눔명조" pitchFamily="18" charset="-127"/>
              </a:rPr>
              <a:t>a+b+c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를 지불하고 있으므로 오염원이 지불하는 총 비용은 </a:t>
            </a:r>
            <a:r>
              <a:rPr lang="en-US" altLang="ko-KR" sz="2100">
                <a:latin typeface="Times New Roman" panose="02020603050405020304" pitchFamily="18" charset="0"/>
                <a:ea typeface="나눔명조" pitchFamily="18" charset="-127"/>
              </a:rPr>
              <a:t>a+b+c+d+e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임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기술혁신 후</a:t>
            </a: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오염원의 한계저감비용이 </a:t>
            </a:r>
            <a:r>
              <a:rPr lang="en-US" altLang="ko-KR" sz="2100">
                <a:latin typeface="Times New Roman" panose="02020603050405020304" pitchFamily="18" charset="0"/>
                <a:ea typeface="나눔명조" pitchFamily="18" charset="-127"/>
              </a:rPr>
              <a:t>MAC</a:t>
            </a:r>
            <a:r>
              <a:rPr lang="en-US" altLang="ko-KR" sz="2100" baseline="-2500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로 감소하여 오염원은 </a:t>
            </a:r>
            <a:r>
              <a:rPr lang="en-US" altLang="ko-KR" sz="210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en-US" altLang="ko-KR" sz="2100" baseline="-2500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의 오염물질을 배출함</a:t>
            </a: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저감비용으로 </a:t>
            </a:r>
            <a:r>
              <a:rPr lang="en-US" altLang="ko-KR" sz="2100">
                <a:latin typeface="Times New Roman" panose="02020603050405020304" pitchFamily="18" charset="0"/>
                <a:ea typeface="나눔명조" pitchFamily="18" charset="-127"/>
              </a:rPr>
              <a:t>b+e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배출권 구입을 위해 </a:t>
            </a:r>
            <a:r>
              <a:rPr lang="en-US" altLang="ko-KR" sz="2100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를 지불하고 있으므로 오염원이 지불하는 총 비용은 </a:t>
            </a:r>
            <a:r>
              <a:rPr lang="en-US" altLang="ko-KR" sz="2100">
                <a:latin typeface="Times New Roman" panose="02020603050405020304" pitchFamily="18" charset="0"/>
                <a:ea typeface="나눔명조" pitchFamily="18" charset="-127"/>
              </a:rPr>
              <a:t>a+b+e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임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기술혁신을 통한 이득은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</a:rPr>
              <a:t>c+d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이며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이는 배출부과금제 하에서의 기술혁신 이득과 동일함 </a:t>
            </a:r>
            <a:endParaRPr lang="en-US" altLang="ko-KR" sz="24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3072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F0FA846-9844-427E-97E9-5357EDEEE05F}" type="slidenum">
              <a:rPr lang="ko-KR" altLang="en-US" sz="1200" b="0">
                <a:solidFill>
                  <a:schemeClr val="tx1"/>
                </a:solidFill>
              </a:rPr>
              <a:pPr/>
              <a:t>19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>
            <a:spLocks noGrp="1" noChangeArrowheads="1"/>
          </p:cNvSpPr>
          <p:nvPr>
            <p:ph type="title"/>
          </p:nvPr>
        </p:nvSpPr>
        <p:spPr>
          <a:xfrm>
            <a:off x="1222375" y="227013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배출권거래제의 구체적인 실행 방안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1747" name="Rectangle 7"/>
          <p:cNvSpPr>
            <a:spLocks noGrp="1" noChangeArrowheads="1"/>
          </p:cNvSpPr>
          <p:nvPr>
            <p:ph idx="1"/>
          </p:nvPr>
        </p:nvSpPr>
        <p:spPr>
          <a:xfrm>
            <a:off x="1031875" y="1533525"/>
            <a:ext cx="7464425" cy="4283075"/>
          </a:xfrm>
        </p:spPr>
        <p:txBody>
          <a:bodyPr/>
          <a:lstStyle/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배출권거래제는 이론적으로</a:t>
            </a:r>
            <a:r>
              <a:rPr lang="en-US" altLang="ko-KR" sz="25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단기적인 비용효과성과 장기적인 기술혁신유인을 가지고 있고</a:t>
            </a:r>
            <a:r>
              <a:rPr lang="en-US" altLang="ko-KR" sz="25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규제당국과 오염원이 지속적으로 접촉할 필요도 없는 혁신적인 환경규제제도임</a:t>
            </a:r>
          </a:p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그러나 이를 구체적으로 실행하는 데에는 많은 장애요인들이 나타남</a:t>
            </a: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오염물질의 이질성으로 인한 문제</a:t>
            </a: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배출권거래의 동태적 측면</a:t>
            </a: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최초배출권의 분배문제와 정책의 수용성</a:t>
            </a: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배출권시장의 경쟁성</a:t>
            </a: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감시 및 감독비용</a:t>
            </a:r>
          </a:p>
        </p:txBody>
      </p:sp>
      <p:sp>
        <p:nvSpPr>
          <p:cNvPr id="3174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3174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C9F0267-EE60-4A82-B283-2505FDCF8B2E}" type="slidenum">
              <a:rPr lang="ko-KR" altLang="en-US" sz="1200" b="0">
                <a:solidFill>
                  <a:schemeClr val="tx1"/>
                </a:solidFill>
              </a:rPr>
              <a:pPr/>
              <a:t>20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175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175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오염물질의 이질성으로 인한 문제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1" name="Rectangle 7"/>
          <p:cNvSpPr>
            <a:spLocks noGrp="1" noChangeArrowheads="1"/>
          </p:cNvSpPr>
          <p:nvPr>
            <p:ph idx="1"/>
          </p:nvPr>
        </p:nvSpPr>
        <p:spPr>
          <a:xfrm>
            <a:off x="1027113" y="1771650"/>
            <a:ext cx="7656512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오염물질이 이질적인 경우 오염도기준 거래제가 실행되어야 하나 시행이 어려움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이 문제를 해결하기 위해 몇 가지 대안을 사용할 수 있음</a:t>
            </a:r>
          </a:p>
          <a:p>
            <a:pPr lvl="1"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이질적 오염물질에 대해 적용되는 배출량기준 거래제</a:t>
            </a:r>
          </a:p>
          <a:p>
            <a:pPr lvl="1"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구획배출권거래제</a:t>
            </a:r>
          </a:p>
          <a:p>
            <a:pPr lvl="1"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단일 오염도기준 배출권시장</a:t>
            </a:r>
          </a:p>
          <a:p>
            <a:pPr eaLnBrk="1" hangingPunct="1"/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3277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97F5F36-EB12-482D-916F-89A901DC52A3}" type="slidenum">
              <a:rPr lang="ko-KR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4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5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32385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이질적 오염물질에 대해 적용되는 배출량기준 거래제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3795" name="Rectangle 7"/>
          <p:cNvSpPr>
            <a:spLocks noGrp="1" noChangeArrowheads="1"/>
          </p:cNvSpPr>
          <p:nvPr>
            <p:ph idx="1"/>
          </p:nvPr>
        </p:nvSpPr>
        <p:spPr>
          <a:xfrm>
            <a:off x="1041400" y="1771650"/>
            <a:ext cx="7642225" cy="4178300"/>
          </a:xfrm>
        </p:spPr>
        <p:txBody>
          <a:bodyPr/>
          <a:lstStyle/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오염물질의 이질성을 감안하여 정책을 설계하는 것이 어렵다면 오염물질이 이질적임에도 불구하고 배출량기준 거래제를 대신 사용하는 방안을 검토할 수 있음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이 경우 배출량기준 거래제를 대신 사용함으로써 오염도기준 거래제를 사용할 때에 비해 어느 정도나 추가비용을 지불해야 하는지를 파악해야 함</a:t>
            </a:r>
          </a:p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이 비용이 오염도기준 거래제를 무리하게 사용함에 따라 지불해야 하는 각종 거래비용이나 행정비용보다 적다면 배출량기준 거래제를 효과적인 대안으로 인정할 수 있음 </a:t>
            </a:r>
          </a:p>
          <a:p>
            <a:pPr eaLnBrk="1" hangingPunct="1"/>
            <a:endParaRPr lang="ko-KR" altLang="en-US" sz="24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379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3379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AE21717-1D77-4B56-AF72-2AB9F87377DA}" type="slidenum">
              <a:rPr lang="ko-KR" altLang="en-US" sz="1200" b="0">
                <a:solidFill>
                  <a:schemeClr val="tx1"/>
                </a:solidFill>
              </a:rPr>
              <a:pPr/>
              <a:t>22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3798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3799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그림 8" descr="Cap 2014-06-19 09-45-46-12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3179763"/>
            <a:ext cx="5795962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2254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이질적 오염물질에 대해 적용되는 배출량기준 거래제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4820" name="Rectangle 7"/>
          <p:cNvSpPr>
            <a:spLocks noGrp="1" noChangeArrowheads="1"/>
          </p:cNvSpPr>
          <p:nvPr>
            <p:ph idx="1"/>
          </p:nvPr>
        </p:nvSpPr>
        <p:spPr>
          <a:xfrm>
            <a:off x="1041400" y="1562100"/>
            <a:ext cx="7642225" cy="4318000"/>
          </a:xfrm>
        </p:spPr>
        <p:txBody>
          <a:bodyPr/>
          <a:lstStyle/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배출량기준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거래제가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오염도기준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거래제를 대체할 수 있는 정도는 대상오염물질이나 대상지역별로 크게 다름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오염물질의 이질성을 무시하고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배출량기준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거래제를 사용하는 것이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적합한지는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정책대상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오염물질과 대상지역의 특성을 고려하여 판단해야 함</a:t>
            </a:r>
          </a:p>
        </p:txBody>
      </p:sp>
      <p:sp>
        <p:nvSpPr>
          <p:cNvPr id="34821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3482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0C7FEA9-6924-4382-B658-F12D812B096B}" type="slidenum">
              <a:rPr lang="ko-KR" altLang="en-US" sz="1200" b="0">
                <a:solidFill>
                  <a:schemeClr val="tx1"/>
                </a:solidFill>
              </a:rPr>
              <a:pPr/>
              <a:t>23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4823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4824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/>
          <p:cNvSpPr>
            <a:spLocks noGrp="1" noChangeArrowheads="1"/>
          </p:cNvSpPr>
          <p:nvPr>
            <p:ph type="title"/>
          </p:nvPr>
        </p:nvSpPr>
        <p:spPr>
          <a:xfrm>
            <a:off x="1412875" y="29527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구획배출권거래제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(zonal emission permit system)</a:t>
            </a:r>
          </a:p>
        </p:txBody>
      </p:sp>
      <p:sp>
        <p:nvSpPr>
          <p:cNvPr id="35843" name="Rectangle 7"/>
          <p:cNvSpPr>
            <a:spLocks noGrp="1" noChangeArrowheads="1"/>
          </p:cNvSpPr>
          <p:nvPr>
            <p:ph idx="1"/>
          </p:nvPr>
        </p:nvSpPr>
        <p:spPr>
          <a:xfrm>
            <a:off x="1082675" y="1671638"/>
            <a:ext cx="7319963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구획배출권거래제는 전체 오염관리지역을 몇 개의 구획으로 분리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같은 구획 내의 오염원은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배출량기준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거래제에 의해 거래하고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다른 구획 간의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거래는 원칙적으로 금지함</a:t>
            </a:r>
          </a:p>
          <a:p>
            <a:pPr eaLnBrk="1" hangingPunct="1"/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구획화는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동시에 해결하기 어려운 두 가지 문제를 모두 고려해야 함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오염물질의 동질성을 확보하기 위해 가능한 한 작게 구획을 설정할 필요성</a:t>
            </a:r>
          </a:p>
          <a:p>
            <a:pPr lvl="1" eaLnBrk="1" hangingPunct="1"/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거래의 효율성을 확보하기 위해 가능한 한 많은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교환기회를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오염원에게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제공할 필요성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584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3584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3D4C29D-6559-41E0-8558-2389732FDCEF}" type="slidenum">
              <a:rPr lang="ko-KR" altLang="en-US" sz="1200" b="0">
                <a:solidFill>
                  <a:schemeClr val="tx1"/>
                </a:solidFill>
              </a:rPr>
              <a:pPr/>
              <a:t>24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584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584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/>
          <p:cNvSpPr>
            <a:spLocks noGrp="1" noChangeArrowheads="1"/>
          </p:cNvSpPr>
          <p:nvPr>
            <p:ph type="title"/>
          </p:nvPr>
        </p:nvSpPr>
        <p:spPr>
          <a:xfrm>
            <a:off x="1398588" y="-16827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구획배출권거래제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</a:p>
        </p:txBody>
      </p:sp>
      <p:sp>
        <p:nvSpPr>
          <p:cNvPr id="36867" name="Rectangle 7"/>
          <p:cNvSpPr>
            <a:spLocks noGrp="1" noChangeArrowheads="1"/>
          </p:cNvSpPr>
          <p:nvPr>
            <p:ph idx="1"/>
          </p:nvPr>
        </p:nvSpPr>
        <p:spPr>
          <a:xfrm>
            <a:off x="969963" y="1322388"/>
            <a:ext cx="7624762" cy="4281487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서로 다른 구획 간의 거래를 완전 금지하는 것이 문제가 된다면 제한된 형태로 구획 간 거래를 허용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미국 남캘리포니아 대기오염 관리제도는 대상지역을 해안과 내륙지역으로 구분하고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내륙에 위치한 오염원이 해안의 배출권시장에서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구입하는 것만 허용함</a:t>
            </a: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해안 오염물질은 내륙으로 쉽게 이동하지만 내륙의 오염물질은 해안으로 이동하지 않기 때문임</a:t>
            </a:r>
          </a:p>
          <a:p>
            <a:pPr lvl="1" eaLnBrk="1" hangingPunct="1"/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구획간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거래가 한 방향으로만 결정될 수 없는 경우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정부가 정한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교환비율에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따라 구획 간 거래가 이루어지게 할 수 있음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제한된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형태나마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구획 간 거래를 허용할 경우 보다 탄력적인 제도가 될 것이지만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오염물질의 이질성이 커지므로 목표오염도가 달성되지 못할 위험은 커짐</a:t>
            </a:r>
          </a:p>
          <a:p>
            <a:pPr eaLnBrk="1" hangingPunct="1"/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3686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2FFDD56-C942-47CC-91A1-26A2B7E7A211}" type="slidenum">
              <a:rPr lang="ko-KR" altLang="en-US" sz="1200" b="0">
                <a:solidFill>
                  <a:schemeClr val="tx1"/>
                </a:solidFill>
              </a:rPr>
              <a:pPr/>
              <a:t>25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687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7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/>
          <p:cNvSpPr>
            <a:spLocks noGrp="1" noChangeArrowheads="1"/>
          </p:cNvSpPr>
          <p:nvPr>
            <p:ph type="title"/>
          </p:nvPr>
        </p:nvSpPr>
        <p:spPr>
          <a:xfrm>
            <a:off x="1427163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단일 오염도기준 배출권시장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7891" name="Rectangle 7"/>
          <p:cNvSpPr>
            <a:spLocks noGrp="1" noChangeArrowheads="1"/>
          </p:cNvSpPr>
          <p:nvPr>
            <p:ph idx="1"/>
          </p:nvPr>
        </p:nvSpPr>
        <p:spPr>
          <a:xfrm>
            <a:off x="858838" y="1460500"/>
            <a:ext cx="7810500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특정 도시에서 특히 오염도가 심한 지역이 있다면 이 지점을 기준으로 각 오염원의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전이계수를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구하고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교환비율을 정해줄 수 있음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이 방식은 단 하나의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오염도기준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배출권시장만을 개설하기 때문에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오염원이 여러 군데의 배출권시장에 참여해야 하는 문제를 해결함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그러나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기준지점의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오염도는 나빠지지 않더라도 다른 지역의 오염도는 더 심해질 수 있음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789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3789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D084E53-7C50-4160-A31A-C5C8C231BD57}" type="slidenum">
              <a:rPr lang="ko-KR" altLang="en-US" sz="1200" b="0">
                <a:solidFill>
                  <a:schemeClr val="tx1"/>
                </a:solidFill>
              </a:rPr>
              <a:pPr/>
              <a:t>26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7894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7895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Grp="1" noChangeArrowheads="1"/>
          </p:cNvSpPr>
          <p:nvPr>
            <p:ph type="title"/>
          </p:nvPr>
        </p:nvSpPr>
        <p:spPr>
          <a:xfrm>
            <a:off x="144145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배출권거래의 동태적 측면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5" name="Rectangle 7"/>
          <p:cNvSpPr>
            <a:spLocks noGrp="1" noChangeArrowheads="1"/>
          </p:cNvSpPr>
          <p:nvPr>
            <p:ph idx="1"/>
          </p:nvPr>
        </p:nvSpPr>
        <p:spPr>
          <a:xfrm>
            <a:off x="1111250" y="1447800"/>
            <a:ext cx="7558088" cy="4114800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같은 배출량이라도 누가 언제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배출하느냐에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따라 오염도에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미치는 영향이 다르므로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정책효과의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공간적 분포는 물론이고 시간적 분포까지 고려해야 함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배출량 자체의 시간적 변화</a:t>
            </a: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계절에 따른 난방용 연료 사용</a:t>
            </a: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경기변동에 따른 공장의 가동률 변화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자연적 요인</a:t>
            </a: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공기 흐름의 방향과 세기</a:t>
            </a: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온수나 강수량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오염물질 자체가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축적성을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지닐 경우</a:t>
            </a: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시간이 지나면 동일한 오염물질량이 배출되어도 관측되는 오염도는 더 높아짐</a:t>
            </a:r>
          </a:p>
          <a:p>
            <a:pPr lvl="1" eaLnBrk="1" hangingPunct="1"/>
            <a:endParaRPr lang="en-US" altLang="ko-KR" sz="21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891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3891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DCEA6B6-DE26-4B67-89D1-2E5E19631D74}" type="slidenum">
              <a:rPr lang="ko-KR" altLang="en-US" sz="1200" b="0">
                <a:solidFill>
                  <a:schemeClr val="tx1"/>
                </a:solidFill>
              </a:rPr>
              <a:pPr/>
              <a:t>27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8918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9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/>
          <p:cNvSpPr>
            <a:spLocks noGrp="1" noChangeArrowheads="1"/>
          </p:cNvSpPr>
          <p:nvPr>
            <p:ph type="title"/>
          </p:nvPr>
        </p:nvSpPr>
        <p:spPr>
          <a:xfrm>
            <a:off x="144145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배출권거래의 동태적 측면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9939" name="Rectangle 7"/>
          <p:cNvSpPr>
            <a:spLocks noGrp="1" noChangeArrowheads="1"/>
          </p:cNvSpPr>
          <p:nvPr>
            <p:ph idx="1"/>
          </p:nvPr>
        </p:nvSpPr>
        <p:spPr>
          <a:xfrm>
            <a:off x="1111250" y="1447800"/>
            <a:ext cx="7558088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오염도가 시간이 지나면서 달라지거나 계절성을 지니기 때문에 정부는 목표 오염도기준을 정함에 있어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시간변수를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도입해야 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연평균 달성해야 할 수치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24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시간 평균 기준치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등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오염물질의 특성상 짧은 기간 동안 나타나는 높은 오염도가 문제가 되는 경우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정책목표는 단기간 동안의 평균 오염도를 기준치 이하로 유지하는 데 있게 됨</a:t>
            </a: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거래의 동태적 측면과 관련하여 크게 두 가지 문제가 중요</a:t>
            </a: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예치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이월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와 차용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오염의 계절성 문제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99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399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2EE52CA-2A22-4F4A-BD00-FBC86C39E045}" type="slidenum">
              <a:rPr lang="ko-KR" altLang="en-US" sz="1200" b="0">
                <a:solidFill>
                  <a:schemeClr val="tx1"/>
                </a:solidFill>
              </a:rPr>
              <a:pPr/>
              <a:t>28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9942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9943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/>
          <p:cNvSpPr>
            <a:spLocks noGrp="1" noChangeArrowheads="1"/>
          </p:cNvSpPr>
          <p:nvPr>
            <p:ph type="title"/>
          </p:nvPr>
        </p:nvSpPr>
        <p:spPr>
          <a:xfrm>
            <a:off x="1328738" y="-182563"/>
            <a:ext cx="7313612" cy="1143001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배출권 예치와 차용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0963" name="Rectangle 7"/>
          <p:cNvSpPr>
            <a:spLocks noGrp="1" noChangeArrowheads="1"/>
          </p:cNvSpPr>
          <p:nvPr>
            <p:ph idx="1"/>
          </p:nvPr>
        </p:nvSpPr>
        <p:spPr>
          <a:xfrm>
            <a:off x="1000125" y="1363663"/>
            <a:ext cx="7558088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배출권을 예치 혹은 이월하는 행위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(banking)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이번 해에 배출할 수 있는 권리보다도 더 적은 양을 배출한 후 그 차이를 내년에 사용하려는 행위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배출권을 차용하는 행위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(borrowing)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내년도의 배출권을 구입한 후 그 중 일부를 금년도에 미리 사용하는 행위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예치와 차용을 허용하면 오염원은 신축성을 얻게 되어 동태적 거래가 허용되지 않을 경우에 비해 총 저감비용을 줄일 여지가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저감시설에 대한 투자시점을 선택함에 있어 재량권 부여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시장 전체에서 배출권의 수요가 높을 때를 대비하여 배출권을 절약할 수 있기 때문에 배출권의 시장가격을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안정화시키는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데에 기여</a:t>
            </a:r>
          </a:p>
        </p:txBody>
      </p:sp>
      <p:sp>
        <p:nvSpPr>
          <p:cNvPr id="4096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4096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749DC05-BEA4-4AE5-8498-2EF706C3349E}" type="slidenum">
              <a:rPr lang="ko-KR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096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title"/>
          </p:nvPr>
        </p:nvSpPr>
        <p:spPr>
          <a:xfrm>
            <a:off x="13287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배출권 예치와 차용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87" name="Rectangle 7"/>
          <p:cNvSpPr>
            <a:spLocks noGrp="1" noChangeArrowheads="1"/>
          </p:cNvSpPr>
          <p:nvPr>
            <p:ph idx="1"/>
          </p:nvPr>
        </p:nvSpPr>
        <p:spPr>
          <a:xfrm>
            <a:off x="801688" y="1560513"/>
            <a:ext cx="7756525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그러나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오염원들에게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부여하는 신축성이 사회 전체의 시각에서도 유리한 것이라고 볼 수는 없음</a:t>
            </a:r>
          </a:p>
          <a:p>
            <a:pPr lvl="1"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비용을 최소화하고자 하는 기업은 항상 비용지출을 뒤로 미루고자 함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저감행위를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뒤로 미루고자 함</a:t>
            </a:r>
          </a:p>
          <a:p>
            <a:pPr lvl="1"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하지만 사회 전체로 보면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오염피해가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일찍 발생하는 것보다는 나중에 발생하는 것이 더 유리함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따라서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배출권의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시점 간 거래를 허용할 경우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적용되는 이자율을 통상적인 이자율보다 더 높게 할 필요가 있음</a:t>
            </a:r>
          </a:p>
          <a:p>
            <a:pPr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4198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F56319F-308F-41C1-ABDB-6EBEB19B503A}" type="slidenum">
              <a:rPr lang="ko-KR" altLang="en-US" sz="1200" b="0">
                <a:solidFill>
                  <a:schemeClr val="tx1"/>
                </a:solidFill>
              </a:rPr>
              <a:pPr/>
              <a:t>30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9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00163" y="-1270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오염의 계절성 문제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1" name="Rectangle 1031"/>
          <p:cNvSpPr>
            <a:spLocks noGrp="1" noChangeArrowheads="1"/>
          </p:cNvSpPr>
          <p:nvPr>
            <p:ph idx="1"/>
          </p:nvPr>
        </p:nvSpPr>
        <p:spPr>
          <a:xfrm>
            <a:off x="1017588" y="1320800"/>
            <a:ext cx="7423150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오염물질이 배출되고 오염도가 결정되는 과정은 계절별로 달라짐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강우량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온도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기상조건 등 자연적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계절별 요인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동일한 오염물질이 배출되어도 오염도로 축적되는 정도가 계절별 요인에 의해 변함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계절적 요인에도 불구하고 연중 고정된 오염도기준을 달성하도록 하는 경우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배출량이 오염도로 축적되는 정도가 가장 심한 계절을 기준으로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배출권의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양과 거래방식이 결정되어야 한다는 단점이 있음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계절 특성을 제대로 반영하는 경우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오존은 온도가 높을 경우에 오염도가 쉽게 높아지므로 여름과 여타 계절로 분리하여 배출권거래제를 운용</a:t>
            </a:r>
          </a:p>
          <a:p>
            <a:pPr lvl="2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월 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10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톤의 오존 생성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가스 배출권을 가진 오염원이 있다면 여름기간에는 매월 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5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톤만을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배출할 수 있도록 허용함</a:t>
            </a:r>
          </a:p>
          <a:p>
            <a:pPr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63D37CB-33E3-4E4B-98A8-44150874C270}" type="slidenum">
              <a:rPr lang="ko-KR" altLang="en-US" sz="1200" b="0">
                <a:solidFill>
                  <a:schemeClr val="tx1"/>
                </a:solidFill>
              </a:rPr>
              <a:pPr/>
              <a:t>31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3014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3015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271588" y="3571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최초배출권의 분배문제와 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정책의 수용성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4035" name="Rectangle 1031"/>
          <p:cNvSpPr>
            <a:spLocks noGrp="1" noChangeArrowheads="1"/>
          </p:cNvSpPr>
          <p:nvPr>
            <p:ph idx="1"/>
          </p:nvPr>
        </p:nvSpPr>
        <p:spPr>
          <a:xfrm>
            <a:off x="1130300" y="1827213"/>
            <a:ext cx="7437438" cy="4114800"/>
          </a:xfrm>
        </p:spPr>
        <p:txBody>
          <a:bodyPr/>
          <a:lstStyle/>
          <a:p>
            <a:pPr eaLnBrk="1" hangingPunct="1"/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배출권의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최초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분배문제는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비용효과성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오염원 간의 형평성 문제 등에 영향을 미침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 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실제로 정책을 수행하는 데 있어 가장 큰 논란을 야기하는 요인이 될 수가 있으며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이해 당사자들의 정책수용성에도 영향을 미침</a:t>
            </a:r>
          </a:p>
          <a:p>
            <a:pPr eaLnBrk="1" hangingPunct="1"/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오염원들에게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분배하기 위해 여러 가지 방법을 사용할 수 있음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추첨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선착순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특정 규칙을 정해 행정적으로 배분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경매 등</a:t>
            </a:r>
          </a:p>
        </p:txBody>
      </p:sp>
      <p:sp>
        <p:nvSpPr>
          <p:cNvPr id="4403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4403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A604C86-ACDC-4371-9AB0-EDC80630099C}" type="slidenum">
              <a:rPr lang="ko-KR" altLang="en-US" sz="1200" b="0">
                <a:solidFill>
                  <a:schemeClr val="tx1"/>
                </a:solidFill>
              </a:rPr>
              <a:pPr/>
              <a:t>32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4038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4039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271588" y="3571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최초배출권의 분배문제와 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정책의 수용성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5059" name="Rectangle 1031"/>
          <p:cNvSpPr>
            <a:spLocks noGrp="1" noChangeArrowheads="1"/>
          </p:cNvSpPr>
          <p:nvPr>
            <p:ph idx="1"/>
          </p:nvPr>
        </p:nvSpPr>
        <p:spPr>
          <a:xfrm>
            <a:off x="928688" y="1685925"/>
            <a:ext cx="7624762" cy="4114800"/>
          </a:xfrm>
        </p:spPr>
        <p:txBody>
          <a:bodyPr/>
          <a:lstStyle/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최초배출권을 무상으로 배분하는 방식이 가장 많이 사용되는데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이 경우 무상 배분의 기준을 정해야 함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모든 오염원에 대해 동일한 양의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분배하면 형평성은 충족되지만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오염원의 생산활동 규모 차이 등을 무시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각 오염원이 배출하던 배출량에 비례하게 분배한다면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오염물질 저감을 위해 많은 노력을 이미 기울인 기업에게는 매우 불합리한 방법일 것임</a:t>
            </a:r>
          </a:p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절충안으로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전체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배출권의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일부는 모든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오염원에게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동일하게 분배한 뒤 나머지를 배출량에 비례하게 분배하는 방법이 있음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이렇게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정책도입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이전부터 활동하던 기존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오염원에게만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무상으로 분배하는 방식을 </a:t>
            </a:r>
            <a:r>
              <a:rPr lang="ko-KR" altLang="en-US" sz="19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그랜드파더링</a:t>
            </a:r>
            <a:r>
              <a:rPr lang="ko-KR" altLang="en-US" sz="19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9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(grandfathering)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이라 부름</a:t>
            </a:r>
          </a:p>
        </p:txBody>
      </p:sp>
      <p:sp>
        <p:nvSpPr>
          <p:cNvPr id="4506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4506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E101CD1-3AE3-4C9D-981F-C791A6CB9425}" type="slidenum">
              <a:rPr lang="ko-KR" altLang="en-US" sz="1200" b="0">
                <a:solidFill>
                  <a:schemeClr val="tx1"/>
                </a:solidFill>
              </a:rPr>
              <a:pPr/>
              <a:t>33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506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506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271588" y="3571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최초배출권의 분배문제와 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정책의 수용성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3" name="Rectangle 1031"/>
          <p:cNvSpPr>
            <a:spLocks noGrp="1" noChangeArrowheads="1"/>
          </p:cNvSpPr>
          <p:nvPr>
            <p:ph idx="1"/>
          </p:nvPr>
        </p:nvSpPr>
        <p:spPr>
          <a:xfrm>
            <a:off x="900113" y="1685925"/>
            <a:ext cx="7667625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경매제도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(auctions)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역시 최초의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분배를 위해 유용하게 사용될 수 있음</a:t>
            </a:r>
          </a:p>
          <a:p>
            <a:pPr lvl="1"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대해 가장 높은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지불의사를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표시한 오염원이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가져감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경매수입만큼 정부 수입이 발생하고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오염원들은 비용부담이 늘어나게 된다는 특징을 가짐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유상경매제도를 사용할 경우 오염원은 배출저감을 위한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저감비용과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배출권구입에 대한 비용을 지불해야 함</a:t>
            </a:r>
          </a:p>
          <a:p>
            <a:pPr eaLnBrk="1" hangingPunct="1"/>
            <a:endParaRPr lang="ko-KR" altLang="en-US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4608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B9D9545-AA0D-47ED-B8AC-6665187F8F26}" type="slidenum">
              <a:rPr lang="ko-KR" altLang="en-US" sz="1200" b="0">
                <a:solidFill>
                  <a:schemeClr val="tx1"/>
                </a:solidFill>
              </a:rPr>
              <a:pPr/>
              <a:t>34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6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271588" y="3571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최초배출권의 분배문제와 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정책의 수용성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7107" name="Rectangle 1031"/>
          <p:cNvSpPr>
            <a:spLocks noGrp="1" noChangeArrowheads="1"/>
          </p:cNvSpPr>
          <p:nvPr>
            <p:ph idx="1"/>
          </p:nvPr>
        </p:nvSpPr>
        <p:spPr>
          <a:xfrm>
            <a:off x="900113" y="1685925"/>
            <a:ext cx="766762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만약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저감비용과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구입비용의 합이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직접규제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때의 비용보다 훨씬 크다면 오염원들의 저항에 직면할 수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경매를 통한 수입을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오염원들에게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되돌려 주어 해결할 수  있음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(zero-revenue auctions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오염물질의 이질성을 적절히 반영하는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오염도기준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거래제는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구입비용을 감안하더라도 직접규제보다 비용이 더 적을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오염물질이 이질적임에도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배출량기준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거래제를 시행하면 낮은 효율성으로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정책비용이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커져 저항 가능성 높아짐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따라서 현재 운용중인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배출량기준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거래제는 모두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정책도입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시에는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그랜드파더링을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선택하고 이후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경매제도로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전환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710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4710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6950854-DC5F-4E5A-8BBD-25AFB1BE40B2}" type="slidenum">
              <a:rPr lang="ko-KR" altLang="en-US" sz="1200" b="0">
                <a:solidFill>
                  <a:schemeClr val="tx1"/>
                </a:solidFill>
              </a:rPr>
              <a:pPr/>
              <a:t>35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7110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7111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70013" y="-141288"/>
            <a:ext cx="7313612" cy="1143001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배출권시장의 경쟁성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8131" name="Rectangle 1031"/>
          <p:cNvSpPr>
            <a:spLocks noGrp="1" noChangeArrowheads="1"/>
          </p:cNvSpPr>
          <p:nvPr>
            <p:ph idx="1"/>
          </p:nvPr>
        </p:nvSpPr>
        <p:spPr>
          <a:xfrm>
            <a:off x="887347" y="1349375"/>
            <a:ext cx="7848666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배출권거래제가 성공하려면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시장이 원활히 작동해야 하며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완전경쟁시장의 조건을 갖춰야 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시장에 대한 영향력이 있는 거래자가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판매하는 경우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 거래자가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판매량을 늘릴수록 시장가격은 하락함</a:t>
            </a: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완전경쟁일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경우에 비해 더 적은 양의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판매하여 산업 전체의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저감비용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최소화를 위한 조건이 충족되지 않음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반대로 시장에 대한 영향력을 가지는 거래자가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구입하는 경우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 거래자가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구매량을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늘릴수록 시장가격은 상승함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완전경쟁일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경우에 비해 더 적은 양의 배출량을 사려고 하여 산업 전체의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저감비용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최소화를 위한 조건이 충족되지 않음</a:t>
            </a:r>
          </a:p>
        </p:txBody>
      </p:sp>
      <p:sp>
        <p:nvSpPr>
          <p:cNvPr id="4813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4813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B2579FA-C0D9-4DAC-8793-BA429C5EAF3A}" type="slidenum">
              <a:rPr lang="ko-KR" altLang="en-US" sz="1200" b="0">
                <a:solidFill>
                  <a:schemeClr val="tx1"/>
                </a:solidFill>
              </a:rPr>
              <a:pPr/>
              <a:t>36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8134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8135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84301" y="365125"/>
            <a:ext cx="6388100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불완전경쟁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배출권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시장에서의 거래행위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6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98538" y="1716088"/>
                <a:ext cx="7670800" cy="4367212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시장에 영향력 있는 기업의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저감량이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늘어나면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판매량이 늘거나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구매량이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줄어들어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가격이 하락함</a:t>
                </a: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기업이 최소화 하고자 하는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순비용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endParaRPr lang="ko-KR" altLang="en-US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p>
                            <m:sSup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기업의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순비용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최소화 조건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endParaRPr lang="en-US" altLang="ko-KR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𝑀𝐴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p>
                            <m:sSup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5126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8538" y="1716088"/>
                <a:ext cx="7670800" cy="4367212"/>
              </a:xfrm>
              <a:blipFill>
                <a:blip r:embed="rId2"/>
                <a:stretch>
                  <a:fillRect l="-874" t="-9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7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512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EBB537D-DB7B-4CB1-A8B4-DCB196BAE8BF}" type="slidenum">
              <a:rPr lang="ko-KR" altLang="en-US" sz="1200" b="0">
                <a:solidFill>
                  <a:schemeClr val="tx1"/>
                </a:solidFill>
              </a:rPr>
              <a:pPr/>
              <a:t>37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50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42975" y="2025650"/>
                <a:ext cx="7670800" cy="4367213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만약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시장에 대한 영향력을 가진 기업이 배출권을 많이 배정받아 일부를 판매하려고 한다면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𝑀𝐴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p>
                            <m:sSup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ko-KR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                                             (-)                (+)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𝑀𝐴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)&lt;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이므로 등한계원칙이 성립하지 않음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12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이 기업이 배출권을 구입하려 한다면 다음이 발생하여 등한계원칙이 성립하지 않음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𝑀𝐴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)&gt;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ko-KR" altLang="en-US" sz="24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6150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2975" y="2025650"/>
                <a:ext cx="7670800" cy="4367213"/>
              </a:xfrm>
              <a:blipFill>
                <a:blip r:embed="rId2"/>
                <a:stretch>
                  <a:fillRect l="-1113" t="-1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1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15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5A4B99E-AE13-4F74-B888-9A1B2A8CD8B4}" type="slidenum">
              <a:rPr lang="ko-KR" altLang="en-US" sz="1200" b="0">
                <a:solidFill>
                  <a:schemeClr val="tx1"/>
                </a:solidFill>
              </a:rPr>
              <a:pPr/>
              <a:t>38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84301" y="365125"/>
            <a:ext cx="6388100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불완전경쟁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배출권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시장에서의 거래행위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1029"/>
          <p:cNvSpPr>
            <a:spLocks noGrp="1" noChangeArrowheads="1"/>
          </p:cNvSpPr>
          <p:nvPr>
            <p:ph idx="1"/>
          </p:nvPr>
        </p:nvSpPr>
        <p:spPr>
          <a:xfrm>
            <a:off x="928688" y="1941513"/>
            <a:ext cx="7670800" cy="4367212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시장가격에 영향을 미칠 수 있는 거래자가 있으면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시장은 비용효과적인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및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저감량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분배를 달성할 수 없음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배출권제도는 다른 환경규제제도에는 없는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시장의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경쟁성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확보라는 문제를 가지고 있음</a:t>
            </a: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따라서 이 제도의 실행방식을 설계함에 있어서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시장의 독점화를 막는 방안을 고려해야 함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915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4915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55A6B61-EB3A-427B-BDE1-1C788AF7447F}" type="slidenum">
              <a:rPr lang="ko-KR" altLang="en-US" sz="1200" b="0">
                <a:solidFill>
                  <a:schemeClr val="tx1"/>
                </a:solidFill>
              </a:rPr>
              <a:pPr/>
              <a:t>39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7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84301" y="365125"/>
            <a:ext cx="6388100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불완전경쟁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배출권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시장에서의 거래행위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70013" y="-141288"/>
            <a:ext cx="7313612" cy="1143001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감시 및 감독비용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0179" name="Rectangle 1031"/>
          <p:cNvSpPr>
            <a:spLocks noGrp="1" noChangeArrowheads="1"/>
          </p:cNvSpPr>
          <p:nvPr>
            <p:ph idx="1"/>
          </p:nvPr>
        </p:nvSpPr>
        <p:spPr>
          <a:xfrm>
            <a:off x="858838" y="1377950"/>
            <a:ext cx="7821612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배출권거래제는 정부와 오염원이 직접 접촉할 필요성을 줄여주는 정책이나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 제도 역시 오염원의 행위를 감시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감독하는 비용을 필요로 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정부는 각 오염원이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배출권보다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더 많은 양의 배출을 하지 않도록 감시하며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 과정에서 상당한 정도의 비용이 소요됨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배출권거래제와 배출부과금제의 감시 및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감독비용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비교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배출권거래제의 경우 오염원들이 서로의 행동을 감시할 가능성이 있어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부과금제에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비해 정부의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감시의무가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완화될 여지가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어느 오염원이 보유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이상을 배출할 경우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시장수요가 정상적인 경우에 비해 더 작게 되어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시장에 팔고자 하는 오염원이 피해를 당하므로 이를 행정당국에 고발하고자 할 것임</a:t>
            </a:r>
          </a:p>
        </p:txBody>
      </p:sp>
      <p:sp>
        <p:nvSpPr>
          <p:cNvPr id="5018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5018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EB248E1-4DA7-4379-89BF-8BBDAD1F4DB8}" type="slidenum">
              <a:rPr lang="ko-KR" altLang="en-US" sz="1200" b="0">
                <a:solidFill>
                  <a:schemeClr val="tx1"/>
                </a:solidFill>
              </a:rPr>
              <a:pPr/>
              <a:t>40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018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018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70013" y="-239713"/>
            <a:ext cx="7313612" cy="1143001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감시 및 감독비용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3" name="Rectangle 1031"/>
          <p:cNvSpPr>
            <a:spLocks noGrp="1" noChangeArrowheads="1"/>
          </p:cNvSpPr>
          <p:nvPr>
            <p:ph idx="1"/>
          </p:nvPr>
        </p:nvSpPr>
        <p:spPr>
          <a:xfrm>
            <a:off x="801688" y="1123950"/>
            <a:ext cx="7821612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배출권거래제와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직접규제의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감시 및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감독비용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비교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어떤 제도에 더 큰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감독비용이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소요될지 분명하지 않음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직접규제에서 감시 및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감독비용이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더 큰 요인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배출권거래제는 오염원 서로간의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상호감시가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가능함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배출권거래제의 비용효과성으로 인해 오염원의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저감비용이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줄어 불법 배출을 할 인센티브가 감소함 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배출권거래제에서 감시 및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감독비용이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더 큰 요인</a:t>
            </a:r>
          </a:p>
          <a:p>
            <a:pPr lvl="2" eaLnBrk="1" hangingPunct="1"/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예치를 허용할 경우 불법행위로부터 얻을 수 있는 이득이 커져 더 많은 감시를 해야함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배출권거래제가 시행되면 정부는 오염원의 배출량을 상시 파악해야 하며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배출권의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초기보유량부터 거래를 통한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권리이전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현황까지 계속해서 정보를 확보해야 함</a:t>
            </a:r>
          </a:p>
        </p:txBody>
      </p:sp>
      <p:sp>
        <p:nvSpPr>
          <p:cNvPr id="512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512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63A9A4F-93E0-4FB6-A20D-78DF733061E0}" type="slidenum">
              <a:rPr lang="ko-KR" altLang="en-US" sz="1200" b="0">
                <a:solidFill>
                  <a:schemeClr val="tx1"/>
                </a:solidFill>
              </a:rPr>
              <a:pPr/>
              <a:t>41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1206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07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배출권거래제 실행 사례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2227" name="Rectangle 1031"/>
          <p:cNvSpPr>
            <a:spLocks noGrp="1" noChangeArrowheads="1"/>
          </p:cNvSpPr>
          <p:nvPr>
            <p:ph idx="1"/>
          </p:nvPr>
        </p:nvSpPr>
        <p:spPr>
          <a:xfrm>
            <a:off x="858838" y="1560513"/>
            <a:ext cx="7862887" cy="4114800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배출권거래제의 많은 사례는 오염물질의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수량위주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규제를 선호해 온 미국의 대기오염 관리정책에서 찾을 수 있으며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교토의정서에 의해 온실가스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배출권의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전 지구적인 거래 가능성도 열림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실행 사례  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옵셋정책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배출권거래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프로그램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황배출권 프로그램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유럽연합의 배출권거래제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한국의 배출권거래제</a:t>
            </a:r>
          </a:p>
        </p:txBody>
      </p:sp>
      <p:sp>
        <p:nvSpPr>
          <p:cNvPr id="5222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5222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78D874B-DB20-487D-BA78-30F93623820E}" type="slidenum">
              <a:rPr lang="ko-KR" altLang="en-US" sz="1200" b="0">
                <a:solidFill>
                  <a:schemeClr val="tx1"/>
                </a:solidFill>
              </a:rPr>
              <a:pPr/>
              <a:t>42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2230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2231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옵셋정책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최초의 적용사례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3251" name="Rectangle 1031"/>
          <p:cNvSpPr>
            <a:spLocks noGrp="1" noChangeArrowheads="1"/>
          </p:cNvSpPr>
          <p:nvPr>
            <p:ph idx="1"/>
          </p:nvPr>
        </p:nvSpPr>
        <p:spPr>
          <a:xfrm>
            <a:off x="660400" y="1546225"/>
            <a:ext cx="8047038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직접규제에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기초한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1970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년대 미국 대기오염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관리정책은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오염을 줄이는데 큰 기여를 하였으나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획일성에 따른 비효율성이 지속적으로 지적되어 옴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미국 환경처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(EPA)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 정한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오염도기준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이상의 오염이 발생한 지역에는 새로운 산업시설이 들어서는 것이 불가능하였음</a:t>
            </a:r>
          </a:p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1976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년에 </a:t>
            </a:r>
            <a:r>
              <a:rPr lang="ko-KR" altLang="en-US" sz="24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옵셋정책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(offset policy)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 도입됨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어떤 오염원이 오염물질 배출량을 줄일 경우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EPA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는 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저감량에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대해 크레디트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(credit)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를 인정하고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이는 새로이 이 지역에 진입하려는 기업에게 제공될 수 있도록 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새로운 오염원은 필요한 배출량보다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20%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더 많은 양의 크레디트를 구입하도록 하였고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 초과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행사되지 못하게 하여 오염도 개선효과를 꾀함</a:t>
            </a:r>
          </a:p>
        </p:txBody>
      </p:sp>
      <p:sp>
        <p:nvSpPr>
          <p:cNvPr id="5325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5325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418095E-0C7A-44C7-B67C-11BC74DE6E7F}" type="slidenum">
              <a:rPr lang="ko-KR" altLang="en-US" sz="1200" b="0">
                <a:solidFill>
                  <a:schemeClr val="tx1"/>
                </a:solidFill>
              </a:rPr>
              <a:pPr/>
              <a:t>43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3254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5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70013" y="4079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배출권거래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프로그램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8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(Emissions Trading Program, ETP)</a:t>
            </a:r>
          </a:p>
        </p:txBody>
      </p:sp>
      <p:sp>
        <p:nvSpPr>
          <p:cNvPr id="54275" name="Rectangle 1031"/>
          <p:cNvSpPr>
            <a:spLocks noGrp="1" noChangeArrowheads="1"/>
          </p:cNvSpPr>
          <p:nvPr>
            <p:ph idx="1"/>
          </p:nvPr>
        </p:nvSpPr>
        <p:spPr>
          <a:xfrm>
            <a:off x="660400" y="1827213"/>
            <a:ext cx="8047038" cy="4114800"/>
          </a:xfrm>
        </p:spPr>
        <p:txBody>
          <a:bodyPr/>
          <a:lstStyle/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이후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옵셋제도는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1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버블</a:t>
            </a:r>
            <a:r>
              <a:rPr lang="en-US" altLang="ko-KR" sz="21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(bubble), </a:t>
            </a:r>
            <a:r>
              <a:rPr lang="ko-KR" altLang="en-US" sz="21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넷팅</a:t>
            </a:r>
            <a:r>
              <a:rPr lang="en-US" altLang="ko-KR" sz="21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(netting), </a:t>
            </a:r>
            <a:r>
              <a:rPr lang="ko-KR" altLang="en-US" sz="21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뱅킹</a:t>
            </a:r>
            <a:r>
              <a:rPr lang="en-US" altLang="ko-KR" sz="21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(banking)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의 세 가지 제도와 결합되어 </a:t>
            </a:r>
            <a:r>
              <a:rPr lang="ko-KR" altLang="en-US" sz="21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배출권거래</a:t>
            </a:r>
            <a:r>
              <a:rPr lang="ko-KR" altLang="en-US" sz="21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 프로그램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으로 확장됨</a:t>
            </a:r>
          </a:p>
          <a:p>
            <a:pPr eaLnBrk="1" hangingPunct="1"/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버블정책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(bubble policy)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신규오염원이 아닌 기존오염원도 다른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오염원으로부터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획득이 가능하게 함</a:t>
            </a:r>
          </a:p>
          <a:p>
            <a:pPr eaLnBrk="1" hangingPunct="1"/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넷팅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(netting)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공장을 확장하고자 할 경우 공장 내 다른 부분에서 배출량을 줄여 공장 확장으로 인해 늘어나는 배출량을 상쇄하도록 하는 제도임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기존 오염원은 설비 확장 시 신규 오염원으로 지정되어 옵셋이 요구하는 바와 같이 강한 규제대상에 포함되는 것을 피할 수 있게 됨</a:t>
            </a:r>
          </a:p>
          <a:p>
            <a:pPr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뱅킹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(banking)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기업이 자신이 줄인 배출량 만큼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축적하여 나중에 버블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옵셋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넷팅을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위해 사용할 수 있도록 하는 제도</a:t>
            </a:r>
          </a:p>
        </p:txBody>
      </p:sp>
      <p:sp>
        <p:nvSpPr>
          <p:cNvPr id="5427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5427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F4A78A0-9F9F-496D-AFFC-2BB40131BC91}" type="slidenum">
              <a:rPr lang="ko-KR" altLang="en-US" sz="1200" b="0">
                <a:solidFill>
                  <a:schemeClr val="tx1"/>
                </a:solidFill>
              </a:rPr>
              <a:pPr/>
              <a:t>44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4278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4279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70013" y="3651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황배출권 프로그램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(Sulfur Allowance Program)</a:t>
            </a:r>
          </a:p>
        </p:txBody>
      </p:sp>
      <p:sp>
        <p:nvSpPr>
          <p:cNvPr id="58371" name="Rectangle 1031"/>
          <p:cNvSpPr>
            <a:spLocks noGrp="1" noChangeArrowheads="1"/>
          </p:cNvSpPr>
          <p:nvPr>
            <p:ph idx="1"/>
          </p:nvPr>
        </p:nvSpPr>
        <p:spPr>
          <a:xfrm>
            <a:off x="760413" y="1841500"/>
            <a:ext cx="7975600" cy="4114800"/>
          </a:xfrm>
        </p:spPr>
        <p:txBody>
          <a:bodyPr/>
          <a:lstStyle/>
          <a:p>
            <a:pPr eaLnBrk="1" hangingPunct="1"/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황배출권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프로그램은 배출권거래제 시행 역사에서 기념비적인 제도로 중요성을 가짐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미국은 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1990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년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대기관리법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수정안을 통해 산성비 프로그램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(Acid Rain Program)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을 도입하여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아황산가스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(SO</a:t>
            </a:r>
            <a:r>
              <a:rPr lang="en-US" altLang="ko-KR" sz="14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에 대해서는 배출권거래제를 주요 정책수단으로 채택함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아황산가스를 배출하는 발전소를 대상으로 배출권거래제가 적용됨</a:t>
            </a:r>
          </a:p>
        </p:txBody>
      </p:sp>
      <p:sp>
        <p:nvSpPr>
          <p:cNvPr id="5837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5837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7C3F876-519B-4E0A-B4BD-930CD2E94CD1}" type="slidenum">
              <a:rPr lang="ko-KR" altLang="en-US" sz="1200" b="0">
                <a:solidFill>
                  <a:schemeClr val="tx1"/>
                </a:solidFill>
              </a:rPr>
              <a:pPr/>
              <a:t>45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8374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8375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황배출권 프로그램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9395" name="Rectangle 1031"/>
          <p:cNvSpPr>
            <a:spLocks noGrp="1" noChangeArrowheads="1"/>
          </p:cNvSpPr>
          <p:nvPr>
            <p:ph idx="1"/>
          </p:nvPr>
        </p:nvSpPr>
        <p:spPr>
          <a:xfrm>
            <a:off x="760413" y="1574800"/>
            <a:ext cx="7975600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황배출권 프로그램 시행 단계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단계는 오염물질을 많이 배출하는 발전설비와 자발적으로 참여하는 설비에 대해 적용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(1995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~)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단계는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25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메가와트 이상의 모든 설비와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황함유량이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0.05%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이상인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투입요소를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사용하는 모든 설비에 대해 적용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(2000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~)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각 발전소에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배출권한을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분배하고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사용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판매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예치가 가능하도록 함</a:t>
            </a: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시카고의 거래소를 통해 조직화된 시장에서 거래됨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발전소뿐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아니라 개인 등 누구든지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구입할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매년 전체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3%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를 회수한 후 경매를 통해 판매하여 거래를 촉진함</a:t>
            </a:r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939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5939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265FFCC-0532-4F63-A740-8B250625A9B4}" type="slidenum">
              <a:rPr lang="ko-KR" altLang="en-US" sz="1200" b="0">
                <a:solidFill>
                  <a:schemeClr val="tx1"/>
                </a:solidFill>
              </a:rPr>
              <a:pPr/>
              <a:t>46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9398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9399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황배출권 프로그램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9395" name="Rectangle 1031"/>
          <p:cNvSpPr>
            <a:spLocks noGrp="1" noChangeArrowheads="1"/>
          </p:cNvSpPr>
          <p:nvPr>
            <p:ph idx="1"/>
          </p:nvPr>
        </p:nvSpPr>
        <p:spPr>
          <a:xfrm>
            <a:off x="762000" y="1251338"/>
            <a:ext cx="7975600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황배출권 프로그램은 여러 측면에서 성공적으로 평가됨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1990-2004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 사이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석탄발전소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발전량이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25%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증가하였음에도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SO</a:t>
            </a:r>
            <a:r>
              <a:rPr lang="en-US" altLang="ko-KR" sz="1100" dirty="0">
                <a:latin typeface="나눔명조" pitchFamily="18" charset="-127"/>
                <a:ea typeface="나눔명조" pitchFamily="18" charset="-127"/>
              </a:rPr>
              <a:t>2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배출량은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35%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감소함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장기 저감목표를 조기 달성함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뱅킹이 허용되면서 정책 초기에 저감이 크게 이루어지고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단계에서도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이하로 배출량이 유지됨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직접규제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등 다른 형태의 환경정책 대비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15-90%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비용절감이 있었던 것으로 추정됨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발전소 기술개발 촉진에도 유효한 효과를 거둠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석탄을 효율적으로 혼합하는 방법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배출권가격을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운영비에 반영하는 방법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탈황시설을 효과적으로 설치하는 방법 등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거래도 활발히 이루어지며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2003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년까지는 안정적으로 유지되었으나 이후 정부가 새로 도입하려는 정책의 불확실성과 정책간 상충문제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법적 다툼 등으로 정책 효력 거의 상실 </a:t>
            </a: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939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5939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265FFCC-0532-4F63-A740-8B250625A9B4}" type="slidenum">
              <a:rPr lang="ko-KR" altLang="en-US" sz="1200" b="0">
                <a:solidFill>
                  <a:schemeClr val="tx1"/>
                </a:solidFill>
              </a:rPr>
              <a:pPr/>
              <a:t>47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9398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9399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8694002"/>
      </p:ext>
    </p:extLst>
  </p:cSld>
  <p:clrMapOvr>
    <a:masterClrMapping/>
  </p:clrMapOvr>
  <p:transition spd="med">
    <p:pull dir="r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유럽연합의 배출권거래제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3491" name="Rectangle 1031"/>
          <p:cNvSpPr>
            <a:spLocks noGrp="1" noChangeArrowheads="1"/>
          </p:cNvSpPr>
          <p:nvPr>
            <p:ph idx="1"/>
          </p:nvPr>
        </p:nvSpPr>
        <p:spPr>
          <a:xfrm>
            <a:off x="963907" y="1249972"/>
            <a:ext cx="778033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유럽연합 배출권거래계획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(EU Emissions Trading Scheme, EU-ETS)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가장 큰 동기는 교토의정서의 합의사항 이행을 촉진한다는 것임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2020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년까지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1990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 대비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20%, 2050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년까지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80-95%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온실가스 감축을 목표로 함</a:t>
            </a:r>
          </a:p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EU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전체에서 배출되는 온실가스의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45%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정도가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시장에 포함됨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11,000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 이상의 발전소 및 에너지를 많이 사용하는 기업과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상업용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항공회사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2024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년부터 해운회사까지 적용대상 </a:t>
            </a: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원래 대부분 무상분배 되었지만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2013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년부터 경매를 통해 배분하는 것을 원칙으로 함</a:t>
            </a:r>
          </a:p>
        </p:txBody>
      </p:sp>
      <p:sp>
        <p:nvSpPr>
          <p:cNvPr id="6349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349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97039CA-FE1D-4CD6-BDAF-D75162A17B8B}" type="slidenum">
              <a:rPr lang="ko-KR" altLang="en-US" sz="1200" b="0">
                <a:solidFill>
                  <a:schemeClr val="tx1"/>
                </a:solidFill>
              </a:rPr>
              <a:pPr/>
              <a:t>48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3494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3495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유럽연합의 배출권거래제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4515" name="Rectangle 1031"/>
          <p:cNvSpPr>
            <a:spLocks noGrp="1" noChangeArrowheads="1"/>
          </p:cNvSpPr>
          <p:nvPr>
            <p:ph idx="1"/>
          </p:nvPr>
        </p:nvSpPr>
        <p:spPr>
          <a:xfrm>
            <a:off x="903288" y="1335981"/>
            <a:ext cx="7780337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무상배분은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기업의 배출저감 노력과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‘</a:t>
            </a:r>
            <a:r>
              <a:rPr lang="ko-KR" altLang="en-US" sz="24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탄소누출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(carbon leakage)’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을 고려해서 이루어짐</a:t>
            </a: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탄소누출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EU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내의 강화된 정책으로 생산비가 상승하여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역외 기업의 시장점유율이 높아져 지구 전체의 탄소배출량이 다시 늘어날 위험성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거래제 도입으로 비용상승이 크거나 역외 교역비중이 높은 기업의 경우 탄소누출 가능성이 높다고 보고 무상배분 비율을 높게 잡음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EU-ETS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가격은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2008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 이후 지속적으로 하락하다가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2017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년부터 다시 상승하기 시작함</a:t>
            </a: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451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451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3CFA06B-D08F-468D-A9FA-BECE94728665}" type="slidenum">
              <a:rPr lang="ko-KR" altLang="en-US" sz="1200" b="0">
                <a:solidFill>
                  <a:schemeClr val="tx1"/>
                </a:solidFill>
              </a:rPr>
              <a:pPr/>
              <a:t>49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4518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4519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유럽연합의 배출권거래제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4515" name="Rectangle 1031"/>
          <p:cNvSpPr>
            <a:spLocks noGrp="1" noChangeArrowheads="1"/>
          </p:cNvSpPr>
          <p:nvPr>
            <p:ph idx="1"/>
          </p:nvPr>
        </p:nvSpPr>
        <p:spPr>
          <a:xfrm>
            <a:off x="998538" y="1517650"/>
            <a:ext cx="778033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가격 안정화 조치 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낮은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가격으로 저감노력의 필요성이 줄어들고  정책효과가 약화되는 문제 발생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EU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가격하락에 대한 해결책으로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2014-2016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 간 경매를 통해 공급할 예정이었던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일부의 공급시기를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2019-2020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년으로 늦추고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2019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년부터 시장안정비축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(market stability reserve, MSR)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이라는 수급불균형 조절 장치를 도입함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본문 설명 참조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MSR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도입과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발행 감소의 효과로 배출권가격이 다시 상승함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451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451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3CFA06B-D08F-468D-A9FA-BECE94728665}" type="slidenum">
              <a:rPr lang="ko-KR" altLang="en-US" sz="1200" b="0">
                <a:solidFill>
                  <a:schemeClr val="tx1"/>
                </a:solidFill>
              </a:rPr>
              <a:pPr/>
              <a:t>50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4518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4519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404858"/>
      </p:ext>
    </p:extLst>
  </p:cSld>
  <p:clrMapOvr>
    <a:masterClrMapping/>
  </p:clrMapOvr>
  <p:transition spd="med">
    <p:pull dir="r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EU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CBAM</a:t>
            </a:r>
          </a:p>
        </p:txBody>
      </p:sp>
      <p:sp>
        <p:nvSpPr>
          <p:cNvPr id="65539" name="Rectangle 1031"/>
          <p:cNvSpPr>
            <a:spLocks noGrp="1" noChangeArrowheads="1"/>
          </p:cNvSpPr>
          <p:nvPr>
            <p:ph idx="1"/>
          </p:nvPr>
        </p:nvSpPr>
        <p:spPr>
          <a:xfrm>
            <a:off x="762001" y="1297303"/>
            <a:ext cx="8137300" cy="411480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EU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내 산업을 보호하고 탄소누출때문에 무상배분을 계속 유지해야 하는 문제를 완화하고자 탄소국경제조정제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(Carbon Border Adjustment Mechanism, CBAM)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도입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2026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년부터 본격 시행 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철강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알루미늄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시멘트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비료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전력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수소 등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6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 산업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이들 제품 수입 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내재탄소량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(embedded emission) (=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생산과정에서 배출된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탄소량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EU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수입업자가 신고해야 함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내재탄소량만큼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CBAM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인증서를 구매해야 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 가격은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EU-ETS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가격과 연동됨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수출국에서 이미 지불한 탄소비용이 있을 경우 그 만큼 구매 의무가 차감됨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미국도 유사한 정책 도입 검토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한국은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6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가지 산업의 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EU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수출 비중이 높은 편임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55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D0BF946-DBAD-48AE-82DB-6DD8109C08FC}" type="slidenum">
              <a:rPr lang="ko-KR" altLang="en-US" sz="1200" b="0">
                <a:solidFill>
                  <a:schemeClr val="tx1"/>
                </a:solidFill>
              </a:rPr>
              <a:pPr/>
              <a:t>51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554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554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한국의 배출권거래제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39" name="Rectangle 1031"/>
          <p:cNvSpPr>
            <a:spLocks noGrp="1" noChangeArrowheads="1"/>
          </p:cNvSpPr>
          <p:nvPr>
            <p:ph idx="1"/>
          </p:nvPr>
        </p:nvSpPr>
        <p:spPr>
          <a:xfrm>
            <a:off x="618187" y="1297303"/>
            <a:ext cx="8068614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한국도 온실가스 배출저감을 위한 주 정책수단으로 배출권거래제를 선택함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2018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년에 배출량의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40%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를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2030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년까지 감축하고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2050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년에 탄소중립 실현 목표 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적용 대상은 배출량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125,000 CO</a:t>
            </a:r>
            <a:r>
              <a:rPr lang="en-US" altLang="ko-KR" sz="20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톤 이상인 업체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25,000 CO</a:t>
            </a:r>
            <a:r>
              <a:rPr lang="en-US" altLang="ko-KR" sz="20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톤 이상인 사업장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자발적으로 참여하려는 기업임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기인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2015-2017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년에는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무상할당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기인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2018-2020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년에는 약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3%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경매로 배분하였고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3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기인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2021-2025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년에는 경매를 통한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유상할당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비중을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10%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까지 높임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비용발생도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ⅹ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무역집약도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≥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0.2%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이상인 기업에겐 무상 배분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2" eaLnBrk="1" hangingPunct="1"/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비용발생도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(</a:t>
            </a:r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배출량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ⅹ</a:t>
            </a:r>
            <a:r>
              <a:rPr lang="ko-KR" altLang="en-US" sz="1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배출권가격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)/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업체의 부가가치 생산액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2" eaLnBrk="1" hangingPunct="1"/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무역집약도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업체가 속한 업종의 수출입액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매출액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수입액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7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55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D0BF946-DBAD-48AE-82DB-6DD8109C08FC}" type="slidenum">
              <a:rPr lang="ko-KR" altLang="en-US" sz="1200" b="0">
                <a:solidFill>
                  <a:schemeClr val="tx1"/>
                </a:solidFill>
              </a:rPr>
              <a:pPr/>
              <a:t>52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554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554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3282807"/>
      </p:ext>
    </p:extLst>
  </p:cSld>
  <p:clrMapOvr>
    <a:masterClrMapping/>
  </p:clrMapOvr>
  <p:transition spd="med">
    <p:pull dir="r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한국의 배출권거래제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39" name="Rectangle 1031"/>
          <p:cNvSpPr>
            <a:spLocks noGrp="1" noChangeArrowheads="1"/>
          </p:cNvSpPr>
          <p:nvPr>
            <p:ph idx="1"/>
          </p:nvPr>
        </p:nvSpPr>
        <p:spPr>
          <a:xfrm>
            <a:off x="993776" y="1371600"/>
            <a:ext cx="770413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한국 배출권시장의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할당배출권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상쇄배출권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외부사업감축량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세 가지임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할당배출권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(KAU)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은 정부가 할당대상사업체에 할당한 배출권으로 가장 큰 거래 비중을 차지함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상쇄배출권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(KCU)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의무감축량을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할당받은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사업장이 해당 영역 외에서 감축행위를 하고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인증받은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외부사업감축량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(KOC)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은 할당대상이 아닌 외부사업자가 할당대상업체 사업장 밖에서 국제적인 기준에 따라 감축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흡수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제거하여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인증받은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감축실적임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할당대상업체는 이를 구매하여 상쇄배출권으로 전환할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배출권거래는 한국거래소 또는 장외에서 협의에 의해 거래될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55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D0BF946-DBAD-48AE-82DB-6DD8109C08FC}" type="slidenum">
              <a:rPr lang="ko-KR" altLang="en-US" sz="1200" b="0">
                <a:solidFill>
                  <a:schemeClr val="tx1"/>
                </a:solidFill>
              </a:rPr>
              <a:pPr/>
              <a:t>53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554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554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2713332"/>
      </p:ext>
    </p:extLst>
  </p:cSld>
  <p:clrMapOvr>
    <a:masterClrMapping/>
  </p:clrMapOvr>
  <p:transition spd="med">
    <p:pull dir="r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한국의 배출권거래제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39" name="Rectangle 1031"/>
          <p:cNvSpPr>
            <a:spLocks noGrp="1" noChangeArrowheads="1"/>
          </p:cNvSpPr>
          <p:nvPr>
            <p:ph idx="1"/>
          </p:nvPr>
        </p:nvSpPr>
        <p:spPr>
          <a:xfrm>
            <a:off x="982663" y="1355481"/>
            <a:ext cx="770413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가격과 거래 동향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55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D0BF946-DBAD-48AE-82DB-6DD8109C08FC}" type="slidenum">
              <a:rPr lang="ko-KR" altLang="en-US" sz="1200" b="0">
                <a:solidFill>
                  <a:schemeClr val="tx1"/>
                </a:solidFill>
              </a:rPr>
              <a:pPr/>
              <a:t>54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554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554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F6D0FA2E-7BCE-47CE-B29A-29D68D4A5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4384" y="1865885"/>
            <a:ext cx="8014084" cy="452847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72471608"/>
      </p:ext>
    </p:extLst>
  </p:cSld>
  <p:clrMapOvr>
    <a:masterClrMapping/>
  </p:clrMapOvr>
  <p:transition spd="med">
    <p:pull dir="r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한국의 배출권거래제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39" name="Rectangle 1031"/>
          <p:cNvSpPr>
            <a:spLocks noGrp="1" noChangeArrowheads="1"/>
          </p:cNvSpPr>
          <p:nvPr>
            <p:ph idx="1"/>
          </p:nvPr>
        </p:nvSpPr>
        <p:spPr>
          <a:xfrm>
            <a:off x="916345" y="1327581"/>
            <a:ext cx="770413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가격에 미치는 영향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수요측 요인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경기 상황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에너지 가격 등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공급측 요인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정부 공급량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시장 안정화 정책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기술 조건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특히 한계저감비용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이월 제한 여부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전력산업 가격설정에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구입비를 생산비 보전에 반영하는지 여부 등도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가격에 민감함 영향을 미침 </a:t>
            </a:r>
          </a:p>
        </p:txBody>
      </p:sp>
      <p:sp>
        <p:nvSpPr>
          <p:cNvPr id="655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55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D0BF946-DBAD-48AE-82DB-6DD8109C08FC}" type="slidenum">
              <a:rPr lang="ko-KR" altLang="en-US" sz="1200" b="0">
                <a:solidFill>
                  <a:schemeClr val="tx1"/>
                </a:solidFill>
              </a:rPr>
              <a:pPr/>
              <a:t>55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554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554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5458595"/>
      </p:ext>
    </p:extLst>
  </p:cSld>
  <p:clrMapOvr>
    <a:masterClrMapping/>
  </p:clrMapOvr>
  <p:transition spd="med">
    <p:pull dir="r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각국의 탄소저감 유인제도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39" name="Rectangle 1031"/>
          <p:cNvSpPr>
            <a:spLocks noGrp="1" noChangeArrowheads="1"/>
          </p:cNvSpPr>
          <p:nvPr>
            <p:ph idx="1"/>
          </p:nvPr>
        </p:nvSpPr>
        <p:spPr>
          <a:xfrm>
            <a:off x="916345" y="1327581"/>
            <a:ext cx="770413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세계은행 상황판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(State and Trends of Carbon Pricing Dashboard)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자료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3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가지 유인제도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탄소세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(39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 국가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지역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ETS(35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 국가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지역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크레딧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발행 메커니즘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(35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 국가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지역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자발적으로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줄인 배출량으로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크레딧을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받고 이를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주로 해외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수요자에게 판매하게 하는 제도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탄소세와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ETS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에 집중하면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전 세계 탄소 배출량의 각각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5.2%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17.8%,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두 제도가 함께 사용되는 것이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0.9% 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합하여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23.9%, 2024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이기 때문에 대량 배출국가에서 주로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ETS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를 선호함</a:t>
            </a:r>
          </a:p>
        </p:txBody>
      </p:sp>
      <p:sp>
        <p:nvSpPr>
          <p:cNvPr id="655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55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D0BF946-DBAD-48AE-82DB-6DD8109C08FC}" type="slidenum">
              <a:rPr lang="ko-KR" altLang="en-US" sz="1200" b="0">
                <a:solidFill>
                  <a:schemeClr val="tx1"/>
                </a:solidFill>
              </a:rPr>
              <a:pPr/>
              <a:t>56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554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554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809606"/>
      </p:ext>
    </p:extLst>
  </p:cSld>
  <p:clrMapOvr>
    <a:masterClrMapping/>
  </p:clrMapOvr>
  <p:transition spd="med">
    <p:pull dir="r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각국의 탄소저감 유인제도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39" name="Rectangle 1031"/>
          <p:cNvSpPr>
            <a:spLocks noGrp="1" noChangeArrowheads="1"/>
          </p:cNvSpPr>
          <p:nvPr>
            <p:ph idx="1"/>
          </p:nvPr>
        </p:nvSpPr>
        <p:spPr>
          <a:xfrm>
            <a:off x="465585" y="1218111"/>
            <a:ext cx="808598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전 세계 배출량 중 두 가지 유인제도에 의해 통제되는 비율 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55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D0BF946-DBAD-48AE-82DB-6DD8109C08FC}" type="slidenum">
              <a:rPr lang="ko-KR" altLang="en-US" sz="1200" b="0">
                <a:solidFill>
                  <a:schemeClr val="tx1"/>
                </a:solidFill>
              </a:rPr>
              <a:pPr/>
              <a:t>57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554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554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E36077C-C682-430C-AD38-B9904B574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3279" y="2058489"/>
            <a:ext cx="7482242" cy="431655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70459319"/>
      </p:ext>
    </p:extLst>
  </p:cSld>
  <p:clrMapOvr>
    <a:masterClrMapping/>
  </p:clrMapOvr>
  <p:transition spd="med">
    <p:pull dir="r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각국의 탄소저감 유인제도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39" name="Rectangle 1031"/>
          <p:cNvSpPr>
            <a:spLocks noGrp="1" noChangeArrowheads="1"/>
          </p:cNvSpPr>
          <p:nvPr>
            <p:ph idx="1"/>
          </p:nvPr>
        </p:nvSpPr>
        <p:spPr>
          <a:xfrm>
            <a:off x="465585" y="1218111"/>
            <a:ext cx="808598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탄소가격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(2024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8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월 현재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55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55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D0BF946-DBAD-48AE-82DB-6DD8109C08FC}" type="slidenum">
              <a:rPr lang="ko-KR" altLang="en-US" sz="1200" b="0">
                <a:solidFill>
                  <a:schemeClr val="tx1"/>
                </a:solidFill>
              </a:rPr>
              <a:pPr/>
              <a:t>58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554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554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CA4B671C-26C7-4F6A-B321-EBA4EEADE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16200000">
            <a:off x="2354288" y="-170707"/>
            <a:ext cx="4551334" cy="819243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39728161"/>
      </p:ext>
    </p:extLst>
  </p:cSld>
  <p:clrMapOvr>
    <a:masterClrMapping/>
  </p:clrMapOvr>
  <p:transition spd="med">
    <p:pull dir="r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84301" y="404445"/>
            <a:ext cx="6896814" cy="640129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수질오염과 배출권거래제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  <p:sp>
        <p:nvSpPr>
          <p:cNvPr id="67587" name="Rectangle 1029"/>
          <p:cNvSpPr>
            <a:spLocks noGrp="1" noChangeArrowheads="1"/>
          </p:cNvSpPr>
          <p:nvPr>
            <p:ph idx="1"/>
          </p:nvPr>
        </p:nvSpPr>
        <p:spPr>
          <a:xfrm>
            <a:off x="489398" y="1336675"/>
            <a:ext cx="8261796" cy="4367213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앞에서 살펴본 사례들은 모두 대기오염물질을 대상으로 함</a:t>
            </a: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수질오염은 여러 특성으로 인해 배출권거래제를 적용하기가 어려움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수질오염물질이 수계 내에서 어떻게 이동하는지 파악이 어려움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배출농도규제나 정화시설 가동 의무화 등 기술기준을 사용하는 경우가 많아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수량위주의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규제제도인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배출권거래제와 조화를 이루기 힘듦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수질오염은 매우 이질적이어서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1:1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거래를 원칙으로 하는 배출권거래제가 도입되기 어려움</a:t>
            </a: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그러나 배출권거래제와 관련된 이론적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경험적 지식이 축적되면서 수질오염에도 배출권거래제가 실행될 가능성이 점차 높아지고 있음</a:t>
            </a:r>
            <a:endParaRPr lang="en-US" altLang="ko-KR" sz="23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758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6758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38E8F1E-3C9C-4875-A643-FBE027854F29}" type="slidenum">
              <a:rPr lang="ko-KR" altLang="en-US" sz="1200" b="0">
                <a:solidFill>
                  <a:schemeClr val="tx1"/>
                </a:solidFill>
              </a:rPr>
              <a:pPr/>
              <a:t>59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3122</TotalTime>
  <Words>4025</Words>
  <Application>Microsoft Office PowerPoint</Application>
  <PresentationFormat>화면 슬라이드 쇼(4:3)</PresentationFormat>
  <Paragraphs>519</Paragraphs>
  <Slides>59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70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8장 개요</vt:lpstr>
      <vt:lpstr> 배출권거래제의 실행원리와 효율성</vt:lpstr>
      <vt:lpstr> 배출권거래제의 실행원리와 효율성</vt:lpstr>
      <vt:lpstr>배출권거래제의 실행원리와 효율성</vt:lpstr>
      <vt:lpstr>동질적 오염에 대한 적용 : 배출량기준 거래제 (emission permit system, EPS)</vt:lpstr>
      <vt:lpstr>동질적 오염에 대한 적용 : 배출량기준 거래제</vt:lpstr>
      <vt:lpstr>동질적 오염에 대한 적용 : 배출량기준 거래제</vt:lpstr>
      <vt:lpstr>동질적 오염에 대한 적용 : 배출량기준 거래제</vt:lpstr>
      <vt:lpstr>배출량기준 거래제의 비용효과성</vt:lpstr>
      <vt:lpstr>PowerPoint 프레젠테이션</vt:lpstr>
      <vt:lpstr>배출량기준 거래제의 비용효과성</vt:lpstr>
      <vt:lpstr>이질적 오염에 대한 적용: 오염도기준 거래제(ambient permit system, APS)</vt:lpstr>
      <vt:lpstr>이질적 오염에 대한 적용: 오염도기준 거래제</vt:lpstr>
      <vt:lpstr>이질적 오염에 대한 적용: 오염도기준 거래제</vt:lpstr>
      <vt:lpstr>오염도기준 거래제의 비용효과성</vt:lpstr>
      <vt:lpstr>오염도기준 거래제의 비용효과성</vt:lpstr>
      <vt:lpstr>오염도기준 거래제의 비용효과성</vt:lpstr>
      <vt:lpstr>기술혁신유인: 동태적 효율성</vt:lpstr>
      <vt:lpstr>기술혁신유인: 동태적 효율성</vt:lpstr>
      <vt:lpstr>배출권거래제의 구체적인 실행 방안</vt:lpstr>
      <vt:lpstr>오염물질의 이질성으로 인한 문제</vt:lpstr>
      <vt:lpstr>이질적 오염물질에 대해 적용되는 배출량기준 거래제</vt:lpstr>
      <vt:lpstr>이질적 오염물질에 대해 적용되는 배출량기준 거래제</vt:lpstr>
      <vt:lpstr>구획배출권거래제  (zonal emission permit system)</vt:lpstr>
      <vt:lpstr>구획배출권거래제 </vt:lpstr>
      <vt:lpstr>단일 오염도기준 배출권시장</vt:lpstr>
      <vt:lpstr>배출권거래의 동태적 측면</vt:lpstr>
      <vt:lpstr>배출권거래의 동태적 측면</vt:lpstr>
      <vt:lpstr>배출권 예치와 차용</vt:lpstr>
      <vt:lpstr>배출권 예치와 차용</vt:lpstr>
      <vt:lpstr>오염의 계절성 문제</vt:lpstr>
      <vt:lpstr>최초배출권의 분배문제와  정책의 수용성</vt:lpstr>
      <vt:lpstr>최초배출권의 분배문제와  정책의 수용성</vt:lpstr>
      <vt:lpstr>최초배출권의 분배문제와  정책의 수용성</vt:lpstr>
      <vt:lpstr>최초배출권의 분배문제와  정책의 수용성</vt:lpstr>
      <vt:lpstr>배출권시장의 경쟁성</vt:lpstr>
      <vt:lpstr>불완전경쟁 배출권 시장에서의 거래행위</vt:lpstr>
      <vt:lpstr>불완전경쟁 배출권 시장에서의 거래행위</vt:lpstr>
      <vt:lpstr>불완전경쟁 배출권 시장에서의 거래행위</vt:lpstr>
      <vt:lpstr>감시 및 감독비용</vt:lpstr>
      <vt:lpstr>감시 및 감독비용</vt:lpstr>
      <vt:lpstr>배출권거래제 실행 사례</vt:lpstr>
      <vt:lpstr>옵셋정책: 최초의 적용사례</vt:lpstr>
      <vt:lpstr>배출권거래 프로그램  (Emissions Trading Program, ETP)</vt:lpstr>
      <vt:lpstr>황배출권 프로그램 (Sulfur Allowance Program)</vt:lpstr>
      <vt:lpstr>황배출권 프로그램</vt:lpstr>
      <vt:lpstr>황배출권 프로그램</vt:lpstr>
      <vt:lpstr>유럽연합의 배출권거래제</vt:lpstr>
      <vt:lpstr>유럽연합의 배출권거래제</vt:lpstr>
      <vt:lpstr>유럽연합의 배출권거래제</vt:lpstr>
      <vt:lpstr>EU의 CBAM</vt:lpstr>
      <vt:lpstr>한국의 배출권거래제</vt:lpstr>
      <vt:lpstr>한국의 배출권거래제</vt:lpstr>
      <vt:lpstr>한국의 배출권거래제</vt:lpstr>
      <vt:lpstr>한국의 배출권거래제</vt:lpstr>
      <vt:lpstr>각국의 탄소저감 유인제도</vt:lpstr>
      <vt:lpstr>각국의 탄소저감 유인제도</vt:lpstr>
      <vt:lpstr>각국의 탄소저감 유인제도</vt:lpstr>
      <vt:lpstr>수질오염과 배출권거래제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347</cp:revision>
  <cp:lastPrinted>2024-10-20T13:55:22Z</cp:lastPrinted>
  <dcterms:created xsi:type="dcterms:W3CDTF">1997-07-14T00:22:12Z</dcterms:created>
  <dcterms:modified xsi:type="dcterms:W3CDTF">2025-02-18T22:59:47Z</dcterms:modified>
</cp:coreProperties>
</file>