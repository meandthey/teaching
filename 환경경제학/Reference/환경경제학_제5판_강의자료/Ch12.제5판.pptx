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handoutMasterIdLst>
    <p:handoutMasterId r:id="rId32"/>
  </p:handoutMasterIdLst>
  <p:sldIdLst>
    <p:sldId id="262" r:id="rId2"/>
    <p:sldId id="345" r:id="rId3"/>
    <p:sldId id="348" r:id="rId4"/>
    <p:sldId id="349" r:id="rId5"/>
    <p:sldId id="350" r:id="rId6"/>
    <p:sldId id="351" r:id="rId7"/>
    <p:sldId id="371" r:id="rId8"/>
    <p:sldId id="352" r:id="rId9"/>
    <p:sldId id="353" r:id="rId10"/>
    <p:sldId id="379" r:id="rId11"/>
    <p:sldId id="358" r:id="rId12"/>
    <p:sldId id="372" r:id="rId13"/>
    <p:sldId id="373" r:id="rId14"/>
    <p:sldId id="360" r:id="rId15"/>
    <p:sldId id="374" r:id="rId16"/>
    <p:sldId id="361" r:id="rId17"/>
    <p:sldId id="375" r:id="rId18"/>
    <p:sldId id="364" r:id="rId19"/>
    <p:sldId id="363" r:id="rId20"/>
    <p:sldId id="376" r:id="rId21"/>
    <p:sldId id="377" r:id="rId22"/>
    <p:sldId id="378" r:id="rId23"/>
    <p:sldId id="365" r:id="rId24"/>
    <p:sldId id="367" r:id="rId25"/>
    <p:sldId id="368" r:id="rId26"/>
    <p:sldId id="380" r:id="rId27"/>
    <p:sldId id="381" r:id="rId28"/>
    <p:sldId id="369" r:id="rId29"/>
    <p:sldId id="382" r:id="rId30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8712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5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9062188-1661-4AA3-9B64-1B8C6A209CD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852674-3646-4BAA-83FD-0058F206498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8C96093-7F9B-44DA-9CA1-70023D01B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929F65-39A6-41BE-8B74-481D9A91F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C778BFCF-1ABC-4017-9540-35AF6F681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DEC5CEFF-285C-4A11-89A9-A11889659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9ACA508-2D0A-41D0-8F5C-BE15814719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87849658-57E6-4703-AEA9-FC19A2CD5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82620B2-54A4-49DB-95DA-77DFBC89A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B50DD5D-DD7F-4E26-945E-59080E5EA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E79B0C06-0DA8-409F-B2B4-A7B7D4141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CFC363B2-A18C-4278-A209-A5E3B47D8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13C97B80-E0C1-4A6A-AE34-7B595E07A3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34DD2FFE-1CCD-4A81-88F6-E96F51520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99F7234-B7DA-4940-95C8-5F9798643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D003191-8848-41F8-A5F1-F90DA57C3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CF976F0C-38B2-4FB5-BB5F-C098BC523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20EAE65F-BA7A-4A10-9CFA-8919876CD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E945EEB4-5560-44C9-81AE-2E7F7A4170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D47F42ED-72EA-4BAC-A811-837F68990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C2A49F8-B40D-4D3E-A9B4-F1810644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153AE41-FCEF-4382-834A-586858590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B5D2BE3C-8686-4838-B454-E9C53A004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641F5AB9-A891-408F-A76B-70A93DB53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A66EB3A0-A69D-44BA-9FAE-C8B0BB88C6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252E9A20-10A9-4443-AECF-C843379D6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8DD2DD7-B5D7-412B-8F86-BEF33F5B9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5D4A68B-AD40-495E-8B02-B7B8F5951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7C19D065-C890-4A89-A95E-25AB70A56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6603F75B-6A0D-40FC-841C-E7AD12D2D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5F2805E2-CA10-4ED7-BDEB-9F6B689CD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5370A5AF-778C-4812-B2A4-AAFA884D6B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4207EAB-0924-4981-A942-D7CC4EFCC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E2EA709-BB5C-46E9-A97A-D2452EB98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D91E9F17-4BA3-41F5-A229-100A6972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17398A32-38C8-4BB0-A159-83B795DBC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290F6720-2400-42B6-8523-FA16BAFA6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BB44956E-6414-4FD5-83DA-2690E265E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4207EAB-0924-4981-A942-D7CC4EFCC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E2EA709-BB5C-46E9-A97A-D2452EB98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D91E9F17-4BA3-41F5-A229-100A6972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17398A32-38C8-4BB0-A159-83B795DBC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290F6720-2400-42B6-8523-FA16BAFA6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BB44956E-6414-4FD5-83DA-2690E265E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2617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0016265-06DA-4715-8F47-6369CA73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BEB0DE8-8974-4DBA-B892-8A4F1A99B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73171F37-8605-456C-8C74-ABD5C0922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1DC2CC0A-6368-460A-B052-0CBB87391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86188D8F-F2FE-40F6-9C57-8116E2B0C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F180BC58-937D-4921-BA9D-BF4558087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0A3ABDB-FAF0-474D-A782-C499A57E0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075C0C6-645C-4137-B9AF-10B617F44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953665D-1A73-4912-A75E-61E5E967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09375E89-C8AE-4FE6-9B04-F35D0B0F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7C5F61FE-3F38-464D-AE0B-85D75F7DD1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4774C29C-3240-46A3-9583-FF42CA5D3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0A3ABDB-FAF0-474D-A782-C499A57E0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075C0C6-645C-4137-B9AF-10B617F44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953665D-1A73-4912-A75E-61E5E967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09375E89-C8AE-4FE6-9B04-F35D0B0F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7C5F61FE-3F38-464D-AE0B-85D75F7DD1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4774C29C-3240-46A3-9583-FF42CA5D3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285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8D55D10-4813-4CCF-B5FF-F297B6195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20FE0A-04DF-479F-A9DC-C069A76DD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AAC5C5FA-6C83-487F-8050-71AE35401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0E695D80-67EF-44BF-86AC-B85B055C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7B12AF12-F079-4C02-B79B-041FC0B0D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661C50FB-D977-43A3-B446-AE34C21E1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8D55D10-4813-4CCF-B5FF-F297B6195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20FE0A-04DF-479F-A9DC-C069A76DD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AAC5C5FA-6C83-487F-8050-71AE35401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0E695D80-67EF-44BF-86AC-B85B055C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7B12AF12-F079-4C02-B79B-041FC0B0D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661C50FB-D977-43A3-B446-AE34C21E1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166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8D55D10-4813-4CCF-B5FF-F297B6195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20FE0A-04DF-479F-A9DC-C069A76DD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AAC5C5FA-6C83-487F-8050-71AE35401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0E695D80-67EF-44BF-86AC-B85B055C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7B12AF12-F079-4C02-B79B-041FC0B0D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661C50FB-D977-43A3-B446-AE34C21E1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122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325FBF7-8423-432E-8E55-8BE436ABD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33C0238-D0B4-4331-8A58-5D9F09882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BC9546A7-03C0-45C7-B7CE-C5010B566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7EC7C6EC-623F-48E4-AD1D-C0D2B12C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1ED6C6A8-A807-4F5D-9380-447FC3183A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383CC1EA-61C8-4D49-B64C-6694C2D26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8D55D10-4813-4CCF-B5FF-F297B6195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20FE0A-04DF-479F-A9DC-C069A76DD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AAC5C5FA-6C83-487F-8050-71AE35401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0E695D80-67EF-44BF-86AC-B85B055C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7B12AF12-F079-4C02-B79B-041FC0B0D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661C50FB-D977-43A3-B446-AE34C21E1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8009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DAE92AB-9B5E-4C8E-8AAD-5A9F48148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5E3F65B-1109-484D-8000-50EC8252C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C614DEB9-55FD-478D-921A-1AFBC060A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61C55B98-2DA9-47E7-81AC-980635DA3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1259F45A-A970-4F3E-8162-6483A0D38D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40BDB22B-0CF0-41AF-95F5-077A6732BF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294109D-0C1E-4E85-9F24-25B3BADEA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B1D676A-6308-470C-8FD2-AE68526B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8D81C7E6-8B81-4F4E-B41F-7C7A7F4B4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1F6A6967-E098-4923-A0BD-C21A00C6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9167CF73-9B76-4C13-8081-AFF944957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079BDE58-89D6-4A83-B8A8-33F4C8E28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566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C357B29-C72B-44B4-ABFD-59396DF3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48B7BC2-92D1-4F85-A3E7-40D057308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25CF581B-44D9-42D3-9F86-F36D42FD1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961F3E6-9597-42B4-9495-3B3D3C6C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591A18C1-C6C6-4305-9D92-7DEAFF34F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C249FD08-097A-45A5-BB62-52A69C7A0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294109D-0C1E-4E85-9F24-25B3BADEA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B1D676A-6308-470C-8FD2-AE68526B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8D81C7E6-8B81-4F4E-B41F-7C7A7F4B4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1F6A6967-E098-4923-A0BD-C21A00C6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9167CF73-9B76-4C13-8081-AFF944957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079BDE58-89D6-4A83-B8A8-33F4C8E28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294109D-0C1E-4E85-9F24-25B3BADEA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B1D676A-6308-470C-8FD2-AE68526B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8D81C7E6-8B81-4F4E-B41F-7C7A7F4B4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1F6A6967-E098-4923-A0BD-C21A00C6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9167CF73-9B76-4C13-8081-AFF944957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079BDE58-89D6-4A83-B8A8-33F4C8E28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567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6CD68DF-DD29-4504-AB5A-5A52644D4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EBAAF39-3905-4453-AE95-84B2E1F86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9FA8D7C6-07DB-45C4-A5B9-9FDE4D053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4C799C37-C283-4D0D-8197-D85424635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7D83F6AD-2ABD-4211-9FC2-160C7A20F6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1F0BE1D3-C5C6-46C5-9046-6318183D1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FD89793-0849-42E5-8EB8-0A6D7EFF5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8241741-4DD7-4E4F-B476-163D24D67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43242515-C8CA-4CDF-BFF4-255383463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75D3EEA2-FC9F-4F80-A3E0-9F352AF0F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F055AC49-609D-4BD2-AD29-082BF5200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8F92ED3B-7164-42E5-BA72-0759B64EA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8B76F06-92A1-4323-ADAA-9363202B5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96CD66B-A516-4A59-A2BC-24B227BCE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6834EFD9-0623-49D9-ACFB-D32CD4F06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C3C0A843-D73F-4805-B8A3-BDFAA0BE1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9434958-3F79-4E96-B823-480F65204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DE02F6CC-9677-444F-A201-8E4BA6C50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8B76F06-92A1-4323-ADAA-9363202B5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96CD66B-A516-4A59-A2BC-24B227BCE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6834EFD9-0623-49D9-ACFB-D32CD4F06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C3C0A843-D73F-4805-B8A3-BDFAA0BE1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9434958-3F79-4E96-B823-480F65204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DE02F6CC-9677-444F-A201-8E4BA6C50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20770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8B76F06-92A1-4323-ADAA-9363202B5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96CD66B-A516-4A59-A2BC-24B227BCE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6834EFD9-0623-49D9-ACFB-D32CD4F06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C3C0A843-D73F-4805-B8A3-BDFAA0BE1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9434958-3F79-4E96-B823-480F65204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DE02F6CC-9677-444F-A201-8E4BA6C50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78736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C30AB21-7418-4898-BAC3-63015EBEC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934685A-B4C3-4CFB-A770-91C557ACF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0E8D404D-EB81-4200-9696-110F9AB4D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D4A53EF5-B85B-4A08-BE86-F612E6139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ACD6665E-72E7-4472-AF90-D145375CE1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85A684B3-31CB-4FA8-A5C2-7646C2E82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C30AB21-7418-4898-BAC3-63015EBEC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934685A-B4C3-4CFB-A770-91C557ACF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0E8D404D-EB81-4200-9696-110F9AB4D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D4A53EF5-B85B-4A08-BE86-F612E6139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ACD6665E-72E7-4472-AF90-D145375CE1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85A684B3-31CB-4FA8-A5C2-7646C2E82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3127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FC63FC4F-45AF-4A19-81F7-AFB79AC6BB45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2C347F22-4798-46C8-AF73-95A0D5670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8517636E-30E9-436A-B636-F2E14C0EF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2 w 64000"/>
                <a:gd name="T1" fmla="*/ 0 h 64000"/>
                <a:gd name="T2" fmla="*/ 3 w 64000"/>
                <a:gd name="T3" fmla="*/ 1 h 64000"/>
                <a:gd name="T4" fmla="*/ 2 w 64000"/>
                <a:gd name="T5" fmla="*/ 3 h 64000"/>
                <a:gd name="T6" fmla="*/ 2 w 64000"/>
                <a:gd name="T7" fmla="*/ 3 h 64000"/>
                <a:gd name="T8" fmla="*/ 2 w 64000"/>
                <a:gd name="T9" fmla="*/ 3 h 64000"/>
                <a:gd name="T10" fmla="*/ 2 w 64000"/>
                <a:gd name="T11" fmla="*/ 3 h 64000"/>
                <a:gd name="T12" fmla="*/ 2 w 64000"/>
                <a:gd name="T13" fmla="*/ 0 h 64000"/>
                <a:gd name="T14" fmla="*/ 2 w 64000"/>
                <a:gd name="T15" fmla="*/ 0 h 64000"/>
                <a:gd name="T16" fmla="*/ 2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1DB59DC4-89A9-4F8B-97B1-7166C99AA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3 w 64000"/>
                <a:gd name="T1" fmla="*/ 0 h 64000"/>
                <a:gd name="T2" fmla="*/ 4 w 64000"/>
                <a:gd name="T3" fmla="*/ 2 h 64000"/>
                <a:gd name="T4" fmla="*/ 3 w 64000"/>
                <a:gd name="T5" fmla="*/ 4 h 64000"/>
                <a:gd name="T6" fmla="*/ 3 w 64000"/>
                <a:gd name="T7" fmla="*/ 4 h 64000"/>
                <a:gd name="T8" fmla="*/ 3 w 64000"/>
                <a:gd name="T9" fmla="*/ 4 h 64000"/>
                <a:gd name="T10" fmla="*/ 3 w 64000"/>
                <a:gd name="T11" fmla="*/ 4 h 64000"/>
                <a:gd name="T12" fmla="*/ 3 w 64000"/>
                <a:gd name="T13" fmla="*/ 0 h 64000"/>
                <a:gd name="T14" fmla="*/ 3 w 64000"/>
                <a:gd name="T15" fmla="*/ 0 h 64000"/>
                <a:gd name="T16" fmla="*/ 3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CF607166-7EDC-4947-9B82-B340114C62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026CAB33-ADF7-442C-82F1-DD5A430988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0DF1C590-E156-4D86-BAFE-81EEDE96FA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9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96AF56B-1D67-42A0-9CC9-3071E3668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4FD208E-E60E-489F-8DC9-AB5BE34718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E1B59C2-5BAD-4DF1-84FE-DBE8EF434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2F536-BF0D-4D31-AFD3-6F61A9A2237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838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87D65BC-F066-4538-9F47-47212CCD4E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AAF7A18A-43A7-4D2C-B555-762C4DBBA0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9745BCE-0835-410C-89C7-2B4E556A27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9C57C-5F5F-400F-B767-F1C6E944ECD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059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BFFA960-E466-4E5A-9B95-AAC0B6CEC9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A146CB7-9F68-4B40-BCC2-02FF4BB589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9A2A6B7-77F3-4413-8B83-D56DCA0C12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BE566-8955-4B05-81AF-DDA6C0386B2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705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F390162-31A0-4DC6-B019-33592BB86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8AE3A27-3B23-447C-9804-3E5A14FC00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1FD3732-3C71-42E9-B727-0724E9854E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72700-7EDB-49D2-8C21-8EAEA91B871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5373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10D43F8C-7588-4FDE-B79D-5443486BB9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45E21C4-30A6-49BB-9911-DD6B0072FA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B885F2E-40C9-4DE3-AC16-93C1B47B0F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D93B1-7471-4E39-A089-32E830CE85F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656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476BA160-6181-41BE-87D1-B9DC98C3C0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438B795-8E57-4BCC-8E43-492592ED3D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CC96E7B-02E2-47AB-97C9-6F90596C2C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671C9F-2E82-425B-83D7-305D35B2820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731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C5ADAF4-9372-41FF-B1DD-52243985D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1921106-B123-4EFB-88A3-8521058B1B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691E720-59F2-429E-BDAA-0288DE0F5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DC5C0-1EA3-43CB-86C9-F597DBCF7A6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0808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63044C4-7C54-4552-B728-B3612DEA13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607CC95-73C6-49DD-9149-DDCA632AC8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4C52F8F-B645-4A30-804E-C079C14242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62EAD-0CAE-47D5-917F-F60A6109711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982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205F31E-9D78-4098-BF97-F0E1517B3F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09FFE54-28B8-40D5-82A8-6B16D0DCCC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3072A0-6171-4FB0-90D1-CC349F882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90E1E8-EF15-4EF8-BD87-E44A6413D25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173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17939ED-0FB1-40E6-8CB2-9E626F39C4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A2E0B05-1C75-4CC6-A2B8-B80451809D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77B05E9-6B93-442D-9628-87BA5554FD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9D02F-2E21-4716-AE50-1BC9D9EE5A9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2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DDFC41D-B14E-4251-8423-2ED8CB0C271F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D95F59C3-2B2A-4995-A5A1-1F2C8B691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3 w 64000"/>
                <a:gd name="T1" fmla="*/ 0 h 64000"/>
                <a:gd name="T2" fmla="*/ 4 w 64000"/>
                <a:gd name="T3" fmla="*/ 1 h 64000"/>
                <a:gd name="T4" fmla="*/ 3 w 64000"/>
                <a:gd name="T5" fmla="*/ 2 h 64000"/>
                <a:gd name="T6" fmla="*/ 3 w 64000"/>
                <a:gd name="T7" fmla="*/ 2 h 64000"/>
                <a:gd name="T8" fmla="*/ 3 w 64000"/>
                <a:gd name="T9" fmla="*/ 2 h 64000"/>
                <a:gd name="T10" fmla="*/ 3 w 64000"/>
                <a:gd name="T11" fmla="*/ 2 h 64000"/>
                <a:gd name="T12" fmla="*/ 3 w 64000"/>
                <a:gd name="T13" fmla="*/ 0 h 64000"/>
                <a:gd name="T14" fmla="*/ 3 w 64000"/>
                <a:gd name="T15" fmla="*/ 0 h 64000"/>
                <a:gd name="T16" fmla="*/ 3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B3332136-1077-4D5A-A6D8-2397A6846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 w 64000"/>
                <a:gd name="T1" fmla="*/ 0 h 64000"/>
                <a:gd name="T2" fmla="*/ 2 w 64000"/>
                <a:gd name="T3" fmla="*/ 1 h 64000"/>
                <a:gd name="T4" fmla="*/ 1 w 64000"/>
                <a:gd name="T5" fmla="*/ 2 h 64000"/>
                <a:gd name="T6" fmla="*/ 1 w 64000"/>
                <a:gd name="T7" fmla="*/ 2 h 64000"/>
                <a:gd name="T8" fmla="*/ 1 w 64000"/>
                <a:gd name="T9" fmla="*/ 2 h 64000"/>
                <a:gd name="T10" fmla="*/ 1 w 64000"/>
                <a:gd name="T11" fmla="*/ 2 h 64000"/>
                <a:gd name="T12" fmla="*/ 1 w 64000"/>
                <a:gd name="T13" fmla="*/ 0 h 64000"/>
                <a:gd name="T14" fmla="*/ 1 w 64000"/>
                <a:gd name="T15" fmla="*/ 0 h 64000"/>
                <a:gd name="T16" fmla="*/ 1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6FEFAFDC-5A65-442C-8ECA-F6572B245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FE979110-ED6C-43EF-826D-86D2DA1DD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7BEF1F37-419D-4120-B707-153522449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5EEE2EFF-3D17-4043-BCE0-6CDC8DF53B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FBDF58D6-7E3F-43DF-A593-442A0F27EB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6A3F2A40-7D23-4A26-921A-A050838B99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92AF7719-58A8-4336-AD41-40E7AAE3459A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68051BA7-66C4-4200-ABB6-22AA7BD42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8325" y="2579688"/>
            <a:ext cx="7313613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12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956642EB-5E35-4435-86E4-FC30BF37F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79800" y="3065463"/>
            <a:ext cx="5664200" cy="11684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한국 환경정책의 전개과정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E72B3900-1C02-436C-B67C-A168EC71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C04DB8FF-8E79-4702-9207-F40B493B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43EFF9-44E1-4BF2-8972-1C82609CC760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E06ECEA2-037F-4332-8C0E-139A10059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1D023F3C-1491-4DDE-B246-16111FFA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EF82942-A1A8-44C1-BC52-852FD0D06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12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한국의 환경정책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4">
            <a:extLst>
              <a:ext uri="{FF2B5EF4-FFF2-40B4-BE49-F238E27FC236}">
                <a16:creationId xmlns:a16="http://schemas.microsoft.com/office/drawing/2014/main" id="{34186DF6-3971-4952-9561-504C1C27F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16387" name="슬라이드 번호 개체 틀 5">
            <a:extLst>
              <a:ext uri="{FF2B5EF4-FFF2-40B4-BE49-F238E27FC236}">
                <a16:creationId xmlns:a16="http://schemas.microsoft.com/office/drawing/2014/main" id="{C74E1B4F-3C52-4B05-A428-2FE0A443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DE87A1-4A06-4509-A445-A52E1FE48F1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1A15F10A-C1BD-445C-BE6D-050243D8B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1C93F642-0760-420B-B1D3-6E72F059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580B8112-3CAE-4B6F-82B4-AA74FAE73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전개과정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태동기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1953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~1979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91" name="내용 개체 틀 7">
            <a:extLst>
              <a:ext uri="{FF2B5EF4-FFF2-40B4-BE49-F238E27FC236}">
                <a16:creationId xmlns:a16="http://schemas.microsoft.com/office/drawing/2014/main" id="{C37EF0E2-7EA2-4C01-9E22-21042363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43075"/>
            <a:ext cx="8237538" cy="3997325"/>
          </a:xfrm>
        </p:spPr>
        <p:txBody>
          <a:bodyPr lIns="0" tIns="0" rIns="0" bIns="0"/>
          <a:lstStyle/>
          <a:p>
            <a:r>
              <a:rPr lang="ko-KR" altLang="en-US" dirty="0" err="1">
                <a:ea typeface="나눔명조" pitchFamily="18" charset="-127"/>
              </a:rPr>
              <a:t>전후복구기</a:t>
            </a:r>
            <a:r>
              <a:rPr lang="ko-KR" altLang="en-US" dirty="0">
                <a:ea typeface="나눔명조" pitchFamily="18" charset="-127"/>
              </a:rPr>
              <a:t> </a:t>
            </a:r>
            <a:r>
              <a:rPr lang="en-US" altLang="ko-KR" dirty="0">
                <a:ea typeface="나눔명조" pitchFamily="18" charset="-127"/>
              </a:rPr>
              <a:t>(1953~1959)</a:t>
            </a:r>
          </a:p>
          <a:p>
            <a:endParaRPr lang="en-US" altLang="ko-KR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산업발달수준이 낮아 환경문제 </a:t>
            </a:r>
            <a:r>
              <a:rPr lang="ko-KR" altLang="en-US" sz="2400">
                <a:ea typeface="나눔명조" pitchFamily="18" charset="-127"/>
              </a:rPr>
              <a:t>크게 대두되지 </a:t>
            </a:r>
            <a:r>
              <a:rPr lang="ko-KR" altLang="en-US" sz="2400" dirty="0">
                <a:ea typeface="나눔명조" pitchFamily="18" charset="-127"/>
              </a:rPr>
              <a:t>않음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 err="1">
                <a:ea typeface="나눔명조" pitchFamily="18" charset="-127"/>
              </a:rPr>
              <a:t>일제수탈과</a:t>
            </a:r>
            <a:r>
              <a:rPr lang="ko-KR" altLang="en-US" sz="2400" dirty="0">
                <a:ea typeface="나눔명조" pitchFamily="18" charset="-127"/>
              </a:rPr>
              <a:t> 전쟁으로 </a:t>
            </a:r>
            <a:r>
              <a:rPr lang="ko-KR" altLang="en-US" sz="2400" dirty="0" err="1">
                <a:ea typeface="나눔명조" pitchFamily="18" charset="-127"/>
              </a:rPr>
              <a:t>산림황폐</a:t>
            </a:r>
            <a:r>
              <a:rPr lang="en-US" altLang="ko-KR" sz="2400" dirty="0">
                <a:ea typeface="나눔명조" pitchFamily="18" charset="-127"/>
              </a:rPr>
              <a:t>, </a:t>
            </a:r>
            <a:r>
              <a:rPr lang="ko-KR" altLang="en-US" sz="2400" dirty="0">
                <a:ea typeface="나눔명조" pitchFamily="18" charset="-127"/>
              </a:rPr>
              <a:t>토양 </a:t>
            </a:r>
            <a:r>
              <a:rPr lang="ko-KR" altLang="en-US" sz="2400" dirty="0" err="1">
                <a:ea typeface="나눔명조" pitchFamily="18" charset="-127"/>
              </a:rPr>
              <a:t>침식문제가</a:t>
            </a:r>
            <a:r>
              <a:rPr lang="ko-KR" altLang="en-US" sz="2400" dirty="0">
                <a:ea typeface="나눔명조" pitchFamily="18" charset="-127"/>
              </a:rPr>
              <a:t> 부분적으로 거론됨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환경정책이나 환경정책기구 형성 되지 않음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선진국의 경우 이미 </a:t>
            </a:r>
            <a:r>
              <a:rPr lang="en-US" altLang="ko-KR" sz="2400" dirty="0">
                <a:ea typeface="나눔명조" pitchFamily="18" charset="-127"/>
              </a:rPr>
              <a:t>1940~50</a:t>
            </a:r>
            <a:r>
              <a:rPr lang="ko-KR" altLang="en-US" sz="2400" dirty="0">
                <a:ea typeface="나눔명조" pitchFamily="18" charset="-127"/>
              </a:rPr>
              <a:t>년대에 </a:t>
            </a:r>
            <a:r>
              <a:rPr lang="en-US" altLang="ko-KR" sz="2400" dirty="0">
                <a:ea typeface="나눔명조" pitchFamily="18" charset="-127"/>
              </a:rPr>
              <a:t>LA,</a:t>
            </a:r>
            <a:r>
              <a:rPr lang="ko-KR" altLang="en-US" sz="2400" dirty="0">
                <a:ea typeface="나눔명조" pitchFamily="18" charset="-127"/>
              </a:rPr>
              <a:t>런던스모그 등으로 </a:t>
            </a:r>
            <a:r>
              <a:rPr lang="ko-KR" altLang="en-US" sz="2400" dirty="0" err="1">
                <a:ea typeface="나눔명조" pitchFamily="18" charset="-127"/>
              </a:rPr>
              <a:t>환경의식이</a:t>
            </a:r>
            <a:r>
              <a:rPr lang="ko-KR" altLang="en-US" sz="2400" dirty="0">
                <a:ea typeface="나눔명조" pitchFamily="18" charset="-127"/>
              </a:rPr>
              <a:t> 고조되기 시작함</a:t>
            </a:r>
            <a:endParaRPr lang="en-US" altLang="ko-KR" sz="2400" dirty="0"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400" dirty="0">
              <a:ea typeface="굴림" panose="020B0600000101010101" pitchFamily="50" charset="-127"/>
            </a:endParaRPr>
          </a:p>
          <a:p>
            <a:pPr lvl="1"/>
            <a:endParaRPr lang="en-US" altLang="ko-KR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3212F5BD-8D10-43B1-9D86-6B6DE07F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18435" name="슬라이드 번호 개체 틀 5">
            <a:extLst>
              <a:ext uri="{FF2B5EF4-FFF2-40B4-BE49-F238E27FC236}">
                <a16:creationId xmlns:a16="http://schemas.microsoft.com/office/drawing/2014/main" id="{7F2A6B4D-4BAC-44D8-A3FF-0EB3FEE5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B51E3D-6EFD-40AB-BCCF-EB356002B55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2F98B4C8-1244-4891-A56F-6FB3913C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D8306264-577C-4751-9C6A-9B2F58A6D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31213CD0-213D-45AB-8DA0-2CBBC970D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전개과정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태동기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1953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~1979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40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9" name="내용 개체 틀 7">
            <a:extLst>
              <a:ext uri="{FF2B5EF4-FFF2-40B4-BE49-F238E27FC236}">
                <a16:creationId xmlns:a16="http://schemas.microsoft.com/office/drawing/2014/main" id="{E37583C9-48C7-4341-B586-C3E0331E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43075"/>
            <a:ext cx="8266113" cy="4643438"/>
          </a:xfrm>
        </p:spPr>
        <p:txBody>
          <a:bodyPr lIns="0" tIns="0" rIns="0" bIns="0"/>
          <a:lstStyle/>
          <a:p>
            <a:r>
              <a:rPr lang="ko-KR" altLang="en-US" sz="3200" dirty="0">
                <a:ea typeface="나눔명조" pitchFamily="18" charset="-127"/>
              </a:rPr>
              <a:t>경제개발시대 </a:t>
            </a:r>
            <a:r>
              <a:rPr lang="en-US" altLang="ko-KR" sz="3200" dirty="0">
                <a:ea typeface="나눔명조" pitchFamily="18" charset="-127"/>
              </a:rPr>
              <a:t>(1960~1979)</a:t>
            </a:r>
            <a:endParaRPr lang="en-US" altLang="ko-KR" sz="2800" dirty="0">
              <a:ea typeface="나눔명조" pitchFamily="18" charset="-127"/>
            </a:endParaRPr>
          </a:p>
          <a:p>
            <a:pPr lvl="1"/>
            <a:endParaRPr lang="en-US" altLang="ko-KR" dirty="0">
              <a:ea typeface="나눔명조" pitchFamily="18" charset="-127"/>
            </a:endParaRPr>
          </a:p>
          <a:p>
            <a:pPr lvl="1"/>
            <a:r>
              <a:rPr lang="en-US" altLang="ko-KR" dirty="0">
                <a:ea typeface="나눔명조" pitchFamily="18" charset="-127"/>
              </a:rPr>
              <a:t>1960</a:t>
            </a:r>
            <a:r>
              <a:rPr lang="ko-KR" altLang="en-US" dirty="0">
                <a:ea typeface="나눔명조" pitchFamily="18" charset="-127"/>
              </a:rPr>
              <a:t>년대 </a:t>
            </a:r>
            <a:endParaRPr lang="en-US" altLang="ko-KR" dirty="0">
              <a:ea typeface="나눔명조" pitchFamily="18" charset="-127"/>
            </a:endParaRPr>
          </a:p>
          <a:p>
            <a:pPr lvl="2"/>
            <a:r>
              <a:rPr lang="ko-KR" altLang="en-US" dirty="0">
                <a:ea typeface="나눔명조" pitchFamily="18" charset="-127"/>
              </a:rPr>
              <a:t>쌀에서 수은 검출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>
                <a:ea typeface="나눔명조" pitchFamily="18" charset="-127"/>
              </a:rPr>
              <a:t>산업공단 수질오염</a:t>
            </a:r>
            <a:endParaRPr lang="en-US" altLang="ko-KR" dirty="0">
              <a:ea typeface="나눔명조" pitchFamily="18" charset="-127"/>
            </a:endParaRPr>
          </a:p>
          <a:p>
            <a:pPr lvl="2"/>
            <a:r>
              <a:rPr lang="ko-KR" altLang="en-US" dirty="0">
                <a:ea typeface="나눔명조" pitchFamily="18" charset="-127"/>
              </a:rPr>
              <a:t>화학공업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>
                <a:ea typeface="나눔명조" pitchFamily="18" charset="-127"/>
              </a:rPr>
              <a:t>식품공업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>
                <a:ea typeface="나눔명조" pitchFamily="18" charset="-127"/>
              </a:rPr>
              <a:t>섬유공업은 주된 </a:t>
            </a:r>
            <a:r>
              <a:rPr lang="en-US" altLang="ko-KR" dirty="0">
                <a:ea typeface="나눔명조" pitchFamily="18" charset="-127"/>
              </a:rPr>
              <a:t>COD </a:t>
            </a:r>
            <a:r>
              <a:rPr lang="ko-KR" altLang="en-US" dirty="0">
                <a:ea typeface="나눔명조" pitchFamily="18" charset="-127"/>
              </a:rPr>
              <a:t>오염원</a:t>
            </a:r>
            <a:endParaRPr lang="en-US" altLang="ko-KR" dirty="0">
              <a:ea typeface="나눔명조" pitchFamily="18" charset="-127"/>
            </a:endParaRPr>
          </a:p>
          <a:p>
            <a:pPr lvl="2"/>
            <a:r>
              <a:rPr lang="ko-KR" altLang="en-US" dirty="0" err="1">
                <a:ea typeface="나눔명조" pitchFamily="18" charset="-127"/>
              </a:rPr>
              <a:t>제지공업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>
                <a:ea typeface="나눔명조" pitchFamily="18" charset="-127"/>
              </a:rPr>
              <a:t>식료품 및 </a:t>
            </a:r>
            <a:r>
              <a:rPr lang="ko-KR" altLang="en-US" dirty="0" err="1">
                <a:ea typeface="나눔명조" pitchFamily="18" charset="-127"/>
              </a:rPr>
              <a:t>음료공업은</a:t>
            </a:r>
            <a:r>
              <a:rPr lang="ko-KR" altLang="en-US" dirty="0">
                <a:ea typeface="나눔명조" pitchFamily="18" charset="-127"/>
              </a:rPr>
              <a:t> 주된 </a:t>
            </a:r>
            <a:r>
              <a:rPr lang="en-US" altLang="ko-KR" dirty="0">
                <a:ea typeface="나눔명조" pitchFamily="18" charset="-127"/>
              </a:rPr>
              <a:t>BOD </a:t>
            </a:r>
            <a:r>
              <a:rPr lang="ko-KR" altLang="en-US" dirty="0">
                <a:ea typeface="나눔명조" pitchFamily="18" charset="-127"/>
              </a:rPr>
              <a:t>오염원</a:t>
            </a:r>
            <a:endParaRPr lang="en-US" altLang="ko-KR" sz="2800" dirty="0">
              <a:ea typeface="나눔명조" pitchFamily="18" charset="-127"/>
            </a:endParaRPr>
          </a:p>
          <a:p>
            <a:pPr lvl="1"/>
            <a:r>
              <a:rPr lang="en-US" altLang="ko-KR" dirty="0">
                <a:ea typeface="나눔명조" pitchFamily="18" charset="-127"/>
              </a:rPr>
              <a:t>1970</a:t>
            </a:r>
            <a:r>
              <a:rPr lang="ko-KR" altLang="en-US" dirty="0">
                <a:ea typeface="나눔명조" pitchFamily="18" charset="-127"/>
              </a:rPr>
              <a:t>년대</a:t>
            </a:r>
            <a:endParaRPr lang="en-US" altLang="ko-KR" dirty="0">
              <a:ea typeface="나눔명조" pitchFamily="18" charset="-127"/>
            </a:endParaRPr>
          </a:p>
          <a:p>
            <a:pPr lvl="2"/>
            <a:r>
              <a:rPr lang="en-US" altLang="ko-KR" dirty="0">
                <a:ea typeface="나눔명조" pitchFamily="18" charset="-127"/>
              </a:rPr>
              <a:t>SO</a:t>
            </a:r>
            <a:r>
              <a:rPr lang="en-US" altLang="ko-KR" baseline="-25000" dirty="0">
                <a:ea typeface="나눔명조" pitchFamily="18" charset="-127"/>
              </a:rPr>
              <a:t>2</a:t>
            </a:r>
            <a:r>
              <a:rPr lang="en-US" altLang="ko-KR" dirty="0">
                <a:ea typeface="나눔명조" pitchFamily="18" charset="-127"/>
              </a:rPr>
              <a:t>, TSP, CO, NO</a:t>
            </a:r>
            <a:r>
              <a:rPr lang="en-US" altLang="ko-KR" baseline="-25000" dirty="0">
                <a:ea typeface="나눔명조" pitchFamily="18" charset="-127"/>
              </a:rPr>
              <a:t>x</a:t>
            </a:r>
            <a:r>
              <a:rPr lang="ko-KR" altLang="en-US" dirty="0">
                <a:ea typeface="나눔명조" pitchFamily="18" charset="-127"/>
              </a:rPr>
              <a:t>등 대기오염물질 농도 상승</a:t>
            </a:r>
            <a:r>
              <a:rPr lang="en-US" altLang="ko-KR" dirty="0">
                <a:ea typeface="나눔명조" pitchFamily="18" charset="-127"/>
              </a:rPr>
              <a:t> </a:t>
            </a:r>
          </a:p>
          <a:p>
            <a:pPr lvl="2"/>
            <a:r>
              <a:rPr lang="ko-KR" altLang="en-US" dirty="0">
                <a:ea typeface="나눔명조" pitchFamily="18" charset="-127"/>
              </a:rPr>
              <a:t>플라스틱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>
                <a:ea typeface="나눔명조" pitchFamily="18" charset="-127"/>
              </a:rPr>
              <a:t>폐휴지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>
                <a:ea typeface="나눔명조" pitchFamily="18" charset="-127"/>
              </a:rPr>
              <a:t>공병 재활용률은 높았음</a:t>
            </a:r>
            <a:endParaRPr lang="en-US" altLang="ko-KR" baseline="-25000" dirty="0"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3200" dirty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ko-KR" sz="1600" dirty="0"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200" dirty="0">
              <a:ea typeface="굴림" panose="020B0600000101010101" pitchFamily="50" charset="-127"/>
            </a:endParaRPr>
          </a:p>
          <a:p>
            <a:pPr lvl="1"/>
            <a:endParaRPr lang="en-US" altLang="ko-KR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4">
            <a:extLst>
              <a:ext uri="{FF2B5EF4-FFF2-40B4-BE49-F238E27FC236}">
                <a16:creationId xmlns:a16="http://schemas.microsoft.com/office/drawing/2014/main" id="{8AD0FADA-806B-40C8-8108-91F9435E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20483" name="슬라이드 번호 개체 틀 5">
            <a:extLst>
              <a:ext uri="{FF2B5EF4-FFF2-40B4-BE49-F238E27FC236}">
                <a16:creationId xmlns:a16="http://schemas.microsoft.com/office/drawing/2014/main" id="{D069E6B2-5E82-412A-B001-B226B7C0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311016-E0E0-451B-8D3D-5AC3B2CE8F1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BCFAEF7E-76E2-40AE-8617-6F4648E10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300CCB32-DD3C-4979-B35D-C18CD3F8B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9EAB4C48-7992-4098-B09C-19927DDF5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전개과정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태동기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1953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~1979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40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7" name="내용 개체 틀 7">
            <a:extLst>
              <a:ext uri="{FF2B5EF4-FFF2-40B4-BE49-F238E27FC236}">
                <a16:creationId xmlns:a16="http://schemas.microsoft.com/office/drawing/2014/main" id="{858BFA71-32EF-47D8-9275-5D9E7B52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43075"/>
            <a:ext cx="8266113" cy="4643438"/>
          </a:xfrm>
        </p:spPr>
        <p:txBody>
          <a:bodyPr lIns="0" tIns="0" rIns="0" bIns="0"/>
          <a:lstStyle/>
          <a:p>
            <a:r>
              <a:rPr lang="ko-KR" altLang="en-US" sz="3200" dirty="0">
                <a:ea typeface="나눔명조" pitchFamily="18" charset="-127"/>
              </a:rPr>
              <a:t>경제개발시대 </a:t>
            </a:r>
            <a:r>
              <a:rPr lang="en-US" altLang="ko-KR" sz="3200" dirty="0">
                <a:ea typeface="나눔명조" pitchFamily="18" charset="-127"/>
              </a:rPr>
              <a:t>(1960~1979)</a:t>
            </a:r>
          </a:p>
          <a:p>
            <a:pPr lvl="1"/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dirty="0">
                <a:ea typeface="나눔명조" pitchFamily="18" charset="-127"/>
              </a:rPr>
              <a:t>이시기 정부의 대처는 보건행정의 일환으로  이루어 졌으며</a:t>
            </a:r>
            <a:r>
              <a:rPr lang="en-US" altLang="ko-KR" dirty="0">
                <a:ea typeface="나눔명조" pitchFamily="18" charset="-127"/>
              </a:rPr>
              <a:t>, </a:t>
            </a:r>
            <a:r>
              <a:rPr lang="ko-KR" altLang="en-US" dirty="0" err="1">
                <a:ea typeface="나눔명조" pitchFamily="18" charset="-127"/>
              </a:rPr>
              <a:t>미온적이었음</a:t>
            </a:r>
            <a:endParaRPr lang="en-US" altLang="ko-KR" dirty="0">
              <a:ea typeface="나눔명조" pitchFamily="18" charset="-127"/>
            </a:endParaRPr>
          </a:p>
          <a:p>
            <a:pPr lvl="2"/>
            <a:r>
              <a:rPr lang="ko-KR" altLang="en-US" dirty="0">
                <a:ea typeface="나눔명조" pitchFamily="18" charset="-127"/>
              </a:rPr>
              <a:t>보건사회부 </a:t>
            </a:r>
            <a:r>
              <a:rPr lang="ko-KR" altLang="en-US" dirty="0" err="1">
                <a:ea typeface="나눔명조" pitchFamily="18" charset="-127"/>
              </a:rPr>
              <a:t>환경위생과</a:t>
            </a:r>
            <a:r>
              <a:rPr lang="ko-KR" altLang="en-US" dirty="0">
                <a:ea typeface="나눔명조" pitchFamily="18" charset="-127"/>
              </a:rPr>
              <a:t> </a:t>
            </a:r>
            <a:r>
              <a:rPr lang="ko-KR" altLang="en-US" dirty="0" err="1">
                <a:ea typeface="나눔명조" pitchFamily="18" charset="-127"/>
              </a:rPr>
              <a:t>공해계가</a:t>
            </a:r>
            <a:r>
              <a:rPr lang="ko-KR" altLang="en-US" dirty="0">
                <a:ea typeface="나눔명조" pitchFamily="18" charset="-127"/>
              </a:rPr>
              <a:t> 환경전담부서</a:t>
            </a:r>
            <a:endParaRPr lang="en-US" altLang="ko-KR" dirty="0">
              <a:ea typeface="나눔명조" pitchFamily="18" charset="-127"/>
            </a:endParaRPr>
          </a:p>
          <a:p>
            <a:pPr lvl="2"/>
            <a:r>
              <a:rPr lang="ko-KR" altLang="ko-KR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오물청소법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』-1961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년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ko-KR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독물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극물에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관한 법률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』-1963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년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ko-KR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공해방지법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』-1963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년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ko-KR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공해방지법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』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1967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년 개정으로 배출허용기준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배출시설 허가제도 개념이 도입됨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이후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1977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환경보전법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』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으로 대체됨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 algn="r">
              <a:buFont typeface="Wingdings" panose="05000000000000000000" pitchFamily="2" charset="2"/>
              <a:buNone/>
            </a:pP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  <a:endParaRPr lang="en-US" altLang="ko-KR" sz="32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ko-KR" sz="3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32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2800" dirty="0">
              <a:ea typeface="굴림" panose="020B0600000101010101" pitchFamily="50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ko-KR" sz="1600" dirty="0"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200" dirty="0">
              <a:ea typeface="굴림" panose="020B0600000101010101" pitchFamily="50" charset="-127"/>
            </a:endParaRPr>
          </a:p>
          <a:p>
            <a:pPr lvl="1"/>
            <a:endParaRPr lang="en-US" altLang="ko-KR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4">
            <a:extLst>
              <a:ext uri="{FF2B5EF4-FFF2-40B4-BE49-F238E27FC236}">
                <a16:creationId xmlns:a16="http://schemas.microsoft.com/office/drawing/2014/main" id="{2336AACF-B5A4-4ACB-80B9-112AC77E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22531" name="슬라이드 번호 개체 틀 5">
            <a:extLst>
              <a:ext uri="{FF2B5EF4-FFF2-40B4-BE49-F238E27FC236}">
                <a16:creationId xmlns:a16="http://schemas.microsoft.com/office/drawing/2014/main" id="{A0B1831E-04A1-40DD-AA06-16AE4EA2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30C791-5722-4E5B-AA5F-628C49D2EE3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0F190D77-F0AD-4E34-9DD6-FB8C8D24C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CA7BE276-D0A5-4E39-BB63-A72D0301F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1ECB3244-049E-4600-8409-87024037D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전개과정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형성기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1980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년대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40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5" name="내용 개체 틀 7">
            <a:extLst>
              <a:ext uri="{FF2B5EF4-FFF2-40B4-BE49-F238E27FC236}">
                <a16:creationId xmlns:a16="http://schemas.microsoft.com/office/drawing/2014/main" id="{7596DD07-9EA0-4C6E-ABF9-9291AE7B2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01788"/>
            <a:ext cx="8266113" cy="4743450"/>
          </a:xfrm>
        </p:spPr>
        <p:txBody>
          <a:bodyPr lIns="0" tIns="0" rIns="0" bIns="0"/>
          <a:lstStyle/>
          <a:p>
            <a:r>
              <a:rPr lang="ko-KR" altLang="en-US" sz="3200" dirty="0">
                <a:ea typeface="나눔명조" pitchFamily="18" charset="-127"/>
              </a:rPr>
              <a:t>환경정책의 형성기 </a:t>
            </a:r>
            <a:r>
              <a:rPr lang="en-US" altLang="ko-KR" sz="3200" dirty="0">
                <a:ea typeface="나눔명조" pitchFamily="18" charset="-127"/>
              </a:rPr>
              <a:t>(1980</a:t>
            </a:r>
            <a:r>
              <a:rPr lang="ko-KR" altLang="en-US" sz="3200" dirty="0">
                <a:ea typeface="나눔명조" pitchFamily="18" charset="-127"/>
              </a:rPr>
              <a:t>년대</a:t>
            </a:r>
            <a:r>
              <a:rPr lang="en-US" altLang="ko-KR" sz="3200" dirty="0">
                <a:ea typeface="나눔명조" pitchFamily="18" charset="-127"/>
              </a:rPr>
              <a:t>)</a:t>
            </a:r>
          </a:p>
          <a:p>
            <a:pPr lvl="1"/>
            <a:r>
              <a:rPr lang="ko-KR" altLang="en-US" sz="2200" dirty="0">
                <a:ea typeface="나눔명조" pitchFamily="18" charset="-127"/>
              </a:rPr>
              <a:t>대기업 경제력 집중이 발생하고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에너지 </a:t>
            </a:r>
            <a:r>
              <a:rPr lang="ko-KR" altLang="en-US" sz="2200" dirty="0" err="1">
                <a:ea typeface="나눔명조" pitchFamily="18" charset="-127"/>
              </a:rPr>
              <a:t>다소비형</a:t>
            </a:r>
            <a:r>
              <a:rPr lang="ko-KR" altLang="en-US" sz="2200" dirty="0">
                <a:ea typeface="나눔명조" pitchFamily="18" charset="-127"/>
              </a:rPr>
              <a:t> 산업화가 진행됨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ko-KR" altLang="en-US" sz="2200" dirty="0">
                <a:ea typeface="나눔명조" pitchFamily="18" charset="-127"/>
              </a:rPr>
              <a:t>지속적인 수질</a:t>
            </a:r>
            <a:r>
              <a:rPr lang="en-US" altLang="ko-KR" sz="2200" dirty="0">
                <a:ea typeface="나눔명조" pitchFamily="18" charset="-127"/>
              </a:rPr>
              <a:t>,</a:t>
            </a:r>
            <a:r>
              <a:rPr lang="ko-KR" altLang="en-US" sz="2200" dirty="0">
                <a:ea typeface="나눔명조" pitchFamily="18" charset="-127"/>
              </a:rPr>
              <a:t>대기오염이 발생하고 산성비 문제가 </a:t>
            </a:r>
            <a:r>
              <a:rPr lang="ko-KR" altLang="en-US" sz="2200" dirty="0" err="1">
                <a:ea typeface="나눔명조" pitchFamily="18" charset="-127"/>
              </a:rPr>
              <a:t>심각해짐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ko-KR" altLang="en-US" sz="2200" dirty="0">
                <a:ea typeface="나눔명조" pitchFamily="18" charset="-127"/>
              </a:rPr>
              <a:t>정부는 폐수종말처리장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쓰레기 매립장 같은 환경 </a:t>
            </a:r>
            <a:r>
              <a:rPr lang="ko-KR" altLang="en-US" sz="2200" dirty="0" err="1">
                <a:ea typeface="나눔명조" pitchFamily="18" charset="-127"/>
              </a:rPr>
              <a:t>기초시설에</a:t>
            </a:r>
            <a:r>
              <a:rPr lang="ko-KR" altLang="en-US" sz="2200" dirty="0">
                <a:ea typeface="나눔명조" pitchFamily="18" charset="-127"/>
              </a:rPr>
              <a:t> 대한 투자를 확대함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1980</a:t>
            </a:r>
            <a:r>
              <a:rPr lang="ko-KR" altLang="en-US" sz="2200" dirty="0">
                <a:ea typeface="나눔명조" pitchFamily="18" charset="-127"/>
              </a:rPr>
              <a:t>년 환경청이 보건사회부 </a:t>
            </a:r>
            <a:r>
              <a:rPr lang="ko-KR" altLang="en-US" sz="2200" dirty="0" err="1">
                <a:ea typeface="나눔명조" pitchFamily="18" charset="-127"/>
              </a:rPr>
              <a:t>외청으로</a:t>
            </a:r>
            <a:r>
              <a:rPr lang="ko-KR" altLang="en-US" sz="2200" dirty="0">
                <a:ea typeface="나눔명조" pitchFamily="18" charset="-127"/>
              </a:rPr>
              <a:t> 설립됨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1986</a:t>
            </a:r>
            <a:r>
              <a:rPr lang="ko-KR" altLang="en-US" sz="2200" dirty="0">
                <a:ea typeface="나눔명조" pitchFamily="18" charset="-127"/>
              </a:rPr>
              <a:t>년 </a:t>
            </a:r>
            <a:r>
              <a:rPr lang="en-US" altLang="ko-KR" sz="2200" dirty="0">
                <a:ea typeface="나눔명조" pitchFamily="18" charset="-127"/>
              </a:rPr>
              <a:t>6</a:t>
            </a:r>
            <a:r>
              <a:rPr lang="ko-KR" altLang="en-US" sz="2200" dirty="0">
                <a:ea typeface="나눔명조" pitchFamily="18" charset="-127"/>
              </a:rPr>
              <a:t>개의 지방환경지청</a:t>
            </a:r>
            <a:r>
              <a:rPr lang="en-US" altLang="ko-KR" sz="2200" dirty="0">
                <a:ea typeface="나눔명조" pitchFamily="18" charset="-127"/>
              </a:rPr>
              <a:t>, 1987</a:t>
            </a:r>
            <a:r>
              <a:rPr lang="ko-KR" altLang="en-US" sz="2200" dirty="0">
                <a:ea typeface="나눔명조" pitchFamily="18" charset="-127"/>
              </a:rPr>
              <a:t>년 환경관리공단이 각각 설립됨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1977</a:t>
            </a:r>
            <a:r>
              <a:rPr lang="ko-KR" altLang="en-US" sz="2200" dirty="0">
                <a:ea typeface="나눔명조" pitchFamily="18" charset="-127"/>
              </a:rPr>
              <a:t>년 제정된 </a:t>
            </a:r>
            <a:r>
              <a:rPr lang="en-US" altLang="ko-KR" sz="2200" dirty="0">
                <a:latin typeface="굴림" panose="020B0600000101010101" pitchFamily="50" charset="-127"/>
                <a:ea typeface="나눔명조" pitchFamily="18" charset="-127"/>
              </a:rPr>
              <a:t>『</a:t>
            </a:r>
            <a:r>
              <a:rPr lang="ko-KR" altLang="en-US" sz="2200" dirty="0">
                <a:ea typeface="나눔명조" pitchFamily="18" charset="-127"/>
              </a:rPr>
              <a:t>환경보전법</a:t>
            </a:r>
            <a:r>
              <a:rPr lang="en-US" altLang="ko-KR" sz="2200" dirty="0">
                <a:latin typeface="굴림" panose="020B0600000101010101" pitchFamily="50" charset="-127"/>
                <a:ea typeface="나눔명조" pitchFamily="18" charset="-127"/>
              </a:rPr>
              <a:t>』</a:t>
            </a:r>
            <a:r>
              <a:rPr lang="ko-KR" altLang="en-US" sz="2200" dirty="0">
                <a:latin typeface="굴림" panose="020B0600000101010101" pitchFamily="50" charset="-127"/>
                <a:ea typeface="나눔명조" pitchFamily="18" charset="-127"/>
              </a:rPr>
              <a:t>은  이후 개정을 통해 환경분쟁조정위원회 설립</a:t>
            </a:r>
            <a:r>
              <a:rPr lang="en-US" altLang="ko-KR" sz="2200" dirty="0">
                <a:latin typeface="굴림" panose="020B0600000101010101" pitchFamily="50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나눔명조" pitchFamily="18" charset="-127"/>
              </a:rPr>
              <a:t>배출부과금제 도입</a:t>
            </a:r>
            <a:r>
              <a:rPr lang="en-US" altLang="ko-KR" sz="2200" dirty="0">
                <a:latin typeface="굴림" panose="020B0600000101010101" pitchFamily="50" charset="-127"/>
                <a:ea typeface="나눔명조" pitchFamily="18" charset="-127"/>
              </a:rPr>
              <a:t>, </a:t>
            </a:r>
            <a:r>
              <a:rPr lang="ko-KR" altLang="en-US" sz="2200" dirty="0" err="1">
                <a:latin typeface="굴림" panose="020B0600000101010101" pitchFamily="50" charset="-127"/>
                <a:ea typeface="나눔명조" pitchFamily="18" charset="-127"/>
              </a:rPr>
              <a:t>자동차오염</a:t>
            </a:r>
            <a:r>
              <a:rPr lang="ko-KR" altLang="en-US" sz="2200" dirty="0">
                <a:latin typeface="굴림" panose="020B0600000101010101" pitchFamily="50" charset="-127"/>
                <a:ea typeface="나눔명조" pitchFamily="18" charset="-127"/>
              </a:rPr>
              <a:t> 규제 등을 가능케 했음</a:t>
            </a:r>
            <a:endParaRPr lang="en-US" altLang="ko-KR" sz="2200" dirty="0"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200" dirty="0">
              <a:ea typeface="굴림" panose="020B0600000101010101" pitchFamily="50" charset="-127"/>
            </a:endParaRPr>
          </a:p>
          <a:p>
            <a:pPr lvl="1"/>
            <a:endParaRPr lang="en-US" altLang="ko-KR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4">
            <a:extLst>
              <a:ext uri="{FF2B5EF4-FFF2-40B4-BE49-F238E27FC236}">
                <a16:creationId xmlns:a16="http://schemas.microsoft.com/office/drawing/2014/main" id="{0A5FEA81-8BCB-4DD2-9DB4-36268967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24579" name="슬라이드 번호 개체 틀 5">
            <a:extLst>
              <a:ext uri="{FF2B5EF4-FFF2-40B4-BE49-F238E27FC236}">
                <a16:creationId xmlns:a16="http://schemas.microsoft.com/office/drawing/2014/main" id="{60DF5281-7210-4B72-991E-93807A07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1B280A-1620-42AA-96A8-8EC1C77FD67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177BF4BE-7381-4E2E-ABA1-D9B543328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711488FC-EEEA-4B2C-B74A-B6993BB68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1C5E4639-D8B7-4F95-8BDC-5B1E88625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전개과정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발전기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년대 이후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40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3" name="내용 개체 틀 7">
            <a:extLst>
              <a:ext uri="{FF2B5EF4-FFF2-40B4-BE49-F238E27FC236}">
                <a16:creationId xmlns:a16="http://schemas.microsoft.com/office/drawing/2014/main" id="{1807867A-CE6B-4CE5-B2BC-E9D2E836A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73225"/>
            <a:ext cx="8266113" cy="4643438"/>
          </a:xfrm>
        </p:spPr>
        <p:txBody>
          <a:bodyPr lIns="0" tIns="0" rIns="0" bIns="0"/>
          <a:lstStyle/>
          <a:p>
            <a:r>
              <a:rPr lang="ko-KR" altLang="en-US" sz="3200" dirty="0">
                <a:ea typeface="나눔명조" pitchFamily="18" charset="-127"/>
              </a:rPr>
              <a:t>환경정책의 발전기 </a:t>
            </a:r>
            <a:r>
              <a:rPr lang="en-US" altLang="ko-KR" sz="3200" dirty="0">
                <a:ea typeface="나눔명조" pitchFamily="18" charset="-127"/>
              </a:rPr>
              <a:t>(1990</a:t>
            </a:r>
            <a:r>
              <a:rPr lang="ko-KR" altLang="en-US" sz="3200" dirty="0">
                <a:ea typeface="나눔명조" pitchFamily="18" charset="-127"/>
              </a:rPr>
              <a:t>년대 이후</a:t>
            </a:r>
            <a:r>
              <a:rPr lang="en-US" altLang="ko-KR" sz="3200" dirty="0">
                <a:ea typeface="나눔명조" pitchFamily="18" charset="-127"/>
              </a:rPr>
              <a:t>)</a:t>
            </a:r>
          </a:p>
          <a:p>
            <a:pPr lvl="1"/>
            <a:r>
              <a:rPr lang="ko-KR" altLang="en-US" sz="2200" dirty="0" err="1">
                <a:ea typeface="나눔명조" pitchFamily="18" charset="-127"/>
              </a:rPr>
              <a:t>리우환경선언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교토의정서 등으로 한국 역시 이에 동참하지 않을 수 없게 됨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ko-KR" altLang="en-US" sz="2200" dirty="0">
                <a:ea typeface="나눔명조" pitchFamily="18" charset="-127"/>
              </a:rPr>
              <a:t>지방자치제도로 인해 환경문제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시설유치 등에 지역 간의 갈등이 발생함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이를 위한 환경정책 조정 필요성이 대두됨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1990</a:t>
            </a:r>
            <a:r>
              <a:rPr lang="ko-KR" altLang="en-US" sz="2200" dirty="0">
                <a:ea typeface="나눔명조" pitchFamily="18" charset="-127"/>
              </a:rPr>
              <a:t>년 환경청이 환경처로 승격된 후 </a:t>
            </a:r>
            <a:r>
              <a:rPr lang="en-US" altLang="ko-KR" sz="2200" dirty="0">
                <a:ea typeface="나눔명조" pitchFamily="18" charset="-127"/>
              </a:rPr>
              <a:t>1994</a:t>
            </a:r>
            <a:r>
              <a:rPr lang="ko-KR" altLang="en-US" sz="2200" dirty="0">
                <a:ea typeface="나눔명조" pitchFamily="18" charset="-127"/>
              </a:rPr>
              <a:t>년 환경부로 다시 승격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1991</a:t>
            </a:r>
            <a:r>
              <a:rPr lang="ko-KR" altLang="en-US" sz="2200" dirty="0">
                <a:ea typeface="나눔명조" pitchFamily="18" charset="-127"/>
              </a:rPr>
              <a:t>년 중앙환경분쟁조정위 설치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ko-KR" altLang="en-US" sz="2200" dirty="0">
                <a:ea typeface="나눔명조" pitchFamily="18" charset="-127"/>
              </a:rPr>
              <a:t>한국환경정책</a:t>
            </a:r>
            <a:r>
              <a:rPr lang="en-US" altLang="ko-KR" sz="2200" dirty="0">
                <a:ea typeface="나눔명조" pitchFamily="18" charset="-127"/>
              </a:rPr>
              <a:t>·</a:t>
            </a:r>
            <a:r>
              <a:rPr lang="ko-KR" altLang="en-US" sz="2200" dirty="0">
                <a:ea typeface="나눔명조" pitchFamily="18" charset="-127"/>
              </a:rPr>
              <a:t>평가연구원</a:t>
            </a:r>
            <a:r>
              <a:rPr lang="en-US" altLang="ko-KR" sz="2200" dirty="0">
                <a:ea typeface="나눔명조" pitchFamily="18" charset="-127"/>
              </a:rPr>
              <a:t>(</a:t>
            </a:r>
            <a:r>
              <a:rPr lang="ko-KR" altLang="en-US" sz="2200" dirty="0">
                <a:ea typeface="나눔명조" pitchFamily="18" charset="-127"/>
              </a:rPr>
              <a:t>현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한국환경연구원</a:t>
            </a:r>
            <a:r>
              <a:rPr lang="en-US" altLang="ko-KR" sz="2200" dirty="0">
                <a:ea typeface="나눔명조" pitchFamily="18" charset="-127"/>
              </a:rPr>
              <a:t>) </a:t>
            </a:r>
            <a:r>
              <a:rPr lang="ko-KR" altLang="en-US" sz="2200" dirty="0">
                <a:ea typeface="나눔명조" pitchFamily="18" charset="-127"/>
              </a:rPr>
              <a:t>개원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ko-KR" altLang="en-US" sz="2200" dirty="0">
                <a:ea typeface="나눔명조" pitchFamily="18" charset="-127"/>
              </a:rPr>
              <a:t>국가환경과학원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국립생물자원관 등 관계기관의 확대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2010</a:t>
            </a:r>
            <a:r>
              <a:rPr lang="ko-KR" altLang="en-US" sz="2200" dirty="0">
                <a:ea typeface="나눔명조" pitchFamily="18" charset="-127"/>
              </a:rPr>
              <a:t>년에는 </a:t>
            </a:r>
            <a:r>
              <a:rPr lang="en-US" altLang="ko-KR" sz="2200" dirty="0">
                <a:latin typeface="굴림" panose="020B0600000101010101" pitchFamily="50" charset="-127"/>
                <a:ea typeface="나눔명조" pitchFamily="18" charset="-127"/>
              </a:rPr>
              <a:t>『</a:t>
            </a:r>
            <a:r>
              <a:rPr lang="ko-KR" altLang="en-US" sz="2200" dirty="0" err="1">
                <a:ea typeface="나눔명조" pitchFamily="18" charset="-127"/>
              </a:rPr>
              <a:t>저탄소녹색성장기본법</a:t>
            </a:r>
            <a:r>
              <a:rPr lang="en-US" altLang="ko-KR" sz="2200" dirty="0">
                <a:latin typeface="굴림" panose="020B0600000101010101" pitchFamily="50" charset="-127"/>
                <a:ea typeface="나눔명조" pitchFamily="18" charset="-127"/>
              </a:rPr>
              <a:t>』</a:t>
            </a:r>
            <a:r>
              <a:rPr lang="ko-KR" altLang="en-US" sz="2200" dirty="0">
                <a:latin typeface="굴림" panose="020B0600000101010101" pitchFamily="50" charset="-127"/>
                <a:ea typeface="나눔명조" pitchFamily="18" charset="-127"/>
              </a:rPr>
              <a:t>에 따라 온실가스종합정보센터가 신설됨</a:t>
            </a:r>
            <a:r>
              <a:rPr lang="en-US" altLang="ko-KR" sz="2200" dirty="0">
                <a:ea typeface="나눔명조" pitchFamily="18" charset="-127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3200" dirty="0"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200" dirty="0">
              <a:ea typeface="굴림" panose="020B0600000101010101" pitchFamily="50" charset="-127"/>
            </a:endParaRPr>
          </a:p>
          <a:p>
            <a:pPr lvl="1"/>
            <a:endParaRPr lang="en-US" altLang="ko-KR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4">
            <a:extLst>
              <a:ext uri="{FF2B5EF4-FFF2-40B4-BE49-F238E27FC236}">
                <a16:creationId xmlns:a16="http://schemas.microsoft.com/office/drawing/2014/main" id="{0A5FEA81-8BCB-4DD2-9DB4-36268967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24579" name="슬라이드 번호 개체 틀 5">
            <a:extLst>
              <a:ext uri="{FF2B5EF4-FFF2-40B4-BE49-F238E27FC236}">
                <a16:creationId xmlns:a16="http://schemas.microsoft.com/office/drawing/2014/main" id="{60DF5281-7210-4B72-991E-93807A07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1B280A-1620-42AA-96A8-8EC1C77FD67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177BF4BE-7381-4E2E-ABA1-D9B543328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711488FC-EEEA-4B2C-B74A-B6993BB68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1C5E4639-D8B7-4F95-8BDC-5B1E88625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전개과정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발전기 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년대 이후</a:t>
            </a:r>
            <a:r>
              <a:rPr lang="en-US" altLang="ko-KR" sz="200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400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3" name="내용 개체 틀 7">
            <a:extLst>
              <a:ext uri="{FF2B5EF4-FFF2-40B4-BE49-F238E27FC236}">
                <a16:creationId xmlns:a16="http://schemas.microsoft.com/office/drawing/2014/main" id="{1807867A-CE6B-4CE5-B2BC-E9D2E836A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73225"/>
            <a:ext cx="8266113" cy="4643438"/>
          </a:xfrm>
        </p:spPr>
        <p:txBody>
          <a:bodyPr lIns="0" tIns="0" rIns="0" bIns="0"/>
          <a:lstStyle/>
          <a:p>
            <a:r>
              <a:rPr lang="ko-KR" altLang="en-US" sz="3200" dirty="0">
                <a:ea typeface="나눔명조" pitchFamily="18" charset="-127"/>
              </a:rPr>
              <a:t>환경정책의 발전기 </a:t>
            </a:r>
            <a:r>
              <a:rPr lang="en-US" altLang="ko-KR" sz="3200" dirty="0">
                <a:ea typeface="나눔명조" pitchFamily="18" charset="-127"/>
              </a:rPr>
              <a:t>(1990</a:t>
            </a:r>
            <a:r>
              <a:rPr lang="ko-KR" altLang="en-US" sz="3200" dirty="0">
                <a:ea typeface="나눔명조" pitchFamily="18" charset="-127"/>
              </a:rPr>
              <a:t>년대 이후</a:t>
            </a:r>
            <a:r>
              <a:rPr lang="en-US" altLang="ko-KR" sz="3200" dirty="0">
                <a:ea typeface="나눔명조" pitchFamily="18" charset="-127"/>
              </a:rPr>
              <a:t>)</a:t>
            </a:r>
          </a:p>
          <a:p>
            <a:pPr lvl="1"/>
            <a:r>
              <a:rPr lang="ko-KR" altLang="en-US" sz="2200" dirty="0">
                <a:ea typeface="나눔명조"/>
              </a:rPr>
              <a:t>기상청이 환경부의 외청으로 이관되고 국립생태원이 발족함</a:t>
            </a:r>
            <a:endParaRPr lang="en-US" altLang="ko-KR" sz="2200" dirty="0">
              <a:ea typeface="나눔명조"/>
            </a:endParaRPr>
          </a:p>
          <a:p>
            <a:pPr lvl="1"/>
            <a:r>
              <a:rPr lang="ko-KR" altLang="en-US" sz="2200" dirty="0">
                <a:ea typeface="나눔명조"/>
              </a:rPr>
              <a:t>한국환경자원공사와 환경관리공단이 한국환경공단으로 통합 출범하였으며</a:t>
            </a:r>
            <a:r>
              <a:rPr lang="en-US" altLang="ko-KR" sz="2200" dirty="0">
                <a:ea typeface="나눔명조"/>
              </a:rPr>
              <a:t>, </a:t>
            </a:r>
            <a:r>
              <a:rPr lang="ko-KR" altLang="en-US" sz="2200" dirty="0">
                <a:ea typeface="나눔명조"/>
              </a:rPr>
              <a:t>화학물질안전원이 개원함</a:t>
            </a:r>
            <a:r>
              <a:rPr lang="en-US" altLang="ko-KR" sz="2200" dirty="0">
                <a:ea typeface="나눔명조"/>
              </a:rPr>
              <a:t> </a:t>
            </a:r>
          </a:p>
          <a:p>
            <a:pPr lvl="1"/>
            <a:r>
              <a:rPr lang="ko-KR" altLang="en-US" sz="2200" dirty="0">
                <a:ea typeface="나눔명조"/>
              </a:rPr>
              <a:t>그동안 물관리에 있어 수량은 국토부가</a:t>
            </a:r>
            <a:r>
              <a:rPr lang="en-US" altLang="ko-KR" sz="2200" dirty="0">
                <a:ea typeface="나눔명조"/>
              </a:rPr>
              <a:t>, </a:t>
            </a:r>
            <a:r>
              <a:rPr lang="ko-KR" altLang="en-US" sz="2200" dirty="0">
                <a:ea typeface="나눔명조"/>
              </a:rPr>
              <a:t>수질은 환경부가 관리를 해왔으나 물관리의 일원화 필요성이 지속적으로 제기되어 왔기 때문에 </a:t>
            </a:r>
            <a:r>
              <a:rPr lang="en-US" altLang="ko-KR" sz="2200" dirty="0">
                <a:ea typeface="나눔명조"/>
              </a:rPr>
              <a:t>2018</a:t>
            </a:r>
            <a:r>
              <a:rPr lang="ko-KR" altLang="en-US" sz="2200" dirty="0">
                <a:ea typeface="나눔명조"/>
              </a:rPr>
              <a:t>년에 환경부로 </a:t>
            </a:r>
            <a:r>
              <a:rPr lang="ko-KR" altLang="en-US" sz="2200" dirty="0" err="1">
                <a:ea typeface="나눔명조"/>
              </a:rPr>
              <a:t>물관리가</a:t>
            </a:r>
            <a:r>
              <a:rPr lang="ko-KR" altLang="en-US" sz="2200" dirty="0">
                <a:ea typeface="나눔명조"/>
              </a:rPr>
              <a:t> </a:t>
            </a:r>
            <a:r>
              <a:rPr lang="ko-KR" altLang="en-US" sz="2200" dirty="0" err="1">
                <a:ea typeface="나눔명조"/>
              </a:rPr>
              <a:t>일원화되었음</a:t>
            </a:r>
            <a:endParaRPr lang="en-US" altLang="ko-KR" sz="2200" dirty="0">
              <a:ea typeface="나눔명조"/>
            </a:endParaRPr>
          </a:p>
          <a:p>
            <a:pPr lvl="2"/>
            <a:r>
              <a:rPr lang="ko-KR" altLang="en-US" sz="1900" dirty="0">
                <a:ea typeface="나눔명조"/>
              </a:rPr>
              <a:t>국토교통부에서 </a:t>
            </a:r>
            <a:r>
              <a:rPr lang="en-US" altLang="ko-KR" sz="1900" dirty="0">
                <a:ea typeface="나눔명조"/>
              </a:rPr>
              <a:t>188</a:t>
            </a:r>
            <a:r>
              <a:rPr lang="ko-KR" altLang="en-US" sz="1900" dirty="0">
                <a:ea typeface="나눔명조"/>
              </a:rPr>
              <a:t>명의 인력과 약 </a:t>
            </a:r>
            <a:r>
              <a:rPr lang="en-US" altLang="ko-KR" sz="1900" dirty="0">
                <a:ea typeface="나눔명조"/>
              </a:rPr>
              <a:t>6,000</a:t>
            </a:r>
            <a:r>
              <a:rPr lang="ko-KR" altLang="en-US" sz="1900" dirty="0">
                <a:ea typeface="나눔명조"/>
              </a:rPr>
              <a:t>억 원의 예산이 환경부로 이관됨</a:t>
            </a:r>
            <a:endParaRPr lang="en-US" altLang="ko-KR" sz="1900" dirty="0">
              <a:ea typeface="나눔명조"/>
            </a:endParaRPr>
          </a:p>
        </p:txBody>
      </p:sp>
    </p:spTree>
    <p:extLst>
      <p:ext uri="{BB962C8B-B14F-4D97-AF65-F5344CB8AC3E}">
        <p14:creationId xmlns:p14="http://schemas.microsoft.com/office/powerpoint/2010/main" val="45095829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바닥글 개체 틀 4">
            <a:extLst>
              <a:ext uri="{FF2B5EF4-FFF2-40B4-BE49-F238E27FC236}">
                <a16:creationId xmlns:a16="http://schemas.microsoft.com/office/drawing/2014/main" id="{9A2773AB-C1AB-4388-8AD4-3C24948D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26627" name="슬라이드 번호 개체 틀 5">
            <a:extLst>
              <a:ext uri="{FF2B5EF4-FFF2-40B4-BE49-F238E27FC236}">
                <a16:creationId xmlns:a16="http://schemas.microsoft.com/office/drawing/2014/main" id="{57EB6399-90E8-4C06-97E3-FF313CE7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F9B65D-8512-401C-9F25-B1F979821BC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F2EA0E0D-D02C-4E14-BB3D-C70DDE9DC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EE458F61-097F-46EC-B715-7F564D55E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790A7444-3794-496E-894C-AE2B53E01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26631" name="내용 개체 틀 7">
            <a:extLst>
              <a:ext uri="{FF2B5EF4-FFF2-40B4-BE49-F238E27FC236}">
                <a16:creationId xmlns:a16="http://schemas.microsoft.com/office/drawing/2014/main" id="{181F7F6E-71D6-4BB9-9F1A-0F77F67FB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60513"/>
            <a:ext cx="8266113" cy="4797425"/>
          </a:xfrm>
        </p:spPr>
        <p:txBody>
          <a:bodyPr lIns="0" tIns="0" rIns="0" bIns="0"/>
          <a:lstStyle/>
          <a:p>
            <a:r>
              <a:rPr lang="ko-KR" altLang="en-US" sz="2800" dirty="0">
                <a:ea typeface="나눔명조" pitchFamily="18" charset="-127"/>
              </a:rPr>
              <a:t>한국 환경법의 변천과정</a:t>
            </a:r>
            <a:endParaRPr lang="en-US" altLang="ko-KR" sz="2800" dirty="0"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1977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환경보전법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의해 비로소 제대로 된 법적 근거가 마련됨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『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환경정책기본법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』, 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대기환경보전법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』, 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수질환경보전법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』,  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소음진동규제법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』, 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유해화학물질관리법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』,『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환경분쟁조정법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제정됨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환경부 외의 부처에서 소관하는 환경관련법률도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60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여개 존재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해당 부서 고유업무를 위한 법률이지만 환경보존에 영향을 미칠 요소들을 포함함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ko-KR" sz="1600" dirty="0"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슬라이드 번호 개체 틀 5">
            <a:extLst>
              <a:ext uri="{FF2B5EF4-FFF2-40B4-BE49-F238E27FC236}">
                <a16:creationId xmlns:a16="http://schemas.microsoft.com/office/drawing/2014/main" id="{C8B1D8A7-8A7E-4A82-96CB-1C3F8838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95A0EB-B21D-4199-AFAB-66F168CC9D5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54D76F4E-936C-48C7-9584-235A67440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8AB7F2-A33A-4528-893D-CA942461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2" y="1429276"/>
            <a:ext cx="7873835" cy="33542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21C340-6BF3-4BA0-B460-DDA78B276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환경부 관장 법률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슬라이드 번호 개체 틀 5">
            <a:extLst>
              <a:ext uri="{FF2B5EF4-FFF2-40B4-BE49-F238E27FC236}">
                <a16:creationId xmlns:a16="http://schemas.microsoft.com/office/drawing/2014/main" id="{C8B1D8A7-8A7E-4A82-96CB-1C3F8838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95A0EB-B21D-4199-AFAB-66F168CC9D5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54D76F4E-936C-48C7-9584-235A67440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21C340-6BF3-4BA0-B460-DDA78B276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622041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환경부 관장 법률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150523-6E4A-48DC-A07B-66B42A621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90" y="600594"/>
            <a:ext cx="7282219" cy="58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43482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4">
            <a:extLst>
              <a:ext uri="{FF2B5EF4-FFF2-40B4-BE49-F238E27FC236}">
                <a16:creationId xmlns:a16="http://schemas.microsoft.com/office/drawing/2014/main" id="{57574F30-A28A-4C38-AA1E-5862CFAC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4819" name="슬라이드 번호 개체 틀 5">
            <a:extLst>
              <a:ext uri="{FF2B5EF4-FFF2-40B4-BE49-F238E27FC236}">
                <a16:creationId xmlns:a16="http://schemas.microsoft.com/office/drawing/2014/main" id="{BD9DC419-4F8C-407C-9790-EE633300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0CDAE0-84A6-4312-B0A9-04E060EA363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7E14D3D-7B38-4349-9086-63B66E51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B46CE1D4-0996-4DE4-B9E2-CAD7EF99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EF00D52-4D76-493F-A7D1-A7A76DA8E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2711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34823" name="내용 개체 틀 8">
            <a:extLst>
              <a:ext uri="{FF2B5EF4-FFF2-40B4-BE49-F238E27FC236}">
                <a16:creationId xmlns:a16="http://schemas.microsoft.com/office/drawing/2014/main" id="{0D947F1B-8B50-4CDE-9C0D-0AAB9384B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1195387"/>
            <a:ext cx="7615496" cy="5441895"/>
          </a:xfrm>
        </p:spPr>
        <p:txBody>
          <a:bodyPr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한국 환경정책의 기구 및 예산상의 구조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현재 환경정책을 담당하는 정부기구는 환경부 본청 외에도 많은 조직이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 정책 가운데 환경부 보다 상위의 기구에서 범부처적으로 다루어 지는 것도 있음 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:(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설립당시의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)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지속가능발전위원회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녹색성장위원회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환경정책의 결정 및 집행은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환경부뿐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아니라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개의 유역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지방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환경청과 지방환경관서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도 및 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자치구 그리고 그들의 소속기관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투자기관 등에 의해서도 수행되고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환경정책의 주무부서인 환경부는 환경법령의 제정과 개정 및 환경개선과 관련된 중장기 종합계획 수립 등의 정책기획업무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각종 규제기준의 설정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해외협력업무를 담당함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	</a:t>
            </a:r>
          </a:p>
          <a:p>
            <a:pPr lvl="2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환경부의 소속기관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국립환경과학원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국립환경인재개발원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온실가스종합정보센터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수도권대기환경청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홍수통제소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중앙환경분쟁조정위원회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국립생물자원관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화학물질안전원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환경정책에 대한 연구와 정책개발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환경영향평가서 검토업무를 담당하는 한국환경연구원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(KEI)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이 국무총리실 산하 연구원으로 설치되어 있음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4">
            <a:extLst>
              <a:ext uri="{FF2B5EF4-FFF2-40B4-BE49-F238E27FC236}">
                <a16:creationId xmlns:a16="http://schemas.microsoft.com/office/drawing/2014/main" id="{57574F30-A28A-4C38-AA1E-5862CFAC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4819" name="슬라이드 번호 개체 틀 5">
            <a:extLst>
              <a:ext uri="{FF2B5EF4-FFF2-40B4-BE49-F238E27FC236}">
                <a16:creationId xmlns:a16="http://schemas.microsoft.com/office/drawing/2014/main" id="{BD9DC419-4F8C-407C-9790-EE633300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0CDAE0-84A6-4312-B0A9-04E060EA363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7E14D3D-7B38-4349-9086-63B66E51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B46CE1D4-0996-4DE4-B9E2-CAD7EF99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EF00D52-4D76-493F-A7D1-A7A76DA8E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2711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34823" name="내용 개체 틀 8">
            <a:extLst>
              <a:ext uri="{FF2B5EF4-FFF2-40B4-BE49-F238E27FC236}">
                <a16:creationId xmlns:a16="http://schemas.microsoft.com/office/drawing/2014/main" id="{0D947F1B-8B50-4CDE-9C0D-0AAB9384B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1195387"/>
            <a:ext cx="7313612" cy="5441895"/>
          </a:xfrm>
        </p:spPr>
        <p:txBody>
          <a:bodyPr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한국 환경정책의 기구 및 예산상의 구조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정규 정부조직 외에도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여개의 환경관리 위원회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협의회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자문기구가 환경정책에 직간접으로 참여하고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환경관련 업무 역시 환경부 외의 여타 부서에 의해서도 행해지고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예 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과학기술정보통신부의 원자력이나 방사능과 관련된 안전업무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환경정책은 중앙정부와 지방정부 간에도 분리되어 수행됨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환경부는 관련 법규의 제정과 규제기준의 설정과 같은 기본 틀을 마련하는 반면</a:t>
            </a:r>
            <a:r>
              <a:rPr lang="en-US" altLang="ko-KR" sz="15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500" dirty="0">
                <a:latin typeface="나눔명조" pitchFamily="18" charset="-127"/>
                <a:ea typeface="나눔명조" pitchFamily="18" charset="-127"/>
              </a:rPr>
              <a:t>이를 집행하는 책임은 각 지방환경관서와 지방자치단체에 있음</a:t>
            </a: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지방자치단체는 관할구역 내 지역환경보전대책 수립 및 시행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생활폐기물의 수집 및 처리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분뇨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축산폐수의 처리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소음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진동 및 자동차배출가스 규제 등의 고유 업무와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환경오염물질 배출업소 관리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환경개선부담금의 징수 등 환경부장관으로부터 위임 받은 업무를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8657495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4">
            <a:extLst>
              <a:ext uri="{FF2B5EF4-FFF2-40B4-BE49-F238E27FC236}">
                <a16:creationId xmlns:a16="http://schemas.microsoft.com/office/drawing/2014/main" id="{57574F30-A28A-4C38-AA1E-5862CFAC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4819" name="슬라이드 번호 개체 틀 5">
            <a:extLst>
              <a:ext uri="{FF2B5EF4-FFF2-40B4-BE49-F238E27FC236}">
                <a16:creationId xmlns:a16="http://schemas.microsoft.com/office/drawing/2014/main" id="{BD9DC419-4F8C-407C-9790-EE633300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0CDAE0-84A6-4312-B0A9-04E060EA363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7E14D3D-7B38-4349-9086-63B66E51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B46CE1D4-0996-4DE4-B9E2-CAD7EF99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EF00D52-4D76-493F-A7D1-A7A76DA8E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2711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34823" name="내용 개체 틀 8">
            <a:extLst>
              <a:ext uri="{FF2B5EF4-FFF2-40B4-BE49-F238E27FC236}">
                <a16:creationId xmlns:a16="http://schemas.microsoft.com/office/drawing/2014/main" id="{0D947F1B-8B50-4CDE-9C0D-0AAB9384B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1195387"/>
            <a:ext cx="7313612" cy="5441895"/>
          </a:xfrm>
        </p:spPr>
        <p:txBody>
          <a:bodyPr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한국 환경정책의 기구 및 예산상의 구조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환경관련 예산은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 도입된 환경개선특별회계를 통해 주로 마련되고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외 국가균형발전특별회계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에너지및자원사업특별회계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농어촌구조개선특별회계와 같은 몇 가지 추가 특별회계가 환경예산에 포함됨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환경예산의 대부분을 차지하는 환경개선특별회계의 세입은 자체세입과 일반회계 전입금으로 구성됨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환경개선특별회계의 자체 세입은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환경개선특별회계법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 징수하게 되어 있는 배출부과금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주요 하천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수계별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총량초과부과금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환경개선부담금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환경오염방지사업비용부담금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폐기물부담금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재활용부과금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『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폐기물관리법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』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상의 처리이행 및 사후관리이행 보증금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사전적립금과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이들 부과금이나 부담금과 관련된 가산금 및 과징금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그리고 기타 이전수입 등으로 구성됨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8858617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바닥글 개체 틀 4">
            <a:extLst>
              <a:ext uri="{FF2B5EF4-FFF2-40B4-BE49-F238E27FC236}">
                <a16:creationId xmlns:a16="http://schemas.microsoft.com/office/drawing/2014/main" id="{634161A8-FF89-43C5-A14C-2803FF8C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6868" name="슬라이드 번호 개체 틀 5">
            <a:extLst>
              <a:ext uri="{FF2B5EF4-FFF2-40B4-BE49-F238E27FC236}">
                <a16:creationId xmlns:a16="http://schemas.microsoft.com/office/drawing/2014/main" id="{50C1B41F-E525-4BF3-B6D9-BF6D00B0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0AE73E-86CB-49AF-8B81-CA9B5E4A84B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7C1AA78B-9549-4EDA-9067-1F19782EB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04CA4B6D-0385-4BDD-8513-911CB2A7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7AE03F4-9073-4D63-81C5-2760D5856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16" y="152400"/>
            <a:ext cx="6897538" cy="21078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D21336-A47B-42B1-A2C2-6F7FE6FE6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216" y="2333258"/>
            <a:ext cx="6841158" cy="407172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4">
            <a:extLst>
              <a:ext uri="{FF2B5EF4-FFF2-40B4-BE49-F238E27FC236}">
                <a16:creationId xmlns:a16="http://schemas.microsoft.com/office/drawing/2014/main" id="{57574F30-A28A-4C38-AA1E-5862CFAC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4819" name="슬라이드 번호 개체 틀 5">
            <a:extLst>
              <a:ext uri="{FF2B5EF4-FFF2-40B4-BE49-F238E27FC236}">
                <a16:creationId xmlns:a16="http://schemas.microsoft.com/office/drawing/2014/main" id="{BD9DC419-4F8C-407C-9790-EE633300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0CDAE0-84A6-4312-B0A9-04E060EA363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7E14D3D-7B38-4349-9086-63B66E51B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B46CE1D4-0996-4DE4-B9E2-CAD7EF99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EF00D52-4D76-493F-A7D1-A7A76DA8E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2711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34823" name="내용 개체 틀 8">
            <a:extLst>
              <a:ext uri="{FF2B5EF4-FFF2-40B4-BE49-F238E27FC236}">
                <a16:creationId xmlns:a16="http://schemas.microsoft.com/office/drawing/2014/main" id="{0D947F1B-8B50-4CDE-9C0D-0AAB9384B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1195387"/>
            <a:ext cx="7313612" cy="5441895"/>
          </a:xfrm>
        </p:spPr>
        <p:txBody>
          <a:bodyPr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한국 환경정책의 기구 및 예산상의 구조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환경예산의 부문별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지출현황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물환경과 수자원 부문이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42.8%,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기후대기분야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35.9%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 두 분야의 지출 비중이 높음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자원순환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폐기물관련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여타 예산 지출이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8.9%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차지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외 자연보존이나 환경기술개발에도 지출됨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2603874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바닥글 개체 틀 4">
            <a:extLst>
              <a:ext uri="{FF2B5EF4-FFF2-40B4-BE49-F238E27FC236}">
                <a16:creationId xmlns:a16="http://schemas.microsoft.com/office/drawing/2014/main" id="{D1ED825A-9247-449C-A761-07C75406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38915" name="슬라이드 번호 개체 틀 5">
            <a:extLst>
              <a:ext uri="{FF2B5EF4-FFF2-40B4-BE49-F238E27FC236}">
                <a16:creationId xmlns:a16="http://schemas.microsoft.com/office/drawing/2014/main" id="{B9CED2EB-1DF5-46C8-91CE-F756AA9F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594258-A449-4BD5-86AD-5B3AC23A501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DF6E9864-8B00-4253-AAFE-55EB11A3C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353F4F86-E22E-4E3B-A98E-B1BD684B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AC8618-F811-46AB-92CE-40B5541B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2988"/>
            <a:ext cx="7352693" cy="494522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바닥글 개체 틀 4">
            <a:extLst>
              <a:ext uri="{FF2B5EF4-FFF2-40B4-BE49-F238E27FC236}">
                <a16:creationId xmlns:a16="http://schemas.microsoft.com/office/drawing/2014/main" id="{19F96D35-ABDB-4B81-AB62-D6AA6CCA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43011" name="슬라이드 번호 개체 틀 5">
            <a:extLst>
              <a:ext uri="{FF2B5EF4-FFF2-40B4-BE49-F238E27FC236}">
                <a16:creationId xmlns:a16="http://schemas.microsoft.com/office/drawing/2014/main" id="{BBD15771-0F36-49C3-B913-EF3F56F7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33EA84-14BE-4C81-99AD-5BF59E464C3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0239D78B-4ADC-4F0D-A495-8E3460E90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9C1DCF09-4F33-4022-99F9-2C41F204E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6F1238D-5CD0-4D61-A81B-50772B7A4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43015" name="내용 개체 틀 8">
            <a:extLst>
              <a:ext uri="{FF2B5EF4-FFF2-40B4-BE49-F238E27FC236}">
                <a16:creationId xmlns:a16="http://schemas.microsoft.com/office/drawing/2014/main" id="{6BB731CD-51B4-47D5-BE86-2215EA864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1365250"/>
            <a:ext cx="7313612" cy="4781550"/>
          </a:xfrm>
        </p:spPr>
        <p:txBody>
          <a:bodyPr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한국 환경정책의 구조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제도적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행정적 규제와 관련해 환경정책은 크게 환경기준을 사용하는 직접규제와 배출부과금제나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배출권거래제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등과 같은 경제적 유인을 사용하는 제도로 양분할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한국에서도 이 두 가지 종류의 정책이 모두 사용됨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미세먼지 저감대책은 직접규제와 경제적 유인을 동시에 적용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0231126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바닥글 개체 틀 4">
            <a:extLst>
              <a:ext uri="{FF2B5EF4-FFF2-40B4-BE49-F238E27FC236}">
                <a16:creationId xmlns:a16="http://schemas.microsoft.com/office/drawing/2014/main" id="{32ADC1C5-F8BF-4912-A4D9-EE77991A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45059" name="슬라이드 번호 개체 틀 5">
            <a:extLst>
              <a:ext uri="{FF2B5EF4-FFF2-40B4-BE49-F238E27FC236}">
                <a16:creationId xmlns:a16="http://schemas.microsoft.com/office/drawing/2014/main" id="{15A24F33-F736-488A-8FFE-8A656CA6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E16BFB-F760-42FA-9016-B14486658AA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180D2E71-7F05-4732-AD91-B330433AB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8B52D29E-745E-4908-A1D8-4DFDF14B1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125" y="681458"/>
            <a:ext cx="7331033" cy="501938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바닥글 개체 틀 4">
            <a:extLst>
              <a:ext uri="{FF2B5EF4-FFF2-40B4-BE49-F238E27FC236}">
                <a16:creationId xmlns:a16="http://schemas.microsoft.com/office/drawing/2014/main" id="{19F96D35-ABDB-4B81-AB62-D6AA6CCA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43011" name="슬라이드 번호 개체 틀 5">
            <a:extLst>
              <a:ext uri="{FF2B5EF4-FFF2-40B4-BE49-F238E27FC236}">
                <a16:creationId xmlns:a16="http://schemas.microsoft.com/office/drawing/2014/main" id="{BBD15771-0F36-49C3-B913-EF3F56F7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33EA84-14BE-4C81-99AD-5BF59E464C3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0239D78B-4ADC-4F0D-A495-8E3460E90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9C1DCF09-4F33-4022-99F9-2C41F204E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6F1238D-5CD0-4D61-A81B-50772B7A4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43015" name="내용 개체 틀 8">
            <a:extLst>
              <a:ext uri="{FF2B5EF4-FFF2-40B4-BE49-F238E27FC236}">
                <a16:creationId xmlns:a16="http://schemas.microsoft.com/office/drawing/2014/main" id="{6BB731CD-51B4-47D5-BE86-2215EA864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1365250"/>
            <a:ext cx="7313612" cy="4781550"/>
          </a:xfrm>
        </p:spPr>
        <p:txBody>
          <a:bodyPr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한국 환경정책의 구조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직접규제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사법권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경찰력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벌금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행정조치 등과 같은 수단을 동원해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실시하면 비교적 단기간에 성과를 볼 수 있는 장점이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따라서 한국 역시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환경정책으로서 우선 사용되었음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그러나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년대부터 더 효율적이고 신축적인 경제적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유인제도의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중요성이 강조되고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한국에서의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직접규제는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오염도기준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기술기준을 모두 포함함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FB7A44-57E6-42BC-B54E-8E22E1FF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DF4B9E-B4A7-48FC-8A41-3865740E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2F536-BF0D-4D31-AFD3-6F61A9A22372}" type="slidenum">
              <a:rPr lang="ko-KR" altLang="en-US" smtClean="0"/>
              <a:pPr/>
              <a:t>20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057BFF-FBDA-4CFC-9D36-7BA02ACCB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89" y="279918"/>
            <a:ext cx="6039221" cy="607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57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바닥글 개체 틀 4">
            <a:extLst>
              <a:ext uri="{FF2B5EF4-FFF2-40B4-BE49-F238E27FC236}">
                <a16:creationId xmlns:a16="http://schemas.microsoft.com/office/drawing/2014/main" id="{19F96D35-ABDB-4B81-AB62-D6AA6CCA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43011" name="슬라이드 번호 개체 틀 5">
            <a:extLst>
              <a:ext uri="{FF2B5EF4-FFF2-40B4-BE49-F238E27FC236}">
                <a16:creationId xmlns:a16="http://schemas.microsoft.com/office/drawing/2014/main" id="{BBD15771-0F36-49C3-B913-EF3F56F7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33EA84-14BE-4C81-99AD-5BF59E464C3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0239D78B-4ADC-4F0D-A495-8E3460E90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9C1DCF09-4F33-4022-99F9-2C41F204E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6F1238D-5CD0-4D61-A81B-50772B7A4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43015" name="내용 개체 틀 8">
            <a:extLst>
              <a:ext uri="{FF2B5EF4-FFF2-40B4-BE49-F238E27FC236}">
                <a16:creationId xmlns:a16="http://schemas.microsoft.com/office/drawing/2014/main" id="{6BB731CD-51B4-47D5-BE86-2215EA864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31" y="1159976"/>
            <a:ext cx="7780337" cy="5184839"/>
          </a:xfrm>
        </p:spPr>
        <p:txBody>
          <a:bodyPr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한국 환경정책의 구조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직접규제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환경부는 수질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대기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소음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․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진동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토양 등에 관한 오염도기준을 설정하고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이를 달성하기 위해 배출기준이라 할 수 있는 배출허용기준을 적용하고 있음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배출허용기준을 위반할 경우 오염자는 개선명령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조업중지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사용중지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허가취소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벌금이나 징역형과 같은 제재를 받게 됨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	</a:t>
            </a:r>
          </a:p>
          <a:p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2017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년부터는 </a:t>
            </a:r>
            <a:r>
              <a:rPr lang="en-US" altLang="ko-KR" dirty="0"/>
              <a:t>『</a:t>
            </a:r>
            <a:r>
              <a:rPr lang="ko-KR" altLang="en-US" dirty="0"/>
              <a:t>통합환경관리제도</a:t>
            </a:r>
            <a:r>
              <a:rPr lang="en-US" altLang="ko-KR" dirty="0"/>
              <a:t>』 </a:t>
            </a:r>
            <a:r>
              <a:rPr lang="ko-KR" altLang="en-US" dirty="0"/>
              <a:t>시행</a:t>
            </a:r>
            <a:endParaRPr lang="en-US" altLang="ko-KR" dirty="0"/>
          </a:p>
          <a:p>
            <a:pPr lvl="1"/>
            <a:r>
              <a:rPr lang="ko-KR" altLang="en-US" dirty="0"/>
              <a:t>오염 매체별로 허가</a:t>
            </a:r>
            <a:r>
              <a:rPr lang="en-US" altLang="ko-KR" dirty="0"/>
              <a:t>·</a:t>
            </a:r>
            <a:r>
              <a:rPr lang="ko-KR" altLang="en-US" dirty="0"/>
              <a:t>관리하던 기존 배출시설관리를 사업장 단위로 통합하여 관리</a:t>
            </a:r>
            <a:endParaRPr lang="en-US" altLang="ko-KR" dirty="0"/>
          </a:p>
          <a:p>
            <a:pPr lvl="1"/>
            <a:r>
              <a:rPr lang="en-US" altLang="ko-KR" dirty="0"/>
              <a:t>20</a:t>
            </a:r>
            <a:r>
              <a:rPr lang="ko-KR" altLang="en-US" dirty="0"/>
              <a:t>여 업종 대상</a:t>
            </a:r>
            <a:r>
              <a:rPr lang="en-US" altLang="ko-KR" dirty="0"/>
              <a:t>(</a:t>
            </a:r>
            <a:r>
              <a:rPr lang="ko-KR" altLang="en-US" dirty="0"/>
              <a:t>그 외는 기존 규제 적용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8880566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9C5788-B317-4604-9086-93AA2CAF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272733-BB8A-4D73-98B2-2E4C3227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2F536-BF0D-4D31-AFD3-6F61A9A22372}" type="slidenum">
              <a:rPr lang="ko-KR" altLang="en-US" smtClean="0"/>
              <a:pPr/>
              <a:t>22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FA81FC-8E7C-475C-BB13-BFC88B914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2" y="942232"/>
            <a:ext cx="7657323" cy="439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33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바닥글 개체 틀 4">
            <a:extLst>
              <a:ext uri="{FF2B5EF4-FFF2-40B4-BE49-F238E27FC236}">
                <a16:creationId xmlns:a16="http://schemas.microsoft.com/office/drawing/2014/main" id="{67BF8631-3CA7-40B2-9C13-B1763986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47108" name="슬라이드 번호 개체 틀 5">
            <a:extLst>
              <a:ext uri="{FF2B5EF4-FFF2-40B4-BE49-F238E27FC236}">
                <a16:creationId xmlns:a16="http://schemas.microsoft.com/office/drawing/2014/main" id="{8E5A906E-B42C-4D73-9C05-26388F94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A5AF6A-81C4-417C-B2AD-DFAF099B40B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B418B0CB-18B8-42C6-96F6-FEE57A199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4ADD9407-3102-4BD4-ABFB-E34E32983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53AC326C-30DB-449F-84AA-5AB743F72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2711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28679" name="내용 개체 틀 8">
            <a:extLst>
              <a:ext uri="{FF2B5EF4-FFF2-40B4-BE49-F238E27FC236}">
                <a16:creationId xmlns:a16="http://schemas.microsoft.com/office/drawing/2014/main" id="{0A7C3888-40DC-4E48-87B1-97B4E8098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175" y="1336675"/>
            <a:ext cx="7313613" cy="4767263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한국 환경정책의 구조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경제적 유인제도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ko-KR" sz="1050" dirty="0">
              <a:latin typeface="나눔명조" pitchFamily="18" charset="-127"/>
              <a:ea typeface="나눔명조" pitchFamily="18" charset="-127"/>
            </a:endParaRPr>
          </a:p>
          <a:p>
            <a:pPr lvl="1">
              <a:defRPr/>
            </a:pP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경제적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유인제도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중 배출권거래제는 온실가스를 대상으로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2015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년에 도입되었음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>
              <a:defRPr/>
            </a:pP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가격을 변화시키는 환경정책도 대부분 다 사용되고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>
              <a:defRPr/>
            </a:pP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다만 환경경제학에서 사용하는 학술적인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정책명칭과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실제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정책명칭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간에는 차이도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>
              <a:defRPr/>
            </a:pP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바닥글 개체 틀 4">
            <a:extLst>
              <a:ext uri="{FF2B5EF4-FFF2-40B4-BE49-F238E27FC236}">
                <a16:creationId xmlns:a16="http://schemas.microsoft.com/office/drawing/2014/main" id="{E561C53E-19DB-4A3C-8191-9896E924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49155" name="슬라이드 번호 개체 틀 5">
            <a:extLst>
              <a:ext uri="{FF2B5EF4-FFF2-40B4-BE49-F238E27FC236}">
                <a16:creationId xmlns:a16="http://schemas.microsoft.com/office/drawing/2014/main" id="{29F5E890-4257-4D28-AE09-AB0F81E5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7F0116-1935-4B80-AAC9-5B7ED24E64F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B5E28886-D55C-44B8-86DA-ACE274AF6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0E639092-C16B-4623-8FD1-727909C20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F2C74B33-7C80-45B2-B019-5DFCC159F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49159" name="내용 개체 틀 8">
            <a:extLst>
              <a:ext uri="{FF2B5EF4-FFF2-40B4-BE49-F238E27FC236}">
                <a16:creationId xmlns:a16="http://schemas.microsoft.com/office/drawing/2014/main" id="{28F600C5-EE13-4E5D-B0BD-4DC117C1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519238"/>
            <a:ext cx="7831138" cy="4641850"/>
          </a:xfrm>
        </p:spPr>
        <p:txBody>
          <a:bodyPr/>
          <a:lstStyle/>
          <a:p>
            <a:r>
              <a:rPr lang="ko-KR" altLang="en-US" dirty="0">
                <a:ea typeface="나눔명조" pitchFamily="18" charset="-127"/>
              </a:rPr>
              <a:t>경제적 유인제도</a:t>
            </a:r>
            <a:r>
              <a:rPr lang="en-US" altLang="ko-KR" dirty="0">
                <a:ea typeface="나눔명조" pitchFamily="18" charset="-127"/>
              </a:rPr>
              <a:t>(</a:t>
            </a:r>
            <a:r>
              <a:rPr lang="ko-KR" altLang="en-US" dirty="0">
                <a:ea typeface="나눔명조" pitchFamily="18" charset="-127"/>
              </a:rPr>
              <a:t>환경개선부담금</a:t>
            </a:r>
            <a:r>
              <a:rPr lang="en-US" altLang="ko-KR" dirty="0">
                <a:ea typeface="나눔명조" pitchFamily="18" charset="-127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환경개선부담금은 경유자동차에 부과함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원래 시설물에도 적용되었으나 이는 폐지됨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환경개선 부담금</a:t>
            </a:r>
            <a:r>
              <a:rPr lang="en-US" altLang="ko-KR" sz="2400" dirty="0">
                <a:ea typeface="나눔명조" pitchFamily="18" charset="-127"/>
              </a:rPr>
              <a:t>= </a:t>
            </a:r>
            <a:r>
              <a:rPr lang="ko-KR" altLang="en-US" sz="2400" dirty="0">
                <a:ea typeface="나눔명조" pitchFamily="18" charset="-127"/>
              </a:rPr>
              <a:t>대당 기본부과금액 </a:t>
            </a:r>
            <a:r>
              <a:rPr lang="en-US" altLang="ko-KR" sz="2400" dirty="0">
                <a:ea typeface="나눔명조" pitchFamily="18" charset="-127"/>
              </a:rPr>
              <a:t>X </a:t>
            </a:r>
            <a:r>
              <a:rPr lang="ko-KR" altLang="en-US" sz="2400" dirty="0">
                <a:ea typeface="나눔명조" pitchFamily="18" charset="-127"/>
              </a:rPr>
              <a:t>오염유발계수 </a:t>
            </a:r>
            <a:r>
              <a:rPr lang="en-US" altLang="ko-KR" sz="2400" dirty="0">
                <a:ea typeface="나눔명조" pitchFamily="18" charset="-127"/>
              </a:rPr>
              <a:t>X </a:t>
            </a:r>
            <a:r>
              <a:rPr lang="ko-KR" altLang="en-US" sz="2400" dirty="0">
                <a:ea typeface="나눔명조" pitchFamily="18" charset="-127"/>
              </a:rPr>
              <a:t>차량계수 </a:t>
            </a:r>
            <a:r>
              <a:rPr lang="en-US" altLang="ko-KR" sz="2400" dirty="0">
                <a:ea typeface="나눔명조" pitchFamily="18" charset="-127"/>
              </a:rPr>
              <a:t>X </a:t>
            </a:r>
            <a:r>
              <a:rPr lang="ko-KR" altLang="en-US" sz="2400" dirty="0">
                <a:ea typeface="나눔명조" pitchFamily="18" charset="-127"/>
              </a:rPr>
              <a:t>지역계수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en-US" altLang="ko-KR" sz="2000" dirty="0">
                <a:ea typeface="나눔명조" pitchFamily="18" charset="-127"/>
              </a:rPr>
              <a:t> </a:t>
            </a:r>
            <a:r>
              <a:rPr lang="ko-KR" altLang="en-US" sz="2400" dirty="0" err="1">
                <a:ea typeface="나눔명조" pitchFamily="18" charset="-127"/>
              </a:rPr>
              <a:t>차량별</a:t>
            </a:r>
            <a:r>
              <a:rPr lang="en-US" altLang="ko-KR" sz="2400" dirty="0">
                <a:ea typeface="나눔명조" pitchFamily="18" charset="-127"/>
              </a:rPr>
              <a:t>, </a:t>
            </a:r>
            <a:r>
              <a:rPr lang="ko-KR" altLang="en-US" sz="2400" dirty="0">
                <a:ea typeface="나눔명조" pitchFamily="18" charset="-127"/>
              </a:rPr>
              <a:t>지역별 이질성도 고려됨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en-US" altLang="ko-KR" sz="2400" dirty="0">
                <a:ea typeface="나눔명조" pitchFamily="18" charset="-127"/>
              </a:rPr>
              <a:t> </a:t>
            </a:r>
            <a:r>
              <a:rPr lang="ko-KR" altLang="en-US" sz="2400" dirty="0">
                <a:ea typeface="나눔명조" pitchFamily="18" charset="-127"/>
              </a:rPr>
              <a:t>징수된 부담금은 환경개선사업비의 지원융자</a:t>
            </a:r>
            <a:r>
              <a:rPr lang="en-US" altLang="ko-KR" sz="2400" dirty="0">
                <a:ea typeface="나눔명조" pitchFamily="18" charset="-127"/>
              </a:rPr>
              <a:t>, </a:t>
            </a:r>
            <a:r>
              <a:rPr lang="ko-KR" altLang="en-US" sz="2400" dirty="0">
                <a:ea typeface="나눔명조" pitchFamily="18" charset="-127"/>
              </a:rPr>
              <a:t>저공해 기술개발을 위한 연구비 지원</a:t>
            </a:r>
            <a:r>
              <a:rPr lang="en-US" altLang="ko-KR" sz="2400" dirty="0">
                <a:ea typeface="나눔명조" pitchFamily="18" charset="-127"/>
              </a:rPr>
              <a:t>, </a:t>
            </a:r>
            <a:r>
              <a:rPr lang="ko-KR" altLang="en-US" sz="2400" dirty="0">
                <a:ea typeface="나눔명조" pitchFamily="18" charset="-127"/>
              </a:rPr>
              <a:t>자연환경보전사업 등에 사용됨 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endParaRPr lang="en-US" altLang="ko-KR" sz="2000" dirty="0">
              <a:ea typeface="나눔명조" pitchFamily="18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ko-KR" sz="2400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바닥글 개체 틀 4">
            <a:extLst>
              <a:ext uri="{FF2B5EF4-FFF2-40B4-BE49-F238E27FC236}">
                <a16:creationId xmlns:a16="http://schemas.microsoft.com/office/drawing/2014/main" id="{52B2BAA8-AE0A-4544-9E72-CCEA57E5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51203" name="슬라이드 번호 개체 틀 5">
            <a:extLst>
              <a:ext uri="{FF2B5EF4-FFF2-40B4-BE49-F238E27FC236}">
                <a16:creationId xmlns:a16="http://schemas.microsoft.com/office/drawing/2014/main" id="{2DA74E50-6AE5-42AB-BE7F-DAEE800B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7516B9-F8F8-4928-BE0D-70C46FC49D5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5FBF10C-334A-4F97-BBAF-F4CA4CB3C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4032DB2-4ED7-4EBA-AC03-850A84215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937D8ABC-527F-4567-BCA1-D1410977A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6838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51207" name="내용 개체 틀 8">
            <a:extLst>
              <a:ext uri="{FF2B5EF4-FFF2-40B4-BE49-F238E27FC236}">
                <a16:creationId xmlns:a16="http://schemas.microsoft.com/office/drawing/2014/main" id="{47A5D9B0-7830-4749-ADBD-D37617AA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58862"/>
            <a:ext cx="7313612" cy="4740275"/>
          </a:xfrm>
        </p:spPr>
        <p:txBody>
          <a:bodyPr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경제적 유인제도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배출부과금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배출부과금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기본부과금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+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초과배출부과금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기본부과금은 배출허용기준 이내 배출량에 적용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초과배출금은 배출허용기준 이상 배출량에 적용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수질배출부과금과 대기배출부과금 두 종류가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수질배출부과금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폐수배출시설을 설치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가동하거나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공공폐수처리시설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공공하수처리시설을 설치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운용 중인 자에게 부과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(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무허가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미신고 시설에도 부과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ko-KR" altLang="en-US" sz="19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기본부과금은 배출허용기준 이하라도 </a:t>
            </a:r>
            <a:r>
              <a:rPr lang="ko-KR" altLang="en-US" sz="19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방류수</a:t>
            </a:r>
            <a:r>
              <a:rPr lang="ko-KR" altLang="en-US" sz="19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수질기준을 초과한 경우 오염물질에 부과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9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기본부과금 부과대상은 유기물질과 부유물질</a:t>
            </a:r>
            <a:endParaRPr lang="en-US" altLang="ko-KR" sz="1900" dirty="0">
              <a:latin typeface="Arial" panose="020B0604020202020204" pitchFamily="34" charset="0"/>
              <a:ea typeface="나눔명조" pitchFamily="18" charset="-127"/>
              <a:cs typeface="Arial" panose="020B0604020202020204" pitchFamily="34" charset="0"/>
            </a:endParaRPr>
          </a:p>
          <a:p>
            <a:pPr lvl="2"/>
            <a:r>
              <a:rPr lang="ko-KR" altLang="en-US" sz="19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초과금은 그 보다 더 많은 </a:t>
            </a:r>
            <a:r>
              <a:rPr lang="en-US" altLang="ko-KR" sz="19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19</a:t>
            </a:r>
            <a:r>
              <a:rPr lang="ko-KR" altLang="en-US" sz="19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종의 물질에 부과</a:t>
            </a:r>
            <a:endParaRPr lang="en-US" altLang="ko-KR" sz="1900" dirty="0">
              <a:latin typeface="Arial" panose="020B0604020202020204" pitchFamily="34" charset="0"/>
              <a:ea typeface="나눔명조" pitchFamily="18" charset="-127"/>
              <a:cs typeface="Arial" panose="020B0604020202020204" pitchFamily="34" charset="0"/>
            </a:endParaRPr>
          </a:p>
          <a:p>
            <a:pPr lvl="2"/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바닥글 개체 틀 4">
            <a:extLst>
              <a:ext uri="{FF2B5EF4-FFF2-40B4-BE49-F238E27FC236}">
                <a16:creationId xmlns:a16="http://schemas.microsoft.com/office/drawing/2014/main" id="{52B2BAA8-AE0A-4544-9E72-CCEA57E5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51203" name="슬라이드 번호 개체 틀 5">
            <a:extLst>
              <a:ext uri="{FF2B5EF4-FFF2-40B4-BE49-F238E27FC236}">
                <a16:creationId xmlns:a16="http://schemas.microsoft.com/office/drawing/2014/main" id="{2DA74E50-6AE5-42AB-BE7F-DAEE800B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7516B9-F8F8-4928-BE0D-70C46FC49D5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5FBF10C-334A-4F97-BBAF-F4CA4CB3C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4032DB2-4ED7-4EBA-AC03-850A84215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937D8ABC-527F-4567-BCA1-D1410977A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6838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51207" name="내용 개체 틀 8">
            <a:extLst>
              <a:ext uri="{FF2B5EF4-FFF2-40B4-BE49-F238E27FC236}">
                <a16:creationId xmlns:a16="http://schemas.microsoft.com/office/drawing/2014/main" id="{47A5D9B0-7830-4749-ADBD-D37617AA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58862"/>
            <a:ext cx="7313612" cy="4740275"/>
          </a:xfrm>
        </p:spPr>
        <p:txBody>
          <a:bodyPr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수질배출부과금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) </a:t>
            </a: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기본부과금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배출허용기준 이내 배출량에 오염물질 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kg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당 부과금액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연도별 산정지수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사업장별 부과계수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지역별 부과계수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방류수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수질기준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초과율별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부과계수 곱해 산정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초과부과금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기준 위반 시 사업장 규모에 따라 특정 금액의 고정액을 부과하고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추가로 오염물질 단위당 부과금액과 누진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계수적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성격의 각종 부과계수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(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배출허용기준초과율별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지역별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위반횟수별 부과계수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)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와 연도별 산정지수 반영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6506894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바닥글 개체 틀 4">
            <a:extLst>
              <a:ext uri="{FF2B5EF4-FFF2-40B4-BE49-F238E27FC236}">
                <a16:creationId xmlns:a16="http://schemas.microsoft.com/office/drawing/2014/main" id="{52B2BAA8-AE0A-4544-9E72-CCEA57E5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51203" name="슬라이드 번호 개체 틀 5">
            <a:extLst>
              <a:ext uri="{FF2B5EF4-FFF2-40B4-BE49-F238E27FC236}">
                <a16:creationId xmlns:a16="http://schemas.microsoft.com/office/drawing/2014/main" id="{2DA74E50-6AE5-42AB-BE7F-DAEE800B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7516B9-F8F8-4928-BE0D-70C46FC49D5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05FBF10C-334A-4F97-BBAF-F4CA4CB3C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4032DB2-4ED7-4EBA-AC03-850A84215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937D8ABC-527F-4567-BCA1-D1410977A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6838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51207" name="내용 개체 틀 8">
            <a:extLst>
              <a:ext uri="{FF2B5EF4-FFF2-40B4-BE49-F238E27FC236}">
                <a16:creationId xmlns:a16="http://schemas.microsoft.com/office/drawing/2014/main" id="{47A5D9B0-7830-4749-ADBD-D37617AA2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1058862"/>
            <a:ext cx="7810954" cy="4740275"/>
          </a:xfrm>
        </p:spPr>
        <p:txBody>
          <a:bodyPr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대기배출부과금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대기배출시설을 설치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가동 중인 자에 부과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(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무허가 및 미신고 배출시설에 대해서도 부과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)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기본부과금 적용대상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황산화물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먼지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질소산화물 대상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초과부과금 적용대상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위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종 외 암모니아를 포함하는 총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9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종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기본부과금과 초과부과금 산정 공식은 수질의 경우와 유사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한국의 배출부과금은 교과서적 배출부과금과 직접규제가 결합된 형태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정부가 미리 정한 배출허용기준 이내의 배출량에 대해 낮은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부과금률을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적용하고 초과분에 대해 더 높은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부과금률을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적용해 기준 준수를 유도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623567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386DACED-48E3-43F2-99BD-CA851706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1FCA9AFD-CEC5-40D1-BA81-F6F4BA0C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62A0C1-2B16-4C1E-A5C0-73EDEC2CF36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080A847-9198-4D6C-9137-08D3F07B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DE80D149-C254-4672-BF10-8DA0ED844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14A385F3-F899-48D0-BD31-7B7459C79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82675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53255" name="내용 개체 틀 8">
            <a:extLst>
              <a:ext uri="{FF2B5EF4-FFF2-40B4-BE49-F238E27FC236}">
                <a16:creationId xmlns:a16="http://schemas.microsoft.com/office/drawing/2014/main" id="{EC0FE05F-6ABF-4A9C-89DA-6DA5514E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378" y="1221760"/>
            <a:ext cx="7313612" cy="4641850"/>
          </a:xfrm>
        </p:spPr>
        <p:txBody>
          <a:bodyPr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경제적 유인제도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재활용부과금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1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1992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년부터 적용하던 폐기물예치금제를 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2002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년부터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생산자책임재활용제도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(ERP)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로 변경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ERP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는 생산자에게 일정량의 재활용의무를 부여하고 이를 이행하지 않을 경우 재활용부과금을 부과함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제품의 설계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생산단계부터 폐기물 발생량을 원천적으로 줄이고 재활용을 확대하려는 시도</a:t>
            </a:r>
            <a:endParaRPr lang="en-US" altLang="ko-KR" sz="2200" dirty="0">
              <a:latin typeface="Arial" panose="020B0604020202020204" pitchFamily="34" charset="0"/>
              <a:ea typeface="나눔명조" pitchFamily="18" charset="-127"/>
              <a:cs typeface="Arial" panose="020B0604020202020204" pitchFamily="34" charset="0"/>
            </a:endParaRPr>
          </a:p>
          <a:p>
            <a:pPr lvl="1"/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의무대상 품목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: 4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개 포장재군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(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종이팩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금속캔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유리병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합성수지포장재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), 9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개 제품군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(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윤활유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전지류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타이어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조명 제품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수산 양식용 부자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곤포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사일리지용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필름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김발장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필름류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제품 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5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종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합성수지 재질의 제품 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15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종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)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2200" dirty="0">
              <a:ea typeface="굴림" panose="020B0600000101010101" pitchFamily="50" charset="-127"/>
            </a:endParaRPr>
          </a:p>
          <a:p>
            <a:pPr lvl="1"/>
            <a:endParaRPr lang="en-US" altLang="ko-KR" sz="2200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386DACED-48E3-43F2-99BD-CA851706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12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1FCA9AFD-CEC5-40D1-BA81-F6F4BA0C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62A0C1-2B16-4C1E-A5C0-73EDEC2CF36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080A847-9198-4D6C-9137-08D3F07B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DE80D149-C254-4672-BF10-8DA0ED844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14A385F3-F899-48D0-BD31-7B7459C79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0"/>
            <a:ext cx="8201025" cy="1082675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 환경정책의 특징</a:t>
            </a:r>
          </a:p>
        </p:txBody>
      </p:sp>
      <p:sp>
        <p:nvSpPr>
          <p:cNvPr id="53255" name="내용 개체 틀 8">
            <a:extLst>
              <a:ext uri="{FF2B5EF4-FFF2-40B4-BE49-F238E27FC236}">
                <a16:creationId xmlns:a16="http://schemas.microsoft.com/office/drawing/2014/main" id="{EC0FE05F-6ABF-4A9C-89DA-6DA5514E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378" y="1221760"/>
            <a:ext cx="7313612" cy="4641850"/>
          </a:xfrm>
        </p:spPr>
        <p:txBody>
          <a:bodyPr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경제적 유인제도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폐기물부담금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1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유해성분이 포함되거나 회수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재활용이 어려운 제품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재료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용기의 제조업자나 수업업자에 부과 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이들 물질의 폐기물 처리 비용을 제조업자와 수입업자에게 부과하고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결국 환경피해를 제품가격에 반영하게 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교과서에서 설명하는 제품부과금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혹은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상품세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 일종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대상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: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살충제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유독물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부동액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껌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1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회용 기저귀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담배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(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전자담배 포함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),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고흡수성수지를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냉매로 사용한 </a:t>
            </a:r>
            <a:r>
              <a:rPr lang="ko-KR" altLang="en-US" sz="2200" dirty="0" err="1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아이스팩</a:t>
            </a:r>
            <a:r>
              <a:rPr lang="en-US" altLang="ko-KR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, </a:t>
            </a:r>
            <a:r>
              <a:rPr lang="ko-KR" altLang="en-US" sz="22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기타 법률에 정해진 플라스틱을 재료로 사용한 제품 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2200" dirty="0">
              <a:ea typeface="굴림" panose="020B0600000101010101" pitchFamily="50" charset="-127"/>
            </a:endParaRPr>
          </a:p>
          <a:p>
            <a:pPr lvl="1"/>
            <a:endParaRPr lang="en-US" altLang="ko-KR" sz="2200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1331919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2610</TotalTime>
  <Words>1610</Words>
  <Application>Microsoft Office PowerPoint</Application>
  <PresentationFormat>화면 슬라이드 쇼(4:3)</PresentationFormat>
  <Paragraphs>252</Paragraphs>
  <Slides>29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굴림</vt:lpstr>
      <vt:lpstr>나눔고딕</vt:lpstr>
      <vt:lpstr>나눔명조</vt:lpstr>
      <vt:lpstr>맑은 고딕</vt:lpstr>
      <vt:lpstr>Arial</vt:lpstr>
      <vt:lpstr>Century Gothic</vt:lpstr>
      <vt:lpstr>Times New Roman</vt:lpstr>
      <vt:lpstr>Verdana</vt:lpstr>
      <vt:lpstr>Wingdings</vt:lpstr>
      <vt:lpstr>Pindyck</vt:lpstr>
      <vt:lpstr>12장 개요</vt:lpstr>
      <vt:lpstr>한국 환경정책의 전개과정 (태동기 1953년~1979년)</vt:lpstr>
      <vt:lpstr>한국 환경정책의 전개과정 (태동기 1953년~1979년)</vt:lpstr>
      <vt:lpstr>한국 환경정책의 전개과정 (태동기 1953년~1979년)</vt:lpstr>
      <vt:lpstr>한국 환경정책의 전개과정 (형성기 1980년대)</vt:lpstr>
      <vt:lpstr>한국 환경정책의 전개과정 (발전기 1990년대 이후)</vt:lpstr>
      <vt:lpstr>한국 환경정책의 전개과정 (발전기 1990년대 이후)</vt:lpstr>
      <vt:lpstr>한국 환경정책의 특징</vt:lpstr>
      <vt:lpstr>환경부 관장 법률</vt:lpstr>
      <vt:lpstr>환경부 관장 법률(계속)</vt:lpstr>
      <vt:lpstr>한국 환경정책의 특징</vt:lpstr>
      <vt:lpstr>한국 환경정책의 특징</vt:lpstr>
      <vt:lpstr>한국 환경정책의 특징</vt:lpstr>
      <vt:lpstr>PowerPoint 프레젠테이션</vt:lpstr>
      <vt:lpstr>한국 환경정책의 특징</vt:lpstr>
      <vt:lpstr>PowerPoint 프레젠테이션</vt:lpstr>
      <vt:lpstr>한국 환경정책의 특징</vt:lpstr>
      <vt:lpstr>PowerPoint 프레젠테이션</vt:lpstr>
      <vt:lpstr>한국 환경정책의 특징</vt:lpstr>
      <vt:lpstr>PowerPoint 프레젠테이션</vt:lpstr>
      <vt:lpstr>한국 환경정책의 특징</vt:lpstr>
      <vt:lpstr>PowerPoint 프레젠테이션</vt:lpstr>
      <vt:lpstr>한국 환경정책의 특징</vt:lpstr>
      <vt:lpstr>한국 환경정책의 특징</vt:lpstr>
      <vt:lpstr>한국 환경정책의 특징</vt:lpstr>
      <vt:lpstr>한국 환경정책의 특징</vt:lpstr>
      <vt:lpstr>한국 환경정책의 특징</vt:lpstr>
      <vt:lpstr>한국 환경정책의 특징</vt:lpstr>
      <vt:lpstr>한국 환경정책의 특징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224</cp:revision>
  <dcterms:created xsi:type="dcterms:W3CDTF">1997-07-14T00:22:12Z</dcterms:created>
  <dcterms:modified xsi:type="dcterms:W3CDTF">2025-02-18T23:37:32Z</dcterms:modified>
</cp:coreProperties>
</file>