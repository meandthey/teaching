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2"/>
  </p:notesMasterIdLst>
  <p:handoutMasterIdLst>
    <p:handoutMasterId r:id="rId43"/>
  </p:handoutMasterIdLst>
  <p:sldIdLst>
    <p:sldId id="262" r:id="rId2"/>
    <p:sldId id="345" r:id="rId3"/>
    <p:sldId id="366" r:id="rId4"/>
    <p:sldId id="367" r:id="rId5"/>
    <p:sldId id="368" r:id="rId6"/>
    <p:sldId id="369" r:id="rId7"/>
    <p:sldId id="370" r:id="rId8"/>
    <p:sldId id="372" r:id="rId9"/>
    <p:sldId id="373" r:id="rId10"/>
    <p:sldId id="374" r:id="rId11"/>
    <p:sldId id="392" r:id="rId12"/>
    <p:sldId id="375" r:id="rId13"/>
    <p:sldId id="376" r:id="rId14"/>
    <p:sldId id="377" r:id="rId15"/>
    <p:sldId id="378" r:id="rId16"/>
    <p:sldId id="379" r:id="rId17"/>
    <p:sldId id="393" r:id="rId18"/>
    <p:sldId id="394" r:id="rId19"/>
    <p:sldId id="395" r:id="rId20"/>
    <p:sldId id="396" r:id="rId21"/>
    <p:sldId id="381" r:id="rId22"/>
    <p:sldId id="382" r:id="rId23"/>
    <p:sldId id="397" r:id="rId24"/>
    <p:sldId id="398" r:id="rId25"/>
    <p:sldId id="399" r:id="rId26"/>
    <p:sldId id="400" r:id="rId27"/>
    <p:sldId id="401" r:id="rId28"/>
    <p:sldId id="388" r:id="rId29"/>
    <p:sldId id="402" r:id="rId30"/>
    <p:sldId id="403" r:id="rId31"/>
    <p:sldId id="404" r:id="rId32"/>
    <p:sldId id="405" r:id="rId33"/>
    <p:sldId id="406" r:id="rId34"/>
    <p:sldId id="391" r:id="rId35"/>
    <p:sldId id="407" r:id="rId36"/>
    <p:sldId id="408" r:id="rId37"/>
    <p:sldId id="409" r:id="rId38"/>
    <p:sldId id="410" r:id="rId39"/>
    <p:sldId id="411" r:id="rId40"/>
    <p:sldId id="412" r:id="rId41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1" autoAdjust="0"/>
    <p:restoredTop sz="94792" autoAdjust="0"/>
  </p:normalViewPr>
  <p:slideViewPr>
    <p:cSldViewPr snapToGrid="0">
      <p:cViewPr varScale="1">
        <p:scale>
          <a:sx n="88" d="100"/>
          <a:sy n="88" d="100"/>
        </p:scale>
        <p:origin x="8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56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38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2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858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3103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8376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494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82807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6648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5057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508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063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33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  <a:endParaRPr lang="ko-KR" alt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3D88C-F283-4DFD-B6E9-777141F40EE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82605-C09F-4544-9B81-2F56FE266C5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D5024-7338-45CC-BB31-928E950BA5F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64A74-1AE9-4FD3-94A5-EF4EEBDA251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275EF-1B6A-42E5-B8F1-5AA6F0A9DFF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C734E-6630-4920-BB29-984298C0056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EC5B2-8F25-406D-BD55-377CF2A86C4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970F3-B04F-4ACB-8602-AA3AD699195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A9D41-26F3-4D7E-93BD-3A840401731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EE86D-89F1-4D5F-A520-11DB88B2D48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2150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813F6B62-1182-4CFC-BAB1-F3F3102431C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18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/>
          <p:cNvSpPr>
            <a:spLocks noGrp="1" noChangeArrowheads="1"/>
          </p:cNvSpPr>
          <p:nvPr>
            <p:ph idx="1"/>
          </p:nvPr>
        </p:nvSpPr>
        <p:spPr>
          <a:xfrm>
            <a:off x="3417431" y="2822968"/>
            <a:ext cx="5368802" cy="2279845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환경정책비용의 종류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직접비용의 계측방법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간접비용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오염규제와 독점화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43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9E3A11-E60D-4887-9622-77BEA1A5EACC}" type="slidenum">
              <a:rPr lang="ko-KR" altLang="en-US" smtClean="0"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3550" y="-286603"/>
            <a:ext cx="8301038" cy="143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18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비용분석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46008" y="1611905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경제학에서 비용은 회계적 비용이 아니라 기회비용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환경정책의 비용 역시 사회적 기회비용으로 계산되어야 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환경정책이 시행되면서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직접비용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(explicit cost)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(implicit cost)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 발생함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정부가 탈황시설을 요구하는 경우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직접비용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발전소 설치비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운영비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정부 감독비용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탈황시설로 지불한 비용을 다른 용도로 쓰지 못하므로 생산성이 떨어짐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2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환경정책비용의 종류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46008" y="1680144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간접비용은 특히 적절히 반영되는 것이 어려움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직접비용은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설치비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(capital cost)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와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운영비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(operating cost)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로 분류 할 수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설치비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오염저감을 위해 설치하는 공장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설비에 지출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일종의 고정비로서 생산량이나 오염물질 배출량이 변하여도 설치비 자체는 변하지 않음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운영비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설치된 저감시설을 작동 유지하는 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일종의 가변비용으로 생산량이나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저감량에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따라 달라짐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환경정책비용의 종류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61781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직접비용은 경제를 구성하는 부문별로 분리할 수도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직접비용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+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규제 및 감시비용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+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기술개발비용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저감하기 위해 직접 지출한 비용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규제 및 감시비용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환경정책을 입안하고 실행하는 행정당국이 이를 위해 지출하는 비용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기술개발비용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저감 관련 기술을 개발하기 위해 지출하는 비용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직접비용을 위와 같이 분류하면 환경정책의 각 비용 가운데 민간과 정부조직의 부담 비율을 파악할 수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4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환경정책비용의 종류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20837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정부가 먼저 관계된 공학자와 과학자들에게 요청하여 정부가 정한 규제수준을 오염원이 달성하기 위해 사용할 수 있는 여러 방법을 실행하는 데 필요한 모든 장비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노동력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투입물의 사용량을 계산해 내도록 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목표를 달성 할 수 있는 여러 투입물의 조합과 각 조합의 선택 시 소요되는 설치비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운영비를 모두 계산함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비용이 가장 적은 조합을 찾아내고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전체 오염원에게 가져다 주는 비용을 추정하기 위해 각 오염원의 최소 저감비용을 모두 더함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5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공학적 방법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89076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공학적 방법의 문제점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: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미래의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투입물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가격이나 기타 경제적 변수의 불확실한 변화를 고려하기 어려움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현 수준에서 이용 가능한 기술수준과 경비만 고려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현실 오염원의 다양한 기술조건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규제여건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시장조건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등을 고려하기 어려움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이용 가능한 저감기술 가운데 최소의 저감비용을 필요로 하는 기술을 찾아내는 방법이므로 오염원들이 실제로 자신의 저감비용을 최소화하도록 의사결정을 한다고 전제함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그러나 오염원은 각자가 처한 경영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기술상 형편으로 인해 반드시 공학자가 예상하는 저감기술을 선택하지 않음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이럴 경우 환경정책 비용이 과소평가 될 수 있음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6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공학적 방법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598258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오염원을 대상으로 설문조사를 실행하여 이들이 목표저감수준을 달성하기 위해 지불해야 하는 비용을 조사함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광범위한 오염원들의 저감 비용에 대한 공학적 분석이 힘들 경우 유용한 방법이 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하지만 설문조사법 역시 단점이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실제로 소요되는 비용을 오염원이 정확히 모를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정보가 비대칭적인 상황에서 오염원들은 전략적으로 행동하려는 동기를 가지기 때문에 의도적으로 과소평가하거나 과대평가된 저감비용을 대답할 가능성이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7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설문조사법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20837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정부가 정한 배출 상한이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주어져 있고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R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은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오염원별로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혹은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시점별로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서로 다르다고 가정함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오염원이 사용하는 각종 투입물의 시장가격을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···,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N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이라 하고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오염원이 정부규제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하에서 특정 수준의 제품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y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생산한다고 가정함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경우 오염원은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y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생산하기 위해 비용을 최소화하는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투입물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결합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···,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N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선택함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오염원이 비용을 최소화하기 위해 노력할 때 달성되는 최소의 비용을 투입물의 시장가격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규제수준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생산량의 함수로  나타내는 것을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비용함수</a:t>
            </a:r>
            <a:r>
              <a:rPr lang="en-US" altLang="ko-KR" sz="24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(cost function)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 부르며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c(w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,···,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N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y, R)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나타냄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8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759657" y="0"/>
            <a:ext cx="790968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생산경제학모형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59656" y="1420837"/>
                <a:ext cx="8046208" cy="4965895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시간적 혹은 공간적 차이로 인해 각기 다른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투입물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가격과 배출상한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생산량 등을 접하는 오염원들이 실제로 선택한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투입물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조합에 대한 정보를 구할 수 있을 경우 이들 자료를 이용하여 비용함수를 통계적으로 추정할 수 있음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배출규제가 강화될수록 동일한 산출물 생산에 소요되는 비용이 증가할 것이므로 비용함수 값은 통상적으로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배출상한이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늘어나면서 줄어들 것임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만약 규제 수준이 한 단위 더 강화된다면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비용이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,⋅⋅⋅,</m:t>
                            </m:r>
                            <m:sSub>
                              <m:sSubPr>
                                <m:ctrlP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ko-KR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ko-KR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만큼 늘어날 것이고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이것이 바로 오염원의 한계저감비용임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656" y="1420837"/>
                <a:ext cx="8046208" cy="4965895"/>
              </a:xfrm>
              <a:blipFill>
                <a:blip r:embed="rId3"/>
                <a:stretch>
                  <a:fillRect l="-985" t="-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9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854243" y="0"/>
            <a:ext cx="7815096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생산경제학모형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352598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골롭과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로버츠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Gollop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and Roberts, 1985)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비용함수를 </a:t>
            </a:r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사용하여 한계저감비용을 추정한연구</a:t>
            </a:r>
            <a:endParaRPr lang="en-US" altLang="ko-KR" sz="2400" dirty="0">
              <a:latin typeface="나눔명조" panose="02020603020101020101" pitchFamily="18" charset="-127"/>
              <a:ea typeface="나눔명조" panose="02020603020101020101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미국 화력발전소에 대해 적용되는 아황산가스 배출 상한이 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톤 줄어들 경우 발전소 별로 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141~1,226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달러의 비용이 추가 소요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  <a:cs typeface="Times New Roman" pitchFamily="18" charset="0"/>
              </a:rPr>
              <a:t>생산경제학모형 역시 몇 가지 단점이 있음</a:t>
            </a:r>
            <a:endParaRPr lang="en-US" altLang="ko-KR" sz="2400" dirty="0">
              <a:latin typeface="나눔명조" panose="02020603020101020101" pitchFamily="18" charset="-127"/>
              <a:ea typeface="나눔명조" panose="02020603020101020101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정부의 규제수준이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외생적으로 결정되고 이러한 규제수준을 오염원이 정확히 준수하고 있다는 가정 하에서만 사용가능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규제수준이 심하게 강화될 경우 정확한 저감비용계산이 힘듦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2"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규제가 훨씬 강해질 경우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완전히 다른 생산기술을 사용해야 함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2" eaLnBrk="1" hangingPunct="1"/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배출상한이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18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18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으로 줄어 들 때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18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*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이하로 저감하기 위해서  대규모 시설을 설치해야 하고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한계저감비용은 불연속적으로 변함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2"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경우 공학적 방법이나 설문조사법이 더 타당할 것임 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10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E429A47-FBE3-4899-B08C-4CA28557B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43" y="0"/>
            <a:ext cx="781509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생산경제학모형</a:t>
            </a:r>
            <a:endParaRPr lang="ko-KR" altLang="en-US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11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7E249AA-CE52-42E9-B6DA-CA83D058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43" y="0"/>
            <a:ext cx="781509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직접비용의 계측방법</a:t>
            </a:r>
            <a:r>
              <a:rPr lang="en-US" altLang="ko-KR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생산경제학모형</a:t>
            </a:r>
            <a:endParaRPr lang="ko-KR" altLang="en-US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24E91B8-349A-43C3-9699-7B1B0BF51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08947"/>
            <a:ext cx="7577646" cy="380805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51128" y="313898"/>
            <a:ext cx="6480907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화력발전소의 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대기오염물질 한계 저감비용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411" name="Rectangle 1029"/>
          <p:cNvSpPr>
            <a:spLocks noGrp="1" noChangeArrowheads="1"/>
          </p:cNvSpPr>
          <p:nvPr>
            <p:ph idx="1"/>
          </p:nvPr>
        </p:nvSpPr>
        <p:spPr>
          <a:xfrm>
            <a:off x="873457" y="1733265"/>
            <a:ext cx="7632747" cy="4899547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화력발전소는 주요 대기오염원 가운데 하나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그러나 많은 경우 발전소 별 배출량 상한이 존재하지 않고 주로 사용가능한 연료의 종류를 제한하는 방식을 통해 배출량 조절을 추구하므로 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골롭과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로버츠가 개발한 배출상한 제약하의 비용함수 추정방법을 사용하기에는 무리가 있음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페어와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그 동료들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(Fare et al., 1993, 2005)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은 생산경제학적 접근법에 입각하되 배출상한이 존재하지 않아도 실제 오염물질 배출량과 투입요소 사용량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생산량 등을 이용하여 한계저감 비용을 추정할 수 있는 방법을 제시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 세계 여러 국가에서 실증 분석에 사용됨</a:t>
            </a:r>
          </a:p>
          <a:p>
            <a:pPr eaLnBrk="1" hangingPunct="1"/>
            <a:r>
              <a:rPr lang="ko-KR" altLang="en-US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산출물거리함수</a:t>
            </a:r>
            <a:r>
              <a:rPr lang="en-US" altLang="ko-KR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(output distance </a:t>
            </a:r>
            <a:r>
              <a:rPr lang="en-US" altLang="ko-KR" sz="2000" b="1" dirty="0" err="1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fuction</a:t>
            </a:r>
            <a:r>
              <a:rPr lang="en-US" altLang="ko-KR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라는 생산경제학적 개념을 사용하며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동일 투입요소 사용량을 유지하는 상태에서 대기오염물질을 한 단위 더 줄일 경우 줄어드는 전력 생산의 가치를 통계적으로 구하여 이를 한계저감비용으로 간주함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2514" y="1658202"/>
                <a:ext cx="7632747" cy="489954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</a:rPr>
                  <a:t>페어 외의 방법을 한국 화력발전소에 적용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</a:rPr>
                  <a:t>(Kwon and Yun, 1999)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분석대상 연도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: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1990~1995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년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톤당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저감비용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: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아황산가스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31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만원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이산화질소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14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만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7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천원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,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부유분진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1,548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만원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이산화탄소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3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천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8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백원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통계분석 별과 한국 화력발전소의 한계저감비용이 발전소 별로 큰 차이를 보였으며 비용 효과성이 달성된다고 보기 어렵다고 결론을 도출함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Times New Roman" pitchFamily="18" charset="0"/>
                    <a:ea typeface="나눔명조" pitchFamily="18" charset="-127"/>
                  </a:rPr>
                  <a:t>배출권거래제와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 같은 경제적 유인제도 도입을 포함하는 제도개선이 있을 경우 대기오염관리비용을 줄일 수 있음을 의미</a:t>
                </a:r>
                <a:endParaRPr lang="en-US" altLang="ko-KR" sz="16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유사한 분석을 한 권오상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·</a:t>
                </a:r>
                <a:r>
                  <a:rPr lang="ko-KR" altLang="en-US" sz="1600" dirty="0" err="1">
                    <a:latin typeface="Times New Roman" pitchFamily="18" charset="0"/>
                    <a:ea typeface="나눔명조" pitchFamily="18" charset="-127"/>
                  </a:rPr>
                  <a:t>박호정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(2010)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의 연구는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LNG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를 연료로 사용하는 발전소의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𝐶𝑂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한계저감비용은 톤당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9,000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원 정도임에 반해 비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LNG 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화력발전소의 한계저감비용은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</a:rPr>
                  <a:t>46,000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</a:rPr>
                  <a:t>원에 달해 역시 등한계원칙이 성립하지 않음을 보임</a:t>
                </a:r>
                <a:endParaRPr lang="en-US" altLang="ko-KR" sz="1600" dirty="0">
                  <a:latin typeface="Times New Roman" pitchFamily="18" charset="0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74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2514" y="1658202"/>
                <a:ext cx="7632747" cy="4899547"/>
              </a:xfrm>
              <a:blipFill>
                <a:blip r:embed="rId2"/>
                <a:stretch>
                  <a:fillRect l="-1118" t="-13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13</a:t>
            </a:fld>
            <a:endParaRPr lang="en-US" altLang="ko-KR"/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51128" y="313898"/>
            <a:ext cx="833878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한국 화력발전소의 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대기오염물질 한계 저감비용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20837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환경정책은 경우에 따라서 각 경제주체가 현재보다 자원을 더 효율적으로 사용토록 함으로써 오히려 국가의 부를 증대시키기도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경우에는 환경정책 비용은 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(-)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간접비용을 유발하기 때문에 직접비용만을 계산할 경우 환경정책비용을 과대평가하게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이런 예는 주로 에너지 사용과 관련해서 자주 발생함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자동차의 대기오염물질 배출을 줄이도록 입법하면 에너지 효율이 상승하고 에너지 소비량이 줄어들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환경정화사업이나 산림관리사업에 실업자를 고용하여 임금을 지불하면 환경개선사업효과와 실업수당 지출을 줄일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14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자원이용의 효율성 증대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420837"/>
            <a:ext cx="8046208" cy="4965895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생산성 변화는 투입요소 사용량 증대에 비해 산출물의 생산량 증대가 상대적으로 어느 정도로 빨리 이루어지느냐를 나타내는 지표</a:t>
            </a:r>
            <a:endParaRPr lang="en-US" altLang="ko-KR" sz="27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오염규제나 환경정책이 생산성 증대를 저해할 것이라는 주장은 다음 세가지 가설에 기초</a:t>
            </a:r>
            <a:endParaRPr lang="en-US" altLang="ko-KR" sz="2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오염규제로 비용이 증가하고 이 비용만큼 다른 생산성 향상을 위한 투자액이 감소하게 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에너지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원료물질 가격이 상승하고 산업의 생산비가 연쇄적으로 증가함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오염규제가 강화될 경우 기업은 많은 간섭과 규제 하에 놓이게 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규제준수와 관련된 추가업무가 늘어나 기업경제활동이 위축됨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None/>
            </a:pP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15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18713" y="1514902"/>
            <a:ext cx="8046208" cy="5172081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</a:rPr>
              <a:t>포터가설</a:t>
            </a:r>
            <a:r>
              <a:rPr lang="en-US" altLang="ko-KR" sz="28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</a:rPr>
              <a:t>(</a:t>
            </a:r>
            <a:r>
              <a:rPr lang="en-US" altLang="ko-KR" sz="2800" b="1" dirty="0" err="1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</a:rPr>
              <a:t>Poter</a:t>
            </a:r>
            <a:r>
              <a:rPr lang="en-US" altLang="ko-KR" sz="28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</a:rPr>
              <a:t> hypothesis)</a:t>
            </a:r>
            <a:r>
              <a:rPr lang="ko-KR" altLang="en-US" sz="2800" dirty="0">
                <a:latin typeface="Times New Roman" pitchFamily="18" charset="0"/>
                <a:ea typeface="나눔명조" pitchFamily="18" charset="-127"/>
              </a:rPr>
              <a:t>은 환경규제가 오히려 기업생산성을 증가 시킬 수 있다고 함</a:t>
            </a:r>
            <a:endParaRPr lang="en-US" altLang="ko-KR" sz="2800" dirty="0">
              <a:latin typeface="Times New Roman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</a:rPr>
              <a:t>규제가 강력할수록 신기술 개발 동기가 커지고 오염규제가 강한 지역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</a:rPr>
              <a:t>국가의 기업일수록 높은 생산력과 경쟁력을 가짐</a:t>
            </a:r>
            <a:endParaRPr lang="en-US" altLang="ko-KR" sz="2400" dirty="0">
              <a:latin typeface="Times New Roman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</a:rPr>
              <a:t>오염물질 저감장치나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</a:rPr>
              <a:t>기술을 판매하는 기업은 수익성이 높아지고 경쟁력도 향상됨</a:t>
            </a:r>
            <a:endParaRPr lang="en-US" altLang="ko-KR" sz="2400" dirty="0">
              <a:latin typeface="Times New Roman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기업의 생산행위에 있어 유익한 혁신이 되는 생산방법이 어떤 이유로 인해 그동안 간과되어 왔다가 강화된 오염규제로 인해 기업이 이러한 혁신에 관심을 가지게 되면서 생산성 증대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16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E4C4E-876C-4F58-9C71-1C7A998CC27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포터가설의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C294E-2262-4087-8904-48D24AC23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401" y="1536543"/>
            <a:ext cx="7313612" cy="4114800"/>
          </a:xfrm>
        </p:spPr>
        <p:txBody>
          <a:bodyPr/>
          <a:lstStyle/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포터가설이 실제 자료에 의해 뒷받침되는지를 통계적으로 검증하려는 연구가 전 세계 여러 경제와 산업에 대해 시행되었음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개별 연구들은 관련하여 정반대의 결론을 보여주기도 하였기 때문에 기존 연구들을 종합하여 어떤 시사점을 찾으려는 노력도 시행되었음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코헨과 튜브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(Cohen and Tubb, 2018)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의 연구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총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107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편의 연구가 획득한 환경규제와 생산성 간의 관계 추정치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2,000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여 개를 메타분석법을 이용해 분석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생산성관련 변수로는 기업이나 산업의 경우 산출수준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생산성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주식가격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자산가치 등이 사용되었고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지역이나 국가의 경우 국제교역량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GDP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성장률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고용수준 등이 사용됨</a:t>
            </a: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환경규제수준으로는 직접규제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배출부과금제나 </a:t>
            </a:r>
            <a:r>
              <a:rPr lang="ko-KR" altLang="en-US" sz="16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배출권거래제와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같은 신축적인 규제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규제준수비용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심지어 주관적인 규제강도 등이 변수로 사용됨 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 대상오염물질도 전체 오염물질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수질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대기질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온실가스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폐기물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에너지 효율성 등으로 다양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FD5F29-24EB-4434-8CB5-1760758A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05B9E9-7FBC-4E46-886A-66AA7358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3392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E4C4E-876C-4F58-9C71-1C7A998CC27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포터가설의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C294E-2262-4087-8904-48D24AC23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013" y="1615266"/>
            <a:ext cx="7313612" cy="4114800"/>
          </a:xfrm>
        </p:spPr>
        <p:txBody>
          <a:bodyPr/>
          <a:lstStyle/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코헨과 튜브는 결론적으로 기존의 실증분석들이 내린 결론이 엇갈려 많은 경우에 있어서 규제수준과 생산성사이의 상관성이 양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(+)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인지 음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(-)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인지 통계적인 결론을 내리기 어렵다고 주장함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다만 개별 기업이나 산업의 경우에는 규제가 생산성은 낮추는 쪽으로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지역이나 국가 수준에서는 높이는 쪽으로 통계적으로 유의하게 나타나고 있어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포터의 원래 주장이 국가나 지역단위의 생산성 효과를 강조하는 것이었기 때문에 가설을 어느 정도 뒷받침한다는 결론을 내림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비록 미약하지만 직접규제보다는 신축적인 규제가 생산성에 도움이 될 가능성이 높고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규제가 시차를 두고 동태적으로 생산성에 미치는 영향을 분석할수록 생산성을 높이는 쪽으로 작동할 가능성이 높다는 것도 발견함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FD5F29-24EB-4434-8CB5-1760758A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05B9E9-7FBC-4E46-886A-66AA7358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1064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18713" y="1514902"/>
            <a:ext cx="8046208" cy="5172081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코헨과 튜브의 연구는 개별 기업이나 산업보다는 국가나 지역단위에서 포터가설이 성립할 확률이 높다고 하였음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사실 개별기업의 경우 누가 더 강한 환경규제 하에 있는지를 지표로 나타내기가 쉽지 않음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특정 시점에 있어 모든 기업은 대체로 동일한 규제를 받고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시간이 지나면서 규제 강도가 달라지는 정도도 심하지가 않아 규제강도가 높아지는 것을 변수로 나타내기 어려운 문제가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19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</a:p>
        </p:txBody>
      </p:sp>
    </p:spTree>
    <p:extLst>
      <p:ext uri="{BB962C8B-B14F-4D97-AF65-F5344CB8AC3E}">
        <p14:creationId xmlns:p14="http://schemas.microsoft.com/office/powerpoint/2010/main" val="407247188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640592" y="1212120"/>
            <a:ext cx="8046208" cy="5172081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그린스톤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(Greenstone et al., 2012)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실증분석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개별 생산설비별 환경규제 차이가 생산성에 미치는 영향 분석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1972~1993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년간 미국의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만 개 생산설비의 자료를 이용해 일산화탄소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아황산가스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총먼지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(TSP)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대한 규제가 생산성에 미치는 영향을 분석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1970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 대기관리법을 통해 전국에서 이 네 가지 물질 오염도가 달성해야 할 기준을 설정하고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이를 달성하는 카운티와 달성하지 못하는 카운티를 구분함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달성여부는 오염물질별로 지정되며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달성하지 못하는 지역에 속한 생산설비들은 훨씬 강한 직접규제 대상이 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주로 인구밀집지역의 설비들이 기준미달지역의 설비로 지정되어 강한 규제를 받았고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시간이 지나면서 기준미달지역의 오염도개선이 상대적으로 더 크게 이루어짐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제도 때문에 각 설비별로 특정 오염물질의 직접규제대상인지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아닌지가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결정되고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또한 이는 연도별로도 변하기 때문에 규제강도의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설비별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차이가 자료로 관측이 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20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</a:p>
        </p:txBody>
      </p:sp>
    </p:spTree>
    <p:extLst>
      <p:ext uri="{BB962C8B-B14F-4D97-AF65-F5344CB8AC3E}">
        <p14:creationId xmlns:p14="http://schemas.microsoft.com/office/powerpoint/2010/main" val="3721703275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542196" y="0"/>
            <a:ext cx="8256896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en-US" altLang="ko-KR" dirty="0">
              <a:solidFill>
                <a:srgbClr val="0070C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50878" y="1405718"/>
                <a:ext cx="7632747" cy="489954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분석을 시행함에 앞서 생산성에 대한 명확한 정의 필요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생산성은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투입물대비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산출량을 의미함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생산은 통상 여러 가지 투입물을 사용하므로 이들 다수의 투입물을 어떻게 합해 하나의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투입물지수로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만들지가 문제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산출을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투입을 모두 통합한 총투입을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라 하면 생산성은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𝑇𝐹𝑃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가 되어야함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이 생산성은 모든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투입물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사용량을 감안한 것이라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총요소생산성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(total factor productivity,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𝑻𝑭𝑷</m:t>
                    </m:r>
                  </m:oMath>
                </a14:m>
                <a:r>
                  <a:rPr lang="en-US" altLang="ko-KR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이라고 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생산성변화율은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𝑇𝐹𝑃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의 변화율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−[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]</m:t>
                      </m:r>
                    </m:oMath>
                  </m:oMathPara>
                </a14:m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를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구축하는 데에 있어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서로 이질적인 투입요소들을 잘못 통합하면 생산기술 특성을 왜곡하게 되고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생산자의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비용최소화나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이윤극대화 행위와 맞지 않는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</a:rPr>
                  <a:t>총투입수량지수를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</a:rPr>
                  <a:t> 얻게 되는 문제가 발생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74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8" y="1405718"/>
                <a:ext cx="7632747" cy="4899547"/>
              </a:xfrm>
              <a:blipFill>
                <a:blip r:embed="rId2"/>
                <a:stretch>
                  <a:fillRect l="-719" t="-9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23583" y="1569492"/>
                <a:ext cx="7632747" cy="489954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Cambria Math" panose="02040503050406030204" pitchFamily="18" charset="0"/>
                    <a:ea typeface="나눔명조" pitchFamily="18" charset="-127"/>
                  </a:rPr>
                  <a:t>투입물 가짓수가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2000" dirty="0">
                    <a:latin typeface="Cambria Math" panose="02040503050406030204" pitchFamily="18" charset="0"/>
                    <a:ea typeface="나눔명조" pitchFamily="18" charset="-127"/>
                  </a:rPr>
                  <a:t>이라 할때</a:t>
                </a:r>
                <a:r>
                  <a:rPr lang="en-US" altLang="ko-KR" sz="20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Cambria Math" panose="02040503050406030204" pitchFamily="18" charset="0"/>
                    <a:ea typeface="나눔명조" pitchFamily="18" charset="-127"/>
                  </a:rPr>
                  <a:t>생산기술특성을 불필요하게 제약하지 않으면서 생산자행위와 일치하는 생산성변화율로 가장 많이 사용되는 것은 다음과 같음</a:t>
                </a:r>
                <a:endParaRPr lang="en-US" altLang="ko-KR" sz="2000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bar>
                            <m:barPr>
                              <m:pos m:val="top"/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ba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){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bar>
                    <m:d>
                      <m:dPr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연도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째 투입요소가 생산비에서 차지하는 비중의 평균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각 투입요소가 생산비에서 차지하는 비중을 가중치로 하여 평가한 투입요소 사용량의 가중합이 시간이 지나면서 변하는 것을 산출물이 증가하는 비율에서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</a:rPr>
                  <a:t>빼줌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bar>
                          <m:barPr>
                            <m:pos m:val="top"/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){</m:t>
                        </m:r>
                        <m:func>
                          <m:func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func>
                          <m:func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𝑖𝑡</m:t>
                            </m:r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nary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와 같이 계산한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</a:rPr>
                  <a:t>투입물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 증가율지수를 </a:t>
                </a:r>
                <a:r>
                  <a:rPr lang="ko-KR" altLang="en-US" sz="1800" b="1" dirty="0" err="1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퇸크비스트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(</a:t>
                </a:r>
                <a:r>
                  <a:rPr lang="en-US" altLang="ko-KR" sz="1800" b="1" dirty="0" err="1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Törnqvist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) </a:t>
                </a:r>
                <a:r>
                  <a:rPr lang="ko-KR" altLang="en-US" sz="1800" b="1" dirty="0" err="1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</a:rPr>
                  <a:t>투입물지수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</a:rPr>
                  <a:t>라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</a:rPr>
                  <a:t> 부름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600" dirty="0">
                  <a:latin typeface="Times New Roman" pitchFamily="18" charset="0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74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583" y="1569492"/>
                <a:ext cx="7632747" cy="4899547"/>
              </a:xfrm>
              <a:blipFill>
                <a:blip r:embed="rId2"/>
                <a:stretch>
                  <a:fillRect l="-719" t="-8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22</a:t>
            </a:fld>
            <a:endParaRPr lang="en-US" altLang="ko-KR"/>
          </a:p>
        </p:txBody>
      </p:sp>
      <p:sp>
        <p:nvSpPr>
          <p:cNvPr id="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542196" y="0"/>
            <a:ext cx="8256896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C0874-5F1E-49FE-8C30-1A943BDE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845" y="1591043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그린스톤 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(Greenstone et al., 2012)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연구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그린스톤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외가 실시한 회귀분석은 다음과 같음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3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𝑛𝑜𝑐𝑎𝑎𝑎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𝑐𝑝𝑡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𝑝𝑜𝑙𝑙𝑖𝑛𝑑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𝑛𝑜𝑐𝑎𝑎𝑎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𝑐𝑝𝑡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𝑝𝑜𝑙𝑙𝑖𝑛𝑑</m:t>
                              </m:r>
                            </m:e>
                            <m:sub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]</m:t>
                          </m:r>
                        </m:e>
                      </m:nary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altLang="ko-KR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𝜂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𝑗𝑡</m:t>
                          </m:r>
                        </m:sub>
                      </m:sSub>
                    </m:oMath>
                  </m:oMathPara>
                </a14:m>
                <a:endParaRPr lang="en-US" altLang="ko-KR" sz="13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오염물질종류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𝑐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카운티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𝑗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생산설비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시간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𝑛𝑜𝑐𝑎𝑎𝑎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𝑐𝑝𝑡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시점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있어 기업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𝑗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속한 카운티가 오염물질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기준미달지역이면 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 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아니면 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  <a:endParaRPr lang="en-US" altLang="ko-KR" sz="1600" b="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𝑝𝑜𝑙𝑙𝑖𝑛𝑑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𝑗𝑝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설비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𝑗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오염물질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집약적이어서 규제대상일 경우 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 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아니면 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그 외 지리적 특성을 나타내는 변수들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:r>
                  <a:rPr lang="ko-KR" altLang="en-US" sz="17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설비별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기타 고유특성을 반영하는 확률변수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역시 회귀분석을 실행하기 위한 확률변수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845" y="1591043"/>
                <a:ext cx="7313612" cy="4114800"/>
              </a:xfrm>
              <a:blipFill>
                <a:blip r:embed="rId2"/>
                <a:stretch>
                  <a:fillRect l="-1167" t="-1185" r="-250" b="-4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590624-A9FA-4AAB-8C54-5E50BB9A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B71F4-C8F0-4379-B764-3CDD436F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3089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C0874-5F1E-49FE-8C30-1A943BDE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3123" y="1554709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그린스톤 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(Greenstone et al., 2012)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연구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3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𝑛𝑜𝑐𝑎𝑎𝑎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𝑐𝑝𝑡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𝑝𝑜𝑙𝑙𝑖𝑛𝑑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𝑛𝑜𝑐𝑎𝑎𝑎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𝑐𝑝𝑡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𝑝𝑜𝑙𝑙𝑖𝑛𝑑</m:t>
                              </m:r>
                            </m:e>
                            <m:sub>
                              <m:r>
                                <a:rPr lang="en-US" altLang="ko-KR" sz="13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𝑗𝑝</m:t>
                              </m:r>
                            </m:sub>
                          </m:s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]</m:t>
                          </m:r>
                        </m:e>
                      </m:nary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altLang="ko-KR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𝜂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13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𝑗𝑡</m:t>
                          </m:r>
                        </m:sub>
                      </m:sSub>
                    </m:oMath>
                  </m:oMathPara>
                </a14:m>
                <a:endParaRPr lang="en-US" altLang="ko-KR" sz="13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분석의 핵심은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𝛾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오염물질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기준미달지역에 위치하면서 동시에 오염물질 집약적 설비라서 다른 설비에 비해 강한 규제 하에 있으면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𝑛𝑜𝑐𝑎𝑎𝑎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𝑐𝑝𝑡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𝑝𝑜𝑙𝑙𝑖𝑛𝑑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𝑗𝑝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값을 가짐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𝛾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기업이 오염물질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기준미달지역에 위치하고 오염물질 집약적이라 다른 기업보다 더 강한 규제 하에 있을 때 생산성변화율이 어떻게 달라지는지를 나타냄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3123" y="1554709"/>
                <a:ext cx="7313612" cy="4114800"/>
              </a:xfrm>
              <a:blipFill>
                <a:blip r:embed="rId2"/>
                <a:stretch>
                  <a:fillRect l="-1167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590624-A9FA-4AAB-8C54-5E50BB9A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2366" y="62484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Chapter 18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B71F4-C8F0-4379-B764-3CDD436F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1507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C0874-5F1E-49FE-8C30-1A943BDE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194" y="1542599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그린스톤 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(Greenstone et al., 2012)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연구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marL="800100" lvl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그린스톤의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분석에 의하면 모든 오염물질에 대한 규제를 통합하여 판단하면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𝛾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값이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–0.026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이어서 강한 규제 하에 놓인 설비는 평균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2.6%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생산성 감소를 경험함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1200150" lvl="2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이는 금액으로 환산하면 연간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200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억 달러에 달할 수도 있는 큰 금액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오염물질별 영향을 보면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오존규제가 특히 생산성 하락에 미치는 영향이 크다는 것을 발견함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아황산가스와 총먼지에 대한 규제도 생산성을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하락시킴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다만 일산화탄소에 대한 규제만은 생산성을 높여 포터가설이 부분적으로 성립할 수 있는 가능성도 제시함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6D8FB-1F73-4B27-B904-48950899C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194" y="1542599"/>
                <a:ext cx="7313612" cy="4114800"/>
              </a:xfrm>
              <a:blipFill>
                <a:blip r:embed="rId2"/>
                <a:stretch>
                  <a:fillRect l="-1083" t="-1185" r="-83" b="-17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590624-A9FA-4AAB-8C54-5E50BB9A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B71F4-C8F0-4379-B764-3CDD436F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4271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50878" y="1364776"/>
                <a:ext cx="7632747" cy="5049671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오염규제의 생산성에 대한 영향은 투입요소의 가격변수가 알려질 경우 생산자의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비용최소화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행동을 분석해서 도출할 수도 있고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이것이 보다 선호되는 방법임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생산이 노동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𝐿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자본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연료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dirty="0">
                        <a:latin typeface="Cambria Math" panose="02040503050406030204" pitchFamily="18" charset="0"/>
                        <a:ea typeface="나눔명조" pitchFamily="18" charset="-127"/>
                      </a:rPr>
                      <m:t>F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로 이루어지고 각각 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라 가정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𝑅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을 규제강도를 나타내는 변수라 하면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시점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있어 생산설비의 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생산을 위한 최소비용은 비용함수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𝐶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𝐶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𝐹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𝑅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나타낼 수 있음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투입요소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가격자료와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산출량자료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규제강도를 나타내는 지수가 자료로 확보되면 회귀분석 등을 통해 이 비용함수를 추정할 수 있음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생산자행위를 반영하면 총요소생산성 변화율은 다음처럼 분리됨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func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74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8" y="1364776"/>
                <a:ext cx="7632747" cy="5049671"/>
              </a:xfrm>
              <a:blipFill>
                <a:blip r:embed="rId2"/>
                <a:stretch>
                  <a:fillRect l="-879" t="-845" r="-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26</a:t>
            </a:fld>
            <a:endParaRPr lang="en-US" altLang="ko-KR"/>
          </a:p>
        </p:txBody>
      </p:sp>
      <p:sp>
        <p:nvSpPr>
          <p:cNvPr id="9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542196" y="0"/>
            <a:ext cx="8256896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1829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50878" y="1364776"/>
                <a:ext cx="7632747" cy="5049671"/>
              </a:xfrm>
            </p:spPr>
            <p:txBody>
              <a:bodyPr/>
              <a:lstStyle/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𝑇𝐹𝑃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func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func>
                            <m:func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우변은 생산성변화를 동일 산출을 하는데 필요한 비용이 변한 것으로 전환하여 나타내며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세 가지 요인으로 분할 가능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1200150" lvl="2"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func>
                          <m:func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환경규제효과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1200150" lvl="2" eaLnBrk="1" hangingPunct="1"/>
                <a14:m>
                  <m:oMath xmlns:m="http://schemas.openxmlformats.org/officeDocument/2006/math">
                    <m:d>
                      <m:dPr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func>
                              <m:funcPr>
                                <m:ctrlP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ko-KR" altLang="en-US" sz="1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func>
                          </m:num>
                          <m:den>
                            <m:r>
                              <m:rPr>
                                <m:sty m:val="p"/>
                              </m:r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func>
                              <m:funcPr>
                                <m:ctrlP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ko-KR" altLang="en-US" sz="1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func>
                          </m:den>
                        </m:f>
                      </m:e>
                    </m:d>
                    <m:f>
                      <m:fPr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func>
                          <m:func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생산규모가 바뀌어 발생한 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1657350" lvl="3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생산효율이 규모에 대해 중립적이고 규모수익불변의 특성을 가지면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func>
                          <m:funcPr>
                            <m:ctrlPr>
                              <a:rPr lang="ko-KR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ko-KR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func>
                          <m:funcPr>
                            <m:ctrlPr>
                              <a:rPr lang="ko-KR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func>
                      </m:den>
                    </m:f>
                    <m:r>
                      <a:rPr lang="en-US" altLang="ko-KR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이기 때문에 이 항은 없어짐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1200150" lvl="2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func>
                          <m:func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1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생산기술변화 때문에 발생한 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00050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만약 규제가 시차를 두고 생산성에 미치는 영향을 분석하고자 한다면 규제강도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을 구축할 때 과거에 도입된 규제도 반영해주면 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74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8" y="1364776"/>
                <a:ext cx="7632747" cy="5049671"/>
              </a:xfrm>
              <a:blipFill>
                <a:blip r:embed="rId2"/>
                <a:stretch>
                  <a:fillRect l="-319" r="-319" b="-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나눔고딕" pitchFamily="50" charset="-127"/>
                <a:ea typeface="나눔고딕" pitchFamily="50" charset="-127"/>
              </a:rPr>
              <a:t>Chapter 18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4D43D4-A97A-4AAB-B51A-DFF842252CC6}" type="slidenum">
              <a:rPr lang="ko-KR" altLang="en-US" smtClean="0"/>
              <a:pPr/>
              <a:t>27</a:t>
            </a:fld>
            <a:endParaRPr lang="en-US" altLang="ko-KR"/>
          </a:p>
        </p:txBody>
      </p:sp>
      <p:sp>
        <p:nvSpPr>
          <p:cNvPr id="9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542196" y="0"/>
            <a:ext cx="8256896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간접비용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생산성 변화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8236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62000" y="1205702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오염규제가 실업률을 높여 국민경제에 피해를 입히는 경우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오염규제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강화는 경제활동의 위축과 실업 초래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규제가 약한 외국으로 기업이 이전하고 자국의 실업이 증가됨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두 번째의 현상을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오염피난처가설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(pollution haven hypothesis)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이라 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가설이 성립하면 개발도상국은 느슨한 오염규제정책을 정당화할 수 있음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또한 무역규제의 논리로 사용되기도 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반면 오염규제강화가 장기적인 측면에서 고용을 증대시켜 실업률을 줄일 수도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새로운 직장이 창출되고 환경기술산업이 성장하여 고용이 창출되기 때문임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  <a:r>
              <a:rPr lang="ko-KR" altLang="en-US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포터가설과의 연계</a:t>
            </a:r>
            <a:endParaRPr lang="en-US" altLang="ko-KR" sz="17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buNone/>
            </a:pP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28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환경정책이 실업률에 미치는 영향</a:t>
            </a: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38C99-8410-49E1-B1F3-4C164F5B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701963"/>
            <a:ext cx="6637914" cy="742661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환경규제와 실업률</a:t>
            </a:r>
            <a:r>
              <a:rPr lang="en-US" altLang="ko-KR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근로자 소득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96677-603E-4741-97DC-5EEB1C47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512" y="1603155"/>
            <a:ext cx="7313612" cy="4114800"/>
          </a:xfrm>
        </p:spPr>
        <p:txBody>
          <a:bodyPr/>
          <a:lstStyle/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환경규제가 근로자의 소득이나 실업여부에 미치는 영향은 근로자의 업종 및 기업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개인 능력이나 특성에 따라 달라지고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환경규제 외의 요인에 의해서도 직장을 바꾸기 때문에 관측되는 자료만으로 정확히 분석하기 어려움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워커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(Walker, 2013)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의 환경규제가 실업률과 근로자소득에 미치는 동태적인 영향을 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분석한 연구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1990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도입된 미국의 대기오염관리법의 효과를 분석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 법의 도입으로 황배출권거래가 시행되고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동시에 여러 배출관련 기준도 강화되었음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기준 강화로 인해 오염도기준을 충족하지 못하는 것으로 분류된 카운티의 수가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1990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년에 한꺼번에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34%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나 늘어남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1990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기준미달지역 기업으로 </a:t>
            </a:r>
            <a:r>
              <a:rPr lang="ko-KR" altLang="en-US" sz="1600" u="sng" dirty="0">
                <a:latin typeface="나눔명조" panose="02020603020101020101" pitchFamily="18" charset="-127"/>
                <a:ea typeface="나눔명조" panose="02020603020101020101" pitchFamily="18" charset="-127"/>
              </a:rPr>
              <a:t>새로이 분류되어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더 강한 규제를 받게 된 기업에 근무했던 근로자의 실업 상태와 소득 변화 분석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규제효과가 나타나기 전인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1990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년부터 규제효과 발생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9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후인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2000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년까지 개별 근로자의 직장과 소득 등을 추적하는 방대한 자료를 사용함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BB0DC0-62AB-42CE-A589-C2928798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29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</a:p>
        </p:txBody>
      </p:sp>
    </p:spTree>
    <p:extLst>
      <p:ext uri="{BB962C8B-B14F-4D97-AF65-F5344CB8AC3E}">
        <p14:creationId xmlns:p14="http://schemas.microsoft.com/office/powerpoint/2010/main" val="3173669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38C99-8410-49E1-B1F3-4C164F5B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701963"/>
            <a:ext cx="6637914" cy="742661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환경규제와 실업률</a:t>
            </a:r>
            <a:r>
              <a:rPr lang="en-US" altLang="ko-KR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근로자 소득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1E96677-603E-4741-97DC-5EEB1C4763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워커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(Walker, 2013)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연구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계속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추정모형은 다음과 같음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𝑗𝑐𝑠𝑡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𝑘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=−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𝑚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</m:t>
                              </m:r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나눔명조" panose="02020603020101020101" pitchFamily="18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0" b="0" i="1" smtClean="0">
                                          <a:latin typeface="Cambria Math" panose="02040503050406030204" pitchFamily="18" charset="0"/>
                                          <a:ea typeface="나눔명조" panose="02020603020101020101" pitchFamily="18" charset="-127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나눔명조" panose="02020603020101020101" pitchFamily="18" charset="-127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=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+</m:t>
                          </m:r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기</m:t>
                          </m:r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타</m:t>
                          </m:r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변</m:t>
                          </m:r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수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+</m:t>
                          </m:r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교</m:t>
                          </m:r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란</m:t>
                          </m:r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항</m:t>
                          </m:r>
                        </m:e>
                      </m:nary>
                    </m:oMath>
                  </m:oMathPara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1200150"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𝑗𝑐𝑠𝑡</m:t>
                        </m:r>
                      </m:sub>
                    </m:sSub>
                    <m:r>
                      <a:rPr lang="ko-KR" altLang="en-US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는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오염물질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𝑠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배출하는 카운티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𝑗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산업에의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𝑡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연도의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실업률 혹은 근로자 임금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1200150"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1990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년에 어떤 오염물질에 </a:t>
                </a: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대해서든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새로 기준미달지역으로 분류된 카운티면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아니면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</a:p>
              <a:p>
                <a:pPr marL="1200150"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규제대상 물질 배출산업이면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아니면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</a:p>
              <a:p>
                <a:pPr marL="1200150" lvl="2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=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새로운 규제가 도입된 후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년 후면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아니면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</a:p>
              <a:p>
                <a:pPr marL="1200150"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=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새로 규제가 강화된 지역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대상오염물질 배출산업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규제도입 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년일 때만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값을 가지고 아니면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</a:p>
              <a:p>
                <a:pPr marL="1200150"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pPr>
                      <m:e>
                        <m:r>
                          <a:rPr lang="ko-KR" altLang="en-US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𝛾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추정치를 도출하는 것이 분석의 핵심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1E96677-603E-4741-97DC-5EEB1C476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149B65-A819-4264-AF76-8A97D423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BB0DC0-62AB-42CE-A589-C2928798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3359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38C99-8410-49E1-B1F3-4C164F5B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357475"/>
            <a:ext cx="6637914" cy="742661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환경규제와 실업률</a:t>
            </a:r>
            <a:r>
              <a:rPr lang="en-US" altLang="ko-KR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8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근로자 소득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96677-603E-4741-97DC-5EEB1C47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623" y="1220565"/>
            <a:ext cx="7313612" cy="4114800"/>
          </a:xfrm>
        </p:spPr>
        <p:txBody>
          <a:bodyPr/>
          <a:lstStyle/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워커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(Walker, 2013)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의 연구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계속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</a:p>
          <a:p>
            <a:pPr lvl="1"/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새로운 규제는 각 오염물질을 배출하는 산업의 실업률을 상승시킴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규제강화에도 자기 직장에 남을 수 있었던 사람들은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년간 소득이 줄지만 이후 원래 수준을 회복해 장기적으로는 실질적인 손실이 없는 것으로 나타남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규제도입시기에 실업률이 높아져 자기 직장을 떠나야 했던 사람들은 규제도입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4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후까지 소득감소폭이 계속 커지고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이후 하락세가 줄지만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9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년이 지나도 여전히 규제 전보다는 낮은 소득을 보였음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2"/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9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년간의 누적 임금손실이 규제 전 연간 소득의 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123%</a:t>
            </a:r>
          </a:p>
          <a:p>
            <a:pPr lvl="2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규제 때문에 자기가 살던 지역을 떠나는 경우보다는 다른 종류의 산업으로 이직할 때의 임금손실이 더 컸다는 것도 밝힘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2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이러한 발견은 강화된 규제가 새로운 직장을 창출해 임금손실을 보상하는 것이 사실은 쉽지 않다는 것을 의미함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149B65-A819-4264-AF76-8A97D423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18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BB0DC0-62AB-42CE-A589-C2928798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3D88C-F283-4DFD-B6E9-777141F40EE7}" type="slidenum">
              <a:rPr lang="ko-KR" altLang="en-US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0367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73304" y="1296537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오염피난처가설에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대한 실증 연구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연구결과들은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오염피난처가설의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타당성에 대해 상반된 결론을 내림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다음 연구들은 오염피난처가설을 부정하는 결론을 내림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자페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(Jaffe et al., 1995) :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적어도 미국의 경우 오염규제의 강화가 미국 경제의 경쟁력이나 산업시설의 해외유출에 크게 영향을 미치지 못함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에스켈란드와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해리슨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1600" dirty="0" err="1">
                <a:latin typeface="나눔명조" pitchFamily="18" charset="-127"/>
                <a:ea typeface="나눔명조" pitchFamily="18" charset="-127"/>
              </a:rPr>
              <a:t>Eskeland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 and Harrison, 2003) :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미국의 해외투자가 특별히 오염집약적 산업에 집중된다는 증거는 없음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환경규제를 준수하기 위해 소요되는 비용이 전체 생산비에서 차지하는 비중이 상당수의 산업에 있어 낮고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기업 특히 경영주는 자신의 입지를 선택할 때 수익성 뿐 아니라 경영 및 생활환경에 대한 고려도 하기 때문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다음 연구들은 오염피난처가설을 지지 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루카스 외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(Lucas et al., 1992)  :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특히 빈곤국일수록 생산과정에서 독성이 강한 제품을 배출하는 산업의 성장속도가 빠름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리스트 외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(List et al., 2003) :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환경규제강도가 기업의 입지에 대단히 민감한 영향을 미침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32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환경정책이 실업률에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1903969985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73304" y="1296537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오염피난처가설을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분석함에 있어서의 어려움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오염규제의 강도를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변수화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하기 쉽지 않음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오염규제 자체가 경제나 환경오염수준을 반영하여 결정된다는 역방향 인과관계도 고려해야함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오염피난처가설의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타당성에 대해서는 논란이 있으나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특정 국가의 오염규제가 강화되면 이로 인해 기업활동이 위축되거나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기업의 해외 이주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폐쇄 등으로 인해 실업률이 증가할 가능성이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적어도 단기적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국지적으로는 오염규제가 실업률을 증가시킬 것이며 이로 인해 소비자 후생의 감소나 실업대책비용의 증가와 같은 사회적 비용이 초래될 것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	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33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환경정책이 실업률에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3378173612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514901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정부가 오염규제를 강화할 경우 이로 인해 기업의 고정비용이 크게 증가할 가능성이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이러한 고정비용에는 배출저감시설 설치비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구입비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환경관련 기술자의 고용비용 등이 포함됨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오염규제가 고정비용을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증대시킬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경우 생산규모가 작은 중소기업의 생산비를 상대적으로 상승시켜 이들을 산업으로부터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퇴출시키게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되고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산업의 독점화를 유발할 수가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독점화는 사회적 비용을 초래하는데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오염규제가 시장의 독점화를 촉진할 경우 이러한 효과를 무시하고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오염규제의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직접비용만을 추정하면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규제비용을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과소평가하게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34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오염규제와 독점화</a:t>
            </a: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514901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피트만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(Pittman, 1981)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 오염규제가 독점화를 초래할 가능성을 분석한 연구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미국 위스콘신 주의 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제지공장들의 생산기술 분석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강한 배출규제 하에 있는 기업일수록 높은 수준의 규모의 경제성을 가지기 때문에 오염규제가 강해질수록 생산규모가 큰 기업이 생산비면에서 유리해진다는 사실을 발견함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한국에서는 박경원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권오상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(2018)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배출권거래제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효과를 분석 연구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독점화를 허용하는 일반균형모형인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CGE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모형을 사용해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배출권거래제의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효과를 분석했을 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규제강화는 소폭이긴 하지만 일부 산업의 독점화를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심화시키는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것으로 나타남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독점화된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산업에서는 규제강화가 생산량을 줄이지만 배출량 감소는 그에 비해 상대적으로 작게 나타나며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모든 산업이 완전경쟁적이라 가정할 때에 비하면 경제 전체 규제비용도 조금 더 높다는 것을 보임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35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오염규제와 독점화</a:t>
            </a:r>
          </a:p>
        </p:txBody>
      </p:sp>
    </p:spTree>
    <p:extLst>
      <p:ext uri="{BB962C8B-B14F-4D97-AF65-F5344CB8AC3E}">
        <p14:creationId xmlns:p14="http://schemas.microsoft.com/office/powerpoint/2010/main" val="2407817012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59656" y="1514901"/>
            <a:ext cx="8046208" cy="4871832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환경정책은 다양한 파급효과를 낳음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규제로 오염원의 기술이 제한되거나 산출물과 투입물의 상대가격이 바뀌면 이에 반응하는 행위로 인해 피규제자 외에도 경제 내 모든 행위자가 영향을 받음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이러한 파급효과를 분석하는 일반균형모형 중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CGE(computable general equilibrium)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모형이 가장 흔히 사용됨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CGE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모형은 많은 수의 방정식과 변수로 구성되며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규제 도입 시 경제 내 균형을 이루는 변수의 값이 어떻게 달라지는지를 수량적으로 파악함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모든 종류의 가격과 소득까지도 모형 내에서 내생적으로 결정됨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간단한 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(toy model)</a:t>
            </a: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X, Y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두가지 소비재를 노동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L,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자본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K,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오염물질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Z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로 생산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오염물질은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Y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생산에서만 배출됨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균형은 다음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13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개의 방정식으로 구성됨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36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8AC8969-667A-445C-9381-68870998F0FB}"/>
              </a:ext>
            </a:extLst>
          </p:cNvPr>
          <p:cNvSpPr txBox="1">
            <a:spLocks/>
          </p:cNvSpPr>
          <p:nvPr/>
        </p:nvSpPr>
        <p:spPr bwMode="auto">
          <a:xfrm>
            <a:off x="1370013" y="357475"/>
            <a:ext cx="6637914" cy="742661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en-US" altLang="ko-KR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CGE</a:t>
            </a:r>
            <a:r>
              <a:rPr lang="ko-KR" altLang="en-US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모형을 이용한 정책비용 분석</a:t>
            </a:r>
          </a:p>
        </p:txBody>
      </p:sp>
    </p:spTree>
    <p:extLst>
      <p:ext uri="{BB962C8B-B14F-4D97-AF65-F5344CB8AC3E}">
        <p14:creationId xmlns:p14="http://schemas.microsoft.com/office/powerpoint/2010/main" val="1731399519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37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8AC8969-667A-445C-9381-68870998F0FB}"/>
              </a:ext>
            </a:extLst>
          </p:cNvPr>
          <p:cNvSpPr txBox="1">
            <a:spLocks/>
          </p:cNvSpPr>
          <p:nvPr/>
        </p:nvSpPr>
        <p:spPr bwMode="auto">
          <a:xfrm>
            <a:off x="1307808" y="152400"/>
            <a:ext cx="6637914" cy="742661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en-US" altLang="ko-KR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CGE</a:t>
            </a:r>
            <a:r>
              <a:rPr lang="ko-KR" altLang="en-US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모형을 이용한 정책비용 분석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148CF7-D213-4DE0-9CC9-A5E3E4AEF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353" y="1017307"/>
            <a:ext cx="4677263" cy="419999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E49B1F4-40B0-4F56-AC6B-9BBD040B0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353" y="5330959"/>
            <a:ext cx="4580848" cy="80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5514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생산자 행위 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목표 생산량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{X,Y}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자본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노동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오염물질 가격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반영해 최소비용으로 생산하고자 하며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때 투입요소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결정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식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(18-1)~(18-5))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투입요소시장 균형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투입요소 공급은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acc>
                      <m:accPr>
                        <m:chr m:val="̅"/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</m:acc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</m:acc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으로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고정되고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그 수요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와 일치하도록 가격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𝑟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결정됨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식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(18-6)~(18-7))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소비자 행위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소득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𝑟</m:t>
                    </m:r>
                    <m:acc>
                      <m:accPr>
                        <m:chr m:val="̅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</m:acc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  <m:acc>
                      <m:accPr>
                        <m:chr m:val="̅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</m:acc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이용해 가격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반영해 효용을 극대화하도록 소비량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𝑈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𝑈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선택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식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(18-8)~(18-9))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소비재 공급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완전경쟁시장이므로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생산자 이윤이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되도록 소비재 공급량 결정됨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식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(18-10)~(18-11))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소비재시장 균형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소비재의 수요와 공급이 일치하도록 가격결정됨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식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(18-12)~(18-13))</a:t>
                </a: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  <a:blipFill>
                <a:blip r:embed="rId3"/>
                <a:stretch>
                  <a:fillRect l="-833" t="-876" r="-379" b="-57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38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8AC8969-667A-445C-9381-68870998F0FB}"/>
              </a:ext>
            </a:extLst>
          </p:cNvPr>
          <p:cNvSpPr txBox="1">
            <a:spLocks/>
          </p:cNvSpPr>
          <p:nvPr/>
        </p:nvSpPr>
        <p:spPr bwMode="auto">
          <a:xfrm>
            <a:off x="1370013" y="357475"/>
            <a:ext cx="6637914" cy="742661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en-US" altLang="ko-KR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CGE</a:t>
            </a:r>
            <a:r>
              <a:rPr lang="ko-KR" altLang="en-US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모형을 이용한 정책비용 분석</a:t>
            </a:r>
          </a:p>
        </p:txBody>
      </p:sp>
    </p:spTree>
    <p:extLst>
      <p:ext uri="{BB962C8B-B14F-4D97-AF65-F5344CB8AC3E}">
        <p14:creationId xmlns:p14="http://schemas.microsoft.com/office/powerpoint/2010/main" val="4115019200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모형 내 내생변수는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13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개이고 방정식도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13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  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𝑋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𝑋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𝑈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𝑈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} </m:t>
                    </m:r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네 가지 시장 중 어느 세 가지가 균형을 이루면 나머지도 균형을 이루는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Walras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법칙이 성립하므로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예를 들어 노동시장 균형식은 삭제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내생변수 숫자가 유효방정식 수보다 하나 많으므로 예를 들어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=1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로 고정하여 나머지 가격은 노동가격 대비 상대가격으로 나타냄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모형 분석 절차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캘리브레이션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모형의 해인 내생변수의 값이 정책 도입 전 실제 자료상의 수치와 같도록 모형 내 파라미터와 탄력성 값 찾아냄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시뮬레이션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캘리브레이션 거친 모형에 정책변수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값을 바꾸는 충격을 주었을 때 내생변수들의 값이 달라지는 정도 도출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분석을 위해 생산함수와 효용함수에 구체적인 형태를 부여하고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식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(18-1)~(18-13)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 이르는 구체적인 방정식을 도출하여 연립방정식을 컴퓨터를 이용해 풀어냄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  <a:blipFill>
                <a:blip r:embed="rId3"/>
                <a:stretch>
                  <a:fillRect l="-833" t="-8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39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8AC8969-667A-445C-9381-68870998F0FB}"/>
              </a:ext>
            </a:extLst>
          </p:cNvPr>
          <p:cNvSpPr txBox="1">
            <a:spLocks/>
          </p:cNvSpPr>
          <p:nvPr/>
        </p:nvSpPr>
        <p:spPr bwMode="auto">
          <a:xfrm>
            <a:off x="1370013" y="357475"/>
            <a:ext cx="6637914" cy="742661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en-US" altLang="ko-KR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CGE</a:t>
            </a:r>
            <a:r>
              <a:rPr lang="ko-KR" altLang="en-US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모형을 이용한 정책비용 분석</a:t>
            </a:r>
          </a:p>
        </p:txBody>
      </p:sp>
    </p:spTree>
    <p:extLst>
      <p:ext uri="{BB962C8B-B14F-4D97-AF65-F5344CB8AC3E}">
        <p14:creationId xmlns:p14="http://schemas.microsoft.com/office/powerpoint/2010/main" val="2952921268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모형의 일반화   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실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제 분석에서는 노동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자본 외에도 에너지와 같은 중간투입재까지 분석에 반영함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부과금이나 탄소세를 정부가 걷어 기술개발이나 소득분배 개선에 기여하게 하는 등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정부의 보다 적극적인 행동을 모형에 반영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국제무역을 도입하여 수출입과 외환 등에 미치는 영향 분석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독점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과점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독점적 경쟁 등 비경쟁시장 구조 반영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시간적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공간적 범위를 확장하여 자본축적과 인구성장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기술발전에 따른 동태 성장모형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전 세계 경제가 모두 서로 연계되는 글로벌 모형 등으로 확대 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세부 산업이나 지역의 자원부존 제약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생산기술 여건 등을 세밀하게 분석하는 부분균형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혹은 최적화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모형과 일반균형모형을 통합하는 분석도 활용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38352"/>
                <a:ext cx="8046208" cy="4871832"/>
              </a:xfrm>
              <a:blipFill>
                <a:blip r:embed="rId3"/>
                <a:stretch>
                  <a:fillRect l="-833" t="-8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dirty="0">
                <a:latin typeface="나눔고딕" pitchFamily="50" charset="-127"/>
                <a:ea typeface="나눔고딕" pitchFamily="50" charset="-127"/>
              </a:rPr>
              <a:t>18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FBA670-198B-49FB-A0C6-0339CB6095D3}" type="slidenum">
              <a:rPr lang="ko-KR" altLang="en-US" smtClean="0"/>
              <a:pPr/>
              <a:t>40</a:t>
            </a:fld>
            <a:endParaRPr lang="en-US" altLang="ko-KR" dirty="0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8AC8969-667A-445C-9381-68870998F0FB}"/>
              </a:ext>
            </a:extLst>
          </p:cNvPr>
          <p:cNvSpPr txBox="1">
            <a:spLocks/>
          </p:cNvSpPr>
          <p:nvPr/>
        </p:nvSpPr>
        <p:spPr bwMode="auto">
          <a:xfrm>
            <a:off x="1370013" y="357475"/>
            <a:ext cx="6637914" cy="742661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en-US" altLang="ko-KR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CGE</a:t>
            </a:r>
            <a:r>
              <a:rPr lang="ko-KR" altLang="en-US" sz="3200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모형을 이용한 정책비용 분석</a:t>
            </a:r>
          </a:p>
        </p:txBody>
      </p:sp>
    </p:spTree>
    <p:extLst>
      <p:ext uri="{BB962C8B-B14F-4D97-AF65-F5344CB8AC3E}">
        <p14:creationId xmlns:p14="http://schemas.microsoft.com/office/powerpoint/2010/main" val="3849843345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2172</TotalTime>
  <Words>3606</Words>
  <Application>Microsoft Office PowerPoint</Application>
  <PresentationFormat>화면 슬라이드 쇼(4:3)</PresentationFormat>
  <Paragraphs>381</Paragraphs>
  <Slides>40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18장 개요</vt:lpstr>
      <vt:lpstr>환경정책비용의 종류</vt:lpstr>
      <vt:lpstr>환경정책비용의 종류</vt:lpstr>
      <vt:lpstr>환경정책비용의 종류</vt:lpstr>
      <vt:lpstr>직접비용의 계측방법: 공학적 방법</vt:lpstr>
      <vt:lpstr>직접비용의 계측방법: 공학적 방법</vt:lpstr>
      <vt:lpstr>직접비용의 계측방법: 설문조사법</vt:lpstr>
      <vt:lpstr>직접비용의 계측방법: 생산경제학모형</vt:lpstr>
      <vt:lpstr>직접비용의 계측방법: 생산경제학모형</vt:lpstr>
      <vt:lpstr>PowerPoint 프레젠테이션</vt:lpstr>
      <vt:lpstr>PowerPoint 프레젠테이션</vt:lpstr>
      <vt:lpstr>화력발전소의  대기오염물질 한계 저감비용</vt:lpstr>
      <vt:lpstr>한국 화력발전소의  대기오염물질 한계 저감비용</vt:lpstr>
      <vt:lpstr>간접비용: 자원이용의 효율성 증대</vt:lpstr>
      <vt:lpstr>간접비용: 생산성 변화</vt:lpstr>
      <vt:lpstr>간접비용: 생산성 변화</vt:lpstr>
      <vt:lpstr>포터가설의 검증</vt:lpstr>
      <vt:lpstr>포터가설의 검증</vt:lpstr>
      <vt:lpstr>간접비용: 생산성 변화</vt:lpstr>
      <vt:lpstr>간접비용: 생산성 변화</vt:lpstr>
      <vt:lpstr>간접비용: 생산성 변화</vt:lpstr>
      <vt:lpstr>간접비용: 생산성 변화</vt:lpstr>
      <vt:lpstr>간접비용: 생산성 변화</vt:lpstr>
      <vt:lpstr>간접비용: 생산성 변화</vt:lpstr>
      <vt:lpstr>간접비용: 생산성 변화</vt:lpstr>
      <vt:lpstr>간접비용: 생산성 변화</vt:lpstr>
      <vt:lpstr>간접비용: 생산성 변화</vt:lpstr>
      <vt:lpstr>환경정책이 실업률에 미치는 영향</vt:lpstr>
      <vt:lpstr>환경규제와 실업률, 근로자 소득</vt:lpstr>
      <vt:lpstr>환경규제와 실업률, 근로자 소득</vt:lpstr>
      <vt:lpstr>환경규제와 실업률, 근로자 소득</vt:lpstr>
      <vt:lpstr>환경정책이 실업률에 미치는 영향</vt:lpstr>
      <vt:lpstr>환경정책이 실업률에 미치는 영향</vt:lpstr>
      <vt:lpstr>오염규제와 독점화</vt:lpstr>
      <vt:lpstr>오염규제와 독점화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253</cp:revision>
  <dcterms:created xsi:type="dcterms:W3CDTF">1997-07-14T00:22:12Z</dcterms:created>
  <dcterms:modified xsi:type="dcterms:W3CDTF">2025-02-19T00:49:46Z</dcterms:modified>
</cp:coreProperties>
</file>