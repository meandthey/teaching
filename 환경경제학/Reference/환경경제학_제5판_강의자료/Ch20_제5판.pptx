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5"/>
  </p:notesMasterIdLst>
  <p:handoutMasterIdLst>
    <p:handoutMasterId r:id="rId56"/>
  </p:handoutMasterIdLst>
  <p:sldIdLst>
    <p:sldId id="262" r:id="rId2"/>
    <p:sldId id="394" r:id="rId3"/>
    <p:sldId id="395" r:id="rId4"/>
    <p:sldId id="345" r:id="rId5"/>
    <p:sldId id="348" r:id="rId6"/>
    <p:sldId id="350" r:id="rId7"/>
    <p:sldId id="351" r:id="rId8"/>
    <p:sldId id="409" r:id="rId9"/>
    <p:sldId id="396" r:id="rId10"/>
    <p:sldId id="353" r:id="rId11"/>
    <p:sldId id="385" r:id="rId12"/>
    <p:sldId id="355" r:id="rId13"/>
    <p:sldId id="356" r:id="rId14"/>
    <p:sldId id="357" r:id="rId15"/>
    <p:sldId id="359" r:id="rId16"/>
    <p:sldId id="363" r:id="rId17"/>
    <p:sldId id="364" r:id="rId18"/>
    <p:sldId id="387" r:id="rId19"/>
    <p:sldId id="411" r:id="rId20"/>
    <p:sldId id="414" r:id="rId21"/>
    <p:sldId id="413" r:id="rId22"/>
    <p:sldId id="415" r:id="rId23"/>
    <p:sldId id="416" r:id="rId24"/>
    <p:sldId id="417" r:id="rId25"/>
    <p:sldId id="418" r:id="rId26"/>
    <p:sldId id="420" r:id="rId27"/>
    <p:sldId id="421" r:id="rId28"/>
    <p:sldId id="419" r:id="rId29"/>
    <p:sldId id="423" r:id="rId30"/>
    <p:sldId id="366" r:id="rId31"/>
    <p:sldId id="368" r:id="rId32"/>
    <p:sldId id="367" r:id="rId33"/>
    <p:sldId id="388" r:id="rId34"/>
    <p:sldId id="397" r:id="rId35"/>
    <p:sldId id="398" r:id="rId36"/>
    <p:sldId id="369" r:id="rId37"/>
    <p:sldId id="370" r:id="rId38"/>
    <p:sldId id="389" r:id="rId39"/>
    <p:sldId id="424" r:id="rId40"/>
    <p:sldId id="372" r:id="rId41"/>
    <p:sldId id="373" r:id="rId42"/>
    <p:sldId id="374" r:id="rId43"/>
    <p:sldId id="375" r:id="rId44"/>
    <p:sldId id="376" r:id="rId45"/>
    <p:sldId id="377" r:id="rId46"/>
    <p:sldId id="378" r:id="rId47"/>
    <p:sldId id="380" r:id="rId48"/>
    <p:sldId id="401" r:id="rId49"/>
    <p:sldId id="402" r:id="rId50"/>
    <p:sldId id="403" r:id="rId51"/>
    <p:sldId id="404" r:id="rId52"/>
    <p:sldId id="410" r:id="rId53"/>
    <p:sldId id="405" r:id="rId54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A76E1"/>
    <a:srgbClr val="F84ED8"/>
    <a:srgbClr val="DAEDD1"/>
    <a:srgbClr val="C4E3B5"/>
    <a:srgbClr val="663300"/>
    <a:srgbClr val="1C4E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7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96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10A40EC-A918-42E8-AAE7-C54DAD3E2F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16E9064-F818-4F4B-916D-FD9D4FAF6A1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11A19A6-B1EC-46DF-8640-11FEBA419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C5B5BA1-A12E-44D7-8A92-ACDAE9AE2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79FCA712-F200-4668-9394-4A504B56D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5DEDFDB4-851D-43F3-B900-D5D107273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5545972A-6700-4D50-AF09-B4849FB470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45B8D678-25B8-479C-BC8F-B8AEE3E14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11646BA-CE0B-4B79-B37B-68ACB08E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9244DDE-1DA7-4CD2-8350-36800011E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EF4274F3-CFAA-4328-85A5-8C6F2E111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4618E099-CCAD-465B-9611-7C3FEB2E2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5F2335E3-FBBE-4BF6-B0FD-4EF6AD7EB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A1CB6197-BE4E-4C70-93BB-99F309AC1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1D774B1-90DB-42D8-B3A0-EEB98C980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E6EF47B-4DCA-46FB-AAD6-701D5D213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D87CC499-2C93-4195-9105-F9BE0FB2B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B7F4F2C7-7C9C-48FC-95F0-C6C414B64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C3777AE1-2092-4295-BB56-B25B749AF1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B2AF335E-6450-45C6-868E-74D7199F1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F3B16F45-68B1-476F-9E40-51AD9633C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11CF592F-0BD7-41A5-B8A6-3DF7AC54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432F657E-6EDF-4775-B3D4-9FD2C9165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78C1002B-904F-4F12-9C93-80A74A2A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878E34DB-B6A6-40AE-8094-C97CA9504D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C424B039-4518-4CDB-82DA-E06AA1292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3F60B21-CCCE-4C8F-96E1-FAACE4F9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45C4C6A-6EEB-4BFE-A3F7-35476A38E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3BFB4D8-29C4-4176-81EE-3B6F74EE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C67337AE-BC49-417D-B10C-0F900BD5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2E8369CD-7580-40FF-B638-28CE9582B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B092DC33-9886-4DE4-A51A-3D762CDED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DB75FB2-27CA-4E33-97DC-7364AFA12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200430B-47DE-41F1-9EE2-D6F9614CC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B8C090DA-1D72-4051-9BE0-15A4383DD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8292C7C2-8F51-4C15-8313-6A8B9377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0DF94D69-8E8E-463B-9965-39EFEE0EB2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14041E34-E86A-4137-822E-A9BC2AC9E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025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53F60B21-CCCE-4C8F-96E1-FAACE4F9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45C4C6A-6EEB-4BFE-A3F7-35476A38E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E3BFB4D8-29C4-4176-81EE-3B6F74EE6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C67337AE-BC49-417D-B10C-0F900BD59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2E8369CD-7580-40FF-B638-28CE9582B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B092DC33-9886-4DE4-A51A-3D762CDED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610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956C5F7-ED4A-45D3-8248-7D12C4524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93588C0-0A65-4485-9154-2BE14FFE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609069C5-E0C2-4DCC-A2E3-17477EACE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AFDEB00A-976E-4CCB-A53D-16DAC6C92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979ED657-2A28-4D99-AE51-D83F182CB5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61937F0A-38A6-4F07-B6C8-8377492A8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AC1BD3C-CAA1-459A-B0A3-E7F6265BC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4F29185-9DBA-433B-BEF3-3EDA5EE4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CE30A4A7-DA31-4AED-AB29-10607FAF0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BB4C4C94-9191-4D12-B484-CBDC3682F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72C1C098-BFA9-47F9-9C1E-78D7169B2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2F0380E1-43D4-4A81-848A-DC93C86D6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9BF0117-4A02-4E5F-BBE9-F803AF2F8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E87C4C3-8A31-40E1-97DD-271022401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2612BBBF-FEB6-4A02-8B30-8950F9169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CA364E38-E3D0-44C1-BCD7-D5CE90B39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AAEDAB3E-AE79-4611-A78F-D55B44D108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B0FCC2E2-D787-438D-B283-D8250C565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F6D0EB74-B0A9-437F-974A-7E8B70D07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8B9233F7-EABB-4C31-B5FC-1E17A9E3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0B1E254F-D9C6-4298-9EDE-02322F2E9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7628344B-4CDF-4905-918A-80C0C40DF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B492771D-9272-4A05-AEB1-5418A96C73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86DD4DAE-92D9-4899-AB4F-7E2E49611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5FED48F-7CAD-4260-A4CD-2CC4719CE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D6F4F87B-8BFF-4B9E-9805-1C335F210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EAD31CB9-8587-4353-9D9E-EA1FC650D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6913674E-4777-4541-83D5-6813B2CA2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66DAA556-F2F2-46EA-9BBB-CC6686D4D9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D15F7920-0043-40ED-AB30-2C16FC472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23425CE-3C90-41A8-84CE-B871B8E69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A7B3F36-ABE9-49A1-8C1B-E48EE512D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1BB8BC1-CAA5-48E0-9A0D-FABE4D984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B88681E7-11AF-4B97-998D-7FBF602C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5862846D-2F3A-48AD-BB6B-605CFEE40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82AEF3E9-7677-493F-A032-DFC1AB88B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FA056F0-B557-4BBD-8B17-C73934C4A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A81D9CD-3A6C-4C9C-85F4-0591A5FA7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57C4C551-91A9-40A4-86C7-7688A1A5F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BB471663-8343-4ABF-90B1-27CE7F545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6E862716-9159-491B-8D03-5E9DB0C34C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37BC25E5-5FE2-4683-BA41-B71C5484D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80D07A1-39D1-46F0-962F-85D0F50B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F8133E0-FF19-4E6D-AF38-FA089C2A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14D13E2B-DDBE-46B9-8069-4100FF0D8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10298A88-4BB1-460B-8DEA-55440FACD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38A6BBD7-3DA1-4592-A1FE-C7C2C1E75F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7ABC0940-3665-4B05-8E6C-2FECAAB7D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2031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825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3398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14401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288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81568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07460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1580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010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6463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B35D996-510A-4B0C-8D50-FC29AB23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03E5E24-39BA-4299-A7A9-FE8535A68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D949D38E-54B7-4BB4-8FAF-2B2A3CA17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BFFAC1FF-D97D-4906-A127-9DCB1D06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84C76660-37FC-4A11-AA0C-6BA9C01E4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FF60755E-37A2-46C3-8C67-7E416DDF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0888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07654ED5-F5FC-4102-BBC3-A37AF4CF5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F54A074-E457-4874-A222-B15456AA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8C140572-84EA-4CD7-B957-0045D90C1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6EDA333B-C84A-4192-81CB-F0161718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173E614B-7A11-417C-9E22-A014DDD36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3594EC50-4CD1-46C8-983D-992FDECAA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4DC8360-FC69-40FD-8EBD-5816D1FAD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BDF7EAC-DFA0-4799-9FC4-DC05632A9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AA5D303B-3D99-4ED7-8F5C-753738874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22E9AB00-9096-4E69-A52F-55840D9E2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49818FF3-A4CB-458E-9F32-D41F0F9271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EC3FB513-EF70-4533-9FEC-D15013322F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4A55701-999C-4F1F-BC0A-03E9AEA5B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9834209-80D7-4242-8A02-FAD751985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FA6E80C4-2D9B-4624-AAAD-79986C38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CD52977E-7BFB-48CE-9196-2C97ECE0B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1564F9D9-43CF-48C0-A1F4-17AB6EA339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A23DE315-4AF9-4832-B38F-7BD036CAC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69A9F7A8-BB49-4D00-937F-AB436FE7B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E36ACD99-21B0-427F-A295-AD59FBB18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4564BEEB-3EB1-4AB9-91FC-233124289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C78E347F-AC44-433B-A7EE-86B038472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2B6434DD-0C98-4EC6-9341-B9562713A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FA64951F-6DF8-4F2B-82E8-8DA9C4ACEC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D384327-05D7-4697-9130-FEBD18D6A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DFBECB85-A343-4754-8DE9-AF5A2F1D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B670E282-D7B1-4E92-BA59-B393E7F69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C398AA1F-AE46-4068-A69F-A441369DE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5123B73D-F29F-49FF-9311-A2F10D81FB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A450056C-CECF-49D3-AD70-94D6F06C7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A28E2461-4AD1-4500-869B-BCCC7F98E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6602C849-31E3-4CB7-857F-B908A44DA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5B5DA517-3843-4E0C-881D-CB9F59219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30D4B25A-3BC1-4299-AFEE-B35BD0E7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747EF58C-B0F7-4357-BF7B-1AA767ADF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AE68D3F3-B887-4F0D-A421-DFE1C21D1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B5276CF-75CA-47D0-8FDA-141A3C691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A153F11-6187-449F-9A07-2F49B16ED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F2B5FDA-01A9-4DC0-9221-79088D72B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AD560BCD-19BC-49BF-A158-63AC399A7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9F540B2D-539E-466E-AD7F-5295CF64A6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D5D16FD0-FDC7-4C37-BF53-6D9BF36ED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72F1C657-EB4E-40F8-8EC2-629F4AFAF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4CDDB3CA-A68F-4E78-9B2B-25089CA5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D50BB7A8-6E0B-456F-801E-B3D607DB8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5ABCB8FF-3495-4816-9171-14F4C8E55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2587472D-9E78-4AB2-AA47-0A7FE92E6D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8B9FB26D-DB0B-42D2-BE31-09D7C888D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D1A480E3-40AF-4FD9-86DC-39C480C62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CE189253-AE81-48FA-9A4F-29CF4E37C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CD8A6AEE-0404-4ADB-AE0E-6914845A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C220E23F-CDCF-46F8-A991-F60B1126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7046" name="Rectangle 6">
            <a:extLst>
              <a:ext uri="{FF2B5EF4-FFF2-40B4-BE49-F238E27FC236}">
                <a16:creationId xmlns:a16="http://schemas.microsoft.com/office/drawing/2014/main" id="{75813DE1-A849-42CA-8640-C107AAB6C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7047" name="Rectangle 7">
            <a:extLst>
              <a:ext uri="{FF2B5EF4-FFF2-40B4-BE49-F238E27FC236}">
                <a16:creationId xmlns:a16="http://schemas.microsoft.com/office/drawing/2014/main" id="{27807779-6224-44E4-A59D-4A39FFFAC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BDC3CC1E-74D3-4853-B2E1-A381B866F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D333EDF0-8B98-485C-BF40-A5F0FF4A7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12E5DD7E-17FA-456C-A46E-314777DC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EB4A4ED9-B06B-4D2E-8520-23394C346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9262273E-0AC4-4281-8FFD-39A59FC06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8071" name="Rectangle 7">
            <a:extLst>
              <a:ext uri="{FF2B5EF4-FFF2-40B4-BE49-F238E27FC236}">
                <a16:creationId xmlns:a16="http://schemas.microsoft.com/office/drawing/2014/main" id="{7D184FDB-F5A2-468B-9216-5B68E65F2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30E5B370-3047-41EA-94E5-3C80C739E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B939247-EEB0-41D7-ACCB-3C791B868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58001C40-87A0-41EA-86AB-EB7DEEE6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72FCFF44-0CDC-4980-B474-C1B55FDC3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9094" name="Rectangle 6">
            <a:extLst>
              <a:ext uri="{FF2B5EF4-FFF2-40B4-BE49-F238E27FC236}">
                <a16:creationId xmlns:a16="http://schemas.microsoft.com/office/drawing/2014/main" id="{EDEA8E24-1559-4E37-A16D-3906C75D0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AF34D558-9F6D-4B4C-9D74-00903D02F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C42D0C97-BACB-4ECF-914A-3C337BCB6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341DB0C8-003A-407C-B02D-59C21D53D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C61041F-1002-4513-8DD7-27EFE1F8E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7" name="Rectangle 5">
            <a:extLst>
              <a:ext uri="{FF2B5EF4-FFF2-40B4-BE49-F238E27FC236}">
                <a16:creationId xmlns:a16="http://schemas.microsoft.com/office/drawing/2014/main" id="{802341E8-3EBE-43DD-AD91-8F78D602B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0118" name="Rectangle 6">
            <a:extLst>
              <a:ext uri="{FF2B5EF4-FFF2-40B4-BE49-F238E27FC236}">
                <a16:creationId xmlns:a16="http://schemas.microsoft.com/office/drawing/2014/main" id="{EE39D975-77D2-46FF-A4D1-812C190FE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0119" name="Rectangle 7">
            <a:extLst>
              <a:ext uri="{FF2B5EF4-FFF2-40B4-BE49-F238E27FC236}">
                <a16:creationId xmlns:a16="http://schemas.microsoft.com/office/drawing/2014/main" id="{B9777B24-80D7-4825-8043-CFBA21169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3903DC34-7D30-43F8-BA28-782AC64ED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6FE59EF7-6264-494E-B676-726586F60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62777906-110C-4B5C-87A6-AEC1C830E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D1419FF6-C393-440D-896F-98790389D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BF547870-DF33-4D60-8342-0AC7FF519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1143" name="Rectangle 7">
            <a:extLst>
              <a:ext uri="{FF2B5EF4-FFF2-40B4-BE49-F238E27FC236}">
                <a16:creationId xmlns:a16="http://schemas.microsoft.com/office/drawing/2014/main" id="{CCD8FE79-0C5D-4FC8-BC11-1F9C4B133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5E68E306-1AB9-48A1-8354-553D6045D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12AF381A-3719-4065-844A-DB152D309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D1136062-021A-4722-9B87-94DAB886D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7C58E10E-08EB-41EC-A162-1144E4EF4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978F87C1-E461-4DBD-8BA0-A65CC87F5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A00403AD-C0BA-41B9-AD41-CE81D2C50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EE8DAFDF-D775-40CF-B23F-581024B9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61EC772-47E3-43CE-B857-76C805FE4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D771ABA8-BE50-4F9D-8902-0CA108B8D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87D77417-E9FD-469C-81BF-07B8EF2F8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BCDF479D-D963-4025-A401-B9045C618C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3075E87B-D489-4FE3-B191-7D0298867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41689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9802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34858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33651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703327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D14ABAEB-FCB9-41BF-8335-ACC69243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C840400-F74C-4800-A4FE-E52DF57BF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C92EAD07-D8E8-4B06-9735-E2C8FE7B7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1" name="Rectangle 5">
            <a:extLst>
              <a:ext uri="{FF2B5EF4-FFF2-40B4-BE49-F238E27FC236}">
                <a16:creationId xmlns:a16="http://schemas.microsoft.com/office/drawing/2014/main" id="{3E6DD50E-0F45-4D59-9ADD-34DEF513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46858A9E-9BD9-4326-BA2A-25E5C984B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96263" name="Rectangle 7">
            <a:extLst>
              <a:ext uri="{FF2B5EF4-FFF2-40B4-BE49-F238E27FC236}">
                <a16:creationId xmlns:a16="http://schemas.microsoft.com/office/drawing/2014/main" id="{E47CF16E-9044-4403-BB63-547D6E9F7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55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19A95CC8-E793-44BA-A9F0-CAFEA49316BF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4F009758-ADFF-40A7-A4BE-BACD65628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6B9B9A25-5862-49FA-ADDE-3D745933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45D2529E-1766-493F-B6D4-A2D69A1BE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12D05E5F-CEEA-491B-B3F2-459275640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917B8550-D861-4599-A3B1-8BF4E4F519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77E3C256-F9B3-4280-81B7-EA2917717E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68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20BCD99-59C2-40C2-A7D5-5A9C70BB40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3AF7C48-8FC0-4DFA-8708-91C3D109E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14BBD25-DC10-492D-930F-5A0CD21923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54ABA-DD27-44D9-ADDC-2401E6B1944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163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8F250A9-BC77-46E2-A8C1-D0F1F4FC89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03E04B5F-0210-431C-B1CC-0C46D89C05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A7B3E7B-8B83-437F-B923-5FACED03ED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8469D-47B4-4F85-82AE-1BC96CB4FEB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719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DA5FF43-11AB-4FAB-97E5-FFB9EEA24A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928B009-AD4F-4DEF-8163-EEB2236984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3D7A280-B871-47F3-8236-5B6C1A52D1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B2B82-C646-4F40-8F20-C26CDCD2ECA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783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9D6DA14-921F-4B89-B4DC-07950C61CD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C8B8587-7139-4684-90F5-D76E95E6E5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C2942911-B612-40C9-864B-46174D9999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10F8F-7453-41F4-884E-F5442674B5C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100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05F860D-7EDF-4AF1-B164-92EA3512A0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58FCB5A-AE76-41C1-8756-D1D62E9AF6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267DB68-5A8C-47B3-993A-BF1B51EF3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78BF3-31DB-450F-99F6-3EFFCB0BD6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55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FC21156-49DD-498B-9BEE-520E3A328A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D1EEABC-B381-469A-80C1-9195D9167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8AF808B-C546-4125-9B32-C6C68668F6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2160F2-4D8E-4D03-9490-96DEA783B6B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38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DA423E4-B556-4A0B-950E-735BDBB7D9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CF50ABB-9B16-40EE-8CC9-947791434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55ACF8B-7122-4C4C-82B9-3B9F0E1D89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0B55C-0EB0-48F0-8221-F1EEED7F5B0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329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6A59EB27-BC0D-4100-803B-03BC4CFE90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0B6D1D-E837-4CF8-B8C3-E8DB32C66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34A7F75-F291-4F60-9A9A-64E0FBF87F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7D43B0-BF90-477E-9821-5887D2A8F74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98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C7160BC-7553-450B-9256-90626F95D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AEAB8B3-6687-4917-AA74-C41C47F1B5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5B74035-FBE7-4AA3-BAE6-EAC208DD8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129E3-D619-4AC5-BBAC-7BABA71E43E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78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2FA33C8-42AB-4F5A-AEC3-56690847E9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0447C29-6304-4933-8479-30ABA45D0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E665C59-B542-4D0B-A85B-AF9647561F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07978-414D-48A0-BDE8-1349B0986B0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636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EB9F7C6C-74E9-4087-91B6-514832D25C03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1E91EB17-230A-4031-B2FA-5FADCCCDC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B2AE0A0B-439E-450B-B624-3FA0E02AE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CBA2E610-69BA-46FF-845B-160EC02DB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3075" name="Rectangle 6">
            <a:extLst>
              <a:ext uri="{FF2B5EF4-FFF2-40B4-BE49-F238E27FC236}">
                <a16:creationId xmlns:a16="http://schemas.microsoft.com/office/drawing/2014/main" id="{63DFCEE0-5702-4E89-B55D-BC361C086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3076" name="Rectangle 7">
            <a:extLst>
              <a:ext uri="{FF2B5EF4-FFF2-40B4-BE49-F238E27FC236}">
                <a16:creationId xmlns:a16="http://schemas.microsoft.com/office/drawing/2014/main" id="{4E9A5E25-EC62-4875-A974-25F24BBCE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311B6EA0-CA5A-4067-B40A-085A2A97D8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9EA4A883-E0DF-47FE-A2D8-A624DC1009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491A1D44-1B90-4FBE-9DE7-825AAB8A56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8A9A6782-0DBD-47E7-91DE-2BA0A8ABB6C4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36">
            <a:extLst>
              <a:ext uri="{FF2B5EF4-FFF2-40B4-BE49-F238E27FC236}">
                <a16:creationId xmlns:a16="http://schemas.microsoft.com/office/drawing/2014/main" id="{59A2AF7F-77C7-4E4A-96E4-E0825E1BA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8325" y="2579688"/>
            <a:ext cx="7313613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7E00C9C4-1CA2-425D-BD19-32C0521E63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14675" y="2587625"/>
            <a:ext cx="6029325" cy="273685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경제발전과 환경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환경쿠즈네츠곡선의 이론적 근거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개발도상국의 환경관리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녹색 국민소득계정</a:t>
            </a:r>
          </a:p>
        </p:txBody>
      </p:sp>
      <p:sp>
        <p:nvSpPr>
          <p:cNvPr id="15364" name="바닥글 개체 틀 4">
            <a:extLst>
              <a:ext uri="{FF2B5EF4-FFF2-40B4-BE49-F238E27FC236}">
                <a16:creationId xmlns:a16="http://schemas.microsoft.com/office/drawing/2014/main" id="{948E4693-9D39-4F9E-9939-F7243D1D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5365" name="슬라이드 번호 개체 틀 5">
            <a:extLst>
              <a:ext uri="{FF2B5EF4-FFF2-40B4-BE49-F238E27FC236}">
                <a16:creationId xmlns:a16="http://schemas.microsoft.com/office/drawing/2014/main" id="{D33CACD4-53F6-49B9-891B-592DED4A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E531184-8106-4A25-B91A-EEF4F4AF9036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1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6" name="Rectangle 1026">
            <a:extLst>
              <a:ext uri="{FF2B5EF4-FFF2-40B4-BE49-F238E27FC236}">
                <a16:creationId xmlns:a16="http://schemas.microsoft.com/office/drawing/2014/main" id="{1596144A-839B-4804-BB78-8654219F6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5367" name="Rectangle 1027">
            <a:extLst>
              <a:ext uri="{FF2B5EF4-FFF2-40B4-BE49-F238E27FC236}">
                <a16:creationId xmlns:a16="http://schemas.microsoft.com/office/drawing/2014/main" id="{D6DCC03C-393B-407B-9028-03E56497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DA4BE9A-C028-429A-9D04-E428C159A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0"/>
            <a:ext cx="8301038" cy="144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20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경제발전과 환경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, </a:t>
            </a:r>
          </a:p>
          <a:p>
            <a:pPr algn="r"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지속 가능한 경제 발전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22888-0B40-4BF1-A4A8-97B1A296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b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지속 가능한 경제 발전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48F51-1B05-48FC-942B-DD8B859CF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623" y="1379096"/>
            <a:ext cx="7313612" cy="4114800"/>
          </a:xfrm>
        </p:spPr>
        <p:txBody>
          <a:bodyPr/>
          <a:lstStyle/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제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차 세계대전 이후 모든 국가들이 경제개발에 나선 직후에는 환경오염이란 주로 산업화된 선진국의 문제이고 개발도상국에 있어서는 심각한 문제가 아니라고 </a:t>
            </a:r>
            <a:r>
              <a:rPr lang="ko-KR" altLang="en-US" sz="1800" dirty="0" err="1">
                <a:latin typeface="나눔명조" panose="02020603020101020101" pitchFamily="18" charset="-127"/>
                <a:ea typeface="나눔명조" panose="02020603020101020101" pitchFamily="18" charset="-127"/>
              </a:rPr>
              <a:t>생각되었었음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pPr lvl="1"/>
            <a:r>
              <a:rPr lang="ko-KR" altLang="en-US" sz="1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경제활동과 환경보존은 양립할 수 없고</a:t>
            </a:r>
            <a:r>
              <a:rPr lang="en-US" altLang="ko-KR" sz="1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4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천연자원을 이용하고 폐기물을 배출하는 경제행위가 왕성하면 할수록 환경오염이 심해진다는 전제에 따른 것</a:t>
            </a:r>
            <a:endParaRPr lang="en-US" altLang="ko-KR" sz="14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그러나 선진국들은 지속적인 기술개발로 산업활동을 하면서도 오염물질을 적게 배출하는 생산기술을 획득할 수 있었고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소득증대에 따라 쾌적한 환경에 대한 수요가 늘어나면서 폐수처리시설과 대기개선관련 투자를 늘려 경제가 발전할수록 오염도가 오히려 줄어드는 것이 가능해짐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반면 많은 저개발국은 급속한 산업화와 도시화에도 불구하고 오염처리시설이 부족하고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천연자원에 대한 합리적인 관리 없이 약탈적인 자원 이용을 해오고 있기 때문에 수질 및 대기오염과 토양유실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사막화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수자원 고갈과 같은 심각한 환경오염과 자원고갈을 직면함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B90CD6-C773-46AB-BBFD-24FBAFF0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Chapter</a:t>
            </a:r>
            <a:r>
              <a:rPr lang="ko-KR" altLang="en-US" dirty="0"/>
              <a:t> 1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2D08FF-A7B7-467D-957A-B6095745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4ABA-DD27-44D9-ADDC-2401E6B19443}" type="slidenum">
              <a:rPr lang="ko-KR" altLang="en-US" smtClean="0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5995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22888-0B40-4BF1-A4A8-97B1A2961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br>
              <a:rPr lang="en-US" altLang="ko-KR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anose="02020603020101020101" pitchFamily="18" charset="-127"/>
                <a:ea typeface="나눔명조" panose="02020603020101020101" pitchFamily="18" charset="-127"/>
              </a:rPr>
              <a:t>지속 가능한 경제 발전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48F51-1B05-48FC-942B-DD8B859CF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1568" y="1530487"/>
            <a:ext cx="7313612" cy="4114800"/>
          </a:xfrm>
        </p:spPr>
        <p:txBody>
          <a:bodyPr/>
          <a:lstStyle/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전 세계에 발생하는 조기사망의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10.1%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가 대기오염 때문에 발생함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세계은행 보고서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(2016))</a:t>
            </a: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대기오염은 질 낮은 연료를 사용하는 차량과 건축이 급속히 늘고 오염물질 처리는 제대로 되지 않는 개발도상국에서 큰 문제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개발도상국의 농촌인구 약 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28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억 명도 전기와 같은 고급연료에 접근하지 못한 채 목재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석탄 등의 연료를 사용하기 때문에 심각한 오염에 노출되어 있음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 </a:t>
            </a: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대기오염은 노동의 질과 삶의 질 전반에 영향을 미치는 경제문제이기도 하며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오염된 식수로 인한 피해 역시 개발도상국에서 훨씬 더 큼</a:t>
            </a:r>
            <a:endParaRPr lang="en-US" altLang="ko-KR" sz="1800" dirty="0">
              <a:latin typeface="나눔명조" panose="02020603020101020101" pitchFamily="18" charset="-127"/>
              <a:ea typeface="나눔명조" panose="02020603020101020101" pitchFamily="18" charset="-127"/>
            </a:endParaRPr>
          </a:p>
          <a:p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이상과 같은 현상은 경제발전과 환경오염은 어떤 식으로 상호관련을 맺고 있는지를 파악하고</a:t>
            </a:r>
            <a:r>
              <a:rPr lang="en-US" altLang="ko-KR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, </a:t>
            </a:r>
            <a:r>
              <a:rPr lang="ko-KR" altLang="en-US" sz="1800" dirty="0">
                <a:latin typeface="나눔명조" panose="02020603020101020101" pitchFamily="18" charset="-127"/>
                <a:ea typeface="나눔명조" panose="02020603020101020101" pitchFamily="18" charset="-127"/>
              </a:rPr>
              <a:t>개발도상국이 경제발전과 환경오염을 동시에 달성하기 위해서는 어떤 조치들을 사용해야 하는지를 검토할 필요성을 제기함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B90CD6-C773-46AB-BBFD-24FBAFF0D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err="1"/>
              <a:t>Chapter</a:t>
            </a:r>
            <a:r>
              <a:rPr lang="ko-KR" altLang="en-US" dirty="0"/>
              <a:t> 1</a:t>
            </a:r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2D08FF-A7B7-467D-957A-B60957450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4ABA-DD27-44D9-ADDC-2401E6B19443}" type="slidenum">
              <a:rPr lang="ko-KR" altLang="en-US" smtClean="0"/>
              <a:pPr/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6165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바닥글 개체 틀 4">
            <a:extLst>
              <a:ext uri="{FF2B5EF4-FFF2-40B4-BE49-F238E27FC236}">
                <a16:creationId xmlns:a16="http://schemas.microsoft.com/office/drawing/2014/main" id="{9F06147C-9166-45D9-BA13-3082C93E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6387" name="슬라이드 번호 개체 틀 5">
            <a:extLst>
              <a:ext uri="{FF2B5EF4-FFF2-40B4-BE49-F238E27FC236}">
                <a16:creationId xmlns:a16="http://schemas.microsoft.com/office/drawing/2014/main" id="{CB2F1E84-D53B-4BC3-AA85-58599F9C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42D5824-44CF-4023-96AF-E72410FDA7E1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F4931BE8-DD46-425D-B9B1-F9B3696AC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6EF4331D-52B5-4B08-A3F9-B20C2B545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3F095C3E-9D70-4631-99AD-081C186D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횡단면분석</a:t>
            </a:r>
          </a:p>
        </p:txBody>
      </p:sp>
      <p:sp>
        <p:nvSpPr>
          <p:cNvPr id="16392" name="TextBox 9">
            <a:extLst>
              <a:ext uri="{FF2B5EF4-FFF2-40B4-BE49-F238E27FC236}">
                <a16:creationId xmlns:a16="http://schemas.microsoft.com/office/drawing/2014/main" id="{1C26FBA6-78BC-462B-837D-0D1BF088B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030" y="1743075"/>
            <a:ext cx="3301546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선진국  생산가능곡선</a:t>
            </a:r>
            <a:r>
              <a:rPr lang="en-US" altLang="ko-KR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=P</a:t>
            </a:r>
            <a:r>
              <a:rPr lang="en-US" altLang="ko-KR" sz="17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선진국  무차별곡선</a:t>
            </a:r>
            <a:r>
              <a:rPr lang="en-US" altLang="ko-KR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=I</a:t>
            </a:r>
            <a:r>
              <a:rPr lang="en-US" altLang="ko-KR" sz="17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개발도상국 생산가능곡선</a:t>
            </a:r>
            <a:r>
              <a:rPr lang="en-US" altLang="ko-KR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=P</a:t>
            </a:r>
            <a:r>
              <a:rPr lang="en-US" altLang="ko-KR" sz="17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개발도상국 무차별곡선</a:t>
            </a:r>
            <a:r>
              <a:rPr lang="en-US" altLang="ko-KR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=I</a:t>
            </a:r>
            <a:r>
              <a:rPr lang="en-US" altLang="ko-KR" sz="1700" b="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선진국은 생산기술수준이 높고</a:t>
            </a:r>
            <a:r>
              <a:rPr lang="en-US" altLang="ko-KR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물적 인적 </a:t>
            </a:r>
            <a:r>
              <a:rPr lang="ko-KR" altLang="en-US" sz="1700" b="0" dirty="0" err="1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자본량이</a:t>
            </a:r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많아  </a:t>
            </a:r>
            <a:endParaRPr lang="en-US" altLang="ko-KR" sz="1700" b="0" dirty="0">
              <a:solidFill>
                <a:schemeClr val="tx1"/>
              </a:solidFill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1700" b="0" dirty="0">
                <a:solidFill>
                  <a:schemeClr val="tx1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원점에서 보다 먼   생산가능곡선 가짐</a:t>
            </a:r>
            <a:endParaRPr lang="ko-KR" altLang="en-US" sz="1700" b="0" dirty="0">
              <a:solidFill>
                <a:schemeClr val="tx1"/>
              </a:solidFill>
              <a:latin typeface="Times New Roman" panose="02020603050405020304" pitchFamily="18" charset="0"/>
              <a:ea typeface="굴림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6393" name="내용 개체 틀 7">
            <a:extLst>
              <a:ext uri="{FF2B5EF4-FFF2-40B4-BE49-F238E27FC236}">
                <a16:creationId xmlns:a16="http://schemas.microsoft.com/office/drawing/2014/main" id="{6B2759AF-1D22-4782-A99E-0DECF1FBE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684713"/>
            <a:ext cx="7848600" cy="1336675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생산가능곡선과 무차별곡선의 접점에서 소비행위가 이루어짐</a:t>
            </a:r>
            <a:endParaRPr lang="en-US" altLang="ko-KR" sz="22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따라서 선진국 국민은 개발도상국 국민보다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시장재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환경재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모두의 소비량이 더 큼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&gt;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D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&gt;</a:t>
            </a:r>
            <a:r>
              <a:rPr lang="en-US" altLang="ko-KR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q</a:t>
            </a:r>
            <a:r>
              <a:rPr lang="en-US" altLang="ko-KR" sz="2000" baseline="-25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F603BC0-A382-41F7-8480-349F1D3F9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6" y="1323975"/>
            <a:ext cx="5123792" cy="317925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바닥글 개체 틀 4">
            <a:extLst>
              <a:ext uri="{FF2B5EF4-FFF2-40B4-BE49-F238E27FC236}">
                <a16:creationId xmlns:a16="http://schemas.microsoft.com/office/drawing/2014/main" id="{8C8E9DAC-F87B-48A0-9CC4-168EEDDD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7411" name="슬라이드 번호 개체 틀 5">
            <a:extLst>
              <a:ext uri="{FF2B5EF4-FFF2-40B4-BE49-F238E27FC236}">
                <a16:creationId xmlns:a16="http://schemas.microsoft.com/office/drawing/2014/main" id="{7CC01FAA-662E-4F9B-B81A-FC70C4E68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B390F39-F396-4CED-B7E2-C9DE3300A752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D432FA8-B715-47FB-B93D-D65724FC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9BED0563-8AAC-4B28-927B-FE30BE99C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7414" name="내용 개체 틀 7">
            <a:extLst>
              <a:ext uri="{FF2B5EF4-FFF2-40B4-BE49-F238E27FC236}">
                <a16:creationId xmlns:a16="http://schemas.microsoft.com/office/drawing/2014/main" id="{DE07C6E1-5135-4CD7-B971-E757B92F2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420813"/>
            <a:ext cx="7681913" cy="4725987"/>
          </a:xfrm>
        </p:spPr>
        <p:txBody>
          <a:bodyPr lIns="0" tIns="0" rIns="0" bIns="0"/>
          <a:lstStyle/>
          <a:p>
            <a:r>
              <a:rPr lang="ko-KR" altLang="en-US" sz="2200" dirty="0">
                <a:ea typeface="나눔명조" pitchFamily="18" charset="-127"/>
              </a:rPr>
              <a:t>환경재를 좀 더 광의로 해석하면 그림의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전제와 달리 시장재와 환경재가 서로 보완적 관계일 수도 있음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ko-KR" altLang="en-US" sz="1900" dirty="0">
                <a:ea typeface="나눔명조" pitchFamily="18" charset="-127"/>
              </a:rPr>
              <a:t>수자원</a:t>
            </a:r>
            <a:r>
              <a:rPr lang="en-US" altLang="ko-KR" sz="1900" dirty="0">
                <a:ea typeface="나눔명조" pitchFamily="18" charset="-127"/>
              </a:rPr>
              <a:t>,</a:t>
            </a:r>
            <a:r>
              <a:rPr lang="ko-KR" altLang="en-US" sz="1900" dirty="0">
                <a:ea typeface="나눔명조" pitchFamily="18" charset="-127"/>
              </a:rPr>
              <a:t>토양성분과 같은 환경재가 농업생산에 긍정적 영향을 주는 경우</a:t>
            </a:r>
            <a:endParaRPr lang="en-US" altLang="ko-KR" sz="1900" dirty="0">
              <a:ea typeface="나눔명조" pitchFamily="18" charset="-127"/>
            </a:endParaRPr>
          </a:p>
          <a:p>
            <a:pPr lvl="1"/>
            <a:r>
              <a:rPr lang="ko-KR" altLang="en-US" sz="1900" dirty="0">
                <a:ea typeface="나눔명조" pitchFamily="18" charset="-127"/>
              </a:rPr>
              <a:t>건강이나 노동생산성에 영향을 주는 오염일 경우 오염이 낮을 수록 생산 늘어남</a:t>
            </a:r>
            <a:endParaRPr lang="en-US" altLang="ko-KR" sz="19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선진국은 오래 전부터 천연자원과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환경 보존에 상당한 노력을 함 </a:t>
            </a:r>
            <a:endParaRPr lang="en-US" altLang="ko-KR" sz="22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반면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저개발국은 자원이나 환경이용에 시장실패를 효율적으로 제거 하지 못해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심각한 오염과 자원고갈로 생산성이 떨어짐</a:t>
            </a:r>
            <a:endParaRPr lang="en-US" altLang="ko-KR" sz="22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이러한 이유로 인해 저개발국은 환경수준과 </a:t>
            </a:r>
            <a:r>
              <a:rPr lang="ko-KR" altLang="en-US" sz="2200" dirty="0" err="1">
                <a:ea typeface="나눔명조" pitchFamily="18" charset="-127"/>
              </a:rPr>
              <a:t>시장재</a:t>
            </a:r>
            <a:r>
              <a:rPr lang="ko-KR" altLang="en-US" sz="2200" dirty="0">
                <a:ea typeface="나눔명조" pitchFamily="18" charset="-127"/>
              </a:rPr>
              <a:t> 소비 수준이 다 같이 낮은 양상을 보임</a:t>
            </a:r>
            <a:endParaRPr lang="en-US" altLang="ko-KR" sz="2200" dirty="0">
              <a:ea typeface="나눔명조" pitchFamily="18" charset="-127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CF8E666D-6AE0-46CD-A82C-8BFA5DC55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횡단면분석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4263326A-D3EA-4107-AB5B-6D6F6272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8435" name="슬라이드 번호 개체 틀 5">
            <a:extLst>
              <a:ext uri="{FF2B5EF4-FFF2-40B4-BE49-F238E27FC236}">
                <a16:creationId xmlns:a16="http://schemas.microsoft.com/office/drawing/2014/main" id="{26F49351-3374-4975-9676-5927CF2C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3E3BB57-DA72-4EEE-88AC-BC71D5C98C9B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08264363-8B42-4D01-AA8F-7FF62F0C8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51E2ED3D-9D9F-45B6-BB2B-10732B452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8438" name="내용 개체 틀 7">
            <a:extLst>
              <a:ext uri="{FF2B5EF4-FFF2-40B4-BE49-F238E27FC236}">
                <a16:creationId xmlns:a16="http://schemas.microsoft.com/office/drawing/2014/main" id="{B02B63A9-2BF0-4864-B52D-B103A3DB5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5257800"/>
            <a:ext cx="7848600" cy="1382713"/>
          </a:xfrm>
        </p:spPr>
        <p:txBody>
          <a:bodyPr lIns="0" tIns="0" rIns="0" bIns="0"/>
          <a:lstStyle/>
          <a:p>
            <a:r>
              <a:rPr lang="en-US" altLang="ko-KR" sz="2000">
                <a:ea typeface="나눔명조" pitchFamily="18" charset="-127"/>
              </a:rPr>
              <a:t>B, D </a:t>
            </a:r>
            <a:r>
              <a:rPr lang="ko-KR" altLang="en-US" sz="2000">
                <a:ea typeface="나눔명조" pitchFamily="18" charset="-127"/>
              </a:rPr>
              <a:t>경로가 현실적인 발전경로임</a:t>
            </a:r>
            <a:endParaRPr lang="en-US" altLang="ko-KR" sz="2000">
              <a:ea typeface="나눔명조" pitchFamily="18" charset="-127"/>
            </a:endParaRPr>
          </a:p>
          <a:p>
            <a:r>
              <a:rPr lang="ko-KR" altLang="en-US" sz="2000">
                <a:ea typeface="나눔명조" pitchFamily="18" charset="-127"/>
              </a:rPr>
              <a:t>각국은 </a:t>
            </a:r>
            <a:r>
              <a:rPr lang="en-US" altLang="ko-KR" sz="2000">
                <a:ea typeface="나눔명조" pitchFamily="18" charset="-127"/>
              </a:rPr>
              <a:t>A~F</a:t>
            </a:r>
            <a:r>
              <a:rPr lang="ko-KR" altLang="en-US" sz="2000">
                <a:ea typeface="나눔명조" pitchFamily="18" charset="-127"/>
              </a:rPr>
              <a:t>의 다양한 경로 중 하나를 밟고 있을 것임</a:t>
            </a:r>
            <a:endParaRPr lang="en-US" altLang="ko-KR" sz="2000">
              <a:ea typeface="나눔명조" pitchFamily="18" charset="-127"/>
            </a:endParaRPr>
          </a:p>
          <a:p>
            <a:endParaRPr lang="en-US" altLang="ko-KR" sz="2200">
              <a:ea typeface="나눔명조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6F6F69E-8FE4-4555-A6ED-081EFABB9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755927"/>
              </p:ext>
            </p:extLst>
          </p:nvPr>
        </p:nvGraphicFramePr>
        <p:xfrm>
          <a:off x="5829981" y="2156385"/>
          <a:ext cx="2975882" cy="2041992"/>
        </p:xfrm>
        <a:graphic>
          <a:graphicData uri="http://schemas.openxmlformats.org/drawingml/2006/table">
            <a:tbl>
              <a:tblPr/>
              <a:tblGrid>
                <a:gridCol w="721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명조" pitchFamily="18" charset="-127"/>
                          <a:ea typeface="나눔명조" pitchFamily="18" charset="-127"/>
                        </a:rPr>
                        <a:t>경로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7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명조" pitchFamily="18" charset="-127"/>
                          <a:ea typeface="나눔명조" pitchFamily="18" charset="-127"/>
                        </a:rPr>
                        <a:t>환경재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명조" pitchFamily="18" charset="-127"/>
                        <a:ea typeface="나눔명조" pitchFamily="18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76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명조" pitchFamily="18" charset="-127"/>
                          <a:ea typeface="나눔명조" pitchFamily="18" charset="-127"/>
                        </a:rPr>
                        <a:t>시장재</a:t>
                      </a:r>
                      <a:endParaRPr kumimoji="0" lang="ko-KR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명조" pitchFamily="18" charset="-127"/>
                        <a:ea typeface="나눔명조" pitchFamily="18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7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A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▲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▲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E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▽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▽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F</a:t>
                      </a:r>
                      <a:endParaRPr kumimoji="0" lang="ko-KR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▲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▽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B</a:t>
                      </a:r>
                      <a:endParaRPr kumimoji="0" lang="ko-KR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▽  → ▲ 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▲ → ▲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D</a:t>
                      </a:r>
                      <a:endParaRPr kumimoji="0" lang="ko-KR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pitchFamily="50" charset="-127"/>
                      </a:endParaRP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▽  → ▽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pitchFamily="50" charset="-127"/>
                        </a:rPr>
                        <a:t>▲ → ▽</a:t>
                      </a:r>
                    </a:p>
                  </a:txBody>
                  <a:tcPr marL="91463" marR="91463" marT="45706" marB="4570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64" name="Rectangle 6">
            <a:extLst>
              <a:ext uri="{FF2B5EF4-FFF2-40B4-BE49-F238E27FC236}">
                <a16:creationId xmlns:a16="http://schemas.microsoft.com/office/drawing/2014/main" id="{71F101AD-466D-470C-8D26-A4A60649F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시계열분석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237B027-3F0D-4742-AAAD-5FE079BC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51" y="1261806"/>
            <a:ext cx="5519247" cy="361499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바닥글 개체 틀 4">
            <a:extLst>
              <a:ext uri="{FF2B5EF4-FFF2-40B4-BE49-F238E27FC236}">
                <a16:creationId xmlns:a16="http://schemas.microsoft.com/office/drawing/2014/main" id="{789DDB04-C5DE-4558-9721-C39CDBC1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9460" name="슬라이드 번호 개체 틀 5">
            <a:extLst>
              <a:ext uri="{FF2B5EF4-FFF2-40B4-BE49-F238E27FC236}">
                <a16:creationId xmlns:a16="http://schemas.microsoft.com/office/drawing/2014/main" id="{1B8A21DD-E64A-42BE-B29F-5236BB99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56C63A7-2ADA-4A7A-9B19-70A2DD19AB39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B4C4BF7C-C04B-4C44-BE8D-2AEACCAD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3E490C1A-1D03-47D0-84B7-DF8762F79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내용 개체 틀 7">
            <a:extLst>
              <a:ext uri="{FF2B5EF4-FFF2-40B4-BE49-F238E27FC236}">
                <a16:creationId xmlns:a16="http://schemas.microsoft.com/office/drawing/2014/main" id="{0C0778B2-B949-4FCE-8AD5-AF232E74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25" y="1473200"/>
            <a:ext cx="7850188" cy="2225675"/>
          </a:xfrm>
        </p:spPr>
        <p:txBody>
          <a:bodyPr lIns="0" tIns="0" rIns="0" bIns="0"/>
          <a:lstStyle/>
          <a:p>
            <a:r>
              <a:rPr lang="ko-KR" altLang="en-US" sz="1800" dirty="0" err="1">
                <a:ea typeface="나눔명조" pitchFamily="18" charset="-127"/>
              </a:rPr>
              <a:t>그로스만과</a:t>
            </a:r>
            <a:r>
              <a:rPr lang="ko-KR" altLang="en-US" sz="1800" dirty="0">
                <a:ea typeface="나눔명조" pitchFamily="18" charset="-127"/>
              </a:rPr>
              <a:t> </a:t>
            </a:r>
            <a:r>
              <a:rPr lang="ko-KR" altLang="en-US" sz="1800" dirty="0" err="1">
                <a:ea typeface="나눔명조" pitchFamily="18" charset="-127"/>
              </a:rPr>
              <a:t>크루에거는</a:t>
            </a:r>
            <a:r>
              <a:rPr lang="ko-KR" altLang="en-US" sz="1800" dirty="0">
                <a:ea typeface="나눔명조" pitchFamily="18" charset="-127"/>
              </a:rPr>
              <a:t> 수십 개 국가의 시계열자료를 혼합하여 경제발전 정도와 </a:t>
            </a:r>
            <a:r>
              <a:rPr lang="ko-KR" altLang="en-US" sz="1800" dirty="0" err="1">
                <a:ea typeface="나눔명조" pitchFamily="18" charset="-127"/>
              </a:rPr>
              <a:t>환경질</a:t>
            </a:r>
            <a:r>
              <a:rPr lang="ko-KR" altLang="en-US" sz="1800" dirty="0">
                <a:ea typeface="나눔명조" pitchFamily="18" charset="-127"/>
              </a:rPr>
              <a:t> 사이의 상관관계를 분석</a:t>
            </a:r>
            <a:r>
              <a:rPr lang="en-US" altLang="ko-KR" sz="1800" dirty="0">
                <a:ea typeface="나눔명조" pitchFamily="18" charset="-127"/>
              </a:rPr>
              <a:t>(</a:t>
            </a:r>
            <a:r>
              <a:rPr lang="ko-KR" altLang="en-US" sz="1800" dirty="0">
                <a:ea typeface="나눔명조" pitchFamily="18" charset="-127"/>
              </a:rPr>
              <a:t>횡단면</a:t>
            </a:r>
            <a:r>
              <a:rPr lang="en-US" altLang="ko-KR" sz="1800" dirty="0">
                <a:ea typeface="나눔명조" pitchFamily="18" charset="-127"/>
              </a:rPr>
              <a:t>+</a:t>
            </a:r>
            <a:r>
              <a:rPr lang="ko-KR" altLang="en-US" sz="1800" dirty="0">
                <a:ea typeface="나눔명조" pitchFamily="18" charset="-127"/>
              </a:rPr>
              <a:t>시계열</a:t>
            </a:r>
            <a:r>
              <a:rPr lang="en-US" altLang="ko-KR" sz="1800" dirty="0">
                <a:ea typeface="나눔명조" pitchFamily="18" charset="-127"/>
              </a:rPr>
              <a:t>)</a:t>
            </a:r>
          </a:p>
          <a:p>
            <a:r>
              <a:rPr lang="ko-KR" altLang="en-US" sz="1800" dirty="0">
                <a:ea typeface="나눔명조" pitchFamily="18" charset="-127"/>
              </a:rPr>
              <a:t>오염도와 경제발전 정도 사이에 역 </a:t>
            </a:r>
            <a:r>
              <a:rPr lang="en-US" altLang="ko-KR" sz="1800" dirty="0">
                <a:ea typeface="나눔명조" pitchFamily="18" charset="-127"/>
              </a:rPr>
              <a:t>U</a:t>
            </a:r>
            <a:r>
              <a:rPr lang="ko-KR" altLang="en-US" sz="1800" dirty="0">
                <a:ea typeface="나눔명조" pitchFamily="18" charset="-127"/>
              </a:rPr>
              <a:t>자형의 관계가 존재한다는 것을 밝힘</a:t>
            </a:r>
            <a:endParaRPr lang="en-US" altLang="ko-KR" sz="1800" dirty="0">
              <a:ea typeface="나눔명조" pitchFamily="18" charset="-127"/>
            </a:endParaRPr>
          </a:p>
          <a:p>
            <a:pPr lvl="1"/>
            <a:r>
              <a:rPr lang="ko-KR" altLang="en-US" sz="1400" dirty="0">
                <a:ea typeface="나눔명조" pitchFamily="18" charset="-127"/>
              </a:rPr>
              <a:t>경제개발 초기에는 산업화</a:t>
            </a:r>
            <a:r>
              <a:rPr lang="en-US" altLang="ko-KR" sz="1400" dirty="0">
                <a:ea typeface="나눔명조" pitchFamily="18" charset="-127"/>
              </a:rPr>
              <a:t>/</a:t>
            </a:r>
            <a:r>
              <a:rPr lang="ko-KR" altLang="en-US" sz="1400" dirty="0">
                <a:ea typeface="나눔명조" pitchFamily="18" charset="-127"/>
              </a:rPr>
              <a:t>도시화로 환경오염이 심화되고 환경질이 악화되는 것을 경험하지만</a:t>
            </a:r>
            <a:r>
              <a:rPr lang="en-US" altLang="ko-KR" sz="1400" dirty="0">
                <a:ea typeface="나눔명조" pitchFamily="18" charset="-127"/>
              </a:rPr>
              <a:t>, </a:t>
            </a:r>
            <a:r>
              <a:rPr lang="ko-KR" altLang="en-US" sz="1400" dirty="0">
                <a:ea typeface="나눔명조" pitchFamily="18" charset="-127"/>
              </a:rPr>
              <a:t>경제발전이 지속되면서 환경질을 개선하고자 하는 정책이나 기술이 사용되고</a:t>
            </a:r>
            <a:r>
              <a:rPr lang="en-US" altLang="ko-KR" sz="1400" dirty="0">
                <a:ea typeface="나눔명조" pitchFamily="18" charset="-127"/>
              </a:rPr>
              <a:t>, </a:t>
            </a:r>
            <a:r>
              <a:rPr lang="ko-KR" altLang="en-US" sz="1400" dirty="0">
                <a:ea typeface="나눔명조" pitchFamily="18" charset="-127"/>
              </a:rPr>
              <a:t>이로 인해 오염도가 다시 하락함</a:t>
            </a:r>
            <a:endParaRPr lang="en-US" altLang="ko-KR" sz="1400" dirty="0">
              <a:ea typeface="나눔명조" pitchFamily="18" charset="-127"/>
            </a:endParaRPr>
          </a:p>
          <a:p>
            <a:r>
              <a:rPr lang="ko-KR" altLang="en-US" sz="1800" dirty="0">
                <a:ea typeface="나눔명조" pitchFamily="18" charset="-127"/>
              </a:rPr>
              <a:t>이러한 현상을 </a:t>
            </a:r>
            <a:r>
              <a:rPr lang="ko-KR" altLang="en-US" sz="1800" b="1" dirty="0" err="1">
                <a:solidFill>
                  <a:srgbClr val="0000FF"/>
                </a:solidFill>
                <a:ea typeface="나눔명조" pitchFamily="18" charset="-127"/>
              </a:rPr>
              <a:t>환경쿠즈네츠곡선</a:t>
            </a:r>
            <a:r>
              <a:rPr lang="en-US" altLang="ko-KR" sz="1800" b="1" dirty="0">
                <a:solidFill>
                  <a:srgbClr val="0000FF"/>
                </a:solidFill>
                <a:ea typeface="나눔명조" pitchFamily="18" charset="-127"/>
              </a:rPr>
              <a:t>(environmental Kuznets Curve, EKC)</a:t>
            </a:r>
            <a:r>
              <a:rPr lang="ko-KR" altLang="en-US" sz="1800" dirty="0">
                <a:ea typeface="나눔명조" pitchFamily="18" charset="-127"/>
              </a:rPr>
              <a:t>이라 부르게 됨</a:t>
            </a:r>
            <a:endParaRPr lang="en-US" altLang="ko-KR" sz="1800" dirty="0">
              <a:ea typeface="나눔명조" pitchFamily="18" charset="-127"/>
            </a:endParaRPr>
          </a:p>
          <a:p>
            <a:pPr lvl="1"/>
            <a:r>
              <a:rPr lang="ko-KR" altLang="en-US" sz="1400" dirty="0" err="1">
                <a:ea typeface="나눔명조" pitchFamily="18" charset="-127"/>
              </a:rPr>
              <a:t>쿠즈네츠</a:t>
            </a:r>
            <a:r>
              <a:rPr lang="en-US" altLang="ko-KR" sz="1400" dirty="0">
                <a:ea typeface="나눔명조" pitchFamily="18" charset="-127"/>
              </a:rPr>
              <a:t>(Kuznets, 1955)</a:t>
            </a:r>
            <a:r>
              <a:rPr lang="ko-KR" altLang="en-US" sz="1400" dirty="0">
                <a:ea typeface="나눔명조" pitchFamily="18" charset="-127"/>
              </a:rPr>
              <a:t>는 경제성장 초기에는 성장할수록 소득분배가 악화되지만 경제가 더 성장하면 성장할수록 오히려 소득분배가 개선된다는 현상을 관측</a:t>
            </a:r>
            <a:endParaRPr lang="en-US" altLang="ko-KR" sz="1400" dirty="0">
              <a:ea typeface="나눔명조" pitchFamily="18" charset="-127"/>
            </a:endParaRPr>
          </a:p>
          <a:p>
            <a:r>
              <a:rPr lang="ko-KR" altLang="en-US" sz="1800" dirty="0" err="1">
                <a:ea typeface="나눔명조" pitchFamily="18" charset="-127"/>
              </a:rPr>
              <a:t>그로스만과</a:t>
            </a:r>
            <a:r>
              <a:rPr lang="ko-KR" altLang="en-US" sz="1800" dirty="0">
                <a:ea typeface="나눔명조" pitchFamily="18" charset="-127"/>
              </a:rPr>
              <a:t> </a:t>
            </a:r>
            <a:r>
              <a:rPr lang="ko-KR" altLang="en-US" sz="1800" dirty="0" err="1">
                <a:ea typeface="나눔명조" pitchFamily="18" charset="-127"/>
              </a:rPr>
              <a:t>크루에거는</a:t>
            </a:r>
            <a:r>
              <a:rPr lang="ko-KR" altLang="en-US" sz="1800" dirty="0">
                <a:ea typeface="나눔명조" pitchFamily="18" charset="-127"/>
              </a:rPr>
              <a:t> 경제성장이 환경개선에 도움이 되도록 변하는 전환점으로 당시 가치로 </a:t>
            </a:r>
            <a:r>
              <a:rPr lang="en-US" altLang="ko-KR" sz="1800" dirty="0">
                <a:ea typeface="나눔명조" pitchFamily="18" charset="-127"/>
              </a:rPr>
              <a:t>1</a:t>
            </a:r>
            <a:r>
              <a:rPr lang="ko-KR" altLang="en-US" sz="1800" dirty="0">
                <a:ea typeface="나눔명조" pitchFamily="18" charset="-127"/>
              </a:rPr>
              <a:t>인당 연간소득 </a:t>
            </a:r>
            <a:r>
              <a:rPr lang="en-US" altLang="ko-KR" sz="1800" dirty="0">
                <a:ea typeface="나눔명조" pitchFamily="18" charset="-127"/>
              </a:rPr>
              <a:t>5,000 </a:t>
            </a:r>
            <a:r>
              <a:rPr lang="ko-KR" altLang="en-US" sz="1800" dirty="0">
                <a:ea typeface="나눔명조" pitchFamily="18" charset="-127"/>
              </a:rPr>
              <a:t>달러를 찾아냈음</a:t>
            </a:r>
          </a:p>
          <a:p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63287178-EA43-4DA5-9608-D41D04DF4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시계열분석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바닥글 개체 틀 4">
            <a:extLst>
              <a:ext uri="{FF2B5EF4-FFF2-40B4-BE49-F238E27FC236}">
                <a16:creationId xmlns:a16="http://schemas.microsoft.com/office/drawing/2014/main" id="{06EB5810-08D0-4805-86CF-EC9EC5F0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0483" name="슬라이드 번호 개체 틀 5">
            <a:extLst>
              <a:ext uri="{FF2B5EF4-FFF2-40B4-BE49-F238E27FC236}">
                <a16:creationId xmlns:a16="http://schemas.microsoft.com/office/drawing/2014/main" id="{FB1CD331-ACBF-477D-8F53-49B15F8B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5606786-2273-4900-8A8A-3458E80603AB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5B891F84-913D-40DD-B053-A86B07006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424E6196-753C-4033-95BE-A8756073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F4E49A69-1F10-4767-9EA6-AA7DEA2E5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시계열분석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AD22EF-A535-4E10-97AE-5A9F18401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19" y="1219201"/>
            <a:ext cx="7124035" cy="371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12438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바닥글 개체 틀 4">
            <a:extLst>
              <a:ext uri="{FF2B5EF4-FFF2-40B4-BE49-F238E27FC236}">
                <a16:creationId xmlns:a16="http://schemas.microsoft.com/office/drawing/2014/main" id="{789DDB04-C5DE-4558-9721-C39CDBC1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9460" name="슬라이드 번호 개체 틀 5">
            <a:extLst>
              <a:ext uri="{FF2B5EF4-FFF2-40B4-BE49-F238E27FC236}">
                <a16:creationId xmlns:a16="http://schemas.microsoft.com/office/drawing/2014/main" id="{1B8A21DD-E64A-42BE-B29F-5236BB99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56C63A7-2ADA-4A7A-9B19-70A2DD19AB39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B4C4BF7C-C04B-4C44-BE8D-2AEACCAD5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3E490C1A-1D03-47D0-84B7-DF8762F79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9463" name="내용 개체 틀 7">
            <a:extLst>
              <a:ext uri="{FF2B5EF4-FFF2-40B4-BE49-F238E27FC236}">
                <a16:creationId xmlns:a16="http://schemas.microsoft.com/office/drawing/2014/main" id="{0C0778B2-B949-4FCE-8AD5-AF232E74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125" y="1473200"/>
            <a:ext cx="7850188" cy="2225675"/>
          </a:xfrm>
        </p:spPr>
        <p:txBody>
          <a:bodyPr lIns="0" tIns="0" rIns="0" bIns="0"/>
          <a:lstStyle/>
          <a:p>
            <a:r>
              <a:rPr lang="ko-KR" altLang="en-US" sz="2200" dirty="0" err="1">
                <a:ea typeface="나눔명조" pitchFamily="18" charset="-127"/>
              </a:rPr>
              <a:t>그로스만과</a:t>
            </a:r>
            <a:r>
              <a:rPr lang="ko-KR" altLang="en-US" sz="2200" dirty="0">
                <a:ea typeface="나눔명조" pitchFamily="18" charset="-127"/>
              </a:rPr>
              <a:t> </a:t>
            </a:r>
            <a:r>
              <a:rPr lang="ko-KR" altLang="en-US" sz="2200" dirty="0" err="1">
                <a:ea typeface="나눔명조" pitchFamily="18" charset="-127"/>
              </a:rPr>
              <a:t>크루에거</a:t>
            </a:r>
            <a:r>
              <a:rPr lang="ko-KR" altLang="en-US" sz="2200" dirty="0">
                <a:ea typeface="나눔명조" pitchFamily="18" charset="-127"/>
              </a:rPr>
              <a:t> 연구는 여러 발전경로 가운데 경로 </a:t>
            </a:r>
            <a:r>
              <a:rPr lang="en-US" altLang="ko-KR" sz="2200" dirty="0">
                <a:ea typeface="나눔명조" pitchFamily="18" charset="-127"/>
              </a:rPr>
              <a:t>B</a:t>
            </a:r>
            <a:r>
              <a:rPr lang="ko-KR" altLang="en-US" sz="2200" dirty="0">
                <a:ea typeface="나눔명조" pitchFamily="18" charset="-127"/>
              </a:rPr>
              <a:t>가 가장 현실적이라는 것을 시사함</a:t>
            </a:r>
            <a:endParaRPr lang="en-US" altLang="ko-KR" sz="22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그러나 현재의 저개발국이 시간이 지나면 반드시 현재의 선진국과 같이 소득수준도 높아지고 환경질도 개선되게 된다는 사실을 의미하지는 않음</a:t>
            </a:r>
            <a:endParaRPr lang="en-US" altLang="ko-KR" sz="22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지속적 성장을 위해서는 성장의 동인이 되는 물적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인적 자원에 대한 적절한 투자시스템이 </a:t>
            </a:r>
            <a:r>
              <a:rPr lang="ko-KR" altLang="en-US" sz="2200" dirty="0" err="1">
                <a:ea typeface="나눔명조" pitchFamily="18" charset="-127"/>
              </a:rPr>
              <a:t>갖추어져야</a:t>
            </a:r>
            <a:r>
              <a:rPr lang="ko-KR" altLang="en-US" sz="2200" dirty="0">
                <a:ea typeface="나눔명조" pitchFamily="18" charset="-127"/>
              </a:rPr>
              <a:t> 하고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효과적인 환경과 자원이용을 유도하는 시스템도 존재해야 함</a:t>
            </a:r>
            <a:endParaRPr lang="en-US" altLang="ko-KR" sz="2200" dirty="0">
              <a:ea typeface="나눔명조" pitchFamily="18" charset="-127"/>
            </a:endParaRPr>
          </a:p>
          <a:p>
            <a:r>
              <a:rPr lang="ko-KR" altLang="en-US" sz="2200" dirty="0">
                <a:ea typeface="나눔명조" pitchFamily="18" charset="-127"/>
              </a:rPr>
              <a:t>이러한 시스템이 </a:t>
            </a:r>
            <a:r>
              <a:rPr lang="ko-KR" altLang="en-US" sz="2200" dirty="0" err="1">
                <a:ea typeface="나눔명조" pitchFamily="18" charset="-127"/>
              </a:rPr>
              <a:t>갖추어지지</a:t>
            </a:r>
            <a:r>
              <a:rPr lang="ko-KR" altLang="en-US" sz="2200" dirty="0">
                <a:ea typeface="나눔명조" pitchFamily="18" charset="-127"/>
              </a:rPr>
              <a:t> 않거나 물적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인적 자원 자체가 너무 빈약할 경우 빈곤과 환경오염의 악순환을 경험하게 되고</a:t>
            </a:r>
            <a:r>
              <a:rPr lang="en-US" altLang="ko-KR" sz="2200" dirty="0">
                <a:ea typeface="나눔명조" pitchFamily="18" charset="-127"/>
              </a:rPr>
              <a:t> </a:t>
            </a:r>
            <a:r>
              <a:rPr lang="ko-KR" altLang="en-US" sz="2200" dirty="0">
                <a:ea typeface="나눔명조" pitchFamily="18" charset="-127"/>
              </a:rPr>
              <a:t>이런 경우에는 경로 </a:t>
            </a:r>
            <a:r>
              <a:rPr lang="en-US" altLang="ko-KR" sz="2200" dirty="0">
                <a:ea typeface="나눔명조" pitchFamily="18" charset="-127"/>
              </a:rPr>
              <a:t>B</a:t>
            </a:r>
            <a:r>
              <a:rPr lang="ko-KR" altLang="en-US" sz="2200" dirty="0">
                <a:ea typeface="나눔명조" pitchFamily="18" charset="-127"/>
              </a:rPr>
              <a:t>보다는 </a:t>
            </a:r>
            <a:r>
              <a:rPr lang="ko-KR" altLang="en-US" sz="2200" u="sng" dirty="0">
                <a:ea typeface="나눔명조" pitchFamily="18" charset="-127"/>
              </a:rPr>
              <a:t>경로 </a:t>
            </a:r>
            <a:r>
              <a:rPr lang="en-US" altLang="ko-KR" sz="2200" u="sng" dirty="0">
                <a:ea typeface="나눔명조" pitchFamily="18" charset="-127"/>
              </a:rPr>
              <a:t>D</a:t>
            </a:r>
            <a:r>
              <a:rPr lang="ko-KR" altLang="en-US" sz="2200" dirty="0">
                <a:ea typeface="나눔명조" pitchFamily="18" charset="-127"/>
              </a:rPr>
              <a:t>가 나타날 수 있음</a:t>
            </a:r>
            <a:endParaRPr lang="en-US" altLang="ko-KR" sz="2200" dirty="0">
              <a:ea typeface="나눔명조" pitchFamily="18" charset="-127"/>
            </a:endParaRPr>
          </a:p>
        </p:txBody>
      </p:sp>
      <p:sp>
        <p:nvSpPr>
          <p:cNvPr id="19464" name="Rectangle 6">
            <a:extLst>
              <a:ext uri="{FF2B5EF4-FFF2-40B4-BE49-F238E27FC236}">
                <a16:creationId xmlns:a16="http://schemas.microsoft.com/office/drawing/2014/main" id="{63287178-EA43-4DA5-9608-D41D04DF4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시계열분석</a:t>
            </a:r>
          </a:p>
        </p:txBody>
      </p:sp>
    </p:spTree>
    <p:extLst>
      <p:ext uri="{BB962C8B-B14F-4D97-AF65-F5344CB8AC3E}">
        <p14:creationId xmlns:p14="http://schemas.microsoft.com/office/powerpoint/2010/main" val="3925709809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바닥글 개체 틀 4">
            <a:extLst>
              <a:ext uri="{FF2B5EF4-FFF2-40B4-BE49-F238E27FC236}">
                <a16:creationId xmlns:a16="http://schemas.microsoft.com/office/drawing/2014/main" id="{E7ED4FFE-667D-43B4-B6DC-5FA6FD897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1507" name="슬라이드 번호 개체 틀 5">
            <a:extLst>
              <a:ext uri="{FF2B5EF4-FFF2-40B4-BE49-F238E27FC236}">
                <a16:creationId xmlns:a16="http://schemas.microsoft.com/office/drawing/2014/main" id="{AA44E0CC-38C1-4F4A-8DF2-EA59EA50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82B7656-76B8-40AD-92C9-7AAB4ADCA1D0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A4ACD825-5A2C-45E2-9071-CDCAF81AA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9CA226C1-29B5-41D0-8EC1-9E9D6DC9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1510" name="내용 개체 틀 7">
            <a:extLst>
              <a:ext uri="{FF2B5EF4-FFF2-40B4-BE49-F238E27FC236}">
                <a16:creationId xmlns:a16="http://schemas.microsoft.com/office/drawing/2014/main" id="{F65476C1-F67F-4B7B-AECD-462C3152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475" y="1294606"/>
            <a:ext cx="7680325" cy="4756150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 국가가 발전전략을 수립하는 데 있어 목표로 하여야 할 경제발전형태는 </a:t>
            </a:r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지속가능한 발전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(sustainable development)</a:t>
            </a:r>
          </a:p>
          <a:p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브룬틀란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보고서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(Brundtland report)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지속가능한 발전이란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‘</a:t>
            </a:r>
            <a:r>
              <a:rPr lang="ko-KR" altLang="en-US" sz="2000" u="sng" dirty="0">
                <a:latin typeface="나눔명조" pitchFamily="18" charset="-127"/>
                <a:ea typeface="나눔명조" pitchFamily="18" charset="-127"/>
              </a:rPr>
              <a:t>미래세대가 자신들의 경제적 욕구를 충족할 수 있는 능력을 훼손 하지 않으면서 현세대의 경제적 욕구를 해결하는 경제 발전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’</a:t>
            </a:r>
            <a:endParaRPr lang="en-US" altLang="ko-KR" sz="11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지속가능한 발전의 보다 구체적인 지표가 필요함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</a:p>
          <a:p>
            <a:pPr lvl="1"/>
            <a:r>
              <a:rPr lang="ko-KR" altLang="en-US" sz="2000" dirty="0">
                <a:latin typeface="굴림" panose="020B0600000101010101" pitchFamily="50" charset="-127"/>
                <a:ea typeface="나눔명조" pitchFamily="18" charset="-127"/>
              </a:rPr>
              <a:t>엄격한 지표</a:t>
            </a:r>
            <a:r>
              <a:rPr lang="en-US" altLang="ko-KR" sz="2000" dirty="0">
                <a:latin typeface="굴림" panose="020B0600000101010101" pitchFamily="50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굴림" panose="020B0600000101010101" pitchFamily="50" charset="-127"/>
                <a:ea typeface="나눔명조" pitchFamily="18" charset="-127"/>
              </a:rPr>
              <a:t>경제발전과정에서 토양의 질</a:t>
            </a:r>
            <a:r>
              <a:rPr lang="en-US" altLang="ko-KR" sz="2000" dirty="0">
                <a:latin typeface="굴림" panose="020B0600000101010101" pitchFamily="50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나눔명조" pitchFamily="18" charset="-127"/>
              </a:rPr>
              <a:t>수자원의 양과 질</a:t>
            </a:r>
            <a:r>
              <a:rPr lang="en-US" altLang="ko-KR" sz="2000" dirty="0">
                <a:latin typeface="굴림" panose="020B0600000101010101" pitchFamily="50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나눔명조" pitchFamily="18" charset="-127"/>
              </a:rPr>
              <a:t>기타 생물자원의 양</a:t>
            </a:r>
            <a:r>
              <a:rPr lang="en-US" altLang="ko-KR" sz="2000" dirty="0">
                <a:latin typeface="굴림" panose="020B0600000101010101" pitchFamily="50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굴림" panose="020B0600000101010101" pitchFamily="50" charset="-127"/>
                <a:ea typeface="나눔명조" pitchFamily="18" charset="-127"/>
              </a:rPr>
              <a:t>생태계의 폐기물 흡수능력 등과 같은 천연자원의 양이나 환경재의 양 자체가 감소하지 않아야 함</a:t>
            </a:r>
            <a:endParaRPr lang="en-US" altLang="ko-KR" sz="2000" dirty="0">
              <a:latin typeface="굴림" panose="020B0600000101010101" pitchFamily="50" charset="-127"/>
              <a:ea typeface="나눔명조" pitchFamily="18" charset="-127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2B5448B4-2204-4075-B6CD-CDCB92DEA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지속가능한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발전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4">
            <a:extLst>
              <a:ext uri="{FF2B5EF4-FFF2-40B4-BE49-F238E27FC236}">
                <a16:creationId xmlns:a16="http://schemas.microsoft.com/office/drawing/2014/main" id="{DAF951BE-457B-484D-BA1C-F6BDD77B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2531" name="슬라이드 번호 개체 틀 5">
            <a:extLst>
              <a:ext uri="{FF2B5EF4-FFF2-40B4-BE49-F238E27FC236}">
                <a16:creationId xmlns:a16="http://schemas.microsoft.com/office/drawing/2014/main" id="{5D7BC986-6059-4472-960F-4FC1468B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DA1F873-4798-437A-B0D2-450AFFBD39CC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6516EAC7-C30D-428F-ABCB-442496B25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4AE74CE5-FBE0-42E7-A5EA-7C49D088F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4" name="내용 개체 틀 7">
            <a:extLst>
              <a:ext uri="{FF2B5EF4-FFF2-40B4-BE49-F238E27FC236}">
                <a16:creationId xmlns:a16="http://schemas.microsoft.com/office/drawing/2014/main" id="{1111FEA2-0D70-435C-A09A-E1F2D4330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50" y="1458913"/>
            <a:ext cx="7764463" cy="4900612"/>
          </a:xfrm>
        </p:spPr>
        <p:txBody>
          <a:bodyPr lIns="0" tIns="0" rIns="0" bIns="0"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그러나 이러한 엄격한 지표는 실제 지표로 사용되기 힘듦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marL="914400" lvl="1" indent="-457200">
              <a:buAutoNum type="arabicParenR"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재생불가능한 자원은 사용할수록 줄 수밖에 없음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marL="914400" lvl="1" indent="-457200">
              <a:buAutoNum type="arabicParenR"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위 지표는 시장재와 자연환경의 대체관계를 전혀 허용하지 않음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생산과정에서 만들어낸 지식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자본으로 천연자원을 대체하는 것이 허용될 경우 천연자원이 줄어들더라도 생산량 자체는 줄지 않음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marL="914400" lvl="1" indent="-457200">
              <a:buAutoNum type="arabicParenR"/>
            </a:pP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소비에서의 대체관계가 인정될 경우 환경질이 악화된다고 반드시 후생수준이 낮아지는 것은 아님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2300" dirty="0">
              <a:latin typeface="굴림" panose="020B0600000101010101" pitchFamily="50" charset="-127"/>
              <a:ea typeface="나눔명조" pitchFamily="18" charset="-127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86698503-81B1-4CDB-945C-2B63C3764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지속가능한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발전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4">
            <a:extLst>
              <a:ext uri="{FF2B5EF4-FFF2-40B4-BE49-F238E27FC236}">
                <a16:creationId xmlns:a16="http://schemas.microsoft.com/office/drawing/2014/main" id="{063AD67D-F353-4D86-A4E1-4E6C45F9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3555" name="슬라이드 번호 개체 틀 5">
            <a:extLst>
              <a:ext uri="{FF2B5EF4-FFF2-40B4-BE49-F238E27FC236}">
                <a16:creationId xmlns:a16="http://schemas.microsoft.com/office/drawing/2014/main" id="{4B38B4CA-D93F-4722-AD23-A579774B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897078F-CE83-4A68-B496-63B9C41B6287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DE6E122D-8D92-471A-BA8A-896AD2EF9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333EC8A6-C84E-4D87-B9B4-0C7CC762D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8" name="내용 개체 틀 7">
            <a:extLst>
              <a:ext uri="{FF2B5EF4-FFF2-40B4-BE49-F238E27FC236}">
                <a16:creationId xmlns:a16="http://schemas.microsoft.com/office/drawing/2014/main" id="{8F56A03A-69D1-42B3-BAD5-B10C13748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50" y="1444625"/>
            <a:ext cx="7848600" cy="4900613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경제학자들은 지속가능한 발전은 다양한 시점에서 살아가는 세대가 얻는 후생수준을 기준으로 정의되어야 한다고 봄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경우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지속가능한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발전이란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 간의 분배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(intergenerational distribution)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문제 혹은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 간의 정의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(intergenerational </a:t>
            </a:r>
            <a:r>
              <a:rPr lang="en-US" altLang="ko-KR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justie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문제로 전환됨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지속가능한 발전이란 시간이 지나면서 각 세대의 구성원이 얻는 후생수준이 감소하지 않는 경제발전을 의미하는 것으로 해석됨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세대보다 낮은 후생수준을 얻지 않으며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3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 역시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세대보다 낮지 않은 후생수준으로 얻을 수 있어야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총자본량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(aggregate capital stock)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이를 구체적으로 확인 할 수 있는 지표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endParaRPr lang="en-US" altLang="ko-KR" sz="16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00514F96-3952-4999-8154-3854DCFBB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지속가능한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발전</a:t>
            </a: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4">
            <a:extLst>
              <a:ext uri="{FF2B5EF4-FFF2-40B4-BE49-F238E27FC236}">
                <a16:creationId xmlns:a16="http://schemas.microsoft.com/office/drawing/2014/main" id="{2A7BE99A-A031-439F-8F01-1ED8C6AA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4579" name="슬라이드 번호 개체 틀 5">
            <a:extLst>
              <a:ext uri="{FF2B5EF4-FFF2-40B4-BE49-F238E27FC236}">
                <a16:creationId xmlns:a16="http://schemas.microsoft.com/office/drawing/2014/main" id="{DDA479C9-2E2C-497A-8CEC-1A6ECE5A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B4D1C4AB-1425-48BD-A927-DDCE97B65D98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0B9092DA-6660-443F-986B-9B791F44B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DDE67384-E3D4-49EF-A14B-3370883E0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2" name="내용 개체 틀 7">
            <a:extLst>
              <a:ext uri="{FF2B5EF4-FFF2-40B4-BE49-F238E27FC236}">
                <a16:creationId xmlns:a16="http://schemas.microsoft.com/office/drawing/2014/main" id="{1CBD1B5A-3C14-4DB1-AA8A-C528F2D6C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388" y="1490663"/>
            <a:ext cx="7499350" cy="4854575"/>
          </a:xfrm>
        </p:spPr>
        <p:txBody>
          <a:bodyPr lIns="0" tIns="0" rIns="0" bIns="0"/>
          <a:lstStyle/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총자본량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= 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자본재가격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*1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인당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자본량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                 + 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천연자원이나 환경재의  잠재적 가격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                      *1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인당 천연자원이나 환경재의 양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천연자원이나 환경재를 적절히 평가하여 이를 자본재의 가치에 더해준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총자본량이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시간이 지나면서 줄어들지 않아야 미래세대가 현세대가 누리는 수준 이상의 후생을 얻을 수 있음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B232004D-73DE-4C20-8E60-4BBA40307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6675" y="0"/>
            <a:ext cx="7469188" cy="1096963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경제발전과 환경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지속가능한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발전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E3C9D198-2BC5-48CD-B18A-168D970E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환경쿠즈네츠곡선의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근거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부존자원 변화</a:t>
            </a:r>
          </a:p>
        </p:txBody>
      </p:sp>
      <p:sp>
        <p:nvSpPr>
          <p:cNvPr id="1028" name="바닥글 개체 틀 4">
            <a:extLst>
              <a:ext uri="{FF2B5EF4-FFF2-40B4-BE49-F238E27FC236}">
                <a16:creationId xmlns:a16="http://schemas.microsoft.com/office/drawing/2014/main" id="{188B1C1B-3A0A-45A9-B8F6-536520DB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1029" name="슬라이드 번호 개체 틀 5">
            <a:extLst>
              <a:ext uri="{FF2B5EF4-FFF2-40B4-BE49-F238E27FC236}">
                <a16:creationId xmlns:a16="http://schemas.microsoft.com/office/drawing/2014/main" id="{0D66B2DD-C314-4193-89A9-DFC7BEF3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3198159-4952-4996-82CF-15D48B5B7A40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1FA288CD-84A0-43B2-B3D9-75C6C3AF2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0F559987-84F3-47C8-9F38-808B2A76B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2" name="내용 개체 틀 7">
            <a:extLst>
              <a:ext uri="{FF2B5EF4-FFF2-40B4-BE49-F238E27FC236}">
                <a16:creationId xmlns:a16="http://schemas.microsoft.com/office/drawing/2014/main" id="{856F057D-615D-4422-B65E-811525E1E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0825"/>
            <a:ext cx="8032750" cy="4727575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제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장의 일반균형모형에서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만약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자본량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K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만 늘어난다면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K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집약적으로 사용하고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오염배출하는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생산량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늘어나게 되며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오염물질 배출량도 늘어남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(&lt;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그림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19-3&gt;)</a:t>
            </a:r>
          </a:p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자본대신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L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축적 되면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y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산업 생산량이 늘고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산업 생산량은 줄어들어 배출량 감소함 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그로스만과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크루에거가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발견한 것처럼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인당 국민소득이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5,000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달러 이하에서는 실물자본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이후에는 인간자본이 축적되며 경제가 성장한다면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EKC 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현상이 나타날 것임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바닥글 개체 틀 4">
            <a:extLst>
              <a:ext uri="{FF2B5EF4-FFF2-40B4-BE49-F238E27FC236}">
                <a16:creationId xmlns:a16="http://schemas.microsoft.com/office/drawing/2014/main" id="{4A80A2C2-97D9-4BCB-8034-332B8AED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7651" name="슬라이드 번호 개체 틀 5">
            <a:extLst>
              <a:ext uri="{FF2B5EF4-FFF2-40B4-BE49-F238E27FC236}">
                <a16:creationId xmlns:a16="http://schemas.microsoft.com/office/drawing/2014/main" id="{88B3C5E0-C748-44DA-8D38-F7C65EE4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5C40B99-D00B-4ED1-92DE-DFB8C0651A2C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798293B5-5111-47F9-BFF1-6B034F959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AACF877D-978E-4398-AA56-10630EA81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4" name="내용 개체 틀 7">
            <a:extLst>
              <a:ext uri="{FF2B5EF4-FFF2-40B4-BE49-F238E27FC236}">
                <a16:creationId xmlns:a16="http://schemas.microsoft.com/office/drawing/2014/main" id="{37AB8E3F-8F9A-4562-88B2-6BA6F8383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687513"/>
            <a:ext cx="7850187" cy="4643437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기술진보가 발생하고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동일 노동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자본투입으로 생산할 수 있는 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x, y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늘어나고 소득이 상승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소득효과로 인해 오염물질에 대한 지불의사가 커지고 따라서 정부는 오염물질 공급량을 줄이는 정책을 도입하고자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따라서 오염물질의 수요곡선은 우측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공급곡선은 좌측 이동을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이렇게 수요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공급곡선이 서로 반대로 이동하기 때문에 두 효과 중 어느 것이 상대적으로 큰지에 의해 소득 증가가 오염도에 미치는 영향이 결정됨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한계피해의 소득탄력성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(income elasticity of marginal damage)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소득이 높아질수록 커지면 정부가 이를 반영하여 환경정책을 크게 강화하며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EKC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현상 나타남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915EB9F-B0AE-4EC3-B6F7-5FC691333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환경쿠즈네츠곡선의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근거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소득증가의 효과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바닥글 개체 틀 4">
            <a:extLst>
              <a:ext uri="{FF2B5EF4-FFF2-40B4-BE49-F238E27FC236}">
                <a16:creationId xmlns:a16="http://schemas.microsoft.com/office/drawing/2014/main" id="{9A02A1EA-18EC-4FED-8146-E837E377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9699" name="슬라이드 번호 개체 틀 5">
            <a:extLst>
              <a:ext uri="{FF2B5EF4-FFF2-40B4-BE49-F238E27FC236}">
                <a16:creationId xmlns:a16="http://schemas.microsoft.com/office/drawing/2014/main" id="{E8176891-BAFA-4007-9472-AF2E034C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9F2DAFB-ED44-459B-ABF9-80C25B8102BE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F1FAC81A-A428-4716-8DDC-44644B85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443FF108-3DD3-4CC0-A914-CBB19A8DE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2" name="내용 개체 틀 7">
            <a:extLst>
              <a:ext uri="{FF2B5EF4-FFF2-40B4-BE49-F238E27FC236}">
                <a16:creationId xmlns:a16="http://schemas.microsoft.com/office/drawing/2014/main" id="{2C75FD20-5F8A-4FBD-BC8A-4486E0004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1716088"/>
            <a:ext cx="7780337" cy="4614862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초기에 낮은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배출부과금률이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적용되면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오염물질 배출 저감을 통해 절약하는 배출부과금은 미약함에 반해 생산손실은 상대적으로 큼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기업은 오염저감 노력을 하지 않음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더 높은 소득은 더 많은 생산과 배출을 필요하므로 소득과 오염물질 배출량 사이는 양의 관계가 형성됨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소득이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임계수준을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넘어서면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오염규제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수준이 매우 높아지기 때문에 오염원들은 이에 반응하여 배출량을 줄이지 않을 수 없음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즉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임계수준이상으로 소득이 증가하면 배출량은 줄어들게 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4433F42-300D-4522-B1DE-9402677C87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환경쿠즈네츠곡선의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근거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임계치 효과</a:t>
            </a: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4">
            <a:extLst>
              <a:ext uri="{FF2B5EF4-FFF2-40B4-BE49-F238E27FC236}">
                <a16:creationId xmlns:a16="http://schemas.microsoft.com/office/drawing/2014/main" id="{60736D0B-3AD0-4558-B711-74BC0293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0723" name="슬라이드 번호 개체 틀 5">
            <a:extLst>
              <a:ext uri="{FF2B5EF4-FFF2-40B4-BE49-F238E27FC236}">
                <a16:creationId xmlns:a16="http://schemas.microsoft.com/office/drawing/2014/main" id="{06A6A34B-6063-4D86-9BED-312B6C1E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2F7B8A0-0E34-4281-AA3F-0A18B2C36C12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9C27E4E-FF4B-4AD8-9A20-3EDD00E6B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843C28F1-1904-4334-B146-F4BC5F449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6" name="내용 개체 틀 7">
            <a:extLst>
              <a:ext uri="{FF2B5EF4-FFF2-40B4-BE49-F238E27FC236}">
                <a16:creationId xmlns:a16="http://schemas.microsoft.com/office/drawing/2014/main" id="{2925819F-B691-40F6-B88E-158C702E4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1758950"/>
            <a:ext cx="7553325" cy="4572000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저감기술이 </a:t>
            </a:r>
            <a:r>
              <a:rPr lang="ko-KR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규모수익증가</a:t>
            </a:r>
            <a:r>
              <a:rPr lang="en-US" altLang="ko-K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(increasing returns to scale)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보인다는 것은 저감을 위한 비용지출액 증가보다도 오염물질이 감소하는 정도가 더 크다는 것을 의미함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개발도상국의 경우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저감행위 생산성이 낮으므로 저감보다는 부과금을 납부하는 것을 선택하며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생산량이 늘수록 배출량도 늘어남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선진국의 경우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저감기술의 한계생산성이 높아 부과금보다는 오염물질을 직접 저감하는 것이 비용 면에서 유리함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B142E84-5C74-461F-AB43-4607D69F5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환경쿠즈네츠곡선의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근거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저감기술의 규모 수익증가</a:t>
            </a: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1843088"/>
            <a:ext cx="7737475" cy="4487862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이상 살펴본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EKC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현상에 대한 네 가지 설명은 아래와 같음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부존자원의 변화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소득증가의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효과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임계치효과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저감기술의 규모수익증가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실제 현상이 이러한 설명과 일치하는지에 대한 논란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소득이 변해도 노동과 자본소득 비중은 잘 변하지 않음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소득이 늘 때 환경규제가 급속히 강화된다는 증거는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경제가 성장할 때 환경관리비 지출이 급속히 늘어나는가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규모수익증가가 유독 저감기술에서만 강한 이유는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?</a:t>
            </a:r>
          </a:p>
          <a:p>
            <a:pPr lvl="1"/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환경쿠즈네츠곡선의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근거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저감기술의 규모 수익증가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879899"/>
            <a:ext cx="8043863" cy="4487862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1990~2020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년의 소득그룹별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세계은행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DB)</a:t>
            </a:r>
          </a:p>
          <a:p>
            <a:pPr lvl="1"/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온실가스 배출량의 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EKC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현상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405540C-BE5B-4AFF-8937-E8BAF62B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17" y="1305955"/>
            <a:ext cx="6342652" cy="510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61496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" y="1091393"/>
            <a:ext cx="8043863" cy="4487862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GDP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단위당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배출량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OECD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회원국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한국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모든 그룹에서 시간이 지나면서 감소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저감기술과 에너지 효율성이 향상되는 전반적인 기술향상 관찰됨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특정 소득수준 이상에서만 저감기술 효율성이 급격히 높아지는 것이 아님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소득대비 배출량이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OECD,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저소득국의 순서로 높음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anose="02020603020101020101"/>
              </a:rPr>
              <a:t>따라서 저소득</a:t>
            </a:r>
            <a:r>
              <a:rPr lang="ko-KR" altLang="en-US" sz="2000" dirty="0">
                <a:latin typeface="Batang" panose="02030600000101010101" pitchFamily="18" charset="-127"/>
                <a:ea typeface="나눔명조" panose="02020603020101020101"/>
              </a:rPr>
              <a:t>→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</a:t>
            </a:r>
            <a:r>
              <a:rPr lang="ko-KR" altLang="en-US" sz="2000" dirty="0">
                <a:latin typeface="Batang" panose="02030600000101010101" pitchFamily="18" charset="-127"/>
                <a:ea typeface="나눔명조" panose="02020603020101020101"/>
              </a:rPr>
              <a:t> →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</a:t>
            </a:r>
            <a:r>
              <a:rPr lang="ko-KR" altLang="en-US" sz="2000" dirty="0">
                <a:latin typeface="Batang" panose="02030600000101010101" pitchFamily="18" charset="-127"/>
                <a:ea typeface="나눔명조" panose="02020603020101020101"/>
              </a:rPr>
              <a:t> →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OECD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수준으로 소득이 상승해 갈 때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 단위당 배출량이 증가하다가 다시 감소하는 역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U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자형 관계가 형성될 것임을 암시함</a:t>
            </a: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나눔명조" pitchFamily="18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온실가스 배출량의 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EKC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현상</a:t>
            </a:r>
          </a:p>
        </p:txBody>
      </p:sp>
    </p:spTree>
    <p:extLst>
      <p:ext uri="{BB962C8B-B14F-4D97-AF65-F5344CB8AC3E}">
        <p14:creationId xmlns:p14="http://schemas.microsoft.com/office/powerpoint/2010/main" val="1548477367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" y="1091393"/>
            <a:ext cx="8043863" cy="4487862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인당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배출량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OECD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회원국에서는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년대 혹은 이전에 정점을 지난 후 계속 감소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저소득국은 별 변화가 없으며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약간의 감소 추세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고소득국에서 특히 빠른 증가가 나타났지만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세기에 들어와서는 거의 정점에 다다른 것으로 보임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anose="02020603020101020101"/>
              </a:rPr>
              <a:t>OECD</a:t>
            </a:r>
            <a:r>
              <a:rPr lang="ko-KR" altLang="en-US" sz="2000" dirty="0">
                <a:latin typeface="나눔명조" pitchFamily="18" charset="-127"/>
                <a:ea typeface="나눔명조" panose="02020603020101020101"/>
              </a:rPr>
              <a:t>의 </a:t>
            </a:r>
            <a:r>
              <a:rPr lang="en-US" altLang="ko-KR" sz="2000" dirty="0">
                <a:latin typeface="나눔명조" pitchFamily="18" charset="-127"/>
                <a:ea typeface="나눔명조" panose="02020603020101020101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anose="02020603020101020101"/>
              </a:rPr>
              <a:t>인당 배출량과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배출량이 서로 가까워지는 수렴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(convergence)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현상이 진행되고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소득국의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배출량은 비교적 느린 속도로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여전히 늘어나는 추세</a:t>
            </a: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나눔명조" pitchFamily="18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온실가스 배출량의 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EKC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현상</a:t>
            </a:r>
          </a:p>
        </p:txBody>
      </p:sp>
    </p:spTree>
    <p:extLst>
      <p:ext uri="{BB962C8B-B14F-4D97-AF65-F5344CB8AC3E}">
        <p14:creationId xmlns:p14="http://schemas.microsoft.com/office/powerpoint/2010/main" val="3230311151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37" y="1091393"/>
            <a:ext cx="8043863" cy="4487862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총배출량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OECD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회원국에서는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년대 말에 정점에 이른 후 계속 감소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저소득국은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년대에는 늘어나지 않다가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세기 들어와 어느 정도 늘어나는 모습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고소득국과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소득국에서 총배출량 증가속도가 빠름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anose="02020603020101020101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anose="02020603020101020101"/>
              </a:rPr>
              <a:t>년대말까지는 두 그룹의 증가율이 유사하다가 </a:t>
            </a:r>
            <a:r>
              <a:rPr lang="en-US" altLang="ko-KR" sz="2000" dirty="0">
                <a:latin typeface="나눔명조" pitchFamily="18" charset="-127"/>
                <a:ea typeface="나눔명조" panose="02020603020101020101"/>
              </a:rPr>
              <a:t>21</a:t>
            </a:r>
            <a:r>
              <a:rPr lang="ko-KR" altLang="en-US" sz="2000" dirty="0">
                <a:latin typeface="나눔명조" pitchFamily="18" charset="-127"/>
                <a:ea typeface="나눔명조" panose="02020603020101020101"/>
              </a:rPr>
              <a:t>세기 들어와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고소득국의 증가율이 월등히 높아짐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하지만 최근 연도에는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고소득국 배출량이 정점에 이른 듯한 모습을 보임에 반해 중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 · </a:t>
            </a:r>
            <a:r>
              <a:rPr lang="ko-KR" altLang="en-US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저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소득국은 여전히 높은 증가율 보임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년과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2020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년 두 해만 비교하면 두 유형의 중소득국의 배출 증가율이 비슷함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600" dirty="0">
              <a:latin typeface="나눔명조" pitchFamily="18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온실가스 배출량의 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EKC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현상</a:t>
            </a:r>
          </a:p>
        </p:txBody>
      </p:sp>
    </p:spTree>
    <p:extLst>
      <p:ext uri="{BB962C8B-B14F-4D97-AF65-F5344CB8AC3E}">
        <p14:creationId xmlns:p14="http://schemas.microsoft.com/office/powerpoint/2010/main" val="3258637703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AD49A6F7-7039-49F2-BE74-86C9819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25" y="898560"/>
            <a:ext cx="8043863" cy="5349840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배출량 특성 요약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소득수준과 관계없이 단위 소득당 배출량이 시간이 지나면서 줄어들고 전체적인 배출효율성 개선과 저감기술 발전이 나타남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배출량 자체 혹은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배출량은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OECD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회원국의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경우 이미 정점을 지나서 감소하고 있는 반면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중소득국은 정점에 이르기 직전이거나 아직 완만한 상승세를 유지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따라서 전체적으로 산업화 단계를 거치면서 총배출량이 정점에 이르기까지 증가하다 이후 감소하는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EKC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 관측될 가능성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그러나 어느 시점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어느 소득수준에서 배출량 정점에 도달할지는 국가별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소득수준별로 상이할 것으로 보임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한국은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OECD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회원국이지만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CO</a:t>
            </a:r>
            <a:r>
              <a:rPr lang="en-US" altLang="ko-KR" sz="2400" baseline="-250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배출에 관한 한 중소득국에 가까운 모습 보임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제조업 의존형 경제구조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GDP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대비 배출계수가 중소득국에 비해 낮아 양호하며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최근 에는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인당 배출량과 총배출량이 감소하는 개선된 모습 보임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600" dirty="0">
              <a:latin typeface="나눔명조" pitchFamily="18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나눔명조" pitchFamily="18" charset="-127"/>
              <a:ea typeface="나눔명조" panose="02020603020101020101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나눔명조" panose="02020603020101020101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온실가스 배출량의 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EKC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현상</a:t>
            </a:r>
          </a:p>
        </p:txBody>
      </p:sp>
    </p:spTree>
    <p:extLst>
      <p:ext uri="{BB962C8B-B14F-4D97-AF65-F5344CB8AC3E}">
        <p14:creationId xmlns:p14="http://schemas.microsoft.com/office/powerpoint/2010/main" val="3265800793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솔로우 모형과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EKC 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현상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주요 경제성장론 모형 중 하나인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솔로우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(Solow)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모형을 활용하면 소득수준이 높아지면서 배출규제가 강화되지 않아도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EKC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현상이 나타나는 것을 설명할 수 있음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(Brock and </a:t>
                </a:r>
                <a:r>
                  <a:rPr lang="en-US" altLang="ko-KR" sz="2000" dirty="0" err="1">
                    <a:latin typeface="나눔명조" pitchFamily="18" charset="-127"/>
                    <a:ea typeface="나눔명조" pitchFamily="18" charset="-127"/>
                  </a:rPr>
                  <a:t>Talylor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2010)</a:t>
                </a: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배출량 정점이 발생하는 시점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정점에서의 배출량과 소득수준은 여러 요인에 의해 영향을 받고 국가별로 다르다는 것도 보여줄 수 있어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&lt;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20-4&gt;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현상과 일치하는 설명을 제공함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생산함수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𝐹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 (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규모수익불변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, CRS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가정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노동효율성 혹은 생산성 지수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증가율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/∆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𝑛𝐿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/∆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인구성장률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𝑠𝑌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저축률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=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감가상각률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규제로 인해 생산액 중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비율을 배출저감을 위해 사용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=(1−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𝐹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혹은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CRS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가정에 의해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𝑌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/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/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나눔명조" pitchFamily="18" charset="-127"/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latin typeface="굴림" panose="020B0600000101010101" pitchFamily="50" charset="-127"/>
                  <a:ea typeface="나눔명조" panose="02020603020101020101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mc:Choice>
        <mc:Fallback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  <a:blipFill>
                <a:blip r:embed="rId3"/>
                <a:stretch>
                  <a:fillRect l="-2121" t="-1708" r="-1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</p:spTree>
    <p:extLst>
      <p:ext uri="{BB962C8B-B14F-4D97-AF65-F5344CB8AC3E}">
        <p14:creationId xmlns:p14="http://schemas.microsoft.com/office/powerpoint/2010/main" val="3735680006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유효노동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BL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단위당 자본 변화율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𝑠𝑌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𝐾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→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/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)−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𝐾</m:t>
                            </m:r>
                          </m:e>
                        </m:acc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𝐵𝐿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를 반영하면 다음의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BL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단위당 자본 변화율 도출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</m:oMath>
                </a14:m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최초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자본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(0)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얼마이든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acc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=0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 균제상태 자본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수렴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400" dirty="0">
                    <a:latin typeface="Batang" panose="02030600000101010101" pitchFamily="18" charset="-127"/>
                    <a:ea typeface="나눔명조" pitchFamily="18" charset="-127"/>
                  </a:rPr>
                  <a:t>균제상태와 균형성장</a:t>
                </a:r>
                <a:endParaRPr lang="en-US" altLang="ko-KR" sz="24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균제상태에서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자본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𝐾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𝐵𝑘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생산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소비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𝐶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𝑌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den>
                    </m:f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모두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속도로 증가하는 균형성장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(balanced growth)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나타남 </a:t>
                </a:r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나눔명조" pitchFamily="18" charset="-127"/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latin typeface="굴림" panose="020B0600000101010101" pitchFamily="50" charset="-127"/>
                  <a:ea typeface="나눔명조" panose="02020603020101020101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mc:Choice>
        <mc:Fallback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  <a:blipFill>
                <a:blip r:embed="rId3"/>
                <a:stretch>
                  <a:fillRect l="-2121" t="-17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</p:spTree>
    <p:extLst>
      <p:ext uri="{BB962C8B-B14F-4D97-AF65-F5344CB8AC3E}">
        <p14:creationId xmlns:p14="http://schemas.microsoft.com/office/powerpoint/2010/main" val="3786023362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배출량 변화 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생산 단위당 배출계수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저감기술 발전에 의해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(&gt;0)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속도로 감소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즉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𝜂</m:t>
                            </m:r>
                          </m:e>
                        </m:acc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저감노력에 따른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저감률은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1−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BL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단위당 배출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BL</m:t>
                        </m:r>
                      </m:den>
                    </m:f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균제상태 배출량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불변이므로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𝑒</m:t>
                            </m:r>
                          </m:e>
                        </m:acc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𝑒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속도로 감소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균제상태 변화율은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den>
                    </m:f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지속가능한 성장은 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인당 소비는 증가하고 동시에 총배출량은 감소하는 상태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&gt;0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en-US" altLang="ko-KR" sz="2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&lt;0 (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𝜂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&gt;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두 조건이 모두 충족하면 정책변화 없이도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EKC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현상 나타남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나눔명조" pitchFamily="18" charset="-127"/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latin typeface="굴림" panose="020B0600000101010101" pitchFamily="50" charset="-127"/>
                  <a:ea typeface="나눔명조" panose="02020603020101020101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  <a:blipFill>
                <a:blip r:embed="rId3"/>
                <a:stretch>
                  <a:fillRect l="-2121" t="-1708" b="-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</p:spTree>
    <p:extLst>
      <p:ext uri="{BB962C8B-B14F-4D97-AF65-F5344CB8AC3E}">
        <p14:creationId xmlns:p14="http://schemas.microsoft.com/office/powerpoint/2010/main" val="1681909920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생산함수 구체화</a:t>
                </a:r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y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</m:d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sup>
                    </m:sSup>
                    <m:r>
                      <a:rPr lang="en-US" altLang="ko-KR" sz="24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(0&lt;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&lt;1)</m:t>
                    </m:r>
                  </m:oMath>
                </a14:m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en-US" altLang="ko-KR" sz="2400" dirty="0">
                    <a:latin typeface="나눔명조" pitchFamily="18" charset="-127"/>
                    <a:ea typeface="나눔명조" pitchFamily="18" charset="-127"/>
                  </a:rPr>
                  <a:t>BL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당 </a:t>
                </a:r>
                <a:r>
                  <a:rPr lang="ko-KR" altLang="en-US" sz="2400" dirty="0" err="1">
                    <a:latin typeface="나눔명조" pitchFamily="18" charset="-127"/>
                    <a:ea typeface="나눔명조" pitchFamily="18" charset="-127"/>
                  </a:rPr>
                  <a:t>자본량</a:t>
                </a:r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 변화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acc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𝑓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𝑘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조건은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𝑘</m:t>
                            </m:r>
                          </m:e>
                        </m:acc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−1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임을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의미하며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=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성립하는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임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좌변과 우변은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&lt;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그림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20-5&gt;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 각각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우하향하는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곡선과 수평선으로 표기됨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1−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/</m:t>
                            </m:r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𝛿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r>
                  <a:rPr lang="ko-KR" altLang="en-US" sz="2400" dirty="0">
                    <a:latin typeface="나눔명조" pitchFamily="18" charset="-127"/>
                    <a:ea typeface="나눔명조" pitchFamily="18" charset="-127"/>
                  </a:rPr>
                  <a:t>총배출량 변화</a:t>
                </a:r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E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이므로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</m:t>
                    </m:r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𝐿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+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𝐵𝐿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𝑎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−1</m:t>
                        </m:r>
                      </m:sup>
                    </m:sSup>
                    <m:acc>
                      <m:accPr>
                        <m:chr m:val="̇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이고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따라서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den>
                    </m:f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𝜂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𝑘</m:t>
                            </m:r>
                          </m:e>
                        </m:acc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den>
                    </m:f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𝑘</m:t>
                            </m:r>
                          </m:e>
                        </m:acc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=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−1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)</m:t>
                    </m:r>
                  </m:oMath>
                </a14:m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e>
                    </m:acc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1−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𝜃</m:t>
                        </m:r>
                      </m:e>
                    </m:d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𝛼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=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𝛿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+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𝑛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1−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/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𝛿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𝛼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의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자본에서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 됨</a:t>
                </a:r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나눔명조" pitchFamily="18" charset="-127"/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latin typeface="굴림" panose="020B0600000101010101" pitchFamily="50" charset="-127"/>
                  <a:ea typeface="나눔명조" panose="02020603020101020101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mc:Choice>
        <mc:Fallback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  <a:blipFill>
                <a:blip r:embed="rId3"/>
                <a:stretch>
                  <a:fillRect l="-2121" t="-1708" b="-78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</p:spTree>
    <p:extLst>
      <p:ext uri="{BB962C8B-B14F-4D97-AF65-F5344CB8AC3E}">
        <p14:creationId xmlns:p14="http://schemas.microsoft.com/office/powerpoint/2010/main" val="2657333726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B41BE7-0119-4CB1-ABCC-364D9DE72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560" y="767735"/>
            <a:ext cx="5106839" cy="553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71816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9509E48A-A314-43E9-B16E-B3A9264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2B5EA60C-2853-4ADB-A33F-E84EB0CB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947E1C-3295-4767-A19F-2AD6A5CAD974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A7E54037-7DC5-44E5-BA1E-7385F711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90023E5-823F-43DB-9AE3-27BAFCA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</p:spPr>
            <p:txBody>
              <a:bodyPr lIns="0" tIns="0" rIns="0" bIns="0"/>
              <a:lstStyle/>
              <a:p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균제상태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자본량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1−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/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𝛿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𝛼</m:t>
                            </m:r>
                          </m:den>
                        </m:f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  <a:ea typeface="나눔명조" pitchFamily="18" charset="-127"/>
                      </a:rPr>
                      <m:t> </m:t>
                    </m:r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균제상태 총배출량 조건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  <m: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=</m:t>
                    </m:r>
                  </m:oMath>
                </a14:m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d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1−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/</m:t>
                            </m:r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𝛿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𝑛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명조" pitchFamily="18" charset="-127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나눔명조" pitchFamily="18" charset="-127"/>
                                          </a:rPr>
                                          <m:t>𝐸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명조" pitchFamily="18" charset="-127"/>
                                      </a:rPr>
                                      <m:t>𝛼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fPr>
                          <m:num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1−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𝛼</m:t>
                            </m:r>
                          </m:den>
                        </m:f>
                      </m:sup>
                    </m:sSup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𝐸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&lt;0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이어서 지속가능 성장이 이루어진다면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&lt;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 작은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k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에서는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E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증가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0</m:t>
                        </m:r>
                      </m:e>
                    </m:d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에서 출발하여 자본이 축적될 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보다 작은 영역에서는 자본과 배출량이 함께 성장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자본이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이르면 이후부터는 자본은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까지 계속 성장하고 경제도 성장하지만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E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는 감소하는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EKC 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현상 나타남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{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𝑔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𝐵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𝛿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,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𝜂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명조" pitchFamily="18" charset="-127"/>
                      </a:rPr>
                      <m:t>}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가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동일한 국가들은 동일한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값을 가짐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.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그러나 그럼에도 불구하고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EKC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의 정점이 발생하는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에서의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인당 소득과 </a:t>
                </a:r>
                <a:r>
                  <a:rPr lang="ko-KR" altLang="en-US" sz="2000" dirty="0" err="1">
                    <a:latin typeface="나눔명조" pitchFamily="18" charset="-127"/>
                    <a:ea typeface="나눔명조" pitchFamily="18" charset="-127"/>
                  </a:rPr>
                  <a:t>총배출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E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는 국가별로 상이함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이들 파라미터가 동일해도 초기 </a:t>
                </a:r>
                <a:r>
                  <a:rPr lang="ko-KR" altLang="en-US" sz="1800" dirty="0" err="1">
                    <a:latin typeface="나눔명조" pitchFamily="18" charset="-127"/>
                    <a:ea typeface="나눔명조" pitchFamily="18" charset="-127"/>
                  </a:rPr>
                  <a:t>자본량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k(0)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간의 격차가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도달하는 데 소요되는 시간을 다르게 하기 때문임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(</a:t>
                </a:r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연습문제 참조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)</a:t>
                </a:r>
              </a:p>
              <a:p>
                <a:pPr lvl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따라서 모든 국가에 동일하게 적용되는 터닝포인트는 존재하지 않음</a:t>
                </a:r>
                <a:endParaRPr lang="en-US" altLang="ko-KR" sz="18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이들 파라미터들이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k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latin typeface="Cambria Math" panose="02040503050406030204" pitchFamily="18" charset="0"/>
                        <a:ea typeface="나눔명조" pitchFamily="18" charset="-127"/>
                      </a:rPr>
                      <m:t>k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T</m:t>
                        </m:r>
                      </m:e>
                    </m:d>
                  </m:oMath>
                </a14:m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b="0" i="0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E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나눔명조" pitchFamily="18" charset="-127"/>
                    <a:ea typeface="나눔명조" pitchFamily="18" charset="-127"/>
                  </a:rPr>
                  <a:t>에 미치는 영향도 확인할 것</a:t>
                </a:r>
                <a:r>
                  <a:rPr lang="en-US" altLang="ko-KR" sz="18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endParaRPr lang="en-US" altLang="ko-KR" sz="24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lvl="1"/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나눔명조" pitchFamily="18" charset="-127"/>
                  <a:ea typeface="나눔명조" panose="02020603020101020101"/>
                </a:endParaRPr>
              </a:p>
              <a:p>
                <a:pPr lvl="1"/>
                <a:endParaRPr lang="en-US" altLang="ko-KR" sz="1600" dirty="0">
                  <a:latin typeface="굴림" panose="020B0600000101010101" pitchFamily="50" charset="-127"/>
                  <a:ea typeface="나눔명조" panose="02020603020101020101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  <a:p>
                <a:endParaRPr lang="en-US" altLang="ko-KR" sz="2000" dirty="0">
                  <a:latin typeface="굴림" panose="020B0600000101010101" pitchFamily="50" charset="-127"/>
                  <a:ea typeface="굴림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2774" name="내용 개체 틀 7">
                <a:extLst>
                  <a:ext uri="{FF2B5EF4-FFF2-40B4-BE49-F238E27FC236}">
                    <a16:creationId xmlns:a16="http://schemas.microsoft.com/office/drawing/2014/main" id="{AD49A6F7-7039-49F2-BE74-86C98190B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525" y="898560"/>
                <a:ext cx="8043863" cy="5349840"/>
              </a:xfrm>
              <a:blipFill>
                <a:blip r:embed="rId3"/>
                <a:stretch>
                  <a:fillRect l="-1818" r="-1364" b="-1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54E8D228-2D90-47AB-BBB9-D891A900F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223936"/>
            <a:ext cx="7469188" cy="602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 err="1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솔로우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모형</a:t>
            </a:r>
          </a:p>
        </p:txBody>
      </p:sp>
    </p:spTree>
    <p:extLst>
      <p:ext uri="{BB962C8B-B14F-4D97-AF65-F5344CB8AC3E}">
        <p14:creationId xmlns:p14="http://schemas.microsoft.com/office/powerpoint/2010/main" val="2241842369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내용 개체 틀 7">
            <a:extLst>
              <a:ext uri="{FF2B5EF4-FFF2-40B4-BE49-F238E27FC236}">
                <a16:creationId xmlns:a16="http://schemas.microsoft.com/office/drawing/2014/main" id="{C4E95A4D-46D5-48EA-8416-54279CA7B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3" y="1730375"/>
            <a:ext cx="7850187" cy="4656138"/>
          </a:xfrm>
        </p:spPr>
        <p:txBody>
          <a:bodyPr lIns="0" tIns="0" rIns="0" bIns="0"/>
          <a:lstStyle/>
          <a:p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개도국의 경우 천연자원의존이 많고 오염으로 인한 노동력 손실이 중요한 문제이므로 환경질 개선의 편익 분석이 대단히 중요함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기존의 편익분석을 적용하면 지나치게 낮은 편익이 추정될 우려있음</a:t>
            </a:r>
            <a:endParaRPr lang="en-US" altLang="ko-KR" sz="180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>
                <a:latin typeface="나눔명조" pitchFamily="18" charset="-127"/>
                <a:ea typeface="나눔명조" pitchFamily="18" charset="-127"/>
              </a:rPr>
              <a:t>절대적 소득이 낮고 소득분배 역시 왜곡돼 있어 환경재에 대한 평균 지불의사는 선진국에 비해 낮게 됨</a:t>
            </a:r>
            <a:endParaRPr lang="en-US" altLang="ko-KR" sz="180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그러나 소비자 편익뿐 아니라 생산성에도 영향을 미치는 매우 광범위한 파급효과가 있으므로 장기적인 영향과 함께 편익분석이 이루어져야 함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개도국에서는 현재의 소득을 미래의 소득보다 더 중요시 여겨 할인율이 선진국보다 높으므로 시간에 대한 선호도를 적절히 선택 반영하는 것도 편익 분석에서 중요한 문제임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16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795" name="바닥글 개체 틀 4">
            <a:extLst>
              <a:ext uri="{FF2B5EF4-FFF2-40B4-BE49-F238E27FC236}">
                <a16:creationId xmlns:a16="http://schemas.microsoft.com/office/drawing/2014/main" id="{D8570B93-438D-44BF-839E-6973665C2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3796" name="슬라이드 번호 개체 틀 5">
            <a:extLst>
              <a:ext uri="{FF2B5EF4-FFF2-40B4-BE49-F238E27FC236}">
                <a16:creationId xmlns:a16="http://schemas.microsoft.com/office/drawing/2014/main" id="{19469081-428C-47F9-8942-EAC2BDF9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09A5553-DFAF-44DF-86E7-9A4E4C47CE72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6D8A13EF-7469-4EBF-AABD-8C5E50BF3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8" name="Rectangle 3">
            <a:extLst>
              <a:ext uri="{FF2B5EF4-FFF2-40B4-BE49-F238E27FC236}">
                <a16:creationId xmlns:a16="http://schemas.microsoft.com/office/drawing/2014/main" id="{ACF7C8E9-4A7D-4D17-B832-9BB2E0B45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59817F7-E8E6-424B-B4D5-8193E9E20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환경정책의 비용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편익분석</a:t>
            </a: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94517AF0-6A11-4051-B646-69830B39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2749436B-C434-45F1-9F3F-16881727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719D29E-7DAB-45D1-A724-BA838694120E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D836F27F-4AEB-4F35-B3DF-15C97A34C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87FC9675-CFEF-4107-9138-417D6C8CC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2" name="내용 개체 틀 7">
            <a:extLst>
              <a:ext uri="{FF2B5EF4-FFF2-40B4-BE49-F238E27FC236}">
                <a16:creationId xmlns:a16="http://schemas.microsoft.com/office/drawing/2014/main" id="{9771C177-F5EA-4977-82B7-7EC2CC29E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43088"/>
            <a:ext cx="7864475" cy="4487862"/>
          </a:xfrm>
        </p:spPr>
        <p:txBody>
          <a:bodyPr lIns="0" tIns="0" rIns="0" bIns="0"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개도국 정부는 경제성장을 위해 다양한 정책을 사용하고 있는데</a:t>
            </a:r>
            <a:r>
              <a:rPr lang="en-US" altLang="ko-KR" sz="2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상당수가 자연환경에 미치는 영향에 대한 고려 없이 시행되고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예를 들면 원시림 개간 정책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화학비료와 농약에 대한 보조금 지급 정책 등이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환경관리를 위해선 별도의 정책 </a:t>
            </a:r>
            <a:r>
              <a:rPr lang="ko-KR" altLang="en-US" sz="2800" dirty="0" err="1">
                <a:latin typeface="나눔명조" pitchFamily="18" charset="-127"/>
                <a:ea typeface="나눔명조" pitchFamily="18" charset="-127"/>
              </a:rPr>
              <a:t>도입뿐만</a:t>
            </a:r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 아니라 기존의 일반경제정책 역시 환경에 미치는 영향을 검토하여야 함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178360-8BD9-4FED-A6B1-C9FE3C11B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24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24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기존 경제정책의 반환경적 요소제거</a:t>
            </a: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바닥글 개체 틀 4">
            <a:extLst>
              <a:ext uri="{FF2B5EF4-FFF2-40B4-BE49-F238E27FC236}">
                <a16:creationId xmlns:a16="http://schemas.microsoft.com/office/drawing/2014/main" id="{C6E51E8F-02E3-4364-ABD8-BFFB5920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5843" name="슬라이드 번호 개체 틀 5">
            <a:extLst>
              <a:ext uri="{FF2B5EF4-FFF2-40B4-BE49-F238E27FC236}">
                <a16:creationId xmlns:a16="http://schemas.microsoft.com/office/drawing/2014/main" id="{6E113B18-78B3-4DF4-9BDD-29B28F9F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B2C990C-27FC-4C2D-ACB6-E544FD16B3AF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0B3636EA-DE7F-421B-9C84-08511AE17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BFCBB878-CEC8-4B23-9E19-B04E78F47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6" name="내용 개체 틀 7">
            <a:extLst>
              <a:ext uri="{FF2B5EF4-FFF2-40B4-BE49-F238E27FC236}">
                <a16:creationId xmlns:a16="http://schemas.microsoft.com/office/drawing/2014/main" id="{924C5F57-336B-4789-89F6-20564EF88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1744663"/>
            <a:ext cx="7780337" cy="4346575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자원에 대한 소유권의 불완전한 설정으로 인해 저개발국에서 흔히 발생하는 자원의 남용과 생산성 하락의 악순환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 (Field, 1997)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인구성장으로 나무의 자연성장률보다 높은 속도로 벌목 증가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나무가 부족해져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잡초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동물의 배설물이 땔감으로 사용되고 토양 비옥도가 떨어짐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대부분의 나무가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벌목되고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잡초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배설물 마저 수거 이용되어 작물 생산성 급락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표토의 유실이 급격히 발생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5: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농지에 더 이상 경작이 불가능하고 농민은 토지를 버리고 도시로 이주함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1188CC4-FD28-4B45-B902-1BD52930E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개방자원 문제의 해결</a:t>
            </a: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바닥글 개체 틀 4">
            <a:extLst>
              <a:ext uri="{FF2B5EF4-FFF2-40B4-BE49-F238E27FC236}">
                <a16:creationId xmlns:a16="http://schemas.microsoft.com/office/drawing/2014/main" id="{7D460F19-2C71-4DF1-A4D8-D8593816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6867" name="슬라이드 번호 개체 틀 5">
            <a:extLst>
              <a:ext uri="{FF2B5EF4-FFF2-40B4-BE49-F238E27FC236}">
                <a16:creationId xmlns:a16="http://schemas.microsoft.com/office/drawing/2014/main" id="{766BDDF6-FA79-4BD0-919B-A65CE50A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9E7134B0-24AA-4E7C-9406-69C3FB017B52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C9C23381-2283-4CB6-A15A-4C10D8DC3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EB022684-0FB2-4697-BC17-F686B6733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0" name="내용 개체 틀 7">
            <a:extLst>
              <a:ext uri="{FF2B5EF4-FFF2-40B4-BE49-F238E27FC236}">
                <a16:creationId xmlns:a16="http://schemas.microsoft.com/office/drawing/2014/main" id="{53B34ADB-9B74-4526-A8EC-61F1F14C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25" y="1814513"/>
            <a:ext cx="7766050" cy="4516437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만약 초지나 산림이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개방자원이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아니라 사유화된 자원이라면 다음과 같은 반응이 나타남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인구증가로 땔감 수요가 늘고 땔감의 시장가격이 상승함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2: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농민은 임업 수익성이 높아졌다는 것을 인식하고 산림 관리를 강화함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단계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3: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상당한 면적의 임야가 생기고 목재시장상황을 반영되어 목재가 생산됨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B9FBFB7-99D2-45DF-BCDA-C7CCE4F1F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개방자원 문제의 해결</a:t>
            </a: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F8D55-FF64-4AE9-953D-D3AB84ACB7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공유자원의 약탈적 이용</a:t>
            </a:r>
            <a:r>
              <a:rPr lang="en-US" altLang="ko-KR" dirty="0">
                <a:solidFill>
                  <a:srgbClr val="7030A0"/>
                </a:solidFill>
              </a:rPr>
              <a:t>: </a:t>
            </a:r>
            <a:r>
              <a:rPr lang="ko-KR" altLang="en-US" dirty="0">
                <a:solidFill>
                  <a:srgbClr val="7030A0"/>
                </a:solidFill>
              </a:rPr>
              <a:t>가나의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66847-FE26-4DAE-85B8-A1B1042C0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err="1">
                <a:ea typeface="나눔명조" panose="02020603020101020101"/>
              </a:rPr>
              <a:t>로페즈</a:t>
            </a:r>
            <a:r>
              <a:rPr lang="en-US" altLang="ko-KR" sz="2000" dirty="0">
                <a:ea typeface="나눔명조" panose="02020603020101020101"/>
              </a:rPr>
              <a:t>(Lopez, 1997)</a:t>
            </a:r>
            <a:r>
              <a:rPr lang="ko-KR" altLang="en-US" sz="2000" dirty="0">
                <a:ea typeface="나눔명조" panose="02020603020101020101"/>
              </a:rPr>
              <a:t>의 아프리카 가나 </a:t>
            </a:r>
            <a:r>
              <a:rPr lang="en-US" altLang="ko-KR" sz="2000" dirty="0">
                <a:ea typeface="나눔명조" panose="02020603020101020101"/>
              </a:rPr>
              <a:t>12</a:t>
            </a:r>
            <a:r>
              <a:rPr lang="ko-KR" altLang="en-US" sz="2000" dirty="0">
                <a:ea typeface="나눔명조" panose="02020603020101020101"/>
              </a:rPr>
              <a:t>개 마을의 영농형태 분석</a:t>
            </a:r>
            <a:endParaRPr lang="en-US" altLang="ko-KR" sz="2000" dirty="0">
              <a:ea typeface="나눔명조" panose="02020603020101020101"/>
            </a:endParaRPr>
          </a:p>
          <a:p>
            <a:pPr lvl="1"/>
            <a:r>
              <a:rPr lang="ko-KR" altLang="en-US" sz="1600" dirty="0">
                <a:ea typeface="나눔명조" panose="02020603020101020101"/>
              </a:rPr>
              <a:t>개발도상국에서의 천연자원의 약탈적 이용이 실제로 어느 정도로 심각한지를 엄밀하게 분석한 사례</a:t>
            </a:r>
            <a:endParaRPr lang="en-US" altLang="ko-KR" sz="1600" dirty="0">
              <a:ea typeface="나눔명조" panose="02020603020101020101"/>
            </a:endParaRPr>
          </a:p>
          <a:p>
            <a:r>
              <a:rPr lang="ko-KR" altLang="en-US" sz="2000" dirty="0">
                <a:ea typeface="나눔명조" panose="02020603020101020101"/>
              </a:rPr>
              <a:t>이 지역에서는 전통적으로 이동식 경작</a:t>
            </a:r>
            <a:r>
              <a:rPr lang="en-US" altLang="ko-KR" sz="2000" dirty="0">
                <a:ea typeface="나눔명조" panose="02020603020101020101"/>
              </a:rPr>
              <a:t>(shifting cultivation)</a:t>
            </a:r>
            <a:r>
              <a:rPr lang="ko-KR" altLang="en-US" sz="2000" dirty="0">
                <a:ea typeface="나눔명조" panose="02020603020101020101"/>
              </a:rPr>
              <a:t>이 행해지고 있음</a:t>
            </a:r>
            <a:endParaRPr lang="en-US" altLang="ko-KR" sz="2000" dirty="0">
              <a:ea typeface="나눔명조" panose="02020603020101020101"/>
            </a:endParaRPr>
          </a:p>
          <a:p>
            <a:pPr lvl="1"/>
            <a:r>
              <a:rPr lang="ko-KR" altLang="en-US" sz="1600" dirty="0">
                <a:ea typeface="나눔명조" panose="02020603020101020101"/>
              </a:rPr>
              <a:t>이동식 경작에 있어 지속가능한 경작을 하기 위해서는 경지로 사용되었던 토지를 충분한 양의 생물자원이 다시 생성될 때까지 자연림으로 유지하여야 함</a:t>
            </a:r>
            <a:endParaRPr lang="en-US" altLang="ko-KR" sz="1600" dirty="0">
              <a:ea typeface="나눔명조" panose="02020603020101020101"/>
            </a:endParaRPr>
          </a:p>
          <a:p>
            <a:r>
              <a:rPr lang="ko-KR" altLang="en-US" sz="2000" dirty="0">
                <a:ea typeface="나눔명조" panose="02020603020101020101"/>
              </a:rPr>
              <a:t>인공위성 사진판독을 통해 각 마을 토지의 </a:t>
            </a:r>
            <a:r>
              <a:rPr lang="ko-KR" altLang="en-US" sz="2000" dirty="0" err="1">
                <a:ea typeface="나눔명조" panose="02020603020101020101"/>
              </a:rPr>
              <a:t>생물자원량을</a:t>
            </a:r>
            <a:r>
              <a:rPr lang="ko-KR" altLang="en-US" sz="2000" dirty="0">
                <a:ea typeface="나눔명조" panose="02020603020101020101"/>
              </a:rPr>
              <a:t> 조사하고</a:t>
            </a:r>
            <a:r>
              <a:rPr lang="en-US" altLang="ko-KR" sz="2000" dirty="0">
                <a:ea typeface="나눔명조" panose="02020603020101020101"/>
              </a:rPr>
              <a:t>, </a:t>
            </a:r>
            <a:r>
              <a:rPr lang="ko-KR" altLang="en-US" sz="2000" dirty="0">
                <a:ea typeface="나눔명조" panose="02020603020101020101"/>
              </a:rPr>
              <a:t>각 마을이 농업생산을 위해 투입하는 투입요소와 농작물 생산량에 관한 자료를 현지 방문을 통해 얻음</a:t>
            </a:r>
            <a:endParaRPr lang="en-US" altLang="ko-KR" sz="2000" dirty="0">
              <a:ea typeface="나눔명조" panose="02020603020101020101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A1C48-D04C-40BA-A0DF-36B5AF18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F01AA7-CD5A-40E8-AB0E-131D3195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4ABA-DD27-44D9-ADDC-2401E6B19443}" type="slidenum">
              <a:rPr lang="ko-KR" altLang="en-US" smtClean="0"/>
              <a:pPr/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2099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F8D55-FF64-4AE9-953D-D3AB84ACB7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공유자원의 약탈적 이용</a:t>
            </a:r>
            <a:r>
              <a:rPr lang="en-US" altLang="ko-KR" dirty="0">
                <a:solidFill>
                  <a:srgbClr val="7030A0"/>
                </a:solidFill>
              </a:rPr>
              <a:t>: </a:t>
            </a:r>
            <a:r>
              <a:rPr lang="ko-KR" altLang="en-US" dirty="0">
                <a:solidFill>
                  <a:srgbClr val="7030A0"/>
                </a:solidFill>
              </a:rPr>
              <a:t>가나의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66847-FE26-4DAE-85B8-A1B1042C0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ea typeface="나눔명조" panose="02020603020101020101"/>
              </a:rPr>
              <a:t>위와 같은 자료를 이용해 가나 </a:t>
            </a:r>
            <a:r>
              <a:rPr lang="en-US" altLang="ko-KR" sz="2000" dirty="0">
                <a:ea typeface="나눔명조" panose="02020603020101020101"/>
              </a:rPr>
              <a:t>12</a:t>
            </a:r>
            <a:r>
              <a:rPr lang="ko-KR" altLang="en-US" sz="2000" dirty="0">
                <a:ea typeface="나눔명조" panose="02020603020101020101"/>
              </a:rPr>
              <a:t>개 마을의 농업생산함수를 추정한 결과 각 마을의 토지의 </a:t>
            </a:r>
            <a:r>
              <a:rPr lang="ko-KR" altLang="en-US" sz="2000" dirty="0" err="1">
                <a:ea typeface="나눔명조" panose="02020603020101020101"/>
              </a:rPr>
              <a:t>생물자원량이</a:t>
            </a:r>
            <a:r>
              <a:rPr lang="ko-KR" altLang="en-US" sz="2000" dirty="0">
                <a:ea typeface="나눔명조" panose="02020603020101020101"/>
              </a:rPr>
              <a:t> 농업생산량에 통계적으로 의미 있는 정도로 영향을 미치며</a:t>
            </a:r>
            <a:r>
              <a:rPr lang="en-US" altLang="ko-KR" sz="2000" dirty="0">
                <a:ea typeface="나눔명조" panose="02020603020101020101"/>
              </a:rPr>
              <a:t>, </a:t>
            </a:r>
            <a:r>
              <a:rPr lang="ko-KR" altLang="en-US" sz="2000" dirty="0">
                <a:ea typeface="나눔명조" panose="02020603020101020101"/>
              </a:rPr>
              <a:t>생물자원의 양이 많을수록 농업생산성이 높다는 사실이 밝혀짐</a:t>
            </a:r>
            <a:endParaRPr lang="en-US" altLang="ko-KR" sz="2000" dirty="0">
              <a:ea typeface="나눔명조" panose="02020603020101020101"/>
            </a:endParaRPr>
          </a:p>
          <a:p>
            <a:r>
              <a:rPr lang="ko-KR" altLang="en-US" sz="2000" dirty="0">
                <a:ea typeface="나눔명조" panose="02020603020101020101"/>
              </a:rPr>
              <a:t>추정된 생산함수 등을 이용해 각 마을의 순편익을 극대화하기 위해서는 마을의 토지 가운데 어느 정도가 경지로 개간되고 어느 정도는 숲으로 유지되어야 하는지를 계산하였고</a:t>
            </a:r>
            <a:r>
              <a:rPr lang="en-US" altLang="ko-KR" sz="2000" dirty="0">
                <a:ea typeface="나눔명조" panose="02020603020101020101"/>
              </a:rPr>
              <a:t>, </a:t>
            </a:r>
            <a:r>
              <a:rPr lang="ko-KR" altLang="en-US" sz="2000" dirty="0">
                <a:ea typeface="나눔명조" panose="02020603020101020101"/>
              </a:rPr>
              <a:t>그 결과를 각 마을의 실제 경작형태와 비교함</a:t>
            </a:r>
            <a:endParaRPr lang="en-US" altLang="ko-KR" sz="2000" dirty="0">
              <a:ea typeface="나눔명조" panose="02020603020101020101"/>
            </a:endParaRPr>
          </a:p>
          <a:p>
            <a:pPr lvl="1"/>
            <a:r>
              <a:rPr lang="ko-KR" altLang="en-US" sz="1600" dirty="0">
                <a:ea typeface="나눔명조" panose="02020603020101020101"/>
              </a:rPr>
              <a:t>이 지역 숲은 일종의 공유자원의 형태를 띠고 있는데</a:t>
            </a:r>
            <a:r>
              <a:rPr lang="en-US" altLang="ko-KR" sz="1600" dirty="0">
                <a:ea typeface="나눔명조" panose="02020603020101020101"/>
              </a:rPr>
              <a:t>, </a:t>
            </a:r>
            <a:r>
              <a:rPr lang="ko-KR" altLang="en-US" sz="1600" dirty="0">
                <a:ea typeface="나눔명조" panose="02020603020101020101"/>
              </a:rPr>
              <a:t>분석결과 적정 수준에 비해 </a:t>
            </a:r>
            <a:r>
              <a:rPr lang="en-US" altLang="ko-KR" sz="1600" dirty="0">
                <a:ea typeface="나눔명조" panose="02020603020101020101"/>
              </a:rPr>
              <a:t>45% </a:t>
            </a:r>
            <a:r>
              <a:rPr lang="ko-KR" altLang="en-US" sz="1600" dirty="0">
                <a:ea typeface="나눔명조" panose="02020603020101020101"/>
              </a:rPr>
              <a:t>정도의 토지가 더 많이 개간되고 있으며</a:t>
            </a:r>
            <a:r>
              <a:rPr lang="en-US" altLang="ko-KR" sz="1600" dirty="0">
                <a:ea typeface="나눔명조" panose="02020603020101020101"/>
              </a:rPr>
              <a:t>, </a:t>
            </a:r>
            <a:r>
              <a:rPr lang="ko-KR" altLang="en-US" sz="1600" dirty="0">
                <a:ea typeface="나눔명조" panose="02020603020101020101"/>
              </a:rPr>
              <a:t>이로 인해 농업소득이 적정 수준보다 더 낮은 수준에 머무르는 것으로 나타남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A1C48-D04C-40BA-A0DF-36B5AF18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F01AA7-CD5A-40E8-AB0E-131D3195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4ABA-DD27-44D9-ADDC-2401E6B19443}" type="slidenum">
              <a:rPr lang="ko-KR" altLang="en-US" smtClean="0"/>
              <a:pPr/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0737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바닥글 개체 틀 4">
            <a:extLst>
              <a:ext uri="{FF2B5EF4-FFF2-40B4-BE49-F238E27FC236}">
                <a16:creationId xmlns:a16="http://schemas.microsoft.com/office/drawing/2014/main" id="{5154B99A-CB6E-402D-B1BD-5D72055C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7891" name="슬라이드 번호 개체 틀 5">
            <a:extLst>
              <a:ext uri="{FF2B5EF4-FFF2-40B4-BE49-F238E27FC236}">
                <a16:creationId xmlns:a16="http://schemas.microsoft.com/office/drawing/2014/main" id="{0A6548BE-4503-44BE-826D-0737D5E0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7CAB6A1-0891-4D51-BE60-5013D0C6B20C}" type="slidenum">
              <a:rPr lang="ko-KR" altLang="en-US" sz="1200" b="0">
                <a:solidFill>
                  <a:schemeClr val="tx1"/>
                </a:solidFill>
              </a:rPr>
              <a:pPr/>
              <a:t>36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599109F3-3266-4361-969A-B51EA9479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761A3121-A1FA-4F2E-9A55-1469A3FD0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4" name="내용 개체 틀 7">
            <a:extLst>
              <a:ext uri="{FF2B5EF4-FFF2-40B4-BE49-F238E27FC236}">
                <a16:creationId xmlns:a16="http://schemas.microsoft.com/office/drawing/2014/main" id="{AE69243E-EF88-4F77-9491-3738AC27D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825" y="1476375"/>
            <a:ext cx="7624763" cy="4840288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인구의 증가가 경제 발전에 도움이 되느냐는 새로 태어난 인구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인당 생산성이 기존의 인구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인당 생산성보다 높으냐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낮으냐에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달려있음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높은 출생률로 인한 부정적인 영향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: </a:t>
            </a:r>
            <a:endParaRPr lang="en-US" altLang="ko-KR" sz="14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인구 성장률이 높은 나라는 </a:t>
            </a:r>
            <a:r>
              <a:rPr lang="ko-KR" altLang="en-US" sz="1900" dirty="0" err="1">
                <a:latin typeface="나눔명조" pitchFamily="18" charset="-127"/>
                <a:ea typeface="나눔명조" pitchFamily="18" charset="-127"/>
              </a:rPr>
              <a:t>유년층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 비중이 커 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인당 생산성은 낮음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높은 출생률은 여성의 노동참여기회를 낮추고 사회전체의 노동생산성을 떨어뜨림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출생률이 높을수록 경제성장에 필요한 자원 축적을 방해하게 됨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빈곤계층은 상류계층보다 출생률이 높고</a:t>
            </a:r>
            <a:r>
              <a:rPr lang="en-US" altLang="ko-KR" sz="19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교육기회가 제한되어 다시 빈곤계층이 됨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자원의 약탈적 남용이 발생함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900" dirty="0">
                <a:latin typeface="나눔명조" pitchFamily="18" charset="-127"/>
                <a:ea typeface="나눔명조" pitchFamily="18" charset="-127"/>
              </a:rPr>
              <a:t>급격한 도시화가 발생하고 각종 환경문제를 유발함</a:t>
            </a:r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ko-KR" altLang="en-US" sz="190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endParaRPr lang="en-US" altLang="ko-KR" sz="19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6C2F8B5-E9DD-4D70-9D84-B2DCC996E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인구통제</a:t>
            </a: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바닥글 개체 틀 4">
            <a:extLst>
              <a:ext uri="{FF2B5EF4-FFF2-40B4-BE49-F238E27FC236}">
                <a16:creationId xmlns:a16="http://schemas.microsoft.com/office/drawing/2014/main" id="{48CF0A2D-1A12-4B97-8ADE-593E8004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38915" name="슬라이드 번호 개체 틀 5">
            <a:extLst>
              <a:ext uri="{FF2B5EF4-FFF2-40B4-BE49-F238E27FC236}">
                <a16:creationId xmlns:a16="http://schemas.microsoft.com/office/drawing/2014/main" id="{1FFF9046-A56E-4C42-BE20-85504455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87BBC4CB-1525-43D2-8D6C-64C21196E97A}" type="slidenum">
              <a:rPr lang="ko-KR" altLang="en-US" sz="1200" b="0">
                <a:solidFill>
                  <a:schemeClr val="tx1"/>
                </a:solidFill>
              </a:rPr>
              <a:pPr/>
              <a:t>37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D17ADE4E-2D42-46F0-92A4-B672B9140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D43CE33A-40C0-478F-A085-083854F78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1" name="내용 개체 틀 7">
            <a:extLst>
              <a:ext uri="{FF2B5EF4-FFF2-40B4-BE49-F238E27FC236}">
                <a16:creationId xmlns:a16="http://schemas.microsoft.com/office/drawing/2014/main" id="{C1526C02-5B41-42D6-97CE-AFC51361E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838" y="1463675"/>
            <a:ext cx="7834312" cy="4754563"/>
          </a:xfrm>
        </p:spPr>
        <p:txBody>
          <a:bodyPr lIns="0" tIns="0" rIns="0" bIns="0"/>
          <a:lstStyle/>
          <a:p>
            <a:pPr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부모가 자녀 수를 결정하는 과정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</a:t>
            </a:r>
            <a:r>
              <a:rPr lang="ko-KR" altLang="en-US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베커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외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Becker et al., 1990)</a:t>
            </a: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부모의 이타심이 자녀를 갖는 주요 동기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부모세대의 만족도는 부모 자신의 소비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자녀의 수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자녀가 이후 얻는 </a:t>
            </a:r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후생수준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등으로부터 옴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부모는 자신 소득 가운데 얼마를 양육비로 쓸지 결정하고 자녀 수 결정함</a:t>
            </a:r>
            <a:endParaRPr lang="en-US" altLang="ko-KR" sz="105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>
              <a:defRPr/>
            </a:pP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인구의 내생적 변동과정을 설명하는</a:t>
            </a:r>
            <a:r>
              <a:rPr lang="en-US" altLang="ko-KR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 </a:t>
            </a:r>
            <a:r>
              <a:rPr lang="en-US" altLang="ko-KR" sz="20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Neher</a:t>
            </a:r>
            <a:r>
              <a:rPr lang="ko-KR" altLang="en-US" sz="20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의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노후보장가설</a:t>
            </a:r>
            <a:r>
              <a:rPr lang="en-US" altLang="ko-KR" sz="2000" b="1" dirty="0">
                <a:solidFill>
                  <a:srgbClr val="0000FF"/>
                </a:solidFill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(old-age security hypothesis)</a:t>
            </a: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부모의 이기심이 자녀를 갖는 동기임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유소년기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 err="1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청장년기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노년기 세 단계가 있으며</a:t>
            </a:r>
            <a:r>
              <a:rPr lang="en-US" altLang="ko-KR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, 3</a:t>
            </a: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세대가 함께 거주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청장년층은 노동을 하며 자녀 수를 결정하고 유소년과 노인을 부양함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r>
              <a:rPr lang="ko-KR" altLang="en-US" sz="1800" dirty="0">
                <a:latin typeface="Times New Roman" pitchFamily="18" charset="0"/>
                <a:ea typeface="나눔명조" pitchFamily="18" charset="-127"/>
                <a:cs typeface="Times New Roman" pitchFamily="18" charset="0"/>
              </a:rPr>
              <a:t>청장년층은 현재 소비 정도와 자녀에 투자하여 자신이 노년이 되었을 때 부양 받을 수 있는 정도를 인식해 자녀 수를 결정함</a:t>
            </a:r>
            <a:endParaRPr lang="en-US" altLang="ko-KR" sz="1800" dirty="0">
              <a:latin typeface="Times New Roman" pitchFamily="18" charset="0"/>
              <a:ea typeface="나눔명조" pitchFamily="18" charset="-127"/>
              <a:cs typeface="Times New Roman" pitchFamily="18" charset="0"/>
            </a:endParaRPr>
          </a:p>
          <a:p>
            <a:pPr lvl="1">
              <a:defRPr/>
            </a:pPr>
            <a:endParaRPr lang="en-US" altLang="ko-KR" sz="16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4FB41C-712F-443B-B2D6-6A5F45023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인구통제</a:t>
            </a: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바닥글 개체 틀 4">
            <a:extLst>
              <a:ext uri="{FF2B5EF4-FFF2-40B4-BE49-F238E27FC236}">
                <a16:creationId xmlns:a16="http://schemas.microsoft.com/office/drawing/2014/main" id="{5CC766A3-B767-4750-8399-A6D0F7FE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0963" name="슬라이드 번호 개체 틀 5">
            <a:extLst>
              <a:ext uri="{FF2B5EF4-FFF2-40B4-BE49-F238E27FC236}">
                <a16:creationId xmlns:a16="http://schemas.microsoft.com/office/drawing/2014/main" id="{4E2DFA4E-D551-4C62-9F54-94463138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E9D8232-B9AB-447C-894E-4661A1EB68AB}" type="slidenum">
              <a:rPr lang="ko-KR" altLang="en-US" sz="1200" b="0">
                <a:solidFill>
                  <a:schemeClr val="tx1"/>
                </a:solidFill>
              </a:rPr>
              <a:pPr/>
              <a:t>38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49414E2D-F034-4CC3-8214-DE2961215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05543FDA-AE31-4732-9B42-5726CEE37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A5529745-EBFE-457D-AD51-BCFA4345CC37}"/>
              </a:ext>
            </a:extLst>
          </p:cNvPr>
          <p:cNvSpPr txBox="1">
            <a:spLocks/>
          </p:cNvSpPr>
          <p:nvPr/>
        </p:nvSpPr>
        <p:spPr bwMode="auto">
          <a:xfrm>
            <a:off x="979488" y="4737100"/>
            <a:ext cx="7151687" cy="277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285750" indent="-285750">
              <a:spcBef>
                <a:spcPct val="20000"/>
              </a:spcBef>
              <a:buClr>
                <a:srgbClr val="8D7DFF"/>
              </a:buClr>
              <a:buFont typeface="Wingdings" pitchFamily="2" charset="2"/>
              <a:buChar char="m"/>
              <a:defRPr/>
            </a:pPr>
            <a:endParaRPr lang="en-US" altLang="ko-KR" sz="1300" b="0" kern="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FFE2BC7-74A0-4EBD-B720-22FD77810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인구통제</a:t>
            </a:r>
          </a:p>
        </p:txBody>
      </p:sp>
      <p:sp>
        <p:nvSpPr>
          <p:cNvPr id="40968" name="내용 개체 틀 7">
            <a:extLst>
              <a:ext uri="{FF2B5EF4-FFF2-40B4-BE49-F238E27FC236}">
                <a16:creationId xmlns:a16="http://schemas.microsoft.com/office/drawing/2014/main" id="{C9FFADDC-2C41-49A6-B385-FBD3BB604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613" y="1296715"/>
            <a:ext cx="7596187" cy="3813175"/>
          </a:xfrm>
        </p:spPr>
        <p:txBody>
          <a:bodyPr lIns="0" tIns="0" rIns="0" bIns="0"/>
          <a:lstStyle/>
          <a:p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인구통제는 자녀에 대한 수요곡선이라 할 수 있는 한계편익곡선과 자녀양육의 한계비용곡선을 이동시킴으로써 이루어질 수 있음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수요곡선을 이동시키는 요인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농경사회에서 산업사회로의 전환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노후보장제도의 확립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영아사망률의 감소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소득분배 구조 개선으로 소득의 증가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한계비용을 이동시키는 요인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여성의 교육 및 취업기회 확대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산업화와 도시화</a:t>
            </a:r>
          </a:p>
          <a:p>
            <a:pPr lvl="2"/>
            <a:r>
              <a:rPr lang="ko-KR" altLang="en-US" sz="1700" dirty="0">
                <a:latin typeface="나눔명조" pitchFamily="18" charset="-127"/>
                <a:ea typeface="나눔명조" pitchFamily="18" charset="-127"/>
              </a:rPr>
              <a:t>의무교육 연한 증가</a:t>
            </a:r>
          </a:p>
          <a:p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F8D55-FF64-4AE9-953D-D3AB84ACB7D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7030A0"/>
            </a:solidFill>
          </a:ln>
        </p:spPr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노후보장가설의 실증분석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66847-FE26-4DAE-85B8-A1B1042C0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>
                <a:ea typeface="나눔명조" panose="02020603020101020101"/>
              </a:rPr>
              <a:t>노후보장가설은 </a:t>
            </a:r>
            <a:r>
              <a:rPr lang="en-US" altLang="ko-KR" sz="2000" dirty="0">
                <a:ea typeface="나눔명조" panose="02020603020101020101"/>
              </a:rPr>
              <a:t>1) </a:t>
            </a:r>
            <a:r>
              <a:rPr lang="ko-KR" altLang="en-US" sz="2000" dirty="0">
                <a:ea typeface="나눔명조" panose="02020603020101020101"/>
              </a:rPr>
              <a:t>자녀를 가지는 것 이상의 노후보장수단이 존재하지 않고</a:t>
            </a:r>
            <a:r>
              <a:rPr lang="en-US" altLang="ko-KR" sz="2000" dirty="0">
                <a:ea typeface="나눔명조" panose="02020603020101020101"/>
              </a:rPr>
              <a:t>, 2) </a:t>
            </a:r>
            <a:r>
              <a:rPr lang="ko-KR" altLang="en-US" sz="2000" dirty="0">
                <a:ea typeface="나눔명조" panose="02020603020101020101"/>
              </a:rPr>
              <a:t>적은 수의 자녀를 가지는 대신 많은 양의 </a:t>
            </a:r>
            <a:r>
              <a:rPr lang="en-US" altLang="ko-KR" sz="2000" dirty="0">
                <a:ea typeface="나눔명조" panose="02020603020101020101"/>
              </a:rPr>
              <a:t>1</a:t>
            </a:r>
            <a:r>
              <a:rPr lang="ko-KR" altLang="en-US" sz="2000" dirty="0">
                <a:ea typeface="나눔명조" panose="02020603020101020101"/>
              </a:rPr>
              <a:t>인당 물적</a:t>
            </a:r>
            <a:r>
              <a:rPr lang="en-US" altLang="ko-KR" sz="2000" dirty="0">
                <a:ea typeface="나눔명조" panose="02020603020101020101"/>
              </a:rPr>
              <a:t>, </a:t>
            </a:r>
            <a:r>
              <a:rPr lang="ko-KR" altLang="en-US" sz="2000" dirty="0">
                <a:ea typeface="나눔명조" panose="02020603020101020101"/>
              </a:rPr>
              <a:t>인적 자원을 물려주는 것이 노후 보장에 효과적이지 않을 때 유효한 가설이 됨</a:t>
            </a:r>
            <a:endParaRPr lang="en-US" altLang="ko-KR" sz="2000" dirty="0">
              <a:ea typeface="나눔명조" panose="02020603020101020101"/>
            </a:endParaRPr>
          </a:p>
          <a:p>
            <a:r>
              <a:rPr lang="ko-KR" altLang="en-US" sz="2000" dirty="0">
                <a:ea typeface="나눔명조" panose="02020603020101020101"/>
              </a:rPr>
              <a:t>아프리카 나미비아</a:t>
            </a:r>
            <a:r>
              <a:rPr lang="en-US" altLang="ko-KR" sz="2000" dirty="0">
                <a:ea typeface="나눔명조" panose="02020603020101020101"/>
              </a:rPr>
              <a:t>(Namibia)</a:t>
            </a:r>
            <a:r>
              <a:rPr lang="ko-KR" altLang="en-US" sz="2000" dirty="0">
                <a:ea typeface="나눔명조" panose="02020603020101020101"/>
              </a:rPr>
              <a:t>의 연금 개혁과 출생률 관계</a:t>
            </a:r>
            <a:r>
              <a:rPr lang="en-US" altLang="ko-KR" sz="2000" dirty="0">
                <a:ea typeface="나눔명조" panose="02020603020101020101"/>
              </a:rPr>
              <a:t>(Rossi and Godard, 2022): </a:t>
            </a:r>
            <a:r>
              <a:rPr lang="ko-KR" altLang="en-US" sz="2000" dirty="0">
                <a:ea typeface="나눔명조" panose="02020603020101020101"/>
              </a:rPr>
              <a:t>인종차별적 연금제도의 개혁</a:t>
            </a:r>
            <a:endParaRPr lang="en-US" altLang="ko-KR" sz="2000" dirty="0">
              <a:ea typeface="나눔명조" panose="02020603020101020101"/>
            </a:endParaRPr>
          </a:p>
          <a:p>
            <a:pPr lvl="1"/>
            <a:r>
              <a:rPr lang="ko-KR" altLang="en-US" sz="1600" dirty="0">
                <a:ea typeface="나눔명조" panose="02020603020101020101"/>
              </a:rPr>
              <a:t>남아공의 식민지에서 </a:t>
            </a:r>
            <a:r>
              <a:rPr lang="en-US" altLang="ko-KR" sz="1600" dirty="0">
                <a:ea typeface="나눔명조" panose="02020603020101020101"/>
              </a:rPr>
              <a:t>1990</a:t>
            </a:r>
            <a:r>
              <a:rPr lang="ko-KR" altLang="en-US" sz="1600" dirty="0">
                <a:ea typeface="나눔명조" panose="02020603020101020101"/>
              </a:rPr>
              <a:t>년 완전 독립</a:t>
            </a:r>
            <a:r>
              <a:rPr lang="en-US" altLang="ko-KR" sz="1600" dirty="0">
                <a:ea typeface="나눔명조" panose="02020603020101020101"/>
              </a:rPr>
              <a:t>. </a:t>
            </a:r>
            <a:r>
              <a:rPr lang="ko-KR" altLang="en-US" sz="1600" dirty="0">
                <a:ea typeface="나눔명조" panose="02020603020101020101"/>
              </a:rPr>
              <a:t>남아공의 영향으로 백인 위주 혹은 인종차별적 연금 제도 사용됨</a:t>
            </a:r>
            <a:endParaRPr lang="en-US" altLang="ko-KR" sz="1600" dirty="0">
              <a:ea typeface="나눔명조" panose="02020603020101020101"/>
            </a:endParaRPr>
          </a:p>
          <a:p>
            <a:pPr lvl="1"/>
            <a:r>
              <a:rPr lang="en-US" altLang="ko-KR" sz="1600" dirty="0">
                <a:ea typeface="나눔명조" panose="02020603020101020101"/>
              </a:rPr>
              <a:t>1996</a:t>
            </a:r>
            <a:r>
              <a:rPr lang="ko-KR" altLang="en-US" sz="1600" dirty="0">
                <a:ea typeface="나눔명조" panose="02020603020101020101"/>
              </a:rPr>
              <a:t>년 실질적으로 전국민에 동일하게 적용되는 연금제도 시행 </a:t>
            </a:r>
            <a:endParaRPr lang="en-US" altLang="ko-KR" sz="1600" dirty="0">
              <a:ea typeface="나눔명조" panose="02020603020101020101"/>
            </a:endParaRPr>
          </a:p>
          <a:p>
            <a:r>
              <a:rPr lang="ko-KR" altLang="en-US" sz="2000" dirty="0" err="1">
                <a:ea typeface="나눔명조" panose="02020603020101020101"/>
              </a:rPr>
              <a:t>비백인</a:t>
            </a:r>
            <a:r>
              <a:rPr lang="ko-KR" altLang="en-US" sz="2000" dirty="0">
                <a:ea typeface="나눔명조" panose="02020603020101020101"/>
              </a:rPr>
              <a:t> 여성이 갖는 자녀수가 개혁 전 연금 혜택 정도에 따라 </a:t>
            </a:r>
            <a:r>
              <a:rPr lang="en-US" altLang="ko-KR" sz="2000" dirty="0">
                <a:ea typeface="나눔명조" panose="02020603020101020101"/>
              </a:rPr>
              <a:t>5 </a:t>
            </a:r>
            <a:r>
              <a:rPr lang="ko-KR" altLang="en-US" sz="2000" dirty="0">
                <a:ea typeface="나눔명조" panose="02020603020101020101"/>
              </a:rPr>
              <a:t>혹은 </a:t>
            </a:r>
            <a:r>
              <a:rPr lang="en-US" altLang="ko-KR" sz="2000" dirty="0">
                <a:ea typeface="나눔명조" panose="02020603020101020101"/>
              </a:rPr>
              <a:t>6</a:t>
            </a:r>
            <a:r>
              <a:rPr lang="ko-KR" altLang="en-US" sz="2000" dirty="0">
                <a:ea typeface="나눔명조" panose="02020603020101020101"/>
              </a:rPr>
              <a:t>이었지만 개혁 </a:t>
            </a:r>
            <a:r>
              <a:rPr lang="en-US" altLang="ko-KR" sz="2000" dirty="0">
                <a:ea typeface="나눔명조" panose="02020603020101020101"/>
              </a:rPr>
              <a:t>10</a:t>
            </a:r>
            <a:r>
              <a:rPr lang="ko-KR" altLang="en-US" sz="2000" dirty="0">
                <a:ea typeface="나눔명조" panose="02020603020101020101"/>
              </a:rPr>
              <a:t>년 후 모두 </a:t>
            </a:r>
            <a:r>
              <a:rPr lang="en-US" altLang="ko-KR" sz="2000" dirty="0">
                <a:ea typeface="나눔명조" panose="02020603020101020101"/>
              </a:rPr>
              <a:t>4</a:t>
            </a:r>
            <a:r>
              <a:rPr lang="ko-KR" altLang="en-US" sz="2000" dirty="0">
                <a:ea typeface="나눔명조" panose="02020603020101020101"/>
              </a:rPr>
              <a:t>까지 하락 </a:t>
            </a:r>
            <a:endParaRPr lang="en-US" altLang="ko-KR" sz="2000" dirty="0">
              <a:ea typeface="나눔명조" panose="02020603020101020101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6A1C48-D04C-40BA-A0DF-36B5AF18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Chapter 1</a:t>
            </a: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F01AA7-CD5A-40E8-AB0E-131D3195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4ABA-DD27-44D9-ADDC-2401E6B19443}" type="slidenum">
              <a:rPr lang="ko-KR" altLang="en-US" smtClean="0"/>
              <a:pPr/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7556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내용 개체 틀 7">
            <a:extLst>
              <a:ext uri="{FF2B5EF4-FFF2-40B4-BE49-F238E27FC236}">
                <a16:creationId xmlns:a16="http://schemas.microsoft.com/office/drawing/2014/main" id="{87EF2E02-DFC8-4E63-BE29-BECC0D063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675" y="1871663"/>
            <a:ext cx="7739063" cy="3249612"/>
          </a:xfrm>
        </p:spPr>
        <p:txBody>
          <a:bodyPr lIns="0" tIns="0" rIns="0" bIns="0"/>
          <a:lstStyle/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오염원은 정부규제가 없을 경우 자발적으로 저감행위를 하지 않음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endParaRPr lang="en-US" altLang="ko-KR" sz="1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하지만 만약 </a:t>
            </a:r>
            <a:r>
              <a:rPr lang="ko-KR" altLang="en-US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지역사회의 압력</a:t>
            </a:r>
            <a:r>
              <a:rPr lang="en-US" altLang="ko-KR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(community pressure)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이나 </a:t>
            </a:r>
            <a:r>
              <a:rPr lang="ko-KR" altLang="en-US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동료집단의 압력</a:t>
            </a:r>
            <a:r>
              <a:rPr lang="en-US" altLang="ko-KR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(peer pressure)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이 있을 경우 정부규제 없이 저감 행위를 하는 경우가 있음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장에서 살펴본 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ESG 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경영도 비공식적 규제의 일종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7" name="바닥글 개체 틀 4">
            <a:extLst>
              <a:ext uri="{FF2B5EF4-FFF2-40B4-BE49-F238E27FC236}">
                <a16:creationId xmlns:a16="http://schemas.microsoft.com/office/drawing/2014/main" id="{4A89EED6-80E1-4815-88A5-90C41DF4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1988" name="슬라이드 번호 개체 틀 5">
            <a:extLst>
              <a:ext uri="{FF2B5EF4-FFF2-40B4-BE49-F238E27FC236}">
                <a16:creationId xmlns:a16="http://schemas.microsoft.com/office/drawing/2014/main" id="{C1F31CD6-1471-4617-A645-42F0F9FD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1CE7B33-6F4E-4A9D-84B6-8E346CF63240}" type="slidenum">
              <a:rPr lang="ko-KR" altLang="en-US" sz="1200" b="0">
                <a:solidFill>
                  <a:schemeClr val="tx1"/>
                </a:solidFill>
              </a:rPr>
              <a:pPr/>
              <a:t>40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EE898F54-2A78-477D-B83C-7B093031F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95DA4089-5A10-45A5-9605-F3A310FF1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8DE05F6-5371-4703-8DB4-02A3ABCC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비공식적 수단을 사용한 오염의 규제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바닥글 개체 틀 4">
            <a:extLst>
              <a:ext uri="{FF2B5EF4-FFF2-40B4-BE49-F238E27FC236}">
                <a16:creationId xmlns:a16="http://schemas.microsoft.com/office/drawing/2014/main" id="{05803956-958D-45D9-BF39-D001B1DC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5059" name="슬라이드 번호 개체 틀 5">
            <a:extLst>
              <a:ext uri="{FF2B5EF4-FFF2-40B4-BE49-F238E27FC236}">
                <a16:creationId xmlns:a16="http://schemas.microsoft.com/office/drawing/2014/main" id="{5B750FB7-13F4-4CBA-BDEF-85CAE464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3B594A9-7B90-4760-A291-A00D1ABFD1F1}" type="slidenum">
              <a:rPr lang="ko-KR" altLang="en-US" sz="1200" b="0">
                <a:solidFill>
                  <a:schemeClr val="tx1"/>
                </a:solidFill>
              </a:rPr>
              <a:pPr/>
              <a:t>41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D1AF566F-0E2D-4A63-BC8F-2E5C79AFD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8B698FD3-7239-43F6-9974-1CD0EFC59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2" name="내용 개체 틀 7">
            <a:extLst>
              <a:ext uri="{FF2B5EF4-FFF2-40B4-BE49-F238E27FC236}">
                <a16:creationId xmlns:a16="http://schemas.microsoft.com/office/drawing/2014/main" id="{AAFA3708-76EF-4B46-86BC-D37D531F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701800"/>
            <a:ext cx="7893050" cy="4475163"/>
          </a:xfrm>
        </p:spPr>
        <p:txBody>
          <a:bodyPr lIns="0" tIns="0" rIns="0" bIns="0"/>
          <a:lstStyle/>
          <a:p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개도국일 수록 경제성장을 위한 재원이 한정되어 있으므로 효율적인 정책을 사용해야 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동일한 개선효과를 얻을 수 있는 정책 가운데 비용이 적게 들고 동시에 기업의 기술혁신도 자극할 수 있는 정책을 사용해야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반면 비용효과성을 강조하는 것이 비현실적이라는 시각이 있음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고도의 행정경험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지식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효율적인 관료제도가 갖추어져야 효과적인 경제적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유인제도를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시행할 수 있는데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대부분의 개도국의 경우 그렇지 못함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 경우 경제적 유인제도의 장점에 집착하기 보다는 오염의 심각성을 깨우쳐 줄 수 있고 비교적 시행하기 용이한 기술기준과 직접규제제도를 사용하는 것이 더 현실적일 수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8024D6-E508-43B0-844D-9C9E27982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32385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endParaRPr lang="en-US" altLang="ko-KR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  <a:p>
            <a:pPr eaLnBrk="1" hangingPunct="1">
              <a:defRPr/>
            </a:pP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경제적 유인제도와 직접규제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바닥글 개체 틀 4">
            <a:extLst>
              <a:ext uri="{FF2B5EF4-FFF2-40B4-BE49-F238E27FC236}">
                <a16:creationId xmlns:a16="http://schemas.microsoft.com/office/drawing/2014/main" id="{A22A5EA2-98FA-4A17-8553-96BC94C0A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6083" name="슬라이드 번호 개체 틀 5">
            <a:extLst>
              <a:ext uri="{FF2B5EF4-FFF2-40B4-BE49-F238E27FC236}">
                <a16:creationId xmlns:a16="http://schemas.microsoft.com/office/drawing/2014/main" id="{28F511A8-5DCE-419C-AF40-9270C247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8B796C3-14DF-4449-990D-276A0BBEFD1F}" type="slidenum">
              <a:rPr lang="ko-KR" altLang="en-US" sz="1200" b="0">
                <a:solidFill>
                  <a:schemeClr val="tx1"/>
                </a:solidFill>
              </a:rPr>
              <a:pPr/>
              <a:t>42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E4C09BB4-7120-4B5C-91C4-DEF55C29D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CD4C715F-2EB1-45D1-A91E-9716F886D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내용 개체 틀 7">
            <a:extLst>
              <a:ext uri="{FF2B5EF4-FFF2-40B4-BE49-F238E27FC236}">
                <a16:creationId xmlns:a16="http://schemas.microsoft.com/office/drawing/2014/main" id="{BBA5ABA9-547D-46D4-8A05-7B843B703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963" y="1490663"/>
            <a:ext cx="7851775" cy="4770437"/>
          </a:xfrm>
        </p:spPr>
        <p:txBody>
          <a:bodyPr lIns="0" tIns="0" rIns="0" bIns="0"/>
          <a:lstStyle/>
          <a:p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기술이전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(technology transfer):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선진국이 지식이나 기술을 개도국의 지속가능한 발전을 위해 전해주는 것임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몬트리올의정서의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1990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년 수정안은 선진국이 개발한 대체물질을 개발도상국이 적절한 가격에 이용할 수 있도록 할 것을 의무화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온실가스 감축을 위한 국제협의에 있어서도 선진국이 개발도상국의 감축을 기술적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재정적으로 돕는 것은 핵심의제 중 하나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부채와 자연을 교환</a:t>
            </a:r>
            <a:r>
              <a:rPr lang="en-US" altLang="ko-KR" sz="20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(debt-for-nature swap)</a:t>
            </a: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부채를 갚기 위해 환경을 파괴해가며 개발을 추진 중인 개도국에게 부채 일부분을 상환하는 대신 자연보호를 할 것을 요구하는 것임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효과가 대단히 클 수는 없으나 환경적으로 민감한 지역의 보호 등에는  유용한 방식이 될 수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선진국은 국제기구의 활동이 개도국의 자연환경을 훼손하지 않도록 노력해야 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이를 위해 국제기구들은 현재 대부분 환경관련 부처를 설립하여 운용하고 있으며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자신들의 개도국 지원사업이 개도국의 환경에 미치는 영향을 평가함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0C744B-9DF1-452D-BE65-870C8FD00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개도국의 환경관리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선진국의 역할</a:t>
            </a: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바닥글 개체 틀 4">
            <a:extLst>
              <a:ext uri="{FF2B5EF4-FFF2-40B4-BE49-F238E27FC236}">
                <a16:creationId xmlns:a16="http://schemas.microsoft.com/office/drawing/2014/main" id="{1B6B10BA-0B0C-4E71-87D4-AB4DDBE6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7107" name="슬라이드 번호 개체 틀 5">
            <a:extLst>
              <a:ext uri="{FF2B5EF4-FFF2-40B4-BE49-F238E27FC236}">
                <a16:creationId xmlns:a16="http://schemas.microsoft.com/office/drawing/2014/main" id="{3EBDFDAB-00A1-4B8C-986E-38CE2E9D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3F87AE4-0E58-45A5-B230-41B58A77CD96}" type="slidenum">
              <a:rPr lang="ko-KR" altLang="en-US" sz="1200" b="0">
                <a:solidFill>
                  <a:schemeClr val="tx1"/>
                </a:solidFill>
              </a:rPr>
              <a:pPr/>
              <a:t>43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D68AA218-7CF7-406C-8F3B-973C15AD0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F40AA768-2C79-4B28-B4F0-D204017A7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10" name="내용 개체 틀 7">
            <a:extLst>
              <a:ext uri="{FF2B5EF4-FFF2-40B4-BE49-F238E27FC236}">
                <a16:creationId xmlns:a16="http://schemas.microsoft.com/office/drawing/2014/main" id="{DDB62D53-8350-49B6-BB9E-DBC9D5783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463" y="1139031"/>
            <a:ext cx="7886602" cy="1689100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곡선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최종소비재의 생산가능경계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I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I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국가 전체의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무차별곡선들이며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선택점은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최적 생산량은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이고 국민총생산은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= 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+p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각 재화의 가격이며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 비율은 최적 생산</a:t>
            </a:r>
            <a:r>
              <a:rPr lang="en-US" altLang="ko-KR" sz="2000" dirty="0">
                <a:latin typeface="Arial" panose="020B0604020202020204" pitchFamily="34" charset="0"/>
                <a:ea typeface="나눔명조" pitchFamily="18" charset="-127"/>
                <a:cs typeface="Arial" panose="020B0604020202020204" pitchFamily="34" charset="0"/>
              </a:rPr>
              <a:t>·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소비점에서의 두 곡선의 접선 기울기임</a:t>
            </a:r>
            <a:endParaRPr lang="en-US" altLang="ko-KR" sz="2000" baseline="30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C2FF54A-CA5B-4D97-9422-83AEB92B3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국민소득계정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C5DD2D-D704-423E-AE3C-10F387383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65" y="2957938"/>
            <a:ext cx="5382986" cy="341431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바닥글 개체 틀 4">
            <a:extLst>
              <a:ext uri="{FF2B5EF4-FFF2-40B4-BE49-F238E27FC236}">
                <a16:creationId xmlns:a16="http://schemas.microsoft.com/office/drawing/2014/main" id="{0FA35F94-E3E4-47AB-A322-2912A5A9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8131" name="슬라이드 번호 개체 틀 5">
            <a:extLst>
              <a:ext uri="{FF2B5EF4-FFF2-40B4-BE49-F238E27FC236}">
                <a16:creationId xmlns:a16="http://schemas.microsoft.com/office/drawing/2014/main" id="{D1EFCC6E-84A8-452D-AA25-40065BDB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478B002-49FD-4E83-A223-C93AA48B2B09}" type="slidenum">
              <a:rPr lang="ko-KR" altLang="en-US" sz="1200" b="0">
                <a:solidFill>
                  <a:schemeClr val="tx1"/>
                </a:solidFill>
              </a:rPr>
              <a:pPr/>
              <a:t>44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6D90FECA-5764-48EE-A9C8-4A33CF60B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78469C75-2852-40F1-BAF6-FB73451E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4" name="내용 개체 틀 7">
            <a:extLst>
              <a:ext uri="{FF2B5EF4-FFF2-40B4-BE49-F238E27FC236}">
                <a16:creationId xmlns:a16="http://schemas.microsoft.com/office/drawing/2014/main" id="{64CACC4F-984B-43C6-A2CC-932F34F00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547813"/>
            <a:ext cx="7893050" cy="4713287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현재 어떤 이유로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머물고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 국가가 또 다른 점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이동한다면 무차별곡선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en-US" altLang="ko-KR" sz="2000" baseline="30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4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상향 이동하므로 후생이 증가됨</a:t>
            </a:r>
            <a:endParaRPr lang="en-US" altLang="ko-KR" sz="2000" baseline="30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한편 동일한 가격지수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p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사용하여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점과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계산된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각각 직선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3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en-US" altLang="ko-KR" sz="20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해당되고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점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C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점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B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이동하면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증대됨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이런 현상은 생산가능경계상 모든 점에 있어 발생함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즉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최적점에서의 생산물의 잠재가격을 가격지수로 사용하여 계산되는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국민경제가 최적점에 가까워질수록 증가하며 후생수준이 증대될수록 증가함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현재 시장에서 형성되는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x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,x</a:t>
            </a:r>
            <a:r>
              <a:rPr lang="en-US" altLang="ko-KR" sz="1800" baseline="-25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시장가격이 최적점에서의 잠재가격과 가깝다면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시장가격을 이용해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쉽게 계산할 수 있고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계산된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후생변화의 척도로 삼을 수 있음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006CA1-243A-4E1F-98A3-E901544DF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국민소득계정</a:t>
            </a:r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바닥글 개체 틀 4">
            <a:extLst>
              <a:ext uri="{FF2B5EF4-FFF2-40B4-BE49-F238E27FC236}">
                <a16:creationId xmlns:a16="http://schemas.microsoft.com/office/drawing/2014/main" id="{0E9B1D00-7748-43BF-BA9D-01570029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2052" name="슬라이드 번호 개체 틀 5">
            <a:extLst>
              <a:ext uri="{FF2B5EF4-FFF2-40B4-BE49-F238E27FC236}">
                <a16:creationId xmlns:a16="http://schemas.microsoft.com/office/drawing/2014/main" id="{DD9B1CB9-00FB-43A0-B85A-B806F1D7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B7D6395-6AD7-4819-80A9-9F35415B5195}" type="slidenum">
              <a:rPr lang="ko-KR" altLang="en-US" sz="1200" b="0">
                <a:solidFill>
                  <a:schemeClr val="tx1"/>
                </a:solidFill>
              </a:rPr>
              <a:pPr/>
              <a:t>45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E1EF1627-1903-4120-91A3-F185C9DD9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4" name="Rectangle 3">
            <a:extLst>
              <a:ext uri="{FF2B5EF4-FFF2-40B4-BE49-F238E27FC236}">
                <a16:creationId xmlns:a16="http://schemas.microsoft.com/office/drawing/2014/main" id="{E2BBCA3E-A72A-4C0C-AB47-FADBB236D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5" name="내용 개체 틀 7">
                <a:extLst>
                  <a:ext uri="{FF2B5EF4-FFF2-40B4-BE49-F238E27FC236}">
                    <a16:creationId xmlns:a16="http://schemas.microsoft.com/office/drawing/2014/main" id="{9F753C34-57F8-4656-B314-54787FEC6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12825" y="1350963"/>
                <a:ext cx="7878763" cy="4741862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경제 내에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개의 상품이 있다면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𝐺𝑁𝑃</m:t>
                      </m:r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endParaRPr lang="en-US" altLang="ko-KR" sz="1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ko-KR" altLang="en-US" sz="18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이는 모든 최종생산물에 대한 지출액의 합계임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r>
                  <a:rPr lang="ko-KR" altLang="en-US" sz="2400" dirty="0" err="1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최종산물에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 대한 지출액은 다시 다음과 같음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GNP =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소비지출액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투자지출액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정부지출액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GNP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에서 자연적인 노후화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사용으로 인한 소모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기술적 소모 등으로 발생하는 자본재의 감가상각액을 뺀 것을 </a:t>
                </a:r>
                <a:r>
                  <a:rPr lang="ko-KR" altLang="en-US" sz="24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국민순생산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(NNP)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이라 함</a:t>
                </a:r>
                <a:endParaRPr lang="en-US" altLang="ko-KR" sz="24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NNP = GNP –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감가상각액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소비지출액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자본재에 대한 순투자액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정부지출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5" name="내용 개체 틀 7">
                <a:extLst>
                  <a:ext uri="{FF2B5EF4-FFF2-40B4-BE49-F238E27FC236}">
                    <a16:creationId xmlns:a16="http://schemas.microsoft.com/office/drawing/2014/main" id="{9F753C34-57F8-4656-B314-54787FEC6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2825" y="1350963"/>
                <a:ext cx="7878763" cy="4741862"/>
              </a:xfrm>
              <a:blipFill>
                <a:blip r:embed="rId3"/>
                <a:stretch>
                  <a:fillRect l="-2166" t="-21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1935BD89-DFA2-43D9-9051-2617202C3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국민소득계정</a:t>
            </a:r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바닥글 개체 틀 4">
            <a:extLst>
              <a:ext uri="{FF2B5EF4-FFF2-40B4-BE49-F238E27FC236}">
                <a16:creationId xmlns:a16="http://schemas.microsoft.com/office/drawing/2014/main" id="{69C4D3A1-A072-4C9E-8921-E05BB89C4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49155" name="슬라이드 번호 개체 틀 5">
            <a:extLst>
              <a:ext uri="{FF2B5EF4-FFF2-40B4-BE49-F238E27FC236}">
                <a16:creationId xmlns:a16="http://schemas.microsoft.com/office/drawing/2014/main" id="{0A0B381F-C438-4157-B5C0-5A14794F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BC3A8FD-F9B1-49AA-8780-E6C28878E083}" type="slidenum">
              <a:rPr lang="ko-KR" altLang="en-US" sz="1200" b="0">
                <a:solidFill>
                  <a:schemeClr val="tx1"/>
                </a:solidFill>
              </a:rPr>
              <a:pPr/>
              <a:t>46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4EA4DE87-D066-4AFD-864F-6672D5EBE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994C7B7F-82F3-4389-85EE-89D54F5B8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8" name="내용 개체 틀 7">
            <a:extLst>
              <a:ext uri="{FF2B5EF4-FFF2-40B4-BE49-F238E27FC236}">
                <a16:creationId xmlns:a16="http://schemas.microsoft.com/office/drawing/2014/main" id="{5704B1EB-B044-4465-84C0-1293AB1B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476375"/>
            <a:ext cx="7624762" cy="4784725"/>
          </a:xfrm>
        </p:spPr>
        <p:txBody>
          <a:bodyPr lIns="0" tIns="0" rIns="0" bIns="0"/>
          <a:lstStyle/>
          <a:p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현재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경제활동 결과로 인해 발생하는 환경오염이나 천연자원의 감소를 제대로 반영하지 못함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기존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GNP, 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에서는 환경오염피해를 줄이기 위한 비용을 국민소득에 포함하기에 국가 후생을 과대평가한다는 지적이 있음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: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그러나 소비재의 가치와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회피행위에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대한 지출액은 부존자원을 두고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경합관계를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이루기 때문에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회피행위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역시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 포함되어야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정확한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후생지표는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기존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에서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변화와 천연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자원량의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변화를 고려해서 수정해야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2"/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 =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소비지출액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+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정부지출액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+ 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자본재에 대한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순투자액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-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악화로 인한 피해</a:t>
            </a:r>
            <a:r>
              <a:rPr lang="en-US" altLang="ko-KR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-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 </a:t>
            </a:r>
            <a:r>
              <a:rPr lang="ko-KR" altLang="en-US" sz="18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변화량의</a:t>
            </a:r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가치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/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7F4DFD-B2BD-49D4-9CD0-A153A83B3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문제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바닥글 개체 틀 4">
            <a:extLst>
              <a:ext uri="{FF2B5EF4-FFF2-40B4-BE49-F238E27FC236}">
                <a16:creationId xmlns:a16="http://schemas.microsoft.com/office/drawing/2014/main" id="{0D566531-5A94-4C33-8B3F-FD4B520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0179" name="슬라이드 번호 개체 틀 5">
            <a:extLst>
              <a:ext uri="{FF2B5EF4-FFF2-40B4-BE49-F238E27FC236}">
                <a16:creationId xmlns:a16="http://schemas.microsoft.com/office/drawing/2014/main" id="{B4AF2EAC-762B-4297-BBE6-1C420547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6335893-7875-4B17-9AF9-A1E5350EC89F}" type="slidenum">
              <a:rPr lang="ko-KR" altLang="en-US" sz="1200" b="0">
                <a:solidFill>
                  <a:schemeClr val="tx1"/>
                </a:solidFill>
              </a:rPr>
              <a:pPr/>
              <a:t>47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5108EF05-9D35-4BEF-92B9-5270D7591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E79DB258-24F6-4BBB-B5C1-E595069E9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0182" name="내용 개체 틀 8">
            <a:extLst>
              <a:ext uri="{FF2B5EF4-FFF2-40B4-BE49-F238E27FC236}">
                <a16:creationId xmlns:a16="http://schemas.microsoft.com/office/drawing/2014/main" id="{E4155736-4EA4-49E7-9692-22984C7C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182687"/>
            <a:ext cx="7497762" cy="4979988"/>
          </a:xfrm>
        </p:spPr>
        <p:txBody>
          <a:bodyPr/>
          <a:lstStyle/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수정된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기존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차이는 마지막 두 항목 때문에 발생함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수정된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감소하지 않으면 시간이 지나면서 후생 수준이 감소하지 않으므로 이는 지속가능한 발전의 척도가 될 수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자연환경적 측면을 고려한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NNP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를 계산하고자 할 때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악화로 인한 피해액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 변화량의 가치를 계산해야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이를 위해서 환경질이나 천연자원의 수량 및 가격자료를 구해야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18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이때 가격은 앞서 설명한 후생극대화 상태에서 환경질이나 천연자원의 한 단위 변화가 유발하는 후생변화를 나타내는 잠재 가격임</a:t>
            </a:r>
            <a:endParaRPr lang="en-US" altLang="ko-KR" sz="18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하지만 국민 경제 내에 존재 하는 모든 종류의 환경질과 천연자원의 잠재가격을 구해내는 것은 매우 어려운 문제임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lvl="1"/>
            <a:r>
              <a:rPr lang="ko-KR" altLang="en-US" sz="16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계정 작성을 실제로 시도하는 작업들은 오염물질의 저감비용으로 환경재의 잠재가격을 대신하는 방법을 사용하기도 함</a:t>
            </a:r>
            <a:endParaRPr lang="en-US" altLang="ko-KR" sz="16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endParaRPr lang="en-US" altLang="ko-KR" sz="1800" dirty="0">
              <a:latin typeface="나눔명조" pitchFamily="18" charset="-127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F4C9256-EB52-43F2-88A6-17187B038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이론적 문제</a:t>
            </a:r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48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4" name="내용 개체 틀 8">
            <a:extLst>
              <a:ext uri="{FF2B5EF4-FFF2-40B4-BE49-F238E27FC236}">
                <a16:creationId xmlns:a16="http://schemas.microsoft.com/office/drawing/2014/main" id="{6BDB39C4-B693-4375-BC9F-DB77B353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48" y="1210233"/>
            <a:ext cx="7372350" cy="4768850"/>
          </a:xfrm>
        </p:spPr>
        <p:txBody>
          <a:bodyPr/>
          <a:lstStyle/>
          <a:p>
            <a:pPr marL="400050"/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UN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환경경제통합계정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(System of Integrated Environmental and Economic Accounting, SEEA)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만들어 기존 국민소득계정에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천연자원량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변화와 </a:t>
            </a:r>
            <a:r>
              <a:rPr lang="ko-KR" altLang="en-US" sz="24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환경질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변화를 반영하고자 노력</a:t>
            </a:r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400050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세계은행의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</a:t>
            </a: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세계은행은 </a:t>
            </a:r>
            <a:r>
              <a:rPr lang="ko-KR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조정된 순국민소득</a:t>
            </a:r>
            <a:r>
              <a:rPr lang="en-US" altLang="ko-KR" sz="2000" b="1" dirty="0">
                <a:solidFill>
                  <a:srgbClr val="0000FF"/>
                </a:solidFill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(Adjusted Net National Income, ANNI)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을 각국에 대해 발표하고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특정 국가의 국민들이 국내외를 불문하고 벌어들인 소득의 합은 국민총소득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(gross national income, GNI)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이라 부르는데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ANNI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여기에서 고정자본소비와 천연자원 감소량을 뺀 것임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</a:p>
        </p:txBody>
      </p:sp>
    </p:spTree>
    <p:extLst>
      <p:ext uri="{BB962C8B-B14F-4D97-AF65-F5344CB8AC3E}">
        <p14:creationId xmlns:p14="http://schemas.microsoft.com/office/powerpoint/2010/main" val="3565753081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49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4" name="내용 개체 틀 8">
            <a:extLst>
              <a:ext uri="{FF2B5EF4-FFF2-40B4-BE49-F238E27FC236}">
                <a16:creationId xmlns:a16="http://schemas.microsoft.com/office/drawing/2014/main" id="{6BDB39C4-B693-4375-BC9F-DB77B353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8225" y="1397421"/>
            <a:ext cx="7372350" cy="4768850"/>
          </a:xfrm>
        </p:spPr>
        <p:txBody>
          <a:bodyPr/>
          <a:lstStyle/>
          <a:p>
            <a:pPr marL="514350" lvl="1" indent="0">
              <a:buNone/>
            </a:pP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514350" lvl="1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 = GNI –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고정자본소비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–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 감소량의 가치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1257300" lvl="2"/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고정자본소비는 생산과정에서 사용해버린 </a:t>
            </a:r>
            <a:r>
              <a:rPr lang="ko-KR" altLang="en-US" sz="17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고정자본량을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의미함</a:t>
            </a:r>
            <a:endParaRPr lang="en-US" altLang="ko-KR" sz="17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1257300" lvl="2"/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천연자원 감소량은 </a:t>
            </a:r>
            <a:r>
              <a:rPr lang="en-US" altLang="ko-KR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10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가지 광물</a:t>
            </a:r>
            <a:r>
              <a:rPr lang="en-US" altLang="ko-KR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4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가지 에너지</a:t>
            </a:r>
            <a:r>
              <a:rPr lang="en-US" altLang="ko-KR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그리고 산림 스톡의 감소분을 의미함</a:t>
            </a:r>
            <a:endParaRPr lang="en-US" altLang="ko-KR" sz="17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1257300" lvl="2"/>
            <a:r>
              <a:rPr lang="en-US" altLang="ko-KR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환경오염의 영향 등까지 반영하는 완전한 형태의 조정 </a:t>
            </a:r>
            <a:r>
              <a:rPr lang="en-US" altLang="ko-KR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GNP</a:t>
            </a:r>
            <a:r>
              <a:rPr lang="ko-KR" altLang="en-US" sz="17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아니지만 적어도 천연자원 스톡이 줄어드는 효과는 반영할 수 있음</a:t>
            </a:r>
            <a:endParaRPr lang="en-US" altLang="ko-KR" sz="17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400050"/>
            <a:endParaRPr lang="en-US" altLang="ko-KR" sz="24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몇 가지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적용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431097089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50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254" name="내용 개체 틀 8">
                <a:extLst>
                  <a:ext uri="{FF2B5EF4-FFF2-40B4-BE49-F238E27FC236}">
                    <a16:creationId xmlns:a16="http://schemas.microsoft.com/office/drawing/2014/main" id="{6BDB39C4-B693-4375-BC9F-DB77B3535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8538" y="1646238"/>
                <a:ext cx="7372350" cy="4768850"/>
              </a:xfrm>
            </p:spPr>
            <p:txBody>
              <a:bodyPr/>
              <a:lstStyle/>
              <a:p>
                <a:pPr marL="400050"/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세계은행의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ANNI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와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ANS(</a:t>
                </a:r>
                <a:r>
                  <a:rPr lang="ko-KR" altLang="en-US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계속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/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세계은행이 발표하는 지표로 보다 포괄적인 것은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조정된 </a:t>
                </a:r>
                <a:r>
                  <a:rPr lang="ko-KR" altLang="en-US" sz="2000" b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순저축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(Adjusted Net Saving, ANS)</a:t>
                </a:r>
                <a:r>
                  <a:rPr lang="ko-KR" altLang="en-US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이라 부르는 지표</a:t>
                </a:r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  <a:p>
                <a:pPr marL="514350" lvl="1" indent="0" algn="ctr">
                  <a:buNone/>
                </a:pP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ANS = GNS – CFC + EDU – NRD – GHG – POL</a:t>
                </a:r>
              </a:p>
              <a:p>
                <a:pPr marL="1200150" lvl="2"/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단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 GNS=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총국민저축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(Gross National Saving)=GNI-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정부 및 민간 소비</a:t>
                </a:r>
              </a:p>
              <a:p>
                <a:pPr marL="1200150" lvl="2"/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CFC=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고정자본소비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EDU=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공교육 지출액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NRD=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천연자원 감소량 가치</a:t>
                </a:r>
              </a:p>
              <a:p>
                <a:pPr marL="1200150" lvl="2"/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GHG=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화석연료 소비와 시멘트 공정의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0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altLang="ko-KR" sz="1700" b="0" i="1" smtClean="0">
                            <a:latin typeface="Cambria Math" panose="02040503050406030204" pitchFamily="18" charset="0"/>
                            <a:ea typeface="나눔명조" pitchFamily="18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배출 피해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(1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톤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= 30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달러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1200150" lvl="2"/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POL=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대기오염노출 피해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미세먼지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실내 공기오염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오존오염 등</a:t>
                </a:r>
                <a:r>
                  <a:rPr lang="en-US" altLang="ko-KR" sz="17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/>
                <a:endParaRPr lang="en-US" altLang="ko-KR" sz="2000" dirty="0">
                  <a:latin typeface="Times New Roman" panose="02020603050405020304" pitchFamily="18" charset="0"/>
                  <a:ea typeface="나눔명조" pitchFamily="18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254" name="내용 개체 틀 8">
                <a:extLst>
                  <a:ext uri="{FF2B5EF4-FFF2-40B4-BE49-F238E27FC236}">
                    <a16:creationId xmlns:a16="http://schemas.microsoft.com/office/drawing/2014/main" id="{6BDB39C4-B693-4375-BC9F-DB77B3535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8538" y="1646238"/>
                <a:ext cx="7372350" cy="4768850"/>
              </a:xfrm>
              <a:blipFill>
                <a:blip r:embed="rId3"/>
                <a:stretch>
                  <a:fillRect l="-414" t="-1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몇 가지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적용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2850785366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51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4" name="내용 개체 틀 8">
            <a:extLst>
              <a:ext uri="{FF2B5EF4-FFF2-40B4-BE49-F238E27FC236}">
                <a16:creationId xmlns:a16="http://schemas.microsoft.com/office/drawing/2014/main" id="{6BDB39C4-B693-4375-BC9F-DB77B353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1646238"/>
            <a:ext cx="7372350" cy="4768850"/>
          </a:xfrm>
        </p:spPr>
        <p:txBody>
          <a:bodyPr/>
          <a:lstStyle/>
          <a:p>
            <a:pPr marL="400050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세계은행의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계속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marL="800100" lvl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EDU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는 기존 국민소득집계방식이 교육지출의 인간자본에 대한 기여도를 정확히 반영하지 못하는 문제를 해결하기 위해 포함됨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POL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은 대기오염이 원인인 조기사망 때문에 생긴 노동력 손실액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크면 천연자원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교육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환경을 감안하는 제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절에서 도입한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총자본량이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저축을 통해 늘어나기 때문에 이 국가의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후생수준이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 높아진다고 할 수 있고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반대로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0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보다 작을 경우에는 후생수준이  낮아진다고 할 수 있음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몇 가지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적용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679323926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52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4" name="내용 개체 틀 8">
            <a:extLst>
              <a:ext uri="{FF2B5EF4-FFF2-40B4-BE49-F238E27FC236}">
                <a16:creationId xmlns:a16="http://schemas.microsoft.com/office/drawing/2014/main" id="{6BDB39C4-B693-4375-BC9F-DB77B353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1646238"/>
            <a:ext cx="7372350" cy="4768850"/>
          </a:xfrm>
        </p:spPr>
        <p:txBody>
          <a:bodyPr/>
          <a:lstStyle/>
          <a:p>
            <a:pPr marL="400050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세계은행의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계속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marL="514350" lvl="1" indent="0">
              <a:buNone/>
            </a:pP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몇 가지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적용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1D7750-6742-482F-ABD5-CEF6BBCE6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75" y="2076596"/>
            <a:ext cx="6172200" cy="425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08388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바닥글 개체 틀 4">
            <a:extLst>
              <a:ext uri="{FF2B5EF4-FFF2-40B4-BE49-F238E27FC236}">
                <a16:creationId xmlns:a16="http://schemas.microsoft.com/office/drawing/2014/main" id="{B635AD9E-0112-49E4-93A8-AFC3E2AF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20</a:t>
            </a:r>
          </a:p>
        </p:txBody>
      </p:sp>
      <p:sp>
        <p:nvSpPr>
          <p:cNvPr id="53251" name="슬라이드 번호 개체 틀 5">
            <a:extLst>
              <a:ext uri="{FF2B5EF4-FFF2-40B4-BE49-F238E27FC236}">
                <a16:creationId xmlns:a16="http://schemas.microsoft.com/office/drawing/2014/main" id="{9D2558D1-73F8-4D4B-8A91-F649456A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109DAA08-F744-4750-AFB5-834BC2AC2E11}" type="slidenum">
              <a:rPr lang="ko-KR" altLang="en-US" sz="1200" b="0">
                <a:solidFill>
                  <a:schemeClr val="tx1"/>
                </a:solidFill>
              </a:rPr>
              <a:pPr/>
              <a:t>53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1EC07D83-753A-4528-95F4-E2404AEAF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5A6E912E-FE93-4749-BE59-689AFACC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4" name="내용 개체 틀 8">
            <a:extLst>
              <a:ext uri="{FF2B5EF4-FFF2-40B4-BE49-F238E27FC236}">
                <a16:creationId xmlns:a16="http://schemas.microsoft.com/office/drawing/2014/main" id="{6BDB39C4-B693-4375-BC9F-DB77B3535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1646238"/>
            <a:ext cx="7372350" cy="4768850"/>
          </a:xfrm>
        </p:spPr>
        <p:txBody>
          <a:bodyPr/>
          <a:lstStyle/>
          <a:p>
            <a:pPr marL="400050"/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세계은행의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ANNI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ANS(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계속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)</a:t>
            </a: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한국은 천연자원 채굴량이 별로 없이 경제를 운용하고 저축률과 교육비 지출이 높아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GNI 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약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20%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높음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GNI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크지는 않으나 경제가 활발히 성장하는 중진국에서도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GNI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대비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11~13%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높음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GNI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가 큰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OECD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국가에서는 약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8.3%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로 중진국보다 낮음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세계평균은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9.9%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정도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문제가 되는 것은 </a:t>
            </a:r>
            <a:r>
              <a:rPr lang="ko-KR" altLang="en-US" sz="2000" dirty="0" err="1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저소득국임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. GNI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자체가 가장 낮음에도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비율이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5%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미만이며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음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(-)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이어서 지속가능성 기준으로는 부의 성장이 발생하기도 함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최근 연도에는 저소득국의 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ANS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도 안정적으로 양</a:t>
            </a:r>
            <a:r>
              <a:rPr lang="en-US" altLang="ko-KR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(+)</a:t>
            </a:r>
            <a:r>
              <a:rPr lang="ko-KR" altLang="en-US" sz="20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의 값을 보여줌</a:t>
            </a:r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  <a:p>
            <a:pPr marL="800100" lvl="1"/>
            <a:endParaRPr lang="en-US" altLang="ko-KR" sz="2000" dirty="0">
              <a:latin typeface="Times New Roman" panose="02020603050405020304" pitchFamily="18" charset="0"/>
              <a:ea typeface="나눔명조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3237D0E-3336-4A3F-94C2-BB1628AB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0"/>
            <a:ext cx="7469188" cy="10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녹색국민소득계정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 몇 가지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적용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100674294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2514</TotalTime>
  <Words>4487</Words>
  <Application>Microsoft Office PowerPoint</Application>
  <PresentationFormat>화면 슬라이드 쇼(4:3)</PresentationFormat>
  <Paragraphs>607</Paragraphs>
  <Slides>53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5" baseType="lpstr">
      <vt:lpstr>굴림</vt:lpstr>
      <vt:lpstr>나눔고딕</vt:lpstr>
      <vt:lpstr>나눔명조</vt:lpstr>
      <vt:lpstr>맑은 고딕</vt:lpstr>
      <vt:lpstr>Batang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20장 개요</vt:lpstr>
      <vt:lpstr>경제발전과 환경,  지속 가능한 경제 발전</vt:lpstr>
      <vt:lpstr>경제발전과 환경,  지속 가능한 경제 발전</vt:lpstr>
      <vt:lpstr>경제발전과 환경: 횡단면분석</vt:lpstr>
      <vt:lpstr>경제발전과 환경: 횡단면분석</vt:lpstr>
      <vt:lpstr>경제발전과 환경: 시계열분석</vt:lpstr>
      <vt:lpstr>경제발전과 환경: 시계열분석</vt:lpstr>
      <vt:lpstr>경제발전과 환경: 시계열분석</vt:lpstr>
      <vt:lpstr>경제발전과 환경: 시계열분석</vt:lpstr>
      <vt:lpstr>경제발전과 환경: 지속가능한 발전</vt:lpstr>
      <vt:lpstr>경제발전과 환경: 지속가능한 발전</vt:lpstr>
      <vt:lpstr>경제발전과 환경: 지속가능한 발전</vt:lpstr>
      <vt:lpstr>경제발전과 환경: 지속가능한 발전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공유자원의 약탈적 이용: 가나의 예</vt:lpstr>
      <vt:lpstr>공유자원의 약탈적 이용: 가나의 예</vt:lpstr>
      <vt:lpstr>PowerPoint 프레젠테이션</vt:lpstr>
      <vt:lpstr>PowerPoint 프레젠테이션</vt:lpstr>
      <vt:lpstr>PowerPoint 프레젠테이션</vt:lpstr>
      <vt:lpstr>노후보장가설의 실증분석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304</cp:revision>
  <dcterms:created xsi:type="dcterms:W3CDTF">1997-07-14T00:22:12Z</dcterms:created>
  <dcterms:modified xsi:type="dcterms:W3CDTF">2025-02-19T01:28:20Z</dcterms:modified>
</cp:coreProperties>
</file>