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2"/>
  </p:notesMasterIdLst>
  <p:handoutMasterIdLst>
    <p:handoutMasterId r:id="rId53"/>
  </p:handoutMasterIdLst>
  <p:sldIdLst>
    <p:sldId id="262" r:id="rId2"/>
    <p:sldId id="332" r:id="rId3"/>
    <p:sldId id="353" r:id="rId4"/>
    <p:sldId id="354" r:id="rId5"/>
    <p:sldId id="266" r:id="rId6"/>
    <p:sldId id="334" r:id="rId7"/>
    <p:sldId id="355" r:id="rId8"/>
    <p:sldId id="358" r:id="rId9"/>
    <p:sldId id="359" r:id="rId10"/>
    <p:sldId id="356" r:id="rId11"/>
    <p:sldId id="380" r:id="rId12"/>
    <p:sldId id="386" r:id="rId13"/>
    <p:sldId id="392" r:id="rId14"/>
    <p:sldId id="360" r:id="rId15"/>
    <p:sldId id="351" r:id="rId16"/>
    <p:sldId id="361" r:id="rId17"/>
    <p:sldId id="362" r:id="rId18"/>
    <p:sldId id="387" r:id="rId19"/>
    <p:sldId id="381" r:id="rId20"/>
    <p:sldId id="367" r:id="rId21"/>
    <p:sldId id="363" r:id="rId22"/>
    <p:sldId id="364" r:id="rId23"/>
    <p:sldId id="365" r:id="rId24"/>
    <p:sldId id="325" r:id="rId25"/>
    <p:sldId id="382" r:id="rId26"/>
    <p:sldId id="368" r:id="rId27"/>
    <p:sldId id="369" r:id="rId28"/>
    <p:sldId id="388" r:id="rId29"/>
    <p:sldId id="383" r:id="rId30"/>
    <p:sldId id="384" r:id="rId31"/>
    <p:sldId id="335" r:id="rId32"/>
    <p:sldId id="370" r:id="rId33"/>
    <p:sldId id="345" r:id="rId34"/>
    <p:sldId id="337" r:id="rId35"/>
    <p:sldId id="371" r:id="rId36"/>
    <p:sldId id="373" r:id="rId37"/>
    <p:sldId id="374" r:id="rId38"/>
    <p:sldId id="385" r:id="rId39"/>
    <p:sldId id="372" r:id="rId40"/>
    <p:sldId id="375" r:id="rId41"/>
    <p:sldId id="376" r:id="rId42"/>
    <p:sldId id="377" r:id="rId43"/>
    <p:sldId id="378" r:id="rId44"/>
    <p:sldId id="305" r:id="rId45"/>
    <p:sldId id="379" r:id="rId46"/>
    <p:sldId id="348" r:id="rId47"/>
    <p:sldId id="350" r:id="rId48"/>
    <p:sldId id="389" r:id="rId49"/>
    <p:sldId id="390" r:id="rId50"/>
    <p:sldId id="391" r:id="rId51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17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76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29CFB80C-509F-4683-B5A9-E0FF4D7F447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036DA44-9A6B-46FF-9E10-DC1B49107B1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3AD73CA-48C1-41EC-86AD-5E2E63934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0E17557-2646-4B57-8F78-80B21EFAF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3DDD0EF4-3DF7-4187-83AC-1E696AAD9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4982A45A-64CB-4F8C-8ED5-88063478B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24002697-B32C-4446-9EAA-E3D7D14A2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6F8CB502-C57C-4087-8556-89D7045A7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807C8139-316D-4128-B069-453698F3B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AE50D9A-A919-4E21-9098-36D1310CE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41F51CFD-72B9-49B0-9F60-0B90358E8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CDED43D6-1485-45E9-B001-16881366F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C9B11B0E-8638-4FF2-AB9D-C2602D582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E4CC9E0F-D460-40D7-B450-012EA18553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C0DCEBF-0831-408E-9989-1F5995CCD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AE57F60D-1A7C-41A9-B5A8-11746661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6B4824E4-06A9-4207-B898-23873F40E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38177F87-8FB4-4D55-AB73-BE96DCA33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DDD762CD-17A3-4076-B156-2FC020A79F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7C723D72-66B9-4411-947C-0D7976408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30C483A-0E80-4C95-824C-EB32D3850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51EB8A9-4044-44B3-9886-10BDF306A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DF59FA0E-C603-4F71-ADC5-6E59F87B9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4476F7D4-7BB7-492F-A0E8-6315C849E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13400A98-412E-450B-89BD-9BAF1E3D64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F4145B00-0355-418B-83AA-4E8213CBE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0C46816-5596-4450-94EF-9A58DD016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6A072AE-0C60-41D3-B526-5CF1A497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07AAA399-C155-476A-A681-B1A14DCED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46956D2A-F91F-49C9-9CA3-5BCB504DC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E6A92308-FE22-4823-A2D6-7C74D55973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D31C1566-5CEB-4970-9FE9-0C7263906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4088720-7DB9-4BA7-845A-A63C6FE5D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D592022-0DA2-4E85-BE20-3D57767FF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7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6044D9A4-8330-42D3-8DA9-267766832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D94275FD-BDDF-419E-85DA-4F65DD33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140CFABB-3A99-470E-9A4E-B0866964C5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3F145B22-3405-4082-A784-E67A3260D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8A3042C-030C-4DE4-878C-786CED0EA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B8B0266-668D-495B-ADB8-DDEEEB991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1477CCF-08E3-48D0-B195-60A043DC2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EA83AC1-5BBC-4848-82A0-3FEBE14A2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BE0D4B62-BCEE-4947-AEE3-036B49DA09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3F2DBAE7-70C7-465C-894A-7B555381C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E27FBF6-ECCA-41FA-BB4E-BFC9F1A7F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5D848A9-73EB-4CEA-AAA3-22B6A48BC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86390BB9-69BF-44AA-B694-599D3C603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A5F58573-067A-4A92-9EE6-131423D77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CE0A8941-50AE-4D66-ADBC-9FDFFEA9EC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1C5CDF56-E4A7-4E0F-9448-3A4378B3C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0FFCF4D-0412-436C-BF76-637DF65A9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EF20F6D-CDDA-4168-891A-BB9D67ECE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FD1FE42B-95E8-4543-B3B2-B58362B8B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8B433D38-81E1-4160-AC5E-4E52DD367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58B1E2EF-2BCD-4606-BE48-5F26DF5971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9EE5BA1A-3347-41CE-B86F-A99DF01D8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8DD3ADA-87EB-48F4-8583-A297E297F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C640C2D-EA70-468C-8C71-85D18B7E8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129D9B99-BFBD-4B12-ABB6-89A8FDE76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047E34AF-601F-4BA2-943E-0D942035E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FCC5F469-4A7D-45C4-85B7-CB1788930E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FCC71A27-6106-48D1-A22C-9FA9F240B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02302BB-F202-4C8E-BF2F-A4EBF3AE4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EB77A20-64A1-4CDF-BA59-F9FA56CF3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BA1969F9-4772-45C1-9FE1-781A040F4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9D023616-7044-4966-BFC2-5CEA330A0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057E6712-F089-4635-81B4-D70ECB072C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1B594AEE-98D3-4AF4-8720-24519926F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15338E2-591F-4F5A-8C78-EB28A359C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DA337E6-CBF3-49AA-B305-F8B62B8D4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60032E43-750D-4685-B353-F073D35C4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66265A59-A03A-40AE-94D4-2568E413E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9970859A-B8CF-4748-A9DB-F8C449FAE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57084C28-D49E-4243-AF56-7A3766E0EF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2AFD3DD-6578-4EF6-A0EA-D4EBA1A36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2BB2A8A9-9BE5-4F5F-BB83-439D38B4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B15B7352-A1F9-470B-B6B6-540F61D56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829D0B1E-366E-427F-9D4D-DB86A052E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D448D41C-6613-44CA-9024-AC1746C93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659C1290-F6FF-48D3-8B46-6B46DB304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B61A31C-CE0D-4AD7-85C0-38BE7F351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2A49D68-9593-47BA-A794-5679B4760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716CA0F5-0630-49F3-9637-C13EAAD11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E350FC2E-D6DF-451A-ABE9-05C0369A8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00676CE7-3631-4E86-9ACE-73A1CFAB61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2147CC53-9F5E-42E5-A018-5298BD013B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A30C15C-C0E8-4805-A6FE-CA4779C8D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9109F91-8CB3-4FD3-A0DD-0DB84326C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490D2507-6FD9-4639-B6C9-933F602D3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A53B0627-5532-4DAF-A90A-3CF958F15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9BEC6D58-04C0-4C57-A015-92BDB081BF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979E45BA-D668-4A87-925D-E04F3421B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A30C15C-C0E8-4805-A6FE-CA4779C8D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9109F91-8CB3-4FD3-A0DD-0DB84326C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490D2507-6FD9-4639-B6C9-933F602D3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A53B0627-5532-4DAF-A90A-3CF958F15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9BEC6D58-04C0-4C57-A015-92BDB081BF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979E45BA-D668-4A87-925D-E04F3421B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65407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A8EDE96-A38F-46DC-9F9E-75D53E17F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5F47AF8-0AEF-4476-8F43-E86D49A88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EE6B9D54-3081-4B7D-84E1-FCD85C76F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EED619B7-8280-4C27-9D93-1E609B9F9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DF24813D-5C0A-4F83-B1F5-290C0096F4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F421C9E1-058F-49FD-B9D6-28CD30210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00EECFA1-E389-405F-AE2D-E604E669A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67E99332-F64B-459E-AF9E-789FB80B7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93644C56-80B4-4CBF-BF5B-5B6CE7487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8C59FA44-CC79-4EE7-A1F1-BA02C8CF8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3A87E60C-8BF4-4174-9BF0-D8529B8557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75AC61E2-F443-481C-BEA1-EE469D23E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52C89409-A121-42DE-90BE-F00352851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81AB1AFA-F28F-4F9C-BCC9-6C3BC3F19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828BE201-5AEB-44DE-9A4C-2E71FA93F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B1668D4D-6D62-4AE8-B5DB-A8FC02BD0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id="{3974DDFE-A602-417C-87DA-C66A410043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8C9A4AA9-6EBE-4F20-9AEF-16E3D36F2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ED78052A-208E-4CE1-B9E1-CF7B4A529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620E59FB-2725-4424-89E4-A8931D265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9D48DDB3-AF6E-483A-814C-55664EF88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F8DD1366-2ECE-4738-98DC-5584BCEE5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6" name="Rectangle 6">
            <a:extLst>
              <a:ext uri="{FF2B5EF4-FFF2-40B4-BE49-F238E27FC236}">
                <a16:creationId xmlns:a16="http://schemas.microsoft.com/office/drawing/2014/main" id="{3715E8E1-5428-4541-B311-A2B4E39D54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1687" name="Rectangle 7">
            <a:extLst>
              <a:ext uri="{FF2B5EF4-FFF2-40B4-BE49-F238E27FC236}">
                <a16:creationId xmlns:a16="http://schemas.microsoft.com/office/drawing/2014/main" id="{BE6B412A-70D4-4BCD-8FB1-B3859C0D2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CBFEE63F-7994-49D4-B3AF-B700B12B9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D8A1156-94F5-46A6-A58C-D00C06C95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6D05ECAE-0EC5-48DA-B350-27BA247BC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32E74F00-83B5-4D31-9799-BEB3E8FF4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id="{92A5A90B-A862-4ED1-9E62-C67A67830A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id="{7429B4B4-7DAD-42EB-9EDA-03E78F2CAB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C97CC4F-DE4F-4523-86AC-FB84C970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F2D29FB7-1575-4679-828B-2D6310CDA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17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DC165170-B359-4436-943D-F1938120C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FB9F423E-94CC-42C0-B343-09615C46F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2EAE588B-3560-4564-A7D1-0EF8D4D6B8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F10F79FE-1D27-4A71-8FBA-6376A390D2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FF0695C-1D26-4337-B9D5-A586053E9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C5A90F4-1762-451C-8BDA-E5EB5F104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17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556763C0-D36B-44E0-876E-C889F8553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EAD78883-5126-45E9-815B-E6DA4CDF6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4AF88EA9-1721-459D-A6D3-B7A4A34800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CEC4B981-184D-4C0A-952E-84AB89EE0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0EE4EB9-E235-4FFC-87AE-08D82831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52ACFB1-8AAB-404E-952D-E19259BDB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CEF74A68-5A99-40C9-974A-43418D78E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0436561E-610E-43CA-B339-3BB3F71A3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68F1F1EB-81BF-47E8-8E61-EA3D38ECCF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FAB8F274-084D-47B5-B2B0-51A4DC795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8D5BF788-77F5-42CF-88A3-274671B0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5B78187-AF56-48DD-9D91-DBF81868D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3FBF1312-0206-4C9C-BD90-04C2070F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6801CB59-683E-4716-8CF2-837B6ACA9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3A9ED0E5-5E38-4652-89E2-B7E7E5EBA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3C14335F-C581-4277-AC45-9AF331C60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8D5BF788-77F5-42CF-88A3-274671B0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5B78187-AF56-48DD-9D91-DBF81868D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3FBF1312-0206-4C9C-BD90-04C2070F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6801CB59-683E-4716-8CF2-837B6ACA9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3A9ED0E5-5E38-4652-89E2-B7E7E5EBA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3C14335F-C581-4277-AC45-9AF331C60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514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8D5BF788-77F5-42CF-88A3-274671B0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5B78187-AF56-48DD-9D91-DBF81868D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3FBF1312-0206-4C9C-BD90-04C2070F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6801CB59-683E-4716-8CF2-837B6ACA9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3A9ED0E5-5E38-4652-89E2-B7E7E5EBA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3C14335F-C581-4277-AC45-9AF331C60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04099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8D5BF788-77F5-42CF-88A3-274671B0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5B78187-AF56-48DD-9D91-DBF81868D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3FBF1312-0206-4C9C-BD90-04C2070F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6801CB59-683E-4716-8CF2-837B6ACA9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3A9ED0E5-5E38-4652-89E2-B7E7E5EBA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3C14335F-C581-4277-AC45-9AF331C60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2403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3B8663EC-4659-4E71-802C-7C7DC34602E7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6BA9587D-3C17-4BC1-B704-FB8A22130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97560907-EEC1-42EE-9F21-EFCF42C24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57 w 64000"/>
                <a:gd name="T1" fmla="*/ 3 h 64000"/>
                <a:gd name="T2" fmla="*/ 83 w 64000"/>
                <a:gd name="T3" fmla="*/ 41 h 64000"/>
                <a:gd name="T4" fmla="*/ 57 w 64000"/>
                <a:gd name="T5" fmla="*/ 80 h 64000"/>
                <a:gd name="T6" fmla="*/ 57 w 64000"/>
                <a:gd name="T7" fmla="*/ 80 h 64000"/>
                <a:gd name="T8" fmla="*/ 57 w 64000"/>
                <a:gd name="T9" fmla="*/ 80 h 64000"/>
                <a:gd name="T10" fmla="*/ 57 w 64000"/>
                <a:gd name="T11" fmla="*/ 80 h 64000"/>
                <a:gd name="T12" fmla="*/ 57 w 64000"/>
                <a:gd name="T13" fmla="*/ 3 h 64000"/>
                <a:gd name="T14" fmla="*/ 57 w 64000"/>
                <a:gd name="T15" fmla="*/ 3 h 64000"/>
                <a:gd name="T16" fmla="*/ 57 w 64000"/>
                <a:gd name="T17" fmla="*/ 3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9B23FA27-9EB3-43CC-BFAB-3234ED43F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81 w 64000"/>
                <a:gd name="T1" fmla="*/ 10 h 64000"/>
                <a:gd name="T2" fmla="*/ 101 w 64000"/>
                <a:gd name="T3" fmla="*/ 51 h 64000"/>
                <a:gd name="T4" fmla="*/ 81 w 64000"/>
                <a:gd name="T5" fmla="*/ 91 h 64000"/>
                <a:gd name="T6" fmla="*/ 81 w 64000"/>
                <a:gd name="T7" fmla="*/ 91 h 64000"/>
                <a:gd name="T8" fmla="*/ 81 w 64000"/>
                <a:gd name="T9" fmla="*/ 91 h 64000"/>
                <a:gd name="T10" fmla="*/ 81 w 64000"/>
                <a:gd name="T11" fmla="*/ 91 h 64000"/>
                <a:gd name="T12" fmla="*/ 81 w 64000"/>
                <a:gd name="T13" fmla="*/ 10 h 64000"/>
                <a:gd name="T14" fmla="*/ 81 w 64000"/>
                <a:gd name="T15" fmla="*/ 10 h 64000"/>
                <a:gd name="T16" fmla="*/ 81 w 64000"/>
                <a:gd name="T17" fmla="*/ 1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F31AAFB8-4B23-4869-9AFB-D2351D09C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8BD9A510-8731-4F00-B769-0205B803DC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36964368-9626-43AC-9135-7D8E97C1DE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0228892-93A2-410D-AF75-974C9D1200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AAB8727-E4F1-431D-98AA-84C6170E83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FD20F99-3ECA-4D51-B1A9-EDFF94B700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635B5-C98D-4105-A2B9-C0CB9F15553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9778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C80751E-2DBA-4655-95C0-62DD7DE07F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912C1A8-BCE0-4C61-A553-019226E803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F2E4DDB-7F57-4EEC-BB8C-A13179F018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F33E6E-733E-4561-8C05-B9953BE3077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289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8E33C91-7222-48CA-AAC8-7C1BF1638E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BDC09A2-9A38-4631-B8A8-2FE20AEC0C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888CB1B-E392-4C60-9ED6-BD52108308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953DC4-1ACF-465E-A06E-A824718FE0A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063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6E4DB6B-A469-4547-A743-2DB821BD00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C0B856B-E7D8-4457-8928-AF648AD73C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A67F7C77-2CF3-41DB-9949-35D4FF52BA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7DC889-51DF-4477-B112-7F3F9DAB58E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487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F51E031C-05ED-4803-8CCF-A6AFA2250F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D7B7182-F1E4-4348-A561-0AF0AD8924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A19D83E3-55E4-46FD-98F1-F4D9DBDB6D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F6E28-0943-4EBB-99A0-6E80B1F030F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4619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4CC42D5E-4F74-4554-B881-610B4ACA3D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0808F6E-6AF1-4A61-8BB2-BE512BC0F9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B8B205EA-2D99-462D-AEB8-38AE66459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FBD83A-09B8-437B-BE42-5D69CC3088A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442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32ECF0F-F09D-447C-8EF5-8EB3F2DBFF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ECABA12-09B8-4301-9A62-744D3F822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1A5414C-BCE8-4F24-AEC7-2B2B40F47B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783C9-FC62-4BC1-8D17-943B13AC6B4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247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E65DF21-C5C2-4EB5-84DB-8DAA276597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6C96A08-D86C-43D8-A44C-410181ABF9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2118882B-46B8-4730-89BB-D9FA418A95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18F15-1C23-42E6-A6E6-4E688A324F0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538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F75770A-94E8-42F5-834B-C3720E7AC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1B32276-93D6-4B7A-A276-3D999EF7EE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D86FC0D-FDFB-4ECC-B4AA-AB6BE4364D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696188-6048-44BD-AE94-5D58954F9A0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079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57D4242-670C-46AC-BD6F-396D1401C4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91ACFD8-2179-4EB6-84FC-B02BA70FFD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C243662-4B10-4299-A276-F4FAB3B562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9AB7F7-5BEA-4F11-923F-BA7CFECED0B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461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09FFB312-9097-40A4-8603-51CF0EB998AB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5965DC71-B468-4633-BF64-11F47DF4F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82 w 64000"/>
                <a:gd name="T1" fmla="*/ 5 h 64000"/>
                <a:gd name="T2" fmla="*/ 105 w 64000"/>
                <a:gd name="T3" fmla="*/ 30 h 64000"/>
                <a:gd name="T4" fmla="*/ 82 w 64000"/>
                <a:gd name="T5" fmla="*/ 55 h 64000"/>
                <a:gd name="T6" fmla="*/ 82 w 64000"/>
                <a:gd name="T7" fmla="*/ 55 h 64000"/>
                <a:gd name="T8" fmla="*/ 82 w 64000"/>
                <a:gd name="T9" fmla="*/ 55 h 64000"/>
                <a:gd name="T10" fmla="*/ 82 w 64000"/>
                <a:gd name="T11" fmla="*/ 55 h 64000"/>
                <a:gd name="T12" fmla="*/ 82 w 64000"/>
                <a:gd name="T13" fmla="*/ 5 h 64000"/>
                <a:gd name="T14" fmla="*/ 82 w 64000"/>
                <a:gd name="T15" fmla="*/ 5 h 64000"/>
                <a:gd name="T16" fmla="*/ 82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4C07A8AC-D9D4-45AC-B318-7752EBD9A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46 w 64000"/>
                <a:gd name="T1" fmla="*/ 5 h 64000"/>
                <a:gd name="T2" fmla="*/ 59 w 64000"/>
                <a:gd name="T3" fmla="*/ 31 h 64000"/>
                <a:gd name="T4" fmla="*/ 46 w 64000"/>
                <a:gd name="T5" fmla="*/ 56 h 64000"/>
                <a:gd name="T6" fmla="*/ 46 w 64000"/>
                <a:gd name="T7" fmla="*/ 56 h 64000"/>
                <a:gd name="T8" fmla="*/ 46 w 64000"/>
                <a:gd name="T9" fmla="*/ 56 h 64000"/>
                <a:gd name="T10" fmla="*/ 46 w 64000"/>
                <a:gd name="T11" fmla="*/ 56 h 64000"/>
                <a:gd name="T12" fmla="*/ 46 w 64000"/>
                <a:gd name="T13" fmla="*/ 5 h 64000"/>
                <a:gd name="T14" fmla="*/ 46 w 64000"/>
                <a:gd name="T15" fmla="*/ 5 h 64000"/>
                <a:gd name="T16" fmla="*/ 46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A05191E1-B356-481E-90B9-AFDEBE1E5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051" name="Rectangle 6">
            <a:extLst>
              <a:ext uri="{FF2B5EF4-FFF2-40B4-BE49-F238E27FC236}">
                <a16:creationId xmlns:a16="http://schemas.microsoft.com/office/drawing/2014/main" id="{24E15BE3-CCC2-4B3F-B249-1A6B77417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2052" name="Rectangle 7">
            <a:extLst>
              <a:ext uri="{FF2B5EF4-FFF2-40B4-BE49-F238E27FC236}">
                <a16:creationId xmlns:a16="http://schemas.microsoft.com/office/drawing/2014/main" id="{A3D8542D-0E9A-4C49-AC90-7F7E6129E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2B02F7EA-AF7B-4DE8-95C6-210D19D0EA5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53679D6E-2C98-4FD1-A0A2-50F6215BE67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55AA2BF1-C827-4331-B092-E78D5DE0AE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20B5F64D-8B0A-4371-99AA-2ADAD6930CF2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4" r:id="rId1"/>
    <p:sldLayoutId id="2147484155" r:id="rId2"/>
    <p:sldLayoutId id="214748415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>
            <a:extLst>
              <a:ext uri="{FF2B5EF4-FFF2-40B4-BE49-F238E27FC236}">
                <a16:creationId xmlns:a16="http://schemas.microsoft.com/office/drawing/2014/main" id="{EE5884C4-C572-454A-9722-82652D925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6228790D-F2B8-4EA0-9FBF-8ABCA9CDA2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559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소유권과 시장메커니즘의 효율성 간의 관계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개방자원시장과 공유자원시장의 비효율성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공공재시장의 비효율성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외부효과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시장의 실패 문제 해결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>
            <a:extLst>
              <a:ext uri="{FF2B5EF4-FFF2-40B4-BE49-F238E27FC236}">
                <a16:creationId xmlns:a16="http://schemas.microsoft.com/office/drawing/2014/main" id="{2EDBF64A-37CA-4793-8778-D2553C92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4341" name="슬라이드 번호 개체 틀 5">
            <a:extLst>
              <a:ext uri="{FF2B5EF4-FFF2-40B4-BE49-F238E27FC236}">
                <a16:creationId xmlns:a16="http://schemas.microsoft.com/office/drawing/2014/main" id="{005827DB-5BAD-46C5-86A2-FD116ED6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A1F55F1-247C-4D28-A6E0-6250445475B6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>
            <a:extLst>
              <a:ext uri="{FF2B5EF4-FFF2-40B4-BE49-F238E27FC236}">
                <a16:creationId xmlns:a16="http://schemas.microsoft.com/office/drawing/2014/main" id="{816F69AF-E2C7-4438-8808-EBC624183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>
            <a:extLst>
              <a:ext uri="{FF2B5EF4-FFF2-40B4-BE49-F238E27FC236}">
                <a16:creationId xmlns:a16="http://schemas.microsoft.com/office/drawing/2014/main" id="{BAF061F7-25E6-46FA-8877-146F62D23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FCDBE9A-1620-4985-AFD3-5D74240D6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46355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4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  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자원환경 이용에 있어서의 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  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시장의 실패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36">
            <a:extLst>
              <a:ext uri="{FF2B5EF4-FFF2-40B4-BE49-F238E27FC236}">
                <a16:creationId xmlns:a16="http://schemas.microsoft.com/office/drawing/2014/main" id="{DBCCA74A-363D-4CC7-915F-041EECCB3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666750"/>
            <a:ext cx="72263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소유권과 시장메커니즘의 효율성 간의 관계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Rectangle 1037">
            <a:extLst>
              <a:ext uri="{FF2B5EF4-FFF2-40B4-BE49-F238E27FC236}">
                <a16:creationId xmlns:a16="http://schemas.microsoft.com/office/drawing/2014/main" id="{B97B46DB-3882-4597-A2DD-07CD8D89E4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2038350"/>
            <a:ext cx="7529513" cy="4114800"/>
          </a:xfrm>
        </p:spPr>
        <p:txBody>
          <a:bodyPr/>
          <a:lstStyle/>
          <a:p>
            <a:pPr eaLnBrk="1" hangingPunct="1"/>
            <a:r>
              <a:rPr lang="en-US" altLang="ko-KR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장에서 자유로운 거래가 이루어지는 시장에서 시장메커니즘에 의해 자원이 가장 효율적으로 배분된다는 것을 배움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시장이 효율적으로 작동한다는 것은 자신만의 목적을 위해 개인들이 시장에서 행동할 때 사회전체 순편익이 최대가 되는 시장균형이 도출된다는 것을 의미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사적 편익이 사회적 편익과 일치하고 사적 비용도 사회적 비용과 일치함</a:t>
            </a:r>
          </a:p>
        </p:txBody>
      </p:sp>
      <p:sp>
        <p:nvSpPr>
          <p:cNvPr id="15364" name="바닥글 개체 틀 4">
            <a:extLst>
              <a:ext uri="{FF2B5EF4-FFF2-40B4-BE49-F238E27FC236}">
                <a16:creationId xmlns:a16="http://schemas.microsoft.com/office/drawing/2014/main" id="{69E487CE-AA46-42DD-A198-230C7DD8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5365" name="슬라이드 번호 개체 틀 5">
            <a:extLst>
              <a:ext uri="{FF2B5EF4-FFF2-40B4-BE49-F238E27FC236}">
                <a16:creationId xmlns:a16="http://schemas.microsoft.com/office/drawing/2014/main" id="{9E14DF54-A6F5-4B58-858D-AD9A6B24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A773EFC-3057-4AED-9B7D-CA32CB03ABBF}" type="slidenum">
              <a:rPr lang="ko-KR" altLang="en-US" sz="1200" b="0">
                <a:solidFill>
                  <a:schemeClr val="tx1"/>
                </a:solidFill>
              </a:rPr>
              <a:pPr/>
              <a:t>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6" name="Rectangle 1026">
            <a:extLst>
              <a:ext uri="{FF2B5EF4-FFF2-40B4-BE49-F238E27FC236}">
                <a16:creationId xmlns:a16="http://schemas.microsoft.com/office/drawing/2014/main" id="{7AB7AF30-61EA-40A5-8545-3A349352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1027">
            <a:extLst>
              <a:ext uri="{FF2B5EF4-FFF2-40B4-BE49-F238E27FC236}">
                <a16:creationId xmlns:a16="http://schemas.microsoft.com/office/drawing/2014/main" id="{512DD09E-EB26-4277-9D3E-80CAAF9DB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6">
            <a:extLst>
              <a:ext uri="{FF2B5EF4-FFF2-40B4-BE49-F238E27FC236}">
                <a16:creationId xmlns:a16="http://schemas.microsoft.com/office/drawing/2014/main" id="{36969B04-C2FD-4807-9DC6-C920DECFC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666750"/>
            <a:ext cx="72263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시장메커니즘이 효율성을 가지기 위한 조건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Rectangle 1037">
            <a:extLst>
              <a:ext uri="{FF2B5EF4-FFF2-40B4-BE49-F238E27FC236}">
                <a16:creationId xmlns:a16="http://schemas.microsoft.com/office/drawing/2014/main" id="{AE1F0A40-1094-4F05-9BB4-5AACD96FAB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2038350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각 개인의 선호나 생산기술이 특정한 조건을 충족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시장이 완전경쟁적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시장에 대한 완전한 정보가 각 개인에게 알려짐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재화나 서비스 소유권의 완전한 설정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환경재의 이용에 있어 시장의 실패는 주로 이 조건이 충족되지 않기 때문에 발생함</a:t>
            </a:r>
          </a:p>
          <a:p>
            <a:pPr eaLnBrk="1" hangingPunct="1"/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8" name="바닥글 개체 틀 4">
            <a:extLst>
              <a:ext uri="{FF2B5EF4-FFF2-40B4-BE49-F238E27FC236}">
                <a16:creationId xmlns:a16="http://schemas.microsoft.com/office/drawing/2014/main" id="{86FA763D-F3C4-413B-ADDE-B6BF36F8A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6389" name="슬라이드 번호 개체 틀 5">
            <a:extLst>
              <a:ext uri="{FF2B5EF4-FFF2-40B4-BE49-F238E27FC236}">
                <a16:creationId xmlns:a16="http://schemas.microsoft.com/office/drawing/2014/main" id="{10F275D5-8D37-442A-A7FB-3411FB64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C247931-DEF5-4AC7-98E5-777CCD3E5CB9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0E1B2740-8479-4DA5-BC3B-ED6C1C16E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DEFD0485-18F1-4A5A-B454-3A06FBA7C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6">
            <a:extLst>
              <a:ext uri="{FF2B5EF4-FFF2-40B4-BE49-F238E27FC236}">
                <a16:creationId xmlns:a16="http://schemas.microsoft.com/office/drawing/2014/main" id="{0DED7D7E-564F-46B1-818A-4A6AF9CB6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414338"/>
            <a:ext cx="72263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시장실패와 소유권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7411" name="Rectangle 1037">
            <a:extLst>
              <a:ext uri="{FF2B5EF4-FFF2-40B4-BE49-F238E27FC236}">
                <a16:creationId xmlns:a16="http://schemas.microsoft.com/office/drawing/2014/main" id="{53FA7DF0-D0D7-4CDE-875D-33BFA8A910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1841500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시장의 실패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(market failure)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재화나 서비스의 자발적인 거래가 이루어지는 시장에서 자원이 효율적으로 배분되지 못하게 되는 현상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소유권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(property right)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자원의 소유자에게 부여된 자원이용에 관한 권리와 자원을 이용하는 데 있어서의 한계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특정 자원이 누구에게 소유되고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그 소유자는 어느 정도까지 그 자원을 이용할 수 있는지</a:t>
            </a:r>
          </a:p>
        </p:txBody>
      </p:sp>
      <p:sp>
        <p:nvSpPr>
          <p:cNvPr id="17412" name="바닥글 개체 틀 4">
            <a:extLst>
              <a:ext uri="{FF2B5EF4-FFF2-40B4-BE49-F238E27FC236}">
                <a16:creationId xmlns:a16="http://schemas.microsoft.com/office/drawing/2014/main" id="{A26C10ED-1B00-49F3-A473-A924C4C14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7413" name="슬라이드 번호 개체 틀 5">
            <a:extLst>
              <a:ext uri="{FF2B5EF4-FFF2-40B4-BE49-F238E27FC236}">
                <a16:creationId xmlns:a16="http://schemas.microsoft.com/office/drawing/2014/main" id="{0148F3BE-9DA1-4815-AA73-70B1DBBB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64501E8-1CB9-4B6B-889D-EC1F1B14A3E1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7414" name="Rectangle 1026">
            <a:extLst>
              <a:ext uri="{FF2B5EF4-FFF2-40B4-BE49-F238E27FC236}">
                <a16:creationId xmlns:a16="http://schemas.microsoft.com/office/drawing/2014/main" id="{54AAC9D8-40D7-4288-BC40-207DCAC38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7415" name="Rectangle 1027">
            <a:extLst>
              <a:ext uri="{FF2B5EF4-FFF2-40B4-BE49-F238E27FC236}">
                <a16:creationId xmlns:a16="http://schemas.microsoft.com/office/drawing/2014/main" id="{3174EB25-06AB-462A-8BCD-DF9FDAE87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A7AF2A2D-4F5A-4985-B697-D203B0521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6111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시장의 효율성을 보장하기 위한 소유권의 성질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Rectangle 7">
            <a:extLst>
              <a:ext uri="{FF2B5EF4-FFF2-40B4-BE49-F238E27FC236}">
                <a16:creationId xmlns:a16="http://schemas.microsoft.com/office/drawing/2014/main" id="{20901B28-56D5-4F58-A2C5-440906EB76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9542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효율성을 보장하는 소유권의 성질</a:t>
            </a:r>
            <a:r>
              <a:rPr lang="en-US" altLang="ko-KR" sz="2800">
                <a:latin typeface="나눔명조" pitchFamily="18" charset="-127"/>
                <a:ea typeface="나눔명조" pitchFamily="18" charset="-127"/>
              </a:rPr>
              <a:t> (Tietenberg, 2005)</a:t>
            </a:r>
          </a:p>
          <a:p>
            <a:pPr eaLnBrk="1" hangingPunct="1"/>
            <a:endParaRPr lang="en-US" altLang="ko-KR" sz="280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6" name="바닥글 개체 틀 4">
            <a:extLst>
              <a:ext uri="{FF2B5EF4-FFF2-40B4-BE49-F238E27FC236}">
                <a16:creationId xmlns:a16="http://schemas.microsoft.com/office/drawing/2014/main" id="{AD3667FD-AD4A-45FD-A042-4079BFBA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8437" name="슬라이드 번호 개체 틀 5">
            <a:extLst>
              <a:ext uri="{FF2B5EF4-FFF2-40B4-BE49-F238E27FC236}">
                <a16:creationId xmlns:a16="http://schemas.microsoft.com/office/drawing/2014/main" id="{E36419D6-4B43-4745-AD4B-5D07B831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73BA16A-8DE6-4247-A184-0845036BB1AD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68CDAEB3-4F8E-43C8-9AD3-6D058240C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97E9BBA0-3041-4CD1-BAAC-3E2656370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EF55985-32E4-46FB-9185-A7AA29A7E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4" y="3146971"/>
            <a:ext cx="8008711" cy="273010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922A8806-3391-44A1-AF48-4A9DFF11A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582613"/>
            <a:ext cx="7313613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개방자원시장과 공유자원시장의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59" name="Rectangle 5">
            <a:extLst>
              <a:ext uri="{FF2B5EF4-FFF2-40B4-BE49-F238E27FC236}">
                <a16:creationId xmlns:a16="http://schemas.microsoft.com/office/drawing/2014/main" id="{31120DE2-4F73-4447-81E6-ACE6992A5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4263" y="1954213"/>
            <a:ext cx="7721600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대부분의 환경재의 경우 소유권이 시장의 효율성을 보장할 정도로 완전하게 설정되어 있지 못함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소유권 자체가 아예 설정되어 있지 않는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개방자원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(open-access resources)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각국의 영해나 경제수역을 제외한 공해의 수산자원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지구의 대기권 등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개인이 아니라 마을과 같이 비교적 적은 수의 구성원으로 이루어진 집단에게 소유권이 부여되는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공유자원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(common-property resources)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스위스 농촌의 마을 공동 초지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한국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어촌계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60" name="바닥글 개체 틀 4">
            <a:extLst>
              <a:ext uri="{FF2B5EF4-FFF2-40B4-BE49-F238E27FC236}">
                <a16:creationId xmlns:a16="http://schemas.microsoft.com/office/drawing/2014/main" id="{27501E5D-FA1A-457E-88F5-700D2DDC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9461" name="슬라이드 번호 개체 틀 5">
            <a:extLst>
              <a:ext uri="{FF2B5EF4-FFF2-40B4-BE49-F238E27FC236}">
                <a16:creationId xmlns:a16="http://schemas.microsoft.com/office/drawing/2014/main" id="{455D15EC-630A-4D8C-954B-CAC475B4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1FE124E-EA48-452E-A20F-B4CF16B8136D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C5D8BF3-52F1-4187-8FE2-2A0F885F9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F961DFF5-F45C-470E-B27C-9F8FEB89A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36">
            <a:extLst>
              <a:ext uri="{FF2B5EF4-FFF2-40B4-BE49-F238E27FC236}">
                <a16:creationId xmlns:a16="http://schemas.microsoft.com/office/drawing/2014/main" id="{CD8A15F9-B7F3-4B45-8667-400ACE24F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7150" y="217488"/>
            <a:ext cx="72263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개방자원시장의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1037">
            <a:extLst>
              <a:ext uri="{FF2B5EF4-FFF2-40B4-BE49-F238E27FC236}">
                <a16:creationId xmlns:a16="http://schemas.microsoft.com/office/drawing/2014/main" id="{07EE2083-703B-4815-8DF1-C697359343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8550" y="1700213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3200">
                <a:latin typeface="나눔명조" pitchFamily="18" charset="-127"/>
                <a:ea typeface="나눔명조" pitchFamily="18" charset="-127"/>
              </a:rPr>
              <a:t>공해에서 고래잡이를 하는 경우</a:t>
            </a:r>
            <a:endParaRPr lang="en-US" altLang="ko-KR" sz="32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누구든지 능력과 의사만 있으면 자원을 이용하는 것이 가능하며</a:t>
            </a:r>
            <a:r>
              <a:rPr lang="en-US" altLang="ko-KR" sz="28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자원은 선착순으로 배분됨</a:t>
            </a:r>
            <a:endParaRPr lang="en-US" altLang="ko-KR" sz="28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3200">
                <a:latin typeface="나눔명조" pitchFamily="18" charset="-127"/>
                <a:ea typeface="나눔명조" pitchFamily="18" charset="-127"/>
              </a:rPr>
              <a:t>그림의 가로축은 전 세계 고래잡이 배의 수이고</a:t>
            </a:r>
            <a:r>
              <a:rPr lang="en-US" altLang="ko-KR" sz="32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3200">
                <a:latin typeface="나눔명조" pitchFamily="18" charset="-127"/>
                <a:ea typeface="나눔명조" pitchFamily="18" charset="-127"/>
              </a:rPr>
              <a:t>세로축은 배 </a:t>
            </a:r>
            <a:r>
              <a:rPr lang="en-US" altLang="ko-KR" sz="320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3200">
                <a:latin typeface="나눔명조" pitchFamily="18" charset="-127"/>
                <a:ea typeface="나눔명조" pitchFamily="18" charset="-127"/>
              </a:rPr>
              <a:t>척당 지불해야 하는 비용을 의미</a:t>
            </a: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75E0B09B-63F6-47DD-96F7-636B4B3F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16B98CB0-C678-427C-AA90-50AB362D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B6DFCCB-7CC0-4C92-838A-69A7A52C111E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486" name="Rectangle 1026">
            <a:extLst>
              <a:ext uri="{FF2B5EF4-FFF2-40B4-BE49-F238E27FC236}">
                <a16:creationId xmlns:a16="http://schemas.microsoft.com/office/drawing/2014/main" id="{CA0DD090-1B18-415A-82DD-4F01B30B7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487" name="Rectangle 1027">
            <a:extLst>
              <a:ext uri="{FF2B5EF4-FFF2-40B4-BE49-F238E27FC236}">
                <a16:creationId xmlns:a16="http://schemas.microsoft.com/office/drawing/2014/main" id="{C1D6DD15-EA97-4E9A-BAC2-BAB9D205F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6">
            <a:extLst>
              <a:ext uri="{FF2B5EF4-FFF2-40B4-BE49-F238E27FC236}">
                <a16:creationId xmlns:a16="http://schemas.microsoft.com/office/drawing/2014/main" id="{C47FBDBF-918E-47AD-A308-71E69A6DD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7150" y="217488"/>
            <a:ext cx="72263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개방자원시장의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07" name="바닥글 개체 틀 4">
            <a:extLst>
              <a:ext uri="{FF2B5EF4-FFF2-40B4-BE49-F238E27FC236}">
                <a16:creationId xmlns:a16="http://schemas.microsoft.com/office/drawing/2014/main" id="{3C7D23EF-EA65-4ACD-B5DD-0CC8F083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1508" name="슬라이드 번호 개체 틀 5">
            <a:extLst>
              <a:ext uri="{FF2B5EF4-FFF2-40B4-BE49-F238E27FC236}">
                <a16:creationId xmlns:a16="http://schemas.microsoft.com/office/drawing/2014/main" id="{67920CEB-C678-4A65-A4CA-1E5BE54C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D082DB1-0D8B-402D-8DCF-9C21A2A6665E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1509" name="Rectangle 1026">
            <a:extLst>
              <a:ext uri="{FF2B5EF4-FFF2-40B4-BE49-F238E27FC236}">
                <a16:creationId xmlns:a16="http://schemas.microsoft.com/office/drawing/2014/main" id="{661E87D6-1F31-4F4A-925C-8CE3F949B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1510" name="Rectangle 1027">
            <a:extLst>
              <a:ext uri="{FF2B5EF4-FFF2-40B4-BE49-F238E27FC236}">
                <a16:creationId xmlns:a16="http://schemas.microsoft.com/office/drawing/2014/main" id="{F98C598B-E6F3-4993-B80C-4980AEB7F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1511" name="그림 8" descr="Cap 2014-06-19 09-33-10-065.png">
            <a:extLst>
              <a:ext uri="{FF2B5EF4-FFF2-40B4-BE49-F238E27FC236}">
                <a16:creationId xmlns:a16="http://schemas.microsoft.com/office/drawing/2014/main" id="{D542802E-5BE8-4094-B359-87D0A9DBC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38288"/>
            <a:ext cx="7624763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36">
            <a:extLst>
              <a:ext uri="{FF2B5EF4-FFF2-40B4-BE49-F238E27FC236}">
                <a16:creationId xmlns:a16="http://schemas.microsoft.com/office/drawing/2014/main" id="{D47417E4-0566-4FF7-A85D-51C5D2CEB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7150" y="-211138"/>
            <a:ext cx="7226300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개방자원시장의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Rectangle 1037">
                <a:extLst>
                  <a:ext uri="{FF2B5EF4-FFF2-40B4-BE49-F238E27FC236}">
                    <a16:creationId xmlns:a16="http://schemas.microsoft.com/office/drawing/2014/main" id="{6F556B08-A5AF-4C47-8315-AE266EB39E6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41400" y="1081088"/>
                <a:ext cx="75295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척당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운영비인 평균비용은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(AC)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수평선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따라서 추가로 고래잡이에 투입되는 배의 한계비용곡선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(MC)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역시 수평선임 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AR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곡선은 배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척당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수입인 평균수입곡선을 의미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배의 수가 많아질수록 바다 속 고래의 수가 줄어들기 때문에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우하향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한계수입곡선인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MR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곡선은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AR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곡선보다 더 아래쪽에 위치함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고래잡이로 전 세계가 벌어들인 총수입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TR(B)=AR(B)*B</a:t>
                </a:r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총수입을 배의 수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(B)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로 미분한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한계수입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𝑀𝑅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𝑇𝑅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𝐴𝑅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8" name="Rectangle 1037">
                <a:extLst>
                  <a:ext uri="{FF2B5EF4-FFF2-40B4-BE49-F238E27FC236}">
                    <a16:creationId xmlns:a16="http://schemas.microsoft.com/office/drawing/2014/main" id="{6F556B08-A5AF-4C47-8315-AE266EB39E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1400" y="1081088"/>
                <a:ext cx="7529513" cy="4114800"/>
              </a:xfrm>
              <a:blipFill>
                <a:blip r:embed="rId3"/>
                <a:stretch>
                  <a:fillRect l="-1134" t="-1630" r="-1053" b="-4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바닥글 개체 틀 4">
            <a:extLst>
              <a:ext uri="{FF2B5EF4-FFF2-40B4-BE49-F238E27FC236}">
                <a16:creationId xmlns:a16="http://schemas.microsoft.com/office/drawing/2014/main" id="{098E6B52-3E4C-462B-8A20-CA49FF3B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030" name="슬라이드 번호 개체 틀 5">
            <a:extLst>
              <a:ext uri="{FF2B5EF4-FFF2-40B4-BE49-F238E27FC236}">
                <a16:creationId xmlns:a16="http://schemas.microsoft.com/office/drawing/2014/main" id="{64BF55CA-DA57-4ADF-BF88-8AD61156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877996C-C6BE-481C-9B21-EF190BA4CE69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31" name="Rectangle 1026">
            <a:extLst>
              <a:ext uri="{FF2B5EF4-FFF2-40B4-BE49-F238E27FC236}">
                <a16:creationId xmlns:a16="http://schemas.microsoft.com/office/drawing/2014/main" id="{070DC87D-B969-498C-A113-B4B6E9FA7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2" name="Rectangle 1027">
            <a:extLst>
              <a:ext uri="{FF2B5EF4-FFF2-40B4-BE49-F238E27FC236}">
                <a16:creationId xmlns:a16="http://schemas.microsoft.com/office/drawing/2014/main" id="{42C801C4-E62B-4554-AECE-7492BD92D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3" name="Rectangle 2">
            <a:extLst>
              <a:ext uri="{FF2B5EF4-FFF2-40B4-BE49-F238E27FC236}">
                <a16:creationId xmlns:a16="http://schemas.microsoft.com/office/drawing/2014/main" id="{45B045ED-E820-46F1-BE34-0953C8796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36">
            <a:extLst>
              <a:ext uri="{FF2B5EF4-FFF2-40B4-BE49-F238E27FC236}">
                <a16:creationId xmlns:a16="http://schemas.microsoft.com/office/drawing/2014/main" id="{22C1C0A2-5692-47A1-AB0E-0A1BB342F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01625"/>
            <a:ext cx="72247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개방자원시장의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1" name="Rectangle 1037">
            <a:extLst>
              <a:ext uri="{FF2B5EF4-FFF2-40B4-BE49-F238E27FC236}">
                <a16:creationId xmlns:a16="http://schemas.microsoft.com/office/drawing/2014/main" id="{E651BAC8-5A86-42FF-8450-E41E18431E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1644650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고래잡이로 인해 얻는 전 세계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총이윤을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극대화하는 배의 수는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en-US" altLang="ko-KR" sz="28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한계비용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한계수입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고래잡이가 누구에게나 허용될 경우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en-US" altLang="ko-KR" sz="28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많은 배가 조업하게 되어 지나친 남획이 발생</a:t>
            </a:r>
          </a:p>
          <a:p>
            <a:pPr lvl="1"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en-US" altLang="ko-KR" sz="24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에서는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평균수입이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평균비용보다 높기 때문에 배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척당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ab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이윤이 발생</a:t>
            </a:r>
          </a:p>
          <a:p>
            <a:pPr lvl="1"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평균수입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평균비용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지점까지 배가 늘어남</a:t>
            </a:r>
          </a:p>
        </p:txBody>
      </p:sp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DFEB3548-8B43-4167-9996-5713E336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074ACE1D-189E-4E87-85AB-9DEF5D36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39F4C16-0A02-4804-93C8-8CE548E12606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2534" name="Rectangle 1026">
            <a:extLst>
              <a:ext uri="{FF2B5EF4-FFF2-40B4-BE49-F238E27FC236}">
                <a16:creationId xmlns:a16="http://schemas.microsoft.com/office/drawing/2014/main" id="{902B888B-CF4C-486E-A077-AECB52A52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5" name="Rectangle 1027">
            <a:extLst>
              <a:ext uri="{FF2B5EF4-FFF2-40B4-BE49-F238E27FC236}">
                <a16:creationId xmlns:a16="http://schemas.microsoft.com/office/drawing/2014/main" id="{70A8446D-C3FD-4B7F-9044-C6D018780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8">
            <a:extLst>
              <a:ext uri="{FF2B5EF4-FFF2-40B4-BE49-F238E27FC236}">
                <a16:creationId xmlns:a16="http://schemas.microsoft.com/office/drawing/2014/main" id="{489A7272-66AB-420C-8557-AE358C3DF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9025" y="684213"/>
            <a:ext cx="6965950" cy="760412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원양 포경업 변천사</a:t>
            </a:r>
            <a:endParaRPr lang="en-US" altLang="ko-KR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4819" name="Rectangle 1029">
            <a:extLst>
              <a:ext uri="{FF2B5EF4-FFF2-40B4-BE49-F238E27FC236}">
                <a16:creationId xmlns:a16="http://schemas.microsoft.com/office/drawing/2014/main" id="{35A40ADC-68A4-4F7E-A485-3DAD25221F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4575" y="1695689"/>
            <a:ext cx="7642225" cy="4598639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/>
              </a:rPr>
              <a:t>선사시대부터 행해진 고래잡이이지만 </a:t>
            </a:r>
            <a:r>
              <a:rPr lang="ko-KR" altLang="en-US" sz="2000" dirty="0" err="1">
                <a:latin typeface="나눔명조" pitchFamily="18" charset="-127"/>
                <a:ea typeface="나눔명조"/>
              </a:rPr>
              <a:t>포획기술</a:t>
            </a:r>
            <a:r>
              <a:rPr lang="en-US" altLang="ko-KR" sz="2000" dirty="0">
                <a:latin typeface="나눔명조" pitchFamily="18" charset="-127"/>
                <a:ea typeface="나눔명조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/>
              </a:rPr>
              <a:t>저장</a:t>
            </a:r>
            <a:r>
              <a:rPr lang="en-US" altLang="ko-KR" sz="2000" dirty="0">
                <a:latin typeface="나눔명조" pitchFamily="18" charset="-127"/>
                <a:ea typeface="나눔명조"/>
              </a:rPr>
              <a:t>·</a:t>
            </a:r>
            <a:r>
              <a:rPr lang="ko-KR" altLang="en-US" sz="2000" dirty="0">
                <a:latin typeface="나눔명조" pitchFamily="18" charset="-127"/>
                <a:ea typeface="나눔명조"/>
              </a:rPr>
              <a:t>가공능력의 발달로 인해 불과 수십 년 사이 고래를 멸종위기로 </a:t>
            </a:r>
            <a:r>
              <a:rPr lang="ko-KR" altLang="en-US" sz="2000" dirty="0" err="1">
                <a:latin typeface="나눔명조" pitchFamily="18" charset="-127"/>
                <a:ea typeface="나눔명조"/>
              </a:rPr>
              <a:t>몰아감</a:t>
            </a:r>
            <a:r>
              <a:rPr lang="en-US" altLang="ko-KR" sz="2000" dirty="0">
                <a:latin typeface="나눔명조" pitchFamily="18" charset="-127"/>
                <a:ea typeface="나눔명조"/>
              </a:rPr>
              <a:t>(Clark and </a:t>
            </a:r>
            <a:r>
              <a:rPr lang="en-US" altLang="ko-KR" sz="2000" dirty="0" err="1">
                <a:latin typeface="나눔명조" pitchFamily="18" charset="-127"/>
                <a:ea typeface="나눔명조"/>
              </a:rPr>
              <a:t>Lamberson</a:t>
            </a:r>
            <a:r>
              <a:rPr lang="en-US" altLang="ko-KR" sz="2000" dirty="0">
                <a:latin typeface="나눔명조" pitchFamily="18" charset="-127"/>
                <a:ea typeface="나눔명조"/>
              </a:rPr>
              <a:t>, 1982)</a:t>
            </a:r>
          </a:p>
          <a:p>
            <a:pPr eaLnBrk="1" hangingPunct="1"/>
            <a:endParaRPr lang="en-US" altLang="ko-KR" sz="2000" dirty="0">
              <a:ea typeface="나눔명조"/>
            </a:endParaRPr>
          </a:p>
          <a:p>
            <a:pPr eaLnBrk="1" hangingPunct="1"/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FD6D0B64-7FE8-4E0D-8A4C-545A6C37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9A3FE8E0-71BF-4D88-9B64-214254A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11F372-4A6B-4A6F-9B37-614C9601C66D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75" y="2834759"/>
            <a:ext cx="7381875" cy="2581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8">
            <a:extLst>
              <a:ext uri="{FF2B5EF4-FFF2-40B4-BE49-F238E27FC236}">
                <a16:creationId xmlns:a16="http://schemas.microsoft.com/office/drawing/2014/main" id="{489A7272-66AB-420C-8557-AE358C3DF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9025" y="684213"/>
            <a:ext cx="6965950" cy="760412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원양 포경업 변천사</a:t>
            </a:r>
            <a:endParaRPr lang="en-US" altLang="ko-KR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4819" name="Rectangle 1029">
            <a:extLst>
              <a:ext uri="{FF2B5EF4-FFF2-40B4-BE49-F238E27FC236}">
                <a16:creationId xmlns:a16="http://schemas.microsoft.com/office/drawing/2014/main" id="{35A40ADC-68A4-4F7E-A485-3DAD25221F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4575" y="1695689"/>
            <a:ext cx="7642225" cy="4598639"/>
          </a:xfrm>
        </p:spPr>
        <p:txBody>
          <a:bodyPr/>
          <a:lstStyle/>
          <a:p>
            <a:pPr eaLnBrk="1" hangingPunct="1"/>
            <a:r>
              <a:rPr lang="en-US" altLang="ko-KR" sz="2000" dirty="0">
                <a:ea typeface="나눔명조"/>
              </a:rPr>
              <a:t>1931</a:t>
            </a:r>
            <a:r>
              <a:rPr lang="ko-KR" altLang="en-US" sz="2000" dirty="0">
                <a:ea typeface="나눔명조"/>
              </a:rPr>
              <a:t>년</a:t>
            </a:r>
            <a:r>
              <a:rPr lang="en-US" altLang="ko-KR" sz="2000" dirty="0">
                <a:ea typeface="나눔명조"/>
              </a:rPr>
              <a:t>: </a:t>
            </a:r>
            <a:r>
              <a:rPr lang="ko-KR" altLang="en-US" sz="2000" dirty="0" err="1">
                <a:ea typeface="나눔명조"/>
              </a:rPr>
              <a:t>포경업자</a:t>
            </a:r>
            <a:r>
              <a:rPr lang="ko-KR" altLang="en-US" sz="2000" dirty="0">
                <a:ea typeface="나눔명조"/>
              </a:rPr>
              <a:t> 연합회에서 모든 종류의 고래를 청고래를 기준단위로 환산한 쿼터를 회원사에 배분</a:t>
            </a:r>
            <a:r>
              <a:rPr lang="en-US" altLang="ko-KR" sz="2000" dirty="0">
                <a:ea typeface="나눔명조"/>
              </a:rPr>
              <a:t>. </a:t>
            </a:r>
            <a:r>
              <a:rPr lang="ko-KR" altLang="en-US" sz="2000" dirty="0">
                <a:ea typeface="나눔명조"/>
              </a:rPr>
              <a:t>강제성이 없어 효과를 거두지 못함</a:t>
            </a:r>
            <a:endParaRPr lang="en-US" altLang="ko-KR" sz="2000" dirty="0">
              <a:ea typeface="나눔명조"/>
            </a:endParaRPr>
          </a:p>
          <a:p>
            <a:pPr eaLnBrk="1" hangingPunct="1"/>
            <a:r>
              <a:rPr lang="en-US" altLang="ko-KR" sz="2000" dirty="0">
                <a:ea typeface="나눔명조"/>
              </a:rPr>
              <a:t>1946</a:t>
            </a:r>
            <a:r>
              <a:rPr lang="ko-KR" altLang="en-US" sz="2000" dirty="0">
                <a:ea typeface="나눔명조"/>
              </a:rPr>
              <a:t>년</a:t>
            </a:r>
            <a:r>
              <a:rPr lang="en-US" altLang="ko-KR" sz="2000" dirty="0">
                <a:ea typeface="나눔명조"/>
              </a:rPr>
              <a:t>: </a:t>
            </a:r>
            <a:r>
              <a:rPr lang="ko-KR" altLang="en-US" sz="2000" dirty="0">
                <a:ea typeface="나눔명조"/>
              </a:rPr>
              <a:t>국제기구 </a:t>
            </a:r>
            <a:r>
              <a:rPr lang="en-US" altLang="ko-KR" sz="2000" dirty="0">
                <a:ea typeface="나눔명조"/>
              </a:rPr>
              <a:t>IWC</a:t>
            </a:r>
            <a:r>
              <a:rPr lang="ko-KR" altLang="en-US" sz="2000" dirty="0">
                <a:ea typeface="나눔명조"/>
              </a:rPr>
              <a:t>가 설립되어 포획기간</a:t>
            </a:r>
            <a:r>
              <a:rPr lang="en-US" altLang="ko-KR" sz="2000" dirty="0">
                <a:ea typeface="나눔명조"/>
              </a:rPr>
              <a:t>, </a:t>
            </a:r>
            <a:r>
              <a:rPr lang="ko-KR" altLang="en-US" sz="2000" dirty="0" err="1">
                <a:ea typeface="나눔명조"/>
              </a:rPr>
              <a:t>포획량</a:t>
            </a:r>
            <a:r>
              <a:rPr lang="en-US" altLang="ko-KR" sz="2000" dirty="0">
                <a:ea typeface="나눔명조"/>
              </a:rPr>
              <a:t>, </a:t>
            </a:r>
            <a:r>
              <a:rPr lang="ko-KR" altLang="en-US" sz="2000" dirty="0">
                <a:ea typeface="나눔명조"/>
              </a:rPr>
              <a:t>보호종에 대한 규제를 도입</a:t>
            </a:r>
            <a:r>
              <a:rPr lang="en-US" altLang="ko-KR" sz="2000" dirty="0">
                <a:ea typeface="나눔명조"/>
              </a:rPr>
              <a:t>. </a:t>
            </a:r>
            <a:r>
              <a:rPr lang="ko-KR" altLang="en-US" sz="2000" dirty="0">
                <a:ea typeface="나눔명조"/>
              </a:rPr>
              <a:t>총 쿼터만 정하고 회원국별로 배분하지 않아 과당 포획경쟁만을 유발</a:t>
            </a:r>
            <a:endParaRPr lang="en-US" altLang="ko-KR" sz="2000" dirty="0">
              <a:ea typeface="나눔명조"/>
            </a:endParaRPr>
          </a:p>
          <a:p>
            <a:pPr eaLnBrk="1" hangingPunct="1"/>
            <a:r>
              <a:rPr lang="ko-KR" altLang="en-US" sz="2000" dirty="0">
                <a:ea typeface="나눔명조"/>
              </a:rPr>
              <a:t>그 뒤 쿼터제가 강화되었지만 </a:t>
            </a:r>
            <a:r>
              <a:rPr lang="en-US" altLang="ko-KR" sz="2000" dirty="0">
                <a:ea typeface="나눔명조"/>
              </a:rPr>
              <a:t>1965</a:t>
            </a:r>
            <a:r>
              <a:rPr lang="ko-KR" altLang="en-US" sz="2000" dirty="0">
                <a:ea typeface="나눔명조"/>
              </a:rPr>
              <a:t>년 쿼터의 기준이 되는 </a:t>
            </a:r>
            <a:r>
              <a:rPr lang="ko-KR" altLang="en-US" sz="2000" dirty="0" err="1">
                <a:ea typeface="나눔명조"/>
              </a:rPr>
              <a:t>청고래</a:t>
            </a:r>
            <a:r>
              <a:rPr lang="ko-KR" altLang="en-US" sz="2000" dirty="0">
                <a:ea typeface="나눔명조"/>
              </a:rPr>
              <a:t> 자체가 멸종위기에 몰리는 등의 상황 악화 발생</a:t>
            </a:r>
            <a:endParaRPr lang="en-US" altLang="ko-KR" sz="2000" dirty="0">
              <a:ea typeface="나눔명조"/>
            </a:endParaRPr>
          </a:p>
          <a:p>
            <a:pPr eaLnBrk="1" hangingPunct="1"/>
            <a:r>
              <a:rPr lang="en-US" altLang="ko-KR" sz="2000" dirty="0">
                <a:ea typeface="나눔명조"/>
              </a:rPr>
              <a:t>1979: </a:t>
            </a:r>
            <a:r>
              <a:rPr lang="ko-KR" altLang="en-US" sz="2000" dirty="0">
                <a:ea typeface="나눔명조"/>
              </a:rPr>
              <a:t>밍크고래를 제외한 모든 고래의 원양포경업이 금지됨</a:t>
            </a:r>
            <a:endParaRPr lang="en-US" altLang="ko-KR" sz="2000" dirty="0">
              <a:ea typeface="나눔명조"/>
            </a:endParaRPr>
          </a:p>
          <a:p>
            <a:pPr eaLnBrk="1" hangingPunct="1"/>
            <a:r>
              <a:rPr lang="ko-KR" altLang="en-US" sz="2000" dirty="0" err="1">
                <a:ea typeface="나눔명조"/>
              </a:rPr>
              <a:t>원양포경업은</a:t>
            </a:r>
            <a:r>
              <a:rPr lang="ko-KR" altLang="en-US" sz="2000" dirty="0">
                <a:ea typeface="나눔명조"/>
              </a:rPr>
              <a:t> 인류가 합리적 자원이용을 유도하는 데 필요한 인센티브 시스템을 찾아내지 못한 하나의 실패 사례</a:t>
            </a:r>
          </a:p>
          <a:p>
            <a:pPr eaLnBrk="1" hangingPunct="1"/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FD6D0B64-7FE8-4E0D-8A4C-545A6C37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9A3FE8E0-71BF-4D88-9B64-214254A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11F372-4A6B-4A6F-9B37-614C9601C66D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1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8">
            <a:extLst>
              <a:ext uri="{FF2B5EF4-FFF2-40B4-BE49-F238E27FC236}">
                <a16:creationId xmlns:a16="http://schemas.microsoft.com/office/drawing/2014/main" id="{489A7272-66AB-420C-8557-AE358C3DF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9025" y="684213"/>
            <a:ext cx="6965950" cy="760412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원양 포경업 변천사</a:t>
            </a:r>
            <a:endParaRPr lang="en-US" altLang="ko-KR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4819" name="Rectangle 1029">
            <a:extLst>
              <a:ext uri="{FF2B5EF4-FFF2-40B4-BE49-F238E27FC236}">
                <a16:creationId xmlns:a16="http://schemas.microsoft.com/office/drawing/2014/main" id="{35A40ADC-68A4-4F7E-A485-3DAD25221F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4575" y="1695689"/>
            <a:ext cx="7642225" cy="4598639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ea typeface="나눔명조"/>
              </a:rPr>
              <a:t>미주 대륙 대평원의 버팔로는 서부 개척시대 </a:t>
            </a:r>
            <a:r>
              <a:rPr lang="en-US" altLang="ko-KR" sz="2000" dirty="0">
                <a:ea typeface="나눔명조"/>
              </a:rPr>
              <a:t>3,000</a:t>
            </a:r>
            <a:r>
              <a:rPr lang="ko-KR" altLang="en-US" sz="2000" dirty="0">
                <a:ea typeface="나눔명조"/>
              </a:rPr>
              <a:t>만 마리에서 </a:t>
            </a:r>
            <a:r>
              <a:rPr lang="en-US" altLang="ko-KR" sz="2000" dirty="0">
                <a:ea typeface="나눔명조"/>
              </a:rPr>
              <a:t>10</a:t>
            </a:r>
            <a:r>
              <a:rPr lang="ko-KR" altLang="en-US" sz="2000" dirty="0">
                <a:ea typeface="나눔명조"/>
              </a:rPr>
              <a:t>여년 만에 </a:t>
            </a:r>
            <a:r>
              <a:rPr lang="en-US" altLang="ko-KR" sz="2000" dirty="0">
                <a:ea typeface="나눔명조"/>
              </a:rPr>
              <a:t>100</a:t>
            </a:r>
            <a:r>
              <a:rPr lang="ko-KR" altLang="en-US" sz="2000" dirty="0">
                <a:ea typeface="나눔명조"/>
              </a:rPr>
              <a:t>여 마리만 남을 정도로 멸종위기에 몰렸다가 뒤늦은 보호조치로 위기에서 벗어남</a:t>
            </a:r>
            <a:endParaRPr lang="en-US" altLang="ko-KR" sz="2000" dirty="0">
              <a:ea typeface="나눔명조"/>
            </a:endParaRPr>
          </a:p>
          <a:p>
            <a:pPr lvl="1" eaLnBrk="1" hangingPunct="1"/>
            <a:r>
              <a:rPr lang="ko-KR" altLang="en-US" sz="1600" dirty="0">
                <a:ea typeface="나눔명조"/>
              </a:rPr>
              <a:t>가죽 가공기술 개발과 가죽 시장 확대로 포획 급증</a:t>
            </a:r>
            <a:r>
              <a:rPr lang="en-US" altLang="ko-KR" sz="1600" dirty="0">
                <a:ea typeface="나눔명조"/>
              </a:rPr>
              <a:t>: 4</a:t>
            </a:r>
            <a:r>
              <a:rPr lang="ko-KR" altLang="en-US" sz="1600" dirty="0">
                <a:ea typeface="나눔명조"/>
              </a:rPr>
              <a:t>명의 한 팀이 하루 </a:t>
            </a:r>
            <a:r>
              <a:rPr lang="en-US" altLang="ko-KR" sz="1600" dirty="0">
                <a:ea typeface="나눔명조"/>
              </a:rPr>
              <a:t>60</a:t>
            </a:r>
            <a:r>
              <a:rPr lang="ko-KR" altLang="en-US" sz="1600" dirty="0">
                <a:ea typeface="나눔명조"/>
              </a:rPr>
              <a:t>마리 사냥할 정도</a:t>
            </a:r>
            <a:r>
              <a:rPr lang="en-US" altLang="ko-KR" sz="1600" dirty="0">
                <a:ea typeface="나눔명조"/>
              </a:rPr>
              <a:t>(Taylor and </a:t>
            </a:r>
            <a:r>
              <a:rPr lang="en-US" altLang="ko-KR" sz="1600" dirty="0" err="1">
                <a:ea typeface="나눔명조"/>
              </a:rPr>
              <a:t>Weder</a:t>
            </a:r>
            <a:r>
              <a:rPr lang="en-US" altLang="ko-KR" sz="1600" dirty="0">
                <a:ea typeface="나눔명조"/>
              </a:rPr>
              <a:t>, 2024)</a:t>
            </a:r>
          </a:p>
          <a:p>
            <a:pPr eaLnBrk="1" hangingPunct="1"/>
            <a:r>
              <a:rPr lang="ko-KR" altLang="en-US" sz="2000" dirty="0">
                <a:ea typeface="나눔명조"/>
              </a:rPr>
              <a:t>한 종의 개체수가 줄면 수요가 다른 종으로 옮아 가기 때문에 포획 멸종 위기는 특정 종에 국한되지 않음</a:t>
            </a:r>
            <a:r>
              <a:rPr lang="en-US" altLang="ko-KR" sz="2000" dirty="0">
                <a:ea typeface="나눔명조"/>
              </a:rPr>
              <a:t>(</a:t>
            </a:r>
            <a:r>
              <a:rPr lang="ko-KR" altLang="en-US" sz="2000" dirty="0">
                <a:ea typeface="나눔명조"/>
              </a:rPr>
              <a:t>예</a:t>
            </a:r>
            <a:r>
              <a:rPr lang="en-US" altLang="ko-KR" sz="2000" dirty="0">
                <a:ea typeface="나눔명조"/>
              </a:rPr>
              <a:t>: </a:t>
            </a:r>
            <a:r>
              <a:rPr lang="ko-KR" altLang="en-US" sz="2000" dirty="0">
                <a:ea typeface="나눔명조"/>
              </a:rPr>
              <a:t>지느러미 얻기 위한 상어 포획</a:t>
            </a:r>
            <a:r>
              <a:rPr lang="en-US" altLang="ko-KR" sz="2000" dirty="0">
                <a:ea typeface="나눔명조"/>
              </a:rPr>
              <a:t>)</a:t>
            </a:r>
          </a:p>
          <a:p>
            <a:pPr eaLnBrk="1" hangingPunct="1"/>
            <a:r>
              <a:rPr lang="ko-KR" altLang="en-US" sz="2000" dirty="0">
                <a:ea typeface="나눔명조"/>
              </a:rPr>
              <a:t>지금까지 </a:t>
            </a:r>
            <a:r>
              <a:rPr lang="en-US" altLang="ko-KR" sz="2000" dirty="0">
                <a:ea typeface="나눔명조"/>
              </a:rPr>
              <a:t>5</a:t>
            </a:r>
            <a:r>
              <a:rPr lang="ko-KR" altLang="en-US" sz="2000" dirty="0">
                <a:ea typeface="나눔명조"/>
              </a:rPr>
              <a:t>차례의 </a:t>
            </a:r>
            <a:r>
              <a:rPr lang="ko-KR" altLang="en-US" sz="2000" dirty="0" err="1">
                <a:ea typeface="나눔명조"/>
              </a:rPr>
              <a:t>대멸종</a:t>
            </a:r>
            <a:r>
              <a:rPr lang="en-US" altLang="ko-KR" sz="2000" dirty="0">
                <a:ea typeface="나눔명조"/>
              </a:rPr>
              <a:t>(Mass Extinction)</a:t>
            </a:r>
            <a:r>
              <a:rPr lang="ko-KR" altLang="en-US" sz="2000" dirty="0">
                <a:ea typeface="나눔명조"/>
              </a:rPr>
              <a:t>이 있었으나 모두 소행성 충돌</a:t>
            </a:r>
            <a:r>
              <a:rPr lang="en-US" altLang="ko-KR" sz="2000" dirty="0">
                <a:ea typeface="나눔명조"/>
              </a:rPr>
              <a:t>, </a:t>
            </a:r>
            <a:r>
              <a:rPr lang="ko-KR" altLang="en-US" sz="2000" dirty="0">
                <a:ea typeface="나눔명조"/>
              </a:rPr>
              <a:t>화산활동</a:t>
            </a:r>
            <a:r>
              <a:rPr lang="en-US" altLang="ko-KR" sz="2000" dirty="0">
                <a:ea typeface="나눔명조"/>
              </a:rPr>
              <a:t>, </a:t>
            </a:r>
            <a:r>
              <a:rPr lang="ko-KR" altLang="en-US" sz="2000" dirty="0">
                <a:ea typeface="나눔명조"/>
              </a:rPr>
              <a:t>기후변화 등의 자연적 요인에 의해 발생함</a:t>
            </a:r>
            <a:endParaRPr lang="en-US" altLang="ko-KR" sz="2000" dirty="0">
              <a:ea typeface="나눔명조"/>
            </a:endParaRPr>
          </a:p>
          <a:p>
            <a:pPr eaLnBrk="1" hangingPunct="1"/>
            <a:r>
              <a:rPr lang="ko-KR" altLang="en-US" sz="2000" dirty="0">
                <a:ea typeface="나눔명조"/>
              </a:rPr>
              <a:t>자원이용 기술이 발달하고 수요가 커짐에도 적절한 규제나 경제적 유인이 따르지 못하면 제</a:t>
            </a:r>
            <a:r>
              <a:rPr lang="en-US" altLang="ko-KR" sz="2000" dirty="0">
                <a:ea typeface="나눔명조"/>
              </a:rPr>
              <a:t>6</a:t>
            </a:r>
            <a:r>
              <a:rPr lang="ko-KR" altLang="en-US" sz="2000" dirty="0">
                <a:ea typeface="나눔명조"/>
              </a:rPr>
              <a:t>차 </a:t>
            </a:r>
            <a:r>
              <a:rPr lang="ko-KR" altLang="en-US" sz="2000" dirty="0" err="1">
                <a:ea typeface="나눔명조"/>
              </a:rPr>
              <a:t>대멸종은</a:t>
            </a:r>
            <a:r>
              <a:rPr lang="ko-KR" altLang="en-US" sz="2000" dirty="0">
                <a:ea typeface="나눔명조"/>
              </a:rPr>
              <a:t> 인간에 의해 발생할 수도 있음</a:t>
            </a:r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ko-KR" altLang="en-US" sz="2000" dirty="0">
              <a:ea typeface="굴림" panose="020B0600000101010101" pitchFamily="50" charset="-127"/>
            </a:endParaRPr>
          </a:p>
          <a:p>
            <a:pPr eaLnBrk="1" hangingPunct="1"/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FD6D0B64-7FE8-4E0D-8A4C-545A6C37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9A3FE8E0-71BF-4D88-9B64-214254A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11F372-4A6B-4A6F-9B37-614C9601C66D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655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36">
            <a:extLst>
              <a:ext uri="{FF2B5EF4-FFF2-40B4-BE49-F238E27FC236}">
                <a16:creationId xmlns:a16="http://schemas.microsoft.com/office/drawing/2014/main" id="{645B1EFB-2681-4D3D-8A58-BFAD90F0B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01625"/>
            <a:ext cx="72247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공유자원시장의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1037">
            <a:extLst>
              <a:ext uri="{FF2B5EF4-FFF2-40B4-BE49-F238E27FC236}">
                <a16:creationId xmlns:a16="http://schemas.microsoft.com/office/drawing/2014/main" id="{F59C58A5-5CD2-4BD9-B9BB-975D3100A0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1771650"/>
            <a:ext cx="7651750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공유자원 역시 규제를 하지 않을 경우 자원의 과잉이용이 발생하기 때문에 소유권을 보유한 집단은 여러 가지 방법으로 자원이용의 합리화를 추구함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부록 참조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공식적 수단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공유자원의 사유화 추진</a:t>
            </a: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구성원 전체가 동의하는 규칙을 만들고 위반할 경우 제재를 가함</a:t>
            </a:r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비공식적 수단</a:t>
            </a: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관습이나 전통을 이용하여 자원의 이용형태를 결정</a:t>
            </a: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경제적 유인을 적절히 제공하여 공유자원의 남용을 막는 것</a:t>
            </a:r>
          </a:p>
          <a:p>
            <a:pPr lvl="1" eaLnBrk="1" hangingPunct="1"/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6" name="바닥글 개체 틀 4">
            <a:extLst>
              <a:ext uri="{FF2B5EF4-FFF2-40B4-BE49-F238E27FC236}">
                <a16:creationId xmlns:a16="http://schemas.microsoft.com/office/drawing/2014/main" id="{93B84817-5835-4375-B0F4-5ACB42FB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3557" name="슬라이드 번호 개체 틀 5">
            <a:extLst>
              <a:ext uri="{FF2B5EF4-FFF2-40B4-BE49-F238E27FC236}">
                <a16:creationId xmlns:a16="http://schemas.microsoft.com/office/drawing/2014/main" id="{BB38737B-180A-4ABF-9866-F665BA3B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47DDAE1-8AAF-4634-8B07-36D13FA0085A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3558" name="Rectangle 1026">
            <a:extLst>
              <a:ext uri="{FF2B5EF4-FFF2-40B4-BE49-F238E27FC236}">
                <a16:creationId xmlns:a16="http://schemas.microsoft.com/office/drawing/2014/main" id="{9A6E4881-B008-4D7D-809D-A295EE28F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3559" name="Rectangle 1027">
            <a:extLst>
              <a:ext uri="{FF2B5EF4-FFF2-40B4-BE49-F238E27FC236}">
                <a16:creationId xmlns:a16="http://schemas.microsoft.com/office/drawing/2014/main" id="{9123B980-5A0E-4FEB-8DC8-76EA5D031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8">
            <a:extLst>
              <a:ext uri="{FF2B5EF4-FFF2-40B4-BE49-F238E27FC236}">
                <a16:creationId xmlns:a16="http://schemas.microsoft.com/office/drawing/2014/main" id="{AB6ED02D-460C-4D7A-8A8A-44CFF8BE5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194" y="779929"/>
            <a:ext cx="7313612" cy="664696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하아딘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(1968)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의 공유자원의 비극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4579" name="Rectangle 1029">
            <a:extLst>
              <a:ext uri="{FF2B5EF4-FFF2-40B4-BE49-F238E27FC236}">
                <a16:creationId xmlns:a16="http://schemas.microsoft.com/office/drawing/2014/main" id="{50CB24A6-9AA2-4D81-9144-EAA67CFE9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1400" y="1827213"/>
            <a:ext cx="7642225" cy="4114800"/>
          </a:xfrm>
        </p:spPr>
        <p:txBody>
          <a:bodyPr/>
          <a:lstStyle/>
          <a:p>
            <a:pPr eaLnBrk="1" hangingPunct="1"/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과학잡지 기고문을 통해 </a:t>
            </a:r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“</a:t>
            </a:r>
            <a:r>
              <a:rPr lang="ko-KR" altLang="en-US" sz="2500" dirty="0" err="1">
                <a:latin typeface="나눔명조" pitchFamily="18" charset="-127"/>
                <a:ea typeface="나눔명조" pitchFamily="18" charset="-127"/>
              </a:rPr>
              <a:t>공유자원의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 비극</a:t>
            </a:r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(tragedy of the commons)＂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이란 용어를 정착시킴</a:t>
            </a: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각 개인이 자신의 이익만을 추구하려는 의사결정체계에 갇혀 있기 때문에 자원이 남용됨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공유자원의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사유화가 해결책</a:t>
            </a: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인구증가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환경오염문제처럼 자원을 분배하여 문제를 해결하는 것이 불가능한 경우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 개인이 자신의 행위로 인해 발생하는 비용 전부를 사회적인 강제를 통해 직면하게 하여야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80" name="바닥글 개체 틀 4">
            <a:extLst>
              <a:ext uri="{FF2B5EF4-FFF2-40B4-BE49-F238E27FC236}">
                <a16:creationId xmlns:a16="http://schemas.microsoft.com/office/drawing/2014/main" id="{960680C0-9CD7-4DD7-93CE-A1DF9E73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4581" name="슬라이드 번호 개체 틀 5">
            <a:extLst>
              <a:ext uri="{FF2B5EF4-FFF2-40B4-BE49-F238E27FC236}">
                <a16:creationId xmlns:a16="http://schemas.microsoft.com/office/drawing/2014/main" id="{BA424C88-9ED5-44B9-91A7-4A04DA22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0AE74CF-6B33-440A-A752-ACE307AB0A52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EA849C1C-0A8E-484D-8541-777094835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(public goods)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id="{13C4AA63-683D-46FC-811F-AAC536F60C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01738" y="172878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공공재의 성격을 지니는 재화의 시장 역시 소유권 설정의 불완전성으로 시장의 실패를 초래함</a:t>
            </a:r>
          </a:p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공공재에 대한 소유권의 특징</a:t>
            </a:r>
          </a:p>
          <a:p>
            <a:pPr lvl="1" eaLnBrk="1" hangingPunct="1"/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비배타성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dirty="0" err="1">
                <a:latin typeface="나눔명조" pitchFamily="18" charset="-127"/>
                <a:ea typeface="나눔명조" pitchFamily="18" charset="-127"/>
              </a:rPr>
              <a:t>nonexcludability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2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일단 공급이 되면 대가를 지불하지 않은 사람도 소비할 수 있고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 소비를 막을 방법이 없음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비경합성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dirty="0" err="1">
                <a:latin typeface="나눔명조" pitchFamily="18" charset="-127"/>
                <a:ea typeface="나눔명조" pitchFamily="18" charset="-127"/>
              </a:rPr>
              <a:t>nonrivalness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2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어떤 사람이 공공재를 소비한다고 해서 나머지 사람들이 소비할 수 있는 양이 줄어들지 않음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4" name="바닥글 개체 틀 4">
            <a:extLst>
              <a:ext uri="{FF2B5EF4-FFF2-40B4-BE49-F238E27FC236}">
                <a16:creationId xmlns:a16="http://schemas.microsoft.com/office/drawing/2014/main" id="{0FDF6432-7095-400E-BD92-6B5CDFF4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5605" name="슬라이드 번호 개체 틀 5">
            <a:extLst>
              <a:ext uri="{FF2B5EF4-FFF2-40B4-BE49-F238E27FC236}">
                <a16:creationId xmlns:a16="http://schemas.microsoft.com/office/drawing/2014/main" id="{3265D9C5-4CF5-4082-ABB8-C80A1174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D39A119-EB33-499A-9E7E-BE3870015CA1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FA18E868-E036-43B1-8291-29EF5A498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DC6D38F3-191D-4FC4-957B-C081132F15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6025" y="18272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경제 내에 두 소비자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A, B</a:t>
            </a:r>
            <a:endParaRPr lang="ko-KR" altLang="en-US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공공재 수요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&gt; A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수요</a:t>
            </a:r>
          </a:p>
          <a:p>
            <a:pPr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공공재의 전체 수요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 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개별 수요의 수직 합 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일반재화와의 차이점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각 소비자는 공급된 공공재를 </a:t>
            </a:r>
            <a:r>
              <a:rPr lang="ko-KR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동시에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동일한 양을 소비할 수 있음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소비자 전체의 한계지불의사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 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개별 한계지불의사의 수직 합</a:t>
            </a:r>
          </a:p>
          <a:p>
            <a:pPr eaLnBrk="1" hangingPunct="1"/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8A07ACF5-8733-403F-B405-5B12160D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FF0F20BB-2C32-45BD-BE31-8D6FF6B5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B0CCB49-FDED-41D8-92CD-C2D2A01B166B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>
            <a:extLst>
              <a:ext uri="{FF2B5EF4-FFF2-40B4-BE49-F238E27FC236}">
                <a16:creationId xmlns:a16="http://schemas.microsoft.com/office/drawing/2014/main" id="{B1C23AB6-506A-4C19-B03F-61FF291CF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7652" name="바닥글 개체 틀 4">
            <a:extLst>
              <a:ext uri="{FF2B5EF4-FFF2-40B4-BE49-F238E27FC236}">
                <a16:creationId xmlns:a16="http://schemas.microsoft.com/office/drawing/2014/main" id="{F3F5DC81-8847-44C0-9CBF-8EEB6226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7653" name="슬라이드 번호 개체 틀 5">
            <a:extLst>
              <a:ext uri="{FF2B5EF4-FFF2-40B4-BE49-F238E27FC236}">
                <a16:creationId xmlns:a16="http://schemas.microsoft.com/office/drawing/2014/main" id="{2369F9B6-5868-47EB-9B66-58B4FDCD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C5376A7-AA0E-47A3-8CDF-07E6606EB295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7654" name="그림 5" descr="Cap 2014-06-19 09-33-21-100.png">
            <a:extLst>
              <a:ext uri="{FF2B5EF4-FFF2-40B4-BE49-F238E27FC236}">
                <a16:creationId xmlns:a16="http://schemas.microsoft.com/office/drawing/2014/main" id="{B1B64C54-DFE1-4FA1-A855-B0DCF81BE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156" y="1531143"/>
            <a:ext cx="6389688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8844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>
            <a:extLst>
              <a:ext uri="{FF2B5EF4-FFF2-40B4-BE49-F238E27FC236}">
                <a16:creationId xmlns:a16="http://schemas.microsoft.com/office/drawing/2014/main" id="{874258BB-F953-4820-AD06-CA25F49D3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4" name="바닥글 개체 틀 4">
            <a:extLst>
              <a:ext uri="{FF2B5EF4-FFF2-40B4-BE49-F238E27FC236}">
                <a16:creationId xmlns:a16="http://schemas.microsoft.com/office/drawing/2014/main" id="{2CF7D653-B6A8-4F74-9ED6-252ADEE4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0965" name="슬라이드 번호 개체 틀 5">
            <a:extLst>
              <a:ext uri="{FF2B5EF4-FFF2-40B4-BE49-F238E27FC236}">
                <a16:creationId xmlns:a16="http://schemas.microsoft.com/office/drawing/2014/main" id="{47C92430-B3A4-48F6-9B99-1BF2AE49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D34DFD-3FFC-484A-B6A2-5CC1D383308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0966" name="Rectangle 25">
            <a:extLst>
              <a:ext uri="{FF2B5EF4-FFF2-40B4-BE49-F238E27FC236}">
                <a16:creationId xmlns:a16="http://schemas.microsoft.com/office/drawing/2014/main" id="{254E778A-3B44-49A2-A6A7-A44FFC6D3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6711CA4-2D60-40FF-AC6C-48C8DEA85E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123" y="1344960"/>
                <a:ext cx="7313612" cy="4698847"/>
              </a:xfrm>
            </p:spPr>
            <p:txBody>
              <a:bodyPr/>
              <a:lstStyle/>
              <a:p>
                <a:r>
                  <a:rPr lang="ko-KR" altLang="en-US" sz="2000" dirty="0">
                    <a:ea typeface="나눔명조"/>
                  </a:rPr>
                  <a:t>사회적 최적 공공재의 생산 및 소비량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2000" dirty="0">
                  <a:ea typeface="나눔명조"/>
                </a:endParaRPr>
              </a:p>
              <a:p>
                <a:r>
                  <a:rPr lang="ko-KR" altLang="en-US" sz="2000" dirty="0">
                    <a:ea typeface="나눔명조"/>
                  </a:rPr>
                  <a:t>한계비용 </a:t>
                </a:r>
                <a:r>
                  <a:rPr lang="en-US" altLang="ko-KR" sz="2000" dirty="0">
                    <a:ea typeface="나눔명조"/>
                  </a:rPr>
                  <a:t>MC</a:t>
                </a:r>
                <a:r>
                  <a:rPr lang="ko-KR" altLang="en-US" sz="2000" dirty="0">
                    <a:ea typeface="나눔명조"/>
                  </a:rPr>
                  <a:t>와 두 수요곡선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와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ko-KR" altLang="en-US" sz="2000" dirty="0">
                    <a:ea typeface="나눔명조"/>
                  </a:rPr>
                  <a:t>의 높이</a:t>
                </a:r>
                <a:r>
                  <a:rPr lang="en-US" altLang="ko-KR" sz="2000" dirty="0">
                    <a:ea typeface="나눔명조"/>
                  </a:rPr>
                  <a:t> </a:t>
                </a:r>
                <a:r>
                  <a:rPr lang="ko-KR" altLang="en-US" sz="2000" dirty="0">
                    <a:ea typeface="나눔명조"/>
                  </a:rPr>
                  <a:t>합이 일치함</a:t>
                </a:r>
                <a:endParaRPr lang="en-US" altLang="ko-KR" sz="2000" dirty="0">
                  <a:ea typeface="나눔명조"/>
                </a:endParaRPr>
              </a:p>
              <a:p>
                <a:r>
                  <a:rPr lang="ko-KR" altLang="en-US" sz="2000" dirty="0">
                    <a:ea typeface="나눔명조"/>
                  </a:rPr>
                  <a:t>수요곡선의 높이는 </a:t>
                </a:r>
                <a:r>
                  <a:rPr lang="ko-KR" altLang="en-US" sz="2000" dirty="0" err="1">
                    <a:ea typeface="나눔명조"/>
                  </a:rPr>
                  <a:t>한계편익을</a:t>
                </a:r>
                <a:r>
                  <a:rPr lang="ko-KR" altLang="en-US" sz="2000" dirty="0">
                    <a:ea typeface="나눔명조"/>
                  </a:rPr>
                  <a:t> 금액으로 나타낸 것으로서</a:t>
                </a:r>
                <a:r>
                  <a:rPr lang="en-US" altLang="ko-KR" sz="2000" dirty="0">
                    <a:ea typeface="나눔명조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MB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ea typeface="나눔명조"/>
                  </a:rPr>
                  <a:t>)</a:t>
                </a:r>
                <a:r>
                  <a:rPr lang="ko-KR" altLang="en-US" sz="2000" dirty="0">
                    <a:ea typeface="나눔명조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MB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ea typeface="나눔명조"/>
                  </a:rPr>
                  <a:t>)</a:t>
                </a:r>
                <a:r>
                  <a:rPr lang="ko-KR" altLang="en-US" sz="2000" dirty="0">
                    <a:ea typeface="나눔명조"/>
                  </a:rPr>
                  <a:t>로 나타낼 수 있음</a:t>
                </a:r>
                <a:endParaRPr lang="en-US" altLang="ko-KR" sz="2000" dirty="0">
                  <a:ea typeface="나눔명조"/>
                </a:endParaRPr>
              </a:p>
              <a:p>
                <a:r>
                  <a:rPr lang="ko-KR" altLang="en-US" sz="2000" dirty="0">
                    <a:ea typeface="나눔명조"/>
                  </a:rPr>
                  <a:t>사회적 최적 공공재 생산 및 소비량은 두 한계편익의 합과 한계생산비가 일치하는 다음 조건을 충족하는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2000" dirty="0">
                  <a:ea typeface="나눔명조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MB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ea typeface="나눔명조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MB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ea typeface="나눔명조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ko-KR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dirty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endParaRPr lang="en-US" altLang="ko-KR" sz="2000" dirty="0">
                  <a:ea typeface="나눔명조"/>
                </a:endParaRPr>
              </a:p>
              <a:p>
                <a:pPr lvl="1"/>
                <a:r>
                  <a:rPr lang="ko-KR" altLang="en-US" sz="1600" dirty="0" err="1">
                    <a:ea typeface="나눔명조"/>
                  </a:rPr>
                  <a:t>새뮤얼슨조건</a:t>
                </a:r>
                <a:r>
                  <a:rPr lang="en-US" altLang="ko-KR" sz="1600" dirty="0">
                    <a:ea typeface="나눔명조"/>
                  </a:rPr>
                  <a:t>(Samuelson condition)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6711CA4-2D60-40FF-AC6C-48C8DEA85E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123" y="1344960"/>
                <a:ext cx="7313612" cy="4698847"/>
              </a:xfrm>
              <a:blipFill>
                <a:blip r:embed="rId2"/>
                <a:stretch>
                  <a:fillRect l="-750" t="-10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0891D456-C3FD-4448-9E28-006F7F50C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557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공공재시장의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F5777BC5-75FF-4BD0-BFB9-2B1FE1B8C5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7450" y="158750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공공재의 생산 및 소비를 민간시장에 맡겨둘 경우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4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달성될 수 없음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먼저 공공재를 소비하는 경우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한계지불의사와 한계비용이 일치하는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만큼을 구입</a:t>
            </a:r>
          </a:p>
          <a:p>
            <a:pPr lvl="2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이미 소비하고있는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만큼을 아무런 대가없이 이용할 수 있으므로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-q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공공재만을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구입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먼저 공공재를 소비하는 경우</a:t>
            </a:r>
          </a:p>
          <a:p>
            <a:pPr lvl="2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자신의 한계지불의사와 한계비용이 일치하는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구입</a:t>
            </a:r>
          </a:p>
          <a:p>
            <a:pPr lvl="2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비용지불 없이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이용하는 공공재를 이용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결과적으로 모든 소비자가 </a:t>
            </a:r>
            <a:r>
              <a:rPr lang="ko-KR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무임승차자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(free-rider)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되려 하며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시장에 공급되는 공공재의 총량은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4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적은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4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넘어설 수 없음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A629FA53-F7BA-4631-9E47-EBE137B2E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70FE547D-6702-4245-81CC-BED4A4E32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435C1C0-8CA6-428D-A5DE-BD2852C60D20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0695E1B1-013B-4C96-800F-3DAC67717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2032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순수공공재와 비순수공공재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9699" name="Rectangle 5">
            <a:extLst>
              <a:ext uri="{FF2B5EF4-FFF2-40B4-BE49-F238E27FC236}">
                <a16:creationId xmlns:a16="http://schemas.microsoft.com/office/drawing/2014/main" id="{39B01151-5DCA-4620-99DA-9A346F399B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00163" y="163036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현실에 있어 비경합성과 비배제성을 모두 충족하는 재화나 서비스는 찾기 어려움</a:t>
            </a:r>
          </a:p>
          <a:p>
            <a:pPr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두 가지 성질을 모두 충족하는 경우 순수공공재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어느 한 가지 성질만 제한적으로 가지면 비순수공공재임</a:t>
            </a:r>
          </a:p>
          <a:p>
            <a:pPr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비순수공공재의 경우 어느 정도 대가를 지불 받고 공급하는 것이 가능하기 때문에 반드시 정부가 시장에 개입할 필요는 없음</a:t>
            </a:r>
            <a:endParaRPr lang="en-US" altLang="ko-KR" sz="21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9700" name="바닥글 개체 틀 4">
            <a:extLst>
              <a:ext uri="{FF2B5EF4-FFF2-40B4-BE49-F238E27FC236}">
                <a16:creationId xmlns:a16="http://schemas.microsoft.com/office/drawing/2014/main" id="{255FA743-6CCE-46DA-891F-A0F9F9F7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9701" name="슬라이드 번호 개체 틀 5">
            <a:extLst>
              <a:ext uri="{FF2B5EF4-FFF2-40B4-BE49-F238E27FC236}">
                <a16:creationId xmlns:a16="http://schemas.microsoft.com/office/drawing/2014/main" id="{6E4CFF6D-B471-4A36-8ED4-79BC7626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D92DE4F-AFD4-4107-8C62-CC24720407B9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E75A5D8-089F-41A5-9223-D250C852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90" y="4097838"/>
            <a:ext cx="7165910" cy="20015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196E80C3-FFBE-477E-AD4D-F03B770FE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 공급의 무임승차문제 완화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5">
            <a:extLst>
              <a:ext uri="{FF2B5EF4-FFF2-40B4-BE49-F238E27FC236}">
                <a16:creationId xmlns:a16="http://schemas.microsoft.com/office/drawing/2014/main" id="{0FCE14A7-4C6B-4C41-8954-F2B28C6314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73163" y="170021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순수공공재의 경우도 시장을 통한 공급이 불가능한 것은 아님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공공재 수요자 간 선호도 차이가 매우 큰 경우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공공재가 수요가 큰 개인은 무임승차자로 행동해 공공재가 공급되지 않는 상황보다는 자신만이라도 구입하는 것이 나으므로 공공재를 구입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소비자들이 이타심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(altruism)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을 가져 타인의 소비로부터도 만족도를 얻는다면 무임승차문제가 완화될 수 있음</a:t>
            </a:r>
          </a:p>
          <a:p>
            <a:pPr lvl="1" eaLnBrk="1" hangingPunct="1"/>
            <a:r>
              <a:rPr lang="ko-KR" altLang="en-US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유사이타심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(warm-glow effect)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을 가지는 경우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자신이 공동체의 공공재 공급에 기여했다는 사실을 남이 알아주거나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이러한 선행을 했다는 사실 자체로부터 스스로 만족도를 얻는 경우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03B01608-FEBB-4768-BC96-8E528C3E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E97B6148-BD98-41A8-AD56-89780D6B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B09E2C-45D3-4488-BBF4-B431118F8AF3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>
            <a:extLst>
              <a:ext uri="{FF2B5EF4-FFF2-40B4-BE49-F238E27FC236}">
                <a16:creationId xmlns:a16="http://schemas.microsoft.com/office/drawing/2014/main" id="{626C9241-86EC-443D-8947-40EDDED03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2032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공공부문의 공공재 공급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94753B7F-B549-43F9-A155-1DCDE0654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71588" y="165893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앞의 상황들은 무임승차문제를 완화할 뿐이지 완전히 제거하는 것은 아님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근본적인 해결책으로 많은 국가가 시도하는 것이 정부나 공공기관이 직접 공공재를 공급하는 것임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정부나 공공부문이 공공재를 공급할 때에도 문제가 나타남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민간도 어느정도 서비스를 공급하는 상태에서 정부가 국민들로부터 세금을 걷어 추가로 서비스를 공급한다면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각 개인은 정부에게 이용대금을 추가로 지불하여야 하므로 민간으로부터 구입하던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서비스량을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줄이고자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공교육 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vs.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사교육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민간보험 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vs. </a:t>
            </a:r>
            <a:r>
              <a:rPr lang="ko-KR" altLang="en-US" sz="1500" dirty="0" err="1">
                <a:latin typeface="나눔명조" pitchFamily="18" charset="-127"/>
                <a:ea typeface="나눔명조" pitchFamily="18" charset="-127"/>
              </a:rPr>
              <a:t>공적보험</a:t>
            </a:r>
            <a:endParaRPr lang="en-US" altLang="ko-KR" sz="15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정부의 공공재가 민간 서비스를 밀어내는 부작용 초래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적정 공공재 수준을 찾고 각 개인에게 비용을 차등부과하는 방법을 찾아야 하는 문제 대두 </a:t>
            </a:r>
          </a:p>
          <a:p>
            <a:pPr eaLnBrk="1" hangingPunct="1"/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8" name="바닥글 개체 틀 4">
            <a:extLst>
              <a:ext uri="{FF2B5EF4-FFF2-40B4-BE49-F238E27FC236}">
                <a16:creationId xmlns:a16="http://schemas.microsoft.com/office/drawing/2014/main" id="{CF8C4A64-56EE-4103-B7B9-93C65553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1749" name="슬라이드 번호 개체 틀 5">
            <a:extLst>
              <a:ext uri="{FF2B5EF4-FFF2-40B4-BE49-F238E27FC236}">
                <a16:creationId xmlns:a16="http://schemas.microsoft.com/office/drawing/2014/main" id="{3C58A791-5B72-402C-811D-C382B1AF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BCCB4CC-8BD9-4625-BD4A-1B17711A18A4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D32D002B-3ABF-4F61-A651-756E9F111B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5683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공급수준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결정과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비용지불의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차등화 문제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Rectangle 5">
                <a:extLst>
                  <a:ext uri="{FF2B5EF4-FFF2-40B4-BE49-F238E27FC236}">
                    <a16:creationId xmlns:a16="http://schemas.microsoft.com/office/drawing/2014/main" id="{D6487DC7-F798-4BF9-B1F1-1B07881FFCB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30300" y="1798637"/>
                <a:ext cx="7313613" cy="4703015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1800" b="1" dirty="0" err="1">
                    <a:solidFill>
                      <a:srgbClr val="0000FF"/>
                    </a:solidFill>
                    <a:latin typeface="나눔명조" pitchFamily="18" charset="-127"/>
                    <a:ea typeface="나눔명조"/>
                  </a:rPr>
                  <a:t>린달</a:t>
                </a:r>
                <a:r>
                  <a:rPr lang="en-US" altLang="ko-KR" sz="1800" b="1" dirty="0">
                    <a:solidFill>
                      <a:srgbClr val="0000FF"/>
                    </a:solidFill>
                    <a:latin typeface="나눔명조" pitchFamily="18" charset="-127"/>
                    <a:ea typeface="나눔명조"/>
                  </a:rPr>
                  <a:t>(</a:t>
                </a:r>
                <a:r>
                  <a:rPr lang="en-US" altLang="ko-KR" sz="1800" b="1" dirty="0" err="1">
                    <a:solidFill>
                      <a:srgbClr val="0000FF"/>
                    </a:solidFill>
                    <a:latin typeface="나눔명조" pitchFamily="18" charset="-127"/>
                    <a:ea typeface="나눔명조"/>
                  </a:rPr>
                  <a:t>Lindahl</a:t>
                </a:r>
                <a:r>
                  <a:rPr lang="en-US" altLang="ko-KR" sz="1800" b="1" dirty="0">
                    <a:solidFill>
                      <a:srgbClr val="0000FF"/>
                    </a:solidFill>
                    <a:latin typeface="나눔명조" pitchFamily="18" charset="-127"/>
                    <a:ea typeface="나눔명조"/>
                  </a:rPr>
                  <a:t>)</a:t>
                </a:r>
                <a:r>
                  <a:rPr lang="ko-KR" altLang="en-US" sz="1800" b="1" dirty="0">
                    <a:solidFill>
                      <a:srgbClr val="0000FF"/>
                    </a:solidFill>
                    <a:latin typeface="나눔명조" pitchFamily="18" charset="-127"/>
                    <a:ea typeface="나눔명조"/>
                  </a:rPr>
                  <a:t>균형</a:t>
                </a:r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: 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정부나 제 </a:t>
                </a:r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3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자가 나서서 공공재 비용의 개인별 분담률을 제시하고 어느 정도의 공공재가 공급되기를 원하는지 물었을 때 모든 개인이 동의하는 희망 공공재 공급량이 찾아지면 달성됨</a:t>
                </a:r>
                <a:endParaRPr lang="en-US" altLang="ko-KR" sz="1800" dirty="0">
                  <a:latin typeface="나눔명조" pitchFamily="18" charset="-127"/>
                  <a:ea typeface="나눔명조"/>
                </a:endParaRPr>
              </a:p>
              <a:p>
                <a:pPr eaLnBrk="1" hangingPunct="1"/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전체 공공재 비용 중 </a:t>
                </a:r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A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만큼</a:t>
                </a:r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, B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B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(=1− 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)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비율만큼 부담할 때 각각 어느 정도의 전체 공공재 구입량을 원하는지를</a:t>
                </a:r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대답하게</a:t>
                </a:r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함</a:t>
                </a:r>
                <a:endParaRPr lang="en-US" altLang="ko-KR" sz="1800" dirty="0">
                  <a:latin typeface="나눔명조" pitchFamily="18" charset="-127"/>
                  <a:ea typeface="나눔명조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비용분담률을 달리하며 질문하여 서로 일치하는 수요량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가 찾아지면 그 때의  비용분담률과 서로 합의한 전체 공공재량의 조합 </a:t>
                </a:r>
                <a14:m>
                  <m:oMath xmlns:m="http://schemas.openxmlformats.org/officeDocument/2006/math">
                    <m:r>
                      <a:rPr lang="en-US" altLang="ko-KR" sz="18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sSubSup>
                      <m:sSub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A</m:t>
                        </m:r>
                      </m:sub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bSup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Sup>
                      <m:sSub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B</m:t>
                        </m:r>
                      </m:sub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)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가 균형</a:t>
                </a:r>
                <a:endParaRPr lang="en-US" altLang="ko-KR" sz="1800" dirty="0">
                  <a:latin typeface="나눔명조" pitchFamily="18" charset="-127"/>
                  <a:ea typeface="나눔명조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공공재의 시장가격이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𝑃</m:t>
                    </m:r>
                  </m:oMath>
                </a14:m>
                <a:r>
                  <a:rPr lang="ko-KR" altLang="en-US" sz="1800" dirty="0" err="1">
                    <a:latin typeface="나눔명조" pitchFamily="18" charset="-127"/>
                    <a:ea typeface="나눔명조"/>
                  </a:rPr>
                  <a:t>일때</a:t>
                </a:r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개인은 </a:t>
                </a:r>
                <a:r>
                  <a:rPr lang="ko-KR" altLang="en-US" sz="1800" dirty="0" err="1">
                    <a:latin typeface="나눔명조" pitchFamily="18" charset="-127"/>
                    <a:ea typeface="나눔명조"/>
                  </a:rPr>
                  <a:t>분담비용과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 </a:t>
                </a:r>
                <a:r>
                  <a:rPr lang="ko-KR" altLang="en-US" sz="1800" dirty="0" err="1">
                    <a:latin typeface="나눔명조" pitchFamily="18" charset="-127"/>
                    <a:ea typeface="나눔명조"/>
                  </a:rPr>
                  <a:t>한계편익이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 일치하는 </a:t>
                </a:r>
                <a:r>
                  <a:rPr lang="ko-KR" altLang="en-US" sz="1800" dirty="0" err="1">
                    <a:latin typeface="나눔명조" pitchFamily="18" charset="-127"/>
                    <a:ea typeface="나눔명조"/>
                  </a:rPr>
                  <a:t>공공재량</a:t>
                </a:r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A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𝑃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B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𝑃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))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을 제시하므로</a:t>
                </a:r>
                <a:endParaRPr lang="en-US" altLang="ko-KR" sz="1800" dirty="0">
                  <a:latin typeface="나눔명조" pitchFamily="18" charset="-127"/>
                  <a:ea typeface="나눔명조"/>
                </a:endParaRPr>
              </a:p>
              <a:p>
                <a:pPr marL="457200" lvl="1" indent="0" algn="ctr" eaLnBrk="1" hangingPunct="1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A</m:t>
                        </m:r>
                      </m:sub>
                    </m:sSub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MB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bSup>
                      <m:sSub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(</m:t>
                        </m:r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A</m:t>
                        </m:r>
                      </m:sub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bSup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Sup>
                      <m:sSub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B</m:t>
                        </m:r>
                      </m:sub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𝑃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𝑃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/>
                  </a:rPr>
                  <a:t> 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따라서 린달균형에서 </a:t>
                </a:r>
                <a:r>
                  <a:rPr lang="ko-KR" altLang="en-US" sz="1800" dirty="0" err="1">
                    <a:latin typeface="나눔명조" pitchFamily="18" charset="-127"/>
                    <a:ea typeface="나눔명조"/>
                  </a:rPr>
                  <a:t>새뮤얼슨조건이</a:t>
                </a:r>
                <a:r>
                  <a:rPr lang="ko-KR" altLang="en-US" sz="1800" dirty="0">
                    <a:latin typeface="나눔명조" pitchFamily="18" charset="-127"/>
                    <a:ea typeface="나눔명조"/>
                  </a:rPr>
                  <a:t> 충족됨</a:t>
                </a:r>
                <a:endParaRPr lang="en-US" altLang="ko-KR" sz="1800" dirty="0">
                  <a:latin typeface="나눔명조" pitchFamily="18" charset="-127"/>
                  <a:ea typeface="나눔명조"/>
                </a:endParaRPr>
              </a:p>
            </p:txBody>
          </p:sp>
        </mc:Choice>
        <mc:Fallback xmlns="">
          <p:sp>
            <p:nvSpPr>
              <p:cNvPr id="32771" name="Rectangle 5">
                <a:extLst>
                  <a:ext uri="{FF2B5EF4-FFF2-40B4-BE49-F238E27FC236}">
                    <a16:creationId xmlns:a16="http://schemas.microsoft.com/office/drawing/2014/main" id="{D6487DC7-F798-4BF9-B1F1-1B07881FF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0300" y="1798637"/>
                <a:ext cx="7313613" cy="4703015"/>
              </a:xfrm>
              <a:blipFill>
                <a:blip r:embed="rId2"/>
                <a:stretch>
                  <a:fillRect l="-500" t="-648" r="-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42F652B3-9CA4-4BDC-97CF-3D676E4D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93A9F610-641F-4309-A020-A672A24B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CB29D69-021A-4B4C-8E51-DBECE0259686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>
            <a:extLst>
              <a:ext uri="{FF2B5EF4-FFF2-40B4-BE49-F238E27FC236}">
                <a16:creationId xmlns:a16="http://schemas.microsoft.com/office/drawing/2014/main" id="{02C91231-00ED-4D04-AAC8-EE33AE33E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5683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 공급수준 결정과 비용지불의 차등화 문제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16466598-4423-490F-BF41-EA474C37AB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0" y="179863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린달균형을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실제로 찾는 것은 매우 어려움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대안으로 각 개인에게 공공재에 대한 자신의 한계편익함수를 말하게 하고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 결과를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린달균형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조건에 대입해 최적의 조합을 찾아주겠다고 제안할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 개인은 이때 본인의 비용 분담률을 줄이기 위해 한계편익을 과소 보고하는 선택을 할 것임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2" name="바닥글 개체 틀 4">
            <a:extLst>
              <a:ext uri="{FF2B5EF4-FFF2-40B4-BE49-F238E27FC236}">
                <a16:creationId xmlns:a16="http://schemas.microsoft.com/office/drawing/2014/main" id="{2CFCAC68-C2A2-44F1-BBC5-DA8584433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8133" name="슬라이드 번호 개체 틀 5">
            <a:extLst>
              <a:ext uri="{FF2B5EF4-FFF2-40B4-BE49-F238E27FC236}">
                <a16:creationId xmlns:a16="http://schemas.microsoft.com/office/drawing/2014/main" id="{23D4891A-C780-4B2D-A6AF-39AE671A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107612-DAFE-4F41-8F8E-5C91CD90F404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>
            <a:extLst>
              <a:ext uri="{FF2B5EF4-FFF2-40B4-BE49-F238E27FC236}">
                <a16:creationId xmlns:a16="http://schemas.microsoft.com/office/drawing/2014/main" id="{A7EF6842-751D-4003-BD33-E27D0601A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45561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 공급수준 결정과 비용지불의 차등화 문제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5" name="Rectangle 5">
                <a:extLst>
                  <a:ext uri="{FF2B5EF4-FFF2-40B4-BE49-F238E27FC236}">
                    <a16:creationId xmlns:a16="http://schemas.microsoft.com/office/drawing/2014/main" id="{CA4D2E58-DCB4-46CB-8744-0726616F386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30300" y="1798638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개인이 공공재에 대해 가지고 있는 지불의사를 정확히 나타내도록 유도하는 방법 중 가장 간단한 형태로 </a:t>
                </a:r>
                <a:r>
                  <a:rPr lang="ko-KR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클라크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-</a:t>
                </a:r>
                <a:r>
                  <a:rPr lang="ko-KR" altLang="en-US" sz="24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그로브스</a:t>
                </a:r>
                <a:r>
                  <a:rPr lang="ko-KR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메커니즘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있음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소비자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A, B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수질개선과 같은 공공재에 대한 실제 지불의사는 각각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B</m:t>
                        </m:r>
                      </m:sup>
                    </m:sSup>
                  </m:oMath>
                </a14:m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정부가 수질개선사업에 대한 지불의사를 물어보되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각각 응답한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지불의사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합이 사업비용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보다 크면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즉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B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이면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사업을 시행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이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B</m:t>
                        </m:r>
                      </m:sup>
                    </m:sSup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이면 무임승차문제 해결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795" name="Rectangle 5">
                <a:extLst>
                  <a:ext uri="{FF2B5EF4-FFF2-40B4-BE49-F238E27FC236}">
                    <a16:creationId xmlns:a16="http://schemas.microsoft.com/office/drawing/2014/main" id="{CA4D2E58-DCB4-46CB-8744-0726616F38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0300" y="1798638"/>
                <a:ext cx="7313613" cy="4114800"/>
              </a:xfrm>
              <a:blipFill>
                <a:blip r:embed="rId2"/>
                <a:stretch>
                  <a:fillRect l="-1083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6" name="바닥글 개체 틀 4">
            <a:extLst>
              <a:ext uri="{FF2B5EF4-FFF2-40B4-BE49-F238E27FC236}">
                <a16:creationId xmlns:a16="http://schemas.microsoft.com/office/drawing/2014/main" id="{FE4AD406-9975-40F1-8FC0-F1DDBD08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3797" name="슬라이드 번호 개체 틀 5">
            <a:extLst>
              <a:ext uri="{FF2B5EF4-FFF2-40B4-BE49-F238E27FC236}">
                <a16:creationId xmlns:a16="http://schemas.microsoft.com/office/drawing/2014/main" id="{AF532025-4823-4BA7-9A38-D015D40E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9F70266-5588-46E8-8CFC-7B431C81A1C0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id="{F657A80F-D96A-47B6-86AC-804F47FA5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45561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 공급수준 결정과 비용지불의 차등화 문제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5">
                <a:extLst>
                  <a:ext uri="{FF2B5EF4-FFF2-40B4-BE49-F238E27FC236}">
                    <a16:creationId xmlns:a16="http://schemas.microsoft.com/office/drawing/2014/main" id="{88E9ED09-3C96-4506-A108-198C686A962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30300" y="1798638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클라크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-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그로브스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메커니즘의 핵심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각 개인은 자신이 적어낸 지불의사를 비용으로 부담하는 것이 아니라 전체 사업비와 상대방이 적어낸 지불의사의 차액을 부담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각각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부담하는 금액이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라면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A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B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B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A</m:t>
                          </m:r>
                        </m:sup>
                      </m:sSup>
                    </m:oMath>
                  </m:oMathPara>
                </a14:m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더 낮은 금액을 적어내면 자신이 부담할 비용은 줄어들지 않으면서 자칫 공공재가 공급되지 않을 확률만 높아지게 됨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따라서 자신의 지불의사보다 더 낮은 지불의사를 정부에게 말할 이유가 없으며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일치되는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말하게 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클라크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-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그로브스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메커니즘 실시하여 사업이 시행되면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B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이어서 사업 적자 발생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사업 실시 여부와 관계없이 미리 세금 등으로 걷어 적자 보전하여 해결</a:t>
                </a: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819" name="Rectangle 5">
                <a:extLst>
                  <a:ext uri="{FF2B5EF4-FFF2-40B4-BE49-F238E27FC236}">
                    <a16:creationId xmlns:a16="http://schemas.microsoft.com/office/drawing/2014/main" id="{88E9ED09-3C96-4506-A108-198C686A96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0300" y="1798638"/>
                <a:ext cx="7313613" cy="4114800"/>
              </a:xfrm>
              <a:blipFill>
                <a:blip r:embed="rId2"/>
                <a:stretch>
                  <a:fillRect l="-750" t="-1037" b="-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4DB1DEC4-BE20-4252-ABED-71E6B1DC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603F4551-9195-482D-9EFC-B67926C32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298687F-B03B-47E4-990C-1C21D752F389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id="{F657A80F-D96A-47B6-86AC-804F47FA5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45561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공공재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공급수준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결정과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비용지불의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차등화 문제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5">
                <a:extLst>
                  <a:ext uri="{FF2B5EF4-FFF2-40B4-BE49-F238E27FC236}">
                    <a16:creationId xmlns:a16="http://schemas.microsoft.com/office/drawing/2014/main" id="{88E9ED09-3C96-4506-A108-198C686A962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30300" y="1798638"/>
                <a:ext cx="7313613" cy="4114800"/>
              </a:xfrm>
            </p:spPr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주어진 상태에서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(A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이를 알 수도 모를 수도 있음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</a:p>
              <a:p>
                <a:pPr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 경우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이득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선택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−[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되도록 낮은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선택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 </a:t>
                </a:r>
                <a:r>
                  <a:rPr lang="ko-KR" altLang="en-US" sz="1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순편익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=0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이지만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선택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 경우와 동일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굳이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선택을 할 이유 없음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 경우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이득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선택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순편익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=0</a:t>
                </a:r>
                <a:endParaRPr lang="en-US" altLang="ko-KR" sz="1600" i="1" dirty="0">
                  <a:latin typeface="Cambria Math" panose="020405030504060302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되도록 높은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선택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sup>
                        </m:sSup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이지만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선택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 경우와 동일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굳이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A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선택을 할 이유 없음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이상의 상황은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에게도 마찬가지이므로 둘 다 정확히 선호를 드러냄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819" name="Rectangle 5">
                <a:extLst>
                  <a:ext uri="{FF2B5EF4-FFF2-40B4-BE49-F238E27FC236}">
                    <a16:creationId xmlns:a16="http://schemas.microsoft.com/office/drawing/2014/main" id="{88E9ED09-3C96-4506-A108-198C686A96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0300" y="1798638"/>
                <a:ext cx="7313613" cy="4114800"/>
              </a:xfrm>
              <a:blipFill>
                <a:blip r:embed="rId2"/>
                <a:stretch>
                  <a:fillRect l="-750" t="-1037"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4DB1DEC4-BE20-4252-ABED-71E6B1DC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603F4551-9195-482D-9EFC-B67926C32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298687F-B03B-47E4-990C-1C21D752F389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169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8">
            <a:extLst>
              <a:ext uri="{FF2B5EF4-FFF2-40B4-BE49-F238E27FC236}">
                <a16:creationId xmlns:a16="http://schemas.microsoft.com/office/drawing/2014/main" id="{0410C39B-A207-4B98-9C2D-EA89B6239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1875" y="684213"/>
            <a:ext cx="7080250" cy="760412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전 지구적 공공재인 작물유전자원</a:t>
            </a:r>
            <a:endParaRPr lang="en-US" altLang="ko-KR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203" name="Rectangle 1029">
            <a:extLst>
              <a:ext uri="{FF2B5EF4-FFF2-40B4-BE49-F238E27FC236}">
                <a16:creationId xmlns:a16="http://schemas.microsoft.com/office/drawing/2014/main" id="{6457E6B7-65F6-43CD-83E1-0BF48B4C2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1400" y="1827213"/>
            <a:ext cx="7642225" cy="4592637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/>
                <a:ea typeface="나눔명조"/>
              </a:rPr>
              <a:t>작물유전자원</a:t>
            </a:r>
            <a:r>
              <a:rPr lang="en-US" altLang="ko-KR" sz="2000" dirty="0">
                <a:latin typeface="나눔명조"/>
                <a:ea typeface="나눔명조"/>
              </a:rPr>
              <a:t>(Plant Genetic Resources for Food and Agriculture, PGRFA)</a:t>
            </a:r>
            <a:r>
              <a:rPr lang="ko-KR" altLang="en-US" sz="2000" dirty="0">
                <a:latin typeface="나눔명조"/>
                <a:ea typeface="나눔명조"/>
              </a:rPr>
              <a:t>은 다른 종류의 생물자원과 마찬가지로 환경적</a:t>
            </a:r>
            <a:r>
              <a:rPr lang="en-US" altLang="ko-KR" sz="2000" dirty="0">
                <a:latin typeface="나눔명조"/>
                <a:ea typeface="나눔명조"/>
              </a:rPr>
              <a:t>, </a:t>
            </a:r>
            <a:r>
              <a:rPr lang="ko-KR" altLang="en-US" sz="2000" dirty="0">
                <a:latin typeface="나눔명조"/>
                <a:ea typeface="나눔명조"/>
              </a:rPr>
              <a:t>생태적 측면에서 보존될 필요가 있는 유용한 자원이지만 동시에 작물의 생산성과 식량증산에 크게 기여할 수 있다는 산업적 중요성도 가지고 있음</a:t>
            </a:r>
            <a:endParaRPr lang="en-US" altLang="ko-KR" sz="2000" dirty="0">
              <a:latin typeface="나눔명조"/>
              <a:ea typeface="나눔명조"/>
            </a:endParaRPr>
          </a:p>
          <a:p>
            <a:pPr lvl="1" eaLnBrk="1" hangingPunct="1"/>
            <a:r>
              <a:rPr lang="ko-KR" altLang="en-US" sz="1600" dirty="0">
                <a:latin typeface="나눔명조"/>
                <a:ea typeface="나눔명조"/>
              </a:rPr>
              <a:t>현지 내 보존 </a:t>
            </a:r>
            <a:r>
              <a:rPr lang="en-US" altLang="ko-KR" sz="1600" dirty="0">
                <a:latin typeface="나눔명조"/>
                <a:ea typeface="나눔명조"/>
              </a:rPr>
              <a:t>vs. </a:t>
            </a:r>
            <a:r>
              <a:rPr lang="ko-KR" altLang="en-US" sz="1600" dirty="0">
                <a:latin typeface="나눔명조"/>
                <a:ea typeface="나눔명조"/>
              </a:rPr>
              <a:t>유전자 은행 운영</a:t>
            </a:r>
            <a:endParaRPr lang="en-US" altLang="ko-KR" sz="1600" dirty="0">
              <a:latin typeface="나눔명조"/>
              <a:ea typeface="나눔명조"/>
            </a:endParaRPr>
          </a:p>
          <a:p>
            <a:pPr eaLnBrk="1" hangingPunct="1"/>
            <a:r>
              <a:rPr lang="ko-KR" altLang="en-US" sz="2000" dirty="0">
                <a:latin typeface="나눔명조"/>
                <a:ea typeface="나눔명조"/>
              </a:rPr>
              <a:t>작물유전자원의 보존 노력은 민간부문보다는 공공부문에 한정되어 이루어지고 있음</a:t>
            </a:r>
            <a:endParaRPr lang="en-US" altLang="ko-KR" sz="2000" dirty="0">
              <a:latin typeface="나눔명조"/>
              <a:ea typeface="나눔명조"/>
            </a:endParaRPr>
          </a:p>
          <a:p>
            <a:pPr lvl="1" eaLnBrk="1" hangingPunct="1"/>
            <a:r>
              <a:rPr lang="ko-KR" altLang="en-US" sz="1600" dirty="0" err="1">
                <a:latin typeface="나눔명조"/>
                <a:ea typeface="나눔명조"/>
              </a:rPr>
              <a:t>유전자원은</a:t>
            </a:r>
            <a:r>
              <a:rPr lang="ko-KR" altLang="en-US" sz="1600" dirty="0">
                <a:latin typeface="나눔명조"/>
                <a:ea typeface="나눔명조"/>
              </a:rPr>
              <a:t> 배타적인 소유권을 인정받기 어렵다는 </a:t>
            </a:r>
            <a:r>
              <a:rPr lang="ko-KR" altLang="en-US" sz="1600" dirty="0" err="1">
                <a:latin typeface="나눔명조"/>
                <a:ea typeface="나눔명조"/>
              </a:rPr>
              <a:t>공공재적인</a:t>
            </a:r>
            <a:r>
              <a:rPr lang="ko-KR" altLang="en-US" sz="1600" dirty="0">
                <a:latin typeface="나눔명조"/>
                <a:ea typeface="나눔명조"/>
              </a:rPr>
              <a:t> 성격을 가짐</a:t>
            </a:r>
            <a:endParaRPr lang="en-US" altLang="ko-KR" sz="1600" dirty="0">
              <a:latin typeface="나눔명조"/>
              <a:ea typeface="나눔명조"/>
            </a:endParaRPr>
          </a:p>
          <a:p>
            <a:pPr lvl="1" eaLnBrk="1" hangingPunct="1"/>
            <a:r>
              <a:rPr lang="ko-KR" altLang="en-US" sz="1600" dirty="0" err="1">
                <a:latin typeface="나눔명조"/>
                <a:ea typeface="나눔명조"/>
              </a:rPr>
              <a:t>유전자원은</a:t>
            </a:r>
            <a:r>
              <a:rPr lang="ko-KR" altLang="en-US" sz="1600" dirty="0">
                <a:latin typeface="나눔명조"/>
                <a:ea typeface="나눔명조"/>
              </a:rPr>
              <a:t> 쉽게 복제되며 지적소유권이 보호되기 어렵고 그 유용성이 실현되기 이전엔 불확실하며</a:t>
            </a:r>
            <a:r>
              <a:rPr lang="en-US" altLang="ko-KR" sz="1600" dirty="0">
                <a:latin typeface="나눔명조"/>
                <a:ea typeface="나눔명조"/>
              </a:rPr>
              <a:t>, </a:t>
            </a:r>
            <a:r>
              <a:rPr lang="ko-KR" altLang="en-US" sz="1600" dirty="0">
                <a:latin typeface="나눔명조"/>
                <a:ea typeface="나눔명조"/>
              </a:rPr>
              <a:t>보존에 장기간이 소요됨</a:t>
            </a:r>
            <a:endParaRPr lang="en-US" altLang="ko-KR" sz="1600" dirty="0">
              <a:latin typeface="나눔명조"/>
              <a:ea typeface="나눔명조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5C6525B9-2877-4910-B6E1-3C2EF20E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D4FEF349-0B8F-455C-ABE7-3C001335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E4C9A5-EF21-461B-8070-0D6A817B27EA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8">
            <a:extLst>
              <a:ext uri="{FF2B5EF4-FFF2-40B4-BE49-F238E27FC236}">
                <a16:creationId xmlns:a16="http://schemas.microsoft.com/office/drawing/2014/main" id="{F4E3A80F-6785-4EA9-8A20-E66BA3B9B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1875" y="684213"/>
            <a:ext cx="7080250" cy="760412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전 지구적 공공재인 작물유전자원</a:t>
            </a:r>
            <a:endParaRPr lang="en-US" altLang="ko-KR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2227" name="Rectangle 1029">
            <a:extLst>
              <a:ext uri="{FF2B5EF4-FFF2-40B4-BE49-F238E27FC236}">
                <a16:creationId xmlns:a16="http://schemas.microsoft.com/office/drawing/2014/main" id="{0869FDAB-2B20-47E9-93AF-E08A171D4D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1400" y="1827213"/>
            <a:ext cx="7642225" cy="4592637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ea typeface="나눔명조"/>
              </a:rPr>
              <a:t>국제협약</a:t>
            </a:r>
            <a:r>
              <a:rPr lang="en-US" altLang="ko-KR" sz="2000" dirty="0">
                <a:ea typeface="나눔명조"/>
              </a:rPr>
              <a:t>: FAO</a:t>
            </a:r>
            <a:r>
              <a:rPr lang="ko-KR" altLang="en-US" sz="2000" dirty="0">
                <a:ea typeface="나눔명조"/>
              </a:rPr>
              <a:t>의 식량</a:t>
            </a:r>
            <a:r>
              <a:rPr lang="en-US" altLang="ko-KR" sz="2000" dirty="0">
                <a:ea typeface="나눔명조"/>
              </a:rPr>
              <a:t>·</a:t>
            </a:r>
            <a:r>
              <a:rPr lang="ko-KR" altLang="en-US" sz="2000" dirty="0" err="1">
                <a:ea typeface="나눔명조"/>
              </a:rPr>
              <a:t>농업식물유전자원국제조약</a:t>
            </a:r>
            <a:r>
              <a:rPr lang="en-US" altLang="ko-KR" sz="2000" dirty="0">
                <a:ea typeface="나눔명조"/>
              </a:rPr>
              <a:t>(ITPGRFA)</a:t>
            </a:r>
            <a:endParaRPr lang="ko-KR" altLang="en-US" sz="2000" dirty="0">
              <a:ea typeface="나눔명조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/>
              </a:rPr>
              <a:t>작물유전자원의 다자간 교환원칙을 수립하고</a:t>
            </a:r>
            <a:r>
              <a:rPr lang="en-US" altLang="ko-KR" sz="1900" dirty="0">
                <a:latin typeface="나눔명조" pitchFamily="18" charset="-127"/>
                <a:ea typeface="나눔명조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/>
              </a:rPr>
              <a:t>유전자원을 이용하여 얻은 편익을 국가 간 공유하는 원칙을 정함</a:t>
            </a:r>
            <a:endParaRPr lang="en-US" altLang="ko-KR" sz="1900" dirty="0">
              <a:latin typeface="나눔명조" pitchFamily="18" charset="-127"/>
              <a:ea typeface="나눔명조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/>
              </a:rPr>
              <a:t>유전자원에 대한 접근을 용이하게 한다는 점과 생명공학적 기술개발의 편익을 기술개발국이 유전자원 </a:t>
            </a:r>
            <a:r>
              <a:rPr lang="ko-KR" altLang="en-US" sz="1900" dirty="0" err="1">
                <a:latin typeface="나눔명조" pitchFamily="18" charset="-127"/>
                <a:ea typeface="나눔명조"/>
              </a:rPr>
              <a:t>제공국과도</a:t>
            </a:r>
            <a:r>
              <a:rPr lang="ko-KR" altLang="en-US" sz="1900" dirty="0">
                <a:latin typeface="나눔명조" pitchFamily="18" charset="-127"/>
                <a:ea typeface="나눔명조"/>
              </a:rPr>
              <a:t> 공유하게 한다는 점에서 양국의 이해를 모두 충족시켜주는 이점이 있음</a:t>
            </a:r>
            <a:endParaRPr lang="en-US" altLang="ko-KR" sz="1900" dirty="0">
              <a:latin typeface="나눔명조" pitchFamily="18" charset="-127"/>
              <a:ea typeface="나눔명조"/>
            </a:endParaRPr>
          </a:p>
        </p:txBody>
      </p:sp>
      <p:sp>
        <p:nvSpPr>
          <p:cNvPr id="52228" name="바닥글 개체 틀 4">
            <a:extLst>
              <a:ext uri="{FF2B5EF4-FFF2-40B4-BE49-F238E27FC236}">
                <a16:creationId xmlns:a16="http://schemas.microsoft.com/office/drawing/2014/main" id="{046F2FF8-820C-4C74-AF63-CB45AE07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2229" name="슬라이드 번호 개체 틀 5">
            <a:extLst>
              <a:ext uri="{FF2B5EF4-FFF2-40B4-BE49-F238E27FC236}">
                <a16:creationId xmlns:a16="http://schemas.microsoft.com/office/drawing/2014/main" id="{D36DC8F3-C6EA-426E-A199-4753545B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7C1C21-81FD-4E24-A7CF-1251711FB314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248AF27E-6F22-4EEB-85D6-9D229DA58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외부효과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(externality)</a:t>
            </a: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663998FF-0244-47AF-9A85-E27B2887D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1250" y="1827213"/>
            <a:ext cx="7572375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외부효과는 </a:t>
            </a:r>
            <a:r>
              <a:rPr lang="en-US" altLang="ko-KR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1) </a:t>
            </a:r>
            <a:r>
              <a:rPr lang="ko-KR" altLang="en-US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어떤 개인 </a:t>
            </a:r>
            <a:r>
              <a:rPr lang="en-US" altLang="ko-KR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후생이 다른 사람 </a:t>
            </a:r>
            <a:r>
              <a:rPr lang="en-US" altLang="ko-KR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의사결정에 의해 직접적으로 영향을 받지만</a:t>
            </a:r>
            <a:r>
              <a:rPr lang="en-US" altLang="ko-KR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2) B</a:t>
            </a:r>
            <a:r>
              <a:rPr lang="ko-KR" altLang="en-US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자신이 </a:t>
            </a:r>
            <a:r>
              <a:rPr lang="en-US" altLang="ko-KR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u="sng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후생에 미친 영향과 일치하는 만큼의 책임을 지거나 대가를 받지 않을 때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발생함</a:t>
            </a:r>
          </a:p>
          <a:p>
            <a:pPr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행동으로 인해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후생이 물리적인 관계를 통해 직접 영향을 받을 경우에만 외부효과에 해당하며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시장을 거쳐 화폐나 금전적으로 미치는 영향을 외부효과라고 하지 않음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인근 공장에서 발생하는 폐수로 인한 양어장의 피해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(O)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한국의 자동차 수출로 미국 자동차산업 노동자의 실업이 늘어나고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미국 노동자의 후생이 감소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(X)</a:t>
            </a: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외부효과가 있을 경우 각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개인은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자신의 행위로 인해 발생한 편익을 자신이 전부 누릴 수가 없거나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행위의 결과로 인해 발생한 비용의 전부를 자신이 책임지지 않기 때문에 시장의 실패가 발생함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5844" name="바닥글 개체 틀 4">
            <a:extLst>
              <a:ext uri="{FF2B5EF4-FFF2-40B4-BE49-F238E27FC236}">
                <a16:creationId xmlns:a16="http://schemas.microsoft.com/office/drawing/2014/main" id="{CF71D471-D612-49AB-B5BD-23D0C8F4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5845" name="슬라이드 번호 개체 틀 5">
            <a:extLst>
              <a:ext uri="{FF2B5EF4-FFF2-40B4-BE49-F238E27FC236}">
                <a16:creationId xmlns:a16="http://schemas.microsoft.com/office/drawing/2014/main" id="{9D60EC72-4F2C-49F3-9DE1-07D27AB4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ABFB0CF-BF56-4413-9B8F-B4673BF0A30C}" type="slidenum">
              <a:rPr lang="ko-KR" altLang="en-US" sz="1200" b="0">
                <a:solidFill>
                  <a:schemeClr val="tx1"/>
                </a:solidFill>
              </a:rPr>
              <a:pPr/>
              <a:t>31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101E18F6-25B0-42DC-B24E-7096BCD79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음의 외부효과와 양의 외부효과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바닥글 개체 틀 4">
            <a:extLst>
              <a:ext uri="{FF2B5EF4-FFF2-40B4-BE49-F238E27FC236}">
                <a16:creationId xmlns:a16="http://schemas.microsoft.com/office/drawing/2014/main" id="{2DFD7398-3B7E-4470-9600-8E46934CF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6868" name="슬라이드 번호 개체 틀 5">
            <a:extLst>
              <a:ext uri="{FF2B5EF4-FFF2-40B4-BE49-F238E27FC236}">
                <a16:creationId xmlns:a16="http://schemas.microsoft.com/office/drawing/2014/main" id="{68E7E4BB-6374-4B9C-A2EE-9997C517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EF32668-3851-41CD-909D-6787240D80BF}" type="slidenum">
              <a:rPr lang="ko-KR" altLang="en-US" sz="1200" b="0">
                <a:solidFill>
                  <a:schemeClr val="tx1"/>
                </a:solidFill>
              </a:rPr>
              <a:pPr/>
              <a:t>32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1C57053F-A9B1-4EE9-AADB-CC606BD8A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36870" name="그림 8" descr="Cap 2014-06-19 09-35-29-113.png">
            <a:extLst>
              <a:ext uri="{FF2B5EF4-FFF2-40B4-BE49-F238E27FC236}">
                <a16:creationId xmlns:a16="http://schemas.microsoft.com/office/drawing/2014/main" id="{39D41C7C-4AC4-4351-9BD7-0DFCE0D78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1598613"/>
            <a:ext cx="7850187" cy="482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>
            <a:extLst>
              <a:ext uri="{FF2B5EF4-FFF2-40B4-BE49-F238E27FC236}">
                <a16:creationId xmlns:a16="http://schemas.microsoft.com/office/drawing/2014/main" id="{64E304A7-B222-4FCA-B96A-ECCAE8D1F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음의 외부효과와 양의 외부효과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9666E4B0-33D1-4FBF-9E9C-4D9EF74B2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5875" y="1658938"/>
            <a:ext cx="73945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음의 외부효과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공장으로부터 배출되는 폐수로 인해 인근 양어장이 피해를 보는 경우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공장 경영주는 개인한계비용과 수요가 일치하는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만큼을 생산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사회전체의 입장에서 보아 바람직한 생산량은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MC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수요가 일치하는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지나치게 많은 오염물질이 배출됨</a:t>
            </a:r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양의 외부효과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사과 과수원의 경우 사과 꽃이 피어 이웃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양봉업자의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벌꿀 생산량을 늘리는 데 도움을 줌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음의 외부효과와는 반대로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양의 외부효과의 경우 사회적으로 보아 바람직한 수준보다도 더 적은 양이 생산되어 시장의 실패가 초래됨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7892" name="바닥글 개체 틀 4">
            <a:extLst>
              <a:ext uri="{FF2B5EF4-FFF2-40B4-BE49-F238E27FC236}">
                <a16:creationId xmlns:a16="http://schemas.microsoft.com/office/drawing/2014/main" id="{DC55B4FE-1EA7-4375-B4B1-5510691C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7893" name="슬라이드 번호 개체 틀 5">
            <a:extLst>
              <a:ext uri="{FF2B5EF4-FFF2-40B4-BE49-F238E27FC236}">
                <a16:creationId xmlns:a16="http://schemas.microsoft.com/office/drawing/2014/main" id="{820FEEB3-3C33-40B8-A4C6-D625CE3A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A1FDC3B-4512-4F79-8012-C72F97CE1EAE}" type="slidenum">
              <a:rPr lang="ko-KR" altLang="en-US" sz="1200" b="0">
                <a:solidFill>
                  <a:schemeClr val="tx1"/>
                </a:solidFill>
              </a:rPr>
              <a:pPr/>
              <a:t>33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7894" name="Rectangle 7">
            <a:extLst>
              <a:ext uri="{FF2B5EF4-FFF2-40B4-BE49-F238E27FC236}">
                <a16:creationId xmlns:a16="http://schemas.microsoft.com/office/drawing/2014/main" id="{10872192-E69F-4710-A54B-7BA973B27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>
            <a:extLst>
              <a:ext uri="{FF2B5EF4-FFF2-40B4-BE49-F238E27FC236}">
                <a16:creationId xmlns:a16="http://schemas.microsoft.com/office/drawing/2014/main" id="{48168920-F9FD-46EC-BC3A-3E24D3B4F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444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시장의 실패 문제 해결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5" name="Rectangle 7">
            <a:extLst>
              <a:ext uri="{FF2B5EF4-FFF2-40B4-BE49-F238E27FC236}">
                <a16:creationId xmlns:a16="http://schemas.microsoft.com/office/drawing/2014/main" id="{20203D89-9AD3-4C8F-848C-B1B89C88FE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8538" y="1925638"/>
            <a:ext cx="7850187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환경재는 소유권 설정이 완전하지 못하여 각 개인에게 자유로운 이용을 허용할 경우 필연적으로 시장의 실패가 발생함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이러한 시장의 실패를 제거 혹은 완화하는 방법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사적 교섭을 통한 해결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사법적 해결 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제도적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행정적 규제</a:t>
            </a:r>
          </a:p>
        </p:txBody>
      </p:sp>
      <p:sp>
        <p:nvSpPr>
          <p:cNvPr id="38916" name="바닥글 개체 틀 4">
            <a:extLst>
              <a:ext uri="{FF2B5EF4-FFF2-40B4-BE49-F238E27FC236}">
                <a16:creationId xmlns:a16="http://schemas.microsoft.com/office/drawing/2014/main" id="{5399E304-4327-4FA4-9F81-7E06B674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8917" name="슬라이드 번호 개체 틀 5">
            <a:extLst>
              <a:ext uri="{FF2B5EF4-FFF2-40B4-BE49-F238E27FC236}">
                <a16:creationId xmlns:a16="http://schemas.microsoft.com/office/drawing/2014/main" id="{66C697F9-AD77-4F47-A631-5D31082B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01FCB83-9484-44F1-B485-A5F63C7A324A}" type="slidenum">
              <a:rPr lang="ko-KR" altLang="en-US" sz="1200" b="0">
                <a:solidFill>
                  <a:schemeClr val="tx1"/>
                </a:solidFill>
              </a:rPr>
              <a:pPr/>
              <a:t>34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023B5CF6-A60D-4F53-A275-BDE6EF97D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7EB362BE-1AF9-434F-9E3B-8DCCB983B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FC4155F0-B62C-4BC4-A677-405854FAA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444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사적 교섭을 통한 해결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39" name="Rectangle 7">
            <a:extLst>
              <a:ext uri="{FF2B5EF4-FFF2-40B4-BE49-F238E27FC236}">
                <a16:creationId xmlns:a16="http://schemas.microsoft.com/office/drawing/2014/main" id="{6C236406-6DFD-44F4-B981-AF92EC76C2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1628775"/>
            <a:ext cx="7850187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외부효과문제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여기서는 음의 외부효과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관련된 가해자와 피해자 수가 적고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누가 가해자이고 누가 피해자인지 확실히 알 수 있다면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사적 교섭을 통해 문제가 해결될 수 있음</a:t>
            </a:r>
          </a:p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공장이 폐수에 대한 수요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가짐</a:t>
            </a:r>
            <a:endParaRPr lang="en-US" altLang="ko-KR" sz="2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폐수 배출은 생산에 필요한 과정</a:t>
            </a:r>
          </a:p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폐수 배출로 양어장은 피해를 입음</a:t>
            </a:r>
            <a:endParaRPr lang="en-US" altLang="ko-KR" sz="2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한계피해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=MD</a:t>
            </a:r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9940" name="바닥글 개체 틀 4">
            <a:extLst>
              <a:ext uri="{FF2B5EF4-FFF2-40B4-BE49-F238E27FC236}">
                <a16:creationId xmlns:a16="http://schemas.microsoft.com/office/drawing/2014/main" id="{F03E8F90-9EE1-4BE0-A4AE-C6DF8DC1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9941" name="슬라이드 번호 개체 틀 5">
            <a:extLst>
              <a:ext uri="{FF2B5EF4-FFF2-40B4-BE49-F238E27FC236}">
                <a16:creationId xmlns:a16="http://schemas.microsoft.com/office/drawing/2014/main" id="{2C12F5EA-3973-4DEC-B3EA-7D3E5F70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9303EF1-B941-43B2-9F80-9D5D118D2545}" type="slidenum">
              <a:rPr lang="ko-KR" altLang="en-US" sz="1200" b="0">
                <a:solidFill>
                  <a:schemeClr val="tx1"/>
                </a:solidFill>
              </a:rPr>
              <a:pPr/>
              <a:t>35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785717CE-9882-4BD5-BED5-746BCE29F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43" name="Rectangle 3">
            <a:extLst>
              <a:ext uri="{FF2B5EF4-FFF2-40B4-BE49-F238E27FC236}">
                <a16:creationId xmlns:a16="http://schemas.microsoft.com/office/drawing/2014/main" id="{55DAAA08-DFB0-49F8-95CF-D75479490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2A97A8C2-EF75-4217-90C8-08175889B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-55563"/>
            <a:ext cx="7313613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사적 교섭을 통한 해결</a:t>
            </a:r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7">
                <a:extLst>
                  <a:ext uri="{FF2B5EF4-FFF2-40B4-BE49-F238E27FC236}">
                    <a16:creationId xmlns:a16="http://schemas.microsoft.com/office/drawing/2014/main" id="{E491147B-A1DE-4135-ADDC-ECFCC723463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69963" y="1087438"/>
                <a:ext cx="7850187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오염에 대한 규제가 없고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가해자와 피해자 사이의 교섭도 없다면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공장은 폐수의 한계가치가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까지 배출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가해자와 피해자의 후생을 모두 고려할 경우 한계가치와 한계피해가 일치하는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</a:t>
                </a:r>
                <a:r>
                  <a:rPr lang="en-US" altLang="ko-KR" sz="2000" baseline="30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*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만큼만 배출되어야 함</a:t>
                </a:r>
              </a:p>
            </p:txBody>
          </p:sp>
        </mc:Choice>
        <mc:Fallback xmlns="">
          <p:sp>
            <p:nvSpPr>
              <p:cNvPr id="40963" name="Rectangle 7">
                <a:extLst>
                  <a:ext uri="{FF2B5EF4-FFF2-40B4-BE49-F238E27FC236}">
                    <a16:creationId xmlns:a16="http://schemas.microsoft.com/office/drawing/2014/main" id="{E491147B-A1DE-4135-ADDC-ECFCC7234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9963" y="1087438"/>
                <a:ext cx="7850187" cy="4114800"/>
              </a:xfrm>
              <a:blipFill>
                <a:blip r:embed="rId3"/>
                <a:stretch>
                  <a:fillRect l="-699" t="-10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4" name="바닥글 개체 틀 4">
            <a:extLst>
              <a:ext uri="{FF2B5EF4-FFF2-40B4-BE49-F238E27FC236}">
                <a16:creationId xmlns:a16="http://schemas.microsoft.com/office/drawing/2014/main" id="{DD705ED8-8DF0-4FEA-8EC1-357752D8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0965" name="슬라이드 번호 개체 틀 5">
            <a:extLst>
              <a:ext uri="{FF2B5EF4-FFF2-40B4-BE49-F238E27FC236}">
                <a16:creationId xmlns:a16="http://schemas.microsoft.com/office/drawing/2014/main" id="{424A9279-9BD9-413A-9202-28645EC3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01E1208-B7A2-490C-BAC9-3033C6D54F9D}" type="slidenum">
              <a:rPr lang="ko-KR" altLang="en-US" sz="1200" b="0">
                <a:solidFill>
                  <a:schemeClr val="tx1"/>
                </a:solidFill>
              </a:rPr>
              <a:pPr/>
              <a:t>36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0966" name="Rectangle 2">
            <a:extLst>
              <a:ext uri="{FF2B5EF4-FFF2-40B4-BE49-F238E27FC236}">
                <a16:creationId xmlns:a16="http://schemas.microsoft.com/office/drawing/2014/main" id="{9B4606ED-FE97-4E78-A27C-06B35AFA8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7" name="Rectangle 3">
            <a:extLst>
              <a:ext uri="{FF2B5EF4-FFF2-40B4-BE49-F238E27FC236}">
                <a16:creationId xmlns:a16="http://schemas.microsoft.com/office/drawing/2014/main" id="{C757730A-6AD1-49B7-BD23-0F4162959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40968" name="그림 7" descr="Cap 2014-06-19 09-35-40-552.png">
            <a:extLst>
              <a:ext uri="{FF2B5EF4-FFF2-40B4-BE49-F238E27FC236}">
                <a16:creationId xmlns:a16="http://schemas.microsoft.com/office/drawing/2014/main" id="{49C8164C-499A-48B9-B6D6-08E3D041D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2513013"/>
            <a:ext cx="6643687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F6599ABC-0BBA-457B-A736-15E8FF04D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사적 교섭을 통한 해결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5EA17CE8-CBA3-4022-87A5-E1949B26C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1335088"/>
            <a:ext cx="785018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양어장 주인이 공장주에게 폐수를 한 단위 줄일 때마다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에서의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한계가치와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동일한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en-US" altLang="ko-KR" sz="24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지불하겠다고 제의한다면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?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공장주는 이 제의를 받아들여 폐수의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한계가치와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피해자로부터 받는 금액이 일치하는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수준으로 배출 줄임 </a:t>
            </a:r>
          </a:p>
          <a:p>
            <a:pPr lvl="2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이로 인한 손실은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양어장 주인에게 받는 금액은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d+e</a:t>
            </a:r>
            <a:endParaRPr lang="ko-KR" altLang="en-US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양어장 주인은 이 제의로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d+e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만큼을 지불해야 하지만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배출감소로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피해를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d+e+f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줄일 수 있음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사적 교섭이 성사될 경우 모두가 이득을 보게 되고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사회 전체기준으로 효율적인 수준의 폐수만이 배출되어 외부효과 문제가 해결됨</a:t>
            </a: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66A66455-9895-4605-B471-A5751675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90CFC18F-5C9C-4733-B04C-BF143B17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807D749-8AE1-4CB8-93E3-7DCA79F8A48B}" type="slidenum">
              <a:rPr lang="ko-KR" altLang="en-US" sz="1200" b="0">
                <a:solidFill>
                  <a:schemeClr val="tx1"/>
                </a:solidFill>
              </a:rPr>
              <a:pPr/>
              <a:t>37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655556F3-7B2F-47C0-8C26-42040F079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075E66EB-0BA8-4E70-818D-D7DBABA21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F6599ABC-0BBA-457B-A736-15E8FF04D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사적 교섭을 통한 해결</a:t>
            </a:r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7">
                <a:extLst>
                  <a:ext uri="{FF2B5EF4-FFF2-40B4-BE49-F238E27FC236}">
                    <a16:creationId xmlns:a16="http://schemas.microsoft.com/office/drawing/2014/main" id="{5EA17CE8-CBA3-4022-87A5-E1949B26CE6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28688" y="1335088"/>
                <a:ext cx="7850187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양어장 주인이 줄어든 폐수 한 단위에 대해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지불하고자하는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금액은 정확히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p>
                        <m:r>
                          <a:rPr lang="ko-KR" altLang="en-US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임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피해자가 제시하는 금액이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p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다를 경우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가해자의 폐수에 대한 수요와 피해자의 한계피해액이 서로 다른 수준에서 배출량이 결정되고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추가적인 거래를 통해 양측이 다시 후생을 증대시킬 수 있음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이러한 사적 교섭을 통해 외부효과 문제가 해결되고 사회 전체의 효율성이 달성될 수 있으나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두 가지 문제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왜 피해자가 가해자에게 보상을 하여야 하는가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사적 협상이 불가능하다면 어떤 방법을 통해 시장의 실패가 제거될 수 있는가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?</a:t>
                </a:r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987" name="Rectangle 7">
                <a:extLst>
                  <a:ext uri="{FF2B5EF4-FFF2-40B4-BE49-F238E27FC236}">
                    <a16:creationId xmlns:a16="http://schemas.microsoft.com/office/drawing/2014/main" id="{5EA17CE8-CBA3-4022-87A5-E1949B26C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8688" y="1335088"/>
                <a:ext cx="7850187" cy="4114800"/>
              </a:xfrm>
              <a:blipFill>
                <a:blip r:embed="rId3"/>
                <a:stretch>
                  <a:fillRect l="-1009" t="-1630" r="-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66A66455-9895-4605-B471-A5751675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90CFC18F-5C9C-4733-B04C-BF143B17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807D749-8AE1-4CB8-93E3-7DCA79F8A48B}" type="slidenum">
              <a:rPr lang="ko-KR" altLang="en-US" sz="1200" b="0">
                <a:solidFill>
                  <a:schemeClr val="tx1"/>
                </a:solidFill>
              </a:rPr>
              <a:pPr/>
              <a:t>38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655556F3-7B2F-47C0-8C26-42040F079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075E66EB-0BA8-4E70-818D-D7DBABA21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7661257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386F0C07-D36E-4A30-9024-93312BEC40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23177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사법적 해결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1" name="Rectangle 7">
            <a:extLst>
              <a:ext uri="{FF2B5EF4-FFF2-40B4-BE49-F238E27FC236}">
                <a16:creationId xmlns:a16="http://schemas.microsoft.com/office/drawing/2014/main" id="{533C10C2-25C1-4D3E-91D4-0D375DB485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374775"/>
            <a:ext cx="7850188" cy="4114800"/>
          </a:xfrm>
        </p:spPr>
        <p:txBody>
          <a:bodyPr/>
          <a:lstStyle/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피해자는 가해자의 외부효과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유발행위가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있어서는 안 된다고 생각할 것이고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사적 교섭과 같이 자신의 피해를 줄이기 위해 대가를 지불해야 한다는 사실을 인정하지 않으려 할 것임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 경우 피해자는 가해자를 법정에 고소할 수 있음</a:t>
            </a: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외부효과를 해결하기 위한 법원의 두 가지 역할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외부효과를 유발하는 행위를 할 권리와 외부효과 때문에 피해를 입지 않을 권리 가운데 어느 권리가 우선하는지를 판단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판결을 통해 가해자가 피해자에게 입힌 피해에 대해서 보상할 것을 명령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법원이 공장주의 권리를 인정해 줄 경우 양어장 주인은 사적 교섭을 통해 시장실패를 제거할 수 있음</a:t>
            </a: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반대로 법원이 양어장 주인의 권리를 인정해 준다면 공장주가 먼저 사적 교섭을 시작해야 함</a:t>
            </a: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>
            <a:extLst>
              <a:ext uri="{FF2B5EF4-FFF2-40B4-BE49-F238E27FC236}">
                <a16:creationId xmlns:a16="http://schemas.microsoft.com/office/drawing/2014/main" id="{A1B56260-8DD0-4F15-8C3D-64D887DA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3013" name="슬라이드 번호 개체 틀 5">
            <a:extLst>
              <a:ext uri="{FF2B5EF4-FFF2-40B4-BE49-F238E27FC236}">
                <a16:creationId xmlns:a16="http://schemas.microsoft.com/office/drawing/2014/main" id="{546D189D-8762-4844-933E-45DBF2B8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B08F83B-1E27-4C2F-8C3B-CA00DD824611}" type="slidenum">
              <a:rPr lang="ko-KR" altLang="en-US" sz="1200" b="0">
                <a:solidFill>
                  <a:schemeClr val="tx1"/>
                </a:solidFill>
              </a:rPr>
              <a:pPr/>
              <a:t>39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4A37C3EC-95AD-4536-A4D1-F174A9286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4F3A58AD-3FC3-49F5-A6D9-F2ACD2D1D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E3684D38-5AD5-4E44-BF51-5E34EF6C0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23177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코즈 정리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(Coase theorem)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5" name="Rectangle 7">
            <a:extLst>
              <a:ext uri="{FF2B5EF4-FFF2-40B4-BE49-F238E27FC236}">
                <a16:creationId xmlns:a16="http://schemas.microsoft.com/office/drawing/2014/main" id="{B4A48F5D-68DC-4F9B-B76E-FB1A23536E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4250" y="1673225"/>
            <a:ext cx="7850188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법원은 어느 쪽의 권리를 인정해 주어야 하는가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? 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코즈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정리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사적 교섭에 관계된 사람의 수가 적고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교섭에 소요되는 비용이 적을 경우 </a:t>
            </a:r>
            <a:r>
              <a:rPr lang="ko-KR" altLang="en-US" sz="2000" u="sng" dirty="0">
                <a:latin typeface="나눔명조" pitchFamily="18" charset="-127"/>
                <a:ea typeface="나눔명조" pitchFamily="18" charset="-127"/>
              </a:rPr>
              <a:t>누구의 권리를 인정해주어도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협상을 통해 사회적으로 </a:t>
            </a:r>
            <a:r>
              <a:rPr lang="ko-KR" altLang="en-US" sz="2000" u="sng" dirty="0">
                <a:latin typeface="나눔명조" pitchFamily="18" charset="-127"/>
                <a:ea typeface="나눔명조" pitchFamily="18" charset="-127"/>
              </a:rPr>
              <a:t>효율적인 자원배분이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달성될 수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권리설정방식은 단지 편익이 어느 쪽으로 더 많이 돌아가는 지에만 영향을 줌</a:t>
            </a:r>
          </a:p>
          <a:p>
            <a:pPr eaLnBrk="1" hangingPunct="1"/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외부효과로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인해 시장실패가 발생하더라도 사적 교섭이 가능한 상황이라면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국가는 시장에 개입하지 말고 단지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사법기능을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통해 권리가 누구에게 부여되는지 명시하기만 하면 됨</a:t>
            </a: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4036" name="바닥글 개체 틀 4">
            <a:extLst>
              <a:ext uri="{FF2B5EF4-FFF2-40B4-BE49-F238E27FC236}">
                <a16:creationId xmlns:a16="http://schemas.microsoft.com/office/drawing/2014/main" id="{AF75785B-DF84-48D9-80FF-35B5F212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4037" name="슬라이드 번호 개체 틀 5">
            <a:extLst>
              <a:ext uri="{FF2B5EF4-FFF2-40B4-BE49-F238E27FC236}">
                <a16:creationId xmlns:a16="http://schemas.microsoft.com/office/drawing/2014/main" id="{CB593713-3D29-42EF-B60C-AB166F03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2762147-908D-42CA-B070-AD1C7CD50EEC}" type="slidenum">
              <a:rPr lang="ko-KR" altLang="en-US" sz="1200" b="0">
                <a:solidFill>
                  <a:schemeClr val="tx1"/>
                </a:solidFill>
              </a:rPr>
              <a:pPr/>
              <a:t>40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8F03D9EB-FEEC-4407-A270-72BBBA98B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4DDE3F44-0F3F-4A71-888C-31739742D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AA00E2CE-E226-4C77-9EBA-F15A3EE9C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-182563"/>
            <a:ext cx="7313613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코즈 정리에 대한 반론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81865413-36D6-49AC-9056-F0029F7248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5675" y="1236663"/>
            <a:ext cx="7850188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교섭에 관계된 사람 수가 많을 경우 교섭이 불가능하거나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교섭비용이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너무 많이 소요될 것임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피해자의 피해금액이나 가해자의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오염행위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편익을 정확히 산정하는 것이 어려움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피해자가 여러 명이면서 이들 피해자의 권리가 인정될 때 발생하는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타협거부문제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(holdout problem)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피해를 입는 양어장이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개이고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양어장의 권리가 인정된다고 가정</a:t>
            </a:r>
          </a:p>
          <a:p>
            <a:pPr lvl="1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9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개의 양어장이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피해비용만큼을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받고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단위 폐수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추가배출에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이미 동의하였다고 할 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마지막 양어장은 자신이 동의해주지 않으면 공장주가 여전히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폐수배출을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하지 못한다는 것을 알고 있음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따라서 이 양어장은 자신의 피해비용보다 더 많은 금액을 주지 않으면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폐수배출에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동의하려고 하지 않을 것임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다른 모든 양어장들도 마지막 교섭대상이 될 경우 협상에서의 우위를 점하게 된다는 것을 알고 타협을 거부하는 문제가 생김</a:t>
            </a: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5060" name="바닥글 개체 틀 4">
            <a:extLst>
              <a:ext uri="{FF2B5EF4-FFF2-40B4-BE49-F238E27FC236}">
                <a16:creationId xmlns:a16="http://schemas.microsoft.com/office/drawing/2014/main" id="{ED299D8B-D202-4E17-B74B-CE44D412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5061" name="슬라이드 번호 개체 틀 5">
            <a:extLst>
              <a:ext uri="{FF2B5EF4-FFF2-40B4-BE49-F238E27FC236}">
                <a16:creationId xmlns:a16="http://schemas.microsoft.com/office/drawing/2014/main" id="{B0B029BD-F088-44E2-8B09-1BC655AE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12EA0B5-C781-4FB1-9F06-0AE7CD61EB50}" type="slidenum">
              <a:rPr lang="ko-KR" altLang="en-US" sz="1200" b="0">
                <a:solidFill>
                  <a:schemeClr val="tx1"/>
                </a:solidFill>
              </a:rPr>
              <a:pPr/>
              <a:t>41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2F26E425-A5E9-4043-BE87-6990E6AA4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7BBD8E71-82A4-42A3-B5EA-20A620655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>
            <a:extLst>
              <a:ext uri="{FF2B5EF4-FFF2-40B4-BE49-F238E27FC236}">
                <a16:creationId xmlns:a16="http://schemas.microsoft.com/office/drawing/2014/main" id="{24B2AF79-CE8E-4DF1-97D0-133194520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코즈 정리에 대한 반론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3" name="Rectangle 7">
            <a:extLst>
              <a:ext uri="{FF2B5EF4-FFF2-40B4-BE49-F238E27FC236}">
                <a16:creationId xmlns:a16="http://schemas.microsoft.com/office/drawing/2014/main" id="{FCBE6CB2-4379-41BE-964D-3E7495A92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2013" y="1057949"/>
            <a:ext cx="785018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피해자가 여러 명이지만 가해자의 권리를 인정해줄 때 발생하는 </a:t>
            </a:r>
            <a:r>
              <a:rPr lang="ko-KR" altLang="en-US" sz="2400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무임승차문제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역시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개의 양어장이 있고 이번에는 가해자인 공장의 권리가 인정됨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 양어장 중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9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개가 돈을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공장에게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지불하였고 공장은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9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단위의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폐수배출을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줄인 상태임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공장이 이미 줄인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9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단위의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폐수배출로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인해 아직 보상금을 지불하지 않은 마지막 양어장도 혜택을 보고 있고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배출감소의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한계편익이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감소하는 상황이라면 마지막 양어장은 추가 배출저감을 위해 돈을 지불하지 않으려 함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하지만 마지막 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단위를 줄이면 다른 양어장도 이득을 얻으므로 전체를 생각하면 돈을 지불해야 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다른 양어장 역시 이와 똑같은 상황에 있고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모두가 무임승차자가 되려고 하는 문제가 발생함</a:t>
            </a:r>
          </a:p>
        </p:txBody>
      </p:sp>
      <p:sp>
        <p:nvSpPr>
          <p:cNvPr id="46084" name="바닥글 개체 틀 4">
            <a:extLst>
              <a:ext uri="{FF2B5EF4-FFF2-40B4-BE49-F238E27FC236}">
                <a16:creationId xmlns:a16="http://schemas.microsoft.com/office/drawing/2014/main" id="{419161D0-B6B1-403E-92DF-837ED3D7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6085" name="슬라이드 번호 개체 틀 5">
            <a:extLst>
              <a:ext uri="{FF2B5EF4-FFF2-40B4-BE49-F238E27FC236}">
                <a16:creationId xmlns:a16="http://schemas.microsoft.com/office/drawing/2014/main" id="{5CDE331E-8FB3-461C-B460-BB1558E4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DBE58BA-BD5F-4BA2-BC09-05CE59F85188}" type="slidenum">
              <a:rPr lang="ko-KR" altLang="en-US" sz="1200" b="0">
                <a:solidFill>
                  <a:schemeClr val="tx1"/>
                </a:solidFill>
              </a:rPr>
              <a:pPr/>
              <a:t>42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5926CBB3-FB54-42A2-B89B-8396EE4D5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374D4445-12ED-452D-B73B-0AE36513C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>
            <a:extLst>
              <a:ext uri="{FF2B5EF4-FFF2-40B4-BE49-F238E27FC236}">
                <a16:creationId xmlns:a16="http://schemas.microsoft.com/office/drawing/2014/main" id="{53F66DE6-A3AC-4048-A0CE-8400A7FC5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코즈 정리에 대한 반론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07" name="Rectangle 7">
            <a:extLst>
              <a:ext uri="{FF2B5EF4-FFF2-40B4-BE49-F238E27FC236}">
                <a16:creationId xmlns:a16="http://schemas.microsoft.com/office/drawing/2014/main" id="{772A6B56-D0A3-40F6-84E1-00F0D4F43D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4250" y="1419225"/>
            <a:ext cx="7850188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소득효과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(income effect)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를 인정하지 않는다는 점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법원이 누구의 권리를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인정하느냐에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따라 가해자와 피해자의 소득이나 이윤이 달라짐 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한계피해곡선이나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편익곡선은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이들의 소득수준에 의해서도 영향을 받아 소득효과를 고려할 경우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코즈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정리의 대칭성이 무너지게 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현실적인 문제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법원이 가해자의 권리를 인정해주어도 사회적인 효율성을 달성할 수 있으므로 법원이 가해자의 권리를 인정해 줄 수도 있다고 주장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오염물질을 많이 배출하는 업소는 의도적으로 피해자 가까이에서 사업을 한 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교섭을 통해 배출량을 줄이는 대가로 추가적인 편익을 취하고자 할 것임</a:t>
            </a:r>
          </a:p>
        </p:txBody>
      </p:sp>
      <p:sp>
        <p:nvSpPr>
          <p:cNvPr id="47108" name="바닥글 개체 틀 4">
            <a:extLst>
              <a:ext uri="{FF2B5EF4-FFF2-40B4-BE49-F238E27FC236}">
                <a16:creationId xmlns:a16="http://schemas.microsoft.com/office/drawing/2014/main" id="{CED8C13A-ADCA-4533-952E-38024BB6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6CB38DA1-1637-48B7-AAD2-5E2ADA75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ADFBD7B-2096-4FAA-A9CF-84C11AA4E8DE}" type="slidenum">
              <a:rPr lang="ko-KR" altLang="en-US" sz="1200" b="0">
                <a:solidFill>
                  <a:schemeClr val="tx1"/>
                </a:solidFill>
              </a:rPr>
              <a:pPr/>
              <a:t>43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4E7896C5-A252-42EA-BB81-7C02892AB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38FDD870-6281-4E5D-B395-5B83108F2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63E5612B-A103-4CA8-BD01-53790099E5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4250" y="1827213"/>
            <a:ext cx="7694613" cy="4114800"/>
          </a:xfrm>
        </p:spPr>
        <p:txBody>
          <a:bodyPr/>
          <a:lstStyle/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법원은 가해자와 피해자의 권리 중 누구의 권리가 우선하는지를 판정할 수도 있지만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판결을 통해 피해보상을 명령하여 외부효과를 해결할 수도 있음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법원은 피해자의 주장이 정당하다고 판단될 경우 가해자에게 피해액만큼 정확히 보상할 것을 명령함</a:t>
            </a:r>
          </a:p>
          <a:p>
            <a:pPr eaLnBrk="1" hangingPunct="1"/>
            <a:r>
              <a:rPr lang="ko-KR" altLang="en-US" sz="2700">
                <a:latin typeface="나눔명조" pitchFamily="18" charset="-127"/>
                <a:ea typeface="나눔명조" pitchFamily="18" charset="-127"/>
              </a:rPr>
              <a:t>이러한 사법제도 하에서 가해자는 어느 정도의 오염물질을 배출할 것인가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?</a:t>
            </a:r>
            <a:endParaRPr lang="ko-KR" altLang="en-US" sz="27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1" name="Rectangle 6">
            <a:extLst>
              <a:ext uri="{FF2B5EF4-FFF2-40B4-BE49-F238E27FC236}">
                <a16:creationId xmlns:a16="http://schemas.microsoft.com/office/drawing/2014/main" id="{5B06B58F-E6D8-4053-9AB4-77578E090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판결을 통한 피해보상명령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2" name="바닥글 개체 틀 4">
            <a:extLst>
              <a:ext uri="{FF2B5EF4-FFF2-40B4-BE49-F238E27FC236}">
                <a16:creationId xmlns:a16="http://schemas.microsoft.com/office/drawing/2014/main" id="{DBB738E4-9453-4D3E-A34D-955A7F8C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8133" name="슬라이드 번호 개체 틀 5">
            <a:extLst>
              <a:ext uri="{FF2B5EF4-FFF2-40B4-BE49-F238E27FC236}">
                <a16:creationId xmlns:a16="http://schemas.microsoft.com/office/drawing/2014/main" id="{547118DC-ED7E-4AEA-A1C4-E0E3A800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5E43353-FFF1-4741-B493-2E4F45B4718C}" type="slidenum">
              <a:rPr lang="ko-KR" altLang="en-US" sz="1200" b="0">
                <a:solidFill>
                  <a:schemeClr val="tx1"/>
                </a:solidFill>
              </a:rPr>
              <a:pPr/>
              <a:t>44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8134" name="Rectangle 2">
            <a:extLst>
              <a:ext uri="{FF2B5EF4-FFF2-40B4-BE49-F238E27FC236}">
                <a16:creationId xmlns:a16="http://schemas.microsoft.com/office/drawing/2014/main" id="{6504F459-D59C-4DC1-95A3-E544E226B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5" name="Rectangle 3">
            <a:extLst>
              <a:ext uri="{FF2B5EF4-FFF2-40B4-BE49-F238E27FC236}">
                <a16:creationId xmlns:a16="http://schemas.microsoft.com/office/drawing/2014/main" id="{B78D6D65-63D2-43C9-A44B-C86ADA289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6" name="Rectangle 9">
            <a:extLst>
              <a:ext uri="{FF2B5EF4-FFF2-40B4-BE49-F238E27FC236}">
                <a16:creationId xmlns:a16="http://schemas.microsoft.com/office/drawing/2014/main" id="{B4F434F9-B4E9-45DA-9FFE-F2493AC5D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7" name="Rectangle 11">
            <a:extLst>
              <a:ext uri="{FF2B5EF4-FFF2-40B4-BE49-F238E27FC236}">
                <a16:creationId xmlns:a16="http://schemas.microsoft.com/office/drawing/2014/main" id="{A2EE8A21-DBC0-47C4-B6EF-A08012E3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8" name="Rectangle 13">
            <a:extLst>
              <a:ext uri="{FF2B5EF4-FFF2-40B4-BE49-F238E27FC236}">
                <a16:creationId xmlns:a16="http://schemas.microsoft.com/office/drawing/2014/main" id="{D95640FA-8C07-4827-B4DD-5993DF063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625CE775-6F1D-406E-A9C3-98509200A4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9013" y="949325"/>
            <a:ext cx="7694612" cy="4662488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폐수 배출량이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사이에 있을 경우 가해자가 피해자에게 보상해야 되는 금액인 한계피해금액은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폐수배출로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인한 가해자의 한계편익보다 작음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보상을 하는 한이 있더라도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까지는 배출량을 늘리고자 할 것임</a:t>
            </a: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법원의 피해보상명령을 통해서도 사회적 관점에서 효율적인 배출량이 달성될 수 있음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외부효과의 내부화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49155" name="Rectangle 6">
            <a:extLst>
              <a:ext uri="{FF2B5EF4-FFF2-40B4-BE49-F238E27FC236}">
                <a16:creationId xmlns:a16="http://schemas.microsoft.com/office/drawing/2014/main" id="{0FB3F6F4-5734-4756-8536-844F478F8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-268288"/>
            <a:ext cx="7313612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판결을 통한 피해보상명령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9156" name="바닥글 개체 틀 4">
            <a:extLst>
              <a:ext uri="{FF2B5EF4-FFF2-40B4-BE49-F238E27FC236}">
                <a16:creationId xmlns:a16="http://schemas.microsoft.com/office/drawing/2014/main" id="{0A38DBF7-ADA5-426C-B5AB-8D5062FD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9157" name="슬라이드 번호 개체 틀 5">
            <a:extLst>
              <a:ext uri="{FF2B5EF4-FFF2-40B4-BE49-F238E27FC236}">
                <a16:creationId xmlns:a16="http://schemas.microsoft.com/office/drawing/2014/main" id="{6B468AC1-50E6-41B8-823D-3AD29A4B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2AA255F-1D16-4407-8CC1-3D47621BF3DF}" type="slidenum">
              <a:rPr lang="ko-KR" altLang="en-US" sz="1200" b="0">
                <a:solidFill>
                  <a:schemeClr val="tx1"/>
                </a:solidFill>
              </a:rPr>
              <a:pPr/>
              <a:t>45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9AE29C83-F3FE-49BB-B911-EBF6CE8E6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2FEEA2D5-D83F-49FC-813C-8250D8C6F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60" name="Rectangle 9">
            <a:extLst>
              <a:ext uri="{FF2B5EF4-FFF2-40B4-BE49-F238E27FC236}">
                <a16:creationId xmlns:a16="http://schemas.microsoft.com/office/drawing/2014/main" id="{D0965ECF-524D-465D-8603-DBCF78E3C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61" name="Rectangle 11">
            <a:extLst>
              <a:ext uri="{FF2B5EF4-FFF2-40B4-BE49-F238E27FC236}">
                <a16:creationId xmlns:a16="http://schemas.microsoft.com/office/drawing/2014/main" id="{3D629AF9-F02C-4204-A107-CFF4A306C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62" name="Rectangle 13">
            <a:extLst>
              <a:ext uri="{FF2B5EF4-FFF2-40B4-BE49-F238E27FC236}">
                <a16:creationId xmlns:a16="http://schemas.microsoft.com/office/drawing/2014/main" id="{01386E75-BB95-4ACA-B5EB-5D06C1BFA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49163" name="그림 7" descr="Cap 2014-06-19 09-35-40-552.png">
            <a:extLst>
              <a:ext uri="{FF2B5EF4-FFF2-40B4-BE49-F238E27FC236}">
                <a16:creationId xmlns:a16="http://schemas.microsoft.com/office/drawing/2014/main" id="{26C73839-FF68-41FC-B26B-ED043980F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3036888"/>
            <a:ext cx="5876925" cy="321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E9ED1707-A778-4932-BCEF-F7529D964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2460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제도적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행정적 규제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B3AD83F0-F82E-43C8-ABBE-091F6312C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2975" y="1827213"/>
            <a:ext cx="7905750" cy="4114800"/>
          </a:xfrm>
        </p:spPr>
        <p:txBody>
          <a:bodyPr/>
          <a:lstStyle/>
          <a:p>
            <a:pPr eaLnBrk="1" hangingPunct="1"/>
            <a:r>
              <a:rPr lang="ko-KR" altLang="en-US" sz="2500" dirty="0" err="1">
                <a:latin typeface="나눔명조" pitchFamily="18" charset="-127"/>
                <a:ea typeface="나눔명조" pitchFamily="18" charset="-127"/>
              </a:rPr>
              <a:t>사적교섭과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500" dirty="0" err="1">
                <a:latin typeface="나눔명조" pitchFamily="18" charset="-127"/>
                <a:ea typeface="나눔명조" pitchFamily="18" charset="-127"/>
              </a:rPr>
              <a:t>사법적해결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 모두 거래비용이 매우 적을 경우에만 사용될 수 있는 방법임</a:t>
            </a:r>
          </a:p>
          <a:p>
            <a:pPr eaLnBrk="1" hangingPunct="1"/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많은 환경문제들은 관계된 사람의 수가 많고</a:t>
            </a:r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외부효과의 인과관계가 불분명함</a:t>
            </a:r>
          </a:p>
          <a:p>
            <a:pPr eaLnBrk="1" hangingPunct="1"/>
            <a:r>
              <a:rPr lang="ko-KR" altLang="en-US" sz="2500" dirty="0" err="1">
                <a:latin typeface="나눔명조" pitchFamily="18" charset="-127"/>
                <a:ea typeface="나눔명조" pitchFamily="18" charset="-127"/>
              </a:rPr>
              <a:t>교섭비용이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 많이 소요되는 경우</a:t>
            </a:r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유사한 환경문제에 일률적으로 적용되는 규칙을 정해 강제로 지키게 하여 시장의 실패를 제거하거나 완화하는 것이 더 </a:t>
            </a:r>
            <a:r>
              <a:rPr lang="ko-KR" altLang="en-US" sz="2500" dirty="0" err="1">
                <a:latin typeface="나눔명조" pitchFamily="18" charset="-127"/>
                <a:ea typeface="나눔명조" pitchFamily="18" charset="-127"/>
              </a:rPr>
              <a:t>효율적임</a:t>
            </a:r>
            <a:endParaRPr lang="ko-KR" altLang="en-US" sz="25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오염자에 대해 세금이나 과태료를 부과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폐수배출업소에 대해 일정 수준 이하의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폐수까지만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배출하도록 의무화</a:t>
            </a: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4506C905-F516-44D1-BE17-8DA6A9D2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3B057614-6736-4758-8E55-DDC5AF77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5F28BDA-BBA2-45EC-BFFF-D5E99EF09EAC}" type="slidenum">
              <a:rPr lang="ko-KR" altLang="en-US" sz="1200" b="0">
                <a:solidFill>
                  <a:schemeClr val="tx1"/>
                </a:solidFill>
              </a:rPr>
              <a:pPr/>
              <a:t>46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A95472E6-2B16-4FE0-8EA4-2D8C7694A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CEA9E64C-3C50-4619-A973-AB6791667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CEF916BB-8033-460F-A100-42249BAC8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4851" y="231775"/>
            <a:ext cx="8377349" cy="753459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ESG: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민간 기업의 자발적 환경개선 노력</a:t>
            </a: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B0CA2DA5-E0D2-4947-B90A-3B1F13711E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1154" y="1440846"/>
            <a:ext cx="8155949" cy="4457677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민간기업이 지속가능한 환경관리를 위해 스스로 노력하는 움직임이 강화되고 있음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: ESG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경영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E(environmental):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기후변화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자원남용 막는 행위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S(social):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근로조건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고용관계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G(governance):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청렴성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의사결정구조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납세 의무 등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유사개념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CSR (corporate social responsibility)</a:t>
            </a: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ESG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경영이 확산되는 주된 이유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대규모 자산운용사와 투자기금이 투자결정을 할 때 기업의 지속가능성을 판단 기준으로 적용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신용평가회사들이 기업 등급 평가 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ESG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경영실적 반영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ESG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정보나 지속가능경영 보고서 공시 의무화 도입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6D7F0FC3-CB10-4486-9871-BB41AB068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64C2291B-9919-4FB9-95DE-40D44F1B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70039E7-0B45-4023-B3B4-55F6002C3573}" type="slidenum">
              <a:rPr lang="ko-KR" altLang="en-US" sz="1200" b="0">
                <a:solidFill>
                  <a:schemeClr val="tx1"/>
                </a:solidFill>
              </a:rPr>
              <a:pPr/>
              <a:t>47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EEE1369C-91E6-4FF0-9B54-16982D850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7AD33DA9-FF84-464B-B12A-A57E3968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CEF916BB-8033-460F-A100-42249BAC8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380" y="231775"/>
            <a:ext cx="8486820" cy="689064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ESG: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민간 기업의 자발적 환경개선 노력</a:t>
            </a: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B0CA2DA5-E0D2-4947-B90A-3B1F13711E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200161"/>
            <a:ext cx="8155949" cy="4457677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기업의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ESG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경영 이점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투자를 받는데 유리하게 작용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소비자들의 기업 호감도를 높여 경영 실적 향상 가능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기업 혁신을 자극하여 에너지 효율 향상과 비용 절감 가능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제품 품질 향상에도 기여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기업의 이타심이 아니라 사업 환경 변화에 대한 적응과정에서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ESG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경영이 강조됨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투자사들 역시 투자성과에 유리하지 않으면 지속적으로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ESG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경영을 강조하기 어려운 점이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ESG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혹은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CSR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실적이 기업 경영성과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주식가치 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미치는 영향에 대해서도 엇갈리는 평가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ESG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경영이 환경문제에 대한 근본적인 변화를 초래할 것인지 일시적 현상인지에 대해서는 이론이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6D7F0FC3-CB10-4486-9871-BB41AB068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64C2291B-9919-4FB9-95DE-40D44F1B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70039E7-0B45-4023-B3B4-55F6002C3573}" type="slidenum">
              <a:rPr lang="ko-KR" altLang="en-US" sz="1200" b="0">
                <a:solidFill>
                  <a:schemeClr val="tx1"/>
                </a:solidFill>
              </a:rPr>
              <a:pPr/>
              <a:t>48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EEE1369C-91E6-4FF0-9B54-16982D850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7AD33DA9-FF84-464B-B12A-A57E3968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4497031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CEF916BB-8033-460F-A100-42249BAC8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6251" y="231775"/>
            <a:ext cx="8375248" cy="747019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ESG: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민간 기업의 자발적 환경개선 노력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3" name="Rectangle 7">
                <a:extLst>
                  <a:ext uri="{FF2B5EF4-FFF2-40B4-BE49-F238E27FC236}">
                    <a16:creationId xmlns:a16="http://schemas.microsoft.com/office/drawing/2014/main" id="{B0CA2DA5-E0D2-4947-B90A-3B1F13711E3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3219" y="1204175"/>
                <a:ext cx="8375247" cy="4629953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ESG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경영은 기업의 전략적 선택행위 중 하나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대개 큰 기업이 대상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소비자를 모으고 기업 간 경쟁에서 우위를 점하기 위해 노력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소비자 선택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소비자 </a:t>
                </a:r>
                <a:r>
                  <a:rPr lang="en-US" altLang="ko-KR" sz="2400" dirty="0" err="1">
                    <a:latin typeface="나눔명조" pitchFamily="18" charset="-127"/>
                    <a:ea typeface="나눔명조" pitchFamily="18" charset="-127"/>
                  </a:rPr>
                  <a:t>i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가 기업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j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제품 선택할 때의 만족도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p>
                      </m:sSubSup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𝛽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|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𝑖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𝑙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|</m:t>
                      </m:r>
                    </m:oMath>
                  </m:oMathPara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𝑣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j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사 제품에 대해 부여하는 소비자가치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품질 반영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  <a:endParaRPr lang="en-US" altLang="ko-KR" sz="2000" i="1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j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사 제품 가격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소비자 </a:t>
                </a:r>
                <a:r>
                  <a:rPr lang="en-US" altLang="ko-KR" sz="2000" dirty="0" err="1">
                    <a:latin typeface="나눔명조" pitchFamily="18" charset="-127"/>
                    <a:ea typeface="나눔명조" pitchFamily="18" charset="-127"/>
                  </a:rPr>
                  <a:t>i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성향 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𝑙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기업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j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이미 정해진 이미지 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𝛽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소비자의 기업 거부감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|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𝑙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|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을 만족도 감소로 전환하는 상수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ESG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투자가 없을 경우 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전략적으로 선택하여 다른 기업과 경쟁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판매량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다른 기업의 가격전략에 의해서도 영향 받음 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51203" name="Rectangle 7">
                <a:extLst>
                  <a:ext uri="{FF2B5EF4-FFF2-40B4-BE49-F238E27FC236}">
                    <a16:creationId xmlns:a16="http://schemas.microsoft.com/office/drawing/2014/main" id="{B0CA2DA5-E0D2-4947-B90A-3B1F13711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219" y="1204175"/>
                <a:ext cx="8375247" cy="4629953"/>
              </a:xfrm>
              <a:blipFill>
                <a:blip r:embed="rId3"/>
                <a:stretch>
                  <a:fillRect l="-946" t="-1054" r="-655" b="-46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6D7F0FC3-CB10-4486-9871-BB41AB068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64C2291B-9919-4FB9-95DE-40D44F1B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70039E7-0B45-4023-B3B4-55F6002C3573}" type="slidenum">
              <a:rPr lang="ko-KR" altLang="en-US" sz="1200" b="0">
                <a:solidFill>
                  <a:schemeClr val="tx1"/>
                </a:solidFill>
              </a:rPr>
              <a:pPr/>
              <a:t>49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EEE1369C-91E6-4FF0-9B54-16982D850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7AD33DA9-FF84-464B-B12A-A57E3968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1988072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CEF916BB-8033-460F-A100-42249BAC8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9658" y="231775"/>
            <a:ext cx="8252542" cy="656867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ESG: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민간기업의 자발적 환경개선 노력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3" name="Rectangle 7">
                <a:extLst>
                  <a:ext uri="{FF2B5EF4-FFF2-40B4-BE49-F238E27FC236}">
                    <a16:creationId xmlns:a16="http://schemas.microsoft.com/office/drawing/2014/main" id="{B0CA2DA5-E0D2-4947-B90A-3B1F13711E3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1800" y="888642"/>
                <a:ext cx="8252542" cy="4457677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기업이윤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𝜖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기업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j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ESG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활동 정도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𝜋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𝜏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기업이 현재 가격경쟁만 하고 있는 상태에서 추가로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ESG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경영에 투자할 것인가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? (</a:t>
                </a:r>
                <a:r>
                  <a:rPr lang="en-US" altLang="ko-KR" sz="2000" dirty="0" err="1">
                    <a:latin typeface="나눔명조" pitchFamily="18" charset="-127"/>
                    <a:ea typeface="나눔명조" pitchFamily="18" charset="-127"/>
                  </a:rPr>
                  <a:t>Katsamakas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and Sanchez-Cartas, 2023)</a:t>
                </a:r>
              </a:p>
              <a:p>
                <a:pPr lvl="1" eaLnBrk="1" hangingPunct="1"/>
                <a:r>
                  <a:rPr lang="en-US" altLang="ko-KR" sz="2000" dirty="0">
                    <a:ea typeface="나눔명조" pitchFamily="18" charset="-127"/>
                  </a:rPr>
                  <a:t>ESG </a:t>
                </a:r>
                <a:r>
                  <a:rPr lang="ko-KR" altLang="en-US" sz="2000" dirty="0">
                    <a:ea typeface="나눔명조" pitchFamily="18" charset="-127"/>
                  </a:rPr>
                  <a:t>투자가 기업 거부감만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𝜖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000" dirty="0">
                    <a:ea typeface="나눔명조" pitchFamily="18" charset="-127"/>
                  </a:rPr>
                  <a:t>로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ea typeface="나눔명조" pitchFamily="18" charset="-127"/>
                  </a:rPr>
                  <a:t>낮춘다면 </a:t>
                </a:r>
                <a:r>
                  <a:rPr lang="en-US" altLang="ko-KR" sz="2000" dirty="0">
                    <a:ea typeface="나눔명조" pitchFamily="18" charset="-127"/>
                  </a:rPr>
                  <a:t>ESG </a:t>
                </a:r>
                <a:r>
                  <a:rPr lang="ko-KR" altLang="en-US" sz="2000" dirty="0">
                    <a:ea typeface="나눔명조" pitchFamily="18" charset="-127"/>
                  </a:rPr>
                  <a:t>활동 안함</a:t>
                </a:r>
                <a:r>
                  <a:rPr lang="en-US" altLang="ko-KR" sz="2000" dirty="0"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𝜖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=0): </a:t>
                </a:r>
                <a:r>
                  <a:rPr lang="ko-KR" altLang="en-US" sz="2000" dirty="0">
                    <a:ea typeface="나눔명조" pitchFamily="18" charset="-127"/>
                  </a:rPr>
                  <a:t>기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존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의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  <m:r>
                      <a:rPr lang="en-US" altLang="ko-KR" sz="2000" b="0" i="0" dirty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전</m:t>
                    </m:r>
                  </m:oMath>
                </a14:m>
                <a:r>
                  <a:rPr lang="ko-KR" altLang="en-US" sz="2000" dirty="0">
                    <a:ea typeface="나눔명조" pitchFamily="18" charset="-127"/>
                  </a:rPr>
                  <a:t>략적 가격설정 행위가 경쟁에 더 효과적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2000" dirty="0">
                    <a:ea typeface="나눔명조" pitchFamily="18" charset="-127"/>
                  </a:rPr>
                  <a:t>ESG</a:t>
                </a:r>
                <a:r>
                  <a:rPr lang="ko-KR" altLang="en-US" sz="2000" dirty="0">
                    <a:ea typeface="나눔명조" pitchFamily="18" charset="-127"/>
                  </a:rPr>
                  <a:t>로 인해 투자 받기 쉬워지고 비용이 절감되거나</a:t>
                </a:r>
                <a:r>
                  <a:rPr lang="en-US" altLang="ko-KR" sz="2000" dirty="0"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𝑐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ea typeface="나눔명조" pitchFamily="18" charset="-127"/>
                  </a:rPr>
                  <a:t>감소</a:t>
                </a:r>
                <a:r>
                  <a:rPr lang="en-US" altLang="ko-KR" sz="2000" dirty="0">
                    <a:ea typeface="나눔명조" pitchFamily="18" charset="-127"/>
                  </a:rPr>
                  <a:t>), </a:t>
                </a:r>
                <a:r>
                  <a:rPr lang="ko-KR" altLang="en-US" sz="2000" dirty="0">
                    <a:ea typeface="나눔명조" pitchFamily="18" charset="-127"/>
                  </a:rPr>
                  <a:t>품질평가가 높아져 소비자들의 지불의사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000" dirty="0">
                    <a:ea typeface="나눔명조" pitchFamily="18" charset="-127"/>
                  </a:rPr>
                  <a:t>까지도 상승한다면 </a:t>
                </a:r>
                <a:r>
                  <a:rPr lang="en-US" altLang="ko-KR" sz="2000" dirty="0">
                    <a:ea typeface="나눔명조" pitchFamily="18" charset="-127"/>
                  </a:rPr>
                  <a:t>ESG </a:t>
                </a:r>
                <a:r>
                  <a:rPr lang="ko-KR" altLang="en-US" sz="2000" dirty="0">
                    <a:ea typeface="나눔명조" pitchFamily="18" charset="-127"/>
                  </a:rPr>
                  <a:t>활동 선택함</a:t>
                </a:r>
                <a:r>
                  <a:rPr lang="en-US" altLang="ko-KR" sz="2000" dirty="0"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𝜖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&gt;</m:t>
                    </m:r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0)</a:t>
                </a:r>
              </a:p>
              <a:p>
                <a:pPr lvl="1" eaLnBrk="1" hangingPunct="1"/>
                <a:r>
                  <a:rPr lang="en-US" altLang="ko-KR" sz="2000" dirty="0">
                    <a:ea typeface="나눔명조" pitchFamily="18" charset="-127"/>
                  </a:rPr>
                  <a:t>ESG </a:t>
                </a:r>
                <a:r>
                  <a:rPr lang="ko-KR" altLang="en-US" sz="2000" dirty="0">
                    <a:ea typeface="나눔명조" pitchFamily="18" charset="-127"/>
                  </a:rPr>
                  <a:t>투자는 기업 간 경쟁을 </a:t>
                </a:r>
                <a:r>
                  <a:rPr lang="ko-KR" altLang="en-US" sz="2000" dirty="0" err="1">
                    <a:ea typeface="나눔명조" pitchFamily="18" charset="-127"/>
                  </a:rPr>
                  <a:t>심화시켜</a:t>
                </a:r>
                <a:r>
                  <a:rPr lang="ko-KR" altLang="en-US" sz="2000" dirty="0">
                    <a:ea typeface="나눔명조" pitchFamily="18" charset="-127"/>
                  </a:rPr>
                  <a:t> 이윤은 늘지 않음</a:t>
                </a:r>
                <a:r>
                  <a:rPr lang="en-US" altLang="ko-KR" sz="2000" dirty="0">
                    <a:ea typeface="나눔명조" pitchFamily="18" charset="-127"/>
                  </a:rPr>
                  <a:t>(</a:t>
                </a:r>
                <a:r>
                  <a:rPr lang="ko-KR" altLang="en-US" sz="2000" dirty="0">
                    <a:ea typeface="나눔명조" pitchFamily="18" charset="-127"/>
                  </a:rPr>
                  <a:t>오히려 감소</a:t>
                </a:r>
                <a:r>
                  <a:rPr lang="en-US" altLang="ko-KR" sz="2000" dirty="0">
                    <a:ea typeface="나눔명조" pitchFamily="18" charset="-127"/>
                  </a:rPr>
                  <a:t>)</a:t>
                </a:r>
                <a:r>
                  <a:rPr lang="ko-KR" altLang="en-US" sz="2000" dirty="0">
                    <a:ea typeface="나눔명조" pitchFamily="18" charset="-127"/>
                  </a:rPr>
                  <a:t>에도 서로 간 경쟁때문에 </a:t>
                </a:r>
                <a:r>
                  <a:rPr lang="en-US" altLang="ko-KR" sz="2000" dirty="0">
                    <a:ea typeface="나눔명조" pitchFamily="18" charset="-127"/>
                  </a:rPr>
                  <a:t>ESG </a:t>
                </a:r>
                <a:r>
                  <a:rPr lang="ko-KR" altLang="en-US" sz="2000" dirty="0">
                    <a:ea typeface="나눔명조" pitchFamily="18" charset="-127"/>
                  </a:rPr>
                  <a:t>활동을 선택함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ea typeface="나눔명조" pitchFamily="18" charset="-127"/>
                  </a:rPr>
                  <a:t>반면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ea typeface="나눔명조" pitchFamily="18" charset="-127"/>
                  </a:rPr>
                  <a:t>기업간 차별성이 있을 경우 승자독식에 따른 </a:t>
                </a:r>
                <a:r>
                  <a:rPr lang="ko-KR" altLang="en-US" sz="2000" dirty="0" err="1">
                    <a:ea typeface="나눔명조" pitchFamily="18" charset="-127"/>
                  </a:rPr>
                  <a:t>독점력</a:t>
                </a:r>
                <a:r>
                  <a:rPr lang="ko-KR" altLang="en-US" sz="2000" dirty="0">
                    <a:ea typeface="나눔명조" pitchFamily="18" charset="-127"/>
                  </a:rPr>
                  <a:t> 강화가 발생할 수 있음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ea typeface="나눔명조" pitchFamily="18" charset="-127"/>
                  </a:rPr>
                  <a:t>소비자들은 기업의 전략적 </a:t>
                </a:r>
                <a:r>
                  <a:rPr lang="en-US" altLang="ko-KR" sz="2000" dirty="0">
                    <a:ea typeface="나눔명조" pitchFamily="18" charset="-127"/>
                  </a:rPr>
                  <a:t>ESG </a:t>
                </a:r>
                <a:r>
                  <a:rPr lang="ko-KR" altLang="en-US" sz="2000" dirty="0">
                    <a:ea typeface="나눔명조" pitchFamily="18" charset="-127"/>
                  </a:rPr>
                  <a:t>선택으로 후생이 증가할 것이지만 독점이 심해지면 그로 인한 피해가 커질 수 있음</a:t>
                </a:r>
                <a:endParaRPr lang="en-US" altLang="ko-KR" sz="2000" dirty="0"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51203" name="Rectangle 7">
                <a:extLst>
                  <a:ext uri="{FF2B5EF4-FFF2-40B4-BE49-F238E27FC236}">
                    <a16:creationId xmlns:a16="http://schemas.microsoft.com/office/drawing/2014/main" id="{B0CA2DA5-E0D2-4947-B90A-3B1F13711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888642"/>
                <a:ext cx="8252542" cy="4457677"/>
              </a:xfrm>
              <a:blipFill>
                <a:blip r:embed="rId3"/>
                <a:stretch>
                  <a:fillRect l="-665" t="-958" b="-203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6D7F0FC3-CB10-4486-9871-BB41AB068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64C2291B-9919-4FB9-95DE-40D44F1B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70039E7-0B45-4023-B3B4-55F6002C3573}" type="slidenum">
              <a:rPr lang="ko-KR" altLang="en-US" sz="1200" b="0">
                <a:solidFill>
                  <a:schemeClr val="tx1"/>
                </a:solidFill>
              </a:rPr>
              <a:pPr/>
              <a:t>50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EEE1369C-91E6-4FF0-9B54-16982D850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7AD33DA9-FF84-464B-B12A-A57E3968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3871234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2056</TotalTime>
  <Words>3643</Words>
  <Application>Microsoft Office PowerPoint</Application>
  <PresentationFormat>화면 슬라이드 쇼(4:3)</PresentationFormat>
  <Paragraphs>446</Paragraphs>
  <Slides>50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1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4장 개요</vt:lpstr>
      <vt:lpstr>소유권과 시장메커니즘의 효율성 간의 관계</vt:lpstr>
      <vt:lpstr>시장메커니즘이 효율성을 가지기 위한 조건</vt:lpstr>
      <vt:lpstr>시장실패와 소유권</vt:lpstr>
      <vt:lpstr>시장의 효율성을 보장하기 위한 소유권의 성질</vt:lpstr>
      <vt:lpstr>개방자원시장과 공유자원시장의 비효율성</vt:lpstr>
      <vt:lpstr>개방자원시장의 비효율성</vt:lpstr>
      <vt:lpstr>개방자원시장의 비효율성</vt:lpstr>
      <vt:lpstr>개방자원시장의 비효율성</vt:lpstr>
      <vt:lpstr>개방자원시장의 비효율성</vt:lpstr>
      <vt:lpstr>원양 포경업 변천사</vt:lpstr>
      <vt:lpstr>원양 포경업 변천사</vt:lpstr>
      <vt:lpstr>원양 포경업 변천사</vt:lpstr>
      <vt:lpstr>공유자원시장의 비효율성</vt:lpstr>
      <vt:lpstr>하아딘(1968)의 공유자원의 비극</vt:lpstr>
      <vt:lpstr>공공재(public goods)</vt:lpstr>
      <vt:lpstr>공공재시장의 비효율성</vt:lpstr>
      <vt:lpstr>공공재시장의 비효율성</vt:lpstr>
      <vt:lpstr>공공재시장의 비효율성</vt:lpstr>
      <vt:lpstr>공공재시장의 비효율성</vt:lpstr>
      <vt:lpstr>순수공공재와 비순수공공재</vt:lpstr>
      <vt:lpstr>공공재 공급의 무임승차문제 완화</vt:lpstr>
      <vt:lpstr>공공부문의 공공재 공급</vt:lpstr>
      <vt:lpstr>공공재 공급수준 결정과 비용지불의 차등화 문제</vt:lpstr>
      <vt:lpstr>공공재 공급수준 결정과 비용지불의 차등화 문제</vt:lpstr>
      <vt:lpstr>공공재 공급수준 결정과 비용지불의 차등화 문제</vt:lpstr>
      <vt:lpstr>공공재 공급수준 결정과 비용지불의 차등화 문제</vt:lpstr>
      <vt:lpstr>공공재 공급수준 결정과 비용지불의 차등화 문제</vt:lpstr>
      <vt:lpstr>전 지구적 공공재인 작물유전자원</vt:lpstr>
      <vt:lpstr>전 지구적 공공재인 작물유전자원</vt:lpstr>
      <vt:lpstr>외부효과(externality)</vt:lpstr>
      <vt:lpstr>음의 외부효과와 양의 외부효과</vt:lpstr>
      <vt:lpstr>음의 외부효과와 양의 외부효과</vt:lpstr>
      <vt:lpstr>시장의 실패 문제 해결</vt:lpstr>
      <vt:lpstr>사적 교섭을 통한 해결</vt:lpstr>
      <vt:lpstr>사적 교섭을 통한 해결</vt:lpstr>
      <vt:lpstr>사적 교섭을 통한 해결</vt:lpstr>
      <vt:lpstr>사적 교섭을 통한 해결</vt:lpstr>
      <vt:lpstr>사법적 해결</vt:lpstr>
      <vt:lpstr>코즈 정리(Coase theorem)</vt:lpstr>
      <vt:lpstr>코즈 정리에 대한 반론</vt:lpstr>
      <vt:lpstr>코즈 정리에 대한 반론</vt:lpstr>
      <vt:lpstr>코즈 정리에 대한 반론</vt:lpstr>
      <vt:lpstr>판결을 통한 피해보상명령</vt:lpstr>
      <vt:lpstr>판결을 통한 피해보상명령</vt:lpstr>
      <vt:lpstr>제도적·행정적 규제</vt:lpstr>
      <vt:lpstr>ESG: 민간 기업의 자발적 환경개선 노력</vt:lpstr>
      <vt:lpstr>ESG: 민간 기업의 자발적 환경개선 노력</vt:lpstr>
      <vt:lpstr>ESG: 민간 기업의 자발적 환경개선 노력</vt:lpstr>
      <vt:lpstr>ESG: 민간기업의 자발적 환경개선 노력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292</cp:revision>
  <dcterms:created xsi:type="dcterms:W3CDTF">1997-07-14T00:22:12Z</dcterms:created>
  <dcterms:modified xsi:type="dcterms:W3CDTF">2025-02-18T22:40:55Z</dcterms:modified>
</cp:coreProperties>
</file>