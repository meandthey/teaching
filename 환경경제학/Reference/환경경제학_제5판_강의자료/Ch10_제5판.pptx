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4"/>
  </p:notesMasterIdLst>
  <p:handoutMasterIdLst>
    <p:handoutMasterId r:id="rId45"/>
  </p:handoutMasterIdLst>
  <p:sldIdLst>
    <p:sldId id="262" r:id="rId2"/>
    <p:sldId id="345" r:id="rId3"/>
    <p:sldId id="266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9" r:id="rId17"/>
    <p:sldId id="360" r:id="rId18"/>
    <p:sldId id="361" r:id="rId19"/>
    <p:sldId id="358" r:id="rId20"/>
    <p:sldId id="362" r:id="rId21"/>
    <p:sldId id="367" r:id="rId22"/>
    <p:sldId id="368" r:id="rId23"/>
    <p:sldId id="363" r:id="rId24"/>
    <p:sldId id="365" r:id="rId25"/>
    <p:sldId id="369" r:id="rId26"/>
    <p:sldId id="370" r:id="rId27"/>
    <p:sldId id="371" r:id="rId28"/>
    <p:sldId id="372" r:id="rId29"/>
    <p:sldId id="373" r:id="rId30"/>
    <p:sldId id="374" r:id="rId31"/>
    <p:sldId id="376" r:id="rId32"/>
    <p:sldId id="375" r:id="rId33"/>
    <p:sldId id="377" r:id="rId34"/>
    <p:sldId id="386" r:id="rId35"/>
    <p:sldId id="387" r:id="rId36"/>
    <p:sldId id="366" r:id="rId37"/>
    <p:sldId id="378" r:id="rId38"/>
    <p:sldId id="379" r:id="rId39"/>
    <p:sldId id="380" r:id="rId40"/>
    <p:sldId id="383" r:id="rId41"/>
    <p:sldId id="384" r:id="rId42"/>
    <p:sldId id="326" r:id="rId43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8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90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7BB7D2A-C184-487E-AA7A-64DD841A1C6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43D3851-C445-41C0-AE50-4ADFBD42FA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D26E3F7-7AD4-4C14-9EFF-C25E2B151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08AB44D-FEBD-4D7C-B8C9-83151A2A3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331326A6-B301-432B-B04C-99B77201E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8DF16106-1F80-4B15-9117-5BB36CCDB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D5B0563C-33B0-46AB-B07D-0AAEED9D3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863BE069-3257-4F9B-8B03-541390929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21424F6-EDCA-48CF-B5D6-21EECDE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3C8003-E822-450A-82B7-97C60B69B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6F08AC32-E289-4A4E-A310-4B63B0AAC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B7DF11F7-3DF8-47E8-ABCD-5A98D4EDB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53B6426-A59E-48C8-BA18-A8169CA068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E3AD8987-FB6D-4CA9-AB74-E414CFDEE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5B16E86-B373-423E-A13B-F8B186EFE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50E7D53-81DA-43A7-B546-6E42B3D16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0C6E652-B38E-49D8-BC68-79766AB64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FF5D6AC8-BEDF-488A-9F57-250A00222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8173F8E7-FE4C-49AF-B2B7-19B85A26ED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B3BD6C4E-9824-4981-987A-1ABBE9DB9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7948D3A-97A4-45EC-B153-B96960A5A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3892EE4-26D2-49FC-B75A-496D3EB0B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C89CF95-58F3-4A23-8142-4BBDA3414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279E6E7B-6A0D-4E81-846D-E3A82D035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2DC1372F-9F88-47AA-9A2A-8AB52D01D8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83A30B1A-8D31-48BD-9BF5-2476162A6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2CB1D45-1711-4967-B1D2-C5BBC643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BE201F7-C77A-4EC2-AFFE-A67B2E608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96191CFC-AA47-4F02-9D82-B63AC17C0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4BC5A10-E90A-46C4-88E9-7F1D5E718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7F12BC6B-FB37-46F4-A579-64F615602E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AE21C582-40B5-4095-B21F-79642911E3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49C67F1-39A5-4CC9-8DA8-8989B3FB9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A728B31-8FA0-4B62-8017-13AB2C902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4E1F1BC8-DA0F-4B82-AB11-02857FBA8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3EF643BA-03DB-42A3-A149-AEBE0518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26BFA03-1A1D-443A-BE88-F4C94FF09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32DF55B-3FAB-40CF-B594-9F2B4288F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D2CEA42-7FD7-48E3-95BA-A8C6E7CA2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E4A7428-5146-4134-B3F5-E681F8D30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E218767B-F8F5-452F-87ED-DEBD33C12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F99B5B51-1BF4-4909-A8F2-A230AB69C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2BF8FC09-ECD9-4261-BC8A-F5072A534F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AD518D62-AB00-4A6E-9A55-8C32B4B2B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32DE765-CA9D-4C3A-AAF2-3AF96638A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9BAF2D-4450-4C96-8A90-196588755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EF6E90D-5F8A-47B0-B651-DCB9FD68E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719F48F8-50FE-4D24-AED7-3AB5EAB2F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A65C65AA-EAA0-4DA9-909F-663B0F9CA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B9CB0327-DE8D-447C-9E2C-A0C76BFFD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1EA495E-9A67-457C-BBE0-1AE346A44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7AE9073-FB7A-4FD3-A406-48E056FD5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E8937EBD-1908-403D-8818-311CC957A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627AED77-E16B-47E5-AF92-D6B7AA929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3EC56A6B-524F-4C09-8050-A57CAC290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2FC4C617-5FCF-41B6-9ED4-90876E3E5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A3E8211-72C2-4B17-B94E-876B0AF21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13B7F22-7D6A-4B4A-97D9-50DB26709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4E7BD969-F307-4A86-8E27-58286F00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3E33352D-AF8F-4730-889D-EB46FF376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029F1D13-E935-4C55-BB98-3E359D0F0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C088956E-E4D4-4B90-93A8-1A442C224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74D7524-E8EE-4A32-8E7C-BCFC47B6A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85A16B9-5E2A-4C47-9B66-3F2AAF304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513D9EDF-ABCC-4E48-92F6-88191051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790FC417-B6F2-4D5F-AAC8-EE66CE17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93D1526E-E758-4BAC-A40E-EBA06B2DC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5847" name="Rectangle 7">
            <a:extLst>
              <a:ext uri="{FF2B5EF4-FFF2-40B4-BE49-F238E27FC236}">
                <a16:creationId xmlns:a16="http://schemas.microsoft.com/office/drawing/2014/main" id="{C519901E-10AD-4D20-A209-2C8203CE0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512632D-A659-4709-A193-2736EBFBE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4B8D8D6-16B4-48A5-80F5-464D5B573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79CF4498-3369-4EFF-BBC4-D08007330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5B8587E0-C947-4279-B50B-9C35F2BC3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6B5BA55A-BD0E-4E65-84AF-4979E71D8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1ADA1914-D175-4CCB-960A-FFF00A0A1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9D8539A-0AFB-4A6B-8B3C-3170A7E81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C2330EF-1076-47E3-8FFB-839084CA0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E639DD64-8369-48E3-A427-E3884A55E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A5DE7E78-039F-4B28-8B38-7ADDE48F9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08D9E4D4-67D4-4676-9497-806F940B4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FE29AD64-6179-49CC-9538-A53E284BA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3C6C331-6366-4111-80CB-4E68AE627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4CEEE8D-0DE4-4EDB-ADCC-D00120786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D1E1DB45-4E53-4A62-B16F-BF57F4846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4CC8A000-076F-4CA9-B4BF-1D46C3553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EDFDF1DA-C4EB-4F41-85A9-D5E67E8208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E7DB2D5C-79FB-42CF-8BDF-162424587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0BF3127-1DAC-4D8A-9197-61A1E9EE9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E2BFDA3-1DE2-4659-99BF-D1FF7503B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AE86B4F2-C6E4-4ADB-8805-8B1C6E01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3AA8A399-DA04-4FC7-8B0C-18F41D0E7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777BDA1E-54B7-45EC-B7B3-43F885145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1CCB6E6F-E6E9-4FAD-9FFE-8A43405A1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B62A04E-9621-4238-93BC-F8D146DEB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78D11B3-8DF6-4D48-8D57-B3E389C44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8CCB512-D430-4B7E-A8C2-9955B52C7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492E74A8-4668-420C-80D5-A012D783A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CFB58B3F-4F1B-4218-A415-E2EC47AD3E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834C9882-BE6D-43E4-9791-64758D6ED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0DB9394-F500-4F08-8917-B4D7184BF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297A722-75A9-425B-9AFF-A5DDB1D45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A8A5AFB7-566B-4C8D-A905-1B46B9E5C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921FEEB1-7F7D-45D1-B413-B8DF32164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8588327C-75B0-4892-94C0-7A6F726659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17239EAE-540C-459E-9C25-29A82EC8C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C8B1D5D-9ED6-472C-9E5D-40ED92E15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4952DA7-AA56-47FE-B3BB-18CC938D4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1950D5DD-7006-48A4-850D-3331CCC08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1968C0F8-3704-4FCC-B613-DEB956343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1CE0D0DF-F5C0-492A-8A97-FBF4176FB4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77BDAA92-A8AF-46BF-A624-C8161BBCF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F5C354B-BF46-416A-B974-099BF5FED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E120AFC-0142-4426-A794-114EA0BAC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B5744A9B-2844-44F0-8417-69967BA47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C0D6D8AD-125F-48F3-B505-DA0BEECB3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4A1DDAC0-2022-4616-B10C-322F74F8E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1140DE88-95F7-496D-81E6-B47B56E1F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4F0C7E1-40F5-4B0E-9E0D-C3A0300D2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861FDF0-FBE5-4DBD-A3F9-B5470050F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D91C8AEF-9520-4FDB-AB25-2E4B44EBF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EDCA20F8-4192-4449-8611-0D66A8808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BB4557F2-6621-44E9-A72D-FDC1A2BE5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776B8144-0F0A-4EA2-A074-769998910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D3285F1-F0B1-488D-ACA7-357F73DC9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BA86771-5830-4678-93E2-E16029726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422ECA0D-8944-4C67-9821-9C08334A4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A8B6842D-3E46-4674-BDAB-A2B5D1E76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86F3B942-27CE-459E-B554-23C7756E3A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0AA4FF44-3A13-412E-AD63-EDF65F7C8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F555AC1-4067-46B6-BA5B-40BDB1A52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4A90686-CE2C-41DC-B1A7-00EC406D6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012FB3F4-0975-412F-BC26-121DF81F0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50885CD8-70A0-4596-AC51-921210A1B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74046251-DFB2-4EBA-8462-165A64B418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2A18DEAD-10A3-4C2B-AB3E-FFC89BF3A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B329DBE-B2C3-4188-A1DD-515F52F0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676CB9A-7CF5-4DFF-99B4-4058C574A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C064029D-BA32-4B4A-8E01-EC3CB64A1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DD889A9A-DC86-4290-A4B6-F6FC13936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528C240B-8E00-4926-B495-36C54B2C4E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1F51D9EE-C2F7-475E-B9E2-AFF4A2F47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71AEA72-EC84-467F-97E4-0DB72C4FF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7BBD174-F6E0-4687-A519-C9C1A595F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62A5C045-CE0E-45B6-9153-C2A44C47F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D4EA16FD-5E99-4796-95C7-18011D0B6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9296024B-F6F5-4101-9A09-389F718270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E095BB01-3632-491B-B493-6DBF8B976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C08B340-491B-4A0A-9199-6D8E25B57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4B570F6-717B-49C6-9CA2-52BCA7CEA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A567B8BE-E20F-4D3B-B2B1-C75275748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45B8AD40-097E-414D-92F7-C90732621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E01F2B3C-098F-47F2-B4DB-A07BCF324A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A2AA3BC3-8028-4F19-A9D7-138AA507D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366EC90-9666-4FBE-A57A-07D13F356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C61A6C2-C840-4A75-848E-0EEDE9402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A4F5E5E5-05E1-4A76-9ACB-02F48F1D9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7AC85AC0-480D-44F0-A2F6-1E9234402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AFF37C79-2768-4CAE-8DFB-674F98473A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52969888-AF48-4C29-9400-29DFF705B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7DD8137-9F5C-4E3E-90E6-DD9C1FA9F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FA3A34B-F30A-4930-A968-9113BF568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742EABE5-2943-403A-B0F9-50962444D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B20AFF5C-FEAC-4028-A8C1-BD86AA3B1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25308BD8-A516-421C-8AD9-944C79F748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2B3F174A-329C-4847-9F89-2189C6C3A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64E26C3-A1AB-48B3-BD3B-267B742F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12A6F1B-8C5E-4C2A-A72E-A09E6EB31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C72C074F-761E-4437-823E-CE4889149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D0C9EE3F-0848-4420-AA0F-8E45586B0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A37C5DC8-7CC0-4D0A-A476-996D486A78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A2549ED2-9054-4322-AF43-EBEEB85BD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EFFB619-70D1-44FF-90ED-ED35F7496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77F0643A-46A5-433F-B691-773ABB85E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3D9F624D-3191-440A-9AD2-E28BAC4F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9C149AD1-7522-47E9-9CA4-44027D36F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8E104376-9141-4F4B-B343-88648A872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1D0B93CA-A25D-49A7-A54C-BDE072BE4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8413487-F4DF-4A9F-91E7-887B66077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90F2928-B122-4953-A14A-BFF8744DB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BC598AE5-AAAB-495E-AF39-53C929726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A31E3142-E82C-4B3B-A4B4-B8F3CC68B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2CD90CAD-015F-4804-ABED-E5C57ADF9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739F5582-F903-47AB-B919-8553B29C6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5B0F4965-04BB-4072-94F8-094307295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7764045F-4DF2-4F97-A794-B311BC912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8FA69C7C-4405-4847-B963-E1C64DD4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6EF2E258-FE06-4F60-8F48-468702495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BFB4223A-E47C-4A81-A80E-A683B64FF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690CD3DB-45EA-48D9-B6FB-C7D21760E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FAF5298-5C77-406E-91A7-98B8CB07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1B1B2EB-8DA9-4D86-8E3C-4FE8E59B7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A220CF9B-AA69-42E3-BBB3-E8DFFC346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B2C95695-5CE3-4B03-8FB4-2C4CDA200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2374FBEC-0A4B-4353-88D2-D8505792C5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553101BD-E811-40E8-AC7D-8B1950C07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6DFDBE4-0F00-43FB-B855-6A0992439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A426732-5C6C-4612-8F65-1893F89F8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87FF2685-69E4-4087-BB80-59E2E4DC6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975AA603-4885-423F-AF5D-ACBFA3B49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043DC6BA-7BDC-4B86-A468-234894A50E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4B85504D-B275-4368-8892-88CB94D4B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CECE2AD-D47E-4D56-A3F9-E3194E7A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525D04A-31F3-43A6-920E-AABC5D4DB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BF0C5CD2-6B52-4566-8F9A-F7092E00D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F18179CF-A1EE-4031-B4F2-3AEC2C0B7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62F00E12-0438-4B91-82D9-5AB1A50ED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1D573AE0-570D-4CF2-8044-D9E7C28D40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AF34035E-92AB-4FD0-9A61-445CDBCF1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10BB8C3-274C-4E4F-8EDE-FCF509345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6F1AE405-F9E7-4818-84E4-A3C01E6A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E934E28E-13F0-41F1-AC32-62142E1FD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F3849346-07FF-4A64-ACE2-C4022DE82D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F6945AB7-5ADF-4B1E-87A3-5238B2875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339F4BA1-CD68-4BB0-86B4-7AAA064F1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9D75B08-6E69-498C-9C0D-8299A61C8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E9240E0F-088B-4992-9B50-0CCC48D93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74F51AFF-AFE5-4F2D-B384-959764E0E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8" name="Rectangle 6">
            <a:extLst>
              <a:ext uri="{FF2B5EF4-FFF2-40B4-BE49-F238E27FC236}">
                <a16:creationId xmlns:a16="http://schemas.microsoft.com/office/drawing/2014/main" id="{95BF7599-11B7-4925-94CE-C40F6F2D7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5239" name="Rectangle 7">
            <a:extLst>
              <a:ext uri="{FF2B5EF4-FFF2-40B4-BE49-F238E27FC236}">
                <a16:creationId xmlns:a16="http://schemas.microsoft.com/office/drawing/2014/main" id="{8A0B8BF5-F08C-4C31-95FC-3227E69EA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84E7595-D48A-4E0F-AF43-3DC073A7E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B474C36-7C0E-4340-891C-BB6FB62C2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6B49E2D5-144B-4CE5-97B0-6FD87877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1DBA1792-85DF-4384-8610-3CB411254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BAF9FDBF-E89B-46E2-A8E9-7E404DC02D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17D67678-D357-48C9-9447-B199DC341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2E503EF6-B939-4DF8-BD2A-97642C7CCB27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4BC77FC8-0F53-4145-84D3-32E6D1A1F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0B58936C-4A86-4D76-958A-234406522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3 h 64000"/>
                <a:gd name="T2" fmla="*/ 83 w 64000"/>
                <a:gd name="T3" fmla="*/ 41 h 64000"/>
                <a:gd name="T4" fmla="*/ 57 w 64000"/>
                <a:gd name="T5" fmla="*/ 80 h 64000"/>
                <a:gd name="T6" fmla="*/ 57 w 64000"/>
                <a:gd name="T7" fmla="*/ 80 h 64000"/>
                <a:gd name="T8" fmla="*/ 57 w 64000"/>
                <a:gd name="T9" fmla="*/ 80 h 64000"/>
                <a:gd name="T10" fmla="*/ 57 w 64000"/>
                <a:gd name="T11" fmla="*/ 80 h 64000"/>
                <a:gd name="T12" fmla="*/ 57 w 64000"/>
                <a:gd name="T13" fmla="*/ 3 h 64000"/>
                <a:gd name="T14" fmla="*/ 57 w 64000"/>
                <a:gd name="T15" fmla="*/ 3 h 64000"/>
                <a:gd name="T16" fmla="*/ 57 w 64000"/>
                <a:gd name="T17" fmla="*/ 3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7FE27772-FBA4-40C1-A61F-AC1CD1068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10 h 64000"/>
                <a:gd name="T2" fmla="*/ 101 w 64000"/>
                <a:gd name="T3" fmla="*/ 51 h 64000"/>
                <a:gd name="T4" fmla="*/ 81 w 64000"/>
                <a:gd name="T5" fmla="*/ 91 h 64000"/>
                <a:gd name="T6" fmla="*/ 81 w 64000"/>
                <a:gd name="T7" fmla="*/ 91 h 64000"/>
                <a:gd name="T8" fmla="*/ 81 w 64000"/>
                <a:gd name="T9" fmla="*/ 91 h 64000"/>
                <a:gd name="T10" fmla="*/ 81 w 64000"/>
                <a:gd name="T11" fmla="*/ 91 h 64000"/>
                <a:gd name="T12" fmla="*/ 81 w 64000"/>
                <a:gd name="T13" fmla="*/ 10 h 64000"/>
                <a:gd name="T14" fmla="*/ 81 w 64000"/>
                <a:gd name="T15" fmla="*/ 10 h 64000"/>
                <a:gd name="T16" fmla="*/ 81 w 64000"/>
                <a:gd name="T17" fmla="*/ 1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FEE6CDA1-42FD-48C3-84E4-8771226800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C3103611-F979-4B35-BFBD-69622394E7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1BE2AB31-6E36-4DA7-A353-FD3865FD4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57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5287598-F8EB-45DF-9B6E-C9C9CA0A17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7A141C9-6101-4F77-95E1-C129FBB59B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B21D735-2D11-4E46-9C36-714F49C1F6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A5981F-299D-439C-A3B3-3844F389F7F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86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581B702-7EC0-491B-8DA7-404E3E7A6F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AA36F6C-CDAA-48EF-B92E-84F1784D3E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2DBDD62-362B-4F71-8586-6923959B3F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23B285-39D7-4731-B4F2-68877956FB3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660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5CEA00-6457-40E1-9303-DEFD3D5ED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B49B717-A71C-4D8B-9D83-C7D3D12C6B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AB82754-6E7B-4407-8FD1-173BAD5325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C66F3-D1EB-4C77-96FB-648C545AA46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17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E51B5F5-9D8B-449E-9843-7EF839CE2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E6ACF33-BCE6-41C0-9DC1-3674DF8B63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F5EDD032-6387-4367-84C2-80554E88C0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0AB66E-AEE0-4334-8DD9-FA0A5F42012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663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92DF019-497C-4CFD-8C27-B2B9D03FB6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0D186E1-D609-4237-B2DA-4DEC5975E2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97D3CDF-7185-425E-9964-0B7C95D1BF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C9983D-F3D2-4890-A639-0FED563C281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239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7076A93-5BD6-4089-A43D-5872016D01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D2832A8-7147-44EB-8808-F4958FE06F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96BF21F-EC2D-46F3-95AB-7EEA3AC9E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A6818F-9A5A-45C2-B13E-CDB695BE35C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6417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3F87777-B603-4304-A1D1-6A5F6DDE2C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5977447-1CEC-43C3-8E94-F2B5F12079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1D97B3C-A199-46F6-B561-38A8FA65DF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43CE0-3521-493E-B9CB-4415DAEC140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7895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2BB6270-52EB-4C3D-ACA7-6B05684AA4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E0A4F5F-07FD-4B70-8E06-DEAA8E054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22BD5616-0ED4-4D2C-8072-7621B09E3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357600-82D3-45F7-9391-99F10789DB3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916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67247B0-BB99-4373-806E-4A7745B5F8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FF879AF-39A9-43C2-96C2-8A91955545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2B7394-94C4-493D-8D2E-B80A1DFEF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2BD91A-D004-4F0A-B1A5-9D3EACD09CE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15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6C97DE0-4136-4D5D-9682-4CB9E29F7F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DC19426-42AC-4AEB-8DD5-E30527E0B1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B45ED20-016B-4580-8166-7A7FF5A6DB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B6CC57-2E4A-4374-8A27-B3E95877676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135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2A31C6F-D9DC-4806-8F64-36F52562E140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9B52EA51-4BA2-4310-8C66-43DAC64C7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5 h 64000"/>
                <a:gd name="T2" fmla="*/ 105 w 64000"/>
                <a:gd name="T3" fmla="*/ 30 h 64000"/>
                <a:gd name="T4" fmla="*/ 82 w 64000"/>
                <a:gd name="T5" fmla="*/ 55 h 64000"/>
                <a:gd name="T6" fmla="*/ 82 w 64000"/>
                <a:gd name="T7" fmla="*/ 55 h 64000"/>
                <a:gd name="T8" fmla="*/ 82 w 64000"/>
                <a:gd name="T9" fmla="*/ 55 h 64000"/>
                <a:gd name="T10" fmla="*/ 82 w 64000"/>
                <a:gd name="T11" fmla="*/ 55 h 64000"/>
                <a:gd name="T12" fmla="*/ 82 w 64000"/>
                <a:gd name="T13" fmla="*/ 5 h 64000"/>
                <a:gd name="T14" fmla="*/ 82 w 64000"/>
                <a:gd name="T15" fmla="*/ 5 h 64000"/>
                <a:gd name="T16" fmla="*/ 82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C102C1B3-441D-4CEF-9642-1E6F0F7B8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5 h 64000"/>
                <a:gd name="T2" fmla="*/ 59 w 64000"/>
                <a:gd name="T3" fmla="*/ 31 h 64000"/>
                <a:gd name="T4" fmla="*/ 46 w 64000"/>
                <a:gd name="T5" fmla="*/ 56 h 64000"/>
                <a:gd name="T6" fmla="*/ 46 w 64000"/>
                <a:gd name="T7" fmla="*/ 56 h 64000"/>
                <a:gd name="T8" fmla="*/ 46 w 64000"/>
                <a:gd name="T9" fmla="*/ 56 h 64000"/>
                <a:gd name="T10" fmla="*/ 46 w 64000"/>
                <a:gd name="T11" fmla="*/ 56 h 64000"/>
                <a:gd name="T12" fmla="*/ 46 w 64000"/>
                <a:gd name="T13" fmla="*/ 5 h 64000"/>
                <a:gd name="T14" fmla="*/ 46 w 64000"/>
                <a:gd name="T15" fmla="*/ 5 h 64000"/>
                <a:gd name="T16" fmla="*/ 46 w 64000"/>
                <a:gd name="T17" fmla="*/ 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DB85BD2C-C9ED-48F4-B2C4-8AE9C952D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224437B1-DE61-40D7-897A-D14898CAC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9DBB3219-29F7-4278-AF93-023D77431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E7AD63CA-C23D-459D-8F6F-50F5D28411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63BDBC2B-27D7-428B-BE76-333CA64A43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AF428298-A03B-4D1E-85F6-365854D8A6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33397132-FD2B-4EBE-843A-08549EAD8EF9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  <p:sldLayoutId id="2147484243" r:id="rId2"/>
    <p:sldLayoutId id="2147484244" r:id="rId3"/>
    <p:sldLayoutId id="2147484245" r:id="rId4"/>
    <p:sldLayoutId id="2147484246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EF3965E9-3527-48D2-8C0B-B9CBA9631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10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39" name="Rectangle 1037">
            <a:extLst>
              <a:ext uri="{FF2B5EF4-FFF2-40B4-BE49-F238E27FC236}">
                <a16:creationId xmlns:a16="http://schemas.microsoft.com/office/drawing/2014/main" id="{444621BB-246A-495F-98BA-A8F8581F9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환경정책의 계층별 영향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환경정책의 목표와 수단 선택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중앙정부와 지방자치단체의 환경정책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환경정책의 소득분배 효과</a:t>
            </a: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8B2917C7-CA03-46F9-BE28-1AA9F3A3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4034B1CE-6656-41B0-B23A-08247B9F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750A60-778B-4275-8126-12BF83105947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EAB66AE7-3B08-4A2E-B820-E61000E14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BBF3CC92-3C3F-4356-9871-A8363EFB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A317EC9-9D8D-43B4-8E91-F0725CEB1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10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환경정책의 정치경제학 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algn="r"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지방자치와 소득분배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>
            <a:extLst>
              <a:ext uri="{FF2B5EF4-FFF2-40B4-BE49-F238E27FC236}">
                <a16:creationId xmlns:a16="http://schemas.microsoft.com/office/drawing/2014/main" id="{C4268252-2276-4756-B3BF-31D4CB89DF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325" y="152269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환경정책의 수준이나 수단은 반드시 사회전체의 후생을 극대화하도록 선택되지는 않음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환경정책으로부터 얻는 순편익의 정도가 사회계층이나 집단별로 다를 경우 정부는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집단별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이해관계와 압력을 반영하여 정책을 선택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집단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계층별 이해관계가 정책에 반영되는 과정을 분석해야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 선택 정치적 측면의 예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지방자치문제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소득분배문제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바닥글 개체 틀 4">
            <a:extLst>
              <a:ext uri="{FF2B5EF4-FFF2-40B4-BE49-F238E27FC236}">
                <a16:creationId xmlns:a16="http://schemas.microsoft.com/office/drawing/2014/main" id="{E1EE2F9E-D839-4690-A1FE-97DF056D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16388" name="슬라이드 번호 개체 틀 5">
            <a:extLst>
              <a:ext uri="{FF2B5EF4-FFF2-40B4-BE49-F238E27FC236}">
                <a16:creationId xmlns:a16="http://schemas.microsoft.com/office/drawing/2014/main" id="{160A9197-3557-4547-B726-77206486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6D43CB-DF80-4EA9-8391-6DFB67B3C67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973CD625-B623-4C0F-A844-5614CC604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F2CC2B24-0174-4358-A1C6-736315D20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7BF490A7-4103-4E40-8A3F-BC8E86D44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487" y="309563"/>
            <a:ext cx="8295851" cy="1143000"/>
          </a:xfrm>
        </p:spPr>
        <p:txBody>
          <a:bodyPr/>
          <a:lstStyle/>
          <a:p>
            <a:pPr eaLnBrk="1" hangingPunct="1"/>
            <a:r>
              <a:rPr lang="ko-KR" altLang="en-US" sz="34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정치경제학</a:t>
            </a:r>
            <a:br>
              <a:rPr lang="en-US" altLang="ko-KR" sz="34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 sz="34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                   : </a:t>
            </a:r>
            <a:r>
              <a:rPr lang="ko-KR" altLang="en-US" sz="340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지방자치와 소득분배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711DB05B-CE09-4F29-A3C1-8657376AF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7">
            <a:extLst>
              <a:ext uri="{FF2B5EF4-FFF2-40B4-BE49-F238E27FC236}">
                <a16:creationId xmlns:a16="http://schemas.microsoft.com/office/drawing/2014/main" id="{C813D384-9146-4264-B6D5-082D4E879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3481" y="114300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환경정책을 도입해 사회적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순편익을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 늘리고자 함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MB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곡선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오염원의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오염행위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한계편익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</a:rPr>
              <a:t>MD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곡선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=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오염피해자의 한계피해곡선</a:t>
            </a: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A1C6CCBD-AB42-4FE5-B369-59BF835D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26667357-DDC9-4175-AFD8-6561C3BB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9B4374-F8F6-4D2C-B808-262BB366429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A97B98CE-0CCE-4DC5-B4E7-84300C39D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D150F401-1C54-457F-8E66-D87FE721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18440" name="그림 7" descr="Cap 2014-06-19 09-51-29-556.png">
            <a:extLst>
              <a:ext uri="{FF2B5EF4-FFF2-40B4-BE49-F238E27FC236}">
                <a16:creationId xmlns:a16="http://schemas.microsoft.com/office/drawing/2014/main" id="{35DD2CF8-38F8-4EB9-A15B-865522636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592" y="2848830"/>
            <a:ext cx="6319837" cy="34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274A1BF2-3ACA-4D98-BD09-84FEC1EF9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FBE575CE-F9AE-4D42-B116-591D1E6E14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477" y="1400231"/>
            <a:ext cx="5650278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오염규제정책이 시행되고 있지 않는 경우 오염원은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2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만큼의 오염물질을 배출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오염원이 얻는 편익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dirty="0" err="1">
                <a:latin typeface="Times New Roman" panose="02020603050405020304" pitchFamily="18" charset="0"/>
                <a:ea typeface="나눔명조" pitchFamily="18" charset="-127"/>
              </a:rPr>
              <a:t>a+b+c+d</a:t>
            </a:r>
            <a:endParaRPr lang="en-US" altLang="ko-KR" sz="19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피해자의 피해액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dirty="0" err="1">
                <a:latin typeface="Times New Roman" panose="02020603050405020304" pitchFamily="18" charset="0"/>
                <a:ea typeface="나눔명조" pitchFamily="18" charset="-127"/>
              </a:rPr>
              <a:t>c+d+e+f</a:t>
            </a:r>
            <a:endParaRPr lang="en-US" altLang="ko-KR" sz="19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사회전체의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순편익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dirty="0" err="1">
                <a:latin typeface="Times New Roman" panose="02020603050405020304" pitchFamily="18" charset="0"/>
                <a:ea typeface="나눔명조" pitchFamily="18" charset="-127"/>
              </a:rPr>
              <a:t>a+b</a:t>
            </a:r>
            <a:r>
              <a:rPr lang="en-US" altLang="ko-KR" sz="1900" dirty="0">
                <a:latin typeface="Times New Roman" panose="02020603050405020304" pitchFamily="18" charset="0"/>
                <a:ea typeface="나눔명조" pitchFamily="18" charset="-127"/>
              </a:rPr>
              <a:t>-(</a:t>
            </a:r>
            <a:r>
              <a:rPr lang="en-US" altLang="ko-KR" sz="1900" dirty="0" err="1">
                <a:latin typeface="Times New Roman" panose="02020603050405020304" pitchFamily="18" charset="0"/>
                <a:ea typeface="나눔명조" pitchFamily="18" charset="-127"/>
              </a:rPr>
              <a:t>e+f</a:t>
            </a:r>
            <a:r>
              <a:rPr lang="en-US" altLang="ko-KR" sz="1900" dirty="0">
                <a:latin typeface="Times New Roman" panose="02020603050405020304" pitchFamily="18" charset="0"/>
                <a:ea typeface="나눔명조" pitchFamily="18" charset="-127"/>
              </a:rPr>
              <a:t>)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위 상황에서 정부가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200" baseline="30000" dirty="0">
                <a:latin typeface="Times New Roman" panose="02020603050405020304" pitchFamily="18" charset="0"/>
                <a:ea typeface="나눔명조" pitchFamily="18" charset="-127"/>
              </a:rPr>
              <a:t>*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배출상한을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설정하는 경우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오염원의 편익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dirty="0" err="1">
                <a:latin typeface="Times New Roman" panose="02020603050405020304" pitchFamily="18" charset="0"/>
                <a:ea typeface="나눔명조" pitchFamily="18" charset="-127"/>
              </a:rPr>
              <a:t>a+b+c</a:t>
            </a:r>
            <a:endParaRPr lang="en-US" altLang="ko-KR" sz="1900" dirty="0">
              <a:latin typeface="Times New Roman" panose="02020603050405020304" pitchFamily="18" charset="0"/>
              <a:ea typeface="나눔명조" pitchFamily="18" charset="-127"/>
            </a:endParaRP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피해자의 피해액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=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dirty="0">
                <a:latin typeface="Times New Roman" panose="02020603050405020304" pitchFamily="18" charset="0"/>
                <a:ea typeface="나눔명조" pitchFamily="18" charset="-127"/>
              </a:rPr>
              <a:t>c</a:t>
            </a:r>
          </a:p>
          <a:p>
            <a:pPr lvl="1" eaLnBrk="1" hangingPunct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사회 전체의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순편익이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900" dirty="0" err="1">
                <a:latin typeface="Times New Roman" panose="02020603050405020304" pitchFamily="18" charset="0"/>
                <a:ea typeface="나눔명조" pitchFamily="18" charset="-127"/>
              </a:rPr>
              <a:t>e+f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만큼 증가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이 과정에서 오염피해자의 후생은 증대된 반면 오염원의 후생은 줄어듦</a:t>
            </a:r>
          </a:p>
        </p:txBody>
      </p:sp>
      <p:sp>
        <p:nvSpPr>
          <p:cNvPr id="20484" name="바닥글 개체 틀 4">
            <a:extLst>
              <a:ext uri="{FF2B5EF4-FFF2-40B4-BE49-F238E27FC236}">
                <a16:creationId xmlns:a16="http://schemas.microsoft.com/office/drawing/2014/main" id="{693F0931-E06E-40E4-AAFB-633FC571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20485" name="슬라이드 번호 개체 틀 5">
            <a:extLst>
              <a:ext uri="{FF2B5EF4-FFF2-40B4-BE49-F238E27FC236}">
                <a16:creationId xmlns:a16="http://schemas.microsoft.com/office/drawing/2014/main" id="{6F3D45CD-DBA6-4F74-9138-057252F7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59938F-1DE1-4993-BF0B-468D5DB3EB0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A8CF6966-3075-4B88-8481-50CCB9008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BBEDAB59-81CC-4353-A961-59C589CBB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285" y="2270896"/>
            <a:ext cx="3663782" cy="284960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AEEC5E94-419F-4A44-B5CA-C898AE99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Rectangle 7">
            <a:extLst>
              <a:ext uri="{FF2B5EF4-FFF2-40B4-BE49-F238E27FC236}">
                <a16:creationId xmlns:a16="http://schemas.microsoft.com/office/drawing/2014/main" id="{4BB8F904-030D-4231-BAE4-646E7BDF7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환경정책이 고소득층과 저소득층에 분배되는 형태 검토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환경재는 정상재로서 소비자는 소득이 증가할수록 높은 환경질을 선호함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빈곤층과 고소득층이 환경재와 기타 재화에 대해 가지는 선호구조는 동일하다고 가정</a:t>
            </a:r>
          </a:p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위 전제조건하에서 계층별 환경재 수요는 양 계층에 적용되는 환경재의 가격에 따라 결정될 것임</a:t>
            </a:r>
          </a:p>
        </p:txBody>
      </p:sp>
      <p:sp>
        <p:nvSpPr>
          <p:cNvPr id="22532" name="바닥글 개체 틀 4">
            <a:extLst>
              <a:ext uri="{FF2B5EF4-FFF2-40B4-BE49-F238E27FC236}">
                <a16:creationId xmlns:a16="http://schemas.microsoft.com/office/drawing/2014/main" id="{D3ED3F83-5110-4CE8-AFC1-E57489EC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22533" name="슬라이드 번호 개체 틀 5">
            <a:extLst>
              <a:ext uri="{FF2B5EF4-FFF2-40B4-BE49-F238E27FC236}">
                <a16:creationId xmlns:a16="http://schemas.microsoft.com/office/drawing/2014/main" id="{8513E2A2-963B-4ECD-9E17-4A95F1FD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88BBA3-40FB-4657-AFFB-B1F235D6F52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B1289F66-CE1A-4035-844F-E83AB1924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2F917842-F085-49F4-8BF7-F0AFD2606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894E0E45-CDD6-4000-835E-BA9336AA3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1898B1EF-B2F6-48C0-9EB5-C7595C404F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정부가 소득수준과 상관없이 동일한 비용을 모든 계층에 적용하는 경우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ko-KR">
                <a:latin typeface="나눔명조" pitchFamily="18" charset="-127"/>
                <a:ea typeface="나눔명조" pitchFamily="18" charset="-127"/>
              </a:rPr>
              <a:t>   (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동일하게 적용되는 국립공원 입장료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세로축은 환경재를 제외한 모든 재화나 용역의 소비량이며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가로축은 환경재 소비량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주어진 가격조건 하에서 </a:t>
            </a:r>
            <a:r>
              <a:rPr lang="en-US" altLang="ko-KR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선은 고소득층의 예산선이고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en-US" altLang="ko-KR" baseline="30000">
                <a:latin typeface="Times New Roman" panose="02020603050405020304" pitchFamily="18" charset="0"/>
                <a:ea typeface="나눔명조" pitchFamily="18" charset="-127"/>
              </a:rPr>
              <a:t>P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는 저소득층의 예산선</a:t>
            </a:r>
          </a:p>
          <a:p>
            <a:pPr lvl="1" eaLnBrk="1" hangingPunct="1"/>
            <a:r>
              <a:rPr lang="en-US" altLang="ko-KR">
                <a:latin typeface="Times New Roman" panose="02020603050405020304" pitchFamily="18" charset="0"/>
                <a:ea typeface="나눔명조" pitchFamily="18" charset="-127"/>
              </a:rPr>
              <a:t>I</a:t>
            </a:r>
            <a:r>
              <a:rPr lang="en-US" altLang="ko-KR" baseline="30000">
                <a:latin typeface="Times New Roman" panose="02020603050405020304" pitchFamily="18" charset="0"/>
                <a:ea typeface="나눔명조" pitchFamily="18" charset="-127"/>
              </a:rPr>
              <a:t>R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en-US" altLang="ko-KR">
                <a:latin typeface="Times New Roman" panose="02020603050405020304" pitchFamily="18" charset="0"/>
                <a:ea typeface="나눔명조" pitchFamily="18" charset="-127"/>
              </a:rPr>
              <a:t>I</a:t>
            </a:r>
            <a:r>
              <a:rPr lang="en-US" altLang="ko-KR" baseline="30000">
                <a:latin typeface="Times New Roman" panose="02020603050405020304" pitchFamily="18" charset="0"/>
                <a:ea typeface="나눔명조" pitchFamily="18" charset="-127"/>
              </a:rPr>
              <a:t>P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는 각 계층의 예산선에 접하는 </a:t>
            </a:r>
            <a:r>
              <a:rPr lang="ko-KR" altLang="en-US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무차별곡선</a:t>
            </a:r>
            <a:r>
              <a:rPr lang="en-US" altLang="ko-KR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(indifference curve)</a:t>
            </a:r>
            <a:endParaRPr lang="ko-KR" altLang="en-US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ko-KR" altLang="en-US" sz="2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0" name="바닥글 개체 틀 4">
            <a:extLst>
              <a:ext uri="{FF2B5EF4-FFF2-40B4-BE49-F238E27FC236}">
                <a16:creationId xmlns:a16="http://schemas.microsoft.com/office/drawing/2014/main" id="{42D022FC-6C6D-46B6-B657-CCBCC113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24581" name="슬라이드 번호 개체 틀 5">
            <a:extLst>
              <a:ext uri="{FF2B5EF4-FFF2-40B4-BE49-F238E27FC236}">
                <a16:creationId xmlns:a16="http://schemas.microsoft.com/office/drawing/2014/main" id="{CFB3E1BD-923E-4C43-9E74-0EAD1D4C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C11C91-677F-4351-8485-0C028E48C79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C27286B3-A7D5-4A5A-A912-34132260E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14F1C005-D249-4E0C-968C-CD9CBD9A7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4BB14E90-AAA4-476F-A80D-2B664429C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Rectangle 7">
            <a:extLst>
              <a:ext uri="{FF2B5EF4-FFF2-40B4-BE49-F238E27FC236}">
                <a16:creationId xmlns:a16="http://schemas.microsoft.com/office/drawing/2014/main" id="{0F2234D8-574D-4EA1-9694-BBA0FF1343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6163" y="15176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소비자 효용극대화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예산선과 무차별곡선이 접하는 곳에서 환경재와 기타 재화의 소비를 결정할 때 달성</a:t>
            </a: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고소득층은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환경재를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저소득층은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P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환경재를 선택할 것임</a:t>
            </a: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D023934D-2324-49D0-A4DE-B11E0035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2B672D4E-BBED-4E65-87C3-BC6DD857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FFFCF3-4470-4351-9CE2-A8D76253EC8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9E483ED5-DC25-41D4-A45D-72688F487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8CE9CB48-DFFA-4070-B5AE-38A32F684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6632" name="그림 7" descr="Cap 2014-06-19 09-51-40-491.png">
            <a:extLst>
              <a:ext uri="{FF2B5EF4-FFF2-40B4-BE49-F238E27FC236}">
                <a16:creationId xmlns:a16="http://schemas.microsoft.com/office/drawing/2014/main" id="{449FE970-097E-4F1E-8E93-CCCA2DAC2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927350"/>
            <a:ext cx="59213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6BC1EB98-743C-48C7-A08B-5358D61EF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751877B4-666A-48EC-B207-56B528FCDE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환경재의 단위당 가격이 고소득층에 더 높게 책정되며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그 가격 차이가 매우 클 경우 오히려 저소득층의 환경재 수요가 더 클 수 있음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누진세</a:t>
            </a:r>
            <a:r>
              <a:rPr lang="en-US" altLang="ko-KR" sz="18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(progressive tax)</a:t>
            </a:r>
            <a:endParaRPr lang="ko-KR" altLang="en-US" sz="1800" b="1">
              <a:solidFill>
                <a:srgbClr val="0000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F8977DB6-8235-4684-8217-7CED9614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5AD43BB3-E868-44D5-9412-7AB5144E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232F32-934D-4E4E-9D0F-0CB3CD2173E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4E3DA154-B23D-4912-BA3C-80342F9FB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D1EAF33B-C5C6-45DD-BA98-1934FFEBE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8680" name="그림 7" descr="Cap 2014-06-19 09-51-48-962.png">
            <a:extLst>
              <a:ext uri="{FF2B5EF4-FFF2-40B4-BE49-F238E27FC236}">
                <a16:creationId xmlns:a16="http://schemas.microsoft.com/office/drawing/2014/main" id="{396FD7D9-2EEF-4710-A538-ED9C1B6B1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798763"/>
            <a:ext cx="6203950" cy="359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B2554141-384C-4D22-AF31-E3AE5991A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계층별 영향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2D387CB8-0FB6-4771-9C5A-F7AC066C9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현실의 환경정책은 대부분 비용의 조달방식이 크게 누진적이지 않으며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심지어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역진적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(regressive)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 경우도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현실에서는 고소득층의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환경재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수요가 더 높을 것임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결론적으로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환경정책의 도입은 규제대상이 되는 계층과 환경개선의 편익을 주로 얻는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계층간에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반대방향의 이해관계를 불러일으킴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또한 소득수준에 따라 정책을 원하는 정도가 다름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정부는 각 계층으로부터의 압력이나 민원을 고려할 수밖에 없고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정책은 효율성이나 비용 효과성을 충족하지 못할 수 있음</a:t>
            </a: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65C14304-E732-488C-BD41-305CD4C9F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86CBBB45-742F-4611-A50E-B7CA702C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D536F6-ACE5-40E5-A206-FDB626958F1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C393E1DC-DCAF-455A-8634-9E766698D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1999F235-AAE6-45F1-89CA-ED79BCEC3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B3F4F235-F3BF-4ED2-9B8F-3D30B2E7A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목표와 수단 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A2E39287-E570-4653-B77C-FCB1663278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입장이 다른 사회계층별 이해관계를 반영하여 실제로 환경정책을 선택하는 두 가지 방법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다수결의 원칙에 의한 표결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정부가 사회전체의 후생과 집단별 압력을 자신의 의사결정에 반영하여 정책을 선택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정부의 환경관련 정책결정에는 적어도 세 가지 선택이 필요함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환경질의 수준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정책수단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정책담당자</a:t>
            </a:r>
          </a:p>
          <a:p>
            <a:pPr eaLnBrk="1" hangingPunct="1"/>
            <a:endParaRPr lang="ko-KR" altLang="en-US" sz="18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B883C7D4-F128-43D1-8D2A-F82ECE47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16FE62FF-31A7-47E8-8B10-EF2B114F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9A27B9-90B0-4018-BC9C-8968204A384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21D93706-E2B9-4664-A329-20C2C2C2C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5" name="Rectangle 3">
            <a:extLst>
              <a:ext uri="{FF2B5EF4-FFF2-40B4-BE49-F238E27FC236}">
                <a16:creationId xmlns:a16="http://schemas.microsoft.com/office/drawing/2014/main" id="{A5884DB8-7283-413A-BA45-DEEF1A1C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B00A00C3-5522-4233-A142-8CD13B914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다수결 원칙과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999E0CB0-9220-41A3-8BF7-FDD1DB99F2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2557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수질개선과 같은 환경재의 성과물이 사회구성원 모두에게 순편익을 주되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그 정도는 개인별로 다르다고 가정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각 곡선은 개인 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A,B,C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의 편익에서 부담하는 비용을 빼준 순편익을 의미함</a:t>
            </a:r>
          </a:p>
        </p:txBody>
      </p:sp>
      <p:sp>
        <p:nvSpPr>
          <p:cNvPr id="34820" name="바닥글 개체 틀 4">
            <a:extLst>
              <a:ext uri="{FF2B5EF4-FFF2-40B4-BE49-F238E27FC236}">
                <a16:creationId xmlns:a16="http://schemas.microsoft.com/office/drawing/2014/main" id="{276CAA2E-B95A-4124-BC9D-BC338F2D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34821" name="슬라이드 번호 개체 틀 5">
            <a:extLst>
              <a:ext uri="{FF2B5EF4-FFF2-40B4-BE49-F238E27FC236}">
                <a16:creationId xmlns:a16="http://schemas.microsoft.com/office/drawing/2014/main" id="{18B0990E-3CE9-48DA-A041-AF79A9BC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382E46-CA87-4BE0-9A0C-CC57B6AB9C3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4822" name="Rectangle 2">
            <a:extLst>
              <a:ext uri="{FF2B5EF4-FFF2-40B4-BE49-F238E27FC236}">
                <a16:creationId xmlns:a16="http://schemas.microsoft.com/office/drawing/2014/main" id="{CFBF1EE7-6700-4470-A448-98F75487C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4823" name="Rectangle 3">
            <a:extLst>
              <a:ext uri="{FF2B5EF4-FFF2-40B4-BE49-F238E27FC236}">
                <a16:creationId xmlns:a16="http://schemas.microsoft.com/office/drawing/2014/main" id="{4E77F817-76AA-4FCE-9D0A-C77BFA57D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4824" name="그림 8" descr="1.PNG">
            <a:extLst>
              <a:ext uri="{FF2B5EF4-FFF2-40B4-BE49-F238E27FC236}">
                <a16:creationId xmlns:a16="http://schemas.microsoft.com/office/drawing/2014/main" id="{7BD7DC2C-F47D-4E35-9C34-3354FC485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2" y="2503488"/>
            <a:ext cx="4427315" cy="378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30368BF3-5238-43E4-AFA2-FC1FBF84B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다수결 원칙과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E5217CB3-EB91-44F7-8BD9-AA55C0D05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3208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이러한 상황에서 다수결 투표를 하면 개인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B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가장 좋아하는 수질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선택됨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(&lt;Q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 대해 투표하면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   :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B,C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 투표할 것임</a:t>
            </a:r>
          </a:p>
          <a:p>
            <a:pPr lvl="1" eaLnBrk="1" hangingPunct="1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(&gt;Q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)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 대해 투표하면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    :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A,B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 dirty="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에 투표할 것임</a:t>
            </a:r>
          </a:p>
          <a:p>
            <a:pPr eaLnBrk="1" hangingPunct="1"/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중위투표자정리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(median voter theorem)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다수결 원칙을 적용한 결과 가장 가운데 있는 개인이나 계층의 선호를 반영하여 의사결정이 이루어지게 되는 현상</a:t>
            </a: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중위투표자정리가 성립할 조건</a:t>
            </a:r>
          </a:p>
          <a:p>
            <a:pPr lvl="1" eaLnBrk="1" hangingPunct="1"/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차원적 의사결정이어야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각 개인의 순편익곡선이 하나의 봉우리만을 가져야 함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두 가지 전제조건이 충족되지 않을 경우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유일한 합의가 다수결을 통해 얻어지지 못할 수 있음</a:t>
            </a:r>
          </a:p>
        </p:txBody>
      </p:sp>
      <p:sp>
        <p:nvSpPr>
          <p:cNvPr id="36868" name="바닥글 개체 틀 4">
            <a:extLst>
              <a:ext uri="{FF2B5EF4-FFF2-40B4-BE49-F238E27FC236}">
                <a16:creationId xmlns:a16="http://schemas.microsoft.com/office/drawing/2014/main" id="{A49D70D6-DEEC-49F0-BC93-E0592B33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36869" name="슬라이드 번호 개체 틀 5">
            <a:extLst>
              <a:ext uri="{FF2B5EF4-FFF2-40B4-BE49-F238E27FC236}">
                <a16:creationId xmlns:a16="http://schemas.microsoft.com/office/drawing/2014/main" id="{28C39D16-6EB6-4593-BD3C-4D4B206C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37E75E-5F08-44B2-BB83-E61DE5E0027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64F6842F-4A1F-4B8B-BD27-E8655438B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EA846266-2923-4F24-B420-FE7F7ECF9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613CF454-5E1F-4E23-859F-86E481D73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다수결 원칙과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5" name="Rectangle 7">
            <a:extLst>
              <a:ext uri="{FF2B5EF4-FFF2-40B4-BE49-F238E27FC236}">
                <a16:creationId xmlns:a16="http://schemas.microsoft.com/office/drawing/2014/main" id="{2D9EF792-BBF0-481D-904B-0FD6BE362F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1063" y="1225550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다수결 원칙에 의해 유일한 합의를 도출할 수 있더라도 그 결과가 사회적 효율성을 충족한다는 보장은 없음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사회전체의 순편익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</a:t>
            </a:r>
            <a:r>
              <a:rPr lang="en-US" altLang="ko-KR" sz="18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(Q)+U</a:t>
            </a:r>
            <a:r>
              <a:rPr lang="en-US" altLang="ko-KR" sz="18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(Q)+U</a:t>
            </a:r>
            <a:r>
              <a:rPr lang="en-US" altLang="ko-KR" sz="1800" baseline="30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(Q)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이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1800" baseline="3000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에서 극대가 될 이유가 없음</a:t>
            </a: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만약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U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(Q)</a:t>
            </a:r>
            <a:r>
              <a:rPr lang="ko-KR" altLang="en-US" sz="2000">
                <a:latin typeface="Times New Roman" panose="02020603050405020304" pitchFamily="18" charset="0"/>
                <a:ea typeface="나눔명조" pitchFamily="18" charset="-127"/>
              </a:rPr>
              <a:t>의 정점이 아래 그림처럼 좀 더 오른쪽에 위치하면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U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A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(Q)+U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B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(Q)+U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(Q)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를 극대화하는 수준의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가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보다는 커져야 하지만 다수결 투표는 여전히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Q</a:t>
            </a:r>
            <a:r>
              <a:rPr lang="en-US" altLang="ko-KR" sz="2000" baseline="30000">
                <a:latin typeface="Times New Roman" panose="02020603050405020304" pitchFamily="18" charset="0"/>
                <a:ea typeface="나눔명조" pitchFamily="18" charset="-127"/>
              </a:rPr>
              <a:t>B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선택</a:t>
            </a:r>
          </a:p>
          <a:p>
            <a:pPr eaLnBrk="1" hangingPunct="1"/>
            <a:endParaRPr lang="ko-KR" altLang="en-US" sz="18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6" name="바닥글 개체 틀 4">
            <a:extLst>
              <a:ext uri="{FF2B5EF4-FFF2-40B4-BE49-F238E27FC236}">
                <a16:creationId xmlns:a16="http://schemas.microsoft.com/office/drawing/2014/main" id="{95F7BBAF-7BDC-415C-9E98-57B3FE906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38917" name="슬라이드 번호 개체 틀 5">
            <a:extLst>
              <a:ext uri="{FF2B5EF4-FFF2-40B4-BE49-F238E27FC236}">
                <a16:creationId xmlns:a16="http://schemas.microsoft.com/office/drawing/2014/main" id="{78B4AE6E-0125-47A6-952B-2420CDBB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C2DBBA-1C9D-4B4C-B247-4967E5CEAED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06F5B019-1E5E-4941-AD66-0C86BBF8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AA16DF77-BF8B-47BE-9BBD-4719CEDAD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38920" name="그림 7" descr="2.PNG">
            <a:extLst>
              <a:ext uri="{FF2B5EF4-FFF2-40B4-BE49-F238E27FC236}">
                <a16:creationId xmlns:a16="http://schemas.microsoft.com/office/drawing/2014/main" id="{491054CE-720B-4F85-8DB0-74CE78613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3455988"/>
            <a:ext cx="4389438" cy="296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E75DAB62-05F9-47A5-8A3E-49867937C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7">
                <a:extLst>
                  <a:ext uri="{FF2B5EF4-FFF2-40B4-BE49-F238E27FC236}">
                    <a16:creationId xmlns:a16="http://schemas.microsoft.com/office/drawing/2014/main" id="{C30984C1-76B4-4A2F-8262-377369BE3D2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31875" y="1349375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현실에서는 환경정책이 직접투표가 아니라 간접적으로 선택됨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정부가 각계층의 압력을 의식하여 환경규제 수준과 수단 선택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즉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정부는 사회적 순편익과 더불어 각종 이익집단이 자신을 지지해주는 정도를 고려하여 정책을 결정함</a:t>
                </a:r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l-GR" altLang="ko-KR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규제수준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정부의 목적함수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사회전체의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순편익</a:t>
                </a:r>
                <a:endParaRPr lang="ko-KR" altLang="en-US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총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N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개의 이익집단 중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번째 집단이 정부에 대해 지원하는 금전적 혹은 여타의 지원을 화폐액으로 환산한 것</a:t>
                </a:r>
              </a:p>
            </p:txBody>
          </p:sp>
        </mc:Choice>
        <mc:Fallback xmlns="">
          <p:sp>
            <p:nvSpPr>
              <p:cNvPr id="40963" name="Rectangle 7">
                <a:extLst>
                  <a:ext uri="{FF2B5EF4-FFF2-40B4-BE49-F238E27FC236}">
                    <a16:creationId xmlns:a16="http://schemas.microsoft.com/office/drawing/2014/main" id="{C30984C1-76B4-4A2F-8262-377369BE3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1875" y="1349375"/>
                <a:ext cx="7313613" cy="4114800"/>
              </a:xfrm>
              <a:blipFill>
                <a:blip r:embed="rId3"/>
                <a:stretch>
                  <a:fillRect l="-917" t="-889" b="-8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4" name="바닥글 개체 틀 4">
            <a:extLst>
              <a:ext uri="{FF2B5EF4-FFF2-40B4-BE49-F238E27FC236}">
                <a16:creationId xmlns:a16="http://schemas.microsoft.com/office/drawing/2014/main" id="{92542DA8-45F4-4578-BE30-26D01C9D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40965" name="슬라이드 번호 개체 틀 5">
            <a:extLst>
              <a:ext uri="{FF2B5EF4-FFF2-40B4-BE49-F238E27FC236}">
                <a16:creationId xmlns:a16="http://schemas.microsoft.com/office/drawing/2014/main" id="{03BE5281-F23B-40D5-B7DF-A6C1E194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CB9702-F8D3-41BA-8F75-3D7279FBD6B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F04F2155-49CF-4DD2-B3D7-B5C14E239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B4BFB3EB-ABBB-44F8-B20C-1AD6FFEB7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66B1E37B-E27B-469A-81B9-8DD6C323C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11" name="Rectangle 7">
                <a:extLst>
                  <a:ext uri="{FF2B5EF4-FFF2-40B4-BE49-F238E27FC236}">
                    <a16:creationId xmlns:a16="http://schemas.microsoft.com/office/drawing/2014/main" id="{D84006CF-248E-4028-89BA-0F8275E3CD7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04888" y="1335088"/>
                <a:ext cx="7313612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정부의 목적함수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  <a:cs typeface="Times New Roman" panose="02020603050405020304" pitchFamily="18" charset="0"/>
                  </a:rPr>
                  <a:t>를 극대화하는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가 사회적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순편익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를 극대화하는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와 일치하는가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?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각 이익집단은 정부에 대한 지원수준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ko-KR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ko-KR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를 어떻게 결정하는가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?</a:t>
                </a:r>
                <a:endParaRPr lang="ko-KR" altLang="en-US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정부가 정책변수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를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선택하면 이익집단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얻는 순편익은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이고 이를 극대화하고자 할 것임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각 이익집단의 선택이 구성원 모두의 이익을 반영한다면 다음의 조건을 충족할 것임</a:t>
                </a:r>
              </a:p>
              <a:p>
                <a:pPr lvl="1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즉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t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를 한 단위 늘리도록 하기 위해 정부에게 지원해주어야 하는 금액과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 t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한 단위 변화로 인해 구성원이 얻는 편익 증가 정도가 일치하도록 지원금액을 선택함</a:t>
                </a:r>
              </a:p>
            </p:txBody>
          </p:sp>
        </mc:Choice>
        <mc:Fallback xmlns="">
          <p:sp>
            <p:nvSpPr>
              <p:cNvPr id="43011" name="Rectangle 7">
                <a:extLst>
                  <a:ext uri="{FF2B5EF4-FFF2-40B4-BE49-F238E27FC236}">
                    <a16:creationId xmlns:a16="http://schemas.microsoft.com/office/drawing/2014/main" id="{D84006CF-248E-4028-89BA-0F8275E3CD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4888" y="1335088"/>
                <a:ext cx="7313612" cy="4114800"/>
              </a:xfrm>
              <a:blipFill>
                <a:blip r:embed="rId3"/>
                <a:stretch>
                  <a:fillRect l="-917" t="-593" r="-750" b="-9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2" name="바닥글 개체 틀 4">
            <a:extLst>
              <a:ext uri="{FF2B5EF4-FFF2-40B4-BE49-F238E27FC236}">
                <a16:creationId xmlns:a16="http://schemas.microsoft.com/office/drawing/2014/main" id="{0272B100-AD14-4C8D-9993-A2982D3C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43013" name="슬라이드 번호 개체 틀 5">
            <a:extLst>
              <a:ext uri="{FF2B5EF4-FFF2-40B4-BE49-F238E27FC236}">
                <a16:creationId xmlns:a16="http://schemas.microsoft.com/office/drawing/2014/main" id="{50AF0B27-1CF4-44C0-8AF8-23AE29BD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6B46C0-7CA9-4883-B870-6371DEEE32E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4FFBF317-8AC4-4D8F-9A8D-A5721ADC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45D951DD-009B-43E1-8F2E-CF9E14BDD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6D61999D-BF27-449E-B328-15645301F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7">
                <a:extLst>
                  <a:ext uri="{FF2B5EF4-FFF2-40B4-BE49-F238E27FC236}">
                    <a16:creationId xmlns:a16="http://schemas.microsoft.com/office/drawing/2014/main" id="{36303CD7-E1B4-4DD3-931D-C94BE6DF95C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위 조건은 다음을 의미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K</a:t>
                </a:r>
                <a:r>
                  <a:rPr lang="en-US" altLang="ko-KR" sz="1800" baseline="30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정책변수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t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의존하지 않는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상숫값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임을 이용하면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G(t)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다음과 같음 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l-GR" altLang="ko-K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l-GR" altLang="ko-K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</a:endParaRPr>
              </a:p>
              <a:p>
                <a:pPr eaLnBrk="1" hangingPunct="1"/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들은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t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 영향을 받지 않는 상수이므로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결국 정부는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극대화하기 위해 사회적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순편익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극대화하는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t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선택하게 됨</a:t>
                </a:r>
              </a:p>
              <a:p>
                <a:pPr eaLnBrk="1" hangingPunct="1"/>
                <a:endParaRPr lang="ko-KR" altLang="en-US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5059" name="Rectangle 7">
                <a:extLst>
                  <a:ext uri="{FF2B5EF4-FFF2-40B4-BE49-F238E27FC236}">
                    <a16:creationId xmlns:a16="http://schemas.microsoft.com/office/drawing/2014/main" id="{36303CD7-E1B4-4DD3-931D-C94BE6DF9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  <a:blipFill>
                <a:blip r:embed="rId3"/>
                <a:stretch>
                  <a:fillRect l="-750" t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0" name="바닥글 개체 틀 4">
            <a:extLst>
              <a:ext uri="{FF2B5EF4-FFF2-40B4-BE49-F238E27FC236}">
                <a16:creationId xmlns:a16="http://schemas.microsoft.com/office/drawing/2014/main" id="{555B712D-E402-4105-A462-32874488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45061" name="슬라이드 번호 개체 틀 5">
            <a:extLst>
              <a:ext uri="{FF2B5EF4-FFF2-40B4-BE49-F238E27FC236}">
                <a16:creationId xmlns:a16="http://schemas.microsoft.com/office/drawing/2014/main" id="{26F2D4D1-9206-4F19-B8AA-16D005BC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35628E-CEA2-4DC8-95F6-94A543E63CA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2355FBDD-6C5B-4A1C-8942-50DE17A1C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BD07E934-059E-4CEB-895D-C9549DF65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C4A33FD0-694F-484D-88C8-C4B77F559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7">
                <a:extLst>
                  <a:ext uri="{FF2B5EF4-FFF2-40B4-BE49-F238E27FC236}">
                    <a16:creationId xmlns:a16="http://schemas.microsoft.com/office/drawing/2014/main" id="{30C3B197-0BA0-47E6-8712-CE2568A7293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정부가 이익집단의 영향을 반영하여 정책을 선택할지라도 다음 조건을 만족할 경우 사회적 최적에 도달할 수 있음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개별 국민 모두가 각각 어떤 하나의 이익집단에 속해 있고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(1)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각 이익집단이 구성원들의 이익을 빠짐없이 반영할 경우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(2)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</m:t>
                      </m:r>
                      <m:f>
                        <m:fPr>
                          <m:ctrl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ko-KR" alt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ko-KR" alt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⋯(2)</m:t>
                      </m:r>
                    </m:oMath>
                  </m:oMathPara>
                </a14:m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이익집단에 관한 고전적 연구에 따르면 이익집단 형성에는 무임승차문제가 개입됨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(Olson, 1965)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이익집단의 활동은 비용을 필요로 하지만 그 비용을 지불하지 않은 구성원도 활동의 혜택을 누릴 수 있음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예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노동조합 활동으로 인한 임금인상으로 노조에 가입하지 않은 노동자도 혜택을 받음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무임승차문제 등으로 인해 위의 두 조건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(1), (2)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가 충족되지 못할 가능성</a:t>
                </a:r>
              </a:p>
            </p:txBody>
          </p:sp>
        </mc:Choice>
        <mc:Fallback xmlns="">
          <p:sp>
            <p:nvSpPr>
              <p:cNvPr id="47107" name="Rectangle 7">
                <a:extLst>
                  <a:ext uri="{FF2B5EF4-FFF2-40B4-BE49-F238E27FC236}">
                    <a16:creationId xmlns:a16="http://schemas.microsoft.com/office/drawing/2014/main" id="{30C3B197-0BA0-47E6-8712-CE2568A729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  <a:blipFill>
                <a:blip r:embed="rId3"/>
                <a:stretch>
                  <a:fillRect l="-750" t="-889" b="-143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바닥글 개체 틀 4">
            <a:extLst>
              <a:ext uri="{FF2B5EF4-FFF2-40B4-BE49-F238E27FC236}">
                <a16:creationId xmlns:a16="http://schemas.microsoft.com/office/drawing/2014/main" id="{C5FFDFA7-D3A3-410F-B14A-F53D0CC3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B008F181-DEAC-4E81-8B69-9FD559A5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4D0DD5-59C9-47D4-85E6-33621987197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10" name="Rectangle 2">
            <a:extLst>
              <a:ext uri="{FF2B5EF4-FFF2-40B4-BE49-F238E27FC236}">
                <a16:creationId xmlns:a16="http://schemas.microsoft.com/office/drawing/2014/main" id="{97D54F97-0DDB-4FEF-8F08-B6C83025A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1" name="Rectangle 3">
            <a:extLst>
              <a:ext uri="{FF2B5EF4-FFF2-40B4-BE49-F238E27FC236}">
                <a16:creationId xmlns:a16="http://schemas.microsoft.com/office/drawing/2014/main" id="{CF19F9B5-2ECA-490B-A88B-D2FBF209C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>
            <a:extLst>
              <a:ext uri="{FF2B5EF4-FFF2-40B4-BE49-F238E27FC236}">
                <a16:creationId xmlns:a16="http://schemas.microsoft.com/office/drawing/2014/main" id="{3FAB0E80-1727-479C-BE75-6E1C375C7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82B87C1E-52D3-45C0-A748-BB3C19A3C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무임승차문제</a:t>
            </a:r>
            <a:r>
              <a:rPr lang="en-US" altLang="ko-KR" sz="27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700" dirty="0">
                <a:latin typeface="나눔명조" pitchFamily="18" charset="-127"/>
                <a:ea typeface="나눔명조" pitchFamily="18" charset="-127"/>
              </a:rPr>
              <a:t>세 개의 환경운동단체가 자동차 연비에 대한 보다 강한 규제를 도입하도록 정부에 압력을 넣는 상황을 가정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정부가 규제를 강화할 때 각 환경단체가 얻게 되는 편익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환경단체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A: 100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환경단체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B: 60</a:t>
            </a: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환경단체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C: 30</a:t>
            </a:r>
          </a:p>
          <a:p>
            <a:pPr lvl="1" eaLnBrk="1" hangingPunct="1"/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환경단체가 정부를 상대로 로비나 압력행사를 하기 위해서는 각각 </a:t>
            </a:r>
            <a:r>
              <a:rPr lang="en-US" altLang="ko-KR" sz="2300" dirty="0"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 sz="2300" dirty="0">
                <a:latin typeface="나눔명조" pitchFamily="18" charset="-127"/>
                <a:ea typeface="나눔명조" pitchFamily="18" charset="-127"/>
              </a:rPr>
              <a:t>의 비용을 투자해야 함</a:t>
            </a:r>
          </a:p>
        </p:txBody>
      </p:sp>
      <p:sp>
        <p:nvSpPr>
          <p:cNvPr id="49156" name="바닥글 개체 틀 4">
            <a:extLst>
              <a:ext uri="{FF2B5EF4-FFF2-40B4-BE49-F238E27FC236}">
                <a16:creationId xmlns:a16="http://schemas.microsoft.com/office/drawing/2014/main" id="{CD82760E-923B-4024-9939-58940D3A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49157" name="슬라이드 번호 개체 틀 5">
            <a:extLst>
              <a:ext uri="{FF2B5EF4-FFF2-40B4-BE49-F238E27FC236}">
                <a16:creationId xmlns:a16="http://schemas.microsoft.com/office/drawing/2014/main" id="{BE507806-94C5-41E3-8812-09C77177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11DB64-6326-48A6-9948-870C335E0C1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81D2D83B-A6B7-40A9-87A1-848D24C91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9" name="Rectangle 3">
            <a:extLst>
              <a:ext uri="{FF2B5EF4-FFF2-40B4-BE49-F238E27FC236}">
                <a16:creationId xmlns:a16="http://schemas.microsoft.com/office/drawing/2014/main" id="{3BC221C8-14AC-4D6B-8ABB-54E8BD4A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94B319EF-947D-45E9-AFBB-CC9E7AE77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-19685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585C6072-DACE-4B7F-AF5D-0593E4E09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7738" y="1208088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정부가 규제강화 쪽으로 움직일 확률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하나의 환경단체만 활동할 경우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0.25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두 개의 환경단체가 활동할 경우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0.6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세 개의 환경단체가 모두 활동할 경우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0.8</a:t>
            </a:r>
          </a:p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다른 단체가 활동하지 않는 상황에서 환경단체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는 활동을 시작할 것임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환경단체 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의 편익 기대치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100*0.25=25 &gt; 20(=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활동비용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)</a:t>
            </a:r>
            <a:endParaRPr lang="ko-KR" altLang="en-US" sz="18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가 활동하는 상황에서 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B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단체 또한 활동을 시작할 것임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자신도 활동하면 정부를 움직일 확률이 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0.6-0.25=0.35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만큼 증가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환경단체 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B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의 편익 기대치 상승분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60*0.35=21 &gt; 20</a:t>
            </a:r>
            <a:endParaRPr lang="ko-KR" altLang="en-US" sz="18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C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경우 위 상황에서 활동을 하지 않을 것임</a:t>
            </a:r>
          </a:p>
          <a:p>
            <a:pPr lvl="1" eaLnBrk="1" hangingPunct="1"/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C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의 편익 기대치 상승분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: 30*0.2=6 &lt; 20</a:t>
            </a:r>
          </a:p>
          <a:p>
            <a:pPr eaLnBrk="1" hangingPunct="1"/>
            <a:endParaRPr lang="en-US" altLang="ko-KR" sz="18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1204" name="바닥글 개체 틀 4">
            <a:extLst>
              <a:ext uri="{FF2B5EF4-FFF2-40B4-BE49-F238E27FC236}">
                <a16:creationId xmlns:a16="http://schemas.microsoft.com/office/drawing/2014/main" id="{960E1D9C-33C9-4E9D-8569-FB43202A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51205" name="슬라이드 번호 개체 틀 5">
            <a:extLst>
              <a:ext uri="{FF2B5EF4-FFF2-40B4-BE49-F238E27FC236}">
                <a16:creationId xmlns:a16="http://schemas.microsoft.com/office/drawing/2014/main" id="{05C32D4C-C5C5-438A-BA74-568972C4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4D8333-A55E-4EBC-99A0-BB80E3B2C00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87F78B2F-D71C-444A-BD0D-497AF9DAE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7" name="Rectangle 3">
            <a:extLst>
              <a:ext uri="{FF2B5EF4-FFF2-40B4-BE49-F238E27FC236}">
                <a16:creationId xmlns:a16="http://schemas.microsoft.com/office/drawing/2014/main" id="{4B3D5B88-477B-4C9D-B9E0-500BAA02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>
            <a:extLst>
              <a:ext uri="{FF2B5EF4-FFF2-40B4-BE49-F238E27FC236}">
                <a16:creationId xmlns:a16="http://schemas.microsoft.com/office/drawing/2014/main" id="{B05481B7-C283-4853-AF07-18960507B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이익집단과 정책선택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3251" name="Rectangle 7">
            <a:extLst>
              <a:ext uri="{FF2B5EF4-FFF2-40B4-BE49-F238E27FC236}">
                <a16:creationId xmlns:a16="http://schemas.microsoft.com/office/drawing/2014/main" id="{B9395071-64CF-4FBF-B2B9-E02405424F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9208" y="122698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환경단체 모두의 입장을 고려하면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도 활동을 해야함</a:t>
            </a: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활동을 시작하면 규제도입 확률이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0.2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상승하여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환경단체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100*0.2=20, B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60*0.2=12, 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30*0.2=6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추가편익이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위 추가편익의 합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38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비용인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보다 큼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규제수준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주체 등의 선택에 있어 경제 내의 다양한 이익집단이 정부의 선택에 영향을 미치게 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결과 얻어지는 최종 선택은 각 이익집단이 구성원의 전체 이익을 얼마나 잘 반영하도록 구성되고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활동하느냐와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그에 대해 정부가 어떻게 반응하느냐에 달려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최종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자원배분과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환경오염 수준이 사회 전체 구성원의 순편익을 극대화하는 가장 효율적인 상태와 일치할 것인지의 여부는 단정하기 어려움</a:t>
            </a:r>
          </a:p>
        </p:txBody>
      </p:sp>
      <p:sp>
        <p:nvSpPr>
          <p:cNvPr id="53252" name="바닥글 개체 틀 4">
            <a:extLst>
              <a:ext uri="{FF2B5EF4-FFF2-40B4-BE49-F238E27FC236}">
                <a16:creationId xmlns:a16="http://schemas.microsoft.com/office/drawing/2014/main" id="{0C48DBC8-A173-4F44-88F3-794F8DCF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53253" name="슬라이드 번호 개체 틀 5">
            <a:extLst>
              <a:ext uri="{FF2B5EF4-FFF2-40B4-BE49-F238E27FC236}">
                <a16:creationId xmlns:a16="http://schemas.microsoft.com/office/drawing/2014/main" id="{7F9AFF33-DB88-4B24-B353-D47C28BC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692EB9-5617-46CF-93F7-26A0B74CCBA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6F01CFAB-794D-410A-99FF-89DE90E17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25B8C3F6-C102-430D-B580-3EF536029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8">
            <a:extLst>
              <a:ext uri="{FF2B5EF4-FFF2-40B4-BE49-F238E27FC236}">
                <a16:creationId xmlns:a16="http://schemas.microsoft.com/office/drawing/2014/main" id="{452BC640-9904-4B16-B04A-D0DAA9FA9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199622"/>
            <a:ext cx="7313613" cy="943377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미국 환경처의 농약 규제 사례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299" name="Rectangle 1029">
            <a:extLst>
              <a:ext uri="{FF2B5EF4-FFF2-40B4-BE49-F238E27FC236}">
                <a16:creationId xmlns:a16="http://schemas.microsoft.com/office/drawing/2014/main" id="{C12D8614-81BA-4545-9A26-123FBC8C20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5838" y="1573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정부가 이익집단의 영향과 사회적 순편익을 동시에 고려하여 의사결정을 내리는 것으로 밝혀진 사례</a:t>
            </a: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미국 환경처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(EPA)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의 농약제품 사용에 대한 승인 혹은 취소 결정 결과 분석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사회적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순편익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W(t)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구성요소</a:t>
            </a:r>
          </a:p>
          <a:p>
            <a:pPr lvl="2" eaLnBrk="1" hangingPunct="1"/>
            <a:r>
              <a:rPr lang="ko-KR" altLang="en-US" sz="1800" u="sng" dirty="0">
                <a:latin typeface="나눔명조" pitchFamily="18" charset="-127"/>
                <a:ea typeface="나눔명조" pitchFamily="18" charset="-127"/>
              </a:rPr>
              <a:t>농약의 피해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농약 사용자의 암 발생확률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잔류농약에 의한 소비자들의 암 발생확률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농약으로 인한 불임가능성 증가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수계 등 환경에 미치는 영향을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변수화하여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반영</a:t>
            </a:r>
          </a:p>
          <a:p>
            <a:pPr lvl="2" eaLnBrk="1" hangingPunct="1"/>
            <a:r>
              <a:rPr lang="ko-KR" altLang="en-US" sz="1800" u="sng" dirty="0">
                <a:latin typeface="나눔명조" pitchFamily="18" charset="-127"/>
                <a:ea typeface="나눔명조" pitchFamily="18" charset="-127"/>
              </a:rPr>
              <a:t>농약의 편익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농약을 사용할 수 없거나 대체농약 사용으로 인한 생산성손실액 등을 변수화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이익집단 압력의 크기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농약생산자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농민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그리고 환경단체의 의견개진 여부를 변수화</a:t>
            </a:r>
            <a:endParaRPr lang="en-US" altLang="ko-KR" sz="21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5300" name="바닥글 개체 틀 4">
            <a:extLst>
              <a:ext uri="{FF2B5EF4-FFF2-40B4-BE49-F238E27FC236}">
                <a16:creationId xmlns:a16="http://schemas.microsoft.com/office/drawing/2014/main" id="{2A85A04D-D8AC-4D53-AA61-4158E7CA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55301" name="슬라이드 번호 개체 틀 5">
            <a:extLst>
              <a:ext uri="{FF2B5EF4-FFF2-40B4-BE49-F238E27FC236}">
                <a16:creationId xmlns:a16="http://schemas.microsoft.com/office/drawing/2014/main" id="{B120C29B-6864-42AE-9A08-8A8C3E5F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C52EB6-B335-49E2-B979-58562155BF6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8">
            <a:extLst>
              <a:ext uri="{FF2B5EF4-FFF2-40B4-BE49-F238E27FC236}">
                <a16:creationId xmlns:a16="http://schemas.microsoft.com/office/drawing/2014/main" id="{CDF5F879-0462-43AA-9F6E-4ACC5E974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152400"/>
            <a:ext cx="7313613" cy="9906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미국 환경처의 농약 규제 사례</a:t>
            </a:r>
            <a:endParaRPr lang="en-US" altLang="ko-KR" dirty="0">
              <a:solidFill>
                <a:srgbClr val="7030A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323" name="Rectangle 1029">
            <a:extLst>
              <a:ext uri="{FF2B5EF4-FFF2-40B4-BE49-F238E27FC236}">
                <a16:creationId xmlns:a16="http://schemas.microsoft.com/office/drawing/2014/main" id="{ADA9C92C-AF4D-4BA7-AD8C-B43D6A48E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5688" y="1546225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크로퍼 외는 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457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건의 심사 중 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212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건의 승인취소 또는 취소권고가 내려진 의사결정을 분석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암 발생확률이나 불임가능성 증가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수질오염 등 환경에 위험성이 높은 농약일수록 승인취소가 결정될 확률이 높음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농약을 금지했을 때의 피해액이 커 농약의 가치가 높을수록 승인취소 확률이 낮음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농약회사나 농민들의 적극적인 의사표시가 있는 경우 승인취소 확률이 낮아지고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환경단체의 의견개진이 있는 경우 승인취소 확률이 높아짐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정부는 사회적 순편익과 이익집단의 영향력을 모두 반영하여 의사결정을 함 </a:t>
            </a:r>
          </a:p>
          <a:p>
            <a:pPr eaLnBrk="1" hangingPunct="1"/>
            <a:endParaRPr lang="en-US" altLang="ko-KR" sz="18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6324" name="바닥글 개체 틀 4">
            <a:extLst>
              <a:ext uri="{FF2B5EF4-FFF2-40B4-BE49-F238E27FC236}">
                <a16:creationId xmlns:a16="http://schemas.microsoft.com/office/drawing/2014/main" id="{23FDC390-254E-4F63-8915-1A1D2FF9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56325" name="슬라이드 번호 개체 틀 5">
            <a:extLst>
              <a:ext uri="{FF2B5EF4-FFF2-40B4-BE49-F238E27FC236}">
                <a16:creationId xmlns:a16="http://schemas.microsoft.com/office/drawing/2014/main" id="{5D6E533B-576D-4E25-82AF-F306629C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3AE7F8-5F82-4DBE-881E-8A8B5DB8A72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>
            <a:extLst>
              <a:ext uri="{FF2B5EF4-FFF2-40B4-BE49-F238E27FC236}">
                <a16:creationId xmlns:a16="http://schemas.microsoft.com/office/drawing/2014/main" id="{09EBBB4A-0143-4B38-99D3-D03E0371F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2875" y="3381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중앙정부와 지방자치단체의 환경정책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BC1E8279-537E-422F-871F-BE834B143D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3300" y="1630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환경정책은 중앙정부에 의해 시행될 수도 있고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반대로 지방정부에 의해 시행될 수도 있음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지방자치단체에 의해 주도되는 환경정책의 상대적 장단점을 평가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중앙정부가 전국적으로 획일화된 오염도기준을 정하는 것에 비해 지방정부가 자기 지역주민의 만족도를 극대화하도록 독자적으로 오염도기준을 설정하는 것이 효율성 측면에서 더 우월한가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과연 지방정부가 자기 지역주민의 만족도를 극대화하는 수준의 환경질 달성을 위해 노력할 것인가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?</a:t>
            </a:r>
            <a:endParaRPr lang="ko-KR" altLang="en-US" sz="20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7348" name="바닥글 개체 틀 4">
            <a:extLst>
              <a:ext uri="{FF2B5EF4-FFF2-40B4-BE49-F238E27FC236}">
                <a16:creationId xmlns:a16="http://schemas.microsoft.com/office/drawing/2014/main" id="{E14D2AE5-EC6E-4219-A429-462A629C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57349" name="슬라이드 번호 개체 틀 5">
            <a:extLst>
              <a:ext uri="{FF2B5EF4-FFF2-40B4-BE49-F238E27FC236}">
                <a16:creationId xmlns:a16="http://schemas.microsoft.com/office/drawing/2014/main" id="{E61967B9-3D81-4A5D-9CC2-3DDF515D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B5E25C-B545-49C3-B2DC-FE802752038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7350" name="Rectangle 2">
            <a:extLst>
              <a:ext uri="{FF2B5EF4-FFF2-40B4-BE49-F238E27FC236}">
                <a16:creationId xmlns:a16="http://schemas.microsoft.com/office/drawing/2014/main" id="{B56F5488-5955-4529-BC6A-6CED172BF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7351" name="Rectangle 3">
            <a:extLst>
              <a:ext uri="{FF2B5EF4-FFF2-40B4-BE49-F238E27FC236}">
                <a16:creationId xmlns:a16="http://schemas.microsoft.com/office/drawing/2014/main" id="{61CB3CA9-4439-41E7-BDDC-7215284D3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D428FD5E-C20E-4CBA-A867-A2F316520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지역단위의 오염도 설정</a:t>
            </a:r>
          </a:p>
        </p:txBody>
      </p:sp>
      <p:sp>
        <p:nvSpPr>
          <p:cNvPr id="59395" name="Rectangle 7">
            <a:extLst>
              <a:ext uri="{FF2B5EF4-FFF2-40B4-BE49-F238E27FC236}">
                <a16:creationId xmlns:a16="http://schemas.microsoft.com/office/drawing/2014/main" id="{E25E6D56-6D7A-49D0-9DCE-8031D06A30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3208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오염물질이 국지적이냐 </a:t>
            </a: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지역적이냐에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 따라 지방자치단체가 주도하는 환경정책의 상대적 우월성이 달라짐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국지적 오염물질의 경우 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오염원이 위치한 지역과 피해가 발생하는 지역이 일치하므로 지방자치단체가 지역여건을 반영하여 주도하는 정책이 더 우월할 것임 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지역적 오염물질의 경우 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오염원이 위치한 지역과 피해지역이 반드시 일치하지 않고 지역 간 외부효과가 발생하므로 지방자치단체가 주도하는 환경정책이 사회 전체 관점에서의 효율성을 달성하긴 어려움</a:t>
            </a:r>
          </a:p>
        </p:txBody>
      </p:sp>
      <p:sp>
        <p:nvSpPr>
          <p:cNvPr id="59396" name="바닥글 개체 틀 4">
            <a:extLst>
              <a:ext uri="{FF2B5EF4-FFF2-40B4-BE49-F238E27FC236}">
                <a16:creationId xmlns:a16="http://schemas.microsoft.com/office/drawing/2014/main" id="{79DEF156-DCF7-42BA-A3AE-6A66852E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59397" name="슬라이드 번호 개체 틀 5">
            <a:extLst>
              <a:ext uri="{FF2B5EF4-FFF2-40B4-BE49-F238E27FC236}">
                <a16:creationId xmlns:a16="http://schemas.microsoft.com/office/drawing/2014/main" id="{AE711145-2E27-4202-B65E-1490449F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FCF38D-3BB1-4A81-A488-66AE9AF76FE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9398" name="Rectangle 2">
            <a:extLst>
              <a:ext uri="{FF2B5EF4-FFF2-40B4-BE49-F238E27FC236}">
                <a16:creationId xmlns:a16="http://schemas.microsoft.com/office/drawing/2014/main" id="{9B3D79DD-A057-45A4-8FAB-53E10BAA0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9399" name="Rectangle 3">
            <a:extLst>
              <a:ext uri="{FF2B5EF4-FFF2-40B4-BE49-F238E27FC236}">
                <a16:creationId xmlns:a16="http://schemas.microsoft.com/office/drawing/2014/main" id="{A13E2D81-A53F-49CD-AE4E-8A1763A36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6">
            <a:extLst>
              <a:ext uri="{FF2B5EF4-FFF2-40B4-BE49-F238E27FC236}">
                <a16:creationId xmlns:a16="http://schemas.microsoft.com/office/drawing/2014/main" id="{07C08F8B-0D34-41F3-809D-3A0E705C91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지역단위의 오염도 설정</a:t>
            </a:r>
          </a:p>
        </p:txBody>
      </p:sp>
      <p:sp>
        <p:nvSpPr>
          <p:cNvPr id="61443" name="Rectangle 7">
            <a:extLst>
              <a:ext uri="{FF2B5EF4-FFF2-40B4-BE49-F238E27FC236}">
                <a16:creationId xmlns:a16="http://schemas.microsoft.com/office/drawing/2014/main" id="{C1177D61-96C5-4A40-9BB2-334AF6D8B6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32080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국지적 오염물질인 경우 지방자치단체 주도 정책의 우월성</a:t>
            </a:r>
          </a:p>
          <a:p>
            <a:pPr lvl="1" eaLnBrk="1" hangingPunct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두 개의 지역 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1,2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의 한계저감비용과 한계피해곡선은 각각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MAC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와 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</a:rPr>
              <a:t>MD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en-US" altLang="ko-KR" sz="1800">
                <a:latin typeface="Times New Roman" panose="02020603050405020304" pitchFamily="18" charset="0"/>
                <a:ea typeface="나눔명조" pitchFamily="18" charset="-127"/>
              </a:rPr>
              <a:t>, MD</a:t>
            </a:r>
            <a:r>
              <a:rPr lang="en-US" altLang="ko-KR" sz="1800" baseline="-2500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임</a:t>
            </a:r>
          </a:p>
        </p:txBody>
      </p:sp>
      <p:sp>
        <p:nvSpPr>
          <p:cNvPr id="61444" name="바닥글 개체 틀 4">
            <a:extLst>
              <a:ext uri="{FF2B5EF4-FFF2-40B4-BE49-F238E27FC236}">
                <a16:creationId xmlns:a16="http://schemas.microsoft.com/office/drawing/2014/main" id="{ADA9CB87-58EF-438A-B8C9-15B59A89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61445" name="슬라이드 번호 개체 틀 5">
            <a:extLst>
              <a:ext uri="{FF2B5EF4-FFF2-40B4-BE49-F238E27FC236}">
                <a16:creationId xmlns:a16="http://schemas.microsoft.com/office/drawing/2014/main" id="{AF92E897-597B-4E40-922B-F9B460A0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C53254-AD35-4F55-8977-0DD29D6AF49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1446" name="Rectangle 2">
            <a:extLst>
              <a:ext uri="{FF2B5EF4-FFF2-40B4-BE49-F238E27FC236}">
                <a16:creationId xmlns:a16="http://schemas.microsoft.com/office/drawing/2014/main" id="{90A34A24-9217-4E5F-84E8-28263958B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1447" name="Rectangle 3">
            <a:extLst>
              <a:ext uri="{FF2B5EF4-FFF2-40B4-BE49-F238E27FC236}">
                <a16:creationId xmlns:a16="http://schemas.microsoft.com/office/drawing/2014/main" id="{03279112-B36C-40BB-8043-3BD8A4893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61448" name="그림 7" descr="Cap 2014-06-19 09-52-14-444.png">
            <a:extLst>
              <a:ext uri="{FF2B5EF4-FFF2-40B4-BE49-F238E27FC236}">
                <a16:creationId xmlns:a16="http://schemas.microsoft.com/office/drawing/2014/main" id="{70599AB2-ADEA-47C2-91BF-094FAD3D2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2381250"/>
            <a:ext cx="6669087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6">
            <a:extLst>
              <a:ext uri="{FF2B5EF4-FFF2-40B4-BE49-F238E27FC236}">
                <a16:creationId xmlns:a16="http://schemas.microsoft.com/office/drawing/2014/main" id="{C8CF5914-A941-4B33-9FD6-9A6094F6B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지역단위의 오염도 설정</a:t>
            </a:r>
          </a:p>
        </p:txBody>
      </p:sp>
      <p:sp>
        <p:nvSpPr>
          <p:cNvPr id="63491" name="Rectangle 7">
            <a:extLst>
              <a:ext uri="{FF2B5EF4-FFF2-40B4-BE49-F238E27FC236}">
                <a16:creationId xmlns:a16="http://schemas.microsoft.com/office/drawing/2014/main" id="{49558E4F-724F-47DE-819B-86064F95D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306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두 지방정부가 자신의 입장에서 최적인 배출량을 결정하는 경우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자기 지역의 한계저감비용과 한계피해가 일치하는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en-US" altLang="ko-KR" sz="200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000" baseline="-25000">
                <a:latin typeface="Times New Roman" panose="02020603050405020304" pitchFamily="18" charset="0"/>
                <a:ea typeface="나눔명조" pitchFamily="18" charset="-127"/>
              </a:rPr>
              <a:t>2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의 배출량을 각각 선택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중앙정부가 두 지역의 지역적 차이를 무시한 채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</a:rPr>
              <a:t>e</a:t>
            </a:r>
            <a:r>
              <a:rPr lang="en-US" altLang="ko-KR" sz="2400" baseline="3000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의 획일화된 배출상한을 정하는 경우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그림의 색칠한 부분만큼 사회적 손실이 발생</a:t>
            </a:r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오염피해가 국지적이고 저감비용이나 피해액의 지역적 차이가 있는 경우 지방자치단체의 독자적인 환경정책이 중앙정부의 획일화된 정책에 비해 더 우월 </a:t>
            </a:r>
          </a:p>
        </p:txBody>
      </p:sp>
      <p:sp>
        <p:nvSpPr>
          <p:cNvPr id="63492" name="바닥글 개체 틀 4">
            <a:extLst>
              <a:ext uri="{FF2B5EF4-FFF2-40B4-BE49-F238E27FC236}">
                <a16:creationId xmlns:a16="http://schemas.microsoft.com/office/drawing/2014/main" id="{ED6E7851-3C92-4B71-8FD5-D54D5949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63493" name="슬라이드 번호 개체 틀 5">
            <a:extLst>
              <a:ext uri="{FF2B5EF4-FFF2-40B4-BE49-F238E27FC236}">
                <a16:creationId xmlns:a16="http://schemas.microsoft.com/office/drawing/2014/main" id="{2AF6B425-ABD8-4B98-B8EA-C96B13FF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802E41-3218-4BB2-8C80-ED9105BA961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4229A224-76D7-4A10-8DA8-4C961890A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3495" name="Rectangle 3">
            <a:extLst>
              <a:ext uri="{FF2B5EF4-FFF2-40B4-BE49-F238E27FC236}">
                <a16:creationId xmlns:a16="http://schemas.microsoft.com/office/drawing/2014/main" id="{FF61C3FF-87B8-4657-952C-4A32D2DD9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>
            <a:extLst>
              <a:ext uri="{FF2B5EF4-FFF2-40B4-BE49-F238E27FC236}">
                <a16:creationId xmlns:a16="http://schemas.microsoft.com/office/drawing/2014/main" id="{4A9197D3-7599-42E0-B675-393CBF4FE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지방자치단체 오염도기준의 적합성</a:t>
            </a:r>
          </a:p>
        </p:txBody>
      </p:sp>
      <p:sp>
        <p:nvSpPr>
          <p:cNvPr id="65539" name="Rectangle 7">
            <a:extLst>
              <a:ext uri="{FF2B5EF4-FFF2-40B4-BE49-F238E27FC236}">
                <a16:creationId xmlns:a16="http://schemas.microsoft.com/office/drawing/2014/main" id="{6D626489-2DF9-458C-895E-0F2FBD846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433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그렇다면 지방정부는 과연 지역주민의 만족도를 극대화하는 수준의 정책목표를 설정할 것인가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지방자치제에서 환경정책이 효율성을 상실할 것이라는 추측의 근거</a:t>
            </a:r>
          </a:p>
          <a:p>
            <a:pPr lvl="2" eaLnBrk="1" hangingPunct="1"/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자본이나 산업시설의 유치와 관련하여 지방정부 간 경쟁이 있어 기업의 유치를 위해 약한 오염규제정책을 사용할 가능성이 있음</a:t>
            </a:r>
          </a:p>
        </p:txBody>
      </p:sp>
      <p:sp>
        <p:nvSpPr>
          <p:cNvPr id="65540" name="바닥글 개체 틀 4">
            <a:extLst>
              <a:ext uri="{FF2B5EF4-FFF2-40B4-BE49-F238E27FC236}">
                <a16:creationId xmlns:a16="http://schemas.microsoft.com/office/drawing/2014/main" id="{14D94F40-923E-4B0E-B97E-6E4DF709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65541" name="슬라이드 번호 개체 틀 5">
            <a:extLst>
              <a:ext uri="{FF2B5EF4-FFF2-40B4-BE49-F238E27FC236}">
                <a16:creationId xmlns:a16="http://schemas.microsoft.com/office/drawing/2014/main" id="{757C3F88-18AD-4910-AB5D-D9C97D5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69E0D3-B381-4D43-81E6-E70634D1823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C3541A78-207E-435B-AFB8-EB60FA61C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8091C2EE-F3CB-45F0-8009-7ED545EB2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>
            <a:extLst>
              <a:ext uri="{FF2B5EF4-FFF2-40B4-BE49-F238E27FC236}">
                <a16:creationId xmlns:a16="http://schemas.microsoft.com/office/drawing/2014/main" id="{3A6F56B9-3DE9-486C-BD88-B797CFB92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지방자치단체 오염도기준의 적합성</a:t>
            </a:r>
          </a:p>
        </p:txBody>
      </p:sp>
      <p:sp>
        <p:nvSpPr>
          <p:cNvPr id="67587" name="Rectangle 7">
            <a:extLst>
              <a:ext uri="{FF2B5EF4-FFF2-40B4-BE49-F238E27FC236}">
                <a16:creationId xmlns:a16="http://schemas.microsoft.com/office/drawing/2014/main" id="{7A7DD3D6-6974-4534-8DD7-72D2260C50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376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하지만 이와 같은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조세경쟁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(tax competition)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에도 불구하고 지방정부가 효율적인 경제 및 환경정책을 시행할 수도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모든 지역은 동질적인 입지 특성을 가지며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지역주민이 동질적이고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지방정부의 정책목표는 지역주민 만족도 극대화라고 가정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지역 간 인구의 이동은 없으나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자본은 자유롭게 이동할 수 있다고 가정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생산량은 자본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노동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오염물질 배출량에 의해 결정되고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자본량과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오염물질 배출량이 많을수록 지역주민의 소득은 늘어남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소득수준이 높을수록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환경질이 높을수록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개인은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높은 만족도를 얻음</a:t>
            </a:r>
          </a:p>
        </p:txBody>
      </p:sp>
      <p:sp>
        <p:nvSpPr>
          <p:cNvPr id="67588" name="바닥글 개체 틀 4">
            <a:extLst>
              <a:ext uri="{FF2B5EF4-FFF2-40B4-BE49-F238E27FC236}">
                <a16:creationId xmlns:a16="http://schemas.microsoft.com/office/drawing/2014/main" id="{0DEC621D-3610-43BE-B8B6-85AA8946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67589" name="슬라이드 번호 개체 틀 5">
            <a:extLst>
              <a:ext uri="{FF2B5EF4-FFF2-40B4-BE49-F238E27FC236}">
                <a16:creationId xmlns:a16="http://schemas.microsoft.com/office/drawing/2014/main" id="{5DFA337B-7AAC-4437-AB5C-4F1AAE2C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815CAB-E24B-4DAE-98BF-FEE04074BDA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67590" name="Rectangle 2">
            <a:extLst>
              <a:ext uri="{FF2B5EF4-FFF2-40B4-BE49-F238E27FC236}">
                <a16:creationId xmlns:a16="http://schemas.microsoft.com/office/drawing/2014/main" id="{4C683D07-B6E9-4A19-865A-617DF2D67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7591" name="Rectangle 3">
            <a:extLst>
              <a:ext uri="{FF2B5EF4-FFF2-40B4-BE49-F238E27FC236}">
                <a16:creationId xmlns:a16="http://schemas.microsoft.com/office/drawing/2014/main" id="{6B786440-D51A-4918-BDC3-376F2D6C6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6">
            <a:extLst>
              <a:ext uri="{FF2B5EF4-FFF2-40B4-BE49-F238E27FC236}">
                <a16:creationId xmlns:a16="http://schemas.microsoft.com/office/drawing/2014/main" id="{D26B5761-5EE2-455A-B057-5A577EDB2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지방자치단체 오염도기준의 적합성</a:t>
            </a:r>
          </a:p>
        </p:txBody>
      </p:sp>
      <p:sp>
        <p:nvSpPr>
          <p:cNvPr id="69635" name="Rectangle 7">
            <a:extLst>
              <a:ext uri="{FF2B5EF4-FFF2-40B4-BE49-F238E27FC236}">
                <a16:creationId xmlns:a16="http://schemas.microsoft.com/office/drawing/2014/main" id="{B046A450-DCC7-4118-8577-0FFC960EF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7588" y="157321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지역주민이 동질적이므로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지방정부는 대표적인 한 지역주민의 만족도를 극대화하는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자본세율과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배출상한을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결정하면 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지방정부는 주민 만족도에 있어 소득과 환경 간의 대립관계를 고려할 것이므로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자본에 대해서는 세금을 부과하지 않고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배출상한은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오염의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한계피해와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한계편익이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일치하는 수준에서 결정함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주민의 동질성이 유지되는 경우 지방정부의 환경정책은 효율성을 달성함</a:t>
            </a:r>
          </a:p>
        </p:txBody>
      </p:sp>
      <p:sp>
        <p:nvSpPr>
          <p:cNvPr id="69636" name="바닥글 개체 틀 4">
            <a:extLst>
              <a:ext uri="{FF2B5EF4-FFF2-40B4-BE49-F238E27FC236}">
                <a16:creationId xmlns:a16="http://schemas.microsoft.com/office/drawing/2014/main" id="{4B0952A4-9DFE-4BA5-BC4E-B588D607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69637" name="슬라이드 번호 개체 틀 5">
            <a:extLst>
              <a:ext uri="{FF2B5EF4-FFF2-40B4-BE49-F238E27FC236}">
                <a16:creationId xmlns:a16="http://schemas.microsoft.com/office/drawing/2014/main" id="{A990380E-8E7E-45F1-9C87-50DC0519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193ED1-EF38-4356-81D9-8953894DB3A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9638" name="Rectangle 2">
            <a:extLst>
              <a:ext uri="{FF2B5EF4-FFF2-40B4-BE49-F238E27FC236}">
                <a16:creationId xmlns:a16="http://schemas.microsoft.com/office/drawing/2014/main" id="{F1217EB3-4B4E-420E-A0F6-C64E60947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9639" name="Rectangle 3">
            <a:extLst>
              <a:ext uri="{FF2B5EF4-FFF2-40B4-BE49-F238E27FC236}">
                <a16:creationId xmlns:a16="http://schemas.microsoft.com/office/drawing/2014/main" id="{4C43B227-651E-4DA7-8053-147835C5D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6">
            <a:extLst>
              <a:ext uri="{FF2B5EF4-FFF2-40B4-BE49-F238E27FC236}">
                <a16:creationId xmlns:a16="http://schemas.microsoft.com/office/drawing/2014/main" id="{6813D209-BA14-446D-8E02-1DAA6D33E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지방자치단체 오염도기준의 적합성</a:t>
            </a: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1AB54759-3236-4E61-8455-7F586508D6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60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위의 결론은 매우 강한 몇 가지 전제 조건하에서만 성립하며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전제 조건이 위반되는 경우의 예는 다음과 같음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지역주민이 이질적인 경우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지역주민 일부는 임금소득자여서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자본량이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늘수록 소득이 증가하지만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나머지 주민은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연금생활자이어서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지역의 환경오염에만 관심을 기울임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정책이 지역주민 가운데 소득을 중요시하는 계층과 환경질을 중요시하는 계층 가운데 어느 쪽이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다수이냐에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의해 결정되며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지역 내 다수계층의 이해만을 반영하도록 결정될 경우 사회적 관점에서의 효율적인 환경질이 달성되지 못함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지방정부가 선택할 수 있는 정책수단 자체가 제한되는 경우</a:t>
            </a:r>
          </a:p>
        </p:txBody>
      </p:sp>
      <p:sp>
        <p:nvSpPr>
          <p:cNvPr id="71684" name="바닥글 개체 틀 4">
            <a:extLst>
              <a:ext uri="{FF2B5EF4-FFF2-40B4-BE49-F238E27FC236}">
                <a16:creationId xmlns:a16="http://schemas.microsoft.com/office/drawing/2014/main" id="{3B6D23E1-F601-4761-95CF-3DABC0C5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71685" name="슬라이드 번호 개체 틀 5">
            <a:extLst>
              <a:ext uri="{FF2B5EF4-FFF2-40B4-BE49-F238E27FC236}">
                <a16:creationId xmlns:a16="http://schemas.microsoft.com/office/drawing/2014/main" id="{B4BB1C35-04F6-461B-AF0F-65EA4D7E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B7035E-5D47-4347-ADC6-F3F2A4E76B4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1686" name="Rectangle 2">
            <a:extLst>
              <a:ext uri="{FF2B5EF4-FFF2-40B4-BE49-F238E27FC236}">
                <a16:creationId xmlns:a16="http://schemas.microsoft.com/office/drawing/2014/main" id="{D17EA27C-756A-4F4C-99FC-35701C767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1687" name="Rectangle 3">
            <a:extLst>
              <a:ext uri="{FF2B5EF4-FFF2-40B4-BE49-F238E27FC236}">
                <a16:creationId xmlns:a16="http://schemas.microsoft.com/office/drawing/2014/main" id="{EF99A15A-2281-41E2-B5CD-5701630C9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6">
            <a:extLst>
              <a:ext uri="{FF2B5EF4-FFF2-40B4-BE49-F238E27FC236}">
                <a16:creationId xmlns:a16="http://schemas.microsoft.com/office/drawing/2014/main" id="{D3CE3227-AE76-4E63-B381-C34063B1D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지방자치단체 오염도기준의 적합성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405D3ADF-27AD-406E-BD5F-1B7418E5AA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60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위의 결론은 매우 강한 몇 가지 전제 조건하에서만 성립하며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전제 조건이 위반되는 경우의 예는 다음과 같음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계속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지방정부 간 규모 차이가 커 일부 지방정부가 마치 독점기업과 같은 영향력을 행사하는 경우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환경오염의 영향이 여타 지역에도 영향을 주어 지역 간 외부효과가 존재하는 경우</a:t>
            </a:r>
          </a:p>
          <a:p>
            <a:pPr lvl="1" eaLnBrk="1" hangingPunct="1"/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지방정부가 관료집단의 이해관계나 다른 어떤 이유로 인해 사회적 최적 수준보다 더 많은 조세를 걷고자 하는 경우</a:t>
            </a:r>
          </a:p>
        </p:txBody>
      </p:sp>
      <p:sp>
        <p:nvSpPr>
          <p:cNvPr id="73732" name="바닥글 개체 틀 4">
            <a:extLst>
              <a:ext uri="{FF2B5EF4-FFF2-40B4-BE49-F238E27FC236}">
                <a16:creationId xmlns:a16="http://schemas.microsoft.com/office/drawing/2014/main" id="{5BF724F2-2BB6-434B-B73A-319F8F73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73733" name="슬라이드 번호 개체 틀 5">
            <a:extLst>
              <a:ext uri="{FF2B5EF4-FFF2-40B4-BE49-F238E27FC236}">
                <a16:creationId xmlns:a16="http://schemas.microsoft.com/office/drawing/2014/main" id="{2AC918A5-0B9D-47CB-B2B0-42201EF9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F39BA6-D6F0-41C6-8984-1C251F0DAB9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3734" name="Rectangle 2">
            <a:extLst>
              <a:ext uri="{FF2B5EF4-FFF2-40B4-BE49-F238E27FC236}">
                <a16:creationId xmlns:a16="http://schemas.microsoft.com/office/drawing/2014/main" id="{38E794D2-F04B-4504-A66F-A18F72912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3735" name="Rectangle 3">
            <a:extLst>
              <a:ext uri="{FF2B5EF4-FFF2-40B4-BE49-F238E27FC236}">
                <a16:creationId xmlns:a16="http://schemas.microsoft.com/office/drawing/2014/main" id="{631BBF96-50FA-4D8D-A659-B2EAB571E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6">
            <a:extLst>
              <a:ext uri="{FF2B5EF4-FFF2-40B4-BE49-F238E27FC236}">
                <a16:creationId xmlns:a16="http://schemas.microsoft.com/office/drawing/2014/main" id="{B7EA7505-40A1-4C48-953F-00083A54B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환경정책의 소득분배 효과</a:t>
            </a:r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0114A5B5-7EC9-43A3-819B-83D105C1DA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03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지금까지의 환경정책에 대한 논의는 효율성에 초점을 맞춤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최근에는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순편익이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계층 간에 배분되는 형태가 많은 주목을 받고 있음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환경정책이 계층 간 불평등을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심화시킨다면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정책 자체가 도입되기 어려움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계층구분을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어떻게 할 것인가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정책의 편익과 비용이 지역별로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소득계층별로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산업별로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자본과 노동과 같은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소득원별로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어떻게 배분되는지 검토할 수 있음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본 절은 소득계층별로 환경정책의 성과물이 어떻게 배분되는지를 검토</a:t>
            </a:r>
          </a:p>
        </p:txBody>
      </p:sp>
      <p:sp>
        <p:nvSpPr>
          <p:cNvPr id="75780" name="바닥글 개체 틀 4">
            <a:extLst>
              <a:ext uri="{FF2B5EF4-FFF2-40B4-BE49-F238E27FC236}">
                <a16:creationId xmlns:a16="http://schemas.microsoft.com/office/drawing/2014/main" id="{6387D320-077E-41AB-89A2-CB0B56F9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75781" name="슬라이드 번호 개체 틀 5">
            <a:extLst>
              <a:ext uri="{FF2B5EF4-FFF2-40B4-BE49-F238E27FC236}">
                <a16:creationId xmlns:a16="http://schemas.microsoft.com/office/drawing/2014/main" id="{9F4C2CF0-28A9-4752-86A5-1D140998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9D174A-DC1D-4F44-AC2E-5909AD094D9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5782" name="Rectangle 2">
            <a:extLst>
              <a:ext uri="{FF2B5EF4-FFF2-40B4-BE49-F238E27FC236}">
                <a16:creationId xmlns:a16="http://schemas.microsoft.com/office/drawing/2014/main" id="{7F3A1D9C-518C-4FFD-9AD6-6972BC6DD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5783" name="Rectangle 3">
            <a:extLst>
              <a:ext uri="{FF2B5EF4-FFF2-40B4-BE49-F238E27FC236}">
                <a16:creationId xmlns:a16="http://schemas.microsoft.com/office/drawing/2014/main" id="{B83F5D8C-B192-41A3-9D0A-2CEAEA97E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6">
            <a:extLst>
              <a:ext uri="{FF2B5EF4-FFF2-40B4-BE49-F238E27FC236}">
                <a16:creationId xmlns:a16="http://schemas.microsoft.com/office/drawing/2014/main" id="{67C60117-66CB-411F-A6C2-F748F909A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편익의 분배</a:t>
            </a:r>
          </a:p>
        </p:txBody>
      </p:sp>
      <p:sp>
        <p:nvSpPr>
          <p:cNvPr id="77827" name="Rectangle 7">
            <a:extLst>
              <a:ext uri="{FF2B5EF4-FFF2-40B4-BE49-F238E27FC236}">
                <a16:creationId xmlns:a16="http://schemas.microsoft.com/office/drawing/2014/main" id="{3038DEEF-15D5-4A4C-8DA1-D7D7BA7A1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0336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특성상 환경정책의 편익은 대체로 고소득층에게 더 많은 혜택을 줌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많은 종류의 환경정책이 ‘깨끗한 곳은 더 깨끗하게’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‘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더러운 곳은 더 더럽게’ 만드는 경향이 있음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또한 고소득층일수록 환경개선을 원하는 정도가 더 큼</a:t>
            </a:r>
            <a:endParaRPr lang="ko-KR" altLang="en-US" sz="24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따라서 환경정책의 편익과 비용이 소득계층별로 분배되는 문제에 관해서는 비용이 어떻게 분배되는지에 관심을 기울여야 함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비용마저도 저소득층에게 불리하게 배분된다면 환경정책은 소득분배에 역행하는 측면을 가지게 됨</a:t>
            </a:r>
          </a:p>
        </p:txBody>
      </p:sp>
      <p:sp>
        <p:nvSpPr>
          <p:cNvPr id="77828" name="바닥글 개체 틀 4">
            <a:extLst>
              <a:ext uri="{FF2B5EF4-FFF2-40B4-BE49-F238E27FC236}">
                <a16:creationId xmlns:a16="http://schemas.microsoft.com/office/drawing/2014/main" id="{70FCBC79-4F9D-4A7D-81B7-30143F4D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77829" name="슬라이드 번호 개체 틀 5">
            <a:extLst>
              <a:ext uri="{FF2B5EF4-FFF2-40B4-BE49-F238E27FC236}">
                <a16:creationId xmlns:a16="http://schemas.microsoft.com/office/drawing/2014/main" id="{5C8DC255-8C3F-44BE-9EE0-EB6918D1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5F21E4-7C9B-4B49-AA60-7E937AFBE2B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7830" name="Rectangle 2">
            <a:extLst>
              <a:ext uri="{FF2B5EF4-FFF2-40B4-BE49-F238E27FC236}">
                <a16:creationId xmlns:a16="http://schemas.microsoft.com/office/drawing/2014/main" id="{7280B8DE-CDAB-43E0-A923-C0A1A2804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7831" name="Rectangle 3">
            <a:extLst>
              <a:ext uri="{FF2B5EF4-FFF2-40B4-BE49-F238E27FC236}">
                <a16:creationId xmlns:a16="http://schemas.microsoft.com/office/drawing/2014/main" id="{6D862A2C-E268-45F7-92F4-1B60EF79F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4CF3-0626-479B-A4DF-FEA08B19DD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전기자동차 보급 편익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3F605-4F11-4232-AF26-5D833307D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latin typeface="나눔명조"/>
              </a:rPr>
              <a:t>홀란드 외</a:t>
            </a:r>
            <a:r>
              <a:rPr lang="en-US" altLang="ko-KR" sz="2000" dirty="0">
                <a:latin typeface="나눔명조"/>
              </a:rPr>
              <a:t>(Holland et al., 2019)</a:t>
            </a:r>
            <a:r>
              <a:rPr lang="ko-KR" altLang="en-US" sz="2000" dirty="0">
                <a:latin typeface="나눔명조"/>
              </a:rPr>
              <a:t>의 미국 자료를 이용한 전기자동차 보급정책 환경편익의 주 수혜자 분석 연구</a:t>
            </a:r>
            <a:endParaRPr lang="en-US" altLang="ko-KR" sz="2000" dirty="0">
              <a:latin typeface="나눔명조"/>
            </a:endParaRPr>
          </a:p>
          <a:p>
            <a:pPr lvl="1"/>
            <a:r>
              <a:rPr lang="ko-KR" altLang="en-US" sz="1600" dirty="0">
                <a:latin typeface="나눔명조"/>
              </a:rPr>
              <a:t>전기자동차는 운행 중 오염물질은 가솔린차에 비해 적게 배출하지만 충전을 위한 전기 생산 과정에서 오염물질을 유발함</a:t>
            </a:r>
            <a:endParaRPr lang="en-US" altLang="ko-KR" sz="1600" dirty="0">
              <a:latin typeface="나눔명조"/>
            </a:endParaRPr>
          </a:p>
          <a:p>
            <a:pPr lvl="2"/>
            <a:r>
              <a:rPr lang="en-US" altLang="ko-KR" sz="1600" dirty="0">
                <a:latin typeface="나눔명조"/>
              </a:rPr>
              <a:t>CO2 </a:t>
            </a:r>
            <a:r>
              <a:rPr lang="ko-KR" altLang="en-US" sz="1600" dirty="0">
                <a:latin typeface="나눔명조"/>
              </a:rPr>
              <a:t>배출은 상대적으로 적지만 발전과정에서 </a:t>
            </a:r>
            <a:r>
              <a:rPr lang="en-US" altLang="ko-KR" sz="1600" dirty="0">
                <a:latin typeface="나눔명조"/>
              </a:rPr>
              <a:t>SO2</a:t>
            </a:r>
            <a:r>
              <a:rPr lang="ko-KR" altLang="en-US" sz="1600" dirty="0">
                <a:latin typeface="나눔명조"/>
              </a:rPr>
              <a:t>와 </a:t>
            </a:r>
            <a:r>
              <a:rPr lang="en-US" altLang="ko-KR" sz="1600" dirty="0">
                <a:latin typeface="나눔명조"/>
              </a:rPr>
              <a:t>PM2.5</a:t>
            </a:r>
            <a:r>
              <a:rPr lang="ko-KR" altLang="en-US" sz="1600" dirty="0">
                <a:latin typeface="나눔명조"/>
              </a:rPr>
              <a:t>를 많이 배출</a:t>
            </a:r>
            <a:endParaRPr lang="en-US" altLang="ko-KR" sz="1600" dirty="0">
              <a:latin typeface="나눔명조"/>
            </a:endParaRPr>
          </a:p>
          <a:p>
            <a:pPr lvl="1"/>
            <a:r>
              <a:rPr lang="ko-KR" altLang="en-US" sz="1600" dirty="0">
                <a:latin typeface="나눔명조"/>
              </a:rPr>
              <a:t>가솔린은 자동차가 운행되는 도시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즉 인구밀집지역의 오염도를 높이지만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전기자동차를 위한 발전시설은 대부분 도시에서는 멀리 떨어진 곳에 위치</a:t>
            </a:r>
            <a:endParaRPr lang="en-US" altLang="ko-KR" sz="1600" dirty="0">
              <a:latin typeface="나눔명조"/>
            </a:endParaRPr>
          </a:p>
          <a:p>
            <a:pPr lvl="1"/>
            <a:r>
              <a:rPr lang="ko-KR" altLang="en-US" sz="1600" dirty="0">
                <a:latin typeface="나눔명조"/>
              </a:rPr>
              <a:t>이 연구는 각 지역별 자동차 등록대수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발전시설과의 거리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거주민의 사회경제적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인종적 분포 등을 조사하여 분석을 시행</a:t>
            </a:r>
            <a:endParaRPr lang="en-US" altLang="ko-KR" sz="1600" dirty="0">
              <a:latin typeface="나눔명조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E65CBA-87A4-4014-AA20-2754D7BB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BDB61D-20A3-410A-9376-B0D628AD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5981F-299D-439C-A3B3-3844F389F7FF}" type="slidenum">
              <a:rPr lang="ko-KR" altLang="en-US" smtClean="0"/>
              <a:pPr/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6122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4CF3-0626-479B-A4DF-FEA08B19DD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전기자동차 보급 편익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3F605-4F11-4232-AF26-5D833307D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latin typeface="나눔명조"/>
              </a:rPr>
              <a:t>홀란드 외</a:t>
            </a:r>
            <a:r>
              <a:rPr lang="en-US" altLang="ko-KR" sz="2000" dirty="0">
                <a:latin typeface="나눔명조"/>
              </a:rPr>
              <a:t>(Holland et al., 2019)</a:t>
            </a:r>
            <a:r>
              <a:rPr lang="ko-KR" altLang="en-US" sz="2000" dirty="0">
                <a:latin typeface="나눔명조"/>
              </a:rPr>
              <a:t>의 미국 자료를 이용한 전기자동차 보급정책 환경편익의 주 수혜자 분석 연구</a:t>
            </a:r>
            <a:endParaRPr lang="en-US" altLang="ko-KR" sz="2000" dirty="0">
              <a:latin typeface="나눔명조"/>
            </a:endParaRPr>
          </a:p>
          <a:p>
            <a:pPr lvl="1"/>
            <a:r>
              <a:rPr lang="ko-KR" altLang="en-US" sz="1600" dirty="0">
                <a:latin typeface="나눔명조"/>
              </a:rPr>
              <a:t>가솔린차의 오염피해는 계층별 집중도가 높고 도시 지역 고소득층에게 더 큰 반면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전기자동차의 오염피해는 운행지역과 떨어진 발전지역에서 주로 발생하기 때문에 상대적으로 계층 간 평등성이 높음</a:t>
            </a:r>
            <a:endParaRPr lang="en-US" altLang="ko-KR" sz="1600" dirty="0">
              <a:latin typeface="나눔명조"/>
            </a:endParaRPr>
          </a:p>
          <a:p>
            <a:pPr lvl="1"/>
            <a:r>
              <a:rPr lang="ko-KR" altLang="en-US" sz="1600" dirty="0">
                <a:latin typeface="나눔명조"/>
              </a:rPr>
              <a:t>따라서 전기자동차로 가솔린차를 대체하는 정책은 중위 연소득이 </a:t>
            </a:r>
            <a:r>
              <a:rPr lang="en-US" altLang="ko-KR" sz="1600" dirty="0">
                <a:latin typeface="나눔명조"/>
              </a:rPr>
              <a:t>65,000</a:t>
            </a:r>
            <a:r>
              <a:rPr lang="ko-KR" altLang="en-US" sz="1600" dirty="0">
                <a:latin typeface="나눔명조"/>
              </a:rPr>
              <a:t>달러 이상인 고소득층에게는 양</a:t>
            </a:r>
            <a:r>
              <a:rPr lang="en-US" altLang="ko-KR" sz="1600" dirty="0">
                <a:latin typeface="나눔명조"/>
              </a:rPr>
              <a:t>(+)</a:t>
            </a:r>
            <a:r>
              <a:rPr lang="ko-KR" altLang="en-US" sz="1600" dirty="0">
                <a:latin typeface="나눔명조"/>
              </a:rPr>
              <a:t>의 편익을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저소득층에게는 부</a:t>
            </a:r>
            <a:r>
              <a:rPr lang="en-US" altLang="ko-KR" sz="1600" dirty="0">
                <a:latin typeface="나눔명조"/>
              </a:rPr>
              <a:t>(-)</a:t>
            </a:r>
            <a:r>
              <a:rPr lang="ko-KR" altLang="en-US" sz="1600" dirty="0">
                <a:latin typeface="나눔명조"/>
              </a:rPr>
              <a:t>의 편익을 가져다 줌</a:t>
            </a:r>
            <a:endParaRPr lang="en-US" altLang="ko-KR" sz="1600" dirty="0">
              <a:latin typeface="나눔명조"/>
            </a:endParaRPr>
          </a:p>
          <a:p>
            <a:pPr lvl="1"/>
            <a:r>
              <a:rPr lang="ko-KR" altLang="en-US" sz="1600" dirty="0">
                <a:latin typeface="나눔명조"/>
              </a:rPr>
              <a:t>인종적으로 보면 흑인과 백인은 음</a:t>
            </a:r>
            <a:r>
              <a:rPr lang="en-US" altLang="ko-KR" sz="1600" dirty="0">
                <a:latin typeface="나눔명조"/>
              </a:rPr>
              <a:t>(-)</a:t>
            </a:r>
            <a:r>
              <a:rPr lang="ko-KR" altLang="en-US" sz="1600" dirty="0">
                <a:latin typeface="나눔명조"/>
              </a:rPr>
              <a:t>의 편익을 얻고 아시아인과 히스패닉은 양</a:t>
            </a:r>
            <a:r>
              <a:rPr lang="en-US" altLang="ko-KR" sz="1600" dirty="0">
                <a:latin typeface="나눔명조"/>
              </a:rPr>
              <a:t>(+)</a:t>
            </a:r>
            <a:r>
              <a:rPr lang="ko-KR" altLang="en-US" sz="1600" dirty="0">
                <a:latin typeface="나눔명조"/>
              </a:rPr>
              <a:t>의 편익을 얻음</a:t>
            </a:r>
            <a:endParaRPr lang="en-US" altLang="ko-KR" sz="1600" dirty="0">
              <a:latin typeface="나눔명조"/>
            </a:endParaRPr>
          </a:p>
          <a:p>
            <a:pPr lvl="2"/>
            <a:r>
              <a:rPr lang="ko-KR" altLang="en-US" sz="1600" dirty="0">
                <a:latin typeface="나눔명조"/>
              </a:rPr>
              <a:t>아시아인과 히스패닉은 주로 캘리포니아와 같은 서부지역에 많이 거주하고</a:t>
            </a:r>
            <a:r>
              <a:rPr lang="en-US" altLang="ko-KR" sz="1600" dirty="0">
                <a:latin typeface="나눔명조"/>
              </a:rPr>
              <a:t>, </a:t>
            </a:r>
            <a:r>
              <a:rPr lang="ko-KR" altLang="en-US" sz="1600" dirty="0">
                <a:latin typeface="나눔명조"/>
              </a:rPr>
              <a:t>서부지역에서 전기자동차 보급편익이 특히 크기 때문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E65CBA-87A4-4014-AA20-2754D7BB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10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BDB61D-20A3-410A-9376-B0D628AD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5981F-299D-439C-A3B3-3844F389F7FF}" type="slidenum">
              <a:rPr lang="ko-KR" altLang="en-US" smtClean="0"/>
              <a:pPr/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4958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6">
            <a:extLst>
              <a:ext uri="{FF2B5EF4-FFF2-40B4-BE49-F238E27FC236}">
                <a16:creationId xmlns:a16="http://schemas.microsoft.com/office/drawing/2014/main" id="{40D44DEE-A739-448B-8C3B-819144D55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비용과 소득분배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9875" name="Rectangle 7">
            <a:extLst>
              <a:ext uri="{FF2B5EF4-FFF2-40B4-BE49-F238E27FC236}">
                <a16:creationId xmlns:a16="http://schemas.microsoft.com/office/drawing/2014/main" id="{B096B885-416A-4CE6-9468-32F33C4F90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이행비용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(transitional costs)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과 </a:t>
            </a:r>
            <a:r>
              <a:rPr lang="ko-KR" altLang="en-US" sz="24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지속비용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(continuing costs)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이행비용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현재의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환경질에서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다른 수준의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변화시키는 과정에서 소요되는 비용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지속비용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목표수준의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환경질을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달성한 후 이를 계속 유지하기 위해 지출해야 하는 비용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이행비용은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산업별 지역별로 다르게 나타남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규제대상 오염물질을 많이 배출하는 산업일수록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그리고 이러한 산업이 밀집된 지역일수록 높은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이행비용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지불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이행비용의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소득계층별 배분은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정책비용을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주로 지불하는 산업이나 지역에 각 계층이 어느 정도로 연관되어 있느냐에 의해 결정</a:t>
            </a:r>
          </a:p>
          <a:p>
            <a:pPr eaLnBrk="1" hangingPunct="1"/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9876" name="바닥글 개체 틀 4">
            <a:extLst>
              <a:ext uri="{FF2B5EF4-FFF2-40B4-BE49-F238E27FC236}">
                <a16:creationId xmlns:a16="http://schemas.microsoft.com/office/drawing/2014/main" id="{1264AE21-90D7-44F9-BD68-DB5A859D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79877" name="슬라이드 번호 개체 틀 5">
            <a:extLst>
              <a:ext uri="{FF2B5EF4-FFF2-40B4-BE49-F238E27FC236}">
                <a16:creationId xmlns:a16="http://schemas.microsoft.com/office/drawing/2014/main" id="{EEFA13E4-971D-470A-9541-9C607026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08519D-1C9B-46D5-87A2-05A79AF8C32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9878" name="Rectangle 2">
            <a:extLst>
              <a:ext uri="{FF2B5EF4-FFF2-40B4-BE49-F238E27FC236}">
                <a16:creationId xmlns:a16="http://schemas.microsoft.com/office/drawing/2014/main" id="{4B1F1A5F-8550-4AA7-86FB-EA1680161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9" name="Rectangle 3">
            <a:extLst>
              <a:ext uri="{FF2B5EF4-FFF2-40B4-BE49-F238E27FC236}">
                <a16:creationId xmlns:a16="http://schemas.microsoft.com/office/drawing/2014/main" id="{1D06262B-601D-4D51-9023-BFAC5FF12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>
            <a:extLst>
              <a:ext uri="{FF2B5EF4-FFF2-40B4-BE49-F238E27FC236}">
                <a16:creationId xmlns:a16="http://schemas.microsoft.com/office/drawing/2014/main" id="{87CD2F94-EA72-43BD-81C1-2F1C1E463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비용과 소득분배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1923" name="Rectangle 7">
            <a:extLst>
              <a:ext uri="{FF2B5EF4-FFF2-40B4-BE49-F238E27FC236}">
                <a16:creationId xmlns:a16="http://schemas.microsoft.com/office/drawing/2014/main" id="{D16DFC06-7F8C-4FA1-977B-DD70FCB6D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433513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이행비용은 실업률과 관련됨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환경정책으로 인한 생산규모 축소와 실직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실직위험에는 하위직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/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비정규직이 더 취약하여 환경정책의 이행비용은 저소득층이 더 많이 지불한다고 볼 수 있음</a:t>
            </a: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지속비용은 소비재의 상대가격 변화에 의해 발생함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지속비용이 소득계층별로 분배되는 형태는 오염규제의 결과 어느 계층이 주로 사용하는 상품의 가격이 상대적으로 더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상승하느냐에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의해 결정될 것임</a:t>
            </a:r>
          </a:p>
        </p:txBody>
      </p:sp>
      <p:sp>
        <p:nvSpPr>
          <p:cNvPr id="81924" name="바닥글 개체 틀 4">
            <a:extLst>
              <a:ext uri="{FF2B5EF4-FFF2-40B4-BE49-F238E27FC236}">
                <a16:creationId xmlns:a16="http://schemas.microsoft.com/office/drawing/2014/main" id="{7DB1D743-54A5-47DB-A565-6704A96D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81925" name="슬라이드 번호 개체 틀 5">
            <a:extLst>
              <a:ext uri="{FF2B5EF4-FFF2-40B4-BE49-F238E27FC236}">
                <a16:creationId xmlns:a16="http://schemas.microsoft.com/office/drawing/2014/main" id="{A4725137-E957-486C-9DA1-68E75961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71B67F-EDEF-48B8-8DF5-2A4C1E66D93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1926" name="Rectangle 2">
            <a:extLst>
              <a:ext uri="{FF2B5EF4-FFF2-40B4-BE49-F238E27FC236}">
                <a16:creationId xmlns:a16="http://schemas.microsoft.com/office/drawing/2014/main" id="{96D329CC-A4DD-46DB-81A6-D71E63018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1927" name="Rectangle 3">
            <a:extLst>
              <a:ext uri="{FF2B5EF4-FFF2-40B4-BE49-F238E27FC236}">
                <a16:creationId xmlns:a16="http://schemas.microsoft.com/office/drawing/2014/main" id="{70FFC8C6-D724-436B-BED3-9823B5DD2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>
            <a:extLst>
              <a:ext uri="{FF2B5EF4-FFF2-40B4-BE49-F238E27FC236}">
                <a16:creationId xmlns:a16="http://schemas.microsoft.com/office/drawing/2014/main" id="{452C7D59-CB08-4EE2-8D14-6F3772CAB2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비용과 소득분배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971" name="Rectangle 7">
                <a:extLst>
                  <a:ext uri="{FF2B5EF4-FFF2-40B4-BE49-F238E27FC236}">
                    <a16:creationId xmlns:a16="http://schemas.microsoft.com/office/drawing/2014/main" id="{791A30C6-F8BC-4436-B313-CE9420EE66B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71319" y="1196702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제품부과금이나 상품세를 부과하는 경우 소득분배효과</a:t>
                </a:r>
              </a:p>
              <a:p>
                <a:pPr lvl="1" eaLnBrk="1" hangingPunct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오염을 유발하는 상품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X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대한 제품부과금은 </a:t>
                </a:r>
                <a:r>
                  <a:rPr lang="en-US" altLang="ko-KR" sz="1800" dirty="0" err="1">
                    <a:latin typeface="Times New Roman" panose="02020603050405020304" pitchFamily="18" charset="0"/>
                    <a:ea typeface="나눔명조" pitchFamily="18" charset="-127"/>
                  </a:rPr>
                  <a:t>t</a:t>
                </a:r>
                <a:r>
                  <a:rPr lang="en-US" altLang="ko-KR" sz="1800" baseline="-25000" dirty="0" err="1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  <a:p>
                <a:pPr lvl="1" eaLnBrk="1" hangingPunct="1"/>
                <a:r>
                  <a:rPr lang="en-US" altLang="ko-KR" sz="1800" dirty="0" err="1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번째 소득계층의 수요함수가 </a:t>
                </a:r>
                <a:r>
                  <a:rPr lang="en-US" altLang="ko-KR" sz="1800" dirty="0" err="1">
                    <a:latin typeface="Times New Roman" panose="02020603050405020304" pitchFamily="18" charset="0"/>
                    <a:ea typeface="나눔명조" pitchFamily="18" charset="-127"/>
                  </a:rPr>
                  <a:t>D</a:t>
                </a:r>
                <a:r>
                  <a:rPr lang="en-US" altLang="ko-KR" sz="1800" baseline="-25000" dirty="0" err="1">
                    <a:latin typeface="Times New Roman" panose="02020603050405020304" pitchFamily="18" charset="0"/>
                    <a:ea typeface="나눔명조" pitchFamily="18" charset="-127"/>
                  </a:rPr>
                  <a:t>Xi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일 때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제품부과금으로 인해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𝑏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만큼의 소비자잉여 손실이 발생하고 이 중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𝑏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정부가 조세로 회수하지 못하는 사회적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순손실</a:t>
                </a:r>
                <a:endParaRPr lang="ko-KR" altLang="en-US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83971" name="Rectangle 7">
                <a:extLst>
                  <a:ext uri="{FF2B5EF4-FFF2-40B4-BE49-F238E27FC236}">
                    <a16:creationId xmlns:a16="http://schemas.microsoft.com/office/drawing/2014/main" id="{791A30C6-F8BC-4436-B313-CE9420EE6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319" y="1196702"/>
                <a:ext cx="7313613" cy="4114800"/>
              </a:xfrm>
              <a:blipFill>
                <a:blip r:embed="rId3"/>
                <a:stretch>
                  <a:fillRect l="-750"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972" name="바닥글 개체 틀 4">
            <a:extLst>
              <a:ext uri="{FF2B5EF4-FFF2-40B4-BE49-F238E27FC236}">
                <a16:creationId xmlns:a16="http://schemas.microsoft.com/office/drawing/2014/main" id="{A1ED271F-7E0C-4EC5-A79E-1BC759BA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83973" name="슬라이드 번호 개체 틀 5">
            <a:extLst>
              <a:ext uri="{FF2B5EF4-FFF2-40B4-BE49-F238E27FC236}">
                <a16:creationId xmlns:a16="http://schemas.microsoft.com/office/drawing/2014/main" id="{8B609AE4-FC3E-4602-B85E-B32D002F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724B9C-EBA2-45CF-BCD8-5B59C79A182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3974" name="Rectangle 2">
            <a:extLst>
              <a:ext uri="{FF2B5EF4-FFF2-40B4-BE49-F238E27FC236}">
                <a16:creationId xmlns:a16="http://schemas.microsoft.com/office/drawing/2014/main" id="{E6EE08EA-D965-4A70-BF9D-CB7328CF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3975" name="Rectangle 3">
            <a:extLst>
              <a:ext uri="{FF2B5EF4-FFF2-40B4-BE49-F238E27FC236}">
                <a16:creationId xmlns:a16="http://schemas.microsoft.com/office/drawing/2014/main" id="{CCDEFD69-38D0-4437-BAED-CED5EF903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706" y="2809419"/>
            <a:ext cx="4880838" cy="383215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6">
            <a:extLst>
              <a:ext uri="{FF2B5EF4-FFF2-40B4-BE49-F238E27FC236}">
                <a16:creationId xmlns:a16="http://schemas.microsoft.com/office/drawing/2014/main" id="{A16BC81A-D80C-4AEB-9BBD-935871988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비용과 소득분배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19" name="Rectangle 7">
                <a:extLst>
                  <a:ext uri="{FF2B5EF4-FFF2-40B4-BE49-F238E27FC236}">
                    <a16:creationId xmlns:a16="http://schemas.microsoft.com/office/drawing/2014/main" id="{A0B451F8-A114-4532-9E34-38D57F86542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만약 제품부과금에도 불구하고 가격이 소폭 상승하거나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수요가 비교적 비탄력적이라면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b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의 크기를 무시할 수 있고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계층 </a:t>
                </a:r>
                <a:r>
                  <a:rPr lang="en-US" altLang="ko-KR" sz="2200" dirty="0" err="1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의 부담비용 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B</a:t>
                </a:r>
                <a:r>
                  <a:rPr lang="en-US" altLang="ko-KR" sz="22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2200" dirty="0">
                    <a:latin typeface="나눔명조" pitchFamily="18" charset="-127"/>
                    <a:ea typeface="나눔명조" pitchFamily="18" charset="-127"/>
                  </a:rPr>
                  <a:t>a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=t</a:t>
                </a:r>
                <a:r>
                  <a:rPr lang="en-US" altLang="ko-KR" sz="22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en-US" altLang="ko-KR" sz="22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en-US" altLang="ko-KR" sz="2200" baseline="30000" dirty="0">
                    <a:latin typeface="Times New Roman" panose="02020603050405020304" pitchFamily="18" charset="0"/>
                    <a:ea typeface="나눔명조" pitchFamily="18" charset="-127"/>
                  </a:rPr>
                  <a:t>1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에 의해 근사가 가능함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계층간 상대적 </a:t>
                </a:r>
                <a:r>
                  <a:rPr lang="ko-KR" altLang="en-US" sz="2200" dirty="0" err="1">
                    <a:latin typeface="나눔명조" pitchFamily="18" charset="-127"/>
                    <a:ea typeface="나눔명조" pitchFamily="18" charset="-127"/>
                  </a:rPr>
                  <a:t>비용부담률의</a:t>
                </a:r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 지표는 비용부담액이 소득에서 차지하는 비중이 될 것임 </a:t>
                </a:r>
                <a:endParaRPr lang="en-US" altLang="ko-KR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ko-KR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sSub>
                            <m:sSubPr>
                              <m:ctrlP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ko-KR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ko-KR" altLang="en-US" sz="22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en-US" altLang="ko-KR" sz="1800" dirty="0" err="1">
                    <a:latin typeface="Times New Roman" panose="02020603050405020304" pitchFamily="18" charset="0"/>
                    <a:ea typeface="나눔명조" pitchFamily="18" charset="-127"/>
                  </a:rPr>
                  <a:t>s</a:t>
                </a:r>
                <a:r>
                  <a:rPr lang="en-US" altLang="ko-KR" sz="1800" baseline="-25000" dirty="0" err="1">
                    <a:latin typeface="Times New Roman" panose="02020603050405020304" pitchFamily="18" charset="0"/>
                    <a:ea typeface="나눔명조" pitchFamily="18" charset="-127"/>
                  </a:rPr>
                  <a:t>Xi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:r>
                  <a:rPr lang="en-US" altLang="ko-KR" sz="1800" dirty="0" err="1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번째 계층의 소득에서 상품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</a:rPr>
                  <a:t>X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지출액의 비중</a:t>
                </a:r>
              </a:p>
              <a:p>
                <a:pPr eaLnBrk="1" hangingPunct="1"/>
                <a:r>
                  <a:rPr lang="ko-KR" altLang="en-US" sz="2200" dirty="0">
                    <a:latin typeface="나눔명조" pitchFamily="18" charset="-127"/>
                    <a:ea typeface="나눔명조" pitchFamily="18" charset="-127"/>
                  </a:rPr>
                  <a:t>따라서 제품부과금이 부과되는 상품에 대한 지출 비중이 어느 계층에서 더 높은지에 따라 정책비용의 계층별 부담률이 결정됨</a:t>
                </a:r>
              </a:p>
              <a:p>
                <a:pPr eaLnBrk="1" hangingPunct="1"/>
                <a:endParaRPr lang="ko-KR" altLang="en-US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86019" name="Rectangle 7">
                <a:extLst>
                  <a:ext uri="{FF2B5EF4-FFF2-40B4-BE49-F238E27FC236}">
                    <a16:creationId xmlns:a16="http://schemas.microsoft.com/office/drawing/2014/main" id="{A0B451F8-A114-4532-9E34-38D57F865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  <a:blipFill>
                <a:blip r:embed="rId3"/>
                <a:stretch>
                  <a:fillRect l="-917" t="-1037" r="-917" b="-8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20" name="바닥글 개체 틀 4">
            <a:extLst>
              <a:ext uri="{FF2B5EF4-FFF2-40B4-BE49-F238E27FC236}">
                <a16:creationId xmlns:a16="http://schemas.microsoft.com/office/drawing/2014/main" id="{1A38319B-FD3F-4898-B96D-D879D8D3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86021" name="슬라이드 번호 개체 틀 5">
            <a:extLst>
              <a:ext uri="{FF2B5EF4-FFF2-40B4-BE49-F238E27FC236}">
                <a16:creationId xmlns:a16="http://schemas.microsoft.com/office/drawing/2014/main" id="{D2454C9A-B9FF-4C1F-B823-2110E697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15EC9E-9FC9-41B4-B3F4-FEF9A586749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6022" name="Rectangle 2">
            <a:extLst>
              <a:ext uri="{FF2B5EF4-FFF2-40B4-BE49-F238E27FC236}">
                <a16:creationId xmlns:a16="http://schemas.microsoft.com/office/drawing/2014/main" id="{8506B67D-F4B4-4228-AFF9-B4F14AC05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6023" name="Rectangle 3">
            <a:extLst>
              <a:ext uri="{FF2B5EF4-FFF2-40B4-BE49-F238E27FC236}">
                <a16:creationId xmlns:a16="http://schemas.microsoft.com/office/drawing/2014/main" id="{F7CA86F4-5F01-4B90-8EEB-FEFD099C4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>
            <a:extLst>
              <a:ext uri="{FF2B5EF4-FFF2-40B4-BE49-F238E27FC236}">
                <a16:creationId xmlns:a16="http://schemas.microsoft.com/office/drawing/2014/main" id="{D2519C0B-8F6C-4017-94A3-13510823D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-211138"/>
            <a:ext cx="7313613" cy="1143001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비용과 소득분배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4211" name="Rectangle 7">
            <a:extLst>
              <a:ext uri="{FF2B5EF4-FFF2-40B4-BE49-F238E27FC236}">
                <a16:creationId xmlns:a16="http://schemas.microsoft.com/office/drawing/2014/main" id="{AF925D68-6BD7-4DF1-85C3-53C7822444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75" y="1222375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환경정책 도입으로 인한 소득계층의 영향은 다음에 따라 달라짐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정책으로 인해 각 상품의 가격이 어느 정도 변하는지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가격이 변한 상품이 지출액에서 차지하는 비중이 각 소득계층별로 어떻게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다른지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환경정책의 지속비용이 소득계층별로 분배되는 형태에 대한 실증분석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주로 가계비 지출비중을 분석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한국의 분석 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김일중</a:t>
            </a:r>
            <a:r>
              <a:rPr lang="ko-KR" altLang="en-US" sz="1800" dirty="0" err="1">
                <a:latin typeface="굴림" panose="020B0600000101010101" pitchFamily="50" charset="-127"/>
                <a:ea typeface="굴림" panose="020B0600000101010101" pitchFamily="50" charset="-127"/>
              </a:rPr>
              <a:t>∙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신동천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2000)</a:t>
            </a: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소득계층을 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15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개로 분류하여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각 계층의 가구가 평균적으로 부담하는 저감비용을 산정함</a:t>
            </a: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절대적인 비용부담액은 고소득층이 높지만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소득대비 부담률은 저소득층일수록 높음</a:t>
            </a:r>
          </a:p>
        </p:txBody>
      </p:sp>
      <p:sp>
        <p:nvSpPr>
          <p:cNvPr id="94212" name="바닥글 개체 틀 4">
            <a:extLst>
              <a:ext uri="{FF2B5EF4-FFF2-40B4-BE49-F238E27FC236}">
                <a16:creationId xmlns:a16="http://schemas.microsoft.com/office/drawing/2014/main" id="{CCAA7CA7-18BA-44DE-8F1F-6F859AD9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94213" name="슬라이드 번호 개체 틀 5">
            <a:extLst>
              <a:ext uri="{FF2B5EF4-FFF2-40B4-BE49-F238E27FC236}">
                <a16:creationId xmlns:a16="http://schemas.microsoft.com/office/drawing/2014/main" id="{D17B01F8-7EFA-4125-804D-65AFC148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67B1FD-2723-4FBD-B397-06DAA00780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8EC1D685-D498-4B0F-863A-14557B9A2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FB407D82-998C-4D5F-82D3-19C3B78EF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6">
            <a:extLst>
              <a:ext uri="{FF2B5EF4-FFF2-40B4-BE49-F238E27FC236}">
                <a16:creationId xmlns:a16="http://schemas.microsoft.com/office/drawing/2014/main" id="{ADCE169B-D758-4CD5-9602-09353324A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환경정책 비용과 소득분배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259" name="Rectangle 7">
                <a:extLst>
                  <a:ext uri="{FF2B5EF4-FFF2-40B4-BE49-F238E27FC236}">
                    <a16:creationId xmlns:a16="http://schemas.microsoft.com/office/drawing/2014/main" id="{8B725CEB-4BED-4D68-93A7-5AFCE831D33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800" dirty="0">
                    <a:latin typeface="나눔명조" pitchFamily="18" charset="-127"/>
                    <a:ea typeface="나눔명조" pitchFamily="18" charset="-127"/>
                  </a:rPr>
                  <a:t>환경정책으로 걷은 세입재활용 가능성을 감안하면 각 정책유형의 소득분배적 특성에 대한 평가도 달라져야 함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배출부과금제나 제품부과금제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그리고 배출권이 유상으로 경매되는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배출권거래제의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경우 정부수입이 발생함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위 정부수입을 계층 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소득대비 </a:t>
                </a:r>
                <a:r>
                  <a:rPr lang="el-GR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α</a:t>
                </a:r>
                <a:r>
                  <a:rPr lang="en-US" altLang="ko-KR" sz="2000" baseline="-25000" dirty="0" err="1">
                    <a:latin typeface="Times New Roman" panose="02020603050405020304" pitchFamily="18" charset="0"/>
                    <a:ea typeface="나눔명조" pitchFamily="18" charset="-127"/>
                  </a:rPr>
                  <a:t>i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비율만큼 되돌려주면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계층의 실제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비용부담률은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다음과 같이 변할 것임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ko-KR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𝑋𝑖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endParaRPr lang="ko-KR" altLang="en-US" sz="18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96259" name="Rectangle 7">
                <a:extLst>
                  <a:ext uri="{FF2B5EF4-FFF2-40B4-BE49-F238E27FC236}">
                    <a16:creationId xmlns:a16="http://schemas.microsoft.com/office/drawing/2014/main" id="{8B725CEB-4BED-4D68-93A7-5AFCE831D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1875" y="1517650"/>
                <a:ext cx="7313613" cy="4114800"/>
              </a:xfrm>
              <a:blipFill>
                <a:blip r:embed="rId3"/>
                <a:stretch>
                  <a:fillRect l="-1417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260" name="바닥글 개체 틀 4">
            <a:extLst>
              <a:ext uri="{FF2B5EF4-FFF2-40B4-BE49-F238E27FC236}">
                <a16:creationId xmlns:a16="http://schemas.microsoft.com/office/drawing/2014/main" id="{5DBCC6DE-E969-4D6A-B8E1-8C706C2B8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96261" name="슬라이드 번호 개체 틀 5">
            <a:extLst>
              <a:ext uri="{FF2B5EF4-FFF2-40B4-BE49-F238E27FC236}">
                <a16:creationId xmlns:a16="http://schemas.microsoft.com/office/drawing/2014/main" id="{8F9D30E6-D546-471D-9F4F-9B4CF57E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1C12C9-46C6-4315-B186-45EDC999F50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6262" name="Rectangle 2">
            <a:extLst>
              <a:ext uri="{FF2B5EF4-FFF2-40B4-BE49-F238E27FC236}">
                <a16:creationId xmlns:a16="http://schemas.microsoft.com/office/drawing/2014/main" id="{4C1A1429-A03B-4DFD-9D59-83964A36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6263" name="Rectangle 3">
            <a:extLst>
              <a:ext uri="{FF2B5EF4-FFF2-40B4-BE49-F238E27FC236}">
                <a16:creationId xmlns:a16="http://schemas.microsoft.com/office/drawing/2014/main" id="{2605E68D-5CA8-425F-A01F-0706DB3B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028">
            <a:extLst>
              <a:ext uri="{FF2B5EF4-FFF2-40B4-BE49-F238E27FC236}">
                <a16:creationId xmlns:a16="http://schemas.microsoft.com/office/drawing/2014/main" id="{752319E4-70BC-43EF-A2AE-D86254EE9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280988"/>
            <a:ext cx="7313613" cy="1143000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온실가스저감 정책</a:t>
            </a:r>
            <a:b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탄소세</a:t>
            </a:r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vs.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배출권거래제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(2)</a:t>
            </a:r>
          </a:p>
        </p:txBody>
      </p:sp>
      <p:sp>
        <p:nvSpPr>
          <p:cNvPr id="98307" name="Rectangle 1029">
            <a:extLst>
              <a:ext uri="{FF2B5EF4-FFF2-40B4-BE49-F238E27FC236}">
                <a16:creationId xmlns:a16="http://schemas.microsoft.com/office/drawing/2014/main" id="{9199B706-B83C-475B-8563-10B4DA88F3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4413" y="1673225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탄소세는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배출권거래제에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비해 세입재활용을 통해 소득분배개선에 기여할 수 있다는 장점도 가짐</a:t>
            </a:r>
          </a:p>
          <a:p>
            <a:pPr lvl="1"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배출권거래제는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기본적으로 무상분배를 전제로 도입됨</a:t>
            </a:r>
            <a:endParaRPr lang="ko-KR" altLang="en-US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실증연구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미국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메트카프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(Metcalf, 2007)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교수의 분석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미국에서 톤당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15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달러의 탄소세를 부과하여 얻은 수입을 가지고 소득세를 감면하면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처음 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약 </a:t>
            </a:r>
            <a:r>
              <a:rPr lang="en-US" altLang="ko-KR" sz="1800">
                <a:latin typeface="나눔명조" pitchFamily="18" charset="-127"/>
                <a:ea typeface="나눔명조" pitchFamily="18" charset="-127"/>
              </a:rPr>
              <a:t>4,000</a:t>
            </a:r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달러까지의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소득에 대한 세금을 감면할 수 있으므로 저소득층 후생증대에 기여할 수 있음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권오상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허등용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(2011)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의 연구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한국에서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탄소세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자체는 소득분배에 역행하지만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세입을 균등하게 환급하거나 저소득층에게 더 많이 환급하면 저소득층의 후생이 증가할 것임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8308" name="바닥글 개체 틀 4">
            <a:extLst>
              <a:ext uri="{FF2B5EF4-FFF2-40B4-BE49-F238E27FC236}">
                <a16:creationId xmlns:a16="http://schemas.microsoft.com/office/drawing/2014/main" id="{61BE9465-1F53-418F-BB84-1E4B28F8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10</a:t>
            </a:r>
          </a:p>
        </p:txBody>
      </p:sp>
      <p:sp>
        <p:nvSpPr>
          <p:cNvPr id="98309" name="슬라이드 번호 개체 틀 5">
            <a:extLst>
              <a:ext uri="{FF2B5EF4-FFF2-40B4-BE49-F238E27FC236}">
                <a16:creationId xmlns:a16="http://schemas.microsoft.com/office/drawing/2014/main" id="{E5C7B227-6786-4519-B964-083C6B94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79BEEC-B865-4C68-9385-67F75EA2410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2595</TotalTime>
  <Words>2891</Words>
  <Application>Microsoft Office PowerPoint</Application>
  <PresentationFormat>화면 슬라이드 쇼(4:3)</PresentationFormat>
  <Paragraphs>385</Paragraphs>
  <Slides>42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3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10장 개요</vt:lpstr>
      <vt:lpstr>환경정책의 정치경제학                     : 지방자치와 소득분배</vt:lpstr>
      <vt:lpstr>환경정책의 계층별 영향</vt:lpstr>
      <vt:lpstr>환경정책의 계층별 영향</vt:lpstr>
      <vt:lpstr>환경정책의 계층별 영향</vt:lpstr>
      <vt:lpstr>환경정책의 계층별 영향</vt:lpstr>
      <vt:lpstr>환경정책의 계층별 영향</vt:lpstr>
      <vt:lpstr>환경정책의 계층별 영향</vt:lpstr>
      <vt:lpstr>환경정책의 계층별 영향</vt:lpstr>
      <vt:lpstr>환경정책의 목표와 수단 선택</vt:lpstr>
      <vt:lpstr>다수결 원칙과 정책선택</vt:lpstr>
      <vt:lpstr>다수결 원칙과 정책선택</vt:lpstr>
      <vt:lpstr>다수결 원칙과 정책선택</vt:lpstr>
      <vt:lpstr>이익집단과 정책선택</vt:lpstr>
      <vt:lpstr>이익집단과 정책선택</vt:lpstr>
      <vt:lpstr>이익집단과 정책선택</vt:lpstr>
      <vt:lpstr>이익집단과 정책선택</vt:lpstr>
      <vt:lpstr>이익집단과 정책선택</vt:lpstr>
      <vt:lpstr>이익집단과 정책선택</vt:lpstr>
      <vt:lpstr>이익집단과 정책선택</vt:lpstr>
      <vt:lpstr>미국 환경처의 농약 규제 사례</vt:lpstr>
      <vt:lpstr>미국 환경처의 농약 규제 사례</vt:lpstr>
      <vt:lpstr>중앙정부와 지방자치단체의 환경정책</vt:lpstr>
      <vt:lpstr>지역단위의 오염도 설정</vt:lpstr>
      <vt:lpstr>지역단위의 오염도 설정</vt:lpstr>
      <vt:lpstr>지역단위의 오염도 설정</vt:lpstr>
      <vt:lpstr>지방자치단체 오염도기준의 적합성</vt:lpstr>
      <vt:lpstr>지방자치단체 오염도기준의 적합성</vt:lpstr>
      <vt:lpstr>지방자치단체 오염도기준의 적합성</vt:lpstr>
      <vt:lpstr>지방자치단체 오염도기준의 적합성</vt:lpstr>
      <vt:lpstr>지방자치단체 오염도기준의 적합성</vt:lpstr>
      <vt:lpstr>환경정책의 소득분배 효과</vt:lpstr>
      <vt:lpstr>환경정책 편익의 분배</vt:lpstr>
      <vt:lpstr>전기자동차 보급 편익</vt:lpstr>
      <vt:lpstr>전기자동차 보급 편익</vt:lpstr>
      <vt:lpstr>환경정책 비용과 소득분배</vt:lpstr>
      <vt:lpstr>환경정책 비용과 소득분배</vt:lpstr>
      <vt:lpstr>환경정책 비용과 소득분배</vt:lpstr>
      <vt:lpstr>환경정책 비용과 소득분배</vt:lpstr>
      <vt:lpstr>환경정책 비용과 소득분배</vt:lpstr>
      <vt:lpstr>환경정책 비용과 소득분배</vt:lpstr>
      <vt:lpstr>온실가스저감 정책 : 탄소세 vs. 배출권거래제(2)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266</cp:revision>
  <dcterms:created xsi:type="dcterms:W3CDTF">1997-07-14T00:22:12Z</dcterms:created>
  <dcterms:modified xsi:type="dcterms:W3CDTF">2025-02-18T23:30:29Z</dcterms:modified>
</cp:coreProperties>
</file>