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7"/>
  </p:notesMasterIdLst>
  <p:handoutMasterIdLst>
    <p:handoutMasterId r:id="rId58"/>
  </p:handoutMasterIdLst>
  <p:sldIdLst>
    <p:sldId id="428" r:id="rId2"/>
    <p:sldId id="262" r:id="rId3"/>
    <p:sldId id="345" r:id="rId4"/>
    <p:sldId id="430" r:id="rId5"/>
    <p:sldId id="400" r:id="rId6"/>
    <p:sldId id="402" r:id="rId7"/>
    <p:sldId id="468" r:id="rId8"/>
    <p:sldId id="403" r:id="rId9"/>
    <p:sldId id="431" r:id="rId10"/>
    <p:sldId id="404" r:id="rId11"/>
    <p:sldId id="432" r:id="rId12"/>
    <p:sldId id="469" r:id="rId13"/>
    <p:sldId id="434" r:id="rId14"/>
    <p:sldId id="470" r:id="rId15"/>
    <p:sldId id="433" r:id="rId16"/>
    <p:sldId id="435" r:id="rId17"/>
    <p:sldId id="471" r:id="rId18"/>
    <p:sldId id="409" r:id="rId19"/>
    <p:sldId id="436" r:id="rId20"/>
    <p:sldId id="472" r:id="rId21"/>
    <p:sldId id="411" r:id="rId22"/>
    <p:sldId id="412" r:id="rId23"/>
    <p:sldId id="413" r:id="rId24"/>
    <p:sldId id="414" r:id="rId25"/>
    <p:sldId id="438" r:id="rId26"/>
    <p:sldId id="439" r:id="rId27"/>
    <p:sldId id="473" r:id="rId28"/>
    <p:sldId id="440" r:id="rId29"/>
    <p:sldId id="441" r:id="rId30"/>
    <p:sldId id="442" r:id="rId31"/>
    <p:sldId id="444" r:id="rId32"/>
    <p:sldId id="474" r:id="rId33"/>
    <p:sldId id="443" r:id="rId34"/>
    <p:sldId id="445" r:id="rId35"/>
    <p:sldId id="446" r:id="rId36"/>
    <p:sldId id="475" r:id="rId37"/>
    <p:sldId id="447" r:id="rId38"/>
    <p:sldId id="448" r:id="rId39"/>
    <p:sldId id="450" r:id="rId40"/>
    <p:sldId id="451" r:id="rId41"/>
    <p:sldId id="452" r:id="rId42"/>
    <p:sldId id="454" r:id="rId43"/>
    <p:sldId id="455" r:id="rId44"/>
    <p:sldId id="457" r:id="rId45"/>
    <p:sldId id="456" r:id="rId46"/>
    <p:sldId id="458" r:id="rId47"/>
    <p:sldId id="459" r:id="rId48"/>
    <p:sldId id="460" r:id="rId49"/>
    <p:sldId id="461" r:id="rId50"/>
    <p:sldId id="462" r:id="rId51"/>
    <p:sldId id="463" r:id="rId52"/>
    <p:sldId id="464" r:id="rId53"/>
    <p:sldId id="465" r:id="rId54"/>
    <p:sldId id="466" r:id="rId55"/>
    <p:sldId id="467" r:id="rId56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7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84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5249793-903F-42B9-B5AB-A5B1CA53CD9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C67F437-2257-41F4-94C7-DE365B1336F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CB77BB0-9480-4D38-A0C1-D97EDA84D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0FCDCE-BD26-465A-87D2-BFBB52DE8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AB09B69-CE63-47D4-BD08-2ECAB52D1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93CD0C2C-65A8-466A-9403-EC8F46C83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5A88CF9E-BAB1-4F44-9D97-718E7B615E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0293FDB4-2146-44A1-B9CD-19879C8C8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043D641-4C14-4FAF-806E-0289AB8D5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90366F2-9C1F-46B4-9AC3-6B833364E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9A30FDA8-85CC-4211-B22A-0BADDE1CB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187BD785-49C3-412C-A51B-7DE718882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E3DCA1D-AC85-4EFD-9426-D8BDB518F8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961250F6-138E-472C-A88E-B435C8975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043D641-4C14-4FAF-806E-0289AB8D5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90366F2-9C1F-46B4-9AC3-6B833364E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9A30FDA8-85CC-4211-B22A-0BADDE1CB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187BD785-49C3-412C-A51B-7DE718882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E3DCA1D-AC85-4EFD-9426-D8BDB518F8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961250F6-138E-472C-A88E-B435C8975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745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6F86068-25E7-4731-A49C-59E209062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869CD37-34EF-483C-B394-156F0A8D2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70CC47EF-30E4-4A62-A71B-F53A231C5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F303C024-0B5F-4EA5-9724-6941C0DEB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35658D93-61FC-472C-AA5A-EA94DD694A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25224437-FC60-4C53-903D-08430CDCA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C62C83A-8EB5-4079-9A2C-5F65728D3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0172F5D-3333-4C29-99D3-E3B37096F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9332C49E-6286-4B47-BA94-FFEDEA313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7409D39D-1891-48AC-8351-82BF07FE3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6FE32CC5-335C-49F3-8437-9CDDE9D76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1BF80CC6-8FC3-4A21-8503-C19FD392A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9451EB3-768B-42C5-8EB1-83A83EEA5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80B1B18-FA7A-4CAE-BA6A-DD4A945BA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C020DF33-22DD-4DBC-A1B2-BB0F323AE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FAE3A779-F8A3-4AD0-A986-3F9093CEA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4AF28E5F-B02F-4413-AE91-04D908FA4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2041F208-BEBC-4467-9038-37FFCC6A4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0538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391B145-EB3F-4BB7-8A76-6694501E9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FEF50A1-66DC-4D7E-B4A8-F9D446FE4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52D3EB3-A7A4-496A-86A4-54E54F79D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67EF5529-EB74-40AF-A578-AA3429440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4B2FAA76-5A2A-4944-9DD9-6101B7033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965411EA-5302-4374-AD8D-4245242EC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391B145-EB3F-4BB7-8A76-6694501E9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FEF50A1-66DC-4D7E-B4A8-F9D446FE4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52D3EB3-A7A4-496A-86A4-54E54F79D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67EF5529-EB74-40AF-A578-AA3429440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4B2FAA76-5A2A-4944-9DD9-6101B7033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965411EA-5302-4374-AD8D-4245242EC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017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9C2C9C7-49D0-4A7C-BF66-BFEE2AB3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E173365-F330-4EDB-B4A1-DC9B197F4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50C65318-6D86-481B-BCC7-A08CF7E2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87F78A5-7278-48F2-ACFD-2C2342A3D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C4299EA9-0D77-41DD-8BC6-C88336DDD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3462916E-06C6-4184-8297-5CC434F5D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9C2C9C7-49D0-4A7C-BF66-BFEE2AB3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E173365-F330-4EDB-B4A1-DC9B197F4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50C65318-6D86-481B-BCC7-A08CF7E2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87F78A5-7278-48F2-ACFD-2C2342A3D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C4299EA9-0D77-41DD-8BC6-C88336DDD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3462916E-06C6-4184-8297-5CC434F5D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6292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E2A80A4-99BD-4239-B18C-C42ED4B9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5A5316F-E9CA-4CB1-848E-32A8AA485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B56B5861-92C3-4DE2-8371-B65009410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2FFFFB5C-0CF9-411E-BEE1-E0D912CE2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CD5EF7E5-0B5B-4491-A5F9-AE295E74B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F37268C4-519A-4B53-9647-F4B23B83A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5265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77BB180-EFC6-48A2-8F7B-E5DBCD58A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804002D-37FE-47F7-B2B5-B034A4966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3AF12D23-D631-4B63-BBC0-8B8F63F23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B38B3152-6D08-4989-924D-150445603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1E724A1E-8956-49CE-AF00-1C9B73657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BFD18ED3-CCFD-4C8D-906F-B54AB61D6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545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5E09018-53BC-42D2-8CF3-09798FD7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13803602-8E78-412F-9811-F0B99DB75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BE3A9EFE-A419-41AC-A16B-E29FC59C4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4FAEB1D6-8C3D-4BF0-8CE5-AC98E0EF9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5BF20AC2-831C-4302-B9FE-17103F51AB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8071" name="Rectangle 7">
            <a:extLst>
              <a:ext uri="{FF2B5EF4-FFF2-40B4-BE49-F238E27FC236}">
                <a16:creationId xmlns:a16="http://schemas.microsoft.com/office/drawing/2014/main" id="{2F560420-0D59-484C-9C66-E6F3D4DCE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56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7452327-751A-4AEE-9AE8-8F261C73A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B325D56-C9A6-464E-AEAE-AB2405D2A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C5EF22BB-B199-4972-A874-B403E029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7EEF8089-79B9-4FFF-AA22-571EB5CA4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536509B2-A587-4435-8C53-B7DB0F957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75907FC3-34CA-482A-8622-A57980539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7452327-751A-4AEE-9AE8-8F261C73A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B325D56-C9A6-464E-AEAE-AB2405D2A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C5EF22BB-B199-4972-A874-B403E029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7EEF8089-79B9-4FFF-AA22-571EB5CA4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536509B2-A587-4435-8C53-B7DB0F957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75907FC3-34CA-482A-8622-A57980539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5604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98AC61E-6B7F-4040-B3A9-5226671C6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C9E0B99-2352-4C01-AB08-FAB727174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C38E1FA1-0A7C-4F5B-B2FE-61D70E379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0A2A56E0-AA10-4412-8C22-38FB0F499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6BB231C0-968F-4135-AC7E-AC02EC8E6F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00F8056D-A91B-4795-8C38-5B734CDF3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023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98AC61E-6B7F-4040-B3A9-5226671C6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C9E0B99-2352-4C01-AB08-FAB727174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C38E1FA1-0A7C-4F5B-B2FE-61D70E379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0A2A56E0-AA10-4412-8C22-38FB0F499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6BB231C0-968F-4135-AC7E-AC02EC8E6F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00F8056D-A91B-4795-8C38-5B734CDF3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869E1F2C-C58E-4579-84E3-AD5290ED4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36369D5-8969-4FB2-80D9-75BB25406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DA4055A7-CB4F-4196-A0DE-AA6462D29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3F3113ED-AA29-4514-8054-3280ABD80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816CDAD6-B70A-4BE0-B175-C545443F2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14C48B61-1ED8-4323-A990-CD77991C5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13626980-E71F-43D1-9A76-AF4E12E8E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576BBE-B8A3-4B81-A92E-FDC6EB70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E6719954-FE4D-4059-B3ED-B7A1EA42F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B1963452-7497-4165-9FC4-678AB4CD5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6EC185AF-5A9B-4F6E-9793-79F18A17AA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E709D071-CBDE-4B5C-A567-279441A7D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667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16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384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410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29622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19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3890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979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9542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7649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230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0096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40165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7918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2734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04723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7429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6620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8417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04133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4899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4203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82356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0498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34801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04107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67178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A3DBE0-4B0D-4169-AD6D-E081EE58F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0FE3C12-2867-4E1A-A9EB-DAE93462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605EF1DC-346E-4785-B757-CA99664B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0A74148-92BE-4545-A611-29B85AA4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449BAB-4F8A-4F7B-BFC2-380050BB6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70F1EA-E483-4F2C-B5AE-90CBD3DF3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595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4C8ABBB2-B0C4-416A-98CF-F19B835630AE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7B32348D-5119-4002-816C-9126C28E6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32F9E3C6-16D5-42AC-814A-BB49BDC86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98772D00-EBDB-43F1-9EAE-575A5F815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0D778B35-BA32-4884-8578-AA7D981001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71D1F079-FB98-4A45-8938-432BD2E539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20BA8C6D-C5C1-4720-8584-CBE9475CEF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7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AC41C6-FAD4-4507-8942-5D99324B33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9DB0268-9E9D-4EB8-9119-D3ECC07184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466649F-BAE2-4E52-97A5-1C4C5EB757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FC0F9-1867-4202-AACB-01D98C09704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169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5A38039-36DC-4749-818E-777038F5C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6D2EA3E-89DD-4936-ACF7-A63818D69B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9D8D4AD-176A-4034-8B8D-4322A4A8A5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69472-B78F-40D9-995C-42F6EB9FC0F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226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7403136-72A7-45BE-8649-9E96A7C537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5DA5FE3-FDAB-44DD-B8C4-F039BBAC7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B3573060-05DA-47F9-A120-E037E8F63A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DD808F-57EC-4884-A117-D79ED93ECC2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804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07808DE-1AC9-4B32-AE57-77F66DE7B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AA56DBA-AC70-4F81-9A14-CF99EC463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B94DEC9-7D72-4C31-8830-B9236B54E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C15522-F194-48AA-8F48-C94D22B346E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466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75FD067-07EB-4A73-AFAC-9EE6339F4A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A61B570-D279-4AB3-A5F1-4185CE299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95443D1-007D-4266-A916-764ABF2670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E97BD-7A25-446D-968A-35DEF080BE3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207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4E75C080-A1E9-4104-B25F-CE2368926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A139772-807C-45C8-B583-1EF2159900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FCCF0C2-0C38-4A17-9BFD-386350415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9C921-5EF0-4BF4-9120-8B411DB60A7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069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E8A2D6D-C65A-4E10-805F-37A04CD8F5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2EE4FF1-C1F8-4119-ADE6-E64C515276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6B1D14E-369F-4D70-924F-1861B742D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BADAD-8143-4D8D-9390-F78C1291173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321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68163D2-E823-4698-9DA5-580ACA8DC2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B2F5DCA-7819-4690-A020-2DAF6A66C9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6B2A3C3-1533-4B78-95D8-3064F6180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06613-0FAB-42AF-AA01-3F8CC3F89D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242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B27125F-7D78-470F-8207-845B6BB294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D4525E8-2EF7-48AC-82C9-9FE870346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E026D3C-E5D8-4FF0-A3FC-91CCC2CDDB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A724A-C16E-43A0-8A4A-751B590BE49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001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3EAD99C-13D0-4E6B-9C09-F652E18BE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6C37F03-CBC8-4441-80BC-A98AFF9C66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03AB7BE-03E3-4686-99B6-AD66CF281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24F08-DC66-4503-869A-8F5AAFBEBE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262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84483287-C199-4326-B6B1-C6771C905052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276EB3E9-714A-40F2-9D79-F7CC9663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C3379F97-0D1B-4DEE-9B02-4AB70F47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BD53DC85-93C9-4DE5-BD3F-2A71CF7C1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4099" name="Rectangle 6">
            <a:extLst>
              <a:ext uri="{FF2B5EF4-FFF2-40B4-BE49-F238E27FC236}">
                <a16:creationId xmlns:a16="http://schemas.microsoft.com/office/drawing/2014/main" id="{F002A7DC-FD39-466A-A5F3-C6D932628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0028EB9A-523A-4007-BFCD-5D9F7BC02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73027BB9-16C1-4FFC-94FC-C663DE5CB3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1C29811F-643E-4EED-9DF1-C64A07D3A9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12584BA1-A15A-4FAD-B3FE-C904D0B241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82A98209-EF05-4C95-8A92-A5B51D027BE5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8" r:id="rId1"/>
    <p:sldLayoutId id="2147484309" r:id="rId2"/>
    <p:sldLayoutId id="2147484310" r:id="rId3"/>
    <p:sldLayoutId id="2147484311" r:id="rId4"/>
    <p:sldLayoutId id="2147484312" r:id="rId5"/>
    <p:sldLayoutId id="2147484313" r:id="rId6"/>
    <p:sldLayoutId id="2147484314" r:id="rId7"/>
    <p:sldLayoutId id="2147484315" r:id="rId8"/>
    <p:sldLayoutId id="2147484316" r:id="rId9"/>
    <p:sldLayoutId id="2147484317" r:id="rId10"/>
    <p:sldLayoutId id="214748431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0DE619C-99F0-4EB1-89C6-01E7958646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69963"/>
            <a:ext cx="8975725" cy="1444625"/>
          </a:xfrm>
        </p:spPr>
        <p:txBody>
          <a:bodyPr/>
          <a:lstStyle/>
          <a:p>
            <a:pPr eaLnBrk="1" hangingPunct="1"/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Ⅴ.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국제무역</a:t>
            </a:r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endParaRPr lang="en-US" altLang="ko-KR" sz="480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2ACF613-C29B-4C72-9088-A71A43E363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460750" y="4017963"/>
            <a:ext cx="5683250" cy="1752600"/>
          </a:xfrm>
        </p:spPr>
        <p:txBody>
          <a:bodyPr/>
          <a:lstStyle/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19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국제무역과 환경</a:t>
            </a: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경제발전과 환경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지속가능한 경제발전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전 지구적 차원의 환경문제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22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기후변화의 경제학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177E50-DCBD-4483-82FF-61B7DDB38FDD}"/>
              </a:ext>
            </a:extLst>
          </p:cNvPr>
          <p:cNvSpPr/>
          <p:nvPr/>
        </p:nvSpPr>
        <p:spPr bwMode="auto">
          <a:xfrm>
            <a:off x="3389313" y="4052888"/>
            <a:ext cx="100012" cy="1447800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6">
            <a:extLst>
              <a:ext uri="{FF2B5EF4-FFF2-40B4-BE49-F238E27FC236}">
                <a16:creationId xmlns:a16="http://schemas.microsoft.com/office/drawing/2014/main" id="{05971A58-F120-4C05-A6A9-38B08EC5B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158DA889-9302-44B0-9904-5E0CBEE7A3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국제무역과 환경의 통합적 관리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코웁랜드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테일러일반균형모형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이론과 실증분석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2" name="바닥글 개체 틀 4">
            <a:extLst>
              <a:ext uri="{FF2B5EF4-FFF2-40B4-BE49-F238E27FC236}">
                <a16:creationId xmlns:a16="http://schemas.microsoft.com/office/drawing/2014/main" id="{46744A8B-8791-43C5-ABB0-9B8E4285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17413" name="슬라이드 번호 개체 틀 5">
            <a:extLst>
              <a:ext uri="{FF2B5EF4-FFF2-40B4-BE49-F238E27FC236}">
                <a16:creationId xmlns:a16="http://schemas.microsoft.com/office/drawing/2014/main" id="{6A45CF91-69CF-4547-8BE3-5D646A6D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49EB9E0-E363-430C-8701-E0C52F54793C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2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4" name="Rectangle 1026">
            <a:extLst>
              <a:ext uri="{FF2B5EF4-FFF2-40B4-BE49-F238E27FC236}">
                <a16:creationId xmlns:a16="http://schemas.microsoft.com/office/drawing/2014/main" id="{AE26AD79-24F8-455A-A489-A3207ED57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5" name="Rectangle 1027">
            <a:extLst>
              <a:ext uri="{FF2B5EF4-FFF2-40B4-BE49-F238E27FC236}">
                <a16:creationId xmlns:a16="http://schemas.microsoft.com/office/drawing/2014/main" id="{B3EE42B3-2113-4637-8E46-9C74DEB49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F7D6F7C-7D0D-466B-BE52-7AD4394F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19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국제무역과 환경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F2B705CD-C7AA-4907-917C-3A7A1A43A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세계 경제의 개방화는 환경문제의 개방화를 초래하여 국제무역과 환경오염의 상호관련성이 커지고 있으므로 무역정책의 수립에 있어 무역과 관련한 환경질의 변화도 고려되어야 함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한편으로 환경정책도 무역형태에 영향을 미치며 환경규제는 국가간 교역형태를 변화시킬 수 있음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국제무역과 환경의 문제를 이해하기 위해서는 환경문제와 국제무역을 종합적으로 고려할 경우의 정책 선택과 그 결과에 따른 국제무역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환경오염의 형태를 분석해야 함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바닥글 개체 틀 4">
            <a:extLst>
              <a:ext uri="{FF2B5EF4-FFF2-40B4-BE49-F238E27FC236}">
                <a16:creationId xmlns:a16="http://schemas.microsoft.com/office/drawing/2014/main" id="{E2F8B3A1-7CD8-4CC0-A866-F964E4E1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18436" name="슬라이드 번호 개체 틀 5">
            <a:extLst>
              <a:ext uri="{FF2B5EF4-FFF2-40B4-BE49-F238E27FC236}">
                <a16:creationId xmlns:a16="http://schemas.microsoft.com/office/drawing/2014/main" id="{FDF1D6D3-F684-498D-B4DC-10B2DF75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B71D334-3329-42D5-A912-8B157014A324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570F2E31-FBFE-45D4-AA5A-9A5D117D1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7CA384E6-7807-4C9B-A29B-AECB08810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F4FDE06A-3BDA-4FC7-B07F-6F2FEFEB0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국제무역과 환경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F2B705CD-C7AA-4907-917C-3A7A1A43A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국제무역과 환경을 통합하여 고찰하는 논의는 크게 두 가지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첫 번째 논의는 환경문제와 국제무역을 종합적으로 고려할 경우 각국이 어떤 정책을 선택할지를 분석하고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그 결과 발생하는 국제무역이나 환경오염형태가 어떠할 것인지를 이론적으로 분석하는 것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두 번째 논의는 경제의 개방화가 각국 및 전 세계의 환경에 어떤 영향을 미치는지에 대한 논의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특히 국제무역기구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(WTO)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와 북미자유무역협정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(NAFTA)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체제의 출범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다양한 국가 간의 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FTA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협정체결과 같은 경제통합현상이 나타나면서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이러한 개방화가 환경에 미치는 영향을 파악하기 위해 최근 매우 활발히 이루어지고 있음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바닥글 개체 틀 4">
            <a:extLst>
              <a:ext uri="{FF2B5EF4-FFF2-40B4-BE49-F238E27FC236}">
                <a16:creationId xmlns:a16="http://schemas.microsoft.com/office/drawing/2014/main" id="{E2F8B3A1-7CD8-4CC0-A866-F964E4E1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18436" name="슬라이드 번호 개체 틀 5">
            <a:extLst>
              <a:ext uri="{FF2B5EF4-FFF2-40B4-BE49-F238E27FC236}">
                <a16:creationId xmlns:a16="http://schemas.microsoft.com/office/drawing/2014/main" id="{FDF1D6D3-F684-498D-B4DC-10B2DF75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B71D334-3329-42D5-A912-8B157014A324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570F2E31-FBFE-45D4-AA5A-9A5D117D1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7CA384E6-7807-4C9B-A29B-AECB08810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F4FDE06A-3BDA-4FC7-B07F-6F2FEFEB0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국제무역과 환경</a:t>
            </a:r>
          </a:p>
        </p:txBody>
      </p:sp>
    </p:spTree>
    <p:extLst>
      <p:ext uri="{BB962C8B-B14F-4D97-AF65-F5344CB8AC3E}">
        <p14:creationId xmlns:p14="http://schemas.microsoft.com/office/powerpoint/2010/main" val="231314408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Rectangle 9">
                <a:extLst>
                  <a:ext uri="{FF2B5EF4-FFF2-40B4-BE49-F238E27FC236}">
                    <a16:creationId xmlns:a16="http://schemas.microsoft.com/office/drawing/2014/main" id="{404C8444-F98F-4419-B1B5-5FC5C679E84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코웁랜드와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테일러는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일반균형적 접근에 대한 평이하면서도 유용한 분석틀을 제시함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가지 상품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x, y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생산되며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생산기술은 규모수익불변임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y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가격은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가격은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자본집약적이어서 한 단위 생산에 필요한 자본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노동의 비율이 보다 높음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노동집약적인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y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산업은 생산과정에서 오염을 유발하지 않지만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생산 시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만큼의 오염물질을 유발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 배출량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산출물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관계는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e=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θx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이며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θ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최적화를 꾀하는 기업에 의해 그 값이 선택됨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2" eaLnBrk="1" hangingPunct="1"/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산출물 가격이 상승하면 커지고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배출부과금이 상승하면 </a:t>
                </a:r>
                <a:r>
                  <a:rPr lang="ko-KR" altLang="en-US" sz="17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작아짐</a:t>
                </a:r>
                <a:endParaRPr lang="en-US" altLang="ko-KR" sz="17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정부가 오염물질 단위당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τ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부과금을 징수한다면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실제 수취가격은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𝜏𝜃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1" name="Rectangle 9">
                <a:extLst>
                  <a:ext uri="{FF2B5EF4-FFF2-40B4-BE49-F238E27FC236}">
                    <a16:creationId xmlns:a16="http://schemas.microsoft.com/office/drawing/2014/main" id="{404C8444-F98F-4419-B1B5-5FC5C679E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 r="-709" b="-13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2" name="바닥글 개체 틀 4">
            <a:extLst>
              <a:ext uri="{FF2B5EF4-FFF2-40B4-BE49-F238E27FC236}">
                <a16:creationId xmlns:a16="http://schemas.microsoft.com/office/drawing/2014/main" id="{AA44764F-DC5D-43F6-8D27-E3184157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2053" name="슬라이드 번호 개체 틀 5">
            <a:extLst>
              <a:ext uri="{FF2B5EF4-FFF2-40B4-BE49-F238E27FC236}">
                <a16:creationId xmlns:a16="http://schemas.microsoft.com/office/drawing/2014/main" id="{E2DD9B7B-D8AC-43E7-A78D-AEF2AFE0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F265F-A67D-43D5-8AA2-73ED9C49D37C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4" name="Rectangle 2">
            <a:extLst>
              <a:ext uri="{FF2B5EF4-FFF2-40B4-BE49-F238E27FC236}">
                <a16:creationId xmlns:a16="http://schemas.microsoft.com/office/drawing/2014/main" id="{0A141806-EEF8-48A9-B82C-31751EA8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5" name="Rectangle 3">
            <a:extLst>
              <a:ext uri="{FF2B5EF4-FFF2-40B4-BE49-F238E27FC236}">
                <a16:creationId xmlns:a16="http://schemas.microsoft.com/office/drawing/2014/main" id="{D2ABBBEF-F36D-4570-BA8E-537AFD19F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6" name="Rectangle 6">
            <a:extLst>
              <a:ext uri="{FF2B5EF4-FFF2-40B4-BE49-F238E27FC236}">
                <a16:creationId xmlns:a16="http://schemas.microsoft.com/office/drawing/2014/main" id="{D8B07FE9-59FD-489B-BDBB-95015B0DA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7883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국제무역과 환경의 통합적 관리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코웁랜드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테일러 일반균형모형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9">
            <a:extLst>
              <a:ext uri="{FF2B5EF4-FFF2-40B4-BE49-F238E27FC236}">
                <a16:creationId xmlns:a16="http://schemas.microsoft.com/office/drawing/2014/main" id="{017AAA39-A1FA-46AD-BD42-D5411FBAD2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1538" y="1685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 내에서 두 산출물의 생산량은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생산가능경계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가격선이 접하는 지점에서 결정됨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생산가능경계는 투입요소를 이용해 생산할 수 있는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나타내는 곡선임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우하향하면서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원점에 대해 오목함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생산가능경계의 기울기는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생산을 한 단위 늘릴 때 대신 포기해야 하는 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나타냄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우하향함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극단적으로 한 가지 상품에 치우친 생산보다 두 상품을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균형있게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생산할 때 효율성이 높아지므로 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생산이 늘어날수록 생산가능곡선 기울기가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급해짐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오목함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819" name="바닥글 개체 틀 4">
            <a:extLst>
              <a:ext uri="{FF2B5EF4-FFF2-40B4-BE49-F238E27FC236}">
                <a16:creationId xmlns:a16="http://schemas.microsoft.com/office/drawing/2014/main" id="{CD9CC191-DEDF-46B7-8D71-28E85F3D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4820" name="슬라이드 번호 개체 틀 5">
            <a:extLst>
              <a:ext uri="{FF2B5EF4-FFF2-40B4-BE49-F238E27FC236}">
                <a16:creationId xmlns:a16="http://schemas.microsoft.com/office/drawing/2014/main" id="{6D778950-EFEB-48F1-8658-144CE11A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35F2A88-17BA-40B5-B59F-2E4DAEA788E3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CACCC5A5-2852-40FD-B3A5-4718815BD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E256F49F-07AA-434B-80FC-145C0506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7B53E7D4-277B-4A7A-A1F9-AAC3B3EE3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생산가능경계와 균형 생산량 결정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바닥글 개체 틀 4">
            <a:extLst>
              <a:ext uri="{FF2B5EF4-FFF2-40B4-BE49-F238E27FC236}">
                <a16:creationId xmlns:a16="http://schemas.microsoft.com/office/drawing/2014/main" id="{192A5617-99D0-4B0A-9703-8EC481A7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5843" name="슬라이드 번호 개체 틀 5">
            <a:extLst>
              <a:ext uri="{FF2B5EF4-FFF2-40B4-BE49-F238E27FC236}">
                <a16:creationId xmlns:a16="http://schemas.microsoft.com/office/drawing/2014/main" id="{EDB60BD5-A36B-4920-812F-E115BA1F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044A9E5-CE83-43A8-A097-98950746BCF6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7906B664-DD95-4052-AAEB-035E9C5A4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D9F14FE7-F9DC-4C10-B547-75B4403FC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6841C5F5-6DB3-4FDF-B296-FA9A09064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생산가능경계와 균형 생산량 결정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112" y="1243958"/>
            <a:ext cx="4344575" cy="490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27218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9">
                <a:extLst>
                  <a:ext uri="{FF2B5EF4-FFF2-40B4-BE49-F238E27FC236}">
                    <a16:creationId xmlns:a16="http://schemas.microsoft.com/office/drawing/2014/main" id="{7F4472BE-BEE2-4B45-AB8E-1409B280249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그림에서 위쪽 그래프의 </a:t>
                </a:r>
                <a:r>
                  <a:rPr lang="ko-KR" altLang="en-US" sz="2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우하향하는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직선은 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y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가격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과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생산자가 실제로 수취하는 가격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비율임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가격선과 생산가능경계가 접하는 점에서 생산이 이루어짐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생산가능경계와 가격선이 접하지 않을 경우 접하는 점 쪽으로의 이동을 통해 수입을 늘릴 수 있기 때문임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그림의 경우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(x</a:t>
                </a:r>
                <a:r>
                  <a:rPr lang="en-US" altLang="ko-KR" sz="26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y</a:t>
                </a:r>
                <a:r>
                  <a:rPr lang="en-US" altLang="ko-KR" sz="26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</a:t>
                </a:r>
                <a:r>
                  <a:rPr lang="ko-KR" altLang="en-US" sz="2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균형생산량이며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en-US" altLang="ko-KR" sz="26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의해 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en-US" altLang="ko-KR" sz="26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만큼의 오염물질이 배출됨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5" name="Rectangle 9">
                <a:extLst>
                  <a:ext uri="{FF2B5EF4-FFF2-40B4-BE49-F238E27FC236}">
                    <a16:creationId xmlns:a16="http://schemas.microsoft.com/office/drawing/2014/main" id="{7F4472BE-BEE2-4B45-AB8E-1409B2802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181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" name="바닥글 개체 틀 4">
            <a:extLst>
              <a:ext uri="{FF2B5EF4-FFF2-40B4-BE49-F238E27FC236}">
                <a16:creationId xmlns:a16="http://schemas.microsoft.com/office/drawing/2014/main" id="{B5291E25-00FA-4B03-87F3-8DAAC080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077" name="슬라이드 번호 개체 틀 5">
            <a:extLst>
              <a:ext uri="{FF2B5EF4-FFF2-40B4-BE49-F238E27FC236}">
                <a16:creationId xmlns:a16="http://schemas.microsoft.com/office/drawing/2014/main" id="{F98D0719-90FC-41A0-9F0E-C8DDE7F9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FBE3F2-5067-4B1E-8857-D0F9BE67FC27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D1C33E1D-79C1-4944-BEE9-0BEF6C747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id="{1E043254-ADFD-428A-92AD-9A9451C5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80" name="Rectangle 6">
            <a:extLst>
              <a:ext uri="{FF2B5EF4-FFF2-40B4-BE49-F238E27FC236}">
                <a16:creationId xmlns:a16="http://schemas.microsoft.com/office/drawing/2014/main" id="{4E837EDB-3A20-49A3-B289-10345B06F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생산가능경계와 균형 생산량 결정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9">
                <a:extLst>
                  <a:ext uri="{FF2B5EF4-FFF2-40B4-BE49-F238E27FC236}">
                    <a16:creationId xmlns:a16="http://schemas.microsoft.com/office/drawing/2014/main" id="{7F4472BE-BEE2-4B45-AB8E-1409B280249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이렇게 생산되는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6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각각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국내 수요에 비해 많으냐 </a:t>
                </a:r>
                <a:r>
                  <a:rPr lang="ko-KR" altLang="en-US" sz="2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적으냐에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따라 두 상품을 수출할지 수입할지가 </a:t>
                </a:r>
                <a:r>
                  <a:rPr lang="ko-KR" altLang="en-US" sz="2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정해짐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고전적인 </a:t>
                </a:r>
                <a:r>
                  <a:rPr lang="ko-KR" altLang="en-US" sz="2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국제무역론에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의하면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생산에 특히 집약적으로 사용되는 투입요소를 많이 가진 국가는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수출하고</a:t>
                </a:r>
                <a:r>
                  <a:rPr lang="en-US" altLang="ko-KR" sz="2600" dirty="0"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대신 수입하며</a:t>
                </a:r>
                <a:r>
                  <a:rPr lang="en-US" altLang="ko-KR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반대로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생산에 집약적으로 사용되는 투입요소를 많이 가진 국가는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수입하고 </a:t>
                </a:r>
                <a14:m>
                  <m:oMath xmlns:m="http://schemas.openxmlformats.org/officeDocument/2006/math">
                    <m:r>
                      <a:rPr lang="en-US" altLang="ko-KR" sz="2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수출함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5" name="Rectangle 9">
                <a:extLst>
                  <a:ext uri="{FF2B5EF4-FFF2-40B4-BE49-F238E27FC236}">
                    <a16:creationId xmlns:a16="http://schemas.microsoft.com/office/drawing/2014/main" id="{7F4472BE-BEE2-4B45-AB8E-1409B2802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181" t="-1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" name="바닥글 개체 틀 4">
            <a:extLst>
              <a:ext uri="{FF2B5EF4-FFF2-40B4-BE49-F238E27FC236}">
                <a16:creationId xmlns:a16="http://schemas.microsoft.com/office/drawing/2014/main" id="{B5291E25-00FA-4B03-87F3-8DAAC080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077" name="슬라이드 번호 개체 틀 5">
            <a:extLst>
              <a:ext uri="{FF2B5EF4-FFF2-40B4-BE49-F238E27FC236}">
                <a16:creationId xmlns:a16="http://schemas.microsoft.com/office/drawing/2014/main" id="{F98D0719-90FC-41A0-9F0E-C8DDE7F9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FBE3F2-5067-4B1E-8857-D0F9BE67FC27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D1C33E1D-79C1-4944-BEE9-0BEF6C747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id="{1E043254-ADFD-428A-92AD-9A9451C5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80" name="Rectangle 6">
            <a:extLst>
              <a:ext uri="{FF2B5EF4-FFF2-40B4-BE49-F238E27FC236}">
                <a16:creationId xmlns:a16="http://schemas.microsoft.com/office/drawing/2014/main" id="{4E837EDB-3A20-49A3-B289-10345B06F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생산가능경계와 균형 생산량 결정</a:t>
            </a:r>
          </a:p>
        </p:txBody>
      </p:sp>
    </p:spTree>
    <p:extLst>
      <p:ext uri="{BB962C8B-B14F-4D97-AF65-F5344CB8AC3E}">
        <p14:creationId xmlns:p14="http://schemas.microsoft.com/office/powerpoint/2010/main" val="424667391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">
            <a:extLst>
              <a:ext uri="{FF2B5EF4-FFF2-40B4-BE49-F238E27FC236}">
                <a16:creationId xmlns:a16="http://schemas.microsoft.com/office/drawing/2014/main" id="{CE90845F-91D4-40C0-B0C8-9A65010F9C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국제무역이 이루어지는 상황에서 여건이 달라질 경우 발생하는 환경변화는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규모효과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구성효과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그리고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기술효과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구분됨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규모효과는 여건변화로 인해 모든 산출물의 생산이 동일한 비율로 변하고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결과 오염물질 배출량이 변하는 것을 의미함 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구성효과는 오염도가 심한 산업의 산출이 차지하는 비율이 변화하여 발생하는 오염도 변화임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기술효과는 규제변화 등으로 인한 생산기술 자체의 변화로 인해 발생하는 효과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81126B93-3F62-44AE-BB1B-A0B22ED1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99458AE4-F8C2-4A01-B2CA-82726DEF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A1800AD-E674-44C0-A34E-E17B777C5813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F0D26EBF-17C5-4ACC-8018-E0B28912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F82FCD45-AB8A-4B80-8D87-B165F50A1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F55C80F0-615F-4CBA-BE47-797D13F4E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866" name="Rectangle 9">
                <a:extLst>
                  <a:ext uri="{FF2B5EF4-FFF2-40B4-BE49-F238E27FC236}">
                    <a16:creationId xmlns:a16="http://schemas.microsoft.com/office/drawing/2014/main" id="{CE90845F-91D4-40C0-B0C8-9A65010F9CC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7575" y="1213922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3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가지 효과의 수식 표현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국제가격으로 평가한 이 국가의 생산규모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𝑝𝑥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𝑝𝑥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생산규모에서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차지하는 비중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𝜃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𝑣𝑆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국제가격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이 국가입장에서는 불변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변수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변화는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𝜃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나누면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𝑣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𝜃</m:t>
                        </m:r>
                      </m:num>
                      <m:den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 배출량의 변화율은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[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국제가격으로 평가한 생산규모 변화율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생산규모에서 오염집약 산업이 차지하는 비중의 변화율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단위산출당 오염물질 배출량의 변화율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]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각각 규모효과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구성효과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기술효과를 의미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866" name="Rectangle 9">
                <a:extLst>
                  <a:ext uri="{FF2B5EF4-FFF2-40B4-BE49-F238E27FC236}">
                    <a16:creationId xmlns:a16="http://schemas.microsoft.com/office/drawing/2014/main" id="{CE90845F-91D4-40C0-B0C8-9A65010F9C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7575" y="1213922"/>
                <a:ext cx="7737475" cy="4114800"/>
              </a:xfrm>
              <a:blipFill>
                <a:blip r:embed="rId3"/>
                <a:stretch>
                  <a:fillRect l="-1103" t="-1333" b="-16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81126B93-3F62-44AE-BB1B-A0B22ED1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99458AE4-F8C2-4A01-B2CA-82726DEF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A1800AD-E674-44C0-A34E-E17B777C5813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F0D26EBF-17C5-4ACC-8018-E0B28912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F82FCD45-AB8A-4B80-8D87-B165F50A1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F55C80F0-615F-4CBA-BE47-797D13F4E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</p:spTree>
    <p:extLst>
      <p:ext uri="{BB962C8B-B14F-4D97-AF65-F5344CB8AC3E}">
        <p14:creationId xmlns:p14="http://schemas.microsoft.com/office/powerpoint/2010/main" val="2596405556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바닥글 개체 틀 4">
            <a:extLst>
              <a:ext uri="{FF2B5EF4-FFF2-40B4-BE49-F238E27FC236}">
                <a16:creationId xmlns:a16="http://schemas.microsoft.com/office/drawing/2014/main" id="{CD72C064-1F14-43FA-9819-212CA485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7891" name="슬라이드 번호 개체 틀 5">
            <a:extLst>
              <a:ext uri="{FF2B5EF4-FFF2-40B4-BE49-F238E27FC236}">
                <a16:creationId xmlns:a16="http://schemas.microsoft.com/office/drawing/2014/main" id="{B82C6F4D-AC21-4020-90D0-DA1F1654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2DE9ACE-55F4-4F10-BE89-AB7B6EB4B9D0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C540EA16-71A3-4EA3-9E13-C6A1BFFF7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055107BE-2C25-442C-9D02-E5631F0A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9973B931-EC52-483D-914C-28AD17472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03" y="1241089"/>
            <a:ext cx="4561040" cy="50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86647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7DB89-A0CD-475E-827E-02250E94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53F530-684C-4061-B576-9F85B12945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5234" y="1615266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ea typeface="나눔명조" panose="02020603020101020101"/>
                  </a:rPr>
                  <a:t>세 가지 효과 중 규모효과만 나타나는 경우</a:t>
                </a:r>
                <a:endParaRPr lang="en-US" altLang="ko-KR" sz="24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주어진 투입요소 </a:t>
                </a:r>
                <a:r>
                  <a:rPr lang="ko-KR" altLang="en-US" sz="2000" dirty="0" err="1">
                    <a:ea typeface="나눔명조" panose="02020603020101020101"/>
                  </a:rPr>
                  <a:t>부존량과</a:t>
                </a:r>
                <a:r>
                  <a:rPr lang="ko-KR" altLang="en-US" sz="2000" dirty="0">
                    <a:ea typeface="나눔명조" panose="02020603020101020101"/>
                  </a:rPr>
                  <a:t> 정부정책에서의 균형 생산점은 </a:t>
                </a:r>
                <a:r>
                  <a:rPr lang="en-US" altLang="ko-KR" sz="2000" dirty="0">
                    <a:ea typeface="나눔명조" panose="02020603020101020101"/>
                  </a:rPr>
                  <a:t>A</a:t>
                </a:r>
                <a:r>
                  <a:rPr lang="ko-KR" altLang="en-US" sz="2000" dirty="0">
                    <a:ea typeface="나눔명조" panose="02020603020101020101"/>
                  </a:rPr>
                  <a:t>였으나 다른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조건은 모두 불변인 상태에서 노동과 자본의 </a:t>
                </a:r>
                <a:r>
                  <a:rPr lang="ko-KR" altLang="en-US" sz="2000" dirty="0" err="1">
                    <a:ea typeface="나눔명조" panose="02020603020101020101"/>
                  </a:rPr>
                  <a:t>부존량이</a:t>
                </a:r>
                <a:r>
                  <a:rPr lang="ko-KR" altLang="en-US" sz="2000" dirty="0">
                    <a:ea typeface="나눔명조" panose="02020603020101020101"/>
                  </a:rPr>
                  <a:t> 각각 </a:t>
                </a:r>
                <a:r>
                  <a:rPr lang="en-US" altLang="ko-KR" sz="2000" dirty="0">
                    <a:ea typeface="나눔명조" panose="02020603020101020101"/>
                  </a:rPr>
                  <a:t>20% </a:t>
                </a:r>
                <a:r>
                  <a:rPr lang="ko-KR" altLang="en-US" sz="2000" dirty="0">
                    <a:ea typeface="나눔명조" panose="02020603020101020101"/>
                  </a:rPr>
                  <a:t>늘어나는 경우</a:t>
                </a:r>
                <a:r>
                  <a:rPr lang="en-US" altLang="ko-KR" sz="2000" dirty="0">
                    <a:ea typeface="나눔명조" panose="02020603020101020101"/>
                  </a:rPr>
                  <a:t>(</a:t>
                </a:r>
                <a:r>
                  <a:rPr lang="ko-KR" altLang="en-US" sz="2000" dirty="0">
                    <a:ea typeface="나눔명조" panose="02020603020101020101"/>
                  </a:rPr>
                  <a:t>동일비율로의 증가</a:t>
                </a:r>
                <a:r>
                  <a:rPr lang="en-US" altLang="ko-KR" sz="2000" dirty="0">
                    <a:ea typeface="나눔명조" panose="02020603020101020101"/>
                  </a:rPr>
                  <a:t>)</a:t>
                </a: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따라서 </a:t>
                </a:r>
                <a:r>
                  <a:rPr lang="ko-KR" altLang="en-US" sz="2000" dirty="0" err="1">
                    <a:ea typeface="나눔명조" panose="02020603020101020101"/>
                  </a:rPr>
                  <a:t>투입요소가</a:t>
                </a:r>
                <a:r>
                  <a:rPr lang="ko-KR" altLang="en-US" sz="2000" dirty="0">
                    <a:ea typeface="나눔명조" panose="02020603020101020101"/>
                  </a:rPr>
                  <a:t> 각 산출물 생산에 사용되는 비율이 달라지지 않으며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두 산출물 생산은 각각 </a:t>
                </a:r>
                <a:r>
                  <a:rPr lang="en-US" altLang="ko-KR" sz="2000" dirty="0">
                    <a:ea typeface="나눔명조" panose="02020603020101020101"/>
                  </a:rPr>
                  <a:t>20%</a:t>
                </a:r>
                <a:r>
                  <a:rPr lang="ko-KR" altLang="en-US" sz="2000" dirty="0">
                    <a:ea typeface="나눔명조" panose="02020603020101020101"/>
                  </a:rPr>
                  <a:t>로 늘어나서 산출물의 </a:t>
                </a:r>
                <a:r>
                  <a:rPr lang="ko-KR" altLang="en-US" sz="2000" dirty="0" err="1">
                    <a:ea typeface="나눔명조" panose="02020603020101020101"/>
                  </a:rPr>
                  <a:t>생산비율도</a:t>
                </a:r>
                <a:r>
                  <a:rPr lang="ko-KR" altLang="en-US" sz="2000" dirty="0">
                    <a:ea typeface="나눔명조" panose="02020603020101020101"/>
                  </a:rPr>
                  <a:t> 달라지지 않음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점 </a:t>
                </a:r>
                <a:r>
                  <a:rPr lang="en-US" altLang="ko-KR" sz="2000" dirty="0">
                    <a:ea typeface="나눔명조" panose="02020603020101020101"/>
                  </a:rPr>
                  <a:t>A</a:t>
                </a:r>
                <a:r>
                  <a:rPr lang="ko-KR" altLang="en-US" sz="2000" dirty="0">
                    <a:ea typeface="나눔명조" panose="02020603020101020101"/>
                  </a:rPr>
                  <a:t>와 원점을 연결하는 점 </a:t>
                </a:r>
                <a:r>
                  <a:rPr lang="en-US" altLang="ko-KR" sz="2000" dirty="0">
                    <a:ea typeface="나눔명조" panose="02020603020101020101"/>
                  </a:rPr>
                  <a:t>B</a:t>
                </a:r>
                <a:r>
                  <a:rPr lang="ko-KR" altLang="en-US" sz="2000" dirty="0">
                    <a:ea typeface="나눔명조" panose="02020603020101020101"/>
                  </a:rPr>
                  <a:t>가 새로운 </a:t>
                </a:r>
                <a:r>
                  <a:rPr lang="ko-KR" altLang="en-US" sz="2000" dirty="0" err="1">
                    <a:ea typeface="나눔명조" panose="02020603020101020101"/>
                  </a:rPr>
                  <a:t>생산점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이 경우 </a:t>
                </a:r>
                <a:r>
                  <a:rPr lang="ko-KR" altLang="en-US" sz="2000" dirty="0" err="1">
                    <a:ea typeface="나눔명조" panose="02020603020101020101"/>
                  </a:rPr>
                  <a:t>구성효과는</a:t>
                </a:r>
                <a:r>
                  <a:rPr lang="ko-KR" altLang="en-US" sz="2000" dirty="0">
                    <a:ea typeface="나눔명조" panose="02020603020101020101"/>
                  </a:rPr>
                  <a:t> 없고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아울러 정부규제 수준이 변하지 않으므로 </a:t>
                </a:r>
                <a14:m>
                  <m:oMath xmlns:m="http://schemas.openxmlformats.org/officeDocument/2006/math"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도 변하지 않아 기술효과도 없음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다만 규모효과에 의해서만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가 늘어남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53F530-684C-4061-B576-9F85B12945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234" y="1615266"/>
                <a:ext cx="7313612" cy="4114800"/>
              </a:xfrm>
              <a:blipFill>
                <a:blip r:embed="rId2"/>
                <a:stretch>
                  <a:fillRect l="-1167" t="-1630" b="-23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501A05-B654-4902-B5AC-598598BF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13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</a:p>
        </p:txBody>
      </p:sp>
    </p:spTree>
    <p:extLst>
      <p:ext uri="{BB962C8B-B14F-4D97-AF65-F5344CB8AC3E}">
        <p14:creationId xmlns:p14="http://schemas.microsoft.com/office/powerpoint/2010/main" val="3049834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바닥글 개체 틀 4">
            <a:extLst>
              <a:ext uri="{FF2B5EF4-FFF2-40B4-BE49-F238E27FC236}">
                <a16:creationId xmlns:a16="http://schemas.microsoft.com/office/drawing/2014/main" id="{3EA29442-62FD-456B-B313-6D019172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39939" name="슬라이드 번호 개체 틀 5">
            <a:extLst>
              <a:ext uri="{FF2B5EF4-FFF2-40B4-BE49-F238E27FC236}">
                <a16:creationId xmlns:a16="http://schemas.microsoft.com/office/drawing/2014/main" id="{6E3DD19F-2064-4907-9FB0-4C6FF7DF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D47E1DB-82C8-41FF-8FB3-B2407EE6E0CB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D204AD0A-3B44-4746-90DF-4A9D27254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85F52F83-FE4E-4D24-884C-2733C38D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D30ABFAD-AD92-430A-B5FA-BC8058DD9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225" y="1202042"/>
            <a:ext cx="4551975" cy="498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911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45535-C839-4FFB-8D0B-0A577D52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9A2D9-A5AB-4B52-B2D8-6C4CC4AB2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ea typeface="나눔명조" panose="02020603020101020101"/>
                  </a:rPr>
                  <a:t>규모효과와 더불어 구성효과까지 나타나는 경우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800" dirty="0">
                    <a:ea typeface="나눔명조" panose="02020603020101020101"/>
                  </a:rPr>
                  <a:t>오염산업인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산업에 집약적으로 사용되는 자본재만의 </a:t>
                </a:r>
                <a:r>
                  <a:rPr lang="ko-KR" altLang="en-US" sz="1800" dirty="0" err="1">
                    <a:ea typeface="나눔명조" panose="02020603020101020101"/>
                  </a:rPr>
                  <a:t>부존량이</a:t>
                </a:r>
                <a:r>
                  <a:rPr lang="ko-KR" altLang="en-US" sz="1800" dirty="0">
                    <a:ea typeface="나눔명조" panose="02020603020101020101"/>
                  </a:rPr>
                  <a:t> 늘어날 경우 </a:t>
                </a:r>
                <a:endParaRPr lang="en-US" altLang="ko-KR" sz="18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800" dirty="0">
                    <a:ea typeface="나눔명조" panose="02020603020101020101"/>
                  </a:rPr>
                  <a:t>생산가능경계는 평행하게 이동하는 것이 아니라 </a:t>
                </a:r>
                <a:r>
                  <a:rPr lang="ko-KR" altLang="en-US" sz="1800" dirty="0" err="1">
                    <a:ea typeface="나눔명조" panose="02020603020101020101"/>
                  </a:rPr>
                  <a:t>자본집약적인</a:t>
                </a:r>
                <a:r>
                  <a:rPr lang="ko-KR" altLang="en-US" sz="1800" dirty="0">
                    <a:ea typeface="나눔명조" panose="02020603020101020101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축 쪽으로 더 크게 이동함</a:t>
                </a:r>
                <a:r>
                  <a:rPr lang="en-US" altLang="ko-KR" sz="1800" dirty="0">
                    <a:ea typeface="나눔명조" panose="02020603020101020101"/>
                  </a:rPr>
                  <a:t> </a:t>
                </a:r>
              </a:p>
              <a:p>
                <a:pPr lvl="1"/>
                <a:r>
                  <a:rPr lang="ko-KR" altLang="en-US" sz="1800" dirty="0">
                    <a:ea typeface="나눔명조" panose="02020603020101020101"/>
                  </a:rPr>
                  <a:t>규제수준과 가격은 불변이므로 균형점이 </a:t>
                </a:r>
                <a:r>
                  <a:rPr lang="en-US" altLang="ko-KR" sz="1800" dirty="0">
                    <a:ea typeface="나눔명조" panose="02020603020101020101"/>
                  </a:rPr>
                  <a:t>A</a:t>
                </a:r>
                <a:r>
                  <a:rPr lang="ko-KR" altLang="en-US" sz="1800" dirty="0">
                    <a:ea typeface="나눔명조" panose="02020603020101020101"/>
                  </a:rPr>
                  <a:t>에서 </a:t>
                </a:r>
                <a:r>
                  <a:rPr lang="en-US" altLang="ko-KR" sz="1800" dirty="0">
                    <a:ea typeface="나눔명조" panose="02020603020101020101"/>
                  </a:rPr>
                  <a:t>C</a:t>
                </a:r>
                <a:r>
                  <a:rPr lang="ko-KR" altLang="en-US" sz="1800" dirty="0">
                    <a:ea typeface="나눔명조" panose="02020603020101020101"/>
                  </a:rPr>
                  <a:t>로 이동하고</a:t>
                </a:r>
                <a:r>
                  <a:rPr lang="en-US" altLang="ko-KR" sz="1800" dirty="0">
                    <a:ea typeface="나눔명조" panose="02020603020101020101"/>
                  </a:rPr>
                  <a:t>, </a:t>
                </a:r>
                <a:r>
                  <a:rPr lang="ko-KR" altLang="en-US" sz="1800" dirty="0">
                    <a:ea typeface="나눔명조" panose="02020603020101020101"/>
                  </a:rPr>
                  <a:t>이로 인해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의 생산량은 늘어나지만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의 생산량은 오히려 소폭 줄어듦</a:t>
                </a:r>
                <a:endParaRPr lang="en-US" altLang="ko-KR" sz="18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800" dirty="0">
                    <a:ea typeface="나눔명조" panose="02020603020101020101"/>
                  </a:rPr>
                  <a:t>오염물질 배출량은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800" dirty="0">
                    <a:ea typeface="나눔명조" panose="02020603020101020101"/>
                  </a:rPr>
                  <a:t>로 늘어남</a:t>
                </a:r>
                <a:endParaRPr lang="en-US" altLang="ko-KR" sz="1800" dirty="0">
                  <a:ea typeface="나눔명조" panose="02020603020101020101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9A2D9-A5AB-4B52-B2D8-6C4CC4AB2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46A6B2-EF01-4293-B5D5-9D9319C1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EBC0-E9D7-4FC0-A318-7FF965BD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1714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45535-C839-4FFB-8D0B-0A577D52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9A2D9-A5AB-4B52-B2D8-6C4CC4AB2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800" dirty="0">
                    <a:ea typeface="나눔명조" panose="02020603020101020101"/>
                  </a:rPr>
                  <a:t>규모효과와 더불어 구성효과까지 나타나는 경우</a:t>
                </a:r>
                <a:r>
                  <a:rPr lang="en-US" altLang="ko-KR" sz="1800" dirty="0">
                    <a:ea typeface="나눔명조" panose="02020603020101020101"/>
                  </a:rPr>
                  <a:t>(</a:t>
                </a:r>
                <a:r>
                  <a:rPr lang="ko-KR" altLang="en-US" sz="1800" dirty="0">
                    <a:ea typeface="나눔명조" panose="02020603020101020101"/>
                  </a:rPr>
                  <a:t>계속</a:t>
                </a:r>
                <a:r>
                  <a:rPr lang="en-US" altLang="ko-KR" sz="1800" dirty="0">
                    <a:ea typeface="나눔명조" panose="02020603020101020101"/>
                  </a:rPr>
                  <a:t>)</a:t>
                </a: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점 </a:t>
                </a:r>
                <a:r>
                  <a:rPr lang="en-US" altLang="ko-KR" sz="1600" dirty="0">
                    <a:ea typeface="나눔명조" panose="02020603020101020101"/>
                  </a:rPr>
                  <a:t>A</a:t>
                </a:r>
                <a:r>
                  <a:rPr lang="ko-KR" altLang="en-US" sz="1600" dirty="0">
                    <a:ea typeface="나눔명조" panose="02020603020101020101"/>
                  </a:rPr>
                  <a:t>를 지나는 또 다른 직선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기울기는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국제가격</a:t>
                </a:r>
                <a:r>
                  <a:rPr lang="en-US" altLang="ko-KR" sz="1600" dirty="0">
                    <a:ea typeface="나눔명조" panose="02020603020101020101"/>
                  </a:rPr>
                  <a:t> </a:t>
                </a: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국제가격으로 평가한 생산규모를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라 할 때</a:t>
                </a:r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:r>
                  <a:rPr lang="ko-KR" altLang="en-US" sz="1600" dirty="0">
                    <a:ea typeface="나눔명조" panose="02020603020101020101"/>
                  </a:rPr>
                  <a:t>선 위의 점들은 모두 동일한 생산규모를 나타냄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점 </a:t>
                </a:r>
                <a:r>
                  <a:rPr lang="en-US" altLang="ko-KR" sz="1600" dirty="0">
                    <a:ea typeface="나눔명조" panose="02020603020101020101"/>
                  </a:rPr>
                  <a:t>C</a:t>
                </a:r>
                <a:r>
                  <a:rPr lang="ko-KR" altLang="en-US" sz="1600" dirty="0">
                    <a:ea typeface="나눔명조" panose="02020603020101020101"/>
                  </a:rPr>
                  <a:t>와 원점을 잇는 직선이 직선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와 만나는 점을 </a:t>
                </a:r>
                <a:r>
                  <a:rPr lang="en-US" altLang="ko-KR" sz="1600" dirty="0">
                    <a:ea typeface="나눔명조" panose="02020603020101020101"/>
                  </a:rPr>
                  <a:t>B</a:t>
                </a:r>
                <a:r>
                  <a:rPr lang="ko-KR" altLang="en-US" sz="1600" dirty="0">
                    <a:ea typeface="나눔명조" panose="02020603020101020101"/>
                  </a:rPr>
                  <a:t>라 하면</a:t>
                </a:r>
                <a:r>
                  <a:rPr lang="en-US" altLang="ko-KR" sz="1600" dirty="0">
                    <a:ea typeface="나눔명조" panose="02020603020101020101"/>
                  </a:rPr>
                  <a:t>, A</a:t>
                </a:r>
                <a:r>
                  <a:rPr lang="ko-KR" altLang="en-US" sz="1600" dirty="0">
                    <a:ea typeface="나눔명조" panose="02020603020101020101"/>
                  </a:rPr>
                  <a:t>에서 </a:t>
                </a:r>
                <a:r>
                  <a:rPr lang="en-US" altLang="ko-KR" sz="1600" dirty="0">
                    <a:ea typeface="나눔명조" panose="02020603020101020101"/>
                  </a:rPr>
                  <a:t>B</a:t>
                </a:r>
                <a:r>
                  <a:rPr lang="ko-KR" altLang="en-US" sz="1600" dirty="0">
                    <a:ea typeface="나눔명조" panose="02020603020101020101"/>
                  </a:rPr>
                  <a:t>로 생산점이 이동할 때 국제가격으로 평가된 생산규모는 불변이기 때문에 이 이동은 순전히 구성효과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즉 </a:t>
                </a:r>
                <a:r>
                  <a:rPr lang="en-US" altLang="ko-KR" sz="1600" dirty="0">
                    <a:ea typeface="나눔명조" panose="02020603020101020101"/>
                  </a:rPr>
                  <a:t>A</a:t>
                </a:r>
                <a:r>
                  <a:rPr lang="ko-KR" altLang="en-US" sz="1600" dirty="0">
                    <a:ea typeface="나눔명조" panose="02020603020101020101"/>
                  </a:rPr>
                  <a:t>에서 </a:t>
                </a:r>
                <a:r>
                  <a:rPr lang="en-US" altLang="ko-KR" sz="1600" dirty="0">
                    <a:ea typeface="나눔명조" panose="02020603020101020101"/>
                  </a:rPr>
                  <a:t>B</a:t>
                </a:r>
                <a:r>
                  <a:rPr lang="ko-KR" altLang="en-US" sz="1600" dirty="0">
                    <a:ea typeface="나눔명조" panose="02020603020101020101"/>
                  </a:rPr>
                  <a:t>로의 이동은 늘어나는 자본때문에 이를 집약적으로 사용하는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생산량이 늘어나고 대신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생산량이 줄어드는 효과를 보여주되</a:t>
                </a:r>
                <a:r>
                  <a:rPr lang="en-US" altLang="ko-KR" sz="1600" dirty="0">
                    <a:ea typeface="나눔명조" panose="02020603020101020101"/>
                  </a:rPr>
                  <a:t>, </a:t>
                </a:r>
                <a:r>
                  <a:rPr lang="ko-KR" altLang="en-US" sz="1600" dirty="0">
                    <a:ea typeface="나눔명조" panose="02020603020101020101"/>
                  </a:rPr>
                  <a:t>규모효과 없이 두 산출물의 생산비율이 달라지는 </a:t>
                </a:r>
                <a:r>
                  <a:rPr lang="ko-KR" altLang="en-US" sz="1600" dirty="0" err="1">
                    <a:ea typeface="나눔명조" panose="02020603020101020101"/>
                  </a:rPr>
                  <a:t>것만을</a:t>
                </a:r>
                <a:r>
                  <a:rPr lang="ko-KR" altLang="en-US" sz="1600" dirty="0">
                    <a:ea typeface="나눔명조" panose="02020603020101020101"/>
                  </a:rPr>
                  <a:t> 보여줌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이 구성효과 때문에 발생하는 오염물질 배출량의 변화는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점 </a:t>
                </a:r>
                <a:r>
                  <a:rPr lang="en-US" altLang="ko-KR" sz="1600" dirty="0">
                    <a:ea typeface="나눔명조" panose="02020603020101020101"/>
                  </a:rPr>
                  <a:t>B</a:t>
                </a:r>
                <a:r>
                  <a:rPr lang="ko-KR" altLang="en-US" sz="1600" dirty="0">
                    <a:ea typeface="나눔명조" panose="02020603020101020101"/>
                  </a:rPr>
                  <a:t>에서 점 </a:t>
                </a:r>
                <a:r>
                  <a:rPr lang="en-US" altLang="ko-KR" sz="1600" dirty="0">
                    <a:ea typeface="나눔명조" panose="02020603020101020101"/>
                  </a:rPr>
                  <a:t>C</a:t>
                </a:r>
                <a:r>
                  <a:rPr lang="ko-KR" altLang="en-US" sz="1600" dirty="0">
                    <a:ea typeface="나눔명조" panose="02020603020101020101"/>
                  </a:rPr>
                  <a:t>로의 이동은 두 산출물의 구성비율을 바꾸지 않으므로 규모효과에 해당되고</a:t>
                </a:r>
                <a:r>
                  <a:rPr lang="en-US" altLang="ko-KR" sz="1600" dirty="0">
                    <a:ea typeface="나눔명조" panose="02020603020101020101"/>
                  </a:rPr>
                  <a:t>, </a:t>
                </a:r>
                <a:r>
                  <a:rPr lang="ko-KR" altLang="en-US" sz="1600" dirty="0">
                    <a:ea typeface="나눔명조" panose="02020603020101020101"/>
                  </a:rPr>
                  <a:t>이로 인한 오염물질 배출량 변화는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이 두 효과를 합한 것이 </a:t>
                </a:r>
                <a:r>
                  <a:rPr lang="ko-KR" altLang="en-US" sz="1600" dirty="0" err="1">
                    <a:ea typeface="나눔명조" panose="02020603020101020101"/>
                  </a:rPr>
                  <a:t>자본량</a:t>
                </a:r>
                <a:r>
                  <a:rPr lang="ko-KR" altLang="en-US" sz="1600" dirty="0">
                    <a:ea typeface="나눔명조" panose="02020603020101020101"/>
                  </a:rPr>
                  <a:t> 증가의 전체효과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9A2D9-A5AB-4B52-B2D8-6C4CC4AB2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4" t="-1185" b="-1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46A6B2-EF01-4293-B5D5-9D9319C1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EBC0-E9D7-4FC0-A318-7FF965BD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5186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바닥글 개체 틀 4">
            <a:extLst>
              <a:ext uri="{FF2B5EF4-FFF2-40B4-BE49-F238E27FC236}">
                <a16:creationId xmlns:a16="http://schemas.microsoft.com/office/drawing/2014/main" id="{B35DAE90-4E3A-4A50-BE51-441D3E84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1987" name="슬라이드 번호 개체 틀 5">
            <a:extLst>
              <a:ext uri="{FF2B5EF4-FFF2-40B4-BE49-F238E27FC236}">
                <a16:creationId xmlns:a16="http://schemas.microsoft.com/office/drawing/2014/main" id="{0387234D-0D1E-49EF-A065-1F19C117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1E903C5-70DF-4658-9AAD-AA9056F128C9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EFFD8E28-621A-482E-918D-3B53F47D5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2B0B54CA-CAC8-45CD-A5D4-1D2BC92F2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312112E1-CA10-4B6D-909A-566C1EFAC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99" y="1168673"/>
            <a:ext cx="4630360" cy="50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22848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4559B54D-5C76-4F62-87D7-391008517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643063"/>
            <a:ext cx="7737475" cy="4114800"/>
          </a:xfrm>
        </p:spPr>
        <p:txBody>
          <a:bodyPr/>
          <a:lstStyle/>
          <a:p>
            <a:pPr marL="0" marR="0" indent="1270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나눔명조" panose="02020603020101020101" pitchFamily="18" charset="-127"/>
                <a:ea typeface="나눔명조" panose="02020603020101020101" pitchFamily="18" charset="-127"/>
              </a:rPr>
              <a:t>세 가지 효과가 모두 나타나는 경우</a:t>
            </a: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배출부과금이 증가하면 기업이 오염물질 배출량을 줄이는 생산기술을 선택함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부과금률의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상승으로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θ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θ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으로 하락하며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(e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-e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기술효과로 인한 배출량 변화임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오염물질을 저감하는 생산기술은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생산의 효율성을 낮추어 생산가능경계를 원점 쪽으로 이동시킴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최종균형은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점이 되며 앞의 설명과 유사하게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점에서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점의 차이는 구성효과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A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점과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점의 차이는 규모효과가 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배출량 변화의 측면에서 살펴보면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</a:t>
            </a:r>
            <a:r>
              <a:rPr lang="en-US" altLang="ko-KR" sz="20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-e</a:t>
            </a:r>
            <a:r>
              <a:rPr lang="en-US" altLang="ko-KR" sz="20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만큼의 변화가 구성효과이며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(e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-e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만큼의 변화가 규모효과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AB964426-0DB2-41F5-92C4-BCE492F9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D82D18CE-96D0-4569-880C-CF13A36B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B88B79D-BAF7-4E93-B9E1-732025801CBF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14B6FB9F-185B-4BD1-BC8D-7D7EE0BA2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BFC88B58-ECB4-4718-8DB1-75BEF637C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E9F4F9F9-1DAE-49F3-9B2C-0021E2771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Rectangle 9">
                <a:extLst>
                  <a:ext uri="{FF2B5EF4-FFF2-40B4-BE49-F238E27FC236}">
                    <a16:creationId xmlns:a16="http://schemas.microsoft.com/office/drawing/2014/main" id="{4559B54D-5C76-4F62-87D7-39100851790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55662" y="1285781"/>
                <a:ext cx="7737475" cy="4114800"/>
              </a:xfrm>
            </p:spPr>
            <p:txBody>
              <a:bodyPr/>
              <a:lstStyle/>
              <a:p>
                <a:pPr marL="0" marR="0" indent="127000" algn="just" fontAlgn="base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4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세 가지 효과가 모두 나타나는 경우</a:t>
                </a:r>
                <a:r>
                  <a:rPr lang="en-US" altLang="ko-KR" sz="24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4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계속</a:t>
                </a:r>
                <a:r>
                  <a:rPr lang="en-US" altLang="ko-KR" sz="2400" dirty="0">
                    <a:solidFill>
                      <a:srgbClr val="000000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marL="400050" lvl="1" indent="127000" algn="just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한편 앞의 그림 위쪽 그래프에서 생산자의 실제 수취가격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𝜏𝜃</m:t>
                    </m:r>
                  </m:oMath>
                </a14:m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달라짐에도 불구하고 여전히 동일한 수준을 유지하고 있는 것으로 보임</a:t>
                </a:r>
                <a:endParaRPr lang="en-US" altLang="ko-KR" sz="1800" kern="0" spc="0" dirty="0">
                  <a:solidFill>
                    <a:srgbClr val="000000"/>
                  </a:solidFill>
                  <a:effectLst/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00050" lvl="1" indent="127000" algn="just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이는 생산기술에 대해 어떤 특성을 부여했기 때문</a:t>
                </a:r>
                <a:endParaRPr lang="en-US" altLang="ko-KR" sz="1800" kern="0" spc="0" dirty="0">
                  <a:solidFill>
                    <a:srgbClr val="000000"/>
                  </a:solidFill>
                  <a:effectLst/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00050" lvl="1" indent="127000" algn="just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오염물질 배출의 단위당 비용이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일 때 배출비용이 생산가치에서 차지하는 비중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𝑝𝑥</m:t>
                        </m:r>
                      </m:den>
                    </m:f>
                  </m:oMath>
                </a14:m>
                <a:endParaRPr lang="en-US" altLang="ko-KR" sz="1800" kern="0" spc="0" dirty="0">
                  <a:solidFill>
                    <a:srgbClr val="000000"/>
                  </a:solidFill>
                  <a:effectLst/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00050" lvl="1" indent="127000" algn="just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생산기술 특성상 이 비율을 항상 일정하게 유지하는 것이 생산비를 최소화하는 방법이라면</a:t>
                </a:r>
                <a:r>
                  <a:rPr lang="en-US" altLang="ko-KR" sz="1800" dirty="0">
                    <a:solidFill>
                      <a:srgbClr val="000000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en-US" altLang="ko-KR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𝜏𝜃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en-US" altLang="ko-KR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altLang="ko-KR" sz="1800" dirty="0">
                  <a:solidFill>
                    <a:srgbClr val="000000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00050" lvl="1" indent="127000" algn="just" latinLnBrk="1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따라서 이 경우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이므로 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800" kern="0" spc="0" dirty="0">
                    <a:solidFill>
                      <a:srgbClr val="000000"/>
                    </a:solidFill>
                    <a:effectLst/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와는 독립</a:t>
                </a:r>
              </a:p>
            </p:txBody>
          </p:sp>
        </mc:Choice>
        <mc:Fallback xmlns="">
          <p:sp>
            <p:nvSpPr>
              <p:cNvPr id="18434" name="Rectangle 9">
                <a:extLst>
                  <a:ext uri="{FF2B5EF4-FFF2-40B4-BE49-F238E27FC236}">
                    <a16:creationId xmlns:a16="http://schemas.microsoft.com/office/drawing/2014/main" id="{4559B54D-5C76-4F62-87D7-391008517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5662" y="1285781"/>
                <a:ext cx="7737475" cy="4114800"/>
              </a:xfrm>
              <a:blipFill>
                <a:blip r:embed="rId3"/>
                <a:stretch>
                  <a:fillRect l="-1024" r="-630" b="-1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AB964426-0DB2-41F5-92C4-BCE492F9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D82D18CE-96D0-4569-880C-CF13A36B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B88B79D-BAF7-4E93-B9E1-732025801CBF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14B6FB9F-185B-4BD1-BC8D-7D7EE0BA2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BFC88B58-ECB4-4718-8DB1-75BEF637C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E9F4F9F9-1DAE-49F3-9B2C-0021E2771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환경변화의 세분화</a:t>
            </a:r>
          </a:p>
        </p:txBody>
      </p:sp>
    </p:spTree>
    <p:extLst>
      <p:ext uri="{BB962C8B-B14F-4D97-AF65-F5344CB8AC3E}">
        <p14:creationId xmlns:p14="http://schemas.microsoft.com/office/powerpoint/2010/main" val="677198698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9">
            <a:extLst>
              <a:ext uri="{FF2B5EF4-FFF2-40B4-BE49-F238E27FC236}">
                <a16:creationId xmlns:a16="http://schemas.microsoft.com/office/drawing/2014/main" id="{81A9159A-F777-46DB-A1C6-DEFEDE611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5547" y="1213923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한편 정부는 오염물질에 대한 수요와 공급에 따라 적정수준의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결정할 수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3011" name="바닥글 개체 틀 4">
            <a:extLst>
              <a:ext uri="{FF2B5EF4-FFF2-40B4-BE49-F238E27FC236}">
                <a16:creationId xmlns:a16="http://schemas.microsoft.com/office/drawing/2014/main" id="{A744566A-495F-4E0A-8553-18A3D756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3012" name="슬라이드 번호 개체 틀 5">
            <a:extLst>
              <a:ext uri="{FF2B5EF4-FFF2-40B4-BE49-F238E27FC236}">
                <a16:creationId xmlns:a16="http://schemas.microsoft.com/office/drawing/2014/main" id="{45B4EFAD-062D-410C-9E8F-6CB412BB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337EF75-FE7C-4CF2-9BF3-BC67142C5870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90AD2291-9899-42B1-A08A-F5C7365A9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8DBF9E8A-2DD7-4C11-B8D4-E8ACBC68D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E02D25C2-8465-4DD3-89E9-019AFBCE2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τ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결정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2E4B70-AC77-4AD4-9B5A-9C45AD2B5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831" y="2062677"/>
            <a:ext cx="6564475" cy="391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96446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010" name="Rectangle 9">
                <a:extLst>
                  <a:ext uri="{FF2B5EF4-FFF2-40B4-BE49-F238E27FC236}">
                    <a16:creationId xmlns:a16="http://schemas.microsoft.com/office/drawing/2014/main" id="{81A9159A-F777-46DB-A1C6-DEFEDE611B9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 배출에 대한 수요는 기업들이 가지고 있으며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e=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θx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생산자의 오염물질 수요곡선임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이미 가정한 바와 같이 생산기술 특성상 배출비용이 생산가치에서 차지하는 비중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𝑝𝑥</m:t>
                        </m:r>
                      </m:den>
                    </m:f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를 항상 동일하게 유지하는 것이 최선이라면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endParaRPr lang="en-US" altLang="ko-KR" sz="1800" dirty="0">
                  <a:latin typeface="Times New Roman" panose="02020603050405020304" pitchFamily="18" charset="0"/>
                  <a:ea typeface="나눔명조" panose="02020603020101020101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에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반응하므로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ko-KR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와 같이 집약도 함수 설정 가능하며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오염물질 수요함수는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e = θ(p/τ)x(p, τ, K, L)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와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같이 표현될 수 있음</a:t>
                </a:r>
                <a:endParaRPr lang="en-US" altLang="ko-KR" sz="1800" dirty="0">
                  <a:latin typeface="Times New Roman" panose="02020603050405020304" pitchFamily="18" charset="0"/>
                  <a:ea typeface="나눔명조" panose="02020603020101020101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오염물질 수요곡선은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τ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증가는 배출량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e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를 줄이므로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우하향</a:t>
                </a:r>
                <a:endParaRPr lang="ko-KR" altLang="en-US" sz="1800" dirty="0">
                  <a:latin typeface="Times New Roman" panose="02020603050405020304" pitchFamily="18" charset="0"/>
                  <a:ea typeface="나눔명조" panose="02020603020101020101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K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증가는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x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생산량을 늘려 수요곡선을 우측으로 이동시키며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, L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증가는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x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생산을 줄여 수요곡선을 좌측으로 이동시킴</a:t>
                </a:r>
              </a:p>
              <a:p>
                <a:pPr lvl="1" eaLnBrk="1" hangingPunct="1"/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p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상승은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x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생산의 기회비용을 높여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θ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를 높이고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, x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의 단위당 가치가 커지기 때문에 생산도 증가하게 하여 수요곡선을 우측으로 이동시킴</a:t>
                </a:r>
              </a:p>
              <a:p>
                <a:pPr lvl="1" eaLnBrk="1" hangingPunct="1"/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010" name="Rectangle 9">
                <a:extLst>
                  <a:ext uri="{FF2B5EF4-FFF2-40B4-BE49-F238E27FC236}">
                    <a16:creationId xmlns:a16="http://schemas.microsoft.com/office/drawing/2014/main" id="{81A9159A-F777-46DB-A1C6-DEFEDE611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333" r="-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1" name="바닥글 개체 틀 4">
            <a:extLst>
              <a:ext uri="{FF2B5EF4-FFF2-40B4-BE49-F238E27FC236}">
                <a16:creationId xmlns:a16="http://schemas.microsoft.com/office/drawing/2014/main" id="{A744566A-495F-4E0A-8553-18A3D756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3012" name="슬라이드 번호 개체 틀 5">
            <a:extLst>
              <a:ext uri="{FF2B5EF4-FFF2-40B4-BE49-F238E27FC236}">
                <a16:creationId xmlns:a16="http://schemas.microsoft.com/office/drawing/2014/main" id="{45B4EFAD-062D-410C-9E8F-6CB412BB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337EF75-FE7C-4CF2-9BF3-BC67142C5870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90AD2291-9899-42B1-A08A-F5C7365A9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8DBF9E8A-2DD7-4C11-B8D4-E8ACBC68D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E02D25C2-8465-4DD3-89E9-019AFBCE2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τ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결정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Rectangle 9">
                <a:extLst>
                  <a:ext uri="{FF2B5EF4-FFF2-40B4-BE49-F238E27FC236}">
                    <a16:creationId xmlns:a16="http://schemas.microsoft.com/office/drawing/2014/main" id="{DC95B16D-7D7B-46F6-8154-9178F0FEB42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정부는 배출부과금률이나 배출권의 양을 조절하여 사회에 공급될 오염물질의 양을 선택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오염의 한계피해는 오염물질 공급의 한계비용임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오염의 한계피해함수는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MD(p, R, e)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나타나며 배출량의 증가는 직접 한계피해를 높이고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오염물질 배출을 통한 실질소득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(=</m:t>
                    </m:r>
                    <m:f>
                      <m:fPr>
                        <m:type m:val="lin"/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증가는 역시 오염의 한계피해를 높이므로 한계피해함수는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우상향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환경재는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정상재이므로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R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증가는 오염물질 공급곡선을 상향 이동시킴</a:t>
                </a:r>
                <a:endParaRPr lang="en-US" altLang="ko-KR" sz="22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증가는 대체효과를 유발하여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환경재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소비를 늘리기 때문에 오염물질 공급곡선을 상향 이동시킴</a:t>
                </a:r>
                <a:endParaRPr lang="en-US" altLang="ko-KR" sz="2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034" name="Rectangle 9">
                <a:extLst>
                  <a:ext uri="{FF2B5EF4-FFF2-40B4-BE49-F238E27FC236}">
                    <a16:creationId xmlns:a16="http://schemas.microsoft.com/office/drawing/2014/main" id="{DC95B16D-7D7B-46F6-8154-9178F0FEB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181" t="-1481" b="-41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바닥글 개체 틀 4">
            <a:extLst>
              <a:ext uri="{FF2B5EF4-FFF2-40B4-BE49-F238E27FC236}">
                <a16:creationId xmlns:a16="http://schemas.microsoft.com/office/drawing/2014/main" id="{D630609D-E90E-4915-9DAB-7AF20019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4036" name="슬라이드 번호 개체 틀 5">
            <a:extLst>
              <a:ext uri="{FF2B5EF4-FFF2-40B4-BE49-F238E27FC236}">
                <a16:creationId xmlns:a16="http://schemas.microsoft.com/office/drawing/2014/main" id="{822480D2-13FB-4A4A-B4D2-A0F23F0E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8B356A2-8444-4BDA-9F21-B42692020FE5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66221093-50BA-432A-8D84-E57D42D39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58F4259B-ACFB-42F5-9932-7A211A7F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22BEDAB5-A564-453D-8ACA-886B61B6E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τ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결정</a:t>
            </a: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>
            <a:extLst>
              <a:ext uri="{FF2B5EF4-FFF2-40B4-BE49-F238E27FC236}">
                <a16:creationId xmlns:a16="http://schemas.microsoft.com/office/drawing/2014/main" id="{922834BB-0157-4773-AF60-9E4636AD0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7575" y="1191446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오염물질에 대한 수요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공급을 통해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τ</a:t>
            </a:r>
            <a:r>
              <a:rPr lang="en-US" altLang="ko-KR" sz="22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2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파악되는데 이러한 균형은 일반균형효과까지 반영하는 것임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5059" name="바닥글 개체 틀 4">
            <a:extLst>
              <a:ext uri="{FF2B5EF4-FFF2-40B4-BE49-F238E27FC236}">
                <a16:creationId xmlns:a16="http://schemas.microsoft.com/office/drawing/2014/main" id="{266C3800-FF1A-4174-9E97-A8AD20B3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5060" name="슬라이드 번호 개체 틀 5">
            <a:extLst>
              <a:ext uri="{FF2B5EF4-FFF2-40B4-BE49-F238E27FC236}">
                <a16:creationId xmlns:a16="http://schemas.microsoft.com/office/drawing/2014/main" id="{149B85A8-0AA1-4692-B594-94FD8851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059A807-62DE-47D3-A037-B6F2469F6F0C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B6210944-A56E-4273-B424-3BFAF6AD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ED3E0F82-845E-407B-9E8B-7DAAE039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EA8BBB2A-D565-48B1-AF21-AC30F1B71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τ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결정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A5A3D9-407A-4243-AD99-B1F2C407A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831" y="2062677"/>
            <a:ext cx="6564475" cy="391775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전통적으로 환경규제가 생산비를 높여 국제경쟁력을 얼마나 저하시키고 교역에 어떤 영향을 주는지가 논의되었음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최근의 논의는 역으로 개방화가 환경에 미치는 영향에 초점을 맞추고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환경오염자체에 대한 관심도가 증대되면서 무역자유화가 국내 환경에 미치는 영향에 대한 관심이 고조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WTO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 출범이나 국가 간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FTA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와 같은 무역자유화가 최근 급격히 이루어짐에 따라 필연적으로 무역자유화가 전 세계 환경에 어떤 영향을 미치는지를 생각하게 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55662" y="1232089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무역 자유화 역시 국가의 오염수준에 대하여 기술효과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규모효과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대체효과를 야기함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기술효과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무역이 자유화되면 상품 상대가격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가 바뀌고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그로 인해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num>
                      <m:den>
                        <m:r>
                          <a:rPr lang="ko-KR" altLang="en-US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도 바뀌게 되어 오염집약도의 변화가 생겨 배출량이 달라짐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무역자유화로 한 국가의 소득이 늘어나면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환경재의 수요가 늘어나 보다 강한 오염규제정책의 도입을 요구하는 압력이 발생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가 커지도록 강화된 오염규제정책은 역시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num>
                          <m:den>
                            <m:r>
                              <a:rPr lang="ko-KR" altLang="en-US" sz="16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𝜏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값을 바꾸게 됨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규모효과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무역자유화는 전 세계 교역량을 늘리고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각국의 생산량을 늘리며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이로 인해 오염물질량도 변하게 됨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전 세계적으로 무역자유화의 규모효과는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</a:rPr>
                      <m:t>𝑦</m:t>
                    </m:r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의 총생산량을 늘리기 때문에 환경을 악화시킴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구성효과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경제가 개방되면 각국은 자신이 비교우위를 점하는 산업의 생산을 늘려 수출하고자 함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따라서 무역자유화는 한 국가가 생산하는 산출물의 구성을 바꿈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5662" y="1232089"/>
                <a:ext cx="7737475" cy="4114800"/>
              </a:xfrm>
              <a:blipFill>
                <a:blip r:embed="rId3"/>
                <a:stretch>
                  <a:fillRect l="-709" t="-741" r="-23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493203442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무역자유화가 한 국가의 오염도에 미치는 영향은 세 가지 효과를 모두 종합하여 나타남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오염에 미치는 영향은 개방화와 더불어 국내 환경규제정책의 신축성 여부에 의해서도 영향을 받음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국내 정책이 개방화라는 여건변화에 신축적으로 대응하여 최적의 배출부과금이나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발행량을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선택할 때와 그렇지 못하고 여건변화에도 불구하고 경직된 부과금이나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규모를 유지할 때의 개방화 영향이 달라짐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3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3295055571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오염집약적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산출물 수입국의 경우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EC9A8B-B58B-463D-9C25-34B8817F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703" y="1883173"/>
            <a:ext cx="6092019" cy="424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13290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개방화가 이루어지든 아니든 정부의 신축적인 정책선택이 가능하여 항상 사회적 최적 수준의 환경정책이 도입된다고 가정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수입하는 국가에서 개방화가 진행되어 국내 시장가격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하락하면 오염물질 수요곡선과 공급곡선이 모두 이동함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𝑑</m:t>
                                </m:r>
                              </m:sup>
                            </m:sSup>
                          </m:num>
                          <m:den>
                            <m:r>
                              <a:rPr lang="ko-KR" altLang="en-US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𝜏</m:t>
                            </m:r>
                          </m:den>
                        </m:f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𝑑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값이 줄어들기 때문에 오염물질 수요곡선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num>
                      <m:den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(,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왼쪽으로 이동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공급곡선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은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개방화로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𝑑</m:t>
                        </m:r>
                      </m:sup>
                    </m:sSup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로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하락하면 환경재에 비해 시장재가 더 싸져 일종의 대체효과 때문에 공급곡선이 우측으로 이동하려는 경향이 있음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하지만 동시에 실질소득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/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상승하기 때문에 이로 인해 깨끗한 환경에 대한 수요가 커져 공급곡선이 좌측으로 이동하려는 경향도 있음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두 상반된 효과 때문에 공급곡선은 우측으로 이동하더라도 수요곡선의 좌측 이동 폭에 비하면 그 정도가 작음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709" t="-889" r="-630" b="-8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4156853560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신축적인 정책이 사용될 경우 오염물질 집약적인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수입하는 국가의 개방화는 오염물질 배출을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으로 줄이는 역할을 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최적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배출부과금률이나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배출권의 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으로 하락함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수입개방은 이 나라의 오염물질 배출량을 줄이게 하고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과정에서 국가 전체 생산량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산업별 생산량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생산량 당 배출량이 모두 바뀌었기 때문에 규모효과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구성효과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기술효과가 모두 영향을 미쳤음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709" t="-1185" r="-3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2569202996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수입개방에도 불구하고 경직적인 국내 환경정책을 사용한다면</a:t>
                </a:r>
                <a:r>
                  <a:rPr lang="en-US" altLang="ko-KR" sz="2800" dirty="0">
                    <a:latin typeface="나눔명조" pitchFamily="18" charset="-127"/>
                    <a:ea typeface="나눔명조" pitchFamily="18" charset="-127"/>
                  </a:rPr>
                  <a:t>?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먼저 수입개방에도 불구하고 원래의 부과금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그대로 부과한다면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에서는 오염물질에 대한 수요가 공급보다도 더 작고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따라서 오염물질 시장에서 일종의 불균형이 발생함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배출부과금이 지나치게 높은 관계로 기업은 최적인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보다도 더 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만을 배출하는 시장실패가 발생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만약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배출권거래제를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부과금제 대신 사용하되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역시 경직적으로 운용을 하면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이제 배출량은 사회적 최적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아니라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경우도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역시 시장실패가 발생함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국내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배출권가격은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원래의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물론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새로운 사회적 최적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보다도 더 낮은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형성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339" t="-1630" r="-1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3690869676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오염재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수입국에 있어 무역자유화는 정부가 최적의 정책을 항상 사용할 때에는 오염물질 배출을 줄이고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무역자유화에도 불구하고 원래 수준의 배출부과금제를 유지하여도 배출량을 많이 줄일 수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하지만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배출권거래제를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원래 수준으로 유지하여 운용하면 배출량은 그대로 유지되고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배출권가격이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하락하게 됨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오염집약도는 각 경우에 맞게 조절됨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4013418285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오염집약적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산출물 수출국의 경우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539A12-B034-4B9E-A046-6B8472DF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18" y="1844675"/>
            <a:ext cx="6410943" cy="415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5208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오염재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를 수출하는 나라의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경우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국내가격이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국제가격보다 원래 낮았는데 무역자유화로 인해 국제가격수준으로 오르게 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즉 국내가격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상승함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오염물질 수요곡선은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되어 우측으로 이동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오염물질 공급곡선은 그림의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처럼 좌측으로 이동할 것임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lvl="2" eaLnBrk="1" hangingPunct="1"/>
                <a:r>
                  <a:rPr lang="ko-KR" altLang="en-US" sz="1400" dirty="0" err="1">
                    <a:latin typeface="나눔명조" pitchFamily="18" charset="-127"/>
                    <a:ea typeface="나눔명조" pitchFamily="18" charset="-127"/>
                  </a:rPr>
                  <a:t>시장재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 가격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나눔명조" pitchFamily="18" charset="-127"/>
                      </a:rPr>
                      <m:t>가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 상대적으로 </a:t>
                </a:r>
                <a:r>
                  <a:rPr lang="ko-KR" altLang="en-US" sz="1400" dirty="0" err="1">
                    <a:latin typeface="나눔명조" pitchFamily="18" charset="-127"/>
                    <a:ea typeface="나눔명조" pitchFamily="18" charset="-127"/>
                  </a:rPr>
                  <a:t>비싸져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 환경재에 대한 수요가 늘어나고</a:t>
                </a:r>
                <a:r>
                  <a:rPr lang="en-US" altLang="ko-KR" sz="14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나눔명조" pitchFamily="18" charset="-127"/>
                      </a:rPr>
                      <m:t>𝑆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는 좌측 이동함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무역장벽이 없어지면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𝑥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의 수출가격이 높아지고 수출국 소득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𝑚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 증가함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 → 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실질소득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𝑅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 증가하게 되므로 강한 규제에 대한 요구가 더 커지고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 때문에도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나눔명조" pitchFamily="18" charset="-127"/>
                      </a:rPr>
                      <m:t>𝑆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곡선은 좌측 이동함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오염물질 수요곡선과 공급곡선이 둘 다 위쪽으로 이동하기 때문에 무역자유화로 인해 오염물질 배출량이 늘어날지 줄어들지 불분명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다만 수출로 인한 소득증가가 환경규제 강도 증가로 연결되는 것이 너무 크지 않다면 공급곡선의 좌측 이동 폭은 수요곡선의 우측 이동 폭보다는 작을 것으로 예상됨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 → 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수출국의 오염물질 증가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 경우 오염물질의 가격 </a:t>
                </a: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𝜏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으로 상승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6082" name="Rectangle 9">
                <a:extLst>
                  <a:ext uri="{FF2B5EF4-FFF2-40B4-BE49-F238E27FC236}">
                    <a16:creationId xmlns:a16="http://schemas.microsoft.com/office/drawing/2014/main" id="{4CA6B715-B5AE-4993-9BD4-0C66CD180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 b="-7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3636874417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개방화가 오염물질 배출량을 줄일지 늘릴지의 여부는 생산과정에서 오염물질을 많이 배출하는 산출물을 수입하는 국가와 수출하는 국가에서 상반되게 나타날 것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무역자유화 이전 혹은 이후에 국가가 적용하는 환경정책이 반드시 사회적 최적 수준이지 않을 수도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정책의 종류 및 강도는 무역자유화의 환경효과에 영향을 미침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그러므로 개방화가 실제로 어느 정도나 오염물질 배출량과 후생에 영향을 미치는지에 관한 대답은 사실 자료를 활용하는 실증분석을 필요로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개방화가 환경에 미치는 영향</a:t>
            </a:r>
          </a:p>
        </p:txBody>
      </p:sp>
    </p:spTree>
    <p:extLst>
      <p:ext uri="{BB962C8B-B14F-4D97-AF65-F5344CB8AC3E}">
        <p14:creationId xmlns:p14="http://schemas.microsoft.com/office/powerpoint/2010/main" val="1839205548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>
            <a:extLst>
              <a:ext uri="{FF2B5EF4-FFF2-40B4-BE49-F238E27FC236}">
                <a16:creationId xmlns:a16="http://schemas.microsoft.com/office/drawing/2014/main" id="{4CA6B715-B5AE-4993-9BD4-0C66CD180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전통적인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무역이론은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산업 간은 물론이고 산업 내 교역도 동시에 이루어지며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생산기술이나 부존자원이 이질적이지 않은 국가 사이에서도 교역이 활발히 이루어지는 문제 설명하지 못함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새로운 무역 이론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(new trade theory,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Melitz, 2003)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고전적 무역이론이 전제하고 있는 바와 같은 완전경쟁시장이라는 가정을 포기함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동일 산업 내에서도 각 기업이 생산하는 상품은 그 특성이나 품질</a:t>
            </a:r>
            <a:r>
              <a:rPr lang="en-US" altLang="ko-KR" sz="1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인지도 등에 있어 같지가 않고 상품 간에 일종의 차별이 이루어진다고 가정함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기업이 동일 제품을 생산하는 데 있어서는 규모수익불변이 아니라 </a:t>
            </a:r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규모의 경제성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(economies of scale)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존재한다고 가정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생산량이 많을수록 평균 생산비가 감소</a:t>
            </a:r>
            <a:r>
              <a:rPr lang="en-US" altLang="ko-KR" sz="1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기업은 생산성 면에서도 서로 차이 있음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다른 조건이 같다면 소비자들은 보다 다양한 제품을 소비할수록 만족도가 커진다고 가정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762" y="6272797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</p:spTree>
    <p:extLst>
      <p:ext uri="{BB962C8B-B14F-4D97-AF65-F5344CB8AC3E}">
        <p14:creationId xmlns:p14="http://schemas.microsoft.com/office/powerpoint/2010/main" val="3763902460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19FD49-3F3F-4366-8F7F-25388F76F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8" y="1527653"/>
            <a:ext cx="7778148" cy="36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80818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무역 이전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평균비용곡선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AC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우하향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규모의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경제성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한계비용곡선은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MC,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이 기업이 판매하는 제품에 대한 수요곡선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𝑀𝑅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한계수입인데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7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장에서 독점기업의 행위에 대해 설명했을 때처럼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우하향하므로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𝑀𝑅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그보다 아래쪽에서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우하향함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기업이 활동하는 시장은 </a:t>
                </a:r>
                <a:r>
                  <a:rPr lang="ko-KR" altLang="en-US" sz="18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독점적 경쟁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(monopolistic competition)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특성을 가지는 시장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독점시장의 특성과 경쟁시장의 특성을 모두 가짐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독점시장의 특성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각 기업은 자기 제품에 대해 어느 정도의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독점력을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가지고 있어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는 수평이 아니라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우하향함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경쟁시장의 특성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하지만 이 시장에 새로운 기업이 진입하고 또 기존 기업이 시장을 떠나는 데에는 장애가 전혀 없음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709" t="-889" b="-3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055359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무역 이전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독점적 경쟁시장에서는 특정 기업이 일시적으로는 이윤을 얻을 수 있지만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그 이윤은 이 기업제품과 강한 대체성을 가지는 제품을 생산하는 경쟁기업이 시장에 진입하게 만들기 때문에 장기적으로는 유지될 수 없음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일시적으로 이 기업 제품의 수요가 커 이윤이 발생해도 다른 기업이 진입하면 이 기업제품의 수요는 감소하고 수요곡선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왼쪽으로 이동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기업이 시장을 떠나지 않는다면 결국 장기에는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평균비용곡선과 접하게 됨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접점에서는 한계비용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MC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와 한계수입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𝑀𝑅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일치하며 이는 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7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장이 설명한 바와 같이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독점력을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가지는 기업의 최적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선택점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시장균형 생산량은</a:t>
                </a:r>
                <a:r>
                  <a:rPr lang="en-US" altLang="ko-KR" sz="18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 균형에서 단위당 비용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AC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와 가격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일치하므로 이윤은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 b="-5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40431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39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무역 이후</a:t>
                </a:r>
                <a:endParaRPr lang="en-US" altLang="ko-KR" sz="2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다른 국가와의 무역이 이루어지면 제품의 수요곡선은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로 변화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시장균형에서는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𝑇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도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AC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접하고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 접하는 점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T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에서는 한계비용과 한계수입이 서로 일치하기 때문에 생산은 여기에서 이루어지고 기업의 이윤은 여전히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새로운 수요곡선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vs.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무역 이전의 수요곡선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전자는 기울기가 더 완만하고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그렇기 때문에 평균비용곡선과 만나는 점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도 점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A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보다는 더 오른쪽에 위치함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339" t="-1630" b="-6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924787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무역 이후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국제교역을 하면서 두 나라의 기업들이 모두 동일 시장에서 활동하기 때문에 무역 이전에 비해 대체재를 공급하는 경쟁자가 더 많아졌고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이 기업 제품에 대한 수요는 더 탄력적으로 바뀌어 기업의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독점력이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약해짐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이러한 경쟁심화는 두 나라에 존재하던 모든 기업들이 산업에 다 남아 있지는 못하게 하므로 일부 기업은 산업을 떠날 수밖에 없고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산업에 살아남게 된 기업의 생산량은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증가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아울러 규모의 경제성이 있는 상태에서 이렇게 살아남는 기업의 생산량이 늘어나면 평균생산비가 감소하게 되고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기업 제품의 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무역이전에 비해 하락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217237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무역을 하게 되면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소비자들은 소비재의 가격이 더 낮아지고 제품 공급이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다양해지므로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선택의 다양성 또한 높아져 이득을 얻게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이처럼 새로운 무역이론에서는 각 산업에 있어 서로 이질적인 다수의 기업이 품질 특성 면에서 서로 다른 제품들을 생산하여 소비자에게 공급하기 때문에 이 이론에서는 무역과 환경 간의 관계에 대한 설명도 각 산업 전체의 규모뿐 아니라 어떤 기업들이 산업을 구성하는지를 감안해야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514849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규모효과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구성효과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기술효과 중 특히 기술효과가 각 산업 내 기업의 이질성에 의해 크게 영향을 받음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기업들은 오염물질을 배출하는 데에도 서로 이질적이므로 산업 내 기업구성이 어떻게 되는지가 전체 오염집약도에 영향을 미침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즉 산업 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(within industry)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기술효과가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기술효과를 기업 다양성을 감안해 세분화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marL="457200" lvl="1" indent="0" eaLnBrk="1" hangingPunct="1">
              <a:buNone/>
            </a:pP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1)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정부 규제 등으로 인해 산업 내 개별 기업이 오염집약도를 어떻게 바꾸는지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모든 기업이 배출을 줄이는 기술을 채용하면 그로 인해 오염집약도가 낮아짐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marL="457200" lvl="1" indent="0" eaLnBrk="1" hangingPunct="1">
              <a:buNone/>
            </a:pP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2)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‘산업 내의’ 구성효과로서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산업 내 오염집약적 기업의 생산비중이 커지면 산업 전체 오염집약도가 높아지고 그 반대의 경우 낮아지는 효과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marL="457200" lvl="1" indent="0" eaLnBrk="1" hangingPunct="1">
              <a:buNone/>
            </a:pP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3)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기업의 진입과 탈퇴효과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500" dirty="0" err="1">
                <a:latin typeface="나눔명조" pitchFamily="18" charset="-127"/>
                <a:ea typeface="나눔명조" pitchFamily="18" charset="-127"/>
              </a:rPr>
              <a:t>정부규제로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 인해 산업을 떠나는 기업의 오염집약도가 남아 있는 기업에 비해 더 높으면 산업 전체의 오염집약도는 낮아짐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신규 기업이 이 산업으로 진입하는 상황이라면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신규 기업의 오염집약도가 기존 기업에 비해 더 낮은지 높은지에 따라서 산업의 오염집약도가 달라짐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5994340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새로운 무역이론구조에서 무역자유화의 효과 분석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오염산업에서 활동하는 기업의 생산성의 최저를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ko-KR" altLang="en-US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최고를</a:t>
                </a:r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라 하면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생산성이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[</m:t>
                    </m:r>
                    <m:bar>
                      <m:barPr>
                        <m:ctrlP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bar>
                      <m:barPr>
                        <m:pos m:val="top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구간에 속하는 전체 기업을 세 그룹으로 나눌 수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생산성이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[</m:t>
                        </m:r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bar>
                      <m:barPr>
                        <m:pos m:val="top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영역에 속하는 기업은 국내는 물론 해외에서 외국기업과도 경쟁하며 수출까지 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생산성이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[</m:t>
                            </m:r>
                            <m:r>
                              <a:rPr lang="ko-KR" altLang="en-US" sz="18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𝐷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 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속하는 기업은 수출은 못하지만 국내시장에 제품을 공급함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생산성이 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[</m:t>
                    </m:r>
                    <m:bar>
                      <m:barPr>
                        <m:ctrlP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bar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</m:bar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영역에 속하는 기업은 산업에 진입하지 못한 상태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496219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상황에서 무역이 자유화되면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해외시장의 진입장벽이 낮아져 수출까지 하는 기업의 수가 늘어나고 생산성경계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(cutoff)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(&lt;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이동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동시에 해외기업이 국내시장에 진입하기 때문에 국내시장의 경쟁이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치열해져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국내시장에서 판매하는 기업 중 생산성이 낮은 기업은 산업을 떠나게 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sub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(&gt;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이동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생산성이 높은 기업일수록 오염집약도는 낮을 가능성이 큰데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무역자유화는 기업이 저감노력을 통해 각자의 오염집약도를 바꾸지 않아도 이처럼 산업 전체의 오염집약도를 바꿈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즉 시장점유율을 생산성이 보다 높은 기업들이 많이 차지하도록 하고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동시에 생산성이 낮고 오염집약도가 높은 기업이 산업을 떠나게 하므로 산업의 오염집약도가 낮아짐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그러나 무역자유화 때문에 규모효과와 같은 상반되는 효과도 있음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709" t="-889" r="-79" b="-12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373454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정부의 오염규제도 기업의 생산성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 영향을 미치며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기업이 스스로의 오염집약도를 낮추기 위해 행동을 하도록 유도함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동시에 기업이 자기 생산품 중 어느 정도를 국내에서 직접 생산하고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어느 정도를 아웃소싱을 주거나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역외조달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(offshoring)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할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것인지에도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영향을 미치게 되므로 오염물질 배출량과 교역형태에 영향을 미침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이상의 특성을 가지는 새로운 무역이론은 환경규제가 무역에 미치는 영향과 무역자유화가 환경에 미치는 영향에 관한 실증분석과도 연결됨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제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18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장 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3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절의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오염피난처가설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자페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외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(Jaffe et al., 1995)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등의 초기 검증 연구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오염규제가 산업경쟁력이나 산업시설의 해외이전을 눈에 띄게 증가시키지 않으며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심지어 반대의 결론도 도출됨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709" t="-1185" r="-709" b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550704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오염피난처가설에 대한 반론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</a:t>
            </a:r>
          </a:p>
          <a:p>
            <a:pPr lvl="1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오염규제 자체가 외생적으로 결정되는 것이 아니라 무역환경의 영향을 받아서 결정되므로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700" dirty="0" err="1">
                <a:latin typeface="나눔명조" pitchFamily="18" charset="-127"/>
                <a:ea typeface="나눔명조" pitchFamily="18" charset="-127"/>
              </a:rPr>
              <a:t>규제수준과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 경쟁력 변수 간의 상관관계 분석이 왜곡된다는 주장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수출도 하는 경쟁력 있는 기업에 대해서는 엄격한 환경기준을 적용하고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해외에서 수입되는 품목과 경쟁해야 하는 산업에 대해서는 비교적 느슨한 오염규제를 적용한다면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마치 오염규제가 해외기업과의 경쟁력을 오히려 높이는 것처럼 보이게 하고 오염피난처가설을 기각하는 것처럼 보이게 할 수 있음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(Levinson, 2010)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오염피난처가설에 대한 반론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2</a:t>
            </a:r>
          </a:p>
          <a:p>
            <a:pPr lvl="1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같은 국가경제라 하여도 이를 구성하는 기업의 이질성에 따라 결론이 달라질 수 있는데 기존 연구들이 이를 고려하지 못해 그와 같은 결론을 도출하였다는 주장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7059087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03262" y="1252536"/>
                <a:ext cx="7737475" cy="473075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오염피난처가설에 대한 반론 </a:t>
                </a:r>
                <a:r>
                  <a:rPr lang="en-US" altLang="ko-KR" sz="2800" dirty="0">
                    <a:latin typeface="나눔명조" pitchFamily="18" charset="-127"/>
                    <a:ea typeface="나눔명조" pitchFamily="18" charset="-127"/>
                  </a:rPr>
                  <a:t>2 </a:t>
                </a:r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관련 실증분석</a:t>
                </a:r>
                <a:r>
                  <a:rPr lang="en-US" altLang="ko-KR" sz="2800" dirty="0">
                    <a:latin typeface="나눔명조" pitchFamily="18" charset="-127"/>
                    <a:ea typeface="나눔명조" pitchFamily="18" charset="-127"/>
                  </a:rPr>
                  <a:t>(Levinson and Taylor, 2008) </a:t>
                </a: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미국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140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개 산업부문의 멕시코와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캐나다로부터의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순수입량을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분석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순수입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=−[1−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𝑖𝑡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𝑖𝑡</m:t>
                            </m:r>
                          </m:sub>
                        </m:sSub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연도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있어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𝑖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부문에 대한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3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국 전체 지출에서 미국이 차지하는 비중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3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국 전체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𝑖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부문 생산에서 미국이 차지하는 비중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미국의 규제강도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𝑖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부문의 전체 부가가치 생산액에서 저감비용이 차지하는 비중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오염규제의 무역효과는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 미치는 통계적 영향을 파악해서 평가함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262" y="1252536"/>
                <a:ext cx="7737475" cy="4730750"/>
              </a:xfrm>
              <a:blipFill>
                <a:blip r:embed="rId3"/>
                <a:stretch>
                  <a:fillRect l="-1339" t="-1287" r="-394" b="-82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746375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93749" y="1193800"/>
                <a:ext cx="7737475" cy="50546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하지만 이러한 통계분석을 실행함에 있어 정책 자체의 내생성문제와 각 부문 내 세부산업의 구성이 서로 다른 문제 등이 개입됨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1)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가 정확한 오염규제강도가 될 수 없음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어떤 두 부문의 실제 오염규제강도는 동일하지만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부문 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의 해외 생산비가 상대적으로 더 싼 경우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부문 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의 순수입은 상대적으로 많고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400" dirty="0" err="1">
                    <a:latin typeface="나눔명조" pitchFamily="18" charset="-127"/>
                    <a:ea typeface="나눔명조" pitchFamily="18" charset="-127"/>
                  </a:rPr>
                  <a:t>저감비용이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 큰 생산자들은 진입하지 못하기 때문에 이들은 부문 </a:t>
                </a:r>
                <a:r>
                  <a:rPr lang="en-US" altLang="ko-KR" sz="1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계산에 반영되지 않음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이어서 규제가 약할수록 순수입이 늘어나는 것처럼 보일 수 있음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2)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생산비중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는 세계시장 점유율이므로 자료로는 관찰하기 어려운 해외의 규제수준에 따라서 달라짐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가 달라지면 생산에 참여하는 국내기업의 특성도 달라지므로 결국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값도 달라짐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변수로 사용되는 규제강도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  <a:ea typeface="나눔명조" pitchFamily="18" charset="-127"/>
                      </a:rPr>
                      <m:t>는</m:t>
                    </m:r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 외생변수가 아니라 그 자체가 다양한 요인에 의해 영향을 받는 변수가 됨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3)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부문을 구성하는 기업의 이질성을 무시하는 문제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환경규제를 강화하면 각 기업은 저감행위를 늘리고 그 비용 때문에 시장점유율을 잃어 순수입이 늘어날 것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하지만 동시에 시장을 떠나는 기업은 비교적 저감비용이 많이 드는 비효율적인 기업이기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도 달라짐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실제 정부규제 변화는 설명변수인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와 종속변수인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나눔명조" pitchFamily="18" charset="-127"/>
                    <a:ea typeface="나눔명조" pitchFamily="18" charset="-127"/>
                  </a:rPr>
                  <a:t>를 동시에 바꿈</a:t>
                </a:r>
                <a:endParaRPr lang="en-US" altLang="ko-KR" sz="1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4930CF0E-E6A4-4B3A-B7A4-59F7C6C78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749" y="1193800"/>
                <a:ext cx="7737475" cy="5054600"/>
              </a:xfrm>
              <a:blipFill>
                <a:blip r:embed="rId3"/>
                <a:stretch>
                  <a:fillRect l="-473" t="-724" b="-10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349814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49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50546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레빈손과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테일러는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미국의 각 주별 환경규제강도가 다르고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각 산업부문이 각 주별로 분포된 형태도 다르다는 사실을 이용해 지역별 특성변수를 부문별 특성변수로 전환한 추가변수들을 활용해 문제를 완화시킴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분석결과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미국의 규제강도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1%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강화는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멕시코로부터의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순수입을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0.4%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늘리고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캐나다로부터의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순수입은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0.6%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늘린다는 것을 보여줌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5770313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50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50546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앤트와일러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Antweiler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et al., 2001)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연구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 세계 각국에 있어 무역자유화가 오염도에 미치는 영향을 실증분석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GEMS(Global Environment Monitoring System)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자료 사용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1970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년대 초반 이래 전 세계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개국의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도시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관측소에서의 아황산가스 농도 측정치를 각국의 환경수준을 나타내는 지표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규모효과를 나타내는 변수로 단위면적당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GDP(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국내총생산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구성효과는 노동과 자본의 구성비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기술효과는 과거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국민소득의 평균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무역의 개방화정도는 수출과 수입의 합이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GDP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에서 차지하는 비중을 이용해 나타냄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개방도지수와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여타 변수들의 곱을 설명변수로 사용해 무역개방이 세 가지 요인변수들을 통해 각국 오염도에 미치는 영향을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계량분석함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6193418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51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50546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앤트와일러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Antweiler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et al., 2001)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연구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무역자유화의 구성효과는 국가별로 상쇄되기 때문에 무역자유화가 오염도에 미치는 영향은 주로 기술효과와 규모효과의 상대적 크기에 좌우됨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다수의 연구에서 무역자유화의 구성효과 크기가 크지 않다는 결론을 내린 바 있음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분석 결과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무역자유화로 인해 소득이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증가하면 아황산가스농도는 규모효과에 의해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0.3%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증가하지만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동시에 기술효과에 의해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1.4%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감소함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무역자유화로 인해 소득이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늘어나면 이로 인해 약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1.1%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아황산가스농도가 감소하고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무역자유화는 오염도 감소에 긍정적인 영향을 미친다는 결론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560582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F7627DBD-E70A-42C9-BF80-16467D7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19</a:t>
            </a: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CEFFEA2C-A6AB-4D2B-9016-CFE41614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FA58842-917D-42FF-9D73-F9FBB169A5F0}" type="slidenum">
              <a:rPr lang="ko-KR" altLang="en-US" sz="1200" b="0">
                <a:solidFill>
                  <a:schemeClr val="tx1"/>
                </a:solidFill>
              </a:rPr>
              <a:pPr/>
              <a:t>52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5B6CE1B-D689-4C5D-AF85-B51E43F4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C1E954E9-D6B2-4A7A-9D91-A1C38B7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7675763-518E-4918-97D9-62F60DBEB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" y="557211"/>
            <a:ext cx="8963025" cy="69532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새로운 무역이론과 환경문제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이론과 실증분석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930CF0E-E6A4-4B3A-B7A4-59F7C6C78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50546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연구 대상이 개발도상국일 경우에는 무역자유화의 구성효과가 다르다는 연구들도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중국의 성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省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별 자료를 이용한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봄바르디니와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1800" dirty="0" err="1">
                <a:latin typeface="나눔명조" pitchFamily="18" charset="-127"/>
                <a:ea typeface="나눔명조" pitchFamily="18" charset="-127"/>
              </a:rPr>
              <a:t>Bombardini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and Li, 2016)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수출품에서 차지하는 오염물질의 비중이 무역과 산업구조 변화로 인해 높아지면 오염도와 유아사망률에 상당한 영향을 미친다는 분석을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개발도상국의 경우 선진국에 비해 환경자원에 대한 효율적인 관리가 미흡하고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환경자원에 대한 소유권이 적절히 설정되어 있지 않기 때문에 환경자원의 시장가격이 사회적 가치보다 더 낮음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개발도상국은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오염집약적인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산업에 비교우위를 가져 무역이 자유화되면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오염집약적인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산업의 생산물을 선진국으로 수출함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무역자유화는 이미 지나치게 이용되고 있는 개발도상국 환경자원에 대한 수요를 더욱 늘려 개발도상국의 환경악화와 자원남용을 촉진할 수 있음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Chichilnisky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1994)</a:t>
            </a: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369119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A2A1A-E8CF-4352-92BB-B47D8A2DA6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생산지와 소비지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어디에 오염책임이 있나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?</a:t>
            </a:r>
            <a:endParaRPr lang="ko-KR" altLang="en-US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CD44D-E6F3-461E-AFCA-17F0C32C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35" y="1597099"/>
            <a:ext cx="7313612" cy="4114800"/>
          </a:xfrm>
        </p:spPr>
        <p:txBody>
          <a:bodyPr/>
          <a:lstStyle/>
          <a:p>
            <a:r>
              <a:rPr lang="ko-KR" altLang="en-US" sz="2000" dirty="0">
                <a:ea typeface="나눔명조" panose="02020603020101020101"/>
              </a:rPr>
              <a:t>현대 경제의 큰 특징 중 하나는 전 세계 모든 국가들이 생산과 소비활동에 서로 깊이 연계되어 있다는 것</a:t>
            </a:r>
            <a:r>
              <a:rPr lang="en-US" altLang="ko-KR" sz="2000" dirty="0">
                <a:ea typeface="나눔명조" panose="02020603020101020101"/>
              </a:rPr>
              <a:t> </a:t>
            </a:r>
          </a:p>
          <a:p>
            <a:pPr lvl="1"/>
            <a:r>
              <a:rPr lang="ko-KR" altLang="en-US" sz="1600" dirty="0">
                <a:ea typeface="나눔명조" panose="02020603020101020101"/>
              </a:rPr>
              <a:t>예 </a:t>
            </a:r>
            <a:r>
              <a:rPr lang="en-US" altLang="ko-KR" sz="1600" dirty="0">
                <a:ea typeface="나눔명조" panose="02020603020101020101"/>
              </a:rPr>
              <a:t>: </a:t>
            </a:r>
            <a:r>
              <a:rPr lang="ko-KR" altLang="en-US" sz="1600" dirty="0">
                <a:ea typeface="나눔명조" panose="02020603020101020101"/>
              </a:rPr>
              <a:t>중국이 전자제품을 미국에 수출 </a:t>
            </a:r>
            <a:r>
              <a:rPr lang="en-US" altLang="ko-KR" sz="1600" dirty="0">
                <a:ea typeface="나눔명조" panose="02020603020101020101"/>
              </a:rPr>
              <a:t>–</a:t>
            </a:r>
            <a:r>
              <a:rPr lang="ko-KR" altLang="en-US" sz="1600" dirty="0">
                <a:ea typeface="나눔명조" panose="02020603020101020101"/>
              </a:rPr>
              <a:t> 이 제품에 사용된 반도체는 한국제이고</a:t>
            </a:r>
            <a:r>
              <a:rPr lang="en-US" altLang="ko-KR" sz="1600" dirty="0">
                <a:ea typeface="나눔명조" panose="02020603020101020101"/>
              </a:rPr>
              <a:t>, </a:t>
            </a:r>
            <a:r>
              <a:rPr lang="ko-KR" altLang="en-US" sz="1600" dirty="0">
                <a:ea typeface="나눔명조" panose="02020603020101020101"/>
              </a:rPr>
              <a:t>다른 부품은 일본이나 독일에서 만들어졌을 가능성이 크며</a:t>
            </a:r>
            <a:r>
              <a:rPr lang="en-US" altLang="ko-KR" sz="1600" dirty="0">
                <a:ea typeface="나눔명조" panose="02020603020101020101"/>
              </a:rPr>
              <a:t>, </a:t>
            </a:r>
            <a:r>
              <a:rPr lang="ko-KR" altLang="en-US" sz="1600" dirty="0">
                <a:ea typeface="나눔명조" panose="02020603020101020101"/>
              </a:rPr>
              <a:t>제품 자체의 디자인이나 설계는 수입국인 미국에서 이루어졌을 수 있음</a:t>
            </a:r>
            <a:endParaRPr lang="en-US" altLang="ko-KR" sz="1600" dirty="0">
              <a:ea typeface="나눔명조" panose="02020603020101020101"/>
            </a:endParaRPr>
          </a:p>
          <a:p>
            <a:r>
              <a:rPr lang="ko-KR" altLang="en-US" sz="2000" dirty="0">
                <a:ea typeface="나눔명조" panose="02020603020101020101"/>
              </a:rPr>
              <a:t>최종 재화가 생산되기까지 각 단계에서 서비스나 원재료</a:t>
            </a:r>
            <a:r>
              <a:rPr lang="en-US" altLang="ko-KR" sz="2000" dirty="0">
                <a:ea typeface="나눔명조" panose="02020603020101020101"/>
              </a:rPr>
              <a:t>, </a:t>
            </a:r>
            <a:r>
              <a:rPr lang="ko-KR" altLang="en-US" sz="2000" dirty="0">
                <a:ea typeface="나눔명조" panose="02020603020101020101"/>
              </a:rPr>
              <a:t>부품 등 중간재의 국가 간 교환이 이루어지는 일련의 과정을 </a:t>
            </a:r>
            <a:r>
              <a:rPr lang="ko-KR" altLang="en-US" sz="2000" b="1" dirty="0">
                <a:solidFill>
                  <a:srgbClr val="0000FF"/>
                </a:solidFill>
                <a:ea typeface="나눔명조" panose="02020603020101020101"/>
              </a:rPr>
              <a:t>글로벌 가치사슬</a:t>
            </a:r>
            <a:r>
              <a:rPr lang="en-US" altLang="ko-KR" sz="2000" b="1" dirty="0">
                <a:solidFill>
                  <a:srgbClr val="0000FF"/>
                </a:solidFill>
                <a:ea typeface="나눔명조" panose="02020603020101020101"/>
              </a:rPr>
              <a:t>(global value chain, GVC)</a:t>
            </a:r>
            <a:r>
              <a:rPr lang="ko-KR" altLang="en-US" sz="2000" dirty="0">
                <a:ea typeface="나눔명조" panose="02020603020101020101"/>
              </a:rPr>
              <a:t>이라 부름</a:t>
            </a:r>
            <a:endParaRPr lang="en-US" altLang="ko-KR" sz="2000" dirty="0">
              <a:ea typeface="나눔명조" panose="02020603020101020101"/>
            </a:endParaRPr>
          </a:p>
          <a:p>
            <a:r>
              <a:rPr lang="en-US" altLang="ko-KR" sz="2000" dirty="0">
                <a:ea typeface="나눔명조" panose="02020603020101020101"/>
              </a:rPr>
              <a:t>GVC</a:t>
            </a:r>
            <a:r>
              <a:rPr lang="ko-KR" altLang="en-US" sz="2000" dirty="0">
                <a:ea typeface="나눔명조" panose="02020603020101020101"/>
              </a:rPr>
              <a:t>의 중요성이 커지면서 기존의 각종 국제통계를 정비할 필요성이 제기됨</a:t>
            </a:r>
            <a:r>
              <a:rPr lang="en-US" altLang="ko-KR" sz="2000" dirty="0">
                <a:ea typeface="나눔명조" panose="02020603020101020101"/>
              </a:rPr>
              <a:t>. </a:t>
            </a:r>
            <a:r>
              <a:rPr lang="ko-KR" altLang="en-US" sz="2000" dirty="0">
                <a:ea typeface="나눔명조" panose="02020603020101020101"/>
              </a:rPr>
              <a:t>현재의 국제무역통계는 상당한 정도의 중복계산문제를 가짐</a:t>
            </a:r>
            <a:r>
              <a:rPr lang="en-US" altLang="ko-KR" sz="2000" dirty="0">
                <a:ea typeface="나눔명조" panose="02020603020101020101"/>
              </a:rPr>
              <a:t> </a:t>
            </a:r>
          </a:p>
          <a:p>
            <a:pPr lvl="1"/>
            <a:r>
              <a:rPr lang="ko-KR" altLang="en-US" sz="1600" dirty="0">
                <a:ea typeface="나눔명조" panose="02020603020101020101"/>
              </a:rPr>
              <a:t>중국과 미국 간 전자제품 완제품 거래가 무역통계에 잡히고</a:t>
            </a:r>
            <a:r>
              <a:rPr lang="en-US" altLang="ko-KR" sz="1600" dirty="0">
                <a:ea typeface="나눔명조" panose="02020603020101020101"/>
              </a:rPr>
              <a:t>, </a:t>
            </a:r>
            <a:r>
              <a:rPr lang="ko-KR" altLang="en-US" sz="1600" dirty="0">
                <a:ea typeface="나눔명조" panose="02020603020101020101"/>
              </a:rPr>
              <a:t>중국과 한국 간의 반도체 무역통계가 다시 잡히기 때문에 두 거래를 합하면 전자제품 완제품 가치보다 더 큰 국제거래가 이루어진 것으로 계측됨</a:t>
            </a:r>
            <a:endParaRPr lang="en-US" altLang="ko-KR" sz="1600" dirty="0">
              <a:ea typeface="나눔명조" panose="02020603020101020101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082CAB-532F-4C9D-8BB7-3D76813C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86F09C-4BF1-4126-9BFF-742B2B65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90676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A2A1A-E8CF-4352-92BB-B47D8A2DA6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생산지와 소비지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어디에 오염책임이 있나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?</a:t>
            </a:r>
            <a:endParaRPr lang="ko-KR" altLang="en-US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5CD44D-E6F3-461E-AFCA-17F0C32C1F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591043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또한 국가 간 교역수지도 왜곡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완제품 가격이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100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이고 이 중 반도체가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한국에서 중국으로 수출되었다면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기존 무역통계는 중국이 미국에게는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100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흑자를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한국에게는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적자를 본 것으로 기록함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하지만 사실 미국의 대중국 적자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100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중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20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은 중국이 아니라 한국과의 거래에서 발생한 것으로 기록하는 것이 맞음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이러한 다층적 국가 간 관계는 오염물질 배출에 있어서도 형성됨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어떤 국가가 생산과정에서 배출한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생산품 가치 중 상당부분이 다른 나라에서 소비되고 그 연계과정이 연쇄적으로 발생하므로 전부 이 나라 책임이라 볼 수 없지만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동시에 이 나라는 생산과정에 사용된 재료나 중간재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소비재 중 일부를 다른 나라들이 생산하게 함으로써 타국의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발생량을 늘리게 했음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각국은 생산자로서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소비자로서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배출에 대한 책임이 있으며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현재 통계처럼 국경 범위 내의 직접 생산과정에서 발생하는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배출량을 계산하여 그 국가의 책임으로 간주하는 것은 정확한 측정방법이 될 수 없음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5CD44D-E6F3-461E-AFCA-17F0C32C1F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591043"/>
                <a:ext cx="7313612" cy="4114800"/>
              </a:xfrm>
              <a:blipFill>
                <a:blip r:embed="rId2"/>
                <a:stretch>
                  <a:fillRect l="-751" t="-889" r="-83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082CAB-532F-4C9D-8BB7-3D76813C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86F09C-4BF1-4126-9BFF-742B2B65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8714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A2A1A-E8CF-4352-92BB-B47D8A2DA6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생산지와 소비지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어디에 오염책임이 있나</a:t>
            </a:r>
            <a:r>
              <a:rPr lang="en-US" altLang="ko-KR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?</a:t>
            </a:r>
            <a:endParaRPr lang="ko-KR" altLang="en-US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CD44D-E6F3-461E-AFCA-17F0C32C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GVC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에 기반을 둔 조정된 오염물질 배출량 계산은 생산을 기준으로 한 배출량과 소비를 기준으로 한 배출량을 각각 계산하는 시도를 하고 있음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대체로 선진국은 소비자로서 유발한 배출량이 국경 내 직접 생산의 배출량보다 더 많은 것으로 측정됨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조정된 배출량 계산은 에너지나 수자원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토양 등 여러 환경문제에 대해 적용되고 있음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이런 분석을 위해서는 전 세계 모든 국가</a:t>
            </a:r>
            <a:r>
              <a:rPr lang="en-US" altLang="ko-KR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/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산업 간 상품거래를 기록하는 투입산출표가 필요함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endParaRPr lang="ko-KR" altLang="en-US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082CAB-532F-4C9D-8BB7-3D76813C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19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86F09C-4BF1-4126-9BFF-742B2B65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C0F9-1867-4202-AACB-01D98C09704B}" type="slidenum">
              <a:rPr lang="ko-KR" altLang="en-US" smtClean="0"/>
              <a:pPr/>
              <a:t>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018505"/>
      </p:ext>
    </p:extLst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2717</TotalTime>
  <Words>4420</Words>
  <Application>Microsoft Office PowerPoint</Application>
  <PresentationFormat>화면 슬라이드 쇼(4:3)</PresentationFormat>
  <Paragraphs>460</Paragraphs>
  <Slides>55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6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Ⅴ. 국제무역, 경제발전과 환경</vt:lpstr>
      <vt:lpstr>19장 개요</vt:lpstr>
      <vt:lpstr>국제무역과 환경</vt:lpstr>
      <vt:lpstr>국제무역과 환경</vt:lpstr>
      <vt:lpstr>국제무역과 환경의 통합적 관리: 코웁랜드-테일러 일반균형모형</vt:lpstr>
      <vt:lpstr>생산가능경계와 균형 생산량 결정</vt:lpstr>
      <vt:lpstr>생산가능경계와 균형 생산량 결정</vt:lpstr>
      <vt:lpstr>생산가능경계와 균형 생산량 결정</vt:lpstr>
      <vt:lpstr>생산가능경계와 균형 생산량 결정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환경변화의 세분화</vt:lpstr>
      <vt:lpstr>최적 τ의 결정</vt:lpstr>
      <vt:lpstr>최적 τ의 결정</vt:lpstr>
      <vt:lpstr>최적 τ의 결정</vt:lpstr>
      <vt:lpstr>최적 τ의 결정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개방화가 환경에 미치는 영향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새로운 무역이론과 환경문제: 이론과 실증분석</vt:lpstr>
      <vt:lpstr>생산지와 소비지, 어디에 오염책임이 있나?</vt:lpstr>
      <vt:lpstr>생산지와 소비지, 어디에 오염책임이 있나?</vt:lpstr>
      <vt:lpstr>생산지와 소비지, 어디에 오염책임이 있나?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344</cp:revision>
  <dcterms:created xsi:type="dcterms:W3CDTF">1997-07-14T00:22:12Z</dcterms:created>
  <dcterms:modified xsi:type="dcterms:W3CDTF">2025-02-19T00:53:05Z</dcterms:modified>
</cp:coreProperties>
</file>