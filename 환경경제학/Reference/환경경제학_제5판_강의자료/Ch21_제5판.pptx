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0"/>
  </p:notesMasterIdLst>
  <p:handoutMasterIdLst>
    <p:handoutMasterId r:id="rId31"/>
  </p:handoutMasterIdLst>
  <p:sldIdLst>
    <p:sldId id="262" r:id="rId2"/>
    <p:sldId id="332" r:id="rId3"/>
    <p:sldId id="344" r:id="rId4"/>
    <p:sldId id="347" r:id="rId5"/>
    <p:sldId id="348" r:id="rId6"/>
    <p:sldId id="349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71" r:id="rId19"/>
    <p:sldId id="370" r:id="rId20"/>
    <p:sldId id="345" r:id="rId21"/>
    <p:sldId id="363" r:id="rId22"/>
    <p:sldId id="365" r:id="rId23"/>
    <p:sldId id="364" r:id="rId24"/>
    <p:sldId id="366" r:id="rId25"/>
    <p:sldId id="367" r:id="rId26"/>
    <p:sldId id="368" r:id="rId27"/>
    <p:sldId id="372" r:id="rId28"/>
    <p:sldId id="369" r:id="rId29"/>
  </p:sldIdLst>
  <p:sldSz cx="9144000" cy="6858000" type="screen4x3"/>
  <p:notesSz cx="6858000" cy="914400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DAEDD1"/>
    <a:srgbClr val="C4E3B5"/>
    <a:srgbClr val="663300"/>
    <a:srgbClr val="1C4E35"/>
    <a:srgbClr val="FFFFFF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8712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507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3308EA51-9739-431B-984F-806B35660A5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974452C-9589-4F97-9F52-10C844C2181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48DB939B-4055-4325-903F-16AFA6B76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C97AD64B-029A-44A7-8038-BA7DD8B6C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416FCA91-E99A-4089-A973-EFBE39E34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DC5B3572-5A88-43EF-8322-75905753F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F5F09042-2718-4F5A-BABC-32A0EA67E0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35B6E967-8464-4444-971E-86DF6852E4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FFDEA5B0-48DF-402C-A276-421F746E6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72811547-6A90-4DA6-967C-6B660C76E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43012" name="Rectangle 4">
            <a:extLst>
              <a:ext uri="{FF2B5EF4-FFF2-40B4-BE49-F238E27FC236}">
                <a16:creationId xmlns:a16="http://schemas.microsoft.com/office/drawing/2014/main" id="{AF06F495-4762-4A7A-960E-262B39326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BED5F212-1010-4174-AFB4-6187D5478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FD9DBB70-6C95-4158-8529-8E0369D480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3015" name="Rectangle 7">
            <a:extLst>
              <a:ext uri="{FF2B5EF4-FFF2-40B4-BE49-F238E27FC236}">
                <a16:creationId xmlns:a16="http://schemas.microsoft.com/office/drawing/2014/main" id="{9120F739-4202-4930-9DB0-020B537599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EA4C4678-C88B-4519-B0AB-E965784B6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4836E87C-F3B7-4A50-A526-FBCE130F8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B2AD9A58-97AD-4E99-BDF4-A28EE8C41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9D63A663-3110-481A-A790-B5F324006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07EF1A11-F6EF-4D1D-800F-FF569A2A46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639FCFE6-B691-4FCB-AF58-B7EE24C0C0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0B18C4CE-634F-49B2-972F-CF53ACB31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A1E7DE16-DA5B-45EB-AB5C-C31D0DF3A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CE696533-F1E5-498E-8C36-5FE6E9A37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84E3B402-7C55-43C2-8AC6-4483D4A7D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5EA3D499-12DC-423F-B050-909DB5769F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7C5EC4E5-3999-41B0-8C87-5B2A4835BA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637B5C2-717A-47CC-B3D6-91AEF0AD5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5F5859A-D722-461D-9106-79E06B775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7508576-DDA5-4ED6-BCDB-421FA1D2D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D322083B-07F7-40FC-803C-F802C789B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6086" name="Rectangle 6">
            <a:extLst>
              <a:ext uri="{FF2B5EF4-FFF2-40B4-BE49-F238E27FC236}">
                <a16:creationId xmlns:a16="http://schemas.microsoft.com/office/drawing/2014/main" id="{CCBB512D-9AD2-4C8D-BF07-03C9C59A17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6087" name="Rectangle 7">
            <a:extLst>
              <a:ext uri="{FF2B5EF4-FFF2-40B4-BE49-F238E27FC236}">
                <a16:creationId xmlns:a16="http://schemas.microsoft.com/office/drawing/2014/main" id="{525E771D-13E3-47DC-AF47-DA32FF24BE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5165195B-9ECB-46EC-A263-62AD1336D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A06197C0-94CA-429D-BB2C-4EE087965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0E0107D7-72AE-4B19-BAB2-35D439025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F741C510-6592-43E4-918F-08C1E389F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7110" name="Rectangle 6">
            <a:extLst>
              <a:ext uri="{FF2B5EF4-FFF2-40B4-BE49-F238E27FC236}">
                <a16:creationId xmlns:a16="http://schemas.microsoft.com/office/drawing/2014/main" id="{4C90643E-EC7F-4AE8-925C-03DA2593A3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7111" name="Rectangle 7">
            <a:extLst>
              <a:ext uri="{FF2B5EF4-FFF2-40B4-BE49-F238E27FC236}">
                <a16:creationId xmlns:a16="http://schemas.microsoft.com/office/drawing/2014/main" id="{143049EE-6B46-47F3-9F3D-C6767E2AE1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134A0D3F-0057-49C3-B275-CEAA5C32B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0B1A3DB1-8483-4EA3-89F7-265310FBB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5EED5548-D623-434D-813E-8C0A6CFC7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id="{19DCA6BB-4413-4BAF-AB8D-26376A86C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82" name="Rectangle 6">
            <a:extLst>
              <a:ext uri="{FF2B5EF4-FFF2-40B4-BE49-F238E27FC236}">
                <a16:creationId xmlns:a16="http://schemas.microsoft.com/office/drawing/2014/main" id="{58975D47-C03A-460E-9369-24C32BA104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0183" name="Rectangle 7">
            <a:extLst>
              <a:ext uri="{FF2B5EF4-FFF2-40B4-BE49-F238E27FC236}">
                <a16:creationId xmlns:a16="http://schemas.microsoft.com/office/drawing/2014/main" id="{79CD7916-E85A-473A-B441-D4A4DF588D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6A6C8AA3-FA27-423B-AAF7-40DD12114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3441ED1E-4723-4ACA-8E32-B7FF11420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9D89E048-332B-47A8-A832-D695727AD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1205" name="Rectangle 5">
            <a:extLst>
              <a:ext uri="{FF2B5EF4-FFF2-40B4-BE49-F238E27FC236}">
                <a16:creationId xmlns:a16="http://schemas.microsoft.com/office/drawing/2014/main" id="{5389BBDC-3E70-46C1-B65C-D06254A27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1206" name="Rectangle 6">
            <a:extLst>
              <a:ext uri="{FF2B5EF4-FFF2-40B4-BE49-F238E27FC236}">
                <a16:creationId xmlns:a16="http://schemas.microsoft.com/office/drawing/2014/main" id="{B8494060-6F0B-4CDE-A427-DD34996ED1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1207" name="Rectangle 7">
            <a:extLst>
              <a:ext uri="{FF2B5EF4-FFF2-40B4-BE49-F238E27FC236}">
                <a16:creationId xmlns:a16="http://schemas.microsoft.com/office/drawing/2014/main" id="{64C5651F-C02C-4E94-BB26-C942ACBC5A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5D1B7859-0BF9-419D-BDAF-F97EAE1A1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FFB2E16C-3307-4353-A088-02D5BF07E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D4A0CBCA-2A66-45FA-AB8B-B3A8319C9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9A1C5C69-D325-4475-A750-120023DCF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7527CC3F-D755-441F-8F1C-DC339D7FA6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F73BD516-8145-421E-BE2C-42E7041A9C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1678E74D-73DD-4DC8-9F58-959451C09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56A9F288-0C9B-4C12-84B5-E6BC23061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FBC9778C-E9D8-460C-ACFD-03E57381E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14BD96E9-B5FF-4B8C-9CB2-DFC03703F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48163898-856F-4CC1-961B-302C297DDD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C26E0159-4C93-49ED-965B-DEF898936B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9DFAC3F7-8C12-4D90-9C97-B43DF51E5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945261A6-6163-4752-A671-28CC7C63D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AB747F12-DD42-4F37-BFBB-D66E47DD5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21B38B7E-9FC8-45C2-9BA3-69AA40C3D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4989650D-1DA1-4931-B678-2D241584C1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4279" name="Rectangle 7">
            <a:extLst>
              <a:ext uri="{FF2B5EF4-FFF2-40B4-BE49-F238E27FC236}">
                <a16:creationId xmlns:a16="http://schemas.microsoft.com/office/drawing/2014/main" id="{A537BE07-1644-4E80-9922-0674E1CBB4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1A77ED22-B2F7-42EB-97CF-4CCAA9C23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B7DFA6A6-F7CD-42A2-86F9-6FE8ACF71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7BB34148-9DD0-4DDD-BAA3-7A1A1D209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0706D890-FE3E-4F63-A8ED-55850EAF3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336C48B8-7FC4-4E9A-9D5D-ED7246B0B2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5303" name="Rectangle 7">
            <a:extLst>
              <a:ext uri="{FF2B5EF4-FFF2-40B4-BE49-F238E27FC236}">
                <a16:creationId xmlns:a16="http://schemas.microsoft.com/office/drawing/2014/main" id="{5E4F6023-04FD-43BD-ABCB-76DE021174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36333F6D-E0B4-4660-A816-11D1D94EE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53AEAE59-F819-49AD-B356-8CB9F337D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4FCEC66D-EDA1-446C-8BB7-92BC52088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63531AD3-662D-4642-BE71-509AF13E7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6" name="Rectangle 6">
            <a:extLst>
              <a:ext uri="{FF2B5EF4-FFF2-40B4-BE49-F238E27FC236}">
                <a16:creationId xmlns:a16="http://schemas.microsoft.com/office/drawing/2014/main" id="{A0A3C38B-866B-4B7B-9D6C-C630B005BA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6327" name="Rectangle 7">
            <a:extLst>
              <a:ext uri="{FF2B5EF4-FFF2-40B4-BE49-F238E27FC236}">
                <a16:creationId xmlns:a16="http://schemas.microsoft.com/office/drawing/2014/main" id="{9C6BB6E4-8745-4E15-A026-72DAC67FAF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461A3EC6-CA69-495A-B5A1-6AC520A63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389DEE42-7CB2-4253-A65E-2DE96554A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7348" name="Rectangle 4">
            <a:extLst>
              <a:ext uri="{FF2B5EF4-FFF2-40B4-BE49-F238E27FC236}">
                <a16:creationId xmlns:a16="http://schemas.microsoft.com/office/drawing/2014/main" id="{23FF1BE3-3E2F-4771-A8B7-151822445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7349" name="Rectangle 5">
            <a:extLst>
              <a:ext uri="{FF2B5EF4-FFF2-40B4-BE49-F238E27FC236}">
                <a16:creationId xmlns:a16="http://schemas.microsoft.com/office/drawing/2014/main" id="{36A93418-B725-4D36-805B-D9E7E406C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7350" name="Rectangle 6">
            <a:extLst>
              <a:ext uri="{FF2B5EF4-FFF2-40B4-BE49-F238E27FC236}">
                <a16:creationId xmlns:a16="http://schemas.microsoft.com/office/drawing/2014/main" id="{1D21FBCB-A99E-4691-8523-1F3F8A1EA9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7351" name="Rectangle 7">
            <a:extLst>
              <a:ext uri="{FF2B5EF4-FFF2-40B4-BE49-F238E27FC236}">
                <a16:creationId xmlns:a16="http://schemas.microsoft.com/office/drawing/2014/main" id="{AD638F6B-4469-4237-830A-C69652E957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02F964ED-BD48-4EC8-9F73-602B68F4A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74B61B9A-068A-48BB-83E3-81CE3F3E0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469E1F20-9B68-4A3A-97F8-830C960DA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80ADB583-56CB-4A5A-ADC6-DD12EBBDD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4" name="Rectangle 6">
            <a:extLst>
              <a:ext uri="{FF2B5EF4-FFF2-40B4-BE49-F238E27FC236}">
                <a16:creationId xmlns:a16="http://schemas.microsoft.com/office/drawing/2014/main" id="{42F54653-BE0F-411E-8CB7-96ADE6DB97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8375" name="Rectangle 7">
            <a:extLst>
              <a:ext uri="{FF2B5EF4-FFF2-40B4-BE49-F238E27FC236}">
                <a16:creationId xmlns:a16="http://schemas.microsoft.com/office/drawing/2014/main" id="{F8AC8977-D1A9-4884-8015-E0324AC622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B5F34AA5-B9CD-43B0-B25A-6EB9603B4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DA6C2768-C107-47F2-9539-3FA3C5BA9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13BE4D79-AEE4-4D98-AB92-3854963BE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9D58E8BC-39E2-454E-A70D-3595A5AFE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2A1BAA5B-54DC-47A7-BE75-4ADE0174CA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57285CE1-05B4-474D-B85C-946B934934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326D502-B753-4242-B867-626EB4503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27622F0-C914-4431-B239-46D74B61F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05708768-A689-4713-A3CC-4477F5926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0C88BA9B-68E2-4600-9A09-1C8B7E869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B555CB47-BE4B-4293-AC76-052225E080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AEDB09D5-9697-423E-BAF1-98B8047734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326D502-B753-4242-B867-626EB4503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27622F0-C914-4431-B239-46D74B61F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05708768-A689-4713-A3CC-4477F5926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0C88BA9B-68E2-4600-9A09-1C8B7E869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B555CB47-BE4B-4293-AC76-052225E080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AEDB09D5-9697-423E-BAF1-98B8047734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23275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326D502-B753-4242-B867-626EB4503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27622F0-C914-4431-B239-46D74B61F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05708768-A689-4713-A3CC-4477F5926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0C88BA9B-68E2-4600-9A09-1C8B7E869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B555CB47-BE4B-4293-AC76-052225E080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AEDB09D5-9697-423E-BAF1-98B8047734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48542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12AC574D-5B9C-40B2-B019-C6574FF63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E7094ECC-F418-41C6-9085-6C3491487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1444" name="Rectangle 4">
            <a:extLst>
              <a:ext uri="{FF2B5EF4-FFF2-40B4-BE49-F238E27FC236}">
                <a16:creationId xmlns:a16="http://schemas.microsoft.com/office/drawing/2014/main" id="{926C1A48-B0BB-4052-B158-C38B153F5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A590C0AB-F77A-4940-9BE4-55E738329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id="{F40ACA26-8140-4932-A25F-F4312830E4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id="{7815E83A-CB3C-4886-B66F-8DDF73BB64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D3669F3A-8A3B-4B72-BFC5-E15319C81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F731BE6E-F463-4665-82F2-377A9277B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E8065799-EEB2-48A8-A9E7-C1483C785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69" name="Rectangle 5">
            <a:extLst>
              <a:ext uri="{FF2B5EF4-FFF2-40B4-BE49-F238E27FC236}">
                <a16:creationId xmlns:a16="http://schemas.microsoft.com/office/drawing/2014/main" id="{8560BFFC-09CD-4EEE-8BA3-40C9B592A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70" name="Rectangle 6">
            <a:extLst>
              <a:ext uri="{FF2B5EF4-FFF2-40B4-BE49-F238E27FC236}">
                <a16:creationId xmlns:a16="http://schemas.microsoft.com/office/drawing/2014/main" id="{611A722A-9157-42FD-AAD8-06224A1F02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2471" name="Rectangle 7">
            <a:extLst>
              <a:ext uri="{FF2B5EF4-FFF2-40B4-BE49-F238E27FC236}">
                <a16:creationId xmlns:a16="http://schemas.microsoft.com/office/drawing/2014/main" id="{443CAE40-EE01-45CB-83A3-896F1A68BB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91AB919E-4894-4326-A454-A557120B8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E90BBFCB-B9C3-4E2D-8D77-362F5DA75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41EB90A8-273C-4BA6-8EEB-E4BED4774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3493" name="Rectangle 5">
            <a:extLst>
              <a:ext uri="{FF2B5EF4-FFF2-40B4-BE49-F238E27FC236}">
                <a16:creationId xmlns:a16="http://schemas.microsoft.com/office/drawing/2014/main" id="{05417D79-F6A9-4498-BC5E-C03EEF50D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3494" name="Rectangle 6">
            <a:extLst>
              <a:ext uri="{FF2B5EF4-FFF2-40B4-BE49-F238E27FC236}">
                <a16:creationId xmlns:a16="http://schemas.microsoft.com/office/drawing/2014/main" id="{561B270B-2E35-4DE6-888A-F010AF5800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3495" name="Rectangle 7">
            <a:extLst>
              <a:ext uri="{FF2B5EF4-FFF2-40B4-BE49-F238E27FC236}">
                <a16:creationId xmlns:a16="http://schemas.microsoft.com/office/drawing/2014/main" id="{245DC53D-7829-4D9D-A45A-B46D3D8511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D0501993-1D4C-484C-9C41-1EBE5A9A3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998CF625-F9A2-4E65-86B3-ED10FF254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4516" name="Rectangle 4">
            <a:extLst>
              <a:ext uri="{FF2B5EF4-FFF2-40B4-BE49-F238E27FC236}">
                <a16:creationId xmlns:a16="http://schemas.microsoft.com/office/drawing/2014/main" id="{2F5B8F0D-A569-45E1-8FDE-50D351BB8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BC1C6264-57D6-4578-AF30-F07D37803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6307E06A-A803-4838-BAB0-75D012C27D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8B83D599-8CE2-46A7-872E-D37C30838A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819CB6DB-6844-4D1F-AC7D-0FB51C11F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1E1568C2-2729-495F-B907-1D3948A81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5540" name="Rectangle 4">
            <a:extLst>
              <a:ext uri="{FF2B5EF4-FFF2-40B4-BE49-F238E27FC236}">
                <a16:creationId xmlns:a16="http://schemas.microsoft.com/office/drawing/2014/main" id="{36757C51-AC08-4A78-AFB3-0957DEA82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DBD525FA-DC59-4DDA-B96D-78CF6D1D6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5542" name="Rectangle 6">
            <a:extLst>
              <a:ext uri="{FF2B5EF4-FFF2-40B4-BE49-F238E27FC236}">
                <a16:creationId xmlns:a16="http://schemas.microsoft.com/office/drawing/2014/main" id="{1CC569AE-A4DE-452D-BC13-1D2FBA0E59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5543" name="Rectangle 7">
            <a:extLst>
              <a:ext uri="{FF2B5EF4-FFF2-40B4-BE49-F238E27FC236}">
                <a16:creationId xmlns:a16="http://schemas.microsoft.com/office/drawing/2014/main" id="{4E248609-9BC2-4B9E-AA7E-450260ACD7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E54E9EFF-DCDD-4BEB-82EA-6438D6C0A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E6F36EB9-D98A-4926-80EE-146CCA9DC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749377E0-96EF-4834-9EE4-CEE3C6B22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1FEA4ABE-9496-42E4-B099-3F6B2A5BD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6" name="Rectangle 6">
            <a:extLst>
              <a:ext uri="{FF2B5EF4-FFF2-40B4-BE49-F238E27FC236}">
                <a16:creationId xmlns:a16="http://schemas.microsoft.com/office/drawing/2014/main" id="{857B0891-361C-40A8-8D75-07EB5B58D1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6567" name="Rectangle 7">
            <a:extLst>
              <a:ext uri="{FF2B5EF4-FFF2-40B4-BE49-F238E27FC236}">
                <a16:creationId xmlns:a16="http://schemas.microsoft.com/office/drawing/2014/main" id="{B42A7A08-ACF4-4B64-954E-91E3EF6754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9039F3E1-E2DE-4724-B969-4F1B9EFAD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DBDAB63B-185C-4917-8A9D-0BEE8B17C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id="{959F7D50-EC22-4BE8-ABED-26F05C32A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89" name="Rectangle 5">
            <a:extLst>
              <a:ext uri="{FF2B5EF4-FFF2-40B4-BE49-F238E27FC236}">
                <a16:creationId xmlns:a16="http://schemas.microsoft.com/office/drawing/2014/main" id="{CD4B3020-36D2-4B5D-893D-53EB9B9ED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90" name="Rectangle 6">
            <a:extLst>
              <a:ext uri="{FF2B5EF4-FFF2-40B4-BE49-F238E27FC236}">
                <a16:creationId xmlns:a16="http://schemas.microsoft.com/office/drawing/2014/main" id="{C158E973-1A08-4468-8083-AC8E1EFB1E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7591" name="Rectangle 7">
            <a:extLst>
              <a:ext uri="{FF2B5EF4-FFF2-40B4-BE49-F238E27FC236}">
                <a16:creationId xmlns:a16="http://schemas.microsoft.com/office/drawing/2014/main" id="{1193E27C-A41C-425B-9BF5-741F3DBA14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9039F3E1-E2DE-4724-B969-4F1B9EFAD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DBDAB63B-185C-4917-8A9D-0BEE8B17C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id="{959F7D50-EC22-4BE8-ABED-26F05C32A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89" name="Rectangle 5">
            <a:extLst>
              <a:ext uri="{FF2B5EF4-FFF2-40B4-BE49-F238E27FC236}">
                <a16:creationId xmlns:a16="http://schemas.microsoft.com/office/drawing/2014/main" id="{CD4B3020-36D2-4B5D-893D-53EB9B9ED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90" name="Rectangle 6">
            <a:extLst>
              <a:ext uri="{FF2B5EF4-FFF2-40B4-BE49-F238E27FC236}">
                <a16:creationId xmlns:a16="http://schemas.microsoft.com/office/drawing/2014/main" id="{C158E973-1A08-4468-8083-AC8E1EFB1E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7591" name="Rectangle 7">
            <a:extLst>
              <a:ext uri="{FF2B5EF4-FFF2-40B4-BE49-F238E27FC236}">
                <a16:creationId xmlns:a16="http://schemas.microsoft.com/office/drawing/2014/main" id="{1193E27C-A41C-425B-9BF5-741F3DBA14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4800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B35F316E-30A1-4F4F-BAED-66C8B336B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94779D1B-7656-4877-9913-A898AF049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C35521EB-3245-46CC-9AD7-7C338E896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45A59176-9451-4199-98CB-7C948608B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4" name="Rectangle 6">
            <a:extLst>
              <a:ext uri="{FF2B5EF4-FFF2-40B4-BE49-F238E27FC236}">
                <a16:creationId xmlns:a16="http://schemas.microsoft.com/office/drawing/2014/main" id="{8966F65A-280E-425F-BAF3-C166BD545D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8615" name="Rectangle 7">
            <a:extLst>
              <a:ext uri="{FF2B5EF4-FFF2-40B4-BE49-F238E27FC236}">
                <a16:creationId xmlns:a16="http://schemas.microsoft.com/office/drawing/2014/main" id="{DA25BDAD-C8D4-4A3F-B76F-698463375C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>
            <a:extLst>
              <a:ext uri="{FF2B5EF4-FFF2-40B4-BE49-F238E27FC236}">
                <a16:creationId xmlns:a16="http://schemas.microsoft.com/office/drawing/2014/main" id="{FD04F6CE-3B97-485A-A404-D2C93E003446}"/>
              </a:ext>
            </a:extLst>
          </p:cNvPr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>
              <a:extLst>
                <a:ext uri="{FF2B5EF4-FFF2-40B4-BE49-F238E27FC236}">
                  <a16:creationId xmlns:a16="http://schemas.microsoft.com/office/drawing/2014/main" id="{F907B0D5-7651-49A5-9246-2D9ABAB73F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6" name="AutoShape 1028">
              <a:extLst>
                <a:ext uri="{FF2B5EF4-FFF2-40B4-BE49-F238E27FC236}">
                  <a16:creationId xmlns:a16="http://schemas.microsoft.com/office/drawing/2014/main" id="{6A3534E2-636E-4BF4-91BA-D7F9344B7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1587 w 64000"/>
                <a:gd name="T1" fmla="*/ 85 h 64000"/>
                <a:gd name="T2" fmla="*/ 2304 w 64000"/>
                <a:gd name="T3" fmla="*/ 1152 h 64000"/>
                <a:gd name="T4" fmla="*/ 1587 w 64000"/>
                <a:gd name="T5" fmla="*/ 2219 h 64000"/>
                <a:gd name="T6" fmla="*/ 1587 w 64000"/>
                <a:gd name="T7" fmla="*/ 2219 h 64000"/>
                <a:gd name="T8" fmla="*/ 1587 w 64000"/>
                <a:gd name="T9" fmla="*/ 2219 h 64000"/>
                <a:gd name="T10" fmla="*/ 1587 w 64000"/>
                <a:gd name="T11" fmla="*/ 2219 h 64000"/>
                <a:gd name="T12" fmla="*/ 1587 w 64000"/>
                <a:gd name="T13" fmla="*/ 85 h 64000"/>
                <a:gd name="T14" fmla="*/ 1587 w 64000"/>
                <a:gd name="T15" fmla="*/ 85 h 64000"/>
                <a:gd name="T16" fmla="*/ 1587 w 64000"/>
                <a:gd name="T17" fmla="*/ 8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7" name="AutoShape 1029">
              <a:extLst>
                <a:ext uri="{FF2B5EF4-FFF2-40B4-BE49-F238E27FC236}">
                  <a16:creationId xmlns:a16="http://schemas.microsoft.com/office/drawing/2014/main" id="{D3F4321B-8893-455E-9D18-C44420232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2027 w 64000"/>
                <a:gd name="T1" fmla="*/ 248 h 64000"/>
                <a:gd name="T2" fmla="*/ 2544 w 64000"/>
                <a:gd name="T3" fmla="*/ 1272 h 64000"/>
                <a:gd name="T4" fmla="*/ 2027 w 64000"/>
                <a:gd name="T5" fmla="*/ 2296 h 64000"/>
                <a:gd name="T6" fmla="*/ 2027 w 64000"/>
                <a:gd name="T7" fmla="*/ 2296 h 64000"/>
                <a:gd name="T8" fmla="*/ 2027 w 64000"/>
                <a:gd name="T9" fmla="*/ 2296 h 64000"/>
                <a:gd name="T10" fmla="*/ 2027 w 64000"/>
                <a:gd name="T11" fmla="*/ 2296 h 64000"/>
                <a:gd name="T12" fmla="*/ 2027 w 64000"/>
                <a:gd name="T13" fmla="*/ 248 h 64000"/>
                <a:gd name="T14" fmla="*/ 2027 w 64000"/>
                <a:gd name="T15" fmla="*/ 248 h 64000"/>
                <a:gd name="T16" fmla="*/ 2027 w 64000"/>
                <a:gd name="T17" fmla="*/ 248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>
            <a:extLst>
              <a:ext uri="{FF2B5EF4-FFF2-40B4-BE49-F238E27FC236}">
                <a16:creationId xmlns:a16="http://schemas.microsoft.com/office/drawing/2014/main" id="{4025A4C8-E453-4C7C-A010-2C67A556D9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>
            <a:extLst>
              <a:ext uri="{FF2B5EF4-FFF2-40B4-BE49-F238E27FC236}">
                <a16:creationId xmlns:a16="http://schemas.microsoft.com/office/drawing/2014/main" id="{63EA7330-B60C-4A4F-AEF2-DC4467F5D9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Rectangle 1034">
            <a:extLst>
              <a:ext uri="{FF2B5EF4-FFF2-40B4-BE49-F238E27FC236}">
                <a16:creationId xmlns:a16="http://schemas.microsoft.com/office/drawing/2014/main" id="{0AA630C7-08D7-47A9-9D23-D0B5CA423C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358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3E850B39-FDF1-4A19-97B9-52F49E24B3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D69E7D39-2012-4A8A-B080-FC442BB47F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1501FD78-16CD-4931-A219-3CFBF68A36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9EE12-661F-47E8-A7AD-34F31BE2F99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53735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15E28FE-1FA9-4FD9-9B6B-4C09EB017D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D1C64956-90F5-47F2-A3FE-2400D94484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FE824FD0-34CF-4E9F-BB84-21382764F4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4ABB67-D408-41FD-A82D-616F3B18ABC9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7305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0AAEF653-84FB-4B52-8A78-21537F1CDD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A2E843FB-7879-450F-907A-0DEB2A57D6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9D0F3286-672D-4BFE-A17F-D7AA941FE6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17F9E1-E9C1-4A78-8763-2EFFB8CC437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85351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349574E-F41D-4CEA-BC99-1891A1B40B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B8921B27-3471-4957-AAFA-4505D79F0C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CCCA61CD-EA02-42D4-A816-71E93FE140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F25B9D-7336-4D0B-8FB9-0B7A5306E16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30546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D0D409AD-C19B-49F1-8785-258A886239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37F5C501-1AF5-469B-AC16-49DB416774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55CE0C27-64BB-46A5-976F-7A7887C569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67D78C-8AB2-4203-AEDB-ABCD43B2305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92706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293E7ACF-B15F-4A56-9582-1CB4107CEF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41B28F5E-83B3-4664-B355-E8D7CF1BB9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3DD45D15-0D3C-4629-8FE6-B9D8E234F3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643EF7-B830-4AD4-B729-8A3968181A0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72385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8D3F8C67-7F60-44E3-A4BA-E775002A01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786DC8D9-904C-463F-A00A-8DDBB04428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A6844278-6530-4BCF-B7C7-2333AB2076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FF2B53-9559-4D66-BB66-EC99F1909D3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5240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1F7DBD4E-0DCD-4A3F-9257-2C497752C6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636CC16-B7FE-4F39-BC62-E3FB328B0A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800D2E40-B0B9-4A10-A9FA-60676C622F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17F15D-FB0F-4AE0-943A-EB7B0C37D1AD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28387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D8630956-9166-45BF-8B24-723D5E0687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F5F4A37F-DA60-47AB-B230-FADEDADF64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F6AFB931-E3D6-4B24-9A15-EBF6B5CE72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FCD61E-4F90-44DC-8CE7-6D421A80814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98092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1C79E414-8B96-4E23-A542-583C88A992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F248CD94-6AC1-4876-980D-37BB9035F3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3B1EBD16-91A0-447A-9D67-1EEEC8D4A1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748FA5-01BC-4C3C-B33A-76E1BEA00CDD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932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>
            <a:extLst>
              <a:ext uri="{FF2B5EF4-FFF2-40B4-BE49-F238E27FC236}">
                <a16:creationId xmlns:a16="http://schemas.microsoft.com/office/drawing/2014/main" id="{004E7E30-EAC9-430D-A295-ACC7CBE7D326}"/>
              </a:ext>
            </a:extLst>
          </p:cNvPr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>
              <a:extLst>
                <a:ext uri="{FF2B5EF4-FFF2-40B4-BE49-F238E27FC236}">
                  <a16:creationId xmlns:a16="http://schemas.microsoft.com/office/drawing/2014/main" id="{CEFAA9B7-8FD8-47FD-8967-501A8BDA8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2037 w 64000"/>
                <a:gd name="T1" fmla="*/ 177 h 64000"/>
                <a:gd name="T2" fmla="*/ 2592 w 64000"/>
                <a:gd name="T3" fmla="*/ 984 h 64000"/>
                <a:gd name="T4" fmla="*/ 2037 w 64000"/>
                <a:gd name="T5" fmla="*/ 1791 h 64000"/>
                <a:gd name="T6" fmla="*/ 2037 w 64000"/>
                <a:gd name="T7" fmla="*/ 1791 h 64000"/>
                <a:gd name="T8" fmla="*/ 2037 w 64000"/>
                <a:gd name="T9" fmla="*/ 1791 h 64000"/>
                <a:gd name="T10" fmla="*/ 2037 w 64000"/>
                <a:gd name="T11" fmla="*/ 1791 h 64000"/>
                <a:gd name="T12" fmla="*/ 2037 w 64000"/>
                <a:gd name="T13" fmla="*/ 177 h 64000"/>
                <a:gd name="T14" fmla="*/ 2037 w 64000"/>
                <a:gd name="T15" fmla="*/ 177 h 64000"/>
                <a:gd name="T16" fmla="*/ 2037 w 64000"/>
                <a:gd name="T17" fmla="*/ 177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3" name="AutoShape 4">
              <a:extLst>
                <a:ext uri="{FF2B5EF4-FFF2-40B4-BE49-F238E27FC236}">
                  <a16:creationId xmlns:a16="http://schemas.microsoft.com/office/drawing/2014/main" id="{88010BCC-BC27-4A4F-BFA8-237FE1C72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1525 w 64000"/>
                <a:gd name="T1" fmla="*/ 174 h 64000"/>
                <a:gd name="T2" fmla="*/ 1949 w 64000"/>
                <a:gd name="T3" fmla="*/ 994 h 64000"/>
                <a:gd name="T4" fmla="*/ 1525 w 64000"/>
                <a:gd name="T5" fmla="*/ 1813 h 64000"/>
                <a:gd name="T6" fmla="*/ 1525 w 64000"/>
                <a:gd name="T7" fmla="*/ 1813 h 64000"/>
                <a:gd name="T8" fmla="*/ 1525 w 64000"/>
                <a:gd name="T9" fmla="*/ 1813 h 64000"/>
                <a:gd name="T10" fmla="*/ 1525 w 64000"/>
                <a:gd name="T11" fmla="*/ 1813 h 64000"/>
                <a:gd name="T12" fmla="*/ 1525 w 64000"/>
                <a:gd name="T13" fmla="*/ 174 h 64000"/>
                <a:gd name="T14" fmla="*/ 1525 w 64000"/>
                <a:gd name="T15" fmla="*/ 174 h 64000"/>
                <a:gd name="T16" fmla="*/ 1525 w 64000"/>
                <a:gd name="T17" fmla="*/ 174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4" name="Line 5">
              <a:extLst>
                <a:ext uri="{FF2B5EF4-FFF2-40B4-BE49-F238E27FC236}">
                  <a16:creationId xmlns:a16="http://schemas.microsoft.com/office/drawing/2014/main" id="{12F84BEE-8DEC-43B2-9AA0-397F7EB85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6147" name="Rectangle 6">
            <a:extLst>
              <a:ext uri="{FF2B5EF4-FFF2-40B4-BE49-F238E27FC236}">
                <a16:creationId xmlns:a16="http://schemas.microsoft.com/office/drawing/2014/main" id="{7165EC9A-1359-4127-AE4A-CF00666750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6148" name="Rectangle 7">
            <a:extLst>
              <a:ext uri="{FF2B5EF4-FFF2-40B4-BE49-F238E27FC236}">
                <a16:creationId xmlns:a16="http://schemas.microsoft.com/office/drawing/2014/main" id="{A1BC6A3D-085F-4F8D-A34D-6437C73E5F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>
            <a:extLst>
              <a:ext uri="{FF2B5EF4-FFF2-40B4-BE49-F238E27FC236}">
                <a16:creationId xmlns:a16="http://schemas.microsoft.com/office/drawing/2014/main" id="{EEB6FE8F-27FA-4FF8-A262-D2E891B1FBB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>
            <a:extLst>
              <a:ext uri="{FF2B5EF4-FFF2-40B4-BE49-F238E27FC236}">
                <a16:creationId xmlns:a16="http://schemas.microsoft.com/office/drawing/2014/main" id="{C3DDBC42-1964-45E1-A22A-9532481314B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215050" name="Rectangle 10">
            <a:extLst>
              <a:ext uri="{FF2B5EF4-FFF2-40B4-BE49-F238E27FC236}">
                <a16:creationId xmlns:a16="http://schemas.microsoft.com/office/drawing/2014/main" id="{19637B19-B8DC-4B29-AB25-49DEE6CE48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ea typeface="굴림" panose="020B0600000101010101" pitchFamily="50" charset="-127"/>
              </a:defRPr>
            </a:lvl1pPr>
          </a:lstStyle>
          <a:p>
            <a:fld id="{7BC3EE15-A868-4D2A-BEB9-815131F0B1C6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4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36">
            <a:extLst>
              <a:ext uri="{FF2B5EF4-FFF2-40B4-BE49-F238E27FC236}">
                <a16:creationId xmlns:a16="http://schemas.microsoft.com/office/drawing/2014/main" id="{9B95D321-7D2B-4F64-BE27-78E6A82C8E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4038" y="2593975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21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5789" name="Rectangle 1037">
            <a:extLst>
              <a:ext uri="{FF2B5EF4-FFF2-40B4-BE49-F238E27FC236}">
                <a16:creationId xmlns:a16="http://schemas.microsoft.com/office/drawing/2014/main" id="{9A6D5190-C390-4FF5-A218-11292AF244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68625" y="2743200"/>
            <a:ext cx="6175375" cy="4114800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환경문제에 관한 국제협력의 어려움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오존층 파괴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생물다양성</a:t>
            </a:r>
          </a:p>
          <a:p>
            <a:pPr eaLnBrk="1" hangingPunct="1">
              <a:buClr>
                <a:srgbClr val="3366CC"/>
              </a:buClr>
            </a:pPr>
            <a:endParaRPr lang="en-US" altLang="ko-KR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8436" name="바닥글 개체 틀 4">
            <a:extLst>
              <a:ext uri="{FF2B5EF4-FFF2-40B4-BE49-F238E27FC236}">
                <a16:creationId xmlns:a16="http://schemas.microsoft.com/office/drawing/2014/main" id="{A63FEA0F-52DB-40F0-9E05-4F0A8C59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18437" name="슬라이드 번호 개체 틀 5">
            <a:extLst>
              <a:ext uri="{FF2B5EF4-FFF2-40B4-BE49-F238E27FC236}">
                <a16:creationId xmlns:a16="http://schemas.microsoft.com/office/drawing/2014/main" id="{EB0A935D-4937-44AC-8F59-A5009FCE7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DB7BF2F8-CAC9-4656-8A64-68CF9B4A3621}" type="slidenum">
              <a:rPr lang="ko-KR" altLang="en-US" sz="1200" b="0">
                <a:solidFill>
                  <a:schemeClr val="tx1"/>
                </a:solidFill>
                <a:latin typeface="나눔명조" pitchFamily="18" charset="-127"/>
                <a:ea typeface="나눔명조" pitchFamily="18" charset="-127"/>
              </a:rPr>
              <a:pPr/>
              <a:t>1</a:t>
            </a:fld>
            <a:endParaRPr lang="en-US" altLang="ko-KR" sz="1200" b="0">
              <a:solidFill>
                <a:schemeClr val="tx1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8438" name="Rectangle 1026">
            <a:extLst>
              <a:ext uri="{FF2B5EF4-FFF2-40B4-BE49-F238E27FC236}">
                <a16:creationId xmlns:a16="http://schemas.microsoft.com/office/drawing/2014/main" id="{BE9C1E96-80A2-43DC-804B-AD073B349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8439" name="Rectangle 1027">
            <a:extLst>
              <a:ext uri="{FF2B5EF4-FFF2-40B4-BE49-F238E27FC236}">
                <a16:creationId xmlns:a16="http://schemas.microsoft.com/office/drawing/2014/main" id="{04998DEB-ADC1-4348-AF65-7F69D2A52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F1DA5B8-76B8-401C-BA34-BFDCDB034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-112713"/>
            <a:ext cx="8301038" cy="1444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제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21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전 지구적 차원의 환경문제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36">
            <a:extLst>
              <a:ext uri="{FF2B5EF4-FFF2-40B4-BE49-F238E27FC236}">
                <a16:creationId xmlns:a16="http://schemas.microsoft.com/office/drawing/2014/main" id="{299B14F6-9F88-4EEE-90D0-E2EABD2E2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-112713"/>
            <a:ext cx="7313612" cy="1143001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전 지구적 차원의 환경문제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9459" name="Rectangle 1037">
            <a:extLst>
              <a:ext uri="{FF2B5EF4-FFF2-40B4-BE49-F238E27FC236}">
                <a16:creationId xmlns:a16="http://schemas.microsoft.com/office/drawing/2014/main" id="{177E043A-C7BF-473D-BC56-21B6B9AE9D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2825" y="1320800"/>
            <a:ext cx="7529513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현대 환경문제에서는 미세먼지나 산성비와 같은 월경오염물질과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온실가스와 같은 </a:t>
            </a:r>
            <a:r>
              <a:rPr lang="ko-KR" altLang="en-US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전 지구적 오염물질</a:t>
            </a:r>
            <a:r>
              <a:rPr lang="en-US" altLang="ko-KR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(global pollutants)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중요성이 갈수록 커지고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특히 전 지구적 오염물질은 여타 오염물질과는 달리 일단 배출되면 지구 전체의 환경오염을 유발하는 인류 공동의 문제가 되기 때문에 국제협력이 갈수록 중요해지는 상황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전 지구적 오염의 관리를 위한 국제협력을 이끌어내는 것은 쉽지 않음</a:t>
            </a:r>
          </a:p>
          <a:p>
            <a:pPr lvl="1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인류 역사상 비교적 최근에 발생한 현상이므로 오염피해가 어느 정도일지 확실히 알려져 있지 않음</a:t>
            </a:r>
          </a:p>
          <a:p>
            <a:pPr lvl="1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저감비용을 분담할 때 국가 간 형평성문제를 고려해야 함</a:t>
            </a:r>
          </a:p>
          <a:p>
            <a:pPr lvl="1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각국은 자국 이익을 먼저 생각하므로 무임승차자가 되려 함</a:t>
            </a: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본 장에서는 전 지구적 차원의 환경문제 해결을 위한 프로그램에 각국이 동참하도록 하기 위한 조건을 살펴보고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오존층 파괴와 생물다양성 보존이라는 문제의 특징과 대처 노력에 대해 알아볼 것임</a:t>
            </a:r>
          </a:p>
        </p:txBody>
      </p:sp>
      <p:sp>
        <p:nvSpPr>
          <p:cNvPr id="19460" name="바닥글 개체 틀 4">
            <a:extLst>
              <a:ext uri="{FF2B5EF4-FFF2-40B4-BE49-F238E27FC236}">
                <a16:creationId xmlns:a16="http://schemas.microsoft.com/office/drawing/2014/main" id="{EE435AB7-763F-4F68-BAF9-AC38859C0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19461" name="슬라이드 번호 개체 틀 5">
            <a:extLst>
              <a:ext uri="{FF2B5EF4-FFF2-40B4-BE49-F238E27FC236}">
                <a16:creationId xmlns:a16="http://schemas.microsoft.com/office/drawing/2014/main" id="{F159E8EE-C1B4-495A-B7D2-583B83E25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0EFF8F6F-A96F-4644-91DC-A24476A496DC}" type="slidenum">
              <a:rPr lang="ko-KR" altLang="en-US" sz="1200" b="0">
                <a:solidFill>
                  <a:schemeClr val="tx1"/>
                </a:solidFill>
              </a:rPr>
              <a:pPr/>
              <a:t>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9462" name="Rectangle 1026">
            <a:extLst>
              <a:ext uri="{FF2B5EF4-FFF2-40B4-BE49-F238E27FC236}">
                <a16:creationId xmlns:a16="http://schemas.microsoft.com/office/drawing/2014/main" id="{494504E7-46DA-4BAF-92B6-FB2B274F2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9463" name="Rectangle 1027">
            <a:extLst>
              <a:ext uri="{FF2B5EF4-FFF2-40B4-BE49-F238E27FC236}">
                <a16:creationId xmlns:a16="http://schemas.microsoft.com/office/drawing/2014/main" id="{BA116308-1F00-437F-8853-1C8B966D1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36">
            <a:extLst>
              <a:ext uri="{FF2B5EF4-FFF2-40B4-BE49-F238E27FC236}">
                <a16:creationId xmlns:a16="http://schemas.microsoft.com/office/drawing/2014/main" id="{3EF702FD-425E-488C-9A2A-0BCEDF46BD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4100" y="165100"/>
            <a:ext cx="7845425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환경문제에 관한 국제협력의 어려움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0483" name="Rectangle 1037">
            <a:extLst>
              <a:ext uri="{FF2B5EF4-FFF2-40B4-BE49-F238E27FC236}">
                <a16:creationId xmlns:a16="http://schemas.microsoft.com/office/drawing/2014/main" id="{6C77554C-5B37-4C67-97D7-0902BC6126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5838" y="1560513"/>
            <a:ext cx="7529512" cy="4114800"/>
          </a:xfrm>
        </p:spPr>
        <p:txBody>
          <a:bodyPr/>
          <a:lstStyle/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다수의 국가가 개입되어 있는 환경문제에 있어서 각국은 국가간 합의나 강제가 없다면 자국 이익만을 극대화하고자 함</a:t>
            </a:r>
          </a:p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많은 국제기구나 당사국들이 다수 국가의 협조가 필요한 환경문제를 </a:t>
            </a:r>
            <a:r>
              <a:rPr lang="ko-KR" altLang="en-US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국제환경협약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을 체결하여 해결하고자 함</a:t>
            </a:r>
          </a:p>
          <a:p>
            <a:pPr lvl="1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국제환경협약의 기본목적은 협약을 통해 각국을 협조적으로 행동하도록 유도하여 공동의 환경문제를 해결하고자 하는 것임</a:t>
            </a:r>
          </a:p>
        </p:txBody>
      </p:sp>
      <p:sp>
        <p:nvSpPr>
          <p:cNvPr id="20484" name="바닥글 개체 틀 4">
            <a:extLst>
              <a:ext uri="{FF2B5EF4-FFF2-40B4-BE49-F238E27FC236}">
                <a16:creationId xmlns:a16="http://schemas.microsoft.com/office/drawing/2014/main" id="{9C5CCA58-45B0-4A00-8345-3F9AD01A3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20485" name="슬라이드 번호 개체 틀 5">
            <a:extLst>
              <a:ext uri="{FF2B5EF4-FFF2-40B4-BE49-F238E27FC236}">
                <a16:creationId xmlns:a16="http://schemas.microsoft.com/office/drawing/2014/main" id="{4EEF4249-D882-46DF-83AF-E4052AD86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9C97F6FE-CC27-471C-9F41-2ADC05A4A59F}" type="slidenum">
              <a:rPr lang="ko-KR" altLang="en-US" sz="1200" b="0">
                <a:solidFill>
                  <a:schemeClr val="tx1"/>
                </a:solidFill>
              </a:rPr>
              <a:pPr/>
              <a:t>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0486" name="Rectangle 1026">
            <a:extLst>
              <a:ext uri="{FF2B5EF4-FFF2-40B4-BE49-F238E27FC236}">
                <a16:creationId xmlns:a16="http://schemas.microsoft.com/office/drawing/2014/main" id="{C93132F3-3EC3-4FF3-9A4B-0F92B7E1A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0487" name="Rectangle 1027">
            <a:extLst>
              <a:ext uri="{FF2B5EF4-FFF2-40B4-BE49-F238E27FC236}">
                <a16:creationId xmlns:a16="http://schemas.microsoft.com/office/drawing/2014/main" id="{D2A39D9A-1B42-40D4-8210-A377FE23E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36">
            <a:extLst>
              <a:ext uri="{FF2B5EF4-FFF2-40B4-BE49-F238E27FC236}">
                <a16:creationId xmlns:a16="http://schemas.microsoft.com/office/drawing/2014/main" id="{782D7DCB-5994-441A-8C5F-486F36D635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9925" y="163513"/>
            <a:ext cx="8239125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환경문제에 관한 국제협력의 어려움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1507" name="Rectangle 1037">
            <a:extLst>
              <a:ext uri="{FF2B5EF4-FFF2-40B4-BE49-F238E27FC236}">
                <a16:creationId xmlns:a16="http://schemas.microsoft.com/office/drawing/2014/main" id="{77708E66-87E8-4B1F-8329-A574DFF8A2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5838" y="1322388"/>
            <a:ext cx="7529512" cy="4352925"/>
          </a:xfrm>
        </p:spPr>
        <p:txBody>
          <a:bodyPr/>
          <a:lstStyle/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성공적인 협약 유지의 어려움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각 셀의 첫 번째 숫자는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A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국의 이득을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두 번째 숫자는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B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국의 이득을 나타냄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endParaRPr lang="ko-KR" altLang="en-US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두 국가 서로 협조하고 오염물질을 관리하는 것이 두 국가 후생의 합을 극대화 함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하지만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상대방이 어떤 선택을 하든 자신은 비협조를 선택하는 것이 더 낫기 때문에 결국은 두 국가 모두 비협조를 선택하게 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이러한 현상을 </a:t>
            </a:r>
            <a:r>
              <a:rPr lang="ko-KR" altLang="en-US" sz="22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용의자의 딜레마</a:t>
            </a:r>
            <a:r>
              <a:rPr lang="en-US" altLang="ko-KR" sz="22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(prisoners' dilemma)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라고 부름</a:t>
            </a:r>
          </a:p>
        </p:txBody>
      </p:sp>
      <p:sp>
        <p:nvSpPr>
          <p:cNvPr id="21508" name="바닥글 개체 틀 4">
            <a:extLst>
              <a:ext uri="{FF2B5EF4-FFF2-40B4-BE49-F238E27FC236}">
                <a16:creationId xmlns:a16="http://schemas.microsoft.com/office/drawing/2014/main" id="{F32C6C02-042F-4D22-8E2C-C1CDFD3AB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21509" name="슬라이드 번호 개체 틀 5">
            <a:extLst>
              <a:ext uri="{FF2B5EF4-FFF2-40B4-BE49-F238E27FC236}">
                <a16:creationId xmlns:a16="http://schemas.microsoft.com/office/drawing/2014/main" id="{1E1A4490-947A-488D-9DC4-F647551DD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F09A34D-5A51-4650-A54E-726978D900DA}" type="slidenum">
              <a:rPr lang="ko-KR" altLang="en-US" sz="1200" b="0">
                <a:solidFill>
                  <a:schemeClr val="tx1"/>
                </a:solidFill>
              </a:rPr>
              <a:pPr/>
              <a:t>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1510" name="Rectangle 1026">
            <a:extLst>
              <a:ext uri="{FF2B5EF4-FFF2-40B4-BE49-F238E27FC236}">
                <a16:creationId xmlns:a16="http://schemas.microsoft.com/office/drawing/2014/main" id="{C9FD4585-3BDE-4F3C-A9DD-E2D5BD770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1511" name="Rectangle 1027">
            <a:extLst>
              <a:ext uri="{FF2B5EF4-FFF2-40B4-BE49-F238E27FC236}">
                <a16:creationId xmlns:a16="http://schemas.microsoft.com/office/drawing/2014/main" id="{078C0ABE-79B1-44CD-8B78-FB171CCBE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21512" name="그림 7" descr="Cap 2014-06-19 10-16-57-682.png">
            <a:extLst>
              <a:ext uri="{FF2B5EF4-FFF2-40B4-BE49-F238E27FC236}">
                <a16:creationId xmlns:a16="http://schemas.microsoft.com/office/drawing/2014/main" id="{AAA4DEB5-4F9A-414E-890A-EE288FC42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238" y="2351088"/>
            <a:ext cx="6456362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36">
            <a:extLst>
              <a:ext uri="{FF2B5EF4-FFF2-40B4-BE49-F238E27FC236}">
                <a16:creationId xmlns:a16="http://schemas.microsoft.com/office/drawing/2014/main" id="{4FD1B8CF-23FD-49CE-98B8-ACFE556832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133350"/>
            <a:ext cx="8099425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환경문제에 관한 국제협력의 어려움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2531" name="Rectangle 1037">
            <a:extLst>
              <a:ext uri="{FF2B5EF4-FFF2-40B4-BE49-F238E27FC236}">
                <a16:creationId xmlns:a16="http://schemas.microsoft.com/office/drawing/2014/main" id="{D2FF8305-20EA-423A-B0E4-9A13DE6CC2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5838" y="1392238"/>
            <a:ext cx="7529512" cy="4572000"/>
          </a:xfrm>
        </p:spPr>
        <p:txBody>
          <a:bodyPr/>
          <a:lstStyle/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협조행위를 도출할 수 있는 한 가지 경우는 비협조적 행위를 할 때 제재하는 것임</a:t>
            </a:r>
          </a:p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예를 들어 비협조를 선택하는 나라는 상대국에게 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의 벌금을 지급할 것을 합의했다고 가정</a:t>
            </a:r>
          </a:p>
          <a:p>
            <a:pPr lvl="1" eaLnBrk="1" hangingPunct="1"/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이 경우 각국이 얻는 이득은 아래와 같이 수정됨</a:t>
            </a:r>
          </a:p>
          <a:p>
            <a:pPr eaLnBrk="1" hangingPunct="1"/>
            <a:endParaRPr lang="en-US" altLang="ko-KR" sz="20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00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ko-KR" altLang="en-US" sz="24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이와 같은 상황에서는 상대방이 어떤 행위를 하든 협조를 선택하는 것이 더 나으므로 둘 다 협조를 선택함</a:t>
            </a:r>
          </a:p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현실에서는 두 국가 사이의 이러한 합의가 구속력을 갖기 어렵다는 문제가 있음</a:t>
            </a:r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2532" name="바닥글 개체 틀 4">
            <a:extLst>
              <a:ext uri="{FF2B5EF4-FFF2-40B4-BE49-F238E27FC236}">
                <a16:creationId xmlns:a16="http://schemas.microsoft.com/office/drawing/2014/main" id="{B45661DF-2BE1-4DD8-9EDC-69B5A4AB4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22533" name="슬라이드 번호 개체 틀 5">
            <a:extLst>
              <a:ext uri="{FF2B5EF4-FFF2-40B4-BE49-F238E27FC236}">
                <a16:creationId xmlns:a16="http://schemas.microsoft.com/office/drawing/2014/main" id="{22CF12F2-4203-4D85-8F7E-1664697D9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B6E4DEA-153C-4560-89E8-E1C6ABACEF2E}" type="slidenum">
              <a:rPr lang="ko-KR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2534" name="Rectangle 1026">
            <a:extLst>
              <a:ext uri="{FF2B5EF4-FFF2-40B4-BE49-F238E27FC236}">
                <a16:creationId xmlns:a16="http://schemas.microsoft.com/office/drawing/2014/main" id="{E235A76C-D5CD-4A16-8E2A-DA9358BA4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2535" name="Rectangle 1027">
            <a:extLst>
              <a:ext uri="{FF2B5EF4-FFF2-40B4-BE49-F238E27FC236}">
                <a16:creationId xmlns:a16="http://schemas.microsoft.com/office/drawing/2014/main" id="{3616B4EE-6017-422A-BC2C-E6935EF51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22536" name="그림 7" descr="Cap 2014-06-19 10-17-40-620.png">
            <a:extLst>
              <a:ext uri="{FF2B5EF4-FFF2-40B4-BE49-F238E27FC236}">
                <a16:creationId xmlns:a16="http://schemas.microsoft.com/office/drawing/2014/main" id="{1CA37781-2B5C-4A7F-BEA9-0DD0571828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3094038"/>
            <a:ext cx="6245225" cy="150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36">
            <a:extLst>
              <a:ext uri="{FF2B5EF4-FFF2-40B4-BE49-F238E27FC236}">
                <a16:creationId xmlns:a16="http://schemas.microsoft.com/office/drawing/2014/main" id="{30B16971-0248-4638-B6D7-E6574FC6E6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61938"/>
            <a:ext cx="8237538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환경문제에 관한 국제협력의 어려움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3555" name="Rectangle 1037">
            <a:extLst>
              <a:ext uri="{FF2B5EF4-FFF2-40B4-BE49-F238E27FC236}">
                <a16:creationId xmlns:a16="http://schemas.microsoft.com/office/drawing/2014/main" id="{47421884-5815-4442-A3B4-30B0F892DF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5838" y="1925638"/>
            <a:ext cx="7529512" cy="4114800"/>
          </a:xfrm>
        </p:spPr>
        <p:txBody>
          <a:bodyPr/>
          <a:lstStyle/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즉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각국은 합의 없이 독자적으로 행동할 경우 지나치게 많은 오염을 유발하며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합의를 하더라도 합의를 위반하는 국가를 제재하기 어려움</a:t>
            </a: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뿐만 아니라 대상국가가 많을 경우 이들 국가 전부를 모두 협약에 가입하도록 하기는 더욱 어려움</a:t>
            </a:r>
          </a:p>
          <a:p>
            <a:pPr eaLnBrk="1" hangingPunct="1"/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3556" name="바닥글 개체 틀 4">
            <a:extLst>
              <a:ext uri="{FF2B5EF4-FFF2-40B4-BE49-F238E27FC236}">
                <a16:creationId xmlns:a16="http://schemas.microsoft.com/office/drawing/2014/main" id="{D9CA740C-BB5F-4A48-B513-0E58E5594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23557" name="슬라이드 번호 개체 틀 5">
            <a:extLst>
              <a:ext uri="{FF2B5EF4-FFF2-40B4-BE49-F238E27FC236}">
                <a16:creationId xmlns:a16="http://schemas.microsoft.com/office/drawing/2014/main" id="{89A20BF1-03E7-4092-A3BC-EF1C61DC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1917357-A9A0-4F3D-ADA7-1209974288FD}" type="slidenum">
              <a:rPr lang="ko-KR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3558" name="Rectangle 1026">
            <a:extLst>
              <a:ext uri="{FF2B5EF4-FFF2-40B4-BE49-F238E27FC236}">
                <a16:creationId xmlns:a16="http://schemas.microsoft.com/office/drawing/2014/main" id="{892F7C86-CE96-4B31-A467-EFB017DA0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3559" name="Rectangle 1027">
            <a:extLst>
              <a:ext uri="{FF2B5EF4-FFF2-40B4-BE49-F238E27FC236}">
                <a16:creationId xmlns:a16="http://schemas.microsoft.com/office/drawing/2014/main" id="{9014627A-9882-440A-AF4E-2034D7BCC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36">
            <a:extLst>
              <a:ext uri="{FF2B5EF4-FFF2-40B4-BE49-F238E27FC236}">
                <a16:creationId xmlns:a16="http://schemas.microsoft.com/office/drawing/2014/main" id="{5A6D90AD-354F-4FD4-A6EC-FFFD0BDA43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4550" y="234950"/>
            <a:ext cx="7924800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환경문제에 관한 국제협력의 어려움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028" name="Rectangle 1037">
            <a:extLst>
              <a:ext uri="{FF2B5EF4-FFF2-40B4-BE49-F238E27FC236}">
                <a16:creationId xmlns:a16="http://schemas.microsoft.com/office/drawing/2014/main" id="{595243D2-9652-4A33-AA76-941D6C791A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00125" y="1546225"/>
            <a:ext cx="7529513" cy="4114800"/>
          </a:xfrm>
        </p:spPr>
        <p:txBody>
          <a:bodyPr/>
          <a:lstStyle/>
          <a:p>
            <a:pPr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협약 스스로가 가입국들로 하여금 협약내용을 지키고자 하는 동기를 부여해야 함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(self-enforcing)</a:t>
            </a:r>
          </a:p>
          <a:p>
            <a:pPr eaLnBrk="1" hangingPunct="1"/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N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개의 국가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중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M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개의 국가가 국제협약에 가입함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국가들은 모두 동질적이며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협약에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가입하느냐와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하지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않느냐의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차이만 있을 뿐 다른 조건들은 같다고 가정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협약에 가입하지 않는 국가의 배출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저감량은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n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이고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가입한 국가의 배출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저감량은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임</a:t>
            </a:r>
          </a:p>
          <a:p>
            <a:pPr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국가들은 총 두 가지 의사결정을 하는데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2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저감량과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협약에 가입할지 여부를 결정함</a:t>
            </a:r>
          </a:p>
          <a:p>
            <a:pPr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각국의 저감비용은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C(a)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이고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저감편익은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B(A)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임</a:t>
            </a:r>
          </a:p>
          <a:p>
            <a:pPr lvl="1" eaLnBrk="1" hangingPunct="1"/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각국의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저감량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총 합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endParaRPr lang="ko-KR" altLang="en-US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즉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각국은 자국 저감비용만 부담하면 되지만 배출저감의 편익은 다른 국가의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저감량에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의해서도 영향을 받음</a:t>
            </a:r>
          </a:p>
        </p:txBody>
      </p:sp>
      <p:sp>
        <p:nvSpPr>
          <p:cNvPr id="1029" name="바닥글 개체 틀 4">
            <a:extLst>
              <a:ext uri="{FF2B5EF4-FFF2-40B4-BE49-F238E27FC236}">
                <a16:creationId xmlns:a16="http://schemas.microsoft.com/office/drawing/2014/main" id="{A7AA7729-90B0-4178-920F-32017F985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1030" name="슬라이드 번호 개체 틀 5">
            <a:extLst>
              <a:ext uri="{FF2B5EF4-FFF2-40B4-BE49-F238E27FC236}">
                <a16:creationId xmlns:a16="http://schemas.microsoft.com/office/drawing/2014/main" id="{68303A19-3169-4776-888A-426E18745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C3453EC-66DA-46B1-8E8D-1C4A3F5835A0}" type="slidenum">
              <a:rPr lang="ko-KR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031" name="Rectangle 1026">
            <a:extLst>
              <a:ext uri="{FF2B5EF4-FFF2-40B4-BE49-F238E27FC236}">
                <a16:creationId xmlns:a16="http://schemas.microsoft.com/office/drawing/2014/main" id="{94A38145-6C84-4097-8CE1-34B15275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032" name="Rectangle 1027">
            <a:extLst>
              <a:ext uri="{FF2B5EF4-FFF2-40B4-BE49-F238E27FC236}">
                <a16:creationId xmlns:a16="http://schemas.microsoft.com/office/drawing/2014/main" id="{6643C634-31B6-44AD-AA13-415B05BA8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6">
            <a:extLst>
              <a:ext uri="{FF2B5EF4-FFF2-40B4-BE49-F238E27FC236}">
                <a16:creationId xmlns:a16="http://schemas.microsoft.com/office/drawing/2014/main" id="{AC168AC3-19CF-4C7B-84BD-01E54BAD62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1838" y="382588"/>
            <a:ext cx="820261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환경문제에 관한 국제협력의 어려움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6627" name="Rectangle 1037">
            <a:extLst>
              <a:ext uri="{FF2B5EF4-FFF2-40B4-BE49-F238E27FC236}">
                <a16:creationId xmlns:a16="http://schemas.microsoft.com/office/drawing/2014/main" id="{BF81BA83-F298-42E9-996F-74C5AB990C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5838" y="1871663"/>
            <a:ext cx="7529512" cy="4451350"/>
          </a:xfrm>
        </p:spPr>
        <p:txBody>
          <a:bodyPr/>
          <a:lstStyle/>
          <a:p>
            <a:pPr eaLnBrk="1" hangingPunct="1"/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어떤 국가가 협약에 가입하지 않기로 이미 결정하였다고 가정하면</a:t>
            </a:r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국가는 자국의 이득인 </a:t>
            </a:r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B(A)-C(a</a:t>
            </a:r>
            <a:r>
              <a:rPr lang="en-US" altLang="ko-KR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n</a:t>
            </a:r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극대화하는 </a:t>
            </a:r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en-US" altLang="ko-KR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n</a:t>
            </a:r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을 선택함</a:t>
            </a:r>
          </a:p>
          <a:p>
            <a:pPr eaLnBrk="1" hangingPunct="1"/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또 다른 국가가 협약에 가입하고 있다면 이 국가는 가입국 전체의 이득인 </a:t>
            </a:r>
            <a:endParaRPr lang="en-US" altLang="ko-KR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  M</a:t>
            </a:r>
            <a:r>
              <a:rPr lang="en-US" altLang="ko-KR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 ×</a:t>
            </a:r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B(A)-C(a</a:t>
            </a:r>
            <a:r>
              <a:rPr lang="en-US" altLang="ko-KR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</a:t>
            </a:r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극대화하는 </a:t>
            </a:r>
            <a:r>
              <a:rPr lang="ko-KR" altLang="en-US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저감량</a:t>
            </a:r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en-US" altLang="ko-KR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</a:t>
            </a:r>
            <a:r>
              <a:rPr lang="ko-KR" altLang="en-US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결정해야 함</a:t>
            </a:r>
            <a:endParaRPr lang="en-US" altLang="ko-KR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26628" name="바닥글 개체 틀 4">
            <a:extLst>
              <a:ext uri="{FF2B5EF4-FFF2-40B4-BE49-F238E27FC236}">
                <a16:creationId xmlns:a16="http://schemas.microsoft.com/office/drawing/2014/main" id="{0AFBA351-33A9-4AEB-B1D3-7F47FBE48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26629" name="슬라이드 번호 개체 틀 5">
            <a:extLst>
              <a:ext uri="{FF2B5EF4-FFF2-40B4-BE49-F238E27FC236}">
                <a16:creationId xmlns:a16="http://schemas.microsoft.com/office/drawing/2014/main" id="{2123F845-B921-4D06-98CC-67316BED9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F7C97E1-ABDD-4270-9EF3-D8726227703E}" type="slidenum">
              <a:rPr lang="ko-KR" altLang="en-US" sz="1200" b="0">
                <a:solidFill>
                  <a:schemeClr val="tx1"/>
                </a:solidFill>
              </a:rPr>
              <a:pPr/>
              <a:t>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6630" name="Rectangle 1026">
            <a:extLst>
              <a:ext uri="{FF2B5EF4-FFF2-40B4-BE49-F238E27FC236}">
                <a16:creationId xmlns:a16="http://schemas.microsoft.com/office/drawing/2014/main" id="{35FD445E-DC59-4796-9F63-AB096A108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6631" name="Rectangle 1027">
            <a:extLst>
              <a:ext uri="{FF2B5EF4-FFF2-40B4-BE49-F238E27FC236}">
                <a16:creationId xmlns:a16="http://schemas.microsoft.com/office/drawing/2014/main" id="{6A4F3CE3-C420-45D6-913B-B77A882C0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36">
            <a:extLst>
              <a:ext uri="{FF2B5EF4-FFF2-40B4-BE49-F238E27FC236}">
                <a16:creationId xmlns:a16="http://schemas.microsoft.com/office/drawing/2014/main" id="{0716A06A-29CF-4B9B-9E5D-617EF86421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1538" y="0"/>
            <a:ext cx="7845425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환경문제에 관한 국제협력의 어려움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3" name="Rectangle 1037">
                <a:extLst>
                  <a:ext uri="{FF2B5EF4-FFF2-40B4-BE49-F238E27FC236}">
                    <a16:creationId xmlns:a16="http://schemas.microsoft.com/office/drawing/2014/main" id="{75557C73-352B-462C-8F5F-6DEA025288F5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85838" y="1293813"/>
                <a:ext cx="7529512" cy="4451350"/>
              </a:xfrm>
            </p:spPr>
            <p:txBody>
              <a:bodyPr/>
              <a:lstStyle/>
              <a:p>
                <a:pPr eaLnBrk="1" hangingPunct="1"/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B(A)=</a:t>
                </a:r>
                <a:r>
                  <a:rPr lang="en-US" altLang="ko-KR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bA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이고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C(a)=ca</a:t>
                </a:r>
                <a:r>
                  <a:rPr lang="en-US" altLang="ko-KR" sz="2400" baseline="30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2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/2(b, c&gt;0)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라고 가정하면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(Barrett, 1994, 2005), a</a:t>
                </a:r>
                <a:r>
                  <a:rPr lang="en-US" altLang="ko-KR" sz="2400" baseline="-25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n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=b/c, a</a:t>
                </a:r>
                <a:r>
                  <a:rPr lang="en-US" altLang="ko-KR" sz="2400" baseline="-25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c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=Mb/c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임을 알 수 있음</a:t>
                </a: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즉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협약에 가입한 국가는 가입하지 않은 국가에 비해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M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배나 많은 오염물질을 저감해야 함 </a:t>
                </a: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전 세계의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저감량은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457200" lvl="1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𝑀𝑏</m:t>
                          </m:r>
                        </m:num>
                        <m:den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이로 인한 가입국과 미가입국의 이득은 각각 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ko-KR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v</a:t>
                </a:r>
                <a:r>
                  <a:rPr lang="en-US" altLang="ko-KR" sz="2400" baseline="-25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c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&lt;</a:t>
                </a:r>
                <a:r>
                  <a:rPr lang="en-US" altLang="ko-KR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v</a:t>
                </a:r>
                <a:r>
                  <a:rPr lang="en-US" altLang="ko-KR" sz="2400" baseline="-25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n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이므로 협약에 가입하지 않은 나라가 더 큰 이득을 얻음</a:t>
                </a:r>
              </a:p>
            </p:txBody>
          </p:sp>
        </mc:Choice>
        <mc:Fallback xmlns="">
          <p:sp>
            <p:nvSpPr>
              <p:cNvPr id="2053" name="Rectangle 1037">
                <a:extLst>
                  <a:ext uri="{FF2B5EF4-FFF2-40B4-BE49-F238E27FC236}">
                    <a16:creationId xmlns:a16="http://schemas.microsoft.com/office/drawing/2014/main" id="{75557C73-352B-462C-8F5F-6DEA025288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5838" y="1293813"/>
                <a:ext cx="7529512" cy="4451350"/>
              </a:xfrm>
              <a:blipFill>
                <a:blip r:embed="rId3"/>
                <a:stretch>
                  <a:fillRect l="-1134" t="-1233" r="-31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4" name="바닥글 개체 틀 4">
            <a:extLst>
              <a:ext uri="{FF2B5EF4-FFF2-40B4-BE49-F238E27FC236}">
                <a16:creationId xmlns:a16="http://schemas.microsoft.com/office/drawing/2014/main" id="{927A473A-2EFC-4F51-8F34-2816E1852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2055" name="슬라이드 번호 개체 틀 5">
            <a:extLst>
              <a:ext uri="{FF2B5EF4-FFF2-40B4-BE49-F238E27FC236}">
                <a16:creationId xmlns:a16="http://schemas.microsoft.com/office/drawing/2014/main" id="{AA1E8027-2C9C-4659-A109-6966CA1A8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3D68A0F-FB55-455A-A98D-ABE0C91CCB05}" type="slidenum">
              <a:rPr lang="ko-KR" altLang="en-US" sz="1200" b="0">
                <a:solidFill>
                  <a:schemeClr val="tx1"/>
                </a:solidFill>
              </a:rPr>
              <a:pPr/>
              <a:t>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056" name="Rectangle 1026">
            <a:extLst>
              <a:ext uri="{FF2B5EF4-FFF2-40B4-BE49-F238E27FC236}">
                <a16:creationId xmlns:a16="http://schemas.microsoft.com/office/drawing/2014/main" id="{492E0739-6FF0-455B-A12F-AFBFCDE96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057" name="Rectangle 1027">
            <a:extLst>
              <a:ext uri="{FF2B5EF4-FFF2-40B4-BE49-F238E27FC236}">
                <a16:creationId xmlns:a16="http://schemas.microsoft.com/office/drawing/2014/main" id="{708BEA29-634A-4154-8D37-A909AACF4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1036">
            <a:extLst>
              <a:ext uri="{FF2B5EF4-FFF2-40B4-BE49-F238E27FC236}">
                <a16:creationId xmlns:a16="http://schemas.microsoft.com/office/drawing/2014/main" id="{D7898B2C-390A-4403-AECE-43CC0D3600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7263" y="192088"/>
            <a:ext cx="7751762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환경문제에 관한 국제협력의 어려움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7" name="Rectangle 1037">
                <a:extLst>
                  <a:ext uri="{FF2B5EF4-FFF2-40B4-BE49-F238E27FC236}">
                    <a16:creationId xmlns:a16="http://schemas.microsoft.com/office/drawing/2014/main" id="{54CDF758-5CE3-4E95-B2F4-807FB8A45C63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71550" y="1547813"/>
                <a:ext cx="7529513" cy="445135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안정적인 국제협약의 조건</a:t>
                </a:r>
              </a:p>
              <a:p>
                <a:pPr lvl="1" eaLnBrk="1" hangingPunct="1"/>
                <a:r>
                  <a:rPr lang="en-US" altLang="ko-KR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M</a:t>
                </a:r>
                <a:r>
                  <a:rPr lang="ko-KR" altLang="en-US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개의 나라가 가입한 현재의 국제협약이 지속되기 위해서는 현재의 협약 가입국은 탈퇴할 의사가 없어야 하고</a:t>
                </a:r>
                <a:r>
                  <a:rPr lang="en-US" altLang="ko-KR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현재 가입하지 않은 국가도 의사결정을 바꾸어 협약에 가입할 이유가 없어야 함</a:t>
                </a:r>
              </a:p>
              <a:p>
                <a:pPr eaLnBrk="1" hangingPunct="1"/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즉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22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v</a:t>
                </a:r>
                <a:r>
                  <a:rPr lang="en-US" altLang="ko-KR" sz="2200" baseline="-25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c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(N,M)</a:t>
                </a:r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와 </a:t>
                </a:r>
                <a:r>
                  <a:rPr lang="en-US" altLang="ko-KR" sz="22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v</a:t>
                </a:r>
                <a:r>
                  <a:rPr lang="en-US" altLang="ko-KR" sz="2200" baseline="-25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n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(N,M)</a:t>
                </a:r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을 각각 협약 가입국의 수가 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M</a:t>
                </a:r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일 때의 가입국과 미가입국의 이득이라 하면 다음 두 조건이 동시에 충족될 때 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M</a:t>
                </a:r>
                <a:r>
                  <a:rPr lang="ko-KR" altLang="en-US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개의 나라가 가입한 현재의 국제협약이 유지됨</a:t>
                </a:r>
              </a:p>
              <a:p>
                <a:pPr lvl="1" eaLnBrk="1" hangingPunct="1"/>
                <a:r>
                  <a:rPr lang="ko-KR" altLang="en-US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내적 안정성조건 </a:t>
                </a:r>
                <a:r>
                  <a:rPr lang="en-US" altLang="ko-KR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)≥</m:t>
                    </m:r>
                    <m:sSub>
                      <m:sSubPr>
                        <m:ctrlPr>
                          <a:rPr lang="ko-KR" altLang="en-US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altLang="ko-KR" sz="19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외적 안정성조건 </a:t>
                </a:r>
                <a:r>
                  <a:rPr lang="en-US" altLang="ko-KR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9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+1)≤</m:t>
                    </m:r>
                    <m:sSub>
                      <m:sSubPr>
                        <m:ctrlPr>
                          <a:rPr lang="ko-KR" altLang="en-US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ko-KR" altLang="en-US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9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19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내적 안정성조건</a:t>
                </a:r>
                <a:r>
                  <a:rPr lang="ko-KR" altLang="en-US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은 현재의 협약 가입국이 탈퇴할 유인을 갖지 않도록 하기 위해 필요한 조건이고</a:t>
                </a:r>
                <a:r>
                  <a:rPr lang="en-US" altLang="ko-KR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9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외적 안정성조건</a:t>
                </a:r>
                <a:r>
                  <a:rPr lang="ko-KR" altLang="en-US" sz="19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은 현재의 협약 미 가입국이 입장을 바꾸어 협약에 가입하지 않을 조건임</a:t>
                </a:r>
                <a:endParaRPr lang="en-US" altLang="ko-KR" sz="19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77" name="Rectangle 1037">
                <a:extLst>
                  <a:ext uri="{FF2B5EF4-FFF2-40B4-BE49-F238E27FC236}">
                    <a16:creationId xmlns:a16="http://schemas.microsoft.com/office/drawing/2014/main" id="{54CDF758-5CE3-4E95-B2F4-807FB8A45C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1550" y="1547813"/>
                <a:ext cx="7529513" cy="4451350"/>
              </a:xfrm>
              <a:blipFill>
                <a:blip r:embed="rId3"/>
                <a:stretch>
                  <a:fillRect l="-890" t="-959" r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8" name="바닥글 개체 틀 4">
            <a:extLst>
              <a:ext uri="{FF2B5EF4-FFF2-40B4-BE49-F238E27FC236}">
                <a16:creationId xmlns:a16="http://schemas.microsoft.com/office/drawing/2014/main" id="{2ED4BAD5-AD7E-407B-ADEC-06545A385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3079" name="슬라이드 번호 개체 틀 5">
            <a:extLst>
              <a:ext uri="{FF2B5EF4-FFF2-40B4-BE49-F238E27FC236}">
                <a16:creationId xmlns:a16="http://schemas.microsoft.com/office/drawing/2014/main" id="{7DE0247C-1761-4893-BFCC-78BCBDBA2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0ED2D032-F01A-4F29-9B58-04DFB72A0756}" type="slidenum">
              <a:rPr lang="ko-KR" altLang="en-US" sz="1200" b="0">
                <a:solidFill>
                  <a:schemeClr val="tx1"/>
                </a:solidFill>
              </a:rPr>
              <a:pPr/>
              <a:t>10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080" name="Rectangle 1026">
            <a:extLst>
              <a:ext uri="{FF2B5EF4-FFF2-40B4-BE49-F238E27FC236}">
                <a16:creationId xmlns:a16="http://schemas.microsoft.com/office/drawing/2014/main" id="{FFCDC2D3-0D8D-44BA-8C16-1DFB0094A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081" name="Rectangle 1027">
            <a:extLst>
              <a:ext uri="{FF2B5EF4-FFF2-40B4-BE49-F238E27FC236}">
                <a16:creationId xmlns:a16="http://schemas.microsoft.com/office/drawing/2014/main" id="{2E04EF9B-F2A3-42C5-ADFE-C387C6E62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36">
            <a:extLst>
              <a:ext uri="{FF2B5EF4-FFF2-40B4-BE49-F238E27FC236}">
                <a16:creationId xmlns:a16="http://schemas.microsoft.com/office/drawing/2014/main" id="{6C6CC654-A82D-4D0F-BC8F-B6ECA68868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7238" y="200025"/>
            <a:ext cx="8142287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환경문제에 관한 국제협력의 어려움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0" name="Rectangle 1037">
                <a:extLst>
                  <a:ext uri="{FF2B5EF4-FFF2-40B4-BE49-F238E27FC236}">
                    <a16:creationId xmlns:a16="http://schemas.microsoft.com/office/drawing/2014/main" id="{21D69956-E4DA-452A-9CCF-4A53DFD21E13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12825" y="1504950"/>
                <a:ext cx="7624763" cy="4451350"/>
              </a:xfrm>
            </p:spPr>
            <p:txBody>
              <a:bodyPr/>
              <a:lstStyle/>
              <a:p>
                <a:pPr eaLnBrk="1" hangingPunct="1"/>
                <a:r>
                  <a:rPr lang="ko-KR" altLang="en-US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국제환경협약이 안정적으로 유지되려면 위의 두 안정성조건과 균형 </a:t>
                </a:r>
                <a:r>
                  <a:rPr lang="ko-KR" altLang="en-US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저감량</a:t>
                </a:r>
                <a:r>
                  <a:rPr lang="ko-KR" altLang="en-US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</a:t>
                </a:r>
                <a:r>
                  <a:rPr lang="en-US" altLang="ko-KR" baseline="-25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c</a:t>
                </a:r>
                <a:r>
                  <a:rPr lang="en-US" altLang="ko-KR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및 </a:t>
                </a:r>
                <a:r>
                  <a:rPr lang="en-US" altLang="ko-KR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</a:t>
                </a:r>
                <a:r>
                  <a:rPr lang="en-US" altLang="ko-KR" baseline="-25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n</a:t>
                </a:r>
                <a:r>
                  <a:rPr lang="ko-KR" altLang="en-US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 동시에 충족되어야 함</a:t>
                </a:r>
              </a:p>
              <a:p>
                <a:pPr eaLnBrk="1" hangingPunct="1"/>
                <a:r>
                  <a:rPr lang="ko-KR" altLang="en-US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국제환경협약에 몇 개의 국가가 가입할지 여부는 관련된 파라메터의 구조에 따라 결정됨</a:t>
                </a:r>
              </a:p>
              <a:p>
                <a:pPr lvl="1" eaLnBrk="1" hangingPunct="1"/>
                <a:r>
                  <a:rPr lang="ko-KR" altLang="en-US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예를 들어 앞에서 구한</a:t>
                </a:r>
                <a:endParaRPr lang="en-US" altLang="ko-KR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457200" lvl="1" indent="0" eaLnBrk="1" hangingPunct="1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ko-KR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ko-KR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ko-KR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ko-KR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ko-KR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ko-KR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ko-KR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ko-KR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ko-KR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ko-KR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ko-KR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ko-KR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</a:t>
                </a:r>
                <a:r>
                  <a:rPr lang="en-US" altLang="ko-KR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b</a:t>
                </a:r>
                <a:r>
                  <a:rPr lang="ko-KR" altLang="en-US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와 </a:t>
                </a:r>
                <a:r>
                  <a:rPr lang="en-US" altLang="ko-KR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c</a:t>
                </a:r>
                <a:r>
                  <a:rPr lang="ko-KR" altLang="en-US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 </a:t>
                </a:r>
                <a:r>
                  <a:rPr lang="en-US" altLang="ko-KR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1</a:t>
                </a:r>
                <a:r>
                  <a:rPr lang="ko-KR" altLang="en-US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이라고 가정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ko-KR" sz="25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4100" name="Rectangle 1037">
                <a:extLst>
                  <a:ext uri="{FF2B5EF4-FFF2-40B4-BE49-F238E27FC236}">
                    <a16:creationId xmlns:a16="http://schemas.microsoft.com/office/drawing/2014/main" id="{21D69956-E4DA-452A-9CCF-4A53DFD21E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2825" y="1504950"/>
                <a:ext cx="7624763" cy="4451350"/>
              </a:xfrm>
              <a:blipFill>
                <a:blip r:embed="rId3"/>
                <a:stretch>
                  <a:fillRect l="-1519" t="-1370" r="-15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1" name="바닥글 개체 틀 4">
            <a:extLst>
              <a:ext uri="{FF2B5EF4-FFF2-40B4-BE49-F238E27FC236}">
                <a16:creationId xmlns:a16="http://schemas.microsoft.com/office/drawing/2014/main" id="{061B9894-60BA-44C4-B7FB-B1AAB09FC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4102" name="슬라이드 번호 개체 틀 5">
            <a:extLst>
              <a:ext uri="{FF2B5EF4-FFF2-40B4-BE49-F238E27FC236}">
                <a16:creationId xmlns:a16="http://schemas.microsoft.com/office/drawing/2014/main" id="{61D6CE65-B4B0-470E-997F-AB8A427AA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FF3A0F5A-A32E-4C9A-8BDE-4116C4844814}" type="slidenum">
              <a:rPr lang="ko-KR" altLang="en-US" sz="1200" b="0">
                <a:solidFill>
                  <a:schemeClr val="tx1"/>
                </a:solidFill>
              </a:rPr>
              <a:pPr/>
              <a:t>11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103" name="Rectangle 1026">
            <a:extLst>
              <a:ext uri="{FF2B5EF4-FFF2-40B4-BE49-F238E27FC236}">
                <a16:creationId xmlns:a16="http://schemas.microsoft.com/office/drawing/2014/main" id="{87FAD85B-1A17-4B81-AAEC-55697909D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04" name="Rectangle 1027">
            <a:extLst>
              <a:ext uri="{FF2B5EF4-FFF2-40B4-BE49-F238E27FC236}">
                <a16:creationId xmlns:a16="http://schemas.microsoft.com/office/drawing/2014/main" id="{0FB517BA-D9EA-4449-AD68-BD2A5284B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36">
            <a:extLst>
              <a:ext uri="{FF2B5EF4-FFF2-40B4-BE49-F238E27FC236}">
                <a16:creationId xmlns:a16="http://schemas.microsoft.com/office/drawing/2014/main" id="{E4D29217-202A-4556-9EE2-3335C63905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2188" y="174625"/>
            <a:ext cx="7716837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환경문제에 관한 국제협력의 어려움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7651" name="Rectangle 1037">
            <a:extLst>
              <a:ext uri="{FF2B5EF4-FFF2-40B4-BE49-F238E27FC236}">
                <a16:creationId xmlns:a16="http://schemas.microsoft.com/office/drawing/2014/main" id="{2FD814DE-FBC7-4E4C-B70F-6F53CAEAD5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5838" y="1476375"/>
            <a:ext cx="7529512" cy="4451350"/>
          </a:xfrm>
        </p:spPr>
        <p:txBody>
          <a:bodyPr/>
          <a:lstStyle/>
          <a:p>
            <a:pPr eaLnBrk="1" hangingPunct="1"/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b=c=1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일 때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저감량과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협약가입국 수에 따른 각국의 이득은 다음과 같음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27652" name="바닥글 개체 틀 4">
            <a:extLst>
              <a:ext uri="{FF2B5EF4-FFF2-40B4-BE49-F238E27FC236}">
                <a16:creationId xmlns:a16="http://schemas.microsoft.com/office/drawing/2014/main" id="{705A49B0-7E1E-4FEA-A1C0-6BE2F85BB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27653" name="슬라이드 번호 개체 틀 5">
            <a:extLst>
              <a:ext uri="{FF2B5EF4-FFF2-40B4-BE49-F238E27FC236}">
                <a16:creationId xmlns:a16="http://schemas.microsoft.com/office/drawing/2014/main" id="{85113010-8ED7-4691-8867-46194B3B3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10EDC48-C685-42AE-B08C-BFDD4E3422EC}" type="slidenum">
              <a:rPr lang="ko-KR" altLang="en-US" sz="1200" b="0">
                <a:solidFill>
                  <a:schemeClr val="tx1"/>
                </a:solidFill>
              </a:rPr>
              <a:pPr/>
              <a:t>12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7654" name="Rectangle 1026">
            <a:extLst>
              <a:ext uri="{FF2B5EF4-FFF2-40B4-BE49-F238E27FC236}">
                <a16:creationId xmlns:a16="http://schemas.microsoft.com/office/drawing/2014/main" id="{13C7DD3C-CA5C-4ADA-B827-06375B9D3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7655" name="Rectangle 1027">
            <a:extLst>
              <a:ext uri="{FF2B5EF4-FFF2-40B4-BE49-F238E27FC236}">
                <a16:creationId xmlns:a16="http://schemas.microsoft.com/office/drawing/2014/main" id="{C4EB1B76-F48A-47A8-B020-E8F5BC33F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667E984-D71B-4A4D-A183-E4623BDA3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3" y="2482523"/>
            <a:ext cx="7657562" cy="3151808"/>
          </a:xfrm>
          <a:prstGeom prst="rect">
            <a:avLst/>
          </a:prstGeom>
        </p:spPr>
      </p:pic>
    </p:spTree>
  </p:cSld>
  <p:clrMapOvr>
    <a:masterClrMapping/>
  </p:clrMapOvr>
  <p:transition spd="med">
    <p:pull dir="r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36">
            <a:extLst>
              <a:ext uri="{FF2B5EF4-FFF2-40B4-BE49-F238E27FC236}">
                <a16:creationId xmlns:a16="http://schemas.microsoft.com/office/drawing/2014/main" id="{7D33BADC-FB5F-41DA-80EF-FA9DC52258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2063" y="227013"/>
            <a:ext cx="7602537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환경문제에 관한 국제협력의 어려움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8675" name="Rectangle 1037">
            <a:extLst>
              <a:ext uri="{FF2B5EF4-FFF2-40B4-BE49-F238E27FC236}">
                <a16:creationId xmlns:a16="http://schemas.microsoft.com/office/drawing/2014/main" id="{0B2F87EE-62C1-449B-BF18-048F099164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5838" y="1350963"/>
            <a:ext cx="7529512" cy="47879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전체 세 나라만이 있는 경우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(N=3)</a:t>
            </a:r>
          </a:p>
          <a:p>
            <a:pPr lvl="1" eaLnBrk="1" hangingPunct="1"/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v</a:t>
            </a:r>
            <a:r>
              <a:rPr lang="en-US" altLang="ko-KR" sz="20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(3,3)=v</a:t>
            </a:r>
            <a:r>
              <a:rPr lang="en-US" altLang="ko-KR" sz="20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n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(3,2)=4.5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동일하므로 기존 회원국이 협약을 탈퇴할 인센티브가 없고 세 나라가 모두 참여하는 협약이 유지될 수 있음</a:t>
            </a:r>
          </a:p>
          <a:p>
            <a:pPr eaLnBrk="1" hangingPunct="1"/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전체 국가 수가 다섯인 경우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(N=5)</a:t>
            </a:r>
          </a:p>
          <a:p>
            <a:pPr lvl="1" eaLnBrk="1" hangingPunct="1"/>
            <a:r>
              <a:rPr lang="ko-KR" altLang="en-US" sz="21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다섯 국가 중 세 나라가 협약에 가입되어 있을 때</a:t>
            </a:r>
            <a:r>
              <a:rPr lang="en-US" altLang="ko-KR" sz="21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(M=3)</a:t>
            </a:r>
            <a:endParaRPr lang="ko-KR" altLang="en-US" sz="210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2" eaLnBrk="1" hangingPunct="1"/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v</a:t>
            </a:r>
            <a:r>
              <a:rPr lang="en-US" altLang="ko-KR" sz="18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(5,3)=v</a:t>
            </a:r>
            <a:r>
              <a:rPr lang="en-US" altLang="ko-KR" sz="18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n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(5,2)=6.5</a:t>
            </a:r>
            <a:r>
              <a:rPr lang="ko-KR" altLang="en-US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동일하므로 기존 회원이 탈퇴할 인센티브가 없음</a:t>
            </a:r>
          </a:p>
          <a:p>
            <a:pPr lvl="2" eaLnBrk="1" hangingPunct="1"/>
            <a:r>
              <a:rPr lang="ko-KR" altLang="en-US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또한 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v</a:t>
            </a:r>
            <a:r>
              <a:rPr lang="en-US" altLang="ko-KR" sz="18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(5,4)=9 &lt; v</a:t>
            </a:r>
            <a:r>
              <a:rPr lang="en-US" altLang="ko-KR" sz="18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n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(5,3)=10.5</a:t>
            </a:r>
            <a:r>
              <a:rPr lang="ko-KR" altLang="en-US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이므로 기존의 협약 가입국이 아닌 나라가 협약에 가입할 인센티브가 없음</a:t>
            </a:r>
          </a:p>
          <a:p>
            <a:pPr lvl="1" eaLnBrk="1" hangingPunct="1"/>
            <a:r>
              <a:rPr lang="ko-KR" altLang="en-US" sz="21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다섯 국가 중 네 나라가 협약에 가입되어 있을 때</a:t>
            </a:r>
            <a:r>
              <a:rPr lang="en-US" altLang="ko-KR" sz="21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(M=4)</a:t>
            </a:r>
            <a:endParaRPr lang="ko-KR" altLang="en-US" sz="210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2" eaLnBrk="1" hangingPunct="1"/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v</a:t>
            </a:r>
            <a:r>
              <a:rPr lang="en-US" altLang="ko-KR" sz="18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(5,4)=9 &lt; v</a:t>
            </a:r>
            <a:r>
              <a:rPr lang="en-US" altLang="ko-KR" sz="18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n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(5,3)=10.5 </a:t>
            </a:r>
            <a:r>
              <a:rPr lang="ko-KR" altLang="en-US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이므로 기존의 회원국들이 협약을 탈퇴하여 비회원국으로서의 이득을 얻으려는 동기를 가지게 됨</a:t>
            </a:r>
          </a:p>
          <a:p>
            <a:pPr lvl="2" eaLnBrk="1" hangingPunct="1"/>
            <a:r>
              <a:rPr lang="ko-KR" altLang="en-US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네 나라가 참여하는 국제협약은 유지될 수 없음</a:t>
            </a:r>
            <a:endParaRPr lang="en-US" altLang="ko-KR" sz="180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28676" name="바닥글 개체 틀 4">
            <a:extLst>
              <a:ext uri="{FF2B5EF4-FFF2-40B4-BE49-F238E27FC236}">
                <a16:creationId xmlns:a16="http://schemas.microsoft.com/office/drawing/2014/main" id="{CF58A5B5-B01B-42D1-90F7-C30A01031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28677" name="슬라이드 번호 개체 틀 5">
            <a:extLst>
              <a:ext uri="{FF2B5EF4-FFF2-40B4-BE49-F238E27FC236}">
                <a16:creationId xmlns:a16="http://schemas.microsoft.com/office/drawing/2014/main" id="{39FECC26-5610-484B-8A1A-DEA334122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B0F26A3-5774-4BC2-9ACD-25693DA4D7D2}" type="slidenum">
              <a:rPr lang="ko-KR" altLang="en-US" sz="1200" b="0">
                <a:solidFill>
                  <a:schemeClr val="tx1"/>
                </a:solidFill>
              </a:rPr>
              <a:pPr/>
              <a:t>13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8678" name="Rectangle 1026">
            <a:extLst>
              <a:ext uri="{FF2B5EF4-FFF2-40B4-BE49-F238E27FC236}">
                <a16:creationId xmlns:a16="http://schemas.microsoft.com/office/drawing/2014/main" id="{29044758-63FD-416D-9CCC-8141AF737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8679" name="Rectangle 1027">
            <a:extLst>
              <a:ext uri="{FF2B5EF4-FFF2-40B4-BE49-F238E27FC236}">
                <a16:creationId xmlns:a16="http://schemas.microsoft.com/office/drawing/2014/main" id="{9D8F7AA4-05A8-469B-A61F-B372D212E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36">
            <a:extLst>
              <a:ext uri="{FF2B5EF4-FFF2-40B4-BE49-F238E27FC236}">
                <a16:creationId xmlns:a16="http://schemas.microsoft.com/office/drawing/2014/main" id="{8B1C7007-6D97-49C1-89DB-932DE5369E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4450" y="0"/>
            <a:ext cx="7524750" cy="1143000"/>
          </a:xfrm>
        </p:spPr>
        <p:txBody>
          <a:bodyPr/>
          <a:lstStyle/>
          <a:p>
            <a:pPr eaLnBrk="1" hangingPunct="1"/>
            <a:b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환경문제에 관한 국제협력의 어려움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9699" name="Rectangle 1037">
            <a:extLst>
              <a:ext uri="{FF2B5EF4-FFF2-40B4-BE49-F238E27FC236}">
                <a16:creationId xmlns:a16="http://schemas.microsoft.com/office/drawing/2014/main" id="{BE3AC73B-2438-4B74-9C0E-77D0179DC6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3450" y="1206500"/>
            <a:ext cx="7529513" cy="445135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전체 국가 수 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N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아무리 많아도 유지가능한 협약은 최대 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3(=M)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개의 나라로만 구성됨</a:t>
            </a:r>
            <a:endParaRPr lang="en-US" altLang="ko-KR" sz="240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이러한 결과가 발생하는 이유는 협약 가입국의 수인 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M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늘어날수록 협약을 탈퇴하여 무임승차자가 되려는 욕구가 더 강해지기 때문임</a:t>
            </a:r>
          </a:p>
          <a:p>
            <a:pPr lvl="1" eaLnBrk="1" hangingPunct="1"/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가입국의 수가 늘어날수록 가입국과 미 가입국의 저감량 차이가 커짐</a:t>
            </a:r>
          </a:p>
          <a:p>
            <a:pPr eaLnBrk="1" hangingPunct="1"/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하지만 이러한 이론분석의 결론과는 달리 현실에는 약 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100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개 정도의 환경 및 천연자원관련 국제협약이 존재함</a:t>
            </a:r>
          </a:p>
          <a:p>
            <a:pPr lvl="1" eaLnBrk="1" hangingPunct="1"/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위에서 살펴본 이론모형이 가정하는 것 외에 조약가입의 이득과 탈퇴 시 얻을 손실을 더 크게 하는 다른 장치가 있기 때문일 것임</a:t>
            </a:r>
            <a:endParaRPr lang="en-US" altLang="ko-KR" sz="220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29700" name="바닥글 개체 틀 4">
            <a:extLst>
              <a:ext uri="{FF2B5EF4-FFF2-40B4-BE49-F238E27FC236}">
                <a16:creationId xmlns:a16="http://schemas.microsoft.com/office/drawing/2014/main" id="{83A9189F-7793-43D8-9254-9B8E3BEA1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29701" name="슬라이드 번호 개체 틀 5">
            <a:extLst>
              <a:ext uri="{FF2B5EF4-FFF2-40B4-BE49-F238E27FC236}">
                <a16:creationId xmlns:a16="http://schemas.microsoft.com/office/drawing/2014/main" id="{11C992C2-4E13-4A54-97E2-65C09106C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65C6466-8B8D-4900-B55C-767C2E461829}" type="slidenum">
              <a:rPr lang="ko-KR" altLang="en-US" sz="1200" b="0">
                <a:solidFill>
                  <a:schemeClr val="tx1"/>
                </a:solidFill>
              </a:rPr>
              <a:pPr/>
              <a:t>14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9702" name="Rectangle 1026">
            <a:extLst>
              <a:ext uri="{FF2B5EF4-FFF2-40B4-BE49-F238E27FC236}">
                <a16:creationId xmlns:a16="http://schemas.microsoft.com/office/drawing/2014/main" id="{129335B5-421B-4EA5-9F27-9BCBC0521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9703" name="Rectangle 1027">
            <a:extLst>
              <a:ext uri="{FF2B5EF4-FFF2-40B4-BE49-F238E27FC236}">
                <a16:creationId xmlns:a16="http://schemas.microsoft.com/office/drawing/2014/main" id="{2676EA00-30D0-4FD3-802A-2E4C2E710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36">
            <a:extLst>
              <a:ext uri="{FF2B5EF4-FFF2-40B4-BE49-F238E27FC236}">
                <a16:creationId xmlns:a16="http://schemas.microsoft.com/office/drawing/2014/main" id="{41FDB2D6-2F38-48E9-A67E-2CC6CCA1C5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4450" y="379413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조약가입의 이득과 탈퇴 시 얻을 손실을 더 크게 하는 요인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0723" name="Rectangle 1037">
            <a:extLst>
              <a:ext uri="{FF2B5EF4-FFF2-40B4-BE49-F238E27FC236}">
                <a16:creationId xmlns:a16="http://schemas.microsoft.com/office/drawing/2014/main" id="{8FD770BA-BE59-4F65-944C-C55057331A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577739"/>
            <a:ext cx="7835900" cy="4451350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첫째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가입국과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비가입국의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역할을 차등화할 수 있음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국제협약기구는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저감량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결정 등에 있어 주도권을 쥐고 있어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의사결정을 먼저 하며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이때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비가입국의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반응을 염두에 두고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저감량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결정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(=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먼저 움직이는 자의 이득 취함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조약에서 탈퇴하면 무임승차이득은 얻지만 먼저 의사결정을 할 수 있는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협약국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그룹에서 배제됨으로 인해 손실을 보게 됨</a:t>
            </a: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둘째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당사국들의 전략적인 관계가 무한히 반복됨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이번 한 번의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비협조로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인해 추가로 얻는 이득이 앞으로 형성될 모든 전략적 관계에 있어 잃어버리게 되는 이득보다 더 적을 수 있기 때문에 이를 두려워하여 서로 협조하게 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0724" name="바닥글 개체 틀 4">
            <a:extLst>
              <a:ext uri="{FF2B5EF4-FFF2-40B4-BE49-F238E27FC236}">
                <a16:creationId xmlns:a16="http://schemas.microsoft.com/office/drawing/2014/main" id="{3F46712F-7D20-43E9-AD7F-DA37A6C9F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30725" name="슬라이드 번호 개체 틀 5">
            <a:extLst>
              <a:ext uri="{FF2B5EF4-FFF2-40B4-BE49-F238E27FC236}">
                <a16:creationId xmlns:a16="http://schemas.microsoft.com/office/drawing/2014/main" id="{2ADDD609-83A1-488C-84B1-CC4B18788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54696F2-0E60-4210-A581-8E4EA3E7BD5C}" type="slidenum">
              <a:rPr lang="ko-KR" altLang="en-US" sz="1200" b="0">
                <a:solidFill>
                  <a:schemeClr val="tx1"/>
                </a:solidFill>
              </a:rPr>
              <a:pPr/>
              <a:t>15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0726" name="Rectangle 1026">
            <a:extLst>
              <a:ext uri="{FF2B5EF4-FFF2-40B4-BE49-F238E27FC236}">
                <a16:creationId xmlns:a16="http://schemas.microsoft.com/office/drawing/2014/main" id="{7736CA01-4AEC-403D-B6D3-4610A0E65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0727" name="Rectangle 1027">
            <a:extLst>
              <a:ext uri="{FF2B5EF4-FFF2-40B4-BE49-F238E27FC236}">
                <a16:creationId xmlns:a16="http://schemas.microsoft.com/office/drawing/2014/main" id="{9FD77056-F33D-4434-85AA-891A71638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1036">
            <a:extLst>
              <a:ext uri="{FF2B5EF4-FFF2-40B4-BE49-F238E27FC236}">
                <a16:creationId xmlns:a16="http://schemas.microsoft.com/office/drawing/2014/main" id="{177A89AA-E102-4C32-82CA-3E20907750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4450" y="309563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조약가입의 이득과 탈퇴 시 얻을 손실을 더 크게 하는 요인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4" name="Rectangle 1037">
                <a:extLst>
                  <a:ext uri="{FF2B5EF4-FFF2-40B4-BE49-F238E27FC236}">
                    <a16:creationId xmlns:a16="http://schemas.microsoft.com/office/drawing/2014/main" id="{244DE269-41D0-4808-B7BD-400BE8AEBB57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01688" y="1631950"/>
                <a:ext cx="7835900" cy="4564063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셋째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협약 서명국들은 회원국의 수에 연계된 환경정책을 사용할 수 있음</a:t>
                </a: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가입국들이 합의하여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가입국 수가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M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이상일 경우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</a:t>
                </a:r>
                <a:r>
                  <a:rPr lang="en-US" altLang="ko-KR" sz="2000" baseline="-25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c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=Mb/c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저감량을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선택하지만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M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이하일 경우 조약을 해체하여 모두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</a:t>
                </a:r>
                <a:r>
                  <a:rPr lang="en-US" altLang="ko-KR" sz="2000" baseline="-25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n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=b/c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만큼만 저감하기로 했다고 가정</a:t>
                </a: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가입국가 수가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M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에서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M-1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로 하나 줄어들면 총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저감량은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아래의 양만큼 줄어듦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457200" lvl="1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𝑏𝑀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ko-KR" altLang="en-US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이는 강력한 위협이 되어 탈퇴를 막는 힘을 발휘할 수 있음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실제로 대부분의 국제협약이 가입국 수나 배출량 측면에서 협약의 규모가 어느 정도 수준이 되어야 협약이 발효됨</a:t>
                </a:r>
              </a:p>
            </p:txBody>
          </p:sp>
        </mc:Choice>
        <mc:Fallback xmlns="">
          <p:sp>
            <p:nvSpPr>
              <p:cNvPr id="5124" name="Rectangle 1037">
                <a:extLst>
                  <a:ext uri="{FF2B5EF4-FFF2-40B4-BE49-F238E27FC236}">
                    <a16:creationId xmlns:a16="http://schemas.microsoft.com/office/drawing/2014/main" id="{244DE269-41D0-4808-B7BD-400BE8AEBB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1688" y="1631950"/>
                <a:ext cx="7835900" cy="4564063"/>
              </a:xfrm>
              <a:blipFill>
                <a:blip r:embed="rId3"/>
                <a:stretch>
                  <a:fillRect l="-1089" t="-1070" r="-10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5" name="바닥글 개체 틀 4">
            <a:extLst>
              <a:ext uri="{FF2B5EF4-FFF2-40B4-BE49-F238E27FC236}">
                <a16:creationId xmlns:a16="http://schemas.microsoft.com/office/drawing/2014/main" id="{C9E8F35E-6B40-4CA2-B548-80D922825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5126" name="슬라이드 번호 개체 틀 5">
            <a:extLst>
              <a:ext uri="{FF2B5EF4-FFF2-40B4-BE49-F238E27FC236}">
                <a16:creationId xmlns:a16="http://schemas.microsoft.com/office/drawing/2014/main" id="{5704EDA8-D397-45E6-B57D-CD9654CDB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C1B6086-404D-47C4-830E-1ED568B42A4A}" type="slidenum">
              <a:rPr lang="ko-KR" altLang="en-US" sz="1200" b="0">
                <a:solidFill>
                  <a:schemeClr val="tx1"/>
                </a:solidFill>
              </a:rPr>
              <a:pPr/>
              <a:t>16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127" name="Rectangle 1026">
            <a:extLst>
              <a:ext uri="{FF2B5EF4-FFF2-40B4-BE49-F238E27FC236}">
                <a16:creationId xmlns:a16="http://schemas.microsoft.com/office/drawing/2014/main" id="{2176B940-CD32-4B5C-B743-1DC0809C2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128" name="Rectangle 1027">
            <a:extLst>
              <a:ext uri="{FF2B5EF4-FFF2-40B4-BE49-F238E27FC236}">
                <a16:creationId xmlns:a16="http://schemas.microsoft.com/office/drawing/2014/main" id="{F969EC73-B3B6-4296-90B7-FADECB137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36">
            <a:extLst>
              <a:ext uri="{FF2B5EF4-FFF2-40B4-BE49-F238E27FC236}">
                <a16:creationId xmlns:a16="http://schemas.microsoft.com/office/drawing/2014/main" id="{3A3D52BC-6AC8-4764-90B4-2FC3E2DDF4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4450" y="379413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조약가입의 이득과 탈퇴 시 얻을 손실을 더 크게 하는 요인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1747" name="Rectangle 1037">
            <a:extLst>
              <a:ext uri="{FF2B5EF4-FFF2-40B4-BE49-F238E27FC236}">
                <a16:creationId xmlns:a16="http://schemas.microsoft.com/office/drawing/2014/main" id="{A5376FEC-6FE8-49E3-A774-90EB762802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5975" y="1871663"/>
            <a:ext cx="7835900" cy="445135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넷째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협약가입행위에 대한 대가를 지불할 수 있음</a:t>
            </a:r>
          </a:p>
          <a:p>
            <a:pPr lvl="1" eaLnBrk="1" hangingPunct="1"/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협약에 참여하여 이득을 얻는 국가들이 이득 중 일부를 손실을 보는 국가들에게 지불할 수 있음</a:t>
            </a:r>
          </a:p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다섯째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협약가입여부를 국제무역과 연계할 수 있음</a:t>
            </a:r>
          </a:p>
          <a:p>
            <a:pPr lvl="1" eaLnBrk="1" hangingPunct="1"/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국제환경협약에 가입하지 않는 국가에 대해서는 관련제품을 회원국과 거래하는 것을 금지시키는 조항을 둘 수가 있음</a:t>
            </a:r>
          </a:p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이상의 모든 전략은 국제환경협약에 가입했을 때의 이득을 늘리고 가입하지 않거나 탈퇴할 때의 손실을 크게 하기 위해 고안된 것임</a:t>
            </a:r>
            <a:endParaRPr lang="en-US" altLang="ko-KR" sz="24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1748" name="바닥글 개체 틀 4">
            <a:extLst>
              <a:ext uri="{FF2B5EF4-FFF2-40B4-BE49-F238E27FC236}">
                <a16:creationId xmlns:a16="http://schemas.microsoft.com/office/drawing/2014/main" id="{1BDAD437-13D5-4E62-B79D-CA8160ABC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31749" name="슬라이드 번호 개체 틀 5">
            <a:extLst>
              <a:ext uri="{FF2B5EF4-FFF2-40B4-BE49-F238E27FC236}">
                <a16:creationId xmlns:a16="http://schemas.microsoft.com/office/drawing/2014/main" id="{8C83CD77-F69C-42AF-9AD7-54B8E4816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201B4469-2831-4E87-AC45-5C1290F1135A}" type="slidenum">
              <a:rPr lang="ko-KR" altLang="en-US" sz="1200" b="0">
                <a:solidFill>
                  <a:schemeClr val="tx1"/>
                </a:solidFill>
              </a:rPr>
              <a:pPr/>
              <a:t>17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1750" name="Rectangle 1026">
            <a:extLst>
              <a:ext uri="{FF2B5EF4-FFF2-40B4-BE49-F238E27FC236}">
                <a16:creationId xmlns:a16="http://schemas.microsoft.com/office/drawing/2014/main" id="{0D13C1ED-3373-42AE-B32B-8A3E0094C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1751" name="Rectangle 1027">
            <a:extLst>
              <a:ext uri="{FF2B5EF4-FFF2-40B4-BE49-F238E27FC236}">
                <a16:creationId xmlns:a16="http://schemas.microsoft.com/office/drawing/2014/main" id="{922BA0EC-F360-480E-8D2F-D18B730D4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36">
            <a:extLst>
              <a:ext uri="{FF2B5EF4-FFF2-40B4-BE49-F238E27FC236}">
                <a16:creationId xmlns:a16="http://schemas.microsoft.com/office/drawing/2014/main" id="{3A3D52BC-6AC8-4764-90B4-2FC3E2DDF4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4450" y="379413"/>
            <a:ext cx="7313613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br>
              <a:rPr lang="ko-KR" altLang="en-US" dirty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 dirty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돌고래와 무역분쟁</a:t>
            </a:r>
            <a:endParaRPr lang="en-US" altLang="ko-KR" dirty="0">
              <a:solidFill>
                <a:srgbClr val="7030A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1747" name="Rectangle 1037">
            <a:extLst>
              <a:ext uri="{FF2B5EF4-FFF2-40B4-BE49-F238E27FC236}">
                <a16:creationId xmlns:a16="http://schemas.microsoft.com/office/drawing/2014/main" id="{A5376FEC-6FE8-49E3-A774-90EB762802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5975" y="1871663"/>
            <a:ext cx="7835900" cy="445135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자연환경 보호를 위해 도입한 규제가 무역을 제한하고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이로 인해 국제분쟁이 발생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)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참치수입규제를 둘러싸고 미국과 멕시코 사이에 발생한 분쟁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경제성이 높은 참치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옐로우핀은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돌고래 떼를 따라다니는 습성을 가져 참치를 효율적으로 잡기 위해 돌고래 떼 주위에 그물을 치는 방식으로 참치잡이를 해옴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.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 과정에서 연간 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만마리의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돌고래가 희생되었음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미주열대참치위원회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(IATTC)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1950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 설립되어 참치잡이 규제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2020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년 현재 한국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미국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중국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일본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멕시코를 포함하는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21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개국이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IATTC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의 회원국이고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칠레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인도네시아 등 회원국은 아니지만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IATTC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와 협력하는 국가들도 있음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marL="914400" lvl="2" indent="0" eaLnBrk="1" hangingPunct="1">
              <a:buNone/>
            </a:pPr>
            <a:endParaRPr lang="en-US" altLang="ko-KR" sz="15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1748" name="바닥글 개체 틀 4">
            <a:extLst>
              <a:ext uri="{FF2B5EF4-FFF2-40B4-BE49-F238E27FC236}">
                <a16:creationId xmlns:a16="http://schemas.microsoft.com/office/drawing/2014/main" id="{1BDAD437-13D5-4E62-B79D-CA8160ABC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31749" name="슬라이드 번호 개체 틀 5">
            <a:extLst>
              <a:ext uri="{FF2B5EF4-FFF2-40B4-BE49-F238E27FC236}">
                <a16:creationId xmlns:a16="http://schemas.microsoft.com/office/drawing/2014/main" id="{8C83CD77-F69C-42AF-9AD7-54B8E4816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201B4469-2831-4E87-AC45-5C1290F1135A}" type="slidenum">
              <a:rPr lang="ko-KR" altLang="en-US" sz="1200" b="0">
                <a:solidFill>
                  <a:schemeClr val="tx1"/>
                </a:solidFill>
              </a:rPr>
              <a:pPr/>
              <a:t>18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1750" name="Rectangle 1026">
            <a:extLst>
              <a:ext uri="{FF2B5EF4-FFF2-40B4-BE49-F238E27FC236}">
                <a16:creationId xmlns:a16="http://schemas.microsoft.com/office/drawing/2014/main" id="{0D13C1ED-3373-42AE-B32B-8A3E0094C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1751" name="Rectangle 1027">
            <a:extLst>
              <a:ext uri="{FF2B5EF4-FFF2-40B4-BE49-F238E27FC236}">
                <a16:creationId xmlns:a16="http://schemas.microsoft.com/office/drawing/2014/main" id="{922BA0EC-F360-480E-8D2F-D18B730D4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4486949"/>
      </p:ext>
    </p:extLst>
  </p:cSld>
  <p:clrMapOvr>
    <a:masterClrMapping/>
  </p:clrMapOvr>
  <p:transition spd="med">
    <p:pull dir="r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36">
            <a:extLst>
              <a:ext uri="{FF2B5EF4-FFF2-40B4-BE49-F238E27FC236}">
                <a16:creationId xmlns:a16="http://schemas.microsoft.com/office/drawing/2014/main" id="{3A3D52BC-6AC8-4764-90B4-2FC3E2DDF4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4450" y="379413"/>
            <a:ext cx="7313613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br>
              <a:rPr lang="ko-KR" altLang="en-US" dirty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 dirty="0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>
                <a:solidFill>
                  <a:srgbClr val="7030A0"/>
                </a:solidFill>
                <a:latin typeface="나눔명조" pitchFamily="18" charset="-127"/>
                <a:ea typeface="나눔명조" pitchFamily="18" charset="-127"/>
              </a:rPr>
              <a:t>돌고래와 무역분쟁</a:t>
            </a:r>
            <a:endParaRPr lang="en-US" altLang="ko-KR" dirty="0">
              <a:solidFill>
                <a:srgbClr val="7030A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1747" name="Rectangle 1037">
            <a:extLst>
              <a:ext uri="{FF2B5EF4-FFF2-40B4-BE49-F238E27FC236}">
                <a16:creationId xmlns:a16="http://schemas.microsoft.com/office/drawing/2014/main" id="{A5376FEC-6FE8-49E3-A774-90EB762802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5975" y="1871663"/>
            <a:ext cx="7835900" cy="4451350"/>
          </a:xfrm>
        </p:spPr>
        <p:txBody>
          <a:bodyPr/>
          <a:lstStyle/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IATTC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규제가 매우 엄격한데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멕시코는 이 해역에서의 주요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조업국이면서도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규정을 따르지 않았고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이에 미국은 멕시코산 참치 수입을 금지시킴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환경적 이유로 국제무역을 규제한 미국의 조치에 항의하여 멕시코는 미국을 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WTO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에 제소하였고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이로 인해 두 나라 간에는 상당한 경제적 긴장관계가 형성되었음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해당 지역에 위치한 당사국들은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1999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년 발효된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국제돌고래보호프로그램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(IDCP)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을 통해 연간 희생시킬 수 있는 돌고래의 쿼터 배정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잡는 방식규제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어업허가제와 어로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인증제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연구추진과 자료 공유 등을 추구하고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1748" name="바닥글 개체 틀 4">
            <a:extLst>
              <a:ext uri="{FF2B5EF4-FFF2-40B4-BE49-F238E27FC236}">
                <a16:creationId xmlns:a16="http://schemas.microsoft.com/office/drawing/2014/main" id="{1BDAD437-13D5-4E62-B79D-CA8160ABC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31749" name="슬라이드 번호 개체 틀 5">
            <a:extLst>
              <a:ext uri="{FF2B5EF4-FFF2-40B4-BE49-F238E27FC236}">
                <a16:creationId xmlns:a16="http://schemas.microsoft.com/office/drawing/2014/main" id="{8C83CD77-F69C-42AF-9AD7-54B8E4816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201B4469-2831-4E87-AC45-5C1290F1135A}" type="slidenum">
              <a:rPr lang="ko-KR" altLang="en-US" sz="1200" b="0">
                <a:solidFill>
                  <a:schemeClr val="tx1"/>
                </a:solidFill>
              </a:rPr>
              <a:pPr/>
              <a:t>19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1750" name="Rectangle 1026">
            <a:extLst>
              <a:ext uri="{FF2B5EF4-FFF2-40B4-BE49-F238E27FC236}">
                <a16:creationId xmlns:a16="http://schemas.microsoft.com/office/drawing/2014/main" id="{0D13C1ED-3373-42AE-B32B-8A3E0094C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1751" name="Rectangle 1027">
            <a:extLst>
              <a:ext uri="{FF2B5EF4-FFF2-40B4-BE49-F238E27FC236}">
                <a16:creationId xmlns:a16="http://schemas.microsoft.com/office/drawing/2014/main" id="{922BA0EC-F360-480E-8D2F-D18B730D4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9460694"/>
      </p:ext>
    </p:extLst>
  </p:cSld>
  <p:clrMapOvr>
    <a:masterClrMapping/>
  </p:clrMapOvr>
  <p:transition spd="med">
    <p:pull dir="r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9">
            <a:extLst>
              <a:ext uri="{FF2B5EF4-FFF2-40B4-BE49-F238E27FC236}">
                <a16:creationId xmlns:a16="http://schemas.microsoft.com/office/drawing/2014/main" id="{26776CD3-5E5B-4571-AD3B-2862301B62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71538" y="1574800"/>
            <a:ext cx="7905750" cy="4549775"/>
          </a:xfrm>
        </p:spPr>
        <p:txBody>
          <a:bodyPr/>
          <a:lstStyle/>
          <a:p>
            <a:pPr eaLnBrk="1" hangingPunct="1"/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오존과 관련된 환경문제는 크게 두 가지임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국지적 혹은 지상오염의 측면에서 보았을 때 오존은 일종의 대기오염물질이며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오존의 양이 증가할수록 건강상의 피해와 농작물 피해가 커짐</a:t>
            </a:r>
            <a:endParaRPr lang="en-US" altLang="ko-KR" sz="20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전 지구적 차원의 환경문제로서의 오존문제는 지표로부터 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10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～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50km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상공의 성층권에서 발생하며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오존층이 파괴될 경우 지구를 자외선 복사로부터 보호하는 보호막이 약해짐</a:t>
            </a:r>
          </a:p>
          <a:p>
            <a:pPr eaLnBrk="1" hangingPunct="1"/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수십 년 전부터 오존층의 두께가 지속적으로 얇아짐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오존층 파괴로 인해 북반부 상공의 오존량이 매 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10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년마다 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4%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씩 감소하는 것으로 관측됨</a:t>
            </a:r>
          </a:p>
          <a:p>
            <a:pPr eaLnBrk="1" hangingPunct="1"/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오존층 파괴의 가장 큰 원인물질은 염화불화탄소</a:t>
            </a:r>
            <a:r>
              <a:rPr lang="en-US" altLang="ko-KR" sz="2300">
                <a:latin typeface="나눔명조" pitchFamily="18" charset="-127"/>
                <a:ea typeface="나눔명조" pitchFamily="18" charset="-127"/>
              </a:rPr>
              <a:t>(CFC)</a:t>
            </a:r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이며</a:t>
            </a:r>
            <a:r>
              <a:rPr lang="en-US" altLang="ko-KR" sz="23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두 번째 원인물질은 주로 소화용제로 사용되는 할론가스임</a:t>
            </a:r>
            <a:endParaRPr lang="en-US" altLang="ko-KR" sz="23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2771" name="바닥글 개체 틀 4">
            <a:extLst>
              <a:ext uri="{FF2B5EF4-FFF2-40B4-BE49-F238E27FC236}">
                <a16:creationId xmlns:a16="http://schemas.microsoft.com/office/drawing/2014/main" id="{62D6D01F-8EA2-47F4-B461-65775C297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32772" name="슬라이드 번호 개체 틀 5">
            <a:extLst>
              <a:ext uri="{FF2B5EF4-FFF2-40B4-BE49-F238E27FC236}">
                <a16:creationId xmlns:a16="http://schemas.microsoft.com/office/drawing/2014/main" id="{4D0D4D93-21F8-438C-88D7-F00CAD7E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4AF9543-2999-4271-8E83-25065C848CEC}" type="slidenum">
              <a:rPr lang="ko-KR" altLang="en-US" sz="1200" b="0">
                <a:solidFill>
                  <a:schemeClr val="tx1"/>
                </a:solidFill>
              </a:rPr>
              <a:pPr/>
              <a:t>20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2773" name="Rectangle 2">
            <a:extLst>
              <a:ext uri="{FF2B5EF4-FFF2-40B4-BE49-F238E27FC236}">
                <a16:creationId xmlns:a16="http://schemas.microsoft.com/office/drawing/2014/main" id="{6D8A260E-A446-45F9-B404-9C680CA60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4" name="Rectangle 3">
            <a:extLst>
              <a:ext uri="{FF2B5EF4-FFF2-40B4-BE49-F238E27FC236}">
                <a16:creationId xmlns:a16="http://schemas.microsoft.com/office/drawing/2014/main" id="{7E4F773F-0D29-4F94-A959-EFB4171E2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5" name="Rectangle 6">
            <a:extLst>
              <a:ext uri="{FF2B5EF4-FFF2-40B4-BE49-F238E27FC236}">
                <a16:creationId xmlns:a16="http://schemas.microsoft.com/office/drawing/2014/main" id="{434284B8-B83F-4328-853E-60C449159E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오존층 파괴의 원인과 피해</a:t>
            </a: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9">
            <a:extLst>
              <a:ext uri="{FF2B5EF4-FFF2-40B4-BE49-F238E27FC236}">
                <a16:creationId xmlns:a16="http://schemas.microsoft.com/office/drawing/2014/main" id="{C4077C6C-FDC4-4DC2-A1F8-E2EA00F49E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4225" y="1227138"/>
            <a:ext cx="7905750" cy="4549775"/>
          </a:xfrm>
        </p:spPr>
        <p:txBody>
          <a:bodyPr/>
          <a:lstStyle/>
          <a:p>
            <a:pPr eaLnBrk="1" hangingPunct="1"/>
            <a:r>
              <a:rPr lang="ko-KR" altLang="en-US" sz="2500" dirty="0">
                <a:latin typeface="나눔명조" pitchFamily="18" charset="-127"/>
                <a:ea typeface="나눔명조" pitchFamily="18" charset="-127"/>
              </a:rPr>
              <a:t>오존층 파괴에 대한 우려가 커지면서 오존층문제를 해결하기 위한 본격적인 국제협력으로 </a:t>
            </a:r>
            <a:r>
              <a:rPr lang="en-US" altLang="ko-KR" sz="2500" dirty="0">
                <a:latin typeface="나눔명조" pitchFamily="18" charset="-127"/>
                <a:ea typeface="나눔명조" pitchFamily="18" charset="-127"/>
              </a:rPr>
              <a:t>1987</a:t>
            </a:r>
            <a:r>
              <a:rPr lang="ko-KR" altLang="en-US" sz="2500" dirty="0">
                <a:latin typeface="나눔명조" pitchFamily="18" charset="-127"/>
                <a:ea typeface="나눔명조" pitchFamily="18" charset="-127"/>
              </a:rPr>
              <a:t>년에 전 세계 </a:t>
            </a:r>
            <a:r>
              <a:rPr lang="en-US" altLang="ko-KR" sz="2500" dirty="0">
                <a:latin typeface="나눔명조" pitchFamily="18" charset="-127"/>
                <a:ea typeface="나눔명조" pitchFamily="18" charset="-127"/>
              </a:rPr>
              <a:t>24</a:t>
            </a:r>
            <a:r>
              <a:rPr lang="ko-KR" altLang="en-US" sz="2500" dirty="0">
                <a:latin typeface="나눔명조" pitchFamily="18" charset="-127"/>
                <a:ea typeface="나눔명조" pitchFamily="18" charset="-127"/>
              </a:rPr>
              <a:t>개국이 서명한 </a:t>
            </a:r>
            <a:r>
              <a:rPr lang="ko-KR" altLang="en-US" sz="25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몬트리올의정서</a:t>
            </a:r>
            <a:r>
              <a:rPr lang="ko-KR" altLang="en-US" sz="2500" dirty="0">
                <a:latin typeface="나눔명조" pitchFamily="18" charset="-127"/>
                <a:ea typeface="나눔명조" pitchFamily="18" charset="-127"/>
              </a:rPr>
              <a:t>가 채택되었음</a:t>
            </a:r>
          </a:p>
          <a:p>
            <a:pPr lvl="1" eaLnBrk="1" hangingPunct="1"/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CFC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를 많이 배출하는 국가의 경우 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1998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년까지 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CFC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와 </a:t>
            </a:r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할론가스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 배출량을 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1986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년 수준의 절반으로 줄이도록 함</a:t>
            </a:r>
          </a:p>
          <a:p>
            <a:pPr lvl="1" eaLnBrk="1" hangingPunct="1"/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CFC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를 적게 배출하는 국가의 경우 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1999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년부터 시작하여 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10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년간 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1995~1997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년 배출량의 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50%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수준까지 배출량을 줄이도록 함</a:t>
            </a:r>
          </a:p>
          <a:p>
            <a:pPr eaLnBrk="1" hangingPunct="1"/>
            <a:r>
              <a:rPr lang="en-US" altLang="ko-KR" sz="2500" dirty="0">
                <a:latin typeface="나눔명조" pitchFamily="18" charset="-127"/>
                <a:ea typeface="나눔명조" pitchFamily="18" charset="-127"/>
              </a:rPr>
              <a:t>1990</a:t>
            </a:r>
            <a:r>
              <a:rPr lang="ko-KR" altLang="en-US" sz="2500" dirty="0">
                <a:latin typeface="나눔명조" pitchFamily="18" charset="-127"/>
                <a:ea typeface="나눔명조" pitchFamily="18" charset="-127"/>
              </a:rPr>
              <a:t>년에는 </a:t>
            </a:r>
            <a:r>
              <a:rPr lang="en-US" altLang="ko-KR" sz="2500" dirty="0">
                <a:latin typeface="나눔명조" pitchFamily="18" charset="-127"/>
                <a:ea typeface="나눔명조" pitchFamily="18" charset="-127"/>
              </a:rPr>
              <a:t>56</a:t>
            </a:r>
            <a:r>
              <a:rPr lang="ko-KR" altLang="en-US" sz="2500" dirty="0">
                <a:latin typeface="나눔명조" pitchFamily="18" charset="-127"/>
                <a:ea typeface="나눔명조" pitchFamily="18" charset="-127"/>
              </a:rPr>
              <a:t>개국에 의해 몬트리올의정서의 </a:t>
            </a:r>
            <a:r>
              <a:rPr lang="ko-KR" altLang="en-US" sz="2500" dirty="0" err="1">
                <a:latin typeface="나눔명조" pitchFamily="18" charset="-127"/>
                <a:ea typeface="나눔명조" pitchFamily="18" charset="-127"/>
              </a:rPr>
              <a:t>런던수정안</a:t>
            </a:r>
            <a:r>
              <a:rPr lang="ko-KR" altLang="en-US" sz="2500" dirty="0">
                <a:latin typeface="나눔명조" pitchFamily="18" charset="-127"/>
                <a:ea typeface="나눔명조" pitchFamily="18" charset="-127"/>
              </a:rPr>
              <a:t> 채택 등의 협정 개정이 이루어짐</a:t>
            </a:r>
          </a:p>
          <a:p>
            <a:pPr lvl="1" eaLnBrk="1" hangingPunct="1"/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염화불화탄소와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할론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 등 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96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종이 </a:t>
            </a:r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오존총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 파괴물질로 규정되고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이에 대한 생산 및 소비 폐지 일정이 결정됨</a:t>
            </a:r>
            <a:endParaRPr lang="en-US" altLang="ko-KR" sz="21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3795" name="바닥글 개체 틀 4">
            <a:extLst>
              <a:ext uri="{FF2B5EF4-FFF2-40B4-BE49-F238E27FC236}">
                <a16:creationId xmlns:a16="http://schemas.microsoft.com/office/drawing/2014/main" id="{EAD0C467-C5E1-4C8E-B29E-FC24D749B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33796" name="슬라이드 번호 개체 틀 5">
            <a:extLst>
              <a:ext uri="{FF2B5EF4-FFF2-40B4-BE49-F238E27FC236}">
                <a16:creationId xmlns:a16="http://schemas.microsoft.com/office/drawing/2014/main" id="{4368AFFB-13BB-4127-AA62-65948EED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7588197-4C52-477F-8160-2C6996955B9C}" type="slidenum">
              <a:rPr lang="ko-KR" altLang="en-US" sz="1200" b="0">
                <a:solidFill>
                  <a:schemeClr val="tx1"/>
                </a:solidFill>
              </a:rPr>
              <a:pPr/>
              <a:t>21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3797" name="Rectangle 2">
            <a:extLst>
              <a:ext uri="{FF2B5EF4-FFF2-40B4-BE49-F238E27FC236}">
                <a16:creationId xmlns:a16="http://schemas.microsoft.com/office/drawing/2014/main" id="{4699CAB8-3F42-4BDE-910E-5687FA237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3798" name="Rectangle 3">
            <a:extLst>
              <a:ext uri="{FF2B5EF4-FFF2-40B4-BE49-F238E27FC236}">
                <a16:creationId xmlns:a16="http://schemas.microsoft.com/office/drawing/2014/main" id="{2D26E673-276C-4EA6-8A77-530D92FD0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3799" name="Rectangle 6">
            <a:extLst>
              <a:ext uri="{FF2B5EF4-FFF2-40B4-BE49-F238E27FC236}">
                <a16:creationId xmlns:a16="http://schemas.microsoft.com/office/drawing/2014/main" id="{D2183681-3ED5-445C-8DDA-9FBDA5911F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오존층 보존을 위한 노력</a:t>
            </a: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9">
            <a:extLst>
              <a:ext uri="{FF2B5EF4-FFF2-40B4-BE49-F238E27FC236}">
                <a16:creationId xmlns:a16="http://schemas.microsoft.com/office/drawing/2014/main" id="{B93FE759-69ED-4460-BFC1-89908CA4CE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4550" y="1533525"/>
            <a:ext cx="7905750" cy="4549775"/>
          </a:xfrm>
        </p:spPr>
        <p:txBody>
          <a:bodyPr/>
          <a:lstStyle/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그 동안의 국제적 노력은 비교적 성공적이라 평가 받고 있고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몬트리올의정서 가입국은 꾸준히 늘어 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UN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역사상 가장 많은 국가가 참여하는 조약이 됨</a:t>
            </a:r>
          </a:p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각국은 몬트리올의정서의 내용을 지켜 나가기 위해 자국실정에 맞는 정책들을 도입하고 있음</a:t>
            </a: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한국도 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『</a:t>
            </a:r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오존층보호를위한특정물질의제조규제등에관한법률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』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을 제정하여 규제물질의 제조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수입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판매 등을 억제하고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대체물질의 개발을 위한 기금을 조성하는 노력을 하였음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4819" name="바닥글 개체 틀 4">
            <a:extLst>
              <a:ext uri="{FF2B5EF4-FFF2-40B4-BE49-F238E27FC236}">
                <a16:creationId xmlns:a16="http://schemas.microsoft.com/office/drawing/2014/main" id="{810192C9-6AB3-41F6-91D0-9BBF45BD5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34820" name="슬라이드 번호 개체 틀 5">
            <a:extLst>
              <a:ext uri="{FF2B5EF4-FFF2-40B4-BE49-F238E27FC236}">
                <a16:creationId xmlns:a16="http://schemas.microsoft.com/office/drawing/2014/main" id="{8F84486B-871C-4788-8D14-5AA226E73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F97E70A-2C25-4184-A1DE-B9C9917E1FFA}" type="slidenum">
              <a:rPr lang="ko-KR" altLang="en-US" sz="1200" b="0">
                <a:solidFill>
                  <a:schemeClr val="tx1"/>
                </a:solidFill>
              </a:rPr>
              <a:pPr/>
              <a:t>22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4821" name="Rectangle 2">
            <a:extLst>
              <a:ext uri="{FF2B5EF4-FFF2-40B4-BE49-F238E27FC236}">
                <a16:creationId xmlns:a16="http://schemas.microsoft.com/office/drawing/2014/main" id="{F543C164-A712-4EC0-AF19-D9F611612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4822" name="Rectangle 3">
            <a:extLst>
              <a:ext uri="{FF2B5EF4-FFF2-40B4-BE49-F238E27FC236}">
                <a16:creationId xmlns:a16="http://schemas.microsoft.com/office/drawing/2014/main" id="{3A2AEA0A-B11E-4E44-9525-F6025987E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4823" name="Rectangle 6">
            <a:extLst>
              <a:ext uri="{FF2B5EF4-FFF2-40B4-BE49-F238E27FC236}">
                <a16:creationId xmlns:a16="http://schemas.microsoft.com/office/drawing/2014/main" id="{68DC291C-7790-412E-9051-191217AE88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오존층 보존을 위한 노력</a:t>
            </a: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9">
            <a:extLst>
              <a:ext uri="{FF2B5EF4-FFF2-40B4-BE49-F238E27FC236}">
                <a16:creationId xmlns:a16="http://schemas.microsoft.com/office/drawing/2014/main" id="{7089BF97-30EF-4E6B-BA22-B923F645E4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5975" y="1562100"/>
            <a:ext cx="8004175" cy="4548188"/>
          </a:xfrm>
        </p:spPr>
        <p:txBody>
          <a:bodyPr/>
          <a:lstStyle/>
          <a:p>
            <a:pPr eaLnBrk="1" hangingPunct="1"/>
            <a:r>
              <a:rPr lang="ko-KR" altLang="en-US" sz="2400" b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생물다양성</a:t>
            </a:r>
            <a:r>
              <a:rPr lang="en-US" altLang="ko-KR" sz="2400" b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(biological diversity)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이란 지구상에 존재하는 생물종의 다양성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생물의 유전학적 다양성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생물이 살아가는 생태계의 다양성을 의미함</a:t>
            </a:r>
          </a:p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생물다양성의 손실은 단순히 생태계의 파괴로 끝나지 않고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인류의 복지에 직접적인 영향을 미침</a:t>
            </a:r>
          </a:p>
          <a:p>
            <a:pPr lvl="1" eaLnBrk="1" hangingPunct="1"/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현재 인류가 사용하고 있는 의약품의 </a:t>
            </a:r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25%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는 식물로부터 추출된 것이며</a:t>
            </a:r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미지의 질병에 대한 치료제의 공급원으로서 기존의 생물종이 지속적으로 유지되어야 할 필요가 있음</a:t>
            </a:r>
          </a:p>
          <a:p>
            <a:pPr lvl="1" eaLnBrk="1" hangingPunct="1"/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생물다양성은 농작물의 생산에도 큰 영향을 미침</a:t>
            </a:r>
          </a:p>
          <a:p>
            <a:pPr lvl="2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야생 동식물을 이용한 농작물 신품종 개발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해충의 천적 양성 등</a:t>
            </a:r>
          </a:p>
        </p:txBody>
      </p:sp>
      <p:sp>
        <p:nvSpPr>
          <p:cNvPr id="35843" name="바닥글 개체 틀 4">
            <a:extLst>
              <a:ext uri="{FF2B5EF4-FFF2-40B4-BE49-F238E27FC236}">
                <a16:creationId xmlns:a16="http://schemas.microsoft.com/office/drawing/2014/main" id="{C73D13F6-D34E-4365-9E38-AFD2F9FA3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35844" name="슬라이드 번호 개체 틀 5">
            <a:extLst>
              <a:ext uri="{FF2B5EF4-FFF2-40B4-BE49-F238E27FC236}">
                <a16:creationId xmlns:a16="http://schemas.microsoft.com/office/drawing/2014/main" id="{71F5C190-87A8-4B02-B3FC-930231FD9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7E74915-5439-4179-A309-D98F14B8C4FE}" type="slidenum">
              <a:rPr lang="ko-KR" altLang="en-US" sz="1200" b="0">
                <a:solidFill>
                  <a:schemeClr val="tx1"/>
                </a:solidFill>
              </a:rPr>
              <a:pPr/>
              <a:t>23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5845" name="Rectangle 2">
            <a:extLst>
              <a:ext uri="{FF2B5EF4-FFF2-40B4-BE49-F238E27FC236}">
                <a16:creationId xmlns:a16="http://schemas.microsoft.com/office/drawing/2014/main" id="{1127AE8C-3866-415F-A0B6-175D074B7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5846" name="Rectangle 3">
            <a:extLst>
              <a:ext uri="{FF2B5EF4-FFF2-40B4-BE49-F238E27FC236}">
                <a16:creationId xmlns:a16="http://schemas.microsoft.com/office/drawing/2014/main" id="{2694A5CA-F6AD-4815-A7B4-198337C08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5847" name="Rectangle 6">
            <a:extLst>
              <a:ext uri="{FF2B5EF4-FFF2-40B4-BE49-F238E27FC236}">
                <a16:creationId xmlns:a16="http://schemas.microsoft.com/office/drawing/2014/main" id="{0FE78463-0E5F-42C9-8B96-D476F63609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생물다양성 문제의 원인과 성격</a:t>
            </a: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9">
            <a:extLst>
              <a:ext uri="{FF2B5EF4-FFF2-40B4-BE49-F238E27FC236}">
                <a16:creationId xmlns:a16="http://schemas.microsoft.com/office/drawing/2014/main" id="{C4ABFCE7-37AE-4F8E-9AE8-6A4BE82881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0888" y="1255218"/>
            <a:ext cx="7904162" cy="4549775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생물다양성이 전 지구적 차원의 환경문제가 되는 이유는 현재 지구전체에 걸쳐 급속한 속도로 생물 종의 수가 줄어들고 있기 때문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생물의 존재는 오염물질에 대한 노출이나 인간의 수렵 및 채취 등에 의해 직접적으로 위협받을 수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그러나 생물종의 유지를 위협하는 보다 중요한 원인은 농업 및 도시용 개발로 인해 생물종의 서식지가 사라지는 것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급속히 진행되고 있는 기후변화도 서식환경을 바꾸어 생물종을 대규모로 감소시키는 심각한 요인이 되고 있음</a:t>
            </a:r>
          </a:p>
        </p:txBody>
      </p:sp>
      <p:sp>
        <p:nvSpPr>
          <p:cNvPr id="36867" name="바닥글 개체 틀 4">
            <a:extLst>
              <a:ext uri="{FF2B5EF4-FFF2-40B4-BE49-F238E27FC236}">
                <a16:creationId xmlns:a16="http://schemas.microsoft.com/office/drawing/2014/main" id="{E4A7839E-52DB-4B23-8A75-F07762254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36868" name="슬라이드 번호 개체 틀 5">
            <a:extLst>
              <a:ext uri="{FF2B5EF4-FFF2-40B4-BE49-F238E27FC236}">
                <a16:creationId xmlns:a16="http://schemas.microsoft.com/office/drawing/2014/main" id="{8A80B5B5-46DB-4C4B-AB17-98CF6F3D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90C0575-1772-4C33-8341-502946CD212A}" type="slidenum">
              <a:rPr lang="ko-KR" altLang="en-US" sz="1200" b="0">
                <a:solidFill>
                  <a:schemeClr val="tx1"/>
                </a:solidFill>
              </a:rPr>
              <a:pPr/>
              <a:t>24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6869" name="Rectangle 2">
            <a:extLst>
              <a:ext uri="{FF2B5EF4-FFF2-40B4-BE49-F238E27FC236}">
                <a16:creationId xmlns:a16="http://schemas.microsoft.com/office/drawing/2014/main" id="{D9BA61D3-412B-4145-9DBB-45DBB01F2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6870" name="Rectangle 3">
            <a:extLst>
              <a:ext uri="{FF2B5EF4-FFF2-40B4-BE49-F238E27FC236}">
                <a16:creationId xmlns:a16="http://schemas.microsoft.com/office/drawing/2014/main" id="{B4EB8E38-C19B-44C8-8B4A-8090DA455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6871" name="Rectangle 6">
            <a:extLst>
              <a:ext uri="{FF2B5EF4-FFF2-40B4-BE49-F238E27FC236}">
                <a16:creationId xmlns:a16="http://schemas.microsoft.com/office/drawing/2014/main" id="{97527792-3A00-4640-820D-A60635800C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생물다양성 문제의 원인과 성격</a:t>
            </a: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9">
            <a:extLst>
              <a:ext uri="{FF2B5EF4-FFF2-40B4-BE49-F238E27FC236}">
                <a16:creationId xmlns:a16="http://schemas.microsoft.com/office/drawing/2014/main" id="{80A777FD-2C27-4917-BE28-DDDCD1AD24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5975" y="1562100"/>
            <a:ext cx="8004175" cy="4548188"/>
          </a:xfrm>
        </p:spPr>
        <p:txBody>
          <a:bodyPr/>
          <a:lstStyle/>
          <a:p>
            <a:pPr eaLnBrk="1" hangingPunct="1"/>
            <a:r>
              <a:rPr lang="ko-KR" altLang="en-US" sz="2500" dirty="0">
                <a:latin typeface="나눔명조" pitchFamily="18" charset="-127"/>
                <a:ea typeface="나눔명조" pitchFamily="18" charset="-127"/>
              </a:rPr>
              <a:t>생물다양성 보존을 위한 </a:t>
            </a:r>
            <a:r>
              <a:rPr lang="en-US" altLang="ko-KR" sz="25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500" dirty="0">
                <a:latin typeface="나눔명조" pitchFamily="18" charset="-127"/>
                <a:ea typeface="나눔명조" pitchFamily="18" charset="-127"/>
              </a:rPr>
              <a:t>차적 대응은 생물 종의 보존을 위해 필요한 지역을 보호지구로 정하여 개발을 금지시키는 것임</a:t>
            </a:r>
          </a:p>
          <a:p>
            <a:pPr lvl="1"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생물의 서식지 보호라는 차원에서는 유용한 제도이나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경제적 유인을 사용하지 않기 때문에 효율적인 방식이라 보기는 어려움</a:t>
            </a:r>
          </a:p>
          <a:p>
            <a:pPr eaLnBrk="1" hangingPunct="1"/>
            <a:r>
              <a:rPr lang="ko-KR" altLang="en-US" sz="2500" dirty="0">
                <a:latin typeface="나눔명조" pitchFamily="18" charset="-127"/>
                <a:ea typeface="나눔명조" pitchFamily="18" charset="-127"/>
              </a:rPr>
              <a:t>생물다양성을 보존하기 위해 경제적 유인제도를 사용하고자 한다면 생물종이 가지는 경제적 가치를 적절히 평가해야 함</a:t>
            </a:r>
          </a:p>
          <a:p>
            <a:pPr lvl="1"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만약 어떤 희귀한 동식물의 서식지를 가지고 있는 국가가 자국이 보유한 생물 종의 가치를 국제적으로 충분히 인정받을 수 있다면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이러한 희귀 종의 서식지를 보존하고자 하는 노력을 기울이게 될 것임</a:t>
            </a:r>
          </a:p>
        </p:txBody>
      </p:sp>
      <p:sp>
        <p:nvSpPr>
          <p:cNvPr id="37891" name="바닥글 개체 틀 4">
            <a:extLst>
              <a:ext uri="{FF2B5EF4-FFF2-40B4-BE49-F238E27FC236}">
                <a16:creationId xmlns:a16="http://schemas.microsoft.com/office/drawing/2014/main" id="{6273C98E-7E77-4B8D-B209-1F8A2AF9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37892" name="슬라이드 번호 개체 틀 5">
            <a:extLst>
              <a:ext uri="{FF2B5EF4-FFF2-40B4-BE49-F238E27FC236}">
                <a16:creationId xmlns:a16="http://schemas.microsoft.com/office/drawing/2014/main" id="{6CF6D979-9E0A-4D66-9DA4-DE76C90D0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0B8949AA-89D7-408F-8783-643D42FC371C}" type="slidenum">
              <a:rPr lang="ko-KR" altLang="en-US" sz="1200" b="0">
                <a:solidFill>
                  <a:schemeClr val="tx1"/>
                </a:solidFill>
              </a:rPr>
              <a:pPr/>
              <a:t>25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7893" name="Rectangle 2">
            <a:extLst>
              <a:ext uri="{FF2B5EF4-FFF2-40B4-BE49-F238E27FC236}">
                <a16:creationId xmlns:a16="http://schemas.microsoft.com/office/drawing/2014/main" id="{898AD7B5-2F85-4619-B551-D3F72F026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7894" name="Rectangle 3">
            <a:extLst>
              <a:ext uri="{FF2B5EF4-FFF2-40B4-BE49-F238E27FC236}">
                <a16:creationId xmlns:a16="http://schemas.microsoft.com/office/drawing/2014/main" id="{05BC3CE3-C25A-4AD8-88D3-D7E91D5F5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7895" name="Rectangle 6">
            <a:extLst>
              <a:ext uri="{FF2B5EF4-FFF2-40B4-BE49-F238E27FC236}">
                <a16:creationId xmlns:a16="http://schemas.microsoft.com/office/drawing/2014/main" id="{2AC7CF10-B2D1-4871-A215-DAA4DF06EC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생물다양성을 보존하기 위한 조치</a:t>
            </a: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9">
            <a:extLst>
              <a:ext uri="{FF2B5EF4-FFF2-40B4-BE49-F238E27FC236}">
                <a16:creationId xmlns:a16="http://schemas.microsoft.com/office/drawing/2014/main" id="{0F662C1E-4823-46D8-9AB8-2E32360201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5975" y="1562100"/>
            <a:ext cx="8004175" cy="4548188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멸종위기에 처한 개별 생물 종을 보호하기 위한 국제협약은 매우 많음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고래를 보호하기 위한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국제포경위원회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(IWC)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조치</a:t>
            </a:r>
          </a:p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생물다양성에 관한 보다 포괄적인 국제협약으로는 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1992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년의 리우정상회담에서 채택된 </a:t>
            </a:r>
            <a:r>
              <a:rPr lang="ko-KR" altLang="en-US" sz="2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생물다양성협약</a:t>
            </a:r>
            <a:r>
              <a:rPr lang="en-US" altLang="ko-KR" sz="2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(Convention on Biological Diversity)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이 있음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첫째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생물다양성의 보존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둘째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생물다양성의 지속 가능한 이용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그리고 셋째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유전자원이용 편익의 공정하고 균등한 배분을 추구함</a:t>
            </a:r>
          </a:p>
        </p:txBody>
      </p:sp>
      <p:sp>
        <p:nvSpPr>
          <p:cNvPr id="38915" name="바닥글 개체 틀 4">
            <a:extLst>
              <a:ext uri="{FF2B5EF4-FFF2-40B4-BE49-F238E27FC236}">
                <a16:creationId xmlns:a16="http://schemas.microsoft.com/office/drawing/2014/main" id="{897EAD1B-C9D9-49E2-BF08-0A34EBCBD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38916" name="슬라이드 번호 개체 틀 5">
            <a:extLst>
              <a:ext uri="{FF2B5EF4-FFF2-40B4-BE49-F238E27FC236}">
                <a16:creationId xmlns:a16="http://schemas.microsoft.com/office/drawing/2014/main" id="{712C99E6-6982-4EB1-9EA2-C8DB79FD8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D14A60F-290F-4F15-A177-086B43E83BDA}" type="slidenum">
              <a:rPr lang="ko-KR" altLang="en-US" sz="1200" b="0">
                <a:solidFill>
                  <a:schemeClr val="tx1"/>
                </a:solidFill>
              </a:rPr>
              <a:pPr/>
              <a:t>26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8917" name="Rectangle 2">
            <a:extLst>
              <a:ext uri="{FF2B5EF4-FFF2-40B4-BE49-F238E27FC236}">
                <a16:creationId xmlns:a16="http://schemas.microsoft.com/office/drawing/2014/main" id="{C1C443C3-E7D6-44CF-9332-72BDF4EE6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8918" name="Rectangle 3">
            <a:extLst>
              <a:ext uri="{FF2B5EF4-FFF2-40B4-BE49-F238E27FC236}">
                <a16:creationId xmlns:a16="http://schemas.microsoft.com/office/drawing/2014/main" id="{D56EB995-EF16-4BDF-928C-7BCF70841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8919" name="Rectangle 6">
            <a:extLst>
              <a:ext uri="{FF2B5EF4-FFF2-40B4-BE49-F238E27FC236}">
                <a16:creationId xmlns:a16="http://schemas.microsoft.com/office/drawing/2014/main" id="{603FA82D-6D98-456B-9FDA-BB006394C3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생물다양성을 보존하기 위한 조치</a:t>
            </a: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9">
            <a:extLst>
              <a:ext uri="{FF2B5EF4-FFF2-40B4-BE49-F238E27FC236}">
                <a16:creationId xmlns:a16="http://schemas.microsoft.com/office/drawing/2014/main" id="{0F662C1E-4823-46D8-9AB8-2E32360201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5975" y="1562100"/>
            <a:ext cx="8004175" cy="4548188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 외에도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유전자변형생물체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(Living Modified Organisms, LMOs)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 생물다양성에 미칠 잠재적 위해성을 막고자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2000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콜럼비아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카르타헤나에서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바이오안전성의정서</a:t>
            </a:r>
            <a:r>
              <a:rPr lang="en-US" altLang="ko-KR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(Cartagena Protocol on Biosafety)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 채택됨</a:t>
            </a:r>
          </a:p>
          <a:p>
            <a:pPr lvl="1" eaLnBrk="1" hangingPunct="1"/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LMO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의 국가 간 이동 시 취해야 할 조치를 담고 있으며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한국을 비롯한 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198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개국이 이 의정서에 가입되어 있음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바이오안전성의정서의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부속협약으로서 </a:t>
            </a:r>
            <a:r>
              <a:rPr lang="ko-KR" altLang="en-US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나고야</a:t>
            </a:r>
            <a:r>
              <a:rPr lang="en-US" altLang="ko-KR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 sz="20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쿠알라룸푸르추가의정서</a:t>
            </a:r>
            <a:r>
              <a:rPr lang="en-US" altLang="ko-KR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(Nagoya - Kuala Lumpur Supplementary Protocol on Liability and Redress)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2010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년에 채택되고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2018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년에 발효되었음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LMO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의 국가 간 이동에서 발생하는 피해에 관한 책임과 구제를 다루고 있음</a:t>
            </a:r>
          </a:p>
        </p:txBody>
      </p:sp>
      <p:sp>
        <p:nvSpPr>
          <p:cNvPr id="38915" name="바닥글 개체 틀 4">
            <a:extLst>
              <a:ext uri="{FF2B5EF4-FFF2-40B4-BE49-F238E27FC236}">
                <a16:creationId xmlns:a16="http://schemas.microsoft.com/office/drawing/2014/main" id="{897EAD1B-C9D9-49E2-BF08-0A34EBCBD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38916" name="슬라이드 번호 개체 틀 5">
            <a:extLst>
              <a:ext uri="{FF2B5EF4-FFF2-40B4-BE49-F238E27FC236}">
                <a16:creationId xmlns:a16="http://schemas.microsoft.com/office/drawing/2014/main" id="{712C99E6-6982-4EB1-9EA2-C8DB79FD8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D14A60F-290F-4F15-A177-086B43E83BDA}" type="slidenum">
              <a:rPr lang="ko-KR" altLang="en-US" sz="1200" b="0">
                <a:solidFill>
                  <a:schemeClr val="tx1"/>
                </a:solidFill>
              </a:rPr>
              <a:pPr/>
              <a:t>27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8917" name="Rectangle 2">
            <a:extLst>
              <a:ext uri="{FF2B5EF4-FFF2-40B4-BE49-F238E27FC236}">
                <a16:creationId xmlns:a16="http://schemas.microsoft.com/office/drawing/2014/main" id="{C1C443C3-E7D6-44CF-9332-72BDF4EE6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8918" name="Rectangle 3">
            <a:extLst>
              <a:ext uri="{FF2B5EF4-FFF2-40B4-BE49-F238E27FC236}">
                <a16:creationId xmlns:a16="http://schemas.microsoft.com/office/drawing/2014/main" id="{D56EB995-EF16-4BDF-928C-7BCF70841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8919" name="Rectangle 6">
            <a:extLst>
              <a:ext uri="{FF2B5EF4-FFF2-40B4-BE49-F238E27FC236}">
                <a16:creationId xmlns:a16="http://schemas.microsoft.com/office/drawing/2014/main" id="{603FA82D-6D98-456B-9FDA-BB006394C3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생물다양성을 보존하기 위한 조치</a:t>
            </a:r>
          </a:p>
        </p:txBody>
      </p:sp>
    </p:spTree>
    <p:extLst>
      <p:ext uri="{BB962C8B-B14F-4D97-AF65-F5344CB8AC3E}">
        <p14:creationId xmlns:p14="http://schemas.microsoft.com/office/powerpoint/2010/main" val="2471819441"/>
      </p:ext>
    </p:extLst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9">
            <a:extLst>
              <a:ext uri="{FF2B5EF4-FFF2-40B4-BE49-F238E27FC236}">
                <a16:creationId xmlns:a16="http://schemas.microsoft.com/office/drawing/2014/main" id="{CB220AF7-9129-4263-87F9-ADA8C298ED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9199" y="1362264"/>
            <a:ext cx="8004175" cy="4548188"/>
          </a:xfrm>
        </p:spPr>
        <p:txBody>
          <a:bodyPr/>
          <a:lstStyle/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한국이 가입한 또 다른 국제협약으로서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멸종위기 야생동식물 교역에 관한 국제협약이 있음</a:t>
            </a: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멸종위기에 처한 야생동식물을 불법거래나 과도한 </a:t>
            </a:r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국제거래로부터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보호하고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야생동식물 수출입국가들의 상호협력에 의해 이들 동식물의 과도한 채취 및 포획을 줄이기 위해 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1973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년에 채택됨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이 협약에 의해 규제대상이 되는 동식물의 수출입 시 관리당국의 허가를 받도록 되어 있음</a:t>
            </a:r>
          </a:p>
          <a:p>
            <a:pPr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생물 종의 보호와 관련된 또 다른 협약으로 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1971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년 이란의 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람사르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(Ramsar)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에서 채택된 </a:t>
            </a:r>
            <a:r>
              <a:rPr lang="ko-KR" altLang="en-US" sz="23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람사르협약</a:t>
            </a:r>
            <a:r>
              <a:rPr lang="ko-KR" altLang="en-US" sz="2300" dirty="0" err="1">
                <a:latin typeface="나눔명조" pitchFamily="18" charset="-127"/>
                <a:ea typeface="나눔명조" pitchFamily="18" charset="-127"/>
              </a:rPr>
              <a:t>이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 있음</a:t>
            </a:r>
          </a:p>
          <a:p>
            <a:pPr lvl="1" eaLnBrk="1" hangingPunct="1"/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람사르협약은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회원국으로 하여금 최소한 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개 이상의 습지를 협약등록습지로 등재하여 보호하도록 하고 있음</a:t>
            </a: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한국의 경우 강원도 인제군의 </a:t>
            </a:r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대암산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용늪과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경남 창녕의 </a:t>
            </a:r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우포늪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전남 신안군 장도 및 순천만 갯벌 외 다수의 습지를 등재함</a:t>
            </a:r>
          </a:p>
        </p:txBody>
      </p:sp>
      <p:sp>
        <p:nvSpPr>
          <p:cNvPr id="39939" name="바닥글 개체 틀 4">
            <a:extLst>
              <a:ext uri="{FF2B5EF4-FFF2-40B4-BE49-F238E27FC236}">
                <a16:creationId xmlns:a16="http://schemas.microsoft.com/office/drawing/2014/main" id="{0BE8FF3A-266C-430B-9B55-C76AB7E4B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21</a:t>
            </a:r>
          </a:p>
        </p:txBody>
      </p:sp>
      <p:sp>
        <p:nvSpPr>
          <p:cNvPr id="39940" name="슬라이드 번호 개체 틀 5">
            <a:extLst>
              <a:ext uri="{FF2B5EF4-FFF2-40B4-BE49-F238E27FC236}">
                <a16:creationId xmlns:a16="http://schemas.microsoft.com/office/drawing/2014/main" id="{E95B2A34-794A-474D-A962-8EA44BF3D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DC1AB3D0-79D2-43F7-829C-8ABCC80EA276}" type="slidenum">
              <a:rPr lang="ko-KR" altLang="en-US" sz="1200" b="0">
                <a:solidFill>
                  <a:schemeClr val="tx1"/>
                </a:solidFill>
              </a:rPr>
              <a:pPr/>
              <a:t>28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9941" name="Rectangle 2">
            <a:extLst>
              <a:ext uri="{FF2B5EF4-FFF2-40B4-BE49-F238E27FC236}">
                <a16:creationId xmlns:a16="http://schemas.microsoft.com/office/drawing/2014/main" id="{51300D77-4744-40DF-9CB1-D4E6B2CE0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9942" name="Rectangle 3">
            <a:extLst>
              <a:ext uri="{FF2B5EF4-FFF2-40B4-BE49-F238E27FC236}">
                <a16:creationId xmlns:a16="http://schemas.microsoft.com/office/drawing/2014/main" id="{CC0C94AF-8D1B-474E-8056-47B410ADB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8E390838-0E6F-48D1-B18E-B53362CF96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생물다양성을 보존하기 위한 조치</a:t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Pindy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6015</TotalTime>
  <Words>2388</Words>
  <Application>Microsoft Office PowerPoint</Application>
  <PresentationFormat>화면 슬라이드 쇼(4:3)</PresentationFormat>
  <Paragraphs>254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9" baseType="lpstr">
      <vt:lpstr>굴림</vt:lpstr>
      <vt:lpstr>나눔고딕</vt:lpstr>
      <vt:lpstr>나눔명조</vt:lpstr>
      <vt:lpstr>맑은 고딕</vt:lpstr>
      <vt:lpstr>Arial</vt:lpstr>
      <vt:lpstr>Cambria Math</vt:lpstr>
      <vt:lpstr>Century Gothic</vt:lpstr>
      <vt:lpstr>Times New Roman</vt:lpstr>
      <vt:lpstr>Verdana</vt:lpstr>
      <vt:lpstr>Wingdings</vt:lpstr>
      <vt:lpstr>Pindyck</vt:lpstr>
      <vt:lpstr>21장 개요</vt:lpstr>
      <vt:lpstr> 전 지구적 차원의 환경문제</vt:lpstr>
      <vt:lpstr>  환경문제에 관한 국제협력의 어려움</vt:lpstr>
      <vt:lpstr>  환경문제에 관한 국제협력의 어려움</vt:lpstr>
      <vt:lpstr>  환경문제에 관한 국제협력의 어려움</vt:lpstr>
      <vt:lpstr>  환경문제에 관한 국제협력의 어려움</vt:lpstr>
      <vt:lpstr>  환경문제에 관한 국제협력의 어려움</vt:lpstr>
      <vt:lpstr>  환경문제에 관한 국제협력의 어려움</vt:lpstr>
      <vt:lpstr>  환경문제에 관한 국제협력의 어려움</vt:lpstr>
      <vt:lpstr>  환경문제에 관한 국제협력의 어려움</vt:lpstr>
      <vt:lpstr>  환경문제에 관한 국제협력의 어려움</vt:lpstr>
      <vt:lpstr>  환경문제에 관한 국제협력의 어려움</vt:lpstr>
      <vt:lpstr>  환경문제에 관한 국제협력의 어려움</vt:lpstr>
      <vt:lpstr>  환경문제에 관한 국제협력의 어려움</vt:lpstr>
      <vt:lpstr> 조약가입의 이득과 탈퇴 시 얻을 손실을 더 크게 하는 요인</vt:lpstr>
      <vt:lpstr> 조약가입의 이득과 탈퇴 시 얻을 손실을 더 크게 하는 요인</vt:lpstr>
      <vt:lpstr>  조약가입의 이득과 탈퇴 시 얻을 손실을 더 크게 하는 요인</vt:lpstr>
      <vt:lpstr>  돌고래와 무역분쟁</vt:lpstr>
      <vt:lpstr>  돌고래와 무역분쟁</vt:lpstr>
      <vt:lpstr>오존층 파괴의 원인과 피해</vt:lpstr>
      <vt:lpstr>오존층 보존을 위한 노력</vt:lpstr>
      <vt:lpstr>오존층 보존을 위한 노력</vt:lpstr>
      <vt:lpstr>생물다양성 문제의 원인과 성격</vt:lpstr>
      <vt:lpstr>생물다양성 문제의 원인과 성격</vt:lpstr>
      <vt:lpstr>생물다양성을 보존하기 위한 조치</vt:lpstr>
      <vt:lpstr>생물다양성을 보존하기 위한 조치</vt:lpstr>
      <vt:lpstr>생물다양성을 보존하기 위한 조치</vt:lpstr>
      <vt:lpstr>생물다양성을 보존하기 위한 조치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212</cp:revision>
  <dcterms:created xsi:type="dcterms:W3CDTF">1997-07-14T00:22:12Z</dcterms:created>
  <dcterms:modified xsi:type="dcterms:W3CDTF">2025-02-19T01:32:19Z</dcterms:modified>
</cp:coreProperties>
</file>