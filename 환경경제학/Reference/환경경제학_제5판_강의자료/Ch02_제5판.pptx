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24"/>
  </p:notesMasterIdLst>
  <p:handoutMasterIdLst>
    <p:handoutMasterId r:id="rId25"/>
  </p:handoutMasterIdLst>
  <p:sldIdLst>
    <p:sldId id="262" r:id="rId2"/>
    <p:sldId id="332" r:id="rId3"/>
    <p:sldId id="347" r:id="rId4"/>
    <p:sldId id="344" r:id="rId5"/>
    <p:sldId id="264" r:id="rId6"/>
    <p:sldId id="265" r:id="rId7"/>
    <p:sldId id="345" r:id="rId8"/>
    <p:sldId id="293" r:id="rId9"/>
    <p:sldId id="333" r:id="rId10"/>
    <p:sldId id="266" r:id="rId11"/>
    <p:sldId id="346" r:id="rId12"/>
    <p:sldId id="326" r:id="rId13"/>
    <p:sldId id="340" r:id="rId14"/>
    <p:sldId id="341" r:id="rId15"/>
    <p:sldId id="268" r:id="rId16"/>
    <p:sldId id="269" r:id="rId17"/>
    <p:sldId id="342" r:id="rId18"/>
    <p:sldId id="337" r:id="rId19"/>
    <p:sldId id="343" r:id="rId20"/>
    <p:sldId id="338" r:id="rId21"/>
    <p:sldId id="271" r:id="rId22"/>
    <p:sldId id="339" r:id="rId23"/>
  </p:sldIdLst>
  <p:sldSz cx="9144000" cy="6858000" type="screen4x3"/>
  <p:notesSz cx="6858000" cy="9144000"/>
  <p:kinsoku lang="ko-KR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1" hangingPunct="1">
      <a:defRPr sz="2900" b="1" kern="1200">
        <a:solidFill>
          <a:srgbClr val="8D7DFF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DAEDD1"/>
    <a:srgbClr val="C4E3B5"/>
    <a:srgbClr val="663300"/>
    <a:srgbClr val="1C4E35"/>
    <a:srgbClr val="FFFFFF"/>
    <a:srgbClr val="B2B2B2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74" autoAdjust="0"/>
    <p:restoredTop sz="94662" autoAdjust="0"/>
  </p:normalViewPr>
  <p:slideViewPr>
    <p:cSldViewPr snapToGrid="0">
      <p:cViewPr varScale="1">
        <p:scale>
          <a:sx n="88" d="100"/>
          <a:sy n="88" d="100"/>
        </p:scale>
        <p:origin x="1094" y="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37" d="100"/>
          <a:sy n="37" d="100"/>
        </p:scale>
        <p:origin x="-1470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EE1F6E7B-6AFB-42B6-95AB-2CBF0C72B81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9350" y="692150"/>
            <a:ext cx="4559300" cy="34163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85504FD-120C-4C25-A830-634A254A25F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entury Gothic" pitchFamily="34" charset="0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5A995B8F-D9E7-4592-A832-B7FFF507AC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06EEA789-E8C6-4BDF-8A79-88573BEE4C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35C7E186-FFFE-469E-A9D6-52F79D158E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6BAC28AB-3735-45EA-AB97-DA99A842A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5366" name="Rectangle 6">
            <a:extLst>
              <a:ext uri="{FF2B5EF4-FFF2-40B4-BE49-F238E27FC236}">
                <a16:creationId xmlns:a16="http://schemas.microsoft.com/office/drawing/2014/main" id="{3AA9EB79-BB73-49CF-8CBC-4E0CE4A0FF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5367" name="Rectangle 7">
            <a:extLst>
              <a:ext uri="{FF2B5EF4-FFF2-40B4-BE49-F238E27FC236}">
                <a16:creationId xmlns:a16="http://schemas.microsoft.com/office/drawing/2014/main" id="{4F95C42F-6A61-49FF-A712-64B2A8BD70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15690BD7-FD3A-400E-9154-19E772F96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E57A4015-FBA0-4FF1-AA73-37DB23471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E245DA34-F0EC-44FF-8397-FD700DDFEE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70529859-1DF7-48D7-BF6B-D7BB2923E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7414" name="Rectangle 6">
            <a:extLst>
              <a:ext uri="{FF2B5EF4-FFF2-40B4-BE49-F238E27FC236}">
                <a16:creationId xmlns:a16="http://schemas.microsoft.com/office/drawing/2014/main" id="{2BB536DE-5F3A-4F53-A1C5-75CCB3119F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7415" name="Rectangle 7">
            <a:extLst>
              <a:ext uri="{FF2B5EF4-FFF2-40B4-BE49-F238E27FC236}">
                <a16:creationId xmlns:a16="http://schemas.microsoft.com/office/drawing/2014/main" id="{B809FE68-9F67-47F3-A797-2B47B3DB1C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15690BD7-FD3A-400E-9154-19E772F96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E57A4015-FBA0-4FF1-AA73-37DB23471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E245DA34-F0EC-44FF-8397-FD700DDFEE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70529859-1DF7-48D7-BF6B-D7BB2923E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7414" name="Rectangle 6">
            <a:extLst>
              <a:ext uri="{FF2B5EF4-FFF2-40B4-BE49-F238E27FC236}">
                <a16:creationId xmlns:a16="http://schemas.microsoft.com/office/drawing/2014/main" id="{2BB536DE-5F3A-4F53-A1C5-75CCB3119F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7415" name="Rectangle 7">
            <a:extLst>
              <a:ext uri="{FF2B5EF4-FFF2-40B4-BE49-F238E27FC236}">
                <a16:creationId xmlns:a16="http://schemas.microsoft.com/office/drawing/2014/main" id="{B809FE68-9F67-47F3-A797-2B47B3DB1C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872998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FA7FE6D2-0094-42D9-9AAA-ED858C21C4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6AA4696F-2C4D-47E9-827C-B13B30045A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2</a:t>
            </a:r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47BEC3AD-5110-4C75-93D5-5B6155BDDC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9461" name="Rectangle 5">
            <a:extLst>
              <a:ext uri="{FF2B5EF4-FFF2-40B4-BE49-F238E27FC236}">
                <a16:creationId xmlns:a16="http://schemas.microsoft.com/office/drawing/2014/main" id="{5C2BD1EA-6022-4215-925A-3F2E2C99A5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19462" name="Rectangle 6">
            <a:extLst>
              <a:ext uri="{FF2B5EF4-FFF2-40B4-BE49-F238E27FC236}">
                <a16:creationId xmlns:a16="http://schemas.microsoft.com/office/drawing/2014/main" id="{EE468324-89E7-41E0-8F38-DAE174531E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19463" name="Rectangle 7">
            <a:extLst>
              <a:ext uri="{FF2B5EF4-FFF2-40B4-BE49-F238E27FC236}">
                <a16:creationId xmlns:a16="http://schemas.microsoft.com/office/drawing/2014/main" id="{3BAA2E50-660D-4AD7-8368-9F4B5B2A7D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E0C60FDC-9F3A-486C-A268-3456C7C51B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039C63D9-B015-496D-8A2E-9F199C5C3B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4</a:t>
            </a:r>
          </a:p>
        </p:txBody>
      </p:sp>
      <p:sp>
        <p:nvSpPr>
          <p:cNvPr id="21508" name="Rectangle 4">
            <a:extLst>
              <a:ext uri="{FF2B5EF4-FFF2-40B4-BE49-F238E27FC236}">
                <a16:creationId xmlns:a16="http://schemas.microsoft.com/office/drawing/2014/main" id="{DFDC7845-B2D3-46E6-82C5-36DAC03E65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1509" name="Rectangle 5">
            <a:extLst>
              <a:ext uri="{FF2B5EF4-FFF2-40B4-BE49-F238E27FC236}">
                <a16:creationId xmlns:a16="http://schemas.microsoft.com/office/drawing/2014/main" id="{84993DE8-8478-40BF-BA70-0DC4DB84F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1510" name="Rectangle 6">
            <a:extLst>
              <a:ext uri="{FF2B5EF4-FFF2-40B4-BE49-F238E27FC236}">
                <a16:creationId xmlns:a16="http://schemas.microsoft.com/office/drawing/2014/main" id="{F4636B02-B6EC-4005-A294-1705BA4CA0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1511" name="Rectangle 7">
            <a:extLst>
              <a:ext uri="{FF2B5EF4-FFF2-40B4-BE49-F238E27FC236}">
                <a16:creationId xmlns:a16="http://schemas.microsoft.com/office/drawing/2014/main" id="{0C607636-7A54-4EDC-8AF1-FC0D97C96C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17F432C7-CAA3-49B3-9CA2-FB57E2B79C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ACD16466-C9A9-4413-BED3-20E23EA94A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3556" name="Rectangle 4">
            <a:extLst>
              <a:ext uri="{FF2B5EF4-FFF2-40B4-BE49-F238E27FC236}">
                <a16:creationId xmlns:a16="http://schemas.microsoft.com/office/drawing/2014/main" id="{8869AFD7-BDD4-449C-AF8D-EC9737804A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3557" name="Rectangle 5">
            <a:extLst>
              <a:ext uri="{FF2B5EF4-FFF2-40B4-BE49-F238E27FC236}">
                <a16:creationId xmlns:a16="http://schemas.microsoft.com/office/drawing/2014/main" id="{6A3B49F7-3A0A-4CAD-A924-ADB55FC38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3558" name="Rectangle 6">
            <a:extLst>
              <a:ext uri="{FF2B5EF4-FFF2-40B4-BE49-F238E27FC236}">
                <a16:creationId xmlns:a16="http://schemas.microsoft.com/office/drawing/2014/main" id="{15B306FA-8823-4E52-86D3-3C8F22AA9A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3559" name="Rectangle 7">
            <a:extLst>
              <a:ext uri="{FF2B5EF4-FFF2-40B4-BE49-F238E27FC236}">
                <a16:creationId xmlns:a16="http://schemas.microsoft.com/office/drawing/2014/main" id="{321953E4-3BFB-4315-AFD1-69FC860194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0B1413C-43CD-4B4E-9241-145D6AE50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CBD7959E-DBD8-47D0-939F-97E4755771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5</a:t>
            </a:r>
          </a:p>
        </p:txBody>
      </p:sp>
      <p:sp>
        <p:nvSpPr>
          <p:cNvPr id="25604" name="Rectangle 4">
            <a:extLst>
              <a:ext uri="{FF2B5EF4-FFF2-40B4-BE49-F238E27FC236}">
                <a16:creationId xmlns:a16="http://schemas.microsoft.com/office/drawing/2014/main" id="{F5AACF3E-1C2E-4203-887F-64A7E2517A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C91F579C-9DB7-4F72-9775-8A8BB06BA3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F51276E3-3377-48EF-AD29-2919A10407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645FDD50-62DC-45DC-87A7-7E5682B3A8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A25C96EE-01AB-4BC6-ABF1-F8745101BA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A64BFD68-12B6-4649-8C66-3EA57944B1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29700" name="Rectangle 4">
            <a:extLst>
              <a:ext uri="{FF2B5EF4-FFF2-40B4-BE49-F238E27FC236}">
                <a16:creationId xmlns:a16="http://schemas.microsoft.com/office/drawing/2014/main" id="{57EFA02F-8D79-429E-A9AB-3BD92A2B66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9701" name="Rectangle 5">
            <a:extLst>
              <a:ext uri="{FF2B5EF4-FFF2-40B4-BE49-F238E27FC236}">
                <a16:creationId xmlns:a16="http://schemas.microsoft.com/office/drawing/2014/main" id="{D1DE8FEC-1AFB-47E8-BDB4-551A26E65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29702" name="Rectangle 6">
            <a:extLst>
              <a:ext uri="{FF2B5EF4-FFF2-40B4-BE49-F238E27FC236}">
                <a16:creationId xmlns:a16="http://schemas.microsoft.com/office/drawing/2014/main" id="{BC1FEAAE-9F29-418E-B072-BBD4555A9A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29703" name="Rectangle 7">
            <a:extLst>
              <a:ext uri="{FF2B5EF4-FFF2-40B4-BE49-F238E27FC236}">
                <a16:creationId xmlns:a16="http://schemas.microsoft.com/office/drawing/2014/main" id="{D02CF4A0-A69F-42E9-8A20-1D20AD5F82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219F9DFD-5269-4120-B6AC-EEC2D76B7A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0570BBA0-65B2-4722-8CE6-CF0D0F0C12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6</a:t>
            </a:r>
          </a:p>
        </p:txBody>
      </p:sp>
      <p:sp>
        <p:nvSpPr>
          <p:cNvPr id="31748" name="Rectangle 4">
            <a:extLst>
              <a:ext uri="{FF2B5EF4-FFF2-40B4-BE49-F238E27FC236}">
                <a16:creationId xmlns:a16="http://schemas.microsoft.com/office/drawing/2014/main" id="{7C9EC335-AEFC-4704-9A46-664A6EFDFE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1749" name="Rectangle 5">
            <a:extLst>
              <a:ext uri="{FF2B5EF4-FFF2-40B4-BE49-F238E27FC236}">
                <a16:creationId xmlns:a16="http://schemas.microsoft.com/office/drawing/2014/main" id="{AF6795C9-0161-4D83-9D2E-542D7F123C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1750" name="Rectangle 6">
            <a:extLst>
              <a:ext uri="{FF2B5EF4-FFF2-40B4-BE49-F238E27FC236}">
                <a16:creationId xmlns:a16="http://schemas.microsoft.com/office/drawing/2014/main" id="{0B008BA7-59DE-4C41-80E4-DB3208F9BF0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31751" name="Rectangle 7">
            <a:extLst>
              <a:ext uri="{FF2B5EF4-FFF2-40B4-BE49-F238E27FC236}">
                <a16:creationId xmlns:a16="http://schemas.microsoft.com/office/drawing/2014/main" id="{7DE9055E-5476-4E2E-9131-F8124B916A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2BA1A098-2004-42F5-97F0-C0BAEE568C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95D63657-013D-4CC1-97E8-AFCD44C3D1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8</a:t>
            </a:r>
          </a:p>
        </p:txBody>
      </p:sp>
      <p:sp>
        <p:nvSpPr>
          <p:cNvPr id="36868" name="Rectangle 4">
            <a:extLst>
              <a:ext uri="{FF2B5EF4-FFF2-40B4-BE49-F238E27FC236}">
                <a16:creationId xmlns:a16="http://schemas.microsoft.com/office/drawing/2014/main" id="{CD1FF292-7FFA-4850-925B-EEBD00DA03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6869" name="Rectangle 5">
            <a:extLst>
              <a:ext uri="{FF2B5EF4-FFF2-40B4-BE49-F238E27FC236}">
                <a16:creationId xmlns:a16="http://schemas.microsoft.com/office/drawing/2014/main" id="{53211AF0-0A1E-4900-A1F1-D24B68222E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6870" name="Rectangle 6">
            <a:extLst>
              <a:ext uri="{FF2B5EF4-FFF2-40B4-BE49-F238E27FC236}">
                <a16:creationId xmlns:a16="http://schemas.microsoft.com/office/drawing/2014/main" id="{91207A7E-49FD-4CBC-9299-0259F07F81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36871" name="Rectangle 7">
            <a:extLst>
              <a:ext uri="{FF2B5EF4-FFF2-40B4-BE49-F238E27FC236}">
                <a16:creationId xmlns:a16="http://schemas.microsoft.com/office/drawing/2014/main" id="{DF050D61-4DB0-425F-A74A-950A26E193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8E270682-743A-41C3-A874-9CF34464BB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E4F91C94-0613-4511-A591-D6CBA52842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9</a:t>
            </a:r>
          </a:p>
        </p:txBody>
      </p:sp>
      <p:sp>
        <p:nvSpPr>
          <p:cNvPr id="38916" name="Rectangle 4">
            <a:extLst>
              <a:ext uri="{FF2B5EF4-FFF2-40B4-BE49-F238E27FC236}">
                <a16:creationId xmlns:a16="http://schemas.microsoft.com/office/drawing/2014/main" id="{B3C3BE54-B20D-4EB1-9B3D-18A1B53AC6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8917" name="Rectangle 5">
            <a:extLst>
              <a:ext uri="{FF2B5EF4-FFF2-40B4-BE49-F238E27FC236}">
                <a16:creationId xmlns:a16="http://schemas.microsoft.com/office/drawing/2014/main" id="{EE3D6BFB-AC1C-4F07-886A-21071EF436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38918" name="Rectangle 6">
            <a:extLst>
              <a:ext uri="{FF2B5EF4-FFF2-40B4-BE49-F238E27FC236}">
                <a16:creationId xmlns:a16="http://schemas.microsoft.com/office/drawing/2014/main" id="{860B9053-B2FB-4FE3-B6CC-27B301B6DD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38919" name="Rectangle 7">
            <a:extLst>
              <a:ext uri="{FF2B5EF4-FFF2-40B4-BE49-F238E27FC236}">
                <a16:creationId xmlns:a16="http://schemas.microsoft.com/office/drawing/2014/main" id="{BF72B089-B2C1-4B11-ACD5-9D74D85543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44847B9C-5188-4070-B392-A878F664B5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E80DE426-F522-48F9-ACA8-22EE8383A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9</a:t>
            </a:r>
          </a:p>
        </p:txBody>
      </p:sp>
      <p:sp>
        <p:nvSpPr>
          <p:cNvPr id="40964" name="Rectangle 4">
            <a:extLst>
              <a:ext uri="{FF2B5EF4-FFF2-40B4-BE49-F238E27FC236}">
                <a16:creationId xmlns:a16="http://schemas.microsoft.com/office/drawing/2014/main" id="{74CD0CB8-FD50-431C-95D3-E0AEA868E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0965" name="Rectangle 5">
            <a:extLst>
              <a:ext uri="{FF2B5EF4-FFF2-40B4-BE49-F238E27FC236}">
                <a16:creationId xmlns:a16="http://schemas.microsoft.com/office/drawing/2014/main" id="{C099EBC7-86F4-4050-996D-7E18ED344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0966" name="Rectangle 6">
            <a:extLst>
              <a:ext uri="{FF2B5EF4-FFF2-40B4-BE49-F238E27FC236}">
                <a16:creationId xmlns:a16="http://schemas.microsoft.com/office/drawing/2014/main" id="{5AFF23BD-1B18-40A6-84E5-DC06813ECF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0967" name="Rectangle 7">
            <a:extLst>
              <a:ext uri="{FF2B5EF4-FFF2-40B4-BE49-F238E27FC236}">
                <a16:creationId xmlns:a16="http://schemas.microsoft.com/office/drawing/2014/main" id="{8A12623E-8775-4994-AA00-355B3D1220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505AF73A-0B75-4F0C-A12F-A9CE88705E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CC4EF3FB-5407-41D5-89A7-653EB4E196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9</a:t>
            </a:r>
          </a:p>
        </p:txBody>
      </p:sp>
      <p:sp>
        <p:nvSpPr>
          <p:cNvPr id="43012" name="Rectangle 4">
            <a:extLst>
              <a:ext uri="{FF2B5EF4-FFF2-40B4-BE49-F238E27FC236}">
                <a16:creationId xmlns:a16="http://schemas.microsoft.com/office/drawing/2014/main" id="{A8576869-9743-4722-8630-1E394AA34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3013" name="Rectangle 5">
            <a:extLst>
              <a:ext uri="{FF2B5EF4-FFF2-40B4-BE49-F238E27FC236}">
                <a16:creationId xmlns:a16="http://schemas.microsoft.com/office/drawing/2014/main" id="{BF733EF2-E503-4AFA-9922-57ACB6910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3014" name="Rectangle 6">
            <a:extLst>
              <a:ext uri="{FF2B5EF4-FFF2-40B4-BE49-F238E27FC236}">
                <a16:creationId xmlns:a16="http://schemas.microsoft.com/office/drawing/2014/main" id="{3359CFFF-5153-4E27-B377-36620A7CA1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3015" name="Rectangle 7">
            <a:extLst>
              <a:ext uri="{FF2B5EF4-FFF2-40B4-BE49-F238E27FC236}">
                <a16:creationId xmlns:a16="http://schemas.microsoft.com/office/drawing/2014/main" id="{7EDAABAC-9684-4FC9-984C-862FB8099A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2E558359-1D58-4CEC-A416-52000323B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C004F4D8-7B26-451F-A310-84DE174C78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9</a:t>
            </a:r>
          </a:p>
        </p:txBody>
      </p:sp>
      <p:sp>
        <p:nvSpPr>
          <p:cNvPr id="45060" name="Rectangle 4">
            <a:extLst>
              <a:ext uri="{FF2B5EF4-FFF2-40B4-BE49-F238E27FC236}">
                <a16:creationId xmlns:a16="http://schemas.microsoft.com/office/drawing/2014/main" id="{16A1F3FE-CA9B-458C-93E3-BE0D842CD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5061" name="Rectangle 5">
            <a:extLst>
              <a:ext uri="{FF2B5EF4-FFF2-40B4-BE49-F238E27FC236}">
                <a16:creationId xmlns:a16="http://schemas.microsoft.com/office/drawing/2014/main" id="{763B5F09-AF31-4056-B505-70101113AA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5062" name="Rectangle 6">
            <a:extLst>
              <a:ext uri="{FF2B5EF4-FFF2-40B4-BE49-F238E27FC236}">
                <a16:creationId xmlns:a16="http://schemas.microsoft.com/office/drawing/2014/main" id="{845F7E71-6AA9-4929-96FC-ADB9F1F1A5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5063" name="Rectangle 7">
            <a:extLst>
              <a:ext uri="{FF2B5EF4-FFF2-40B4-BE49-F238E27FC236}">
                <a16:creationId xmlns:a16="http://schemas.microsoft.com/office/drawing/2014/main" id="{27D19F3B-ACFF-4DF1-AE79-EA5D82D132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0EE6AF41-8122-45A9-99B8-948C615E7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6FF49E5B-CCF3-4852-969D-DBC2E96E19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9</a:t>
            </a:r>
          </a:p>
        </p:txBody>
      </p:sp>
      <p:sp>
        <p:nvSpPr>
          <p:cNvPr id="47108" name="Rectangle 4">
            <a:extLst>
              <a:ext uri="{FF2B5EF4-FFF2-40B4-BE49-F238E27FC236}">
                <a16:creationId xmlns:a16="http://schemas.microsoft.com/office/drawing/2014/main" id="{F5F2885E-D370-41F6-8BA5-150AA4DC9F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7109" name="Rectangle 5">
            <a:extLst>
              <a:ext uri="{FF2B5EF4-FFF2-40B4-BE49-F238E27FC236}">
                <a16:creationId xmlns:a16="http://schemas.microsoft.com/office/drawing/2014/main" id="{10E79363-58DC-496C-BCE9-D15B7143CF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7110" name="Rectangle 6">
            <a:extLst>
              <a:ext uri="{FF2B5EF4-FFF2-40B4-BE49-F238E27FC236}">
                <a16:creationId xmlns:a16="http://schemas.microsoft.com/office/drawing/2014/main" id="{89B20596-B384-485A-85F5-69D2DAF9F4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7111" name="Rectangle 7">
            <a:extLst>
              <a:ext uri="{FF2B5EF4-FFF2-40B4-BE49-F238E27FC236}">
                <a16:creationId xmlns:a16="http://schemas.microsoft.com/office/drawing/2014/main" id="{A8915BCB-70EA-4FE6-8C04-CA678DF2F2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7E5CB67A-BA0F-4BAC-846B-389ADD0CD3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DB3B5D6E-1D46-4BCA-9507-C14BD921FB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11</a:t>
            </a:r>
          </a:p>
        </p:txBody>
      </p:sp>
      <p:sp>
        <p:nvSpPr>
          <p:cNvPr id="49156" name="Rectangle 4">
            <a:extLst>
              <a:ext uri="{FF2B5EF4-FFF2-40B4-BE49-F238E27FC236}">
                <a16:creationId xmlns:a16="http://schemas.microsoft.com/office/drawing/2014/main" id="{6BED73DF-9603-4840-B29E-8A1E928B44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9157" name="Rectangle 5">
            <a:extLst>
              <a:ext uri="{FF2B5EF4-FFF2-40B4-BE49-F238E27FC236}">
                <a16:creationId xmlns:a16="http://schemas.microsoft.com/office/drawing/2014/main" id="{7FE29FC0-71B9-4CD7-9D3E-4B8BEE77E0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49158" name="Rectangle 6">
            <a:extLst>
              <a:ext uri="{FF2B5EF4-FFF2-40B4-BE49-F238E27FC236}">
                <a16:creationId xmlns:a16="http://schemas.microsoft.com/office/drawing/2014/main" id="{8C253BD6-9484-4463-95F8-DD350884C1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49159" name="Rectangle 7">
            <a:extLst>
              <a:ext uri="{FF2B5EF4-FFF2-40B4-BE49-F238E27FC236}">
                <a16:creationId xmlns:a16="http://schemas.microsoft.com/office/drawing/2014/main" id="{219AE1DB-32EF-4779-93DF-86E797DCFE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DBB8893A-3474-4D55-955B-7A433BAF5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89DBFFB3-752F-4216-86EC-B07E0A205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b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pPr algn="r"/>
            <a:r>
              <a:rPr lang="en-US" altLang="ko-KR" sz="1200" b="0">
                <a:solidFill>
                  <a:schemeClr val="tx1"/>
                </a:solidFill>
                <a:latin typeface="Times New Roman" panose="02020603050405020304" pitchFamily="18" charset="0"/>
                <a:ea typeface="굴림" panose="020B0600000101010101" pitchFamily="50" charset="-127"/>
              </a:rPr>
              <a:t>11</a:t>
            </a:r>
          </a:p>
        </p:txBody>
      </p:sp>
      <p:sp>
        <p:nvSpPr>
          <p:cNvPr id="51204" name="Rectangle 4">
            <a:extLst>
              <a:ext uri="{FF2B5EF4-FFF2-40B4-BE49-F238E27FC236}">
                <a16:creationId xmlns:a16="http://schemas.microsoft.com/office/drawing/2014/main" id="{3046B69C-78C5-4DE0-9ABF-441917299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1205" name="Rectangle 5">
            <a:extLst>
              <a:ext uri="{FF2B5EF4-FFF2-40B4-BE49-F238E27FC236}">
                <a16:creationId xmlns:a16="http://schemas.microsoft.com/office/drawing/2014/main" id="{2A913226-F5BE-4D1F-892F-484B809DB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1pPr>
            <a:lvl2pPr marL="742950" indent="-28575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2pPr>
            <a:lvl3pPr marL="11430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3pPr>
            <a:lvl4pPr marL="16002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4pPr>
            <a:lvl5pPr marL="2057400" indent="-228600"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 b="1">
                <a:solidFill>
                  <a:srgbClr val="8D7DFF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/>
          </a:p>
        </p:txBody>
      </p:sp>
      <p:sp>
        <p:nvSpPr>
          <p:cNvPr id="51206" name="Rectangle 6">
            <a:extLst>
              <a:ext uri="{FF2B5EF4-FFF2-40B4-BE49-F238E27FC236}">
                <a16:creationId xmlns:a16="http://schemas.microsoft.com/office/drawing/2014/main" id="{7229B39B-AC10-4CE8-8BC1-8C45495807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 cap="flat"/>
        </p:spPr>
      </p:sp>
      <p:sp>
        <p:nvSpPr>
          <p:cNvPr id="51207" name="Rectangle 7">
            <a:extLst>
              <a:ext uri="{FF2B5EF4-FFF2-40B4-BE49-F238E27FC236}">
                <a16:creationId xmlns:a16="http://schemas.microsoft.com/office/drawing/2014/main" id="{3FB0A4BC-3380-457B-8B4C-D56772E8A9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26">
            <a:extLst>
              <a:ext uri="{FF2B5EF4-FFF2-40B4-BE49-F238E27FC236}">
                <a16:creationId xmlns:a16="http://schemas.microsoft.com/office/drawing/2014/main" id="{0954722A-4541-455D-B116-05B4766252EB}"/>
              </a:ext>
            </a:extLst>
          </p:cNvPr>
          <p:cNvGrpSpPr>
            <a:grpSpLocks/>
          </p:cNvGrpSpPr>
          <p:nvPr/>
        </p:nvGrpSpPr>
        <p:grpSpPr bwMode="auto">
          <a:xfrm>
            <a:off x="-3222625" y="304800"/>
            <a:ext cx="11909425" cy="4724400"/>
            <a:chOff x="-2030" y="192"/>
            <a:chExt cx="7502" cy="2976"/>
          </a:xfrm>
        </p:grpSpPr>
        <p:sp>
          <p:nvSpPr>
            <p:cNvPr id="5" name="Line 1027">
              <a:extLst>
                <a:ext uri="{FF2B5EF4-FFF2-40B4-BE49-F238E27FC236}">
                  <a16:creationId xmlns:a16="http://schemas.microsoft.com/office/drawing/2014/main" id="{5D4DB712-E4B0-47E5-AA30-4967E68FF5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1584"/>
              <a:ext cx="4560" cy="0"/>
            </a:xfrm>
            <a:prstGeom prst="line">
              <a:avLst/>
            </a:prstGeom>
            <a:noFill/>
            <a:ln w="57150" cmpd="thickThin">
              <a:solidFill>
                <a:srgbClr val="8D7D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AutoShape 1028">
              <a:extLst>
                <a:ext uri="{FF2B5EF4-FFF2-40B4-BE49-F238E27FC236}">
                  <a16:creationId xmlns:a16="http://schemas.microsoft.com/office/drawing/2014/main" id="{799536A8-6265-426A-933A-5BBEDD366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-1584" y="864"/>
              <a:ext cx="2304" cy="2304"/>
            </a:xfrm>
            <a:custGeom>
              <a:avLst/>
              <a:gdLst>
                <a:gd name="T0" fmla="*/ 2 w 64000"/>
                <a:gd name="T1" fmla="*/ 0 h 64000"/>
                <a:gd name="T2" fmla="*/ 3 w 64000"/>
                <a:gd name="T3" fmla="*/ 1 h 64000"/>
                <a:gd name="T4" fmla="*/ 2 w 64000"/>
                <a:gd name="T5" fmla="*/ 3 h 64000"/>
                <a:gd name="T6" fmla="*/ 2 w 64000"/>
                <a:gd name="T7" fmla="*/ 3 h 64000"/>
                <a:gd name="T8" fmla="*/ 2 w 64000"/>
                <a:gd name="T9" fmla="*/ 3 h 64000"/>
                <a:gd name="T10" fmla="*/ 2 w 64000"/>
                <a:gd name="T11" fmla="*/ 3 h 64000"/>
                <a:gd name="T12" fmla="*/ 2 w 64000"/>
                <a:gd name="T13" fmla="*/ 0 h 64000"/>
                <a:gd name="T14" fmla="*/ 2 w 64000"/>
                <a:gd name="T15" fmla="*/ 0 h 64000"/>
                <a:gd name="T16" fmla="*/ 2 w 64000"/>
                <a:gd name="T17" fmla="*/ 0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44083 w 64000"/>
                <a:gd name="T28" fmla="*/ -29639 h 64000"/>
                <a:gd name="T29" fmla="*/ 44083 w 64000"/>
                <a:gd name="T30" fmla="*/ 29639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44083" y="2368"/>
                  </a:moveTo>
                  <a:cubicBezTo>
                    <a:pt x="56127" y="7280"/>
                    <a:pt x="64000" y="18993"/>
                    <a:pt x="64000" y="32000"/>
                  </a:cubicBezTo>
                  <a:cubicBezTo>
                    <a:pt x="64000" y="45006"/>
                    <a:pt x="56127" y="56719"/>
                    <a:pt x="44083" y="61631"/>
                  </a:cubicBezTo>
                  <a:cubicBezTo>
                    <a:pt x="44082" y="61631"/>
                    <a:pt x="44082" y="61631"/>
                    <a:pt x="44082" y="61631"/>
                  </a:cubicBezTo>
                  <a:lnTo>
                    <a:pt x="44083" y="61632"/>
                  </a:lnTo>
                  <a:lnTo>
                    <a:pt x="44083" y="2368"/>
                  </a:lnTo>
                  <a:lnTo>
                    <a:pt x="44082" y="2368"/>
                  </a:lnTo>
                  <a:cubicBezTo>
                    <a:pt x="44082" y="2368"/>
                    <a:pt x="44082" y="2368"/>
                    <a:pt x="44083" y="2368"/>
                  </a:cubicBezTo>
                  <a:close/>
                </a:path>
              </a:pathLst>
            </a:custGeom>
            <a:solidFill>
              <a:srgbClr val="99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AutoShape 1029">
              <a:extLst>
                <a:ext uri="{FF2B5EF4-FFF2-40B4-BE49-F238E27FC236}">
                  <a16:creationId xmlns:a16="http://schemas.microsoft.com/office/drawing/2014/main" id="{A991D17D-1E59-4632-9EE6-89BAD223F27F}"/>
                </a:ext>
              </a:extLst>
            </p:cNvPr>
            <p:cNvSpPr>
              <a:spLocks/>
            </p:cNvSpPr>
            <p:nvPr/>
          </p:nvSpPr>
          <p:spPr bwMode="auto">
            <a:xfrm>
              <a:off x="-2030" y="192"/>
              <a:ext cx="2544" cy="2544"/>
            </a:xfrm>
            <a:custGeom>
              <a:avLst/>
              <a:gdLst>
                <a:gd name="T0" fmla="*/ 3 w 64000"/>
                <a:gd name="T1" fmla="*/ 0 h 64000"/>
                <a:gd name="T2" fmla="*/ 4 w 64000"/>
                <a:gd name="T3" fmla="*/ 2 h 64000"/>
                <a:gd name="T4" fmla="*/ 3 w 64000"/>
                <a:gd name="T5" fmla="*/ 4 h 64000"/>
                <a:gd name="T6" fmla="*/ 3 w 64000"/>
                <a:gd name="T7" fmla="*/ 4 h 64000"/>
                <a:gd name="T8" fmla="*/ 3 w 64000"/>
                <a:gd name="T9" fmla="*/ 4 h 64000"/>
                <a:gd name="T10" fmla="*/ 3 w 64000"/>
                <a:gd name="T11" fmla="*/ 4 h 64000"/>
                <a:gd name="T12" fmla="*/ 3 w 64000"/>
                <a:gd name="T13" fmla="*/ 0 h 64000"/>
                <a:gd name="T14" fmla="*/ 3 w 64000"/>
                <a:gd name="T15" fmla="*/ 0 h 64000"/>
                <a:gd name="T16" fmla="*/ 3 w 64000"/>
                <a:gd name="T17" fmla="*/ 0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994 w 64000"/>
                <a:gd name="T28" fmla="*/ -25761 h 64000"/>
                <a:gd name="T29" fmla="*/ 50994 w 64000"/>
                <a:gd name="T30" fmla="*/ 25761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994" y="6246"/>
                  </a:moveTo>
                  <a:cubicBezTo>
                    <a:pt x="59172" y="12279"/>
                    <a:pt x="64000" y="21837"/>
                    <a:pt x="64000" y="32000"/>
                  </a:cubicBezTo>
                  <a:cubicBezTo>
                    <a:pt x="64000" y="42162"/>
                    <a:pt x="59172" y="51720"/>
                    <a:pt x="50994" y="57753"/>
                  </a:cubicBezTo>
                  <a:cubicBezTo>
                    <a:pt x="50993" y="57753"/>
                    <a:pt x="50993" y="57753"/>
                    <a:pt x="50993" y="57753"/>
                  </a:cubicBezTo>
                  <a:lnTo>
                    <a:pt x="50994" y="57754"/>
                  </a:lnTo>
                  <a:lnTo>
                    <a:pt x="50994" y="6246"/>
                  </a:lnTo>
                  <a:lnTo>
                    <a:pt x="50993" y="6246"/>
                  </a:lnTo>
                  <a:cubicBezTo>
                    <a:pt x="50993" y="6246"/>
                    <a:pt x="50993" y="6246"/>
                    <a:pt x="50994" y="6246"/>
                  </a:cubicBez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16070" name="Rectangle 1030"/>
          <p:cNvSpPr>
            <a:spLocks noGrp="1" noChangeArrowheads="1"/>
          </p:cNvSpPr>
          <p:nvPr>
            <p:ph type="ctrTitle"/>
          </p:nvPr>
        </p:nvSpPr>
        <p:spPr>
          <a:xfrm>
            <a:off x="1443038" y="985838"/>
            <a:ext cx="7239000" cy="14446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en-US" altLang="ko-KR"/>
              <a:t>Click to edit Master title style</a:t>
            </a:r>
          </a:p>
        </p:txBody>
      </p:sp>
      <p:sp>
        <p:nvSpPr>
          <p:cNvPr id="216071" name="Rectangle 1031"/>
          <p:cNvSpPr>
            <a:spLocks noGrp="1" noChangeArrowheads="1"/>
          </p:cNvSpPr>
          <p:nvPr>
            <p:ph type="subTitle" idx="1"/>
          </p:nvPr>
        </p:nvSpPr>
        <p:spPr>
          <a:xfrm>
            <a:off x="1443038" y="3427413"/>
            <a:ext cx="72390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4000"/>
            </a:lvl1pPr>
          </a:lstStyle>
          <a:p>
            <a:r>
              <a:rPr lang="en-US" altLang="ko-KR"/>
              <a:t>Click to edit Master subtitle style</a:t>
            </a:r>
          </a:p>
        </p:txBody>
      </p:sp>
      <p:sp>
        <p:nvSpPr>
          <p:cNvPr id="8" name="Rectangle 1032">
            <a:extLst>
              <a:ext uri="{FF2B5EF4-FFF2-40B4-BE49-F238E27FC236}">
                <a16:creationId xmlns:a16="http://schemas.microsoft.com/office/drawing/2014/main" id="{5D4E94B0-C73E-48CE-B4C7-FCC53AC6ACD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320675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Rectangle 1033">
            <a:extLst>
              <a:ext uri="{FF2B5EF4-FFF2-40B4-BE49-F238E27FC236}">
                <a16:creationId xmlns:a16="http://schemas.microsoft.com/office/drawing/2014/main" id="{D8D8C78C-A02E-4A49-815A-4C283B19F36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2</a:t>
            </a:r>
            <a:endParaRPr lang="ko-KR" altLang="en-US"/>
          </a:p>
        </p:txBody>
      </p:sp>
      <p:sp>
        <p:nvSpPr>
          <p:cNvPr id="10" name="Rectangle 1034">
            <a:extLst>
              <a:ext uri="{FF2B5EF4-FFF2-40B4-BE49-F238E27FC236}">
                <a16:creationId xmlns:a16="http://schemas.microsoft.com/office/drawing/2014/main" id="{5CEDA054-F64A-4AFD-9DCB-E45F298F0B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2758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2669C4AA-477B-453C-9F7A-FB56C18CC67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9D6BB182-8DEA-4DE9-9DBD-D92AB887642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2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09BAB11D-30E0-4F79-932C-BADF5FE6B9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979EB88-85CF-42DA-9E9A-DAA561D7772D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21616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B2E0EE8D-FEF5-4306-AC8A-1938BBA68D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EDD7AA4D-CA97-49E6-8ADF-2AF68A92C84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2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11F63707-C7AA-4EE9-9503-B5FD5C3882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53DB20A-5876-4FC8-85D0-3696B1A7ECFB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03182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9812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102225" y="1827213"/>
            <a:ext cx="35814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E0E37E51-6022-408E-BD07-13378E58D8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E1D5F11F-23F4-4EB0-97AD-20A6E312C9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2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64C3307B-B9D7-48A4-88C6-30617611DE7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B9DF894-1FE9-430A-83A5-BFD2ECB50756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45720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DA6A68ED-2050-46ED-A177-D5E342CFB5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9">
            <a:extLst>
              <a:ext uri="{FF2B5EF4-FFF2-40B4-BE49-F238E27FC236}">
                <a16:creationId xmlns:a16="http://schemas.microsoft.com/office/drawing/2014/main" id="{26441F1B-AFC0-40DC-8CC7-2584D23C709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2</a:t>
            </a:r>
          </a:p>
        </p:txBody>
      </p:sp>
      <p:sp>
        <p:nvSpPr>
          <p:cNvPr id="9" name="Rectangle 10">
            <a:extLst>
              <a:ext uri="{FF2B5EF4-FFF2-40B4-BE49-F238E27FC236}">
                <a16:creationId xmlns:a16="http://schemas.microsoft.com/office/drawing/2014/main" id="{FAEEA408-145F-4BCE-92AF-1C1D202C02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F593864-1C44-45F9-A428-AE7A7DCA0D31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44282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8BB044C4-EF8D-4365-97CB-BF76C74F4E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499E5CAB-663D-462C-A6DF-08DC79A16E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2</a:t>
            </a:r>
          </a:p>
        </p:txBody>
      </p:sp>
      <p:sp>
        <p:nvSpPr>
          <p:cNvPr id="5" name="Rectangle 10">
            <a:extLst>
              <a:ext uri="{FF2B5EF4-FFF2-40B4-BE49-F238E27FC236}">
                <a16:creationId xmlns:a16="http://schemas.microsoft.com/office/drawing/2014/main" id="{31EEEBDC-1016-4B58-8882-237B3C5AC4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BBDB117-5C0E-4176-9162-ADBC6748F5D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73878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8530ECC2-2D04-41BA-9344-2CCB0EB425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2D487E87-E684-4719-B070-F2FFDBE432D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2</a:t>
            </a:r>
          </a:p>
        </p:txBody>
      </p:sp>
      <p:sp>
        <p:nvSpPr>
          <p:cNvPr id="4" name="Rectangle 10">
            <a:extLst>
              <a:ext uri="{FF2B5EF4-FFF2-40B4-BE49-F238E27FC236}">
                <a16:creationId xmlns:a16="http://schemas.microsoft.com/office/drawing/2014/main" id="{0B81A51C-E1F7-405C-990C-FF760F7803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A2EAC83-B8AD-46E8-8901-A8CBD31B6DC5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64938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E5FEC995-BDF4-48ED-B490-FE4C5CEF9C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8DE53417-AD0D-4965-B0E4-42ED8CB0D4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2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79BFD2E9-8203-49DA-85D5-8477C8EBBA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2080700-A661-45BF-808A-F737EE76F2A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47840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BED7CC3E-93B7-4A3B-8E32-42AE4C479F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8D6DB860-1707-4829-8D01-2F5B733A2D8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2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3177DA90-941D-426F-91D3-CE0A297309A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72472BD-CBA4-45AF-93B6-44A76BEAF606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08442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D5A7D60B-2E2A-441E-806D-9E78AAF6284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5B56E937-8850-4D6C-972F-8CFE4D7459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2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CD8634FD-1029-4EE3-AD71-BF32A18E4C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2400022-D2EB-4FB3-BCF4-DE5087C0C50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16431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56413" y="301625"/>
            <a:ext cx="1827212" cy="564038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370013" y="301625"/>
            <a:ext cx="5334000" cy="564038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2A705311-681D-4622-B5D6-002071B8BD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B6CFDDD2-324E-446F-9DF2-D755A09422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Chapter 2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4AC156C1-AA66-4775-AD57-5D23F88B3F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EB7F919-C68E-4071-834E-44473DDF4963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26224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95E1BE45-499F-488E-BF90-F0801CD7FCCB}"/>
              </a:ext>
            </a:extLst>
          </p:cNvPr>
          <p:cNvGrpSpPr>
            <a:grpSpLocks/>
          </p:cNvGrpSpPr>
          <p:nvPr/>
        </p:nvGrpSpPr>
        <p:grpSpPr bwMode="auto">
          <a:xfrm>
            <a:off x="-3238500" y="0"/>
            <a:ext cx="11925300" cy="3810000"/>
            <a:chOff x="-2040" y="0"/>
            <a:chExt cx="7512" cy="2400"/>
          </a:xfrm>
        </p:grpSpPr>
        <p:sp>
          <p:nvSpPr>
            <p:cNvPr id="1032" name="AutoShape 3">
              <a:extLst>
                <a:ext uri="{FF2B5EF4-FFF2-40B4-BE49-F238E27FC236}">
                  <a16:creationId xmlns:a16="http://schemas.microsoft.com/office/drawing/2014/main" id="{E3AEB605-1381-430E-9A29-2124165BCB4F}"/>
                </a:ext>
              </a:extLst>
            </p:cNvPr>
            <p:cNvSpPr>
              <a:spLocks/>
            </p:cNvSpPr>
            <p:nvPr/>
          </p:nvSpPr>
          <p:spPr bwMode="auto">
            <a:xfrm>
              <a:off x="-2040" y="432"/>
              <a:ext cx="2592" cy="1968"/>
            </a:xfrm>
            <a:custGeom>
              <a:avLst/>
              <a:gdLst>
                <a:gd name="T0" fmla="*/ 3 w 64000"/>
                <a:gd name="T1" fmla="*/ 0 h 64000"/>
                <a:gd name="T2" fmla="*/ 4 w 64000"/>
                <a:gd name="T3" fmla="*/ 1 h 64000"/>
                <a:gd name="T4" fmla="*/ 3 w 64000"/>
                <a:gd name="T5" fmla="*/ 2 h 64000"/>
                <a:gd name="T6" fmla="*/ 3 w 64000"/>
                <a:gd name="T7" fmla="*/ 2 h 64000"/>
                <a:gd name="T8" fmla="*/ 3 w 64000"/>
                <a:gd name="T9" fmla="*/ 2 h 64000"/>
                <a:gd name="T10" fmla="*/ 3 w 64000"/>
                <a:gd name="T11" fmla="*/ 2 h 64000"/>
                <a:gd name="T12" fmla="*/ 3 w 64000"/>
                <a:gd name="T13" fmla="*/ 0 h 64000"/>
                <a:gd name="T14" fmla="*/ 3 w 64000"/>
                <a:gd name="T15" fmla="*/ 0 h 64000"/>
                <a:gd name="T16" fmla="*/ 3 w 64000"/>
                <a:gd name="T17" fmla="*/ 0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296 w 64000"/>
                <a:gd name="T28" fmla="*/ -26244 h 64000"/>
                <a:gd name="T29" fmla="*/ 50296 w 64000"/>
                <a:gd name="T30" fmla="*/ 26244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296" y="5746"/>
                  </a:moveTo>
                  <a:cubicBezTo>
                    <a:pt x="58882" y="11730"/>
                    <a:pt x="64000" y="21534"/>
                    <a:pt x="64000" y="32000"/>
                  </a:cubicBezTo>
                  <a:cubicBezTo>
                    <a:pt x="64000" y="42465"/>
                    <a:pt x="58882" y="52269"/>
                    <a:pt x="50296" y="58253"/>
                  </a:cubicBezTo>
                  <a:cubicBezTo>
                    <a:pt x="50296" y="58253"/>
                    <a:pt x="50296" y="58253"/>
                    <a:pt x="50295" y="58253"/>
                  </a:cubicBezTo>
                  <a:lnTo>
                    <a:pt x="50296" y="58254"/>
                  </a:lnTo>
                  <a:lnTo>
                    <a:pt x="50296" y="5746"/>
                  </a:lnTo>
                  <a:lnTo>
                    <a:pt x="50295" y="5746"/>
                  </a:lnTo>
                  <a:cubicBezTo>
                    <a:pt x="50296" y="5746"/>
                    <a:pt x="50296" y="5746"/>
                    <a:pt x="50296" y="5746"/>
                  </a:cubicBezTo>
                  <a:close/>
                </a:path>
              </a:pathLst>
            </a:custGeom>
            <a:solidFill>
              <a:srgbClr val="9999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33" name="AutoShape 4">
              <a:extLst>
                <a:ext uri="{FF2B5EF4-FFF2-40B4-BE49-F238E27FC236}">
                  <a16:creationId xmlns:a16="http://schemas.microsoft.com/office/drawing/2014/main" id="{1CEBFAD1-79AA-4AA3-AEA9-33951194073D}"/>
                </a:ext>
              </a:extLst>
            </p:cNvPr>
            <p:cNvSpPr>
              <a:spLocks/>
            </p:cNvSpPr>
            <p:nvPr/>
          </p:nvSpPr>
          <p:spPr bwMode="auto">
            <a:xfrm>
              <a:off x="-1528" y="0"/>
              <a:ext cx="1949" cy="1987"/>
            </a:xfrm>
            <a:custGeom>
              <a:avLst/>
              <a:gdLst>
                <a:gd name="T0" fmla="*/ 1 w 64000"/>
                <a:gd name="T1" fmla="*/ 0 h 64000"/>
                <a:gd name="T2" fmla="*/ 2 w 64000"/>
                <a:gd name="T3" fmla="*/ 1 h 64000"/>
                <a:gd name="T4" fmla="*/ 1 w 64000"/>
                <a:gd name="T5" fmla="*/ 2 h 64000"/>
                <a:gd name="T6" fmla="*/ 1 w 64000"/>
                <a:gd name="T7" fmla="*/ 2 h 64000"/>
                <a:gd name="T8" fmla="*/ 1 w 64000"/>
                <a:gd name="T9" fmla="*/ 2 h 64000"/>
                <a:gd name="T10" fmla="*/ 1 w 64000"/>
                <a:gd name="T11" fmla="*/ 2 h 64000"/>
                <a:gd name="T12" fmla="*/ 1 w 64000"/>
                <a:gd name="T13" fmla="*/ 0 h 64000"/>
                <a:gd name="T14" fmla="*/ 1 w 64000"/>
                <a:gd name="T15" fmla="*/ 0 h 64000"/>
                <a:gd name="T16" fmla="*/ 1 w 64000"/>
                <a:gd name="T17" fmla="*/ 0 h 640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50077 w 64000"/>
                <a:gd name="T28" fmla="*/ -26412 h 64000"/>
                <a:gd name="T29" fmla="*/ 50077 w 64000"/>
                <a:gd name="T30" fmla="*/ 26412 h 6400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4000" h="64000">
                  <a:moveTo>
                    <a:pt x="50077" y="5595"/>
                  </a:moveTo>
                  <a:cubicBezTo>
                    <a:pt x="58790" y="11560"/>
                    <a:pt x="64000" y="21440"/>
                    <a:pt x="64000" y="32000"/>
                  </a:cubicBezTo>
                  <a:cubicBezTo>
                    <a:pt x="64000" y="42559"/>
                    <a:pt x="58790" y="52439"/>
                    <a:pt x="50077" y="58404"/>
                  </a:cubicBezTo>
                  <a:cubicBezTo>
                    <a:pt x="50077" y="58404"/>
                    <a:pt x="50077" y="58404"/>
                    <a:pt x="50076" y="58404"/>
                  </a:cubicBezTo>
                  <a:lnTo>
                    <a:pt x="50077" y="58405"/>
                  </a:lnTo>
                  <a:lnTo>
                    <a:pt x="50077" y="5595"/>
                  </a:lnTo>
                  <a:lnTo>
                    <a:pt x="50076" y="5595"/>
                  </a:lnTo>
                  <a:cubicBezTo>
                    <a:pt x="50077" y="5595"/>
                    <a:pt x="50077" y="5595"/>
                    <a:pt x="50077" y="5595"/>
                  </a:cubicBezTo>
                  <a:close/>
                </a:path>
              </a:pathLst>
            </a:cu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34" name="Line 5">
              <a:extLst>
                <a:ext uri="{FF2B5EF4-FFF2-40B4-BE49-F238E27FC236}">
                  <a16:creationId xmlns:a16="http://schemas.microsoft.com/office/drawing/2014/main" id="{FA4BED3D-FBD3-4609-8C14-ADFAFC6974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960"/>
              <a:ext cx="46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1027" name="Rectangle 6">
            <a:extLst>
              <a:ext uri="{FF2B5EF4-FFF2-40B4-BE49-F238E27FC236}">
                <a16:creationId xmlns:a16="http://schemas.microsoft.com/office/drawing/2014/main" id="{287F53B0-0FB1-4C1C-8EBC-83E476645F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01625"/>
            <a:ext cx="731361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title style</a:t>
            </a:r>
          </a:p>
        </p:txBody>
      </p:sp>
      <p:sp>
        <p:nvSpPr>
          <p:cNvPr id="1028" name="Rectangle 7">
            <a:extLst>
              <a:ext uri="{FF2B5EF4-FFF2-40B4-BE49-F238E27FC236}">
                <a16:creationId xmlns:a16="http://schemas.microsoft.com/office/drawing/2014/main" id="{238E8691-BFA5-4BC1-A4D5-78F98569FD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13612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</a:p>
        </p:txBody>
      </p:sp>
      <p:sp>
        <p:nvSpPr>
          <p:cNvPr id="215048" name="Rectangle 8">
            <a:extLst>
              <a:ext uri="{FF2B5EF4-FFF2-40B4-BE49-F238E27FC236}">
                <a16:creationId xmlns:a16="http://schemas.microsoft.com/office/drawing/2014/main" id="{BE428095-5EB7-4610-A4F8-E5FC1C17D41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8717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15049" name="Rectangle 9">
            <a:extLst>
              <a:ext uri="{FF2B5EF4-FFF2-40B4-BE49-F238E27FC236}">
                <a16:creationId xmlns:a16="http://schemas.microsoft.com/office/drawing/2014/main" id="{23AB4DD1-E60C-4178-9728-A7F6EBB9796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 b="0">
                <a:solidFill>
                  <a:schemeClr val="tx1"/>
                </a:solidFill>
                <a:ea typeface="굴림" pitchFamily="50" charset="-127"/>
              </a:defRPr>
            </a:lvl1pPr>
          </a:lstStyle>
          <a:p>
            <a:pPr>
              <a:defRPr/>
            </a:pPr>
            <a:r>
              <a:rPr lang="en-US" altLang="ko-KR"/>
              <a:t>Chapter 2</a:t>
            </a:r>
          </a:p>
        </p:txBody>
      </p:sp>
      <p:sp>
        <p:nvSpPr>
          <p:cNvPr id="215050" name="Rectangle 10">
            <a:extLst>
              <a:ext uri="{FF2B5EF4-FFF2-40B4-BE49-F238E27FC236}">
                <a16:creationId xmlns:a16="http://schemas.microsoft.com/office/drawing/2014/main" id="{FA51B0CD-963A-4DA7-B187-7AF68F6886D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>
                <a:solidFill>
                  <a:schemeClr val="tx1"/>
                </a:solidFill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627C5E30-03CA-4F5C-A2DC-969004C87BB3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66" r:id="rId1"/>
    <p:sldLayoutId id="2147484067" r:id="rId2"/>
    <p:sldLayoutId id="2147484068" r:id="rId3"/>
    <p:sldLayoutId id="2147484069" r:id="rId4"/>
    <p:sldLayoutId id="2147484070" r:id="rId5"/>
    <p:sldLayoutId id="2147484071" r:id="rId6"/>
    <p:sldLayoutId id="2147484072" r:id="rId7"/>
    <p:sldLayoutId id="2147484073" r:id="rId8"/>
    <p:sldLayoutId id="2147484074" r:id="rId9"/>
    <p:sldLayoutId id="2147484075" r:id="rId10"/>
    <p:sldLayoutId id="2147484076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8D7DF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Font typeface="Wingdings" panose="05000000000000000000" pitchFamily="2" charset="2"/>
        <a:buChar char="l"/>
        <a:defRPr sz="29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Font typeface="Wingdings" panose="05000000000000000000" pitchFamily="2" charset="2"/>
        <a:buChar char="m"/>
        <a:defRPr sz="25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80000"/>
        <a:buFont typeface="Wingdings" panose="05000000000000000000" pitchFamily="2" charset="2"/>
        <a:buChar char="l"/>
        <a:defRPr sz="22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80000"/>
        <a:buFont typeface="Wingdings" panose="05000000000000000000" pitchFamily="2" charset="2"/>
        <a:buChar char="m"/>
        <a:defRPr sz="19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anose="05000000000000000000" pitchFamily="2" charset="2"/>
        <a:buChar char="l"/>
        <a:defRPr sz="19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8D7DFF"/>
        </a:buClr>
        <a:buSzPct val="70000"/>
        <a:buFont typeface="Wingdings" pitchFamily="2" charset="2"/>
        <a:buChar char="l"/>
        <a:defRPr sz="1900">
          <a:solidFill>
            <a:schemeClr val="tx1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036">
            <a:extLst>
              <a:ext uri="{FF2B5EF4-FFF2-40B4-BE49-F238E27FC236}">
                <a16:creationId xmlns:a16="http://schemas.microsoft.com/office/drawing/2014/main" id="{7562FEED-37A6-4C50-B95E-E6CE775C13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4038" y="2593975"/>
            <a:ext cx="7313612" cy="1143000"/>
          </a:xfrm>
        </p:spPr>
        <p:txBody>
          <a:bodyPr/>
          <a:lstStyle/>
          <a:p>
            <a:pPr eaLnBrk="1" hangingPunct="1"/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2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장 개요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75789" name="Rectangle 1037">
            <a:extLst>
              <a:ext uri="{FF2B5EF4-FFF2-40B4-BE49-F238E27FC236}">
                <a16:creationId xmlns:a16="http://schemas.microsoft.com/office/drawing/2014/main" id="{53A9E49D-EBAD-413A-8043-BCFA302F29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71813" y="2686050"/>
            <a:ext cx="6072187" cy="4114800"/>
          </a:xfrm>
        </p:spPr>
        <p:txBody>
          <a:bodyPr/>
          <a:lstStyle/>
          <a:p>
            <a:pPr eaLnBrk="1" hangingPunct="1">
              <a:buClr>
                <a:srgbClr val="3366CC"/>
              </a:buClr>
            </a:pPr>
            <a:r>
              <a:rPr lang="ko-KR" altLang="en-US">
                <a:latin typeface="나눔명조" pitchFamily="18" charset="-127"/>
                <a:ea typeface="나눔명조" pitchFamily="18" charset="-127"/>
              </a:rPr>
              <a:t>경제와 자연환경의 상호관련성에 관한 이해</a:t>
            </a:r>
          </a:p>
          <a:p>
            <a:pPr eaLnBrk="1" hangingPunct="1">
              <a:buClr>
                <a:srgbClr val="3366CC"/>
              </a:buClr>
            </a:pPr>
            <a:r>
              <a:rPr lang="ko-KR" altLang="en-US">
                <a:latin typeface="나눔명조" pitchFamily="18" charset="-127"/>
                <a:ea typeface="나눔명조" pitchFamily="18" charset="-127"/>
              </a:rPr>
              <a:t>오염의 경로</a:t>
            </a:r>
          </a:p>
          <a:p>
            <a:pPr eaLnBrk="1" hangingPunct="1">
              <a:buClr>
                <a:srgbClr val="3366CC"/>
              </a:buClr>
            </a:pPr>
            <a:r>
              <a:rPr lang="ko-KR" altLang="en-US">
                <a:latin typeface="나눔명조" pitchFamily="18" charset="-127"/>
                <a:ea typeface="나눔명조" pitchFamily="18" charset="-127"/>
              </a:rPr>
              <a:t>오염물질의 종류</a:t>
            </a:r>
            <a:endParaRPr lang="en-US" altLang="ko-KR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4340" name="바닥글 개체 틀 4">
            <a:extLst>
              <a:ext uri="{FF2B5EF4-FFF2-40B4-BE49-F238E27FC236}">
                <a16:creationId xmlns:a16="http://schemas.microsoft.com/office/drawing/2014/main" id="{CA9312B8-9F47-4324-97B5-F18517073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14341" name="슬라이드 번호 개체 틀 5">
            <a:extLst>
              <a:ext uri="{FF2B5EF4-FFF2-40B4-BE49-F238E27FC236}">
                <a16:creationId xmlns:a16="http://schemas.microsoft.com/office/drawing/2014/main" id="{5A616062-C78D-4A58-98F8-2BBD78CF3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2F83B0F-8167-46BE-B916-9DE978834DE1}" type="slidenum">
              <a:rPr lang="ko-KR" altLang="en-US" sz="1200">
                <a:latin typeface="나눔명조" pitchFamily="18" charset="-127"/>
                <a:ea typeface="나눔명조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</a:t>
            </a:fld>
            <a:endParaRPr lang="en-US" altLang="ko-KR" sz="120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4342" name="Rectangle 1026">
            <a:extLst>
              <a:ext uri="{FF2B5EF4-FFF2-40B4-BE49-F238E27FC236}">
                <a16:creationId xmlns:a16="http://schemas.microsoft.com/office/drawing/2014/main" id="{AC1B09DA-1BEF-45B2-B1EC-E4FCF45E6F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4343" name="Rectangle 1027">
            <a:extLst>
              <a:ext uri="{FF2B5EF4-FFF2-40B4-BE49-F238E27FC236}">
                <a16:creationId xmlns:a16="http://schemas.microsoft.com/office/drawing/2014/main" id="{AE5C7CA0-B091-41D3-805C-342325EF04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9CDBBC3-AB02-475F-96E5-1E54C7A34F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550" y="-112713"/>
            <a:ext cx="8301038" cy="14446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defRPr/>
            </a:pP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제 </a:t>
            </a:r>
            <a:r>
              <a:rPr lang="en-US" altLang="ko-KR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2</a:t>
            </a: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장 </a:t>
            </a:r>
            <a:r>
              <a:rPr lang="en-US" altLang="ko-KR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: </a:t>
            </a:r>
            <a:r>
              <a:rPr lang="ko-KR" altLang="en-US" sz="3600" kern="0" dirty="0">
                <a:solidFill>
                  <a:srgbClr val="002060"/>
                </a:solidFill>
                <a:latin typeface="나눔명조" pitchFamily="18" charset="-127"/>
                <a:ea typeface="나눔명조" pitchFamily="18" charset="-127"/>
                <a:cs typeface="+mj-cs"/>
              </a:rPr>
              <a:t>경제와 자연환경</a:t>
            </a:r>
            <a:endParaRPr lang="en-US" altLang="ko-KR" sz="3600" kern="0" dirty="0">
              <a:solidFill>
                <a:srgbClr val="002060"/>
              </a:solidFill>
              <a:latin typeface="나눔명조" pitchFamily="18" charset="-127"/>
              <a:ea typeface="나눔명조" pitchFamily="18" charset="-127"/>
              <a:cs typeface="+mj-cs"/>
            </a:endParaRP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5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57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57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9" grpId="0" build="p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36">
            <a:extLst>
              <a:ext uri="{FF2B5EF4-FFF2-40B4-BE49-F238E27FC236}">
                <a16:creationId xmlns:a16="http://schemas.microsoft.com/office/drawing/2014/main" id="{21919B2F-19A9-4769-B7A7-C4C1B28B2A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723900"/>
            <a:ext cx="7313613" cy="1143000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경제와 자연환경의 상호관련성에 관한 이해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6387" name="Rectangle 1037">
            <a:extLst>
              <a:ext uri="{FF2B5EF4-FFF2-40B4-BE49-F238E27FC236}">
                <a16:creationId xmlns:a16="http://schemas.microsoft.com/office/drawing/2014/main" id="{F7C35DC7-BF74-4570-8170-5FFD1CE130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54113" y="2165350"/>
            <a:ext cx="7529512" cy="4114800"/>
          </a:xfrm>
        </p:spPr>
        <p:txBody>
          <a:bodyPr/>
          <a:lstStyle/>
          <a:p>
            <a:pPr eaLnBrk="1" hangingPunct="1"/>
            <a:r>
              <a:rPr lang="ko-KR" altLang="en-US" sz="2600">
                <a:latin typeface="나눔명조" pitchFamily="18" charset="-127"/>
                <a:ea typeface="나눔명조" pitchFamily="18" charset="-127"/>
              </a:rPr>
              <a:t>생산과 소비활동이 이루어지는 경제는 자연적인 질서에 의해 움직이는 자연환경 내에 존재하고</a:t>
            </a:r>
            <a:r>
              <a:rPr lang="en-US" altLang="ko-KR" sz="26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600">
                <a:latin typeface="나눔명조" pitchFamily="18" charset="-127"/>
                <a:ea typeface="나눔명조" pitchFamily="18" charset="-127"/>
              </a:rPr>
              <a:t>자연환경과 상호교류하고 있음</a:t>
            </a:r>
            <a:endParaRPr lang="en-US" altLang="ko-KR" sz="260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600">
                <a:latin typeface="나눔명조" pitchFamily="18" charset="-127"/>
                <a:ea typeface="나눔명조" pitchFamily="18" charset="-127"/>
              </a:rPr>
              <a:t>경제와 천연자원이 맺는 상호 관련성에 대한 이해는 경제와 경제학의 발전단계에 따라 변화</a:t>
            </a:r>
            <a:endParaRPr lang="en-US" altLang="ko-KR" sz="260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 고전학파와 신고전학파를 거쳐 </a:t>
            </a:r>
            <a:r>
              <a:rPr lang="en-US" altLang="ko-KR" sz="2400">
                <a:latin typeface="나눔명조" pitchFamily="18" charset="-127"/>
                <a:ea typeface="나눔명조" pitchFamily="18" charset="-127"/>
              </a:rPr>
              <a:t>20</a:t>
            </a:r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세기 후반의 현대 경제성장론에 이르기까지</a:t>
            </a:r>
            <a:r>
              <a:rPr lang="en-US" altLang="ko-KR" sz="24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경제가 발전하면서 천연자원의 희소성이 인간의 경제행위에 미치는 영향에 대한 인식이 약화되어옴</a:t>
            </a:r>
          </a:p>
        </p:txBody>
      </p:sp>
      <p:sp>
        <p:nvSpPr>
          <p:cNvPr id="16388" name="바닥글 개체 틀 4">
            <a:extLst>
              <a:ext uri="{FF2B5EF4-FFF2-40B4-BE49-F238E27FC236}">
                <a16:creationId xmlns:a16="http://schemas.microsoft.com/office/drawing/2014/main" id="{C28F5B9E-D434-4EE0-89AC-C6499F2D4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16389" name="슬라이드 번호 개체 틀 5">
            <a:extLst>
              <a:ext uri="{FF2B5EF4-FFF2-40B4-BE49-F238E27FC236}">
                <a16:creationId xmlns:a16="http://schemas.microsoft.com/office/drawing/2014/main" id="{6ABC26A2-4C8B-4E19-8709-0D0801C56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BE94BCC-6A18-410E-88D1-17F78C860FE4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16390" name="Rectangle 1026">
            <a:extLst>
              <a:ext uri="{FF2B5EF4-FFF2-40B4-BE49-F238E27FC236}">
                <a16:creationId xmlns:a16="http://schemas.microsoft.com/office/drawing/2014/main" id="{BC5670CE-7EA1-435C-BA8A-4EDD0EFEF5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16391" name="Rectangle 1027">
            <a:extLst>
              <a:ext uri="{FF2B5EF4-FFF2-40B4-BE49-F238E27FC236}">
                <a16:creationId xmlns:a16="http://schemas.microsoft.com/office/drawing/2014/main" id="{2D1500AC-0F6B-40B8-8E4C-76DE279FF7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1036">
            <a:extLst>
              <a:ext uri="{FF2B5EF4-FFF2-40B4-BE49-F238E27FC236}">
                <a16:creationId xmlns:a16="http://schemas.microsoft.com/office/drawing/2014/main" id="{21919B2F-19A9-4769-B7A7-C4C1B28B2A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4113" y="204069"/>
            <a:ext cx="7313613" cy="1143000"/>
          </a:xfrm>
        </p:spPr>
        <p:txBody>
          <a:bodyPr/>
          <a:lstStyle/>
          <a:p>
            <a:pPr eaLnBrk="1" hangingPunct="1"/>
            <a:b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경제와 자연환경의 상호관련성에 관한 이해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6387" name="Rectangle 1037">
            <a:extLst>
              <a:ext uri="{FF2B5EF4-FFF2-40B4-BE49-F238E27FC236}">
                <a16:creationId xmlns:a16="http://schemas.microsoft.com/office/drawing/2014/main" id="{F7C35DC7-BF74-4570-8170-5FFD1CE130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46163" y="1432577"/>
            <a:ext cx="7529512" cy="4114800"/>
          </a:xfrm>
        </p:spPr>
        <p:txBody>
          <a:bodyPr/>
          <a:lstStyle/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고전학파 경제학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(D. Ricardo, T. Malthus)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토지로 대표되는 천연자원의 중요성을 크게 인식</a:t>
            </a:r>
            <a:endParaRPr lang="en-US" altLang="ko-KR" sz="16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토지의 가치결정원리</a:t>
            </a:r>
            <a:r>
              <a:rPr lang="en-US" altLang="ko-KR" sz="16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제한된 토지로 경제성장을 이룩하는 문제 등을 중요하게 다룸</a:t>
            </a:r>
            <a:endParaRPr lang="en-US" altLang="ko-KR" sz="16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신고전학파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경제학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(A. Marshall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등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)</a:t>
            </a:r>
          </a:p>
          <a:p>
            <a:pPr lvl="1" eaLnBrk="1" hangingPunct="1"/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산업혁명을 거치며 인간이 만들어내는 자본으로 천연자원을 대체하는 것을 경험</a:t>
            </a:r>
            <a:endParaRPr lang="en-US" altLang="ko-KR" sz="16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식민지 개척 등으로 인해  천연자원보다는 노동과 자본을 중요한 생산요소로 인정함</a:t>
            </a:r>
            <a:endParaRPr lang="en-US" altLang="ko-KR" sz="16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현대경제성장론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(T. W. Schultz, R. E. Lucas, P, M. </a:t>
            </a:r>
            <a:r>
              <a:rPr lang="en-US" altLang="ko-KR" sz="2000" dirty="0" err="1">
                <a:latin typeface="나눔명조" pitchFamily="18" charset="-127"/>
                <a:ea typeface="나눔명조" pitchFamily="18" charset="-127"/>
              </a:rPr>
              <a:t>Romer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등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)</a:t>
            </a:r>
          </a:p>
          <a:p>
            <a:pPr lvl="1" eaLnBrk="1" hangingPunct="1"/>
            <a:r>
              <a:rPr lang="ko-KR" altLang="en-US" sz="1600" dirty="0" err="1">
                <a:latin typeface="나눔명조" pitchFamily="18" charset="-127"/>
                <a:ea typeface="나눔명조" pitchFamily="18" charset="-127"/>
              </a:rPr>
              <a:t>인간자본</a:t>
            </a:r>
            <a:r>
              <a:rPr lang="en-US" altLang="ko-KR" sz="1600" dirty="0">
                <a:latin typeface="나눔명조" pitchFamily="18" charset="-127"/>
                <a:ea typeface="나눔명조" pitchFamily="18" charset="-127"/>
              </a:rPr>
              <a:t>(human capital)</a:t>
            </a:r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의 역할을 특히 강조하고 노동도 효율성이 교육투자를 통해 결정되는 일종의 </a:t>
            </a:r>
            <a:r>
              <a:rPr lang="ko-KR" altLang="en-US" sz="1600" dirty="0" err="1">
                <a:latin typeface="나눔명조" pitchFamily="18" charset="-127"/>
                <a:ea typeface="나눔명조" pitchFamily="18" charset="-127"/>
              </a:rPr>
              <a:t>자본재라</a:t>
            </a:r>
            <a:r>
              <a:rPr lang="ko-KR" altLang="en-US" sz="1600" dirty="0">
                <a:latin typeface="나눔명조" pitchFamily="18" charset="-127"/>
                <a:ea typeface="나눔명조" pitchFamily="18" charset="-127"/>
              </a:rPr>
              <a:t> 인식함</a:t>
            </a:r>
          </a:p>
        </p:txBody>
      </p:sp>
      <p:sp>
        <p:nvSpPr>
          <p:cNvPr id="16388" name="바닥글 개체 틀 4">
            <a:extLst>
              <a:ext uri="{FF2B5EF4-FFF2-40B4-BE49-F238E27FC236}">
                <a16:creationId xmlns:a16="http://schemas.microsoft.com/office/drawing/2014/main" id="{C28F5B9E-D434-4EE0-89AC-C6499F2D4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16389" name="슬라이드 번호 개체 틀 5">
            <a:extLst>
              <a:ext uri="{FF2B5EF4-FFF2-40B4-BE49-F238E27FC236}">
                <a16:creationId xmlns:a16="http://schemas.microsoft.com/office/drawing/2014/main" id="{6ABC26A2-4C8B-4E19-8709-0D0801C56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BE94BCC-6A18-410E-88D1-17F78C860FE4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16390" name="Rectangle 1026">
            <a:extLst>
              <a:ext uri="{FF2B5EF4-FFF2-40B4-BE49-F238E27FC236}">
                <a16:creationId xmlns:a16="http://schemas.microsoft.com/office/drawing/2014/main" id="{BC5670CE-7EA1-435C-BA8A-4EDD0EFEF5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16391" name="Rectangle 1027">
            <a:extLst>
              <a:ext uri="{FF2B5EF4-FFF2-40B4-BE49-F238E27FC236}">
                <a16:creationId xmlns:a16="http://schemas.microsoft.com/office/drawing/2014/main" id="{2D1500AC-0F6B-40B8-8E4C-76DE279FF7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61856363"/>
      </p:ext>
    </p:extLst>
  </p:cSld>
  <p:clrMapOvr>
    <a:masterClrMapping/>
  </p:clrMapOvr>
  <p:transition spd="med">
    <p:pull dir="r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36">
            <a:extLst>
              <a:ext uri="{FF2B5EF4-FFF2-40B4-BE49-F238E27FC236}">
                <a16:creationId xmlns:a16="http://schemas.microsoft.com/office/drawing/2014/main" id="{2925A67E-F9DF-4DAC-8D95-14D772C858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723900"/>
            <a:ext cx="7313613" cy="1143000"/>
          </a:xfrm>
        </p:spPr>
        <p:txBody>
          <a:bodyPr/>
          <a:lstStyle/>
          <a:p>
            <a:pPr eaLnBrk="1" hangingPunct="1"/>
            <a:b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경제와 자연환경의 상호관련성에 관한 이해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8435" name="Rectangle 1037">
            <a:extLst>
              <a:ext uri="{FF2B5EF4-FFF2-40B4-BE49-F238E27FC236}">
                <a16:creationId xmlns:a16="http://schemas.microsoft.com/office/drawing/2014/main" id="{7FBBE4E5-5B7E-4788-891C-FF6F3F5EBD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54113" y="2165350"/>
            <a:ext cx="7529512" cy="4114800"/>
          </a:xfrm>
        </p:spPr>
        <p:txBody>
          <a:bodyPr/>
          <a:lstStyle/>
          <a:p>
            <a:pPr eaLnBrk="1" hangingPunct="1"/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반면</a:t>
            </a:r>
            <a:r>
              <a:rPr lang="en-US" altLang="ko-KR" sz="26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경제성장과정에서 인류가 경험한 환경오염이나 전 지구적인 천연자원 감소로 인해 인간의 </a:t>
            </a:r>
            <a:r>
              <a:rPr lang="ko-KR" altLang="en-US" sz="2600" dirty="0" err="1">
                <a:latin typeface="나눔명조" pitchFamily="18" charset="-127"/>
                <a:ea typeface="나눔명조" pitchFamily="18" charset="-127"/>
              </a:rPr>
              <a:t>경제행위와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 이를 둘러싼 자연환경과의 관계를 재검토하려는 시도가 나타남</a:t>
            </a:r>
            <a:endParaRPr lang="en-US" altLang="ko-KR" sz="26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니스 외</a:t>
            </a:r>
            <a:r>
              <a:rPr lang="en-US" altLang="ko-KR" sz="26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en-US" altLang="ko-KR" sz="2600" dirty="0" err="1">
                <a:latin typeface="나눔명조" pitchFamily="18" charset="-127"/>
                <a:ea typeface="나눔명조" pitchFamily="18" charset="-127"/>
              </a:rPr>
              <a:t>Kneese</a:t>
            </a:r>
            <a:r>
              <a:rPr lang="en-US" altLang="ko-KR" sz="2600" dirty="0">
                <a:latin typeface="나눔명조" pitchFamily="18" charset="-127"/>
                <a:ea typeface="나눔명조" pitchFamily="18" charset="-127"/>
              </a:rPr>
              <a:t> et al., 1970)</a:t>
            </a:r>
            <a:r>
              <a:rPr lang="ko-KR" altLang="en-US" sz="2600" dirty="0">
                <a:latin typeface="나눔명조" pitchFamily="18" charset="-127"/>
                <a:ea typeface="나눔명조" pitchFamily="18" charset="-127"/>
              </a:rPr>
              <a:t>에 의해 개발된 </a:t>
            </a:r>
            <a:r>
              <a:rPr lang="ko-KR" altLang="en-US" sz="26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물질균형접근법</a:t>
            </a:r>
            <a:r>
              <a:rPr lang="en-US" altLang="ko-KR" sz="2600" b="1" dirty="0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(material balance approach)</a:t>
            </a: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환경 및 자원과 관련된 여러 가지 문제들을 이해하는 데 있어 중요한 틀</a:t>
            </a:r>
            <a:endParaRPr lang="ko-KR" altLang="en-US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18436" name="바닥글 개체 틀 4">
            <a:extLst>
              <a:ext uri="{FF2B5EF4-FFF2-40B4-BE49-F238E27FC236}">
                <a16:creationId xmlns:a16="http://schemas.microsoft.com/office/drawing/2014/main" id="{F4618DB8-2046-4944-9DD8-37C25C36A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18437" name="슬라이드 번호 개체 틀 5">
            <a:extLst>
              <a:ext uri="{FF2B5EF4-FFF2-40B4-BE49-F238E27FC236}">
                <a16:creationId xmlns:a16="http://schemas.microsoft.com/office/drawing/2014/main" id="{529537F4-1DAA-4DA3-A381-F9BCAD336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8B4FCEC-5E30-4148-B450-2009E6F37907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18438" name="Rectangle 1026">
            <a:extLst>
              <a:ext uri="{FF2B5EF4-FFF2-40B4-BE49-F238E27FC236}">
                <a16:creationId xmlns:a16="http://schemas.microsoft.com/office/drawing/2014/main" id="{38AF1131-8305-40DD-BC84-A8ADFFE84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18439" name="Rectangle 1027">
            <a:extLst>
              <a:ext uri="{FF2B5EF4-FFF2-40B4-BE49-F238E27FC236}">
                <a16:creationId xmlns:a16="http://schemas.microsoft.com/office/drawing/2014/main" id="{55C42D1B-BC12-40D2-83F2-D359FC6128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6">
            <a:extLst>
              <a:ext uri="{FF2B5EF4-FFF2-40B4-BE49-F238E27FC236}">
                <a16:creationId xmlns:a16="http://schemas.microsoft.com/office/drawing/2014/main" id="{E33C56C8-1AB4-45C9-BC3F-CFD36F5F3E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371475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물질균형접근법</a:t>
            </a:r>
            <a:b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(material balance approach)</a:t>
            </a:r>
            <a:endParaRPr lang="ko-KR" altLang="en-US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0483" name="바닥글 개체 틀 4">
            <a:extLst>
              <a:ext uri="{FF2B5EF4-FFF2-40B4-BE49-F238E27FC236}">
                <a16:creationId xmlns:a16="http://schemas.microsoft.com/office/drawing/2014/main" id="{ED8EC7ED-380B-4E5B-973A-C38B32BAA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20484" name="슬라이드 번호 개체 틀 5">
            <a:extLst>
              <a:ext uri="{FF2B5EF4-FFF2-40B4-BE49-F238E27FC236}">
                <a16:creationId xmlns:a16="http://schemas.microsoft.com/office/drawing/2014/main" id="{B61267F1-35C1-441F-A828-2468DCFD1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A3D2EC5-4A2E-44D5-A7DB-42621859AFD1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20485" name="Rectangle 2">
            <a:extLst>
              <a:ext uri="{FF2B5EF4-FFF2-40B4-BE49-F238E27FC236}">
                <a16:creationId xmlns:a16="http://schemas.microsoft.com/office/drawing/2014/main" id="{465AD7F6-EC43-4A8A-B308-9904D91840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0486" name="Rectangle 3">
            <a:extLst>
              <a:ext uri="{FF2B5EF4-FFF2-40B4-BE49-F238E27FC236}">
                <a16:creationId xmlns:a16="http://schemas.microsoft.com/office/drawing/2014/main" id="{99289C09-DE6D-439D-A54C-4EBB8E4C2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pic>
        <p:nvPicPr>
          <p:cNvPr id="20487" name="그림 8" descr="Cap 2014-06-19 09-30-00-067.png">
            <a:extLst>
              <a:ext uri="{FF2B5EF4-FFF2-40B4-BE49-F238E27FC236}">
                <a16:creationId xmlns:a16="http://schemas.microsoft.com/office/drawing/2014/main" id="{61C26EC4-926A-4F8F-961D-1D475C604F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6525" y="1555750"/>
            <a:ext cx="6513513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9">
            <a:extLst>
              <a:ext uri="{FF2B5EF4-FFF2-40B4-BE49-F238E27FC236}">
                <a16:creationId xmlns:a16="http://schemas.microsoft.com/office/drawing/2014/main" id="{2EB3D5CF-493C-402B-A896-5B42625948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30300" y="1841500"/>
            <a:ext cx="7534275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인간의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경제행위와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자연환경은 크게 두 가지 경로를 통해 상호 밀접한 관계를 맺고 있음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자연으로부터 인간의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경제행위로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향하는 경로로서 천연자원의 흐름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자연으로부터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경제행위로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천연자원이 흘러 들어가는 과정을 연구하는 학문이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자원경제학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(resource economics)</a:t>
            </a:r>
            <a:endParaRPr lang="ko-KR" altLang="en-US" sz="20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천연자원의 흐름과는 반대방향으로 움직이는 것으로서 폐기물의 흐름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경제로부터 자연으로의 오염물질 흐름을 연구하는 학문이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환경경제학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(environmental economics)</a:t>
            </a:r>
            <a:endParaRPr lang="ko-KR" altLang="en-US" sz="2000" dirty="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endParaRPr lang="en-US" altLang="ko-KR" sz="19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2531" name="바닥글 개체 틀 4">
            <a:extLst>
              <a:ext uri="{FF2B5EF4-FFF2-40B4-BE49-F238E27FC236}">
                <a16:creationId xmlns:a16="http://schemas.microsoft.com/office/drawing/2014/main" id="{188BBA01-27A1-46C2-82AF-CC821844B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22532" name="슬라이드 번호 개체 틀 5">
            <a:extLst>
              <a:ext uri="{FF2B5EF4-FFF2-40B4-BE49-F238E27FC236}">
                <a16:creationId xmlns:a16="http://schemas.microsoft.com/office/drawing/2014/main" id="{678ABF74-897F-4B5B-95E7-496C6609F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6BE5E6C-2359-4D4A-9183-F2E865A750BA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22533" name="Rectangle 2">
            <a:extLst>
              <a:ext uri="{FF2B5EF4-FFF2-40B4-BE49-F238E27FC236}">
                <a16:creationId xmlns:a16="http://schemas.microsoft.com/office/drawing/2014/main" id="{581C526C-FA6F-4F92-AB55-0B9FCAA13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2534" name="Rectangle 3">
            <a:extLst>
              <a:ext uri="{FF2B5EF4-FFF2-40B4-BE49-F238E27FC236}">
                <a16:creationId xmlns:a16="http://schemas.microsoft.com/office/drawing/2014/main" id="{77F2090A-674F-40DB-AF02-E6314E55A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2535" name="Rectangle 6">
            <a:extLst>
              <a:ext uri="{FF2B5EF4-FFF2-40B4-BE49-F238E27FC236}">
                <a16:creationId xmlns:a16="http://schemas.microsoft.com/office/drawing/2014/main" id="{7E8287EC-EF29-4254-AAB6-9B9ADD6A6D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427038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물질균형접근법</a:t>
            </a:r>
            <a:b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</a:b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(material balance approach)</a:t>
            </a:r>
            <a:endParaRPr lang="ko-KR" altLang="en-US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9">
            <a:extLst>
              <a:ext uri="{FF2B5EF4-FFF2-40B4-BE49-F238E27FC236}">
                <a16:creationId xmlns:a16="http://schemas.microsoft.com/office/drawing/2014/main" id="{DEFC3261-4C7D-4CDB-89AC-C1545C7785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6325" y="1560513"/>
            <a:ext cx="7737475" cy="4114800"/>
          </a:xfrm>
        </p:spPr>
        <p:txBody>
          <a:bodyPr/>
          <a:lstStyle/>
          <a:p>
            <a:pPr eaLnBrk="1" hangingPunct="1"/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열역학법칙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제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1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법칙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물질이나 에너지는 창조되거나 파괴될 수 없다</a:t>
            </a: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제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2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법칙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물질이나 에너지의 형태가 전환되는 과정이 거듭될수록 사용할 수 없는 에너지의 양은 점차 증가한다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열역학법칙을 물질균형접근법에 적용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모든 천연자원을 이용하는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경제행위는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환경오염을 유발할 폐기물을 반드시 유출하며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천연자원을 다른 형태의 물질이나 에너지로 전환할 수 있는 능력은 제한되어 있음을 의미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경제와 자연을 복합적으로 연계하여 분석하는 것이 불가피</a:t>
            </a:r>
          </a:p>
          <a:p>
            <a:pPr eaLnBrk="1" hangingPunct="1"/>
            <a:endParaRPr lang="en-US" altLang="ko-KR" sz="26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4579" name="바닥글 개체 틀 4">
            <a:extLst>
              <a:ext uri="{FF2B5EF4-FFF2-40B4-BE49-F238E27FC236}">
                <a16:creationId xmlns:a16="http://schemas.microsoft.com/office/drawing/2014/main" id="{6D3ECD8F-4C76-4ABF-9B19-2810C9323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24580" name="슬라이드 번호 개체 틀 5">
            <a:extLst>
              <a:ext uri="{FF2B5EF4-FFF2-40B4-BE49-F238E27FC236}">
                <a16:creationId xmlns:a16="http://schemas.microsoft.com/office/drawing/2014/main" id="{ECA19905-6161-4F9D-8A35-B1FF04969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9B9E183-1AB2-4AF8-AECB-AAD680360B85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24581" name="Rectangle 2">
            <a:extLst>
              <a:ext uri="{FF2B5EF4-FFF2-40B4-BE49-F238E27FC236}">
                <a16:creationId xmlns:a16="http://schemas.microsoft.com/office/drawing/2014/main" id="{838CDF75-30E1-48B7-9CF3-C201720A36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4582" name="Rectangle 3">
            <a:extLst>
              <a:ext uri="{FF2B5EF4-FFF2-40B4-BE49-F238E27FC236}">
                <a16:creationId xmlns:a16="http://schemas.microsoft.com/office/drawing/2014/main" id="{A6941401-6464-457A-ACDA-8126A6175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4583" name="Rectangle 6">
            <a:extLst>
              <a:ext uri="{FF2B5EF4-FFF2-40B4-BE49-F238E27FC236}">
                <a16:creationId xmlns:a16="http://schemas.microsoft.com/office/drawing/2014/main" id="{90F9F648-FFAD-409D-AAA2-FCA5D6E5DD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55725" y="330200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열역학법칙의 물질균형접근법 적용</a:t>
            </a:r>
          </a:p>
        </p:txBody>
      </p:sp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052">
            <a:extLst>
              <a:ext uri="{FF2B5EF4-FFF2-40B4-BE49-F238E27FC236}">
                <a16:creationId xmlns:a16="http://schemas.microsoft.com/office/drawing/2014/main" id="{CE6C8A0B-43A2-4266-93DF-CD22535090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0013" y="266700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기초 용어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6627" name="Rectangle 2053">
            <a:extLst>
              <a:ext uri="{FF2B5EF4-FFF2-40B4-BE49-F238E27FC236}">
                <a16:creationId xmlns:a16="http://schemas.microsoft.com/office/drawing/2014/main" id="{0572543A-796F-4C55-9308-05E6905C7B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7113" y="1841500"/>
            <a:ext cx="7685087" cy="4114800"/>
          </a:xfrm>
        </p:spPr>
        <p:txBody>
          <a:bodyPr/>
          <a:lstStyle/>
          <a:p>
            <a:pPr eaLnBrk="1" hangingPunct="1"/>
            <a:r>
              <a:rPr lang="ko-KR" altLang="en-US" sz="2100" b="1" dirty="0" err="1">
                <a:latin typeface="나눔명조" pitchFamily="18" charset="-127"/>
                <a:ea typeface="나눔명조" pitchFamily="18" charset="-127"/>
              </a:rPr>
              <a:t>환경질</a:t>
            </a:r>
            <a:r>
              <a:rPr lang="en-US" altLang="ko-KR" sz="21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자연환경의 상태를 나타내기 위해 사용되는 용어</a:t>
            </a:r>
          </a:p>
          <a:p>
            <a:pPr eaLnBrk="1" hangingPunct="1"/>
            <a:r>
              <a:rPr lang="ko-KR" altLang="en-US" sz="2100" b="1" dirty="0">
                <a:latin typeface="나눔명조" pitchFamily="18" charset="-127"/>
                <a:ea typeface="나눔명조" pitchFamily="18" charset="-127"/>
              </a:rPr>
              <a:t>폐기물</a:t>
            </a:r>
            <a:r>
              <a:rPr lang="en-US" altLang="ko-KR" sz="21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어떤 산출물이 생산되거나 소비되는 과정을 거치고도 남은 물질</a:t>
            </a:r>
          </a:p>
          <a:p>
            <a:pPr eaLnBrk="1" hangingPunct="1"/>
            <a:r>
              <a:rPr lang="ko-KR" altLang="en-US" sz="2100" b="1" dirty="0">
                <a:latin typeface="나눔명조" pitchFamily="18" charset="-127"/>
                <a:ea typeface="나눔명조" pitchFamily="18" charset="-127"/>
              </a:rPr>
              <a:t>오염물질 배출량</a:t>
            </a:r>
            <a:r>
              <a:rPr lang="en-US" altLang="ko-KR" sz="21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폐기물 가운데 자연으로 배출된 양</a:t>
            </a:r>
          </a:p>
          <a:p>
            <a:pPr eaLnBrk="1" hangingPunct="1"/>
            <a:r>
              <a:rPr lang="ko-KR" altLang="en-US" sz="2100" b="1" dirty="0">
                <a:latin typeface="나눔명조" pitchFamily="18" charset="-127"/>
                <a:ea typeface="나눔명조" pitchFamily="18" charset="-127"/>
              </a:rPr>
              <a:t>오염물질</a:t>
            </a:r>
            <a:r>
              <a:rPr lang="en-US" altLang="ko-KR" sz="21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자연으로 배출될 경우 </a:t>
            </a:r>
            <a:r>
              <a:rPr lang="ko-KR" altLang="en-US" sz="2100" dirty="0" err="1">
                <a:latin typeface="나눔명조" pitchFamily="18" charset="-127"/>
                <a:ea typeface="나눔명조" pitchFamily="18" charset="-127"/>
              </a:rPr>
              <a:t>환경질을</a:t>
            </a:r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 떨어뜨리는 모든 물질이나 에너지</a:t>
            </a:r>
          </a:p>
          <a:p>
            <a:pPr eaLnBrk="1" hangingPunct="1"/>
            <a:r>
              <a:rPr lang="ko-KR" altLang="en-US" sz="2100" b="1" dirty="0">
                <a:latin typeface="나눔명조" pitchFamily="18" charset="-127"/>
                <a:ea typeface="나눔명조" pitchFamily="18" charset="-127"/>
              </a:rPr>
              <a:t>오염원</a:t>
            </a:r>
            <a:r>
              <a:rPr lang="en-US" altLang="ko-KR" sz="21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공장이나</a:t>
            </a:r>
            <a:r>
              <a:rPr lang="en-US" altLang="ko-KR" sz="21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자동차</a:t>
            </a:r>
            <a:r>
              <a:rPr lang="en-US" altLang="ko-KR" sz="21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쓰레기 매립장처럼 오염물질이 배출되는 장소나 위치</a:t>
            </a:r>
          </a:p>
          <a:p>
            <a:pPr eaLnBrk="1" hangingPunct="1"/>
            <a:r>
              <a:rPr lang="ko-KR" altLang="en-US" sz="2100" b="1" dirty="0" err="1">
                <a:latin typeface="나눔명조" pitchFamily="18" charset="-127"/>
                <a:ea typeface="나눔명조" pitchFamily="18" charset="-127"/>
              </a:rPr>
              <a:t>오염피해</a:t>
            </a:r>
            <a:r>
              <a:rPr lang="en-US" altLang="ko-KR" sz="21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환경오염이 사람과 생태계에 미치는 부정적인 영향</a:t>
            </a:r>
          </a:p>
          <a:p>
            <a:pPr eaLnBrk="1" hangingPunct="1"/>
            <a:r>
              <a:rPr lang="ko-KR" altLang="en-US" sz="2100" b="1" dirty="0" err="1">
                <a:latin typeface="나눔명조" pitchFamily="18" charset="-127"/>
                <a:ea typeface="나눔명조" pitchFamily="18" charset="-127"/>
              </a:rPr>
              <a:t>환경매체</a:t>
            </a:r>
            <a:r>
              <a:rPr lang="en-US" altLang="ko-KR" sz="21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토지</a:t>
            </a:r>
            <a:r>
              <a:rPr lang="en-US" altLang="ko-KR" sz="21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물</a:t>
            </a:r>
            <a:r>
              <a:rPr lang="en-US" altLang="ko-KR" sz="21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100" dirty="0">
                <a:latin typeface="나눔명조" pitchFamily="18" charset="-127"/>
                <a:ea typeface="나눔명조" pitchFamily="18" charset="-127"/>
              </a:rPr>
              <a:t>대기처럼 자연환경을 구성하는 요소</a:t>
            </a:r>
          </a:p>
          <a:p>
            <a:pPr lvl="1" eaLnBrk="1" hangingPunct="1"/>
            <a:endParaRPr lang="en-US" altLang="ko-KR" sz="2000" dirty="0">
              <a:ea typeface="굴림" panose="020B0600000101010101" pitchFamily="50" charset="-127"/>
            </a:endParaRPr>
          </a:p>
        </p:txBody>
      </p:sp>
      <p:sp>
        <p:nvSpPr>
          <p:cNvPr id="26628" name="바닥글 개체 틀 4">
            <a:extLst>
              <a:ext uri="{FF2B5EF4-FFF2-40B4-BE49-F238E27FC236}">
                <a16:creationId xmlns:a16="http://schemas.microsoft.com/office/drawing/2014/main" id="{EC23F0C1-4EAE-48C7-856F-02BAA1FCC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26629" name="슬라이드 번호 개체 틀 5">
            <a:extLst>
              <a:ext uri="{FF2B5EF4-FFF2-40B4-BE49-F238E27FC236}">
                <a16:creationId xmlns:a16="http://schemas.microsoft.com/office/drawing/2014/main" id="{4C897E21-8AC4-4484-B8FE-B03725CB4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F8B6EA3-2E48-4A32-9C0C-61E9973E8085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052">
            <a:extLst>
              <a:ext uri="{FF2B5EF4-FFF2-40B4-BE49-F238E27FC236}">
                <a16:creationId xmlns:a16="http://schemas.microsoft.com/office/drawing/2014/main" id="{E806FBF6-D193-41D0-8098-7852CF236A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8838" y="266700"/>
            <a:ext cx="77962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오염의 경로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7651" name="바닥글 개체 틀 4">
            <a:extLst>
              <a:ext uri="{FF2B5EF4-FFF2-40B4-BE49-F238E27FC236}">
                <a16:creationId xmlns:a16="http://schemas.microsoft.com/office/drawing/2014/main" id="{EA56D1E7-DFE7-4656-88E6-FB155F2EF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27652" name="슬라이드 번호 개체 틀 5">
            <a:extLst>
              <a:ext uri="{FF2B5EF4-FFF2-40B4-BE49-F238E27FC236}">
                <a16:creationId xmlns:a16="http://schemas.microsoft.com/office/drawing/2014/main" id="{8BA41A51-0381-44F2-BB5E-3DCD3614F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5E57AB7-D50C-4B0B-BD42-76C28E646982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pic>
        <p:nvPicPr>
          <p:cNvPr id="27653" name="그림 5" descr="Cap 2014-06-19 09-30-23-006.png">
            <a:extLst>
              <a:ext uri="{FF2B5EF4-FFF2-40B4-BE49-F238E27FC236}">
                <a16:creationId xmlns:a16="http://schemas.microsoft.com/office/drawing/2014/main" id="{3D2DDDCB-55C5-4590-B5E1-00756FEA59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6175" y="506413"/>
            <a:ext cx="5264150" cy="564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4" name="Rectangle 2053">
            <a:extLst>
              <a:ext uri="{FF2B5EF4-FFF2-40B4-BE49-F238E27FC236}">
                <a16:creationId xmlns:a16="http://schemas.microsoft.com/office/drawing/2014/main" id="{1DDC227E-2798-4D76-AC8C-64D6FBD8CB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49275" y="1798638"/>
            <a:ext cx="3519488" cy="4114800"/>
          </a:xfrm>
        </p:spPr>
        <p:txBody>
          <a:bodyPr/>
          <a:lstStyle/>
          <a:p>
            <a:pPr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오염물질이 오염원으로부터 배출되어 최종적으로 사람과 환경에 피해를 입히는 경로</a:t>
            </a:r>
            <a:endParaRPr lang="en-US" altLang="ko-KR" sz="2000">
              <a:latin typeface="나눔명조" pitchFamily="18" charset="-127"/>
              <a:ea typeface="나눔명조" pitchFamily="18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6">
            <a:extLst>
              <a:ext uri="{FF2B5EF4-FFF2-40B4-BE49-F238E27FC236}">
                <a16:creationId xmlns:a16="http://schemas.microsoft.com/office/drawing/2014/main" id="{0BA8A98D-216B-45BA-AACE-7471906CE7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오염의 경로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28675" name="Rectangle 7">
            <a:extLst>
              <a:ext uri="{FF2B5EF4-FFF2-40B4-BE49-F238E27FC236}">
                <a16:creationId xmlns:a16="http://schemas.microsoft.com/office/drawing/2014/main" id="{C0C9EF84-DDED-48C0-BAEF-8F7845392D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70013" y="1757363"/>
            <a:ext cx="7313612" cy="4114800"/>
          </a:xfrm>
        </p:spPr>
        <p:txBody>
          <a:bodyPr/>
          <a:lstStyle/>
          <a:p>
            <a:pPr eaLnBrk="1" hangingPunct="1"/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경제 내의 </a:t>
            </a:r>
            <a:r>
              <a:rPr lang="en-US" altLang="ko-KR" sz="2400">
                <a:latin typeface="나눔명조" pitchFamily="18" charset="-127"/>
                <a:ea typeface="나눔명조" pitchFamily="18" charset="-127"/>
              </a:rPr>
              <a:t>N</a:t>
            </a:r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개의 오염원이 경제행위를 하여 폐기물이 발생</a:t>
            </a:r>
          </a:p>
          <a:p>
            <a:pPr eaLnBrk="1" hangingPunct="1"/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폐기물은 희석</a:t>
            </a:r>
            <a:r>
              <a:rPr lang="en-US" altLang="ko-KR" sz="24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저장</a:t>
            </a:r>
            <a:r>
              <a:rPr lang="en-US" altLang="ko-KR" sz="24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재활용 등의 과정을 거쳐 일부는 결국 오염물질로 배출됨</a:t>
            </a:r>
          </a:p>
          <a:p>
            <a:pPr eaLnBrk="1" hangingPunct="1"/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배출된 오염물질은 대기</a:t>
            </a:r>
            <a:r>
              <a:rPr lang="en-US" altLang="ko-KR" sz="24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토지</a:t>
            </a:r>
            <a:r>
              <a:rPr lang="en-US" altLang="ko-KR" sz="24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물 등과 같은 환경매체의 일부나 전부를 반드시 거침</a:t>
            </a:r>
            <a:endParaRPr lang="en-US" altLang="ko-KR" sz="240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예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아황산가스의 경우 배출되면 대기라는 환경매체를 거쳐 산성비를 통해 지표나 하천으로 내리게 되며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결국 토양이나 수질의 산성화를 유발함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. 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이 경우 아황산가스는 세 가지 환경매체를 모두 거치게 됨</a:t>
            </a:r>
          </a:p>
        </p:txBody>
      </p:sp>
      <p:sp>
        <p:nvSpPr>
          <p:cNvPr id="28676" name="바닥글 개체 틀 4">
            <a:extLst>
              <a:ext uri="{FF2B5EF4-FFF2-40B4-BE49-F238E27FC236}">
                <a16:creationId xmlns:a16="http://schemas.microsoft.com/office/drawing/2014/main" id="{14EACFFB-6F67-4B54-8ADC-90D6E0665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28677" name="슬라이드 번호 개체 틀 5">
            <a:extLst>
              <a:ext uri="{FF2B5EF4-FFF2-40B4-BE49-F238E27FC236}">
                <a16:creationId xmlns:a16="http://schemas.microsoft.com/office/drawing/2014/main" id="{03EDF806-2072-402B-A585-001B896BA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00C8FAE-FD77-4F8D-A28D-0790623A9684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28678" name="Rectangle 2">
            <a:extLst>
              <a:ext uri="{FF2B5EF4-FFF2-40B4-BE49-F238E27FC236}">
                <a16:creationId xmlns:a16="http://schemas.microsoft.com/office/drawing/2014/main" id="{DE1EA5D1-F5DC-45F5-AE88-A5678CC9B9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28679" name="Rectangle 3">
            <a:extLst>
              <a:ext uri="{FF2B5EF4-FFF2-40B4-BE49-F238E27FC236}">
                <a16:creationId xmlns:a16="http://schemas.microsoft.com/office/drawing/2014/main" id="{22A64B24-E68E-4F0F-A707-24FD1C9DCF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6">
            <a:extLst>
              <a:ext uri="{FF2B5EF4-FFF2-40B4-BE49-F238E27FC236}">
                <a16:creationId xmlns:a16="http://schemas.microsoft.com/office/drawing/2014/main" id="{F1C2594E-212F-4621-BA50-D7BC476AD2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0013" y="338138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 dirty="0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오염의 경로</a:t>
            </a:r>
            <a:endParaRPr lang="en-US" altLang="ko-KR" dirty="0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0723" name="Rectangle 7">
            <a:extLst>
              <a:ext uri="{FF2B5EF4-FFF2-40B4-BE49-F238E27FC236}">
                <a16:creationId xmlns:a16="http://schemas.microsoft.com/office/drawing/2014/main" id="{7CB8CD05-DBB9-4626-A47E-9C0D911A57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54113" y="1771650"/>
            <a:ext cx="7529512" cy="4114800"/>
          </a:xfrm>
        </p:spPr>
        <p:txBody>
          <a:bodyPr/>
          <a:lstStyle/>
          <a:p>
            <a:pPr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배출된 오염물질은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환경매체를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통과하는 과정에서 서로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합쳐짐</a:t>
            </a:r>
            <a:endParaRPr lang="ko-KR" altLang="en-US" sz="22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합쳐지는 과정은 오염원 간 이질성에 의해 영향 받음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농가 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A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는 팔당수원지로부터 멀리 떨어진 상류에 위치하고 농가 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B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는 수원지 바로 옆에 위치하고 있다면 두 농가의 오염물질은 팔당호 수질을 결정하는 완전히 다른 종류의 오염물질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배출된 오염물질량과 여러 자연적인 요인에 의해 결정되는 </a:t>
            </a:r>
            <a:r>
              <a:rPr lang="ko-KR" altLang="en-US" sz="2200" dirty="0" err="1">
                <a:latin typeface="나눔명조" pitchFamily="18" charset="-127"/>
                <a:ea typeface="나눔명조" pitchFamily="18" charset="-127"/>
              </a:rPr>
              <a:t>환경질은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 인간과 생태계에 피해를 줌</a:t>
            </a:r>
          </a:p>
          <a:p>
            <a:pPr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동일한 정도의 오염도가 발생하더라도 인간이 어떤 행위를 하느냐에 따라 이로부터 입게 되는 피해의 정도는 달라짐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예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오염된 상수원에서 </a:t>
            </a:r>
            <a:r>
              <a:rPr lang="ko-KR" altLang="en-US" sz="1800" dirty="0" err="1">
                <a:latin typeface="나눔명조" pitchFamily="18" charset="-127"/>
                <a:ea typeface="나눔명조" pitchFamily="18" charset="-127"/>
              </a:rPr>
              <a:t>취수된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수돗물을 공급받더라도 정수기를 사용하거나 끓인 물을 식수로 사용하는 경우에는 수인성 질환을 앓을 가능성이 줄어듦</a:t>
            </a:r>
          </a:p>
        </p:txBody>
      </p:sp>
      <p:sp>
        <p:nvSpPr>
          <p:cNvPr id="30724" name="바닥글 개체 틀 4">
            <a:extLst>
              <a:ext uri="{FF2B5EF4-FFF2-40B4-BE49-F238E27FC236}">
                <a16:creationId xmlns:a16="http://schemas.microsoft.com/office/drawing/2014/main" id="{7F872B64-6F71-4CF3-ABB3-ED6A44F89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30725" name="슬라이드 번호 개체 틀 5">
            <a:extLst>
              <a:ext uri="{FF2B5EF4-FFF2-40B4-BE49-F238E27FC236}">
                <a16:creationId xmlns:a16="http://schemas.microsoft.com/office/drawing/2014/main" id="{77FFBB78-F726-4C4D-B2B7-B2A097E97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341F008-C068-444F-8CE6-D1B988727EBC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30726" name="Rectangle 2">
            <a:extLst>
              <a:ext uri="{FF2B5EF4-FFF2-40B4-BE49-F238E27FC236}">
                <a16:creationId xmlns:a16="http://schemas.microsoft.com/office/drawing/2014/main" id="{CB69BC20-5511-4805-96CA-D59060DDA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30727" name="Rectangle 3">
            <a:extLst>
              <a:ext uri="{FF2B5EF4-FFF2-40B4-BE49-F238E27FC236}">
                <a16:creationId xmlns:a16="http://schemas.microsoft.com/office/drawing/2014/main" id="{65CB1122-ED8B-4285-AFC0-18A956AA38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028">
            <a:extLst>
              <a:ext uri="{FF2B5EF4-FFF2-40B4-BE49-F238E27FC236}">
                <a16:creationId xmlns:a16="http://schemas.microsoft.com/office/drawing/2014/main" id="{B3C781DD-7892-4E95-B3C2-E156AD19BC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81150" y="331940"/>
            <a:ext cx="5981700" cy="1112685"/>
          </a:xfrm>
          <a:ln>
            <a:solidFill>
              <a:srgbClr val="7030A0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/>
            <a:r>
              <a:rPr lang="ko-KR" altLang="en-US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일회용 컵은 환경에 </a:t>
            </a:r>
            <a:r>
              <a:rPr lang="ko-KR" altLang="en-US" dirty="0" err="1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해로운가</a:t>
            </a:r>
            <a:r>
              <a:rPr lang="en-US" altLang="ko-KR" dirty="0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?</a:t>
            </a:r>
          </a:p>
        </p:txBody>
      </p:sp>
      <p:sp>
        <p:nvSpPr>
          <p:cNvPr id="32771" name="Rectangle 1029">
            <a:extLst>
              <a:ext uri="{FF2B5EF4-FFF2-40B4-BE49-F238E27FC236}">
                <a16:creationId xmlns:a16="http://schemas.microsoft.com/office/drawing/2014/main" id="{4CF05ACC-CCA4-4132-A0D6-C0C0CF4B3F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68400" y="1827213"/>
            <a:ext cx="7515225" cy="4114800"/>
          </a:xfrm>
        </p:spPr>
        <p:txBody>
          <a:bodyPr/>
          <a:lstStyle/>
          <a:p>
            <a:pPr eaLnBrk="1" hangingPunct="1"/>
            <a:r>
              <a:rPr lang="ko-KR" altLang="en-US" sz="2800" dirty="0">
                <a:latin typeface="나눔명조" pitchFamily="18" charset="-127"/>
                <a:ea typeface="나눔명조" pitchFamily="18" charset="-127"/>
              </a:rPr>
              <a:t>상품의 생산 및 소비로 인해 발생하는 오염물질량을 측정 및 비교하는 것은 단순하지 않음</a:t>
            </a:r>
            <a:endParaRPr lang="en-US" altLang="ko-KR" sz="28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특히 상품의 생산이나 소비와 관련된 행위 중 어느 단계까지 발생하는 오염물질 배출량을 측정할 것이냐는 문제가 있음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생산 재료를 구하는 과정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제조과정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가공과정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유통 및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사용과정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폐기과정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등의 모든 과정을 고려한다면 어느 상품이 더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친환경적이라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단언하기 쉽지 않음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2772" name="바닥글 개체 틀 4">
            <a:extLst>
              <a:ext uri="{FF2B5EF4-FFF2-40B4-BE49-F238E27FC236}">
                <a16:creationId xmlns:a16="http://schemas.microsoft.com/office/drawing/2014/main" id="{5E4BFC98-6738-4E3E-BDD8-A406FF2B9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32773" name="슬라이드 번호 개체 틀 5">
            <a:extLst>
              <a:ext uri="{FF2B5EF4-FFF2-40B4-BE49-F238E27FC236}">
                <a16:creationId xmlns:a16="http://schemas.microsoft.com/office/drawing/2014/main" id="{EC8348E0-63F7-44F7-B41B-6BA140CC2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DE9667C-B4D8-4D06-8E1D-98699EFB8794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029">
            <a:extLst>
              <a:ext uri="{FF2B5EF4-FFF2-40B4-BE49-F238E27FC236}">
                <a16:creationId xmlns:a16="http://schemas.microsoft.com/office/drawing/2014/main" id="{6D117C20-246D-42AE-9C15-841F06D270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68400" y="1827213"/>
            <a:ext cx="7515225" cy="4114800"/>
          </a:xfrm>
        </p:spPr>
        <p:txBody>
          <a:bodyPr/>
          <a:lstStyle/>
          <a:p>
            <a:pPr eaLnBrk="1" hangingPunct="1"/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컵의 사용과 관련된 전체 과정에서 발생하는 에너지를 계산한 캐나다 화학자 호킹</a:t>
            </a:r>
            <a:r>
              <a:rPr lang="en-US" altLang="ko-KR" sz="2400">
                <a:latin typeface="나눔명조" pitchFamily="18" charset="-127"/>
                <a:ea typeface="나눔명조" pitchFamily="18" charset="-127"/>
              </a:rPr>
              <a:t>(Hocking, 1994)</a:t>
            </a:r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의 연구</a:t>
            </a:r>
          </a:p>
          <a:p>
            <a:pPr lvl="1" eaLnBrk="1" hangingPunct="1"/>
            <a:r>
              <a:rPr lang="ko-KR" altLang="en-US" sz="2200">
                <a:latin typeface="나눔명조" pitchFamily="18" charset="-127"/>
                <a:ea typeface="나눔명조" pitchFamily="18" charset="-127"/>
              </a:rPr>
              <a:t>컵의 직접적인 사용행위만 보면 영구적인 컵이 더 친환경적이지만</a:t>
            </a:r>
            <a:r>
              <a:rPr lang="en-US" altLang="ko-KR" sz="22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200">
                <a:latin typeface="나눔명조" pitchFamily="18" charset="-127"/>
                <a:ea typeface="나눔명조" pitchFamily="18" charset="-127"/>
              </a:rPr>
              <a:t>제조과정에서 훨씬 더 많은 에너지를 필요로 함</a:t>
            </a:r>
            <a:r>
              <a:rPr lang="en-US" altLang="ko-KR" sz="2200">
                <a:latin typeface="나눔명조" pitchFamily="18" charset="-127"/>
                <a:ea typeface="나눔명조" pitchFamily="18" charset="-127"/>
              </a:rPr>
              <a:t>. </a:t>
            </a:r>
            <a:r>
              <a:rPr lang="ko-KR" altLang="en-US" sz="2200">
                <a:latin typeface="나눔명조" pitchFamily="18" charset="-127"/>
                <a:ea typeface="나눔명조" pitchFamily="18" charset="-127"/>
              </a:rPr>
              <a:t>영구적인 컵은 사용횟수가 많을수록 </a:t>
            </a:r>
            <a:r>
              <a:rPr lang="en-US" altLang="ko-KR" sz="2200">
                <a:latin typeface="나눔명조" pitchFamily="18" charset="-127"/>
                <a:ea typeface="나눔명조" pitchFamily="18" charset="-127"/>
              </a:rPr>
              <a:t>1</a:t>
            </a:r>
            <a:r>
              <a:rPr lang="ko-KR" altLang="en-US" sz="2200">
                <a:latin typeface="나눔명조" pitchFamily="18" charset="-127"/>
                <a:ea typeface="나눔명조" pitchFamily="18" charset="-127"/>
              </a:rPr>
              <a:t>회용 컵에 비해 장점이 커짐</a:t>
            </a:r>
            <a:endParaRPr lang="en-US" altLang="ko-KR" sz="220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>
                <a:latin typeface="나눔명조" pitchFamily="18" charset="-127"/>
                <a:ea typeface="나눔명조" pitchFamily="18" charset="-127"/>
              </a:rPr>
              <a:t>도자기</a:t>
            </a:r>
            <a:r>
              <a:rPr lang="en-US" altLang="ko-KR" sz="22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200">
                <a:latin typeface="나눔명조" pitchFamily="18" charset="-127"/>
                <a:ea typeface="나눔명조" pitchFamily="18" charset="-127"/>
              </a:rPr>
              <a:t>플라스틱</a:t>
            </a:r>
            <a:r>
              <a:rPr lang="en-US" altLang="ko-KR" sz="22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200">
                <a:latin typeface="나눔명조" pitchFamily="18" charset="-127"/>
                <a:ea typeface="나눔명조" pitchFamily="18" charset="-127"/>
              </a:rPr>
              <a:t>유리로 만든 컵이 종이컵보다 에너지 사용이 적으려면 각각 </a:t>
            </a:r>
            <a:r>
              <a:rPr lang="en-US" altLang="ko-KR" sz="2200">
                <a:latin typeface="나눔명조" pitchFamily="18" charset="-127"/>
                <a:ea typeface="나눔명조" pitchFamily="18" charset="-127"/>
              </a:rPr>
              <a:t>39</a:t>
            </a:r>
            <a:r>
              <a:rPr lang="ko-KR" altLang="en-US" sz="2200">
                <a:latin typeface="나눔명조" pitchFamily="18" charset="-127"/>
                <a:ea typeface="나눔명조" pitchFamily="18" charset="-127"/>
              </a:rPr>
              <a:t>회</a:t>
            </a:r>
            <a:r>
              <a:rPr lang="en-US" altLang="ko-KR" sz="2200">
                <a:latin typeface="나눔명조" pitchFamily="18" charset="-127"/>
                <a:ea typeface="나눔명조" pitchFamily="18" charset="-127"/>
              </a:rPr>
              <a:t>, 17</a:t>
            </a:r>
            <a:r>
              <a:rPr lang="ko-KR" altLang="en-US" sz="2200">
                <a:latin typeface="나눔명조" pitchFamily="18" charset="-127"/>
                <a:ea typeface="나눔명조" pitchFamily="18" charset="-127"/>
              </a:rPr>
              <a:t>회</a:t>
            </a:r>
            <a:r>
              <a:rPr lang="en-US" altLang="ko-KR" sz="2200">
                <a:latin typeface="나눔명조" pitchFamily="18" charset="-127"/>
                <a:ea typeface="나눔명조" pitchFamily="18" charset="-127"/>
              </a:rPr>
              <a:t>, 15</a:t>
            </a:r>
            <a:r>
              <a:rPr lang="ko-KR" altLang="en-US" sz="2200">
                <a:latin typeface="나눔명조" pitchFamily="18" charset="-127"/>
                <a:ea typeface="나눔명조" pitchFamily="18" charset="-127"/>
              </a:rPr>
              <a:t>회 이상 사용되어야 하고</a:t>
            </a:r>
            <a:r>
              <a:rPr lang="en-US" altLang="ko-KR" sz="22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200">
                <a:latin typeface="나눔명조" pitchFamily="18" charset="-127"/>
                <a:ea typeface="나눔명조" pitchFamily="18" charset="-127"/>
              </a:rPr>
              <a:t>폴리스티롤 컵보다 더 유리하려면 각각 무려 </a:t>
            </a:r>
            <a:r>
              <a:rPr lang="en-US" altLang="ko-KR" sz="2200">
                <a:latin typeface="나눔명조" pitchFamily="18" charset="-127"/>
                <a:ea typeface="나눔명조" pitchFamily="18" charset="-127"/>
              </a:rPr>
              <a:t>1,006</a:t>
            </a:r>
            <a:r>
              <a:rPr lang="ko-KR" altLang="en-US" sz="2200">
                <a:latin typeface="나눔명조" pitchFamily="18" charset="-127"/>
                <a:ea typeface="나눔명조" pitchFamily="18" charset="-127"/>
              </a:rPr>
              <a:t>회</a:t>
            </a:r>
            <a:r>
              <a:rPr lang="en-US" altLang="ko-KR" sz="2200">
                <a:latin typeface="나눔명조" pitchFamily="18" charset="-127"/>
                <a:ea typeface="나눔명조" pitchFamily="18" charset="-127"/>
              </a:rPr>
              <a:t>, 450</a:t>
            </a:r>
            <a:r>
              <a:rPr lang="ko-KR" altLang="en-US" sz="2200">
                <a:latin typeface="나눔명조" pitchFamily="18" charset="-127"/>
                <a:ea typeface="나눔명조" pitchFamily="18" charset="-127"/>
              </a:rPr>
              <a:t>회</a:t>
            </a:r>
            <a:r>
              <a:rPr lang="en-US" altLang="ko-KR" sz="2200">
                <a:latin typeface="나눔명조" pitchFamily="18" charset="-127"/>
                <a:ea typeface="나눔명조" pitchFamily="18" charset="-127"/>
              </a:rPr>
              <a:t>, 393</a:t>
            </a:r>
            <a:r>
              <a:rPr lang="ko-KR" altLang="en-US" sz="2200">
                <a:latin typeface="나눔명조" pitchFamily="18" charset="-127"/>
                <a:ea typeface="나눔명조" pitchFamily="18" charset="-127"/>
              </a:rPr>
              <a:t>회 이상 사용되어야 함</a:t>
            </a:r>
          </a:p>
          <a:p>
            <a:pPr lvl="1" eaLnBrk="1" hangingPunct="1"/>
            <a:endParaRPr lang="en-US" altLang="ko-KR" sz="200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3795" name="바닥글 개체 틀 4">
            <a:extLst>
              <a:ext uri="{FF2B5EF4-FFF2-40B4-BE49-F238E27FC236}">
                <a16:creationId xmlns:a16="http://schemas.microsoft.com/office/drawing/2014/main" id="{0567B4CB-3A2F-45B8-ACB7-816AA8D7B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33796" name="슬라이드 번호 개체 틀 5">
            <a:extLst>
              <a:ext uri="{FF2B5EF4-FFF2-40B4-BE49-F238E27FC236}">
                <a16:creationId xmlns:a16="http://schemas.microsoft.com/office/drawing/2014/main" id="{ED8B9B41-B250-4089-87CB-B2DDDFB02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FBA82C6-8E27-4E62-91DA-2C6E5B9A533B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33797" name="Rectangle 1028">
            <a:extLst>
              <a:ext uri="{FF2B5EF4-FFF2-40B4-BE49-F238E27FC236}">
                <a16:creationId xmlns:a16="http://schemas.microsoft.com/office/drawing/2014/main" id="{F3967ACD-0921-4FE8-9F20-3FD8951F07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81150" y="793750"/>
            <a:ext cx="5981700" cy="650875"/>
          </a:xfrm>
          <a:ln>
            <a:solidFill>
              <a:srgbClr val="7030A0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/>
            <a:r>
              <a:rPr lang="ko-KR" altLang="en-US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일회용 컵은 환경에 해로운가</a:t>
            </a:r>
            <a:r>
              <a:rPr lang="en-US" altLang="ko-KR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029">
            <a:extLst>
              <a:ext uri="{FF2B5EF4-FFF2-40B4-BE49-F238E27FC236}">
                <a16:creationId xmlns:a16="http://schemas.microsoft.com/office/drawing/2014/main" id="{3AF92D92-E701-400E-A1C7-5287C85CF1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66813" y="1527175"/>
            <a:ext cx="7516812" cy="4721225"/>
          </a:xfrm>
        </p:spPr>
        <p:txBody>
          <a:bodyPr/>
          <a:lstStyle/>
          <a:p>
            <a:pPr eaLnBrk="1" hangingPunct="1"/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전과정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(life cycle)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분석을 해야 특정 제품의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환경부하량을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제대로 계산할 수 있음</a:t>
            </a:r>
          </a:p>
          <a:p>
            <a:pPr lvl="1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전과정분석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원료획득부터 생산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사용 및 폐기에 이르는 제품의 </a:t>
            </a:r>
            <a:r>
              <a:rPr lang="ko-KR" altLang="en-US" sz="2000" dirty="0" err="1">
                <a:latin typeface="나눔명조" pitchFamily="18" charset="-127"/>
                <a:ea typeface="나눔명조" pitchFamily="18" charset="-127"/>
              </a:rPr>
              <a:t>전과정에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걸쳐 발생하는 환경에 대한 영향을 분석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전과정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평가틀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헨드릭슨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외</a:t>
            </a:r>
            <a:r>
              <a:rPr lang="en-US" altLang="ko-KR" sz="2400" dirty="0">
                <a:latin typeface="나눔명조" pitchFamily="18" charset="-127"/>
                <a:ea typeface="나눔명조" pitchFamily="18" charset="-127"/>
              </a:rPr>
              <a:t>, Hendrickson et al., 2006)</a:t>
            </a:r>
          </a:p>
          <a:p>
            <a:pPr eaLnBrk="1" hangingPunct="1"/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산업연관분석과 같은 거시적 접근법도 이용함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4819" name="바닥글 개체 틀 4">
            <a:extLst>
              <a:ext uri="{FF2B5EF4-FFF2-40B4-BE49-F238E27FC236}">
                <a16:creationId xmlns:a16="http://schemas.microsoft.com/office/drawing/2014/main" id="{5D9F0D4C-537B-4DB6-95CB-14F40946F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34820" name="슬라이드 번호 개체 틀 5">
            <a:extLst>
              <a:ext uri="{FF2B5EF4-FFF2-40B4-BE49-F238E27FC236}">
                <a16:creationId xmlns:a16="http://schemas.microsoft.com/office/drawing/2014/main" id="{86AD4887-33BA-467F-950B-243ED8258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3E40691-8AA1-4B8C-BE0E-7DAA3A46D601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pic>
        <p:nvPicPr>
          <p:cNvPr id="34821" name="그림 5" descr="Cap 2014-06-19 09-30-38-190.png">
            <a:extLst>
              <a:ext uri="{FF2B5EF4-FFF2-40B4-BE49-F238E27FC236}">
                <a16:creationId xmlns:a16="http://schemas.microsoft.com/office/drawing/2014/main" id="{2416F634-F790-4495-BB69-9D3A7BB0B2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150" y="3854928"/>
            <a:ext cx="6372225" cy="158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2" name="Rectangle 1028">
            <a:extLst>
              <a:ext uri="{FF2B5EF4-FFF2-40B4-BE49-F238E27FC236}">
                <a16:creationId xmlns:a16="http://schemas.microsoft.com/office/drawing/2014/main" id="{9EAB899D-9D1A-450D-A282-03087503EF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81150" y="225469"/>
            <a:ext cx="5981700" cy="1237414"/>
          </a:xfrm>
          <a:ln>
            <a:solidFill>
              <a:srgbClr val="7030A0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/>
            <a:r>
              <a:rPr lang="ko-KR" altLang="en-US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일회용 컵은 환경에 해로운가</a:t>
            </a:r>
            <a:r>
              <a:rPr lang="en-US" altLang="ko-KR">
                <a:solidFill>
                  <a:srgbClr val="7030A0"/>
                </a:solidFill>
                <a:latin typeface="나눔고딕" pitchFamily="50" charset="-127"/>
                <a:ea typeface="나눔고딕" pitchFamily="50" charset="-127"/>
              </a:rPr>
              <a:t>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6">
            <a:extLst>
              <a:ext uri="{FF2B5EF4-FFF2-40B4-BE49-F238E27FC236}">
                <a16:creationId xmlns:a16="http://schemas.microsoft.com/office/drawing/2014/main" id="{AAF28071-DACD-4797-BA13-EB2C6A97BD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98588" y="357188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오염물질의 종류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5843" name="Rectangle 7">
            <a:extLst>
              <a:ext uri="{FF2B5EF4-FFF2-40B4-BE49-F238E27FC236}">
                <a16:creationId xmlns:a16="http://schemas.microsoft.com/office/drawing/2014/main" id="{10A2B7F8-A4D7-422C-8216-64DF62FAFB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73163" y="1954213"/>
            <a:ext cx="7313612" cy="4114800"/>
          </a:xfrm>
        </p:spPr>
        <p:txBody>
          <a:bodyPr/>
          <a:lstStyle/>
          <a:p>
            <a:pPr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환경오염을 유발하는 오염물질은 여러 가지 기준을 사용하여 분류할 수 있음</a:t>
            </a:r>
            <a:endParaRPr lang="en-US" altLang="ko-KR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 축적성 오염물질과 비축적성 오염물질</a:t>
            </a:r>
          </a:p>
          <a:p>
            <a:pPr lvl="1"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 국지적 오염물질</a:t>
            </a:r>
            <a:r>
              <a:rPr lang="en-US" altLang="ko-KR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>
                <a:latin typeface="나눔명조" pitchFamily="18" charset="-127"/>
                <a:ea typeface="나눔명조" pitchFamily="18" charset="-127"/>
              </a:rPr>
              <a:t>지역적 오염물질과 월경오염물질 </a:t>
            </a:r>
          </a:p>
          <a:p>
            <a:pPr lvl="1"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 지상오염물질과 전 지구적 오염물질</a:t>
            </a:r>
          </a:p>
          <a:p>
            <a:pPr lvl="1"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 점원오염물질과 비점원오염물질   </a:t>
            </a:r>
          </a:p>
          <a:p>
            <a:pPr lvl="1"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 연속적 오염과 간헐적 오염 </a:t>
            </a:r>
            <a:endParaRPr lang="en-US" altLang="ko-KR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5844" name="바닥글 개체 틀 4">
            <a:extLst>
              <a:ext uri="{FF2B5EF4-FFF2-40B4-BE49-F238E27FC236}">
                <a16:creationId xmlns:a16="http://schemas.microsoft.com/office/drawing/2014/main" id="{3F75753C-ABF5-4348-9D99-8035B407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35845" name="슬라이드 번호 개체 틀 5">
            <a:extLst>
              <a:ext uri="{FF2B5EF4-FFF2-40B4-BE49-F238E27FC236}">
                <a16:creationId xmlns:a16="http://schemas.microsoft.com/office/drawing/2014/main" id="{F048C13C-C51E-44A3-BFD1-97BE2B127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9537543-2AF8-4D2E-847C-0DEE77B31FE0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35846" name="Rectangle 2">
            <a:extLst>
              <a:ext uri="{FF2B5EF4-FFF2-40B4-BE49-F238E27FC236}">
                <a16:creationId xmlns:a16="http://schemas.microsoft.com/office/drawing/2014/main" id="{2CC18D9A-C7DB-4F99-A3AB-4ACCE8F6A9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35847" name="Rectangle 3">
            <a:extLst>
              <a:ext uri="{FF2B5EF4-FFF2-40B4-BE49-F238E27FC236}">
                <a16:creationId xmlns:a16="http://schemas.microsoft.com/office/drawing/2014/main" id="{19CEAEE9-20EC-433C-AEC0-26910EB7A4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6">
            <a:extLst>
              <a:ext uri="{FF2B5EF4-FFF2-40B4-BE49-F238E27FC236}">
                <a16:creationId xmlns:a16="http://schemas.microsoft.com/office/drawing/2014/main" id="{85139000-BB11-463D-B20D-A0AD419D46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1450" y="709613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축적성 오염물질과 비축적성 오염물질</a:t>
            </a: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7891" name="Rectangle 7">
            <a:extLst>
              <a:ext uri="{FF2B5EF4-FFF2-40B4-BE49-F238E27FC236}">
                <a16:creationId xmlns:a16="http://schemas.microsoft.com/office/drawing/2014/main" id="{8F7A7521-6736-4D64-8B6C-B0FABAEEBC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25538" y="2066925"/>
            <a:ext cx="7558087" cy="4114800"/>
          </a:xfrm>
        </p:spPr>
        <p:txBody>
          <a:bodyPr/>
          <a:lstStyle/>
          <a:p>
            <a:pPr eaLnBrk="1" hangingPunct="1"/>
            <a:r>
              <a:rPr lang="ko-KR" altLang="en-US" sz="2300">
                <a:latin typeface="나눔명조" pitchFamily="18" charset="-127"/>
                <a:ea typeface="나눔명조" pitchFamily="18" charset="-127"/>
              </a:rPr>
              <a:t>생태계로 유출된 후 오래 동안 머물면서 축적이 되느냐</a:t>
            </a:r>
            <a:r>
              <a:rPr lang="en-US" altLang="ko-KR" sz="230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2300">
                <a:latin typeface="나눔명조" pitchFamily="18" charset="-127"/>
                <a:ea typeface="나눔명조" pitchFamily="18" charset="-127"/>
              </a:rPr>
              <a:t>축적성 오염물질</a:t>
            </a:r>
            <a:r>
              <a:rPr lang="en-US" altLang="ko-KR" sz="2300">
                <a:latin typeface="나눔명조" pitchFamily="18" charset="-127"/>
                <a:ea typeface="나눔명조" pitchFamily="18" charset="-127"/>
              </a:rPr>
              <a:t>)</a:t>
            </a:r>
            <a:r>
              <a:rPr lang="ko-KR" altLang="en-US" sz="2300">
                <a:latin typeface="나눔명조" pitchFamily="18" charset="-127"/>
                <a:ea typeface="나눔명조" pitchFamily="18" charset="-127"/>
              </a:rPr>
              <a:t> 아니면 곧바로 소멸되느냐</a:t>
            </a:r>
            <a:r>
              <a:rPr lang="en-US" altLang="ko-KR" sz="2300">
                <a:latin typeface="나눔명조" pitchFamily="18" charset="-127"/>
                <a:ea typeface="나눔명조" pitchFamily="18" charset="-127"/>
              </a:rPr>
              <a:t>(</a:t>
            </a:r>
            <a:r>
              <a:rPr lang="ko-KR" altLang="en-US" sz="2300">
                <a:latin typeface="나눔명조" pitchFamily="18" charset="-127"/>
                <a:ea typeface="나눔명조" pitchFamily="18" charset="-127"/>
              </a:rPr>
              <a:t>비축적성 오염물질</a:t>
            </a:r>
            <a:r>
              <a:rPr lang="en-US" altLang="ko-KR" sz="2300">
                <a:latin typeface="나눔명조" pitchFamily="18" charset="-127"/>
                <a:ea typeface="나눔명조" pitchFamily="18" charset="-127"/>
              </a:rPr>
              <a:t>) </a:t>
            </a:r>
          </a:p>
          <a:p>
            <a:pPr lvl="1" eaLnBrk="1" hangingPunct="1"/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비축적성의 예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발생과 동시에 바로 소멸되는 소음</a:t>
            </a:r>
          </a:p>
          <a:p>
            <a:pPr lvl="1"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 축적성의 예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핵폐기물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납과 같은 중금속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그리고 다이옥신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, PCB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와 같이 지속성을 가지는 합성화합물</a:t>
            </a:r>
          </a:p>
          <a:p>
            <a:pPr eaLnBrk="1" hangingPunct="1"/>
            <a:r>
              <a:rPr lang="ko-KR" altLang="en-US" sz="2300">
                <a:latin typeface="나눔명조" pitchFamily="18" charset="-127"/>
                <a:ea typeface="나눔명조" pitchFamily="18" charset="-127"/>
              </a:rPr>
              <a:t>대부분의 오염물질은 소음과 같은 극단적인 비축적성 오염물질과 핵폐기물과 같은 극단적인 축적성 오염물질 사이에 위치</a:t>
            </a:r>
            <a:endParaRPr lang="en-US" altLang="ko-KR" sz="230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오염물질의 축적성 여부는 배출되는 오염물질량이 </a:t>
            </a:r>
            <a:r>
              <a:rPr lang="ko-KR" altLang="en-US" sz="2000" b="1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자연의 흡수능력</a:t>
            </a:r>
            <a:r>
              <a:rPr lang="en-US" altLang="ko-KR" sz="2000" b="1">
                <a:solidFill>
                  <a:srgbClr val="0000FF"/>
                </a:solidFill>
                <a:latin typeface="나눔명조" pitchFamily="18" charset="-127"/>
                <a:ea typeface="나눔명조" pitchFamily="18" charset="-127"/>
              </a:rPr>
              <a:t>(absorptive capacity)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을 초과하느냐에 달려 있음</a:t>
            </a:r>
            <a:endParaRPr lang="en-US" altLang="ko-KR" sz="200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7892" name="바닥글 개체 틀 4">
            <a:extLst>
              <a:ext uri="{FF2B5EF4-FFF2-40B4-BE49-F238E27FC236}">
                <a16:creationId xmlns:a16="http://schemas.microsoft.com/office/drawing/2014/main" id="{6873F943-0AD1-4812-AA20-6BC1B1C12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37893" name="슬라이드 번호 개체 틀 5">
            <a:extLst>
              <a:ext uri="{FF2B5EF4-FFF2-40B4-BE49-F238E27FC236}">
                <a16:creationId xmlns:a16="http://schemas.microsoft.com/office/drawing/2014/main" id="{6F64D1A5-EAC4-437D-925C-DAAA55EFF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CC4FAEA-E8A1-46AF-9643-AA69BA4C03E1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37894" name="Rectangle 2">
            <a:extLst>
              <a:ext uri="{FF2B5EF4-FFF2-40B4-BE49-F238E27FC236}">
                <a16:creationId xmlns:a16="http://schemas.microsoft.com/office/drawing/2014/main" id="{85718551-0C38-4E09-9056-73DE802CA4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37895" name="Rectangle 3">
            <a:extLst>
              <a:ext uri="{FF2B5EF4-FFF2-40B4-BE49-F238E27FC236}">
                <a16:creationId xmlns:a16="http://schemas.microsoft.com/office/drawing/2014/main" id="{88F9F02F-9F66-49C1-B423-582B1CA7E9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6">
            <a:extLst>
              <a:ext uri="{FF2B5EF4-FFF2-40B4-BE49-F238E27FC236}">
                <a16:creationId xmlns:a16="http://schemas.microsoft.com/office/drawing/2014/main" id="{E8570598-0929-4A73-8AEC-466666D6D5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1450" y="639763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축적성 오염물질과 비축적성 오염물질</a:t>
            </a: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39939" name="Rectangle 7">
            <a:extLst>
              <a:ext uri="{FF2B5EF4-FFF2-40B4-BE49-F238E27FC236}">
                <a16:creationId xmlns:a16="http://schemas.microsoft.com/office/drawing/2014/main" id="{729D10CE-57E4-48E3-B36D-9FB02B95BE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11250" y="1954213"/>
            <a:ext cx="7558088" cy="4114800"/>
          </a:xfrm>
        </p:spPr>
        <p:txBody>
          <a:bodyPr/>
          <a:lstStyle/>
          <a:p>
            <a:pPr eaLnBrk="1" hangingPunct="1"/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오염물질의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축적성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여부에 따라 그 </a:t>
            </a:r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오염경로와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환경피해에 대한 이해가 달라짐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비축적성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오염물질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배출량과 오염도의 관계에 있어 시간이 중요한 변수가 아니며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오늘의 오염도는 오늘 배출량에 의해서만 결정됨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환경피해를 계측하고 관리를 하는 것이 상대적으로 쉬움</a:t>
            </a:r>
          </a:p>
          <a:p>
            <a:pPr eaLnBrk="1" hangingPunct="1"/>
            <a:r>
              <a:rPr lang="ko-KR" altLang="en-US" sz="2400" dirty="0" err="1">
                <a:latin typeface="나눔명조" pitchFamily="18" charset="-127"/>
                <a:ea typeface="나눔명조" pitchFamily="18" charset="-127"/>
              </a:rPr>
              <a:t>축적성</a:t>
            </a:r>
            <a:r>
              <a:rPr lang="ko-KR" altLang="en-US" sz="2400" dirty="0">
                <a:latin typeface="나눔명조" pitchFamily="18" charset="-127"/>
                <a:ea typeface="나눔명조" pitchFamily="18" charset="-127"/>
              </a:rPr>
              <a:t> 오염물질</a:t>
            </a:r>
            <a:endParaRPr lang="en-US" altLang="ko-KR" sz="24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오늘의 배출량은 한 달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일 년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수십 년 후의 오염도에도 영향을 미치게 됨</a:t>
            </a: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배출량과 오염도 간에 일종의 동태적 관계가 형성되며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 이를 이해하여야 효율적인 환경관리가 가능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39940" name="바닥글 개체 틀 4">
            <a:extLst>
              <a:ext uri="{FF2B5EF4-FFF2-40B4-BE49-F238E27FC236}">
                <a16:creationId xmlns:a16="http://schemas.microsoft.com/office/drawing/2014/main" id="{CCAF4AA2-B275-41E5-B1B4-56EB5935D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39941" name="슬라이드 번호 개체 틀 5">
            <a:extLst>
              <a:ext uri="{FF2B5EF4-FFF2-40B4-BE49-F238E27FC236}">
                <a16:creationId xmlns:a16="http://schemas.microsoft.com/office/drawing/2014/main" id="{6B3C9507-25B3-4918-9A65-AE9292C6A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E2F8A25-EC18-49E9-B92E-47E38A73BDED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39942" name="Rectangle 2">
            <a:extLst>
              <a:ext uri="{FF2B5EF4-FFF2-40B4-BE49-F238E27FC236}">
                <a16:creationId xmlns:a16="http://schemas.microsoft.com/office/drawing/2014/main" id="{63CEF2BD-63D4-4677-A326-B4E0954AA6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39943" name="Rectangle 3">
            <a:extLst>
              <a:ext uri="{FF2B5EF4-FFF2-40B4-BE49-F238E27FC236}">
                <a16:creationId xmlns:a16="http://schemas.microsoft.com/office/drawing/2014/main" id="{47840DCD-DBCA-4FE4-A9F0-679EC1D44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6">
            <a:extLst>
              <a:ext uri="{FF2B5EF4-FFF2-40B4-BE49-F238E27FC236}">
                <a16:creationId xmlns:a16="http://schemas.microsoft.com/office/drawing/2014/main" id="{90C3F183-5DDF-4887-AFBB-6B898260E1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625475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국지적 오염물질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지역적 오염물질과 월경오염물질</a:t>
            </a: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1987" name="Rectangle 7">
            <a:extLst>
              <a:ext uri="{FF2B5EF4-FFF2-40B4-BE49-F238E27FC236}">
                <a16:creationId xmlns:a16="http://schemas.microsoft.com/office/drawing/2014/main" id="{4E141746-DDF5-467E-9BEF-6BE47A387C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84250" y="1841500"/>
            <a:ext cx="7558088" cy="4114800"/>
          </a:xfrm>
        </p:spPr>
        <p:txBody>
          <a:bodyPr/>
          <a:lstStyle/>
          <a:p>
            <a:pPr eaLnBrk="1" hangingPunct="1"/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영향을 미치는 수평적 범위에 따라 국지적 오염물질</a:t>
            </a:r>
            <a:r>
              <a:rPr lang="en-US" altLang="ko-KR" sz="24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지역적</a:t>
            </a:r>
            <a:r>
              <a:rPr lang="en-US" altLang="ko-KR" sz="240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오염물질</a:t>
            </a:r>
            <a:r>
              <a:rPr lang="en-US" altLang="ko-KR" sz="24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월경오염물질로 분류</a:t>
            </a:r>
            <a:endParaRPr lang="en-US" altLang="ko-KR" sz="240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200">
                <a:latin typeface="나눔명조" pitchFamily="18" charset="-127"/>
                <a:ea typeface="나눔명조" pitchFamily="18" charset="-127"/>
              </a:rPr>
              <a:t>국지적 오염물질</a:t>
            </a:r>
            <a:r>
              <a:rPr lang="en-US" altLang="ko-KR" sz="220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200">
                <a:latin typeface="나눔명조" pitchFamily="18" charset="-127"/>
                <a:ea typeface="나눔명조" pitchFamily="18" charset="-127"/>
              </a:rPr>
              <a:t>오염의 영향이 오염원이 소재한 지역에만 국한됨</a:t>
            </a:r>
            <a:endParaRPr lang="en-US" altLang="ko-KR" sz="220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예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대기오염에 따른 도시의 스모그 현상</a:t>
            </a:r>
            <a:endParaRPr lang="ko-KR" altLang="en-US" sz="190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>
                <a:latin typeface="나눔명조" pitchFamily="18" charset="-127"/>
                <a:ea typeface="나눔명조" pitchFamily="18" charset="-127"/>
              </a:rPr>
              <a:t>지역적 오염물질</a:t>
            </a:r>
            <a:r>
              <a:rPr lang="en-US" altLang="ko-KR" sz="220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200">
                <a:latin typeface="나눔명조" pitchFamily="18" charset="-127"/>
                <a:ea typeface="나눔명조" pitchFamily="18" charset="-127"/>
              </a:rPr>
              <a:t>오염물질이 수백 </a:t>
            </a:r>
            <a:r>
              <a:rPr lang="en-US" altLang="ko-KR" sz="2200">
                <a:latin typeface="나눔명조" pitchFamily="18" charset="-127"/>
                <a:ea typeface="나눔명조" pitchFamily="18" charset="-127"/>
              </a:rPr>
              <a:t>km </a:t>
            </a:r>
            <a:r>
              <a:rPr lang="ko-KR" altLang="en-US" sz="2200">
                <a:latin typeface="나눔명조" pitchFamily="18" charset="-127"/>
                <a:ea typeface="나눔명조" pitchFamily="18" charset="-127"/>
              </a:rPr>
              <a:t>이상을 이동하며 여러 개의 행정단위에 걸친 피해를 초래</a:t>
            </a:r>
            <a:endParaRPr lang="en-US" altLang="ko-KR" sz="220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예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도시에서 유출된 오염물질이 농촌의 작물 및 생태계를 파괴</a:t>
            </a:r>
            <a:endParaRPr lang="ko-KR" altLang="en-US" sz="190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200">
                <a:latin typeface="나눔명조" pitchFamily="18" charset="-127"/>
                <a:ea typeface="나눔명조" pitchFamily="18" charset="-127"/>
              </a:rPr>
              <a:t>월경오염물질</a:t>
            </a:r>
            <a:r>
              <a:rPr lang="en-US" altLang="ko-KR" sz="220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200">
                <a:latin typeface="나눔명조" pitchFamily="18" charset="-127"/>
                <a:ea typeface="나눔명조" pitchFamily="18" charset="-127"/>
              </a:rPr>
              <a:t>지역적 오염물질 중 인접한 여러 국가의 자연환경에도 영향을 미치는 오염물질</a:t>
            </a:r>
            <a:endParaRPr lang="en-US" altLang="ko-KR" sz="220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예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중국의 산업활동에 의한 한국</a:t>
            </a:r>
            <a:r>
              <a:rPr lang="en-US" altLang="ko-KR" sz="20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>
                <a:latin typeface="나눔명조" pitchFamily="18" charset="-127"/>
                <a:ea typeface="나눔명조" pitchFamily="18" charset="-127"/>
              </a:rPr>
              <a:t>일본의 미세먼지 오염</a:t>
            </a:r>
            <a:endParaRPr lang="ko-KR" altLang="en-US" sz="280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1988" name="바닥글 개체 틀 4">
            <a:extLst>
              <a:ext uri="{FF2B5EF4-FFF2-40B4-BE49-F238E27FC236}">
                <a16:creationId xmlns:a16="http://schemas.microsoft.com/office/drawing/2014/main" id="{F22D6506-5CF4-4ECE-BDFC-EBF9D2B54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41989" name="슬라이드 번호 개체 틀 5">
            <a:extLst>
              <a:ext uri="{FF2B5EF4-FFF2-40B4-BE49-F238E27FC236}">
                <a16:creationId xmlns:a16="http://schemas.microsoft.com/office/drawing/2014/main" id="{3B1E86E6-502D-4491-A478-9EEBC7E20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F25633D-FC4E-42C2-AF42-39AB4F954762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41990" name="Rectangle 2">
            <a:extLst>
              <a:ext uri="{FF2B5EF4-FFF2-40B4-BE49-F238E27FC236}">
                <a16:creationId xmlns:a16="http://schemas.microsoft.com/office/drawing/2014/main" id="{5669207A-E3C1-4157-AECC-47161684B3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41991" name="Rectangle 3">
            <a:extLst>
              <a:ext uri="{FF2B5EF4-FFF2-40B4-BE49-F238E27FC236}">
                <a16:creationId xmlns:a16="http://schemas.microsoft.com/office/drawing/2014/main" id="{BD61B12B-799E-4415-953C-0A6A31D8C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6">
            <a:extLst>
              <a:ext uri="{FF2B5EF4-FFF2-40B4-BE49-F238E27FC236}">
                <a16:creationId xmlns:a16="http://schemas.microsoft.com/office/drawing/2014/main" id="{E8B17AEB-9BCF-461C-B92D-DF819380B9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625475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국지적 오염물질</a:t>
            </a:r>
            <a:r>
              <a:rPr lang="en-US" altLang="ko-KR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지역적 오염물질과 월경오염물질</a:t>
            </a: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4035" name="Rectangle 7">
            <a:extLst>
              <a:ext uri="{FF2B5EF4-FFF2-40B4-BE49-F238E27FC236}">
                <a16:creationId xmlns:a16="http://schemas.microsoft.com/office/drawing/2014/main" id="{8320FC19-059F-4E5E-A837-3D39C3847B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69975" y="2081213"/>
            <a:ext cx="7558088" cy="4114800"/>
          </a:xfrm>
        </p:spPr>
        <p:txBody>
          <a:bodyPr/>
          <a:lstStyle/>
          <a:p>
            <a:pPr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국지적 오염물질에 비해 지역적 혹은 월경오염물질을 관리하는 것이 훨씬 힘듦</a:t>
            </a:r>
            <a:endParaRPr lang="en-US" altLang="ko-KR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오염원이 소재한 행정구역이나 국가가 피해를 입는 행정구역이나 국가와는 다르므로</a:t>
            </a:r>
            <a:r>
              <a:rPr lang="en-US" altLang="ko-KR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>
                <a:latin typeface="나눔명조" pitchFamily="18" charset="-127"/>
                <a:ea typeface="나눔명조" pitchFamily="18" charset="-127"/>
              </a:rPr>
              <a:t>지방자치단체나 국가 간의 이해 조절이 필요함</a:t>
            </a:r>
          </a:p>
          <a:p>
            <a:pPr lvl="1" eaLnBrk="1" hangingPunct="1"/>
            <a:r>
              <a:rPr lang="ko-KR" altLang="en-US">
                <a:latin typeface="나눔명조" pitchFamily="18" charset="-127"/>
                <a:ea typeface="나눔명조" pitchFamily="18" charset="-127"/>
              </a:rPr>
              <a:t>특히 월경오염의 경우 각국의 이해관계를 조절할 수 있는 강력한 힘을 가진 국제협약이나 조직이 없는 상태에서는 효과적인 관리가 매우 어려움</a:t>
            </a:r>
          </a:p>
        </p:txBody>
      </p:sp>
      <p:sp>
        <p:nvSpPr>
          <p:cNvPr id="44036" name="바닥글 개체 틀 4">
            <a:extLst>
              <a:ext uri="{FF2B5EF4-FFF2-40B4-BE49-F238E27FC236}">
                <a16:creationId xmlns:a16="http://schemas.microsoft.com/office/drawing/2014/main" id="{44EBA471-36D5-4270-82B5-70073B842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44037" name="슬라이드 번호 개체 틀 5">
            <a:extLst>
              <a:ext uri="{FF2B5EF4-FFF2-40B4-BE49-F238E27FC236}">
                <a16:creationId xmlns:a16="http://schemas.microsoft.com/office/drawing/2014/main" id="{2BFD6E30-4697-4172-9103-B8C32DEF3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060E355-DDDB-4B67-BB03-288C5825FC83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44038" name="Rectangle 2">
            <a:extLst>
              <a:ext uri="{FF2B5EF4-FFF2-40B4-BE49-F238E27FC236}">
                <a16:creationId xmlns:a16="http://schemas.microsoft.com/office/drawing/2014/main" id="{FF9DB817-9868-4E18-9AD9-AA75D47B6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44039" name="Rectangle 3">
            <a:extLst>
              <a:ext uri="{FF2B5EF4-FFF2-40B4-BE49-F238E27FC236}">
                <a16:creationId xmlns:a16="http://schemas.microsoft.com/office/drawing/2014/main" id="{C5D44E28-5C6E-415B-A280-AD5776189F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6">
            <a:extLst>
              <a:ext uri="{FF2B5EF4-FFF2-40B4-BE49-F238E27FC236}">
                <a16:creationId xmlns:a16="http://schemas.microsoft.com/office/drawing/2014/main" id="{7BD9FF7A-54AD-4837-B602-60A5FFF307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3025" y="301625"/>
            <a:ext cx="7313613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지상오염물질과 전 지구적 오염물질</a:t>
            </a: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6083" name="Rectangle 7">
            <a:extLst>
              <a:ext uri="{FF2B5EF4-FFF2-40B4-BE49-F238E27FC236}">
                <a16:creationId xmlns:a16="http://schemas.microsoft.com/office/drawing/2014/main" id="{6B5A37BC-254C-439D-B03B-13CDA7A1C8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25538" y="1884363"/>
            <a:ext cx="7558087" cy="4545012"/>
          </a:xfrm>
        </p:spPr>
        <p:txBody>
          <a:bodyPr/>
          <a:lstStyle/>
          <a:p>
            <a:pPr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환경에 영향을 미치는 수직적 범위에 따라 지상오염물질과 전 지구적</a:t>
            </a:r>
            <a:r>
              <a:rPr lang="en-US" altLang="ko-KR" sz="22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오염물질로 분류됨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지상오염물질은 주로 지표면에 축적되어 환경을 파괴함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예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모든 종류의 수질 및 토양 오염물질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전 지구적 오염물질은 지구 대기권의 상층부에 축적되어 지구 전체의 환경을 광범위하게 파괴함</a:t>
            </a:r>
            <a:endParaRPr lang="en-US" altLang="ko-KR" sz="2000" dirty="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예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온실가스와 </a:t>
            </a:r>
            <a:r>
              <a:rPr lang="en-US" altLang="ko-KR" sz="1800" dirty="0">
                <a:latin typeface="나눔명조" pitchFamily="18" charset="-127"/>
                <a:ea typeface="나눔명조" pitchFamily="18" charset="-127"/>
              </a:rPr>
              <a:t>CFC</a:t>
            </a:r>
            <a:r>
              <a:rPr lang="ko-KR" altLang="en-US" sz="1800" dirty="0">
                <a:latin typeface="나눔명조" pitchFamily="18" charset="-127"/>
                <a:ea typeface="나눔명조" pitchFamily="18" charset="-127"/>
              </a:rPr>
              <a:t>가스</a:t>
            </a:r>
            <a:endParaRPr lang="en-US" altLang="ko-KR" sz="1800" dirty="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200" dirty="0">
                <a:latin typeface="나눔명조" pitchFamily="18" charset="-127"/>
                <a:ea typeface="나눔명조" pitchFamily="18" charset="-127"/>
              </a:rPr>
              <a:t>전 지구적 오염물질 관리를 위해서는 지구 전체 국가 간의 협력이 필요하기 때문에 지상오염물질의 관리와는 다른 접근 방법이 필요</a:t>
            </a:r>
            <a:endParaRPr lang="en-US" altLang="ko-KR" sz="2200" dirty="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기후변화 대응</a:t>
            </a:r>
            <a:r>
              <a:rPr lang="en-US" altLang="ko-KR" sz="2000" dirty="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000" dirty="0">
                <a:latin typeface="나눔명조" pitchFamily="18" charset="-127"/>
                <a:ea typeface="나눔명조" pitchFamily="18" charset="-127"/>
              </a:rPr>
              <a:t>오존층 보호 등을 위한 다양한 국제협약이 등장</a:t>
            </a:r>
            <a:endParaRPr lang="ko-KR" altLang="en-US" sz="2400" dirty="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6084" name="바닥글 개체 틀 4">
            <a:extLst>
              <a:ext uri="{FF2B5EF4-FFF2-40B4-BE49-F238E27FC236}">
                <a16:creationId xmlns:a16="http://schemas.microsoft.com/office/drawing/2014/main" id="{969EBE0C-9CA2-4503-8CBE-C49F55C68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46085" name="슬라이드 번호 개체 틀 5">
            <a:extLst>
              <a:ext uri="{FF2B5EF4-FFF2-40B4-BE49-F238E27FC236}">
                <a16:creationId xmlns:a16="http://schemas.microsoft.com/office/drawing/2014/main" id="{A973E4CE-C365-4002-AD11-84A07BAD0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EF4DC40-2CC6-43A6-B330-2EBFFA3EF096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46086" name="Rectangle 2">
            <a:extLst>
              <a:ext uri="{FF2B5EF4-FFF2-40B4-BE49-F238E27FC236}">
                <a16:creationId xmlns:a16="http://schemas.microsoft.com/office/drawing/2014/main" id="{6D150DFC-DC78-4B5D-82DE-60126BD79E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46087" name="Rectangle 3">
            <a:extLst>
              <a:ext uri="{FF2B5EF4-FFF2-40B4-BE49-F238E27FC236}">
                <a16:creationId xmlns:a16="http://schemas.microsoft.com/office/drawing/2014/main" id="{0598A719-5DC2-4236-8100-4E781DA2C5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1030">
            <a:extLst>
              <a:ext uri="{FF2B5EF4-FFF2-40B4-BE49-F238E27FC236}">
                <a16:creationId xmlns:a16="http://schemas.microsoft.com/office/drawing/2014/main" id="{756E71F3-86E6-444D-9CF7-82F246309C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00163" y="211138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점원오염물질과 비점원오염물질 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8131" name="Rectangle 1031">
            <a:extLst>
              <a:ext uri="{FF2B5EF4-FFF2-40B4-BE49-F238E27FC236}">
                <a16:creationId xmlns:a16="http://schemas.microsoft.com/office/drawing/2014/main" id="{A0D42308-EB03-4FB1-BD1C-69DBBFD22F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16013" y="1714500"/>
            <a:ext cx="7423150" cy="4114800"/>
          </a:xfrm>
        </p:spPr>
        <p:txBody>
          <a:bodyPr/>
          <a:lstStyle/>
          <a:p>
            <a:pPr eaLnBrk="1" hangingPunct="1"/>
            <a:r>
              <a:rPr lang="ko-KR" altLang="en-US" sz="2400">
                <a:latin typeface="나눔명조" pitchFamily="18" charset="-127"/>
                <a:ea typeface="나눔명조" pitchFamily="18" charset="-127"/>
              </a:rPr>
              <a:t>오염원과 오염경로가 정확히 파악될 수 있느냐에 따라 점원오염물질과 비점원오염물질로 분리됨</a:t>
            </a:r>
            <a:endParaRPr lang="en-US" altLang="ko-KR" sz="240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ko-KR" altLang="en-US" sz="2100">
                <a:latin typeface="나눔명조" pitchFamily="18" charset="-127"/>
                <a:ea typeface="나눔명조" pitchFamily="18" charset="-127"/>
              </a:rPr>
              <a:t>점원</a:t>
            </a:r>
            <a:r>
              <a:rPr lang="en-US" altLang="ko-KR" sz="2100">
                <a:latin typeface="나눔명조" pitchFamily="18" charset="-127"/>
                <a:ea typeface="나눔명조" pitchFamily="18" charset="-127"/>
              </a:rPr>
              <a:t>(point source): </a:t>
            </a:r>
            <a:r>
              <a:rPr lang="ko-KR" altLang="en-US" sz="2100">
                <a:latin typeface="나눔명조" pitchFamily="18" charset="-127"/>
                <a:ea typeface="나눔명조" pitchFamily="18" charset="-127"/>
              </a:rPr>
              <a:t>오염물질이 이 오염원으로부터 얼마나 배출되는지를 정확히 알 수 있는 오염원</a:t>
            </a:r>
            <a:r>
              <a:rPr lang="en-US" altLang="ko-KR" sz="2100">
                <a:latin typeface="나눔명조" pitchFamily="18" charset="-127"/>
                <a:ea typeface="나눔명조" pitchFamily="18" charset="-127"/>
              </a:rPr>
              <a:t>. </a:t>
            </a:r>
            <a:r>
              <a:rPr lang="ko-KR" altLang="en-US" sz="2100">
                <a:latin typeface="나눔명조" pitchFamily="18" charset="-127"/>
                <a:ea typeface="나눔명조" pitchFamily="18" charset="-127"/>
              </a:rPr>
              <a:t>점원오염물질은 점원으로부터 배출되는 오염물질</a:t>
            </a:r>
            <a:endParaRPr lang="en-US" altLang="ko-KR" sz="210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r>
              <a:rPr lang="ko-KR" altLang="en-US" sz="1900">
                <a:latin typeface="나눔명조" pitchFamily="18" charset="-127"/>
                <a:ea typeface="나눔명조" pitchFamily="18" charset="-127"/>
              </a:rPr>
              <a:t>예</a:t>
            </a:r>
            <a:r>
              <a:rPr lang="en-US" altLang="ko-KR" sz="190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1900">
                <a:latin typeface="나눔명조" pitchFamily="18" charset="-127"/>
                <a:ea typeface="나눔명조" pitchFamily="18" charset="-127"/>
              </a:rPr>
              <a:t>공장의 굴뚝</a:t>
            </a:r>
            <a:r>
              <a:rPr lang="en-US" altLang="ko-KR" sz="19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900">
                <a:latin typeface="나눔명조" pitchFamily="18" charset="-127"/>
                <a:ea typeface="나눔명조" pitchFamily="18" charset="-127"/>
              </a:rPr>
              <a:t>폐수처리장</a:t>
            </a:r>
          </a:p>
          <a:p>
            <a:pPr lvl="1" eaLnBrk="1" hangingPunct="1"/>
            <a:r>
              <a:rPr lang="ko-KR" altLang="en-US" sz="2100">
                <a:latin typeface="나눔명조" pitchFamily="18" charset="-127"/>
                <a:ea typeface="나눔명조" pitchFamily="18" charset="-127"/>
              </a:rPr>
              <a:t>비점원오염물질은 오염물질의 양이 어느 정도인지 정확히 알 수 없는 오염원인 비점원</a:t>
            </a:r>
            <a:r>
              <a:rPr lang="en-US" altLang="ko-KR" sz="2100">
                <a:latin typeface="나눔명조" pitchFamily="18" charset="-127"/>
                <a:ea typeface="나눔명조" pitchFamily="18" charset="-127"/>
              </a:rPr>
              <a:t>(nonpoint source)</a:t>
            </a:r>
            <a:r>
              <a:rPr lang="ko-KR" altLang="en-US" sz="2100">
                <a:latin typeface="나눔명조" pitchFamily="18" charset="-127"/>
                <a:ea typeface="나눔명조" pitchFamily="18" charset="-127"/>
              </a:rPr>
              <a:t>으로부터 나온 오염물질</a:t>
            </a:r>
            <a:r>
              <a:rPr lang="en-US" altLang="ko-KR" sz="21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2100">
                <a:latin typeface="나눔명조" pitchFamily="18" charset="-127"/>
                <a:ea typeface="나눔명조" pitchFamily="18" charset="-127"/>
              </a:rPr>
              <a:t>비교적 넓은 지역의 환경을 불분명한 경로를 거쳐 오염시킴</a:t>
            </a:r>
            <a:endParaRPr lang="en-US" altLang="ko-KR" sz="2100">
              <a:latin typeface="나눔명조" pitchFamily="18" charset="-127"/>
              <a:ea typeface="나눔명조" pitchFamily="18" charset="-127"/>
            </a:endParaRPr>
          </a:p>
          <a:p>
            <a:pPr lvl="2" eaLnBrk="1" hangingPunct="1"/>
            <a:r>
              <a:rPr lang="ko-KR" altLang="en-US" sz="1900">
                <a:latin typeface="나눔명조" pitchFamily="18" charset="-127"/>
                <a:ea typeface="나눔명조" pitchFamily="18" charset="-127"/>
              </a:rPr>
              <a:t>예</a:t>
            </a:r>
            <a:r>
              <a:rPr lang="en-US" altLang="ko-KR" sz="1900">
                <a:latin typeface="나눔명조" pitchFamily="18" charset="-127"/>
                <a:ea typeface="나눔명조" pitchFamily="18" charset="-127"/>
              </a:rPr>
              <a:t>: </a:t>
            </a:r>
            <a:r>
              <a:rPr lang="ko-KR" altLang="en-US" sz="1900">
                <a:latin typeface="나눔명조" pitchFamily="18" charset="-127"/>
                <a:ea typeface="나눔명조" pitchFamily="18" charset="-127"/>
              </a:rPr>
              <a:t>농경지의 농약이나 비료에 의한 수질오염</a:t>
            </a:r>
            <a:r>
              <a:rPr lang="en-US" altLang="ko-KR" sz="19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900">
                <a:latin typeface="나눔명조" pitchFamily="18" charset="-127"/>
                <a:ea typeface="나눔명조" pitchFamily="18" charset="-127"/>
              </a:rPr>
              <a:t>건설현장의 폐자재로 인한 오염</a:t>
            </a:r>
            <a:r>
              <a:rPr lang="en-US" altLang="ko-KR" sz="1900">
                <a:latin typeface="나눔명조" pitchFamily="18" charset="-127"/>
                <a:ea typeface="나눔명조" pitchFamily="18" charset="-127"/>
              </a:rPr>
              <a:t>, </a:t>
            </a:r>
            <a:r>
              <a:rPr lang="ko-KR" altLang="en-US" sz="1900">
                <a:latin typeface="나눔명조" pitchFamily="18" charset="-127"/>
                <a:ea typeface="나눔명조" pitchFamily="18" charset="-127"/>
              </a:rPr>
              <a:t>골프장의 농약 사용으로 인한 오염</a:t>
            </a:r>
          </a:p>
          <a:p>
            <a:pPr lvl="2" eaLnBrk="1" hangingPunct="1"/>
            <a:endParaRPr lang="ko-KR" altLang="en-US" sz="1700"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48132" name="바닥글 개체 틀 4">
            <a:extLst>
              <a:ext uri="{FF2B5EF4-FFF2-40B4-BE49-F238E27FC236}">
                <a16:creationId xmlns:a16="http://schemas.microsoft.com/office/drawing/2014/main" id="{9830A186-605D-4238-B83D-AB301E420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48133" name="슬라이드 번호 개체 틀 5">
            <a:extLst>
              <a:ext uri="{FF2B5EF4-FFF2-40B4-BE49-F238E27FC236}">
                <a16:creationId xmlns:a16="http://schemas.microsoft.com/office/drawing/2014/main" id="{15C30CC2-17B6-4B65-B20A-AD8E2BAB4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17A9ACA-5513-493C-B07A-C62F18696922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48134" name="Rectangle 1026">
            <a:extLst>
              <a:ext uri="{FF2B5EF4-FFF2-40B4-BE49-F238E27FC236}">
                <a16:creationId xmlns:a16="http://schemas.microsoft.com/office/drawing/2014/main" id="{AB751C7D-F20C-4FB9-A52F-850A8F3D6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48135" name="Rectangle 1027">
            <a:extLst>
              <a:ext uri="{FF2B5EF4-FFF2-40B4-BE49-F238E27FC236}">
                <a16:creationId xmlns:a16="http://schemas.microsoft.com/office/drawing/2014/main" id="{1FAD0518-4C87-4D77-B0A9-724C5BBEFC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1030">
            <a:extLst>
              <a:ext uri="{FF2B5EF4-FFF2-40B4-BE49-F238E27FC236}">
                <a16:creationId xmlns:a16="http://schemas.microsoft.com/office/drawing/2014/main" id="{5546CDB2-9EDF-4F26-98ED-3460275D8C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71588" y="301625"/>
            <a:ext cx="7313612" cy="1143000"/>
          </a:xfrm>
        </p:spPr>
        <p:txBody>
          <a:bodyPr/>
          <a:lstStyle/>
          <a:p>
            <a:pPr eaLnBrk="1" hangingPunct="1"/>
            <a:r>
              <a:rPr lang="ko-KR" altLang="en-US">
                <a:solidFill>
                  <a:srgbClr val="0070C0"/>
                </a:solidFill>
                <a:latin typeface="나눔명조" pitchFamily="18" charset="-127"/>
                <a:ea typeface="나눔명조" pitchFamily="18" charset="-127"/>
              </a:rPr>
              <a:t>연속적 오염과 간헐적 오염</a:t>
            </a:r>
            <a:endParaRPr lang="en-US" altLang="ko-KR">
              <a:solidFill>
                <a:srgbClr val="0070C0"/>
              </a:solidFill>
              <a:latin typeface="나눔명조" pitchFamily="18" charset="-127"/>
              <a:ea typeface="나눔명조" pitchFamily="18" charset="-127"/>
            </a:endParaRPr>
          </a:p>
        </p:txBody>
      </p:sp>
      <p:sp>
        <p:nvSpPr>
          <p:cNvPr id="50179" name="Rectangle 1031">
            <a:extLst>
              <a:ext uri="{FF2B5EF4-FFF2-40B4-BE49-F238E27FC236}">
                <a16:creationId xmlns:a16="http://schemas.microsoft.com/office/drawing/2014/main" id="{91815A27-BB20-421E-9D0D-7690DD76A0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30300" y="1827213"/>
            <a:ext cx="7437438" cy="4114800"/>
          </a:xfrm>
        </p:spPr>
        <p:txBody>
          <a:bodyPr/>
          <a:lstStyle/>
          <a:p>
            <a:pPr eaLnBrk="1" hangingPunct="1"/>
            <a:r>
              <a:rPr lang="ko-KR" altLang="en-US" sz="2800">
                <a:latin typeface="나눔명조" pitchFamily="18" charset="-127"/>
                <a:ea typeface="나눔명조" pitchFamily="18" charset="-127"/>
              </a:rPr>
              <a:t>연속적</a:t>
            </a:r>
            <a:r>
              <a:rPr lang="en-US" altLang="ko-KR" sz="2800">
                <a:latin typeface="나눔명조" pitchFamily="18" charset="-127"/>
                <a:ea typeface="나눔명조" pitchFamily="18" charset="-127"/>
              </a:rPr>
              <a:t>(continuous) </a:t>
            </a:r>
            <a:r>
              <a:rPr lang="ko-KR" altLang="en-US" sz="2800">
                <a:latin typeface="나눔명조" pitchFamily="18" charset="-127"/>
                <a:ea typeface="나눔명조" pitchFamily="18" charset="-127"/>
              </a:rPr>
              <a:t>오염</a:t>
            </a:r>
            <a:endParaRPr lang="en-US" altLang="ko-KR" sz="280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en-US" altLang="ko-KR" sz="240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300">
                <a:latin typeface="나눔명조" pitchFamily="18" charset="-127"/>
                <a:ea typeface="나눔명조" pitchFamily="18" charset="-127"/>
              </a:rPr>
              <a:t>연속적으로 배출되는 오염물질에 의한 환경오염</a:t>
            </a:r>
            <a:r>
              <a:rPr lang="en-US" altLang="ko-KR" sz="2300">
                <a:latin typeface="나눔명조" pitchFamily="18" charset="-127"/>
                <a:ea typeface="나눔명조" pitchFamily="18" charset="-127"/>
              </a:rPr>
              <a:t>. </a:t>
            </a:r>
            <a:r>
              <a:rPr lang="ko-KR" altLang="en-US" sz="2300">
                <a:latin typeface="나눔명조" pitchFamily="18" charset="-127"/>
                <a:ea typeface="나눔명조" pitchFamily="18" charset="-127"/>
              </a:rPr>
              <a:t>공장의 굴뚝이나 폐수처리장에서 배출되는 오염물질</a:t>
            </a:r>
            <a:endParaRPr lang="en-US" altLang="ko-KR" sz="2300">
              <a:latin typeface="나눔명조" pitchFamily="18" charset="-127"/>
              <a:ea typeface="나눔명조" pitchFamily="18" charset="-127"/>
            </a:endParaRPr>
          </a:p>
          <a:p>
            <a:pPr lvl="1" eaLnBrk="1" hangingPunct="1"/>
            <a:r>
              <a:rPr lang="en-US" altLang="ko-KR" sz="230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300">
                <a:latin typeface="나눔명조" pitchFamily="18" charset="-127"/>
                <a:ea typeface="나눔명조" pitchFamily="18" charset="-127"/>
              </a:rPr>
              <a:t>단위 기간 당 오염물질이 배출되는 양을 관리하는 것이 필요</a:t>
            </a:r>
            <a:endParaRPr lang="en-US" altLang="ko-KR" sz="2300">
              <a:latin typeface="나눔명조" pitchFamily="18" charset="-127"/>
              <a:ea typeface="나눔명조" pitchFamily="18" charset="-127"/>
            </a:endParaRPr>
          </a:p>
          <a:p>
            <a:pPr eaLnBrk="1" hangingPunct="1"/>
            <a:r>
              <a:rPr lang="ko-KR" altLang="en-US" sz="2800">
                <a:latin typeface="나눔명조" pitchFamily="18" charset="-127"/>
                <a:ea typeface="나눔명조" pitchFamily="18" charset="-127"/>
              </a:rPr>
              <a:t>간헐적</a:t>
            </a:r>
            <a:r>
              <a:rPr lang="en-US" altLang="ko-KR" sz="2800">
                <a:latin typeface="나눔명조" pitchFamily="18" charset="-127"/>
                <a:ea typeface="나눔명조" pitchFamily="18" charset="-127"/>
              </a:rPr>
              <a:t>(episodic) </a:t>
            </a:r>
            <a:r>
              <a:rPr lang="ko-KR" altLang="en-US" sz="2800">
                <a:latin typeface="나눔명조" pitchFamily="18" charset="-127"/>
                <a:ea typeface="나눔명조" pitchFamily="18" charset="-127"/>
              </a:rPr>
              <a:t>오염</a:t>
            </a:r>
          </a:p>
          <a:p>
            <a:pPr lvl="1" eaLnBrk="1" hangingPunct="1"/>
            <a:r>
              <a:rPr lang="en-US" altLang="ko-KR" sz="2400">
                <a:latin typeface="나눔명조" pitchFamily="18" charset="-127"/>
                <a:ea typeface="나눔명조" pitchFamily="18" charset="-127"/>
              </a:rPr>
              <a:t> </a:t>
            </a:r>
            <a:r>
              <a:rPr lang="ko-KR" altLang="en-US" sz="2300">
                <a:latin typeface="나눔명조" pitchFamily="18" charset="-127"/>
                <a:ea typeface="나눔명조" pitchFamily="18" charset="-127"/>
              </a:rPr>
              <a:t>핵발전소의 방사능 유출이나 유조선의 좌초에 따른 기름 유출과 같은 오염</a:t>
            </a:r>
          </a:p>
          <a:p>
            <a:pPr lvl="1" eaLnBrk="1" hangingPunct="1"/>
            <a:r>
              <a:rPr lang="ko-KR" altLang="en-US" sz="2300">
                <a:latin typeface="나눔명조" pitchFamily="18" charset="-127"/>
                <a:ea typeface="나눔명조" pitchFamily="18" charset="-127"/>
              </a:rPr>
              <a:t>주로 오염이 발생할 확률을 낮추는 쪽으로 관리</a:t>
            </a:r>
          </a:p>
        </p:txBody>
      </p:sp>
      <p:sp>
        <p:nvSpPr>
          <p:cNvPr id="50180" name="바닥글 개체 틀 4">
            <a:extLst>
              <a:ext uri="{FF2B5EF4-FFF2-40B4-BE49-F238E27FC236}">
                <a16:creationId xmlns:a16="http://schemas.microsoft.com/office/drawing/2014/main" id="{0DC0689D-3C82-4581-BC36-A8C60BEA6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ko-KR" altLang="en-US" sz="1200">
                <a:latin typeface="나눔고딕" pitchFamily="50" charset="-127"/>
                <a:ea typeface="나눔고딕" pitchFamily="50" charset="-127"/>
              </a:rPr>
              <a:t>Chapter </a:t>
            </a:r>
            <a:r>
              <a:rPr lang="en-US" altLang="ko-KR" sz="1200">
                <a:latin typeface="나눔고딕" pitchFamily="50" charset="-127"/>
                <a:ea typeface="나눔고딕" pitchFamily="50" charset="-127"/>
              </a:rPr>
              <a:t>2</a:t>
            </a:r>
          </a:p>
        </p:txBody>
      </p:sp>
      <p:sp>
        <p:nvSpPr>
          <p:cNvPr id="50181" name="슬라이드 번호 개체 틀 5">
            <a:extLst>
              <a:ext uri="{FF2B5EF4-FFF2-40B4-BE49-F238E27FC236}">
                <a16:creationId xmlns:a16="http://schemas.microsoft.com/office/drawing/2014/main" id="{A84BEB4C-B635-4D50-954C-4F6743DC4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E30323B-E7D2-44CF-A73D-14BAC9A00E23}" type="slidenum">
              <a:rPr lang="ko-KR" altLang="en-US" sz="1200">
                <a:latin typeface="Verdan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en-US" altLang="ko-KR" sz="1200">
              <a:latin typeface="Verdana" panose="020B0604030504040204" pitchFamily="34" charset="0"/>
            </a:endParaRPr>
          </a:p>
        </p:txBody>
      </p:sp>
      <p:sp>
        <p:nvSpPr>
          <p:cNvPr id="50182" name="Rectangle 1026">
            <a:extLst>
              <a:ext uri="{FF2B5EF4-FFF2-40B4-BE49-F238E27FC236}">
                <a16:creationId xmlns:a16="http://schemas.microsoft.com/office/drawing/2014/main" id="{9DEC2005-2473-4383-8D90-E17FD8C0D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  <p:sp>
        <p:nvSpPr>
          <p:cNvPr id="50183" name="Rectangle 1027">
            <a:extLst>
              <a:ext uri="{FF2B5EF4-FFF2-40B4-BE49-F238E27FC236}">
                <a16:creationId xmlns:a16="http://schemas.microsoft.com/office/drawing/2014/main" id="{A949F5FB-AFA1-47E1-9E58-AAE044B4A2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l"/>
              <a:defRPr sz="29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8D7DFF"/>
              </a:buClr>
              <a:buFont typeface="Wingdings" panose="05000000000000000000" pitchFamily="2" charset="2"/>
              <a:buChar char="m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l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8D7DFF"/>
              </a:buClr>
              <a:buSzPct val="80000"/>
              <a:buFont typeface="Wingdings" panose="05000000000000000000" pitchFamily="2" charset="2"/>
              <a:buChar char="m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8D7DFF"/>
              </a:buClr>
              <a:buSzPct val="70000"/>
              <a:buFont typeface="Wingdings" panose="05000000000000000000" pitchFamily="2" charset="2"/>
              <a:buChar char="l"/>
              <a:defRPr sz="19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ko-KR" altLang="en-US">
              <a:solidFill>
                <a:srgbClr val="8D7DFF"/>
              </a:solidFill>
              <a:latin typeface="Verdana" panose="020B060403050404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  <p:transition spd="med">
    <p:pull dir="ru"/>
  </p:transition>
</p:sld>
</file>

<file path=ppt/theme/theme1.xml><?xml version="1.0" encoding="utf-8"?>
<a:theme xmlns:a="http://schemas.openxmlformats.org/drawingml/2006/main" name="Pindyck">
  <a:themeElements>
    <a:clrScheme name="Pindyck 1">
      <a:dk1>
        <a:srgbClr val="000000"/>
      </a:dk1>
      <a:lt1>
        <a:srgbClr val="FFFFFF"/>
      </a:lt1>
      <a:dk2>
        <a:srgbClr val="006666"/>
      </a:dk2>
      <a:lt2>
        <a:srgbClr val="5F5F5F"/>
      </a:lt2>
      <a:accent1>
        <a:srgbClr val="33CCCC"/>
      </a:accent1>
      <a:accent2>
        <a:srgbClr val="99CCCC"/>
      </a:accent2>
      <a:accent3>
        <a:srgbClr val="FFFFFF"/>
      </a:accent3>
      <a:accent4>
        <a:srgbClr val="000000"/>
      </a:accent4>
      <a:accent5>
        <a:srgbClr val="ADE2E2"/>
      </a:accent5>
      <a:accent6>
        <a:srgbClr val="8AB9B9"/>
      </a:accent6>
      <a:hlink>
        <a:srgbClr val="006666"/>
      </a:hlink>
      <a:folHlink>
        <a:srgbClr val="B2B2B2"/>
      </a:folHlink>
    </a:clrScheme>
    <a:fontScheme name="Pindyck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900" b="1" i="0" u="none" strike="noStrike" cap="none" normalizeH="0" baseline="0" smtClean="0">
            <a:ln>
              <a:noFill/>
            </a:ln>
            <a:solidFill>
              <a:srgbClr val="8D7DFF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900" b="1" i="0" u="none" strike="noStrike" cap="none" normalizeH="0" baseline="0" smtClean="0">
            <a:ln>
              <a:noFill/>
            </a:ln>
            <a:solidFill>
              <a:srgbClr val="8D7DFF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indyck 1">
        <a:dk1>
          <a:srgbClr val="000000"/>
        </a:dk1>
        <a:lt1>
          <a:srgbClr val="FFFFFF"/>
        </a:lt1>
        <a:dk2>
          <a:srgbClr val="006666"/>
        </a:dk2>
        <a:lt2>
          <a:srgbClr val="5F5F5F"/>
        </a:lt2>
        <a:accent1>
          <a:srgbClr val="33CCCC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AB9B9"/>
        </a:accent6>
        <a:hlink>
          <a:srgbClr val="00666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2">
        <a:dk1>
          <a:srgbClr val="000000"/>
        </a:dk1>
        <a:lt1>
          <a:srgbClr val="FFFFFF"/>
        </a:lt1>
        <a:dk2>
          <a:srgbClr val="333366"/>
        </a:dk2>
        <a:lt2>
          <a:srgbClr val="5F5F5F"/>
        </a:lt2>
        <a:accent1>
          <a:srgbClr val="CC99FF"/>
        </a:accent1>
        <a:accent2>
          <a:srgbClr val="99CCCC"/>
        </a:accent2>
        <a:accent3>
          <a:srgbClr val="FFFFFF"/>
        </a:accent3>
        <a:accent4>
          <a:srgbClr val="000000"/>
        </a:accent4>
        <a:accent5>
          <a:srgbClr val="E2CAFF"/>
        </a:accent5>
        <a:accent6>
          <a:srgbClr val="8AB9B9"/>
        </a:accent6>
        <a:hlink>
          <a:srgbClr val="666699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3">
        <a:dk1>
          <a:srgbClr val="000000"/>
        </a:dk1>
        <a:lt1>
          <a:srgbClr val="FFFFFF"/>
        </a:lt1>
        <a:dk2>
          <a:srgbClr val="0000CC"/>
        </a:dk2>
        <a:lt2>
          <a:srgbClr val="434343"/>
        </a:lt2>
        <a:accent1>
          <a:srgbClr val="99CC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E7B900"/>
        </a:accent6>
        <a:hlink>
          <a:srgbClr val="FF00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4">
        <a:dk1>
          <a:srgbClr val="000000"/>
        </a:dk1>
        <a:lt1>
          <a:srgbClr val="64AAAE"/>
        </a:lt1>
        <a:dk2>
          <a:srgbClr val="FFFFCC"/>
        </a:dk2>
        <a:lt2>
          <a:srgbClr val="5F5F5F"/>
        </a:lt2>
        <a:accent1>
          <a:srgbClr val="B4B1DB"/>
        </a:accent1>
        <a:accent2>
          <a:srgbClr val="61C1D7"/>
        </a:accent2>
        <a:accent3>
          <a:srgbClr val="B8D2D3"/>
        </a:accent3>
        <a:accent4>
          <a:srgbClr val="000000"/>
        </a:accent4>
        <a:accent5>
          <a:srgbClr val="D6D5EA"/>
        </a:accent5>
        <a:accent6>
          <a:srgbClr val="57AFC3"/>
        </a:accent6>
        <a:hlink>
          <a:srgbClr val="257177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ndyck 5">
        <a:dk1>
          <a:srgbClr val="5F5F5F"/>
        </a:dk1>
        <a:lt1>
          <a:srgbClr val="F8F8F8"/>
        </a:lt1>
        <a:dk2>
          <a:srgbClr val="2A285A"/>
        </a:dk2>
        <a:lt2>
          <a:srgbClr val="FFFFFF"/>
        </a:lt2>
        <a:accent1>
          <a:srgbClr val="999966"/>
        </a:accent1>
        <a:accent2>
          <a:srgbClr val="8C8B9D"/>
        </a:accent2>
        <a:accent3>
          <a:srgbClr val="ACACB5"/>
        </a:accent3>
        <a:accent4>
          <a:srgbClr val="D4D4D4"/>
        </a:accent4>
        <a:accent5>
          <a:srgbClr val="CACAB8"/>
        </a:accent5>
        <a:accent6>
          <a:srgbClr val="7E7D8E"/>
        </a:accent6>
        <a:hlink>
          <a:srgbClr val="465174"/>
        </a:hlink>
        <a:folHlink>
          <a:srgbClr val="C0C0C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6">
        <a:dk1>
          <a:srgbClr val="434343"/>
        </a:dk1>
        <a:lt1>
          <a:srgbClr val="FFFFFF"/>
        </a:lt1>
        <a:dk2>
          <a:srgbClr val="360404"/>
        </a:dk2>
        <a:lt2>
          <a:srgbClr val="FFFFFF"/>
        </a:lt2>
        <a:accent1>
          <a:srgbClr val="669900"/>
        </a:accent1>
        <a:accent2>
          <a:srgbClr val="CC6600"/>
        </a:accent2>
        <a:accent3>
          <a:srgbClr val="AEAAAA"/>
        </a:accent3>
        <a:accent4>
          <a:srgbClr val="DADADA"/>
        </a:accent4>
        <a:accent5>
          <a:srgbClr val="B8CAAA"/>
        </a:accent5>
        <a:accent6>
          <a:srgbClr val="B95C00"/>
        </a:accent6>
        <a:hlink>
          <a:srgbClr val="CC33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7">
        <a:dk1>
          <a:srgbClr val="434343"/>
        </a:dk1>
        <a:lt1>
          <a:srgbClr val="FFFFFF"/>
        </a:lt1>
        <a:dk2>
          <a:srgbClr val="000000"/>
        </a:dk2>
        <a:lt2>
          <a:srgbClr val="8285FE"/>
        </a:lt2>
        <a:accent1>
          <a:srgbClr val="669900"/>
        </a:accent1>
        <a:accent2>
          <a:srgbClr val="9900FF"/>
        </a:accent2>
        <a:accent3>
          <a:srgbClr val="AAAAAA"/>
        </a:accent3>
        <a:accent4>
          <a:srgbClr val="DADADA"/>
        </a:accent4>
        <a:accent5>
          <a:srgbClr val="B8CAAA"/>
        </a:accent5>
        <a:accent6>
          <a:srgbClr val="8A00E7"/>
        </a:accent6>
        <a:hlink>
          <a:srgbClr val="6600CC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8">
        <a:dk1>
          <a:srgbClr val="434343"/>
        </a:dk1>
        <a:lt1>
          <a:srgbClr val="FFFFFF"/>
        </a:lt1>
        <a:dk2>
          <a:srgbClr val="000000"/>
        </a:dk2>
        <a:lt2>
          <a:srgbClr val="0066FF"/>
        </a:lt2>
        <a:accent1>
          <a:srgbClr val="339966"/>
        </a:accent1>
        <a:accent2>
          <a:srgbClr val="FFCC00"/>
        </a:accent2>
        <a:accent3>
          <a:srgbClr val="AAAAAA"/>
        </a:accent3>
        <a:accent4>
          <a:srgbClr val="DADADA"/>
        </a:accent4>
        <a:accent5>
          <a:srgbClr val="ADCAB8"/>
        </a:accent5>
        <a:accent6>
          <a:srgbClr val="E7B900"/>
        </a:accent6>
        <a:hlink>
          <a:srgbClr val="CC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9">
        <a:dk1>
          <a:srgbClr val="333300"/>
        </a:dk1>
        <a:lt1>
          <a:srgbClr val="FFFFFF"/>
        </a:lt1>
        <a:dk2>
          <a:srgbClr val="669900"/>
        </a:dk2>
        <a:lt2>
          <a:srgbClr val="FFFFCC"/>
        </a:lt2>
        <a:accent1>
          <a:srgbClr val="CCCC00"/>
        </a:accent1>
        <a:accent2>
          <a:srgbClr val="99CC00"/>
        </a:accent2>
        <a:accent3>
          <a:srgbClr val="B8CAAA"/>
        </a:accent3>
        <a:accent4>
          <a:srgbClr val="DADADA"/>
        </a:accent4>
        <a:accent5>
          <a:srgbClr val="E2E2AA"/>
        </a:accent5>
        <a:accent6>
          <a:srgbClr val="8AB900"/>
        </a:accent6>
        <a:hlink>
          <a:srgbClr val="336600"/>
        </a:hlink>
        <a:folHlink>
          <a:srgbClr val="FF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ndyck 10">
        <a:dk1>
          <a:srgbClr val="333333"/>
        </a:dk1>
        <a:lt1>
          <a:srgbClr val="FFFFCC"/>
        </a:lt1>
        <a:dk2>
          <a:srgbClr val="660000"/>
        </a:dk2>
        <a:lt2>
          <a:srgbClr val="CCCCCC"/>
        </a:lt2>
        <a:accent1>
          <a:srgbClr val="FF6600"/>
        </a:accent1>
        <a:accent2>
          <a:srgbClr val="CC3300"/>
        </a:accent2>
        <a:accent3>
          <a:srgbClr val="B8AAAA"/>
        </a:accent3>
        <a:accent4>
          <a:srgbClr val="DADAAE"/>
        </a:accent4>
        <a:accent5>
          <a:srgbClr val="FFB8AA"/>
        </a:accent5>
        <a:accent6>
          <a:srgbClr val="B92D00"/>
        </a:accent6>
        <a:hlink>
          <a:srgbClr val="9900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1517</TotalTime>
  <Words>1411</Words>
  <Application>Microsoft Office PowerPoint</Application>
  <PresentationFormat>화면 슬라이드 쇼(4:3)</PresentationFormat>
  <Paragraphs>189</Paragraphs>
  <Slides>22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32" baseType="lpstr">
      <vt:lpstr>굴림</vt:lpstr>
      <vt:lpstr>나눔고딕</vt:lpstr>
      <vt:lpstr>나눔명조</vt:lpstr>
      <vt:lpstr>맑은 고딕</vt:lpstr>
      <vt:lpstr>Arial</vt:lpstr>
      <vt:lpstr>Century Gothic</vt:lpstr>
      <vt:lpstr>Times New Roman</vt:lpstr>
      <vt:lpstr>Verdana</vt:lpstr>
      <vt:lpstr>Wingdings</vt:lpstr>
      <vt:lpstr>Pindyck</vt:lpstr>
      <vt:lpstr>2장 개요</vt:lpstr>
      <vt:lpstr> 경제와 자연환경의 상호관련성에 관한 이해</vt:lpstr>
      <vt:lpstr> 경제와 자연환경의 상호관련성에 관한 이해</vt:lpstr>
      <vt:lpstr> 경제와 자연환경의 상호관련성에 관한 이해</vt:lpstr>
      <vt:lpstr>물질균형접근법 (material balance approach)</vt:lpstr>
      <vt:lpstr>물질균형접근법 (material balance approach)</vt:lpstr>
      <vt:lpstr>열역학법칙의 물질균형접근법 적용</vt:lpstr>
      <vt:lpstr>기초 용어</vt:lpstr>
      <vt:lpstr>오염의 경로</vt:lpstr>
      <vt:lpstr>오염의 경로</vt:lpstr>
      <vt:lpstr>오염의 경로</vt:lpstr>
      <vt:lpstr>일회용 컵은 환경에 해로운가?</vt:lpstr>
      <vt:lpstr>일회용 컵은 환경에 해로운가?</vt:lpstr>
      <vt:lpstr>일회용 컵은 환경에 해로운가?</vt:lpstr>
      <vt:lpstr>오염물질의 종류</vt:lpstr>
      <vt:lpstr>축적성 오염물질과 비축적성 오염물질</vt:lpstr>
      <vt:lpstr>축적성 오염물질과 비축적성 오염물질</vt:lpstr>
      <vt:lpstr>국지적 오염물질, 지역적 오염물질과 월경오염물질</vt:lpstr>
      <vt:lpstr>국지적 오염물질, 지역적 오염물질과 월경오염물질</vt:lpstr>
      <vt:lpstr>지상오염물질과 전 지구적 오염물질</vt:lpstr>
      <vt:lpstr>점원오염물질과 비점원오염물질 </vt:lpstr>
      <vt:lpstr>연속적 오염과 간헐적 오염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Marie Truesdell</dc:creator>
  <cp:lastModifiedBy>User</cp:lastModifiedBy>
  <cp:revision>179</cp:revision>
  <dcterms:created xsi:type="dcterms:W3CDTF">1997-07-14T00:22:12Z</dcterms:created>
  <dcterms:modified xsi:type="dcterms:W3CDTF">2025-02-13T23:47:14Z</dcterms:modified>
</cp:coreProperties>
</file>