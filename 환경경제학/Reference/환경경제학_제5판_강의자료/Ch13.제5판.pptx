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3" r:id="rId1"/>
  </p:sldMasterIdLst>
  <p:notesMasterIdLst>
    <p:notesMasterId r:id="rId37"/>
  </p:notesMasterIdLst>
  <p:handoutMasterIdLst>
    <p:handoutMasterId r:id="rId38"/>
  </p:handoutMasterIdLst>
  <p:sldIdLst>
    <p:sldId id="387" r:id="rId2"/>
    <p:sldId id="262" r:id="rId3"/>
    <p:sldId id="348" r:id="rId4"/>
    <p:sldId id="349" r:id="rId5"/>
    <p:sldId id="351" r:id="rId6"/>
    <p:sldId id="352" r:id="rId7"/>
    <p:sldId id="353" r:id="rId8"/>
    <p:sldId id="354" r:id="rId9"/>
    <p:sldId id="355" r:id="rId10"/>
    <p:sldId id="356" r:id="rId11"/>
    <p:sldId id="357" r:id="rId12"/>
    <p:sldId id="359" r:id="rId13"/>
    <p:sldId id="358" r:id="rId14"/>
    <p:sldId id="360" r:id="rId15"/>
    <p:sldId id="361" r:id="rId16"/>
    <p:sldId id="362" r:id="rId17"/>
    <p:sldId id="363" r:id="rId18"/>
    <p:sldId id="364" r:id="rId19"/>
    <p:sldId id="365" r:id="rId20"/>
    <p:sldId id="367" r:id="rId21"/>
    <p:sldId id="381" r:id="rId22"/>
    <p:sldId id="382" r:id="rId23"/>
    <p:sldId id="369" r:id="rId24"/>
    <p:sldId id="370" r:id="rId25"/>
    <p:sldId id="372" r:id="rId26"/>
    <p:sldId id="384" r:id="rId27"/>
    <p:sldId id="373" r:id="rId28"/>
    <p:sldId id="374" r:id="rId29"/>
    <p:sldId id="375" r:id="rId30"/>
    <p:sldId id="376" r:id="rId31"/>
    <p:sldId id="377" r:id="rId32"/>
    <p:sldId id="386" r:id="rId33"/>
    <p:sldId id="378" r:id="rId34"/>
    <p:sldId id="379" r:id="rId35"/>
    <p:sldId id="380" r:id="rId36"/>
  </p:sldIdLst>
  <p:sldSz cx="9144000" cy="6858000" type="screen4x3"/>
  <p:notesSz cx="6858000" cy="9144000"/>
  <p:kinsoku lang="ko-KR" invalStChars="、。，．・：；？！゛゜ヽヾゝゞ々ー’”）〕］｝〉》」』】°‰′″℃￠％ぁぃぅぇぉっゃゅょゎァィゥェォッャュョヮヵヶ!%),.:;?]}｡｣､･ｧｨｩｪｫｬｭｮｯｰﾞﾟ" invalEndChars="‘“（〔［｛〈《「『【￥＄$([\{｢￡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900" b="1" kern="1200">
        <a:solidFill>
          <a:srgbClr val="8D7DFF"/>
        </a:solidFill>
        <a:latin typeface="Verdana" panose="020B060403050404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900" b="1" kern="1200">
        <a:solidFill>
          <a:srgbClr val="8D7DFF"/>
        </a:solidFill>
        <a:latin typeface="Verdana" panose="020B060403050404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900" b="1" kern="1200">
        <a:solidFill>
          <a:srgbClr val="8D7DFF"/>
        </a:solidFill>
        <a:latin typeface="Verdana" panose="020B060403050404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900" b="1" kern="1200">
        <a:solidFill>
          <a:srgbClr val="8D7DFF"/>
        </a:solidFill>
        <a:latin typeface="Verdana" panose="020B060403050404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900" b="1" kern="1200">
        <a:solidFill>
          <a:srgbClr val="8D7DFF"/>
        </a:solidFill>
        <a:latin typeface="Verdana" panose="020B0604030504040204" pitchFamily="34" charset="0"/>
        <a:ea typeface="+mn-ea"/>
        <a:cs typeface="+mn-cs"/>
      </a:defRPr>
    </a:lvl5pPr>
    <a:lvl6pPr marL="2286000" algn="l" defTabSz="914400" rtl="0" eaLnBrk="1" latinLnBrk="1" hangingPunct="1">
      <a:defRPr sz="2900" b="1" kern="1200">
        <a:solidFill>
          <a:srgbClr val="8D7DFF"/>
        </a:solidFill>
        <a:latin typeface="Verdana" panose="020B0604030504040204" pitchFamily="34" charset="0"/>
        <a:ea typeface="+mn-ea"/>
        <a:cs typeface="+mn-cs"/>
      </a:defRPr>
    </a:lvl6pPr>
    <a:lvl7pPr marL="2743200" algn="l" defTabSz="914400" rtl="0" eaLnBrk="1" latinLnBrk="1" hangingPunct="1">
      <a:defRPr sz="2900" b="1" kern="1200">
        <a:solidFill>
          <a:srgbClr val="8D7DFF"/>
        </a:solidFill>
        <a:latin typeface="Verdana" panose="020B0604030504040204" pitchFamily="34" charset="0"/>
        <a:ea typeface="+mn-ea"/>
        <a:cs typeface="+mn-cs"/>
      </a:defRPr>
    </a:lvl7pPr>
    <a:lvl8pPr marL="3200400" algn="l" defTabSz="914400" rtl="0" eaLnBrk="1" latinLnBrk="1" hangingPunct="1">
      <a:defRPr sz="2900" b="1" kern="1200">
        <a:solidFill>
          <a:srgbClr val="8D7DFF"/>
        </a:solidFill>
        <a:latin typeface="Verdana" panose="020B0604030504040204" pitchFamily="34" charset="0"/>
        <a:ea typeface="+mn-ea"/>
        <a:cs typeface="+mn-cs"/>
      </a:defRPr>
    </a:lvl8pPr>
    <a:lvl9pPr marL="3657600" algn="l" defTabSz="914400" rtl="0" eaLnBrk="1" latinLnBrk="1" hangingPunct="1">
      <a:defRPr sz="2900" b="1" kern="1200">
        <a:solidFill>
          <a:srgbClr val="8D7DFF"/>
        </a:solidFill>
        <a:latin typeface="Verdana" panose="020B060403050404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00FF"/>
    <a:srgbClr val="FA76E1"/>
    <a:srgbClr val="F84ED8"/>
    <a:srgbClr val="DAEDD1"/>
    <a:srgbClr val="C4E3B5"/>
    <a:srgbClr val="663300"/>
    <a:srgbClr val="1C4E35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E8034E78-7F5D-4C2E-B375-FC64B27BC917}" styleName="어두운 스타일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325" autoAdjust="0"/>
    <p:restoredTop sz="94662" autoAdjust="0"/>
  </p:normalViewPr>
  <p:slideViewPr>
    <p:cSldViewPr snapToGrid="0">
      <p:cViewPr varScale="1">
        <p:scale>
          <a:sx n="88" d="100"/>
          <a:sy n="88" d="100"/>
        </p:scale>
        <p:origin x="1005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>
      <p:cViewPr varScale="1">
        <p:scale>
          <a:sx n="37" d="100"/>
          <a:sy n="37" d="100"/>
        </p:scale>
        <p:origin x="-1470" y="-96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handoutMaster" Target="handoutMasters/handout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>
            <a:extLst>
              <a:ext uri="{FF2B5EF4-FFF2-40B4-BE49-F238E27FC236}">
                <a16:creationId xmlns:a16="http://schemas.microsoft.com/office/drawing/2014/main" id="{F084934B-A906-456B-8471-3F0CDC5B045C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9350" y="692150"/>
            <a:ext cx="4559300" cy="3416300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422C86C5-6233-4B50-BAC7-9318488D8D29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vert="horz" wrap="square" lIns="90488" tIns="44450" rIns="90488" bIns="4445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 noProof="0"/>
              <a:t>Click to edit Master text styles</a:t>
            </a:r>
          </a:p>
          <a:p>
            <a:pPr lvl="1"/>
            <a:r>
              <a:rPr lang="en-US" altLang="ko-KR" noProof="0"/>
              <a:t>Second level</a:t>
            </a:r>
          </a:p>
          <a:p>
            <a:pPr lvl="2"/>
            <a:r>
              <a:rPr lang="en-US" altLang="ko-KR" noProof="0"/>
              <a:t>Third level</a:t>
            </a:r>
          </a:p>
          <a:p>
            <a:pPr lvl="3"/>
            <a:r>
              <a:rPr lang="en-US" altLang="ko-KR" noProof="0"/>
              <a:t>Fourth level</a:t>
            </a:r>
          </a:p>
          <a:p>
            <a:pPr lvl="4"/>
            <a:r>
              <a:rPr lang="en-US" altLang="ko-KR" noProof="0"/>
              <a:t>Fifth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entury Gothic" pitchFamily="34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entury Gothic" pitchFamily="34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entury Gothic" pitchFamily="34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entury Gothic" pitchFamily="34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entury Gothic" pitchFamily="34" charset="0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>
            <a:extLst>
              <a:ext uri="{FF2B5EF4-FFF2-40B4-BE49-F238E27FC236}">
                <a16:creationId xmlns:a16="http://schemas.microsoft.com/office/drawing/2014/main" id="{96B73687-4ADD-4DC1-B04E-60141522C7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51203" name="Rectangle 3">
            <a:extLst>
              <a:ext uri="{FF2B5EF4-FFF2-40B4-BE49-F238E27FC236}">
                <a16:creationId xmlns:a16="http://schemas.microsoft.com/office/drawing/2014/main" id="{CEB3F030-4D9B-47E1-BCDB-990FB145D7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2</a:t>
            </a:r>
          </a:p>
        </p:txBody>
      </p:sp>
      <p:sp>
        <p:nvSpPr>
          <p:cNvPr id="51204" name="Rectangle 4">
            <a:extLst>
              <a:ext uri="{FF2B5EF4-FFF2-40B4-BE49-F238E27FC236}">
                <a16:creationId xmlns:a16="http://schemas.microsoft.com/office/drawing/2014/main" id="{85C1CE3A-EB2D-4D38-B2D5-9548EAC362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51205" name="Rectangle 5">
            <a:extLst>
              <a:ext uri="{FF2B5EF4-FFF2-40B4-BE49-F238E27FC236}">
                <a16:creationId xmlns:a16="http://schemas.microsoft.com/office/drawing/2014/main" id="{FAE2DA49-43F4-43FF-A13A-58051060CA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51206" name="Rectangle 6">
            <a:extLst>
              <a:ext uri="{FF2B5EF4-FFF2-40B4-BE49-F238E27FC236}">
                <a16:creationId xmlns:a16="http://schemas.microsoft.com/office/drawing/2014/main" id="{2E2BA412-2459-4B93-9951-C8E50D7A2A1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51207" name="Rectangle 7">
            <a:extLst>
              <a:ext uri="{FF2B5EF4-FFF2-40B4-BE49-F238E27FC236}">
                <a16:creationId xmlns:a16="http://schemas.microsoft.com/office/drawing/2014/main" id="{195C3F5C-2978-4B65-9887-69775C60FEB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>
            <a:extLst>
              <a:ext uri="{FF2B5EF4-FFF2-40B4-BE49-F238E27FC236}">
                <a16:creationId xmlns:a16="http://schemas.microsoft.com/office/drawing/2014/main" id="{BADB7015-A652-4E21-A40B-63D380B701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52227" name="Rectangle 3">
            <a:extLst>
              <a:ext uri="{FF2B5EF4-FFF2-40B4-BE49-F238E27FC236}">
                <a16:creationId xmlns:a16="http://schemas.microsoft.com/office/drawing/2014/main" id="{D216BFC2-D5D6-4070-9B40-EB7C361F55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5</a:t>
            </a:r>
          </a:p>
        </p:txBody>
      </p:sp>
      <p:sp>
        <p:nvSpPr>
          <p:cNvPr id="52228" name="Rectangle 4">
            <a:extLst>
              <a:ext uri="{FF2B5EF4-FFF2-40B4-BE49-F238E27FC236}">
                <a16:creationId xmlns:a16="http://schemas.microsoft.com/office/drawing/2014/main" id="{C56F98E0-A322-4A68-84D3-BED35BAD67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52229" name="Rectangle 5">
            <a:extLst>
              <a:ext uri="{FF2B5EF4-FFF2-40B4-BE49-F238E27FC236}">
                <a16:creationId xmlns:a16="http://schemas.microsoft.com/office/drawing/2014/main" id="{358907EA-401A-43E6-A79D-CAD9A9A54E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52230" name="Rectangle 6">
            <a:extLst>
              <a:ext uri="{FF2B5EF4-FFF2-40B4-BE49-F238E27FC236}">
                <a16:creationId xmlns:a16="http://schemas.microsoft.com/office/drawing/2014/main" id="{51691765-D0C7-4240-80E8-93B2662F9E7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52231" name="Rectangle 7">
            <a:extLst>
              <a:ext uri="{FF2B5EF4-FFF2-40B4-BE49-F238E27FC236}">
                <a16:creationId xmlns:a16="http://schemas.microsoft.com/office/drawing/2014/main" id="{C6617E73-C94F-439F-A194-D2A871B1CF2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>
            <a:extLst>
              <a:ext uri="{FF2B5EF4-FFF2-40B4-BE49-F238E27FC236}">
                <a16:creationId xmlns:a16="http://schemas.microsoft.com/office/drawing/2014/main" id="{0FE500EF-2335-410F-8039-11045A289B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53251" name="Rectangle 3">
            <a:extLst>
              <a:ext uri="{FF2B5EF4-FFF2-40B4-BE49-F238E27FC236}">
                <a16:creationId xmlns:a16="http://schemas.microsoft.com/office/drawing/2014/main" id="{07F1972E-60C3-4FE1-A170-70A9A09B88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5</a:t>
            </a:r>
          </a:p>
        </p:txBody>
      </p:sp>
      <p:sp>
        <p:nvSpPr>
          <p:cNvPr id="53252" name="Rectangle 4">
            <a:extLst>
              <a:ext uri="{FF2B5EF4-FFF2-40B4-BE49-F238E27FC236}">
                <a16:creationId xmlns:a16="http://schemas.microsoft.com/office/drawing/2014/main" id="{3A5C200C-567D-4B9A-B3B5-05BB026800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53253" name="Rectangle 5">
            <a:extLst>
              <a:ext uri="{FF2B5EF4-FFF2-40B4-BE49-F238E27FC236}">
                <a16:creationId xmlns:a16="http://schemas.microsoft.com/office/drawing/2014/main" id="{4B6D80C5-557C-47D5-AFA1-C007BE53CB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53254" name="Rectangle 6">
            <a:extLst>
              <a:ext uri="{FF2B5EF4-FFF2-40B4-BE49-F238E27FC236}">
                <a16:creationId xmlns:a16="http://schemas.microsoft.com/office/drawing/2014/main" id="{58A5AF94-7FEE-40F9-9A27-EC38EE1452D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53255" name="Rectangle 7">
            <a:extLst>
              <a:ext uri="{FF2B5EF4-FFF2-40B4-BE49-F238E27FC236}">
                <a16:creationId xmlns:a16="http://schemas.microsoft.com/office/drawing/2014/main" id="{EE4EEA23-5666-47F1-B717-A5037892BF7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>
            <a:extLst>
              <a:ext uri="{FF2B5EF4-FFF2-40B4-BE49-F238E27FC236}">
                <a16:creationId xmlns:a16="http://schemas.microsoft.com/office/drawing/2014/main" id="{D8DC855D-DE45-4BDA-9CED-F99D7D9E7F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54275" name="Rectangle 3">
            <a:extLst>
              <a:ext uri="{FF2B5EF4-FFF2-40B4-BE49-F238E27FC236}">
                <a16:creationId xmlns:a16="http://schemas.microsoft.com/office/drawing/2014/main" id="{AFB5C94C-64AC-43EA-A236-3D3BF04515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5</a:t>
            </a:r>
          </a:p>
        </p:txBody>
      </p:sp>
      <p:sp>
        <p:nvSpPr>
          <p:cNvPr id="54276" name="Rectangle 4">
            <a:extLst>
              <a:ext uri="{FF2B5EF4-FFF2-40B4-BE49-F238E27FC236}">
                <a16:creationId xmlns:a16="http://schemas.microsoft.com/office/drawing/2014/main" id="{A9692B40-E0C0-4755-AFBF-59271BB5CD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54277" name="Rectangle 5">
            <a:extLst>
              <a:ext uri="{FF2B5EF4-FFF2-40B4-BE49-F238E27FC236}">
                <a16:creationId xmlns:a16="http://schemas.microsoft.com/office/drawing/2014/main" id="{E2A32595-F86A-4D49-8DD9-DEE54161F8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54278" name="Rectangle 6">
            <a:extLst>
              <a:ext uri="{FF2B5EF4-FFF2-40B4-BE49-F238E27FC236}">
                <a16:creationId xmlns:a16="http://schemas.microsoft.com/office/drawing/2014/main" id="{F9B75FDF-C866-4087-969E-B6BEFDE88B9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54279" name="Rectangle 7">
            <a:extLst>
              <a:ext uri="{FF2B5EF4-FFF2-40B4-BE49-F238E27FC236}">
                <a16:creationId xmlns:a16="http://schemas.microsoft.com/office/drawing/2014/main" id="{8BA22C71-DAFC-4C94-9E74-496E1F5825E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>
            <a:extLst>
              <a:ext uri="{FF2B5EF4-FFF2-40B4-BE49-F238E27FC236}">
                <a16:creationId xmlns:a16="http://schemas.microsoft.com/office/drawing/2014/main" id="{37399541-1CE8-41E9-91EF-2C48D7C07A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55299" name="Rectangle 3">
            <a:extLst>
              <a:ext uri="{FF2B5EF4-FFF2-40B4-BE49-F238E27FC236}">
                <a16:creationId xmlns:a16="http://schemas.microsoft.com/office/drawing/2014/main" id="{4F3C034E-866A-4A4E-9D1A-1D6A4C8F0C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5</a:t>
            </a:r>
          </a:p>
        </p:txBody>
      </p:sp>
      <p:sp>
        <p:nvSpPr>
          <p:cNvPr id="55300" name="Rectangle 4">
            <a:extLst>
              <a:ext uri="{FF2B5EF4-FFF2-40B4-BE49-F238E27FC236}">
                <a16:creationId xmlns:a16="http://schemas.microsoft.com/office/drawing/2014/main" id="{2E8C926F-4D2C-45CC-8D41-F474272DF3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55301" name="Rectangle 5">
            <a:extLst>
              <a:ext uri="{FF2B5EF4-FFF2-40B4-BE49-F238E27FC236}">
                <a16:creationId xmlns:a16="http://schemas.microsoft.com/office/drawing/2014/main" id="{32375FE7-27B6-4F25-8346-31427BD902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55302" name="Rectangle 6">
            <a:extLst>
              <a:ext uri="{FF2B5EF4-FFF2-40B4-BE49-F238E27FC236}">
                <a16:creationId xmlns:a16="http://schemas.microsoft.com/office/drawing/2014/main" id="{0FE5D132-8794-4C27-AD43-57F7511CA2A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55303" name="Rectangle 7">
            <a:extLst>
              <a:ext uri="{FF2B5EF4-FFF2-40B4-BE49-F238E27FC236}">
                <a16:creationId xmlns:a16="http://schemas.microsoft.com/office/drawing/2014/main" id="{D22BE9E7-B13C-4F07-8B97-17D0F8C0648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>
            <a:extLst>
              <a:ext uri="{FF2B5EF4-FFF2-40B4-BE49-F238E27FC236}">
                <a16:creationId xmlns:a16="http://schemas.microsoft.com/office/drawing/2014/main" id="{F38F1727-0753-484D-A1DD-B1AA3AF962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56323" name="Rectangle 3">
            <a:extLst>
              <a:ext uri="{FF2B5EF4-FFF2-40B4-BE49-F238E27FC236}">
                <a16:creationId xmlns:a16="http://schemas.microsoft.com/office/drawing/2014/main" id="{3D1D94ED-A2C1-4066-8CF3-A5C51C0AEF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5</a:t>
            </a:r>
          </a:p>
        </p:txBody>
      </p:sp>
      <p:sp>
        <p:nvSpPr>
          <p:cNvPr id="56324" name="Rectangle 4">
            <a:extLst>
              <a:ext uri="{FF2B5EF4-FFF2-40B4-BE49-F238E27FC236}">
                <a16:creationId xmlns:a16="http://schemas.microsoft.com/office/drawing/2014/main" id="{624ED910-8B5C-4F0F-A024-3B7F9D49DC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56325" name="Rectangle 5">
            <a:extLst>
              <a:ext uri="{FF2B5EF4-FFF2-40B4-BE49-F238E27FC236}">
                <a16:creationId xmlns:a16="http://schemas.microsoft.com/office/drawing/2014/main" id="{17DA7DEF-EA9F-4B31-AF26-80E758BDED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56326" name="Rectangle 6">
            <a:extLst>
              <a:ext uri="{FF2B5EF4-FFF2-40B4-BE49-F238E27FC236}">
                <a16:creationId xmlns:a16="http://schemas.microsoft.com/office/drawing/2014/main" id="{601DBF20-1709-4222-BD51-7981F3453AB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56327" name="Rectangle 7">
            <a:extLst>
              <a:ext uri="{FF2B5EF4-FFF2-40B4-BE49-F238E27FC236}">
                <a16:creationId xmlns:a16="http://schemas.microsoft.com/office/drawing/2014/main" id="{28003555-AD24-4E9C-AF84-578666A44DB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2">
            <a:extLst>
              <a:ext uri="{FF2B5EF4-FFF2-40B4-BE49-F238E27FC236}">
                <a16:creationId xmlns:a16="http://schemas.microsoft.com/office/drawing/2014/main" id="{7A1B24FD-0FEB-4015-98F8-3EE195F4F6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57347" name="Rectangle 3">
            <a:extLst>
              <a:ext uri="{FF2B5EF4-FFF2-40B4-BE49-F238E27FC236}">
                <a16:creationId xmlns:a16="http://schemas.microsoft.com/office/drawing/2014/main" id="{6C49A903-14FC-4EC8-9BAF-C4CD3EA2AB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5</a:t>
            </a:r>
          </a:p>
        </p:txBody>
      </p:sp>
      <p:sp>
        <p:nvSpPr>
          <p:cNvPr id="57348" name="Rectangle 4">
            <a:extLst>
              <a:ext uri="{FF2B5EF4-FFF2-40B4-BE49-F238E27FC236}">
                <a16:creationId xmlns:a16="http://schemas.microsoft.com/office/drawing/2014/main" id="{434C1486-0A6D-46E8-8DB2-AF6C0C436F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57349" name="Rectangle 5">
            <a:extLst>
              <a:ext uri="{FF2B5EF4-FFF2-40B4-BE49-F238E27FC236}">
                <a16:creationId xmlns:a16="http://schemas.microsoft.com/office/drawing/2014/main" id="{F844D6AD-BABD-4CF6-BABE-8BA7F9C094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57350" name="Rectangle 6">
            <a:extLst>
              <a:ext uri="{FF2B5EF4-FFF2-40B4-BE49-F238E27FC236}">
                <a16:creationId xmlns:a16="http://schemas.microsoft.com/office/drawing/2014/main" id="{B4E07241-C7C9-4DCA-ABCA-DBAB09AD79B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57351" name="Rectangle 7">
            <a:extLst>
              <a:ext uri="{FF2B5EF4-FFF2-40B4-BE49-F238E27FC236}">
                <a16:creationId xmlns:a16="http://schemas.microsoft.com/office/drawing/2014/main" id="{5AA088CD-AA98-446E-8C75-8A9AA152D9E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>
            <a:extLst>
              <a:ext uri="{FF2B5EF4-FFF2-40B4-BE49-F238E27FC236}">
                <a16:creationId xmlns:a16="http://schemas.microsoft.com/office/drawing/2014/main" id="{FD792791-0EF6-4289-AF94-E099EF357F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58371" name="Rectangle 3">
            <a:extLst>
              <a:ext uri="{FF2B5EF4-FFF2-40B4-BE49-F238E27FC236}">
                <a16:creationId xmlns:a16="http://schemas.microsoft.com/office/drawing/2014/main" id="{CEB36E8B-C617-4EBD-88C3-5C3CC30874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5</a:t>
            </a:r>
          </a:p>
        </p:txBody>
      </p:sp>
      <p:sp>
        <p:nvSpPr>
          <p:cNvPr id="58372" name="Rectangle 4">
            <a:extLst>
              <a:ext uri="{FF2B5EF4-FFF2-40B4-BE49-F238E27FC236}">
                <a16:creationId xmlns:a16="http://schemas.microsoft.com/office/drawing/2014/main" id="{A34691DF-16B6-40A3-9BBC-1C8C265214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58373" name="Rectangle 5">
            <a:extLst>
              <a:ext uri="{FF2B5EF4-FFF2-40B4-BE49-F238E27FC236}">
                <a16:creationId xmlns:a16="http://schemas.microsoft.com/office/drawing/2014/main" id="{13159F70-9C87-4701-A2AF-37F74E2EA3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58374" name="Rectangle 6">
            <a:extLst>
              <a:ext uri="{FF2B5EF4-FFF2-40B4-BE49-F238E27FC236}">
                <a16:creationId xmlns:a16="http://schemas.microsoft.com/office/drawing/2014/main" id="{5C6E4850-B862-4EDA-A20B-F1859C9C081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58375" name="Rectangle 7">
            <a:extLst>
              <a:ext uri="{FF2B5EF4-FFF2-40B4-BE49-F238E27FC236}">
                <a16:creationId xmlns:a16="http://schemas.microsoft.com/office/drawing/2014/main" id="{DD852639-8F4F-4AC3-8646-CB22F3BE53E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>
            <a:extLst>
              <a:ext uri="{FF2B5EF4-FFF2-40B4-BE49-F238E27FC236}">
                <a16:creationId xmlns:a16="http://schemas.microsoft.com/office/drawing/2014/main" id="{C475452D-36EB-4078-82AF-BCBF7CD7A3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59395" name="Rectangle 3">
            <a:extLst>
              <a:ext uri="{FF2B5EF4-FFF2-40B4-BE49-F238E27FC236}">
                <a16:creationId xmlns:a16="http://schemas.microsoft.com/office/drawing/2014/main" id="{928296D7-005F-4E38-8D3A-69246ABED7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5</a:t>
            </a:r>
          </a:p>
        </p:txBody>
      </p:sp>
      <p:sp>
        <p:nvSpPr>
          <p:cNvPr id="59396" name="Rectangle 4">
            <a:extLst>
              <a:ext uri="{FF2B5EF4-FFF2-40B4-BE49-F238E27FC236}">
                <a16:creationId xmlns:a16="http://schemas.microsoft.com/office/drawing/2014/main" id="{0119B608-9679-4290-AEFB-F0022EEB31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59397" name="Rectangle 5">
            <a:extLst>
              <a:ext uri="{FF2B5EF4-FFF2-40B4-BE49-F238E27FC236}">
                <a16:creationId xmlns:a16="http://schemas.microsoft.com/office/drawing/2014/main" id="{6FFD09B1-8702-4425-8C9A-ABBF1935E4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59398" name="Rectangle 6">
            <a:extLst>
              <a:ext uri="{FF2B5EF4-FFF2-40B4-BE49-F238E27FC236}">
                <a16:creationId xmlns:a16="http://schemas.microsoft.com/office/drawing/2014/main" id="{BF99D76C-4F89-440F-8797-BBB6A5DE913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59399" name="Rectangle 7">
            <a:extLst>
              <a:ext uri="{FF2B5EF4-FFF2-40B4-BE49-F238E27FC236}">
                <a16:creationId xmlns:a16="http://schemas.microsoft.com/office/drawing/2014/main" id="{87B0E9B7-5A75-40F3-9773-DC1757C22A7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>
            <a:extLst>
              <a:ext uri="{FF2B5EF4-FFF2-40B4-BE49-F238E27FC236}">
                <a16:creationId xmlns:a16="http://schemas.microsoft.com/office/drawing/2014/main" id="{33FEBCF7-BA66-4521-BFCF-57AE1E3D5A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60419" name="Rectangle 3">
            <a:extLst>
              <a:ext uri="{FF2B5EF4-FFF2-40B4-BE49-F238E27FC236}">
                <a16:creationId xmlns:a16="http://schemas.microsoft.com/office/drawing/2014/main" id="{E3C1286D-B64A-47D1-8B48-892D6C97F2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5</a:t>
            </a:r>
          </a:p>
        </p:txBody>
      </p:sp>
      <p:sp>
        <p:nvSpPr>
          <p:cNvPr id="60420" name="Rectangle 4">
            <a:extLst>
              <a:ext uri="{FF2B5EF4-FFF2-40B4-BE49-F238E27FC236}">
                <a16:creationId xmlns:a16="http://schemas.microsoft.com/office/drawing/2014/main" id="{DB6968F3-216A-4537-8DB4-4259F9B70E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60421" name="Rectangle 5">
            <a:extLst>
              <a:ext uri="{FF2B5EF4-FFF2-40B4-BE49-F238E27FC236}">
                <a16:creationId xmlns:a16="http://schemas.microsoft.com/office/drawing/2014/main" id="{738786EE-C473-4E4A-B47E-A485EDDC3C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60422" name="Rectangle 6">
            <a:extLst>
              <a:ext uri="{FF2B5EF4-FFF2-40B4-BE49-F238E27FC236}">
                <a16:creationId xmlns:a16="http://schemas.microsoft.com/office/drawing/2014/main" id="{BCEE33DC-D9E5-40ED-A2BA-0C6BE5E5FF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60423" name="Rectangle 7">
            <a:extLst>
              <a:ext uri="{FF2B5EF4-FFF2-40B4-BE49-F238E27FC236}">
                <a16:creationId xmlns:a16="http://schemas.microsoft.com/office/drawing/2014/main" id="{D82DC4D5-99F0-40EA-B952-ACBBA7DF5CD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>
            <a:extLst>
              <a:ext uri="{FF2B5EF4-FFF2-40B4-BE49-F238E27FC236}">
                <a16:creationId xmlns:a16="http://schemas.microsoft.com/office/drawing/2014/main" id="{5B6682A4-6E0B-4747-A717-74CE3E9797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61443" name="Rectangle 3">
            <a:extLst>
              <a:ext uri="{FF2B5EF4-FFF2-40B4-BE49-F238E27FC236}">
                <a16:creationId xmlns:a16="http://schemas.microsoft.com/office/drawing/2014/main" id="{7EEBE674-A7EA-44D2-95ED-D537DD8D61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5</a:t>
            </a:r>
          </a:p>
        </p:txBody>
      </p:sp>
      <p:sp>
        <p:nvSpPr>
          <p:cNvPr id="61444" name="Rectangle 4">
            <a:extLst>
              <a:ext uri="{FF2B5EF4-FFF2-40B4-BE49-F238E27FC236}">
                <a16:creationId xmlns:a16="http://schemas.microsoft.com/office/drawing/2014/main" id="{6A0F4630-D286-482A-B931-1EB51EBC8B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61445" name="Rectangle 5">
            <a:extLst>
              <a:ext uri="{FF2B5EF4-FFF2-40B4-BE49-F238E27FC236}">
                <a16:creationId xmlns:a16="http://schemas.microsoft.com/office/drawing/2014/main" id="{DD845252-2CFA-4793-9205-DFD50DB722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61446" name="Rectangle 6">
            <a:extLst>
              <a:ext uri="{FF2B5EF4-FFF2-40B4-BE49-F238E27FC236}">
                <a16:creationId xmlns:a16="http://schemas.microsoft.com/office/drawing/2014/main" id="{E42B20CF-6671-4AB6-8A31-7BE3A21D994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61447" name="Rectangle 7">
            <a:extLst>
              <a:ext uri="{FF2B5EF4-FFF2-40B4-BE49-F238E27FC236}">
                <a16:creationId xmlns:a16="http://schemas.microsoft.com/office/drawing/2014/main" id="{52D9AC44-B63B-4FB2-80AF-3E02C389211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2">
            <a:extLst>
              <a:ext uri="{FF2B5EF4-FFF2-40B4-BE49-F238E27FC236}">
                <a16:creationId xmlns:a16="http://schemas.microsoft.com/office/drawing/2014/main" id="{3A35514D-F1EB-4B51-A23C-610726A6E9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62467" name="Rectangle 3">
            <a:extLst>
              <a:ext uri="{FF2B5EF4-FFF2-40B4-BE49-F238E27FC236}">
                <a16:creationId xmlns:a16="http://schemas.microsoft.com/office/drawing/2014/main" id="{A5AA1F58-E954-47A7-B9B3-568D80D671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5</a:t>
            </a:r>
          </a:p>
        </p:txBody>
      </p:sp>
      <p:sp>
        <p:nvSpPr>
          <p:cNvPr id="62468" name="Rectangle 4">
            <a:extLst>
              <a:ext uri="{FF2B5EF4-FFF2-40B4-BE49-F238E27FC236}">
                <a16:creationId xmlns:a16="http://schemas.microsoft.com/office/drawing/2014/main" id="{A08263A9-4767-44E4-B5E3-C2E0D4B90C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62469" name="Rectangle 5">
            <a:extLst>
              <a:ext uri="{FF2B5EF4-FFF2-40B4-BE49-F238E27FC236}">
                <a16:creationId xmlns:a16="http://schemas.microsoft.com/office/drawing/2014/main" id="{59A6E86A-BB9A-415A-963B-9D4324B09C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62470" name="Rectangle 6">
            <a:extLst>
              <a:ext uri="{FF2B5EF4-FFF2-40B4-BE49-F238E27FC236}">
                <a16:creationId xmlns:a16="http://schemas.microsoft.com/office/drawing/2014/main" id="{E4B3F0A0-1197-4746-9A04-840C682CC0B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62471" name="Rectangle 7">
            <a:extLst>
              <a:ext uri="{FF2B5EF4-FFF2-40B4-BE49-F238E27FC236}">
                <a16:creationId xmlns:a16="http://schemas.microsoft.com/office/drawing/2014/main" id="{FE62BCB5-4152-4EE9-A675-0440BBB8272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>
            <a:extLst>
              <a:ext uri="{FF2B5EF4-FFF2-40B4-BE49-F238E27FC236}">
                <a16:creationId xmlns:a16="http://schemas.microsoft.com/office/drawing/2014/main" id="{FFE93F81-E806-421B-BFD7-26C8CDF5B6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63491" name="Rectangle 3">
            <a:extLst>
              <a:ext uri="{FF2B5EF4-FFF2-40B4-BE49-F238E27FC236}">
                <a16:creationId xmlns:a16="http://schemas.microsoft.com/office/drawing/2014/main" id="{486BF51D-3529-4FE5-BFC9-321CE3178A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5</a:t>
            </a:r>
          </a:p>
        </p:txBody>
      </p:sp>
      <p:sp>
        <p:nvSpPr>
          <p:cNvPr id="63492" name="Rectangle 4">
            <a:extLst>
              <a:ext uri="{FF2B5EF4-FFF2-40B4-BE49-F238E27FC236}">
                <a16:creationId xmlns:a16="http://schemas.microsoft.com/office/drawing/2014/main" id="{48CD6E32-D723-452C-BF6F-22E4C61377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63493" name="Rectangle 5">
            <a:extLst>
              <a:ext uri="{FF2B5EF4-FFF2-40B4-BE49-F238E27FC236}">
                <a16:creationId xmlns:a16="http://schemas.microsoft.com/office/drawing/2014/main" id="{BB9B9DAC-4132-4A2E-90C1-0EA7C28186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63494" name="Rectangle 6">
            <a:extLst>
              <a:ext uri="{FF2B5EF4-FFF2-40B4-BE49-F238E27FC236}">
                <a16:creationId xmlns:a16="http://schemas.microsoft.com/office/drawing/2014/main" id="{A6B7261C-E70F-490C-AB22-D3BF8758492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63495" name="Rectangle 7">
            <a:extLst>
              <a:ext uri="{FF2B5EF4-FFF2-40B4-BE49-F238E27FC236}">
                <a16:creationId xmlns:a16="http://schemas.microsoft.com/office/drawing/2014/main" id="{4073EA1E-E592-44CC-A245-7287833698C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>
            <a:extLst>
              <a:ext uri="{FF2B5EF4-FFF2-40B4-BE49-F238E27FC236}">
                <a16:creationId xmlns:a16="http://schemas.microsoft.com/office/drawing/2014/main" id="{A255F7C2-F51E-434C-AC3B-586543527B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64515" name="Rectangle 3">
            <a:extLst>
              <a:ext uri="{FF2B5EF4-FFF2-40B4-BE49-F238E27FC236}">
                <a16:creationId xmlns:a16="http://schemas.microsoft.com/office/drawing/2014/main" id="{D959CFA7-A9C7-4EFF-892A-44E01A155B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5</a:t>
            </a:r>
          </a:p>
        </p:txBody>
      </p:sp>
      <p:sp>
        <p:nvSpPr>
          <p:cNvPr id="64516" name="Rectangle 4">
            <a:extLst>
              <a:ext uri="{FF2B5EF4-FFF2-40B4-BE49-F238E27FC236}">
                <a16:creationId xmlns:a16="http://schemas.microsoft.com/office/drawing/2014/main" id="{7868B8EA-9471-4422-8568-A519106DB4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64517" name="Rectangle 5">
            <a:extLst>
              <a:ext uri="{FF2B5EF4-FFF2-40B4-BE49-F238E27FC236}">
                <a16:creationId xmlns:a16="http://schemas.microsoft.com/office/drawing/2014/main" id="{4D15A14B-C6ED-48D4-BA1E-EA9E9FCA05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64518" name="Rectangle 6">
            <a:extLst>
              <a:ext uri="{FF2B5EF4-FFF2-40B4-BE49-F238E27FC236}">
                <a16:creationId xmlns:a16="http://schemas.microsoft.com/office/drawing/2014/main" id="{873C856D-EEBC-4709-8B15-9F28F133A51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64519" name="Rectangle 7">
            <a:extLst>
              <a:ext uri="{FF2B5EF4-FFF2-40B4-BE49-F238E27FC236}">
                <a16:creationId xmlns:a16="http://schemas.microsoft.com/office/drawing/2014/main" id="{CCC99316-DDD2-474F-88C0-9D0CC28A6B2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>
            <a:extLst>
              <a:ext uri="{FF2B5EF4-FFF2-40B4-BE49-F238E27FC236}">
                <a16:creationId xmlns:a16="http://schemas.microsoft.com/office/drawing/2014/main" id="{620DB942-9304-42CC-A16E-F1A53240CD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65539" name="Rectangle 3">
            <a:extLst>
              <a:ext uri="{FF2B5EF4-FFF2-40B4-BE49-F238E27FC236}">
                <a16:creationId xmlns:a16="http://schemas.microsoft.com/office/drawing/2014/main" id="{52A41669-6B3A-428F-9FA4-A886ED74D4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5</a:t>
            </a:r>
          </a:p>
        </p:txBody>
      </p:sp>
      <p:sp>
        <p:nvSpPr>
          <p:cNvPr id="65540" name="Rectangle 4">
            <a:extLst>
              <a:ext uri="{FF2B5EF4-FFF2-40B4-BE49-F238E27FC236}">
                <a16:creationId xmlns:a16="http://schemas.microsoft.com/office/drawing/2014/main" id="{6DD36267-9896-4F14-966F-A3F2757107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65541" name="Rectangle 5">
            <a:extLst>
              <a:ext uri="{FF2B5EF4-FFF2-40B4-BE49-F238E27FC236}">
                <a16:creationId xmlns:a16="http://schemas.microsoft.com/office/drawing/2014/main" id="{75A1456A-29EF-4DBA-8A2B-26A3EF031E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65542" name="Rectangle 6">
            <a:extLst>
              <a:ext uri="{FF2B5EF4-FFF2-40B4-BE49-F238E27FC236}">
                <a16:creationId xmlns:a16="http://schemas.microsoft.com/office/drawing/2014/main" id="{E8F40E66-F179-4DAC-97AC-7D0BA3B2B52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65543" name="Rectangle 7">
            <a:extLst>
              <a:ext uri="{FF2B5EF4-FFF2-40B4-BE49-F238E27FC236}">
                <a16:creationId xmlns:a16="http://schemas.microsoft.com/office/drawing/2014/main" id="{5ECE848A-79B4-4891-82E4-D9C0C6205B6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2">
            <a:extLst>
              <a:ext uri="{FF2B5EF4-FFF2-40B4-BE49-F238E27FC236}">
                <a16:creationId xmlns:a16="http://schemas.microsoft.com/office/drawing/2014/main" id="{4476ED99-DDAD-4DA8-A250-AD83CE5816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66563" name="Rectangle 3">
            <a:extLst>
              <a:ext uri="{FF2B5EF4-FFF2-40B4-BE49-F238E27FC236}">
                <a16:creationId xmlns:a16="http://schemas.microsoft.com/office/drawing/2014/main" id="{8A1D284C-6432-4DDE-82AE-11CAA1FABE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5</a:t>
            </a:r>
          </a:p>
        </p:txBody>
      </p:sp>
      <p:sp>
        <p:nvSpPr>
          <p:cNvPr id="66564" name="Rectangle 4">
            <a:extLst>
              <a:ext uri="{FF2B5EF4-FFF2-40B4-BE49-F238E27FC236}">
                <a16:creationId xmlns:a16="http://schemas.microsoft.com/office/drawing/2014/main" id="{44C5B528-77A9-4D1E-B058-60D729B186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66565" name="Rectangle 5">
            <a:extLst>
              <a:ext uri="{FF2B5EF4-FFF2-40B4-BE49-F238E27FC236}">
                <a16:creationId xmlns:a16="http://schemas.microsoft.com/office/drawing/2014/main" id="{C20D9D30-43C7-4477-9CDD-49F8869445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66566" name="Rectangle 6">
            <a:extLst>
              <a:ext uri="{FF2B5EF4-FFF2-40B4-BE49-F238E27FC236}">
                <a16:creationId xmlns:a16="http://schemas.microsoft.com/office/drawing/2014/main" id="{BDAF753C-D229-48D4-9171-05B25E286B1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66567" name="Rectangle 7">
            <a:extLst>
              <a:ext uri="{FF2B5EF4-FFF2-40B4-BE49-F238E27FC236}">
                <a16:creationId xmlns:a16="http://schemas.microsoft.com/office/drawing/2014/main" id="{6E2CCFD9-A464-4FD9-B9C1-56461301A0C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2">
            <a:extLst>
              <a:ext uri="{FF2B5EF4-FFF2-40B4-BE49-F238E27FC236}">
                <a16:creationId xmlns:a16="http://schemas.microsoft.com/office/drawing/2014/main" id="{D5D83196-959A-4DD0-A131-B0449D99C4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67587" name="Rectangle 3">
            <a:extLst>
              <a:ext uri="{FF2B5EF4-FFF2-40B4-BE49-F238E27FC236}">
                <a16:creationId xmlns:a16="http://schemas.microsoft.com/office/drawing/2014/main" id="{6030B6AF-42AD-4429-A0ED-37F180ED7A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5</a:t>
            </a:r>
          </a:p>
        </p:txBody>
      </p:sp>
      <p:sp>
        <p:nvSpPr>
          <p:cNvPr id="67588" name="Rectangle 4">
            <a:extLst>
              <a:ext uri="{FF2B5EF4-FFF2-40B4-BE49-F238E27FC236}">
                <a16:creationId xmlns:a16="http://schemas.microsoft.com/office/drawing/2014/main" id="{36611F8C-A9F6-4CA6-BDE4-1A10166489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67589" name="Rectangle 5">
            <a:extLst>
              <a:ext uri="{FF2B5EF4-FFF2-40B4-BE49-F238E27FC236}">
                <a16:creationId xmlns:a16="http://schemas.microsoft.com/office/drawing/2014/main" id="{FAA65810-4437-4E37-88E7-5EE23C5FCC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67590" name="Rectangle 6">
            <a:extLst>
              <a:ext uri="{FF2B5EF4-FFF2-40B4-BE49-F238E27FC236}">
                <a16:creationId xmlns:a16="http://schemas.microsoft.com/office/drawing/2014/main" id="{E1FE705B-7220-49AF-A3E4-99B1C67ADEE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67591" name="Rectangle 7">
            <a:extLst>
              <a:ext uri="{FF2B5EF4-FFF2-40B4-BE49-F238E27FC236}">
                <a16:creationId xmlns:a16="http://schemas.microsoft.com/office/drawing/2014/main" id="{F448E3C4-7C0E-4EE8-A691-4AA6B40BCF6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2">
            <a:extLst>
              <a:ext uri="{FF2B5EF4-FFF2-40B4-BE49-F238E27FC236}">
                <a16:creationId xmlns:a16="http://schemas.microsoft.com/office/drawing/2014/main" id="{7C48F236-AF87-4AC9-8211-862A0F544E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68611" name="Rectangle 3">
            <a:extLst>
              <a:ext uri="{FF2B5EF4-FFF2-40B4-BE49-F238E27FC236}">
                <a16:creationId xmlns:a16="http://schemas.microsoft.com/office/drawing/2014/main" id="{F0D5EC02-F398-4449-B7FC-6EDE71C798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5</a:t>
            </a:r>
          </a:p>
        </p:txBody>
      </p:sp>
      <p:sp>
        <p:nvSpPr>
          <p:cNvPr id="68612" name="Rectangle 4">
            <a:extLst>
              <a:ext uri="{FF2B5EF4-FFF2-40B4-BE49-F238E27FC236}">
                <a16:creationId xmlns:a16="http://schemas.microsoft.com/office/drawing/2014/main" id="{685D775C-322F-455C-BCED-3B3DBEAE86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68613" name="Rectangle 5">
            <a:extLst>
              <a:ext uri="{FF2B5EF4-FFF2-40B4-BE49-F238E27FC236}">
                <a16:creationId xmlns:a16="http://schemas.microsoft.com/office/drawing/2014/main" id="{589F5053-83F6-46EA-A8B7-6BC4B47546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68614" name="Rectangle 6">
            <a:extLst>
              <a:ext uri="{FF2B5EF4-FFF2-40B4-BE49-F238E27FC236}">
                <a16:creationId xmlns:a16="http://schemas.microsoft.com/office/drawing/2014/main" id="{F5187331-EC08-4A22-BFD3-D5BE5A694C1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68615" name="Rectangle 7">
            <a:extLst>
              <a:ext uri="{FF2B5EF4-FFF2-40B4-BE49-F238E27FC236}">
                <a16:creationId xmlns:a16="http://schemas.microsoft.com/office/drawing/2014/main" id="{E3687730-9BFF-4E3C-B30C-A836FC3BF26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2">
            <a:extLst>
              <a:ext uri="{FF2B5EF4-FFF2-40B4-BE49-F238E27FC236}">
                <a16:creationId xmlns:a16="http://schemas.microsoft.com/office/drawing/2014/main" id="{169DD29A-DF7D-4B10-8919-4D629B6CF5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69635" name="Rectangle 3">
            <a:extLst>
              <a:ext uri="{FF2B5EF4-FFF2-40B4-BE49-F238E27FC236}">
                <a16:creationId xmlns:a16="http://schemas.microsoft.com/office/drawing/2014/main" id="{6B6E9E8A-6427-4DC6-A55B-840B70174A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5</a:t>
            </a:r>
          </a:p>
        </p:txBody>
      </p:sp>
      <p:sp>
        <p:nvSpPr>
          <p:cNvPr id="69636" name="Rectangle 4">
            <a:extLst>
              <a:ext uri="{FF2B5EF4-FFF2-40B4-BE49-F238E27FC236}">
                <a16:creationId xmlns:a16="http://schemas.microsoft.com/office/drawing/2014/main" id="{45CA2D08-5A4D-4E0F-9D12-CCF07619C0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69637" name="Rectangle 5">
            <a:extLst>
              <a:ext uri="{FF2B5EF4-FFF2-40B4-BE49-F238E27FC236}">
                <a16:creationId xmlns:a16="http://schemas.microsoft.com/office/drawing/2014/main" id="{8BB59998-29F8-451E-B6BE-82B6F8C886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69638" name="Rectangle 6">
            <a:extLst>
              <a:ext uri="{FF2B5EF4-FFF2-40B4-BE49-F238E27FC236}">
                <a16:creationId xmlns:a16="http://schemas.microsoft.com/office/drawing/2014/main" id="{54811157-7584-4811-AA3C-4F29183F906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69639" name="Rectangle 7">
            <a:extLst>
              <a:ext uri="{FF2B5EF4-FFF2-40B4-BE49-F238E27FC236}">
                <a16:creationId xmlns:a16="http://schemas.microsoft.com/office/drawing/2014/main" id="{E2E59D8C-8A3F-4DD0-BDD2-2DB8B31F38A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2">
            <a:extLst>
              <a:ext uri="{FF2B5EF4-FFF2-40B4-BE49-F238E27FC236}">
                <a16:creationId xmlns:a16="http://schemas.microsoft.com/office/drawing/2014/main" id="{9CF5B54B-3DCE-47DC-9ACE-EFC497FF3F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70659" name="Rectangle 3">
            <a:extLst>
              <a:ext uri="{FF2B5EF4-FFF2-40B4-BE49-F238E27FC236}">
                <a16:creationId xmlns:a16="http://schemas.microsoft.com/office/drawing/2014/main" id="{14EE7DDC-9310-4A66-916E-A5ECDF3A07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5</a:t>
            </a:r>
          </a:p>
        </p:txBody>
      </p:sp>
      <p:sp>
        <p:nvSpPr>
          <p:cNvPr id="70660" name="Rectangle 4">
            <a:extLst>
              <a:ext uri="{FF2B5EF4-FFF2-40B4-BE49-F238E27FC236}">
                <a16:creationId xmlns:a16="http://schemas.microsoft.com/office/drawing/2014/main" id="{EB2ED523-5B25-4945-8A95-067D082FDF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70661" name="Rectangle 5">
            <a:extLst>
              <a:ext uri="{FF2B5EF4-FFF2-40B4-BE49-F238E27FC236}">
                <a16:creationId xmlns:a16="http://schemas.microsoft.com/office/drawing/2014/main" id="{2CCFFEB0-4D48-4195-AF8D-0DAEF17E7B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70662" name="Rectangle 6">
            <a:extLst>
              <a:ext uri="{FF2B5EF4-FFF2-40B4-BE49-F238E27FC236}">
                <a16:creationId xmlns:a16="http://schemas.microsoft.com/office/drawing/2014/main" id="{7D262215-4E56-4214-8C11-E485E74E9DD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70663" name="Rectangle 7">
            <a:extLst>
              <a:ext uri="{FF2B5EF4-FFF2-40B4-BE49-F238E27FC236}">
                <a16:creationId xmlns:a16="http://schemas.microsoft.com/office/drawing/2014/main" id="{67DFA524-E1E8-4410-B37F-61691CC2E76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2">
            <a:extLst>
              <a:ext uri="{FF2B5EF4-FFF2-40B4-BE49-F238E27FC236}">
                <a16:creationId xmlns:a16="http://schemas.microsoft.com/office/drawing/2014/main" id="{73BA535D-8694-48C3-9C81-56F86E0C22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71683" name="Rectangle 3">
            <a:extLst>
              <a:ext uri="{FF2B5EF4-FFF2-40B4-BE49-F238E27FC236}">
                <a16:creationId xmlns:a16="http://schemas.microsoft.com/office/drawing/2014/main" id="{3C286CAF-D5A4-40FC-BEC5-4BCA489621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5</a:t>
            </a:r>
          </a:p>
        </p:txBody>
      </p:sp>
      <p:sp>
        <p:nvSpPr>
          <p:cNvPr id="71684" name="Rectangle 4">
            <a:extLst>
              <a:ext uri="{FF2B5EF4-FFF2-40B4-BE49-F238E27FC236}">
                <a16:creationId xmlns:a16="http://schemas.microsoft.com/office/drawing/2014/main" id="{CFCDD970-F0FE-4809-87A1-E688EC64E5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71685" name="Rectangle 5">
            <a:extLst>
              <a:ext uri="{FF2B5EF4-FFF2-40B4-BE49-F238E27FC236}">
                <a16:creationId xmlns:a16="http://schemas.microsoft.com/office/drawing/2014/main" id="{C5C2CDC3-9989-4BB5-8911-3CF66F26F6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71686" name="Rectangle 6">
            <a:extLst>
              <a:ext uri="{FF2B5EF4-FFF2-40B4-BE49-F238E27FC236}">
                <a16:creationId xmlns:a16="http://schemas.microsoft.com/office/drawing/2014/main" id="{827A57B2-19A4-4494-876D-1BF480019CA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71687" name="Rectangle 7">
            <a:extLst>
              <a:ext uri="{FF2B5EF4-FFF2-40B4-BE49-F238E27FC236}">
                <a16:creationId xmlns:a16="http://schemas.microsoft.com/office/drawing/2014/main" id="{8403EFB5-3451-44F0-9704-FA4B2E1B397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>
            <a:extLst>
              <a:ext uri="{FF2B5EF4-FFF2-40B4-BE49-F238E27FC236}">
                <a16:creationId xmlns:a16="http://schemas.microsoft.com/office/drawing/2014/main" id="{2B6F3E0E-7C74-4B3F-988D-6F9EDF6548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72707" name="Rectangle 3">
            <a:extLst>
              <a:ext uri="{FF2B5EF4-FFF2-40B4-BE49-F238E27FC236}">
                <a16:creationId xmlns:a16="http://schemas.microsoft.com/office/drawing/2014/main" id="{4EE3EACE-4218-48BA-A468-0B80400466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5</a:t>
            </a:r>
          </a:p>
        </p:txBody>
      </p:sp>
      <p:sp>
        <p:nvSpPr>
          <p:cNvPr id="72708" name="Rectangle 4">
            <a:extLst>
              <a:ext uri="{FF2B5EF4-FFF2-40B4-BE49-F238E27FC236}">
                <a16:creationId xmlns:a16="http://schemas.microsoft.com/office/drawing/2014/main" id="{4FB4519F-07ED-4877-8E3A-F1868FAD11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72709" name="Rectangle 5">
            <a:extLst>
              <a:ext uri="{FF2B5EF4-FFF2-40B4-BE49-F238E27FC236}">
                <a16:creationId xmlns:a16="http://schemas.microsoft.com/office/drawing/2014/main" id="{FAE999B8-D981-4ABF-9E33-1AC504D3CF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72710" name="Rectangle 6">
            <a:extLst>
              <a:ext uri="{FF2B5EF4-FFF2-40B4-BE49-F238E27FC236}">
                <a16:creationId xmlns:a16="http://schemas.microsoft.com/office/drawing/2014/main" id="{A70073F2-3251-40A7-ADD9-AE9835E0180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72711" name="Rectangle 7">
            <a:extLst>
              <a:ext uri="{FF2B5EF4-FFF2-40B4-BE49-F238E27FC236}">
                <a16:creationId xmlns:a16="http://schemas.microsoft.com/office/drawing/2014/main" id="{FECD8321-9D50-4687-A878-FFF72876A84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2">
            <a:extLst>
              <a:ext uri="{FF2B5EF4-FFF2-40B4-BE49-F238E27FC236}">
                <a16:creationId xmlns:a16="http://schemas.microsoft.com/office/drawing/2014/main" id="{5239D498-3901-43D7-8238-BE2855B6A1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73731" name="Rectangle 3">
            <a:extLst>
              <a:ext uri="{FF2B5EF4-FFF2-40B4-BE49-F238E27FC236}">
                <a16:creationId xmlns:a16="http://schemas.microsoft.com/office/drawing/2014/main" id="{2F3E860E-8AAE-4D20-B93D-873E423F86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5</a:t>
            </a:r>
          </a:p>
        </p:txBody>
      </p:sp>
      <p:sp>
        <p:nvSpPr>
          <p:cNvPr id="73732" name="Rectangle 4">
            <a:extLst>
              <a:ext uri="{FF2B5EF4-FFF2-40B4-BE49-F238E27FC236}">
                <a16:creationId xmlns:a16="http://schemas.microsoft.com/office/drawing/2014/main" id="{C9217F18-FB90-46A1-8934-92DC3BFC90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73733" name="Rectangle 5">
            <a:extLst>
              <a:ext uri="{FF2B5EF4-FFF2-40B4-BE49-F238E27FC236}">
                <a16:creationId xmlns:a16="http://schemas.microsoft.com/office/drawing/2014/main" id="{869CAFEC-A09D-4851-AF8A-F0BAA8F942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73734" name="Rectangle 6">
            <a:extLst>
              <a:ext uri="{FF2B5EF4-FFF2-40B4-BE49-F238E27FC236}">
                <a16:creationId xmlns:a16="http://schemas.microsoft.com/office/drawing/2014/main" id="{18D92C87-A96D-4489-970A-23EC6133311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73735" name="Rectangle 7">
            <a:extLst>
              <a:ext uri="{FF2B5EF4-FFF2-40B4-BE49-F238E27FC236}">
                <a16:creationId xmlns:a16="http://schemas.microsoft.com/office/drawing/2014/main" id="{CA5A5F2F-ED9A-4446-A754-C7AB9D74645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2">
            <a:extLst>
              <a:ext uri="{FF2B5EF4-FFF2-40B4-BE49-F238E27FC236}">
                <a16:creationId xmlns:a16="http://schemas.microsoft.com/office/drawing/2014/main" id="{669D1281-7D28-42A6-B181-230CED0EAC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75779" name="Rectangle 3">
            <a:extLst>
              <a:ext uri="{FF2B5EF4-FFF2-40B4-BE49-F238E27FC236}">
                <a16:creationId xmlns:a16="http://schemas.microsoft.com/office/drawing/2014/main" id="{A7E6A4DB-2863-438F-83F4-C4D8B550CD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5</a:t>
            </a:r>
          </a:p>
        </p:txBody>
      </p:sp>
      <p:sp>
        <p:nvSpPr>
          <p:cNvPr id="75780" name="Rectangle 4">
            <a:extLst>
              <a:ext uri="{FF2B5EF4-FFF2-40B4-BE49-F238E27FC236}">
                <a16:creationId xmlns:a16="http://schemas.microsoft.com/office/drawing/2014/main" id="{C2C778C4-53D0-457A-BCC3-D40B4B7274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75781" name="Rectangle 5">
            <a:extLst>
              <a:ext uri="{FF2B5EF4-FFF2-40B4-BE49-F238E27FC236}">
                <a16:creationId xmlns:a16="http://schemas.microsoft.com/office/drawing/2014/main" id="{27009557-FC8B-4BC3-947E-8C47DC4F8E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75782" name="Rectangle 6">
            <a:extLst>
              <a:ext uri="{FF2B5EF4-FFF2-40B4-BE49-F238E27FC236}">
                <a16:creationId xmlns:a16="http://schemas.microsoft.com/office/drawing/2014/main" id="{FB36190D-5358-45BD-A987-B94EC0F2AE6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75783" name="Rectangle 7">
            <a:extLst>
              <a:ext uri="{FF2B5EF4-FFF2-40B4-BE49-F238E27FC236}">
                <a16:creationId xmlns:a16="http://schemas.microsoft.com/office/drawing/2014/main" id="{AB823927-FF06-4869-B41C-1F700841A55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2">
            <a:extLst>
              <a:ext uri="{FF2B5EF4-FFF2-40B4-BE49-F238E27FC236}">
                <a16:creationId xmlns:a16="http://schemas.microsoft.com/office/drawing/2014/main" id="{0A048993-09FA-4B13-83FA-0444CBE14C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76803" name="Rectangle 3">
            <a:extLst>
              <a:ext uri="{FF2B5EF4-FFF2-40B4-BE49-F238E27FC236}">
                <a16:creationId xmlns:a16="http://schemas.microsoft.com/office/drawing/2014/main" id="{33F97143-BB66-4EE4-BE6A-FA555D669E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5</a:t>
            </a:r>
          </a:p>
        </p:txBody>
      </p:sp>
      <p:sp>
        <p:nvSpPr>
          <p:cNvPr id="76804" name="Rectangle 4">
            <a:extLst>
              <a:ext uri="{FF2B5EF4-FFF2-40B4-BE49-F238E27FC236}">
                <a16:creationId xmlns:a16="http://schemas.microsoft.com/office/drawing/2014/main" id="{463AA7C6-6451-42C9-89EC-C9D50F8043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76805" name="Rectangle 5">
            <a:extLst>
              <a:ext uri="{FF2B5EF4-FFF2-40B4-BE49-F238E27FC236}">
                <a16:creationId xmlns:a16="http://schemas.microsoft.com/office/drawing/2014/main" id="{450815B4-CB0C-4D33-B2A5-7E7392D24B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76806" name="Rectangle 6">
            <a:extLst>
              <a:ext uri="{FF2B5EF4-FFF2-40B4-BE49-F238E27FC236}">
                <a16:creationId xmlns:a16="http://schemas.microsoft.com/office/drawing/2014/main" id="{0AD130AB-D02A-4B53-B440-9D1273DC0D5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76807" name="Rectangle 7">
            <a:extLst>
              <a:ext uri="{FF2B5EF4-FFF2-40B4-BE49-F238E27FC236}">
                <a16:creationId xmlns:a16="http://schemas.microsoft.com/office/drawing/2014/main" id="{E12F8EB4-E019-44FE-82C2-8AF88A19BB1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2">
            <a:extLst>
              <a:ext uri="{FF2B5EF4-FFF2-40B4-BE49-F238E27FC236}">
                <a16:creationId xmlns:a16="http://schemas.microsoft.com/office/drawing/2014/main" id="{91AE3E3C-FF77-4875-BD46-E832A20524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77827" name="Rectangle 3">
            <a:extLst>
              <a:ext uri="{FF2B5EF4-FFF2-40B4-BE49-F238E27FC236}">
                <a16:creationId xmlns:a16="http://schemas.microsoft.com/office/drawing/2014/main" id="{94CB62A3-5905-42BF-9387-F802547FA9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5</a:t>
            </a:r>
          </a:p>
        </p:txBody>
      </p:sp>
      <p:sp>
        <p:nvSpPr>
          <p:cNvPr id="77828" name="Rectangle 4">
            <a:extLst>
              <a:ext uri="{FF2B5EF4-FFF2-40B4-BE49-F238E27FC236}">
                <a16:creationId xmlns:a16="http://schemas.microsoft.com/office/drawing/2014/main" id="{98AB2C5E-53D2-497E-82F2-479FD08033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77829" name="Rectangle 5">
            <a:extLst>
              <a:ext uri="{FF2B5EF4-FFF2-40B4-BE49-F238E27FC236}">
                <a16:creationId xmlns:a16="http://schemas.microsoft.com/office/drawing/2014/main" id="{794BA691-01E1-488F-86AC-750A024AB5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77830" name="Rectangle 6">
            <a:extLst>
              <a:ext uri="{FF2B5EF4-FFF2-40B4-BE49-F238E27FC236}">
                <a16:creationId xmlns:a16="http://schemas.microsoft.com/office/drawing/2014/main" id="{D442FC30-5A05-4031-85A0-64F7F3CE256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77831" name="Rectangle 7">
            <a:extLst>
              <a:ext uri="{FF2B5EF4-FFF2-40B4-BE49-F238E27FC236}">
                <a16:creationId xmlns:a16="http://schemas.microsoft.com/office/drawing/2014/main" id="{FD28A93A-2233-4C93-A731-6293703AD39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2">
            <a:extLst>
              <a:ext uri="{FF2B5EF4-FFF2-40B4-BE49-F238E27FC236}">
                <a16:creationId xmlns:a16="http://schemas.microsoft.com/office/drawing/2014/main" id="{2D69C221-5BDE-4A07-B894-FE7E1D6B99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78851" name="Rectangle 3">
            <a:extLst>
              <a:ext uri="{FF2B5EF4-FFF2-40B4-BE49-F238E27FC236}">
                <a16:creationId xmlns:a16="http://schemas.microsoft.com/office/drawing/2014/main" id="{469D6001-BDA6-4266-8076-04BD871174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5</a:t>
            </a:r>
          </a:p>
        </p:txBody>
      </p:sp>
      <p:sp>
        <p:nvSpPr>
          <p:cNvPr id="78852" name="Rectangle 4">
            <a:extLst>
              <a:ext uri="{FF2B5EF4-FFF2-40B4-BE49-F238E27FC236}">
                <a16:creationId xmlns:a16="http://schemas.microsoft.com/office/drawing/2014/main" id="{77CDE78D-3A14-482B-B0D2-197B87A3CF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78853" name="Rectangle 5">
            <a:extLst>
              <a:ext uri="{FF2B5EF4-FFF2-40B4-BE49-F238E27FC236}">
                <a16:creationId xmlns:a16="http://schemas.microsoft.com/office/drawing/2014/main" id="{980DF2F7-B09F-419A-8999-856D4AC588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78854" name="Rectangle 6">
            <a:extLst>
              <a:ext uri="{FF2B5EF4-FFF2-40B4-BE49-F238E27FC236}">
                <a16:creationId xmlns:a16="http://schemas.microsoft.com/office/drawing/2014/main" id="{90E6DA54-3DC9-451A-B2EA-327DB9892B5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78855" name="Rectangle 7">
            <a:extLst>
              <a:ext uri="{FF2B5EF4-FFF2-40B4-BE49-F238E27FC236}">
                <a16:creationId xmlns:a16="http://schemas.microsoft.com/office/drawing/2014/main" id="{70B49595-AE40-4F54-B538-E8A1D33BAA9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2">
            <a:extLst>
              <a:ext uri="{FF2B5EF4-FFF2-40B4-BE49-F238E27FC236}">
                <a16:creationId xmlns:a16="http://schemas.microsoft.com/office/drawing/2014/main" id="{D3E64589-2691-4B79-A588-7E71CFC69C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79875" name="Rectangle 3">
            <a:extLst>
              <a:ext uri="{FF2B5EF4-FFF2-40B4-BE49-F238E27FC236}">
                <a16:creationId xmlns:a16="http://schemas.microsoft.com/office/drawing/2014/main" id="{C1B4E584-1ED8-4EB9-8AB3-3045F9286A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5</a:t>
            </a:r>
          </a:p>
        </p:txBody>
      </p:sp>
      <p:sp>
        <p:nvSpPr>
          <p:cNvPr id="79876" name="Rectangle 4">
            <a:extLst>
              <a:ext uri="{FF2B5EF4-FFF2-40B4-BE49-F238E27FC236}">
                <a16:creationId xmlns:a16="http://schemas.microsoft.com/office/drawing/2014/main" id="{281A87FF-8BC3-4FA8-A7AB-6FDBF1E4EE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79877" name="Rectangle 5">
            <a:extLst>
              <a:ext uri="{FF2B5EF4-FFF2-40B4-BE49-F238E27FC236}">
                <a16:creationId xmlns:a16="http://schemas.microsoft.com/office/drawing/2014/main" id="{34B136AB-F93E-4CB5-B6E5-F92B379ECA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79878" name="Rectangle 6">
            <a:extLst>
              <a:ext uri="{FF2B5EF4-FFF2-40B4-BE49-F238E27FC236}">
                <a16:creationId xmlns:a16="http://schemas.microsoft.com/office/drawing/2014/main" id="{71EDED1C-B63F-46D3-BF2C-C8F9BECD39C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79879" name="Rectangle 7">
            <a:extLst>
              <a:ext uri="{FF2B5EF4-FFF2-40B4-BE49-F238E27FC236}">
                <a16:creationId xmlns:a16="http://schemas.microsoft.com/office/drawing/2014/main" id="{B69A7AC8-168E-4269-8720-EBDFB8828B2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2">
            <a:extLst>
              <a:ext uri="{FF2B5EF4-FFF2-40B4-BE49-F238E27FC236}">
                <a16:creationId xmlns:a16="http://schemas.microsoft.com/office/drawing/2014/main" id="{9951F7F9-70A3-4A51-BD83-4C5A68C9CD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80899" name="Rectangle 3">
            <a:extLst>
              <a:ext uri="{FF2B5EF4-FFF2-40B4-BE49-F238E27FC236}">
                <a16:creationId xmlns:a16="http://schemas.microsoft.com/office/drawing/2014/main" id="{B362245D-7D89-480C-ACF8-F42A9CEAF3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5</a:t>
            </a:r>
          </a:p>
        </p:txBody>
      </p:sp>
      <p:sp>
        <p:nvSpPr>
          <p:cNvPr id="80900" name="Rectangle 4">
            <a:extLst>
              <a:ext uri="{FF2B5EF4-FFF2-40B4-BE49-F238E27FC236}">
                <a16:creationId xmlns:a16="http://schemas.microsoft.com/office/drawing/2014/main" id="{0337D9AB-A328-4A40-858B-CA35AA915D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80901" name="Rectangle 5">
            <a:extLst>
              <a:ext uri="{FF2B5EF4-FFF2-40B4-BE49-F238E27FC236}">
                <a16:creationId xmlns:a16="http://schemas.microsoft.com/office/drawing/2014/main" id="{456E32FA-C8D7-4F59-8593-C2F741DCBC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80902" name="Rectangle 6">
            <a:extLst>
              <a:ext uri="{FF2B5EF4-FFF2-40B4-BE49-F238E27FC236}">
                <a16:creationId xmlns:a16="http://schemas.microsoft.com/office/drawing/2014/main" id="{632474A9-0060-42D1-8AF3-F605DF6A3C8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80903" name="Rectangle 7">
            <a:extLst>
              <a:ext uri="{FF2B5EF4-FFF2-40B4-BE49-F238E27FC236}">
                <a16:creationId xmlns:a16="http://schemas.microsoft.com/office/drawing/2014/main" id="{58F8FFB2-BFD5-4FC9-A280-63092956A7D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2">
            <a:extLst>
              <a:ext uri="{FF2B5EF4-FFF2-40B4-BE49-F238E27FC236}">
                <a16:creationId xmlns:a16="http://schemas.microsoft.com/office/drawing/2014/main" id="{86307A76-5AF3-4EC9-83A9-DB3BBD09B2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81923" name="Rectangle 3">
            <a:extLst>
              <a:ext uri="{FF2B5EF4-FFF2-40B4-BE49-F238E27FC236}">
                <a16:creationId xmlns:a16="http://schemas.microsoft.com/office/drawing/2014/main" id="{AD13EEFD-72BA-4982-ABB7-3001A6BD36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5</a:t>
            </a:r>
          </a:p>
        </p:txBody>
      </p:sp>
      <p:sp>
        <p:nvSpPr>
          <p:cNvPr id="81924" name="Rectangle 4">
            <a:extLst>
              <a:ext uri="{FF2B5EF4-FFF2-40B4-BE49-F238E27FC236}">
                <a16:creationId xmlns:a16="http://schemas.microsoft.com/office/drawing/2014/main" id="{8DE1C03F-D233-44EA-8B53-A50A431E38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81925" name="Rectangle 5">
            <a:extLst>
              <a:ext uri="{FF2B5EF4-FFF2-40B4-BE49-F238E27FC236}">
                <a16:creationId xmlns:a16="http://schemas.microsoft.com/office/drawing/2014/main" id="{512927A7-652A-4346-9815-56C7C09F71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81926" name="Rectangle 6">
            <a:extLst>
              <a:ext uri="{FF2B5EF4-FFF2-40B4-BE49-F238E27FC236}">
                <a16:creationId xmlns:a16="http://schemas.microsoft.com/office/drawing/2014/main" id="{664759AA-1075-4930-8DBF-386EDD55B73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81927" name="Rectangle 7">
            <a:extLst>
              <a:ext uri="{FF2B5EF4-FFF2-40B4-BE49-F238E27FC236}">
                <a16:creationId xmlns:a16="http://schemas.microsoft.com/office/drawing/2014/main" id="{DB02F2F8-176F-4F4C-BAA3-86D5F9533D0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2">
            <a:extLst>
              <a:ext uri="{FF2B5EF4-FFF2-40B4-BE49-F238E27FC236}">
                <a16:creationId xmlns:a16="http://schemas.microsoft.com/office/drawing/2014/main" id="{09A2775A-5FC8-46F4-A43C-2ABBA31A33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82947" name="Rectangle 3">
            <a:extLst>
              <a:ext uri="{FF2B5EF4-FFF2-40B4-BE49-F238E27FC236}">
                <a16:creationId xmlns:a16="http://schemas.microsoft.com/office/drawing/2014/main" id="{6D1DD8DA-F9F3-4202-8247-1FBBC65563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5</a:t>
            </a:r>
          </a:p>
        </p:txBody>
      </p:sp>
      <p:sp>
        <p:nvSpPr>
          <p:cNvPr id="82948" name="Rectangle 4">
            <a:extLst>
              <a:ext uri="{FF2B5EF4-FFF2-40B4-BE49-F238E27FC236}">
                <a16:creationId xmlns:a16="http://schemas.microsoft.com/office/drawing/2014/main" id="{BD70791B-D7B4-4295-9554-31AFF33C73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82949" name="Rectangle 5">
            <a:extLst>
              <a:ext uri="{FF2B5EF4-FFF2-40B4-BE49-F238E27FC236}">
                <a16:creationId xmlns:a16="http://schemas.microsoft.com/office/drawing/2014/main" id="{DA066AB9-0497-4400-97E7-43A7C74083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82950" name="Rectangle 6">
            <a:extLst>
              <a:ext uri="{FF2B5EF4-FFF2-40B4-BE49-F238E27FC236}">
                <a16:creationId xmlns:a16="http://schemas.microsoft.com/office/drawing/2014/main" id="{5CD10E81-9172-43A4-988F-85DAABE8AA9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82951" name="Rectangle 7">
            <a:extLst>
              <a:ext uri="{FF2B5EF4-FFF2-40B4-BE49-F238E27FC236}">
                <a16:creationId xmlns:a16="http://schemas.microsoft.com/office/drawing/2014/main" id="{17DC1E74-EF79-401B-9C6F-1696E7DF32D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2">
            <a:extLst>
              <a:ext uri="{FF2B5EF4-FFF2-40B4-BE49-F238E27FC236}">
                <a16:creationId xmlns:a16="http://schemas.microsoft.com/office/drawing/2014/main" id="{0106D2B7-B029-4EE4-AA29-A077E791CE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83971" name="Rectangle 3">
            <a:extLst>
              <a:ext uri="{FF2B5EF4-FFF2-40B4-BE49-F238E27FC236}">
                <a16:creationId xmlns:a16="http://schemas.microsoft.com/office/drawing/2014/main" id="{776213B6-6BFA-4D85-8E6C-504779C374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5</a:t>
            </a:r>
          </a:p>
        </p:txBody>
      </p:sp>
      <p:sp>
        <p:nvSpPr>
          <p:cNvPr id="83972" name="Rectangle 4">
            <a:extLst>
              <a:ext uri="{FF2B5EF4-FFF2-40B4-BE49-F238E27FC236}">
                <a16:creationId xmlns:a16="http://schemas.microsoft.com/office/drawing/2014/main" id="{8D6ECCD2-AB4C-4395-BA59-6524E61856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83973" name="Rectangle 5">
            <a:extLst>
              <a:ext uri="{FF2B5EF4-FFF2-40B4-BE49-F238E27FC236}">
                <a16:creationId xmlns:a16="http://schemas.microsoft.com/office/drawing/2014/main" id="{88A07F85-536D-4312-9596-67C2584AE6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83974" name="Rectangle 6">
            <a:extLst>
              <a:ext uri="{FF2B5EF4-FFF2-40B4-BE49-F238E27FC236}">
                <a16:creationId xmlns:a16="http://schemas.microsoft.com/office/drawing/2014/main" id="{4896D3B8-D198-4697-A3DF-76CB704784F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83975" name="Rectangle 7">
            <a:extLst>
              <a:ext uri="{FF2B5EF4-FFF2-40B4-BE49-F238E27FC236}">
                <a16:creationId xmlns:a16="http://schemas.microsoft.com/office/drawing/2014/main" id="{38C6AE3A-D5E9-49C3-9C60-CD7981E40C9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2">
            <a:extLst>
              <a:ext uri="{FF2B5EF4-FFF2-40B4-BE49-F238E27FC236}">
                <a16:creationId xmlns:a16="http://schemas.microsoft.com/office/drawing/2014/main" id="{FFCE2DA2-AF01-45CA-9A3C-1923DB6A10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84995" name="Rectangle 3">
            <a:extLst>
              <a:ext uri="{FF2B5EF4-FFF2-40B4-BE49-F238E27FC236}">
                <a16:creationId xmlns:a16="http://schemas.microsoft.com/office/drawing/2014/main" id="{8EE43B88-08CF-4796-81C2-134C04952B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5</a:t>
            </a:r>
          </a:p>
        </p:txBody>
      </p:sp>
      <p:sp>
        <p:nvSpPr>
          <p:cNvPr id="84996" name="Rectangle 4">
            <a:extLst>
              <a:ext uri="{FF2B5EF4-FFF2-40B4-BE49-F238E27FC236}">
                <a16:creationId xmlns:a16="http://schemas.microsoft.com/office/drawing/2014/main" id="{997018A1-7FDE-4339-82A6-F34170068C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84997" name="Rectangle 5">
            <a:extLst>
              <a:ext uri="{FF2B5EF4-FFF2-40B4-BE49-F238E27FC236}">
                <a16:creationId xmlns:a16="http://schemas.microsoft.com/office/drawing/2014/main" id="{EF26E4BB-C722-468E-BC66-D0905A226B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84998" name="Rectangle 6">
            <a:extLst>
              <a:ext uri="{FF2B5EF4-FFF2-40B4-BE49-F238E27FC236}">
                <a16:creationId xmlns:a16="http://schemas.microsoft.com/office/drawing/2014/main" id="{CBF3E824-B964-4CE7-84A4-B949D6B673C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84999" name="Rectangle 7">
            <a:extLst>
              <a:ext uri="{FF2B5EF4-FFF2-40B4-BE49-F238E27FC236}">
                <a16:creationId xmlns:a16="http://schemas.microsoft.com/office/drawing/2014/main" id="{A02A9795-0126-41F9-B598-7218CD697B9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2">
            <a:extLst>
              <a:ext uri="{FF2B5EF4-FFF2-40B4-BE49-F238E27FC236}">
                <a16:creationId xmlns:a16="http://schemas.microsoft.com/office/drawing/2014/main" id="{8A056769-6AEA-4A49-86D4-4944BB8630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86019" name="Rectangle 3">
            <a:extLst>
              <a:ext uri="{FF2B5EF4-FFF2-40B4-BE49-F238E27FC236}">
                <a16:creationId xmlns:a16="http://schemas.microsoft.com/office/drawing/2014/main" id="{968A4472-7105-4CC9-9970-37CBB1ADA7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5</a:t>
            </a:r>
          </a:p>
        </p:txBody>
      </p:sp>
      <p:sp>
        <p:nvSpPr>
          <p:cNvPr id="86020" name="Rectangle 4">
            <a:extLst>
              <a:ext uri="{FF2B5EF4-FFF2-40B4-BE49-F238E27FC236}">
                <a16:creationId xmlns:a16="http://schemas.microsoft.com/office/drawing/2014/main" id="{1002A664-CE66-4B52-A102-1A5E854546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86021" name="Rectangle 5">
            <a:extLst>
              <a:ext uri="{FF2B5EF4-FFF2-40B4-BE49-F238E27FC236}">
                <a16:creationId xmlns:a16="http://schemas.microsoft.com/office/drawing/2014/main" id="{B1D8B7BC-5380-4DA0-9265-C88039A905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86022" name="Rectangle 6">
            <a:extLst>
              <a:ext uri="{FF2B5EF4-FFF2-40B4-BE49-F238E27FC236}">
                <a16:creationId xmlns:a16="http://schemas.microsoft.com/office/drawing/2014/main" id="{160D785B-54C1-4B0C-A7E5-72EBA86DE2E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86023" name="Rectangle 7">
            <a:extLst>
              <a:ext uri="{FF2B5EF4-FFF2-40B4-BE49-F238E27FC236}">
                <a16:creationId xmlns:a16="http://schemas.microsoft.com/office/drawing/2014/main" id="{0C44AF0C-D226-485A-95FC-1DC2B3949A9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1026">
            <a:extLst>
              <a:ext uri="{FF2B5EF4-FFF2-40B4-BE49-F238E27FC236}">
                <a16:creationId xmlns:a16="http://schemas.microsoft.com/office/drawing/2014/main" id="{402B5F14-1534-4B1B-8B13-F3E6C24CCC0D}"/>
              </a:ext>
            </a:extLst>
          </p:cNvPr>
          <p:cNvGrpSpPr>
            <a:grpSpLocks/>
          </p:cNvGrpSpPr>
          <p:nvPr/>
        </p:nvGrpSpPr>
        <p:grpSpPr bwMode="auto">
          <a:xfrm>
            <a:off x="-3222625" y="304800"/>
            <a:ext cx="11909425" cy="4724400"/>
            <a:chOff x="-2030" y="192"/>
            <a:chExt cx="7502" cy="2976"/>
          </a:xfrm>
        </p:grpSpPr>
        <p:sp>
          <p:nvSpPr>
            <p:cNvPr id="5" name="Line 1027">
              <a:extLst>
                <a:ext uri="{FF2B5EF4-FFF2-40B4-BE49-F238E27FC236}">
                  <a16:creationId xmlns:a16="http://schemas.microsoft.com/office/drawing/2014/main" id="{EFBDEB40-F49C-4483-BBE6-999B0D6149F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12" y="1584"/>
              <a:ext cx="4560" cy="0"/>
            </a:xfrm>
            <a:prstGeom prst="line">
              <a:avLst/>
            </a:prstGeom>
            <a:noFill/>
            <a:ln w="57150" cmpd="thickThin">
              <a:solidFill>
                <a:srgbClr val="8D7DFF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/>
            </a:p>
          </p:txBody>
        </p:sp>
        <p:sp>
          <p:nvSpPr>
            <p:cNvPr id="6" name="AutoShape 1028">
              <a:extLst>
                <a:ext uri="{FF2B5EF4-FFF2-40B4-BE49-F238E27FC236}">
                  <a16:creationId xmlns:a16="http://schemas.microsoft.com/office/drawing/2014/main" id="{F0BEA807-46BC-4960-B491-2B7A047FBBA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1584" y="864"/>
              <a:ext cx="2304" cy="2304"/>
            </a:xfrm>
            <a:custGeom>
              <a:avLst/>
              <a:gdLst>
                <a:gd name="T0" fmla="*/ 1587 w 64000"/>
                <a:gd name="T1" fmla="*/ 85 h 64000"/>
                <a:gd name="T2" fmla="*/ 2304 w 64000"/>
                <a:gd name="T3" fmla="*/ 1152 h 64000"/>
                <a:gd name="T4" fmla="*/ 1587 w 64000"/>
                <a:gd name="T5" fmla="*/ 2219 h 64000"/>
                <a:gd name="T6" fmla="*/ 1587 w 64000"/>
                <a:gd name="T7" fmla="*/ 2219 h 64000"/>
                <a:gd name="T8" fmla="*/ 1587 w 64000"/>
                <a:gd name="T9" fmla="*/ 2219 h 64000"/>
                <a:gd name="T10" fmla="*/ 1587 w 64000"/>
                <a:gd name="T11" fmla="*/ 2219 h 64000"/>
                <a:gd name="T12" fmla="*/ 1587 w 64000"/>
                <a:gd name="T13" fmla="*/ 85 h 64000"/>
                <a:gd name="T14" fmla="*/ 1587 w 64000"/>
                <a:gd name="T15" fmla="*/ 85 h 64000"/>
                <a:gd name="T16" fmla="*/ 1587 w 64000"/>
                <a:gd name="T17" fmla="*/ 85 h 64000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44083 w 64000"/>
                <a:gd name="T28" fmla="*/ -29639 h 64000"/>
                <a:gd name="T29" fmla="*/ 44083 w 64000"/>
                <a:gd name="T30" fmla="*/ 29639 h 64000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64000" h="64000">
                  <a:moveTo>
                    <a:pt x="44083" y="2368"/>
                  </a:moveTo>
                  <a:cubicBezTo>
                    <a:pt x="56127" y="7280"/>
                    <a:pt x="64000" y="18993"/>
                    <a:pt x="64000" y="32000"/>
                  </a:cubicBezTo>
                  <a:cubicBezTo>
                    <a:pt x="64000" y="45006"/>
                    <a:pt x="56127" y="56719"/>
                    <a:pt x="44083" y="61631"/>
                  </a:cubicBezTo>
                  <a:cubicBezTo>
                    <a:pt x="44082" y="61631"/>
                    <a:pt x="44082" y="61631"/>
                    <a:pt x="44082" y="61631"/>
                  </a:cubicBezTo>
                  <a:lnTo>
                    <a:pt x="44083" y="61632"/>
                  </a:lnTo>
                  <a:lnTo>
                    <a:pt x="44083" y="2368"/>
                  </a:lnTo>
                  <a:lnTo>
                    <a:pt x="44082" y="2368"/>
                  </a:lnTo>
                  <a:cubicBezTo>
                    <a:pt x="44082" y="2368"/>
                    <a:pt x="44082" y="2368"/>
                    <a:pt x="44083" y="2368"/>
                  </a:cubicBezTo>
                  <a:close/>
                </a:path>
              </a:pathLst>
            </a:custGeom>
            <a:solidFill>
              <a:srgbClr val="9999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/>
            </a:p>
          </p:txBody>
        </p:sp>
        <p:sp>
          <p:nvSpPr>
            <p:cNvPr id="7" name="AutoShape 1029">
              <a:extLst>
                <a:ext uri="{FF2B5EF4-FFF2-40B4-BE49-F238E27FC236}">
                  <a16:creationId xmlns:a16="http://schemas.microsoft.com/office/drawing/2014/main" id="{74957E8A-E322-4182-8607-4E1B291366D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2030" y="192"/>
              <a:ext cx="2544" cy="2544"/>
            </a:xfrm>
            <a:custGeom>
              <a:avLst/>
              <a:gdLst>
                <a:gd name="T0" fmla="*/ 2027 w 64000"/>
                <a:gd name="T1" fmla="*/ 248 h 64000"/>
                <a:gd name="T2" fmla="*/ 2544 w 64000"/>
                <a:gd name="T3" fmla="*/ 1272 h 64000"/>
                <a:gd name="T4" fmla="*/ 2027 w 64000"/>
                <a:gd name="T5" fmla="*/ 2296 h 64000"/>
                <a:gd name="T6" fmla="*/ 2027 w 64000"/>
                <a:gd name="T7" fmla="*/ 2296 h 64000"/>
                <a:gd name="T8" fmla="*/ 2027 w 64000"/>
                <a:gd name="T9" fmla="*/ 2296 h 64000"/>
                <a:gd name="T10" fmla="*/ 2027 w 64000"/>
                <a:gd name="T11" fmla="*/ 2296 h 64000"/>
                <a:gd name="T12" fmla="*/ 2027 w 64000"/>
                <a:gd name="T13" fmla="*/ 248 h 64000"/>
                <a:gd name="T14" fmla="*/ 2027 w 64000"/>
                <a:gd name="T15" fmla="*/ 248 h 64000"/>
                <a:gd name="T16" fmla="*/ 2027 w 64000"/>
                <a:gd name="T17" fmla="*/ 248 h 64000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50994 w 64000"/>
                <a:gd name="T28" fmla="*/ -25761 h 64000"/>
                <a:gd name="T29" fmla="*/ 50994 w 64000"/>
                <a:gd name="T30" fmla="*/ 25761 h 64000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64000" h="64000">
                  <a:moveTo>
                    <a:pt x="50994" y="6246"/>
                  </a:moveTo>
                  <a:cubicBezTo>
                    <a:pt x="59172" y="12279"/>
                    <a:pt x="64000" y="21837"/>
                    <a:pt x="64000" y="32000"/>
                  </a:cubicBezTo>
                  <a:cubicBezTo>
                    <a:pt x="64000" y="42162"/>
                    <a:pt x="59172" y="51720"/>
                    <a:pt x="50994" y="57753"/>
                  </a:cubicBezTo>
                  <a:cubicBezTo>
                    <a:pt x="50993" y="57753"/>
                    <a:pt x="50993" y="57753"/>
                    <a:pt x="50993" y="57753"/>
                  </a:cubicBezTo>
                  <a:lnTo>
                    <a:pt x="50994" y="57754"/>
                  </a:lnTo>
                  <a:lnTo>
                    <a:pt x="50994" y="6246"/>
                  </a:lnTo>
                  <a:lnTo>
                    <a:pt x="50993" y="6246"/>
                  </a:lnTo>
                  <a:cubicBezTo>
                    <a:pt x="50993" y="6246"/>
                    <a:pt x="50993" y="6246"/>
                    <a:pt x="50994" y="6246"/>
                  </a:cubicBezTo>
                  <a:close/>
                </a:path>
              </a:pathLst>
            </a:custGeom>
            <a:solidFill>
              <a:srgbClr val="CCCC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/>
            </a:p>
          </p:txBody>
        </p:sp>
      </p:grpSp>
      <p:sp>
        <p:nvSpPr>
          <p:cNvPr id="216070" name="Rectangle 1030"/>
          <p:cNvSpPr>
            <a:spLocks noGrp="1" noChangeArrowheads="1"/>
          </p:cNvSpPr>
          <p:nvPr>
            <p:ph type="ctrTitle"/>
          </p:nvPr>
        </p:nvSpPr>
        <p:spPr>
          <a:xfrm>
            <a:off x="1443038" y="985838"/>
            <a:ext cx="7239000" cy="1444625"/>
          </a:xfrm>
        </p:spPr>
        <p:txBody>
          <a:bodyPr/>
          <a:lstStyle>
            <a:lvl1pPr algn="ctr">
              <a:defRPr sz="4400"/>
            </a:lvl1pPr>
          </a:lstStyle>
          <a:p>
            <a:r>
              <a:rPr lang="en-US" altLang="ko-KR"/>
              <a:t>Click to edit Master title style</a:t>
            </a:r>
          </a:p>
        </p:txBody>
      </p:sp>
      <p:sp>
        <p:nvSpPr>
          <p:cNvPr id="216071" name="Rectangle 1031"/>
          <p:cNvSpPr>
            <a:spLocks noGrp="1" noChangeArrowheads="1"/>
          </p:cNvSpPr>
          <p:nvPr>
            <p:ph type="subTitle" idx="1"/>
          </p:nvPr>
        </p:nvSpPr>
        <p:spPr>
          <a:xfrm>
            <a:off x="1443038" y="3427413"/>
            <a:ext cx="72390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 sz="4000"/>
            </a:lvl1pPr>
          </a:lstStyle>
          <a:p>
            <a:r>
              <a:rPr lang="en-US" altLang="ko-KR"/>
              <a:t>Click to edit Master subtitle style</a:t>
            </a:r>
          </a:p>
        </p:txBody>
      </p:sp>
      <p:sp>
        <p:nvSpPr>
          <p:cNvPr id="8" name="Rectangle 1032">
            <a:extLst>
              <a:ext uri="{FF2B5EF4-FFF2-40B4-BE49-F238E27FC236}">
                <a16:creationId xmlns:a16="http://schemas.microsoft.com/office/drawing/2014/main" id="{85867AFD-3D25-4B7C-90BB-3FD2950F39C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8400"/>
            <a:ext cx="320675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9" name="Rectangle 1033">
            <a:extLst>
              <a:ext uri="{FF2B5EF4-FFF2-40B4-BE49-F238E27FC236}">
                <a16:creationId xmlns:a16="http://schemas.microsoft.com/office/drawing/2014/main" id="{D709F4F9-FDBF-43E2-AB55-75C5FDCC3DC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Chapter 13</a:t>
            </a:r>
            <a:endParaRPr lang="ko-KR" altLang="en-US"/>
          </a:p>
        </p:txBody>
      </p:sp>
      <p:sp>
        <p:nvSpPr>
          <p:cNvPr id="10" name="Rectangle 1034">
            <a:extLst>
              <a:ext uri="{FF2B5EF4-FFF2-40B4-BE49-F238E27FC236}">
                <a16:creationId xmlns:a16="http://schemas.microsoft.com/office/drawing/2014/main" id="{DD463CB2-8974-4062-98FC-1A78927D26C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28764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Rectangle 8">
            <a:extLst>
              <a:ext uri="{FF2B5EF4-FFF2-40B4-BE49-F238E27FC236}">
                <a16:creationId xmlns:a16="http://schemas.microsoft.com/office/drawing/2014/main" id="{450185D5-6778-49E6-8721-B931641783C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9">
            <a:extLst>
              <a:ext uri="{FF2B5EF4-FFF2-40B4-BE49-F238E27FC236}">
                <a16:creationId xmlns:a16="http://schemas.microsoft.com/office/drawing/2014/main" id="{B502EC22-F1D7-4F73-B121-30D1C81C81C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Chapter 13</a:t>
            </a:r>
          </a:p>
        </p:txBody>
      </p:sp>
      <p:sp>
        <p:nvSpPr>
          <p:cNvPr id="6" name="Rectangle 10">
            <a:extLst>
              <a:ext uri="{FF2B5EF4-FFF2-40B4-BE49-F238E27FC236}">
                <a16:creationId xmlns:a16="http://schemas.microsoft.com/office/drawing/2014/main" id="{55928016-8A2E-45A7-8BCA-A5FB9888523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29CD22E-23C9-40E5-AC3E-30B541092ED7}" type="slidenum">
              <a:rPr lang="ko-KR" altLang="en-US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42323377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Rectangle 8">
            <a:extLst>
              <a:ext uri="{FF2B5EF4-FFF2-40B4-BE49-F238E27FC236}">
                <a16:creationId xmlns:a16="http://schemas.microsoft.com/office/drawing/2014/main" id="{5E1DF9D1-C7AB-4B60-84FC-666DDFF5BD7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9">
            <a:extLst>
              <a:ext uri="{FF2B5EF4-FFF2-40B4-BE49-F238E27FC236}">
                <a16:creationId xmlns:a16="http://schemas.microsoft.com/office/drawing/2014/main" id="{D255EE41-C77B-48BC-AC0F-86313F96073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Chapter 13</a:t>
            </a:r>
          </a:p>
        </p:txBody>
      </p:sp>
      <p:sp>
        <p:nvSpPr>
          <p:cNvPr id="6" name="Rectangle 10">
            <a:extLst>
              <a:ext uri="{FF2B5EF4-FFF2-40B4-BE49-F238E27FC236}">
                <a16:creationId xmlns:a16="http://schemas.microsoft.com/office/drawing/2014/main" id="{B47BE6DC-DFC1-40A4-A425-A5B253B7610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2FFF3A4-33AC-4B0E-9538-42D259D4488A}" type="slidenum">
              <a:rPr lang="ko-KR" altLang="en-US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1303152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1370013" y="1827213"/>
            <a:ext cx="3579812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5102225" y="1827213"/>
            <a:ext cx="35814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Rectangle 8">
            <a:extLst>
              <a:ext uri="{FF2B5EF4-FFF2-40B4-BE49-F238E27FC236}">
                <a16:creationId xmlns:a16="http://schemas.microsoft.com/office/drawing/2014/main" id="{4AB33495-F634-4E44-98EB-D285164CDC7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9">
            <a:extLst>
              <a:ext uri="{FF2B5EF4-FFF2-40B4-BE49-F238E27FC236}">
                <a16:creationId xmlns:a16="http://schemas.microsoft.com/office/drawing/2014/main" id="{4EAB0B98-3668-44EB-A818-2DFAE3494E4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Chapter 13</a:t>
            </a:r>
          </a:p>
        </p:txBody>
      </p:sp>
      <p:sp>
        <p:nvSpPr>
          <p:cNvPr id="7" name="Rectangle 10">
            <a:extLst>
              <a:ext uri="{FF2B5EF4-FFF2-40B4-BE49-F238E27FC236}">
                <a16:creationId xmlns:a16="http://schemas.microsoft.com/office/drawing/2014/main" id="{099D809A-85D7-42F5-AE6A-85E5BC1C2D9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AF101E3-9984-40A1-A288-82D9CBD44574}" type="slidenum">
              <a:rPr lang="ko-KR" altLang="en-US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7408262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Rectangle 8">
            <a:extLst>
              <a:ext uri="{FF2B5EF4-FFF2-40B4-BE49-F238E27FC236}">
                <a16:creationId xmlns:a16="http://schemas.microsoft.com/office/drawing/2014/main" id="{3A9D8811-603D-44A1-B59B-4D8AC3DE0E8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8" name="Rectangle 9">
            <a:extLst>
              <a:ext uri="{FF2B5EF4-FFF2-40B4-BE49-F238E27FC236}">
                <a16:creationId xmlns:a16="http://schemas.microsoft.com/office/drawing/2014/main" id="{9CC833C8-57A2-414E-8201-5C07907CD69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Chapter 13</a:t>
            </a:r>
          </a:p>
        </p:txBody>
      </p:sp>
      <p:sp>
        <p:nvSpPr>
          <p:cNvPr id="9" name="Rectangle 10">
            <a:extLst>
              <a:ext uri="{FF2B5EF4-FFF2-40B4-BE49-F238E27FC236}">
                <a16:creationId xmlns:a16="http://schemas.microsoft.com/office/drawing/2014/main" id="{F27AC503-415D-4173-B066-488B4B5283F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403EF19-0FD9-4AF2-908D-6A7B0CBFA779}" type="slidenum">
              <a:rPr lang="ko-KR" altLang="en-US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1425186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Rectangle 8">
            <a:extLst>
              <a:ext uri="{FF2B5EF4-FFF2-40B4-BE49-F238E27FC236}">
                <a16:creationId xmlns:a16="http://schemas.microsoft.com/office/drawing/2014/main" id="{74583C35-F6DA-471D-8867-89FEEAB9B87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" name="Rectangle 9">
            <a:extLst>
              <a:ext uri="{FF2B5EF4-FFF2-40B4-BE49-F238E27FC236}">
                <a16:creationId xmlns:a16="http://schemas.microsoft.com/office/drawing/2014/main" id="{C6D7F175-266D-45D5-A7C4-0AB943B06B5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Chapter 13</a:t>
            </a:r>
          </a:p>
        </p:txBody>
      </p:sp>
      <p:sp>
        <p:nvSpPr>
          <p:cNvPr id="5" name="Rectangle 10">
            <a:extLst>
              <a:ext uri="{FF2B5EF4-FFF2-40B4-BE49-F238E27FC236}">
                <a16:creationId xmlns:a16="http://schemas.microsoft.com/office/drawing/2014/main" id="{32334A76-AF84-4F73-98A0-11532563A46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FA8C48C-318E-478A-9E25-CD51A178046C}" type="slidenum">
              <a:rPr lang="ko-KR" altLang="en-US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6382337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8">
            <a:extLst>
              <a:ext uri="{FF2B5EF4-FFF2-40B4-BE49-F238E27FC236}">
                <a16:creationId xmlns:a16="http://schemas.microsoft.com/office/drawing/2014/main" id="{B1D10AC2-95E8-48A9-9590-979544A01FB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" name="Rectangle 9">
            <a:extLst>
              <a:ext uri="{FF2B5EF4-FFF2-40B4-BE49-F238E27FC236}">
                <a16:creationId xmlns:a16="http://schemas.microsoft.com/office/drawing/2014/main" id="{182A1CC8-00F1-4229-BAAD-458B140D8F9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Chapter 13</a:t>
            </a:r>
          </a:p>
        </p:txBody>
      </p:sp>
      <p:sp>
        <p:nvSpPr>
          <p:cNvPr id="4" name="Rectangle 10">
            <a:extLst>
              <a:ext uri="{FF2B5EF4-FFF2-40B4-BE49-F238E27FC236}">
                <a16:creationId xmlns:a16="http://schemas.microsoft.com/office/drawing/2014/main" id="{0CB97B6E-0D80-4917-AE2F-7A81807F235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B96165D-EE96-4055-81DB-7D557EF0FA57}" type="slidenum">
              <a:rPr lang="ko-KR" altLang="en-US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19791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Rectangle 8">
            <a:extLst>
              <a:ext uri="{FF2B5EF4-FFF2-40B4-BE49-F238E27FC236}">
                <a16:creationId xmlns:a16="http://schemas.microsoft.com/office/drawing/2014/main" id="{D015222E-450F-4E9E-A720-2B359BFE430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9">
            <a:extLst>
              <a:ext uri="{FF2B5EF4-FFF2-40B4-BE49-F238E27FC236}">
                <a16:creationId xmlns:a16="http://schemas.microsoft.com/office/drawing/2014/main" id="{E42E472F-B9F1-482E-A504-E5D8F0B46C6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Chapter 13</a:t>
            </a:r>
          </a:p>
        </p:txBody>
      </p:sp>
      <p:sp>
        <p:nvSpPr>
          <p:cNvPr id="7" name="Rectangle 10">
            <a:extLst>
              <a:ext uri="{FF2B5EF4-FFF2-40B4-BE49-F238E27FC236}">
                <a16:creationId xmlns:a16="http://schemas.microsoft.com/office/drawing/2014/main" id="{B1D03D27-5BC6-46D7-AB91-800BBFB08EE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E6E5A86-80DC-4FC6-9878-6FB3595AB8FA}" type="slidenum">
              <a:rPr lang="ko-KR" altLang="en-US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0326197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Rectangle 8">
            <a:extLst>
              <a:ext uri="{FF2B5EF4-FFF2-40B4-BE49-F238E27FC236}">
                <a16:creationId xmlns:a16="http://schemas.microsoft.com/office/drawing/2014/main" id="{7543B869-3B32-4E57-9853-B180C7D228C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9">
            <a:extLst>
              <a:ext uri="{FF2B5EF4-FFF2-40B4-BE49-F238E27FC236}">
                <a16:creationId xmlns:a16="http://schemas.microsoft.com/office/drawing/2014/main" id="{33885F3B-869C-4905-8A49-27EFA452306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Chapter 13</a:t>
            </a:r>
          </a:p>
        </p:txBody>
      </p:sp>
      <p:sp>
        <p:nvSpPr>
          <p:cNvPr id="7" name="Rectangle 10">
            <a:extLst>
              <a:ext uri="{FF2B5EF4-FFF2-40B4-BE49-F238E27FC236}">
                <a16:creationId xmlns:a16="http://schemas.microsoft.com/office/drawing/2014/main" id="{5BDEEDC8-5D87-429B-942A-3FD810C682C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7E5600F-43BB-47DC-8382-3C06B982FDE1}" type="slidenum">
              <a:rPr lang="ko-KR" altLang="en-US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2188085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Rectangle 8">
            <a:extLst>
              <a:ext uri="{FF2B5EF4-FFF2-40B4-BE49-F238E27FC236}">
                <a16:creationId xmlns:a16="http://schemas.microsoft.com/office/drawing/2014/main" id="{1A38CF42-9BDF-4A6C-89B2-D41B8C1A861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9">
            <a:extLst>
              <a:ext uri="{FF2B5EF4-FFF2-40B4-BE49-F238E27FC236}">
                <a16:creationId xmlns:a16="http://schemas.microsoft.com/office/drawing/2014/main" id="{EDC96C40-FF82-4932-B8EC-21C59D1D894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Chapter 13</a:t>
            </a:r>
          </a:p>
        </p:txBody>
      </p:sp>
      <p:sp>
        <p:nvSpPr>
          <p:cNvPr id="6" name="Rectangle 10">
            <a:extLst>
              <a:ext uri="{FF2B5EF4-FFF2-40B4-BE49-F238E27FC236}">
                <a16:creationId xmlns:a16="http://schemas.microsoft.com/office/drawing/2014/main" id="{CD54956E-28E7-4B2A-A51B-E734AA3C151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D4736C0-9BB4-4590-8FC3-426207BF4495}" type="slidenum">
              <a:rPr lang="ko-KR" altLang="en-US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7838605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856413" y="301625"/>
            <a:ext cx="1827212" cy="564038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1370013" y="301625"/>
            <a:ext cx="5334000" cy="564038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Rectangle 8">
            <a:extLst>
              <a:ext uri="{FF2B5EF4-FFF2-40B4-BE49-F238E27FC236}">
                <a16:creationId xmlns:a16="http://schemas.microsoft.com/office/drawing/2014/main" id="{2EAA2684-A7D0-47F4-B46A-67B8AA7C01F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9">
            <a:extLst>
              <a:ext uri="{FF2B5EF4-FFF2-40B4-BE49-F238E27FC236}">
                <a16:creationId xmlns:a16="http://schemas.microsoft.com/office/drawing/2014/main" id="{7B116C14-250E-4A69-982D-B43A1871C5D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Chapter 13</a:t>
            </a:r>
          </a:p>
        </p:txBody>
      </p:sp>
      <p:sp>
        <p:nvSpPr>
          <p:cNvPr id="6" name="Rectangle 10">
            <a:extLst>
              <a:ext uri="{FF2B5EF4-FFF2-40B4-BE49-F238E27FC236}">
                <a16:creationId xmlns:a16="http://schemas.microsoft.com/office/drawing/2014/main" id="{F3FBC613-C741-4ABF-94CB-8EFB9E8EF87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B6856CF-CE99-4CF9-B673-7ADBA179DC62}" type="slidenum">
              <a:rPr lang="ko-KR" altLang="en-US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519949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194" name="Group 2">
            <a:extLst>
              <a:ext uri="{FF2B5EF4-FFF2-40B4-BE49-F238E27FC236}">
                <a16:creationId xmlns:a16="http://schemas.microsoft.com/office/drawing/2014/main" id="{2C041791-0287-488B-8F39-B8E928DE8D73}"/>
              </a:ext>
            </a:extLst>
          </p:cNvPr>
          <p:cNvGrpSpPr>
            <a:grpSpLocks/>
          </p:cNvGrpSpPr>
          <p:nvPr/>
        </p:nvGrpSpPr>
        <p:grpSpPr bwMode="auto">
          <a:xfrm>
            <a:off x="-3238500" y="0"/>
            <a:ext cx="11925300" cy="3810000"/>
            <a:chOff x="-2040" y="0"/>
            <a:chExt cx="7512" cy="2400"/>
          </a:xfrm>
        </p:grpSpPr>
        <p:sp>
          <p:nvSpPr>
            <p:cNvPr id="1032" name="AutoShape 3">
              <a:extLst>
                <a:ext uri="{FF2B5EF4-FFF2-40B4-BE49-F238E27FC236}">
                  <a16:creationId xmlns:a16="http://schemas.microsoft.com/office/drawing/2014/main" id="{E2484904-8E44-41D6-8C92-A02B6211D70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2040" y="432"/>
              <a:ext cx="2592" cy="1968"/>
            </a:xfrm>
            <a:custGeom>
              <a:avLst/>
              <a:gdLst>
                <a:gd name="T0" fmla="*/ 2037 w 64000"/>
                <a:gd name="T1" fmla="*/ 177 h 64000"/>
                <a:gd name="T2" fmla="*/ 2592 w 64000"/>
                <a:gd name="T3" fmla="*/ 984 h 64000"/>
                <a:gd name="T4" fmla="*/ 2037 w 64000"/>
                <a:gd name="T5" fmla="*/ 1791 h 64000"/>
                <a:gd name="T6" fmla="*/ 2037 w 64000"/>
                <a:gd name="T7" fmla="*/ 1791 h 64000"/>
                <a:gd name="T8" fmla="*/ 2037 w 64000"/>
                <a:gd name="T9" fmla="*/ 1791 h 64000"/>
                <a:gd name="T10" fmla="*/ 2037 w 64000"/>
                <a:gd name="T11" fmla="*/ 1791 h 64000"/>
                <a:gd name="T12" fmla="*/ 2037 w 64000"/>
                <a:gd name="T13" fmla="*/ 177 h 64000"/>
                <a:gd name="T14" fmla="*/ 2037 w 64000"/>
                <a:gd name="T15" fmla="*/ 177 h 64000"/>
                <a:gd name="T16" fmla="*/ 2037 w 64000"/>
                <a:gd name="T17" fmla="*/ 177 h 64000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50296 w 64000"/>
                <a:gd name="T28" fmla="*/ -26244 h 64000"/>
                <a:gd name="T29" fmla="*/ 50296 w 64000"/>
                <a:gd name="T30" fmla="*/ 26244 h 64000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64000" h="64000">
                  <a:moveTo>
                    <a:pt x="50296" y="5746"/>
                  </a:moveTo>
                  <a:cubicBezTo>
                    <a:pt x="58882" y="11730"/>
                    <a:pt x="64000" y="21534"/>
                    <a:pt x="64000" y="32000"/>
                  </a:cubicBezTo>
                  <a:cubicBezTo>
                    <a:pt x="64000" y="42465"/>
                    <a:pt x="58882" y="52269"/>
                    <a:pt x="50296" y="58253"/>
                  </a:cubicBezTo>
                  <a:cubicBezTo>
                    <a:pt x="50296" y="58253"/>
                    <a:pt x="50296" y="58253"/>
                    <a:pt x="50295" y="58253"/>
                  </a:cubicBezTo>
                  <a:lnTo>
                    <a:pt x="50296" y="58254"/>
                  </a:lnTo>
                  <a:lnTo>
                    <a:pt x="50296" y="5746"/>
                  </a:lnTo>
                  <a:lnTo>
                    <a:pt x="50295" y="5746"/>
                  </a:lnTo>
                  <a:cubicBezTo>
                    <a:pt x="50296" y="5746"/>
                    <a:pt x="50296" y="5746"/>
                    <a:pt x="50296" y="5746"/>
                  </a:cubicBezTo>
                  <a:close/>
                </a:path>
              </a:pathLst>
            </a:custGeom>
            <a:solidFill>
              <a:srgbClr val="9999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/>
            </a:p>
          </p:txBody>
        </p:sp>
        <p:sp>
          <p:nvSpPr>
            <p:cNvPr id="1033" name="AutoShape 4">
              <a:extLst>
                <a:ext uri="{FF2B5EF4-FFF2-40B4-BE49-F238E27FC236}">
                  <a16:creationId xmlns:a16="http://schemas.microsoft.com/office/drawing/2014/main" id="{A268FCCB-683B-4339-BD42-AFDAE435B14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1528" y="0"/>
              <a:ext cx="1949" cy="1987"/>
            </a:xfrm>
            <a:custGeom>
              <a:avLst/>
              <a:gdLst>
                <a:gd name="T0" fmla="*/ 1525 w 64000"/>
                <a:gd name="T1" fmla="*/ 174 h 64000"/>
                <a:gd name="T2" fmla="*/ 1949 w 64000"/>
                <a:gd name="T3" fmla="*/ 994 h 64000"/>
                <a:gd name="T4" fmla="*/ 1525 w 64000"/>
                <a:gd name="T5" fmla="*/ 1813 h 64000"/>
                <a:gd name="T6" fmla="*/ 1525 w 64000"/>
                <a:gd name="T7" fmla="*/ 1813 h 64000"/>
                <a:gd name="T8" fmla="*/ 1525 w 64000"/>
                <a:gd name="T9" fmla="*/ 1813 h 64000"/>
                <a:gd name="T10" fmla="*/ 1525 w 64000"/>
                <a:gd name="T11" fmla="*/ 1813 h 64000"/>
                <a:gd name="T12" fmla="*/ 1525 w 64000"/>
                <a:gd name="T13" fmla="*/ 174 h 64000"/>
                <a:gd name="T14" fmla="*/ 1525 w 64000"/>
                <a:gd name="T15" fmla="*/ 174 h 64000"/>
                <a:gd name="T16" fmla="*/ 1525 w 64000"/>
                <a:gd name="T17" fmla="*/ 174 h 64000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50077 w 64000"/>
                <a:gd name="T28" fmla="*/ -26412 h 64000"/>
                <a:gd name="T29" fmla="*/ 50077 w 64000"/>
                <a:gd name="T30" fmla="*/ 26412 h 64000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64000" h="64000">
                  <a:moveTo>
                    <a:pt x="50077" y="5595"/>
                  </a:moveTo>
                  <a:cubicBezTo>
                    <a:pt x="58790" y="11560"/>
                    <a:pt x="64000" y="21440"/>
                    <a:pt x="64000" y="32000"/>
                  </a:cubicBezTo>
                  <a:cubicBezTo>
                    <a:pt x="64000" y="42559"/>
                    <a:pt x="58790" y="52439"/>
                    <a:pt x="50077" y="58404"/>
                  </a:cubicBezTo>
                  <a:cubicBezTo>
                    <a:pt x="50077" y="58404"/>
                    <a:pt x="50077" y="58404"/>
                    <a:pt x="50076" y="58404"/>
                  </a:cubicBezTo>
                  <a:lnTo>
                    <a:pt x="50077" y="58405"/>
                  </a:lnTo>
                  <a:lnTo>
                    <a:pt x="50077" y="5595"/>
                  </a:lnTo>
                  <a:lnTo>
                    <a:pt x="50076" y="5595"/>
                  </a:lnTo>
                  <a:cubicBezTo>
                    <a:pt x="50077" y="5595"/>
                    <a:pt x="50077" y="5595"/>
                    <a:pt x="50077" y="5595"/>
                  </a:cubicBezTo>
                  <a:close/>
                </a:path>
              </a:pathLst>
            </a:custGeom>
            <a:solidFill>
              <a:srgbClr val="CCCC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/>
            </a:p>
          </p:txBody>
        </p:sp>
        <p:sp>
          <p:nvSpPr>
            <p:cNvPr id="1034" name="Line 5">
              <a:extLst>
                <a:ext uri="{FF2B5EF4-FFF2-40B4-BE49-F238E27FC236}">
                  <a16:creationId xmlns:a16="http://schemas.microsoft.com/office/drawing/2014/main" id="{238CE293-8CF4-44FD-B7A6-DB7E9D985E4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64" y="960"/>
              <a:ext cx="460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/>
            </a:p>
          </p:txBody>
        </p:sp>
      </p:grpSp>
      <p:sp>
        <p:nvSpPr>
          <p:cNvPr id="8195" name="Rectangle 6">
            <a:extLst>
              <a:ext uri="{FF2B5EF4-FFF2-40B4-BE49-F238E27FC236}">
                <a16:creationId xmlns:a16="http://schemas.microsoft.com/office/drawing/2014/main" id="{FC8D059E-91E3-4FD5-B764-95887109335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1370013" y="301625"/>
            <a:ext cx="7313612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/>
              <a:t>Click to edit Master title style</a:t>
            </a:r>
          </a:p>
        </p:txBody>
      </p:sp>
      <p:sp>
        <p:nvSpPr>
          <p:cNvPr id="8196" name="Rectangle 7">
            <a:extLst>
              <a:ext uri="{FF2B5EF4-FFF2-40B4-BE49-F238E27FC236}">
                <a16:creationId xmlns:a16="http://schemas.microsoft.com/office/drawing/2014/main" id="{B060E4CB-081B-465D-A17B-C90F6836B19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370013" y="1827213"/>
            <a:ext cx="7313612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</a:p>
        </p:txBody>
      </p:sp>
      <p:sp>
        <p:nvSpPr>
          <p:cNvPr id="215048" name="Rectangle 8">
            <a:extLst>
              <a:ext uri="{FF2B5EF4-FFF2-40B4-BE49-F238E27FC236}">
                <a16:creationId xmlns:a16="http://schemas.microsoft.com/office/drawing/2014/main" id="{30EB6801-51CD-493F-8C30-D198600473A8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8400"/>
            <a:ext cx="2871788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 b="0">
                <a:solidFill>
                  <a:schemeClr val="tx1"/>
                </a:solidFill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215049" name="Rectangle 9">
            <a:extLst>
              <a:ext uri="{FF2B5EF4-FFF2-40B4-BE49-F238E27FC236}">
                <a16:creationId xmlns:a16="http://schemas.microsoft.com/office/drawing/2014/main" id="{B8A2A1F9-F367-45CE-AD9B-457CF34311BC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defRPr sz="1200" b="0">
                <a:solidFill>
                  <a:schemeClr val="tx1"/>
                </a:solidFill>
                <a:ea typeface="굴림" pitchFamily="50" charset="-127"/>
              </a:defRPr>
            </a:lvl1pPr>
          </a:lstStyle>
          <a:p>
            <a:pPr>
              <a:defRPr/>
            </a:pPr>
            <a:r>
              <a:rPr lang="en-US" altLang="ko-KR"/>
              <a:t>Chapter 13</a:t>
            </a:r>
          </a:p>
        </p:txBody>
      </p:sp>
      <p:sp>
        <p:nvSpPr>
          <p:cNvPr id="215050" name="Rectangle 10">
            <a:extLst>
              <a:ext uri="{FF2B5EF4-FFF2-40B4-BE49-F238E27FC236}">
                <a16:creationId xmlns:a16="http://schemas.microsoft.com/office/drawing/2014/main" id="{210D38E4-19DE-4E1F-B5F7-AA3242BFB5E0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b="0">
                <a:solidFill>
                  <a:schemeClr val="tx1"/>
                </a:solidFill>
                <a:ea typeface="굴림" panose="020B0600000101010101" pitchFamily="50" charset="-127"/>
              </a:defRPr>
            </a:lvl1pPr>
          </a:lstStyle>
          <a:p>
            <a:fld id="{FC3B0EF2-0C94-4FFE-B620-AB2BC15E482E}" type="slidenum">
              <a:rPr lang="ko-KR" altLang="en-US"/>
              <a:pPr/>
              <a:t>‹#›</a:t>
            </a:fld>
            <a:endParaRPr lang="en-US" altLang="ko-K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264" r:id="rId1"/>
    <p:sldLayoutId id="2147484265" r:id="rId2"/>
    <p:sldLayoutId id="2147484266" r:id="rId3"/>
    <p:sldLayoutId id="2147484267" r:id="rId4"/>
    <p:sldLayoutId id="2147484268" r:id="rId5"/>
    <p:sldLayoutId id="2147484269" r:id="rId6"/>
    <p:sldLayoutId id="2147484270" r:id="rId7"/>
    <p:sldLayoutId id="2147484271" r:id="rId8"/>
    <p:sldLayoutId id="2147484272" r:id="rId9"/>
    <p:sldLayoutId id="2147484273" r:id="rId10"/>
    <p:sldLayoutId id="2147484274" r:id="rId11"/>
  </p:sldLayoutIdLst>
  <p:hf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8D7DFF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8D7DFF"/>
          </a:solidFill>
          <a:latin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8D7DFF"/>
          </a:solidFill>
          <a:latin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8D7DFF"/>
          </a:solidFill>
          <a:latin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8D7DFF"/>
          </a:solidFill>
          <a:latin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600" b="1">
          <a:solidFill>
            <a:srgbClr val="8D7DFF"/>
          </a:solidFill>
          <a:latin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600" b="1">
          <a:solidFill>
            <a:srgbClr val="8D7DFF"/>
          </a:solidFill>
          <a:latin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600" b="1">
          <a:solidFill>
            <a:srgbClr val="8D7DFF"/>
          </a:solidFill>
          <a:latin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600" b="1">
          <a:solidFill>
            <a:srgbClr val="8D7DFF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8D7DFF"/>
        </a:buClr>
        <a:buFont typeface="Wingdings" panose="05000000000000000000" pitchFamily="2" charset="2"/>
        <a:buChar char="l"/>
        <a:defRPr sz="29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rgbClr val="8D7DFF"/>
        </a:buClr>
        <a:buFont typeface="Wingdings" panose="05000000000000000000" pitchFamily="2" charset="2"/>
        <a:buChar char="m"/>
        <a:defRPr sz="25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rgbClr val="8D7DFF"/>
        </a:buClr>
        <a:buSzPct val="80000"/>
        <a:buFont typeface="Wingdings" panose="05000000000000000000" pitchFamily="2" charset="2"/>
        <a:buChar char="l"/>
        <a:defRPr sz="22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rgbClr val="8D7DFF"/>
        </a:buClr>
        <a:buSzPct val="80000"/>
        <a:buFont typeface="Wingdings" panose="05000000000000000000" pitchFamily="2" charset="2"/>
        <a:buChar char="m"/>
        <a:defRPr sz="19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rgbClr val="8D7DFF"/>
        </a:buClr>
        <a:buSzPct val="70000"/>
        <a:buFont typeface="Wingdings" panose="05000000000000000000" pitchFamily="2" charset="2"/>
        <a:buChar char="l"/>
        <a:defRPr sz="19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rgbClr val="8D7DFF"/>
        </a:buClr>
        <a:buSzPct val="70000"/>
        <a:buFont typeface="Wingdings" pitchFamily="2" charset="2"/>
        <a:buChar char="l"/>
        <a:defRPr sz="19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rgbClr val="8D7DFF"/>
        </a:buClr>
        <a:buSzPct val="70000"/>
        <a:buFont typeface="Wingdings" pitchFamily="2" charset="2"/>
        <a:buChar char="l"/>
        <a:defRPr sz="19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rgbClr val="8D7DFF"/>
        </a:buClr>
        <a:buSzPct val="70000"/>
        <a:buFont typeface="Wingdings" pitchFamily="2" charset="2"/>
        <a:buChar char="l"/>
        <a:defRPr sz="19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rgbClr val="8D7DFF"/>
        </a:buClr>
        <a:buSzPct val="70000"/>
        <a:buFont typeface="Wingdings" pitchFamily="2" charset="2"/>
        <a:buChar char="l"/>
        <a:defRPr sz="1900">
          <a:solidFill>
            <a:schemeClr val="tx1"/>
          </a:solidFill>
          <a:latin typeface="+mn-lt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1.wmf"/><Relationship Id="rId5" Type="http://schemas.openxmlformats.org/officeDocument/2006/relationships/oleObject" Target="../embeddings/oleObject1.bin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>
            <a:extLst>
              <a:ext uri="{FF2B5EF4-FFF2-40B4-BE49-F238E27FC236}">
                <a16:creationId xmlns:a16="http://schemas.microsoft.com/office/drawing/2014/main" id="{0A42ED1F-72D6-42D8-AF9E-8DE25CBEA885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0" y="969963"/>
            <a:ext cx="8088313" cy="1444625"/>
          </a:xfrm>
        </p:spPr>
        <p:txBody>
          <a:bodyPr/>
          <a:lstStyle/>
          <a:p>
            <a:pPr eaLnBrk="1" hangingPunct="1"/>
            <a:r>
              <a:rPr lang="en-US" altLang="ko-KR" sz="4800">
                <a:solidFill>
                  <a:srgbClr val="002060"/>
                </a:solidFill>
                <a:latin typeface="나눔명조" pitchFamily="18" charset="-127"/>
                <a:ea typeface="나눔명조" pitchFamily="18" charset="-127"/>
              </a:rPr>
              <a:t>Ⅳ. </a:t>
            </a:r>
            <a:r>
              <a:rPr lang="ko-KR" altLang="en-US" sz="4800">
                <a:solidFill>
                  <a:srgbClr val="002060"/>
                </a:solidFill>
                <a:latin typeface="나눔명조" pitchFamily="18" charset="-127"/>
                <a:ea typeface="나눔명조" pitchFamily="18" charset="-127"/>
              </a:rPr>
              <a:t>환경정책의 비용</a:t>
            </a:r>
            <a:r>
              <a:rPr lang="en-US" altLang="ko-KR" sz="4800">
                <a:solidFill>
                  <a:srgbClr val="002060"/>
                </a:solidFill>
                <a:latin typeface="나눔명조" pitchFamily="18" charset="-127"/>
                <a:ea typeface="나눔명조" pitchFamily="18" charset="-127"/>
              </a:rPr>
              <a:t>-</a:t>
            </a:r>
            <a:r>
              <a:rPr lang="ko-KR" altLang="en-US" sz="4800">
                <a:solidFill>
                  <a:srgbClr val="002060"/>
                </a:solidFill>
                <a:latin typeface="나눔명조" pitchFamily="18" charset="-127"/>
                <a:ea typeface="나눔명조" pitchFamily="18" charset="-127"/>
              </a:rPr>
              <a:t>편익분석</a:t>
            </a:r>
            <a:endParaRPr lang="en-US" altLang="ko-KR" sz="4800">
              <a:solidFill>
                <a:srgbClr val="002060"/>
              </a:solidFill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20483" name="Rectangle 3">
            <a:extLst>
              <a:ext uri="{FF2B5EF4-FFF2-40B4-BE49-F238E27FC236}">
                <a16:creationId xmlns:a16="http://schemas.microsoft.com/office/drawing/2014/main" id="{F96699CF-AEDD-463F-8DBE-402ACB741179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3258133" y="3298825"/>
            <a:ext cx="5220283" cy="3016250"/>
          </a:xfrm>
        </p:spPr>
        <p:txBody>
          <a:bodyPr/>
          <a:lstStyle/>
          <a:p>
            <a:pPr algn="l" eaLnBrk="1" hangingPunct="1"/>
            <a:r>
              <a:rPr lang="ko-KR" altLang="en-US" sz="2000" b="1" dirty="0">
                <a:latin typeface="나눔명조" pitchFamily="18" charset="-127"/>
                <a:ea typeface="나눔명조" pitchFamily="18" charset="-127"/>
              </a:rPr>
              <a:t>제 </a:t>
            </a:r>
            <a:r>
              <a:rPr lang="en-US" altLang="ko-KR" sz="2000" b="1" dirty="0">
                <a:latin typeface="나눔명조" pitchFamily="18" charset="-127"/>
                <a:ea typeface="나눔명조" pitchFamily="18" charset="-127"/>
              </a:rPr>
              <a:t>13</a:t>
            </a:r>
            <a:r>
              <a:rPr lang="ko-KR" altLang="en-US" sz="2000" b="1" dirty="0">
                <a:latin typeface="나눔명조" pitchFamily="18" charset="-127"/>
                <a:ea typeface="나눔명조" pitchFamily="18" charset="-127"/>
              </a:rPr>
              <a:t>장 환경정책영향의 분석 틀</a:t>
            </a:r>
          </a:p>
          <a:p>
            <a:pPr algn="l" eaLnBrk="1" hangingPunct="1"/>
            <a:r>
              <a:rPr lang="ko-KR" altLang="en-US" sz="2000" b="1" dirty="0">
                <a:latin typeface="나눔명조" pitchFamily="18" charset="-127"/>
                <a:ea typeface="나눔명조" pitchFamily="18" charset="-127"/>
              </a:rPr>
              <a:t>제 </a:t>
            </a:r>
            <a:r>
              <a:rPr lang="en-US" altLang="ko-KR" sz="2000" b="1" dirty="0">
                <a:latin typeface="나눔명조" pitchFamily="18" charset="-127"/>
                <a:ea typeface="나눔명조" pitchFamily="18" charset="-127"/>
              </a:rPr>
              <a:t>14</a:t>
            </a:r>
            <a:r>
              <a:rPr lang="ko-KR" altLang="en-US" sz="2000" b="1" dirty="0">
                <a:latin typeface="나눔명조" pitchFamily="18" charset="-127"/>
                <a:ea typeface="나눔명조" pitchFamily="18" charset="-127"/>
              </a:rPr>
              <a:t>장 </a:t>
            </a:r>
            <a:r>
              <a:rPr lang="ko-KR" altLang="en-US" sz="2000" b="1" dirty="0" err="1">
                <a:latin typeface="나눔명조" pitchFamily="18" charset="-127"/>
                <a:ea typeface="나눔명조" pitchFamily="18" charset="-127"/>
              </a:rPr>
              <a:t>편익분석을</a:t>
            </a:r>
            <a:r>
              <a:rPr lang="ko-KR" altLang="en-US" sz="2000" b="1" dirty="0">
                <a:latin typeface="나눔명조" pitchFamily="18" charset="-127"/>
                <a:ea typeface="나눔명조" pitchFamily="18" charset="-127"/>
              </a:rPr>
              <a:t> 위한 기본이론</a:t>
            </a:r>
          </a:p>
          <a:p>
            <a:pPr algn="l" eaLnBrk="1" hangingPunct="1"/>
            <a:r>
              <a:rPr lang="ko-KR" altLang="en-US" sz="2000" b="1" dirty="0">
                <a:latin typeface="나눔명조" pitchFamily="18" charset="-127"/>
                <a:ea typeface="나눔명조" pitchFamily="18" charset="-127"/>
              </a:rPr>
              <a:t>제 </a:t>
            </a:r>
            <a:r>
              <a:rPr lang="en-US" altLang="ko-KR" sz="2000" b="1" dirty="0">
                <a:latin typeface="나눔명조" pitchFamily="18" charset="-127"/>
                <a:ea typeface="나눔명조" pitchFamily="18" charset="-127"/>
              </a:rPr>
              <a:t>15</a:t>
            </a:r>
            <a:r>
              <a:rPr lang="ko-KR" altLang="en-US" sz="2000" b="1" dirty="0">
                <a:latin typeface="나눔명조" pitchFamily="18" charset="-127"/>
                <a:ea typeface="나눔명조" pitchFamily="18" charset="-127"/>
              </a:rPr>
              <a:t>장 환경개선의 </a:t>
            </a:r>
            <a:r>
              <a:rPr lang="ko-KR" altLang="en-US" sz="2000" b="1" dirty="0" err="1">
                <a:latin typeface="나눔명조" pitchFamily="18" charset="-127"/>
                <a:ea typeface="나눔명조" pitchFamily="18" charset="-127"/>
              </a:rPr>
              <a:t>편익분석</a:t>
            </a:r>
            <a:r>
              <a:rPr lang="ko-KR" altLang="en-US" sz="2000" b="1" dirty="0">
                <a:latin typeface="나눔명조" pitchFamily="18" charset="-127"/>
                <a:ea typeface="나눔명조" pitchFamily="18" charset="-127"/>
              </a:rPr>
              <a:t> </a:t>
            </a:r>
            <a:r>
              <a:rPr lang="en-US" altLang="ko-KR" sz="2000" b="1" dirty="0">
                <a:latin typeface="나눔명조" pitchFamily="18" charset="-127"/>
                <a:ea typeface="나눔명조" pitchFamily="18" charset="-127"/>
              </a:rPr>
              <a:t>1</a:t>
            </a:r>
          </a:p>
          <a:p>
            <a:pPr algn="l" eaLnBrk="1" hangingPunct="1"/>
            <a:r>
              <a:rPr lang="en-US" altLang="ko-KR" sz="2000" b="1" dirty="0">
                <a:latin typeface="나눔명조" pitchFamily="18" charset="-127"/>
                <a:ea typeface="나눔명조" pitchFamily="18" charset="-127"/>
              </a:rPr>
              <a:t>          : </a:t>
            </a:r>
            <a:r>
              <a:rPr lang="ko-KR" altLang="en-US" sz="2000" b="1" dirty="0">
                <a:latin typeface="나눔명조" pitchFamily="18" charset="-127"/>
                <a:ea typeface="나눔명조" pitchFamily="18" charset="-127"/>
              </a:rPr>
              <a:t>시장적 방법과 회피행위모형</a:t>
            </a:r>
          </a:p>
          <a:p>
            <a:pPr algn="l" eaLnBrk="1" hangingPunct="1"/>
            <a:r>
              <a:rPr lang="ko-KR" altLang="en-US" sz="2000" b="1" dirty="0">
                <a:latin typeface="나눔명조" pitchFamily="18" charset="-127"/>
                <a:ea typeface="나눔명조" pitchFamily="18" charset="-127"/>
              </a:rPr>
              <a:t>제 </a:t>
            </a:r>
            <a:r>
              <a:rPr lang="en-US" altLang="ko-KR" sz="2000" b="1" dirty="0">
                <a:latin typeface="나눔명조" pitchFamily="18" charset="-127"/>
                <a:ea typeface="나눔명조" pitchFamily="18" charset="-127"/>
              </a:rPr>
              <a:t>16</a:t>
            </a:r>
            <a:r>
              <a:rPr lang="ko-KR" altLang="en-US" sz="2000" b="1" dirty="0">
                <a:latin typeface="나눔명조" pitchFamily="18" charset="-127"/>
                <a:ea typeface="나눔명조" pitchFamily="18" charset="-127"/>
              </a:rPr>
              <a:t>장 환경개선의 </a:t>
            </a:r>
            <a:r>
              <a:rPr lang="ko-KR" altLang="en-US" sz="2000" b="1" dirty="0" err="1">
                <a:latin typeface="나눔명조" pitchFamily="18" charset="-127"/>
                <a:ea typeface="나눔명조" pitchFamily="18" charset="-127"/>
              </a:rPr>
              <a:t>편익분석</a:t>
            </a:r>
            <a:r>
              <a:rPr lang="ko-KR" altLang="en-US" sz="2000" b="1" dirty="0">
                <a:latin typeface="나눔명조" pitchFamily="18" charset="-127"/>
                <a:ea typeface="나눔명조" pitchFamily="18" charset="-127"/>
              </a:rPr>
              <a:t> </a:t>
            </a:r>
            <a:r>
              <a:rPr lang="en-US" altLang="ko-KR" sz="2000" b="1" dirty="0">
                <a:latin typeface="나눔명조" pitchFamily="18" charset="-127"/>
                <a:ea typeface="나눔명조" pitchFamily="18" charset="-127"/>
              </a:rPr>
              <a:t>2</a:t>
            </a:r>
          </a:p>
          <a:p>
            <a:pPr algn="l" eaLnBrk="1" hangingPunct="1"/>
            <a:r>
              <a:rPr lang="en-US" altLang="ko-KR" sz="2000" b="1" dirty="0">
                <a:latin typeface="나눔명조" pitchFamily="18" charset="-127"/>
                <a:ea typeface="나눔명조" pitchFamily="18" charset="-127"/>
              </a:rPr>
              <a:t>          : </a:t>
            </a:r>
            <a:r>
              <a:rPr lang="ko-KR" altLang="en-US" sz="2000" b="1" dirty="0">
                <a:latin typeface="나눔명조" pitchFamily="18" charset="-127"/>
                <a:ea typeface="나눔명조" pitchFamily="18" charset="-127"/>
              </a:rPr>
              <a:t>휴양수요분석법과 </a:t>
            </a:r>
            <a:r>
              <a:rPr lang="ko-KR" altLang="en-US" sz="2000" b="1" dirty="0" err="1">
                <a:latin typeface="나눔명조" pitchFamily="18" charset="-127"/>
                <a:ea typeface="나눔명조" pitchFamily="18" charset="-127"/>
              </a:rPr>
              <a:t>특성가격법</a:t>
            </a:r>
            <a:endParaRPr lang="ko-KR" altLang="en-US" sz="2000" b="1" dirty="0">
              <a:latin typeface="나눔명조" pitchFamily="18" charset="-127"/>
              <a:ea typeface="나눔명조" pitchFamily="18" charset="-127"/>
            </a:endParaRPr>
          </a:p>
          <a:p>
            <a:pPr algn="l" eaLnBrk="1" hangingPunct="1"/>
            <a:r>
              <a:rPr lang="ko-KR" altLang="en-US" sz="2000" b="1" dirty="0">
                <a:latin typeface="나눔명조" pitchFamily="18" charset="-127"/>
                <a:ea typeface="나눔명조" pitchFamily="18" charset="-127"/>
              </a:rPr>
              <a:t>제 </a:t>
            </a:r>
            <a:r>
              <a:rPr lang="en-US" altLang="ko-KR" sz="2000" b="1" dirty="0">
                <a:latin typeface="나눔명조" pitchFamily="18" charset="-127"/>
                <a:ea typeface="나눔명조" pitchFamily="18" charset="-127"/>
              </a:rPr>
              <a:t>17</a:t>
            </a:r>
            <a:r>
              <a:rPr lang="ko-KR" altLang="en-US" sz="2000" b="1" dirty="0">
                <a:latin typeface="나눔명조" pitchFamily="18" charset="-127"/>
                <a:ea typeface="나눔명조" pitchFamily="18" charset="-127"/>
              </a:rPr>
              <a:t>장 환경개선의 </a:t>
            </a:r>
            <a:r>
              <a:rPr lang="ko-KR" altLang="en-US" sz="2000" b="1" dirty="0" err="1">
                <a:latin typeface="나눔명조" pitchFamily="18" charset="-127"/>
                <a:ea typeface="나눔명조" pitchFamily="18" charset="-127"/>
              </a:rPr>
              <a:t>편익분석</a:t>
            </a:r>
            <a:r>
              <a:rPr lang="ko-KR" altLang="en-US" sz="2000" b="1" dirty="0">
                <a:latin typeface="나눔명조" pitchFamily="18" charset="-127"/>
                <a:ea typeface="나눔명조" pitchFamily="18" charset="-127"/>
              </a:rPr>
              <a:t> </a:t>
            </a:r>
            <a:r>
              <a:rPr lang="en-US" altLang="ko-KR" sz="2000" b="1" dirty="0">
                <a:latin typeface="나눔명조" pitchFamily="18" charset="-127"/>
                <a:ea typeface="나눔명조" pitchFamily="18" charset="-127"/>
              </a:rPr>
              <a:t>3: </a:t>
            </a:r>
            <a:r>
              <a:rPr lang="ko-KR" altLang="en-US" sz="2000" b="1" dirty="0" err="1">
                <a:latin typeface="나눔명조" pitchFamily="18" charset="-127"/>
                <a:ea typeface="나눔명조" pitchFamily="18" charset="-127"/>
              </a:rPr>
              <a:t>진술선호법</a:t>
            </a:r>
            <a:endParaRPr lang="ko-KR" altLang="en-US" sz="2000" b="1" dirty="0">
              <a:latin typeface="나눔명조" pitchFamily="18" charset="-127"/>
              <a:ea typeface="나눔명조" pitchFamily="18" charset="-127"/>
            </a:endParaRPr>
          </a:p>
          <a:p>
            <a:pPr algn="l" eaLnBrk="1" hangingPunct="1"/>
            <a:r>
              <a:rPr lang="ko-KR" altLang="en-US" sz="2000" b="1" dirty="0">
                <a:latin typeface="나눔명조" pitchFamily="18" charset="-127"/>
                <a:ea typeface="나눔명조" pitchFamily="18" charset="-127"/>
              </a:rPr>
              <a:t>제 </a:t>
            </a:r>
            <a:r>
              <a:rPr lang="en-US" altLang="ko-KR" sz="2000" b="1" dirty="0">
                <a:latin typeface="나눔명조" pitchFamily="18" charset="-127"/>
                <a:ea typeface="나눔명조" pitchFamily="18" charset="-127"/>
              </a:rPr>
              <a:t>18</a:t>
            </a:r>
            <a:r>
              <a:rPr lang="ko-KR" altLang="en-US" sz="2000" b="1" dirty="0">
                <a:latin typeface="나눔명조" pitchFamily="18" charset="-127"/>
                <a:ea typeface="나눔명조" pitchFamily="18" charset="-127"/>
              </a:rPr>
              <a:t>장 </a:t>
            </a:r>
            <a:r>
              <a:rPr lang="ko-KR" altLang="en-US" sz="2000" b="1" dirty="0" err="1">
                <a:latin typeface="나눔명조" pitchFamily="18" charset="-127"/>
                <a:ea typeface="나눔명조" pitchFamily="18" charset="-127"/>
              </a:rPr>
              <a:t>비용분석</a:t>
            </a:r>
            <a:endParaRPr lang="en-US" altLang="ko-KR" sz="2000" b="1" dirty="0"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2E1DD52F-2548-4217-B266-FFDFE1009499}"/>
              </a:ext>
            </a:extLst>
          </p:cNvPr>
          <p:cNvSpPr/>
          <p:nvPr/>
        </p:nvSpPr>
        <p:spPr bwMode="auto">
          <a:xfrm>
            <a:off x="3180054" y="3365500"/>
            <a:ext cx="98425" cy="2882900"/>
          </a:xfrm>
          <a:prstGeom prst="rect">
            <a:avLst/>
          </a:prstGeom>
          <a:solidFill>
            <a:schemeClr val="accent5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/>
          <a:lstStyle/>
          <a:p>
            <a:pPr>
              <a:defRPr/>
            </a:pPr>
            <a:endParaRPr lang="ko-KR" altLang="en-US">
              <a:ea typeface="굴림" pitchFamily="50" charset="-127"/>
            </a:endParaRPr>
          </a:p>
        </p:txBody>
      </p:sp>
      <p:sp>
        <p:nvSpPr>
          <p:cNvPr id="2" name="바닥글 개체 틀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ko-KR"/>
              <a:t>Chapter 13</a:t>
            </a:r>
            <a:endParaRPr lang="ko-KR" altLang="en-US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1036">
            <a:extLst>
              <a:ext uri="{FF2B5EF4-FFF2-40B4-BE49-F238E27FC236}">
                <a16:creationId xmlns:a16="http://schemas.microsoft.com/office/drawing/2014/main" id="{BBF01B53-007B-4A34-AD40-11F9ACA7D5F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68325" y="2579688"/>
            <a:ext cx="7313613" cy="1143000"/>
          </a:xfrm>
        </p:spPr>
        <p:txBody>
          <a:bodyPr/>
          <a:lstStyle/>
          <a:p>
            <a:pPr eaLnBrk="1" hangingPunct="1"/>
            <a:r>
              <a:rPr lang="en-US" altLang="ko-KR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13</a:t>
            </a:r>
            <a: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장 개요</a:t>
            </a:r>
            <a:endParaRPr lang="en-US" altLang="ko-KR">
              <a:solidFill>
                <a:srgbClr val="0070C0"/>
              </a:solidFill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75789" name="Rectangle 1037">
            <a:extLst>
              <a:ext uri="{FF2B5EF4-FFF2-40B4-BE49-F238E27FC236}">
                <a16:creationId xmlns:a16="http://schemas.microsoft.com/office/drawing/2014/main" id="{701408C4-F48E-4874-8A31-66C96038E200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282950" y="2771775"/>
            <a:ext cx="4130675" cy="2736850"/>
          </a:xfrm>
        </p:spPr>
        <p:txBody>
          <a:bodyPr/>
          <a:lstStyle/>
          <a:p>
            <a:pPr eaLnBrk="1" hangingPunct="1">
              <a:buClr>
                <a:srgbClr val="3366CC"/>
              </a:buClr>
            </a:pPr>
            <a:r>
              <a:rPr lang="ko-KR" altLang="en-US" dirty="0">
                <a:latin typeface="나눔명조" pitchFamily="18" charset="-127"/>
                <a:ea typeface="나눔명조" pitchFamily="18" charset="-127"/>
              </a:rPr>
              <a:t>비용</a:t>
            </a:r>
            <a:r>
              <a:rPr lang="en-US" altLang="ko-KR" dirty="0">
                <a:latin typeface="나눔명조" pitchFamily="18" charset="-127"/>
                <a:ea typeface="나눔명조" pitchFamily="18" charset="-127"/>
              </a:rPr>
              <a:t>-</a:t>
            </a:r>
            <a:r>
              <a:rPr lang="ko-KR" altLang="en-US" dirty="0">
                <a:latin typeface="나눔명조" pitchFamily="18" charset="-127"/>
                <a:ea typeface="나눔명조" pitchFamily="18" charset="-127"/>
              </a:rPr>
              <a:t>편익분석</a:t>
            </a:r>
            <a:endParaRPr lang="en-US" altLang="ko-KR" dirty="0">
              <a:latin typeface="나눔명조" pitchFamily="18" charset="-127"/>
              <a:ea typeface="나눔명조" pitchFamily="18" charset="-127"/>
            </a:endParaRPr>
          </a:p>
          <a:p>
            <a:pPr eaLnBrk="1" hangingPunct="1">
              <a:buClr>
                <a:srgbClr val="3366CC"/>
              </a:buClr>
            </a:pPr>
            <a:r>
              <a:rPr lang="ko-KR" altLang="en-US" dirty="0">
                <a:latin typeface="나눔명조" pitchFamily="18" charset="-127"/>
                <a:ea typeface="나눔명조" pitchFamily="18" charset="-127"/>
              </a:rPr>
              <a:t>기타 분석 틀</a:t>
            </a:r>
            <a:endParaRPr lang="en-US" altLang="ko-KR" dirty="0">
              <a:latin typeface="나눔명조" pitchFamily="18" charset="-127"/>
              <a:ea typeface="나눔명조" pitchFamily="18" charset="-127"/>
            </a:endParaRPr>
          </a:p>
          <a:p>
            <a:pPr eaLnBrk="1" hangingPunct="1">
              <a:buClr>
                <a:srgbClr val="3366CC"/>
              </a:buClr>
            </a:pPr>
            <a:r>
              <a:rPr lang="ko-KR" altLang="en-US" dirty="0">
                <a:latin typeface="나눔명조" pitchFamily="18" charset="-127"/>
                <a:ea typeface="나눔명조" pitchFamily="18" charset="-127"/>
              </a:rPr>
              <a:t>한국에서의 평가</a:t>
            </a:r>
            <a:endParaRPr lang="en-US" altLang="ko-KR" dirty="0">
              <a:latin typeface="나눔명조" pitchFamily="18" charset="-127"/>
              <a:ea typeface="나눔명조" pitchFamily="18" charset="-127"/>
            </a:endParaRPr>
          </a:p>
          <a:p>
            <a:pPr eaLnBrk="1" hangingPunct="1">
              <a:buClr>
                <a:srgbClr val="3366CC"/>
              </a:buClr>
            </a:pPr>
            <a:r>
              <a:rPr lang="ko-KR" altLang="en-US" dirty="0">
                <a:latin typeface="나눔명조" pitchFamily="18" charset="-127"/>
                <a:ea typeface="나눔명조" pitchFamily="18" charset="-127"/>
              </a:rPr>
              <a:t>비용</a:t>
            </a:r>
            <a:r>
              <a:rPr lang="en-US" altLang="ko-KR" dirty="0">
                <a:latin typeface="나눔명조" pitchFamily="18" charset="-127"/>
                <a:ea typeface="나눔명조" pitchFamily="18" charset="-127"/>
              </a:rPr>
              <a:t>-</a:t>
            </a:r>
            <a:r>
              <a:rPr lang="ko-KR" altLang="en-US" dirty="0">
                <a:latin typeface="나눔명조" pitchFamily="18" charset="-127"/>
                <a:ea typeface="나눔명조" pitchFamily="18" charset="-127"/>
              </a:rPr>
              <a:t>편익분석 사례</a:t>
            </a:r>
          </a:p>
        </p:txBody>
      </p:sp>
      <p:sp>
        <p:nvSpPr>
          <p:cNvPr id="21508" name="바닥글 개체 틀 4">
            <a:extLst>
              <a:ext uri="{FF2B5EF4-FFF2-40B4-BE49-F238E27FC236}">
                <a16:creationId xmlns:a16="http://schemas.microsoft.com/office/drawing/2014/main" id="{8B363D52-CD9A-4EF1-906F-B213D332CB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r>
              <a:rPr lang="ko-KR" altLang="en-US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13</a:t>
            </a:r>
          </a:p>
        </p:txBody>
      </p:sp>
      <p:sp>
        <p:nvSpPr>
          <p:cNvPr id="21509" name="슬라이드 번호 개체 틀 5">
            <a:extLst>
              <a:ext uri="{FF2B5EF4-FFF2-40B4-BE49-F238E27FC236}">
                <a16:creationId xmlns:a16="http://schemas.microsoft.com/office/drawing/2014/main" id="{4AA284FD-5A12-4766-B162-62F7CA33BB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fld id="{4F41F0A5-02DD-4378-ACA3-1492600C8AEA}" type="slidenum">
              <a:rPr lang="ko-KR" altLang="en-US" sz="1200" b="0">
                <a:solidFill>
                  <a:schemeClr val="tx1"/>
                </a:solidFill>
                <a:latin typeface="나눔명조" pitchFamily="18" charset="-127"/>
                <a:ea typeface="나눔명조" pitchFamily="18" charset="-127"/>
              </a:rPr>
              <a:pPr/>
              <a:t>2</a:t>
            </a:fld>
            <a:endParaRPr lang="en-US" altLang="ko-KR" sz="1200" b="0">
              <a:solidFill>
                <a:schemeClr val="tx1"/>
              </a:solidFill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21510" name="Rectangle 1026">
            <a:extLst>
              <a:ext uri="{FF2B5EF4-FFF2-40B4-BE49-F238E27FC236}">
                <a16:creationId xmlns:a16="http://schemas.microsoft.com/office/drawing/2014/main" id="{4B756286-C202-4094-AE49-F02313844F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21511" name="Rectangle 1027">
            <a:extLst>
              <a:ext uri="{FF2B5EF4-FFF2-40B4-BE49-F238E27FC236}">
                <a16:creationId xmlns:a16="http://schemas.microsoft.com/office/drawing/2014/main" id="{6AA83C9D-F9A4-4556-B87A-ABC5A4F316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B685344F-4F27-4D10-A02B-3A6342CF58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3550" y="-239713"/>
            <a:ext cx="8301038" cy="14446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eaLnBrk="1" hangingPunct="1">
              <a:defRPr/>
            </a:pPr>
            <a:r>
              <a:rPr lang="ko-KR" altLang="en-US" sz="3600" kern="0" dirty="0">
                <a:solidFill>
                  <a:srgbClr val="002060"/>
                </a:solidFill>
                <a:latin typeface="나눔명조" pitchFamily="18" charset="-127"/>
                <a:ea typeface="나눔명조" pitchFamily="18" charset="-127"/>
                <a:cs typeface="+mj-cs"/>
              </a:rPr>
              <a:t>제</a:t>
            </a:r>
            <a:r>
              <a:rPr lang="en-US" altLang="ko-KR" sz="3600" kern="0" dirty="0">
                <a:solidFill>
                  <a:srgbClr val="002060"/>
                </a:solidFill>
                <a:latin typeface="나눔명조" pitchFamily="18" charset="-127"/>
                <a:ea typeface="나눔명조" pitchFamily="18" charset="-127"/>
                <a:cs typeface="+mj-cs"/>
              </a:rPr>
              <a:t>13</a:t>
            </a:r>
            <a:r>
              <a:rPr lang="ko-KR" altLang="en-US" sz="3600" kern="0" dirty="0">
                <a:solidFill>
                  <a:srgbClr val="002060"/>
                </a:solidFill>
                <a:latin typeface="나눔명조" pitchFamily="18" charset="-127"/>
                <a:ea typeface="나눔명조" pitchFamily="18" charset="-127"/>
                <a:cs typeface="+mj-cs"/>
              </a:rPr>
              <a:t>장 </a:t>
            </a:r>
            <a:r>
              <a:rPr lang="en-US" altLang="ko-KR" sz="3600" kern="0" dirty="0">
                <a:solidFill>
                  <a:srgbClr val="002060"/>
                </a:solidFill>
                <a:latin typeface="나눔명조" pitchFamily="18" charset="-127"/>
                <a:ea typeface="나눔명조" pitchFamily="18" charset="-127"/>
                <a:cs typeface="+mj-cs"/>
              </a:rPr>
              <a:t>: </a:t>
            </a:r>
            <a:r>
              <a:rPr lang="ko-KR" altLang="en-US" sz="3600" kern="0" dirty="0">
                <a:solidFill>
                  <a:srgbClr val="002060"/>
                </a:solidFill>
                <a:latin typeface="나눔명조" pitchFamily="18" charset="-127"/>
                <a:ea typeface="나눔명조" pitchFamily="18" charset="-127"/>
                <a:cs typeface="+mj-cs"/>
              </a:rPr>
              <a:t>환경정책영향의 분석 틀</a:t>
            </a:r>
            <a:endParaRPr lang="en-US" altLang="ko-KR" sz="3600" kern="0" dirty="0">
              <a:solidFill>
                <a:srgbClr val="002060"/>
              </a:solidFill>
              <a:latin typeface="나눔명조" pitchFamily="18" charset="-127"/>
              <a:ea typeface="나눔명조" pitchFamily="18" charset="-127"/>
              <a:cs typeface="+mj-cs"/>
            </a:endParaRPr>
          </a:p>
        </p:txBody>
      </p:sp>
    </p:spTree>
  </p:cSld>
  <p:clrMapOvr>
    <a:masterClrMapping/>
  </p:clrMapOvr>
  <p:transition spd="med">
    <p:pull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57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8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578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8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578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8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578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5789" grpId="0" build="p" autoUpdateAnimBg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바닥글 개체 틀 4">
            <a:extLst>
              <a:ext uri="{FF2B5EF4-FFF2-40B4-BE49-F238E27FC236}">
                <a16:creationId xmlns:a16="http://schemas.microsoft.com/office/drawing/2014/main" id="{639C19A1-0FDC-443C-9F69-305E0D977A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r>
              <a:rPr lang="ko-KR" altLang="en-US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13</a:t>
            </a:r>
          </a:p>
        </p:txBody>
      </p:sp>
      <p:sp>
        <p:nvSpPr>
          <p:cNvPr id="22531" name="슬라이드 번호 개체 틀 5">
            <a:extLst>
              <a:ext uri="{FF2B5EF4-FFF2-40B4-BE49-F238E27FC236}">
                <a16:creationId xmlns:a16="http://schemas.microsoft.com/office/drawing/2014/main" id="{0B33133C-F98B-4A85-BBCF-4D362A6BAC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fld id="{FC6B5BAC-84F0-47F3-80F8-253F4000378C}" type="slidenum">
              <a:rPr lang="ko-KR" altLang="en-US" sz="1200" b="0">
                <a:solidFill>
                  <a:schemeClr val="tx1"/>
                </a:solidFill>
              </a:rPr>
              <a:pPr/>
              <a:t>3</a:t>
            </a:fld>
            <a:endParaRPr lang="en-US" altLang="ko-KR" sz="1200" b="0">
              <a:solidFill>
                <a:schemeClr val="tx1"/>
              </a:solidFill>
            </a:endParaRPr>
          </a:p>
        </p:txBody>
      </p:sp>
      <p:sp>
        <p:nvSpPr>
          <p:cNvPr id="22532" name="Rectangle 2">
            <a:extLst>
              <a:ext uri="{FF2B5EF4-FFF2-40B4-BE49-F238E27FC236}">
                <a16:creationId xmlns:a16="http://schemas.microsoft.com/office/drawing/2014/main" id="{19BC138F-5C6A-40AA-ACAD-3ED7BC1147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22533" name="Rectangle 3">
            <a:extLst>
              <a:ext uri="{FF2B5EF4-FFF2-40B4-BE49-F238E27FC236}">
                <a16:creationId xmlns:a16="http://schemas.microsoft.com/office/drawing/2014/main" id="{40343CE0-D9B9-4287-B49D-EA179E9EBB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22534" name="Rectangle 6">
            <a:extLst>
              <a:ext uri="{FF2B5EF4-FFF2-40B4-BE49-F238E27FC236}">
                <a16:creationId xmlns:a16="http://schemas.microsoft.com/office/drawing/2014/main" id="{48A95ECA-90E1-40E0-8D66-E4AF1566D71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96975" y="0"/>
            <a:ext cx="8201025" cy="998538"/>
          </a:xfrm>
        </p:spPr>
        <p:txBody>
          <a:bodyPr/>
          <a:lstStyle/>
          <a:p>
            <a:pPr eaLnBrk="1" hangingPunct="1"/>
            <a: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비용</a:t>
            </a:r>
            <a:r>
              <a:rPr lang="en-US" altLang="ko-KR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-</a:t>
            </a:r>
            <a: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편익분석</a:t>
            </a:r>
          </a:p>
        </p:txBody>
      </p:sp>
      <p:sp>
        <p:nvSpPr>
          <p:cNvPr id="22535" name="내용 개체 틀 7">
            <a:extLst>
              <a:ext uri="{FF2B5EF4-FFF2-40B4-BE49-F238E27FC236}">
                <a16:creationId xmlns:a16="http://schemas.microsoft.com/office/drawing/2014/main" id="{D3E4A787-0388-4639-96A3-E0C3AB6776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0413" y="1322388"/>
            <a:ext cx="7850187" cy="4487862"/>
          </a:xfrm>
        </p:spPr>
        <p:txBody>
          <a:bodyPr lIns="0" tIns="0" rIns="0" bIns="0"/>
          <a:lstStyle/>
          <a:p>
            <a:r>
              <a:rPr lang="ko-KR" altLang="en-US" sz="2800" b="1" dirty="0">
                <a:solidFill>
                  <a:srgbClr val="0000FF"/>
                </a:solidFill>
                <a:ea typeface="나눔명조" pitchFamily="18" charset="-127"/>
              </a:rPr>
              <a:t>비용</a:t>
            </a:r>
            <a:r>
              <a:rPr lang="en-US" altLang="ko-KR" sz="2800" b="1" dirty="0">
                <a:solidFill>
                  <a:srgbClr val="0000FF"/>
                </a:solidFill>
                <a:ea typeface="나눔명조" pitchFamily="18" charset="-127"/>
              </a:rPr>
              <a:t>-</a:t>
            </a:r>
            <a:r>
              <a:rPr lang="ko-KR" altLang="en-US" sz="2800" b="1" dirty="0">
                <a:solidFill>
                  <a:srgbClr val="0000FF"/>
                </a:solidFill>
                <a:ea typeface="나눔명조" pitchFamily="18" charset="-127"/>
              </a:rPr>
              <a:t>편익분석</a:t>
            </a:r>
            <a:r>
              <a:rPr lang="en-US" altLang="ko-KR" sz="2800" b="1" dirty="0">
                <a:solidFill>
                  <a:srgbClr val="0000FF"/>
                </a:solidFill>
                <a:latin typeface="나눔명조" pitchFamily="18" charset="-127"/>
                <a:ea typeface="나눔명조" pitchFamily="18" charset="-127"/>
              </a:rPr>
              <a:t>(benefit-cost analysis)</a:t>
            </a:r>
          </a:p>
          <a:p>
            <a:pPr lvl="1"/>
            <a:r>
              <a:rPr lang="ko-KR" altLang="en-US" sz="2400" dirty="0">
                <a:ea typeface="나눔명조" pitchFamily="18" charset="-127"/>
              </a:rPr>
              <a:t>공공사업이나 정책에 대한 평가를 위한 분석 틀</a:t>
            </a:r>
            <a:endParaRPr lang="en-US" altLang="ko-KR" sz="2400" dirty="0">
              <a:ea typeface="나눔명조" pitchFamily="18" charset="-127"/>
            </a:endParaRPr>
          </a:p>
          <a:p>
            <a:pPr lvl="1"/>
            <a:r>
              <a:rPr lang="ko-KR" altLang="en-US" sz="2400" dirty="0">
                <a:ea typeface="나눔명조" pitchFamily="18" charset="-127"/>
              </a:rPr>
              <a:t>정책에 필요한 비용과 그로 인해 발생하는 편익을 측정하고 최선의 대안을 선택하기 위해 사용되는 기법</a:t>
            </a:r>
            <a:endParaRPr lang="en-US" altLang="ko-KR" sz="2400" dirty="0">
              <a:ea typeface="나눔명조" pitchFamily="18" charset="-127"/>
            </a:endParaRPr>
          </a:p>
          <a:p>
            <a:r>
              <a:rPr lang="ko-KR" altLang="en-US" sz="2800" dirty="0">
                <a:ea typeface="나눔명조" pitchFamily="18" charset="-127"/>
              </a:rPr>
              <a:t>비용편익분석의 특징</a:t>
            </a:r>
            <a:endParaRPr lang="en-US" altLang="ko-KR" sz="2800" dirty="0">
              <a:ea typeface="나눔명조" pitchFamily="18" charset="-127"/>
            </a:endParaRPr>
          </a:p>
          <a:p>
            <a:pPr lvl="1"/>
            <a:r>
              <a:rPr lang="ko-KR" altLang="en-US" sz="2400" dirty="0">
                <a:ea typeface="나눔명조" pitchFamily="18" charset="-127"/>
              </a:rPr>
              <a:t>공공사업이 대상이므로 구성항목도 국민경제 전체의 관점에서 파악되어야 함</a:t>
            </a:r>
            <a:endParaRPr lang="en-US" altLang="ko-KR" sz="2400" dirty="0">
              <a:ea typeface="나눔명조" pitchFamily="18" charset="-127"/>
            </a:endParaRPr>
          </a:p>
          <a:p>
            <a:pPr lvl="1"/>
            <a:r>
              <a:rPr lang="ko-KR" altLang="en-US" sz="2400" dirty="0">
                <a:ea typeface="나눔명조" pitchFamily="18" charset="-127"/>
              </a:rPr>
              <a:t>현실성을 고려한 실무적 분석수단임</a:t>
            </a:r>
            <a:endParaRPr lang="en-US" altLang="ko-KR" sz="2400" dirty="0">
              <a:ea typeface="나눔명조" pitchFamily="18" charset="-127"/>
            </a:endParaRPr>
          </a:p>
          <a:p>
            <a:pPr lvl="1"/>
            <a:r>
              <a:rPr lang="ko-KR" altLang="en-US" sz="2400" dirty="0">
                <a:ea typeface="나눔명조" pitchFamily="18" charset="-127"/>
              </a:rPr>
              <a:t>시간이 중요한 변수로 개입됨</a:t>
            </a:r>
            <a:endParaRPr lang="en-US" altLang="ko-KR" sz="2400" dirty="0">
              <a:ea typeface="나눔명조" pitchFamily="18" charset="-127"/>
            </a:endParaRPr>
          </a:p>
          <a:p>
            <a:pPr lvl="2"/>
            <a:r>
              <a:rPr lang="ko-KR" altLang="en-US" sz="2100" dirty="0">
                <a:ea typeface="나눔명조" pitchFamily="18" charset="-127"/>
              </a:rPr>
              <a:t>대부분의 공공사업이나 정부규제의 효과는 장기간에 걸쳐 나타나므로</a:t>
            </a:r>
            <a:r>
              <a:rPr lang="en-US" altLang="ko-KR" sz="2100" dirty="0">
                <a:ea typeface="나눔명조" pitchFamily="18" charset="-127"/>
              </a:rPr>
              <a:t>, </a:t>
            </a:r>
            <a:r>
              <a:rPr lang="ko-KR" altLang="en-US" sz="2100" dirty="0">
                <a:ea typeface="나눔명조" pitchFamily="18" charset="-127"/>
              </a:rPr>
              <a:t>서로 다른 시점의 비용과 편익을 비교해야</a:t>
            </a:r>
            <a:endParaRPr lang="en-US" altLang="ko-KR" sz="2100" dirty="0">
              <a:ea typeface="나눔명조" pitchFamily="18" charset="-127"/>
            </a:endParaRPr>
          </a:p>
          <a:p>
            <a:pPr lvl="2"/>
            <a:endParaRPr lang="en-US" altLang="ko-KR" sz="2100" dirty="0">
              <a:ea typeface="나눔명조" pitchFamily="18" charset="-127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바닥글 개체 틀 4">
            <a:extLst>
              <a:ext uri="{FF2B5EF4-FFF2-40B4-BE49-F238E27FC236}">
                <a16:creationId xmlns:a16="http://schemas.microsoft.com/office/drawing/2014/main" id="{78616758-0809-4F94-B8C6-FA8C6A427A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r>
              <a:rPr lang="ko-KR" altLang="en-US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13</a:t>
            </a:r>
          </a:p>
        </p:txBody>
      </p:sp>
      <p:sp>
        <p:nvSpPr>
          <p:cNvPr id="23555" name="슬라이드 번호 개체 틀 5">
            <a:extLst>
              <a:ext uri="{FF2B5EF4-FFF2-40B4-BE49-F238E27FC236}">
                <a16:creationId xmlns:a16="http://schemas.microsoft.com/office/drawing/2014/main" id="{E0202895-D26C-4B82-BF28-5C81C1ADE1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fld id="{FA1DA553-5E86-4EFF-945E-81F481ACEC35}" type="slidenum">
              <a:rPr lang="ko-KR" altLang="en-US" sz="1200" b="0">
                <a:solidFill>
                  <a:schemeClr val="tx1"/>
                </a:solidFill>
              </a:rPr>
              <a:pPr/>
              <a:t>4</a:t>
            </a:fld>
            <a:endParaRPr lang="en-US" altLang="ko-KR" sz="1200" b="0">
              <a:solidFill>
                <a:schemeClr val="tx1"/>
              </a:solidFill>
            </a:endParaRPr>
          </a:p>
        </p:txBody>
      </p:sp>
      <p:sp>
        <p:nvSpPr>
          <p:cNvPr id="23556" name="Rectangle 2">
            <a:extLst>
              <a:ext uri="{FF2B5EF4-FFF2-40B4-BE49-F238E27FC236}">
                <a16:creationId xmlns:a16="http://schemas.microsoft.com/office/drawing/2014/main" id="{082B01B9-3BA0-493B-A3F6-35BF13B134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23557" name="Rectangle 3">
            <a:extLst>
              <a:ext uri="{FF2B5EF4-FFF2-40B4-BE49-F238E27FC236}">
                <a16:creationId xmlns:a16="http://schemas.microsoft.com/office/drawing/2014/main" id="{7F18F891-E17D-4653-B3CF-B3B1349EE4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23558" name="내용 개체 틀 7">
            <a:extLst>
              <a:ext uri="{FF2B5EF4-FFF2-40B4-BE49-F238E27FC236}">
                <a16:creationId xmlns:a16="http://schemas.microsoft.com/office/drawing/2014/main" id="{AD7D63B2-4A5E-4A07-8F1B-32F6980592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1538" y="1419225"/>
            <a:ext cx="7612062" cy="4502150"/>
          </a:xfrm>
        </p:spPr>
        <p:txBody>
          <a:bodyPr lIns="0" tIns="0" rIns="0" bIns="0"/>
          <a:lstStyle/>
          <a:p>
            <a:r>
              <a:rPr lang="ko-KR" altLang="en-US">
                <a:ea typeface="나눔명조" pitchFamily="18" charset="-127"/>
              </a:rPr>
              <a:t>비용편익분석의 절차</a:t>
            </a:r>
            <a:endParaRPr lang="en-US" altLang="ko-KR">
              <a:ea typeface="나눔명조" pitchFamily="18" charset="-127"/>
            </a:endParaRPr>
          </a:p>
          <a:p>
            <a:endParaRPr lang="en-US" altLang="ko-KR" sz="1000">
              <a:ea typeface="나눔명조" pitchFamily="18" charset="-127"/>
            </a:endParaRPr>
          </a:p>
          <a:p>
            <a:pPr lvl="1"/>
            <a:r>
              <a:rPr lang="ko-KR" altLang="en-US" sz="2400">
                <a:ea typeface="나눔명조" pitchFamily="18" charset="-127"/>
              </a:rPr>
              <a:t>평가대상 사업이나 정책을 명시</a:t>
            </a:r>
            <a:endParaRPr lang="en-US" altLang="ko-KR" sz="2400">
              <a:ea typeface="나눔명조" pitchFamily="18" charset="-127"/>
            </a:endParaRPr>
          </a:p>
          <a:p>
            <a:pPr lvl="1"/>
            <a:r>
              <a:rPr lang="ko-KR" altLang="en-US" sz="2400">
                <a:ea typeface="나눔명조" pitchFamily="18" charset="-127"/>
              </a:rPr>
              <a:t>사업이나 정책을 수행하는데 필요한 투입요소와 결과물을 계량화</a:t>
            </a:r>
            <a:endParaRPr lang="en-US" altLang="ko-KR" sz="2400">
              <a:ea typeface="나눔명조" pitchFamily="18" charset="-127"/>
            </a:endParaRPr>
          </a:p>
          <a:p>
            <a:pPr lvl="1"/>
            <a:r>
              <a:rPr lang="ko-KR" altLang="en-US" sz="2400">
                <a:ea typeface="나눔명조" pitchFamily="18" charset="-127"/>
              </a:rPr>
              <a:t>계량화된 투입요소와 결과물의 사회적 비용과 편익을 추정</a:t>
            </a:r>
            <a:endParaRPr lang="en-US" altLang="ko-KR" sz="2400">
              <a:ea typeface="나눔명조" pitchFamily="18" charset="-127"/>
            </a:endParaRPr>
          </a:p>
          <a:p>
            <a:pPr lvl="1"/>
            <a:r>
              <a:rPr lang="ko-KR" altLang="en-US" sz="2400">
                <a:ea typeface="나눔명조" pitchFamily="18" charset="-127"/>
              </a:rPr>
              <a:t>편익과 비용을 비교</a:t>
            </a:r>
            <a:endParaRPr lang="en-US" altLang="ko-KR" sz="2400">
              <a:ea typeface="나눔명조" pitchFamily="18" charset="-127"/>
            </a:endParaRPr>
          </a:p>
          <a:p>
            <a:pPr lvl="1"/>
            <a:r>
              <a:rPr lang="ko-KR" altLang="en-US" sz="2400">
                <a:ea typeface="나눔명조" pitchFamily="18" charset="-127"/>
              </a:rPr>
              <a:t>민감도 분석</a:t>
            </a:r>
            <a:endParaRPr lang="en-US" altLang="ko-KR" sz="2400">
              <a:ea typeface="나눔명조" pitchFamily="18" charset="-127"/>
            </a:endParaRPr>
          </a:p>
          <a:p>
            <a:pPr>
              <a:lnSpc>
                <a:spcPct val="150000"/>
              </a:lnSpc>
            </a:pPr>
            <a:endParaRPr lang="en-US" altLang="ko-KR" sz="1400">
              <a:ea typeface="나눔명조" pitchFamily="18" charset="-127"/>
            </a:endParaRPr>
          </a:p>
        </p:txBody>
      </p:sp>
      <p:sp>
        <p:nvSpPr>
          <p:cNvPr id="23559" name="Rectangle 6">
            <a:extLst>
              <a:ext uri="{FF2B5EF4-FFF2-40B4-BE49-F238E27FC236}">
                <a16:creationId xmlns:a16="http://schemas.microsoft.com/office/drawing/2014/main" id="{B9D788B0-D6E6-40A0-81E8-24A1335D30D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96975" y="0"/>
            <a:ext cx="8201025" cy="998538"/>
          </a:xfrm>
        </p:spPr>
        <p:txBody>
          <a:bodyPr/>
          <a:lstStyle/>
          <a:p>
            <a:pPr eaLnBrk="1" hangingPunct="1"/>
            <a: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비용</a:t>
            </a:r>
            <a:r>
              <a:rPr lang="en-US" altLang="ko-KR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-</a:t>
            </a:r>
            <a: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편익분석</a:t>
            </a:r>
            <a:r>
              <a:rPr lang="en-US" altLang="ko-KR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: </a:t>
            </a:r>
            <a: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절차</a:t>
            </a:r>
          </a:p>
        </p:txBody>
      </p:sp>
    </p:spTree>
  </p:cSld>
  <p:clrMapOvr>
    <a:masterClrMapping/>
  </p:clrMapOvr>
  <p:transition spd="med">
    <p:wipe dir="r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바닥글 개체 틀 4">
            <a:extLst>
              <a:ext uri="{FF2B5EF4-FFF2-40B4-BE49-F238E27FC236}">
                <a16:creationId xmlns:a16="http://schemas.microsoft.com/office/drawing/2014/main" id="{084D3C85-1CDC-40A4-A3D0-507F62FA4A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r>
              <a:rPr lang="ko-KR" altLang="en-US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13</a:t>
            </a:r>
          </a:p>
        </p:txBody>
      </p:sp>
      <p:sp>
        <p:nvSpPr>
          <p:cNvPr id="1028" name="슬라이드 번호 개체 틀 5">
            <a:extLst>
              <a:ext uri="{FF2B5EF4-FFF2-40B4-BE49-F238E27FC236}">
                <a16:creationId xmlns:a16="http://schemas.microsoft.com/office/drawing/2014/main" id="{BA708560-BE12-43CA-A550-CD8693F657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fld id="{EAE29E86-AB40-4995-BE01-205E45ED9C59}" type="slidenum">
              <a:rPr lang="ko-KR" altLang="en-US" sz="1200" b="0">
                <a:solidFill>
                  <a:schemeClr val="tx1"/>
                </a:solidFill>
              </a:rPr>
              <a:pPr/>
              <a:t>5</a:t>
            </a:fld>
            <a:endParaRPr lang="en-US" altLang="ko-KR" sz="1200" b="0">
              <a:solidFill>
                <a:schemeClr val="tx1"/>
              </a:solidFill>
            </a:endParaRPr>
          </a:p>
        </p:txBody>
      </p:sp>
      <p:sp>
        <p:nvSpPr>
          <p:cNvPr id="1029" name="Rectangle 2">
            <a:extLst>
              <a:ext uri="{FF2B5EF4-FFF2-40B4-BE49-F238E27FC236}">
                <a16:creationId xmlns:a16="http://schemas.microsoft.com/office/drawing/2014/main" id="{FB8331EF-4810-449F-8C26-1035791EF2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1030" name="Rectangle 3">
            <a:extLst>
              <a:ext uri="{FF2B5EF4-FFF2-40B4-BE49-F238E27FC236}">
                <a16:creationId xmlns:a16="http://schemas.microsoft.com/office/drawing/2014/main" id="{7DB26E53-041A-4718-86FD-1311E4C1E0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31" name="내용 개체 틀 7">
                <a:extLst>
                  <a:ext uri="{FF2B5EF4-FFF2-40B4-BE49-F238E27FC236}">
                    <a16:creationId xmlns:a16="http://schemas.microsoft.com/office/drawing/2014/main" id="{E4D33F88-2616-4101-966A-DA199044ACD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15975" y="1376363"/>
                <a:ext cx="7766050" cy="5221287"/>
              </a:xfrm>
            </p:spPr>
            <p:txBody>
              <a:bodyPr lIns="0" tIns="0" rIns="0" bIns="0"/>
              <a:lstStyle/>
              <a:p>
                <a:r>
                  <a:rPr lang="ko-KR" altLang="en-US" sz="2000" dirty="0">
                    <a:latin typeface="나눔명조" pitchFamily="18" charset="-127"/>
                    <a:ea typeface="나눔명조" pitchFamily="18" charset="-127"/>
                  </a:rPr>
                  <a:t>서로 다른 시점</a:t>
                </a:r>
                <a:r>
                  <a:rPr lang="en-US" altLang="ko-KR" sz="2000" dirty="0">
                    <a:latin typeface="나눔명조" pitchFamily="18" charset="-127"/>
                    <a:ea typeface="나눔명조" pitchFamily="18" charset="-127"/>
                  </a:rPr>
                  <a:t> </a:t>
                </a:r>
                <a:r>
                  <a:rPr lang="ko-KR" altLang="en-US" sz="2000" dirty="0">
                    <a:latin typeface="나눔명조" pitchFamily="18" charset="-127"/>
                    <a:ea typeface="나눔명조" pitchFamily="18" charset="-127"/>
                  </a:rPr>
                  <a:t>혹은 연도에 발생하는 비용이나 편익을 비교하기 위해서 </a:t>
                </a:r>
                <a:r>
                  <a:rPr lang="ko-KR" altLang="en-US" sz="2000" b="1" dirty="0">
                    <a:solidFill>
                      <a:srgbClr val="0000FF"/>
                    </a:solidFill>
                    <a:latin typeface="나눔명조" pitchFamily="18" charset="-127"/>
                    <a:ea typeface="나눔명조" pitchFamily="18" charset="-127"/>
                  </a:rPr>
                  <a:t>할인</a:t>
                </a:r>
                <a:r>
                  <a:rPr lang="en-US" altLang="ko-KR" sz="2000" b="1" dirty="0">
                    <a:solidFill>
                      <a:srgbClr val="0000FF"/>
                    </a:solidFill>
                    <a:latin typeface="나눔명조" pitchFamily="18" charset="-127"/>
                    <a:ea typeface="나눔명조" pitchFamily="18" charset="-127"/>
                  </a:rPr>
                  <a:t>(discounting)</a:t>
                </a:r>
                <a:r>
                  <a:rPr lang="ko-KR" altLang="en-US" sz="2000" dirty="0">
                    <a:latin typeface="나눔명조" pitchFamily="18" charset="-127"/>
                    <a:ea typeface="나눔명조" pitchFamily="18" charset="-127"/>
                  </a:rPr>
                  <a:t> 방법 사용</a:t>
                </a:r>
                <a:endParaRPr lang="en-US" altLang="ko-KR" sz="2000" dirty="0">
                  <a:latin typeface="나눔명조" pitchFamily="18" charset="-127"/>
                  <a:ea typeface="나눔명조" pitchFamily="18" charset="-127"/>
                </a:endParaRPr>
              </a:p>
              <a:p>
                <a:r>
                  <a:rPr lang="ko-KR" altLang="en-US" sz="2000" dirty="0">
                    <a:latin typeface="나눔명조" pitchFamily="18" charset="-127"/>
                    <a:ea typeface="나눔명조" pitchFamily="18" charset="-127"/>
                  </a:rPr>
                  <a:t>이는 어떤 시점에서 발생할 비용</a:t>
                </a:r>
                <a:r>
                  <a:rPr lang="en-US" altLang="ko-KR" sz="2000" dirty="0">
                    <a:latin typeface="나눔명조" pitchFamily="18" charset="-127"/>
                    <a:ea typeface="나눔명조" pitchFamily="18" charset="-127"/>
                  </a:rPr>
                  <a:t>,</a:t>
                </a:r>
                <a:r>
                  <a:rPr lang="ko-KR" altLang="en-US" sz="2000" dirty="0">
                    <a:latin typeface="나눔명조" pitchFamily="18" charset="-127"/>
                    <a:ea typeface="나눔명조" pitchFamily="18" charset="-127"/>
                  </a:rPr>
                  <a:t>편익을 지금 시점의 </a:t>
                </a:r>
                <a:r>
                  <a:rPr lang="ko-KR" altLang="en-US" sz="2000" b="1" dirty="0">
                    <a:solidFill>
                      <a:srgbClr val="0000FF"/>
                    </a:solidFill>
                    <a:latin typeface="나눔명조" pitchFamily="18" charset="-127"/>
                    <a:ea typeface="나눔명조" pitchFamily="18" charset="-127"/>
                  </a:rPr>
                  <a:t>현재가치</a:t>
                </a:r>
                <a:r>
                  <a:rPr lang="en-US" altLang="ko-KR" sz="2000" b="1" dirty="0">
                    <a:solidFill>
                      <a:srgbClr val="0000FF"/>
                    </a:solidFill>
                    <a:latin typeface="나눔명조" pitchFamily="18" charset="-127"/>
                    <a:ea typeface="나눔명조" pitchFamily="18" charset="-127"/>
                  </a:rPr>
                  <a:t>(present value)</a:t>
                </a:r>
                <a:r>
                  <a:rPr lang="ko-KR" altLang="en-US" sz="2000" dirty="0">
                    <a:latin typeface="나눔명조" pitchFamily="18" charset="-127"/>
                    <a:ea typeface="나눔명조" pitchFamily="18" charset="-127"/>
                  </a:rPr>
                  <a:t>로 환산하는 절차임</a:t>
                </a:r>
                <a:endParaRPr lang="en-US" altLang="ko-KR" sz="2000" dirty="0">
                  <a:latin typeface="나눔명조" pitchFamily="18" charset="-127"/>
                  <a:ea typeface="나눔명조" pitchFamily="18" charset="-127"/>
                </a:endParaRPr>
              </a:p>
              <a:p>
                <a:r>
                  <a:rPr lang="en-US" altLang="ko-KR" sz="2000" dirty="0">
                    <a:latin typeface="나눔명조" pitchFamily="18" charset="-127"/>
                    <a:ea typeface="나눔명조" pitchFamily="18" charset="-127"/>
                  </a:rPr>
                  <a:t>10</a:t>
                </a:r>
                <a:r>
                  <a:rPr lang="ko-KR" altLang="en-US" sz="2000" dirty="0">
                    <a:latin typeface="나눔명조" pitchFamily="18" charset="-127"/>
                    <a:ea typeface="나눔명조" pitchFamily="18" charset="-127"/>
                  </a:rPr>
                  <a:t>년 후에 </a:t>
                </a:r>
                <a:r>
                  <a:rPr lang="en-US" altLang="ko-KR" sz="2000" dirty="0">
                    <a:latin typeface="나눔명조" pitchFamily="18" charset="-127"/>
                    <a:ea typeface="나눔명조" pitchFamily="18" charset="-127"/>
                  </a:rPr>
                  <a:t>500</a:t>
                </a:r>
                <a:r>
                  <a:rPr lang="ko-KR" altLang="en-US" sz="2000" dirty="0">
                    <a:latin typeface="나눔명조" pitchFamily="18" charset="-127"/>
                    <a:ea typeface="나눔명조" pitchFamily="18" charset="-127"/>
                  </a:rPr>
                  <a:t>만원을 지불하기로 약속 했다면 </a:t>
                </a:r>
                <a:r>
                  <a:rPr lang="en-US" altLang="ko-KR" sz="2000" dirty="0">
                    <a:latin typeface="나눔명조" pitchFamily="18" charset="-127"/>
                    <a:ea typeface="나눔명조" pitchFamily="18" charset="-127"/>
                  </a:rPr>
                  <a:t>10</a:t>
                </a:r>
                <a:r>
                  <a:rPr lang="ko-KR" altLang="en-US" sz="2000" dirty="0">
                    <a:latin typeface="나눔명조" pitchFamily="18" charset="-127"/>
                    <a:ea typeface="나눔명조" pitchFamily="18" charset="-127"/>
                  </a:rPr>
                  <a:t>년 뒤 </a:t>
                </a:r>
                <a:r>
                  <a:rPr lang="en-US" altLang="ko-KR" sz="2000" dirty="0">
                    <a:latin typeface="나눔명조" pitchFamily="18" charset="-127"/>
                    <a:ea typeface="나눔명조" pitchFamily="18" charset="-127"/>
                  </a:rPr>
                  <a:t>500</a:t>
                </a:r>
                <a:r>
                  <a:rPr lang="ko-KR" altLang="en-US" sz="2000" dirty="0">
                    <a:latin typeface="나눔명조" pitchFamily="18" charset="-127"/>
                    <a:ea typeface="나눔명조" pitchFamily="18" charset="-127"/>
                  </a:rPr>
                  <a:t>만원의 현재의 가치 </a:t>
                </a:r>
                <a14:m>
                  <m:oMath xmlns:m="http://schemas.openxmlformats.org/officeDocument/2006/math">
                    <m:r>
                      <a:rPr lang="ko-KR" altLang="en-US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ko-KR" altLang="en-US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ko-KR" sz="2000" dirty="0">
                    <a:latin typeface="나눔명조" pitchFamily="18" charset="-127"/>
                    <a:ea typeface="나눔명조" pitchFamily="18" charset="-127"/>
                  </a:rPr>
                  <a:t> </a:t>
                </a:r>
                <a:r>
                  <a:rPr lang="ko-KR" altLang="en-US" sz="2000" dirty="0">
                    <a:latin typeface="나눔명조" pitchFamily="18" charset="-127"/>
                    <a:ea typeface="나눔명조" pitchFamily="18" charset="-127"/>
                  </a:rPr>
                  <a:t>도출</a:t>
                </a:r>
                <a:r>
                  <a:rPr lang="en-US" altLang="ko-KR" sz="2000" dirty="0">
                    <a:latin typeface="나눔명조" pitchFamily="18" charset="-127"/>
                    <a:ea typeface="나눔명조" pitchFamily="18" charset="-127"/>
                  </a:rPr>
                  <a:t> (</a:t>
                </a:r>
                <a:r>
                  <a:rPr lang="ko-KR" altLang="en-US" sz="2000" dirty="0">
                    <a:latin typeface="나눔명조" pitchFamily="18" charset="-127"/>
                    <a:ea typeface="나눔명조" pitchFamily="18" charset="-127"/>
                  </a:rPr>
                  <a:t>할인율 </a:t>
                </a:r>
                <a:r>
                  <a:rPr lang="en-US" altLang="ko-KR" sz="2000" dirty="0">
                    <a:latin typeface="나눔명조" pitchFamily="18" charset="-127"/>
                    <a:ea typeface="나눔명조" pitchFamily="18" charset="-127"/>
                  </a:rPr>
                  <a:t>5%):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ko-KR" altLang="en-US" sz="20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ko-KR" altLang="en-US" sz="20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(1+0.05</m:t>
                      </m:r>
                      <m:sSup>
                        <m:sSupPr>
                          <m:ctrlPr>
                            <a:rPr lang="ko-KR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ko-KR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ko-KR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10</m:t>
                          </m:r>
                        </m:sup>
                      </m:sSup>
                      <m:r>
                        <a:rPr lang="ko-KR" alt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=500</m:t>
                      </m:r>
                      <m:r>
                        <a:rPr lang="ko-KR" alt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만원</m:t>
                      </m:r>
                    </m:oMath>
                  </m:oMathPara>
                </a14:m>
                <a:endParaRPr lang="en-US" altLang="ko-KR" sz="2000" dirty="0">
                  <a:latin typeface="나눔명조" pitchFamily="18" charset="-127"/>
                  <a:ea typeface="나눔명조" pitchFamily="18" charset="-127"/>
                </a:endParaRPr>
              </a:p>
              <a:p>
                <a14:m>
                  <m:oMath xmlns:m="http://schemas.openxmlformats.org/officeDocument/2006/math">
                    <m:f>
                      <m:fPr>
                        <m:ctrlPr>
                          <a:rPr lang="en-US" altLang="ko-KR" sz="2000" i="1" smtClean="0">
                            <a:latin typeface="Cambria Math" panose="02040503050406030204" pitchFamily="18" charset="0"/>
                            <a:ea typeface="나눔명조" pitchFamily="18" charset="-127"/>
                          </a:rPr>
                        </m:ctrlPr>
                      </m:fPr>
                      <m:num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500</m:t>
                        </m:r>
                        <m:r>
                          <a:rPr lang="ko-KR" altLang="en-US" sz="2000" i="1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만</m:t>
                        </m:r>
                        <m:r>
                          <a:rPr lang="ko-KR" altLang="en-US" sz="2000" i="1" smtClean="0">
                            <a:latin typeface="Cambria Math" panose="02040503050406030204" pitchFamily="18" charset="0"/>
                            <a:ea typeface="나눔명조" pitchFamily="18" charset="-127"/>
                          </a:rPr>
                          <m:t>원</m:t>
                        </m:r>
                      </m:num>
                      <m:den>
                        <m:sSup>
                          <m:sSupPr>
                            <m:ctrlPr>
                              <a:rPr lang="en-US" altLang="ko-KR" sz="2000" i="1" smtClean="0">
                                <a:latin typeface="Cambria Math" panose="02040503050406030204" pitchFamily="18" charset="0"/>
                                <a:ea typeface="나눔명조" pitchFamily="18" charset="-127"/>
                              </a:rPr>
                            </m:ctrlPr>
                          </m:sSupPr>
                          <m:e>
                            <m:r>
                              <a:rPr lang="en-US" altLang="ko-KR" sz="2000" b="0" i="1" smtClean="0">
                                <a:latin typeface="Cambria Math" panose="02040503050406030204" pitchFamily="18" charset="0"/>
                                <a:ea typeface="나눔명조" pitchFamily="18" charset="-127"/>
                              </a:rPr>
                              <m:t>(1+0.05)</m:t>
                            </m:r>
                          </m:e>
                          <m:sup>
                            <m:r>
                              <a:rPr lang="en-US" altLang="ko-KR" sz="2000" b="0" i="1" smtClean="0">
                                <a:latin typeface="Cambria Math" panose="02040503050406030204" pitchFamily="18" charset="0"/>
                                <a:ea typeface="나눔명조" pitchFamily="18" charset="-127"/>
                              </a:rPr>
                              <m:t>10</m:t>
                            </m:r>
                          </m:sup>
                        </m:sSup>
                      </m:den>
                    </m:f>
                    <m:r>
                      <a:rPr lang="en-US" altLang="ko-KR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  <m:r>
                      <a:rPr lang="en-US" altLang="ko-KR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307</m:t>
                    </m:r>
                  </m:oMath>
                </a14:m>
                <a:r>
                  <a:rPr lang="ko-KR" altLang="en-US" sz="2000" dirty="0">
                    <a:latin typeface="나눔명조" pitchFamily="18" charset="-127"/>
                    <a:ea typeface="나눔명조" pitchFamily="18" charset="-127"/>
                  </a:rPr>
                  <a:t>만원 </a:t>
                </a:r>
                <a:r>
                  <a:rPr lang="en-US" altLang="ko-KR" sz="2000" dirty="0">
                    <a:latin typeface="나눔명조" pitchFamily="18" charset="-127"/>
                    <a:ea typeface="나눔명조" pitchFamily="18" charset="-127"/>
                  </a:rPr>
                  <a:t>: 5% </a:t>
                </a:r>
                <a:r>
                  <a:rPr lang="ko-KR" altLang="en-US" sz="2000" dirty="0">
                    <a:latin typeface="나눔명조" pitchFamily="18" charset="-127"/>
                    <a:ea typeface="나눔명조" pitchFamily="18" charset="-127"/>
                  </a:rPr>
                  <a:t>이자율처럼 미래의 비용이나 편익을 할인하여 현재가치로 만들어 주기 위해 사용되는 비율을 </a:t>
                </a:r>
                <a:r>
                  <a:rPr lang="ko-KR" altLang="en-US" sz="2000" b="1" dirty="0">
                    <a:solidFill>
                      <a:srgbClr val="0000FF"/>
                    </a:solidFill>
                    <a:latin typeface="나눔명조" pitchFamily="18" charset="-127"/>
                    <a:ea typeface="나눔명조" pitchFamily="18" charset="-127"/>
                  </a:rPr>
                  <a:t>할인율</a:t>
                </a:r>
                <a:r>
                  <a:rPr lang="en-US" altLang="ko-KR" sz="2000" b="1" dirty="0">
                    <a:solidFill>
                      <a:srgbClr val="0000FF"/>
                    </a:solidFill>
                    <a:latin typeface="나눔명조" pitchFamily="18" charset="-127"/>
                    <a:ea typeface="나눔명조" pitchFamily="18" charset="-127"/>
                  </a:rPr>
                  <a:t>(discount rate)</a:t>
                </a:r>
                <a:r>
                  <a:rPr lang="ko-KR" altLang="en-US" sz="2000" dirty="0">
                    <a:latin typeface="나눔명조" pitchFamily="18" charset="-127"/>
                    <a:ea typeface="나눔명조" pitchFamily="18" charset="-127"/>
                  </a:rPr>
                  <a:t>이라 부름</a:t>
                </a:r>
                <a:endParaRPr lang="en-US" altLang="ko-KR" sz="2000" dirty="0">
                  <a:latin typeface="나눔명조" pitchFamily="18" charset="-127"/>
                  <a:ea typeface="나눔명조" pitchFamily="18" charset="-127"/>
                </a:endParaRPr>
              </a:p>
              <a:p>
                <a:pPr>
                  <a:buFont typeface="Wingdings" panose="05000000000000000000" pitchFamily="2" charset="2"/>
                  <a:buNone/>
                </a:pPr>
                <a:r>
                  <a:rPr lang="en-US" altLang="ko-KR" sz="2000" dirty="0">
                    <a:ea typeface="나눔명조" pitchFamily="18" charset="-127"/>
                  </a:rPr>
                  <a:t>             </a:t>
                </a:r>
              </a:p>
              <a:p>
                <a:pPr lvl="1">
                  <a:lnSpc>
                    <a:spcPct val="150000"/>
                  </a:lnSpc>
                  <a:buFont typeface="Wingdings" panose="05000000000000000000" pitchFamily="2" charset="2"/>
                  <a:buNone/>
                </a:pPr>
                <a:endParaRPr lang="en-US" altLang="ko-KR" sz="1400" dirty="0">
                  <a:ea typeface="나눔명조" pitchFamily="18" charset="-127"/>
                </a:endParaRPr>
              </a:p>
              <a:p>
                <a:pPr lvl="1">
                  <a:lnSpc>
                    <a:spcPct val="150000"/>
                  </a:lnSpc>
                  <a:buFont typeface="Wingdings" panose="05000000000000000000" pitchFamily="2" charset="2"/>
                  <a:buNone/>
                </a:pPr>
                <a:r>
                  <a:rPr lang="ko-KR" altLang="en-US" sz="1400" dirty="0">
                    <a:ea typeface="나눔명조" pitchFamily="18" charset="-127"/>
                  </a:rPr>
                  <a:t> </a:t>
                </a:r>
                <a:endParaRPr lang="en-US" altLang="ko-KR" sz="1400" dirty="0">
                  <a:ea typeface="나눔명조" pitchFamily="18" charset="-127"/>
                </a:endParaRPr>
              </a:p>
            </p:txBody>
          </p:sp>
        </mc:Choice>
        <mc:Fallback xmlns="">
          <p:sp>
            <p:nvSpPr>
              <p:cNvPr id="1031" name="내용 개체 틀 7">
                <a:extLst>
                  <a:ext uri="{FF2B5EF4-FFF2-40B4-BE49-F238E27FC236}">
                    <a16:creationId xmlns:a16="http://schemas.microsoft.com/office/drawing/2014/main" id="{E4D33F88-2616-4101-966A-DA199044ACD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15975" y="1376363"/>
                <a:ext cx="7766050" cy="5221287"/>
              </a:xfrm>
              <a:blipFill>
                <a:blip r:embed="rId3"/>
                <a:stretch>
                  <a:fillRect l="-1884" t="-1519" r="-15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32" name="Rectangle 6">
            <a:extLst>
              <a:ext uri="{FF2B5EF4-FFF2-40B4-BE49-F238E27FC236}">
                <a16:creationId xmlns:a16="http://schemas.microsoft.com/office/drawing/2014/main" id="{EB9D9130-60CC-41AB-8F70-7FF170FDF52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96975" y="0"/>
            <a:ext cx="8201025" cy="998538"/>
          </a:xfrm>
        </p:spPr>
        <p:txBody>
          <a:bodyPr/>
          <a:lstStyle/>
          <a:p>
            <a:pPr eaLnBrk="1" hangingPunct="1"/>
            <a: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비용</a:t>
            </a:r>
            <a:r>
              <a:rPr lang="en-US" altLang="ko-KR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-</a:t>
            </a:r>
            <a: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편익분석</a:t>
            </a:r>
            <a:r>
              <a:rPr lang="en-US" altLang="ko-KR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: </a:t>
            </a:r>
            <a: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할인율의 선택</a:t>
            </a:r>
          </a:p>
        </p:txBody>
      </p:sp>
    </p:spTree>
  </p:cSld>
  <p:clrMapOvr>
    <a:masterClrMapping/>
  </p:clrMapOvr>
  <p:transition spd="med">
    <p:wipe dir="r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바닥글 개체 틀 4">
            <a:extLst>
              <a:ext uri="{FF2B5EF4-FFF2-40B4-BE49-F238E27FC236}">
                <a16:creationId xmlns:a16="http://schemas.microsoft.com/office/drawing/2014/main" id="{9CAE3BC5-1F31-4306-A312-255BDF3D6E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r>
              <a:rPr lang="ko-KR" altLang="en-US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13</a:t>
            </a:r>
          </a:p>
        </p:txBody>
      </p:sp>
      <p:sp>
        <p:nvSpPr>
          <p:cNvPr id="2052" name="슬라이드 번호 개체 틀 5">
            <a:extLst>
              <a:ext uri="{FF2B5EF4-FFF2-40B4-BE49-F238E27FC236}">
                <a16:creationId xmlns:a16="http://schemas.microsoft.com/office/drawing/2014/main" id="{605B396D-0393-448A-9751-3A4DEE6DB2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fld id="{06B06C0B-704A-4FD9-97B0-0EE3CD8289BF}" type="slidenum">
              <a:rPr lang="ko-KR" altLang="en-US" sz="1200" b="0">
                <a:solidFill>
                  <a:schemeClr val="tx1"/>
                </a:solidFill>
              </a:rPr>
              <a:pPr/>
              <a:t>6</a:t>
            </a:fld>
            <a:endParaRPr lang="en-US" altLang="ko-KR" sz="1200" b="0">
              <a:solidFill>
                <a:schemeClr val="tx1"/>
              </a:solidFill>
            </a:endParaRPr>
          </a:p>
        </p:txBody>
      </p:sp>
      <p:sp>
        <p:nvSpPr>
          <p:cNvPr id="2053" name="Rectangle 2">
            <a:extLst>
              <a:ext uri="{FF2B5EF4-FFF2-40B4-BE49-F238E27FC236}">
                <a16:creationId xmlns:a16="http://schemas.microsoft.com/office/drawing/2014/main" id="{2CD994F0-014C-487B-B44F-F8EA12B796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2054" name="Rectangle 3">
            <a:extLst>
              <a:ext uri="{FF2B5EF4-FFF2-40B4-BE49-F238E27FC236}">
                <a16:creationId xmlns:a16="http://schemas.microsoft.com/office/drawing/2014/main" id="{18974DB0-C713-4350-A8B2-26DCCB9882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55" name="내용 개체 틀 7">
                <a:extLst>
                  <a:ext uri="{FF2B5EF4-FFF2-40B4-BE49-F238E27FC236}">
                    <a16:creationId xmlns:a16="http://schemas.microsoft.com/office/drawing/2014/main" id="{702ED468-D684-4933-BC44-015AB6810D7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17550" y="1376363"/>
                <a:ext cx="7850188" cy="4813300"/>
              </a:xfrm>
            </p:spPr>
            <p:txBody>
              <a:bodyPr lIns="0" tIns="0" rIns="0" bIns="0"/>
              <a:lstStyle/>
              <a:p>
                <a:r>
                  <a:rPr lang="ko-KR" altLang="en-US" sz="2400" dirty="0">
                    <a:ea typeface="나눔명조" pitchFamily="18" charset="-127"/>
                  </a:rPr>
                  <a:t>할인율이 </a:t>
                </a:r>
                <a:r>
                  <a:rPr lang="en-US" altLang="ko-KR" sz="24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r</a:t>
                </a:r>
                <a:r>
                  <a:rPr lang="en-US" altLang="ko-KR" sz="2400" dirty="0">
                    <a:ea typeface="나눔명조" pitchFamily="18" charset="-127"/>
                  </a:rPr>
                  <a:t> </a:t>
                </a:r>
                <a:r>
                  <a:rPr lang="ko-KR" altLang="en-US" sz="2400" dirty="0">
                    <a:ea typeface="나눔명조" pitchFamily="18" charset="-127"/>
                  </a:rPr>
                  <a:t>이고 공공사업이 시작된 </a:t>
                </a:r>
                <a:r>
                  <a:rPr lang="en-US" altLang="ko-KR" sz="2400" dirty="0">
                    <a:latin typeface="Times New Roman" panose="02020603050405020304" pitchFamily="18" charset="0"/>
                    <a:ea typeface="나눔명조" pitchFamily="18" charset="-127"/>
                  </a:rPr>
                  <a:t>n</a:t>
                </a:r>
                <a:r>
                  <a:rPr lang="ko-KR" altLang="en-US" sz="2400" dirty="0">
                    <a:ea typeface="나눔명조" pitchFamily="18" charset="-127"/>
                  </a:rPr>
                  <a:t>년 후에 발생하는 편익을 </a:t>
                </a:r>
                <a:r>
                  <a:rPr lang="en-US" altLang="ko-KR" sz="2400" dirty="0">
                    <a:latin typeface="Times New Roman" panose="02020603050405020304" pitchFamily="18" charset="0"/>
                    <a:ea typeface="나눔명조" pitchFamily="18" charset="-127"/>
                  </a:rPr>
                  <a:t>B</a:t>
                </a:r>
                <a:r>
                  <a:rPr lang="en-US" altLang="ko-KR" sz="2400" baseline="-25000" dirty="0">
                    <a:latin typeface="Times New Roman" panose="02020603050405020304" pitchFamily="18" charset="0"/>
                    <a:ea typeface="나눔명조" pitchFamily="18" charset="-127"/>
                  </a:rPr>
                  <a:t>n</a:t>
                </a:r>
                <a:r>
                  <a:rPr lang="en-US" altLang="ko-KR" sz="2400" dirty="0">
                    <a:ea typeface="나눔명조" pitchFamily="18" charset="-127"/>
                  </a:rPr>
                  <a:t> </a:t>
                </a:r>
                <a:r>
                  <a:rPr lang="ko-KR" altLang="en-US" sz="2400" dirty="0">
                    <a:ea typeface="나눔명조" pitchFamily="18" charset="-127"/>
                  </a:rPr>
                  <a:t>이라 하면</a:t>
                </a:r>
                <a:r>
                  <a:rPr lang="en-US" altLang="ko-KR" sz="2400" dirty="0">
                    <a:ea typeface="나눔명조" pitchFamily="18" charset="-127"/>
                  </a:rPr>
                  <a:t>, </a:t>
                </a:r>
                <a:r>
                  <a:rPr lang="en-US" altLang="ko-KR" sz="2400" dirty="0">
                    <a:latin typeface="Times New Roman" panose="02020603050405020304" pitchFamily="18" charset="0"/>
                    <a:ea typeface="나눔명조" pitchFamily="18" charset="-127"/>
                  </a:rPr>
                  <a:t>B</a:t>
                </a:r>
                <a:r>
                  <a:rPr lang="en-US" altLang="ko-KR" sz="2400" baseline="-25000" dirty="0">
                    <a:latin typeface="Times New Roman" panose="02020603050405020304" pitchFamily="18" charset="0"/>
                    <a:ea typeface="나눔명조" pitchFamily="18" charset="-127"/>
                  </a:rPr>
                  <a:t>n</a:t>
                </a:r>
                <a:r>
                  <a:rPr lang="ko-KR" altLang="en-US" sz="2400" dirty="0">
                    <a:ea typeface="나눔명조" pitchFamily="18" charset="-127"/>
                  </a:rPr>
                  <a:t>을 사업시행 시점의 현재가치로 환산한 금액은 다음과 같음</a:t>
                </a:r>
                <a:endParaRPr lang="en-US" altLang="ko-KR" sz="2400" dirty="0">
                  <a:ea typeface="나눔명조" pitchFamily="18" charset="-127"/>
                </a:endParaRP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ko-KR" altLang="en-US" sz="28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𝑃𝑉</m:t>
                      </m:r>
                      <m:r>
                        <a:rPr lang="ko-KR" altLang="en-US" sz="28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ko-KR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ko-KR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ko-KR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f>
                        <m:fPr>
                          <m:ctrlPr>
                            <a:rPr lang="ko-KR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ko-KR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ko-KR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  <m:sub>
                              <m:r>
                                <a:rPr lang="ko-KR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num>
                        <m:den>
                          <m:r>
                            <a:rPr lang="ko-KR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(1+</m:t>
                          </m:r>
                          <m:r>
                            <a:rPr lang="ko-KR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  <m:sSup>
                            <m:sSupPr>
                              <m:ctrlPr>
                                <a:rPr lang="ko-KR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ko-KR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ko-KR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US" altLang="ko-KR" sz="2800" dirty="0">
                  <a:ea typeface="나눔명조" pitchFamily="18" charset="-127"/>
                </a:endParaRPr>
              </a:p>
              <a:p>
                <a:r>
                  <a:rPr lang="ko-KR" altLang="en-US" sz="2400" dirty="0">
                    <a:ea typeface="나눔명조" pitchFamily="18" charset="-127"/>
                  </a:rPr>
                  <a:t>이자율은 </a:t>
                </a:r>
                <a:r>
                  <a:rPr lang="ko-KR" altLang="en-US" sz="2400" b="1" dirty="0">
                    <a:solidFill>
                      <a:srgbClr val="0000FF"/>
                    </a:solidFill>
                    <a:latin typeface="나눔명조" pitchFamily="18" charset="-127"/>
                    <a:ea typeface="나눔명조" pitchFamily="18" charset="-127"/>
                  </a:rPr>
                  <a:t>명목이자율</a:t>
                </a:r>
                <a:r>
                  <a:rPr lang="en-US" altLang="ko-KR" sz="2400" b="1" dirty="0">
                    <a:solidFill>
                      <a:srgbClr val="0000FF"/>
                    </a:solidFill>
                    <a:latin typeface="나눔명조" pitchFamily="18" charset="-127"/>
                    <a:ea typeface="나눔명조" pitchFamily="18" charset="-127"/>
                  </a:rPr>
                  <a:t>(nominal interest rate)</a:t>
                </a:r>
                <a:r>
                  <a:rPr lang="ko-KR" altLang="en-US" sz="2400" dirty="0">
                    <a:ea typeface="나눔명조" pitchFamily="18" charset="-127"/>
                  </a:rPr>
                  <a:t>과 </a:t>
                </a:r>
                <a:r>
                  <a:rPr lang="ko-KR" altLang="en-US" sz="2400" b="1" dirty="0">
                    <a:solidFill>
                      <a:srgbClr val="0000FF"/>
                    </a:solidFill>
                    <a:latin typeface="나눔명조" pitchFamily="18" charset="-127"/>
                    <a:ea typeface="나눔명조" pitchFamily="18" charset="-127"/>
                  </a:rPr>
                  <a:t>실질 이자율</a:t>
                </a:r>
                <a:r>
                  <a:rPr lang="en-US" altLang="ko-KR" sz="2400" b="1" dirty="0">
                    <a:solidFill>
                      <a:srgbClr val="0000FF"/>
                    </a:solidFill>
                    <a:latin typeface="나눔명조" pitchFamily="18" charset="-127"/>
                    <a:ea typeface="나눔명조" pitchFamily="18" charset="-127"/>
                  </a:rPr>
                  <a:t>(real interest rate)</a:t>
                </a:r>
                <a:r>
                  <a:rPr lang="ko-KR" altLang="en-US" sz="2400" dirty="0">
                    <a:ea typeface="나눔명조" pitchFamily="18" charset="-127"/>
                  </a:rPr>
                  <a:t>로 구분됨</a:t>
                </a:r>
                <a:endParaRPr lang="en-US" altLang="ko-KR" sz="2400" dirty="0">
                  <a:ea typeface="나눔명조" pitchFamily="18" charset="-127"/>
                </a:endParaRPr>
              </a:p>
              <a:p>
                <a:pPr lvl="1"/>
                <a:r>
                  <a:rPr lang="ko-KR" altLang="en-US" sz="2000" dirty="0">
                    <a:ea typeface="나눔명조" pitchFamily="18" charset="-127"/>
                  </a:rPr>
                  <a:t>명목이자율은 실제 우리가 관측하는 이자율로 오늘 </a:t>
                </a:r>
                <a:r>
                  <a:rPr lang="en-US" altLang="ko-KR" sz="2000" dirty="0">
                    <a:ea typeface="나눔명조" pitchFamily="18" charset="-127"/>
                  </a:rPr>
                  <a:t>100</a:t>
                </a:r>
                <a:r>
                  <a:rPr lang="ko-KR" altLang="en-US" sz="2000" dirty="0">
                    <a:ea typeface="나눔명조" pitchFamily="18" charset="-127"/>
                  </a:rPr>
                  <a:t>만원을 예금해 내년에 </a:t>
                </a:r>
                <a:r>
                  <a:rPr lang="en-US" altLang="ko-KR" sz="2000" dirty="0">
                    <a:ea typeface="나눔명조" pitchFamily="18" charset="-127"/>
                  </a:rPr>
                  <a:t>105</a:t>
                </a:r>
                <a:r>
                  <a:rPr lang="ko-KR" altLang="en-US" sz="2000" dirty="0">
                    <a:ea typeface="나눔명조" pitchFamily="18" charset="-127"/>
                  </a:rPr>
                  <a:t>만원을 찾게 되면 명목이자율은 </a:t>
                </a:r>
                <a:r>
                  <a:rPr lang="en-US" altLang="ko-KR" sz="2000" dirty="0">
                    <a:ea typeface="나눔명조" pitchFamily="18" charset="-127"/>
                  </a:rPr>
                  <a:t>5%</a:t>
                </a:r>
                <a:r>
                  <a:rPr lang="ko-KR" altLang="en-US" sz="2000" dirty="0">
                    <a:ea typeface="나눔명조" pitchFamily="18" charset="-127"/>
                  </a:rPr>
                  <a:t>가 됨</a:t>
                </a:r>
                <a:endParaRPr lang="en-US" altLang="ko-KR" sz="2000" dirty="0">
                  <a:ea typeface="나눔명조" pitchFamily="18" charset="-127"/>
                </a:endParaRPr>
              </a:p>
              <a:p>
                <a:pPr lvl="1"/>
                <a:r>
                  <a:rPr lang="ko-KR" altLang="en-US" sz="2000" dirty="0">
                    <a:ea typeface="나눔명조" pitchFamily="18" charset="-127"/>
                  </a:rPr>
                  <a:t>만약 연간 물가상승률이 </a:t>
                </a:r>
                <a:r>
                  <a:rPr lang="en-US" altLang="ko-KR" sz="2000" dirty="0">
                    <a:ea typeface="나눔명조" pitchFamily="18" charset="-127"/>
                  </a:rPr>
                  <a:t>2%</a:t>
                </a:r>
                <a:r>
                  <a:rPr lang="ko-KR" altLang="en-US" sz="2000" dirty="0">
                    <a:ea typeface="나눔명조" pitchFamily="18" charset="-127"/>
                  </a:rPr>
                  <a:t>였다면 </a:t>
                </a:r>
                <a:r>
                  <a:rPr lang="en-US" altLang="ko-KR" sz="2000" dirty="0">
                    <a:ea typeface="나눔명조" pitchFamily="18" charset="-127"/>
                  </a:rPr>
                  <a:t>5-2=3%</a:t>
                </a:r>
                <a:r>
                  <a:rPr lang="ko-KR" altLang="en-US" sz="2000" dirty="0">
                    <a:ea typeface="나눔명조" pitchFamily="18" charset="-127"/>
                  </a:rPr>
                  <a:t>가 실질이자율임</a:t>
                </a:r>
                <a:r>
                  <a:rPr lang="en-US" altLang="ko-KR" sz="2000" dirty="0">
                    <a:ea typeface="나눔명조" pitchFamily="18" charset="-127"/>
                  </a:rPr>
                  <a:t>, </a:t>
                </a:r>
                <a:r>
                  <a:rPr lang="ko-KR" altLang="en-US" sz="2000" dirty="0">
                    <a:ea typeface="나눔명조" pitchFamily="18" charset="-127"/>
                  </a:rPr>
                  <a:t>즉 실질이자율은 명목이자율에서 물가상승률을 뺀 이자율임</a:t>
                </a:r>
                <a:endParaRPr lang="en-US" altLang="ko-KR" sz="2000" dirty="0">
                  <a:ea typeface="나눔명조" pitchFamily="18" charset="-127"/>
                </a:endParaRPr>
              </a:p>
              <a:p>
                <a:pPr lvl="1">
                  <a:lnSpc>
                    <a:spcPct val="150000"/>
                  </a:lnSpc>
                  <a:buFont typeface="Wingdings" panose="05000000000000000000" pitchFamily="2" charset="2"/>
                  <a:buNone/>
                </a:pPr>
                <a:r>
                  <a:rPr lang="ko-KR" altLang="en-US" sz="1800" dirty="0">
                    <a:ea typeface="나눔명조" pitchFamily="18" charset="-127"/>
                  </a:rPr>
                  <a:t> </a:t>
                </a:r>
                <a:endParaRPr lang="en-US" altLang="ko-KR" sz="1600" dirty="0">
                  <a:ea typeface="나눔명조" pitchFamily="18" charset="-127"/>
                </a:endParaRPr>
              </a:p>
            </p:txBody>
          </p:sp>
        </mc:Choice>
        <mc:Fallback xmlns="">
          <p:sp>
            <p:nvSpPr>
              <p:cNvPr id="2055" name="내용 개체 틀 7">
                <a:extLst>
                  <a:ext uri="{FF2B5EF4-FFF2-40B4-BE49-F238E27FC236}">
                    <a16:creationId xmlns:a16="http://schemas.microsoft.com/office/drawing/2014/main" id="{702ED468-D684-4933-BC44-015AB6810D7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17550" y="1376363"/>
                <a:ext cx="7850188" cy="4813300"/>
              </a:xfrm>
              <a:blipFill>
                <a:blip r:embed="rId3"/>
                <a:stretch>
                  <a:fillRect l="-2253" t="-202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Rectangle 6">
            <a:extLst>
              <a:ext uri="{FF2B5EF4-FFF2-40B4-BE49-F238E27FC236}">
                <a16:creationId xmlns:a16="http://schemas.microsoft.com/office/drawing/2014/main" id="{D0E4F541-D132-4416-8693-C7F6868BE0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96975" y="0"/>
            <a:ext cx="8201025" cy="9985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eaLnBrk="1" hangingPunct="1">
              <a:defRPr/>
            </a:pPr>
            <a:r>
              <a:rPr lang="ko-KR" altLang="en-US" sz="3600" kern="0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  <a:cs typeface="+mj-cs"/>
              </a:rPr>
              <a:t>비용</a:t>
            </a:r>
            <a:r>
              <a:rPr lang="en-US" altLang="ko-KR" sz="3600" kern="0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  <a:cs typeface="+mj-cs"/>
              </a:rPr>
              <a:t>-</a:t>
            </a:r>
            <a:r>
              <a:rPr lang="ko-KR" altLang="en-US" sz="3600" kern="0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  <a:cs typeface="+mj-cs"/>
              </a:rPr>
              <a:t>편익분석</a:t>
            </a:r>
            <a:r>
              <a:rPr lang="en-US" altLang="ko-KR" sz="3600" kern="0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  <a:cs typeface="+mj-cs"/>
              </a:rPr>
              <a:t>: </a:t>
            </a:r>
            <a:r>
              <a:rPr lang="ko-KR" altLang="en-US" sz="3600" kern="0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  <a:cs typeface="+mj-cs"/>
              </a:rPr>
              <a:t>할인율의 선택</a:t>
            </a:r>
            <a:endParaRPr lang="ko-KR" altLang="en-US" sz="3600" kern="0" dirty="0">
              <a:solidFill>
                <a:srgbClr val="0070C0"/>
              </a:solidFill>
              <a:latin typeface="나눔명조" pitchFamily="18" charset="-127"/>
              <a:ea typeface="나눔명조" pitchFamily="18" charset="-127"/>
              <a:cs typeface="+mj-cs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바닥글 개체 틀 4">
            <a:extLst>
              <a:ext uri="{FF2B5EF4-FFF2-40B4-BE49-F238E27FC236}">
                <a16:creationId xmlns:a16="http://schemas.microsoft.com/office/drawing/2014/main" id="{6E4FFD9A-E547-473A-8940-009AC053C8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r>
              <a:rPr lang="ko-KR" altLang="en-US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13</a:t>
            </a:r>
          </a:p>
        </p:txBody>
      </p:sp>
      <p:sp>
        <p:nvSpPr>
          <p:cNvPr id="24579" name="슬라이드 번호 개체 틀 5">
            <a:extLst>
              <a:ext uri="{FF2B5EF4-FFF2-40B4-BE49-F238E27FC236}">
                <a16:creationId xmlns:a16="http://schemas.microsoft.com/office/drawing/2014/main" id="{5ACD915E-CBAA-4CA6-AEA3-709CDA8C7A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fld id="{286C6F1E-3C8B-48C1-8182-2897F82F79DE}" type="slidenum">
              <a:rPr lang="ko-KR" altLang="en-US" sz="1200" b="0">
                <a:solidFill>
                  <a:schemeClr val="tx1"/>
                </a:solidFill>
              </a:rPr>
              <a:pPr/>
              <a:t>7</a:t>
            </a:fld>
            <a:endParaRPr lang="en-US" altLang="ko-KR" sz="1200" b="0">
              <a:solidFill>
                <a:schemeClr val="tx1"/>
              </a:solidFill>
            </a:endParaRPr>
          </a:p>
        </p:txBody>
      </p:sp>
      <p:sp>
        <p:nvSpPr>
          <p:cNvPr id="24580" name="Rectangle 2">
            <a:extLst>
              <a:ext uri="{FF2B5EF4-FFF2-40B4-BE49-F238E27FC236}">
                <a16:creationId xmlns:a16="http://schemas.microsoft.com/office/drawing/2014/main" id="{792E84F1-ED53-4B36-B3DD-FF228C9D1E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24581" name="Rectangle 3">
            <a:extLst>
              <a:ext uri="{FF2B5EF4-FFF2-40B4-BE49-F238E27FC236}">
                <a16:creationId xmlns:a16="http://schemas.microsoft.com/office/drawing/2014/main" id="{C797EDA9-6F32-430E-ACDA-B7D6267DC5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24582" name="내용 개체 틀 7">
            <a:extLst>
              <a:ext uri="{FF2B5EF4-FFF2-40B4-BE49-F238E27FC236}">
                <a16:creationId xmlns:a16="http://schemas.microsoft.com/office/drawing/2014/main" id="{E31AECD1-6FDD-4D4B-8347-E4B83ED8AB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1538" y="1504950"/>
            <a:ext cx="7724775" cy="4249738"/>
          </a:xfrm>
        </p:spPr>
        <p:txBody>
          <a:bodyPr lIns="0" tIns="0" rIns="0" bIns="0"/>
          <a:lstStyle/>
          <a:p>
            <a:r>
              <a:rPr lang="ko-KR" altLang="en-US" sz="2600" dirty="0">
                <a:ea typeface="나눔명조" pitchFamily="18" charset="-127"/>
              </a:rPr>
              <a:t>은행이 지불하는 </a:t>
            </a:r>
            <a:r>
              <a:rPr lang="ko-KR" altLang="en-US" sz="2600" dirty="0" err="1">
                <a:ea typeface="나눔명조" pitchFamily="18" charset="-127"/>
              </a:rPr>
              <a:t>예금이자율</a:t>
            </a:r>
            <a:r>
              <a:rPr lang="ko-KR" altLang="en-US" sz="2600" dirty="0">
                <a:ea typeface="나눔명조" pitchFamily="18" charset="-127"/>
              </a:rPr>
              <a:t> </a:t>
            </a:r>
            <a:r>
              <a:rPr lang="en-US" altLang="ko-KR" sz="2600" dirty="0">
                <a:ea typeface="나눔명조" pitchFamily="18" charset="-127"/>
              </a:rPr>
              <a:t>vs. </a:t>
            </a:r>
            <a:r>
              <a:rPr lang="ko-KR" altLang="en-US" sz="2600" dirty="0">
                <a:ea typeface="나눔명조" pitchFamily="18" charset="-127"/>
              </a:rPr>
              <a:t>대출자가 지불하는 </a:t>
            </a:r>
            <a:r>
              <a:rPr lang="ko-KR" altLang="en-US" sz="2600" dirty="0" err="1">
                <a:ea typeface="나눔명조" pitchFamily="18" charset="-127"/>
              </a:rPr>
              <a:t>대출이자율</a:t>
            </a:r>
            <a:endParaRPr lang="en-US" altLang="ko-KR" sz="2600" dirty="0">
              <a:ea typeface="나눔명조" pitchFamily="18" charset="-127"/>
            </a:endParaRPr>
          </a:p>
          <a:p>
            <a:r>
              <a:rPr lang="ko-KR" altLang="en-US" sz="2600" dirty="0">
                <a:ea typeface="나눔명조" pitchFamily="18" charset="-127"/>
              </a:rPr>
              <a:t>예금이자율을 할인율로 선택하는 것은 </a:t>
            </a:r>
            <a:r>
              <a:rPr lang="ko-KR" altLang="en-US" sz="2600" b="1" dirty="0">
                <a:solidFill>
                  <a:srgbClr val="0000FF"/>
                </a:solidFill>
                <a:latin typeface="나눔명조" pitchFamily="18" charset="-127"/>
                <a:ea typeface="나눔명조" pitchFamily="18" charset="-127"/>
              </a:rPr>
              <a:t>시간에 대한 선호</a:t>
            </a:r>
            <a:r>
              <a:rPr lang="en-US" altLang="ko-KR" sz="2600" b="1" dirty="0">
                <a:solidFill>
                  <a:srgbClr val="0000FF"/>
                </a:solidFill>
                <a:latin typeface="나눔명조" pitchFamily="18" charset="-127"/>
                <a:ea typeface="나눔명조" pitchFamily="18" charset="-127"/>
              </a:rPr>
              <a:t>(time preference)</a:t>
            </a:r>
            <a:r>
              <a:rPr lang="ko-KR" altLang="en-US" sz="2600" dirty="0">
                <a:ea typeface="나눔명조" pitchFamily="18" charset="-127"/>
              </a:rPr>
              <a:t>를 반영하기 위한 것임</a:t>
            </a:r>
            <a:endParaRPr lang="en-US" altLang="ko-KR" sz="2600" dirty="0">
              <a:ea typeface="나눔명조" pitchFamily="18" charset="-127"/>
            </a:endParaRPr>
          </a:p>
          <a:p>
            <a:r>
              <a:rPr lang="ko-KR" altLang="en-US" sz="2600" dirty="0">
                <a:ea typeface="나눔명조" pitchFamily="18" charset="-127"/>
              </a:rPr>
              <a:t>통상적으로 사람들은 미래보다는 현재에 지급 받기를 더 원하는 경향이 있어 시간에 대한 선호를 가짐</a:t>
            </a:r>
            <a:endParaRPr lang="en-US" altLang="ko-KR" sz="2600" dirty="0">
              <a:ea typeface="나눔명조" pitchFamily="18" charset="-127"/>
            </a:endParaRPr>
          </a:p>
          <a:p>
            <a:r>
              <a:rPr lang="ko-KR" altLang="en-US" sz="2600" dirty="0">
                <a:ea typeface="나눔명조" pitchFamily="18" charset="-127"/>
              </a:rPr>
              <a:t>그럼에도 불구하고 소득의 일부를 은행에 맡기는 이유는 은행이 시간에 대한 선호에 해당하는 만큼 이자소득을 지불하기 때문임</a:t>
            </a:r>
            <a:endParaRPr lang="en-US" altLang="ko-KR" sz="2600" dirty="0">
              <a:ea typeface="나눔명조" pitchFamily="18" charset="-127"/>
            </a:endParaRPr>
          </a:p>
          <a:p>
            <a:pPr>
              <a:lnSpc>
                <a:spcPct val="150000"/>
              </a:lnSpc>
            </a:pPr>
            <a:endParaRPr lang="en-US" altLang="ko-KR" sz="2000" dirty="0">
              <a:ea typeface="나눔명조" pitchFamily="18" charset="-127"/>
            </a:endParaRPr>
          </a:p>
        </p:txBody>
      </p:sp>
      <p:sp>
        <p:nvSpPr>
          <p:cNvPr id="24583" name="Rectangle 6">
            <a:extLst>
              <a:ext uri="{FF2B5EF4-FFF2-40B4-BE49-F238E27FC236}">
                <a16:creationId xmlns:a16="http://schemas.microsoft.com/office/drawing/2014/main" id="{6D98D7D9-3E47-444D-B42C-9CB5174BA40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96975" y="0"/>
            <a:ext cx="8201025" cy="998538"/>
          </a:xfrm>
        </p:spPr>
        <p:txBody>
          <a:bodyPr/>
          <a:lstStyle/>
          <a:p>
            <a:pPr eaLnBrk="1" hangingPunct="1"/>
            <a: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비용</a:t>
            </a:r>
            <a:r>
              <a:rPr lang="en-US" altLang="ko-KR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-</a:t>
            </a:r>
            <a: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편익분석</a:t>
            </a:r>
            <a:r>
              <a:rPr lang="en-US" altLang="ko-KR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: </a:t>
            </a:r>
            <a: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할인율의 선택</a:t>
            </a:r>
          </a:p>
        </p:txBody>
      </p:sp>
    </p:spTree>
  </p:cSld>
  <p:clrMapOvr>
    <a:masterClrMapping/>
  </p:clrMapOvr>
  <p:transition spd="med">
    <p:wipe dir="r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바닥글 개체 틀 4">
            <a:extLst>
              <a:ext uri="{FF2B5EF4-FFF2-40B4-BE49-F238E27FC236}">
                <a16:creationId xmlns:a16="http://schemas.microsoft.com/office/drawing/2014/main" id="{0E310DC7-D6EC-46E5-958B-EFAFF991E9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r>
              <a:rPr lang="ko-KR" altLang="en-US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13</a:t>
            </a:r>
          </a:p>
        </p:txBody>
      </p:sp>
      <p:sp>
        <p:nvSpPr>
          <p:cNvPr id="25603" name="슬라이드 번호 개체 틀 5">
            <a:extLst>
              <a:ext uri="{FF2B5EF4-FFF2-40B4-BE49-F238E27FC236}">
                <a16:creationId xmlns:a16="http://schemas.microsoft.com/office/drawing/2014/main" id="{3F0E2EB3-E48C-4B7A-A3CF-207A45B4B4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fld id="{7D950D82-8363-402D-AD23-9A06A1C880A1}" type="slidenum">
              <a:rPr lang="ko-KR" altLang="en-US" sz="1200" b="0">
                <a:solidFill>
                  <a:schemeClr val="tx1"/>
                </a:solidFill>
              </a:rPr>
              <a:pPr/>
              <a:t>8</a:t>
            </a:fld>
            <a:endParaRPr lang="en-US" altLang="ko-KR" sz="1200" b="0">
              <a:solidFill>
                <a:schemeClr val="tx1"/>
              </a:solidFill>
            </a:endParaRPr>
          </a:p>
        </p:txBody>
      </p:sp>
      <p:sp>
        <p:nvSpPr>
          <p:cNvPr id="25604" name="Rectangle 2">
            <a:extLst>
              <a:ext uri="{FF2B5EF4-FFF2-40B4-BE49-F238E27FC236}">
                <a16:creationId xmlns:a16="http://schemas.microsoft.com/office/drawing/2014/main" id="{4BDE8069-F1E8-4F84-A98A-96E7CD5867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25605" name="Rectangle 3">
            <a:extLst>
              <a:ext uri="{FF2B5EF4-FFF2-40B4-BE49-F238E27FC236}">
                <a16:creationId xmlns:a16="http://schemas.microsoft.com/office/drawing/2014/main" id="{C33A7459-CEB7-4020-A803-38C99662D5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25606" name="내용 개체 틀 7">
            <a:extLst>
              <a:ext uri="{FF2B5EF4-FFF2-40B4-BE49-F238E27FC236}">
                <a16:creationId xmlns:a16="http://schemas.microsoft.com/office/drawing/2014/main" id="{7AE52C34-BC93-453A-9446-02D935DDB7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57263" y="1347788"/>
            <a:ext cx="7596187" cy="4491037"/>
          </a:xfrm>
        </p:spPr>
        <p:txBody>
          <a:bodyPr lIns="0" tIns="0" rIns="0" bIns="0"/>
          <a:lstStyle/>
          <a:p>
            <a:r>
              <a:rPr lang="ko-KR" altLang="en-US" sz="2400" dirty="0">
                <a:ea typeface="나눔명조" pitchFamily="18" charset="-127"/>
              </a:rPr>
              <a:t>소비자 행위와 </a:t>
            </a:r>
            <a:r>
              <a:rPr lang="ko-KR" altLang="en-US" sz="2400" dirty="0" err="1">
                <a:ea typeface="나눔명조" pitchFamily="18" charset="-127"/>
              </a:rPr>
              <a:t>할인율로서의</a:t>
            </a:r>
            <a:r>
              <a:rPr lang="ko-KR" altLang="en-US" sz="2400" dirty="0">
                <a:ea typeface="나눔명조" pitchFamily="18" charset="-127"/>
              </a:rPr>
              <a:t> 예금이자율</a:t>
            </a:r>
            <a:endParaRPr lang="en-US" altLang="ko-KR" sz="2400" dirty="0">
              <a:ea typeface="나눔명조" pitchFamily="18" charset="-127"/>
            </a:endParaRPr>
          </a:p>
          <a:p>
            <a:r>
              <a:rPr lang="ko-KR" altLang="en-US" sz="2400" dirty="0">
                <a:ea typeface="나눔명조" pitchFamily="18" charset="-127"/>
              </a:rPr>
              <a:t>현재 소득이 </a:t>
            </a:r>
            <a:r>
              <a:rPr lang="en-US" altLang="ko-KR" sz="2400" dirty="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I</a:t>
            </a:r>
            <a:r>
              <a:rPr lang="ko-KR" altLang="en-US" sz="2400" dirty="0">
                <a:ea typeface="나눔명조" pitchFamily="18" charset="-127"/>
              </a:rPr>
              <a:t>인 소비자가 현재를 위한 소비 </a:t>
            </a:r>
            <a:r>
              <a:rPr lang="en-US" altLang="ko-KR" sz="2400" dirty="0">
                <a:latin typeface="Times New Roman" panose="02020603050405020304" pitchFamily="18" charset="0"/>
                <a:ea typeface="나눔명조" pitchFamily="18" charset="-127"/>
              </a:rPr>
              <a:t>C</a:t>
            </a:r>
            <a:r>
              <a:rPr lang="en-US" altLang="ko-KR" sz="2400" baseline="-25000" dirty="0">
                <a:latin typeface="Times New Roman" panose="02020603050405020304" pitchFamily="18" charset="0"/>
                <a:ea typeface="나눔명조" pitchFamily="18" charset="-127"/>
              </a:rPr>
              <a:t>0</a:t>
            </a:r>
            <a:r>
              <a:rPr lang="en-US" altLang="ko-KR" sz="2400" dirty="0">
                <a:ea typeface="나눔명조" pitchFamily="18" charset="-127"/>
              </a:rPr>
              <a:t>, </a:t>
            </a:r>
            <a:r>
              <a:rPr lang="ko-KR" altLang="en-US" sz="2400" dirty="0">
                <a:ea typeface="나눔명조" pitchFamily="18" charset="-127"/>
              </a:rPr>
              <a:t>미래를 위한 소비 </a:t>
            </a:r>
            <a:r>
              <a:rPr lang="en-US" altLang="ko-KR" sz="2400" dirty="0">
                <a:latin typeface="Times New Roman" panose="02020603050405020304" pitchFamily="18" charset="0"/>
                <a:ea typeface="나눔명조" pitchFamily="18" charset="-127"/>
              </a:rPr>
              <a:t>C</a:t>
            </a:r>
            <a:r>
              <a:rPr lang="en-US" altLang="ko-KR" sz="2400" baseline="-25000" dirty="0">
                <a:latin typeface="Times New Roman" panose="02020603050405020304" pitchFamily="18" charset="0"/>
                <a:ea typeface="나눔명조" pitchFamily="18" charset="-127"/>
              </a:rPr>
              <a:t>1</a:t>
            </a:r>
            <a:r>
              <a:rPr lang="ko-KR" altLang="en-US" sz="2400" dirty="0">
                <a:ea typeface="나눔명조" pitchFamily="18" charset="-127"/>
              </a:rPr>
              <a:t>에</a:t>
            </a:r>
            <a:r>
              <a:rPr lang="en-US" altLang="ko-KR" sz="2400" dirty="0">
                <a:ea typeface="나눔명조" pitchFamily="18" charset="-127"/>
              </a:rPr>
              <a:t> </a:t>
            </a:r>
            <a:r>
              <a:rPr lang="ko-KR" altLang="en-US" sz="2400" dirty="0">
                <a:ea typeface="나눔명조" pitchFamily="18" charset="-127"/>
              </a:rPr>
              <a:t>지출</a:t>
            </a:r>
            <a:r>
              <a:rPr lang="en-US" altLang="ko-KR" sz="2400" dirty="0">
                <a:ea typeface="나눔명조" pitchFamily="18" charset="-127"/>
              </a:rPr>
              <a:t> </a:t>
            </a:r>
          </a:p>
          <a:p>
            <a:r>
              <a:rPr lang="ko-KR" altLang="en-US" sz="2400" dirty="0">
                <a:ea typeface="나눔명조" pitchFamily="18" charset="-127"/>
              </a:rPr>
              <a:t>소비로 인한 만족도는 </a:t>
            </a:r>
            <a:r>
              <a:rPr lang="en-US" altLang="ko-KR" sz="2400" dirty="0">
                <a:latin typeface="Times New Roman" panose="02020603050405020304" pitchFamily="18" charset="0"/>
                <a:ea typeface="나눔명조" pitchFamily="18" charset="-127"/>
              </a:rPr>
              <a:t>U(C</a:t>
            </a:r>
            <a:r>
              <a:rPr lang="en-US" altLang="ko-KR" sz="2400" baseline="-25000" dirty="0">
                <a:latin typeface="Times New Roman" panose="02020603050405020304" pitchFamily="18" charset="0"/>
                <a:ea typeface="나눔명조" pitchFamily="18" charset="-127"/>
              </a:rPr>
              <a:t>0 </a:t>
            </a:r>
            <a:r>
              <a:rPr lang="en-US" altLang="ko-KR" sz="2400" dirty="0">
                <a:latin typeface="Times New Roman" panose="02020603050405020304" pitchFamily="18" charset="0"/>
                <a:ea typeface="나눔명조" pitchFamily="18" charset="-127"/>
              </a:rPr>
              <a:t>, C</a:t>
            </a:r>
            <a:r>
              <a:rPr lang="en-US" altLang="ko-KR" sz="2400" baseline="-25000" dirty="0">
                <a:latin typeface="Times New Roman" panose="02020603050405020304" pitchFamily="18" charset="0"/>
                <a:ea typeface="나눔명조" pitchFamily="18" charset="-127"/>
              </a:rPr>
              <a:t>1</a:t>
            </a:r>
            <a:r>
              <a:rPr lang="en-US" altLang="ko-KR" sz="2400" dirty="0">
                <a:latin typeface="Times New Roman" panose="02020603050405020304" pitchFamily="18" charset="0"/>
                <a:ea typeface="나눔명조" pitchFamily="18" charset="-127"/>
              </a:rPr>
              <a:t>)</a:t>
            </a:r>
            <a:endParaRPr lang="en-US" altLang="ko-KR" sz="2400" dirty="0">
              <a:ea typeface="나눔명조" pitchFamily="18" charset="-127"/>
            </a:endParaRPr>
          </a:p>
          <a:p>
            <a:r>
              <a:rPr lang="ko-KR" altLang="en-US" sz="2400" dirty="0">
                <a:ea typeface="나눔명조" pitchFamily="18" charset="-127"/>
              </a:rPr>
              <a:t>소득 중 소비되지 않고 예금되는 </a:t>
            </a:r>
            <a:r>
              <a:rPr lang="en-US" altLang="ko-KR" sz="2400" dirty="0">
                <a:latin typeface="Times New Roman" panose="02020603050405020304" pitchFamily="18" charset="0"/>
                <a:ea typeface="나눔명조" pitchFamily="18" charset="-127"/>
              </a:rPr>
              <a:t>I-C</a:t>
            </a:r>
            <a:r>
              <a:rPr lang="en-US" altLang="ko-KR" sz="2400" baseline="-25000" dirty="0">
                <a:latin typeface="Times New Roman" panose="02020603050405020304" pitchFamily="18" charset="0"/>
                <a:ea typeface="나눔명조" pitchFamily="18" charset="-127"/>
              </a:rPr>
              <a:t>0 </a:t>
            </a:r>
            <a:r>
              <a:rPr lang="ko-KR" altLang="en-US" sz="2400" dirty="0">
                <a:ea typeface="나눔명조" pitchFamily="18" charset="-127"/>
              </a:rPr>
              <a:t>에</a:t>
            </a:r>
            <a:r>
              <a:rPr lang="en-US" altLang="ko-KR" sz="2400" dirty="0">
                <a:ea typeface="나눔명조" pitchFamily="18" charset="-127"/>
              </a:rPr>
              <a:t> </a:t>
            </a:r>
            <a:r>
              <a:rPr lang="ko-KR" altLang="en-US" sz="2400" dirty="0">
                <a:ea typeface="나눔명조" pitchFamily="18" charset="-127"/>
              </a:rPr>
              <a:t>대해 은행이 </a:t>
            </a:r>
            <a:r>
              <a:rPr lang="en-US" altLang="ko-KR" sz="2400" dirty="0">
                <a:latin typeface="Times New Roman" panose="02020603050405020304" pitchFamily="18" charset="0"/>
                <a:ea typeface="나눔명조" pitchFamily="18" charset="-127"/>
              </a:rPr>
              <a:t>r</a:t>
            </a:r>
            <a:r>
              <a:rPr lang="ko-KR" altLang="en-US" sz="2400" dirty="0">
                <a:ea typeface="나눔명조" pitchFamily="18" charset="-127"/>
              </a:rPr>
              <a:t>의 이자율을 준다면 미래에는 </a:t>
            </a:r>
            <a:r>
              <a:rPr lang="en-US" altLang="ko-KR" sz="2400" dirty="0">
                <a:latin typeface="Times New Roman" panose="02020603050405020304" pitchFamily="18" charset="0"/>
                <a:ea typeface="나눔명조" pitchFamily="18" charset="-127"/>
              </a:rPr>
              <a:t>C</a:t>
            </a:r>
            <a:r>
              <a:rPr lang="en-US" altLang="ko-KR" sz="2400" baseline="-25000" dirty="0">
                <a:latin typeface="Times New Roman" panose="02020603050405020304" pitchFamily="18" charset="0"/>
                <a:ea typeface="나눔명조" pitchFamily="18" charset="-127"/>
              </a:rPr>
              <a:t>1 </a:t>
            </a:r>
            <a:r>
              <a:rPr lang="en-US" altLang="ko-KR" sz="2400" dirty="0">
                <a:latin typeface="Times New Roman" panose="02020603050405020304" pitchFamily="18" charset="0"/>
                <a:ea typeface="나눔명조" pitchFamily="18" charset="-127"/>
              </a:rPr>
              <a:t>=(1+r)(I-C</a:t>
            </a:r>
            <a:r>
              <a:rPr lang="en-US" altLang="ko-KR" sz="2400" baseline="-25000" dirty="0">
                <a:latin typeface="Times New Roman" panose="02020603050405020304" pitchFamily="18" charset="0"/>
                <a:ea typeface="나눔명조" pitchFamily="18" charset="-127"/>
              </a:rPr>
              <a:t>0</a:t>
            </a:r>
            <a:r>
              <a:rPr lang="en-US" altLang="ko-KR" sz="2400" dirty="0">
                <a:latin typeface="Times New Roman" panose="02020603050405020304" pitchFamily="18" charset="0"/>
                <a:ea typeface="나눔명조" pitchFamily="18" charset="-127"/>
              </a:rPr>
              <a:t>)</a:t>
            </a:r>
            <a:r>
              <a:rPr lang="ko-KR" altLang="en-US" sz="2400" dirty="0">
                <a:ea typeface="나눔명조" pitchFamily="18" charset="-127"/>
              </a:rPr>
              <a:t>만큼 소비가 가능함</a:t>
            </a:r>
            <a:endParaRPr lang="en-US" altLang="ko-KR" sz="2400" dirty="0">
              <a:ea typeface="나눔명조" pitchFamily="18" charset="-127"/>
            </a:endParaRPr>
          </a:p>
          <a:p>
            <a:r>
              <a:rPr lang="ko-KR" altLang="en-US" sz="2400" dirty="0">
                <a:ea typeface="나눔명조" pitchFamily="18" charset="-127"/>
              </a:rPr>
              <a:t>결국 소비자는 </a:t>
            </a:r>
            <a:r>
              <a:rPr lang="en-US" altLang="ko-KR" sz="2400" dirty="0">
                <a:latin typeface="Times New Roman" panose="02020603050405020304" pitchFamily="18" charset="0"/>
                <a:ea typeface="나눔명조" pitchFamily="18" charset="-127"/>
              </a:rPr>
              <a:t>U(C</a:t>
            </a:r>
            <a:r>
              <a:rPr lang="en-US" altLang="ko-KR" sz="2400" baseline="-25000" dirty="0">
                <a:latin typeface="Times New Roman" panose="02020603050405020304" pitchFamily="18" charset="0"/>
                <a:ea typeface="나눔명조" pitchFamily="18" charset="-127"/>
              </a:rPr>
              <a:t>0</a:t>
            </a:r>
            <a:r>
              <a:rPr lang="en-US" altLang="ko-KR" sz="2400" dirty="0">
                <a:latin typeface="Times New Roman" panose="02020603050405020304" pitchFamily="18" charset="0"/>
                <a:ea typeface="나눔명조" pitchFamily="18" charset="-127"/>
              </a:rPr>
              <a:t>, (1+r)(I-C</a:t>
            </a:r>
            <a:r>
              <a:rPr lang="en-US" altLang="ko-KR" sz="2400" baseline="-25000" dirty="0">
                <a:latin typeface="Times New Roman" panose="02020603050405020304" pitchFamily="18" charset="0"/>
                <a:ea typeface="나눔명조" pitchFamily="18" charset="-127"/>
              </a:rPr>
              <a:t>0</a:t>
            </a:r>
            <a:r>
              <a:rPr lang="en-US" altLang="ko-KR" sz="2400" dirty="0">
                <a:latin typeface="Times New Roman" panose="02020603050405020304" pitchFamily="18" charset="0"/>
                <a:ea typeface="나눔명조" pitchFamily="18" charset="-127"/>
              </a:rPr>
              <a:t>))</a:t>
            </a:r>
            <a:r>
              <a:rPr lang="ko-KR" altLang="en-US" sz="2400" dirty="0">
                <a:latin typeface="Times New Roman" panose="02020603050405020304" pitchFamily="18" charset="0"/>
                <a:ea typeface="나눔명조" pitchFamily="18" charset="-127"/>
              </a:rPr>
              <a:t>를</a:t>
            </a:r>
            <a:r>
              <a:rPr lang="ko-KR" altLang="en-US" sz="2400" dirty="0">
                <a:ea typeface="나눔명조" pitchFamily="18" charset="-127"/>
              </a:rPr>
              <a:t> 극대화 하는 </a:t>
            </a:r>
            <a:r>
              <a:rPr lang="en-US" altLang="ko-KR" sz="2400" dirty="0">
                <a:latin typeface="Times New Roman" panose="02020603050405020304" pitchFamily="18" charset="0"/>
                <a:ea typeface="나눔명조" pitchFamily="18" charset="-127"/>
              </a:rPr>
              <a:t>C</a:t>
            </a:r>
            <a:r>
              <a:rPr lang="en-US" altLang="ko-KR" sz="2400" baseline="-25000" dirty="0">
                <a:latin typeface="Times New Roman" panose="02020603050405020304" pitchFamily="18" charset="0"/>
                <a:ea typeface="나눔명조" pitchFamily="18" charset="-127"/>
              </a:rPr>
              <a:t>0</a:t>
            </a:r>
            <a:r>
              <a:rPr lang="ko-KR" altLang="en-US" sz="2400" dirty="0">
                <a:ea typeface="나눔명조" pitchFamily="18" charset="-127"/>
              </a:rPr>
              <a:t>를</a:t>
            </a:r>
            <a:r>
              <a:rPr lang="en-US" altLang="ko-KR" sz="2400" dirty="0">
                <a:ea typeface="나눔명조" pitchFamily="18" charset="-127"/>
              </a:rPr>
              <a:t> </a:t>
            </a:r>
            <a:r>
              <a:rPr lang="ko-KR" altLang="en-US" sz="2400" dirty="0">
                <a:ea typeface="나눔명조" pitchFamily="18" charset="-127"/>
              </a:rPr>
              <a:t>선택함 </a:t>
            </a:r>
            <a:endParaRPr lang="en-US" altLang="ko-KR" sz="2400" dirty="0">
              <a:ea typeface="나눔명조" pitchFamily="18" charset="-127"/>
            </a:endParaRPr>
          </a:p>
        </p:txBody>
      </p:sp>
      <p:sp>
        <p:nvSpPr>
          <p:cNvPr id="25607" name="Rectangle 6">
            <a:extLst>
              <a:ext uri="{FF2B5EF4-FFF2-40B4-BE49-F238E27FC236}">
                <a16:creationId xmlns:a16="http://schemas.microsoft.com/office/drawing/2014/main" id="{E6B6CE57-8852-4FF3-B87D-86D67BCD360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96975" y="0"/>
            <a:ext cx="8201025" cy="998538"/>
          </a:xfrm>
        </p:spPr>
        <p:txBody>
          <a:bodyPr/>
          <a:lstStyle/>
          <a:p>
            <a:pPr eaLnBrk="1" hangingPunct="1"/>
            <a: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비용</a:t>
            </a:r>
            <a:r>
              <a:rPr lang="en-US" altLang="ko-KR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-</a:t>
            </a:r>
            <a: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편익분석</a:t>
            </a:r>
            <a:r>
              <a:rPr lang="en-US" altLang="ko-KR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: </a:t>
            </a:r>
            <a: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할인율의 선택</a:t>
            </a:r>
          </a:p>
        </p:txBody>
      </p:sp>
    </p:spTree>
  </p:cSld>
  <p:clrMapOvr>
    <a:masterClrMapping/>
  </p:clrMapOvr>
  <p:transition spd="med">
    <p:wipe dir="r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7" name="바닥글 개체 틀 4">
            <a:extLst>
              <a:ext uri="{FF2B5EF4-FFF2-40B4-BE49-F238E27FC236}">
                <a16:creationId xmlns:a16="http://schemas.microsoft.com/office/drawing/2014/main" id="{EE7F1FE3-EEDD-40A0-A167-3C6458EF25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r>
              <a:rPr lang="ko-KR" altLang="en-US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13</a:t>
            </a:r>
          </a:p>
        </p:txBody>
      </p:sp>
      <p:sp>
        <p:nvSpPr>
          <p:cNvPr id="3078" name="슬라이드 번호 개체 틀 5">
            <a:extLst>
              <a:ext uri="{FF2B5EF4-FFF2-40B4-BE49-F238E27FC236}">
                <a16:creationId xmlns:a16="http://schemas.microsoft.com/office/drawing/2014/main" id="{DE14DACD-C8EC-4979-8D0B-56E580EDC1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fld id="{7867D9AD-B910-4451-A72A-59CB03B30515}" type="slidenum">
              <a:rPr lang="ko-KR" altLang="en-US" sz="1200" b="0">
                <a:solidFill>
                  <a:schemeClr val="tx1"/>
                </a:solidFill>
              </a:rPr>
              <a:pPr/>
              <a:t>9</a:t>
            </a:fld>
            <a:endParaRPr lang="en-US" altLang="ko-KR" sz="1200" b="0">
              <a:solidFill>
                <a:schemeClr val="tx1"/>
              </a:solidFill>
            </a:endParaRPr>
          </a:p>
        </p:txBody>
      </p:sp>
      <p:sp>
        <p:nvSpPr>
          <p:cNvPr id="3079" name="Rectangle 2">
            <a:extLst>
              <a:ext uri="{FF2B5EF4-FFF2-40B4-BE49-F238E27FC236}">
                <a16:creationId xmlns:a16="http://schemas.microsoft.com/office/drawing/2014/main" id="{0BCF5EFB-8B5F-4C29-AA4E-FA5CEE9EA7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3080" name="Rectangle 3">
            <a:extLst>
              <a:ext uri="{FF2B5EF4-FFF2-40B4-BE49-F238E27FC236}">
                <a16:creationId xmlns:a16="http://schemas.microsoft.com/office/drawing/2014/main" id="{93857C2D-4A9D-49B0-9AA2-4BC6AD401B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81" name="내용 개체 틀 7">
                <a:extLst>
                  <a:ext uri="{FF2B5EF4-FFF2-40B4-BE49-F238E27FC236}">
                    <a16:creationId xmlns:a16="http://schemas.microsoft.com/office/drawing/2014/main" id="{C6A36D13-B207-4B46-BCE3-7F30D12387E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88975" y="1463675"/>
                <a:ext cx="7850188" cy="4656138"/>
              </a:xfrm>
            </p:spPr>
            <p:txBody>
              <a:bodyPr lIns="0" tIns="0" rIns="0" bIns="0"/>
              <a:lstStyle/>
              <a:p>
                <a:pPr>
                  <a:lnSpc>
                    <a:spcPct val="150000"/>
                  </a:lnSpc>
                </a:pPr>
                <a:r>
                  <a:rPr lang="ko-KR" altLang="en-US" sz="2000" dirty="0">
                    <a:ea typeface="나눔명조" pitchFamily="18" charset="-127"/>
                  </a:rPr>
                  <a:t>그 극대화 조건은</a:t>
                </a:r>
                <a:endParaRPr lang="en-US" altLang="ko-KR" sz="2000" dirty="0">
                  <a:ea typeface="나눔명조" pitchFamily="18" charset="-127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ko-KR" altLang="en-US" sz="20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ko-KR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lang="ko-KR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𝑈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ko-KR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Δ</m:t>
                          </m:r>
                          <m:sSub>
                            <m:sSubPr>
                              <m:ctrlPr>
                                <a:rPr lang="ko-KR" alt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ko-KR" alt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ko-KR" alt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den>
                      </m:f>
                      <m:r>
                        <a:rPr lang="ko-KR" alt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−(1+</m:t>
                      </m:r>
                      <m:r>
                        <a:rPr lang="ko-KR" alt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ko-KR" alt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f>
                        <m:fPr>
                          <m:ctrlPr>
                            <a:rPr lang="ko-KR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ko-KR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lang="ko-KR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𝑈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ko-KR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Δ</m:t>
                          </m:r>
                          <m:sSub>
                            <m:sSubPr>
                              <m:ctrlPr>
                                <a:rPr lang="ko-KR" alt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ko-KR" alt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ko-KR" alt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r>
                        <a:rPr lang="ko-KR" alt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altLang="ko-KR" sz="2000" dirty="0">
                  <a:ea typeface="나눔명조" pitchFamily="18" charset="-127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ko-KR" altLang="en-US" sz="2000" dirty="0">
                    <a:ea typeface="나눔명조" pitchFamily="18" charset="-127"/>
                  </a:rPr>
                  <a:t>이를 변환하면</a:t>
                </a:r>
                <a:endParaRPr lang="en-US" altLang="ko-KR" sz="2000" dirty="0">
                  <a:ea typeface="나눔명조" pitchFamily="18" charset="-127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ko-KR" altLang="en-US" sz="20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ko-KR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lang="ko-KR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𝑈</m:t>
                          </m:r>
                          <m:r>
                            <a:rPr lang="ko-KR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/</m:t>
                          </m:r>
                          <m:r>
                            <m:rPr>
                              <m:sty m:val="p"/>
                            </m:rPr>
                            <a:rPr lang="ko-KR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Δ</m:t>
                          </m:r>
                          <m:sSub>
                            <m:sSubPr>
                              <m:ctrlPr>
                                <a:rPr lang="ko-KR" alt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ko-KR" alt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ko-KR" alt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num>
                        <m:den>
                          <m:r>
                            <m:rPr>
                              <m:sty m:val="p"/>
                            </m:rPr>
                            <a:rPr lang="ko-KR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lang="ko-KR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𝑈</m:t>
                          </m:r>
                          <m:r>
                            <a:rPr lang="ko-KR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/</m:t>
                          </m:r>
                          <m:r>
                            <m:rPr>
                              <m:sty m:val="p"/>
                            </m:rPr>
                            <a:rPr lang="ko-KR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Δ</m:t>
                          </m:r>
                          <m:sSub>
                            <m:sSubPr>
                              <m:ctrlPr>
                                <a:rPr lang="ko-KR" alt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ko-KR" alt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ko-KR" alt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r>
                        <a:rPr lang="ko-KR" alt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ko-KR" altLang="en-US" sz="20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ko-KR" alt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1+</m:t>
                      </m:r>
                      <m:r>
                        <a:rPr lang="ko-KR" alt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ko-KR" alt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altLang="ko-KR" sz="2000" dirty="0">
                  <a:ea typeface="나눔명조" pitchFamily="18" charset="-127"/>
                </a:endParaRPr>
              </a:p>
              <a:p>
                <a:r>
                  <a:rPr lang="ko-KR" altLang="en-US" sz="2000" dirty="0">
                    <a:ea typeface="나눔명조" pitchFamily="18" charset="-127"/>
                  </a:rPr>
                  <a:t>한편</a:t>
                </a:r>
                <a:r>
                  <a:rPr lang="en-US" altLang="ko-KR" sz="2000" dirty="0">
                    <a:ea typeface="나눔명조" pitchFamily="18" charset="-127"/>
                  </a:rPr>
                  <a:t>, </a:t>
                </a:r>
                <a:r>
                  <a:rPr lang="ko-KR" altLang="en-US" sz="2000" dirty="0">
                    <a:ea typeface="나눔명조" pitchFamily="18" charset="-127"/>
                  </a:rPr>
                  <a:t>소비자가 현재 소비와 미래 소비를 모두 변화 시킬 수 있다면 만족도 변화분은</a:t>
                </a:r>
                <a:endParaRPr lang="en-US" altLang="ko-KR" sz="2000" i="1" dirty="0">
                  <a:solidFill>
                    <a:srgbClr val="000000"/>
                  </a:solidFill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ko-KR" altLang="en-US" sz="20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ko-KR" altLang="en-US" sz="20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𝑈</m:t>
                      </m:r>
                      <m:r>
                        <a:rPr lang="ko-KR" altLang="en-US" sz="20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ko-KR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ko-KR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lang="ko-KR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𝑈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ko-KR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Δ</m:t>
                          </m:r>
                          <m:sSub>
                            <m:sSubPr>
                              <m:ctrlPr>
                                <a:rPr lang="ko-KR" alt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ko-KR" alt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ko-KR" alt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den>
                      </m:f>
                      <m:r>
                        <m:rPr>
                          <m:sty m:val="p"/>
                        </m:rPr>
                        <a:rPr lang="ko-KR" alt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Δ</m:t>
                      </m:r>
                      <m:sSub>
                        <m:sSubPr>
                          <m:ctrlPr>
                            <a:rPr lang="ko-KR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ko-KR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ko-KR" alt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ko-KR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ko-KR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lang="ko-KR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𝑈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ko-KR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Δ</m:t>
                          </m:r>
                          <m:sSub>
                            <m:sSubPr>
                              <m:ctrlPr>
                                <a:rPr lang="ko-KR" alt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ko-KR" alt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ko-KR" alt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r>
                        <m:rPr>
                          <m:sty m:val="p"/>
                        </m:rPr>
                        <a:rPr lang="ko-KR" alt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Δ</m:t>
                      </m:r>
                      <m:sSub>
                        <m:sSubPr>
                          <m:ctrlPr>
                            <a:rPr lang="ko-KR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ko-KR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altLang="ko-KR" sz="2000" dirty="0">
                  <a:ea typeface="나눔명조" pitchFamily="18" charset="-127"/>
                </a:endParaRPr>
              </a:p>
              <a:p>
                <a:r>
                  <a:rPr lang="ko-KR" altLang="en-US" sz="2000" dirty="0">
                    <a:ea typeface="나눔명조" pitchFamily="18" charset="-127"/>
                  </a:rPr>
                  <a:t>즉</a:t>
                </a:r>
                <a:r>
                  <a:rPr lang="en-US" altLang="ko-KR" sz="2000" dirty="0">
                    <a:ea typeface="나눔명조" pitchFamily="18" charset="-127"/>
                  </a:rPr>
                  <a:t>,</a:t>
                </a:r>
                <a:r>
                  <a:rPr lang="ko-KR" altLang="en-US" sz="2000" dirty="0">
                    <a:ea typeface="나눔명조" pitchFamily="18" charset="-127"/>
                  </a:rPr>
                  <a:t> 만족도 </a:t>
                </a:r>
                <a:r>
                  <a:rPr lang="ko-KR" altLang="en-US" sz="2000" dirty="0" err="1">
                    <a:ea typeface="나눔명조" pitchFamily="18" charset="-127"/>
                  </a:rPr>
                  <a:t>변화분</a:t>
                </a:r>
                <a:r>
                  <a:rPr lang="en-US" altLang="ko-KR" sz="2000" dirty="0">
                    <a:ea typeface="나눔명조" pitchFamily="18" charset="-127"/>
                  </a:rPr>
                  <a:t>=</a:t>
                </a:r>
                <a:r>
                  <a:rPr lang="ko-KR" altLang="en-US" sz="2000" dirty="0">
                    <a:ea typeface="나눔명조" pitchFamily="18" charset="-127"/>
                  </a:rPr>
                  <a:t> </a:t>
                </a:r>
                <a:r>
                  <a:rPr lang="en-US" altLang="ko-KR" sz="2000" dirty="0">
                    <a:ea typeface="나눔명조" pitchFamily="18" charset="-127"/>
                  </a:rPr>
                  <a:t>[</a:t>
                </a:r>
                <a:r>
                  <a:rPr lang="en-US" altLang="ko-KR" sz="20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C</a:t>
                </a:r>
                <a:r>
                  <a:rPr lang="en-US" altLang="ko-KR" sz="2000" baseline="-25000" dirty="0">
                    <a:latin typeface="Times New Roman" panose="02020603050405020304" pitchFamily="18" charset="0"/>
                    <a:ea typeface="나눔명조" pitchFamily="18" charset="-127"/>
                    <a:cs typeface="Times New Roman" panose="02020603050405020304" pitchFamily="18" charset="0"/>
                  </a:rPr>
                  <a:t>0</a:t>
                </a:r>
                <a:r>
                  <a:rPr lang="ko-KR" altLang="en-US" sz="2000" dirty="0">
                    <a:ea typeface="나눔명조" pitchFamily="18" charset="-127"/>
                  </a:rPr>
                  <a:t>소비 한 단위 증가가 늘리는 만족도 </a:t>
                </a:r>
                <a:r>
                  <a:rPr lang="en-US" altLang="ko-KR" sz="2000" dirty="0">
                    <a:ea typeface="나눔명조" pitchFamily="18" charset="-127"/>
                  </a:rPr>
                  <a:t>x </a:t>
                </a:r>
                <a:r>
                  <a:rPr lang="en-US" altLang="ko-KR" sz="2000" dirty="0">
                    <a:latin typeface="Times New Roman" panose="02020603050405020304" pitchFamily="18" charset="0"/>
                    <a:ea typeface="나눔명조" pitchFamily="18" charset="-127"/>
                  </a:rPr>
                  <a:t>C</a:t>
                </a:r>
                <a:r>
                  <a:rPr lang="en-US" altLang="ko-KR" sz="2000" baseline="-25000" dirty="0">
                    <a:latin typeface="Times New Roman" panose="02020603050405020304" pitchFamily="18" charset="0"/>
                    <a:ea typeface="나눔명조" pitchFamily="18" charset="-127"/>
                  </a:rPr>
                  <a:t>0</a:t>
                </a:r>
                <a:r>
                  <a:rPr lang="ko-KR" altLang="en-US" sz="2000" dirty="0">
                    <a:ea typeface="나눔명조" pitchFamily="18" charset="-127"/>
                  </a:rPr>
                  <a:t>변화량 </a:t>
                </a:r>
                <a:r>
                  <a:rPr lang="en-US" altLang="ko-KR" sz="2000" dirty="0">
                    <a:ea typeface="나눔명조" pitchFamily="18" charset="-127"/>
                  </a:rPr>
                  <a:t>+ </a:t>
                </a:r>
                <a:r>
                  <a:rPr lang="en-US" altLang="ko-KR" sz="2000" dirty="0">
                    <a:latin typeface="Times New Roman" panose="02020603050405020304" pitchFamily="18" charset="0"/>
                    <a:ea typeface="나눔명조" pitchFamily="18" charset="-127"/>
                  </a:rPr>
                  <a:t>C</a:t>
                </a:r>
                <a:r>
                  <a:rPr lang="en-US" altLang="ko-KR" sz="2000" baseline="-25000" dirty="0">
                    <a:latin typeface="Times New Roman" panose="02020603050405020304" pitchFamily="18" charset="0"/>
                    <a:ea typeface="나눔명조" pitchFamily="18" charset="-127"/>
                  </a:rPr>
                  <a:t>1</a:t>
                </a:r>
                <a:r>
                  <a:rPr lang="en-US" altLang="ko-KR" sz="2000" dirty="0">
                    <a:ea typeface="나눔명조" pitchFamily="18" charset="-127"/>
                  </a:rPr>
                  <a:t> </a:t>
                </a:r>
                <a:r>
                  <a:rPr lang="ko-KR" altLang="en-US" sz="2000" dirty="0">
                    <a:ea typeface="나눔명조" pitchFamily="18" charset="-127"/>
                  </a:rPr>
                  <a:t>소비</a:t>
                </a:r>
                <a:r>
                  <a:rPr lang="en-US" altLang="ko-KR" sz="2000" dirty="0">
                    <a:ea typeface="나눔명조" pitchFamily="18" charset="-127"/>
                  </a:rPr>
                  <a:t> </a:t>
                </a:r>
                <a:r>
                  <a:rPr lang="ko-KR" altLang="en-US" sz="2000" dirty="0">
                    <a:ea typeface="나눔명조" pitchFamily="18" charset="-127"/>
                  </a:rPr>
                  <a:t>한 단위 증가가 늘리는 만족도 </a:t>
                </a:r>
                <a:r>
                  <a:rPr lang="en-US" altLang="ko-KR" sz="2000" dirty="0">
                    <a:ea typeface="나눔명조" pitchFamily="18" charset="-127"/>
                  </a:rPr>
                  <a:t>x </a:t>
                </a:r>
                <a:r>
                  <a:rPr lang="en-US" altLang="ko-KR" sz="2000" dirty="0">
                    <a:latin typeface="Times New Roman" panose="02020603050405020304" pitchFamily="18" charset="0"/>
                    <a:ea typeface="나눔명조" pitchFamily="18" charset="-127"/>
                  </a:rPr>
                  <a:t>C</a:t>
                </a:r>
                <a:r>
                  <a:rPr lang="en-US" altLang="ko-KR" sz="2000" baseline="-25000" dirty="0">
                    <a:latin typeface="Times New Roman" panose="02020603050405020304" pitchFamily="18" charset="0"/>
                    <a:ea typeface="나눔명조" pitchFamily="18" charset="-127"/>
                  </a:rPr>
                  <a:t>1</a:t>
                </a:r>
                <a:r>
                  <a:rPr lang="ko-KR" altLang="en-US" sz="2000" dirty="0">
                    <a:ea typeface="나눔명조" pitchFamily="18" charset="-127"/>
                  </a:rPr>
                  <a:t>변화량</a:t>
                </a:r>
                <a:r>
                  <a:rPr lang="en-US" altLang="ko-KR" sz="2000" dirty="0">
                    <a:ea typeface="나눔명조" pitchFamily="18" charset="-127"/>
                  </a:rPr>
                  <a:t>]</a:t>
                </a:r>
              </a:p>
              <a:p>
                <a:pPr>
                  <a:lnSpc>
                    <a:spcPct val="150000"/>
                  </a:lnSpc>
                  <a:buFont typeface="Wingdings" panose="05000000000000000000" pitchFamily="2" charset="2"/>
                  <a:buNone/>
                </a:pPr>
                <a:r>
                  <a:rPr lang="ko-KR" altLang="en-US" sz="2000" dirty="0">
                    <a:ea typeface="나눔명조" pitchFamily="18" charset="-127"/>
                  </a:rPr>
                  <a:t>  </a:t>
                </a:r>
                <a:endParaRPr lang="en-US" altLang="ko-KR" sz="2000" dirty="0">
                  <a:ea typeface="나눔명조" pitchFamily="18" charset="-127"/>
                </a:endParaRPr>
              </a:p>
            </p:txBody>
          </p:sp>
        </mc:Choice>
        <mc:Fallback xmlns="">
          <p:sp>
            <p:nvSpPr>
              <p:cNvPr id="3081" name="내용 개체 틀 7">
                <a:extLst>
                  <a:ext uri="{FF2B5EF4-FFF2-40B4-BE49-F238E27FC236}">
                    <a16:creationId xmlns:a16="http://schemas.microsoft.com/office/drawing/2014/main" id="{C6A36D13-B207-4B46-BCE3-7F30D12387E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88975" y="1463675"/>
                <a:ext cx="7850188" cy="4656138"/>
              </a:xfrm>
              <a:blipFill>
                <a:blip r:embed="rId3"/>
                <a:stretch>
                  <a:fillRect l="-1863" r="-854" b="-693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82" name="Rectangle 6">
            <a:extLst>
              <a:ext uri="{FF2B5EF4-FFF2-40B4-BE49-F238E27FC236}">
                <a16:creationId xmlns:a16="http://schemas.microsoft.com/office/drawing/2014/main" id="{E43E9EE8-DA03-4011-9729-215D0F7B8C7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96975" y="0"/>
            <a:ext cx="8201025" cy="998538"/>
          </a:xfrm>
        </p:spPr>
        <p:txBody>
          <a:bodyPr/>
          <a:lstStyle/>
          <a:p>
            <a:pPr eaLnBrk="1" hangingPunct="1"/>
            <a: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비용</a:t>
            </a:r>
            <a:r>
              <a:rPr lang="en-US" altLang="ko-KR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-</a:t>
            </a:r>
            <a: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편익분석</a:t>
            </a:r>
            <a:r>
              <a:rPr lang="en-US" altLang="ko-KR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: </a:t>
            </a:r>
            <a: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할인율의 선택</a:t>
            </a:r>
          </a:p>
        </p:txBody>
      </p:sp>
    </p:spTree>
  </p:cSld>
  <p:clrMapOvr>
    <a:masterClrMapping/>
  </p:clrMapOvr>
  <p:transition spd="med">
    <p:wipe dir="r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1" name="바닥글 개체 틀 4">
            <a:extLst>
              <a:ext uri="{FF2B5EF4-FFF2-40B4-BE49-F238E27FC236}">
                <a16:creationId xmlns:a16="http://schemas.microsoft.com/office/drawing/2014/main" id="{327CC75A-B685-4585-ABFB-F9BFB84044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r>
              <a:rPr lang="ko-KR" altLang="en-US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13</a:t>
            </a:r>
          </a:p>
        </p:txBody>
      </p:sp>
      <p:sp>
        <p:nvSpPr>
          <p:cNvPr id="4102" name="슬라이드 번호 개체 틀 5">
            <a:extLst>
              <a:ext uri="{FF2B5EF4-FFF2-40B4-BE49-F238E27FC236}">
                <a16:creationId xmlns:a16="http://schemas.microsoft.com/office/drawing/2014/main" id="{774CA8EA-25C4-4944-85B8-25067C3310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fld id="{6A19AA94-A9FB-4684-969C-27A5150DE353}" type="slidenum">
              <a:rPr lang="ko-KR" altLang="en-US" sz="1200" b="0">
                <a:solidFill>
                  <a:schemeClr val="tx1"/>
                </a:solidFill>
              </a:rPr>
              <a:pPr/>
              <a:t>10</a:t>
            </a:fld>
            <a:endParaRPr lang="en-US" altLang="ko-KR" sz="1200" b="0">
              <a:solidFill>
                <a:schemeClr val="tx1"/>
              </a:solidFill>
            </a:endParaRPr>
          </a:p>
        </p:txBody>
      </p:sp>
      <p:sp>
        <p:nvSpPr>
          <p:cNvPr id="4103" name="Rectangle 2">
            <a:extLst>
              <a:ext uri="{FF2B5EF4-FFF2-40B4-BE49-F238E27FC236}">
                <a16:creationId xmlns:a16="http://schemas.microsoft.com/office/drawing/2014/main" id="{543A52CC-2A92-48A6-8751-FC7076792A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4104" name="Rectangle 3">
            <a:extLst>
              <a:ext uri="{FF2B5EF4-FFF2-40B4-BE49-F238E27FC236}">
                <a16:creationId xmlns:a16="http://schemas.microsoft.com/office/drawing/2014/main" id="{622F64DB-AF3D-4FB7-A75C-BF3DB2D57B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105" name="내용 개체 틀 7">
                <a:extLst>
                  <a:ext uri="{FF2B5EF4-FFF2-40B4-BE49-F238E27FC236}">
                    <a16:creationId xmlns:a16="http://schemas.microsoft.com/office/drawing/2014/main" id="{6DC3857E-DE81-44D3-81C0-1CDDB420A41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88975" y="1322388"/>
                <a:ext cx="7850188" cy="4797425"/>
              </a:xfrm>
            </p:spPr>
            <p:txBody>
              <a:bodyPr lIns="0" tIns="0" rIns="0" bIns="0"/>
              <a:lstStyle/>
              <a:p>
                <a:r>
                  <a:rPr lang="ko-KR" altLang="en-US" sz="2000" dirty="0">
                    <a:ea typeface="나눔명조" pitchFamily="18" charset="-127"/>
                  </a:rPr>
                  <a:t>소비자들의 두 기의 소비를 바꿀 수 있지만 항상 일정한 수준의 만족도를 유지하고자 한다면                 이어야 하고</a:t>
                </a:r>
                <a:r>
                  <a:rPr lang="en-US" altLang="ko-KR" sz="2000" dirty="0">
                    <a:ea typeface="나눔명조" pitchFamily="18" charset="-127"/>
                  </a:rPr>
                  <a:t>, </a:t>
                </a:r>
                <a:r>
                  <a:rPr lang="ko-KR" altLang="en-US" sz="2000" dirty="0">
                    <a:ea typeface="나눔명조" pitchFamily="18" charset="-127"/>
                  </a:rPr>
                  <a:t>이 경우</a:t>
                </a:r>
                <a:endParaRPr lang="en-US" altLang="ko-KR" sz="2800" dirty="0">
                  <a:ea typeface="나눔명조" pitchFamily="18" charset="-127"/>
                </a:endParaRPr>
              </a:p>
              <a:p>
                <a:pPr>
                  <a:buFont typeface="Wingdings" panose="05000000000000000000" pitchFamily="2" charset="2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ko-KR" altLang="en-US" sz="20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ko-KR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lang="ko-KR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𝑈</m:t>
                          </m:r>
                          <m:r>
                            <a:rPr lang="ko-KR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/</m:t>
                          </m:r>
                          <m:r>
                            <m:rPr>
                              <m:sty m:val="p"/>
                            </m:rPr>
                            <a:rPr lang="ko-KR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Δ</m:t>
                          </m:r>
                          <m:sSub>
                            <m:sSubPr>
                              <m:ctrlPr>
                                <a:rPr lang="ko-KR" alt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ko-KR" alt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ko-KR" alt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num>
                        <m:den>
                          <m:r>
                            <m:rPr>
                              <m:sty m:val="p"/>
                            </m:rPr>
                            <a:rPr lang="ko-KR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lang="ko-KR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𝑈</m:t>
                          </m:r>
                          <m:r>
                            <a:rPr lang="ko-KR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/</m:t>
                          </m:r>
                          <m:r>
                            <m:rPr>
                              <m:sty m:val="p"/>
                            </m:rPr>
                            <a:rPr lang="ko-KR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Δ</m:t>
                          </m:r>
                          <m:sSub>
                            <m:sSubPr>
                              <m:ctrlPr>
                                <a:rPr lang="ko-KR" alt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ko-KR" alt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ko-KR" alt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r>
                        <a:rPr lang="ko-KR" alt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ko-KR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ko-KR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Δ</m:t>
                          </m:r>
                          <m:sSub>
                            <m:sSubPr>
                              <m:ctrlPr>
                                <a:rPr lang="ko-KR" alt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ko-KR" alt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ko-KR" alt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r>
                            <m:rPr>
                              <m:sty m:val="p"/>
                            </m:rPr>
                            <a:rPr lang="ko-KR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Δ</m:t>
                          </m:r>
                          <m:sSub>
                            <m:sSubPr>
                              <m:ctrlPr>
                                <a:rPr lang="ko-KR" alt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ko-KR" alt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ko-KR" alt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altLang="ko-KR" sz="2000" dirty="0">
                  <a:ea typeface="나눔명조" pitchFamily="18" charset="-127"/>
                </a:endParaRPr>
              </a:p>
              <a:p>
                <a:pPr>
                  <a:buFont typeface="Wingdings" panose="05000000000000000000" pitchFamily="2" charset="2"/>
                  <a:buNone/>
                </a:pPr>
                <a:r>
                  <a:rPr lang="en-US" altLang="ko-KR" sz="2000" dirty="0">
                    <a:ea typeface="나눔명조" pitchFamily="18" charset="-127"/>
                  </a:rPr>
                  <a:t>    </a:t>
                </a:r>
                <a:r>
                  <a:rPr lang="ko-KR" altLang="en-US" sz="2000" dirty="0">
                    <a:ea typeface="나눔명조" pitchFamily="18" charset="-127"/>
                  </a:rPr>
                  <a:t>조건이 충족되어야 하며</a:t>
                </a:r>
                <a:r>
                  <a:rPr lang="en-US" altLang="ko-KR" sz="2000" dirty="0">
                    <a:ea typeface="나눔명조" pitchFamily="18" charset="-127"/>
                  </a:rPr>
                  <a:t>, </a:t>
                </a:r>
                <a:r>
                  <a:rPr lang="ko-KR" altLang="en-US" sz="2000" dirty="0">
                    <a:ea typeface="나눔명조" pitchFamily="18" charset="-127"/>
                  </a:rPr>
                  <a:t>따라서 소비자의 만족도 극대화조건은 다음을 의미함</a:t>
                </a:r>
                <a:endParaRPr lang="en-US" altLang="ko-KR" sz="2000" b="0" i="0" dirty="0">
                  <a:solidFill>
                    <a:srgbClr val="000000"/>
                  </a:solidFill>
                  <a:latin typeface="Cambria Math" panose="02040503050406030204" pitchFamily="18" charset="0"/>
                </a:endParaRPr>
              </a:p>
              <a:p>
                <a:pPr>
                  <a:buFont typeface="Wingdings" panose="05000000000000000000" pitchFamily="2" charset="2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ko-KR" altLang="en-US" sz="20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ko-KR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lang="ko-KR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𝑈</m:t>
                          </m:r>
                          <m:r>
                            <a:rPr lang="ko-KR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/</m:t>
                          </m:r>
                          <m:r>
                            <m:rPr>
                              <m:sty m:val="p"/>
                            </m:rPr>
                            <a:rPr lang="ko-KR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Δ</m:t>
                          </m:r>
                          <m:sSub>
                            <m:sSubPr>
                              <m:ctrlPr>
                                <a:rPr lang="ko-KR" alt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ko-KR" alt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ko-KR" alt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num>
                        <m:den>
                          <m:r>
                            <m:rPr>
                              <m:sty m:val="p"/>
                            </m:rPr>
                            <a:rPr lang="ko-KR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lang="ko-KR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𝑈</m:t>
                          </m:r>
                          <m:r>
                            <a:rPr lang="ko-KR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/</m:t>
                          </m:r>
                          <m:r>
                            <m:rPr>
                              <m:sty m:val="p"/>
                            </m:rPr>
                            <a:rPr lang="ko-KR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Δ</m:t>
                          </m:r>
                          <m:sSub>
                            <m:sSubPr>
                              <m:ctrlPr>
                                <a:rPr lang="ko-KR" alt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ko-KR" alt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ko-KR" alt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r>
                        <a:rPr lang="ko-KR" alt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ko-KR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ko-KR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Δ</m:t>
                          </m:r>
                          <m:sSub>
                            <m:sSubPr>
                              <m:ctrlPr>
                                <a:rPr lang="ko-KR" alt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ko-KR" alt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ko-KR" alt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r>
                            <m:rPr>
                              <m:sty m:val="p"/>
                            </m:rPr>
                            <a:rPr lang="ko-KR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Δ</m:t>
                          </m:r>
                          <m:sSub>
                            <m:sSubPr>
                              <m:ctrlPr>
                                <a:rPr lang="ko-KR" alt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ko-KR" alt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ko-KR" alt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den>
                      </m:f>
                      <m:r>
                        <a:rPr lang="ko-KR" alt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=(1+</m:t>
                      </m:r>
                      <m:r>
                        <a:rPr lang="ko-KR" alt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ko-KR" alt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altLang="ko-KR" sz="2000" dirty="0">
                  <a:ea typeface="나눔명조" pitchFamily="18" charset="-127"/>
                </a:endParaRPr>
              </a:p>
              <a:p>
                <a:r>
                  <a:rPr lang="ko-KR" altLang="en-US" sz="2000" dirty="0">
                    <a:ea typeface="나눔명조" pitchFamily="18" charset="-127"/>
                  </a:rPr>
                  <a:t>위 식의 좌측 두 항은 동일한 만족도를 유지하기 위해서 현재의 소비량을 하나 더 늘리는 대신 몇 개의 미래소비를 줄여도 되는지를 나타내며</a:t>
                </a:r>
                <a:r>
                  <a:rPr lang="en-US" altLang="ko-KR" sz="2000" dirty="0">
                    <a:ea typeface="나눔명조" pitchFamily="18" charset="-127"/>
                  </a:rPr>
                  <a:t>, </a:t>
                </a:r>
                <a:r>
                  <a:rPr lang="ko-KR" altLang="en-US" sz="2000" dirty="0">
                    <a:ea typeface="나눔명조" pitchFamily="18" charset="-127"/>
                  </a:rPr>
                  <a:t>소비자는 보통 시간에 대한 선호를 가지기 때문에 그 수치는 </a:t>
                </a:r>
                <a:r>
                  <a:rPr lang="en-US" altLang="ko-KR" sz="2000" dirty="0">
                    <a:ea typeface="나눔명조" pitchFamily="18" charset="-127"/>
                  </a:rPr>
                  <a:t>1</a:t>
                </a:r>
                <a:r>
                  <a:rPr lang="ko-KR" altLang="en-US" sz="2000" dirty="0">
                    <a:ea typeface="나눔명조" pitchFamily="18" charset="-127"/>
                  </a:rPr>
                  <a:t>보다 큼</a:t>
                </a:r>
                <a:endParaRPr lang="en-US" altLang="ko-KR" sz="2000" dirty="0">
                  <a:ea typeface="나눔명조" pitchFamily="18" charset="-127"/>
                </a:endParaRPr>
              </a:p>
              <a:p>
                <a:pPr lvl="1"/>
                <a:r>
                  <a:rPr lang="ko-KR" altLang="en-US" sz="1600" dirty="0">
                    <a:ea typeface="나눔명조" pitchFamily="18" charset="-127"/>
                  </a:rPr>
                  <a:t>두 시점 간 소비액의 </a:t>
                </a:r>
                <a:r>
                  <a:rPr lang="ko-KR" altLang="en-US" sz="1600" dirty="0" err="1">
                    <a:ea typeface="나눔명조" pitchFamily="18" charset="-127"/>
                  </a:rPr>
                  <a:t>한계대체율</a:t>
                </a:r>
                <a:endParaRPr lang="en-US" altLang="ko-KR" sz="1600" dirty="0">
                  <a:ea typeface="나눔명조" pitchFamily="18" charset="-127"/>
                </a:endParaRPr>
              </a:p>
              <a:p>
                <a:pPr>
                  <a:lnSpc>
                    <a:spcPct val="150000"/>
                  </a:lnSpc>
                  <a:buFont typeface="Wingdings" panose="05000000000000000000" pitchFamily="2" charset="2"/>
                  <a:buNone/>
                </a:pPr>
                <a:endParaRPr lang="en-US" altLang="ko-KR" sz="2000" dirty="0">
                  <a:ea typeface="나눔명조" pitchFamily="18" charset="-127"/>
                </a:endParaRPr>
              </a:p>
            </p:txBody>
          </p:sp>
        </mc:Choice>
        <mc:Fallback xmlns="">
          <p:sp>
            <p:nvSpPr>
              <p:cNvPr id="4105" name="내용 개체 틀 7">
                <a:extLst>
                  <a:ext uri="{FF2B5EF4-FFF2-40B4-BE49-F238E27FC236}">
                    <a16:creationId xmlns:a16="http://schemas.microsoft.com/office/drawing/2014/main" id="{6DC3857E-DE81-44D3-81C0-1CDDB420A41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88975" y="1322388"/>
                <a:ext cx="7850188" cy="4797425"/>
              </a:xfrm>
              <a:blipFill>
                <a:blip r:embed="rId4"/>
                <a:stretch>
                  <a:fillRect l="-1863" t="-1906" r="-178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3" name="Object 13">
            <a:hlinkClick r:id="" action="ppaction://ole?verb=0"/>
            <a:extLst>
              <a:ext uri="{FF2B5EF4-FFF2-40B4-BE49-F238E27FC236}">
                <a16:creationId xmlns:a16="http://schemas.microsoft.com/office/drawing/2014/main" id="{44417EF1-EB5A-4C64-A622-C01B829346F8}"/>
              </a:ext>
            </a:extLst>
          </p:cNvPr>
          <p:cNvGraphicFramePr>
            <a:graphicFrameLocks/>
          </p:cNvGraphicFramePr>
          <p:nvPr/>
        </p:nvGraphicFramePr>
        <p:xfrm>
          <a:off x="4384675" y="1628775"/>
          <a:ext cx="919163" cy="322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36" name="수식" r:id="rId5" imgW="495000" imgH="177480" progId="Equation.3">
                  <p:embed/>
                </p:oleObj>
              </mc:Choice>
              <mc:Fallback>
                <p:oleObj name="수식" r:id="rId5" imgW="495000" imgH="177480" progId="Equation.3">
                  <p:embed/>
                  <p:pic>
                    <p:nvPicPr>
                      <p:cNvPr id="0" name="Object 13"/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84675" y="1628775"/>
                        <a:ext cx="919163" cy="3222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CCCC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06" name="Rectangle 6">
            <a:extLst>
              <a:ext uri="{FF2B5EF4-FFF2-40B4-BE49-F238E27FC236}">
                <a16:creationId xmlns:a16="http://schemas.microsoft.com/office/drawing/2014/main" id="{206123B4-05DD-4BBD-8BC1-DC516B11AB5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96975" y="0"/>
            <a:ext cx="8201025" cy="998538"/>
          </a:xfrm>
        </p:spPr>
        <p:txBody>
          <a:bodyPr/>
          <a:lstStyle/>
          <a:p>
            <a:pPr eaLnBrk="1" hangingPunct="1"/>
            <a: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비용</a:t>
            </a:r>
            <a:r>
              <a:rPr lang="en-US" altLang="ko-KR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-</a:t>
            </a:r>
            <a: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편익분석</a:t>
            </a:r>
            <a:r>
              <a:rPr lang="en-US" altLang="ko-KR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: </a:t>
            </a:r>
            <a: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할인율의 선택</a:t>
            </a:r>
          </a:p>
        </p:txBody>
      </p:sp>
    </p:spTree>
  </p:cSld>
  <p:clrMapOvr>
    <a:masterClrMapping/>
  </p:clrMapOvr>
  <p:transition spd="med">
    <p:wipe dir="r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바닥글 개체 틀 4">
            <a:extLst>
              <a:ext uri="{FF2B5EF4-FFF2-40B4-BE49-F238E27FC236}">
                <a16:creationId xmlns:a16="http://schemas.microsoft.com/office/drawing/2014/main" id="{88623512-C60C-402A-A2D8-34FA43E5EE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r>
              <a:rPr lang="ko-KR" altLang="en-US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13</a:t>
            </a:r>
          </a:p>
        </p:txBody>
      </p:sp>
      <p:sp>
        <p:nvSpPr>
          <p:cNvPr id="26627" name="슬라이드 번호 개체 틀 5">
            <a:extLst>
              <a:ext uri="{FF2B5EF4-FFF2-40B4-BE49-F238E27FC236}">
                <a16:creationId xmlns:a16="http://schemas.microsoft.com/office/drawing/2014/main" id="{51DFEDA1-D696-41AC-ABF2-B102FD6121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fld id="{D912D018-F15F-4395-B235-3B445C571237}" type="slidenum">
              <a:rPr lang="ko-KR" altLang="en-US" sz="1200" b="0">
                <a:solidFill>
                  <a:schemeClr val="tx1"/>
                </a:solidFill>
              </a:rPr>
              <a:pPr/>
              <a:t>11</a:t>
            </a:fld>
            <a:endParaRPr lang="en-US" altLang="ko-KR" sz="1200" b="0">
              <a:solidFill>
                <a:schemeClr val="tx1"/>
              </a:solidFill>
            </a:endParaRPr>
          </a:p>
        </p:txBody>
      </p:sp>
      <p:sp>
        <p:nvSpPr>
          <p:cNvPr id="26628" name="Rectangle 2">
            <a:extLst>
              <a:ext uri="{FF2B5EF4-FFF2-40B4-BE49-F238E27FC236}">
                <a16:creationId xmlns:a16="http://schemas.microsoft.com/office/drawing/2014/main" id="{25FF00B9-96DB-48BE-87FF-71ACDAB58C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26629" name="Rectangle 3">
            <a:extLst>
              <a:ext uri="{FF2B5EF4-FFF2-40B4-BE49-F238E27FC236}">
                <a16:creationId xmlns:a16="http://schemas.microsoft.com/office/drawing/2014/main" id="{8271C760-78D0-4DC2-A484-6635153E00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26630" name="내용 개체 틀 7">
            <a:extLst>
              <a:ext uri="{FF2B5EF4-FFF2-40B4-BE49-F238E27FC236}">
                <a16:creationId xmlns:a16="http://schemas.microsoft.com/office/drawing/2014/main" id="{2A76F5AB-A266-4E12-A4FD-E5EAB47398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8975" y="1365250"/>
            <a:ext cx="7850188" cy="4754563"/>
          </a:xfrm>
        </p:spPr>
        <p:txBody>
          <a:bodyPr lIns="0" tIns="0" rIns="0" bIns="0"/>
          <a:lstStyle/>
          <a:p>
            <a:r>
              <a:rPr lang="ko-KR" altLang="en-US" sz="2400">
                <a:ea typeface="나눔명조" pitchFamily="18" charset="-127"/>
              </a:rPr>
              <a:t>소비자들의 시점간 소비량의 한계대체율이 </a:t>
            </a:r>
            <a:r>
              <a:rPr lang="en-US" altLang="ko-KR" sz="2400">
                <a:ea typeface="나눔명조" pitchFamily="18" charset="-127"/>
              </a:rPr>
              <a:t>1</a:t>
            </a:r>
            <a:r>
              <a:rPr lang="ko-KR" altLang="en-US" sz="2400">
                <a:ea typeface="나눔명조" pitchFamily="18" charset="-127"/>
              </a:rPr>
              <a:t>보다 더 큰 만큼을 은행이 이자율 </a:t>
            </a:r>
            <a:r>
              <a:rPr lang="en-US" altLang="ko-KR" sz="2400">
                <a:latin typeface="Times New Roman" panose="02020603050405020304" pitchFamily="18" charset="0"/>
                <a:ea typeface="나눔명조" pitchFamily="18" charset="-127"/>
                <a:cs typeface="Times New Roman" panose="02020603050405020304" pitchFamily="18" charset="0"/>
              </a:rPr>
              <a:t>r</a:t>
            </a:r>
            <a:r>
              <a:rPr lang="ko-KR" altLang="en-US" sz="2400">
                <a:ea typeface="나눔명조" pitchFamily="18" charset="-127"/>
              </a:rPr>
              <a:t>로 지급해 주기 때문에</a:t>
            </a:r>
            <a:r>
              <a:rPr lang="en-US" altLang="ko-KR" sz="2400">
                <a:ea typeface="나눔명조" pitchFamily="18" charset="-127"/>
              </a:rPr>
              <a:t>(=</a:t>
            </a:r>
            <a:r>
              <a:rPr lang="ko-KR" altLang="en-US" sz="2400">
                <a:ea typeface="나눔명조" pitchFamily="18" charset="-127"/>
              </a:rPr>
              <a:t>우변</a:t>
            </a:r>
            <a:r>
              <a:rPr lang="en-US" altLang="ko-KR" sz="2400">
                <a:ea typeface="나눔명조" pitchFamily="18" charset="-127"/>
              </a:rPr>
              <a:t>)</a:t>
            </a:r>
            <a:r>
              <a:rPr lang="ko-KR" altLang="en-US" sz="2400">
                <a:ea typeface="나눔명조" pitchFamily="18" charset="-127"/>
              </a:rPr>
              <a:t> 소비자들은 현재에 모두 소비하지 않고 저축을 하고 적정한 미래의 소비량을 결정함</a:t>
            </a:r>
            <a:endParaRPr lang="en-US" altLang="ko-KR" sz="2400">
              <a:ea typeface="나눔명조" pitchFamily="18" charset="-127"/>
            </a:endParaRPr>
          </a:p>
          <a:p>
            <a:r>
              <a:rPr lang="ko-KR" altLang="en-US" sz="2400">
                <a:ea typeface="나눔명조" pitchFamily="18" charset="-127"/>
              </a:rPr>
              <a:t>따라서 자본시장에서 형성되는 예금이자율은 소비자들의 시간에 대한 선호를 반영하고 있음</a:t>
            </a:r>
            <a:endParaRPr lang="en-US" altLang="ko-KR" sz="2400">
              <a:ea typeface="나눔명조" pitchFamily="18" charset="-127"/>
            </a:endParaRPr>
          </a:p>
          <a:p>
            <a:r>
              <a:rPr lang="ko-KR" altLang="en-US" sz="2400">
                <a:ea typeface="나눔명조" pitchFamily="18" charset="-127"/>
              </a:rPr>
              <a:t>반면 기업이 은행에 지불하는 대출 이자율을 할인율로 선택하는 것은 </a:t>
            </a:r>
            <a:r>
              <a:rPr lang="ko-KR" altLang="en-US" sz="2400" b="1">
                <a:solidFill>
                  <a:srgbClr val="0000FF"/>
                </a:solidFill>
                <a:latin typeface="나눔명조" pitchFamily="18" charset="-127"/>
                <a:ea typeface="나눔명조" pitchFamily="18" charset="-127"/>
              </a:rPr>
              <a:t>투자의 한계생산성</a:t>
            </a:r>
            <a:r>
              <a:rPr lang="en-US" altLang="ko-KR" sz="2400" b="1">
                <a:solidFill>
                  <a:srgbClr val="0000FF"/>
                </a:solidFill>
                <a:latin typeface="나눔명조" pitchFamily="18" charset="-127"/>
                <a:ea typeface="나눔명조" pitchFamily="18" charset="-127"/>
              </a:rPr>
              <a:t>(marginal productivity of investment)</a:t>
            </a:r>
            <a:r>
              <a:rPr lang="ko-KR" altLang="en-US" sz="2400">
                <a:ea typeface="나눔명조" pitchFamily="18" charset="-127"/>
              </a:rPr>
              <a:t>을 반영하여 할인을 하는 경우임</a:t>
            </a:r>
            <a:endParaRPr lang="en-US" altLang="ko-KR" sz="2400">
              <a:ea typeface="나눔명조" pitchFamily="18" charset="-127"/>
            </a:endParaRPr>
          </a:p>
        </p:txBody>
      </p:sp>
      <p:sp>
        <p:nvSpPr>
          <p:cNvPr id="26631" name="Rectangle 6">
            <a:extLst>
              <a:ext uri="{FF2B5EF4-FFF2-40B4-BE49-F238E27FC236}">
                <a16:creationId xmlns:a16="http://schemas.microsoft.com/office/drawing/2014/main" id="{A74243C5-B29A-4CD2-B85C-EC978E3334E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96975" y="0"/>
            <a:ext cx="8201025" cy="998538"/>
          </a:xfrm>
        </p:spPr>
        <p:txBody>
          <a:bodyPr/>
          <a:lstStyle/>
          <a:p>
            <a:pPr eaLnBrk="1" hangingPunct="1"/>
            <a: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비용</a:t>
            </a:r>
            <a:r>
              <a:rPr lang="en-US" altLang="ko-KR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-</a:t>
            </a:r>
            <a: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편익분석</a:t>
            </a:r>
            <a:r>
              <a:rPr lang="en-US" altLang="ko-KR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: </a:t>
            </a:r>
            <a: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할인율의 선택</a:t>
            </a:r>
          </a:p>
        </p:txBody>
      </p:sp>
    </p:spTree>
  </p:cSld>
  <p:clrMapOvr>
    <a:masterClrMapping/>
  </p:clrMapOvr>
  <p:transition spd="med">
    <p:wipe dir="r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바닥글 개체 틀 4">
            <a:extLst>
              <a:ext uri="{FF2B5EF4-FFF2-40B4-BE49-F238E27FC236}">
                <a16:creationId xmlns:a16="http://schemas.microsoft.com/office/drawing/2014/main" id="{FA7BF446-E93E-41BE-9036-97FBE90C67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r>
              <a:rPr lang="ko-KR" altLang="en-US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13</a:t>
            </a:r>
          </a:p>
        </p:txBody>
      </p:sp>
      <p:sp>
        <p:nvSpPr>
          <p:cNvPr id="27651" name="슬라이드 번호 개체 틀 5">
            <a:extLst>
              <a:ext uri="{FF2B5EF4-FFF2-40B4-BE49-F238E27FC236}">
                <a16:creationId xmlns:a16="http://schemas.microsoft.com/office/drawing/2014/main" id="{52169F7A-FD90-46B6-93F3-84D622ED05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fld id="{C6457532-9CCC-4145-A011-E058B530947B}" type="slidenum">
              <a:rPr lang="ko-KR" altLang="en-US" sz="1200" b="0">
                <a:solidFill>
                  <a:schemeClr val="tx1"/>
                </a:solidFill>
              </a:rPr>
              <a:pPr/>
              <a:t>12</a:t>
            </a:fld>
            <a:endParaRPr lang="en-US" altLang="ko-KR" sz="1200" b="0">
              <a:solidFill>
                <a:schemeClr val="tx1"/>
              </a:solidFill>
            </a:endParaRPr>
          </a:p>
        </p:txBody>
      </p:sp>
      <p:sp>
        <p:nvSpPr>
          <p:cNvPr id="27652" name="Rectangle 2">
            <a:extLst>
              <a:ext uri="{FF2B5EF4-FFF2-40B4-BE49-F238E27FC236}">
                <a16:creationId xmlns:a16="http://schemas.microsoft.com/office/drawing/2014/main" id="{85E40351-A136-4775-AD0E-527863BB57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27653" name="Rectangle 3">
            <a:extLst>
              <a:ext uri="{FF2B5EF4-FFF2-40B4-BE49-F238E27FC236}">
                <a16:creationId xmlns:a16="http://schemas.microsoft.com/office/drawing/2014/main" id="{DAF35BA5-63C0-424F-9819-7B5AEFBC81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27654" name="내용 개체 틀 7">
            <a:extLst>
              <a:ext uri="{FF2B5EF4-FFF2-40B4-BE49-F238E27FC236}">
                <a16:creationId xmlns:a16="http://schemas.microsoft.com/office/drawing/2014/main" id="{A51BC12D-86E1-49AA-A336-AEDEE5FD72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5975" y="1463675"/>
            <a:ext cx="7723188" cy="4656138"/>
          </a:xfrm>
        </p:spPr>
        <p:txBody>
          <a:bodyPr lIns="0" tIns="0" rIns="0" bIns="0"/>
          <a:lstStyle/>
          <a:p>
            <a:r>
              <a:rPr lang="ko-KR" altLang="en-US" sz="2000" dirty="0">
                <a:ea typeface="나눔명조" pitchFamily="18" charset="-127"/>
              </a:rPr>
              <a:t>어떤 자금이 정부의 공공사업에 사용되지 않고 민간부문에 투자되었다면 투자수익을 얻을 수가 있으므로 공공사업자금의 기회비용인 민간부문의 투자수익률은 공공사업의 할인율로 사용될 수 있음</a:t>
            </a:r>
            <a:endParaRPr lang="en-US" altLang="ko-KR" sz="2000" dirty="0">
              <a:ea typeface="나눔명조" pitchFamily="18" charset="-127"/>
            </a:endParaRPr>
          </a:p>
          <a:p>
            <a:r>
              <a:rPr lang="ko-KR" altLang="en-US" sz="2000" dirty="0">
                <a:ea typeface="나눔명조" pitchFamily="18" charset="-127"/>
              </a:rPr>
              <a:t>통상적으로 기업이 대출하는 자금에 대한 이자율은 민간부문 투자의 한계생산성을 반영하여 결정되기 때문에 대출 이자율을 할인율로 선택하는 것은 결국 투자의 한계생산성을 반영하여 할인율로 선택하는 것을 의미함</a:t>
            </a:r>
            <a:endParaRPr lang="en-US" altLang="ko-KR" sz="2000" dirty="0">
              <a:ea typeface="나눔명조" pitchFamily="18" charset="-127"/>
            </a:endParaRPr>
          </a:p>
          <a:p>
            <a:r>
              <a:rPr lang="ko-KR" altLang="en-US" sz="2000" dirty="0">
                <a:ea typeface="나눔명조" pitchFamily="18" charset="-127"/>
              </a:rPr>
              <a:t>할인율은 국가별 사업종류별로 다양하게 선택되는데</a:t>
            </a:r>
            <a:r>
              <a:rPr lang="en-US" altLang="ko-KR" sz="2000" dirty="0">
                <a:ea typeface="나눔명조" pitchFamily="18" charset="-127"/>
              </a:rPr>
              <a:t>, </a:t>
            </a:r>
            <a:r>
              <a:rPr lang="ko-KR" altLang="en-US" sz="2000" dirty="0">
                <a:ea typeface="나눔명조" pitchFamily="18" charset="-127"/>
              </a:rPr>
              <a:t>보통 선진국보다는 개발도상국에서 더 높은 할인율이 선택됨</a:t>
            </a:r>
            <a:endParaRPr lang="en-US" altLang="ko-KR" sz="2000" dirty="0">
              <a:ea typeface="나눔명조" pitchFamily="18" charset="-127"/>
            </a:endParaRPr>
          </a:p>
          <a:p>
            <a:r>
              <a:rPr lang="ko-KR" altLang="en-US" sz="2000" dirty="0">
                <a:ea typeface="나눔명조" pitchFamily="18" charset="-127"/>
              </a:rPr>
              <a:t>최근에는 정책이나 사업이 영향을 미치는 기간이 길고 미래의 편익 및 비용이 불확실할 경우 할인율이 전체 기간동안 동일하게 적용되기 보다는 시간이 지나면서 변하도록 함</a:t>
            </a:r>
            <a:r>
              <a:rPr lang="en-US" altLang="ko-KR" sz="2000" dirty="0">
                <a:ea typeface="나눔명조" pitchFamily="18" charset="-127"/>
              </a:rPr>
              <a:t>(</a:t>
            </a:r>
            <a:r>
              <a:rPr lang="ko-KR" altLang="en-US" sz="2000" dirty="0" err="1">
                <a:ea typeface="나눔명조" pitchFamily="18" charset="-127"/>
              </a:rPr>
              <a:t>가변할인율</a:t>
            </a:r>
            <a:r>
              <a:rPr lang="en-US" altLang="ko-KR" sz="2000" dirty="0">
                <a:ea typeface="나눔명조" pitchFamily="18" charset="-127"/>
              </a:rPr>
              <a:t>, </a:t>
            </a:r>
            <a:r>
              <a:rPr lang="ko-KR" altLang="en-US" sz="2000" dirty="0">
                <a:ea typeface="나눔명조" pitchFamily="18" charset="-127"/>
              </a:rPr>
              <a:t>제</a:t>
            </a:r>
            <a:r>
              <a:rPr lang="en-US" altLang="ko-KR" sz="2000" dirty="0">
                <a:ea typeface="나눔명조" pitchFamily="18" charset="-127"/>
              </a:rPr>
              <a:t>22</a:t>
            </a:r>
            <a:r>
              <a:rPr lang="ko-KR" altLang="en-US" sz="2000" dirty="0">
                <a:ea typeface="나눔명조" pitchFamily="18" charset="-127"/>
              </a:rPr>
              <a:t>장에서 다시 설명</a:t>
            </a:r>
            <a:r>
              <a:rPr lang="en-US" altLang="ko-KR" sz="2000" dirty="0">
                <a:ea typeface="나눔명조" pitchFamily="18" charset="-127"/>
              </a:rPr>
              <a:t>)</a:t>
            </a:r>
          </a:p>
        </p:txBody>
      </p:sp>
      <p:sp>
        <p:nvSpPr>
          <p:cNvPr id="27655" name="Rectangle 6">
            <a:extLst>
              <a:ext uri="{FF2B5EF4-FFF2-40B4-BE49-F238E27FC236}">
                <a16:creationId xmlns:a16="http://schemas.microsoft.com/office/drawing/2014/main" id="{7F98CAD0-359B-49E6-8A83-FE7BF1B2C0D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96975" y="0"/>
            <a:ext cx="8201025" cy="998538"/>
          </a:xfrm>
        </p:spPr>
        <p:txBody>
          <a:bodyPr/>
          <a:lstStyle/>
          <a:p>
            <a:pPr eaLnBrk="1" hangingPunct="1"/>
            <a: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비용</a:t>
            </a:r>
            <a:r>
              <a:rPr lang="en-US" altLang="ko-KR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-</a:t>
            </a:r>
            <a: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편익분석</a:t>
            </a:r>
            <a:r>
              <a:rPr lang="en-US" altLang="ko-KR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: </a:t>
            </a:r>
            <a: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할인율의 선택</a:t>
            </a:r>
          </a:p>
        </p:txBody>
      </p:sp>
    </p:spTree>
  </p:cSld>
  <p:clrMapOvr>
    <a:masterClrMapping/>
  </p:clrMapOvr>
  <p:transition spd="med">
    <p:wipe dir="r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바닥글 개체 틀 4">
            <a:extLst>
              <a:ext uri="{FF2B5EF4-FFF2-40B4-BE49-F238E27FC236}">
                <a16:creationId xmlns:a16="http://schemas.microsoft.com/office/drawing/2014/main" id="{5B60A25C-2874-4DFD-923E-EB704CC48E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r>
              <a:rPr lang="ko-KR" altLang="en-US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13</a:t>
            </a:r>
          </a:p>
        </p:txBody>
      </p:sp>
      <p:sp>
        <p:nvSpPr>
          <p:cNvPr id="5124" name="슬라이드 번호 개체 틀 5">
            <a:extLst>
              <a:ext uri="{FF2B5EF4-FFF2-40B4-BE49-F238E27FC236}">
                <a16:creationId xmlns:a16="http://schemas.microsoft.com/office/drawing/2014/main" id="{7FFA99A5-E12D-4F9E-86A0-49BF2065C3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fld id="{AE5223D5-E7C9-4D8C-8018-122E6218EBA1}" type="slidenum">
              <a:rPr lang="ko-KR" altLang="en-US" sz="1200" b="0">
                <a:solidFill>
                  <a:schemeClr val="tx1"/>
                </a:solidFill>
              </a:rPr>
              <a:pPr/>
              <a:t>13</a:t>
            </a:fld>
            <a:endParaRPr lang="en-US" altLang="ko-KR" sz="1200" b="0">
              <a:solidFill>
                <a:schemeClr val="tx1"/>
              </a:solidFill>
            </a:endParaRPr>
          </a:p>
        </p:txBody>
      </p:sp>
      <p:sp>
        <p:nvSpPr>
          <p:cNvPr id="5125" name="Rectangle 2">
            <a:extLst>
              <a:ext uri="{FF2B5EF4-FFF2-40B4-BE49-F238E27FC236}">
                <a16:creationId xmlns:a16="http://schemas.microsoft.com/office/drawing/2014/main" id="{32F3CDDE-51A3-4BDE-AEE5-93CDDB0696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5126" name="Rectangle 3">
            <a:extLst>
              <a:ext uri="{FF2B5EF4-FFF2-40B4-BE49-F238E27FC236}">
                <a16:creationId xmlns:a16="http://schemas.microsoft.com/office/drawing/2014/main" id="{D7D9CF00-8D64-46C1-A652-74B247D696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127" name="내용 개체 틀 7">
                <a:extLst>
                  <a:ext uri="{FF2B5EF4-FFF2-40B4-BE49-F238E27FC236}">
                    <a16:creationId xmlns:a16="http://schemas.microsoft.com/office/drawing/2014/main" id="{F46B8786-B0AD-4D2E-8BAB-C54B36BA207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88975" y="1504950"/>
                <a:ext cx="7850188" cy="4614863"/>
              </a:xfrm>
            </p:spPr>
            <p:txBody>
              <a:bodyPr lIns="0" tIns="0" rIns="0" bIns="0"/>
              <a:lstStyle/>
              <a:p>
                <a:r>
                  <a:rPr lang="ko-KR" altLang="en-US" sz="2400" b="1" dirty="0">
                    <a:solidFill>
                      <a:srgbClr val="0000FF"/>
                    </a:solidFill>
                    <a:latin typeface="나눔명조" pitchFamily="18" charset="-127"/>
                    <a:ea typeface="나눔명조" pitchFamily="18" charset="-127"/>
                  </a:rPr>
                  <a:t>현재가치기준</a:t>
                </a:r>
                <a:r>
                  <a:rPr lang="en-US" altLang="ko-KR" sz="2400" b="1" dirty="0">
                    <a:solidFill>
                      <a:srgbClr val="0000FF"/>
                    </a:solidFill>
                    <a:latin typeface="나눔명조" pitchFamily="18" charset="-127"/>
                    <a:ea typeface="나눔명조" pitchFamily="18" charset="-127"/>
                  </a:rPr>
                  <a:t>(present value criterion)</a:t>
                </a:r>
                <a:r>
                  <a:rPr lang="ko-KR" altLang="en-US" sz="2400" dirty="0">
                    <a:ea typeface="나눔명조" pitchFamily="18" charset="-127"/>
                  </a:rPr>
                  <a:t>을 사용할 경우 각 연도에 발생하는 편익에서 비용을 뺀 순편익을 구한 뒤 순편익의 현재 가치합을 극대화하는 정책을 선택함</a:t>
                </a:r>
                <a:endParaRPr lang="en-US" altLang="ko-KR" sz="2400" dirty="0">
                  <a:ea typeface="나눔명조" pitchFamily="18" charset="-127"/>
                </a:endParaRPr>
              </a:p>
              <a:p>
                <a:pPr>
                  <a:buFont typeface="Wingdings" panose="05000000000000000000" pitchFamily="2" charset="2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ko-KR" altLang="en-US" sz="24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𝑃𝑉𝑁𝐵</m:t>
                      </m:r>
                      <m:r>
                        <a:rPr lang="ko-KR" altLang="en-US" sz="24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ko-KR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ko-KR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ko-KR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ko-KR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  <m:e>
                          <m:f>
                            <m:fPr>
                              <m:ctrlPr>
                                <a:rPr lang="ko-KR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ko-KR" altLang="en-US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ko-KR" altLang="en-US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𝐵</m:t>
                                  </m:r>
                                </m:e>
                                <m:sub>
                                  <m:r>
                                    <a:rPr lang="ko-KR" altLang="en-US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  <m:r>
                                <a:rPr lang="ko-KR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ko-KR" altLang="en-US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ko-KR" altLang="en-US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ko-KR" altLang="en-US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ko-KR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(1+</m:t>
                              </m:r>
                              <m:r>
                                <a:rPr lang="ko-KR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  <m:sSup>
                                <m:sSupPr>
                                  <m:ctrlPr>
                                    <a:rPr lang="ko-KR" altLang="en-US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ko-KR" altLang="en-US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  <m:sup>
                                  <m:r>
                                    <a:rPr lang="ko-KR" altLang="en-US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p>
                              </m:sSup>
                            </m:den>
                          </m:f>
                        </m:e>
                      </m:nary>
                    </m:oMath>
                  </m:oMathPara>
                </a14:m>
                <a:endParaRPr lang="en-US" altLang="ko-KR" sz="2400" dirty="0">
                  <a:ea typeface="나눔명조" pitchFamily="18" charset="-127"/>
                </a:endParaRPr>
              </a:p>
              <a:p>
                <a:pPr lvl="1"/>
                <a:r>
                  <a:rPr lang="en-US" altLang="ko-KR" sz="2000" dirty="0">
                    <a:ea typeface="나눔명조" pitchFamily="18" charset="-127"/>
                  </a:rPr>
                  <a:t>PVNB</a:t>
                </a:r>
                <a:r>
                  <a:rPr lang="ko-KR" altLang="en-US" sz="2000" dirty="0">
                    <a:ea typeface="나눔명조" pitchFamily="18" charset="-127"/>
                  </a:rPr>
                  <a:t>가 </a:t>
                </a:r>
                <a:r>
                  <a:rPr lang="en-US" altLang="ko-KR" sz="2000" dirty="0">
                    <a:ea typeface="나눔명조" pitchFamily="18" charset="-127"/>
                  </a:rPr>
                  <a:t>0 </a:t>
                </a:r>
                <a:r>
                  <a:rPr lang="ko-KR" altLang="en-US" sz="2000" dirty="0">
                    <a:ea typeface="나눔명조" pitchFamily="18" charset="-127"/>
                  </a:rPr>
                  <a:t>이상이면 수행할 가치가 있고 </a:t>
                </a:r>
                <a:r>
                  <a:rPr lang="en-US" altLang="ko-KR" sz="2000" dirty="0">
                    <a:ea typeface="나눔명조" pitchFamily="18" charset="-127"/>
                  </a:rPr>
                  <a:t>0</a:t>
                </a:r>
                <a:r>
                  <a:rPr lang="ko-KR" altLang="en-US" sz="2000" dirty="0">
                    <a:ea typeface="나눔명조" pitchFamily="18" charset="-127"/>
                  </a:rPr>
                  <a:t>보다 작으면 </a:t>
                </a:r>
                <a:r>
                  <a:rPr lang="ko-KR" altLang="en-US" sz="2000" dirty="0" err="1">
                    <a:ea typeface="나눔명조" pitchFamily="18" charset="-127"/>
                  </a:rPr>
                  <a:t>시행안함</a:t>
                </a:r>
                <a:endParaRPr lang="en-US" altLang="ko-KR" sz="2000" dirty="0">
                  <a:ea typeface="나눔명조" pitchFamily="18" charset="-127"/>
                </a:endParaRPr>
              </a:p>
              <a:p>
                <a:pPr lvl="1"/>
                <a:r>
                  <a:rPr lang="ko-KR" altLang="en-US" sz="2000" dirty="0">
                    <a:ea typeface="나눔명조" pitchFamily="18" charset="-127"/>
                  </a:rPr>
                  <a:t>서로 다른 정책이 있을 경우 가장 큰 </a:t>
                </a:r>
                <a:r>
                  <a:rPr lang="en-US" altLang="ko-KR" sz="2000" dirty="0">
                    <a:ea typeface="나눔명조" pitchFamily="18" charset="-127"/>
                  </a:rPr>
                  <a:t>PVNB</a:t>
                </a:r>
                <a:r>
                  <a:rPr lang="ko-KR" altLang="en-US" sz="2000" dirty="0">
                    <a:ea typeface="나눔명조" pitchFamily="18" charset="-127"/>
                  </a:rPr>
                  <a:t>를 가지는 정책을 우선적으로 시행함 </a:t>
                </a:r>
                <a:endParaRPr lang="en-US" altLang="ko-KR" sz="2000" dirty="0">
                  <a:ea typeface="나눔명조" pitchFamily="18" charset="-127"/>
                </a:endParaRPr>
              </a:p>
              <a:p>
                <a:pPr lvl="1"/>
                <a:r>
                  <a:rPr lang="ko-KR" altLang="en-US" sz="2000" dirty="0">
                    <a:ea typeface="나눔명조" pitchFamily="18" charset="-127"/>
                  </a:rPr>
                  <a:t>현재가치기준을 적용할 경우 개별 사업이나 정책의 시행여부 뿐만이 아니라 효율성을 기준으로 한 시행순서를 결정할 수 있음</a:t>
                </a:r>
                <a:endParaRPr lang="en-US" altLang="ko-KR" sz="2000" dirty="0">
                  <a:ea typeface="나눔명조" pitchFamily="18" charset="-127"/>
                </a:endParaRPr>
              </a:p>
              <a:p>
                <a:pPr>
                  <a:lnSpc>
                    <a:spcPct val="150000"/>
                  </a:lnSpc>
                </a:pPr>
                <a:endParaRPr lang="en-US" altLang="ko-KR" sz="2000" dirty="0">
                  <a:ea typeface="나눔명조" pitchFamily="18" charset="-127"/>
                </a:endParaRPr>
              </a:p>
            </p:txBody>
          </p:sp>
        </mc:Choice>
        <mc:Fallback xmlns="">
          <p:sp>
            <p:nvSpPr>
              <p:cNvPr id="5127" name="내용 개체 틀 7">
                <a:extLst>
                  <a:ext uri="{FF2B5EF4-FFF2-40B4-BE49-F238E27FC236}">
                    <a16:creationId xmlns:a16="http://schemas.microsoft.com/office/drawing/2014/main" id="{F46B8786-B0AD-4D2E-8BAB-C54B36BA207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88975" y="1504950"/>
                <a:ext cx="7850188" cy="4614863"/>
              </a:xfrm>
              <a:blipFill>
                <a:blip r:embed="rId3"/>
                <a:stretch>
                  <a:fillRect l="-2174" t="-211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Rectangle 6">
            <a:extLst>
              <a:ext uri="{FF2B5EF4-FFF2-40B4-BE49-F238E27FC236}">
                <a16:creationId xmlns:a16="http://schemas.microsoft.com/office/drawing/2014/main" id="{BCA687F7-0B4A-4747-967F-4FAF480C02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96975" y="0"/>
            <a:ext cx="8201025" cy="9985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eaLnBrk="1" hangingPunct="1">
              <a:defRPr/>
            </a:pPr>
            <a:r>
              <a:rPr lang="ko-KR" altLang="en-US" sz="3600" kern="0" dirty="0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  <a:cs typeface="+mj-cs"/>
              </a:rPr>
              <a:t>비용</a:t>
            </a:r>
            <a:r>
              <a:rPr lang="en-US" altLang="ko-KR" sz="3600" kern="0" dirty="0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  <a:cs typeface="+mj-cs"/>
              </a:rPr>
              <a:t>-</a:t>
            </a:r>
            <a:r>
              <a:rPr lang="ko-KR" altLang="en-US" sz="3600" kern="0" dirty="0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  <a:cs typeface="+mj-cs"/>
              </a:rPr>
              <a:t>편익분석</a:t>
            </a:r>
            <a:r>
              <a:rPr lang="en-US" altLang="ko-KR" sz="3600" kern="0" dirty="0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  <a:cs typeface="+mj-cs"/>
              </a:rPr>
              <a:t>: </a:t>
            </a:r>
            <a:r>
              <a:rPr lang="ko-KR" altLang="en-US" sz="3600" kern="0" dirty="0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  <a:cs typeface="+mj-cs"/>
              </a:rPr>
              <a:t>현재가치기준</a:t>
            </a:r>
          </a:p>
        </p:txBody>
      </p:sp>
    </p:spTree>
  </p:cSld>
  <p:clrMapOvr>
    <a:masterClrMapping/>
  </p:clrMapOvr>
  <p:transition spd="med">
    <p:wipe dir="r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바닥글 개체 틀 4">
            <a:extLst>
              <a:ext uri="{FF2B5EF4-FFF2-40B4-BE49-F238E27FC236}">
                <a16:creationId xmlns:a16="http://schemas.microsoft.com/office/drawing/2014/main" id="{92EA47DB-C4D1-481A-BC59-B923A15373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r>
              <a:rPr lang="ko-KR" altLang="en-US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13</a:t>
            </a:r>
          </a:p>
        </p:txBody>
      </p:sp>
      <p:sp>
        <p:nvSpPr>
          <p:cNvPr id="6148" name="슬라이드 번호 개체 틀 5">
            <a:extLst>
              <a:ext uri="{FF2B5EF4-FFF2-40B4-BE49-F238E27FC236}">
                <a16:creationId xmlns:a16="http://schemas.microsoft.com/office/drawing/2014/main" id="{30B8D15D-7C2E-4DD1-8023-417757168E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fld id="{47BBCC26-5F94-47B4-80BE-C147AB32D15A}" type="slidenum">
              <a:rPr lang="ko-KR" altLang="en-US" sz="1200" b="0">
                <a:solidFill>
                  <a:schemeClr val="tx1"/>
                </a:solidFill>
              </a:rPr>
              <a:pPr/>
              <a:t>14</a:t>
            </a:fld>
            <a:endParaRPr lang="en-US" altLang="ko-KR" sz="1200" b="0">
              <a:solidFill>
                <a:schemeClr val="tx1"/>
              </a:solidFill>
            </a:endParaRPr>
          </a:p>
        </p:txBody>
      </p:sp>
      <p:sp>
        <p:nvSpPr>
          <p:cNvPr id="6149" name="Rectangle 2">
            <a:extLst>
              <a:ext uri="{FF2B5EF4-FFF2-40B4-BE49-F238E27FC236}">
                <a16:creationId xmlns:a16="http://schemas.microsoft.com/office/drawing/2014/main" id="{46C5E082-13F6-4346-ACF8-575DC142CC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6150" name="Rectangle 3">
            <a:extLst>
              <a:ext uri="{FF2B5EF4-FFF2-40B4-BE49-F238E27FC236}">
                <a16:creationId xmlns:a16="http://schemas.microsoft.com/office/drawing/2014/main" id="{B4AB44B0-59B5-4127-9B54-42A5F4BDC2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151" name="내용 개체 틀 7">
                <a:extLst>
                  <a:ext uri="{FF2B5EF4-FFF2-40B4-BE49-F238E27FC236}">
                    <a16:creationId xmlns:a16="http://schemas.microsoft.com/office/drawing/2014/main" id="{A31AE82E-7FC4-4EFC-8338-5B2BA386FCA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85825" y="1406525"/>
                <a:ext cx="7696200" cy="4768850"/>
              </a:xfrm>
            </p:spPr>
            <p:txBody>
              <a:bodyPr lIns="0" tIns="0" rIns="0" bIns="0"/>
              <a:lstStyle/>
              <a:p>
                <a:r>
                  <a:rPr lang="ko-KR" altLang="en-US" sz="2400" b="1" dirty="0">
                    <a:solidFill>
                      <a:srgbClr val="0000FF"/>
                    </a:solidFill>
                    <a:latin typeface="나눔명조" pitchFamily="18" charset="-127"/>
                    <a:ea typeface="나눔명조" pitchFamily="18" charset="-127"/>
                  </a:rPr>
                  <a:t>내부수익률</a:t>
                </a:r>
                <a:r>
                  <a:rPr lang="en-US" altLang="ko-KR" sz="2400" b="1" dirty="0">
                    <a:solidFill>
                      <a:srgbClr val="0000FF"/>
                    </a:solidFill>
                    <a:latin typeface="나눔명조" pitchFamily="18" charset="-127"/>
                    <a:ea typeface="나눔명조" pitchFamily="18" charset="-127"/>
                  </a:rPr>
                  <a:t>(internal rate of </a:t>
                </a:r>
                <a:r>
                  <a:rPr lang="en-US" altLang="ko-KR" sz="2400" b="1" dirty="0" err="1">
                    <a:solidFill>
                      <a:srgbClr val="0000FF"/>
                    </a:solidFill>
                    <a:latin typeface="나눔명조" pitchFamily="18" charset="-127"/>
                    <a:ea typeface="나눔명조" pitchFamily="18" charset="-127"/>
                  </a:rPr>
                  <a:t>return,IRR</a:t>
                </a:r>
                <a:r>
                  <a:rPr lang="en-US" altLang="ko-KR" sz="2400" b="1" dirty="0">
                    <a:solidFill>
                      <a:srgbClr val="0000FF"/>
                    </a:solidFill>
                    <a:latin typeface="나눔명조" pitchFamily="18" charset="-127"/>
                    <a:ea typeface="나눔명조" pitchFamily="18" charset="-127"/>
                  </a:rPr>
                  <a:t>):</a:t>
                </a:r>
                <a:r>
                  <a:rPr lang="ko-KR" altLang="en-US" sz="2400" dirty="0">
                    <a:ea typeface="나눔명조" pitchFamily="18" charset="-127"/>
                  </a:rPr>
                  <a:t> 어떤 정책의 순편익의 현재가치의 합</a:t>
                </a:r>
                <a:r>
                  <a:rPr lang="en-US" altLang="ko-KR" sz="2400" dirty="0">
                    <a:ea typeface="나눔명조" pitchFamily="18" charset="-127"/>
                  </a:rPr>
                  <a:t>, </a:t>
                </a:r>
                <a:r>
                  <a:rPr lang="ko-KR" altLang="en-US" sz="2400" dirty="0">
                    <a:ea typeface="나눔명조" pitchFamily="18" charset="-127"/>
                  </a:rPr>
                  <a:t>즉 </a:t>
                </a:r>
                <a:r>
                  <a:rPr lang="en-US" altLang="ko-KR" sz="2400" dirty="0">
                    <a:ea typeface="나눔명조" pitchFamily="18" charset="-127"/>
                  </a:rPr>
                  <a:t>PVNB</a:t>
                </a:r>
                <a:r>
                  <a:rPr lang="ko-KR" altLang="en-US" sz="2400" dirty="0">
                    <a:ea typeface="나눔명조" pitchFamily="18" charset="-127"/>
                  </a:rPr>
                  <a:t>를 </a:t>
                </a:r>
                <a:r>
                  <a:rPr lang="en-US" altLang="ko-KR" sz="2400" dirty="0">
                    <a:ea typeface="나눔명조" pitchFamily="18" charset="-127"/>
                  </a:rPr>
                  <a:t>0</a:t>
                </a:r>
                <a:r>
                  <a:rPr lang="ko-KR" altLang="en-US" sz="2400" dirty="0">
                    <a:ea typeface="나눔명조" pitchFamily="18" charset="-127"/>
                  </a:rPr>
                  <a:t>으로 만들어주는 할인율</a:t>
                </a:r>
                <a:endParaRPr lang="en-US" altLang="ko-KR" sz="2400" dirty="0">
                  <a:ea typeface="나눔명조" pitchFamily="18" charset="-127"/>
                </a:endParaRPr>
              </a:p>
              <a:p>
                <a:pPr>
                  <a:buFont typeface="Wingdings" panose="05000000000000000000" pitchFamily="2" charset="2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ko-KR" altLang="en-US" sz="24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0=</m:t>
                      </m:r>
                      <m:nary>
                        <m:naryPr>
                          <m:chr m:val="∑"/>
                          <m:ctrlPr>
                            <a:rPr lang="ko-KR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ko-KR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ko-KR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ko-KR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  <m:e>
                          <m:f>
                            <m:fPr>
                              <m:ctrlPr>
                                <a:rPr lang="ko-KR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ko-KR" altLang="en-US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ko-KR" altLang="en-US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𝐵</m:t>
                                  </m:r>
                                </m:e>
                                <m:sub>
                                  <m:r>
                                    <a:rPr lang="ko-KR" altLang="en-US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  <m:r>
                                <a:rPr lang="ko-KR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ko-KR" altLang="en-US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ko-KR" altLang="en-US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ko-KR" altLang="en-US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ko-KR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(1+</m:t>
                              </m:r>
                              <m:r>
                                <a:rPr lang="ko-KR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  <m:sSup>
                                <m:sSupPr>
                                  <m:ctrlPr>
                                    <a:rPr lang="ko-KR" altLang="en-US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ko-KR" altLang="en-US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  <m:sup>
                                  <m:r>
                                    <a:rPr lang="ko-KR" altLang="en-US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p>
                              </m:sSup>
                            </m:den>
                          </m:f>
                        </m:e>
                      </m:nary>
                    </m:oMath>
                  </m:oMathPara>
                </a14:m>
                <a:endParaRPr lang="en-US" altLang="ko-KR" sz="2400" dirty="0">
                  <a:ea typeface="나눔명조" pitchFamily="18" charset="-127"/>
                </a:endParaRPr>
              </a:p>
              <a:p>
                <a:pPr>
                  <a:buFont typeface="Wingdings" panose="05000000000000000000" pitchFamily="2" charset="2"/>
                  <a:buNone/>
                </a:pPr>
                <a:endParaRPr lang="en-US" altLang="ko-KR" sz="1000" dirty="0">
                  <a:ea typeface="나눔명조" pitchFamily="18" charset="-127"/>
                </a:endParaRPr>
              </a:p>
              <a:p>
                <a:pPr lvl="1"/>
                <a:r>
                  <a:rPr lang="ko-KR" altLang="en-US" sz="2000" dirty="0">
                    <a:ea typeface="나눔명조" pitchFamily="18" charset="-127"/>
                  </a:rPr>
                  <a:t>위 식을 만족시키는 </a:t>
                </a:r>
                <a:r>
                  <a:rPr lang="en-US" altLang="ko-KR" sz="2000" dirty="0">
                    <a:ea typeface="나눔명조" pitchFamily="18" charset="-127"/>
                  </a:rPr>
                  <a:t>I</a:t>
                </a:r>
                <a:r>
                  <a:rPr lang="ko-KR" altLang="en-US" sz="2000" dirty="0">
                    <a:ea typeface="나눔명조" pitchFamily="18" charset="-127"/>
                  </a:rPr>
                  <a:t>가 내부수익률</a:t>
                </a:r>
                <a:r>
                  <a:rPr lang="en-US" altLang="ko-KR" sz="2000" dirty="0">
                    <a:ea typeface="나눔명조" pitchFamily="18" charset="-127"/>
                  </a:rPr>
                  <a:t>(IRR)</a:t>
                </a:r>
              </a:p>
              <a:p>
                <a:pPr lvl="1"/>
                <a:r>
                  <a:rPr lang="ko-KR" altLang="en-US" sz="2000" dirty="0">
                    <a:ea typeface="나눔명조" pitchFamily="18" charset="-127"/>
                  </a:rPr>
                  <a:t>보통 위 식은 </a:t>
                </a:r>
                <a:r>
                  <a:rPr lang="en-US" altLang="ko-KR" sz="2000" dirty="0">
                    <a:ea typeface="나눔명조" pitchFamily="18" charset="-127"/>
                  </a:rPr>
                  <a:t>T</a:t>
                </a:r>
                <a:r>
                  <a:rPr lang="ko-KR" altLang="en-US" sz="2000" dirty="0">
                    <a:ea typeface="나눔명조" pitchFamily="18" charset="-127"/>
                  </a:rPr>
                  <a:t>차의 다항식이므로 원칙적으로 </a:t>
                </a:r>
                <a:r>
                  <a:rPr lang="en-US" altLang="ko-KR" sz="2000" dirty="0">
                    <a:ea typeface="나눔명조" pitchFamily="18" charset="-127"/>
                  </a:rPr>
                  <a:t>T</a:t>
                </a:r>
                <a:r>
                  <a:rPr lang="ko-KR" altLang="en-US" sz="2000" dirty="0">
                    <a:ea typeface="나눔명조" pitchFamily="18" charset="-127"/>
                  </a:rPr>
                  <a:t>개의 내부수익률이 존재할 수 있음</a:t>
                </a:r>
                <a:endParaRPr lang="en-US" altLang="ko-KR" sz="2000" dirty="0">
                  <a:ea typeface="나눔명조" pitchFamily="18" charset="-127"/>
                </a:endParaRPr>
              </a:p>
              <a:p>
                <a:pPr lvl="1"/>
                <a:r>
                  <a:rPr lang="ko-KR" altLang="en-US" sz="2000" dirty="0">
                    <a:ea typeface="나눔명조" pitchFamily="18" charset="-127"/>
                  </a:rPr>
                  <a:t>그러나 실제 해의 수는 </a:t>
                </a:r>
                <a:r>
                  <a:rPr lang="ko-KR" altLang="en-US" sz="2000" dirty="0" err="1">
                    <a:ea typeface="나눔명조" pitchFamily="18" charset="-127"/>
                  </a:rPr>
                  <a:t>순편익</a:t>
                </a:r>
                <a:r>
                  <a:rPr lang="ko-KR" altLang="en-US" sz="2000" dirty="0">
                    <a:ea typeface="나눔명조" pitchFamily="18" charset="-127"/>
                  </a:rPr>
                  <a:t> </a:t>
                </a:r>
                <a:r>
                  <a:rPr lang="en-US" altLang="ko-KR" sz="2000" dirty="0" err="1">
                    <a:ea typeface="나눔명조" pitchFamily="18" charset="-127"/>
                  </a:rPr>
                  <a:t>B</a:t>
                </a:r>
                <a:r>
                  <a:rPr lang="en-US" altLang="ko-KR" sz="2000" baseline="-25000" dirty="0" err="1">
                    <a:ea typeface="나눔명조" pitchFamily="18" charset="-127"/>
                  </a:rPr>
                  <a:t>t</a:t>
                </a:r>
                <a:r>
                  <a:rPr lang="en-US" altLang="ko-KR" sz="2000" dirty="0">
                    <a:ea typeface="나눔명조" pitchFamily="18" charset="-127"/>
                  </a:rPr>
                  <a:t>-C</a:t>
                </a:r>
                <a:r>
                  <a:rPr lang="en-US" altLang="ko-KR" sz="2000" baseline="-25000" dirty="0">
                    <a:ea typeface="나눔명조" pitchFamily="18" charset="-127"/>
                  </a:rPr>
                  <a:t>t</a:t>
                </a:r>
                <a:r>
                  <a:rPr lang="en-US" altLang="ko-KR" sz="2000" dirty="0">
                    <a:ea typeface="나눔명조" pitchFamily="18" charset="-127"/>
                  </a:rPr>
                  <a:t> </a:t>
                </a:r>
                <a:r>
                  <a:rPr lang="ko-KR" altLang="en-US" sz="2000" dirty="0">
                    <a:ea typeface="나눔명조" pitchFamily="18" charset="-127"/>
                  </a:rPr>
                  <a:t>의 부호가 바뀌는 횟수와 같은데 대부분의 경우 초기에는 </a:t>
                </a:r>
                <a:r>
                  <a:rPr lang="en-US" altLang="ko-KR" sz="2000" dirty="0">
                    <a:ea typeface="나눔명조" pitchFamily="18" charset="-127"/>
                  </a:rPr>
                  <a:t>0</a:t>
                </a:r>
                <a:r>
                  <a:rPr lang="ko-KR" altLang="en-US" sz="2000" dirty="0">
                    <a:ea typeface="나눔명조" pitchFamily="18" charset="-127"/>
                  </a:rPr>
                  <a:t>보다 작다가 후기로 가면서 </a:t>
                </a:r>
                <a:r>
                  <a:rPr lang="en-US" altLang="ko-KR" sz="2000" dirty="0">
                    <a:ea typeface="나눔명조" pitchFamily="18" charset="-127"/>
                  </a:rPr>
                  <a:t>0</a:t>
                </a:r>
                <a:r>
                  <a:rPr lang="ko-KR" altLang="en-US" sz="2000" dirty="0">
                    <a:ea typeface="나눔명조" pitchFamily="18" charset="-127"/>
                  </a:rPr>
                  <a:t>보다 큰 값으로 바뀌게 되므로 유일한 </a:t>
                </a:r>
                <a:r>
                  <a:rPr lang="en-US" altLang="ko-KR" sz="2000" dirty="0">
                    <a:ea typeface="나눔명조" pitchFamily="18" charset="-127"/>
                  </a:rPr>
                  <a:t>(</a:t>
                </a:r>
                <a:r>
                  <a:rPr lang="ko-KR" altLang="en-US" sz="2000" dirty="0">
                    <a:ea typeface="나눔명조" pitchFamily="18" charset="-127"/>
                  </a:rPr>
                  <a:t>실수</a:t>
                </a:r>
                <a:r>
                  <a:rPr lang="en-US" altLang="ko-KR" sz="2000" dirty="0">
                    <a:ea typeface="나눔명조" pitchFamily="18" charset="-127"/>
                  </a:rPr>
                  <a:t>) </a:t>
                </a:r>
                <a:r>
                  <a:rPr lang="ko-KR" altLang="en-US" sz="2000" dirty="0">
                    <a:ea typeface="나눔명조" pitchFamily="18" charset="-127"/>
                  </a:rPr>
                  <a:t>해가 존재</a:t>
                </a:r>
                <a:r>
                  <a:rPr lang="en-US" altLang="ko-KR" sz="2000" dirty="0">
                    <a:ea typeface="나눔명조" pitchFamily="18" charset="-127"/>
                  </a:rPr>
                  <a:t> (</a:t>
                </a:r>
                <a:r>
                  <a:rPr lang="ko-KR" altLang="en-US" sz="2000" dirty="0">
                    <a:ea typeface="나눔명조" pitchFamily="18" charset="-127"/>
                  </a:rPr>
                  <a:t>데카르트 부호법칙</a:t>
                </a:r>
                <a:r>
                  <a:rPr lang="en-US" altLang="ko-KR" sz="2000" dirty="0">
                    <a:ea typeface="나눔명조" pitchFamily="18" charset="-127"/>
                  </a:rPr>
                  <a:t>)</a:t>
                </a:r>
                <a:endParaRPr lang="en-US" altLang="ko-KR" sz="2000" baseline="-25000" dirty="0">
                  <a:ea typeface="나눔명조" pitchFamily="18" charset="-127"/>
                </a:endParaRPr>
              </a:p>
              <a:p>
                <a:pPr>
                  <a:lnSpc>
                    <a:spcPct val="150000"/>
                  </a:lnSpc>
                  <a:buFont typeface="Wingdings" panose="05000000000000000000" pitchFamily="2" charset="2"/>
                  <a:buNone/>
                </a:pPr>
                <a:r>
                  <a:rPr lang="ko-KR" altLang="en-US" sz="2400" dirty="0">
                    <a:ea typeface="나눔명조" pitchFamily="18" charset="-127"/>
                  </a:rPr>
                  <a:t> </a:t>
                </a:r>
                <a:endParaRPr lang="en-US" altLang="ko-KR" sz="2400" dirty="0">
                  <a:ea typeface="나눔명조" pitchFamily="18" charset="-127"/>
                </a:endParaRPr>
              </a:p>
            </p:txBody>
          </p:sp>
        </mc:Choice>
        <mc:Fallback>
          <p:sp>
            <p:nvSpPr>
              <p:cNvPr id="6151" name="내용 개체 틀 7">
                <a:extLst>
                  <a:ext uri="{FF2B5EF4-FFF2-40B4-BE49-F238E27FC236}">
                    <a16:creationId xmlns:a16="http://schemas.microsoft.com/office/drawing/2014/main" id="{A31AE82E-7FC4-4EFC-8338-5B2BA386FCA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85825" y="1406525"/>
                <a:ext cx="7696200" cy="4768850"/>
              </a:xfrm>
              <a:blipFill>
                <a:blip r:embed="rId3"/>
                <a:stretch>
                  <a:fillRect l="-2217" t="-2046" r="-1663" b="-25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152" name="Rectangle 6">
            <a:extLst>
              <a:ext uri="{FF2B5EF4-FFF2-40B4-BE49-F238E27FC236}">
                <a16:creationId xmlns:a16="http://schemas.microsoft.com/office/drawing/2014/main" id="{2608CB7D-AA96-4567-8601-A2712A813DE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96975" y="0"/>
            <a:ext cx="8201025" cy="998538"/>
          </a:xfrm>
        </p:spPr>
        <p:txBody>
          <a:bodyPr/>
          <a:lstStyle/>
          <a:p>
            <a:pPr eaLnBrk="1" hangingPunct="1"/>
            <a: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비용</a:t>
            </a:r>
            <a:r>
              <a:rPr lang="en-US" altLang="ko-KR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-</a:t>
            </a:r>
            <a: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편익분석</a:t>
            </a:r>
            <a:r>
              <a:rPr lang="en-US" altLang="ko-KR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: </a:t>
            </a:r>
            <a: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내부수익률기준</a:t>
            </a:r>
          </a:p>
        </p:txBody>
      </p:sp>
    </p:spTree>
  </p:cSld>
  <p:clrMapOvr>
    <a:masterClrMapping/>
  </p:clrMapOvr>
  <p:transition spd="med">
    <p:wipe dir="r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바닥글 개체 틀 4">
            <a:extLst>
              <a:ext uri="{FF2B5EF4-FFF2-40B4-BE49-F238E27FC236}">
                <a16:creationId xmlns:a16="http://schemas.microsoft.com/office/drawing/2014/main" id="{75FEEA8B-6DE4-44DF-B605-AE2ED89EB4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r>
              <a:rPr lang="ko-KR" altLang="en-US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13</a:t>
            </a:r>
          </a:p>
        </p:txBody>
      </p:sp>
      <p:sp>
        <p:nvSpPr>
          <p:cNvPr id="28675" name="슬라이드 번호 개체 틀 5">
            <a:extLst>
              <a:ext uri="{FF2B5EF4-FFF2-40B4-BE49-F238E27FC236}">
                <a16:creationId xmlns:a16="http://schemas.microsoft.com/office/drawing/2014/main" id="{8BF10BBF-4EDC-495D-9CDB-8CA2CACD65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fld id="{ADF30A0E-BECC-4924-81D1-B866FFADBC67}" type="slidenum">
              <a:rPr lang="ko-KR" altLang="en-US" sz="1200" b="0">
                <a:solidFill>
                  <a:schemeClr val="tx1"/>
                </a:solidFill>
              </a:rPr>
              <a:pPr/>
              <a:t>15</a:t>
            </a:fld>
            <a:endParaRPr lang="en-US" altLang="ko-KR" sz="1200" b="0">
              <a:solidFill>
                <a:schemeClr val="tx1"/>
              </a:solidFill>
            </a:endParaRPr>
          </a:p>
        </p:txBody>
      </p:sp>
      <p:sp>
        <p:nvSpPr>
          <p:cNvPr id="28676" name="Rectangle 2">
            <a:extLst>
              <a:ext uri="{FF2B5EF4-FFF2-40B4-BE49-F238E27FC236}">
                <a16:creationId xmlns:a16="http://schemas.microsoft.com/office/drawing/2014/main" id="{0E4BEC7B-D622-4801-BEA0-1F2C70DF76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28677" name="Rectangle 3">
            <a:extLst>
              <a:ext uri="{FF2B5EF4-FFF2-40B4-BE49-F238E27FC236}">
                <a16:creationId xmlns:a16="http://schemas.microsoft.com/office/drawing/2014/main" id="{B46C6000-4671-4637-83D4-6F71139D9E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28678" name="내용 개체 틀 7">
            <a:extLst>
              <a:ext uri="{FF2B5EF4-FFF2-40B4-BE49-F238E27FC236}">
                <a16:creationId xmlns:a16="http://schemas.microsoft.com/office/drawing/2014/main" id="{C6FE3E0F-307E-4DC6-96E1-D9A6EFAC8C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8838" y="1490663"/>
            <a:ext cx="7680325" cy="4838700"/>
          </a:xfrm>
        </p:spPr>
        <p:txBody>
          <a:bodyPr lIns="0" tIns="0" rIns="0" bIns="0"/>
          <a:lstStyle/>
          <a:p>
            <a:r>
              <a:rPr lang="ko-KR" altLang="en-US" sz="2400" dirty="0">
                <a:ea typeface="나눔명조" pitchFamily="18" charset="-127"/>
              </a:rPr>
              <a:t>내부수익률은 사회적 할인율을 가정하지 않고도 구할 수 있음 </a:t>
            </a:r>
            <a:endParaRPr lang="en-US" altLang="ko-KR" sz="2400" dirty="0">
              <a:ea typeface="나눔명조" pitchFamily="18" charset="-127"/>
            </a:endParaRPr>
          </a:p>
          <a:p>
            <a:r>
              <a:rPr lang="ko-KR" altLang="en-US" sz="2400" dirty="0">
                <a:ea typeface="나눔명조" pitchFamily="18" charset="-127"/>
              </a:rPr>
              <a:t>그리고 구해진 내부수익률과 사회적 할인율을 비교하여 특정 사업을 시행할 것인지 판단할 수 있음</a:t>
            </a:r>
            <a:endParaRPr lang="en-US" altLang="ko-KR" sz="2400" dirty="0">
              <a:ea typeface="나눔명조" pitchFamily="18" charset="-127"/>
            </a:endParaRPr>
          </a:p>
          <a:p>
            <a:r>
              <a:rPr lang="ko-KR" altLang="en-US" sz="2400" dirty="0">
                <a:ea typeface="나눔명조" pitchFamily="18" charset="-127"/>
              </a:rPr>
              <a:t>내부수익률이 사회적 할인율로 선택되는 이자율보다 더 클 경우에는 사업이 시행되어야 하고</a:t>
            </a:r>
            <a:r>
              <a:rPr lang="en-US" altLang="ko-KR" sz="2400" dirty="0">
                <a:ea typeface="나눔명조" pitchFamily="18" charset="-127"/>
              </a:rPr>
              <a:t>, </a:t>
            </a:r>
            <a:r>
              <a:rPr lang="ko-KR" altLang="en-US" sz="2400" dirty="0">
                <a:ea typeface="나눔명조" pitchFamily="18" charset="-127"/>
              </a:rPr>
              <a:t>그 반대의 경우는 시행되지 않아야 함</a:t>
            </a:r>
            <a:endParaRPr lang="en-US" altLang="ko-KR" sz="2400" dirty="0">
              <a:ea typeface="나눔명조" pitchFamily="18" charset="-127"/>
            </a:endParaRPr>
          </a:p>
          <a:p>
            <a:r>
              <a:rPr lang="ko-KR" altLang="en-US" sz="2400" dirty="0">
                <a:ea typeface="나눔명조" pitchFamily="18" charset="-127"/>
              </a:rPr>
              <a:t>그러나 내부수익률이 높다고 해서 우선적으로 그 사업을 시행해야 하는 것은 아니므로 사업간 비교에 사용될 수는 없음</a:t>
            </a:r>
            <a:endParaRPr lang="en-US" altLang="ko-KR" sz="2400" dirty="0">
              <a:ea typeface="나눔명조" pitchFamily="18" charset="-127"/>
            </a:endParaRPr>
          </a:p>
        </p:txBody>
      </p:sp>
      <p:sp>
        <p:nvSpPr>
          <p:cNvPr id="28679" name="Rectangle 6">
            <a:extLst>
              <a:ext uri="{FF2B5EF4-FFF2-40B4-BE49-F238E27FC236}">
                <a16:creationId xmlns:a16="http://schemas.microsoft.com/office/drawing/2014/main" id="{2663893C-C45D-4853-8A0D-6C480233374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96975" y="0"/>
            <a:ext cx="8201025" cy="998538"/>
          </a:xfrm>
        </p:spPr>
        <p:txBody>
          <a:bodyPr/>
          <a:lstStyle/>
          <a:p>
            <a:pPr eaLnBrk="1" hangingPunct="1"/>
            <a: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비용</a:t>
            </a:r>
            <a:r>
              <a:rPr lang="en-US" altLang="ko-KR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-</a:t>
            </a:r>
            <a: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편익분석</a:t>
            </a:r>
            <a:r>
              <a:rPr lang="en-US" altLang="ko-KR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: </a:t>
            </a:r>
            <a: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내부수익률기준</a:t>
            </a:r>
          </a:p>
        </p:txBody>
      </p:sp>
    </p:spTree>
  </p:cSld>
  <p:clrMapOvr>
    <a:masterClrMapping/>
  </p:clrMapOvr>
  <p:transition spd="med">
    <p:wipe dir="r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바닥글 개체 틀 4">
            <a:extLst>
              <a:ext uri="{FF2B5EF4-FFF2-40B4-BE49-F238E27FC236}">
                <a16:creationId xmlns:a16="http://schemas.microsoft.com/office/drawing/2014/main" id="{0A5A11E1-9C1B-4135-8D2F-5516857C85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r>
              <a:rPr lang="ko-KR" altLang="en-US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13</a:t>
            </a:r>
          </a:p>
        </p:txBody>
      </p:sp>
      <p:sp>
        <p:nvSpPr>
          <p:cNvPr id="7172" name="슬라이드 번호 개체 틀 5">
            <a:extLst>
              <a:ext uri="{FF2B5EF4-FFF2-40B4-BE49-F238E27FC236}">
                <a16:creationId xmlns:a16="http://schemas.microsoft.com/office/drawing/2014/main" id="{2A93C38B-C581-4217-BDD2-15BC9A2BC4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fld id="{4F6CE598-B481-42F3-9C25-AFA543565533}" type="slidenum">
              <a:rPr lang="ko-KR" altLang="en-US" sz="1200" b="0">
                <a:solidFill>
                  <a:schemeClr val="tx1"/>
                </a:solidFill>
              </a:rPr>
              <a:pPr/>
              <a:t>16</a:t>
            </a:fld>
            <a:endParaRPr lang="en-US" altLang="ko-KR" sz="1200" b="0">
              <a:solidFill>
                <a:schemeClr val="tx1"/>
              </a:solidFill>
            </a:endParaRPr>
          </a:p>
        </p:txBody>
      </p:sp>
      <p:sp>
        <p:nvSpPr>
          <p:cNvPr id="7173" name="Rectangle 2">
            <a:extLst>
              <a:ext uri="{FF2B5EF4-FFF2-40B4-BE49-F238E27FC236}">
                <a16:creationId xmlns:a16="http://schemas.microsoft.com/office/drawing/2014/main" id="{44C589CF-E951-4470-8AAE-1DB6C25B96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7174" name="Rectangle 3">
            <a:extLst>
              <a:ext uri="{FF2B5EF4-FFF2-40B4-BE49-F238E27FC236}">
                <a16:creationId xmlns:a16="http://schemas.microsoft.com/office/drawing/2014/main" id="{0305D75E-D539-4519-BAF1-270F198951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175" name="내용 개체 틀 7">
                <a:extLst>
                  <a:ext uri="{FF2B5EF4-FFF2-40B4-BE49-F238E27FC236}">
                    <a16:creationId xmlns:a16="http://schemas.microsoft.com/office/drawing/2014/main" id="{48FC5D44-5169-46C3-915A-3AEFEB5DB79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88975" y="1223963"/>
                <a:ext cx="7850188" cy="4895850"/>
              </a:xfrm>
            </p:spPr>
            <p:txBody>
              <a:bodyPr lIns="0" tIns="0" rIns="0" bIns="0"/>
              <a:lstStyle/>
              <a:p>
                <a:r>
                  <a:rPr lang="en-US" altLang="ko-KR" sz="2400" b="1" dirty="0">
                    <a:solidFill>
                      <a:srgbClr val="0000FF"/>
                    </a:solidFill>
                    <a:latin typeface="나눔명조" pitchFamily="18" charset="-127"/>
                    <a:ea typeface="나눔명조" pitchFamily="18" charset="-127"/>
                  </a:rPr>
                  <a:t>B/C(Benefit-Cost ratio, B/C)</a:t>
                </a:r>
                <a:r>
                  <a:rPr lang="ko-KR" altLang="en-US" sz="2400" b="1" dirty="0">
                    <a:solidFill>
                      <a:srgbClr val="0000FF"/>
                    </a:solidFill>
                    <a:ea typeface="나눔명조" pitchFamily="18" charset="-127"/>
                  </a:rPr>
                  <a:t>기준</a:t>
                </a:r>
                <a:r>
                  <a:rPr lang="ko-KR" altLang="en-US" sz="2400" dirty="0">
                    <a:ea typeface="나눔명조" pitchFamily="18" charset="-127"/>
                  </a:rPr>
                  <a:t>을 사용할 때는 편익의 현재가치의 합을 비용의 현재가치의 합으로 나누어 그 비율이 </a:t>
                </a:r>
                <a:r>
                  <a:rPr lang="en-US" altLang="ko-KR" sz="2400" dirty="0">
                    <a:ea typeface="나눔명조" pitchFamily="18" charset="-127"/>
                  </a:rPr>
                  <a:t>1</a:t>
                </a:r>
                <a:r>
                  <a:rPr lang="ko-KR" altLang="en-US" sz="2400" dirty="0">
                    <a:ea typeface="나눔명조" pitchFamily="18" charset="-127"/>
                  </a:rPr>
                  <a:t>이상이면 사업을 시행하고 반대로 </a:t>
                </a:r>
                <a:r>
                  <a:rPr lang="en-US" altLang="ko-KR" sz="2400" dirty="0">
                    <a:ea typeface="나눔명조" pitchFamily="18" charset="-127"/>
                  </a:rPr>
                  <a:t>1</a:t>
                </a:r>
                <a:r>
                  <a:rPr lang="ko-KR" altLang="en-US" sz="2400" dirty="0">
                    <a:ea typeface="나눔명조" pitchFamily="18" charset="-127"/>
                  </a:rPr>
                  <a:t>보다 작으면 시행하지 않음</a:t>
                </a:r>
                <a:endParaRPr lang="en-US" altLang="ko-KR" sz="2400" dirty="0">
                  <a:ea typeface="나눔명조" pitchFamily="18" charset="-127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ko-KR" altLang="en-US" sz="24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ko-KR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num>
                        <m:den>
                          <m:r>
                            <a:rPr lang="ko-KR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den>
                      </m:f>
                      <m:r>
                        <a:rPr lang="ko-KR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ko-KR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ctrlPr>
                                <a:rPr lang="ko-KR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ko-KR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ko-KR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=0</m:t>
                              </m:r>
                            </m:sub>
                            <m:sup>
                              <m:r>
                                <a:rPr lang="ko-KR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  <m:e>
                              <m:f>
                                <m:fPr>
                                  <m:ctrlPr>
                                    <a:rPr lang="ko-KR" altLang="en-US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ko-KR" altLang="en-US" sz="24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ko-KR" altLang="en-US" sz="24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𝐵</m:t>
                                      </m:r>
                                    </m:e>
                                    <m:sub>
                                      <m:r>
                                        <a:rPr lang="ko-KR" altLang="en-US" sz="24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sub>
                                  </m:sSub>
                                </m:num>
                                <m:den>
                                  <m:r>
                                    <a:rPr lang="ko-KR" altLang="en-US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(1+</m:t>
                                  </m:r>
                                  <m:r>
                                    <a:rPr lang="ko-KR" altLang="en-US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  <m:sSup>
                                    <m:sSupPr>
                                      <m:ctrlPr>
                                        <a:rPr lang="ko-KR" altLang="en-US" sz="24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ko-KR" altLang="en-US" sz="24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)</m:t>
                                      </m:r>
                                    </m:e>
                                    <m:sup>
                                      <m:r>
                                        <a:rPr lang="ko-KR" altLang="en-US" sz="24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sup>
                                  </m:sSup>
                                </m:den>
                              </m:f>
                            </m:e>
                          </m:nary>
                        </m:num>
                        <m:den>
                          <m:nary>
                            <m:naryPr>
                              <m:chr m:val="∑"/>
                              <m:ctrlPr>
                                <a:rPr lang="ko-KR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ko-KR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ko-KR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=0</m:t>
                              </m:r>
                            </m:sub>
                            <m:sup>
                              <m:r>
                                <a:rPr lang="ko-KR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  <m:e>
                              <m:f>
                                <m:fPr>
                                  <m:ctrlPr>
                                    <a:rPr lang="ko-KR" altLang="en-US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ko-KR" altLang="en-US" sz="24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ko-KR" altLang="en-US" sz="24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𝐶</m:t>
                                      </m:r>
                                    </m:e>
                                    <m:sub>
                                      <m:r>
                                        <a:rPr lang="ko-KR" altLang="en-US" sz="24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sub>
                                  </m:sSub>
                                </m:num>
                                <m:den>
                                  <m:r>
                                    <a:rPr lang="ko-KR" altLang="en-US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(1+</m:t>
                                  </m:r>
                                  <m:r>
                                    <a:rPr lang="ko-KR" altLang="en-US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  <m:sSup>
                                    <m:sSupPr>
                                      <m:ctrlPr>
                                        <a:rPr lang="ko-KR" altLang="en-US" sz="24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ko-KR" altLang="en-US" sz="24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)</m:t>
                                      </m:r>
                                    </m:e>
                                    <m:sup>
                                      <m:r>
                                        <a:rPr lang="ko-KR" altLang="en-US" sz="24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sup>
                                  </m:sSup>
                                </m:den>
                              </m:f>
                            </m:e>
                          </m:nary>
                        </m:den>
                      </m:f>
                    </m:oMath>
                  </m:oMathPara>
                </a14:m>
                <a:endParaRPr lang="en-US" altLang="ko-KR" sz="2400" dirty="0">
                  <a:ea typeface="나눔명조" pitchFamily="18" charset="-127"/>
                </a:endParaRPr>
              </a:p>
              <a:p>
                <a:r>
                  <a:rPr lang="en-US" altLang="ko-KR" sz="2400" dirty="0">
                    <a:ea typeface="나눔명조" pitchFamily="18" charset="-127"/>
                  </a:rPr>
                  <a:t>B/C </a:t>
                </a:r>
                <a:r>
                  <a:rPr lang="ko-KR" altLang="en-US" sz="2400" dirty="0">
                    <a:ea typeface="나눔명조" pitchFamily="18" charset="-127"/>
                  </a:rPr>
                  <a:t>기준은 각 사업의 후생효과의 단위</a:t>
                </a:r>
                <a:r>
                  <a:rPr lang="en-US" altLang="ko-KR" sz="2400" dirty="0">
                    <a:ea typeface="나눔명조" pitchFamily="18" charset="-127"/>
                  </a:rPr>
                  <a:t>(scale)</a:t>
                </a:r>
                <a:r>
                  <a:rPr lang="ko-KR" altLang="en-US" sz="2400" dirty="0">
                    <a:ea typeface="나눔명조" pitchFamily="18" charset="-127"/>
                  </a:rPr>
                  <a:t>가 서로 다른 측면을 고려하지 못하기 때문에 내부수익률과 마찬가지로 대안들의 우선순위를 결정하는 목적에는 사용될 수 없음</a:t>
                </a:r>
                <a:endParaRPr lang="en-US" altLang="ko-KR" sz="2400" dirty="0">
                  <a:ea typeface="나눔명조" pitchFamily="18" charset="-127"/>
                </a:endParaRPr>
              </a:p>
            </p:txBody>
          </p:sp>
        </mc:Choice>
        <mc:Fallback xmlns="">
          <p:sp>
            <p:nvSpPr>
              <p:cNvPr id="7175" name="내용 개체 틀 7">
                <a:extLst>
                  <a:ext uri="{FF2B5EF4-FFF2-40B4-BE49-F238E27FC236}">
                    <a16:creationId xmlns:a16="http://schemas.microsoft.com/office/drawing/2014/main" id="{48FC5D44-5169-46C3-915A-3AEFEB5DB79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88975" y="1223963"/>
                <a:ext cx="7850188" cy="4895850"/>
              </a:xfrm>
              <a:blipFill>
                <a:blip r:embed="rId3"/>
                <a:stretch>
                  <a:fillRect l="-2174" t="-236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176" name="Rectangle 6">
            <a:extLst>
              <a:ext uri="{FF2B5EF4-FFF2-40B4-BE49-F238E27FC236}">
                <a16:creationId xmlns:a16="http://schemas.microsoft.com/office/drawing/2014/main" id="{5EE106F4-B07C-4134-A8DE-924505456BB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96975" y="0"/>
            <a:ext cx="8201025" cy="998538"/>
          </a:xfrm>
        </p:spPr>
        <p:txBody>
          <a:bodyPr/>
          <a:lstStyle/>
          <a:p>
            <a:pPr eaLnBrk="1" hangingPunct="1"/>
            <a: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비용</a:t>
            </a:r>
            <a:r>
              <a:rPr lang="en-US" altLang="ko-KR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-</a:t>
            </a:r>
            <a: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편익분석</a:t>
            </a:r>
            <a:r>
              <a:rPr lang="en-US" altLang="ko-KR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: B/C</a:t>
            </a:r>
            <a: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기준</a:t>
            </a:r>
          </a:p>
        </p:txBody>
      </p:sp>
    </p:spTree>
  </p:cSld>
  <p:clrMapOvr>
    <a:masterClrMapping/>
  </p:clrMapOvr>
  <p:transition spd="med">
    <p:wipe dir="r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바닥글 개체 틀 4">
            <a:extLst>
              <a:ext uri="{FF2B5EF4-FFF2-40B4-BE49-F238E27FC236}">
                <a16:creationId xmlns:a16="http://schemas.microsoft.com/office/drawing/2014/main" id="{A99A96B0-05EB-4D67-B6E5-C0A426ADF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r>
              <a:rPr lang="ko-KR" altLang="en-US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13</a:t>
            </a:r>
          </a:p>
        </p:txBody>
      </p:sp>
      <p:sp>
        <p:nvSpPr>
          <p:cNvPr id="29699" name="슬라이드 번호 개체 틀 5">
            <a:extLst>
              <a:ext uri="{FF2B5EF4-FFF2-40B4-BE49-F238E27FC236}">
                <a16:creationId xmlns:a16="http://schemas.microsoft.com/office/drawing/2014/main" id="{8F49F8E6-505F-4508-A7DA-04860A4A7D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fld id="{7D007202-7785-4D2C-BA8D-454708CEDAC8}" type="slidenum">
              <a:rPr lang="ko-KR" altLang="en-US" sz="1200" b="0">
                <a:solidFill>
                  <a:schemeClr val="tx1"/>
                </a:solidFill>
              </a:rPr>
              <a:pPr/>
              <a:t>17</a:t>
            </a:fld>
            <a:endParaRPr lang="en-US" altLang="ko-KR" sz="1200" b="0">
              <a:solidFill>
                <a:schemeClr val="tx1"/>
              </a:solidFill>
            </a:endParaRPr>
          </a:p>
        </p:txBody>
      </p:sp>
      <p:sp>
        <p:nvSpPr>
          <p:cNvPr id="29700" name="Rectangle 2">
            <a:extLst>
              <a:ext uri="{FF2B5EF4-FFF2-40B4-BE49-F238E27FC236}">
                <a16:creationId xmlns:a16="http://schemas.microsoft.com/office/drawing/2014/main" id="{D1D09FCC-28BB-465F-B6DA-0559B1A4A8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29701" name="Rectangle 3">
            <a:extLst>
              <a:ext uri="{FF2B5EF4-FFF2-40B4-BE49-F238E27FC236}">
                <a16:creationId xmlns:a16="http://schemas.microsoft.com/office/drawing/2014/main" id="{ECDE7D46-5A73-496F-B97B-7EE26C1F6E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29702" name="내용 개체 틀 7">
            <a:extLst>
              <a:ext uri="{FF2B5EF4-FFF2-40B4-BE49-F238E27FC236}">
                <a16:creationId xmlns:a16="http://schemas.microsoft.com/office/drawing/2014/main" id="{BB5EBE77-B052-4555-8090-AB7C2EB6EB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7400" y="1392238"/>
            <a:ext cx="7723188" cy="5062537"/>
          </a:xfrm>
        </p:spPr>
        <p:txBody>
          <a:bodyPr lIns="0" tIns="0" rIns="0" bIns="0"/>
          <a:lstStyle/>
          <a:p>
            <a:r>
              <a:rPr lang="ko-KR" altLang="en-US" sz="1800" dirty="0">
                <a:ea typeface="나눔명조"/>
              </a:rPr>
              <a:t>현재가치기준은 개별 사업의 타당성 뿐만이 아니라 우선순위를 결정하는 데에도 사용될 수가 있다는 장점을 가짐 </a:t>
            </a:r>
            <a:endParaRPr lang="en-US" altLang="ko-KR" sz="1800" dirty="0">
              <a:ea typeface="나눔명조"/>
            </a:endParaRPr>
          </a:p>
          <a:p>
            <a:r>
              <a:rPr lang="ko-KR" altLang="en-US" sz="1800" dirty="0">
                <a:ea typeface="나눔명조" pitchFamily="18" charset="-127"/>
              </a:rPr>
              <a:t>주의</a:t>
            </a:r>
            <a:r>
              <a:rPr lang="en-US" altLang="ko-KR" sz="1800" dirty="0">
                <a:ea typeface="나눔명조" pitchFamily="18" charset="-127"/>
              </a:rPr>
              <a:t>: </a:t>
            </a:r>
            <a:r>
              <a:rPr lang="ko-KR" altLang="en-US" sz="1800" dirty="0">
                <a:ea typeface="나눔명조" pitchFamily="18" charset="-127"/>
              </a:rPr>
              <a:t>예산 제약하에서 우선적으로 실행해야 할 정책을 선택할 경우에는 반드시 순편익의 현재가치의 합이 큰 순서대로 정책을 시행하는 것이 아님</a:t>
            </a:r>
            <a:endParaRPr lang="en-US" altLang="ko-KR" sz="1800" dirty="0">
              <a:ea typeface="나눔명조" pitchFamily="18" charset="-127"/>
            </a:endParaRPr>
          </a:p>
          <a:p>
            <a:endParaRPr lang="en-US" altLang="ko-KR" sz="1800" dirty="0">
              <a:ea typeface="나눔명조" pitchFamily="18" charset="-127"/>
            </a:endParaRPr>
          </a:p>
          <a:p>
            <a:endParaRPr lang="en-US" altLang="ko-KR" sz="1800" dirty="0">
              <a:ea typeface="나눔명조" pitchFamily="18" charset="-127"/>
            </a:endParaRPr>
          </a:p>
          <a:p>
            <a:pPr>
              <a:lnSpc>
                <a:spcPct val="150000"/>
              </a:lnSpc>
            </a:pPr>
            <a:endParaRPr lang="en-US" altLang="ko-KR" sz="1800" dirty="0">
              <a:ea typeface="나눔명조" pitchFamily="18" charset="-127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None/>
            </a:pPr>
            <a:endParaRPr lang="en-US" altLang="ko-KR" sz="2000" dirty="0">
              <a:ea typeface="나눔명조" pitchFamily="18" charset="-127"/>
            </a:endParaRPr>
          </a:p>
          <a:p>
            <a:pPr lvl="1"/>
            <a:r>
              <a:rPr lang="en-US" altLang="ko-KR" sz="1600" dirty="0">
                <a:ea typeface="나눔명조" pitchFamily="18" charset="-127"/>
              </a:rPr>
              <a:t>PVNB</a:t>
            </a:r>
            <a:r>
              <a:rPr lang="ko-KR" altLang="en-US" sz="1600" dirty="0">
                <a:ea typeface="나눔명조" pitchFamily="18" charset="-127"/>
              </a:rPr>
              <a:t>에 따라 우선순위를 정하면 </a:t>
            </a:r>
            <a:r>
              <a:rPr lang="en-US" altLang="ko-KR" sz="1600" dirty="0">
                <a:ea typeface="나눔명조" pitchFamily="18" charset="-127"/>
              </a:rPr>
              <a:t>A,C,B,D </a:t>
            </a:r>
            <a:r>
              <a:rPr lang="ko-KR" altLang="en-US" sz="1600" dirty="0">
                <a:ea typeface="나눔명조" pitchFamily="18" charset="-127"/>
              </a:rPr>
              <a:t>순위임</a:t>
            </a:r>
            <a:endParaRPr lang="en-US" altLang="ko-KR" sz="1600" dirty="0">
              <a:ea typeface="나눔명조" pitchFamily="18" charset="-127"/>
            </a:endParaRPr>
          </a:p>
          <a:p>
            <a:pPr lvl="1"/>
            <a:r>
              <a:rPr lang="ko-KR" altLang="en-US" sz="1600" dirty="0">
                <a:ea typeface="나눔명조" pitchFamily="18" charset="-127"/>
              </a:rPr>
              <a:t>정부가 연간 </a:t>
            </a:r>
            <a:r>
              <a:rPr lang="en-US" altLang="ko-KR" sz="1600" dirty="0">
                <a:ea typeface="나눔명조" pitchFamily="18" charset="-127"/>
              </a:rPr>
              <a:t>1000</a:t>
            </a:r>
            <a:r>
              <a:rPr lang="ko-KR" altLang="en-US" sz="1600" dirty="0">
                <a:ea typeface="나눔명조" pitchFamily="18" charset="-127"/>
              </a:rPr>
              <a:t>억 원만 예산으로 확보할 수 있으면 </a:t>
            </a:r>
            <a:r>
              <a:rPr lang="en-US" altLang="ko-KR" sz="1600" dirty="0">
                <a:ea typeface="나눔명조" pitchFamily="18" charset="-127"/>
              </a:rPr>
              <a:t>A</a:t>
            </a:r>
            <a:r>
              <a:rPr lang="ko-KR" altLang="en-US" sz="1600" dirty="0">
                <a:ea typeface="나눔명조" pitchFamily="18" charset="-127"/>
              </a:rPr>
              <a:t>를 시행하면 나머지 </a:t>
            </a:r>
            <a:r>
              <a:rPr lang="en-US" altLang="ko-KR" sz="1600" dirty="0">
                <a:ea typeface="나눔명조" pitchFamily="18" charset="-127"/>
              </a:rPr>
              <a:t>200</a:t>
            </a:r>
            <a:r>
              <a:rPr lang="ko-KR" altLang="en-US" sz="1600" dirty="0">
                <a:ea typeface="나눔명조" pitchFamily="18" charset="-127"/>
              </a:rPr>
              <a:t>억 원으로 </a:t>
            </a:r>
            <a:r>
              <a:rPr lang="en-US" altLang="ko-KR" sz="1600" dirty="0">
                <a:ea typeface="나눔명조" pitchFamily="18" charset="-127"/>
              </a:rPr>
              <a:t>D</a:t>
            </a:r>
            <a:r>
              <a:rPr lang="ko-KR" altLang="en-US" sz="1600" dirty="0">
                <a:ea typeface="나눔명조" pitchFamily="18" charset="-127"/>
              </a:rPr>
              <a:t>를</a:t>
            </a:r>
            <a:r>
              <a:rPr lang="en-US" altLang="ko-KR" sz="1600" dirty="0">
                <a:ea typeface="나눔명조" pitchFamily="18" charset="-127"/>
              </a:rPr>
              <a:t> </a:t>
            </a:r>
            <a:r>
              <a:rPr lang="ko-KR" altLang="en-US" sz="1600" dirty="0">
                <a:ea typeface="나눔명조" pitchFamily="18" charset="-127"/>
              </a:rPr>
              <a:t>추가 시행 할 수 있고 이때 </a:t>
            </a:r>
            <a:r>
              <a:rPr lang="en-US" altLang="ko-KR" sz="1600" dirty="0">
                <a:ea typeface="나눔명조" pitchFamily="18" charset="-127"/>
              </a:rPr>
              <a:t>PVNB</a:t>
            </a:r>
            <a:r>
              <a:rPr lang="ko-KR" altLang="en-US" sz="1600" dirty="0">
                <a:ea typeface="나눔명조" pitchFamily="18" charset="-127"/>
              </a:rPr>
              <a:t>는 </a:t>
            </a:r>
            <a:r>
              <a:rPr lang="en-US" altLang="ko-KR" sz="1600" dirty="0">
                <a:ea typeface="나눔명조" pitchFamily="18" charset="-127"/>
              </a:rPr>
              <a:t>134</a:t>
            </a:r>
            <a:r>
              <a:rPr lang="ko-KR" altLang="en-US" sz="1600" dirty="0">
                <a:ea typeface="나눔명조" pitchFamily="18" charset="-127"/>
              </a:rPr>
              <a:t>억 원이 됨</a:t>
            </a:r>
            <a:endParaRPr lang="en-US" altLang="ko-KR" sz="1600" dirty="0">
              <a:ea typeface="나눔명조" pitchFamily="18" charset="-127"/>
            </a:endParaRPr>
          </a:p>
          <a:p>
            <a:pPr lvl="1"/>
            <a:r>
              <a:rPr lang="ko-KR" altLang="en-US" sz="1600" dirty="0">
                <a:ea typeface="나눔명조" pitchFamily="18" charset="-127"/>
              </a:rPr>
              <a:t>하지만 </a:t>
            </a:r>
            <a:r>
              <a:rPr lang="en-US" altLang="ko-KR" sz="1600" dirty="0">
                <a:ea typeface="나눔명조" pitchFamily="18" charset="-127"/>
              </a:rPr>
              <a:t>A</a:t>
            </a:r>
            <a:r>
              <a:rPr lang="ko-KR" altLang="en-US" sz="1600" dirty="0">
                <a:ea typeface="나눔명조" pitchFamily="18" charset="-127"/>
              </a:rPr>
              <a:t>를 포기하고 </a:t>
            </a:r>
            <a:r>
              <a:rPr lang="en-US" altLang="ko-KR" sz="1600" dirty="0">
                <a:ea typeface="나눔명조" pitchFamily="18" charset="-127"/>
              </a:rPr>
              <a:t>B,C</a:t>
            </a:r>
            <a:r>
              <a:rPr lang="ko-KR" altLang="en-US" sz="1600" dirty="0">
                <a:ea typeface="나눔명조" pitchFamily="18" charset="-127"/>
              </a:rPr>
              <a:t>를 동시에 한다면 </a:t>
            </a:r>
            <a:r>
              <a:rPr lang="en-US" altLang="ko-KR" sz="1600" dirty="0">
                <a:ea typeface="나눔명조" pitchFamily="18" charset="-127"/>
              </a:rPr>
              <a:t>PVNB</a:t>
            </a:r>
            <a:r>
              <a:rPr lang="ko-KR" altLang="en-US" sz="1600" dirty="0">
                <a:ea typeface="나눔명조" pitchFamily="18" charset="-127"/>
              </a:rPr>
              <a:t>는 </a:t>
            </a:r>
            <a:r>
              <a:rPr lang="en-US" altLang="ko-KR" sz="1600" dirty="0">
                <a:ea typeface="나눔명조" pitchFamily="18" charset="-127"/>
              </a:rPr>
              <a:t>147</a:t>
            </a:r>
            <a:r>
              <a:rPr lang="ko-KR" altLang="en-US" sz="1600" dirty="0">
                <a:ea typeface="나눔명조" pitchFamily="18" charset="-127"/>
              </a:rPr>
              <a:t>억 원이 되어 더 유리하게 됨</a:t>
            </a:r>
            <a:endParaRPr lang="en-US" altLang="ko-KR" sz="1600" dirty="0">
              <a:ea typeface="나눔명조" pitchFamily="18" charset="-127"/>
            </a:endParaRPr>
          </a:p>
          <a:p>
            <a:pPr lvl="1"/>
            <a:r>
              <a:rPr lang="ko-KR" altLang="en-US" sz="1600" dirty="0" err="1">
                <a:ea typeface="나눔명조" pitchFamily="18" charset="-127"/>
              </a:rPr>
              <a:t>예산제약을</a:t>
            </a:r>
            <a:r>
              <a:rPr lang="ko-KR" altLang="en-US" sz="1600" dirty="0">
                <a:ea typeface="나눔명조" pitchFamily="18" charset="-127"/>
              </a:rPr>
              <a:t> 반영해서 최대의 </a:t>
            </a:r>
            <a:r>
              <a:rPr lang="en-US" altLang="ko-KR" sz="1600" dirty="0">
                <a:ea typeface="나눔명조" pitchFamily="18" charset="-127"/>
              </a:rPr>
              <a:t>PVNB </a:t>
            </a:r>
            <a:r>
              <a:rPr lang="ko-KR" altLang="en-US" sz="1600" dirty="0">
                <a:ea typeface="나눔명조" pitchFamily="18" charset="-127"/>
              </a:rPr>
              <a:t>합을 가지는 사업조합을 선택해야함</a:t>
            </a:r>
            <a:endParaRPr lang="en-US" altLang="ko-KR" sz="1600" dirty="0">
              <a:ea typeface="나눔명조" pitchFamily="18" charset="-127"/>
            </a:endParaRPr>
          </a:p>
          <a:p>
            <a:pPr>
              <a:lnSpc>
                <a:spcPct val="150000"/>
              </a:lnSpc>
            </a:pPr>
            <a:endParaRPr lang="en-US" altLang="ko-KR" sz="1800" dirty="0">
              <a:ea typeface="나눔명조" pitchFamily="18" charset="-127"/>
            </a:endParaRPr>
          </a:p>
        </p:txBody>
      </p:sp>
      <p:pic>
        <p:nvPicPr>
          <p:cNvPr id="29703" name="Picture 3" descr="C:\Users\SEO\Desktop\환경경제학 표그림\Cap 2014-06-19 09-58-53-508.png">
            <a:extLst>
              <a:ext uri="{FF2B5EF4-FFF2-40B4-BE49-F238E27FC236}">
                <a16:creationId xmlns:a16="http://schemas.microsoft.com/office/drawing/2014/main" id="{2E7FE1DF-1A9B-4334-AE1A-32B34D265C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5649" y="2714797"/>
            <a:ext cx="5373666" cy="1680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9704" name="Rectangle 6">
            <a:extLst>
              <a:ext uri="{FF2B5EF4-FFF2-40B4-BE49-F238E27FC236}">
                <a16:creationId xmlns:a16="http://schemas.microsoft.com/office/drawing/2014/main" id="{224EBB21-0808-4F11-9F4C-5302100036D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96975" y="0"/>
            <a:ext cx="8201025" cy="998538"/>
          </a:xfrm>
        </p:spPr>
        <p:txBody>
          <a:bodyPr/>
          <a:lstStyle/>
          <a:p>
            <a:pPr eaLnBrk="1" hangingPunct="1"/>
            <a: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비용</a:t>
            </a:r>
            <a:r>
              <a:rPr lang="en-US" altLang="ko-KR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-</a:t>
            </a:r>
            <a: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편익분석</a:t>
            </a:r>
            <a:r>
              <a:rPr lang="en-US" altLang="ko-KR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: </a:t>
            </a:r>
            <a: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현재가치기준의 한계</a:t>
            </a:r>
          </a:p>
        </p:txBody>
      </p:sp>
    </p:spTree>
  </p:cSld>
  <p:clrMapOvr>
    <a:masterClrMapping/>
  </p:clrMapOvr>
  <p:transition spd="med">
    <p:wipe dir="r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바닥글 개체 틀 4">
            <a:extLst>
              <a:ext uri="{FF2B5EF4-FFF2-40B4-BE49-F238E27FC236}">
                <a16:creationId xmlns:a16="http://schemas.microsoft.com/office/drawing/2014/main" id="{5DE49E01-390E-409E-8B0C-2B2632FCA8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r>
              <a:rPr lang="ko-KR" altLang="en-US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13</a:t>
            </a:r>
          </a:p>
        </p:txBody>
      </p:sp>
      <p:sp>
        <p:nvSpPr>
          <p:cNvPr id="30723" name="슬라이드 번호 개체 틀 5">
            <a:extLst>
              <a:ext uri="{FF2B5EF4-FFF2-40B4-BE49-F238E27FC236}">
                <a16:creationId xmlns:a16="http://schemas.microsoft.com/office/drawing/2014/main" id="{85A1E3EC-482B-445B-8E6C-9048BB2579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fld id="{F00C48DD-8E55-491B-8F82-CC762E9252DC}" type="slidenum">
              <a:rPr lang="ko-KR" altLang="en-US" sz="1200" b="0">
                <a:solidFill>
                  <a:schemeClr val="tx1"/>
                </a:solidFill>
              </a:rPr>
              <a:pPr/>
              <a:t>18</a:t>
            </a:fld>
            <a:endParaRPr lang="en-US" altLang="ko-KR" sz="1200" b="0">
              <a:solidFill>
                <a:schemeClr val="tx1"/>
              </a:solidFill>
            </a:endParaRPr>
          </a:p>
        </p:txBody>
      </p:sp>
      <p:sp>
        <p:nvSpPr>
          <p:cNvPr id="30724" name="Rectangle 2">
            <a:extLst>
              <a:ext uri="{FF2B5EF4-FFF2-40B4-BE49-F238E27FC236}">
                <a16:creationId xmlns:a16="http://schemas.microsoft.com/office/drawing/2014/main" id="{3B7D0CD5-BCF9-4970-AA18-AF0E39E480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30725" name="Rectangle 3">
            <a:extLst>
              <a:ext uri="{FF2B5EF4-FFF2-40B4-BE49-F238E27FC236}">
                <a16:creationId xmlns:a16="http://schemas.microsoft.com/office/drawing/2014/main" id="{0A2447F6-AE42-4C1F-8161-6BB4B813A4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30726" name="내용 개체 틀 7">
            <a:extLst>
              <a:ext uri="{FF2B5EF4-FFF2-40B4-BE49-F238E27FC236}">
                <a16:creationId xmlns:a16="http://schemas.microsoft.com/office/drawing/2014/main" id="{A59F33CC-D103-4335-A7C4-9C01BC01EC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5825" y="1365250"/>
            <a:ext cx="7653338" cy="4176713"/>
          </a:xfrm>
        </p:spPr>
        <p:txBody>
          <a:bodyPr lIns="0" tIns="0" rIns="0" bIns="0"/>
          <a:lstStyle/>
          <a:p>
            <a:r>
              <a:rPr lang="ko-KR" altLang="en-US" sz="2400" dirty="0">
                <a:ea typeface="나눔명조" pitchFamily="18" charset="-127"/>
              </a:rPr>
              <a:t>한편 현재가치기준은 공공사업</a:t>
            </a:r>
            <a:r>
              <a:rPr lang="en-US" altLang="ko-KR" sz="2400" dirty="0">
                <a:latin typeface="굴림" panose="020B0600000101010101" pitchFamily="50" charset="-127"/>
                <a:ea typeface="나눔명조" pitchFamily="18" charset="-127"/>
              </a:rPr>
              <a:t>·</a:t>
            </a:r>
            <a:r>
              <a:rPr lang="ko-KR" altLang="en-US" sz="2400" dirty="0">
                <a:latin typeface="굴림" panose="020B0600000101010101" pitchFamily="50" charset="-127"/>
                <a:ea typeface="나눔명조" pitchFamily="18" charset="-127"/>
              </a:rPr>
              <a:t>정책의 결과가 각 계층에 분배되는 형평성 측면을 고려하지 못하고 있음</a:t>
            </a:r>
            <a:endParaRPr lang="en-US" altLang="ko-KR" sz="2400" dirty="0">
              <a:latin typeface="굴림" panose="020B0600000101010101" pitchFamily="50" charset="-127"/>
              <a:ea typeface="나눔명조" pitchFamily="18" charset="-127"/>
            </a:endParaRPr>
          </a:p>
          <a:p>
            <a:r>
              <a:rPr lang="ko-KR" altLang="en-US" sz="2400" dirty="0">
                <a:latin typeface="굴림" panose="020B0600000101010101" pitchFamily="50" charset="-127"/>
                <a:ea typeface="나눔명조" pitchFamily="18" charset="-127"/>
              </a:rPr>
              <a:t>또한 사업의 불확실성과 비가역성</a:t>
            </a:r>
            <a:r>
              <a:rPr lang="en-US" altLang="ko-KR" sz="2400" dirty="0">
                <a:latin typeface="굴림" panose="020B0600000101010101" pitchFamily="50" charset="-127"/>
                <a:ea typeface="나눔명조" pitchFamily="18" charset="-127"/>
              </a:rPr>
              <a:t>(irreversibility)</a:t>
            </a:r>
            <a:r>
              <a:rPr lang="ko-KR" altLang="en-US" sz="2400" dirty="0">
                <a:latin typeface="굴림" panose="020B0600000101010101" pitchFamily="50" charset="-127"/>
                <a:ea typeface="나눔명조" pitchFamily="18" charset="-127"/>
              </a:rPr>
              <a:t>이 강할 경우에는 예상비용과 예상편익을 비교하는 방식 자체가 적절한 가치평가기준이 될 수 없음</a:t>
            </a:r>
            <a:endParaRPr lang="en-US" altLang="ko-KR" sz="2400" dirty="0">
              <a:latin typeface="굴림" panose="020B0600000101010101" pitchFamily="50" charset="-127"/>
              <a:ea typeface="나눔명조" pitchFamily="18" charset="-127"/>
            </a:endParaRPr>
          </a:p>
          <a:p>
            <a:pPr lvl="1"/>
            <a:r>
              <a:rPr lang="ko-KR" altLang="en-US" sz="2000" dirty="0">
                <a:ea typeface="나눔명조" pitchFamily="18" charset="-127"/>
              </a:rPr>
              <a:t>개발사업을 행하여 환경을 훼손하는 것은 언제든지 가능하지만 사업을 시행한 후 여건이 당초 예상과 달라져도 사업이전 상태로 복원하는 것은 많은 경우 불가능함</a:t>
            </a:r>
            <a:endParaRPr lang="en-US" altLang="ko-KR" sz="2000" dirty="0">
              <a:ea typeface="나눔명조" pitchFamily="18" charset="-127"/>
            </a:endParaRPr>
          </a:p>
          <a:p>
            <a:pPr lvl="1"/>
            <a:r>
              <a:rPr lang="ko-KR" altLang="en-US" sz="2000" dirty="0">
                <a:ea typeface="나눔명조" pitchFamily="18" charset="-127"/>
              </a:rPr>
              <a:t>이 경우 비용</a:t>
            </a:r>
            <a:r>
              <a:rPr lang="en-US" altLang="ko-KR" sz="2000" dirty="0">
                <a:ea typeface="나눔명조" pitchFamily="18" charset="-127"/>
              </a:rPr>
              <a:t>-</a:t>
            </a:r>
            <a:r>
              <a:rPr lang="ko-KR" altLang="en-US" sz="2000" dirty="0">
                <a:ea typeface="나눔명조" pitchFamily="18" charset="-127"/>
              </a:rPr>
              <a:t>편익의 평가기준이 달라질 필요가 있음</a:t>
            </a:r>
            <a:endParaRPr lang="en-US" altLang="ko-KR" sz="2000" dirty="0">
              <a:ea typeface="나눔명조" pitchFamily="18" charset="-127"/>
            </a:endParaRPr>
          </a:p>
          <a:p>
            <a:pPr>
              <a:lnSpc>
                <a:spcPct val="150000"/>
              </a:lnSpc>
            </a:pPr>
            <a:endParaRPr lang="en-US" altLang="ko-KR" sz="2000" dirty="0">
              <a:ea typeface="나눔명조" pitchFamily="18" charset="-127"/>
            </a:endParaRPr>
          </a:p>
          <a:p>
            <a:pPr>
              <a:lnSpc>
                <a:spcPct val="150000"/>
              </a:lnSpc>
            </a:pPr>
            <a:endParaRPr lang="en-US" altLang="ko-KR" sz="2000" dirty="0">
              <a:ea typeface="나눔명조" pitchFamily="18" charset="-127"/>
            </a:endParaRPr>
          </a:p>
        </p:txBody>
      </p:sp>
      <p:sp>
        <p:nvSpPr>
          <p:cNvPr id="30727" name="Rectangle 6">
            <a:extLst>
              <a:ext uri="{FF2B5EF4-FFF2-40B4-BE49-F238E27FC236}">
                <a16:creationId xmlns:a16="http://schemas.microsoft.com/office/drawing/2014/main" id="{AB2D5B37-7EDA-4D07-B117-EF2BD3387C8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96975" y="0"/>
            <a:ext cx="8201025" cy="998538"/>
          </a:xfrm>
        </p:spPr>
        <p:txBody>
          <a:bodyPr/>
          <a:lstStyle/>
          <a:p>
            <a:pPr eaLnBrk="1" hangingPunct="1"/>
            <a: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비용</a:t>
            </a:r>
            <a:r>
              <a:rPr lang="en-US" altLang="ko-KR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-</a:t>
            </a:r>
            <a: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편익분석</a:t>
            </a:r>
            <a:r>
              <a:rPr lang="en-US" altLang="ko-KR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: </a:t>
            </a:r>
            <a: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현재가치기준의 한계</a:t>
            </a:r>
          </a:p>
        </p:txBody>
      </p:sp>
    </p:spTree>
  </p:cSld>
  <p:clrMapOvr>
    <a:masterClrMapping/>
  </p:clrMapOvr>
  <p:transition spd="med">
    <p:wipe dir="r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바닥글 개체 틀 4">
            <a:extLst>
              <a:ext uri="{FF2B5EF4-FFF2-40B4-BE49-F238E27FC236}">
                <a16:creationId xmlns:a16="http://schemas.microsoft.com/office/drawing/2014/main" id="{3A983B49-258A-4B57-B991-52E7AFB4AA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r>
              <a:rPr lang="ko-KR" altLang="en-US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13</a:t>
            </a:r>
          </a:p>
        </p:txBody>
      </p:sp>
      <p:sp>
        <p:nvSpPr>
          <p:cNvPr id="31747" name="슬라이드 번호 개체 틀 5">
            <a:extLst>
              <a:ext uri="{FF2B5EF4-FFF2-40B4-BE49-F238E27FC236}">
                <a16:creationId xmlns:a16="http://schemas.microsoft.com/office/drawing/2014/main" id="{8BE50816-BDC0-4B2C-B1C2-21764A35ED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fld id="{C35A1C78-ABC2-4FE8-966F-54F6EC27A33F}" type="slidenum">
              <a:rPr lang="ko-KR" altLang="en-US" sz="1200" b="0">
                <a:solidFill>
                  <a:schemeClr val="tx1"/>
                </a:solidFill>
              </a:rPr>
              <a:pPr/>
              <a:t>19</a:t>
            </a:fld>
            <a:endParaRPr lang="en-US" altLang="ko-KR" sz="1200" b="0">
              <a:solidFill>
                <a:schemeClr val="tx1"/>
              </a:solidFill>
            </a:endParaRPr>
          </a:p>
        </p:txBody>
      </p:sp>
      <p:sp>
        <p:nvSpPr>
          <p:cNvPr id="31748" name="Rectangle 2">
            <a:extLst>
              <a:ext uri="{FF2B5EF4-FFF2-40B4-BE49-F238E27FC236}">
                <a16:creationId xmlns:a16="http://schemas.microsoft.com/office/drawing/2014/main" id="{91CACB0C-6957-4951-A642-4D9CF6FEE5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31749" name="Rectangle 3">
            <a:extLst>
              <a:ext uri="{FF2B5EF4-FFF2-40B4-BE49-F238E27FC236}">
                <a16:creationId xmlns:a16="http://schemas.microsoft.com/office/drawing/2014/main" id="{B6657F83-A528-4BBE-BB86-349135E489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31750" name="내용 개체 틀 7">
            <a:extLst>
              <a:ext uri="{FF2B5EF4-FFF2-40B4-BE49-F238E27FC236}">
                <a16:creationId xmlns:a16="http://schemas.microsoft.com/office/drawing/2014/main" id="{776B4993-08FD-49AB-8A7D-17B26126B9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5825" y="1365250"/>
            <a:ext cx="7681913" cy="3967163"/>
          </a:xfrm>
        </p:spPr>
        <p:txBody>
          <a:bodyPr lIns="0" tIns="0" rIns="0" bIns="0"/>
          <a:lstStyle/>
          <a:p>
            <a:r>
              <a:rPr lang="ko-KR" altLang="en-US" sz="2600" b="1" dirty="0">
                <a:solidFill>
                  <a:srgbClr val="0000FF"/>
                </a:solidFill>
                <a:latin typeface="나눔명조" pitchFamily="18" charset="-127"/>
                <a:ea typeface="나눔명조" pitchFamily="18" charset="-127"/>
              </a:rPr>
              <a:t>환경영향평가</a:t>
            </a:r>
            <a:r>
              <a:rPr lang="en-US" altLang="ko-KR" sz="2600" b="1" dirty="0">
                <a:solidFill>
                  <a:srgbClr val="0000FF"/>
                </a:solidFill>
                <a:latin typeface="나눔명조" pitchFamily="18" charset="-127"/>
                <a:ea typeface="나눔명조" pitchFamily="18" charset="-127"/>
              </a:rPr>
              <a:t>(environmental impact analysis, EIA): </a:t>
            </a:r>
            <a:r>
              <a:rPr lang="ko-KR" altLang="en-US" sz="2600" dirty="0">
                <a:latin typeface="나눔명조" pitchFamily="18" charset="-127"/>
                <a:ea typeface="나눔명조" pitchFamily="18" charset="-127"/>
              </a:rPr>
              <a:t>공공사업</a:t>
            </a:r>
            <a:r>
              <a:rPr lang="en-US" altLang="ko-KR" sz="2600" dirty="0">
                <a:latin typeface="나눔명조" pitchFamily="18" charset="-127"/>
                <a:ea typeface="나눔명조" pitchFamily="18" charset="-127"/>
              </a:rPr>
              <a:t>·</a:t>
            </a:r>
            <a:r>
              <a:rPr lang="ko-KR" altLang="en-US" sz="2600" dirty="0">
                <a:latin typeface="나눔명조" pitchFamily="18" charset="-127"/>
                <a:ea typeface="나눔명조" pitchFamily="18" charset="-127"/>
              </a:rPr>
              <a:t>정책이 자연환경에 미치는 영향을 분석하여 의사결정에 반영</a:t>
            </a:r>
            <a:endParaRPr lang="en-US" altLang="ko-KR" sz="2600" dirty="0">
              <a:latin typeface="나눔명조" pitchFamily="18" charset="-127"/>
              <a:ea typeface="나눔명조" pitchFamily="18" charset="-127"/>
            </a:endParaRPr>
          </a:p>
          <a:p>
            <a:r>
              <a:rPr lang="ko-KR" altLang="en-US" sz="2600" dirty="0">
                <a:latin typeface="나눔명조" pitchFamily="18" charset="-127"/>
                <a:ea typeface="나눔명조" pitchFamily="18" charset="-127"/>
              </a:rPr>
              <a:t>미국에서는 </a:t>
            </a:r>
            <a:r>
              <a:rPr lang="en-US" altLang="ko-KR" sz="2600" dirty="0">
                <a:latin typeface="나눔명조" pitchFamily="18" charset="-127"/>
                <a:ea typeface="나눔명조" pitchFamily="18" charset="-127"/>
              </a:rPr>
              <a:t>1970</a:t>
            </a:r>
            <a:r>
              <a:rPr lang="ko-KR" altLang="en-US" sz="2600" dirty="0">
                <a:latin typeface="나눔명조" pitchFamily="18" charset="-127"/>
                <a:ea typeface="나눔명조" pitchFamily="18" charset="-127"/>
              </a:rPr>
              <a:t>년 국가환경정책법</a:t>
            </a:r>
            <a:r>
              <a:rPr lang="en-US" altLang="ko-KR" sz="2600" dirty="0">
                <a:latin typeface="나눔명조" pitchFamily="18" charset="-127"/>
                <a:ea typeface="나눔명조" pitchFamily="18" charset="-127"/>
              </a:rPr>
              <a:t>(NEPA)</a:t>
            </a:r>
            <a:r>
              <a:rPr lang="ko-KR" altLang="en-US" sz="2600" dirty="0">
                <a:latin typeface="나눔명조" pitchFamily="18" charset="-127"/>
                <a:ea typeface="나눔명조" pitchFamily="18" charset="-127"/>
              </a:rPr>
              <a:t>에 의해 시작됨</a:t>
            </a:r>
            <a:endParaRPr lang="en-US" altLang="ko-KR" sz="2600" dirty="0">
              <a:latin typeface="나눔명조" pitchFamily="18" charset="-127"/>
              <a:ea typeface="나눔명조" pitchFamily="18" charset="-127"/>
            </a:endParaRPr>
          </a:p>
          <a:p>
            <a:r>
              <a:rPr lang="ko-KR" altLang="en-US" sz="2600" dirty="0">
                <a:latin typeface="나눔명조" pitchFamily="18" charset="-127"/>
                <a:ea typeface="나눔명조" pitchFamily="18" charset="-127"/>
              </a:rPr>
              <a:t>이후 </a:t>
            </a:r>
            <a:r>
              <a:rPr lang="en-US" altLang="ko-KR" sz="2600" dirty="0">
                <a:latin typeface="나눔명조" pitchFamily="18" charset="-127"/>
                <a:ea typeface="나눔명조" pitchFamily="18" charset="-127"/>
              </a:rPr>
              <a:t>UN</a:t>
            </a:r>
            <a:r>
              <a:rPr lang="ko-KR" altLang="en-US" sz="2600" dirty="0">
                <a:latin typeface="나눔명조" pitchFamily="18" charset="-127"/>
                <a:ea typeface="나눔명조" pitchFamily="18" charset="-127"/>
              </a:rPr>
              <a:t>환경계획</a:t>
            </a:r>
            <a:r>
              <a:rPr lang="en-US" altLang="ko-KR" sz="2600" dirty="0">
                <a:latin typeface="나눔명조" pitchFamily="18" charset="-127"/>
                <a:ea typeface="나눔명조" pitchFamily="18" charset="-127"/>
              </a:rPr>
              <a:t>(UNEP)</a:t>
            </a:r>
            <a:r>
              <a:rPr lang="ko-KR" altLang="en-US" sz="2600" dirty="0">
                <a:latin typeface="나눔명조" pitchFamily="18" charset="-127"/>
                <a:ea typeface="나눔명조" pitchFamily="18" charset="-127"/>
              </a:rPr>
              <a:t>이나 </a:t>
            </a:r>
            <a:r>
              <a:rPr lang="en-US" altLang="ko-KR" sz="2600" dirty="0">
                <a:latin typeface="나눔명조" pitchFamily="18" charset="-127"/>
                <a:ea typeface="나눔명조" pitchFamily="18" charset="-127"/>
              </a:rPr>
              <a:t>OECD</a:t>
            </a:r>
            <a:r>
              <a:rPr lang="ko-KR" altLang="en-US" sz="2600" dirty="0">
                <a:latin typeface="나눔명조" pitchFamily="18" charset="-127"/>
                <a:ea typeface="나눔명조" pitchFamily="18" charset="-127"/>
              </a:rPr>
              <a:t>같은 국제기구에서는 환경영향평가를 시행할 것을 권장함</a:t>
            </a:r>
            <a:endParaRPr lang="en-US" altLang="ko-KR" sz="2600" dirty="0">
              <a:latin typeface="나눔명조" pitchFamily="18" charset="-127"/>
              <a:ea typeface="나눔명조" pitchFamily="18" charset="-127"/>
            </a:endParaRPr>
          </a:p>
          <a:p>
            <a:endParaRPr lang="en-US" altLang="ko-KR" sz="2000" dirty="0">
              <a:ea typeface="나눔명조" pitchFamily="18" charset="-127"/>
            </a:endParaRPr>
          </a:p>
          <a:p>
            <a:pPr>
              <a:lnSpc>
                <a:spcPct val="150000"/>
              </a:lnSpc>
            </a:pPr>
            <a:endParaRPr lang="en-US" altLang="ko-KR" sz="2000" dirty="0">
              <a:ea typeface="나눔명조" pitchFamily="18" charset="-127"/>
            </a:endParaRPr>
          </a:p>
        </p:txBody>
      </p:sp>
      <p:sp>
        <p:nvSpPr>
          <p:cNvPr id="31751" name="Rectangle 6">
            <a:extLst>
              <a:ext uri="{FF2B5EF4-FFF2-40B4-BE49-F238E27FC236}">
                <a16:creationId xmlns:a16="http://schemas.microsoft.com/office/drawing/2014/main" id="{8309C44C-62DF-4A10-8198-23FCFF89AF2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96975" y="0"/>
            <a:ext cx="8201025" cy="998538"/>
          </a:xfrm>
        </p:spPr>
        <p:txBody>
          <a:bodyPr/>
          <a:lstStyle/>
          <a:p>
            <a:pPr eaLnBrk="1" hangingPunct="1"/>
            <a: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기타분석틀</a:t>
            </a:r>
            <a:r>
              <a:rPr lang="en-US" altLang="ko-KR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: </a:t>
            </a:r>
            <a: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환경영향평가</a:t>
            </a:r>
          </a:p>
        </p:txBody>
      </p:sp>
    </p:spTree>
  </p:cSld>
  <p:clrMapOvr>
    <a:masterClrMapping/>
  </p:clrMapOvr>
  <p:transition spd="med">
    <p:wipe dir="r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바닥글 개체 틀 4">
            <a:extLst>
              <a:ext uri="{FF2B5EF4-FFF2-40B4-BE49-F238E27FC236}">
                <a16:creationId xmlns:a16="http://schemas.microsoft.com/office/drawing/2014/main" id="{7804B526-A38E-4C05-A3CC-87664CB6B8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r>
              <a:rPr lang="ko-KR" altLang="en-US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13</a:t>
            </a:r>
          </a:p>
        </p:txBody>
      </p:sp>
      <p:sp>
        <p:nvSpPr>
          <p:cNvPr id="32771" name="슬라이드 번호 개체 틀 5">
            <a:extLst>
              <a:ext uri="{FF2B5EF4-FFF2-40B4-BE49-F238E27FC236}">
                <a16:creationId xmlns:a16="http://schemas.microsoft.com/office/drawing/2014/main" id="{F40A2FF3-08F6-4EE8-9BEE-C418F05F4C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fld id="{E04FFD48-55F5-4269-8F1D-DE95798DF383}" type="slidenum">
              <a:rPr lang="ko-KR" altLang="en-US" sz="1200" b="0">
                <a:solidFill>
                  <a:schemeClr val="tx1"/>
                </a:solidFill>
              </a:rPr>
              <a:pPr/>
              <a:t>20</a:t>
            </a:fld>
            <a:endParaRPr lang="en-US" altLang="ko-KR" sz="1200" b="0">
              <a:solidFill>
                <a:schemeClr val="tx1"/>
              </a:solidFill>
            </a:endParaRPr>
          </a:p>
        </p:txBody>
      </p:sp>
      <p:sp>
        <p:nvSpPr>
          <p:cNvPr id="32772" name="Rectangle 2">
            <a:extLst>
              <a:ext uri="{FF2B5EF4-FFF2-40B4-BE49-F238E27FC236}">
                <a16:creationId xmlns:a16="http://schemas.microsoft.com/office/drawing/2014/main" id="{7116D351-0C7B-44F3-9F90-23402F9E4C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32773" name="Rectangle 3">
            <a:extLst>
              <a:ext uri="{FF2B5EF4-FFF2-40B4-BE49-F238E27FC236}">
                <a16:creationId xmlns:a16="http://schemas.microsoft.com/office/drawing/2014/main" id="{F9073D24-E8A7-4878-ABE8-929EF9A1A4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32774" name="내용 개체 틀 7">
            <a:extLst>
              <a:ext uri="{FF2B5EF4-FFF2-40B4-BE49-F238E27FC236}">
                <a16:creationId xmlns:a16="http://schemas.microsoft.com/office/drawing/2014/main" id="{802A6845-A42B-4C1C-9CC2-4E96B05825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1688" y="1420813"/>
            <a:ext cx="7850187" cy="4767262"/>
          </a:xfrm>
        </p:spPr>
        <p:txBody>
          <a:bodyPr lIns="0" tIns="0" rIns="0" bIns="0"/>
          <a:lstStyle/>
          <a:p>
            <a:r>
              <a:rPr lang="ko-KR" altLang="en-US" sz="2600" b="1" dirty="0">
                <a:solidFill>
                  <a:srgbClr val="0000FF"/>
                </a:solidFill>
                <a:latin typeface="나눔명조" pitchFamily="18" charset="-127"/>
                <a:ea typeface="나눔명조" pitchFamily="18" charset="-127"/>
              </a:rPr>
              <a:t>경제영향평가</a:t>
            </a:r>
            <a:r>
              <a:rPr lang="en-US" altLang="ko-KR" sz="2600" b="1" dirty="0">
                <a:solidFill>
                  <a:srgbClr val="0000FF"/>
                </a:solidFill>
                <a:latin typeface="나눔명조" pitchFamily="18" charset="-127"/>
                <a:ea typeface="나눔명조" pitchFamily="18" charset="-127"/>
              </a:rPr>
              <a:t>(economic impact analysis)</a:t>
            </a:r>
            <a:r>
              <a:rPr lang="ko-KR" altLang="en-US" sz="2600" dirty="0">
                <a:ea typeface="나눔명조" pitchFamily="18" charset="-127"/>
              </a:rPr>
              <a:t>는 환경정책이 입안될 경우 경제가 어떤 영향을 받게 되는지를 분석하는 것임</a:t>
            </a:r>
            <a:endParaRPr lang="en-US" altLang="ko-KR" sz="2600" dirty="0">
              <a:ea typeface="나눔명조" pitchFamily="18" charset="-127"/>
            </a:endParaRPr>
          </a:p>
          <a:p>
            <a:pPr lvl="1"/>
            <a:r>
              <a:rPr lang="ko-KR" altLang="en-US" sz="2200" dirty="0">
                <a:ea typeface="나눔명조" pitchFamily="18" charset="-127"/>
              </a:rPr>
              <a:t>가장 영향력 있는 경제영향평가법은  </a:t>
            </a:r>
            <a:r>
              <a:rPr lang="ko-KR" altLang="en-US" sz="2200" b="1" dirty="0">
                <a:solidFill>
                  <a:srgbClr val="0000FF"/>
                </a:solidFill>
                <a:latin typeface="나눔명조" pitchFamily="18" charset="-127"/>
                <a:ea typeface="나눔명조" pitchFamily="18" charset="-127"/>
              </a:rPr>
              <a:t>연산일반균형</a:t>
            </a:r>
            <a:r>
              <a:rPr lang="en-US" altLang="ko-KR" sz="2200" b="1" dirty="0">
                <a:solidFill>
                  <a:srgbClr val="0000FF"/>
                </a:solidFill>
                <a:latin typeface="나눔명조" pitchFamily="18" charset="-127"/>
                <a:ea typeface="나눔명조" pitchFamily="18" charset="-127"/>
              </a:rPr>
              <a:t>(computable general equilibrium, CGE)</a:t>
            </a:r>
            <a:r>
              <a:rPr lang="ko-KR" altLang="en-US" sz="2200" dirty="0">
                <a:ea typeface="나눔명조" pitchFamily="18" charset="-127"/>
              </a:rPr>
              <a:t>모형임</a:t>
            </a:r>
            <a:endParaRPr lang="en-US" altLang="ko-KR" sz="2200" dirty="0">
              <a:ea typeface="나눔명조" pitchFamily="18" charset="-127"/>
            </a:endParaRPr>
          </a:p>
          <a:p>
            <a:pPr lvl="1"/>
            <a:r>
              <a:rPr lang="en-US" altLang="ko-KR" sz="2200" dirty="0">
                <a:ea typeface="나눔명조" pitchFamily="18" charset="-127"/>
              </a:rPr>
              <a:t>CGE</a:t>
            </a:r>
            <a:r>
              <a:rPr lang="ko-KR" altLang="en-US" sz="2200" dirty="0">
                <a:ea typeface="나눔명조" pitchFamily="18" charset="-127"/>
              </a:rPr>
              <a:t>모형은 각 산업이 자신의 산출물을 다른 산업부문에 투입물로 제공하고 또한 다른 산업이 생산한 산출물을 투입물로 사용하는 기술적 관계와 기업의 </a:t>
            </a:r>
            <a:r>
              <a:rPr lang="ko-KR" altLang="en-US" sz="2200" dirty="0" err="1">
                <a:ea typeface="나눔명조" pitchFamily="18" charset="-127"/>
              </a:rPr>
              <a:t>이윤극대화행위</a:t>
            </a:r>
            <a:r>
              <a:rPr lang="en-US" altLang="ko-KR" sz="2200" dirty="0">
                <a:ea typeface="나눔명조" pitchFamily="18" charset="-127"/>
              </a:rPr>
              <a:t>, </a:t>
            </a:r>
            <a:r>
              <a:rPr lang="ko-KR" altLang="en-US" sz="2200" dirty="0">
                <a:ea typeface="나눔명조" pitchFamily="18" charset="-127"/>
              </a:rPr>
              <a:t>소비자의 소비행위를 반영하여 구축됨</a:t>
            </a:r>
            <a:r>
              <a:rPr lang="en-US" altLang="ko-KR" sz="2200" dirty="0">
                <a:ea typeface="나눔명조" pitchFamily="18" charset="-127"/>
              </a:rPr>
              <a:t>(</a:t>
            </a:r>
            <a:r>
              <a:rPr lang="ko-KR" altLang="en-US" sz="2200" dirty="0">
                <a:ea typeface="나눔명조" pitchFamily="18" charset="-127"/>
              </a:rPr>
              <a:t>제</a:t>
            </a:r>
            <a:r>
              <a:rPr lang="en-US" altLang="ko-KR" sz="2200" dirty="0">
                <a:ea typeface="나눔명조" pitchFamily="18" charset="-127"/>
              </a:rPr>
              <a:t>18</a:t>
            </a:r>
            <a:r>
              <a:rPr lang="ko-KR" altLang="en-US" sz="2200" dirty="0">
                <a:ea typeface="나눔명조" pitchFamily="18" charset="-127"/>
              </a:rPr>
              <a:t>장 부록 참조</a:t>
            </a:r>
            <a:r>
              <a:rPr lang="en-US" altLang="ko-KR" sz="2200" dirty="0">
                <a:ea typeface="나눔명조" pitchFamily="18" charset="-127"/>
              </a:rPr>
              <a:t>)</a:t>
            </a:r>
          </a:p>
          <a:p>
            <a:pPr>
              <a:lnSpc>
                <a:spcPct val="150000"/>
              </a:lnSpc>
            </a:pPr>
            <a:endParaRPr lang="en-US" altLang="ko-KR" sz="2000" dirty="0">
              <a:ea typeface="나눔명조" pitchFamily="18" charset="-127"/>
            </a:endParaRPr>
          </a:p>
        </p:txBody>
      </p:sp>
      <p:sp>
        <p:nvSpPr>
          <p:cNvPr id="32775" name="Rectangle 6">
            <a:extLst>
              <a:ext uri="{FF2B5EF4-FFF2-40B4-BE49-F238E27FC236}">
                <a16:creationId xmlns:a16="http://schemas.microsoft.com/office/drawing/2014/main" id="{408CD7A7-40A3-456B-B48F-EE97A8B6D69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96975" y="0"/>
            <a:ext cx="8201025" cy="998538"/>
          </a:xfrm>
        </p:spPr>
        <p:txBody>
          <a:bodyPr/>
          <a:lstStyle/>
          <a:p>
            <a:pPr eaLnBrk="1" hangingPunct="1"/>
            <a: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기타분석틀</a:t>
            </a:r>
            <a:r>
              <a:rPr lang="en-US" altLang="ko-KR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: </a:t>
            </a:r>
            <a: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경제영향평가</a:t>
            </a:r>
          </a:p>
        </p:txBody>
      </p:sp>
    </p:spTree>
  </p:cSld>
  <p:clrMapOvr>
    <a:masterClrMapping/>
  </p:clrMapOvr>
  <p:transition spd="med">
    <p:wipe dir="r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바닥글 개체 틀 4">
            <a:extLst>
              <a:ext uri="{FF2B5EF4-FFF2-40B4-BE49-F238E27FC236}">
                <a16:creationId xmlns:a16="http://schemas.microsoft.com/office/drawing/2014/main" id="{B0F9AEA0-00D3-498A-A302-AD4446F3FA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r>
              <a:rPr lang="ko-KR" altLang="en-US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13</a:t>
            </a:r>
          </a:p>
        </p:txBody>
      </p:sp>
      <p:sp>
        <p:nvSpPr>
          <p:cNvPr id="33795" name="슬라이드 번호 개체 틀 5">
            <a:extLst>
              <a:ext uri="{FF2B5EF4-FFF2-40B4-BE49-F238E27FC236}">
                <a16:creationId xmlns:a16="http://schemas.microsoft.com/office/drawing/2014/main" id="{8B34DBC9-BFF0-4627-8C4B-57C832D469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fld id="{C62E26CD-3E5A-428F-B325-E0ACD76EA012}" type="slidenum">
              <a:rPr lang="ko-KR" altLang="en-US" sz="1200" b="0">
                <a:solidFill>
                  <a:schemeClr val="tx1"/>
                </a:solidFill>
              </a:rPr>
              <a:pPr/>
              <a:t>21</a:t>
            </a:fld>
            <a:endParaRPr lang="en-US" altLang="ko-KR" sz="1200" b="0">
              <a:solidFill>
                <a:schemeClr val="tx1"/>
              </a:solidFill>
            </a:endParaRPr>
          </a:p>
        </p:txBody>
      </p:sp>
      <p:sp>
        <p:nvSpPr>
          <p:cNvPr id="33796" name="Rectangle 2">
            <a:extLst>
              <a:ext uri="{FF2B5EF4-FFF2-40B4-BE49-F238E27FC236}">
                <a16:creationId xmlns:a16="http://schemas.microsoft.com/office/drawing/2014/main" id="{2962EC1B-78DB-4896-BB8D-6F55A2F855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33797" name="Rectangle 3">
            <a:extLst>
              <a:ext uri="{FF2B5EF4-FFF2-40B4-BE49-F238E27FC236}">
                <a16:creationId xmlns:a16="http://schemas.microsoft.com/office/drawing/2014/main" id="{8C524FD0-CEF4-4439-863C-7D71B2C094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33798" name="내용 개체 틀 7">
            <a:extLst>
              <a:ext uri="{FF2B5EF4-FFF2-40B4-BE49-F238E27FC236}">
                <a16:creationId xmlns:a16="http://schemas.microsoft.com/office/drawing/2014/main" id="{168117A9-BAAF-43D4-B234-7E8BE686ED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8688" y="1716088"/>
            <a:ext cx="7610475" cy="3333750"/>
          </a:xfrm>
        </p:spPr>
        <p:txBody>
          <a:bodyPr lIns="0" tIns="0" rIns="0" bIns="0"/>
          <a:lstStyle/>
          <a:p>
            <a:r>
              <a:rPr lang="ko-KR" altLang="en-US" sz="2800" b="1" dirty="0">
                <a:solidFill>
                  <a:srgbClr val="0000FF"/>
                </a:solidFill>
                <a:latin typeface="나눔명조" pitchFamily="18" charset="-127"/>
                <a:ea typeface="나눔명조" pitchFamily="18" charset="-127"/>
              </a:rPr>
              <a:t>규제영향평가</a:t>
            </a:r>
            <a:r>
              <a:rPr lang="en-US" altLang="ko-KR" sz="2800" b="1" dirty="0">
                <a:solidFill>
                  <a:srgbClr val="0000FF"/>
                </a:solidFill>
                <a:latin typeface="나눔명조" pitchFamily="18" charset="-127"/>
                <a:ea typeface="나눔명조" pitchFamily="18" charset="-127"/>
              </a:rPr>
              <a:t>(regulatory impact analysis)</a:t>
            </a:r>
          </a:p>
          <a:p>
            <a:pPr lvl="1"/>
            <a:r>
              <a:rPr lang="en-US" altLang="ko-KR" sz="2400" dirty="0">
                <a:ea typeface="나눔명조" pitchFamily="18" charset="-127"/>
              </a:rPr>
              <a:t>1980</a:t>
            </a:r>
            <a:r>
              <a:rPr lang="ko-KR" altLang="en-US" sz="2400" dirty="0">
                <a:ea typeface="나눔명조" pitchFamily="18" charset="-127"/>
              </a:rPr>
              <a:t>년대 이후 미국에서 주로 사용하고 있음</a:t>
            </a:r>
            <a:endParaRPr lang="en-US" altLang="ko-KR" sz="2400" dirty="0">
              <a:ea typeface="나눔명조" pitchFamily="18" charset="-127"/>
            </a:endParaRPr>
          </a:p>
          <a:p>
            <a:pPr lvl="1"/>
            <a:r>
              <a:rPr lang="ko-KR" altLang="en-US" sz="2400" dirty="0">
                <a:ea typeface="나눔명조" pitchFamily="18" charset="-127"/>
              </a:rPr>
              <a:t>각종 정부규제 조치에 대해 적용된 비용</a:t>
            </a:r>
            <a:r>
              <a:rPr lang="en-US" altLang="ko-KR" sz="2400" dirty="0">
                <a:ea typeface="나눔명조" pitchFamily="18" charset="-127"/>
              </a:rPr>
              <a:t>-</a:t>
            </a:r>
            <a:r>
              <a:rPr lang="ko-KR" altLang="en-US" sz="2400" dirty="0">
                <a:ea typeface="나눔명조" pitchFamily="18" charset="-127"/>
              </a:rPr>
              <a:t>편익 분석을 규제영향평가라 지칭</a:t>
            </a:r>
            <a:endParaRPr lang="en-US" altLang="ko-KR" sz="2400" dirty="0">
              <a:ea typeface="나눔명조" pitchFamily="18" charset="-127"/>
            </a:endParaRPr>
          </a:p>
          <a:p>
            <a:r>
              <a:rPr lang="ko-KR" altLang="en-US" sz="2800" b="1" dirty="0">
                <a:solidFill>
                  <a:srgbClr val="0000FF"/>
                </a:solidFill>
                <a:latin typeface="나눔명조" pitchFamily="18" charset="-127"/>
                <a:ea typeface="나눔명조" pitchFamily="18" charset="-127"/>
              </a:rPr>
              <a:t>비용효과분석</a:t>
            </a:r>
            <a:r>
              <a:rPr lang="en-US" altLang="ko-KR" sz="2800" b="1" dirty="0">
                <a:solidFill>
                  <a:srgbClr val="0000FF"/>
                </a:solidFill>
                <a:latin typeface="나눔명조" pitchFamily="18" charset="-127"/>
                <a:ea typeface="나눔명조" pitchFamily="18" charset="-127"/>
              </a:rPr>
              <a:t>(cost-effectiveness analysis)</a:t>
            </a:r>
            <a:endParaRPr lang="en-US" altLang="ko-KR" sz="2800" dirty="0">
              <a:ea typeface="나눔명조" pitchFamily="18" charset="-127"/>
            </a:endParaRPr>
          </a:p>
          <a:p>
            <a:pPr lvl="1"/>
            <a:r>
              <a:rPr lang="ko-KR" altLang="en-US" sz="2400" dirty="0">
                <a:ea typeface="나눔명조" pitchFamily="18" charset="-127"/>
              </a:rPr>
              <a:t> 정부가 목표로 하는 </a:t>
            </a:r>
            <a:r>
              <a:rPr lang="ko-KR" altLang="en-US" sz="2400" dirty="0" err="1">
                <a:ea typeface="나눔명조" pitchFamily="18" charset="-127"/>
              </a:rPr>
              <a:t>환경질의</a:t>
            </a:r>
            <a:r>
              <a:rPr lang="ko-KR" altLang="en-US" sz="2400" dirty="0">
                <a:ea typeface="나눔명조" pitchFamily="18" charset="-127"/>
              </a:rPr>
              <a:t> 수준이 있고 이를 달성하기 위해 여러 정책 수단을 사용할 수 있을 때 가장 적은 비용으로 달성할 수 있는 수단이 무엇인지를 찾는 분석</a:t>
            </a:r>
            <a:endParaRPr lang="en-US" altLang="ko-KR" sz="2400" dirty="0">
              <a:ea typeface="나눔명조" pitchFamily="18" charset="-127"/>
            </a:endParaRPr>
          </a:p>
          <a:p>
            <a:pPr lvl="1"/>
            <a:endParaRPr lang="en-US" altLang="ko-KR" dirty="0">
              <a:ea typeface="나눔명조" pitchFamily="18" charset="-127"/>
            </a:endParaRPr>
          </a:p>
        </p:txBody>
      </p:sp>
      <p:sp>
        <p:nvSpPr>
          <p:cNvPr id="33799" name="Rectangle 6">
            <a:extLst>
              <a:ext uri="{FF2B5EF4-FFF2-40B4-BE49-F238E27FC236}">
                <a16:creationId xmlns:a16="http://schemas.microsoft.com/office/drawing/2014/main" id="{F866C155-F15F-49DA-B243-CD4FA181215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82688" y="365125"/>
            <a:ext cx="8201025" cy="998538"/>
          </a:xfrm>
        </p:spPr>
        <p:txBody>
          <a:bodyPr/>
          <a:lstStyle/>
          <a:p>
            <a:pPr eaLnBrk="1" hangingPunct="1"/>
            <a: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기타분석틀</a:t>
            </a:r>
            <a:br>
              <a:rPr lang="en-US" altLang="ko-KR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</a:br>
            <a:r>
              <a:rPr lang="en-US" altLang="ko-KR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: </a:t>
            </a:r>
            <a: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비용효과분석</a:t>
            </a:r>
            <a:r>
              <a:rPr lang="en-US" altLang="ko-KR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,</a:t>
            </a:r>
            <a: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 규제영향평가</a:t>
            </a:r>
          </a:p>
        </p:txBody>
      </p:sp>
    </p:spTree>
  </p:cSld>
  <p:clrMapOvr>
    <a:masterClrMapping/>
  </p:clrMapOvr>
  <p:transition spd="med">
    <p:wipe dir="r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바닥글 개체 틀 4">
            <a:extLst>
              <a:ext uri="{FF2B5EF4-FFF2-40B4-BE49-F238E27FC236}">
                <a16:creationId xmlns:a16="http://schemas.microsoft.com/office/drawing/2014/main" id="{E1BAAA20-9B31-4DC5-8AE9-1CB139F836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r>
              <a:rPr lang="ko-KR" altLang="en-US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13</a:t>
            </a:r>
          </a:p>
        </p:txBody>
      </p:sp>
      <p:sp>
        <p:nvSpPr>
          <p:cNvPr id="34819" name="슬라이드 번호 개체 틀 5">
            <a:extLst>
              <a:ext uri="{FF2B5EF4-FFF2-40B4-BE49-F238E27FC236}">
                <a16:creationId xmlns:a16="http://schemas.microsoft.com/office/drawing/2014/main" id="{3DF7B316-A9D3-464E-A978-0E63CF4B5C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fld id="{2D0BB7D7-3366-41E2-9B11-A2600F6595A9}" type="slidenum">
              <a:rPr lang="ko-KR" altLang="en-US" sz="1200" b="0">
                <a:solidFill>
                  <a:schemeClr val="tx1"/>
                </a:solidFill>
              </a:rPr>
              <a:pPr/>
              <a:t>22</a:t>
            </a:fld>
            <a:endParaRPr lang="en-US" altLang="ko-KR" sz="1200" b="0">
              <a:solidFill>
                <a:schemeClr val="tx1"/>
              </a:solidFill>
            </a:endParaRPr>
          </a:p>
        </p:txBody>
      </p:sp>
      <p:sp>
        <p:nvSpPr>
          <p:cNvPr id="34820" name="Rectangle 2">
            <a:extLst>
              <a:ext uri="{FF2B5EF4-FFF2-40B4-BE49-F238E27FC236}">
                <a16:creationId xmlns:a16="http://schemas.microsoft.com/office/drawing/2014/main" id="{3172430C-4417-44A3-B3A5-1A1A5C911F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34821" name="Rectangle 3">
            <a:extLst>
              <a:ext uri="{FF2B5EF4-FFF2-40B4-BE49-F238E27FC236}">
                <a16:creationId xmlns:a16="http://schemas.microsoft.com/office/drawing/2014/main" id="{40559F6D-BFB8-40DA-8638-BE4D00B688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34822" name="내용 개체 틀 7">
            <a:extLst>
              <a:ext uri="{FF2B5EF4-FFF2-40B4-BE49-F238E27FC236}">
                <a16:creationId xmlns:a16="http://schemas.microsoft.com/office/drawing/2014/main" id="{AFCB6D41-5258-49C5-A2A5-BF5AF542C5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46943" y="1507210"/>
            <a:ext cx="7554913" cy="3390900"/>
          </a:xfrm>
        </p:spPr>
        <p:txBody>
          <a:bodyPr lIns="0" tIns="0" rIns="0" bIns="0"/>
          <a:lstStyle/>
          <a:p>
            <a:r>
              <a:rPr lang="ko-KR" altLang="en-US" sz="2400" b="1" dirty="0">
                <a:solidFill>
                  <a:srgbClr val="0000FF"/>
                </a:solidFill>
                <a:latin typeface="나눔명조" pitchFamily="18" charset="-127"/>
                <a:ea typeface="나눔명조" pitchFamily="18" charset="-127"/>
              </a:rPr>
              <a:t>환경피해평가</a:t>
            </a:r>
            <a:r>
              <a:rPr lang="en-US" altLang="ko-KR" sz="2400" b="1" dirty="0">
                <a:solidFill>
                  <a:srgbClr val="0000FF"/>
                </a:solidFill>
                <a:latin typeface="나눔명조" pitchFamily="18" charset="-127"/>
                <a:ea typeface="나눔명조" pitchFamily="18" charset="-127"/>
              </a:rPr>
              <a:t>(damage assessment)</a:t>
            </a:r>
          </a:p>
          <a:p>
            <a:pPr lvl="1"/>
            <a:r>
              <a:rPr lang="ko-KR" altLang="en-US" sz="2000" dirty="0">
                <a:ea typeface="나눔명조" pitchFamily="18" charset="-127"/>
              </a:rPr>
              <a:t>공공 소유의 환경을 훼손한 사람을 법정에 고소하여 그 피해배상을 받을 수 있도록 했을 때</a:t>
            </a:r>
            <a:r>
              <a:rPr lang="en-US" altLang="ko-KR" sz="2000" dirty="0">
                <a:ea typeface="나눔명조" pitchFamily="18" charset="-127"/>
              </a:rPr>
              <a:t>, </a:t>
            </a:r>
            <a:r>
              <a:rPr lang="ko-KR" altLang="en-US" sz="2000" dirty="0">
                <a:ea typeface="나눔명조" pitchFamily="18" charset="-127"/>
              </a:rPr>
              <a:t>청구할 배상액을 결정하기 위해 그 사람의 행위로 환경이 입은 피해를 평가하는 것</a:t>
            </a:r>
            <a:endParaRPr lang="en-US" altLang="ko-KR" sz="2000" dirty="0">
              <a:ea typeface="나눔명조" pitchFamily="18" charset="-127"/>
            </a:endParaRPr>
          </a:p>
          <a:p>
            <a:r>
              <a:rPr lang="ko-KR" altLang="en-US" sz="2400" b="1" dirty="0">
                <a:solidFill>
                  <a:srgbClr val="0000FF"/>
                </a:solidFill>
                <a:latin typeface="나눔명조" pitchFamily="18" charset="-127"/>
                <a:ea typeface="나눔명조" pitchFamily="18" charset="-127"/>
              </a:rPr>
              <a:t>환경위험평가</a:t>
            </a:r>
            <a:r>
              <a:rPr lang="en-US" altLang="ko-KR" sz="2400" b="1" dirty="0">
                <a:solidFill>
                  <a:srgbClr val="0000FF"/>
                </a:solidFill>
                <a:latin typeface="나눔명조" pitchFamily="18" charset="-127"/>
                <a:ea typeface="나눔명조" pitchFamily="18" charset="-127"/>
              </a:rPr>
              <a:t>(risk assessment)</a:t>
            </a:r>
          </a:p>
          <a:p>
            <a:pPr lvl="1"/>
            <a:r>
              <a:rPr lang="ko-KR" altLang="en-US" sz="2000" dirty="0">
                <a:ea typeface="나눔명조" pitchFamily="18" charset="-127"/>
              </a:rPr>
              <a:t>유조선 기름유출</a:t>
            </a:r>
            <a:r>
              <a:rPr lang="en-US" altLang="ko-KR" sz="2000" dirty="0">
                <a:ea typeface="나눔명조" pitchFamily="18" charset="-127"/>
              </a:rPr>
              <a:t>, </a:t>
            </a:r>
            <a:r>
              <a:rPr lang="ko-KR" altLang="en-US" sz="2000" dirty="0">
                <a:ea typeface="나눔명조" pitchFamily="18" charset="-127"/>
              </a:rPr>
              <a:t>발전소 방사능 유출</a:t>
            </a:r>
            <a:r>
              <a:rPr lang="en-US" altLang="ko-KR" sz="2000" dirty="0">
                <a:ea typeface="나눔명조" pitchFamily="18" charset="-127"/>
              </a:rPr>
              <a:t>, </a:t>
            </a:r>
            <a:r>
              <a:rPr lang="ko-KR" altLang="en-US" sz="2000" dirty="0" err="1">
                <a:ea typeface="나눔명조" pitchFamily="18" charset="-127"/>
              </a:rPr>
              <a:t>농약잔류와</a:t>
            </a:r>
            <a:r>
              <a:rPr lang="ko-KR" altLang="en-US" sz="2000" dirty="0">
                <a:ea typeface="나눔명조" pitchFamily="18" charset="-127"/>
              </a:rPr>
              <a:t> 같이 확률을 가지고 발생하는 간헐적인 오염사고를 줄이기 위해 사용됨</a:t>
            </a:r>
            <a:endParaRPr lang="en-US" altLang="ko-KR" sz="2000" dirty="0">
              <a:ea typeface="나눔명조" pitchFamily="18" charset="-127"/>
            </a:endParaRPr>
          </a:p>
          <a:p>
            <a:pPr lvl="1"/>
            <a:r>
              <a:rPr lang="ko-KR" altLang="en-US" sz="2000" dirty="0">
                <a:ea typeface="나눔명조" pitchFamily="18" charset="-127"/>
              </a:rPr>
              <a:t>정부는 사고를 방지하기 위해 정책을 도입하고 이로 인해 기대 사고횟수가 달라짐</a:t>
            </a:r>
            <a:r>
              <a:rPr lang="en-US" altLang="ko-KR" sz="2000" dirty="0">
                <a:ea typeface="나눔명조" pitchFamily="18" charset="-127"/>
              </a:rPr>
              <a:t>. </a:t>
            </a:r>
            <a:r>
              <a:rPr lang="ko-KR" altLang="en-US" sz="2000" dirty="0">
                <a:ea typeface="나눔명조" pitchFamily="18" charset="-127"/>
              </a:rPr>
              <a:t>이때 정책을 평가하기 위해서는  줄어든 기대 사고횟수로 증가하는 사회적 후생과 정책 도입으로 인해 소요되는 비용을 계산하여 판단함</a:t>
            </a:r>
            <a:endParaRPr lang="en-US" altLang="ko-KR" sz="2000" dirty="0">
              <a:ea typeface="나눔명조" pitchFamily="18" charset="-127"/>
            </a:endParaRPr>
          </a:p>
        </p:txBody>
      </p:sp>
      <p:sp>
        <p:nvSpPr>
          <p:cNvPr id="34823" name="Rectangle 6">
            <a:extLst>
              <a:ext uri="{FF2B5EF4-FFF2-40B4-BE49-F238E27FC236}">
                <a16:creationId xmlns:a16="http://schemas.microsoft.com/office/drawing/2014/main" id="{3EA4B0CA-6CCE-413C-982A-463676EFF40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95388" y="365125"/>
            <a:ext cx="8201025" cy="998538"/>
          </a:xfrm>
        </p:spPr>
        <p:txBody>
          <a:bodyPr/>
          <a:lstStyle/>
          <a:p>
            <a:pPr eaLnBrk="1" hangingPunct="1"/>
            <a: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기타분석틀</a:t>
            </a:r>
            <a:br>
              <a:rPr lang="en-US" altLang="ko-KR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</a:br>
            <a:r>
              <a:rPr lang="en-US" altLang="ko-KR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: </a:t>
            </a:r>
            <a: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환경피해평가</a:t>
            </a:r>
            <a:r>
              <a:rPr lang="en-US" altLang="ko-KR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환경위험평가</a:t>
            </a:r>
          </a:p>
        </p:txBody>
      </p:sp>
    </p:spTree>
  </p:cSld>
  <p:clrMapOvr>
    <a:masterClrMapping/>
  </p:clrMapOvr>
  <p:transition spd="med">
    <p:wipe dir="r"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바닥글 개체 틀 4">
            <a:extLst>
              <a:ext uri="{FF2B5EF4-FFF2-40B4-BE49-F238E27FC236}">
                <a16:creationId xmlns:a16="http://schemas.microsoft.com/office/drawing/2014/main" id="{A9B21F32-8159-438D-A857-569BCAA969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r>
              <a:rPr lang="ko-KR" altLang="en-US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13</a:t>
            </a:r>
          </a:p>
        </p:txBody>
      </p:sp>
      <p:sp>
        <p:nvSpPr>
          <p:cNvPr id="35843" name="슬라이드 번호 개체 틀 5">
            <a:extLst>
              <a:ext uri="{FF2B5EF4-FFF2-40B4-BE49-F238E27FC236}">
                <a16:creationId xmlns:a16="http://schemas.microsoft.com/office/drawing/2014/main" id="{A96829FD-86EB-4B7E-84DB-91729353E1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fld id="{38EB7342-2CDD-41C2-8FB1-3D60ABEC0A42}" type="slidenum">
              <a:rPr lang="ko-KR" altLang="en-US" sz="1200" b="0">
                <a:solidFill>
                  <a:schemeClr val="tx1"/>
                </a:solidFill>
              </a:rPr>
              <a:pPr/>
              <a:t>23</a:t>
            </a:fld>
            <a:endParaRPr lang="en-US" altLang="ko-KR" sz="1200" b="0">
              <a:solidFill>
                <a:schemeClr val="tx1"/>
              </a:solidFill>
            </a:endParaRPr>
          </a:p>
        </p:txBody>
      </p:sp>
      <p:sp>
        <p:nvSpPr>
          <p:cNvPr id="35844" name="Rectangle 2">
            <a:extLst>
              <a:ext uri="{FF2B5EF4-FFF2-40B4-BE49-F238E27FC236}">
                <a16:creationId xmlns:a16="http://schemas.microsoft.com/office/drawing/2014/main" id="{56C34E5C-FDBE-4E50-A2DC-4BAA7F7683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35845" name="Rectangle 3">
            <a:extLst>
              <a:ext uri="{FF2B5EF4-FFF2-40B4-BE49-F238E27FC236}">
                <a16:creationId xmlns:a16="http://schemas.microsoft.com/office/drawing/2014/main" id="{F2E46E35-511A-49F3-B8ED-36334B66AE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35846" name="내용 개체 틀 7">
            <a:extLst>
              <a:ext uri="{FF2B5EF4-FFF2-40B4-BE49-F238E27FC236}">
                <a16:creationId xmlns:a16="http://schemas.microsoft.com/office/drawing/2014/main" id="{4B55500F-A9F3-4AAC-B753-84AB92555E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400" y="1463675"/>
            <a:ext cx="7639050" cy="4572000"/>
          </a:xfrm>
        </p:spPr>
        <p:txBody>
          <a:bodyPr lIns="0" tIns="0" rIns="0" bIns="0"/>
          <a:lstStyle/>
          <a:p>
            <a:r>
              <a:rPr lang="en-US" altLang="ko-KR" sz="2400" dirty="0">
                <a:latin typeface="나눔명조" pitchFamily="18" charset="-127"/>
                <a:ea typeface="나눔명조" pitchFamily="18" charset="-127"/>
              </a:rPr>
              <a:t>1977</a:t>
            </a:r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년에 제정된 </a:t>
            </a:r>
            <a:r>
              <a:rPr lang="en-US" altLang="ko-KR" sz="2400" dirty="0">
                <a:latin typeface="나눔명조" pitchFamily="18" charset="-127"/>
                <a:ea typeface="나눔명조" pitchFamily="18" charset="-127"/>
              </a:rPr>
              <a:t>『</a:t>
            </a:r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환경보전법</a:t>
            </a:r>
            <a:r>
              <a:rPr lang="en-US" altLang="ko-KR" sz="2400" dirty="0">
                <a:latin typeface="나눔명조" pitchFamily="18" charset="-127"/>
                <a:ea typeface="나눔명조" pitchFamily="18" charset="-127"/>
              </a:rPr>
              <a:t>』</a:t>
            </a:r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에서 행정기관이 시행하는 도시개발</a:t>
            </a:r>
            <a:r>
              <a:rPr lang="en-US" altLang="ko-KR" sz="2400" dirty="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산업입지조성</a:t>
            </a:r>
            <a:r>
              <a:rPr lang="en-US" altLang="ko-KR" sz="2400" dirty="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2400">
                <a:latin typeface="나눔명조" pitchFamily="18" charset="-127"/>
                <a:ea typeface="나눔명조" pitchFamily="18" charset="-127"/>
              </a:rPr>
              <a:t>에너지개발 등에 적용하는 환경영향평가제도 </a:t>
            </a:r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도입함</a:t>
            </a:r>
            <a:endParaRPr lang="en-US" altLang="ko-KR" sz="2400" dirty="0">
              <a:latin typeface="나눔명조" pitchFamily="18" charset="-127"/>
              <a:ea typeface="나눔명조" pitchFamily="18" charset="-127"/>
            </a:endParaRPr>
          </a:p>
          <a:p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실제 시행은 </a:t>
            </a:r>
            <a:r>
              <a:rPr lang="en-US" altLang="ko-KR" sz="2400" dirty="0">
                <a:latin typeface="나눔명조" pitchFamily="18" charset="-127"/>
                <a:ea typeface="나눔명조" pitchFamily="18" charset="-127"/>
              </a:rPr>
              <a:t>1981</a:t>
            </a:r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년 </a:t>
            </a:r>
            <a:r>
              <a:rPr lang="en-US" altLang="ko-KR" sz="2400" dirty="0">
                <a:latin typeface="나눔명조" pitchFamily="18" charset="-127"/>
                <a:ea typeface="나눔명조" pitchFamily="18" charset="-127"/>
              </a:rPr>
              <a:t>『</a:t>
            </a:r>
            <a:r>
              <a:rPr lang="ko-KR" altLang="en-US" sz="2400" dirty="0" err="1">
                <a:latin typeface="나눔명조" pitchFamily="18" charset="-127"/>
                <a:ea typeface="나눔명조" pitchFamily="18" charset="-127"/>
              </a:rPr>
              <a:t>환경영향평가서작성에관한규정</a:t>
            </a:r>
            <a:r>
              <a:rPr lang="en-US" altLang="ko-KR" sz="2400" dirty="0">
                <a:latin typeface="나눔명조" pitchFamily="18" charset="-127"/>
                <a:ea typeface="나눔명조" pitchFamily="18" charset="-127"/>
              </a:rPr>
              <a:t>(</a:t>
            </a:r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환경청고시 제</a:t>
            </a:r>
            <a:r>
              <a:rPr lang="en-US" altLang="ko-KR" sz="2400" dirty="0">
                <a:latin typeface="나눔명조" pitchFamily="18" charset="-127"/>
                <a:ea typeface="나눔명조" pitchFamily="18" charset="-127"/>
              </a:rPr>
              <a:t>81-4</a:t>
            </a:r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호</a:t>
            </a:r>
            <a:r>
              <a:rPr lang="en-US" altLang="ko-KR" sz="2400" dirty="0">
                <a:latin typeface="나눔명조" pitchFamily="18" charset="-127"/>
                <a:ea typeface="나눔명조" pitchFamily="18" charset="-127"/>
              </a:rPr>
              <a:t>)』</a:t>
            </a:r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이 제정되면서 시작</a:t>
            </a:r>
            <a:endParaRPr lang="en-US" altLang="ko-KR" sz="2400" dirty="0">
              <a:latin typeface="나눔명조" pitchFamily="18" charset="-127"/>
              <a:ea typeface="나눔명조" pitchFamily="18" charset="-127"/>
            </a:endParaRPr>
          </a:p>
          <a:p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이후 수차례의 법 개정을 통해 대상 사업이 확대됨</a:t>
            </a:r>
            <a:endParaRPr lang="en-US" altLang="ko-KR" sz="2400" dirty="0">
              <a:latin typeface="나눔명조" pitchFamily="18" charset="-127"/>
              <a:ea typeface="나눔명조" pitchFamily="18" charset="-127"/>
            </a:endParaRPr>
          </a:p>
          <a:p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계획이나 사업의 시행자가 제출한 환경영향평가서를 검토하는 기관으로 한국환경연구원</a:t>
            </a:r>
            <a:r>
              <a:rPr lang="en-US" altLang="ko-KR" sz="2400" dirty="0">
                <a:latin typeface="나눔명조" pitchFamily="18" charset="-127"/>
                <a:ea typeface="나눔명조" pitchFamily="18" charset="-127"/>
              </a:rPr>
              <a:t>(KEI)</a:t>
            </a:r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이 있고</a:t>
            </a:r>
            <a:r>
              <a:rPr lang="en-US" altLang="ko-KR" sz="2400" dirty="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전문가의 평가서 검토와 관계부처의 의견 개진 등을 거쳐 평가서의 승인여부가 결정됨</a:t>
            </a:r>
            <a:endParaRPr lang="en-US" altLang="ko-KR" sz="2400" dirty="0"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35847" name="Rectangle 6">
            <a:extLst>
              <a:ext uri="{FF2B5EF4-FFF2-40B4-BE49-F238E27FC236}">
                <a16:creationId xmlns:a16="http://schemas.microsoft.com/office/drawing/2014/main" id="{EA041AC5-B59B-4A9C-8485-CAFB0088505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96975" y="0"/>
            <a:ext cx="8201025" cy="998538"/>
          </a:xfrm>
        </p:spPr>
        <p:txBody>
          <a:bodyPr/>
          <a:lstStyle/>
          <a:p>
            <a:pPr eaLnBrk="1" hangingPunct="1"/>
            <a: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한국에서의 평가</a:t>
            </a:r>
            <a:r>
              <a:rPr lang="en-US" altLang="ko-KR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: </a:t>
            </a:r>
            <a: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환경영향평가</a:t>
            </a:r>
          </a:p>
        </p:txBody>
      </p:sp>
    </p:spTree>
  </p:cSld>
  <p:clrMapOvr>
    <a:masterClrMapping/>
  </p:clrMapOvr>
  <p:transition spd="med">
    <p:wipe dir="r"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바닥글 개체 틀 4">
            <a:extLst>
              <a:ext uri="{FF2B5EF4-FFF2-40B4-BE49-F238E27FC236}">
                <a16:creationId xmlns:a16="http://schemas.microsoft.com/office/drawing/2014/main" id="{E8D11240-67DF-4FA9-8838-0C7A62A0C3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r>
              <a:rPr lang="ko-KR" altLang="en-US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13</a:t>
            </a:r>
          </a:p>
        </p:txBody>
      </p:sp>
      <p:sp>
        <p:nvSpPr>
          <p:cNvPr id="36867" name="슬라이드 번호 개체 틀 5">
            <a:extLst>
              <a:ext uri="{FF2B5EF4-FFF2-40B4-BE49-F238E27FC236}">
                <a16:creationId xmlns:a16="http://schemas.microsoft.com/office/drawing/2014/main" id="{6844B6A6-E5A2-4709-B8C5-65B9E3B426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fld id="{2C80E2A7-F219-4E38-A6AD-49C49608FD70}" type="slidenum">
              <a:rPr lang="ko-KR" altLang="en-US" sz="1200" b="0">
                <a:solidFill>
                  <a:schemeClr val="tx1"/>
                </a:solidFill>
              </a:rPr>
              <a:pPr/>
              <a:t>24</a:t>
            </a:fld>
            <a:endParaRPr lang="en-US" altLang="ko-KR" sz="1200" b="0">
              <a:solidFill>
                <a:schemeClr val="tx1"/>
              </a:solidFill>
            </a:endParaRPr>
          </a:p>
        </p:txBody>
      </p:sp>
      <p:sp>
        <p:nvSpPr>
          <p:cNvPr id="36868" name="Rectangle 2">
            <a:extLst>
              <a:ext uri="{FF2B5EF4-FFF2-40B4-BE49-F238E27FC236}">
                <a16:creationId xmlns:a16="http://schemas.microsoft.com/office/drawing/2014/main" id="{1C038D8F-3263-4A21-94B0-3D4A7B30F8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36869" name="Rectangle 3">
            <a:extLst>
              <a:ext uri="{FF2B5EF4-FFF2-40B4-BE49-F238E27FC236}">
                <a16:creationId xmlns:a16="http://schemas.microsoft.com/office/drawing/2014/main" id="{C8459CCF-A60B-46C9-BC1F-7473A3E5A0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36872" name="Rectangle 6">
            <a:extLst>
              <a:ext uri="{FF2B5EF4-FFF2-40B4-BE49-F238E27FC236}">
                <a16:creationId xmlns:a16="http://schemas.microsoft.com/office/drawing/2014/main" id="{758C7A15-93FA-4A11-8333-320F176BA36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96975" y="0"/>
            <a:ext cx="8201025" cy="998538"/>
          </a:xfrm>
        </p:spPr>
        <p:txBody>
          <a:bodyPr/>
          <a:lstStyle/>
          <a:p>
            <a:pPr eaLnBrk="1" hangingPunct="1"/>
            <a:r>
              <a:rPr lang="ko-KR" altLang="en-US" dirty="0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한국에서의 평가</a:t>
            </a:r>
            <a:r>
              <a:rPr lang="en-US" altLang="ko-KR" dirty="0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: </a:t>
            </a:r>
            <a:r>
              <a:rPr lang="ko-KR" altLang="en-US" dirty="0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환경영향평가</a:t>
            </a:r>
          </a:p>
        </p:txBody>
      </p:sp>
      <p:sp>
        <p:nvSpPr>
          <p:cNvPr id="12" name="내용 개체 틀 7">
            <a:extLst>
              <a:ext uri="{FF2B5EF4-FFF2-40B4-BE49-F238E27FC236}">
                <a16:creationId xmlns:a16="http://schemas.microsoft.com/office/drawing/2014/main" id="{347799E9-1E70-4E65-A98B-96DA8B9DBA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400" y="1463675"/>
            <a:ext cx="7639050" cy="4572000"/>
          </a:xfrm>
        </p:spPr>
        <p:txBody>
          <a:bodyPr lIns="0" tIns="0" rIns="0" bIns="0"/>
          <a:lstStyle/>
          <a:p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현재의 환경영향평가제도에는 전략환경영향평가</a:t>
            </a:r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환경영향평가</a:t>
            </a:r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소규모환경영향평가 세 가지 평가가 포함되어 있음</a:t>
            </a:r>
          </a:p>
          <a:p>
            <a:pPr lvl="1"/>
            <a:r>
              <a:rPr lang="ko-KR" altLang="en-US" sz="1800" dirty="0">
                <a:solidFill>
                  <a:srgbClr val="0000FF"/>
                </a:solidFill>
                <a:latin typeface="나눔명조" pitchFamily="18" charset="-127"/>
                <a:ea typeface="나눔명조" pitchFamily="18" charset="-127"/>
              </a:rPr>
              <a:t>전략환경영향평가</a:t>
            </a:r>
            <a:r>
              <a:rPr lang="ko-KR" altLang="en-US" sz="1800" dirty="0">
                <a:latin typeface="나눔명조" pitchFamily="18" charset="-127"/>
                <a:ea typeface="나눔명조" pitchFamily="18" charset="-127"/>
              </a:rPr>
              <a:t> </a:t>
            </a:r>
            <a:r>
              <a:rPr lang="en-US" altLang="ko-KR" sz="1800" dirty="0">
                <a:latin typeface="나눔명조" pitchFamily="18" charset="-127"/>
                <a:ea typeface="나눔명조" pitchFamily="18" charset="-127"/>
              </a:rPr>
              <a:t>: </a:t>
            </a:r>
            <a:r>
              <a:rPr lang="ko-KR" altLang="en-US" sz="1800" dirty="0">
                <a:latin typeface="나눔명조" pitchFamily="18" charset="-127"/>
                <a:ea typeface="나눔명조" pitchFamily="18" charset="-127"/>
              </a:rPr>
              <a:t>구체적인 사업의 실시 이전에 행하는 사전평가의 성격이 강함</a:t>
            </a:r>
            <a:r>
              <a:rPr lang="en-US" altLang="ko-KR" sz="1800" dirty="0">
                <a:latin typeface="나눔명조" pitchFamily="18" charset="-127"/>
                <a:ea typeface="나눔명조" pitchFamily="18" charset="-127"/>
              </a:rPr>
              <a:t>. </a:t>
            </a:r>
            <a:r>
              <a:rPr lang="ko-KR" altLang="en-US" sz="1800" dirty="0">
                <a:latin typeface="나눔명조" pitchFamily="18" charset="-127"/>
                <a:ea typeface="나눔명조" pitchFamily="18" charset="-127"/>
              </a:rPr>
              <a:t>정책계획과 개발기본계획들을 대상으로 하며</a:t>
            </a:r>
            <a:r>
              <a:rPr lang="en-US" altLang="ko-KR" sz="1800" dirty="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1800" dirty="0">
                <a:latin typeface="나눔명조" pitchFamily="18" charset="-127"/>
                <a:ea typeface="나눔명조" pitchFamily="18" charset="-127"/>
              </a:rPr>
              <a:t>총 </a:t>
            </a:r>
            <a:r>
              <a:rPr lang="en-US" altLang="ko-KR" sz="1800" dirty="0">
                <a:latin typeface="나눔명조" pitchFamily="18" charset="-127"/>
                <a:ea typeface="나눔명조" pitchFamily="18" charset="-127"/>
              </a:rPr>
              <a:t>17</a:t>
            </a:r>
            <a:r>
              <a:rPr lang="ko-KR" altLang="en-US" sz="1800" dirty="0">
                <a:latin typeface="나눔명조" pitchFamily="18" charset="-127"/>
                <a:ea typeface="나눔명조" pitchFamily="18" charset="-127"/>
              </a:rPr>
              <a:t>개 분야의 개발기본계획에 대해 적용</a:t>
            </a:r>
            <a:endParaRPr lang="en-US" altLang="ko-KR" sz="1800" dirty="0">
              <a:latin typeface="나눔명조" pitchFamily="18" charset="-127"/>
              <a:ea typeface="나눔명조" pitchFamily="18" charset="-127"/>
            </a:endParaRPr>
          </a:p>
          <a:p>
            <a:pPr lvl="1"/>
            <a:r>
              <a:rPr lang="ko-KR" altLang="en-US" sz="1800" dirty="0">
                <a:solidFill>
                  <a:srgbClr val="0000FF"/>
                </a:solidFill>
                <a:latin typeface="나눔명조" pitchFamily="18" charset="-127"/>
                <a:ea typeface="나눔명조" pitchFamily="18" charset="-127"/>
              </a:rPr>
              <a:t>환경영향평가</a:t>
            </a:r>
            <a:r>
              <a:rPr lang="ko-KR" altLang="en-US" sz="1800" dirty="0">
                <a:latin typeface="나눔명조" pitchFamily="18" charset="-127"/>
                <a:ea typeface="나눔명조" pitchFamily="18" charset="-127"/>
              </a:rPr>
              <a:t> </a:t>
            </a:r>
            <a:r>
              <a:rPr lang="en-US" altLang="ko-KR" sz="1800" dirty="0">
                <a:latin typeface="나눔명조" pitchFamily="18" charset="-127"/>
                <a:ea typeface="나눔명조" pitchFamily="18" charset="-127"/>
              </a:rPr>
              <a:t>: </a:t>
            </a:r>
            <a:r>
              <a:rPr lang="ko-KR" altLang="en-US" sz="1800" dirty="0">
                <a:latin typeface="나눔명조" pitchFamily="18" charset="-127"/>
                <a:ea typeface="나눔명조" pitchFamily="18" charset="-127"/>
              </a:rPr>
              <a:t>특정사업이 실제로 실행될지의 여부를 </a:t>
            </a:r>
            <a:r>
              <a:rPr lang="ko-KR" altLang="en-US" sz="1800" dirty="0" err="1">
                <a:latin typeface="나눔명조" pitchFamily="18" charset="-127"/>
                <a:ea typeface="나눔명조" pitchFamily="18" charset="-127"/>
              </a:rPr>
              <a:t>의사결정하는</a:t>
            </a:r>
            <a:r>
              <a:rPr lang="ko-KR" altLang="en-US" sz="1800" dirty="0">
                <a:latin typeface="나눔명조" pitchFamily="18" charset="-127"/>
                <a:ea typeface="나눔명조" pitchFamily="18" charset="-127"/>
              </a:rPr>
              <a:t> 단계에서 실행함</a:t>
            </a:r>
            <a:r>
              <a:rPr lang="en-US" altLang="ko-KR" sz="1800" dirty="0">
                <a:latin typeface="나눔명조" pitchFamily="18" charset="-127"/>
                <a:ea typeface="나눔명조" pitchFamily="18" charset="-127"/>
              </a:rPr>
              <a:t>. </a:t>
            </a:r>
            <a:r>
              <a:rPr lang="ko-KR" altLang="en-US" sz="1800" dirty="0">
                <a:latin typeface="나눔명조" pitchFamily="18" charset="-127"/>
                <a:ea typeface="나눔명조" pitchFamily="18" charset="-127"/>
              </a:rPr>
              <a:t>사업추진주체가 평가서를 준비하면</a:t>
            </a:r>
            <a:r>
              <a:rPr lang="en-US" altLang="ko-KR" sz="1800" dirty="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1800" dirty="0">
                <a:latin typeface="나눔명조" pitchFamily="18" charset="-127"/>
                <a:ea typeface="나눔명조" pitchFamily="18" charset="-127"/>
              </a:rPr>
              <a:t>이를 검토하여 사업을 승인할지에 초점을 맞춤</a:t>
            </a:r>
            <a:r>
              <a:rPr lang="en-US" altLang="ko-KR" sz="1800" dirty="0">
                <a:latin typeface="나눔명조" pitchFamily="18" charset="-127"/>
                <a:ea typeface="나눔명조" pitchFamily="18" charset="-127"/>
              </a:rPr>
              <a:t>. </a:t>
            </a:r>
            <a:r>
              <a:rPr lang="ko-KR" altLang="en-US" sz="1800" dirty="0">
                <a:latin typeface="나눔명조" pitchFamily="18" charset="-127"/>
                <a:ea typeface="나눔명조" pitchFamily="18" charset="-127"/>
              </a:rPr>
              <a:t>전략환경영향평가의 개발기본계획 분야와 동일하게 하여 두 평가가 실행평가와 사전평가로서의 역할분담을 함</a:t>
            </a:r>
            <a:endParaRPr lang="en-US" altLang="ko-KR" sz="1800" dirty="0">
              <a:latin typeface="나눔명조" pitchFamily="18" charset="-127"/>
              <a:ea typeface="나눔명조" pitchFamily="18" charset="-127"/>
            </a:endParaRPr>
          </a:p>
          <a:p>
            <a:pPr lvl="1"/>
            <a:r>
              <a:rPr lang="ko-KR" altLang="en-US" sz="1800" dirty="0">
                <a:solidFill>
                  <a:srgbClr val="0000FF"/>
                </a:solidFill>
                <a:latin typeface="나눔명조" pitchFamily="18" charset="-127"/>
                <a:ea typeface="나눔명조" pitchFamily="18" charset="-127"/>
              </a:rPr>
              <a:t>소규모환경영향평가</a:t>
            </a:r>
            <a:r>
              <a:rPr lang="ko-KR" altLang="en-US" sz="1800" dirty="0">
                <a:latin typeface="나눔명조" pitchFamily="18" charset="-127"/>
                <a:ea typeface="나눔명조" pitchFamily="18" charset="-127"/>
              </a:rPr>
              <a:t> </a:t>
            </a:r>
            <a:r>
              <a:rPr lang="en-US" altLang="ko-KR" sz="1800" dirty="0">
                <a:latin typeface="나눔명조" pitchFamily="18" charset="-127"/>
                <a:ea typeface="나눔명조" pitchFamily="18" charset="-127"/>
              </a:rPr>
              <a:t>: </a:t>
            </a:r>
            <a:r>
              <a:rPr lang="ko-KR" altLang="en-US" sz="1800" dirty="0">
                <a:latin typeface="나눔명조" pitchFamily="18" charset="-127"/>
                <a:ea typeface="나눔명조" pitchFamily="18" charset="-127"/>
              </a:rPr>
              <a:t>환경영향평가 대상사업의 종류와 범위에 해당되지 않는 개발사업으로서</a:t>
            </a:r>
            <a:r>
              <a:rPr lang="en-US" altLang="ko-KR" sz="1800" dirty="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1800" dirty="0">
                <a:latin typeface="나눔명조" pitchFamily="18" charset="-127"/>
                <a:ea typeface="나눔명조" pitchFamily="18" charset="-127"/>
              </a:rPr>
              <a:t>보전이 필요한 지역 또는 난개발이 우려되어 환경보전을 고려한 계획적 개발이 필요한 지역에서 시행되는 개발사업에 대해 적용함</a:t>
            </a:r>
            <a:r>
              <a:rPr lang="en-US" altLang="ko-KR" sz="1800" dirty="0">
                <a:latin typeface="나눔명조" pitchFamily="18" charset="-127"/>
                <a:ea typeface="나눔명조" pitchFamily="18" charset="-127"/>
              </a:rPr>
              <a:t>. </a:t>
            </a:r>
            <a:r>
              <a:rPr lang="ko-KR" altLang="en-US" sz="1800" dirty="0">
                <a:latin typeface="나눔명조" pitchFamily="18" charset="-127"/>
                <a:ea typeface="나눔명조" pitchFamily="18" charset="-127"/>
              </a:rPr>
              <a:t>국토</a:t>
            </a:r>
            <a:r>
              <a:rPr lang="en-US" altLang="ko-KR" sz="1800" dirty="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1800" dirty="0">
                <a:latin typeface="나눔명조" pitchFamily="18" charset="-127"/>
                <a:ea typeface="나눔명조" pitchFamily="18" charset="-127"/>
              </a:rPr>
              <a:t>환경</a:t>
            </a:r>
            <a:r>
              <a:rPr lang="en-US" altLang="ko-KR" sz="1800" dirty="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1800" dirty="0">
                <a:latin typeface="나눔명조" pitchFamily="18" charset="-127"/>
                <a:ea typeface="나눔명조" pitchFamily="18" charset="-127"/>
              </a:rPr>
              <a:t>산림 등의 관련법이 적용되는 지역에서 행해지는 개발사업이 대상임</a:t>
            </a:r>
            <a:endParaRPr lang="en-US" altLang="ko-KR" sz="1800" dirty="0">
              <a:latin typeface="나눔명조" pitchFamily="18" charset="-127"/>
              <a:ea typeface="나눔명조" pitchFamily="18" charset="-127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바닥글 개체 틀 4">
            <a:extLst>
              <a:ext uri="{FF2B5EF4-FFF2-40B4-BE49-F238E27FC236}">
                <a16:creationId xmlns:a16="http://schemas.microsoft.com/office/drawing/2014/main" id="{652C33EC-6451-49E4-85A8-2CE4AC2C72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r>
              <a:rPr lang="ko-KR" altLang="en-US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13</a:t>
            </a:r>
          </a:p>
        </p:txBody>
      </p:sp>
      <p:sp>
        <p:nvSpPr>
          <p:cNvPr id="38915" name="슬라이드 번호 개체 틀 5">
            <a:extLst>
              <a:ext uri="{FF2B5EF4-FFF2-40B4-BE49-F238E27FC236}">
                <a16:creationId xmlns:a16="http://schemas.microsoft.com/office/drawing/2014/main" id="{7EC6C52D-F789-4A2D-AD68-4FAE6851D2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fld id="{FD383CDD-8F02-485A-91A3-725FE20CF08C}" type="slidenum">
              <a:rPr lang="ko-KR" altLang="en-US" sz="1200" b="0">
                <a:solidFill>
                  <a:schemeClr val="tx1"/>
                </a:solidFill>
              </a:rPr>
              <a:pPr/>
              <a:t>25</a:t>
            </a:fld>
            <a:endParaRPr lang="en-US" altLang="ko-KR" sz="1200" b="0">
              <a:solidFill>
                <a:schemeClr val="tx1"/>
              </a:solidFill>
            </a:endParaRPr>
          </a:p>
        </p:txBody>
      </p:sp>
      <p:sp>
        <p:nvSpPr>
          <p:cNvPr id="38916" name="Rectangle 2">
            <a:extLst>
              <a:ext uri="{FF2B5EF4-FFF2-40B4-BE49-F238E27FC236}">
                <a16:creationId xmlns:a16="http://schemas.microsoft.com/office/drawing/2014/main" id="{C590CDEE-085B-4000-834A-737EE5095D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38917" name="Rectangle 3">
            <a:extLst>
              <a:ext uri="{FF2B5EF4-FFF2-40B4-BE49-F238E27FC236}">
                <a16:creationId xmlns:a16="http://schemas.microsoft.com/office/drawing/2014/main" id="{07BB5C77-74DB-4570-AFFD-921E0C179D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38918" name="내용 개체 틀 7">
            <a:extLst>
              <a:ext uri="{FF2B5EF4-FFF2-40B4-BE49-F238E27FC236}">
                <a16:creationId xmlns:a16="http://schemas.microsoft.com/office/drawing/2014/main" id="{518E2C4F-6D3B-487D-B514-343E97FA10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6613" y="1246566"/>
            <a:ext cx="7850187" cy="4473575"/>
          </a:xfrm>
        </p:spPr>
        <p:txBody>
          <a:bodyPr lIns="0" tIns="0" rIns="0" bIns="0"/>
          <a:lstStyle/>
          <a:p>
            <a:r>
              <a:rPr lang="ko-KR" altLang="en-US" sz="1800" dirty="0">
                <a:ea typeface="나눔명조" pitchFamily="18" charset="-127"/>
              </a:rPr>
              <a:t>공공사업 시행여부가 결정되기 이전 단계에 사업주관부처가 아닌 제</a:t>
            </a:r>
            <a:r>
              <a:rPr lang="en-US" altLang="ko-KR" sz="1800" dirty="0">
                <a:ea typeface="나눔명조" pitchFamily="18" charset="-127"/>
              </a:rPr>
              <a:t>3</a:t>
            </a:r>
            <a:r>
              <a:rPr lang="ko-KR" altLang="en-US" sz="1800" dirty="0">
                <a:ea typeface="나눔명조" pitchFamily="18" charset="-127"/>
              </a:rPr>
              <a:t>의 기관에서 객관적으로 사업의 정책적 의의와 경제성을 중심으로 사업 타당성 여부를 사전 평가하는 작업</a:t>
            </a:r>
            <a:endParaRPr lang="en-US" altLang="ko-KR" sz="1800" dirty="0">
              <a:ea typeface="나눔명조" pitchFamily="18" charset="-127"/>
            </a:endParaRPr>
          </a:p>
          <a:p>
            <a:r>
              <a:rPr lang="en-US" altLang="ko-KR" sz="1800" dirty="0">
                <a:ea typeface="나눔명조" pitchFamily="18" charset="-127"/>
              </a:rPr>
              <a:t>1999</a:t>
            </a:r>
            <a:r>
              <a:rPr lang="ko-KR" altLang="en-US" sz="1800" dirty="0">
                <a:ea typeface="나눔명조" pitchFamily="18" charset="-127"/>
              </a:rPr>
              <a:t>년 </a:t>
            </a:r>
            <a:r>
              <a:rPr lang="en-US" altLang="ko-KR" sz="1800" dirty="0">
                <a:ea typeface="나눔명조" pitchFamily="18" charset="-127"/>
              </a:rPr>
              <a:t>『</a:t>
            </a:r>
            <a:r>
              <a:rPr lang="ko-KR" altLang="en-US" sz="1800" dirty="0">
                <a:ea typeface="나눔명조" pitchFamily="18" charset="-127"/>
              </a:rPr>
              <a:t>예산회계법</a:t>
            </a:r>
            <a:r>
              <a:rPr lang="en-US" altLang="ko-KR" sz="1800" dirty="0">
                <a:ea typeface="나눔명조" pitchFamily="18" charset="-127"/>
              </a:rPr>
              <a:t>』 </a:t>
            </a:r>
            <a:r>
              <a:rPr lang="ko-KR" altLang="en-US" sz="1800" dirty="0">
                <a:ea typeface="나눔명조" pitchFamily="18" charset="-127"/>
              </a:rPr>
              <a:t>시행령에 의해 도입</a:t>
            </a:r>
            <a:endParaRPr lang="en-US" altLang="ko-KR" sz="1800" dirty="0">
              <a:ea typeface="나눔명조" pitchFamily="18" charset="-127"/>
            </a:endParaRPr>
          </a:p>
          <a:p>
            <a:r>
              <a:rPr lang="ko-KR" altLang="en-US" sz="1800" dirty="0">
                <a:ea typeface="나눔명조" pitchFamily="18" charset="-127"/>
              </a:rPr>
              <a:t>기획재정부장관의 요청에 의해 한국개발연구원</a:t>
            </a:r>
            <a:r>
              <a:rPr lang="en-US" altLang="ko-KR" sz="1800" dirty="0">
                <a:ea typeface="나눔명조" pitchFamily="18" charset="-127"/>
              </a:rPr>
              <a:t> </a:t>
            </a:r>
            <a:r>
              <a:rPr lang="ko-KR" altLang="en-US" sz="1800" dirty="0">
                <a:ea typeface="나눔명조" pitchFamily="18" charset="-127"/>
              </a:rPr>
              <a:t>공공투자관리센터에서 총괄하여 수행하나 현재 여러 기관에서 평가 수행함</a:t>
            </a:r>
            <a:endParaRPr lang="en-US" altLang="ko-KR" sz="1800" dirty="0">
              <a:ea typeface="나눔명조" pitchFamily="18" charset="-127"/>
            </a:endParaRPr>
          </a:p>
          <a:p>
            <a:r>
              <a:rPr lang="ko-KR" altLang="en-US" sz="1800" dirty="0" err="1">
                <a:ea typeface="나눔명조" pitchFamily="18" charset="-127"/>
              </a:rPr>
              <a:t>경제성분석</a:t>
            </a:r>
            <a:r>
              <a:rPr lang="en-US" altLang="ko-KR" sz="1800" dirty="0">
                <a:ea typeface="나눔명조" pitchFamily="18" charset="-127"/>
              </a:rPr>
              <a:t>, </a:t>
            </a:r>
            <a:r>
              <a:rPr lang="ko-KR" altLang="en-US" sz="1800" dirty="0">
                <a:ea typeface="나눔명조" pitchFamily="18" charset="-127"/>
              </a:rPr>
              <a:t>정책성분석</a:t>
            </a:r>
            <a:r>
              <a:rPr lang="en-US" altLang="ko-KR" sz="1800" dirty="0">
                <a:ea typeface="나눔명조" pitchFamily="18" charset="-127"/>
              </a:rPr>
              <a:t>, </a:t>
            </a:r>
            <a:r>
              <a:rPr lang="ko-KR" altLang="en-US" sz="1800" dirty="0">
                <a:ea typeface="나눔명조" pitchFamily="18" charset="-127"/>
              </a:rPr>
              <a:t>지역균형발전분석</a:t>
            </a:r>
            <a:r>
              <a:rPr lang="en-US" altLang="ko-KR" sz="1800" dirty="0">
                <a:ea typeface="나눔명조" pitchFamily="18" charset="-127"/>
              </a:rPr>
              <a:t>, </a:t>
            </a:r>
            <a:r>
              <a:rPr lang="ko-KR" altLang="en-US" sz="1800" dirty="0">
                <a:ea typeface="나눔명조" pitchFamily="18" charset="-127"/>
              </a:rPr>
              <a:t>기술성분석으로 구성되고</a:t>
            </a:r>
            <a:r>
              <a:rPr lang="en-US" altLang="ko-KR" sz="1800" dirty="0">
                <a:ea typeface="나눔명조" pitchFamily="18" charset="-127"/>
              </a:rPr>
              <a:t>, </a:t>
            </a:r>
            <a:r>
              <a:rPr lang="ko-KR" altLang="en-US" sz="1800" dirty="0">
                <a:ea typeface="나눔명조" pitchFamily="18" charset="-127"/>
              </a:rPr>
              <a:t>이를 종합하여 평가</a:t>
            </a:r>
            <a:endParaRPr lang="en-US" altLang="ko-KR" sz="1800" dirty="0">
              <a:ea typeface="나눔명조" pitchFamily="18" charset="-127"/>
            </a:endParaRPr>
          </a:p>
          <a:p>
            <a:pPr lvl="1"/>
            <a:r>
              <a:rPr lang="ko-KR" altLang="en-US" sz="1600" dirty="0">
                <a:ea typeface="나눔명조" pitchFamily="18" charset="-127"/>
              </a:rPr>
              <a:t>경제성분석은 앞서 설명한 비용</a:t>
            </a:r>
            <a:r>
              <a:rPr lang="en-US" altLang="ko-KR" sz="1600" dirty="0">
                <a:ea typeface="나눔명조" pitchFamily="18" charset="-127"/>
              </a:rPr>
              <a:t>-</a:t>
            </a:r>
            <a:r>
              <a:rPr lang="ko-KR" altLang="en-US" sz="1600" dirty="0">
                <a:ea typeface="나눔명조" pitchFamily="18" charset="-127"/>
              </a:rPr>
              <a:t>편익분석임</a:t>
            </a:r>
            <a:endParaRPr lang="en-US" altLang="ko-KR" sz="1600" dirty="0">
              <a:ea typeface="나눔명조" pitchFamily="18" charset="-127"/>
            </a:endParaRPr>
          </a:p>
          <a:p>
            <a:pPr lvl="1"/>
            <a:r>
              <a:rPr lang="ko-KR" altLang="en-US" sz="1600" dirty="0">
                <a:ea typeface="나눔명조" pitchFamily="18" charset="-127"/>
              </a:rPr>
              <a:t>정책성분석은 해당 사업과 관련된 정책의 일관성 및 사업준비 정도</a:t>
            </a:r>
            <a:r>
              <a:rPr lang="en-US" altLang="ko-KR" sz="1600" dirty="0">
                <a:ea typeface="나눔명조" pitchFamily="18" charset="-127"/>
              </a:rPr>
              <a:t>, </a:t>
            </a:r>
            <a:r>
              <a:rPr lang="ko-KR" altLang="en-US" sz="1600" dirty="0">
                <a:ea typeface="나눔명조" pitchFamily="18" charset="-127"/>
              </a:rPr>
              <a:t>사업 추진상의 위험요인</a:t>
            </a:r>
            <a:r>
              <a:rPr lang="en-US" altLang="ko-KR" sz="1600" dirty="0">
                <a:ea typeface="나눔명조" pitchFamily="18" charset="-127"/>
              </a:rPr>
              <a:t>, </a:t>
            </a:r>
            <a:r>
              <a:rPr lang="ko-KR" altLang="en-US" sz="1600" dirty="0">
                <a:ea typeface="나눔명조" pitchFamily="18" charset="-127"/>
              </a:rPr>
              <a:t>고용효과</a:t>
            </a:r>
            <a:r>
              <a:rPr lang="en-US" altLang="ko-KR" sz="1600" dirty="0">
                <a:ea typeface="나눔명조" pitchFamily="18" charset="-127"/>
              </a:rPr>
              <a:t>, </a:t>
            </a:r>
            <a:r>
              <a:rPr lang="ko-KR" altLang="en-US" sz="1600" dirty="0">
                <a:ea typeface="나눔명조" pitchFamily="18" charset="-127"/>
              </a:rPr>
              <a:t>사업별 특수평가 항목 등의 평가항목들을 정량적 또는 정성적으로 분석함</a:t>
            </a:r>
            <a:endParaRPr lang="en-US" altLang="ko-KR" sz="1600" dirty="0">
              <a:ea typeface="나눔명조" pitchFamily="18" charset="-127"/>
            </a:endParaRPr>
          </a:p>
          <a:p>
            <a:pPr lvl="1"/>
            <a:r>
              <a:rPr lang="ko-KR" altLang="en-US" sz="1600" dirty="0">
                <a:ea typeface="나눔명조" pitchFamily="18" charset="-127"/>
              </a:rPr>
              <a:t>지역균형발전분석은 지역 간 불균형 상태의 심화를 방지하고 형평성 제고를 위해 </a:t>
            </a:r>
            <a:r>
              <a:rPr lang="ko-KR" altLang="en-US" sz="1600" dirty="0" err="1">
                <a:ea typeface="나눔명조" pitchFamily="18" charset="-127"/>
              </a:rPr>
              <a:t>지역낙후도</a:t>
            </a:r>
            <a:r>
              <a:rPr lang="ko-KR" altLang="en-US" sz="1600" dirty="0">
                <a:ea typeface="나눔명조" pitchFamily="18" charset="-127"/>
              </a:rPr>
              <a:t> 개선</a:t>
            </a:r>
            <a:r>
              <a:rPr lang="en-US" altLang="ko-KR" sz="1600" dirty="0">
                <a:ea typeface="나눔명조" pitchFamily="18" charset="-127"/>
              </a:rPr>
              <a:t>, </a:t>
            </a:r>
            <a:r>
              <a:rPr lang="ko-KR" altLang="en-US" sz="1600" dirty="0">
                <a:ea typeface="나눔명조" pitchFamily="18" charset="-127"/>
              </a:rPr>
              <a:t>지역경제 파급효과</a:t>
            </a:r>
            <a:r>
              <a:rPr lang="en-US" altLang="ko-KR" sz="1600" dirty="0">
                <a:ea typeface="나눔명조" pitchFamily="18" charset="-127"/>
              </a:rPr>
              <a:t>, </a:t>
            </a:r>
            <a:r>
              <a:rPr lang="ko-KR" altLang="en-US" sz="1600" dirty="0">
                <a:ea typeface="나눔명조" pitchFamily="18" charset="-127"/>
              </a:rPr>
              <a:t>고용유발 효과 등 지역개발에 미치는 요인을 분석함</a:t>
            </a:r>
            <a:endParaRPr lang="en-US" altLang="ko-KR" sz="1600" dirty="0">
              <a:ea typeface="나눔명조" pitchFamily="18" charset="-127"/>
            </a:endParaRPr>
          </a:p>
          <a:p>
            <a:pPr lvl="1"/>
            <a:r>
              <a:rPr lang="ko-KR" altLang="en-US" sz="1600" dirty="0">
                <a:ea typeface="나눔명조" pitchFamily="18" charset="-127"/>
              </a:rPr>
              <a:t>기술성분석은 업무요구 </a:t>
            </a:r>
            <a:r>
              <a:rPr lang="ko-KR" altLang="en-US" sz="1600" dirty="0" err="1">
                <a:ea typeface="나눔명조" pitchFamily="18" charset="-127"/>
              </a:rPr>
              <a:t>부합성</a:t>
            </a:r>
            <a:r>
              <a:rPr lang="en-US" altLang="ko-KR" sz="1600" dirty="0">
                <a:ea typeface="나눔명조" pitchFamily="18" charset="-127"/>
              </a:rPr>
              <a:t>, </a:t>
            </a:r>
            <a:r>
              <a:rPr lang="ko-KR" altLang="en-US" sz="1600" dirty="0">
                <a:ea typeface="나눔명조" pitchFamily="18" charset="-127"/>
              </a:rPr>
              <a:t>적용기술 적합성</a:t>
            </a:r>
            <a:r>
              <a:rPr lang="en-US" altLang="ko-KR" sz="1600" dirty="0">
                <a:ea typeface="나눔명조" pitchFamily="18" charset="-127"/>
              </a:rPr>
              <a:t>, </a:t>
            </a:r>
            <a:r>
              <a:rPr lang="ko-KR" altLang="en-US" sz="1600" dirty="0">
                <a:ea typeface="나눔명조" pitchFamily="18" charset="-127"/>
              </a:rPr>
              <a:t>구현</a:t>
            </a:r>
            <a:r>
              <a:rPr lang="en-US" altLang="ko-KR" sz="1600" dirty="0">
                <a:ea typeface="나눔명조" pitchFamily="18" charset="-127"/>
              </a:rPr>
              <a:t>·</a:t>
            </a:r>
            <a:r>
              <a:rPr lang="ko-KR" altLang="en-US" sz="1600" dirty="0">
                <a:ea typeface="나눔명조" pitchFamily="18" charset="-127"/>
              </a:rPr>
              <a:t>운영계획 적정성 등을 분석하는데</a:t>
            </a:r>
            <a:r>
              <a:rPr lang="en-US" altLang="ko-KR" sz="1600" dirty="0">
                <a:ea typeface="나눔명조" pitchFamily="18" charset="-127"/>
              </a:rPr>
              <a:t>, </a:t>
            </a:r>
            <a:r>
              <a:rPr lang="ko-KR" altLang="en-US" sz="1600" dirty="0">
                <a:ea typeface="나눔명조" pitchFamily="18" charset="-127"/>
              </a:rPr>
              <a:t>주로 정보사업에 적용됨</a:t>
            </a:r>
            <a:endParaRPr lang="en-US" altLang="ko-KR" sz="1600" dirty="0">
              <a:ea typeface="나눔명조" pitchFamily="18" charset="-127"/>
            </a:endParaRPr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7EEAAF8D-A46E-4ED9-A086-F4F46C27346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96975" y="0"/>
            <a:ext cx="8201025" cy="9985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eaLnBrk="1" hangingPunct="1">
              <a:defRPr/>
            </a:pPr>
            <a:r>
              <a:rPr lang="ko-KR" altLang="en-US" sz="3600" kern="0" dirty="0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  <a:cs typeface="+mj-cs"/>
              </a:rPr>
              <a:t>한국에서의 평가</a:t>
            </a:r>
            <a:r>
              <a:rPr lang="en-US" altLang="ko-KR" sz="3600" kern="0" dirty="0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  <a:cs typeface="+mj-cs"/>
              </a:rPr>
              <a:t>: </a:t>
            </a:r>
            <a:r>
              <a:rPr lang="ko-KR" altLang="en-US" sz="3600" kern="0" dirty="0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  <a:cs typeface="+mj-cs"/>
              </a:rPr>
              <a:t>예비타당성조사제도</a:t>
            </a:r>
          </a:p>
        </p:txBody>
      </p:sp>
    </p:spTree>
  </p:cSld>
  <p:clrMapOvr>
    <a:masterClrMapping/>
  </p:clrMapOvr>
  <p:transition spd="med">
    <p:wipe dir="r"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바닥글 개체 틀 4">
            <a:extLst>
              <a:ext uri="{FF2B5EF4-FFF2-40B4-BE49-F238E27FC236}">
                <a16:creationId xmlns:a16="http://schemas.microsoft.com/office/drawing/2014/main" id="{DE18CD06-D5A4-4414-8635-CF64EAC90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r>
              <a:rPr lang="ko-KR" altLang="en-US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13</a:t>
            </a:r>
          </a:p>
        </p:txBody>
      </p:sp>
      <p:sp>
        <p:nvSpPr>
          <p:cNvPr id="39939" name="슬라이드 번호 개체 틀 5">
            <a:extLst>
              <a:ext uri="{FF2B5EF4-FFF2-40B4-BE49-F238E27FC236}">
                <a16:creationId xmlns:a16="http://schemas.microsoft.com/office/drawing/2014/main" id="{D678A06B-ECB1-4FB6-8151-4F43E97E7D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fld id="{47A2B8CC-5188-4BF6-94EE-EC3D55084356}" type="slidenum">
              <a:rPr lang="ko-KR" altLang="en-US" sz="1200" b="0">
                <a:solidFill>
                  <a:schemeClr val="tx1"/>
                </a:solidFill>
              </a:rPr>
              <a:pPr/>
              <a:t>26</a:t>
            </a:fld>
            <a:endParaRPr lang="en-US" altLang="ko-KR" sz="1200" b="0">
              <a:solidFill>
                <a:schemeClr val="tx1"/>
              </a:solidFill>
            </a:endParaRPr>
          </a:p>
        </p:txBody>
      </p:sp>
      <p:sp>
        <p:nvSpPr>
          <p:cNvPr id="39940" name="Rectangle 2">
            <a:extLst>
              <a:ext uri="{FF2B5EF4-FFF2-40B4-BE49-F238E27FC236}">
                <a16:creationId xmlns:a16="http://schemas.microsoft.com/office/drawing/2014/main" id="{8F59548A-DDC3-4772-859B-42BC3B0E1B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39941" name="Rectangle 3">
            <a:extLst>
              <a:ext uri="{FF2B5EF4-FFF2-40B4-BE49-F238E27FC236}">
                <a16:creationId xmlns:a16="http://schemas.microsoft.com/office/drawing/2014/main" id="{0864C6AE-3FAE-4029-A0DE-85C6A9E108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39942" name="내용 개체 틀 7">
            <a:extLst>
              <a:ext uri="{FF2B5EF4-FFF2-40B4-BE49-F238E27FC236}">
                <a16:creationId xmlns:a16="http://schemas.microsoft.com/office/drawing/2014/main" id="{A56B5AD0-074E-4756-A8A5-9F11329FF7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400" y="1504950"/>
            <a:ext cx="7639050" cy="4235450"/>
          </a:xfrm>
        </p:spPr>
        <p:txBody>
          <a:bodyPr lIns="0" tIns="0" rIns="0" bIns="0"/>
          <a:lstStyle/>
          <a:p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4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가지 항목을 가중치를 부여하여 총합하고</a:t>
            </a:r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그 결과에 따라 사업진행여부를 최종 판정함</a:t>
            </a:r>
            <a:endParaRPr lang="en-US" altLang="ko-KR" sz="2000" dirty="0">
              <a:latin typeface="나눔명조" pitchFamily="18" charset="-127"/>
              <a:ea typeface="나눔명조" pitchFamily="18" charset="-127"/>
            </a:endParaRPr>
          </a:p>
          <a:p>
            <a:pPr lvl="1"/>
            <a:r>
              <a:rPr lang="ko-KR" altLang="en-US" sz="1600" dirty="0">
                <a:latin typeface="나눔명조" pitchFamily="18" charset="-127"/>
                <a:ea typeface="나눔명조" pitchFamily="18" charset="-127"/>
              </a:rPr>
              <a:t>가중치는 선정을 위해 계층화분석법</a:t>
            </a:r>
            <a:r>
              <a:rPr lang="en-US" altLang="ko-KR" sz="1600" dirty="0">
                <a:latin typeface="나눔명조" pitchFamily="18" charset="-127"/>
                <a:ea typeface="나눔명조" pitchFamily="18" charset="-127"/>
              </a:rPr>
              <a:t>(AHP: Analytic Hierarchy Process)</a:t>
            </a:r>
            <a:r>
              <a:rPr lang="ko-KR" altLang="en-US" sz="1600" dirty="0">
                <a:latin typeface="나눔명조" pitchFamily="18" charset="-127"/>
                <a:ea typeface="나눔명조" pitchFamily="18" charset="-127"/>
              </a:rPr>
              <a:t>을 적용함</a:t>
            </a:r>
            <a:endParaRPr lang="en-US" altLang="ko-KR" sz="1600" dirty="0">
              <a:latin typeface="나눔명조" pitchFamily="18" charset="-127"/>
              <a:ea typeface="나눔명조" pitchFamily="18" charset="-127"/>
            </a:endParaRPr>
          </a:p>
          <a:p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예비타당성조사는 주로 사업의 경제성평가에 초점을 맞추고 있고</a:t>
            </a:r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대형 사업의 환경적 영향은 경제성분석보다는 정책성분석에 반영되고 있음</a:t>
            </a:r>
            <a:endParaRPr lang="en-US" altLang="ko-KR" sz="2000" dirty="0">
              <a:latin typeface="나눔명조" pitchFamily="18" charset="-127"/>
              <a:ea typeface="나눔명조" pitchFamily="18" charset="-127"/>
            </a:endParaRPr>
          </a:p>
          <a:p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하지만 사업 자체의 주 편익이 환경적 편익을 늘리거나 피해를 줄이는 경우에는 환경편익의 경제적 </a:t>
            </a:r>
            <a:r>
              <a:rPr lang="ko-KR" altLang="en-US" sz="2000" dirty="0" err="1">
                <a:latin typeface="나눔명조" pitchFamily="18" charset="-127"/>
                <a:ea typeface="나눔명조" pitchFamily="18" charset="-127"/>
              </a:rPr>
              <a:t>가치평가법</a:t>
            </a:r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(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본서의 제</a:t>
            </a:r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14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장</a:t>
            </a:r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~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제</a:t>
            </a:r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17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장</a:t>
            </a:r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)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을 적용해 경제성분석에 반영하는 것도 예비타당성조사에서 자주 시행됨</a:t>
            </a:r>
            <a:endParaRPr lang="en-US" altLang="ko-KR" sz="2000" dirty="0"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E4B05458-93AF-455F-A2CB-BF8D709CFC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96975" y="0"/>
            <a:ext cx="8201025" cy="9985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eaLnBrk="1" hangingPunct="1">
              <a:defRPr/>
            </a:pPr>
            <a:r>
              <a:rPr lang="ko-KR" altLang="en-US" sz="3600" kern="0" dirty="0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  <a:cs typeface="+mj-cs"/>
              </a:rPr>
              <a:t>한국에서의 평가</a:t>
            </a:r>
            <a:r>
              <a:rPr lang="en-US" altLang="ko-KR" sz="3600" kern="0" dirty="0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  <a:cs typeface="+mj-cs"/>
              </a:rPr>
              <a:t>: </a:t>
            </a:r>
            <a:r>
              <a:rPr lang="ko-KR" altLang="en-US" sz="3600" kern="0" dirty="0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  <a:cs typeface="+mj-cs"/>
              </a:rPr>
              <a:t>예비타당성조사제도</a:t>
            </a:r>
          </a:p>
        </p:txBody>
      </p:sp>
    </p:spTree>
  </p:cSld>
  <p:clrMapOvr>
    <a:masterClrMapping/>
  </p:clrMapOvr>
  <p:transition spd="med">
    <p:wipe dir="r"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바닥글 개체 틀 4">
            <a:extLst>
              <a:ext uri="{FF2B5EF4-FFF2-40B4-BE49-F238E27FC236}">
                <a16:creationId xmlns:a16="http://schemas.microsoft.com/office/drawing/2014/main" id="{D6A4FCA7-BA9A-41AC-B0F7-124C48690E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r>
              <a:rPr lang="ko-KR" altLang="en-US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13</a:t>
            </a:r>
          </a:p>
        </p:txBody>
      </p:sp>
      <p:sp>
        <p:nvSpPr>
          <p:cNvPr id="40963" name="슬라이드 번호 개체 틀 5">
            <a:extLst>
              <a:ext uri="{FF2B5EF4-FFF2-40B4-BE49-F238E27FC236}">
                <a16:creationId xmlns:a16="http://schemas.microsoft.com/office/drawing/2014/main" id="{3A3253E7-1024-4976-A954-CF331E567F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fld id="{798C43AA-998D-4C69-A2F7-12A0E256F096}" type="slidenum">
              <a:rPr lang="ko-KR" altLang="en-US" sz="1200" b="0">
                <a:solidFill>
                  <a:schemeClr val="tx1"/>
                </a:solidFill>
              </a:rPr>
              <a:pPr/>
              <a:t>27</a:t>
            </a:fld>
            <a:endParaRPr lang="en-US" altLang="ko-KR" sz="1200" b="0">
              <a:solidFill>
                <a:schemeClr val="tx1"/>
              </a:solidFill>
            </a:endParaRPr>
          </a:p>
        </p:txBody>
      </p:sp>
      <p:sp>
        <p:nvSpPr>
          <p:cNvPr id="40964" name="Rectangle 2">
            <a:extLst>
              <a:ext uri="{FF2B5EF4-FFF2-40B4-BE49-F238E27FC236}">
                <a16:creationId xmlns:a16="http://schemas.microsoft.com/office/drawing/2014/main" id="{67DBCB92-EE78-47F0-86CD-F7F100E4A9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40965" name="Rectangle 3">
            <a:extLst>
              <a:ext uri="{FF2B5EF4-FFF2-40B4-BE49-F238E27FC236}">
                <a16:creationId xmlns:a16="http://schemas.microsoft.com/office/drawing/2014/main" id="{B7325BAC-145C-4F20-9E37-691EE914C9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40966" name="내용 개체 틀 7">
            <a:extLst>
              <a:ext uri="{FF2B5EF4-FFF2-40B4-BE49-F238E27FC236}">
                <a16:creationId xmlns:a16="http://schemas.microsoft.com/office/drawing/2014/main" id="{AAD49DCE-C451-4B2A-AF9F-269B0AD097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3263" y="1308100"/>
            <a:ext cx="7850187" cy="4741863"/>
          </a:xfrm>
        </p:spPr>
        <p:txBody>
          <a:bodyPr lIns="0" tIns="0" rIns="0" bIns="0"/>
          <a:lstStyle/>
          <a:p>
            <a:r>
              <a:rPr lang="ko-KR" altLang="en-US" sz="2400">
                <a:ea typeface="나눔명조" pitchFamily="18" charset="-127"/>
              </a:rPr>
              <a:t>미국의 </a:t>
            </a:r>
            <a:r>
              <a:rPr lang="ko-KR" altLang="en-US" sz="2400" b="1">
                <a:solidFill>
                  <a:srgbClr val="0000FF"/>
                </a:solidFill>
                <a:latin typeface="나눔명조" pitchFamily="18" charset="-127"/>
                <a:ea typeface="나눔명조" pitchFamily="18" charset="-127"/>
              </a:rPr>
              <a:t>대기관리법 </a:t>
            </a:r>
            <a:r>
              <a:rPr lang="en-US" altLang="ko-KR" sz="2400" b="1">
                <a:solidFill>
                  <a:srgbClr val="0000FF"/>
                </a:solidFill>
                <a:latin typeface="나눔명조" pitchFamily="18" charset="-127"/>
                <a:ea typeface="나눔명조" pitchFamily="18" charset="-127"/>
              </a:rPr>
              <a:t>(Clean Air Act, CAA)</a:t>
            </a:r>
            <a:r>
              <a:rPr lang="ko-KR" altLang="en-US" sz="2400">
                <a:ea typeface="나눔명조" pitchFamily="18" charset="-127"/>
              </a:rPr>
              <a:t>의 수정안이 </a:t>
            </a:r>
            <a:r>
              <a:rPr lang="en-US" altLang="ko-KR" sz="2400">
                <a:ea typeface="나눔명조" pitchFamily="18" charset="-127"/>
              </a:rPr>
              <a:t>1990</a:t>
            </a:r>
            <a:r>
              <a:rPr lang="ko-KR" altLang="en-US" sz="2400">
                <a:ea typeface="나눔명조" pitchFamily="18" charset="-127"/>
              </a:rPr>
              <a:t>년 통과 되면서 </a:t>
            </a:r>
            <a:r>
              <a:rPr lang="en-US" altLang="ko-KR" sz="2400">
                <a:ea typeface="나눔명조" pitchFamily="18" charset="-127"/>
              </a:rPr>
              <a:t>EPA</a:t>
            </a:r>
            <a:r>
              <a:rPr lang="ko-KR" altLang="en-US" sz="2400">
                <a:ea typeface="나눔명조" pitchFamily="18" charset="-127"/>
              </a:rPr>
              <a:t>는 주기적으로 법률에 대한 비용편익분석을 의회에 보고할 의무 가짐</a:t>
            </a:r>
            <a:endParaRPr lang="en-US" altLang="ko-KR" sz="2400">
              <a:ea typeface="나눔명조" pitchFamily="18" charset="-127"/>
            </a:endParaRPr>
          </a:p>
          <a:p>
            <a:pPr lvl="1"/>
            <a:r>
              <a:rPr lang="en-US" altLang="ko-KR" sz="2000">
                <a:ea typeface="나눔명조" pitchFamily="18" charset="-127"/>
              </a:rPr>
              <a:t>CAA</a:t>
            </a:r>
            <a:r>
              <a:rPr lang="ko-KR" altLang="en-US" sz="2000">
                <a:ea typeface="나눔명조" pitchFamily="18" charset="-127"/>
              </a:rPr>
              <a:t>는 </a:t>
            </a:r>
            <a:r>
              <a:rPr lang="en-US" altLang="ko-KR" sz="2000">
                <a:ea typeface="나눔명조" pitchFamily="18" charset="-127"/>
              </a:rPr>
              <a:t>1970</a:t>
            </a:r>
            <a:r>
              <a:rPr lang="ko-KR" altLang="en-US" sz="2000">
                <a:ea typeface="나눔명조" pitchFamily="18" charset="-127"/>
              </a:rPr>
              <a:t>년 법안이 수립되고 </a:t>
            </a:r>
            <a:r>
              <a:rPr lang="en-US" altLang="ko-KR" sz="2000">
                <a:ea typeface="나눔명조" pitchFamily="18" charset="-127"/>
              </a:rPr>
              <a:t>EPA</a:t>
            </a:r>
            <a:r>
              <a:rPr lang="ko-KR" altLang="en-US" sz="2000">
                <a:ea typeface="나눔명조" pitchFamily="18" charset="-127"/>
              </a:rPr>
              <a:t>가 전국적인 대기오염물질의 오염도 기준을 설정하였음</a:t>
            </a:r>
            <a:r>
              <a:rPr lang="en-US" altLang="ko-KR" sz="2000">
                <a:ea typeface="나눔명조" pitchFamily="18" charset="-127"/>
              </a:rPr>
              <a:t>, </a:t>
            </a:r>
            <a:r>
              <a:rPr lang="ko-KR" altLang="en-US" sz="2000">
                <a:ea typeface="나눔명조" pitchFamily="18" charset="-127"/>
              </a:rPr>
              <a:t>각 주 정부는 기준달성을 위한 실행 방안을 수립함</a:t>
            </a:r>
            <a:endParaRPr lang="en-US" altLang="ko-KR" sz="2000">
              <a:ea typeface="나눔명조" pitchFamily="18" charset="-127"/>
            </a:endParaRPr>
          </a:p>
          <a:p>
            <a:pPr lvl="1"/>
            <a:r>
              <a:rPr lang="en-US" altLang="ko-KR" sz="2000">
                <a:ea typeface="나눔명조" pitchFamily="18" charset="-127"/>
              </a:rPr>
              <a:t>1977</a:t>
            </a:r>
            <a:r>
              <a:rPr lang="ko-KR" altLang="en-US" sz="2000">
                <a:ea typeface="나눔명조" pitchFamily="18" charset="-127"/>
              </a:rPr>
              <a:t>년에 추가적으로 청정지역에 대한 기준을 마련하고 옵셋이라는 새로운 오염원에 대해 적용되는 배출권거래제를 실시함</a:t>
            </a:r>
            <a:endParaRPr lang="en-US" altLang="ko-KR" sz="2000">
              <a:ea typeface="나눔명조" pitchFamily="18" charset="-127"/>
            </a:endParaRPr>
          </a:p>
          <a:p>
            <a:pPr lvl="1"/>
            <a:r>
              <a:rPr lang="en-US" altLang="ko-KR" sz="2000">
                <a:ea typeface="나눔명조" pitchFamily="18" charset="-127"/>
              </a:rPr>
              <a:t>1990</a:t>
            </a:r>
            <a:r>
              <a:rPr lang="ko-KR" altLang="en-US" sz="2000">
                <a:ea typeface="나눔명조" pitchFamily="18" charset="-127"/>
              </a:rPr>
              <a:t>년에는 기존 법안이 대폭 강화되어 </a:t>
            </a:r>
            <a:r>
              <a:rPr lang="en-US" altLang="ko-KR" sz="2000">
                <a:ea typeface="나눔명조" pitchFamily="18" charset="-127"/>
              </a:rPr>
              <a:t>189</a:t>
            </a:r>
            <a:r>
              <a:rPr lang="ko-KR" altLang="en-US" sz="2000">
                <a:ea typeface="나눔명조" pitchFamily="18" charset="-127"/>
              </a:rPr>
              <a:t>개 규제대상 독성오염물질에 대한 기준과 관리를 위한 다단계 조치를 입안함</a:t>
            </a:r>
            <a:r>
              <a:rPr lang="en-US" altLang="ko-KR" sz="2000">
                <a:ea typeface="나눔명조" pitchFamily="18" charset="-127"/>
              </a:rPr>
              <a:t>, </a:t>
            </a:r>
            <a:r>
              <a:rPr lang="ko-KR" altLang="en-US" sz="2000">
                <a:ea typeface="나눔명조" pitchFamily="18" charset="-127"/>
              </a:rPr>
              <a:t>아울러 산성비와 오존층  파괴를 유발하는 물질에 대한 규제도 입법화함</a:t>
            </a:r>
            <a:r>
              <a:rPr lang="en-US" altLang="ko-KR" sz="2000">
                <a:ea typeface="나눔명조" pitchFamily="18" charset="-127"/>
              </a:rPr>
              <a:t>, </a:t>
            </a:r>
            <a:r>
              <a:rPr lang="ko-KR" altLang="en-US" sz="2000">
                <a:ea typeface="나눔명조" pitchFamily="18" charset="-127"/>
              </a:rPr>
              <a:t>오염피해에 대한 민형사상의 보상책임도 강화함</a:t>
            </a:r>
            <a:endParaRPr lang="en-US" altLang="ko-KR" sz="2000">
              <a:ea typeface="나눔명조" pitchFamily="18" charset="-127"/>
            </a:endParaRPr>
          </a:p>
        </p:txBody>
      </p:sp>
      <p:sp>
        <p:nvSpPr>
          <p:cNvPr id="40967" name="Rectangle 6">
            <a:extLst>
              <a:ext uri="{FF2B5EF4-FFF2-40B4-BE49-F238E27FC236}">
                <a16:creationId xmlns:a16="http://schemas.microsoft.com/office/drawing/2014/main" id="{BB606B8B-E07D-4113-BFC9-C7713165383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42975" y="0"/>
            <a:ext cx="8201025" cy="998538"/>
          </a:xfrm>
        </p:spPr>
        <p:txBody>
          <a:bodyPr/>
          <a:lstStyle/>
          <a:p>
            <a:pPr eaLnBrk="1" hangingPunct="1"/>
            <a: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비용</a:t>
            </a:r>
            <a:r>
              <a:rPr lang="en-US" altLang="ko-KR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-</a:t>
            </a:r>
            <a: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편익분석사례</a:t>
            </a:r>
            <a:r>
              <a:rPr lang="en-US" altLang="ko-KR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: </a:t>
            </a:r>
            <a: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미국의 대기보전법</a:t>
            </a:r>
          </a:p>
        </p:txBody>
      </p:sp>
    </p:spTree>
  </p:cSld>
  <p:clrMapOvr>
    <a:masterClrMapping/>
  </p:clrMapOvr>
  <p:transition spd="med">
    <p:wipe dir="r"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바닥글 개체 틀 4">
            <a:extLst>
              <a:ext uri="{FF2B5EF4-FFF2-40B4-BE49-F238E27FC236}">
                <a16:creationId xmlns:a16="http://schemas.microsoft.com/office/drawing/2014/main" id="{B96E05D8-4507-4768-AE00-2FDF75C7C7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r>
              <a:rPr lang="ko-KR" altLang="en-US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13</a:t>
            </a:r>
          </a:p>
        </p:txBody>
      </p:sp>
      <p:sp>
        <p:nvSpPr>
          <p:cNvPr id="41987" name="슬라이드 번호 개체 틀 5">
            <a:extLst>
              <a:ext uri="{FF2B5EF4-FFF2-40B4-BE49-F238E27FC236}">
                <a16:creationId xmlns:a16="http://schemas.microsoft.com/office/drawing/2014/main" id="{8585ED6F-1CE7-4F5D-9B72-F87E1C502A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fld id="{397C5DC8-FB09-46E7-9181-356725CF5783}" type="slidenum">
              <a:rPr lang="ko-KR" altLang="en-US" sz="1200" b="0">
                <a:solidFill>
                  <a:schemeClr val="tx1"/>
                </a:solidFill>
              </a:rPr>
              <a:pPr/>
              <a:t>28</a:t>
            </a:fld>
            <a:endParaRPr lang="en-US" altLang="ko-KR" sz="1200" b="0">
              <a:solidFill>
                <a:schemeClr val="tx1"/>
              </a:solidFill>
            </a:endParaRPr>
          </a:p>
        </p:txBody>
      </p:sp>
      <p:sp>
        <p:nvSpPr>
          <p:cNvPr id="41988" name="Rectangle 2">
            <a:extLst>
              <a:ext uri="{FF2B5EF4-FFF2-40B4-BE49-F238E27FC236}">
                <a16:creationId xmlns:a16="http://schemas.microsoft.com/office/drawing/2014/main" id="{F543D0BF-07C5-46ED-950B-F0680DE2A0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41989" name="Rectangle 3">
            <a:extLst>
              <a:ext uri="{FF2B5EF4-FFF2-40B4-BE49-F238E27FC236}">
                <a16:creationId xmlns:a16="http://schemas.microsoft.com/office/drawing/2014/main" id="{6880148D-2CD1-4049-8F78-D33068DC03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41990" name="내용 개체 틀 7">
            <a:extLst>
              <a:ext uri="{FF2B5EF4-FFF2-40B4-BE49-F238E27FC236}">
                <a16:creationId xmlns:a16="http://schemas.microsoft.com/office/drawing/2014/main" id="{4EA0451E-87F4-475A-BE75-59A469FEC5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5975" y="4418013"/>
            <a:ext cx="7850188" cy="1855787"/>
          </a:xfrm>
        </p:spPr>
        <p:txBody>
          <a:bodyPr lIns="0" tIns="0" rIns="0" bIns="0"/>
          <a:lstStyle/>
          <a:p>
            <a:r>
              <a:rPr lang="ko-KR" altLang="en-US" sz="1800" dirty="0">
                <a:ea typeface="나눔명조" pitchFamily="18" charset="-127"/>
              </a:rPr>
              <a:t>분석 절차는 먼저 </a:t>
            </a:r>
            <a:r>
              <a:rPr lang="en-US" altLang="ko-KR" sz="1800" dirty="0">
                <a:ea typeface="나눔명조" pitchFamily="18" charset="-127"/>
              </a:rPr>
              <a:t>CAA</a:t>
            </a:r>
            <a:r>
              <a:rPr lang="ko-KR" altLang="en-US" sz="1800" dirty="0">
                <a:ea typeface="나눔명조" pitchFamily="18" charset="-127"/>
              </a:rPr>
              <a:t>하의 직접규제 준수 비용을 추정하고 일반균형모형을 구축하여 환류효과</a:t>
            </a:r>
            <a:r>
              <a:rPr lang="en-US" altLang="ko-KR" sz="1800" dirty="0">
                <a:ea typeface="나눔명조" pitchFamily="18" charset="-127"/>
              </a:rPr>
              <a:t>(feed-back)</a:t>
            </a:r>
            <a:r>
              <a:rPr lang="ko-KR" altLang="en-US" sz="1800" dirty="0">
                <a:ea typeface="나눔명조" pitchFamily="18" charset="-127"/>
              </a:rPr>
              <a:t>까지 포함하는 규제정책의 비용을 추정함</a:t>
            </a:r>
            <a:endParaRPr lang="en-US" altLang="ko-KR" sz="1800" dirty="0">
              <a:ea typeface="나눔명조" pitchFamily="18" charset="-127"/>
            </a:endParaRPr>
          </a:p>
          <a:p>
            <a:r>
              <a:rPr lang="ko-KR" altLang="en-US" sz="1800" dirty="0">
                <a:ea typeface="나눔명조" pitchFamily="18" charset="-127"/>
              </a:rPr>
              <a:t>정책으로 인해 발생한 주요 대기오염물질의 배출량 변화 및 이로 인한 오염도 변화를 분석하고</a:t>
            </a:r>
            <a:r>
              <a:rPr lang="en-US" altLang="ko-KR" sz="1800" dirty="0">
                <a:ea typeface="나눔명조" pitchFamily="18" charset="-127"/>
              </a:rPr>
              <a:t>, </a:t>
            </a:r>
            <a:r>
              <a:rPr lang="ko-KR" altLang="en-US" sz="1800" dirty="0">
                <a:ea typeface="나눔명조" pitchFamily="18" charset="-127"/>
              </a:rPr>
              <a:t>오염도변화에 따른 환경피해도 분석하며</a:t>
            </a:r>
            <a:r>
              <a:rPr lang="en-US" altLang="ko-KR" sz="1800" dirty="0">
                <a:ea typeface="나눔명조" pitchFamily="18" charset="-127"/>
              </a:rPr>
              <a:t>, </a:t>
            </a:r>
            <a:r>
              <a:rPr lang="ko-KR" altLang="en-US" sz="1800" dirty="0">
                <a:ea typeface="나눔명조" pitchFamily="18" charset="-127"/>
              </a:rPr>
              <a:t>오염감소에 따른 편익을 가치화 하고 순편익을 도출함</a:t>
            </a:r>
            <a:r>
              <a:rPr lang="en-US" altLang="ko-KR" sz="1800" dirty="0">
                <a:ea typeface="나눔명조" pitchFamily="18" charset="-127"/>
              </a:rPr>
              <a:t>, </a:t>
            </a:r>
            <a:r>
              <a:rPr lang="ko-KR" altLang="en-US" sz="1800" dirty="0">
                <a:ea typeface="나눔명조" pitchFamily="18" charset="-127"/>
              </a:rPr>
              <a:t>마지막으로는 민감도분석을 시행함</a:t>
            </a:r>
            <a:endParaRPr lang="en-US" altLang="ko-KR" sz="1800" dirty="0">
              <a:ea typeface="나눔명조" pitchFamily="18" charset="-127"/>
            </a:endParaRPr>
          </a:p>
        </p:txBody>
      </p:sp>
      <p:pic>
        <p:nvPicPr>
          <p:cNvPr id="41991" name="Picture 3" descr="C:\Users\SEO\Desktop\환경경제학 표그림\Cap 2014-06-19 09-59-29-999.png">
            <a:extLst>
              <a:ext uri="{FF2B5EF4-FFF2-40B4-BE49-F238E27FC236}">
                <a16:creationId xmlns:a16="http://schemas.microsoft.com/office/drawing/2014/main" id="{70E83F44-3215-4D54-9874-B6371B25DA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22329" y="1048544"/>
            <a:ext cx="4499342" cy="3319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1992" name="Rectangle 6">
            <a:extLst>
              <a:ext uri="{FF2B5EF4-FFF2-40B4-BE49-F238E27FC236}">
                <a16:creationId xmlns:a16="http://schemas.microsoft.com/office/drawing/2014/main" id="{148F3EEF-5929-4F3A-BEF4-E9C92270D9A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42975" y="0"/>
            <a:ext cx="8201025" cy="998538"/>
          </a:xfrm>
        </p:spPr>
        <p:txBody>
          <a:bodyPr/>
          <a:lstStyle/>
          <a:p>
            <a:pPr eaLnBrk="1" hangingPunct="1"/>
            <a: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비용</a:t>
            </a:r>
            <a:r>
              <a:rPr lang="en-US" altLang="ko-KR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-</a:t>
            </a:r>
            <a: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편익분석사례</a:t>
            </a:r>
            <a:r>
              <a:rPr lang="en-US" altLang="ko-KR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: </a:t>
            </a:r>
            <a: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미국의 대기보전법</a:t>
            </a:r>
          </a:p>
        </p:txBody>
      </p:sp>
    </p:spTree>
  </p:cSld>
  <p:clrMapOvr>
    <a:masterClrMapping/>
  </p:clrMapOvr>
  <p:transition spd="med">
    <p:wipe dir="r"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바닥글 개체 틀 4">
            <a:extLst>
              <a:ext uri="{FF2B5EF4-FFF2-40B4-BE49-F238E27FC236}">
                <a16:creationId xmlns:a16="http://schemas.microsoft.com/office/drawing/2014/main" id="{5ABCBF24-F756-4A2E-8C8E-3DCD49F9F9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r>
              <a:rPr lang="ko-KR" altLang="en-US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13</a:t>
            </a:r>
          </a:p>
        </p:txBody>
      </p:sp>
      <p:sp>
        <p:nvSpPr>
          <p:cNvPr id="43011" name="슬라이드 번호 개체 틀 5">
            <a:extLst>
              <a:ext uri="{FF2B5EF4-FFF2-40B4-BE49-F238E27FC236}">
                <a16:creationId xmlns:a16="http://schemas.microsoft.com/office/drawing/2014/main" id="{CEE75565-B785-4C84-B0BE-D3527BCB69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fld id="{409BE451-DC09-4CB8-93E7-1119B78B82BD}" type="slidenum">
              <a:rPr lang="ko-KR" altLang="en-US" sz="1200" b="0">
                <a:solidFill>
                  <a:schemeClr val="tx1"/>
                </a:solidFill>
              </a:rPr>
              <a:pPr/>
              <a:t>29</a:t>
            </a:fld>
            <a:endParaRPr lang="en-US" altLang="ko-KR" sz="1200" b="0">
              <a:solidFill>
                <a:schemeClr val="tx1"/>
              </a:solidFill>
            </a:endParaRPr>
          </a:p>
        </p:txBody>
      </p:sp>
      <p:sp>
        <p:nvSpPr>
          <p:cNvPr id="43012" name="Rectangle 2">
            <a:extLst>
              <a:ext uri="{FF2B5EF4-FFF2-40B4-BE49-F238E27FC236}">
                <a16:creationId xmlns:a16="http://schemas.microsoft.com/office/drawing/2014/main" id="{698A3CA3-3AA3-43C9-A16F-C780F5369A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43013" name="Rectangle 3">
            <a:extLst>
              <a:ext uri="{FF2B5EF4-FFF2-40B4-BE49-F238E27FC236}">
                <a16:creationId xmlns:a16="http://schemas.microsoft.com/office/drawing/2014/main" id="{9E8D4319-F657-4F34-AC3E-FC51644C21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43014" name="내용 개체 틀 7">
            <a:extLst>
              <a:ext uri="{FF2B5EF4-FFF2-40B4-BE49-F238E27FC236}">
                <a16:creationId xmlns:a16="http://schemas.microsoft.com/office/drawing/2014/main" id="{624D2360-343D-4F05-8A4C-DCBD378555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7400" y="1322388"/>
            <a:ext cx="7766050" cy="4811712"/>
          </a:xfrm>
        </p:spPr>
        <p:txBody>
          <a:bodyPr lIns="0" tIns="0" rIns="0" bIns="0"/>
          <a:lstStyle/>
          <a:p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직접적인 </a:t>
            </a:r>
            <a:r>
              <a:rPr lang="ko-KR" altLang="en-US" sz="2000" dirty="0" err="1">
                <a:latin typeface="나눔명조" pitchFamily="18" charset="-127"/>
                <a:ea typeface="나눔명조" pitchFamily="18" charset="-127"/>
              </a:rPr>
              <a:t>규제준수비용</a:t>
            </a:r>
            <a:endParaRPr lang="en-US" altLang="ko-KR" sz="1800" dirty="0">
              <a:latin typeface="나눔명조" pitchFamily="18" charset="-127"/>
              <a:ea typeface="나눔명조" pitchFamily="18" charset="-127"/>
            </a:endParaRPr>
          </a:p>
          <a:p>
            <a:pPr lvl="1"/>
            <a:r>
              <a:rPr lang="ko-KR" altLang="en-US" sz="1800" dirty="0">
                <a:latin typeface="나눔명조" pitchFamily="18" charset="-127"/>
                <a:ea typeface="나눔명조" pitchFamily="18" charset="-127"/>
              </a:rPr>
              <a:t>오염원과 관련기관들이 </a:t>
            </a:r>
            <a:r>
              <a:rPr lang="en-US" altLang="ko-KR" sz="1800" dirty="0">
                <a:latin typeface="나눔명조" pitchFamily="18" charset="-127"/>
                <a:ea typeface="나눔명조" pitchFamily="18" charset="-127"/>
              </a:rPr>
              <a:t>CAA</a:t>
            </a:r>
            <a:r>
              <a:rPr lang="ko-KR" altLang="en-US" sz="1800" dirty="0">
                <a:latin typeface="나눔명조" pitchFamily="18" charset="-127"/>
                <a:ea typeface="나눔명조" pitchFamily="18" charset="-127"/>
              </a:rPr>
              <a:t>의 규제내용을 준수하기 위해 </a:t>
            </a:r>
            <a:r>
              <a:rPr lang="ko-KR" altLang="en-US" sz="1800" dirty="0" err="1">
                <a:latin typeface="나눔명조" pitchFamily="18" charset="-127"/>
                <a:ea typeface="나눔명조" pitchFamily="18" charset="-127"/>
              </a:rPr>
              <a:t>저감비용과</a:t>
            </a:r>
            <a:r>
              <a:rPr lang="ko-KR" altLang="en-US" sz="1800" dirty="0">
                <a:latin typeface="나눔명조" pitchFamily="18" charset="-127"/>
                <a:ea typeface="나눔명조" pitchFamily="18" charset="-127"/>
              </a:rPr>
              <a:t> 행정비용 등으로 지불한 직접비용을 추정함</a:t>
            </a:r>
            <a:endParaRPr lang="en-US" altLang="ko-KR" sz="1800" dirty="0">
              <a:latin typeface="나눔명조" pitchFamily="18" charset="-127"/>
              <a:ea typeface="나눔명조" pitchFamily="18" charset="-127"/>
            </a:endParaRPr>
          </a:p>
          <a:p>
            <a:pPr lvl="1"/>
            <a:r>
              <a:rPr lang="ko-KR" altLang="en-US" sz="1800" dirty="0">
                <a:latin typeface="나눔명조" pitchFamily="18" charset="-127"/>
                <a:ea typeface="나눔명조" pitchFamily="18" charset="-127"/>
              </a:rPr>
              <a:t>고정오염원의 준수비용은 설문조사를 이용</a:t>
            </a:r>
            <a:r>
              <a:rPr lang="en-US" altLang="ko-KR" sz="1800" dirty="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1800" dirty="0">
                <a:latin typeface="나눔명조" pitchFamily="18" charset="-127"/>
                <a:ea typeface="나눔명조" pitchFamily="18" charset="-127"/>
              </a:rPr>
              <a:t>운송부문의 준수비용은 </a:t>
            </a:r>
            <a:r>
              <a:rPr lang="en-US" altLang="ko-KR" sz="1800" dirty="0">
                <a:latin typeface="나눔명조" pitchFamily="18" charset="-127"/>
                <a:ea typeface="나눔명조" pitchFamily="18" charset="-127"/>
              </a:rPr>
              <a:t>EPA</a:t>
            </a:r>
            <a:r>
              <a:rPr lang="ko-KR" altLang="en-US" sz="1800" dirty="0">
                <a:latin typeface="나눔명조" pitchFamily="18" charset="-127"/>
                <a:ea typeface="나눔명조" pitchFamily="18" charset="-127"/>
              </a:rPr>
              <a:t> 분석 모형을 이용하여 추정함</a:t>
            </a:r>
            <a:endParaRPr lang="en-US" altLang="ko-KR" sz="1800" dirty="0">
              <a:latin typeface="나눔명조" pitchFamily="18" charset="-127"/>
              <a:ea typeface="나눔명조" pitchFamily="18" charset="-127"/>
            </a:endParaRPr>
          </a:p>
          <a:p>
            <a:pPr lvl="1"/>
            <a:r>
              <a:rPr lang="ko-KR" altLang="en-US" sz="1800" dirty="0">
                <a:latin typeface="나눔명조" pitchFamily="18" charset="-127"/>
                <a:ea typeface="나눔명조" pitchFamily="18" charset="-127"/>
              </a:rPr>
              <a:t>비용에는 </a:t>
            </a:r>
            <a:r>
              <a:rPr lang="en-US" altLang="ko-KR" sz="1800" dirty="0">
                <a:latin typeface="나눔명조" pitchFamily="18" charset="-127"/>
                <a:ea typeface="나눔명조" pitchFamily="18" charset="-127"/>
              </a:rPr>
              <a:t>CAA</a:t>
            </a:r>
            <a:r>
              <a:rPr lang="ko-KR" altLang="en-US" sz="1800" dirty="0">
                <a:latin typeface="나눔명조" pitchFamily="18" charset="-127"/>
                <a:ea typeface="나눔명조" pitchFamily="18" charset="-127"/>
              </a:rPr>
              <a:t>로 인해 촉진된 </a:t>
            </a:r>
            <a:r>
              <a:rPr lang="en-US" altLang="ko-KR" sz="1800" dirty="0">
                <a:latin typeface="나눔명조" pitchFamily="18" charset="-127"/>
                <a:ea typeface="나눔명조" pitchFamily="18" charset="-127"/>
              </a:rPr>
              <a:t>R&amp;D</a:t>
            </a:r>
            <a:r>
              <a:rPr lang="ko-KR" altLang="en-US" sz="1800" dirty="0">
                <a:latin typeface="나눔명조" pitchFamily="18" charset="-127"/>
                <a:ea typeface="나눔명조" pitchFamily="18" charset="-127"/>
              </a:rPr>
              <a:t>지출액 등 연간 지출액</a:t>
            </a:r>
            <a:r>
              <a:rPr lang="en-US" altLang="ko-KR" sz="1800" dirty="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1800" dirty="0">
                <a:latin typeface="나눔명조" pitchFamily="18" charset="-127"/>
                <a:ea typeface="나눔명조" pitchFamily="18" charset="-127"/>
              </a:rPr>
              <a:t>기업체</a:t>
            </a:r>
            <a:r>
              <a:rPr lang="en-US" altLang="ko-KR" sz="1800" dirty="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1800" dirty="0">
                <a:latin typeface="나눔명조" pitchFamily="18" charset="-127"/>
                <a:ea typeface="나눔명조" pitchFamily="18" charset="-127"/>
              </a:rPr>
              <a:t>소비자</a:t>
            </a:r>
            <a:r>
              <a:rPr lang="en-US" altLang="ko-KR" sz="1800" dirty="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1800" dirty="0">
                <a:latin typeface="나눔명조" pitchFamily="18" charset="-127"/>
                <a:ea typeface="나눔명조" pitchFamily="18" charset="-127"/>
              </a:rPr>
              <a:t>정부기구의 규제준수 비용</a:t>
            </a:r>
            <a:r>
              <a:rPr lang="en-US" altLang="ko-KR" sz="1800" dirty="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1800" dirty="0">
                <a:latin typeface="나눔명조" pitchFamily="18" charset="-127"/>
                <a:ea typeface="나눔명조" pitchFamily="18" charset="-127"/>
              </a:rPr>
              <a:t>감시 및 감독 등의 정책 비용 등이 포함됨</a:t>
            </a:r>
            <a:endParaRPr lang="en-US" altLang="ko-KR" sz="1800" dirty="0">
              <a:latin typeface="나눔명조" pitchFamily="18" charset="-127"/>
              <a:ea typeface="나눔명조" pitchFamily="18" charset="-127"/>
            </a:endParaRPr>
          </a:p>
          <a:p>
            <a:pPr lvl="1">
              <a:buFont typeface="Wingdings" panose="05000000000000000000" pitchFamily="2" charset="2"/>
              <a:buNone/>
            </a:pPr>
            <a:endParaRPr lang="en-US" altLang="ko-KR" sz="1000" dirty="0">
              <a:latin typeface="나눔명조" pitchFamily="18" charset="-127"/>
              <a:ea typeface="나눔명조" pitchFamily="18" charset="-127"/>
            </a:endParaRPr>
          </a:p>
          <a:p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환류효과 분석 및 정책비용 도출</a:t>
            </a:r>
            <a:endParaRPr lang="en-US" altLang="ko-KR" sz="1800" dirty="0">
              <a:latin typeface="나눔명조" pitchFamily="18" charset="-127"/>
              <a:ea typeface="나눔명조" pitchFamily="18" charset="-127"/>
            </a:endParaRPr>
          </a:p>
          <a:p>
            <a:pPr lvl="1"/>
            <a:r>
              <a:rPr lang="ko-KR" altLang="en-US" sz="1800" dirty="0">
                <a:latin typeface="나눔명조" pitchFamily="18" charset="-127"/>
                <a:ea typeface="나눔명조" pitchFamily="18" charset="-127"/>
              </a:rPr>
              <a:t>환류효과에는 부문효과와 거시효과가 있음</a:t>
            </a:r>
            <a:endParaRPr lang="en-US" altLang="ko-KR" sz="1800" dirty="0">
              <a:latin typeface="나눔명조" pitchFamily="18" charset="-127"/>
              <a:ea typeface="나눔명조" pitchFamily="18" charset="-127"/>
            </a:endParaRPr>
          </a:p>
          <a:p>
            <a:pPr lvl="1"/>
            <a:r>
              <a:rPr lang="ko-KR" altLang="en-US" sz="1800" dirty="0">
                <a:latin typeface="나눔명조" pitchFamily="18" charset="-127"/>
                <a:ea typeface="나눔명조" pitchFamily="18" charset="-127"/>
              </a:rPr>
              <a:t>부문효과는 에너지 집약 산업의 비용이 크게 상승하여 각 산업이 전체 경제에서 차지하는 비중이 달라져 발생하는 효과임</a:t>
            </a:r>
            <a:endParaRPr lang="en-US" altLang="ko-KR" sz="1800" dirty="0">
              <a:latin typeface="나눔명조" pitchFamily="18" charset="-127"/>
              <a:ea typeface="나눔명조" pitchFamily="18" charset="-127"/>
            </a:endParaRPr>
          </a:p>
          <a:p>
            <a:pPr lvl="1"/>
            <a:r>
              <a:rPr lang="ko-KR" altLang="en-US" sz="1800" dirty="0">
                <a:latin typeface="나눔명조" pitchFamily="18" charset="-127"/>
                <a:ea typeface="나눔명조" pitchFamily="18" charset="-127"/>
              </a:rPr>
              <a:t>거시효과는 규제로 인해 경제성장률이 낮아지고 </a:t>
            </a:r>
            <a:r>
              <a:rPr lang="en-US" altLang="ko-KR" sz="1800" dirty="0">
                <a:latin typeface="나눔명조" pitchFamily="18" charset="-127"/>
                <a:ea typeface="나눔명조" pitchFamily="18" charset="-127"/>
              </a:rPr>
              <a:t>GNP</a:t>
            </a:r>
            <a:r>
              <a:rPr lang="ko-KR" altLang="en-US" sz="1800" dirty="0">
                <a:latin typeface="나눔명조" pitchFamily="18" charset="-127"/>
                <a:ea typeface="나눔명조" pitchFamily="18" charset="-127"/>
              </a:rPr>
              <a:t>가 줄어들어 발생하는 비용을 의미함</a:t>
            </a:r>
            <a:endParaRPr lang="en-US" altLang="ko-KR" sz="1800" dirty="0">
              <a:latin typeface="나눔명조" pitchFamily="18" charset="-127"/>
              <a:ea typeface="나눔명조" pitchFamily="18" charset="-127"/>
            </a:endParaRPr>
          </a:p>
          <a:p>
            <a:pPr lvl="1"/>
            <a:endParaRPr lang="en-US" altLang="ko-KR" sz="2000" dirty="0"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43015" name="Rectangle 6">
            <a:extLst>
              <a:ext uri="{FF2B5EF4-FFF2-40B4-BE49-F238E27FC236}">
                <a16:creationId xmlns:a16="http://schemas.microsoft.com/office/drawing/2014/main" id="{E081725A-7ED0-46F8-99A4-E67E25C1FC2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42975" y="0"/>
            <a:ext cx="8201025" cy="998538"/>
          </a:xfrm>
        </p:spPr>
        <p:txBody>
          <a:bodyPr/>
          <a:lstStyle/>
          <a:p>
            <a:pPr eaLnBrk="1" hangingPunct="1"/>
            <a: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비용</a:t>
            </a:r>
            <a:r>
              <a:rPr lang="en-US" altLang="ko-KR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-</a:t>
            </a:r>
            <a: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편익분석사례</a:t>
            </a:r>
            <a:r>
              <a:rPr lang="en-US" altLang="ko-KR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: </a:t>
            </a:r>
            <a: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미국의 대기보전법</a:t>
            </a:r>
          </a:p>
        </p:txBody>
      </p:sp>
    </p:spTree>
  </p:cSld>
  <p:clrMapOvr>
    <a:masterClrMapping/>
  </p:clrMapOvr>
  <p:transition spd="med">
    <p:wipe dir="r"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바닥글 개체 틀 4">
            <a:extLst>
              <a:ext uri="{FF2B5EF4-FFF2-40B4-BE49-F238E27FC236}">
                <a16:creationId xmlns:a16="http://schemas.microsoft.com/office/drawing/2014/main" id="{8F6C272C-16ED-42DD-BC5E-A9794B0A64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r>
              <a:rPr lang="ko-KR" altLang="en-US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13</a:t>
            </a:r>
          </a:p>
        </p:txBody>
      </p:sp>
      <p:sp>
        <p:nvSpPr>
          <p:cNvPr id="44035" name="슬라이드 번호 개체 틀 5">
            <a:extLst>
              <a:ext uri="{FF2B5EF4-FFF2-40B4-BE49-F238E27FC236}">
                <a16:creationId xmlns:a16="http://schemas.microsoft.com/office/drawing/2014/main" id="{64AD3849-F666-447A-BA28-4F2F2F6C49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fld id="{221D93BE-5135-4332-BD5A-D48C94B69D0F}" type="slidenum">
              <a:rPr lang="ko-KR" altLang="en-US" sz="1200" b="0">
                <a:solidFill>
                  <a:schemeClr val="tx1"/>
                </a:solidFill>
              </a:rPr>
              <a:pPr/>
              <a:t>30</a:t>
            </a:fld>
            <a:endParaRPr lang="en-US" altLang="ko-KR" sz="1200" b="0">
              <a:solidFill>
                <a:schemeClr val="tx1"/>
              </a:solidFill>
            </a:endParaRPr>
          </a:p>
        </p:txBody>
      </p:sp>
      <p:sp>
        <p:nvSpPr>
          <p:cNvPr id="44036" name="Rectangle 2">
            <a:extLst>
              <a:ext uri="{FF2B5EF4-FFF2-40B4-BE49-F238E27FC236}">
                <a16:creationId xmlns:a16="http://schemas.microsoft.com/office/drawing/2014/main" id="{D8C2FBBB-61B9-4CF4-8597-DC2F1F5580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44037" name="Rectangle 3">
            <a:extLst>
              <a:ext uri="{FF2B5EF4-FFF2-40B4-BE49-F238E27FC236}">
                <a16:creationId xmlns:a16="http://schemas.microsoft.com/office/drawing/2014/main" id="{9FE1E2D9-C917-449D-B592-50DE88FFC7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44038" name="내용 개체 틀 7">
            <a:extLst>
              <a:ext uri="{FF2B5EF4-FFF2-40B4-BE49-F238E27FC236}">
                <a16:creationId xmlns:a16="http://schemas.microsoft.com/office/drawing/2014/main" id="{F29C4C22-E222-483A-91DB-2E9896DC2A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0413" y="1562100"/>
            <a:ext cx="7723187" cy="1209675"/>
          </a:xfrm>
        </p:spPr>
        <p:txBody>
          <a:bodyPr lIns="0" tIns="0" rIns="0" bIns="0"/>
          <a:lstStyle/>
          <a:p>
            <a:r>
              <a:rPr lang="ko-KR" altLang="en-US" sz="2000">
                <a:ea typeface="나눔명조" pitchFamily="18" charset="-127"/>
              </a:rPr>
              <a:t>직접적인 규제준수 비용과 환류효과까지 모두 합할 경우 </a:t>
            </a:r>
            <a:r>
              <a:rPr lang="en-US" altLang="ko-KR" sz="2000">
                <a:ea typeface="나눔명조" pitchFamily="18" charset="-127"/>
              </a:rPr>
              <a:t>CAA </a:t>
            </a:r>
            <a:r>
              <a:rPr lang="ko-KR" altLang="en-US" sz="2000">
                <a:ea typeface="나눔명조" pitchFamily="18" charset="-127"/>
              </a:rPr>
              <a:t>비용의 할인 합은 아래 표와 같이 추정됨</a:t>
            </a:r>
            <a:endParaRPr lang="en-US" altLang="ko-KR" sz="2000">
              <a:ea typeface="나눔명조" pitchFamily="18" charset="-127"/>
            </a:endParaRPr>
          </a:p>
        </p:txBody>
      </p:sp>
      <p:sp>
        <p:nvSpPr>
          <p:cNvPr id="44040" name="Rectangle 6">
            <a:extLst>
              <a:ext uri="{FF2B5EF4-FFF2-40B4-BE49-F238E27FC236}">
                <a16:creationId xmlns:a16="http://schemas.microsoft.com/office/drawing/2014/main" id="{F0D21357-C43A-4CBB-8FEB-8FA3105D645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42975" y="0"/>
            <a:ext cx="8201025" cy="998538"/>
          </a:xfrm>
        </p:spPr>
        <p:txBody>
          <a:bodyPr/>
          <a:lstStyle/>
          <a:p>
            <a:pPr eaLnBrk="1" hangingPunct="1"/>
            <a: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비용</a:t>
            </a:r>
            <a:r>
              <a:rPr lang="en-US" altLang="ko-KR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-</a:t>
            </a:r>
            <a: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편익분석사례</a:t>
            </a:r>
            <a:r>
              <a:rPr lang="en-US" altLang="ko-KR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: </a:t>
            </a:r>
            <a: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미국의 대기보전법</a:t>
            </a: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4EA7BD10-AE98-4E01-8264-F8BDA1A9CD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3108" y="2338352"/>
            <a:ext cx="7557796" cy="2570233"/>
          </a:xfrm>
          <a:prstGeom prst="rect">
            <a:avLst/>
          </a:prstGeom>
        </p:spPr>
      </p:pic>
    </p:spTree>
  </p:cSld>
  <p:clrMapOvr>
    <a:masterClrMapping/>
  </p:clrMapOvr>
  <p:transition spd="med">
    <p:wipe dir="r"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바닥글 개체 틀 4">
            <a:extLst>
              <a:ext uri="{FF2B5EF4-FFF2-40B4-BE49-F238E27FC236}">
                <a16:creationId xmlns:a16="http://schemas.microsoft.com/office/drawing/2014/main" id="{80159200-468B-48E0-A507-F65AE43630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r>
              <a:rPr lang="ko-KR" altLang="en-US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13</a:t>
            </a:r>
          </a:p>
        </p:txBody>
      </p:sp>
      <p:sp>
        <p:nvSpPr>
          <p:cNvPr id="45059" name="슬라이드 번호 개체 틀 5">
            <a:extLst>
              <a:ext uri="{FF2B5EF4-FFF2-40B4-BE49-F238E27FC236}">
                <a16:creationId xmlns:a16="http://schemas.microsoft.com/office/drawing/2014/main" id="{62A5E5F6-8A58-45D8-9077-0A89997E5B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fld id="{E36AEB80-F3E6-4D3C-98A4-43DAD5F6B06B}" type="slidenum">
              <a:rPr lang="ko-KR" altLang="en-US" sz="1200" b="0">
                <a:solidFill>
                  <a:schemeClr val="tx1"/>
                </a:solidFill>
              </a:rPr>
              <a:pPr/>
              <a:t>31</a:t>
            </a:fld>
            <a:endParaRPr lang="en-US" altLang="ko-KR" sz="1200" b="0">
              <a:solidFill>
                <a:schemeClr val="tx1"/>
              </a:solidFill>
            </a:endParaRPr>
          </a:p>
        </p:txBody>
      </p:sp>
      <p:sp>
        <p:nvSpPr>
          <p:cNvPr id="45060" name="Rectangle 2">
            <a:extLst>
              <a:ext uri="{FF2B5EF4-FFF2-40B4-BE49-F238E27FC236}">
                <a16:creationId xmlns:a16="http://schemas.microsoft.com/office/drawing/2014/main" id="{C72D077D-9F5F-4DAB-9FD0-0311C254C5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45061" name="Rectangle 3">
            <a:extLst>
              <a:ext uri="{FF2B5EF4-FFF2-40B4-BE49-F238E27FC236}">
                <a16:creationId xmlns:a16="http://schemas.microsoft.com/office/drawing/2014/main" id="{283D2652-7D80-4866-ADE4-668D7883D4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45062" name="내용 개체 틀 7">
            <a:extLst>
              <a:ext uri="{FF2B5EF4-FFF2-40B4-BE49-F238E27FC236}">
                <a16:creationId xmlns:a16="http://schemas.microsoft.com/office/drawing/2014/main" id="{3990D3C3-E1E3-495D-8F86-BFDD8A7470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7550" y="1435100"/>
            <a:ext cx="7850188" cy="4545013"/>
          </a:xfrm>
        </p:spPr>
        <p:txBody>
          <a:bodyPr lIns="0" tIns="0" rIns="0" bIns="0"/>
          <a:lstStyle/>
          <a:p>
            <a:r>
              <a:rPr lang="ko-KR" altLang="en-US" sz="2800">
                <a:ea typeface="나눔명조" pitchFamily="18" charset="-127"/>
              </a:rPr>
              <a:t>오염물질 배출량 감소 추정</a:t>
            </a:r>
            <a:endParaRPr lang="en-US" altLang="ko-KR" sz="2800">
              <a:ea typeface="나눔명조" pitchFamily="18" charset="-127"/>
            </a:endParaRPr>
          </a:p>
          <a:p>
            <a:pPr lvl="1"/>
            <a:r>
              <a:rPr lang="ko-KR" altLang="en-US" sz="2400">
                <a:ea typeface="나눔명조" pitchFamily="18" charset="-127"/>
              </a:rPr>
              <a:t>편익을 경제적 가치로 환산하기 위해서 </a:t>
            </a:r>
            <a:r>
              <a:rPr lang="en-US" altLang="ko-KR" sz="2400">
                <a:ea typeface="나눔명조" pitchFamily="18" charset="-127"/>
              </a:rPr>
              <a:t>CAA</a:t>
            </a:r>
            <a:r>
              <a:rPr lang="ko-KR" altLang="en-US" sz="2400">
                <a:ea typeface="나눔명조" pitchFamily="18" charset="-127"/>
              </a:rPr>
              <a:t>로 인해 어느 정도의 오염저감이 발생했는지 파악해야 함</a:t>
            </a:r>
            <a:endParaRPr lang="en-US" altLang="ko-KR" sz="2400">
              <a:ea typeface="나눔명조" pitchFamily="18" charset="-127"/>
            </a:endParaRPr>
          </a:p>
          <a:p>
            <a:pPr lvl="1"/>
            <a:r>
              <a:rPr lang="ko-KR" altLang="en-US" sz="2400">
                <a:ea typeface="나눔명조" pitchFamily="18" charset="-127"/>
              </a:rPr>
              <a:t>이를 위해 일반균형모형을 이용하여 </a:t>
            </a:r>
            <a:r>
              <a:rPr lang="en-US" altLang="ko-KR" sz="2400">
                <a:ea typeface="나눔명조" pitchFamily="18" charset="-127"/>
              </a:rPr>
              <a:t>CAA</a:t>
            </a:r>
            <a:r>
              <a:rPr lang="ko-KR" altLang="en-US" sz="2400">
                <a:ea typeface="나눔명조" pitchFamily="18" charset="-127"/>
              </a:rPr>
              <a:t>로부터 각 부문별 연료 사용량이 어느 정도 변하고 오염물질 배출량이 어느 정도 변하였는지를 분석함</a:t>
            </a:r>
            <a:endParaRPr lang="en-US" altLang="ko-KR" sz="2400">
              <a:ea typeface="나눔명조" pitchFamily="18" charset="-127"/>
            </a:endParaRPr>
          </a:p>
          <a:p>
            <a:pPr lvl="1"/>
            <a:r>
              <a:rPr lang="en-US" altLang="ko-KR" sz="2400">
                <a:ea typeface="나눔명조" pitchFamily="18" charset="-127"/>
              </a:rPr>
              <a:t>1990</a:t>
            </a:r>
            <a:r>
              <a:rPr lang="ko-KR" altLang="en-US" sz="2400">
                <a:ea typeface="나눔명조" pitchFamily="18" charset="-127"/>
              </a:rPr>
              <a:t>년 기준으로 </a:t>
            </a:r>
            <a:r>
              <a:rPr lang="en-US" altLang="ko-KR" sz="2400">
                <a:ea typeface="나눔명조" pitchFamily="18" charset="-127"/>
              </a:rPr>
              <a:t>CAA</a:t>
            </a:r>
            <a:r>
              <a:rPr lang="ko-KR" altLang="en-US" sz="2400">
                <a:ea typeface="나눔명조" pitchFamily="18" charset="-127"/>
              </a:rPr>
              <a:t>가 도입되어 </a:t>
            </a:r>
            <a:r>
              <a:rPr lang="en-US" altLang="ko-KR" sz="2400">
                <a:ea typeface="나눔명조" pitchFamily="18" charset="-127"/>
              </a:rPr>
              <a:t>TSP 68%, SO</a:t>
            </a:r>
            <a:r>
              <a:rPr lang="en-US" altLang="ko-KR" sz="2400" baseline="-25000">
                <a:ea typeface="나눔명조" pitchFamily="18" charset="-127"/>
              </a:rPr>
              <a:t>4</a:t>
            </a:r>
            <a:r>
              <a:rPr lang="en-US" altLang="ko-KR" sz="2400">
                <a:ea typeface="나눔명조" pitchFamily="18" charset="-127"/>
              </a:rPr>
              <a:t> 40%, NO</a:t>
            </a:r>
            <a:r>
              <a:rPr lang="en-US" altLang="ko-KR" sz="2400" baseline="-25000">
                <a:ea typeface="나눔명조" pitchFamily="18" charset="-127"/>
              </a:rPr>
              <a:t>x</a:t>
            </a:r>
            <a:r>
              <a:rPr lang="en-US" altLang="ko-KR" sz="2400">
                <a:ea typeface="나눔명조" pitchFamily="18" charset="-127"/>
              </a:rPr>
              <a:t> 29%, VOC 45%, CO 49%, Pb 99%</a:t>
            </a:r>
            <a:r>
              <a:rPr lang="ko-KR" altLang="en-US" sz="2400">
                <a:ea typeface="나눔명조" pitchFamily="18" charset="-127"/>
              </a:rPr>
              <a:t>가</a:t>
            </a:r>
            <a:r>
              <a:rPr lang="en-US" altLang="ko-KR" sz="2400">
                <a:ea typeface="나눔명조" pitchFamily="18" charset="-127"/>
              </a:rPr>
              <a:t> </a:t>
            </a:r>
            <a:r>
              <a:rPr lang="ko-KR" altLang="en-US" sz="2400">
                <a:ea typeface="나눔명조" pitchFamily="18" charset="-127"/>
              </a:rPr>
              <a:t>감소되었음</a:t>
            </a:r>
            <a:endParaRPr lang="en-US" altLang="ko-KR" sz="2400">
              <a:ea typeface="나눔명조" pitchFamily="18" charset="-127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None/>
            </a:pPr>
            <a:endParaRPr lang="en-US" altLang="ko-KR" sz="2000">
              <a:ea typeface="나눔명조" pitchFamily="18" charset="-127"/>
            </a:endParaRPr>
          </a:p>
        </p:txBody>
      </p:sp>
      <p:sp>
        <p:nvSpPr>
          <p:cNvPr id="45063" name="Rectangle 6">
            <a:extLst>
              <a:ext uri="{FF2B5EF4-FFF2-40B4-BE49-F238E27FC236}">
                <a16:creationId xmlns:a16="http://schemas.microsoft.com/office/drawing/2014/main" id="{16BE64B8-8BFB-4912-85FA-40CDD509A95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42975" y="0"/>
            <a:ext cx="8201025" cy="998538"/>
          </a:xfrm>
        </p:spPr>
        <p:txBody>
          <a:bodyPr/>
          <a:lstStyle/>
          <a:p>
            <a:pPr eaLnBrk="1" hangingPunct="1"/>
            <a: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비용</a:t>
            </a:r>
            <a:r>
              <a:rPr lang="en-US" altLang="ko-KR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-</a:t>
            </a:r>
            <a: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편익분석사례</a:t>
            </a:r>
            <a:r>
              <a:rPr lang="en-US" altLang="ko-KR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: </a:t>
            </a:r>
            <a: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미국의 대기보전법</a:t>
            </a:r>
          </a:p>
        </p:txBody>
      </p:sp>
    </p:spTree>
  </p:cSld>
  <p:clrMapOvr>
    <a:masterClrMapping/>
  </p:clrMapOvr>
  <p:transition spd="med">
    <p:wipe dir="r"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바닥글 개체 틀 4">
            <a:extLst>
              <a:ext uri="{FF2B5EF4-FFF2-40B4-BE49-F238E27FC236}">
                <a16:creationId xmlns:a16="http://schemas.microsoft.com/office/drawing/2014/main" id="{41FAD719-CBC1-4B75-8FAF-18C2D5DAC4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r>
              <a:rPr lang="ko-KR" altLang="en-US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13</a:t>
            </a:r>
          </a:p>
        </p:txBody>
      </p:sp>
      <p:sp>
        <p:nvSpPr>
          <p:cNvPr id="46083" name="슬라이드 번호 개체 틀 5">
            <a:extLst>
              <a:ext uri="{FF2B5EF4-FFF2-40B4-BE49-F238E27FC236}">
                <a16:creationId xmlns:a16="http://schemas.microsoft.com/office/drawing/2014/main" id="{DCCA55D0-C67A-41DF-BCC2-5789042CE1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fld id="{33F9B25A-94E8-45FB-9845-503E58F46D40}" type="slidenum">
              <a:rPr lang="ko-KR" altLang="en-US" sz="1200" b="0">
                <a:solidFill>
                  <a:schemeClr val="tx1"/>
                </a:solidFill>
              </a:rPr>
              <a:pPr/>
              <a:t>32</a:t>
            </a:fld>
            <a:endParaRPr lang="en-US" altLang="ko-KR" sz="1200" b="0">
              <a:solidFill>
                <a:schemeClr val="tx1"/>
              </a:solidFill>
            </a:endParaRPr>
          </a:p>
        </p:txBody>
      </p:sp>
      <p:sp>
        <p:nvSpPr>
          <p:cNvPr id="46084" name="Rectangle 2">
            <a:extLst>
              <a:ext uri="{FF2B5EF4-FFF2-40B4-BE49-F238E27FC236}">
                <a16:creationId xmlns:a16="http://schemas.microsoft.com/office/drawing/2014/main" id="{32C149CF-CA45-4C77-82CB-63B5DA0DBA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46085" name="Rectangle 3">
            <a:extLst>
              <a:ext uri="{FF2B5EF4-FFF2-40B4-BE49-F238E27FC236}">
                <a16:creationId xmlns:a16="http://schemas.microsoft.com/office/drawing/2014/main" id="{E7D32298-011E-4BCB-B628-35F3A7A606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46086" name="내용 개체 틀 7">
            <a:extLst>
              <a:ext uri="{FF2B5EF4-FFF2-40B4-BE49-F238E27FC236}">
                <a16:creationId xmlns:a16="http://schemas.microsoft.com/office/drawing/2014/main" id="{9FDCBB6B-BA36-423D-87F9-91845BBA77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1838" y="1435100"/>
            <a:ext cx="7835900" cy="4502150"/>
          </a:xfrm>
        </p:spPr>
        <p:txBody>
          <a:bodyPr lIns="0" tIns="0" rIns="0" bIns="0"/>
          <a:lstStyle/>
          <a:p>
            <a:r>
              <a:rPr lang="ko-KR" altLang="en-US" sz="2800">
                <a:ea typeface="나눔명조" pitchFamily="18" charset="-127"/>
              </a:rPr>
              <a:t>오염도 변화 분석</a:t>
            </a:r>
            <a:endParaRPr lang="en-US" altLang="ko-KR" sz="2800">
              <a:ea typeface="나눔명조" pitchFamily="18" charset="-127"/>
            </a:endParaRPr>
          </a:p>
          <a:p>
            <a:pPr lvl="1"/>
            <a:r>
              <a:rPr lang="ko-KR" altLang="en-US" sz="2000">
                <a:ea typeface="나눔명조" pitchFamily="18" charset="-127"/>
              </a:rPr>
              <a:t>기술적</a:t>
            </a:r>
            <a:r>
              <a:rPr lang="en-US" altLang="ko-KR" sz="2000">
                <a:ea typeface="나눔명조" pitchFamily="18" charset="-127"/>
              </a:rPr>
              <a:t>, </a:t>
            </a:r>
            <a:r>
              <a:rPr lang="ko-KR" altLang="en-US" sz="2000">
                <a:ea typeface="나눔명조" pitchFamily="18" charset="-127"/>
              </a:rPr>
              <a:t>공학적 분석으로 </a:t>
            </a:r>
            <a:r>
              <a:rPr lang="en-US" altLang="ko-KR" sz="2000">
                <a:ea typeface="나눔명조" pitchFamily="18" charset="-127"/>
              </a:rPr>
              <a:t>48</a:t>
            </a:r>
            <a:r>
              <a:rPr lang="ko-KR" altLang="en-US" sz="2000">
                <a:ea typeface="나눔명조" pitchFamily="18" charset="-127"/>
              </a:rPr>
              <a:t>개 주의 각 오염도 측정지점에서의 오염도가 </a:t>
            </a:r>
            <a:r>
              <a:rPr lang="en-US" altLang="ko-KR" sz="2000">
                <a:ea typeface="나눔명조" pitchFamily="18" charset="-127"/>
              </a:rPr>
              <a:t>CAA</a:t>
            </a:r>
            <a:r>
              <a:rPr lang="ko-KR" altLang="en-US" sz="2000">
                <a:ea typeface="나눔명조" pitchFamily="18" charset="-127"/>
              </a:rPr>
              <a:t>의 직간접효과로 인해 변화되는 정도를 과학모형을 이용해 추정함</a:t>
            </a:r>
            <a:endParaRPr lang="en-US" altLang="ko-KR" sz="2000">
              <a:ea typeface="나눔명조" pitchFamily="18" charset="-127"/>
            </a:endParaRPr>
          </a:p>
          <a:p>
            <a:pPr lvl="1"/>
            <a:endParaRPr lang="en-US" altLang="ko-KR" sz="1000">
              <a:ea typeface="나눔명조" pitchFamily="18" charset="-127"/>
            </a:endParaRPr>
          </a:p>
          <a:p>
            <a:r>
              <a:rPr lang="ko-KR" altLang="en-US" sz="2800">
                <a:ea typeface="나눔명조" pitchFamily="18" charset="-127"/>
              </a:rPr>
              <a:t>오염피해변화 분석</a:t>
            </a:r>
            <a:endParaRPr lang="en-US" altLang="ko-KR" sz="2800">
              <a:ea typeface="나눔명조" pitchFamily="18" charset="-127"/>
            </a:endParaRPr>
          </a:p>
          <a:p>
            <a:pPr lvl="1"/>
            <a:r>
              <a:rPr lang="ko-KR" altLang="en-US" sz="2000">
                <a:ea typeface="나눔명조" pitchFamily="18" charset="-127"/>
              </a:rPr>
              <a:t>오염도 측정망에 인접한 인구수를 파악하고 오염도와 건강 간의 관계를 분석한 연구결과들을 적용함</a:t>
            </a:r>
            <a:endParaRPr lang="en-US" altLang="ko-KR" sz="2000">
              <a:ea typeface="나눔명조" pitchFamily="18" charset="-127"/>
            </a:endParaRPr>
          </a:p>
          <a:p>
            <a:pPr lvl="1"/>
            <a:r>
              <a:rPr lang="ko-KR" altLang="en-US" sz="2000">
                <a:ea typeface="나눔명조" pitchFamily="18" charset="-127"/>
              </a:rPr>
              <a:t>농업부문의 모형 분석을 통해 오염으로 인한 농작물 손실이나 토양유실 등을 파악함</a:t>
            </a:r>
            <a:endParaRPr lang="en-US" altLang="ko-KR" sz="2000">
              <a:ea typeface="나눔명조" pitchFamily="18" charset="-127"/>
            </a:endParaRPr>
          </a:p>
          <a:p>
            <a:pPr lvl="1"/>
            <a:r>
              <a:rPr lang="ko-KR" altLang="en-US" sz="2000">
                <a:ea typeface="나눔명조" pitchFamily="18" charset="-127"/>
              </a:rPr>
              <a:t>또한 오염피해의 변화는 사람의 기대수명에 영향을 미치는 치명적 오염피해와  여타 피해로 분리하여 계측 되었고 그 결과는 다음과 같음</a:t>
            </a:r>
            <a:endParaRPr lang="en-US" altLang="ko-KR" sz="2000">
              <a:ea typeface="나눔명조" pitchFamily="18" charset="-127"/>
            </a:endParaRPr>
          </a:p>
          <a:p>
            <a:pPr lvl="1">
              <a:lnSpc>
                <a:spcPct val="150000"/>
              </a:lnSpc>
            </a:pPr>
            <a:endParaRPr lang="en-US" altLang="ko-KR" sz="1800">
              <a:ea typeface="나눔명조" pitchFamily="18" charset="-127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None/>
            </a:pPr>
            <a:endParaRPr lang="en-US" altLang="ko-KR" sz="2000">
              <a:ea typeface="나눔명조" pitchFamily="18" charset="-127"/>
            </a:endParaRPr>
          </a:p>
        </p:txBody>
      </p:sp>
      <p:sp>
        <p:nvSpPr>
          <p:cNvPr id="46087" name="Rectangle 6">
            <a:extLst>
              <a:ext uri="{FF2B5EF4-FFF2-40B4-BE49-F238E27FC236}">
                <a16:creationId xmlns:a16="http://schemas.microsoft.com/office/drawing/2014/main" id="{24AC16B7-86C3-4CF2-AB72-241115CD3D2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42975" y="0"/>
            <a:ext cx="8201025" cy="998538"/>
          </a:xfrm>
        </p:spPr>
        <p:txBody>
          <a:bodyPr/>
          <a:lstStyle/>
          <a:p>
            <a:pPr eaLnBrk="1" hangingPunct="1"/>
            <a: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비용</a:t>
            </a:r>
            <a:r>
              <a:rPr lang="en-US" altLang="ko-KR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-</a:t>
            </a:r>
            <a: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편익분석사례</a:t>
            </a:r>
            <a:r>
              <a:rPr lang="en-US" altLang="ko-KR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: </a:t>
            </a:r>
            <a: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미국의 대기보전법</a:t>
            </a:r>
          </a:p>
        </p:txBody>
      </p:sp>
    </p:spTree>
  </p:cSld>
  <p:clrMapOvr>
    <a:masterClrMapping/>
  </p:clrMapOvr>
  <p:transition spd="med">
    <p:wipe dir="r"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바닥글 개체 틀 4">
            <a:extLst>
              <a:ext uri="{FF2B5EF4-FFF2-40B4-BE49-F238E27FC236}">
                <a16:creationId xmlns:a16="http://schemas.microsoft.com/office/drawing/2014/main" id="{F26CF4B0-FBF2-4870-A134-05D1C3A2AF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r>
              <a:rPr lang="ko-KR" altLang="en-US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13</a:t>
            </a:r>
          </a:p>
        </p:txBody>
      </p:sp>
      <p:sp>
        <p:nvSpPr>
          <p:cNvPr id="47107" name="슬라이드 번호 개체 틀 5">
            <a:extLst>
              <a:ext uri="{FF2B5EF4-FFF2-40B4-BE49-F238E27FC236}">
                <a16:creationId xmlns:a16="http://schemas.microsoft.com/office/drawing/2014/main" id="{B2F0FDB7-87E6-4362-B137-D33D6068D2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fld id="{DC15ABB5-71AE-491B-8A54-CEA9722069F4}" type="slidenum">
              <a:rPr lang="ko-KR" altLang="en-US" sz="1200" b="0">
                <a:solidFill>
                  <a:schemeClr val="tx1"/>
                </a:solidFill>
              </a:rPr>
              <a:pPr/>
              <a:t>33</a:t>
            </a:fld>
            <a:endParaRPr lang="en-US" altLang="ko-KR" sz="1200" b="0">
              <a:solidFill>
                <a:schemeClr val="tx1"/>
              </a:solidFill>
            </a:endParaRPr>
          </a:p>
        </p:txBody>
      </p:sp>
      <p:sp>
        <p:nvSpPr>
          <p:cNvPr id="47108" name="Rectangle 2">
            <a:extLst>
              <a:ext uri="{FF2B5EF4-FFF2-40B4-BE49-F238E27FC236}">
                <a16:creationId xmlns:a16="http://schemas.microsoft.com/office/drawing/2014/main" id="{ABFB32CF-934B-4414-AAD7-EFA68CBDCF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47109" name="Rectangle 3">
            <a:extLst>
              <a:ext uri="{FF2B5EF4-FFF2-40B4-BE49-F238E27FC236}">
                <a16:creationId xmlns:a16="http://schemas.microsoft.com/office/drawing/2014/main" id="{F18483FE-E8BF-4A63-902A-D61013B07E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47112" name="Rectangle 6">
            <a:extLst>
              <a:ext uri="{FF2B5EF4-FFF2-40B4-BE49-F238E27FC236}">
                <a16:creationId xmlns:a16="http://schemas.microsoft.com/office/drawing/2014/main" id="{752E6A51-0C84-41AF-9CC8-9DBAA418355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42975" y="0"/>
            <a:ext cx="8201025" cy="998538"/>
          </a:xfrm>
        </p:spPr>
        <p:txBody>
          <a:bodyPr/>
          <a:lstStyle/>
          <a:p>
            <a:pPr eaLnBrk="1" hangingPunct="1"/>
            <a: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비용</a:t>
            </a:r>
            <a:r>
              <a:rPr lang="en-US" altLang="ko-KR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-</a:t>
            </a:r>
            <a: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편익분석사례</a:t>
            </a:r>
            <a:r>
              <a:rPr lang="en-US" altLang="ko-KR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: </a:t>
            </a:r>
            <a: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미국의 대기보전법</a:t>
            </a: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F5D9DBBE-F94D-4EAD-A4F6-F2725A7C48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992" y="1242307"/>
            <a:ext cx="4217984" cy="2427250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EA7FF450-13B4-47D0-9B29-B28A42D72AD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21976" y="1242307"/>
            <a:ext cx="4454546" cy="3645427"/>
          </a:xfrm>
          <a:prstGeom prst="rect">
            <a:avLst/>
          </a:prstGeom>
        </p:spPr>
      </p:pic>
    </p:spTree>
  </p:cSld>
  <p:clrMapOvr>
    <a:masterClrMapping/>
  </p:clrMapOvr>
  <p:transition spd="med">
    <p:wipe dir="r"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바닥글 개체 틀 4">
            <a:extLst>
              <a:ext uri="{FF2B5EF4-FFF2-40B4-BE49-F238E27FC236}">
                <a16:creationId xmlns:a16="http://schemas.microsoft.com/office/drawing/2014/main" id="{214BB417-9967-4D70-BD81-31028E1DF7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r>
              <a:rPr lang="ko-KR" altLang="en-US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13</a:t>
            </a:r>
          </a:p>
        </p:txBody>
      </p:sp>
      <p:sp>
        <p:nvSpPr>
          <p:cNvPr id="48131" name="슬라이드 번호 개체 틀 5">
            <a:extLst>
              <a:ext uri="{FF2B5EF4-FFF2-40B4-BE49-F238E27FC236}">
                <a16:creationId xmlns:a16="http://schemas.microsoft.com/office/drawing/2014/main" id="{626A2423-5714-4076-83BC-8CFFD2ED7B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fld id="{64E4447A-9925-4DE8-84C2-FB84BE4DB862}" type="slidenum">
              <a:rPr lang="ko-KR" altLang="en-US" sz="1200" b="0">
                <a:solidFill>
                  <a:schemeClr val="tx1"/>
                </a:solidFill>
              </a:rPr>
              <a:pPr/>
              <a:t>34</a:t>
            </a:fld>
            <a:endParaRPr lang="en-US" altLang="ko-KR" sz="1200" b="0">
              <a:solidFill>
                <a:schemeClr val="tx1"/>
              </a:solidFill>
            </a:endParaRPr>
          </a:p>
        </p:txBody>
      </p:sp>
      <p:sp>
        <p:nvSpPr>
          <p:cNvPr id="48132" name="Rectangle 2">
            <a:extLst>
              <a:ext uri="{FF2B5EF4-FFF2-40B4-BE49-F238E27FC236}">
                <a16:creationId xmlns:a16="http://schemas.microsoft.com/office/drawing/2014/main" id="{E4C75950-FBAB-43A2-AC31-BEF8DFEB7B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48133" name="Rectangle 3">
            <a:extLst>
              <a:ext uri="{FF2B5EF4-FFF2-40B4-BE49-F238E27FC236}">
                <a16:creationId xmlns:a16="http://schemas.microsoft.com/office/drawing/2014/main" id="{F72CEC19-EDC0-451D-B03F-A129FB7E3F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48134" name="내용 개체 틀 7">
            <a:extLst>
              <a:ext uri="{FF2B5EF4-FFF2-40B4-BE49-F238E27FC236}">
                <a16:creationId xmlns:a16="http://schemas.microsoft.com/office/drawing/2014/main" id="{09042ACD-B9CD-4881-848A-D1FB4D3E1C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3263" y="1252538"/>
            <a:ext cx="7850187" cy="4881562"/>
          </a:xfrm>
        </p:spPr>
        <p:txBody>
          <a:bodyPr lIns="0" tIns="0" rIns="0" bIns="0"/>
          <a:lstStyle/>
          <a:p>
            <a:r>
              <a:rPr lang="ko-KR" altLang="en-US" sz="2400">
                <a:ea typeface="나눔명조" pitchFamily="18" charset="-127"/>
              </a:rPr>
              <a:t>정책의 편익도출</a:t>
            </a:r>
            <a:endParaRPr lang="en-US" altLang="ko-KR" sz="2400">
              <a:ea typeface="나눔명조" pitchFamily="18" charset="-127"/>
            </a:endParaRPr>
          </a:p>
          <a:p>
            <a:pPr lvl="1"/>
            <a:r>
              <a:rPr lang="ko-KR" altLang="en-US" sz="2000">
                <a:ea typeface="나눔명조" pitchFamily="18" charset="-127"/>
              </a:rPr>
              <a:t>이상의 절차를 거쳐 도출된 오염피해 감소효과를 경제적 가치로 환산함</a:t>
            </a:r>
            <a:endParaRPr lang="en-US" altLang="ko-KR" sz="2000">
              <a:ea typeface="나눔명조" pitchFamily="18" charset="-127"/>
            </a:endParaRPr>
          </a:p>
          <a:p>
            <a:pPr lvl="1"/>
            <a:r>
              <a:rPr lang="ko-KR" altLang="en-US" sz="2000">
                <a:ea typeface="나눔명조" pitchFamily="18" charset="-127"/>
              </a:rPr>
              <a:t>즉</a:t>
            </a:r>
            <a:r>
              <a:rPr lang="en-US" altLang="ko-KR" sz="2000">
                <a:ea typeface="나눔명조" pitchFamily="18" charset="-127"/>
              </a:rPr>
              <a:t>,</a:t>
            </a:r>
            <a:r>
              <a:rPr lang="ko-KR" altLang="en-US" sz="2000">
                <a:ea typeface="나눔명조" pitchFamily="18" charset="-127"/>
              </a:rPr>
              <a:t> 도출된 오염피해 감소효과에 각 효과별 경제적 가치를 곱하여 정책의 편익을 도출함 </a:t>
            </a:r>
            <a:r>
              <a:rPr lang="en-US" altLang="ko-KR" sz="2000">
                <a:ea typeface="나눔명조" pitchFamily="18" charset="-127"/>
              </a:rPr>
              <a:t>(</a:t>
            </a:r>
            <a:r>
              <a:rPr lang="ko-KR" altLang="en-US" sz="2000">
                <a:ea typeface="나눔명조" pitchFamily="18" charset="-127"/>
              </a:rPr>
              <a:t>아래 표의 할인율은 </a:t>
            </a:r>
            <a:r>
              <a:rPr lang="en-US" altLang="ko-KR" sz="2000">
                <a:ea typeface="나눔명조" pitchFamily="18" charset="-127"/>
              </a:rPr>
              <a:t>5%</a:t>
            </a:r>
            <a:r>
              <a:rPr lang="ko-KR" altLang="en-US" sz="2000">
                <a:ea typeface="나눔명조" pitchFamily="18" charset="-127"/>
              </a:rPr>
              <a:t>임</a:t>
            </a:r>
            <a:r>
              <a:rPr lang="en-US" altLang="ko-KR" sz="2000">
                <a:ea typeface="나눔명조" pitchFamily="18" charset="-127"/>
              </a:rPr>
              <a:t>)</a:t>
            </a:r>
          </a:p>
        </p:txBody>
      </p:sp>
      <p:sp>
        <p:nvSpPr>
          <p:cNvPr id="48136" name="Rectangle 6">
            <a:extLst>
              <a:ext uri="{FF2B5EF4-FFF2-40B4-BE49-F238E27FC236}">
                <a16:creationId xmlns:a16="http://schemas.microsoft.com/office/drawing/2014/main" id="{765771D6-040B-481B-8E12-2997B95DFB8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42975" y="0"/>
            <a:ext cx="8201025" cy="998538"/>
          </a:xfrm>
        </p:spPr>
        <p:txBody>
          <a:bodyPr/>
          <a:lstStyle/>
          <a:p>
            <a:pPr eaLnBrk="1" hangingPunct="1"/>
            <a: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비용</a:t>
            </a:r>
            <a:r>
              <a:rPr lang="en-US" altLang="ko-KR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-</a:t>
            </a:r>
            <a: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편익분석사례</a:t>
            </a:r>
            <a:r>
              <a:rPr lang="en-US" altLang="ko-KR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: </a:t>
            </a:r>
            <a: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미국의 대기보전법</a:t>
            </a: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EC2975F9-750A-4F93-ADA3-7918EE25BD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3607" y="2996007"/>
            <a:ext cx="6481666" cy="3276446"/>
          </a:xfrm>
          <a:prstGeom prst="rect">
            <a:avLst/>
          </a:prstGeom>
        </p:spPr>
      </p:pic>
    </p:spTree>
  </p:cSld>
  <p:clrMapOvr>
    <a:masterClrMapping/>
  </p:clrMapOvr>
  <p:transition spd="med">
    <p:wipe dir="r"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바닥글 개체 틀 4">
            <a:extLst>
              <a:ext uri="{FF2B5EF4-FFF2-40B4-BE49-F238E27FC236}">
                <a16:creationId xmlns:a16="http://schemas.microsoft.com/office/drawing/2014/main" id="{13D3E98A-6175-4076-9468-6942716CA3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r>
              <a:rPr lang="ko-KR" altLang="en-US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 b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13</a:t>
            </a:r>
          </a:p>
        </p:txBody>
      </p:sp>
      <p:sp>
        <p:nvSpPr>
          <p:cNvPr id="49155" name="슬라이드 번호 개체 틀 5">
            <a:extLst>
              <a:ext uri="{FF2B5EF4-FFF2-40B4-BE49-F238E27FC236}">
                <a16:creationId xmlns:a16="http://schemas.microsoft.com/office/drawing/2014/main" id="{872296F9-3441-4D7F-9068-0C6AA7A46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fld id="{5450327A-BA74-46BC-995B-1D833112E592}" type="slidenum">
              <a:rPr lang="ko-KR" altLang="en-US" sz="1200" b="0">
                <a:solidFill>
                  <a:schemeClr val="tx1"/>
                </a:solidFill>
              </a:rPr>
              <a:pPr/>
              <a:t>35</a:t>
            </a:fld>
            <a:endParaRPr lang="en-US" altLang="ko-KR" sz="1200" b="0">
              <a:solidFill>
                <a:schemeClr val="tx1"/>
              </a:solidFill>
            </a:endParaRPr>
          </a:p>
        </p:txBody>
      </p:sp>
      <p:sp>
        <p:nvSpPr>
          <p:cNvPr id="49156" name="Rectangle 2">
            <a:extLst>
              <a:ext uri="{FF2B5EF4-FFF2-40B4-BE49-F238E27FC236}">
                <a16:creationId xmlns:a16="http://schemas.microsoft.com/office/drawing/2014/main" id="{A8D0445A-42F9-4DBF-9E58-0280A417D9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49157" name="Rectangle 3">
            <a:extLst>
              <a:ext uri="{FF2B5EF4-FFF2-40B4-BE49-F238E27FC236}">
                <a16:creationId xmlns:a16="http://schemas.microsoft.com/office/drawing/2014/main" id="{070A560A-E0BD-4E9D-87AB-3FF1C07CE6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49158" name="내용 개체 틀 7">
            <a:extLst>
              <a:ext uri="{FF2B5EF4-FFF2-40B4-BE49-F238E27FC236}">
                <a16:creationId xmlns:a16="http://schemas.microsoft.com/office/drawing/2014/main" id="{08457AB7-A59A-40A1-B12F-ABC1443B19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3263" y="1195388"/>
            <a:ext cx="7850187" cy="1970087"/>
          </a:xfrm>
        </p:spPr>
        <p:txBody>
          <a:bodyPr lIns="0" tIns="0" rIns="0" bIns="0"/>
          <a:lstStyle/>
          <a:p>
            <a:r>
              <a:rPr lang="ko-KR" altLang="en-US" sz="2400" dirty="0">
                <a:ea typeface="나눔명조" pitchFamily="18" charset="-127"/>
              </a:rPr>
              <a:t>편익과 비용의 비교 및 민감도 분석</a:t>
            </a:r>
            <a:endParaRPr lang="en-US" altLang="ko-KR" sz="2400" dirty="0">
              <a:ea typeface="나눔명조" pitchFamily="18" charset="-127"/>
            </a:endParaRPr>
          </a:p>
          <a:p>
            <a:pPr lvl="1"/>
            <a:r>
              <a:rPr lang="ko-KR" altLang="en-US" sz="2000" dirty="0">
                <a:ea typeface="나눔명조" pitchFamily="18" charset="-127"/>
              </a:rPr>
              <a:t>아래 표는 </a:t>
            </a:r>
            <a:r>
              <a:rPr lang="en-US" altLang="ko-KR" sz="2000" dirty="0">
                <a:ea typeface="나눔명조" pitchFamily="18" charset="-127"/>
              </a:rPr>
              <a:t>CAA</a:t>
            </a:r>
            <a:r>
              <a:rPr lang="ko-KR" altLang="en-US" sz="2000" dirty="0">
                <a:ea typeface="나눔명조" pitchFamily="18" charset="-127"/>
              </a:rPr>
              <a:t>의 비용과 편익을 보여줌</a:t>
            </a:r>
            <a:r>
              <a:rPr lang="en-US" altLang="ko-KR" sz="2000" dirty="0">
                <a:ea typeface="나눔명조" pitchFamily="18" charset="-127"/>
              </a:rPr>
              <a:t> (</a:t>
            </a:r>
            <a:r>
              <a:rPr lang="ko-KR" altLang="en-US" sz="2000" dirty="0">
                <a:ea typeface="나눔명조" pitchFamily="18" charset="-127"/>
              </a:rPr>
              <a:t>할인율은 </a:t>
            </a:r>
            <a:r>
              <a:rPr lang="en-US" altLang="ko-KR" sz="2000" dirty="0">
                <a:ea typeface="나눔명조" pitchFamily="18" charset="-127"/>
              </a:rPr>
              <a:t>5%)</a:t>
            </a:r>
          </a:p>
          <a:p>
            <a:pPr lvl="1"/>
            <a:r>
              <a:rPr lang="en-US" altLang="ko-KR" sz="2000" dirty="0">
                <a:ea typeface="나눔명조" pitchFamily="18" charset="-127"/>
              </a:rPr>
              <a:t>B/C</a:t>
            </a:r>
            <a:r>
              <a:rPr lang="ko-KR" altLang="en-US" sz="2000" dirty="0">
                <a:ea typeface="나눔명조" pitchFamily="18" charset="-127"/>
              </a:rPr>
              <a:t>비율이 </a:t>
            </a:r>
            <a:r>
              <a:rPr lang="en-US" altLang="ko-KR" sz="2000" dirty="0">
                <a:ea typeface="나눔명조" pitchFamily="18" charset="-127"/>
              </a:rPr>
              <a:t>94:1</a:t>
            </a:r>
            <a:r>
              <a:rPr lang="ko-KR" altLang="en-US" sz="2000" dirty="0">
                <a:ea typeface="나눔명조" pitchFamily="18" charset="-127"/>
              </a:rPr>
              <a:t>에</a:t>
            </a:r>
            <a:r>
              <a:rPr lang="en-US" altLang="ko-KR" sz="2000" dirty="0">
                <a:ea typeface="나눔명조" pitchFamily="18" charset="-127"/>
              </a:rPr>
              <a:t> </a:t>
            </a:r>
            <a:r>
              <a:rPr lang="ko-KR" altLang="en-US" sz="2000" dirty="0">
                <a:ea typeface="나눔명조" pitchFamily="18" charset="-127"/>
              </a:rPr>
              <a:t>달할 정도로 정책의 편익이 압도적으로 더 크고 정책의 사회적 순편익은 약 </a:t>
            </a:r>
            <a:r>
              <a:rPr lang="en-US" altLang="ko-KR" sz="2000" dirty="0">
                <a:ea typeface="나눔명조" pitchFamily="18" charset="-127"/>
              </a:rPr>
              <a:t>22</a:t>
            </a:r>
            <a:r>
              <a:rPr lang="ko-KR" altLang="en-US" sz="2000" dirty="0">
                <a:ea typeface="나눔명조" pitchFamily="18" charset="-127"/>
              </a:rPr>
              <a:t>조 달러에 달함</a:t>
            </a:r>
            <a:endParaRPr lang="en-US" altLang="ko-KR" sz="2000" dirty="0">
              <a:ea typeface="나눔명조" pitchFamily="18" charset="-127"/>
            </a:endParaRPr>
          </a:p>
          <a:p>
            <a:pPr lvl="1"/>
            <a:r>
              <a:rPr lang="ko-KR" altLang="en-US" sz="2000" dirty="0">
                <a:ea typeface="나눔명조" pitchFamily="18" charset="-127"/>
              </a:rPr>
              <a:t>마지막으로 편익을 산정하는 방법을 바꾸거나 할인율을 변경하는 등 민감도 분석을 함</a:t>
            </a:r>
            <a:endParaRPr lang="en-US" altLang="ko-KR" sz="2000" dirty="0">
              <a:ea typeface="나눔명조" pitchFamily="18" charset="-127"/>
            </a:endParaRPr>
          </a:p>
        </p:txBody>
      </p:sp>
      <p:sp>
        <p:nvSpPr>
          <p:cNvPr id="49160" name="Rectangle 6">
            <a:extLst>
              <a:ext uri="{FF2B5EF4-FFF2-40B4-BE49-F238E27FC236}">
                <a16:creationId xmlns:a16="http://schemas.microsoft.com/office/drawing/2014/main" id="{CBD57AD5-0425-438B-848D-23091C1E5FC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42975" y="0"/>
            <a:ext cx="8201025" cy="998538"/>
          </a:xfrm>
        </p:spPr>
        <p:txBody>
          <a:bodyPr/>
          <a:lstStyle/>
          <a:p>
            <a:pPr eaLnBrk="1" hangingPunct="1"/>
            <a: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비용</a:t>
            </a:r>
            <a:r>
              <a:rPr lang="en-US" altLang="ko-KR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-</a:t>
            </a:r>
            <a: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편익분석사례</a:t>
            </a:r>
            <a:r>
              <a:rPr lang="en-US" altLang="ko-KR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: </a:t>
            </a:r>
            <a: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미국의 대기보전법</a:t>
            </a: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B7563768-8A0E-4434-A463-1A0A609D07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6139" y="3428999"/>
            <a:ext cx="8684459" cy="2467947"/>
          </a:xfrm>
          <a:prstGeom prst="rect">
            <a:avLst/>
          </a:prstGeom>
        </p:spPr>
      </p:pic>
    </p:spTree>
  </p:cSld>
  <p:clrMapOvr>
    <a:masterClrMapping/>
  </p:clrMapOvr>
  <p:transition spd="med">
    <p:wipe dir="r"/>
  </p:transition>
</p:sld>
</file>

<file path=ppt/theme/theme1.xml><?xml version="1.0" encoding="utf-8"?>
<a:theme xmlns:a="http://schemas.openxmlformats.org/drawingml/2006/main" name="Pindyck">
  <a:themeElements>
    <a:clrScheme name="Pindyck 1">
      <a:dk1>
        <a:srgbClr val="000000"/>
      </a:dk1>
      <a:lt1>
        <a:srgbClr val="FFFFFF"/>
      </a:lt1>
      <a:dk2>
        <a:srgbClr val="006666"/>
      </a:dk2>
      <a:lt2>
        <a:srgbClr val="5F5F5F"/>
      </a:lt2>
      <a:accent1>
        <a:srgbClr val="33CCCC"/>
      </a:accent1>
      <a:accent2>
        <a:srgbClr val="99CCCC"/>
      </a:accent2>
      <a:accent3>
        <a:srgbClr val="FFFFFF"/>
      </a:accent3>
      <a:accent4>
        <a:srgbClr val="000000"/>
      </a:accent4>
      <a:accent5>
        <a:srgbClr val="ADE2E2"/>
      </a:accent5>
      <a:accent6>
        <a:srgbClr val="8AB9B9"/>
      </a:accent6>
      <a:hlink>
        <a:srgbClr val="006666"/>
      </a:hlink>
      <a:folHlink>
        <a:srgbClr val="B2B2B2"/>
      </a:folHlink>
    </a:clrScheme>
    <a:fontScheme name="Pindyck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900" b="1" i="0" u="none" strike="noStrike" cap="none" normalizeH="0" baseline="0" smtClean="0">
            <a:ln>
              <a:noFill/>
            </a:ln>
            <a:solidFill>
              <a:srgbClr val="8D7DFF"/>
            </a:solidFill>
            <a:effectLst/>
            <a:latin typeface="Verdana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900" b="1" i="0" u="none" strike="noStrike" cap="none" normalizeH="0" baseline="0" smtClean="0">
            <a:ln>
              <a:noFill/>
            </a:ln>
            <a:solidFill>
              <a:srgbClr val="8D7DFF"/>
            </a:solidFill>
            <a:effectLst/>
            <a:latin typeface="Verdana" pitchFamily="34" charset="0"/>
          </a:defRPr>
        </a:defPPr>
      </a:lstStyle>
    </a:lnDef>
  </a:objectDefaults>
  <a:extraClrSchemeLst>
    <a:extraClrScheme>
      <a:clrScheme name="Pindyck 1">
        <a:dk1>
          <a:srgbClr val="000000"/>
        </a:dk1>
        <a:lt1>
          <a:srgbClr val="FFFFFF"/>
        </a:lt1>
        <a:dk2>
          <a:srgbClr val="006666"/>
        </a:dk2>
        <a:lt2>
          <a:srgbClr val="5F5F5F"/>
        </a:lt2>
        <a:accent1>
          <a:srgbClr val="33CCCC"/>
        </a:accent1>
        <a:accent2>
          <a:srgbClr val="99CCCC"/>
        </a:accent2>
        <a:accent3>
          <a:srgbClr val="FFFFFF"/>
        </a:accent3>
        <a:accent4>
          <a:srgbClr val="000000"/>
        </a:accent4>
        <a:accent5>
          <a:srgbClr val="ADE2E2"/>
        </a:accent5>
        <a:accent6>
          <a:srgbClr val="8AB9B9"/>
        </a:accent6>
        <a:hlink>
          <a:srgbClr val="006666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ndyck 2">
        <a:dk1>
          <a:srgbClr val="000000"/>
        </a:dk1>
        <a:lt1>
          <a:srgbClr val="FFFFFF"/>
        </a:lt1>
        <a:dk2>
          <a:srgbClr val="333366"/>
        </a:dk2>
        <a:lt2>
          <a:srgbClr val="5F5F5F"/>
        </a:lt2>
        <a:accent1>
          <a:srgbClr val="CC99FF"/>
        </a:accent1>
        <a:accent2>
          <a:srgbClr val="99CCCC"/>
        </a:accent2>
        <a:accent3>
          <a:srgbClr val="FFFFFF"/>
        </a:accent3>
        <a:accent4>
          <a:srgbClr val="000000"/>
        </a:accent4>
        <a:accent5>
          <a:srgbClr val="E2CAFF"/>
        </a:accent5>
        <a:accent6>
          <a:srgbClr val="8AB9B9"/>
        </a:accent6>
        <a:hlink>
          <a:srgbClr val="666699"/>
        </a:hlink>
        <a:folHlink>
          <a:srgbClr val="6600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ndyck 3">
        <a:dk1>
          <a:srgbClr val="000000"/>
        </a:dk1>
        <a:lt1>
          <a:srgbClr val="FFFFFF"/>
        </a:lt1>
        <a:dk2>
          <a:srgbClr val="0000CC"/>
        </a:dk2>
        <a:lt2>
          <a:srgbClr val="434343"/>
        </a:lt2>
        <a:accent1>
          <a:srgbClr val="99CC00"/>
        </a:accent1>
        <a:accent2>
          <a:srgbClr val="FFCC00"/>
        </a:accent2>
        <a:accent3>
          <a:srgbClr val="FFFFFF"/>
        </a:accent3>
        <a:accent4>
          <a:srgbClr val="000000"/>
        </a:accent4>
        <a:accent5>
          <a:srgbClr val="CAE2AA"/>
        </a:accent5>
        <a:accent6>
          <a:srgbClr val="E7B900"/>
        </a:accent6>
        <a:hlink>
          <a:srgbClr val="FF0000"/>
        </a:hlink>
        <a:folHlink>
          <a:srgbClr val="808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ndyck 4">
        <a:dk1>
          <a:srgbClr val="000000"/>
        </a:dk1>
        <a:lt1>
          <a:srgbClr val="64AAAE"/>
        </a:lt1>
        <a:dk2>
          <a:srgbClr val="FFFFCC"/>
        </a:dk2>
        <a:lt2>
          <a:srgbClr val="5F5F5F"/>
        </a:lt2>
        <a:accent1>
          <a:srgbClr val="B4B1DB"/>
        </a:accent1>
        <a:accent2>
          <a:srgbClr val="61C1D7"/>
        </a:accent2>
        <a:accent3>
          <a:srgbClr val="B8D2D3"/>
        </a:accent3>
        <a:accent4>
          <a:srgbClr val="000000"/>
        </a:accent4>
        <a:accent5>
          <a:srgbClr val="D6D5EA"/>
        </a:accent5>
        <a:accent6>
          <a:srgbClr val="57AFC3"/>
        </a:accent6>
        <a:hlink>
          <a:srgbClr val="257177"/>
        </a:hlink>
        <a:folHlink>
          <a:srgbClr val="CCCC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ndyck 5">
        <a:dk1>
          <a:srgbClr val="5F5F5F"/>
        </a:dk1>
        <a:lt1>
          <a:srgbClr val="F8F8F8"/>
        </a:lt1>
        <a:dk2>
          <a:srgbClr val="2A285A"/>
        </a:dk2>
        <a:lt2>
          <a:srgbClr val="FFFFFF"/>
        </a:lt2>
        <a:accent1>
          <a:srgbClr val="999966"/>
        </a:accent1>
        <a:accent2>
          <a:srgbClr val="8C8B9D"/>
        </a:accent2>
        <a:accent3>
          <a:srgbClr val="ACACB5"/>
        </a:accent3>
        <a:accent4>
          <a:srgbClr val="D4D4D4"/>
        </a:accent4>
        <a:accent5>
          <a:srgbClr val="CACAB8"/>
        </a:accent5>
        <a:accent6>
          <a:srgbClr val="7E7D8E"/>
        </a:accent6>
        <a:hlink>
          <a:srgbClr val="465174"/>
        </a:hlink>
        <a:folHlink>
          <a:srgbClr val="C0C0C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ndyck 6">
        <a:dk1>
          <a:srgbClr val="434343"/>
        </a:dk1>
        <a:lt1>
          <a:srgbClr val="FFFFFF"/>
        </a:lt1>
        <a:dk2>
          <a:srgbClr val="360404"/>
        </a:dk2>
        <a:lt2>
          <a:srgbClr val="FFFFFF"/>
        </a:lt2>
        <a:accent1>
          <a:srgbClr val="669900"/>
        </a:accent1>
        <a:accent2>
          <a:srgbClr val="CC6600"/>
        </a:accent2>
        <a:accent3>
          <a:srgbClr val="AEAAAA"/>
        </a:accent3>
        <a:accent4>
          <a:srgbClr val="DADADA"/>
        </a:accent4>
        <a:accent5>
          <a:srgbClr val="B8CAAA"/>
        </a:accent5>
        <a:accent6>
          <a:srgbClr val="B95C00"/>
        </a:accent6>
        <a:hlink>
          <a:srgbClr val="CC3300"/>
        </a:hlink>
        <a:folHlink>
          <a:srgbClr val="80808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ndyck 7">
        <a:dk1>
          <a:srgbClr val="434343"/>
        </a:dk1>
        <a:lt1>
          <a:srgbClr val="FFFFFF"/>
        </a:lt1>
        <a:dk2>
          <a:srgbClr val="000000"/>
        </a:dk2>
        <a:lt2>
          <a:srgbClr val="8285FE"/>
        </a:lt2>
        <a:accent1>
          <a:srgbClr val="669900"/>
        </a:accent1>
        <a:accent2>
          <a:srgbClr val="9900FF"/>
        </a:accent2>
        <a:accent3>
          <a:srgbClr val="AAAAAA"/>
        </a:accent3>
        <a:accent4>
          <a:srgbClr val="DADADA"/>
        </a:accent4>
        <a:accent5>
          <a:srgbClr val="B8CAAA"/>
        </a:accent5>
        <a:accent6>
          <a:srgbClr val="8A00E7"/>
        </a:accent6>
        <a:hlink>
          <a:srgbClr val="6600CC"/>
        </a:hlink>
        <a:folHlink>
          <a:srgbClr val="80808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ndyck 8">
        <a:dk1>
          <a:srgbClr val="434343"/>
        </a:dk1>
        <a:lt1>
          <a:srgbClr val="FFFFFF"/>
        </a:lt1>
        <a:dk2>
          <a:srgbClr val="000000"/>
        </a:dk2>
        <a:lt2>
          <a:srgbClr val="0066FF"/>
        </a:lt2>
        <a:accent1>
          <a:srgbClr val="339966"/>
        </a:accent1>
        <a:accent2>
          <a:srgbClr val="FFCC00"/>
        </a:accent2>
        <a:accent3>
          <a:srgbClr val="AAAAAA"/>
        </a:accent3>
        <a:accent4>
          <a:srgbClr val="DADADA"/>
        </a:accent4>
        <a:accent5>
          <a:srgbClr val="ADCAB8"/>
        </a:accent5>
        <a:accent6>
          <a:srgbClr val="E7B900"/>
        </a:accent6>
        <a:hlink>
          <a:srgbClr val="CC0000"/>
        </a:hlink>
        <a:folHlink>
          <a:srgbClr val="80808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ndyck 9">
        <a:dk1>
          <a:srgbClr val="333300"/>
        </a:dk1>
        <a:lt1>
          <a:srgbClr val="FFFFFF"/>
        </a:lt1>
        <a:dk2>
          <a:srgbClr val="669900"/>
        </a:dk2>
        <a:lt2>
          <a:srgbClr val="FFFFCC"/>
        </a:lt2>
        <a:accent1>
          <a:srgbClr val="CCCC00"/>
        </a:accent1>
        <a:accent2>
          <a:srgbClr val="99CC00"/>
        </a:accent2>
        <a:accent3>
          <a:srgbClr val="B8CAAA"/>
        </a:accent3>
        <a:accent4>
          <a:srgbClr val="DADADA"/>
        </a:accent4>
        <a:accent5>
          <a:srgbClr val="E2E2AA"/>
        </a:accent5>
        <a:accent6>
          <a:srgbClr val="8AB900"/>
        </a:accent6>
        <a:hlink>
          <a:srgbClr val="336600"/>
        </a:hlink>
        <a:folHlink>
          <a:srgbClr val="FFFF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ndyck 10">
        <a:dk1>
          <a:srgbClr val="333333"/>
        </a:dk1>
        <a:lt1>
          <a:srgbClr val="FFFFCC"/>
        </a:lt1>
        <a:dk2>
          <a:srgbClr val="660000"/>
        </a:dk2>
        <a:lt2>
          <a:srgbClr val="CCCCCC"/>
        </a:lt2>
        <a:accent1>
          <a:srgbClr val="FF6600"/>
        </a:accent1>
        <a:accent2>
          <a:srgbClr val="CC3300"/>
        </a:accent2>
        <a:accent3>
          <a:srgbClr val="B8AAAA"/>
        </a:accent3>
        <a:accent4>
          <a:srgbClr val="DADAAE"/>
        </a:accent4>
        <a:accent5>
          <a:srgbClr val="FFB8AA"/>
        </a:accent5>
        <a:accent6>
          <a:srgbClr val="B92D00"/>
        </a:accent6>
        <a:hlink>
          <a:srgbClr val="990000"/>
        </a:hlink>
        <a:folHlink>
          <a:srgbClr val="CC990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2826</TotalTime>
  <Words>2591</Words>
  <Application>Microsoft Office PowerPoint</Application>
  <PresentationFormat>화면 슬라이드 쇼(4:3)</PresentationFormat>
  <Paragraphs>313</Paragraphs>
  <Slides>35</Slides>
  <Notes>34</Notes>
  <HiddenSlides>0</HiddenSlides>
  <MMClips>0</MMClips>
  <ScaleCrop>false</ScaleCrop>
  <HeadingPairs>
    <vt:vector size="8" baseType="variant">
      <vt:variant>
        <vt:lpstr>사용한 글꼴</vt:lpstr>
      </vt:variant>
      <vt:variant>
        <vt:i4>10</vt:i4>
      </vt:variant>
      <vt:variant>
        <vt:lpstr>테마</vt:lpstr>
      </vt:variant>
      <vt:variant>
        <vt:i4>1</vt:i4>
      </vt:variant>
      <vt:variant>
        <vt:lpstr>포함된 OLE 서버</vt:lpstr>
      </vt:variant>
      <vt:variant>
        <vt:i4>1</vt:i4>
      </vt:variant>
      <vt:variant>
        <vt:lpstr>슬라이드 제목</vt:lpstr>
      </vt:variant>
      <vt:variant>
        <vt:i4>35</vt:i4>
      </vt:variant>
    </vt:vector>
  </HeadingPairs>
  <TitlesOfParts>
    <vt:vector size="47" baseType="lpstr">
      <vt:lpstr>굴림</vt:lpstr>
      <vt:lpstr>나눔고딕</vt:lpstr>
      <vt:lpstr>나눔명조</vt:lpstr>
      <vt:lpstr>맑은 고딕</vt:lpstr>
      <vt:lpstr>Arial</vt:lpstr>
      <vt:lpstr>Cambria Math</vt:lpstr>
      <vt:lpstr>Century Gothic</vt:lpstr>
      <vt:lpstr>Times New Roman</vt:lpstr>
      <vt:lpstr>Verdana</vt:lpstr>
      <vt:lpstr>Wingdings</vt:lpstr>
      <vt:lpstr>Pindyck</vt:lpstr>
      <vt:lpstr>수식</vt:lpstr>
      <vt:lpstr>Ⅳ. 환경정책의 비용-편익분석</vt:lpstr>
      <vt:lpstr>13장 개요</vt:lpstr>
      <vt:lpstr>비용-편익분석</vt:lpstr>
      <vt:lpstr>비용-편익분석: 절차</vt:lpstr>
      <vt:lpstr>비용-편익분석: 할인율의 선택</vt:lpstr>
      <vt:lpstr>PowerPoint 프레젠테이션</vt:lpstr>
      <vt:lpstr>비용-편익분석: 할인율의 선택</vt:lpstr>
      <vt:lpstr>비용-편익분석: 할인율의 선택</vt:lpstr>
      <vt:lpstr>비용-편익분석: 할인율의 선택</vt:lpstr>
      <vt:lpstr>비용-편익분석: 할인율의 선택</vt:lpstr>
      <vt:lpstr>비용-편익분석: 할인율의 선택</vt:lpstr>
      <vt:lpstr>비용-편익분석: 할인율의 선택</vt:lpstr>
      <vt:lpstr>PowerPoint 프레젠테이션</vt:lpstr>
      <vt:lpstr>비용-편익분석: 내부수익률기준</vt:lpstr>
      <vt:lpstr>비용-편익분석: 내부수익률기준</vt:lpstr>
      <vt:lpstr>비용-편익분석: B/C기준</vt:lpstr>
      <vt:lpstr>비용-편익분석: 현재가치기준의 한계</vt:lpstr>
      <vt:lpstr>비용-편익분석: 현재가치기준의 한계</vt:lpstr>
      <vt:lpstr>기타분석틀: 환경영향평가</vt:lpstr>
      <vt:lpstr>기타분석틀: 경제영향평가</vt:lpstr>
      <vt:lpstr>기타분석틀 : 비용효과분석, 규제영향평가</vt:lpstr>
      <vt:lpstr>기타분석틀 : 환경피해평가, 환경위험평가</vt:lpstr>
      <vt:lpstr>한국에서의 평가: 환경영향평가</vt:lpstr>
      <vt:lpstr>한국에서의 평가: 환경영향평가</vt:lpstr>
      <vt:lpstr>PowerPoint 프레젠테이션</vt:lpstr>
      <vt:lpstr>PowerPoint 프레젠테이션</vt:lpstr>
      <vt:lpstr>비용-편익분석사례: 미국의 대기보전법</vt:lpstr>
      <vt:lpstr>비용-편익분석사례: 미국의 대기보전법</vt:lpstr>
      <vt:lpstr>비용-편익분석사례: 미국의 대기보전법</vt:lpstr>
      <vt:lpstr>비용-편익분석사례: 미국의 대기보전법</vt:lpstr>
      <vt:lpstr>비용-편익분석사례: 미국의 대기보전법</vt:lpstr>
      <vt:lpstr>비용-편익분석사례: 미국의 대기보전법</vt:lpstr>
      <vt:lpstr>비용-편익분석사례: 미국의 대기보전법</vt:lpstr>
      <vt:lpstr>비용-편익분석사례: 미국의 대기보전법</vt:lpstr>
      <vt:lpstr>비용-편익분석사례: 미국의 대기보전법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1</dc:title>
  <dc:creator>Marie Truesdell</dc:creator>
  <cp:lastModifiedBy>User</cp:lastModifiedBy>
  <cp:revision>299</cp:revision>
  <dcterms:created xsi:type="dcterms:W3CDTF">1997-07-14T00:22:12Z</dcterms:created>
  <dcterms:modified xsi:type="dcterms:W3CDTF">2025-02-18T23:41:30Z</dcterms:modified>
</cp:coreProperties>
</file>