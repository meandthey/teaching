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7"/>
  </p:notesMasterIdLst>
  <p:handoutMasterIdLst>
    <p:handoutMasterId r:id="rId48"/>
  </p:handoutMasterIdLst>
  <p:sldIdLst>
    <p:sldId id="262" r:id="rId2"/>
    <p:sldId id="266" r:id="rId3"/>
    <p:sldId id="346" r:id="rId4"/>
    <p:sldId id="353" r:id="rId5"/>
    <p:sldId id="354" r:id="rId6"/>
    <p:sldId id="347" r:id="rId7"/>
    <p:sldId id="348" r:id="rId8"/>
    <p:sldId id="355" r:id="rId9"/>
    <p:sldId id="356" r:id="rId10"/>
    <p:sldId id="358" r:id="rId11"/>
    <p:sldId id="359" r:id="rId12"/>
    <p:sldId id="360" r:id="rId13"/>
    <p:sldId id="361" r:id="rId14"/>
    <p:sldId id="362" r:id="rId15"/>
    <p:sldId id="363" r:id="rId16"/>
    <p:sldId id="392" r:id="rId17"/>
    <p:sldId id="393" r:id="rId18"/>
    <p:sldId id="349" r:id="rId19"/>
    <p:sldId id="364" r:id="rId20"/>
    <p:sldId id="365" r:id="rId21"/>
    <p:sldId id="366" r:id="rId22"/>
    <p:sldId id="367" r:id="rId23"/>
    <p:sldId id="368" r:id="rId24"/>
    <p:sldId id="369" r:id="rId25"/>
    <p:sldId id="350" r:id="rId26"/>
    <p:sldId id="370" r:id="rId27"/>
    <p:sldId id="374" r:id="rId28"/>
    <p:sldId id="375" r:id="rId29"/>
    <p:sldId id="376" r:id="rId30"/>
    <p:sldId id="394" r:id="rId31"/>
    <p:sldId id="381" r:id="rId32"/>
    <p:sldId id="382" r:id="rId33"/>
    <p:sldId id="395" r:id="rId34"/>
    <p:sldId id="396" r:id="rId35"/>
    <p:sldId id="397" r:id="rId36"/>
    <p:sldId id="398" r:id="rId37"/>
    <p:sldId id="379" r:id="rId38"/>
    <p:sldId id="384" r:id="rId39"/>
    <p:sldId id="385" r:id="rId40"/>
    <p:sldId id="386" r:id="rId41"/>
    <p:sldId id="387" r:id="rId42"/>
    <p:sldId id="388" r:id="rId43"/>
    <p:sldId id="389" r:id="rId44"/>
    <p:sldId id="390" r:id="rId45"/>
    <p:sldId id="391" r:id="rId46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42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71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91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963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66442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98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4733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31518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1624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635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42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421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3 h 64000"/>
                <a:gd name="T2" fmla="*/ 83 w 64000"/>
                <a:gd name="T3" fmla="*/ 41 h 64000"/>
                <a:gd name="T4" fmla="*/ 57 w 64000"/>
                <a:gd name="T5" fmla="*/ 80 h 64000"/>
                <a:gd name="T6" fmla="*/ 57 w 64000"/>
                <a:gd name="T7" fmla="*/ 80 h 64000"/>
                <a:gd name="T8" fmla="*/ 57 w 64000"/>
                <a:gd name="T9" fmla="*/ 80 h 64000"/>
                <a:gd name="T10" fmla="*/ 57 w 64000"/>
                <a:gd name="T11" fmla="*/ 80 h 64000"/>
                <a:gd name="T12" fmla="*/ 57 w 64000"/>
                <a:gd name="T13" fmla="*/ 3 h 64000"/>
                <a:gd name="T14" fmla="*/ 57 w 64000"/>
                <a:gd name="T15" fmla="*/ 3 h 64000"/>
                <a:gd name="T16" fmla="*/ 57 w 64000"/>
                <a:gd name="T17" fmla="*/ 3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10 h 64000"/>
                <a:gd name="T2" fmla="*/ 101 w 64000"/>
                <a:gd name="T3" fmla="*/ 51 h 64000"/>
                <a:gd name="T4" fmla="*/ 81 w 64000"/>
                <a:gd name="T5" fmla="*/ 91 h 64000"/>
                <a:gd name="T6" fmla="*/ 81 w 64000"/>
                <a:gd name="T7" fmla="*/ 91 h 64000"/>
                <a:gd name="T8" fmla="*/ 81 w 64000"/>
                <a:gd name="T9" fmla="*/ 91 h 64000"/>
                <a:gd name="T10" fmla="*/ 81 w 64000"/>
                <a:gd name="T11" fmla="*/ 91 h 64000"/>
                <a:gd name="T12" fmla="*/ 81 w 64000"/>
                <a:gd name="T13" fmla="*/ 10 h 64000"/>
                <a:gd name="T14" fmla="*/ 81 w 64000"/>
                <a:gd name="T15" fmla="*/ 10 h 64000"/>
                <a:gd name="T16" fmla="*/ 81 w 64000"/>
                <a:gd name="T17" fmla="*/ 1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  <a:endParaRPr lang="ko-KR" alt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27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C76F91-817F-4868-8E70-2AC2E0C5B69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333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A65906-8D88-4CDE-B301-B5232D1E7AE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384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8A7A21-BF3C-4198-B30D-30AD62E979F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138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777EB9-EA08-429B-8725-4A34E8910E7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915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375F201-481F-46DB-B559-682A485DAEA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385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142244-582F-477C-94C4-3599A9ECED5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54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E577B09-7120-4BA2-A295-039C5407948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533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D1780F3-F13B-4174-9834-BAA139AC1D7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98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45B906C-C923-4D5A-9B9E-67BDFE72E36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90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D212FE-88B4-4F04-9A12-C03DD2606F7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59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5 h 64000"/>
                <a:gd name="T2" fmla="*/ 105 w 64000"/>
                <a:gd name="T3" fmla="*/ 30 h 64000"/>
                <a:gd name="T4" fmla="*/ 82 w 64000"/>
                <a:gd name="T5" fmla="*/ 55 h 64000"/>
                <a:gd name="T6" fmla="*/ 82 w 64000"/>
                <a:gd name="T7" fmla="*/ 55 h 64000"/>
                <a:gd name="T8" fmla="*/ 82 w 64000"/>
                <a:gd name="T9" fmla="*/ 55 h 64000"/>
                <a:gd name="T10" fmla="*/ 82 w 64000"/>
                <a:gd name="T11" fmla="*/ 55 h 64000"/>
                <a:gd name="T12" fmla="*/ 82 w 64000"/>
                <a:gd name="T13" fmla="*/ 5 h 64000"/>
                <a:gd name="T14" fmla="*/ 82 w 64000"/>
                <a:gd name="T15" fmla="*/ 5 h 64000"/>
                <a:gd name="T16" fmla="*/ 82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5 h 64000"/>
                <a:gd name="T2" fmla="*/ 59 w 64000"/>
                <a:gd name="T3" fmla="*/ 31 h 64000"/>
                <a:gd name="T4" fmla="*/ 46 w 64000"/>
                <a:gd name="T5" fmla="*/ 56 h 64000"/>
                <a:gd name="T6" fmla="*/ 46 w 64000"/>
                <a:gd name="T7" fmla="*/ 56 h 64000"/>
                <a:gd name="T8" fmla="*/ 46 w 64000"/>
                <a:gd name="T9" fmla="*/ 56 h 64000"/>
                <a:gd name="T10" fmla="*/ 46 w 64000"/>
                <a:gd name="T11" fmla="*/ 56 h 64000"/>
                <a:gd name="T12" fmla="*/ 46 w 64000"/>
                <a:gd name="T13" fmla="*/ 5 h 64000"/>
                <a:gd name="T14" fmla="*/ 46 w 64000"/>
                <a:gd name="T15" fmla="*/ 5 h 64000"/>
                <a:gd name="T16" fmla="*/ 46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9</a:t>
            </a:r>
          </a:p>
        </p:txBody>
      </p:sp>
      <p:sp>
        <p:nvSpPr>
          <p:cNvPr id="2150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CF5A43B-9B57-4738-B9A3-36283F27ADD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/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/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불확실성하의 환경정책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불확실한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오염원의 전략적 행위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배출량에 대한 감시가 불가능할 경우의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오염규제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143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7CB551-FBCC-4310-A277-00382CD42A1B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9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불확실한 정보와 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algn="r" eaLnBrk="1" hangingPunct="1">
              <a:defRPr/>
            </a:pPr>
            <a:r>
              <a:rPr lang="ko-KR" altLang="en-US" sz="3600" kern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비대칭적 정보하의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오염규제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불확실성하의 환경정책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idx="1"/>
          </p:nvPr>
        </p:nvSpPr>
        <p:spPr>
          <a:xfrm>
            <a:off x="947738" y="158908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오염의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한계피해나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한계저감비용이 불확실한 상태에서 정부가 정책 실행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불확실성이 정책효과에 미치는 영향은 다음 경우 중 어디에 해당되는지에 따라 달라짐 </a:t>
            </a:r>
          </a:p>
          <a:p>
            <a:pPr lvl="1"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한계피해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혹은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한계편익이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불확실한 경우</a:t>
            </a:r>
          </a:p>
          <a:p>
            <a:pPr lvl="1"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불확실한 경우</a:t>
            </a:r>
          </a:p>
          <a:p>
            <a:pPr lvl="1"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혼합정책이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사용될 경우</a:t>
            </a:r>
          </a:p>
        </p:txBody>
      </p:sp>
      <p:sp>
        <p:nvSpPr>
          <p:cNvPr id="1843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1843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ED3F21-5837-4012-8E33-4A091E95AF5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그림 7" descr="Cap 2014-06-19 09-47-01-93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974" y="2843429"/>
            <a:ext cx="5997575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19685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사회적 한계피해 혹은 한계편익이 불확실한 경우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idx="1"/>
          </p:nvPr>
        </p:nvSpPr>
        <p:spPr>
          <a:xfrm>
            <a:off x="919163" y="147637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정부가 오염의 피해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저감편익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대해 잘못된 정보를 가지고 정책을 입안할 경우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MAC=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한계저감비용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MB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저감의 실제 한계편익곡선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정부는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저감편익을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과소평가하여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MB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를 한계편익으로 인식</a:t>
            </a:r>
          </a:p>
        </p:txBody>
      </p:sp>
      <p:sp>
        <p:nvSpPr>
          <p:cNvPr id="20485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2048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AAA14D-5A09-4D78-BC02-1759851AF96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7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8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사회적 한계피해 혹은 한계편익이 불확실한 경우</a:t>
            </a:r>
          </a:p>
        </p:txBody>
      </p:sp>
      <p:sp>
        <p:nvSpPr>
          <p:cNvPr id="22531" name="Rectangle 7"/>
          <p:cNvSpPr>
            <a:spLocks noGrp="1" noChangeArrowheads="1"/>
          </p:cNvSpPr>
          <p:nvPr>
            <p:ph idx="1"/>
          </p:nvPr>
        </p:nvSpPr>
        <p:spPr>
          <a:xfrm>
            <a:off x="1249213" y="163978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정부가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저감편익에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대해 정확한 정보를 가지고 있다면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최적 배출부과금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최적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규제 도입 이전 배출량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정부가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MB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를 저감의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한계편익이라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믿기 때문에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</a:rPr>
              <a:t>배출부과금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=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t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규제 도입 이전 배출량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배출부과금제와 배출권거래제 모두 사회적 최적인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 아닌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만큼의 배출감소 초래함</a:t>
            </a:r>
          </a:p>
        </p:txBody>
      </p:sp>
      <p:sp>
        <p:nvSpPr>
          <p:cNvPr id="2253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2253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81E13C-DF19-45E0-9AB3-C50CE71DD52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저감편익에 관한 정보가 왜곡될 경우 사회적 손실</a:t>
            </a:r>
          </a:p>
        </p:txBody>
      </p:sp>
      <p:sp>
        <p:nvSpPr>
          <p:cNvPr id="24579" name="Rectangle 7"/>
          <p:cNvSpPr>
            <a:spLocks noGrp="1" noChangeArrowheads="1"/>
          </p:cNvSpPr>
          <p:nvPr>
            <p:ph idx="1"/>
          </p:nvPr>
        </p:nvSpPr>
        <p:spPr>
          <a:xfrm>
            <a:off x="919163" y="18129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왜곡된 정보로 인한 사회적 손실 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△</a:t>
            </a:r>
            <a:r>
              <a:rPr lang="en-US" altLang="ko-KR" sz="2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abc</a:t>
            </a:r>
            <a:endParaRPr lang="ko-KR" altLang="en-US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최적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2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2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가 달성될 경우 총 편익에서 총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순편익은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</a:rPr>
              <a:t>△d0c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왜곡된 정보 하에서 </a:t>
            </a:r>
            <a:r>
              <a:rPr lang="en-US" altLang="ko-KR" sz="22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200" baseline="-250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가 달성될 경우 총 편익에서 총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순편익은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</a:rPr>
              <a:t>□d0ba</a:t>
            </a:r>
            <a:endParaRPr lang="ko-KR" altLang="en-US" sz="22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 경우에 배출부과금제와 배출권거래제가 동일한 수준의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오염량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달성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사회적 손실의 정도는 동일하고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두 정책은 동일한 정도의 효율성을 가진다고 평가되어야 함</a:t>
            </a:r>
          </a:p>
          <a:p>
            <a:pPr eaLnBrk="1" hangingPunct="1"/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2458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2085DE-C415-4F3B-9648-EA18950A0AC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저감비용이 불확실한 경우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4049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한계편익에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관해 정부가 잘못된 정보를 가지고 정책을 결정하였을 때 사회적 손실은 가격정책이나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수량정책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모두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동일하였음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달성되는 실제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동일하기 때문임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양 정책 효과의 대칭성은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불확실한 경우에는 성립하지 않음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양 정책의 상대적 효율성은 한계편익곡선과 한계저감비용곡선 </a:t>
            </a:r>
            <a:r>
              <a:rPr lang="ko-KR" altLang="en-US" sz="2400" u="sng" dirty="0">
                <a:latin typeface="나눔명조" pitchFamily="18" charset="-127"/>
                <a:ea typeface="나눔명조" pitchFamily="18" charset="-127"/>
              </a:rPr>
              <a:t>기울기의 상대적 크기에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따라 달라짐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한계저감비용곡선이 더 가파른 경우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한계편익곡선이 더 가파른 경우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2662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C55B14-02FD-46EC-B6C6-9C0A19D20BF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6"/>
          <p:cNvSpPr>
            <a:spLocks noGrp="1" noChangeArrowheads="1"/>
          </p:cNvSpPr>
          <p:nvPr>
            <p:ph type="title"/>
          </p:nvPr>
        </p:nvSpPr>
        <p:spPr>
          <a:xfrm>
            <a:off x="1192213" y="1190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한계저감비용곡선이 더 가파른 경우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19538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오염원은 자신의 한계저감비용을 정확히 알고 있으나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정부는 한계저감비용에 대해 잘못된 정보를 가지고 있음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실제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한계저감비용곡선이고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정부가 잘못 알고 있는 과소평가 된 한계저감비용곡선 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한계저감비용곡선의 기울기가 더 가파른 경우 </a:t>
            </a:r>
          </a:p>
        </p:txBody>
      </p:sp>
      <p:sp>
        <p:nvSpPr>
          <p:cNvPr id="28677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2867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B6B5A0-FC26-4177-AC02-BA016DFF81B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9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80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478B9B-FB17-41FD-A4D0-F3B326DAE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70" y="2903341"/>
            <a:ext cx="5778759" cy="361720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한계저감비용곡선이 더 가파른 경우</a:t>
            </a:r>
          </a:p>
        </p:txBody>
      </p:sp>
      <p:sp>
        <p:nvSpPr>
          <p:cNvPr id="30723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33508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정부가 올바른 정보를 가지고 있다면</a:t>
            </a:r>
          </a:p>
          <a:p>
            <a:pPr lvl="1" eaLnBrk="1" hangingPunct="1"/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배출권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발행량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저감 달성을 위한 양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배출부과금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t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정보 왜곡 하의 수량제한정책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배출권거래제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MB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만나는 수준의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저감량인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 기준으로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발행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정보 왜곡 하의 가격정책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배출부과금제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MB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만나는 수준인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t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부과금 책정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오염원은 사회적 최적인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저감을 행하지 않고 자신의 실제 한계저감비용인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t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일치하는 수준인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만큼만 저감하게 됨</a:t>
            </a:r>
          </a:p>
        </p:txBody>
      </p:sp>
      <p:sp>
        <p:nvSpPr>
          <p:cNvPr id="3072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3072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B1301C-6F8F-41BA-A764-AFCEF52BD41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한계저감비용곡선이 더 가파른 경우</a:t>
            </a:r>
          </a:p>
        </p:txBody>
      </p:sp>
      <p:sp>
        <p:nvSpPr>
          <p:cNvPr id="32771" name="Rectangle 7"/>
          <p:cNvSpPr>
            <a:spLocks noGrp="1" noChangeArrowheads="1"/>
          </p:cNvSpPr>
          <p:nvPr>
            <p:ph idx="1"/>
          </p:nvPr>
        </p:nvSpPr>
        <p:spPr>
          <a:xfrm>
            <a:off x="915193" y="118717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따라서 한계저감비용에 대한 정보가 왜곡될 경우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부과금제와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배출권거래제 하에서 달성되는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저감량은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서로 달라짐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배출권거래제는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과잉저감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부과금제는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과소저감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왜곡된 정보로 인해 수량제한정책이 상대적으로 더 큰 사회적 손실 초래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수량제한 정책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저감 달성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사회적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순손실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△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abc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</a:rPr>
              <a:t>가격제한정책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: 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저감 달성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사회적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순손실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△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dea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한계저감비용을 과대평가할 때도 동일하게 수량제한정책이 더 큰 손실 초래</a:t>
            </a:r>
          </a:p>
        </p:txBody>
      </p:sp>
      <p:sp>
        <p:nvSpPr>
          <p:cNvPr id="3277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3277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3AC01D-7E6E-4DBD-A2D6-E274D09FF6C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277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한계편익곡선이 더 가파른 경우</a:t>
            </a:r>
          </a:p>
        </p:txBody>
      </p:sp>
      <p:sp>
        <p:nvSpPr>
          <p:cNvPr id="36867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4049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정부가 한계저감비용을 과소평가하되 한계편익곡선이 상대적으로 더 가파른 경우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수량제한정책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저감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가격정책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저감 달성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오염원이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선택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368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5EC269-9ED3-47D1-8487-F6897C01773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D6B9E80-08D4-4D02-A370-ED01978A8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863" y="2752536"/>
            <a:ext cx="5310112" cy="343456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한계편익곡선이 더 가파른 경우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503363"/>
            <a:ext cx="7313613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|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a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| &gt; |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|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정보 왜곡으로 인한 사회적 손실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가격정책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△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dea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 &gt;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수량제한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△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abc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반대로 정부가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과대평가할 경우에도 한계편익곡선이 상대적으로 더 가파르면 가격정책 시 손실이 더 큼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한계편익곡선이 더 가파를 경우 수량제한정책이 상대적으로 더 우월한 정책임 </a:t>
            </a:r>
          </a:p>
        </p:txBody>
      </p:sp>
      <p:sp>
        <p:nvSpPr>
          <p:cNvPr id="3891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3891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C3C075-E75F-455A-A758-8152560D8C4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891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한계편익곡선이 더 가파른 경우</a:t>
            </a:r>
          </a:p>
        </p:txBody>
      </p:sp>
      <p:sp>
        <p:nvSpPr>
          <p:cNvPr id="40963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503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한계저감비용이 불확실할 경우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한계저감비용과 한계편익곡선의 상대적 기울기에 따라 어느 한 정책이 효율성 측면에서 더 우월한 정책이 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정부는 한계저감비용의 상대적 기울기에 따라 가격정책과 수량제한정책 중 하나를 선택하는 것이 현명함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독성이 매우 높은 오염물질의 경우 배출량이 늘어나면서 오염의 피해가 급속히 증가하므로 한계저감비용의 상대적 기울기가 작다고 할 수 있고 수량제한정책이 더 효율적이라 할 수 있음</a:t>
            </a:r>
          </a:p>
        </p:txBody>
      </p:sp>
      <p:sp>
        <p:nvSpPr>
          <p:cNvPr id="4096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096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92CBE5-A735-4782-9655-DFA121D9720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096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온실가스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저감정책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탄소세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vs.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배출권거래제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827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비용효과적으로 배출량을 줄이기 위해서는 배출되는 탄소에 대해 부과하는 세금인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탄소세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(carbon tax)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와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배출권거래제와 같이 수량제한 인센티브제도를 사용할 수 있음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유럽에서는 배출권거래제가 시행되고 있고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미국과 한국도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거래제를 우선적으로 도입함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최소한 초기에는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무상 배분하여 산업계의 반발을 무마할 수 있다는 정치적 이유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EU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경우 공동의 조세제도를 갖추기 위해 모든 회원국의 합의가 있어야 한다는 난점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029"/>
          <p:cNvSpPr>
            <a:spLocks noGrp="1" noChangeArrowheads="1"/>
          </p:cNvSpPr>
          <p:nvPr>
            <p:ph idx="1"/>
          </p:nvPr>
        </p:nvSpPr>
        <p:spPr>
          <a:xfrm>
            <a:off x="858838" y="1812925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그러나 많은 경제학자들은 가격정책이 더 유용한 정책이라 주장함</a:t>
            </a:r>
          </a:p>
          <a:p>
            <a:pPr lvl="1" eaLnBrk="1" hangingPunct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한계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불확실성 때문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온실가스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저감비용은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향후의 에너지가격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식량문제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금융위기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저감기술측면의 불확실성으로 인해 예측하기 어려움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온실가스의 한계저감비용곡선은 한계편익이나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피해곡선에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비해 더 가파를 것으로 인식됨</a:t>
            </a:r>
          </a:p>
          <a:p>
            <a:pPr lvl="2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온실가스 배출량과 피해는 장기간에 걸쳐 서서히 증가할 것임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기울기가 완만함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)</a:t>
            </a:r>
          </a:p>
        </p:txBody>
      </p:sp>
      <p:sp>
        <p:nvSpPr>
          <p:cNvPr id="4403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403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AD1919-70A3-423B-AA0F-75F5E302C13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온실가스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저감정책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탄소세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vs.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배출권거래제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1029"/>
          <p:cNvSpPr>
            <a:spLocks noGrp="1" noChangeArrowheads="1"/>
          </p:cNvSpPr>
          <p:nvPr>
            <p:ph idx="1"/>
          </p:nvPr>
        </p:nvSpPr>
        <p:spPr>
          <a:xfrm>
            <a:off x="858838" y="1812925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그러나 많은 경제학자들은 가격정책이 더 유용한 정책이라 주장함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배출권거래제는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위험도 자체를 증폭하기도 함</a:t>
            </a:r>
          </a:p>
          <a:p>
            <a:pPr lvl="2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수요와 공급에 미칠 수 있는 어떤 요인도 그 가격형성에 영향을 주게 됨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반면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탄소세는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정해진 세율이 계속 적용되기 때문에 기업입장에서는 예측가능하고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안정적임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506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506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38C382-C8C5-4CA2-B786-6F04FC4F843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온실가스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저감정책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탄소세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vs.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배출권거래제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2462" y="1812925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한계저감비용과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한계편익이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불확실한 상태에서의 정책 선택은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봐이츠만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(Weitzman, 1974)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에 의해 처음 분석됨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정책선택문제는 다음의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최적화문제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9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9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900" i="0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𝑒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𝐸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[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𝐴𝐶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(</m:t>
                          </m:r>
                          <m:r>
                            <a:rPr lang="en-US" altLang="ko-KR" sz="19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𝑒</m:t>
                          </m:r>
                          <m:r>
                            <a:rPr lang="en-US" altLang="ko-KR" sz="19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,</m:t>
                          </m:r>
                          <m:r>
                            <a:rPr lang="ko-KR" altLang="en-US" sz="19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𝜖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)+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𝐷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(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𝑒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,</m:t>
                          </m:r>
                          <m:r>
                            <a:rPr lang="ko-KR" altLang="en-US" sz="19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𝜂</m:t>
                          </m:r>
                          <m:r>
                            <a:rPr lang="en-US" altLang="ko-KR" sz="19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en-US" altLang="ko-KR" sz="19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배출량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𝐴𝐶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𝐷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오염으로 인한 사회적 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𝜖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정부 입장에서의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저감비용과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사회적 비용의 불확실성을 반영하는 확률변수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정부는 확률변수의 영향을 고려하여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저감비용과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오염피해의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합의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기댓값을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최소화하는 배출부과금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𝑡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이나 배출량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선택</a:t>
                </a:r>
              </a:p>
            </p:txBody>
          </p:sp>
        </mc:Choice>
        <mc:Fallback xmlns="">
          <p:sp>
            <p:nvSpPr>
              <p:cNvPr id="45059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2462" y="1812925"/>
                <a:ext cx="7515225" cy="4114800"/>
              </a:xfrm>
              <a:blipFill>
                <a:blip r:embed="rId2"/>
                <a:stretch>
                  <a:fillRect l="-1136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506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38C382-C8C5-4CA2-B786-6F04FC4F843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정책수단으로서의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수량과 가격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봐이츠만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분석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872333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2462" y="1812925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정부가 배출수량이나 부과금을 선택할 때 그 수단에 따라 오염원의 반응이 각기 다르게 나타남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최적의 부과금 수준을 도출하기 위해서는 오염원이 한계저감비용과 부과금을 일치시키는 최적화 행위를 사회적 비용 최소화문제에 반영해야 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봐이츠만은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수량정책과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가격정책의 효과 차이를 한계저감비용 곡선과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한계피해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곡선의 기울기 차이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확률변수의 가변성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등으로 설명함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분산의 값이 클수록 두 가지 정책의 기대효과 격차가 커짐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저감비용과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피해의 두 불확실성이 서로 독립적이지 않고 연관될 경우 그 방향도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정책선택에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영향을 미침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5059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2462" y="1812925"/>
                <a:ext cx="7515225" cy="4114800"/>
              </a:xfrm>
              <a:blipFill>
                <a:blip r:embed="rId2"/>
                <a:stretch>
                  <a:fillRect l="-1136" t="-1185" r="-2760"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506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38C382-C8C5-4CA2-B786-6F04FC4F843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33813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정책수단으로서의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수량과 가격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봐이츠만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분석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43089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546225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정부가 오염원의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완전히 알지 못하는 경우 사회적 손실이 발생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배출부과금이나 배출권거래제를 적절히 혼합하여 사용할 경우 한 가지 정책만을 사용할 경우에 비해 사회적 손실이 줄어듦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(Roberts and Spence, 1976)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오염원의 실제 한계저감비용은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중 하나라고 가정</a:t>
            </a:r>
          </a:p>
        </p:txBody>
      </p:sp>
      <p:sp>
        <p:nvSpPr>
          <p:cNvPr id="4608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608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621E69-E434-453B-91BF-B6A9F6372E8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608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608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2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9788" y="1338263"/>
                <a:ext cx="7313612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상황에서 정부가 평균적인 한계저감비용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</m:bar>
                  </m:oMath>
                </a14:m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기준으로 정책을 시행할 경우</a:t>
                </a:r>
              </a:p>
              <a:p>
                <a:pPr lvl="1" eaLnBrk="1" hangingPunct="1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ba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배출부과금 또는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배출저감량을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결정함</a:t>
                </a: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실제 저감비용이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MAC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이든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MAC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2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이든 사회적 손실 발생</a:t>
                </a:r>
              </a:p>
            </p:txBody>
          </p:sp>
        </mc:Choice>
        <mc:Fallback xmlns="">
          <p:sp>
            <p:nvSpPr>
              <p:cNvPr id="48132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788" y="1338263"/>
                <a:ext cx="7313612" cy="4114800"/>
              </a:xfr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3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4813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5CFAB1-8081-40C0-AEFF-93692CA714A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813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813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39A52C1-6FED-434B-98C2-52A9AC5C5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43" y="2834156"/>
            <a:ext cx="6096000" cy="357369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79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7738" y="1546225"/>
                <a:ext cx="7313612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혼합정책으로 정부는 배출부과금을 징수하면서 동시에 배출보조금을 지급하며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배출권거래제도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함께 사용한다면</a:t>
                </a:r>
              </a:p>
              <a:p>
                <a:pPr marL="457200" lvl="1" indent="0" eaLnBrk="1" hangingPunct="1">
                  <a:buNone/>
                </a:pP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1)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평균 한계저감비용곡선과 저감의 한계편익곡선이 만나는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기준으로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발행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거래가격은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2)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높은 저감비용곡선과 한계편익곡선이 만나는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t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배출부과금을 부과</a:t>
                </a:r>
              </a:p>
              <a:p>
                <a:pPr lvl="2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오염원이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이상을 배출하면 이 부과금을 납부</a:t>
                </a:r>
              </a:p>
              <a:p>
                <a:pPr marL="457200" lvl="1" indent="0" eaLnBrk="1" hangingPunct="1">
                  <a:buNone/>
                </a:pP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3)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낮은 한계저감비용곡선과 한계편익곡선이 만나는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s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만큼의 보조금도 지급</a:t>
                </a:r>
              </a:p>
              <a:p>
                <a:pPr lvl="2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오염원이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일부를 사용하지 않으면 이 보조금을 보상받음</a:t>
                </a:r>
              </a:p>
            </p:txBody>
          </p:sp>
        </mc:Choice>
        <mc:Fallback xmlns="">
          <p:sp>
            <p:nvSpPr>
              <p:cNvPr id="50179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738" y="1546225"/>
                <a:ext cx="7313612" cy="4114800"/>
              </a:xfrm>
              <a:blipFill>
                <a:blip r:embed="rId3"/>
                <a:stretch>
                  <a:fillRect l="-1083" t="-1185" b="-28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5018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F34778-4749-4E7E-A9A8-57E3E36A2EA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5018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018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62025" y="1546225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dirty="0" err="1">
                    <a:latin typeface="나눔명조" pitchFamily="18" charset="-127"/>
                    <a:ea typeface="나눔명조" pitchFamily="18" charset="-127"/>
                  </a:rPr>
                  <a:t>혼합정책이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 시행될 때 </a:t>
                </a:r>
                <a:r>
                  <a:rPr lang="ko-KR" altLang="en-US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 시장이 형성된다면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의 관계가 성립함</a:t>
                </a:r>
              </a:p>
              <a:p>
                <a:pPr lvl="1" eaLnBrk="1" hangingPunct="1"/>
                <a:r>
                  <a:rPr lang="en-US" altLang="ko-KR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p&lt;s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라면 오염원은 </a:t>
                </a:r>
                <a:r>
                  <a:rPr lang="ko-KR" altLang="en-US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 구입 후 이를 사용하지 않아 이득을 볼 수 있으므로 </a:t>
                </a:r>
                <a:r>
                  <a:rPr lang="ko-KR" altLang="en-US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 시장이 붕괴됨</a:t>
                </a:r>
              </a:p>
              <a:p>
                <a:pPr lvl="1" eaLnBrk="1" hangingPunct="1"/>
                <a:r>
                  <a:rPr lang="en-US" altLang="ko-KR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</a:rPr>
                  <a:t>p&gt;t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라면 오염원은 배출권을 하나도 구입하지 않고 배출부과금을 납부하는 것을 선택할 것이므로 </a:t>
                </a:r>
                <a:r>
                  <a:rPr lang="ko-KR" altLang="en-US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dirty="0">
                    <a:latin typeface="나눔명조" pitchFamily="18" charset="-127"/>
                    <a:ea typeface="나눔명조" pitchFamily="18" charset="-127"/>
                  </a:rPr>
                  <a:t> 시장이 붕괴됨</a:t>
                </a:r>
              </a:p>
            </p:txBody>
          </p:sp>
        </mc:Choice>
        <mc:Fallback xmlns="">
          <p:sp>
            <p:nvSpPr>
              <p:cNvPr id="5222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2025" y="1546225"/>
                <a:ext cx="7313613" cy="4114800"/>
              </a:xfrm>
              <a:blipFill>
                <a:blip r:embed="rId3"/>
                <a:stretch>
                  <a:fillRect l="-1583" t="-1630" r="-10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22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5222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230B40-5B12-4BEA-A418-B241E0A3377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223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223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75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62025" y="13779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혼합정책이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사용되면 오염원이 의사결정을 할 때 감안해야 할 것은 자신의 한계저감비용과 계단모양의 선임</a:t>
                </a:r>
              </a:p>
              <a:p>
                <a:pPr lvl="1" eaLnBrk="1" hangingPunct="1"/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저감량이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보다 줄어들기 위해서는 단위당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t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의 비용을 오염원이 부담하여야 하고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저감량을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보다 늘리면 그 대가는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s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이므로 이를 자신의 한계저감비용과 비교해야 함</a:t>
                </a:r>
              </a:p>
            </p:txBody>
          </p:sp>
        </mc:Choice>
        <mc:Fallback xmlns="">
          <p:sp>
            <p:nvSpPr>
              <p:cNvPr id="54275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2025" y="1377950"/>
                <a:ext cx="7313613" cy="4114800"/>
              </a:xfrm>
              <a:blipFill>
                <a:blip r:embed="rId3"/>
                <a:stretch>
                  <a:fillRect l="-750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7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5427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23C93D-6E8B-449D-BA35-62930A1EFB8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427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427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9531B06-33FE-423C-B711-C2C8D59B6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678" y="3056389"/>
            <a:ext cx="5766318" cy="338042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p:sp>
        <p:nvSpPr>
          <p:cNvPr id="56323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630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따라서 한계저감비용이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일 때 오염원은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만큼을 저감하고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일 때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만큼을 저감함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정부가 한계저감비용곡선을 정확히 모르더라도 항상 사회적 최적을 달성할 수 있음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하지만 현실에서 한계저감비용곡선은 두 가지가 아니라 훨씬 다양하게 나타날 수 있으며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정확한 위치 자체를 모를 수 있음</a:t>
            </a:r>
          </a:p>
        </p:txBody>
      </p:sp>
      <p:sp>
        <p:nvSpPr>
          <p:cNvPr id="5632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5632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D40827-81AA-4B73-BA88-1FEA807C2E9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632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632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혼합정책이 사용될 경우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476375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혼합정책은 사회적 손실을 완전 제거할 수는 없지만 한 가지 정책만을 사용할 때에 비해서는 더 작은 사회적 손실을 초래함</a:t>
            </a: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가격정책과 수량정책을 결합하면 계단모양의 우하향하는 의사결정선이 도출되고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이는 한 가지 정책만 사용될 때의 수평선이나 수직선에 비해 오염저감의 한계편익곡선형태와 더 가까움</a:t>
            </a:r>
          </a:p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따라서 혼합정책은 저감비용관련 정보가 불확실한 상황에서 한 가지 정책만 사용할 때에 비해 더 높은 사회적 편익을 얻게 함</a:t>
            </a:r>
          </a:p>
        </p:txBody>
      </p:sp>
      <p:sp>
        <p:nvSpPr>
          <p:cNvPr id="5837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5837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FBACFA-E4AF-4B37-9362-6972CF9CF5B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837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837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36512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불확실한 저감비용과 오염원의 전략적 행위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75736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정부가 오염원의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정확히 모를 경우 앞의 내용과 같이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추측할 수 있지만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저감비용에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관한 정보를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오염원에게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직접 물어보는 방법도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이는 실제로 각국 정부가 환경정책 입안을 위해 많이 사용하는 방법임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이 때 오염원은 잘못된 정보를 정부에게 제공하고 이득을 얻으려는 전략적 행위의 가능성이 있음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본 절은 오염원들이 실제로 이러한 전략적 행위를 할 동기를 가지게 된다는 것을 보이고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이와 같은 행위로 인한 손실을 막기 위해 정부가 선택할 수 있는 조치는 무엇인지를 살펴볼 것임</a:t>
            </a:r>
          </a:p>
        </p:txBody>
      </p:sp>
      <p:sp>
        <p:nvSpPr>
          <p:cNvPr id="6042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042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D38114-B771-45AC-A280-302C5E1042B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042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042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254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sz="32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배출권거래제 하의 오염원의 전략적 행위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과대보고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2468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531938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오염원의 실제 한계저감비용곡선은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오염으로 인한 한계피해곡선은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MD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사회적 최적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배출권수는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18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시장가격은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P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R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과 같이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과대보고할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경우 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정부는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분배하며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시장가격은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P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</a:p>
        </p:txBody>
      </p:sp>
      <p:sp>
        <p:nvSpPr>
          <p:cNvPr id="6246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247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4F86AF-3C77-4B25-8665-67BF16D453D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247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247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E09139-F8A5-41AF-A7A3-2E5BE6C26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612" y="3252681"/>
            <a:ext cx="5480179" cy="318829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254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sz="32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배출권거래제 하의 오염원의 전략적 행위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과대보고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5" name="Rectangle 7"/>
          <p:cNvSpPr>
            <a:spLocks noGrp="1" noChangeArrowheads="1"/>
          </p:cNvSpPr>
          <p:nvPr>
            <p:ph idx="1"/>
          </p:nvPr>
        </p:nvSpPr>
        <p:spPr>
          <a:xfrm>
            <a:off x="1060450" y="1560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오염원은 한계저감비용을 과대보고 하여 이득을 얻을 수 있음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오염원이 실제 저감비용을 보고하면 배출권의 수가 </a:t>
            </a:r>
            <a:r>
              <a:rPr lang="en-US" altLang="ko-KR" sz="23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3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로 결정됨</a:t>
            </a:r>
          </a:p>
          <a:p>
            <a:pPr lvl="1" eaLnBrk="1" hangingPunct="1"/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e+f+g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저감비용을 지불하여야 함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배출권 구입을 위해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a+b+c+d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비용을 지불해야 함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오염원이 </a:t>
            </a:r>
            <a:r>
              <a:rPr lang="en-US" altLang="ko-KR" sz="230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300" baseline="-25000">
                <a:latin typeface="Times New Roman" panose="02020603050405020304" pitchFamily="18" charset="0"/>
                <a:ea typeface="나눔명조" pitchFamily="18" charset="-127"/>
              </a:rPr>
              <a:t>R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의 비용을 보고할 경우 배출권의 수가 </a:t>
            </a:r>
            <a:r>
              <a:rPr lang="en-US" altLang="ko-KR" sz="230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300" baseline="-2500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으로 결정됨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저감비용이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g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로 줄고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배출권 구입비용은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b+c+f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로 변함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따라서 배출권거래제 하에서는 오염원이 저감비용을 과대보고 하고자 하는 동기를 갖게 됨</a:t>
            </a:r>
          </a:p>
        </p:txBody>
      </p:sp>
      <p:sp>
        <p:nvSpPr>
          <p:cNvPr id="6451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451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0F803C-F3BF-4DF0-89E9-F16CFADDFBF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451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451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254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sz="32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 하의 오염원의 전략적 행위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과소보고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6564" name="Rectangle 7"/>
          <p:cNvSpPr>
            <a:spLocks noGrp="1" noChangeArrowheads="1"/>
          </p:cNvSpPr>
          <p:nvPr>
            <p:ph idx="1"/>
          </p:nvPr>
        </p:nvSpPr>
        <p:spPr>
          <a:xfrm>
            <a:off x="990600" y="1560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배출부과금제가 시행될 경우 오염원은 반대로 자신의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과소보고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하고자 함</a:t>
            </a:r>
          </a:p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실제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한계저감비용곡선이고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MAC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R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오염원이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거짓보고한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한계저감비용곡선</a:t>
            </a:r>
          </a:p>
        </p:txBody>
      </p:sp>
      <p:sp>
        <p:nvSpPr>
          <p:cNvPr id="66565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656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977E68-311E-4C2B-9717-31924408F59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6567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6568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383F6E-D555-414F-9521-B111E42C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013" y="2922898"/>
            <a:ext cx="6195056" cy="339081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2540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sz="32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배출부과금제 하의 오염원의 전략적 행위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저감비용의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과소보고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8611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6446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오염원이 정직하게 보고한다면 정부는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t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부과금률을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적용하며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오염원은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400" baseline="-25000" dirty="0" err="1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오염물질을 배출함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오염원은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g+h+i+j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저감비용으로 부담하고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a+b+c+d+e+f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부과금으로 납부함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오염원이 거짓말을 할 경우 정부는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t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부과금률로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정하고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배출량 선택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오염원이 지불하는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j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로 줄고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부과금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납부액은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b+c+f+g+h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로 변함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오염원은 거짓말을 함으로써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</a:rPr>
              <a:t>a+d+e+i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비용을 절감할 수 있음</a:t>
            </a:r>
          </a:p>
        </p:txBody>
      </p:sp>
      <p:sp>
        <p:nvSpPr>
          <p:cNvPr id="686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86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6E1403-86F8-45D6-A6B6-726B366B3ED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861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861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73187" y="184638"/>
            <a:ext cx="7313613" cy="1248508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 보고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퀴렐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700213"/>
                <a:ext cx="7313612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두 정책 중 무엇을 사용하느냐에 따라 오염원의 전략적 행위의 방향이 달라지므로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둘을  혼합하여 사용하는 것이 유용할 수 있음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정책을 혼합하여 한계저감비용 거짓 보고 동기를 완전히 없애는 예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퀴렐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en-US" altLang="ko-KR" sz="2400" dirty="0" err="1">
                    <a:latin typeface="나눔명조" pitchFamily="18" charset="-127"/>
                    <a:ea typeface="나눔명조" pitchFamily="18" charset="-127"/>
                  </a:rPr>
                  <a:t>Kwerel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메커니즘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914400" lvl="1" indent="-457200" eaLnBrk="1" hangingPunct="1">
                  <a:buAutoNum type="arabicParenR"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오염원으로 하여금 한계저감비용함수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을 제출하게 함</a:t>
                </a:r>
                <a:endParaRPr lang="en-US" altLang="ko-KR" sz="200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marL="914400" lvl="1" indent="-457200" eaLnBrk="1" hangingPunct="1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MAC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R</m:t>
                        </m:r>
                      </m:sub>
                    </m:sSub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i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e</m:t>
                        </m:r>
                      </m:e>
                    </m:d>
                    <m:r>
                      <a:rPr lang="en-US" altLang="ko-KR" sz="2000" i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i="0">
                        <a:latin typeface="Cambria Math" panose="02040503050406030204" pitchFamily="18" charset="0"/>
                        <a:ea typeface="나눔명조" pitchFamily="18" charset="-127"/>
                      </a:rPr>
                      <m:t>MD</m:t>
                    </m:r>
                    <m:r>
                      <a:rPr lang="en-US" altLang="ko-KR" sz="2000" i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i="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  <m:r>
                      <a:rPr lang="en-US" altLang="ko-KR" sz="2000" i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충족하는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발행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914400" lvl="1" indent="-457200" eaLnBrk="1" hangingPunct="1">
                  <a:buAutoNum type="arabicParenR"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발행한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배출권량의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와 일치하는 보조금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보유한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중 사용되지 않는 것에 대해 단위당 지불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76803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700213"/>
                <a:ext cx="7313612" cy="4114800"/>
              </a:xfrm>
              <a:blipFill>
                <a:blip r:embed="rId3"/>
                <a:stretch>
                  <a:fillRect l="-1083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768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D447FA-8AAF-463D-8F38-A98F5746B3A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68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3587953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7"/>
          <p:cNvSpPr>
            <a:spLocks noGrp="1" noChangeArrowheads="1"/>
          </p:cNvSpPr>
          <p:nvPr>
            <p:ph idx="1"/>
          </p:nvPr>
        </p:nvSpPr>
        <p:spPr>
          <a:xfrm>
            <a:off x="906463" y="1250950"/>
            <a:ext cx="7484868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오염원이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과대보고한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경우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정부는 오염원이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과대보고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한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저감비용에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기초하여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발행</a:t>
            </a: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오염원이 실제 배출한 오염물질이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보다 적을 경우 단위당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</a:rPr>
              <a:t>s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의 보조금을 지급</a:t>
            </a: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</a:rPr>
              <a:t>보조금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</a:rPr>
              <a:t>s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는 오염원의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과장보고로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인해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수가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많아짐에도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불구하고 그 가격이 하락하지 않도록 함</a:t>
            </a:r>
          </a:p>
        </p:txBody>
      </p:sp>
      <p:sp>
        <p:nvSpPr>
          <p:cNvPr id="7885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7885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1A43F03-63CD-45C6-A860-66F3CB733DE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885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885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81819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 보고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퀴렐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FDDBA5-6CCA-49C5-B9B3-2D2206D66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013" y="2968569"/>
            <a:ext cx="6183085" cy="344138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70021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이런 상황에서 오염원은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만큼의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가지고 있으나 실제 배출량은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임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보다 많이 배출할 경우 실제 저감한계비용이 정부의 보조금보다 낮아 저감 후 보조금을 받는 것이 유리함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오염원이 거짓보고를 하지 않을 경우</a:t>
            </a:r>
          </a:p>
          <a:p>
            <a:pPr lvl="1" eaLnBrk="1" hangingPunct="1"/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i+j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b+c+e+f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구입비용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과대보고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할 경우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배출을 하므로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d+e+f+i+j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a+b+c+d+e+f+g+h+i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구입비용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정부로부터의 보조금 총액은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d+e+f+g+h+i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거짓보고를 할 경우 그렇지 않을 때에 비해 오염원의 총비용이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</a:rPr>
              <a:t>a+d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만큼 오히려 증가</a:t>
            </a:r>
          </a:p>
          <a:p>
            <a:pPr lvl="1"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090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8090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B00C07-AAA9-466B-8427-D3CA90E6D6D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090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090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title"/>
          </p:nvPr>
        </p:nvSpPr>
        <p:spPr>
          <a:xfrm>
            <a:off x="1373187" y="184638"/>
            <a:ext cx="7313613" cy="1248508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 보고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퀴렐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73187" y="184638"/>
            <a:ext cx="7313613" cy="1248508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 보고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몬테로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700213"/>
                <a:ext cx="7313612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오염원이 한계저감비용을 숨길 이유가 없도록 하는 또 다른 정책 메커니즘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(Montero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메커니즘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914400" lvl="1" indent="-457200" eaLnBrk="1" hangingPunct="1">
                  <a:buAutoNum type="arabicParenR"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오염원으로 하여금 한계저감비용함수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을 제출하게 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914400" lvl="1" indent="-457200" eaLnBrk="1" hangingPunct="1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MAC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R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e</m:t>
                        </m: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MD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e</m:t>
                        </m: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P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충족하는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발행하되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P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e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오염원에게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판매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914400" lvl="1" indent="-457200" eaLnBrk="1" hangingPunct="1">
                  <a:buAutoNum type="arabicParenR"/>
                </a:pP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판매수입 중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비율을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오염원에게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돌려줌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정부는 오염원의 전략적 행위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을 고려하여 최적의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  <m:r>
                      <a:rPr lang="ko-KR" altLang="en-US" sz="24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를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선택해 거짓 보고 유인을 제거하려 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76803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700213"/>
                <a:ext cx="7313612" cy="4114800"/>
              </a:xfrm>
              <a:blipFill>
                <a:blip r:embed="rId3"/>
                <a:stretch>
                  <a:fillRect l="-1083" t="-1185" r="-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768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D447FA-8AAF-463D-8F38-A98F5746B3A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68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4059705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73187" y="184638"/>
            <a:ext cx="7313613" cy="1248508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 보고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몬테로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313" y="1700213"/>
                <a:ext cx="7313612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최적의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반환율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다음과 같아야 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=1−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=1−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𝐴𝐷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𝑀𝐷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단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𝐴𝐷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𝐷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)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den>
                    </m:f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오염의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평균피해액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𝐴𝐷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과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한계피해액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비율을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빼준 형태임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한계피해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𝑀𝐷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증가함수이므로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일반적으로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𝑀𝐷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관계가 성립하며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과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사이의 값이 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일 때는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과소보고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유인이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일 때는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과대보고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 유인이 존재하므로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과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사이의 값을 가짐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교과서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보론의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수식 설명 참조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76803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3" y="1700213"/>
                <a:ext cx="7313612" cy="4114800"/>
              </a:xfrm>
              <a:blipFill>
                <a:blip r:embed="rId3"/>
                <a:stretch>
                  <a:fillRect l="-1083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768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D447FA-8AAF-463D-8F38-A98F5746B3A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68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489288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73187" y="184638"/>
            <a:ext cx="7313613" cy="1248508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거짓보고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몬테로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54978" y="1902436"/>
                <a:ext cx="4545622" cy="4114800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=0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 경우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제대로 제출 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배포수량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배포가격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비용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en-US" altLang="ko-KR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a+b+c+d+f+g+h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저감비용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en-US" altLang="ko-KR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i+j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</m:t>
                        </m:r>
                      </m:sub>
                    </m:sSub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로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과소보고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배포수량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배포가격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1600" b="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marL="914400" lvl="2" indent="0" eaLnBrk="1" hangingPunct="1">
                  <a:buNone/>
                </a:pPr>
                <a:r>
                  <a:rPr lang="en-US" altLang="ko-KR" sz="1600" b="0" dirty="0">
                    <a:ea typeface="Cambria Math" panose="02040503050406030204" pitchFamily="18" charset="0"/>
                  </a:rPr>
                  <a:t>                        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𝑀𝐴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배출권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비용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en-US" altLang="ko-KR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b+c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저감비용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en-US" altLang="ko-KR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e+f+g+h+i+j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사회적 최적에서는 </a:t>
                </a:r>
                <a:r>
                  <a:rPr lang="en-US" altLang="ko-KR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a+d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e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 크기 때문에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과소보고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유인 존재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803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978" y="1902436"/>
                <a:ext cx="4545622" cy="4114800"/>
              </a:xfrm>
              <a:blipFill>
                <a:blip r:embed="rId3"/>
                <a:stretch>
                  <a:fillRect l="-1206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768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D447FA-8AAF-463D-8F38-A98F5746B3A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68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829" y="1902436"/>
            <a:ext cx="4312875" cy="35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5901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73187" y="184638"/>
            <a:ext cx="7313613" cy="1248508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거짓보고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유인의 완전 제거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b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몬테로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메커니즘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3646" y="1718441"/>
                <a:ext cx="4322598" cy="4114800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=1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 경우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ea typeface="나눔명조" pitchFamily="18" charset="-127"/>
                  </a:rPr>
                  <a:t>오염원은 </a:t>
                </a:r>
                <a:r>
                  <a:rPr lang="ko-KR" altLang="en-US" sz="1800" dirty="0" err="1">
                    <a:ea typeface="나눔명조" pitchFamily="18" charset="-127"/>
                  </a:rPr>
                  <a:t>배출권</a:t>
                </a:r>
                <a:r>
                  <a:rPr lang="ko-KR" altLang="en-US" sz="1800" dirty="0">
                    <a:ea typeface="나눔명조" pitchFamily="18" charset="-127"/>
                  </a:rPr>
                  <a:t> 구입비를 전액 환급 받으므로 이는 고려하지 않음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제출 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배포수량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배포가격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b>
                    </m:sSub>
                  </m:oMath>
                </a14:m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저감비용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en-US" altLang="ko-KR" sz="16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a+b</a:t>
                </a:r>
                <a:endParaRPr lang="en-US" altLang="ko-KR" sz="180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𝑀𝐴𝐶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</m:t>
                        </m:r>
                      </m:sub>
                    </m:sSub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로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과대보고 시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배포수량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배포가격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저감비용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</a:t>
                </a:r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면적만 오염원이 부담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803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646" y="1718441"/>
                <a:ext cx="4322598" cy="4114800"/>
              </a:xfrm>
              <a:blipFill>
                <a:blip r:embed="rId3"/>
                <a:stretch>
                  <a:fillRect l="-1269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768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D447FA-8AAF-463D-8F38-A98F5746B3A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68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776" y="1574464"/>
            <a:ext cx="4457747" cy="375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48411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오염규제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2947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74307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앞에서는 정부가 오염물질 배출량은 알 수 있으나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같은 정보를 알지 못하는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숨겨진 정보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(hidden knowledge)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 있는 상황을 살펴봄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비점오염원의 경우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관련된 정보를 알 수 있더라도 오염물질 배출량은 알지 못하는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숨겨진 행위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(hidden action)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문제가 발생함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경우에도 정부는 원하는 만큼의 오염물질을 배출하도록 하기 위해 정책 설계를 하여야 함</a:t>
            </a:r>
          </a:p>
        </p:txBody>
      </p:sp>
      <p:sp>
        <p:nvSpPr>
          <p:cNvPr id="8294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8294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F3E800-1A73-4441-9E6C-3AE9F886F56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295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295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238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오염규제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idx="1"/>
          </p:nvPr>
        </p:nvSpPr>
        <p:spPr>
          <a:xfrm>
            <a:off x="962025" y="1309396"/>
            <a:ext cx="7721600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수질오염에 영향을 주는 비점오염원의 배출량을 오염도 계측을 통해 간접적으로 파악하는 것은 쉽지 않음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수질오염은 기상 등의 자연조건에 의해서도 영향을 받음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동일한 자연조건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하에서라면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오염원의 배출량이 적을수록 오염도가 더 적게 나타남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관찰되는 오염도는 자연조건의 영향을 받아 발생하는 일종의 확률변수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(random variable)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임</a:t>
            </a:r>
          </a:p>
        </p:txBody>
      </p:sp>
      <p:sp>
        <p:nvSpPr>
          <p:cNvPr id="84997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8499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29D745-67E5-4FAB-80F4-92089945D48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4999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5000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FEB32F-719A-403D-BCCA-611A5137D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3623255"/>
            <a:ext cx="5175381" cy="277132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오염규제</a:t>
            </a:r>
          </a:p>
        </p:txBody>
      </p:sp>
      <p:sp>
        <p:nvSpPr>
          <p:cNvPr id="87043" name="Rectangle 7"/>
          <p:cNvSpPr>
            <a:spLocks noGrp="1" noChangeArrowheads="1"/>
          </p:cNvSpPr>
          <p:nvPr>
            <p:ph idx="1"/>
          </p:nvPr>
        </p:nvSpPr>
        <p:spPr>
          <a:xfrm>
            <a:off x="915194" y="15081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비점원오염에 대한 효율적인 규제를 위해서는 오염원이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저감행위를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할수록 높은 수준의 오염도가 발생할 확률이 줄어든다는 사실을 이용해야 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예를 들면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같은 오염도기준을 정해 놓고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오염도가 이 수준을 넘어설 경우 오염원이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저감행위를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하지 않은 것으로 간주하여 오염원을 제재할 수 있음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오염원이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저감행위를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할지라도 오염도 기준이 초과될 수 있어 부당하게 규제하는 부작용이 존재함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이렇게 오염도와 연계된 제재수단은 오염원이 저감노력을 하도록 유도할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수 있음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704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8704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F8E032-33A3-422D-8115-0AC6F52529E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704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704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238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오염규제</a:t>
            </a:r>
          </a:p>
        </p:txBody>
      </p:sp>
      <p:sp>
        <p:nvSpPr>
          <p:cNvPr id="89091" name="Rectangle 7"/>
          <p:cNvSpPr>
            <a:spLocks noGrp="1" noChangeArrowheads="1"/>
          </p:cNvSpPr>
          <p:nvPr>
            <p:ph idx="1"/>
          </p:nvPr>
        </p:nvSpPr>
        <p:spPr>
          <a:xfrm>
            <a:off x="990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간단한 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어떤 오염원의 행위와 기상조건에 의해 결정되는 오염도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그에 따른 사회적 편익은 다음과 같음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저감행위에 드는 비용은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50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만원이라 가정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기상조건이 좋을 경우와 나쁠 경우는 각각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50%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확률을 가짐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909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8909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C4CA30-9B63-4D5A-A768-B164C801E8E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909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909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37357D7-3D5B-4E57-954D-3378AC3D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16" y="2946848"/>
            <a:ext cx="7220738" cy="330155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오염규제</a:t>
            </a:r>
          </a:p>
        </p:txBody>
      </p:sp>
      <p:sp>
        <p:nvSpPr>
          <p:cNvPr id="91139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74307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각각의 경우 사회전체에서 발생하는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순편익의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기댓값은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오염도에 따른 편익에서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저감비용을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빼준 값이 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정부는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저감행위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시 사회의 기대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순편익이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더 크므로 오염원이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저감행위를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해줄 것을 원함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오염원의 배출량을 확인할 수 없으므로 오염도 기준으로 벌금을 부과할 수 있음</a:t>
            </a:r>
          </a:p>
        </p:txBody>
      </p:sp>
      <p:sp>
        <p:nvSpPr>
          <p:cNvPr id="911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911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AF9113-EDC5-4A5F-9C71-24A2F1FFEF8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114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114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DCDAF77-8215-432A-8870-570A94F6F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88" y="2486106"/>
            <a:ext cx="7638661" cy="158941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오염규제</a:t>
            </a:r>
          </a:p>
        </p:txBody>
      </p:sp>
      <p:sp>
        <p:nvSpPr>
          <p:cNvPr id="93187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65893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예를 들어 정부의 오염도 기준이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1.0ppm(=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이고 실제 오염도가 이 기준을 초과할 경우 오염원에게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125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만원의 벌금을 부과한다고 가정</a:t>
            </a:r>
          </a:p>
          <a:p>
            <a:pPr eaLnBrk="1" hangingPunct="1"/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12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이 경우 오염원의 기대비용은 다음과 같으며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오염원은 정부가 원하는 대로 저감행위를 할 것임</a:t>
            </a:r>
            <a:endParaRPr lang="ko-KR" altLang="en-US" sz="24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318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9318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F4594F-E46D-4FE5-A816-A46EB2CF429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319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319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92" name="Object 2">
                <a:hlinkClick r:id="" action="ppaction://ole?verb=0"/>
              </p:cNvPr>
              <p:cNvSpPr txBox="1"/>
              <p:nvPr/>
            </p:nvSpPr>
            <p:spPr bwMode="auto">
              <a:xfrm>
                <a:off x="1435100" y="2733675"/>
                <a:ext cx="5275263" cy="727075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오염도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≤1.0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𝑝𝑝𝑚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벌금액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원</m:t>
                      </m:r>
                    </m:oMath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오염도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&gt;1.0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𝑝𝑝𝑚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벌금액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=125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만원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3192" name="Object 2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5100" y="2733675"/>
                <a:ext cx="5275263" cy="727075"/>
              </a:xfrm>
              <a:prstGeom prst="rect">
                <a:avLst/>
              </a:prstGeom>
              <a:blipFill>
                <a:blip r:embed="rId3"/>
                <a:stretch>
                  <a:fillRect l="-461" b="-4918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09883AE2-956D-4A53-B4BF-8ECB14D63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47" y="4252566"/>
            <a:ext cx="7814983" cy="167198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6"/>
          <p:cNvSpPr>
            <a:spLocks noGrp="1" noChangeArrowheads="1"/>
          </p:cNvSpPr>
          <p:nvPr>
            <p:ph type="title"/>
          </p:nvPr>
        </p:nvSpPr>
        <p:spPr>
          <a:xfrm>
            <a:off x="1370013" y="365125"/>
            <a:ext cx="7313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배출량에 대한 감시가 불가능할 경우의 오염규제</a:t>
            </a:r>
          </a:p>
        </p:txBody>
      </p:sp>
      <p:sp>
        <p:nvSpPr>
          <p:cNvPr id="95235" name="Rectangle 7"/>
          <p:cNvSpPr>
            <a:spLocks noGrp="1" noChangeArrowheads="1"/>
          </p:cNvSpPr>
          <p:nvPr>
            <p:ph idx="1"/>
          </p:nvPr>
        </p:nvSpPr>
        <p:spPr>
          <a:xfrm>
            <a:off x="976313" y="18129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위와 같이 배출량 측정이 어려운 경우에도 오염도와 연계된 제재를 통해 오염원의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저감행위를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유도할 수 있음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하지만 실제 상황은 위의 예보다 훨씬 복잡한 정책을 요구함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다수의 오염원이 존재하는 경우 개별 오염원 입장에서는 이 지역 전체의 벌금이 증가해도 이 가운데 일부만을 자신이 부담함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다수 오염원이 개입될 경우의 무임승차욕구를 없애기 위해서는 정부가 보다 무거운 벌금을 부과해야 함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부록의 보다 엄밀한 분석 참조</a:t>
            </a:r>
          </a:p>
        </p:txBody>
      </p:sp>
      <p:sp>
        <p:nvSpPr>
          <p:cNvPr id="9523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9523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3D3DF5-910A-41DC-8CDF-64630404174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523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523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457200"/>
            <a:ext cx="6370515" cy="6858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비점원오염으로서의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농업오염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p:sp>
        <p:nvSpPr>
          <p:cNvPr id="97283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50336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농업에 의한 환경오염은 다른 산업이 가지지 않는 독특한 특성을 많이 가지며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규제수단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역시 다른 산업에 대한 규제수단과는 다른 측면을 많이 가짐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농업오염이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가지는 특징과 그 관리 방안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대표적인 비점오염원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오염물질의 배출량을 정확히 측정하기 어려움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오염자부담원칙 적용이 어려움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농업은 환경을 오염시키지만 동시에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농촌자원의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관리와 환경관리에 도움을 주기도 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논이 가지는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수자원함양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기능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토양보존기능 등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전통적으로 각국은 농업에 대한 보호주의를 취함</a:t>
            </a:r>
          </a:p>
        </p:txBody>
      </p:sp>
      <p:sp>
        <p:nvSpPr>
          <p:cNvPr id="9728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9728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65DC1D-EC24-479A-951D-680B3DDDAF3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63036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농업오염이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가지는 특징과 그 관리 방안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농업부문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오염규제를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위해 사용되는 정책들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농약과 비료에 대한 과세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축산폐수 정화시설이나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배출농도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등 환경기준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직접규제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환경적으로 민감한 지역에서 영농을 포기하거나 친환경적 초지를 취함에 대한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보상으로서의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직접지불제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환경보전지구 지정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비료나 농약에 대한 쿼터제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친환경적 기술 개발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농민에 대한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환경교육 시행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환경친화적 농산물의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상품차별화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많은 농산물의 경우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화학재를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사용하지 않으면 생산성이 하락하고 노동 투입이 증가함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그럼에도 농민들이 친환경적 경작을 선택하도록 하려면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상품차별화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등을 통해 시장에서 보상받을 수 있어야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친환경 및 유기농산물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인증제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830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9830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B90D0E-9501-41AC-8F85-BB252BEBCF8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384300" y="457200"/>
            <a:ext cx="6370515" cy="6858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비점원오염으로서의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농업오염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2619</TotalTime>
  <Words>2928</Words>
  <Application>Microsoft Office PowerPoint</Application>
  <PresentationFormat>화면 슬라이드 쇼(4:3)</PresentationFormat>
  <Paragraphs>396</Paragraphs>
  <Slides>45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6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9장 개요</vt:lpstr>
      <vt:lpstr>불확실성하의 환경정책</vt:lpstr>
      <vt:lpstr>사회적 한계피해 혹은 한계편익이 불확실한 경우</vt:lpstr>
      <vt:lpstr>사회적 한계피해 혹은 한계편익이 불확실한 경우</vt:lpstr>
      <vt:lpstr>저감편익에 관한 정보가 왜곡될 경우 사회적 손실</vt:lpstr>
      <vt:lpstr>저감비용이 불확실한 경우</vt:lpstr>
      <vt:lpstr>한계저감비용곡선이 더 가파른 경우</vt:lpstr>
      <vt:lpstr>한계저감비용곡선이 더 가파른 경우</vt:lpstr>
      <vt:lpstr>한계저감비용곡선이 더 가파른 경우</vt:lpstr>
      <vt:lpstr>한계편익곡선이 더 가파른 경우</vt:lpstr>
      <vt:lpstr>한계편익곡선이 더 가파른 경우</vt:lpstr>
      <vt:lpstr>한계편익곡선이 더 가파른 경우</vt:lpstr>
      <vt:lpstr>온실가스 저감정책 : 탄소세 vs. 배출권거래제</vt:lpstr>
      <vt:lpstr>온실가스 저감정책 : 탄소세 vs. 배출권거래제</vt:lpstr>
      <vt:lpstr>온실가스 저감정책 : 탄소세 vs. 배출권거래제</vt:lpstr>
      <vt:lpstr>정책수단으로서의 수량과 가격 : 봐이츠만 분석</vt:lpstr>
      <vt:lpstr>정책수단으로서의 수량과 가격 : 봐이츠만 분석</vt:lpstr>
      <vt:lpstr>혼합정책이 사용될 경우</vt:lpstr>
      <vt:lpstr>혼합정책이 사용될 경우</vt:lpstr>
      <vt:lpstr>혼합정책이 사용될 경우</vt:lpstr>
      <vt:lpstr>혼합정책이 사용될 경우</vt:lpstr>
      <vt:lpstr>혼합정책이 사용될 경우</vt:lpstr>
      <vt:lpstr>혼합정책이 사용될 경우</vt:lpstr>
      <vt:lpstr>혼합정책이 사용될 경우</vt:lpstr>
      <vt:lpstr>불확실한 저감비용과 오염원의 전략적 행위</vt:lpstr>
      <vt:lpstr>배출권거래제 하의 오염원의 전략적 행위: 저감비용의 과대보고</vt:lpstr>
      <vt:lpstr>배출권거래제 하의 오염원의 전략적 행위: 저감비용의 과대보고</vt:lpstr>
      <vt:lpstr>배출부과금제 하의 오염원의 전략적 행위: 저감비용의 과소보고</vt:lpstr>
      <vt:lpstr>배출부과금제 하의 오염원의 전략적 행위: 저감비용의 과소보고</vt:lpstr>
      <vt:lpstr>거짓 보고 유인의 완전 제거: 퀴렐 메커니즘</vt:lpstr>
      <vt:lpstr>거짓 보고 유인의 완전 제거: 퀴렐 메커니즘</vt:lpstr>
      <vt:lpstr>거짓 보고 유인의 완전 제거: 퀴렐 메커니즘</vt:lpstr>
      <vt:lpstr>거짓 보고 유인의 완전 제거: 몬테로 메커니즘</vt:lpstr>
      <vt:lpstr>거짓 보고 유인의 완전 제거: 몬테로 메커니즘</vt:lpstr>
      <vt:lpstr>거짓보고 유인의 완전 제거: 몬테로 메커니즘</vt:lpstr>
      <vt:lpstr>거짓보고 유인의 완전 제거: 몬테로 메커니즘</vt:lpstr>
      <vt:lpstr>  배출량에 대한 감시가 불가능할 경우의 오염규제</vt:lpstr>
      <vt:lpstr>  배출량에 대한 감시가 불가능할 경우의 오염규제</vt:lpstr>
      <vt:lpstr>  배출량에 대한 감시가 불가능할 경우의 오염규제</vt:lpstr>
      <vt:lpstr>  배출량에 대한 감시가 불가능할 경우의 오염규제</vt:lpstr>
      <vt:lpstr>  배출량에 대한 감시가 불가능할 경우의 오염규제</vt:lpstr>
      <vt:lpstr>  배출량에 대한 감시가 불가능할 경우의 오염규제</vt:lpstr>
      <vt:lpstr>  배출량에 대한 감시가 불가능할 경우의 오염규제</vt:lpstr>
      <vt:lpstr>비점원오염으로서의 농업오염</vt:lpstr>
      <vt:lpstr>비점원오염으로서의 농업오염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252</cp:revision>
  <dcterms:created xsi:type="dcterms:W3CDTF">1997-07-14T00:22:12Z</dcterms:created>
  <dcterms:modified xsi:type="dcterms:W3CDTF">2025-02-18T23:24:46Z</dcterms:modified>
</cp:coreProperties>
</file>