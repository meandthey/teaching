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1"/>
  </p:notesMasterIdLst>
  <p:handoutMasterIdLst>
    <p:handoutMasterId r:id="rId32"/>
  </p:handoutMasterIdLst>
  <p:sldIdLst>
    <p:sldId id="351" r:id="rId2"/>
    <p:sldId id="262" r:id="rId3"/>
    <p:sldId id="340" r:id="rId4"/>
    <p:sldId id="332" r:id="rId5"/>
    <p:sldId id="264" r:id="rId6"/>
    <p:sldId id="265" r:id="rId7"/>
    <p:sldId id="293" r:id="rId8"/>
    <p:sldId id="333" r:id="rId9"/>
    <p:sldId id="341" r:id="rId10"/>
    <p:sldId id="266" r:id="rId11"/>
    <p:sldId id="342" r:id="rId12"/>
    <p:sldId id="343" r:id="rId13"/>
    <p:sldId id="334" r:id="rId14"/>
    <p:sldId id="344" r:id="rId15"/>
    <p:sldId id="325" r:id="rId16"/>
    <p:sldId id="335" r:id="rId17"/>
    <p:sldId id="345" r:id="rId18"/>
    <p:sldId id="268" r:id="rId19"/>
    <p:sldId id="346" r:id="rId20"/>
    <p:sldId id="347" r:id="rId21"/>
    <p:sldId id="269" r:id="rId22"/>
    <p:sldId id="337" r:id="rId23"/>
    <p:sldId id="271" r:id="rId24"/>
    <p:sldId id="339" r:id="rId25"/>
    <p:sldId id="272" r:id="rId26"/>
    <p:sldId id="300" r:id="rId27"/>
    <p:sldId id="305" r:id="rId28"/>
    <p:sldId id="348" r:id="rId29"/>
    <p:sldId id="350" r:id="rId30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1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135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06CA4F3-2543-4F28-8717-49B463AEC5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22D4BF8-EAED-4107-A500-806A5D7AE3F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D85C681-12BB-4851-9B58-CC2651943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04CD400-6AF4-46CD-9F99-AC816F93E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98E24E09-C023-46D0-A357-2A0A6192B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6E603F3B-50C9-4573-8AC3-8AE990C57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80ECAFDD-4896-44CF-BABC-DA44510DF8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9F4F8DDA-33AE-4FD7-88AF-6E72A45FB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CAD5EAF-218E-4AF4-BE6E-C1A0A0BBD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862496B-4229-4A2F-BAEC-C49B39E4C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10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F532D3D7-F6BB-44E7-91B6-49BEDC989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CA5AA1D9-DC74-41B8-9A7D-4B84725E7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9A7D6997-2730-4747-A521-8CFF22DF1B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BEF206C1-D196-4D28-9D8B-4850693BA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138E16A-DAAC-4CDB-88DD-126FABE09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2D88732-DD13-4ED8-8888-6A49B40DB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F54EC884-3D88-460B-9444-43E9A60FB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64171D2F-D0A4-425C-8733-D10F85450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FAAA82C7-7B7E-4A37-A409-74E5EB2C42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93BC4CAA-72E9-4F59-B985-598CB5C39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07114B3-C63E-42D4-A97F-1741E9E40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AE7C43E-D34F-4FF7-AC63-5895EC7D0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CA8C2549-8F6B-46C9-9BD6-60AB5CD08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0243CBD4-BBA2-42AC-BDF8-DD3BD86F4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1A3DC258-AB73-43CC-8379-EF5323DD7E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6693F107-9695-42BC-BF2A-D42E0BB1D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FC3D5C5-EBA7-4EA0-AC2B-A5A44DFA1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EC6E828-377C-410E-9F41-D27BD7620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4E034463-3F11-4086-84ED-9F6491946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67A7A24C-EDE1-4109-95A1-B30BD5781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501A8561-9927-4D92-8254-7457015CFE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332A4704-ACFA-4029-B3F3-6FB2EA590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D9E3714-6A23-4983-934F-CE0A4069F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87EB46F-E7CC-46A9-98EE-B46054E32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7460C0D5-02B0-4F6E-B30C-96744D7B0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50362608-7313-4485-9AF0-8C4F0E5FB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31E6CF7C-5684-4386-9BCD-07F1ADBFEC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ABB44722-CA0C-4A3C-8E0B-18ECD8994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442D131-B156-4C56-B8FD-15351EE6B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616657C-E4B4-4DCC-87B1-8ACFABA9A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C7EB9885-FF3B-4EE6-88AA-E7F727B99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690881EB-4721-490F-B17F-CE89C539F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4514DDC2-D259-48CF-8753-32D2CF5C47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A2110552-8C86-49C2-AAF7-108534568B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CC2510B-7AE4-4123-8778-4C5C54EE0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A4DFC04-1FB3-4B7C-8EF6-994F060A1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FEFC8280-2FB3-452F-BB41-4B9E51E59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180A9D08-51EB-4DFD-ACE5-7C73597E1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7B9201E3-7098-4683-94FA-36549C827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FA645061-74CF-46F4-BF80-6AE3AEC98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DD03FD7-9535-4FC6-97EA-8CA21E99F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06E64C9-2472-4811-8B3A-5EC6A7FC7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7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FE21B52E-7930-4061-9FE7-7D475D1B1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5A226435-4743-4317-AD38-AC1AFFB46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9DCCE9F1-26C9-4EA2-8E4B-9425D8051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8749DCD9-D512-4670-9644-A80DC11A4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CCC5920-DA60-464D-BF33-B9E660DF3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4424E67-AACC-40D1-BCF4-F0D6D8BDB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10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4B84FDCF-EFF3-46F2-82FA-729C73B0B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4A02FA52-D255-48A9-9EED-E07A9B332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7311E0C1-4D08-4032-A215-F5A626FB4B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BB79353C-F9EB-4C6D-B72C-B1C5D34D1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FECE469-7814-42BF-8FE2-17C082F1D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D61379F-4B4C-4BA0-9661-A0C2319A4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19B9D465-AD4B-4DB2-8420-6C840257D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5FF2496F-1B6B-4503-AFB6-66214F8B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98D52DBB-DE57-4F1F-A3C6-13AFE7DCDA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13BEFF90-D541-4F07-92D3-10429EE8C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BB9BBBE-721B-4B63-B890-1C3AF6371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0603E41-58C1-448D-A67C-D27A49EA5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5C67911E-483D-4595-B1CF-45E76FDFD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4F47F5FE-3E1B-474D-9D03-E441D046D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36ABE379-EE13-4CA0-8F45-0971C477DA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8E6E68A7-EE45-4E2C-9094-43BBFA76E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5CB5132-3F33-439D-AC0E-C36EB59BA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33B83A4-F224-4B47-840C-0FE1349F9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75A6CD73-40D2-4BD2-AA71-ACAF8271D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795E73E3-DE6F-4EF5-BFA5-D661E6B5F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2CF0A84A-A2EB-4CFC-8D5D-847644F4D6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21758E91-38C6-49D0-BACD-59553125C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9D7BAC1-8099-486E-8A3D-BAB2F363A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BABD141-E2A6-4E5E-A677-F5F3D9E95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DEDC1677-45D2-4167-BF88-430BD0EE2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CF8CF5DA-6F1F-4542-A903-5EC64371F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5FBA4726-06DB-488F-A355-7A5F43563E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2054F92B-6F9E-46C3-B066-303A2D0E0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482DEA0-E333-45AC-8004-27A939ABB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472521E-56E8-460C-884E-A43E63134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4B95F3B9-49FE-4D25-B6EF-152F2DBC1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E9809B33-C583-46DB-AFFB-7331AC9F5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A8C59631-75B0-4D8A-A691-0CCB1D1F14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784FC7BA-47E7-4DEA-94DA-58CB3C300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DF091DA-0C1E-4DA2-9A06-70754DAF5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E13C03D-D9D9-449A-8C5A-DFE5CB14B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98ADE5C4-3961-4FBD-B27D-189774922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AA76CD12-107C-4212-804C-D3CF57177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D799355C-E037-4CFF-87DC-56A335AA83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CA43BBD9-94D9-45EE-86AD-CC00138FF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D7860CB-CE2A-4A54-B784-B5FF4DB78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ECC338F-CDAB-4305-84F4-238EB2BB1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A170DB4A-A00E-4B72-BC10-D1B0DB427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A1DC9618-EEA4-4C22-9AB6-4B2ED45E7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30C121A3-64B0-4AE6-9E10-07597F926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7ECFF9A4-7B1F-4D55-86DF-E08A694127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D6800570-4FD6-458C-A937-BA8559518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5DA6E1E-7CD2-4098-AF0D-0A81C3CD4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12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509C2786-FA00-4DF2-BCBC-0AD42FFFE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98C04FA4-E6D0-44EC-9FCC-059CD6938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78200019-3D9E-4F24-84D6-C9BFA9B62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7AEAC48F-011F-469D-A0C9-1123BD570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163CEF3-9BBD-4786-93C6-E2B1167B1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C0B5848-CED9-48D5-92B2-153527319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17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3539CA91-9398-4C08-A8AE-03B571D85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8E1BE03B-8D8B-4B57-BE60-C4A999ABB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6CA1FD90-293D-4BE4-A87D-1D80A473B8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2F225669-D9B3-4EEF-85FC-BA69C8120C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545E0D9E-3F5B-4CAE-847C-C8C3DCA8B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9777AD6-3924-4E2C-B3C3-6FFFCE8E1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17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237F4EFB-6B55-49CC-A954-F875BBBB3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006825E1-B47B-4AE6-8B2A-7695D335A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DD2280B5-BBAA-43B1-9D71-BECA00F62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A053FB32-3E9B-4F49-AE7A-EC7AD9DD7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18F344A-9335-4587-8A83-59039B9F6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F1972F0B-293B-43E1-B08A-188ADBA29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1236D13B-1B8D-4C35-BA9D-A55809888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62DC8144-87F3-4B74-B2CF-12EADAB1A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0EB6648D-4957-425C-9FA6-F5EA86E029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726F72BB-3EFF-4A22-9BC1-7D5738EE1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3B20793-2248-41CA-8475-6B758E6E4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AA8F488-6C02-4858-9897-7258A160A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168DF2E4-05CF-46B2-9151-3B80A610A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B7B80FE3-0C78-4EBC-B337-14D577A78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A4B10E23-923B-40A7-B1C6-EA072A5DDD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883BCE31-80EB-4BEB-BE1D-84C972B82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35F0542E-486E-41E8-98D1-297350550052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E4F42A95-41AD-4B51-A649-DCA63C099D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1BD6E0FB-9F2F-435A-AB2E-95AFEDDCE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BE19BC96-43C0-46A2-A796-82A644028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C2C34CF7-EDD8-4EDF-9EA9-C3234CFAB5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7A5B8755-D5B8-46A4-9A21-AE6CB85C45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AEB78414-3423-4B47-AE16-25D606E1B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587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0FA4C2C-1E2A-4906-B8E2-88A4FDF652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8C3A0B4-7D3F-4D7A-A920-FDAB88163E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3924013-9097-41D7-9F85-896C87951C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E82DD-1164-4074-A284-3C2F8E7D3CD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664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4042133-375C-464A-AE5F-5C4304A3C6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9FD3DEA-34D3-4AFD-919E-47F0C70F67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6A0E956-53DE-4D03-9D6A-335B0DE931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B44E1-02E5-41EC-AD4B-2BA7D454ADD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184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526425C-B4A5-4E64-97CB-52BF59B9C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91C7B62-8B7B-40D7-AE03-8BA8E48CE1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E6E6FB3-CD8C-451B-9E70-905FE885BD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D3B44-6F0F-4ABD-AD0C-FB69F310548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4947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2CF662D-5EAC-48E5-BCDE-D3A2DB41DC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BCCD5466-7C4E-4C4B-9502-13B876F315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10FE5C55-AE14-4447-BBE8-122300B50A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58826-33C6-4837-A389-D425773CCF0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510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5E3AD20-6387-4939-B7E9-05A5E45766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88F4AA2-31E3-48BF-9523-82EEDBC869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ABE32FB0-7CBC-4913-B4EE-3789062038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6EEB1-E91D-4157-8F1C-8DE9D8DE6BC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077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8903D64F-A8FA-4CC8-8682-79B2173E0E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95633E9-7351-43FC-BF07-A961537571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BC6A85B-6A4E-4221-8483-FA4E75A05F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A6BED-4B7D-4A20-B399-BA8B0231B32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824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F0ED6FA-C8EE-4C46-AEE5-02FA645D9F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27DF6F1-F4B3-4C54-B14D-4EA32CE94C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9601B8-FCCD-41D7-9050-E334BD8C67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CA18B-96E4-41F2-947C-21C97720A75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365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EB0004D-56A6-4F8C-8F98-216B807551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9167AA0-803B-4049-8F20-064BED0D08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695B782-D1E4-45F1-861B-2F18DCCA19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090F2-1CBC-4099-BDC0-58F1DF4046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3012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B3820BF-EF37-4F29-AD6A-B4D37EF720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2713F55-F16A-49BF-AB41-A45E425E48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FEAFBD4-66E3-4C47-8DB1-262E4D68BD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DD056-316B-43A7-9455-23A6B0D51C6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226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9943C95-EBCC-48E5-94AF-99F20EBD50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40821B2-00CA-452E-8A19-6D883F84F6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DD93B7A-F538-4032-890E-276C0960F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87062-F77E-4A15-9D06-A7E763EC360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778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43446D0-8FB2-420B-8E85-2FFCC276B383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29A2A2DD-254A-4F8A-9320-81A26A3D7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ABC1296D-626C-497F-B9BA-A1EDF2F5C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6EAC78CE-0129-45BE-B1F9-32F28328A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11CEFF58-0943-4143-9293-DC282523A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0178BE10-F529-4805-885F-62E4669AD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7E0E1FC1-9D41-421F-A551-7F1B4CCBC0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CD6E450A-E97E-4381-B466-B2340B1162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3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8605BFC2-9A7F-440C-BA5C-5B77C4C5874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79C44285-01B3-41F3-ABF5-A19AD13204C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4" r:id="rId1"/>
    <p:sldLayoutId id="2147484155" r:id="rId2"/>
    <p:sldLayoutId id="214748415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52BAD1D-0619-4673-9517-ABCDD2BA29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957263"/>
            <a:ext cx="8088313" cy="1444625"/>
          </a:xfrm>
        </p:spPr>
        <p:txBody>
          <a:bodyPr/>
          <a:lstStyle/>
          <a:p>
            <a:pPr eaLnBrk="1" hangingPunct="1"/>
            <a:r>
              <a:rPr lang="en-US" altLang="ko-KR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Ⅱ. </a:t>
            </a:r>
            <a:r>
              <a:rPr lang="ko-KR" altLang="en-US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환경문제의 경제적 분석틀</a:t>
            </a:r>
            <a:endParaRPr lang="en-US" altLang="ko-KR" sz="4800">
              <a:solidFill>
                <a:srgbClr val="00206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B82F13E-7FEA-46DC-A508-BC806155A2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67163" y="4017963"/>
            <a:ext cx="5176837" cy="1752600"/>
          </a:xfrm>
        </p:spPr>
        <p:txBody>
          <a:bodyPr/>
          <a:lstStyle/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수요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공급 및 시장의 균형</a:t>
            </a: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자원 환경 이용에 있어 </a:t>
            </a:r>
            <a:endParaRPr lang="en-US" altLang="ko-KR" sz="2000" b="1" dirty="0">
              <a:latin typeface="나눔명조" pitchFamily="18" charset="-127"/>
              <a:ea typeface="나눔명조" pitchFamily="18" charset="-127"/>
            </a:endParaRPr>
          </a:p>
          <a:p>
            <a:pPr algn="l" eaLnBrk="1" hangingPunct="1"/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          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시장의 실패</a:t>
            </a:r>
            <a:endParaRPr lang="en-US" altLang="ko-KR" sz="2000" b="1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0394C5-EFBB-496A-9672-B4F110D0D7CB}"/>
              </a:ext>
            </a:extLst>
          </p:cNvPr>
          <p:cNvSpPr/>
          <p:nvPr/>
        </p:nvSpPr>
        <p:spPr bwMode="auto">
          <a:xfrm>
            <a:off x="3910013" y="4024313"/>
            <a:ext cx="98425" cy="773112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ko-KR" altLang="en-US">
              <a:ea typeface="굴림" pitchFamily="50" charset="-127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3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36">
            <a:extLst>
              <a:ext uri="{FF2B5EF4-FFF2-40B4-BE49-F238E27FC236}">
                <a16:creationId xmlns:a16="http://schemas.microsoft.com/office/drawing/2014/main" id="{9FC0220A-9653-47D6-A901-C5655AD1C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DC55313E-DC97-4794-81A8-34E99F079B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수요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공급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시장의 균형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4" name="바닥글 개체 틀 4">
            <a:extLst>
              <a:ext uri="{FF2B5EF4-FFF2-40B4-BE49-F238E27FC236}">
                <a16:creationId xmlns:a16="http://schemas.microsoft.com/office/drawing/2014/main" id="{CF9BC2C4-70A9-47BC-B6D2-EC7FB4B0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5365" name="슬라이드 번호 개체 틀 5">
            <a:extLst>
              <a:ext uri="{FF2B5EF4-FFF2-40B4-BE49-F238E27FC236}">
                <a16:creationId xmlns:a16="http://schemas.microsoft.com/office/drawing/2014/main" id="{61EA8FD3-1BE2-417D-BD87-C39F8060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7A4BDC-2099-40E4-A2E0-8E73C8E4A27B}" type="slidenum">
              <a:rPr lang="ko-KR" altLang="en-US" sz="1200" smtClean="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6" name="Rectangle 1026">
            <a:extLst>
              <a:ext uri="{FF2B5EF4-FFF2-40B4-BE49-F238E27FC236}">
                <a16:creationId xmlns:a16="http://schemas.microsoft.com/office/drawing/2014/main" id="{037E2638-7436-420E-816D-DCCA87EA7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7" name="Rectangle 1027">
            <a:extLst>
              <a:ext uri="{FF2B5EF4-FFF2-40B4-BE49-F238E27FC236}">
                <a16:creationId xmlns:a16="http://schemas.microsoft.com/office/drawing/2014/main" id="{57906726-D63A-4E46-8BEB-2724ED524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AA3C836-A072-4811-B1E1-519C2A7AD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3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수요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,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공급 및 시장의 균형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5065F1F4-62BB-41D1-A73B-9A3EBD0B3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수요</a:t>
            </a:r>
          </a:p>
        </p:txBody>
      </p:sp>
      <p:sp>
        <p:nvSpPr>
          <p:cNvPr id="17411" name="Rectangle 7">
            <a:extLst>
              <a:ext uri="{FF2B5EF4-FFF2-40B4-BE49-F238E27FC236}">
                <a16:creationId xmlns:a16="http://schemas.microsoft.com/office/drawing/2014/main" id="{66E2B7BC-5082-48CC-AD7F-3E772E05A4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지불의사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수요곡선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시장수요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편익과 소비자잉여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7412" name="바닥글 개체 틀 4">
            <a:extLst>
              <a:ext uri="{FF2B5EF4-FFF2-40B4-BE49-F238E27FC236}">
                <a16:creationId xmlns:a16="http://schemas.microsoft.com/office/drawing/2014/main" id="{71E140AC-6270-4250-93A2-207736AE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7413" name="슬라이드 번호 개체 틀 5">
            <a:extLst>
              <a:ext uri="{FF2B5EF4-FFF2-40B4-BE49-F238E27FC236}">
                <a16:creationId xmlns:a16="http://schemas.microsoft.com/office/drawing/2014/main" id="{147C7779-A059-44E1-B9D8-A1886E0B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93E308-0736-4144-A046-1F488A46CB6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7414" name="Rectangle 2">
            <a:extLst>
              <a:ext uri="{FF2B5EF4-FFF2-40B4-BE49-F238E27FC236}">
                <a16:creationId xmlns:a16="http://schemas.microsoft.com/office/drawing/2014/main" id="{F73F2F60-4321-458C-AB83-35BDD937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7415" name="Rectangle 3">
            <a:extLst>
              <a:ext uri="{FF2B5EF4-FFF2-40B4-BE49-F238E27FC236}">
                <a16:creationId xmlns:a16="http://schemas.microsoft.com/office/drawing/2014/main" id="{E75ADF90-B8F6-4C7C-86B5-E9397AB84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36">
            <a:extLst>
              <a:ext uri="{FF2B5EF4-FFF2-40B4-BE49-F238E27FC236}">
                <a16:creationId xmlns:a16="http://schemas.microsoft.com/office/drawing/2014/main" id="{D079E254-C83A-4845-83DF-BBAA7D1EC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(willingness to pay)</a:t>
            </a:r>
          </a:p>
        </p:txBody>
      </p:sp>
      <p:sp>
        <p:nvSpPr>
          <p:cNvPr id="19459" name="Rectangle 1037">
            <a:extLst>
              <a:ext uri="{FF2B5EF4-FFF2-40B4-BE49-F238E27FC236}">
                <a16:creationId xmlns:a16="http://schemas.microsoft.com/office/drawing/2014/main" id="{09BFE434-0C5A-4867-B621-48DB7C4555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4113" y="1827213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소비자는 재화나 서비스에 대해 나름의 선호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(preferences)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를 가지고 있음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선호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어떤 재화나 서비스를 소비자가 원하는 정도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현대 경제학에서는 선호의 크기를 </a:t>
            </a:r>
            <a:r>
              <a:rPr lang="ko-KR" altLang="en-US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지불의사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로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나타냄</a:t>
            </a:r>
          </a:p>
          <a:p>
            <a:pPr lvl="1" eaLnBrk="1" hangingPunct="1"/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지불의사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소비자가 특정 재화나 서비스를 소비하는 대가로 지불하고자 하는 최대한의 금액</a:t>
            </a:r>
          </a:p>
          <a:p>
            <a:pPr eaLnBrk="1" hangingPunct="1"/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60" name="바닥글 개체 틀 4">
            <a:extLst>
              <a:ext uri="{FF2B5EF4-FFF2-40B4-BE49-F238E27FC236}">
                <a16:creationId xmlns:a16="http://schemas.microsoft.com/office/drawing/2014/main" id="{149FDD31-7460-4BA3-9DFB-BDFB8A41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19461" name="슬라이드 번호 개체 틀 5">
            <a:extLst>
              <a:ext uri="{FF2B5EF4-FFF2-40B4-BE49-F238E27FC236}">
                <a16:creationId xmlns:a16="http://schemas.microsoft.com/office/drawing/2014/main" id="{8AA59FF6-74B5-436D-9E9F-DBEFF425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FD816F-DCFD-475A-B00C-B75F8F3B6394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9462" name="Rectangle 1026">
            <a:extLst>
              <a:ext uri="{FF2B5EF4-FFF2-40B4-BE49-F238E27FC236}">
                <a16:creationId xmlns:a16="http://schemas.microsoft.com/office/drawing/2014/main" id="{219EADCE-A03D-484E-839A-09CEB7321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9463" name="Rectangle 1027">
            <a:extLst>
              <a:ext uri="{FF2B5EF4-FFF2-40B4-BE49-F238E27FC236}">
                <a16:creationId xmlns:a16="http://schemas.microsoft.com/office/drawing/2014/main" id="{73CEEC85-BDF7-4D5D-BB3D-1F4DB1640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73BD03FF-11AB-486A-9EB1-E3CFF533C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</a:t>
            </a:r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6F7F18FB-17F9-4473-BFD8-5D1562C0E3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1725" y="1433513"/>
            <a:ext cx="7367588" cy="4114800"/>
          </a:xfrm>
        </p:spPr>
        <p:txBody>
          <a:bodyPr/>
          <a:lstStyle/>
          <a:p>
            <a:pPr eaLnBrk="1" hangingPunct="1"/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한계지불의사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현재 소비하고 있는 양에서 추가로 한 단위를 더 소비하기 위해 지불하고자 하는 금액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소비량이 늘수록 한계지불의사는 대체로 감소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막대그래프의 높이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총지불의사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특정 수량의 재화를 소비하기 위해 지불하고자 하는 전체 금액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각 막대그래프의 면적의 합</a:t>
            </a:r>
          </a:p>
        </p:txBody>
      </p:sp>
      <p:sp>
        <p:nvSpPr>
          <p:cNvPr id="21508" name="바닥글 개체 틀 4">
            <a:extLst>
              <a:ext uri="{FF2B5EF4-FFF2-40B4-BE49-F238E27FC236}">
                <a16:creationId xmlns:a16="http://schemas.microsoft.com/office/drawing/2014/main" id="{30FB3668-531E-493D-9EC6-5AEACE3B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1509" name="슬라이드 번호 개체 틀 5">
            <a:extLst>
              <a:ext uri="{FF2B5EF4-FFF2-40B4-BE49-F238E27FC236}">
                <a16:creationId xmlns:a16="http://schemas.microsoft.com/office/drawing/2014/main" id="{DB62F152-4615-4485-BD6F-CBE680301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C8FC61C-C713-43AD-9BA2-00ED38E4CC2A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5205D5FD-A747-41C5-8AE3-D864EB7C9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5702A479-9733-47A3-A056-F22F50D39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1512" name="그림 9" descr="1.PNG">
            <a:extLst>
              <a:ext uri="{FF2B5EF4-FFF2-40B4-BE49-F238E27FC236}">
                <a16:creationId xmlns:a16="http://schemas.microsoft.com/office/drawing/2014/main" id="{05248B50-B532-44D7-AF69-6E8EED0EC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3781782"/>
            <a:ext cx="6130925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>
            <a:extLst>
              <a:ext uri="{FF2B5EF4-FFF2-40B4-BE49-F238E27FC236}">
                <a16:creationId xmlns:a16="http://schemas.microsoft.com/office/drawing/2014/main" id="{E351858D-6ABA-498A-B8A1-252750430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지불의사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9">
            <a:extLst>
              <a:ext uri="{FF2B5EF4-FFF2-40B4-BE49-F238E27FC236}">
                <a16:creationId xmlns:a16="http://schemas.microsoft.com/office/drawing/2014/main" id="{EF60F9C5-8D59-47E7-8F37-11ABCF2DB3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406525"/>
            <a:ext cx="7313613" cy="4713288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소비 상품이 정수 단위가 아닌 더 작은 단위로 분리될 수 있다면 한계지불의사는 연속적인 부드러운 곡선으로 나타남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재화나 서비스에 대한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개인별로 다를 수 있으며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동일한 소비자의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시간에 따라 달라질 수 있음</a:t>
            </a: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지불의사는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소비자가 가지고 있는 정보량의 변화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소비자의 소득수준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다른 상품의 가격 등에 영향을 받음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6" name="바닥글 개체 틀 4">
            <a:extLst>
              <a:ext uri="{FF2B5EF4-FFF2-40B4-BE49-F238E27FC236}">
                <a16:creationId xmlns:a16="http://schemas.microsoft.com/office/drawing/2014/main" id="{F5D0D4D9-27F7-4EAD-82BF-EA066960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3557" name="슬라이드 번호 개체 틀 5">
            <a:extLst>
              <a:ext uri="{FF2B5EF4-FFF2-40B4-BE49-F238E27FC236}">
                <a16:creationId xmlns:a16="http://schemas.microsoft.com/office/drawing/2014/main" id="{E90587E5-EA64-4F6E-9F7D-1D96134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A9090D-F575-4B30-ADC5-7C8F0C9D5877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7AA513A3-BE47-4BF9-B127-0BCC709C8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1C93E6AD-F0CD-4C1D-83D4-F221FDE2F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3560" name="그림 8" descr="1.PNG">
            <a:extLst>
              <a:ext uri="{FF2B5EF4-FFF2-40B4-BE49-F238E27FC236}">
                <a16:creationId xmlns:a16="http://schemas.microsoft.com/office/drawing/2014/main" id="{1FF4D46F-15A8-4EDD-AA53-82DB67E48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501" y="2071124"/>
            <a:ext cx="3821113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052">
            <a:extLst>
              <a:ext uri="{FF2B5EF4-FFF2-40B4-BE49-F238E27FC236}">
                <a16:creationId xmlns:a16="http://schemas.microsoft.com/office/drawing/2014/main" id="{396E2D1E-34B9-4EE3-AAB9-270A8F920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14763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수요곡선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(demand curve)</a:t>
            </a:r>
          </a:p>
        </p:txBody>
      </p:sp>
      <p:sp>
        <p:nvSpPr>
          <p:cNvPr id="25603" name="Rectangle 2053">
            <a:extLst>
              <a:ext uri="{FF2B5EF4-FFF2-40B4-BE49-F238E27FC236}">
                <a16:creationId xmlns:a16="http://schemas.microsoft.com/office/drawing/2014/main" id="{2E4A6DB6-F272-4995-BEB7-DF04A48324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73163" y="1644650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b="1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수요곡선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재화나 서비스의 가격이 시장에 주어져 있을 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 가격조건에서 소비자가 소비하고자 하는 양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시장가격이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원일 때 이 소비자는 몇 개의 아이스크림을 소비하겠는가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한계지불의사곡선은 결국 수요곡선으로 해석될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5604" name="바닥글 개체 틀 4">
            <a:extLst>
              <a:ext uri="{FF2B5EF4-FFF2-40B4-BE49-F238E27FC236}">
                <a16:creationId xmlns:a16="http://schemas.microsoft.com/office/drawing/2014/main" id="{260D8E9D-39E8-4319-8EED-FF2BC8998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5605" name="슬라이드 번호 개체 틀 5">
            <a:extLst>
              <a:ext uri="{FF2B5EF4-FFF2-40B4-BE49-F238E27FC236}">
                <a16:creationId xmlns:a16="http://schemas.microsoft.com/office/drawing/2014/main" id="{561D901D-3F2E-4F3A-BE3D-464E83DA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72CCB8-40FF-4B1A-A7F7-022E154860AB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pic>
        <p:nvPicPr>
          <p:cNvPr id="25606" name="그림 5" descr="1.PNG">
            <a:extLst>
              <a:ext uri="{FF2B5EF4-FFF2-40B4-BE49-F238E27FC236}">
                <a16:creationId xmlns:a16="http://schemas.microsoft.com/office/drawing/2014/main" id="{6D486B4D-A062-4B33-8DB5-FE7D92C71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306" y="3466283"/>
            <a:ext cx="4497387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052">
            <a:extLst>
              <a:ext uri="{FF2B5EF4-FFF2-40B4-BE49-F238E27FC236}">
                <a16:creationId xmlns:a16="http://schemas.microsoft.com/office/drawing/2014/main" id="{5C73DEB8-EFEB-4D66-9A7E-FCBDBED92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2032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시장수요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(market demand)</a:t>
            </a:r>
          </a:p>
        </p:txBody>
      </p:sp>
      <p:sp>
        <p:nvSpPr>
          <p:cNvPr id="26627" name="Rectangle 2053">
            <a:extLst>
              <a:ext uri="{FF2B5EF4-FFF2-40B4-BE49-F238E27FC236}">
                <a16:creationId xmlns:a16="http://schemas.microsoft.com/office/drawing/2014/main" id="{038ADFE6-A5B3-4C2C-9E19-702ADCB14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4588" y="1644650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시장수요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특정 가격수준에서 시장 전체의 소비자가 소비하고자 하는 상품의 양</a:t>
            </a: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시장수요는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통상적인 경우 개별소비자의 수요량이 수평으로 합해져서 형성됨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   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공공재의 경우 예외이며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장에서 다룰 것임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AEF4551C-2E6E-4EBB-87FA-03A61B93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B615A633-AD94-4AA5-9AFA-A96AECF3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DF5D62-55C8-4093-BC3E-116F2DF0397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pic>
        <p:nvPicPr>
          <p:cNvPr id="26630" name="그림 5" descr="Cap 2014-06-19 09-31-19-798.png">
            <a:extLst>
              <a:ext uri="{FF2B5EF4-FFF2-40B4-BE49-F238E27FC236}">
                <a16:creationId xmlns:a16="http://schemas.microsoft.com/office/drawing/2014/main" id="{0D3AB507-ED66-4D8D-8D73-52AC3FC50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3" y="3408363"/>
            <a:ext cx="6021387" cy="306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그림 5" descr="Cap 2014-06-19 09-31-19-798.png">
            <a:extLst>
              <a:ext uri="{FF2B5EF4-FFF2-40B4-BE49-F238E27FC236}">
                <a16:creationId xmlns:a16="http://schemas.microsoft.com/office/drawing/2014/main" id="{08A8CA36-5CB1-4E5D-88F1-1E45F9E34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3" y="3338513"/>
            <a:ext cx="6021387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052">
            <a:extLst>
              <a:ext uri="{FF2B5EF4-FFF2-40B4-BE49-F238E27FC236}">
                <a16:creationId xmlns:a16="http://schemas.microsoft.com/office/drawing/2014/main" id="{47F1883E-5BF0-42D5-9F5B-E7B3139D8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1190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시장수요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(market demand)</a:t>
            </a:r>
          </a:p>
        </p:txBody>
      </p:sp>
      <p:sp>
        <p:nvSpPr>
          <p:cNvPr id="27652" name="Rectangle 2053">
            <a:extLst>
              <a:ext uri="{FF2B5EF4-FFF2-40B4-BE49-F238E27FC236}">
                <a16:creationId xmlns:a16="http://schemas.microsoft.com/office/drawing/2014/main" id="{6E5BC136-0E01-40B1-B641-955DFA2D5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4588" y="143351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시장수요곡선을 통해 시장전체의 수요량이 개별소비자에게 어떻게 배분되는지를 알 수 있음</a:t>
            </a:r>
          </a:p>
          <a:p>
            <a:pPr lvl="1" eaLnBrk="1" hangingPunct="1"/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시장 전체가 </a:t>
            </a:r>
            <a:r>
              <a:rPr lang="en-US" altLang="ko-KR" sz="1600">
                <a:latin typeface="나눔명조" pitchFamily="18" charset="-127"/>
                <a:ea typeface="나눔명조" pitchFamily="18" charset="-127"/>
              </a:rPr>
              <a:t>7</a:t>
            </a:r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개의 아이스크림을 소비하고 있다면 가격은 </a:t>
            </a:r>
            <a:r>
              <a:rPr lang="en-US" altLang="ko-KR" sz="1600">
                <a:latin typeface="나눔명조" pitchFamily="18" charset="-127"/>
                <a:ea typeface="나눔명조" pitchFamily="18" charset="-127"/>
              </a:rPr>
              <a:t>200</a:t>
            </a:r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원이며 </a:t>
            </a:r>
            <a:r>
              <a:rPr lang="en-US" altLang="ko-KR" sz="1600">
                <a:latin typeface="나눔명조" pitchFamily="18" charset="-127"/>
                <a:ea typeface="나눔명조" pitchFamily="18" charset="-127"/>
              </a:rPr>
              <a:t>7</a:t>
            </a:r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개의 아이스크림 중 </a:t>
            </a:r>
            <a:r>
              <a:rPr lang="en-US" altLang="ko-KR" sz="1600"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개는 </a:t>
            </a:r>
            <a:r>
              <a:rPr lang="en-US" altLang="ko-KR" sz="160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가</a:t>
            </a:r>
            <a:r>
              <a:rPr lang="en-US" altLang="ko-KR" sz="16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나머지 </a:t>
            </a:r>
            <a:r>
              <a:rPr lang="en-US" altLang="ko-KR" sz="1600">
                <a:latin typeface="나눔명조" pitchFamily="18" charset="-127"/>
                <a:ea typeface="나눔명조" pitchFamily="18" charset="-127"/>
              </a:rPr>
              <a:t>3</a:t>
            </a:r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개는 </a:t>
            </a:r>
            <a:r>
              <a:rPr lang="en-US" altLang="ko-KR" sz="1600">
                <a:latin typeface="나눔명조" pitchFamily="18" charset="-127"/>
                <a:ea typeface="나눔명조" pitchFamily="18" charset="-127"/>
              </a:rPr>
              <a:t>B</a:t>
            </a:r>
            <a:r>
              <a:rPr lang="ko-KR" altLang="en-US" sz="1600">
                <a:latin typeface="나눔명조" pitchFamily="18" charset="-127"/>
                <a:ea typeface="나눔명조" pitchFamily="18" charset="-127"/>
              </a:rPr>
              <a:t>가 소비하게 됨</a:t>
            </a:r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각 소비자의 한계지불의사가 시장의 한계지불의사와 같도록 각 소비자에게 배분됨</a:t>
            </a:r>
          </a:p>
        </p:txBody>
      </p:sp>
      <p:sp>
        <p:nvSpPr>
          <p:cNvPr id="27653" name="바닥글 개체 틀 4">
            <a:extLst>
              <a:ext uri="{FF2B5EF4-FFF2-40B4-BE49-F238E27FC236}">
                <a16:creationId xmlns:a16="http://schemas.microsoft.com/office/drawing/2014/main" id="{3EC0E54C-7F53-49F6-9286-FA295C3F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7654" name="슬라이드 번호 개체 틀 5">
            <a:extLst>
              <a:ext uri="{FF2B5EF4-FFF2-40B4-BE49-F238E27FC236}">
                <a16:creationId xmlns:a16="http://schemas.microsoft.com/office/drawing/2014/main" id="{B2DD23BC-A43B-4C8B-B5CE-0B136C1D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DDF9CD-02AE-4B98-9FD2-222B14C98207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ADD384B5-7ECD-4BB5-AE71-F9EBE5FBA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B8898841-DFC4-499C-B4BA-E3266C0538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0013" y="175736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편익</a:t>
            </a:r>
            <a:r>
              <a:rPr lang="en-US" altLang="ko-KR" sz="28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(benefit)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경제상황 변화로 인해 소비자의 만족도나 </a:t>
            </a:r>
            <a:r>
              <a:rPr lang="ko-KR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후생</a:t>
            </a:r>
            <a:r>
              <a:rPr lang="en-US" altLang="ko-KR" sz="28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(welfare)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변하는 정도를 의미</a:t>
            </a:r>
          </a:p>
          <a:p>
            <a:pPr eaLnBrk="1" hangingPunct="1"/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서로 다른 상품시장이나 서로 다른 소비자에게 발생하는 편익을 비교하기 위해서 공통의 </a:t>
            </a:r>
            <a:r>
              <a:rPr lang="ko-KR" altLang="en-US" sz="2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측정단위인</a:t>
            </a:r>
            <a:r>
              <a:rPr lang="ko-KR" altLang="en-US" sz="2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화폐 혹은 소득이 사용됨</a:t>
            </a:r>
            <a:endParaRPr lang="en-US" altLang="ko-KR" sz="2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endParaRPr lang="en-US" altLang="ko-KR" sz="20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3055D17B-AA9D-44C9-ABF3-4A972515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0C5967B2-8AFE-40E4-BE0A-3846D6BD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949089-3523-41B0-8D72-026FF84A2207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06920E67-60DF-48E3-A5C5-A35DFAA5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AAFA653D-F3C2-4892-AC11-DA502FF4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E2172366-4D8C-48EE-BBBF-AFFA81284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3E2E1410-CA1E-43F9-847B-A37AE33D5F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32080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깨끗한 물과 같은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환경재에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대한 소비자의 수요가 그림과 같을 때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소비자는 물을 전혀 사용하지 않을 경우에 비해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사용하기 때문에 어느 정도나 후생이 증대된다고 느낄 것인가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? 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또한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물 사용량이 증가하면 어느 정도의 추가적인 편익을 얻겠는가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B83CCB17-9B7B-4EDC-982D-689530B6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D94F717A-B9C2-4D4B-8AE0-BC0B2E14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EC3762-4503-41F5-BD69-0714F006E01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C14F566F-A78E-43E8-B012-C10935CB0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E699C52B-D128-455D-9F80-99112B9D3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0728" name="그림 7" descr="Cap 2014-06-19 09-31-36-951.png">
            <a:extLst>
              <a:ext uri="{FF2B5EF4-FFF2-40B4-BE49-F238E27FC236}">
                <a16:creationId xmlns:a16="http://schemas.microsoft.com/office/drawing/2014/main" id="{9E5DE0E4-A2A7-469E-BC8C-95000BD6D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3" y="3278188"/>
            <a:ext cx="6373812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F1EB946F-817A-485D-A14C-34CFF3C6F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602AA8CC-C457-4713-AE2B-955AC5AE49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9163" y="1265238"/>
            <a:ext cx="7985125" cy="4114800"/>
          </a:xfrm>
        </p:spPr>
        <p:txBody>
          <a:bodyPr/>
          <a:lstStyle/>
          <a:p>
            <a:pPr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깨끗한 물을 공짜로 사용할 수가 있다면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</a:p>
          <a:p>
            <a:pPr lvl="1" eaLnBrk="1" hangingPunct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물을 소비하지 않을 때 </a:t>
            </a:r>
            <a:r>
              <a:rPr lang="ko-KR" altLang="en-US" sz="16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→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q</a:t>
            </a:r>
            <a:r>
              <a:rPr lang="en-US" altLang="ko-KR" sz="16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사용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 </a:t>
            </a:r>
            <a:r>
              <a:rPr lang="en-US" altLang="ko-KR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a+b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후생이 증대</a:t>
            </a:r>
          </a:p>
          <a:p>
            <a:pPr lvl="1" eaLnBrk="1" hangingPunct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깨끗한 물의 공급이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6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6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 →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6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증가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 </a:t>
            </a:r>
            <a:r>
              <a:rPr lang="en-US" altLang="ko-KR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c+d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편익이 발생</a:t>
            </a:r>
          </a:p>
          <a:p>
            <a:pPr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깨끗한 물을 단위당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가격을 지불하고 소비한다면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편익에서 비용을 빼준 </a:t>
            </a:r>
            <a:r>
              <a:rPr lang="ko-KR" altLang="en-US" sz="1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순편익</a:t>
            </a:r>
            <a:r>
              <a:rPr lang="en-US" altLang="ko-KR" sz="16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(net benefit)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이용해 </a:t>
            </a:r>
            <a:r>
              <a:rPr lang="ko-KR" altLang="en-US" sz="1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후생변화를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정의</a:t>
            </a:r>
            <a:endParaRPr lang="en-US" altLang="ko-KR" sz="16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물을 소비하지 않을 때 </a:t>
            </a:r>
            <a:r>
              <a:rPr lang="ko-KR" altLang="en-US" sz="16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→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q</a:t>
            </a:r>
            <a:r>
              <a:rPr lang="en-US" altLang="ko-KR" sz="16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사용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 a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후생이 증대</a:t>
            </a:r>
          </a:p>
          <a:p>
            <a:pPr lvl="1" eaLnBrk="1" hangingPunct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깨끗한 물의 공급이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6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6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 → 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6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증가</a:t>
            </a:r>
            <a:r>
              <a:rPr lang="en-US" altLang="ko-KR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 d </a:t>
            </a:r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 편익이 발생</a:t>
            </a:r>
          </a:p>
          <a:p>
            <a:pPr lvl="1" eaLnBrk="1" hangingPunct="1"/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D2F54904-EF9B-4045-8967-E66A30450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4443EF1B-191E-4FF5-9E95-758ACA01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F1622A-6DEE-43BC-8B32-4D2C45E1D4C2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F8687932-2043-4191-9FA8-3C9A2C592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2775" name="Rectangle 3">
            <a:extLst>
              <a:ext uri="{FF2B5EF4-FFF2-40B4-BE49-F238E27FC236}">
                <a16:creationId xmlns:a16="http://schemas.microsoft.com/office/drawing/2014/main" id="{81B76052-0D12-45B2-B775-5485710E1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2776" name="그림 7" descr="Cap 2014-06-19 09-31-36-951.png">
            <a:extLst>
              <a:ext uri="{FF2B5EF4-FFF2-40B4-BE49-F238E27FC236}">
                <a16:creationId xmlns:a16="http://schemas.microsoft.com/office/drawing/2014/main" id="{4B5E7E9E-D4DD-45CE-99CF-64EEE1306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8" y="3511550"/>
            <a:ext cx="637222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id="{6643D5C9-B060-407F-8FF4-EF6EC1A6A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소비자잉여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(consumer surplus)</a:t>
            </a:r>
          </a:p>
        </p:txBody>
      </p:sp>
      <p:sp>
        <p:nvSpPr>
          <p:cNvPr id="34819" name="Rectangle 5">
            <a:extLst>
              <a:ext uri="{FF2B5EF4-FFF2-40B4-BE49-F238E27FC236}">
                <a16:creationId xmlns:a16="http://schemas.microsoft.com/office/drawing/2014/main" id="{5410C0A9-08F9-413E-9183-D0F6E93DE8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1827213"/>
            <a:ext cx="7721600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소비자가 지불할 의사가 있는 총 금액에서 실제 지불하는 금액을 빼준 값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소비행위로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인해 얻는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순편익을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나타냄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소비행위로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인해 발생하는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순편익을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가장 손쉽게 나타낼 수 있는 수단이지만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편익을 나타내는 유일한 수단은 아님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14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장에서 다시 논의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51E3CB86-EAE1-45D0-A359-CB071660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5962AFE5-FF81-4937-9F30-DDA925E49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831D13-C71F-4B50-84A8-E84524B6F6E7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4822" name="Rectangle 2">
            <a:extLst>
              <a:ext uri="{FF2B5EF4-FFF2-40B4-BE49-F238E27FC236}">
                <a16:creationId xmlns:a16="http://schemas.microsoft.com/office/drawing/2014/main" id="{15DDE456-E4A2-461D-ADE4-00A566AE3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3" name="Rectangle 3">
            <a:extLst>
              <a:ext uri="{FF2B5EF4-FFF2-40B4-BE49-F238E27FC236}">
                <a16:creationId xmlns:a16="http://schemas.microsoft.com/office/drawing/2014/main" id="{32DA0F4E-F7C8-40D5-B97A-9C38EA54F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5693C3AF-8646-44C8-95B4-198D74407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공급</a:t>
            </a: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CED65443-6008-44E3-A506-B803278D3B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비용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비용곡선과 공급곡선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한계비용곡선의 형태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시장공급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생산자잉여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A1E70632-1A5C-4DE7-B9DC-15E8981B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0ACCD250-F118-40DA-89DA-3D3A6E78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5D41AA-77C6-4A4E-A994-BD79BA4FD17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4F6ADBEB-CF54-4BAC-87DE-8A607D8AB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DB465A4D-036A-4617-AAE7-52B316C60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>
            <a:extLst>
              <a:ext uri="{FF2B5EF4-FFF2-40B4-BE49-F238E27FC236}">
                <a16:creationId xmlns:a16="http://schemas.microsoft.com/office/drawing/2014/main" id="{8F73D558-0B51-496B-A9AC-73FB37F9E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공급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5" name="Rectangle 5">
            <a:extLst>
              <a:ext uri="{FF2B5EF4-FFF2-40B4-BE49-F238E27FC236}">
                <a16:creationId xmlns:a16="http://schemas.microsoft.com/office/drawing/2014/main" id="{929B8B3D-E6B0-438E-ADC0-8185168583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재화나 서비스에 대한 수요가 효용이나 만족도를 극대화하려는 소비자의 행위로부터 도출되듯이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그 공급은 이윤을 극대화하려는 기업 혹은 공급자의 행위로부터 도출됨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6" name="바닥글 개체 틀 4">
            <a:extLst>
              <a:ext uri="{FF2B5EF4-FFF2-40B4-BE49-F238E27FC236}">
                <a16:creationId xmlns:a16="http://schemas.microsoft.com/office/drawing/2014/main" id="{5FE39065-6938-4BF8-9CAC-815317B6D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38917" name="슬라이드 번호 개체 틀 5">
            <a:extLst>
              <a:ext uri="{FF2B5EF4-FFF2-40B4-BE49-F238E27FC236}">
                <a16:creationId xmlns:a16="http://schemas.microsoft.com/office/drawing/2014/main" id="{5FE45876-8ADE-4FEC-8485-7BEFAE9B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7D4D08C-B025-449D-AD72-26D5B2825DF0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>
            <a:extLst>
              <a:ext uri="{FF2B5EF4-FFF2-40B4-BE49-F238E27FC236}">
                <a16:creationId xmlns:a16="http://schemas.microsoft.com/office/drawing/2014/main" id="{105403B0-0805-416E-A9A3-F8670CAC2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–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기회비용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회계비용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9939" name="Rectangle 5">
            <a:extLst>
              <a:ext uri="{FF2B5EF4-FFF2-40B4-BE49-F238E27FC236}">
                <a16:creationId xmlns:a16="http://schemas.microsoft.com/office/drawing/2014/main" id="{68535EB3-7071-4B45-9B2C-133C3085E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회계비용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(accounting cost)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회계사가 기업의 자산과 부채를 평가하여 대차대조표를 만들 때 비용으로 인정하는 항목들로 구성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직원 임금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원료비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토지 임대료 등 기업이 지불한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직접비용이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모두 포함됨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기회비용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(opportunity cost)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어떤 생산요소가 현재의 용도로 이용되지 않고 다른 용도로 이용될 경우 얻을 수 있는 최대한의 수익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직접비용을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모두 포함하지만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직접비용보다도 더 광범위한 개념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자신이 소유한 공장에서 생산한다고 할 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 기업이 포기한 공장임대소득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경영주 자신의 노동력에 대한 비용까지 생산비에 포함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9940" name="바닥글 개체 틀 4">
            <a:extLst>
              <a:ext uri="{FF2B5EF4-FFF2-40B4-BE49-F238E27FC236}">
                <a16:creationId xmlns:a16="http://schemas.microsoft.com/office/drawing/2014/main" id="{89FC90BF-D475-4DDA-9DFB-9C97400E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39941" name="슬라이드 번호 개체 틀 5">
            <a:extLst>
              <a:ext uri="{FF2B5EF4-FFF2-40B4-BE49-F238E27FC236}">
                <a16:creationId xmlns:a16="http://schemas.microsoft.com/office/drawing/2014/main" id="{7E504470-4C01-430D-96D7-9FDB3707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B74750-2237-4533-B80E-E6E8A07CB9F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>
            <a:extLst>
              <a:ext uri="{FF2B5EF4-FFF2-40B4-BE49-F238E27FC236}">
                <a16:creationId xmlns:a16="http://schemas.microsoft.com/office/drawing/2014/main" id="{876D13D7-7DD3-4BDF-B2D5-FB32CFE31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–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사적 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사회적 비용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3" name="Rectangle 5">
            <a:extLst>
              <a:ext uri="{FF2B5EF4-FFF2-40B4-BE49-F238E27FC236}">
                <a16:creationId xmlns:a16="http://schemas.microsoft.com/office/drawing/2014/main" id="{7FFDFB02-95D4-4572-B4C2-56A7ACD6F6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875" y="1404938"/>
            <a:ext cx="73945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사적 비용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경제행위의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결과 발생한 비용 가운데 그 행위를 한 개인에게만 귀속되는 비용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사회적 비용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경제행위에 따른 모든 비용으로서 경제행위를 직접 행한 개인뿐만 아니라 다른 모든 경제주체에 귀속되는 비용도 모두 합한 것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석탄을 사용하는 발전소의 사적 비용뿐 아니라 대기오염으로 인한 주민들의 건강 악화도 비용에 포함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사적 비용과 사회적 비용을 구분하는 것은 환경경제학에서 특히 중요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0964" name="바닥글 개체 틀 4">
            <a:extLst>
              <a:ext uri="{FF2B5EF4-FFF2-40B4-BE49-F238E27FC236}">
                <a16:creationId xmlns:a16="http://schemas.microsoft.com/office/drawing/2014/main" id="{3D984780-C0DB-453B-84B9-0C3A795C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0965" name="슬라이드 번호 개체 틀 5">
            <a:extLst>
              <a:ext uri="{FF2B5EF4-FFF2-40B4-BE49-F238E27FC236}">
                <a16:creationId xmlns:a16="http://schemas.microsoft.com/office/drawing/2014/main" id="{C80E6B9F-0AC0-49C9-90F6-564F608F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08DD27-C98B-4029-8A6D-40E0A60654BF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그림 8" descr="1.PNG">
            <a:extLst>
              <a:ext uri="{FF2B5EF4-FFF2-40B4-BE49-F238E27FC236}">
                <a16:creationId xmlns:a16="http://schemas.microsoft.com/office/drawing/2014/main" id="{7790A6D3-3D91-487D-A97A-824BA8F5A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113" y="3954463"/>
            <a:ext cx="6165850" cy="257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6">
            <a:extLst>
              <a:ext uri="{FF2B5EF4-FFF2-40B4-BE49-F238E27FC236}">
                <a16:creationId xmlns:a16="http://schemas.microsoft.com/office/drawing/2014/main" id="{A3EAD1AA-F323-4A41-B288-9ACDB4A2C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2032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비용곡선과 공급곡선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Rectangle 7">
            <a:extLst>
              <a:ext uri="{FF2B5EF4-FFF2-40B4-BE49-F238E27FC236}">
                <a16:creationId xmlns:a16="http://schemas.microsoft.com/office/drawing/2014/main" id="{03322A74-D14E-4730-BC0D-A158AB2971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4738" y="155892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그림은 어떤 제과회사의 아이스크림 생산 비용을 나타내는 비용곡선이며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추가적 생산비용인 한계비용을 나타냄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기업의 한계비용곡선의 높이는 아이스크림을 한 단위 더 공급하기 위하여 기업이 최소한 수취하고자 하는 금액을 의미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9" name="바닥글 개체 틀 4">
            <a:extLst>
              <a:ext uri="{FF2B5EF4-FFF2-40B4-BE49-F238E27FC236}">
                <a16:creationId xmlns:a16="http://schemas.microsoft.com/office/drawing/2014/main" id="{FB9ACF54-2BFF-4D22-83C0-EE20110D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1990" name="슬라이드 번호 개체 틀 5">
            <a:extLst>
              <a:ext uri="{FF2B5EF4-FFF2-40B4-BE49-F238E27FC236}">
                <a16:creationId xmlns:a16="http://schemas.microsoft.com/office/drawing/2014/main" id="{8DB85BAB-0596-4E0E-B443-6EFFF9D5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8267ED-31D6-4BD5-A418-A01C2956CF88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1991" name="Rectangle 2">
            <a:extLst>
              <a:ext uri="{FF2B5EF4-FFF2-40B4-BE49-F238E27FC236}">
                <a16:creationId xmlns:a16="http://schemas.microsoft.com/office/drawing/2014/main" id="{A1655E2C-2D9D-4267-89C3-A4180E1EB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1992" name="Rectangle 3">
            <a:extLst>
              <a:ext uri="{FF2B5EF4-FFF2-40B4-BE49-F238E27FC236}">
                <a16:creationId xmlns:a16="http://schemas.microsoft.com/office/drawing/2014/main" id="{34FA6FD3-27A9-40AA-8E93-90C941ACA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16D51CF6-AD54-4066-8373-BE4D3855E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2032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비용곡선과 공급곡선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4035" name="Rectangle 7">
            <a:extLst>
              <a:ext uri="{FF2B5EF4-FFF2-40B4-BE49-F238E27FC236}">
                <a16:creationId xmlns:a16="http://schemas.microsoft.com/office/drawing/2014/main" id="{504CB78E-22F8-439E-9413-B315413063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4738" y="1558925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생산하는 아이스크림을 무한히 작은 단위로 나눌 수 있다면 한계비용곡선을 연속적인 실선으로 표현 가능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곡선과 가로축 사이의 면적은 특정 수 만큼의 아이스크림을 생산하기 위해 지불해야 하는 총비용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4036" name="바닥글 개체 틀 4">
            <a:extLst>
              <a:ext uri="{FF2B5EF4-FFF2-40B4-BE49-F238E27FC236}">
                <a16:creationId xmlns:a16="http://schemas.microsoft.com/office/drawing/2014/main" id="{6611AF46-5FD3-4362-91D4-4F100274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4037" name="슬라이드 번호 개체 틀 5">
            <a:extLst>
              <a:ext uri="{FF2B5EF4-FFF2-40B4-BE49-F238E27FC236}">
                <a16:creationId xmlns:a16="http://schemas.microsoft.com/office/drawing/2014/main" id="{5F67ACC5-EBC8-48C5-9AD3-5CD31E85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D59D8D-5234-4F81-B760-D311C6832753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EA4FBA38-684D-48C4-88ED-19776BF94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5F150FA0-6A7B-40C3-88F2-E23881EAC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44040" name="그림 9" descr="2.PNG">
            <a:extLst>
              <a:ext uri="{FF2B5EF4-FFF2-40B4-BE49-F238E27FC236}">
                <a16:creationId xmlns:a16="http://schemas.microsoft.com/office/drawing/2014/main" id="{87C38F93-6F30-46D6-B990-1974C6B54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521" y="3250767"/>
            <a:ext cx="4289425" cy="283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그림 9" descr="2.PNG">
            <a:extLst>
              <a:ext uri="{FF2B5EF4-FFF2-40B4-BE49-F238E27FC236}">
                <a16:creationId xmlns:a16="http://schemas.microsoft.com/office/drawing/2014/main" id="{665BE7B6-2DF1-4756-98E3-2971770A4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3811588"/>
            <a:ext cx="3973513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Rectangle 6">
            <a:extLst>
              <a:ext uri="{FF2B5EF4-FFF2-40B4-BE49-F238E27FC236}">
                <a16:creationId xmlns:a16="http://schemas.microsoft.com/office/drawing/2014/main" id="{AE976045-D7AB-4E88-A95D-96E72A695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2032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비용곡선과 공급곡선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4" name="Rectangle 7">
            <a:extLst>
              <a:ext uri="{FF2B5EF4-FFF2-40B4-BE49-F238E27FC236}">
                <a16:creationId xmlns:a16="http://schemas.microsoft.com/office/drawing/2014/main" id="{EC47EADA-D46F-4DFF-A5C4-7067AFEB66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3313" y="1558925"/>
            <a:ext cx="7534275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한계비용곡선은 기업의 공급곡선으로 해석될 수 있음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단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산출물시장이 완전경쟁일 때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공급곡선은 공급자가 주어진 시장가격하에서 공급할 의사가 있는 공급량을 나타냄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만약 아이스크림의 시장가격이 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150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원이라면 이 기업은 몇 개의 아이스크림을 공급하겠는가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?</a:t>
            </a:r>
          </a:p>
        </p:txBody>
      </p:sp>
      <p:sp>
        <p:nvSpPr>
          <p:cNvPr id="46085" name="바닥글 개체 틀 4">
            <a:extLst>
              <a:ext uri="{FF2B5EF4-FFF2-40B4-BE49-F238E27FC236}">
                <a16:creationId xmlns:a16="http://schemas.microsoft.com/office/drawing/2014/main" id="{C8ED7333-E48D-48FC-B2BD-5DE75429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6086" name="슬라이드 번호 개체 틀 5">
            <a:extLst>
              <a:ext uri="{FF2B5EF4-FFF2-40B4-BE49-F238E27FC236}">
                <a16:creationId xmlns:a16="http://schemas.microsoft.com/office/drawing/2014/main" id="{688E03C1-34D7-48D1-B280-38FA2CC20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B30499-44AC-4273-B90A-85128BEEB045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6087" name="Rectangle 2">
            <a:extLst>
              <a:ext uri="{FF2B5EF4-FFF2-40B4-BE49-F238E27FC236}">
                <a16:creationId xmlns:a16="http://schemas.microsoft.com/office/drawing/2014/main" id="{B991F79A-819C-4035-B7E9-4EF855994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6088" name="Rectangle 3">
            <a:extLst>
              <a:ext uri="{FF2B5EF4-FFF2-40B4-BE49-F238E27FC236}">
                <a16:creationId xmlns:a16="http://schemas.microsoft.com/office/drawing/2014/main" id="{F91121CD-04D7-4394-9F98-29BF3573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>
            <a:extLst>
              <a:ext uri="{FF2B5EF4-FFF2-40B4-BE49-F238E27FC236}">
                <a16:creationId xmlns:a16="http://schemas.microsoft.com/office/drawing/2014/main" id="{6B02CF42-1618-44E2-ABCA-3BA3FF99E4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857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한계비용곡선의 형태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1" name="Rectangle 7">
            <a:extLst>
              <a:ext uri="{FF2B5EF4-FFF2-40B4-BE49-F238E27FC236}">
                <a16:creationId xmlns:a16="http://schemas.microsoft.com/office/drawing/2014/main" id="{FF4C502D-F7DB-480A-8E2F-2E6E20609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5688" y="1714500"/>
            <a:ext cx="7558087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한계비용곡선의 형태는 여러 가지 변수에 의해 영향을 받음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기술수준이 높은 기업일수록 낮은 한계비용곡선을 가짐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기업이 구입하는 생산요소의 가격이 높을수록 한계비용곡선은 높은 쪽에 위치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그림은 경제학에서 가장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흔히 가정하는 형태의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 한계비용곡선임</a:t>
            </a:r>
          </a:p>
          <a:p>
            <a:pPr eaLnBrk="1" hangingPunct="1"/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2" name="바닥글 개체 틀 4">
            <a:extLst>
              <a:ext uri="{FF2B5EF4-FFF2-40B4-BE49-F238E27FC236}">
                <a16:creationId xmlns:a16="http://schemas.microsoft.com/office/drawing/2014/main" id="{D678EEB9-4F8D-42C4-8722-54196EDFC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48133" name="슬라이드 번호 개체 틀 5">
            <a:extLst>
              <a:ext uri="{FF2B5EF4-FFF2-40B4-BE49-F238E27FC236}">
                <a16:creationId xmlns:a16="http://schemas.microsoft.com/office/drawing/2014/main" id="{37C0F4B9-913A-41AD-A86B-FC197AF6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5FF9C5-DA83-4FC0-BC2B-3E9354A6CDFC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8134" name="Rectangle 2">
            <a:extLst>
              <a:ext uri="{FF2B5EF4-FFF2-40B4-BE49-F238E27FC236}">
                <a16:creationId xmlns:a16="http://schemas.microsoft.com/office/drawing/2014/main" id="{C466969C-5C17-414B-B433-D7F24F270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8135" name="Rectangle 3">
            <a:extLst>
              <a:ext uri="{FF2B5EF4-FFF2-40B4-BE49-F238E27FC236}">
                <a16:creationId xmlns:a16="http://schemas.microsoft.com/office/drawing/2014/main" id="{A834AEBB-4580-463C-97DF-2B71137C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48136" name="그림 8" descr="1.PNG">
            <a:extLst>
              <a:ext uri="{FF2B5EF4-FFF2-40B4-BE49-F238E27FC236}">
                <a16:creationId xmlns:a16="http://schemas.microsoft.com/office/drawing/2014/main" id="{D5F0F9EF-1718-441F-A339-32094AF9C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3559175"/>
            <a:ext cx="2905125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2E933D7C-CBF8-4B29-9B27-3A410C147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444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한계비용곡선의 형태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CCF3615D-FFEF-4D65-BAB6-A4698A5ADB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8538" y="1617663"/>
            <a:ext cx="7850187" cy="4630737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비용곡선이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하락하는 부분</a:t>
            </a:r>
          </a:p>
          <a:p>
            <a:pPr lvl="1" eaLnBrk="1" hangingPunct="1"/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설비규모가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고정되어 있을 때 노동력과 같은 가변투입요소 사용량이 적으면 생산은 비효율적으로 이루어짐</a:t>
            </a: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생산량을 늘리기 위해 추가로 노동력을 더 고용하면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생산행위의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분업화로 인해 생산성이 급격히 높아짐</a:t>
            </a:r>
          </a:p>
          <a:p>
            <a:pPr eaLnBrk="1" hangingPunct="1"/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비용곡선이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증가하는 부분</a:t>
            </a:r>
          </a:p>
          <a:p>
            <a:pPr lvl="1"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2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처럼 생산량이 이미 많고 가변투입요소의 양이 고정된 투입요소에 비해 매우 많은 경우</a:t>
            </a:r>
          </a:p>
          <a:p>
            <a:pPr lvl="2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노동자들이 기계설비에 비해 너무 많아 장비를 서로 빌려 쓰는 상황</a:t>
            </a: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F0BE3889-07AD-4E2A-B8DC-4C759D53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894A7DD9-3735-44B2-BA52-1C7F09D41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FF3CDA-C413-4D39-B17B-0A373F9EF349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CFA8EF07-6DB2-4216-955D-18D6EB71F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F6EA9420-B150-49CC-AD52-2AA7C7134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0">
            <a:extLst>
              <a:ext uri="{FF2B5EF4-FFF2-40B4-BE49-F238E27FC236}">
                <a16:creationId xmlns:a16="http://schemas.microsoft.com/office/drawing/2014/main" id="{E3BC6ECA-62B3-4EA8-A5A4-E9186A319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1588" y="3016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한계비용곡선의 형태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2227" name="Rectangle 1031">
            <a:extLst>
              <a:ext uri="{FF2B5EF4-FFF2-40B4-BE49-F238E27FC236}">
                <a16:creationId xmlns:a16="http://schemas.microsoft.com/office/drawing/2014/main" id="{D3E4D1CA-E545-4089-AEBA-710175070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7588" y="1573213"/>
            <a:ext cx="7620000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한계비용곡선이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우하향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우상향하는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영역을 동시에 가질 경우 이 기업의 한계비용곡선은 시장가격선과 두 점에서 만날 수 있음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기업이 공급하고자 하는 양은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아님</a:t>
            </a:r>
          </a:p>
          <a:p>
            <a:pPr lvl="1"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에서는 생산량을 더 늘리면 한계비용이 줄어들고 추가로 얻는 수입보다도 작아지도록 바뀌기 때문에 생산을 계속 늘리는 것이 기업이윤을 증가시킴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기업의 한계비용곡선 가운데 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우상향하는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부분만이 기업의 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공급곡선이 됨</a:t>
            </a:r>
          </a:p>
          <a:p>
            <a:pPr eaLnBrk="1" hangingPunct="1"/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2228" name="바닥글 개체 틀 4">
            <a:extLst>
              <a:ext uri="{FF2B5EF4-FFF2-40B4-BE49-F238E27FC236}">
                <a16:creationId xmlns:a16="http://schemas.microsoft.com/office/drawing/2014/main" id="{5EEB5764-C974-48F4-B7FA-8D32834B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2229" name="슬라이드 번호 개체 틀 5">
            <a:extLst>
              <a:ext uri="{FF2B5EF4-FFF2-40B4-BE49-F238E27FC236}">
                <a16:creationId xmlns:a16="http://schemas.microsoft.com/office/drawing/2014/main" id="{76644048-0C97-4716-9855-D4353111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4E765D-99B7-4BF6-A27C-4E8667BCE872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2230" name="Rectangle 1026">
            <a:extLst>
              <a:ext uri="{FF2B5EF4-FFF2-40B4-BE49-F238E27FC236}">
                <a16:creationId xmlns:a16="http://schemas.microsoft.com/office/drawing/2014/main" id="{E2D43A49-45E6-4606-8825-299DB725A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2231" name="Rectangle 1027">
            <a:extLst>
              <a:ext uri="{FF2B5EF4-FFF2-40B4-BE49-F238E27FC236}">
                <a16:creationId xmlns:a16="http://schemas.microsoft.com/office/drawing/2014/main" id="{0AB5027A-C800-4A59-8E40-EDF6B73AD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2232" name="그림 7" descr="1.PNG">
            <a:extLst>
              <a:ext uri="{FF2B5EF4-FFF2-40B4-BE49-F238E27FC236}">
                <a16:creationId xmlns:a16="http://schemas.microsoft.com/office/drawing/2014/main" id="{C3A3069F-1F7D-48B4-81AD-459DE175D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163" y="4146550"/>
            <a:ext cx="2836862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30">
            <a:extLst>
              <a:ext uri="{FF2B5EF4-FFF2-40B4-BE49-F238E27FC236}">
                <a16:creationId xmlns:a16="http://schemas.microsoft.com/office/drawing/2014/main" id="{EE19B105-937C-4D04-BA2B-27E5D5D38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7300" y="-153988"/>
            <a:ext cx="7313613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시장공급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4275" name="Rectangle 1031">
            <a:extLst>
              <a:ext uri="{FF2B5EF4-FFF2-40B4-BE49-F238E27FC236}">
                <a16:creationId xmlns:a16="http://schemas.microsoft.com/office/drawing/2014/main" id="{995ADECA-8313-46CA-ABB1-D4D0BDC9D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179513"/>
            <a:ext cx="76057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시장전체의 공급곡선은 개별공급곡선의 수평 합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시장전체의 공급량이 개별공급자에게 배분될 때 각 개별공급자의 한계비용이 동일하도록 배분됨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시장전체의 공급량이 가장 적은 전체 비용으로 생산되도록 함</a:t>
            </a:r>
          </a:p>
        </p:txBody>
      </p:sp>
      <p:sp>
        <p:nvSpPr>
          <p:cNvPr id="54276" name="바닥글 개체 틀 4">
            <a:extLst>
              <a:ext uri="{FF2B5EF4-FFF2-40B4-BE49-F238E27FC236}">
                <a16:creationId xmlns:a16="http://schemas.microsoft.com/office/drawing/2014/main" id="{7F44780D-DB38-4C40-9169-0D427D38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4277" name="슬라이드 번호 개체 틀 5">
            <a:extLst>
              <a:ext uri="{FF2B5EF4-FFF2-40B4-BE49-F238E27FC236}">
                <a16:creationId xmlns:a16="http://schemas.microsoft.com/office/drawing/2014/main" id="{753E5244-724B-42BF-A72C-FCB7CCCD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A91BBD-5184-44B6-9B0E-C7C4EAF7F43E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4278" name="Rectangle 1026">
            <a:extLst>
              <a:ext uri="{FF2B5EF4-FFF2-40B4-BE49-F238E27FC236}">
                <a16:creationId xmlns:a16="http://schemas.microsoft.com/office/drawing/2014/main" id="{4D915317-D473-4FF9-8CDA-72705BCAE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4279" name="Rectangle 1027">
            <a:extLst>
              <a:ext uri="{FF2B5EF4-FFF2-40B4-BE49-F238E27FC236}">
                <a16:creationId xmlns:a16="http://schemas.microsoft.com/office/drawing/2014/main" id="{72BAC9F4-239F-4AD8-A7CC-E7AD8608C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4280" name="그림 7" descr="Cap 2014-06-19 09-32-18-011.png">
            <a:extLst>
              <a:ext uri="{FF2B5EF4-FFF2-40B4-BE49-F238E27FC236}">
                <a16:creationId xmlns:a16="http://schemas.microsoft.com/office/drawing/2014/main" id="{4275096B-D144-4076-B45C-FB3A40BC4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3139521"/>
            <a:ext cx="6807200" cy="301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>
            <a:extLst>
              <a:ext uri="{FF2B5EF4-FFF2-40B4-BE49-F238E27FC236}">
                <a16:creationId xmlns:a16="http://schemas.microsoft.com/office/drawing/2014/main" id="{D7B02B47-EEAA-4F15-AB97-76A61BD22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555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생산자잉여 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(producer surplus)</a:t>
            </a:r>
            <a:endParaRPr lang="ko-KR" altLang="en-US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6323" name="Rectangle 7">
            <a:extLst>
              <a:ext uri="{FF2B5EF4-FFF2-40B4-BE49-F238E27FC236}">
                <a16:creationId xmlns:a16="http://schemas.microsoft.com/office/drawing/2014/main" id="{FC313FB4-525B-4B0D-822D-29FE468E9D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4738" y="1517650"/>
            <a:ext cx="7675562" cy="4114800"/>
          </a:xfrm>
        </p:spPr>
        <p:txBody>
          <a:bodyPr/>
          <a:lstStyle/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생산자잉여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생산자가 상품을 생산 및 판매하여 얻을 수 있는 편익</a:t>
            </a:r>
          </a:p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시장가격이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라면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생산을 하기 위해 지불하는 총비용은 면적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실제로 수취하는 금액은 면적 </a:t>
            </a:r>
            <a:r>
              <a:rPr lang="en-US" altLang="ko-KR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a+b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초과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수취분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생산자잉여가 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6324" name="바닥글 개체 틀 4">
            <a:extLst>
              <a:ext uri="{FF2B5EF4-FFF2-40B4-BE49-F238E27FC236}">
                <a16:creationId xmlns:a16="http://schemas.microsoft.com/office/drawing/2014/main" id="{FEB2B32D-F620-4A74-8A17-1B43D91CA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6325" name="슬라이드 번호 개체 틀 5">
            <a:extLst>
              <a:ext uri="{FF2B5EF4-FFF2-40B4-BE49-F238E27FC236}">
                <a16:creationId xmlns:a16="http://schemas.microsoft.com/office/drawing/2014/main" id="{0BBBF31E-5915-4E1C-A042-B589C093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C494B3-2E16-4988-856A-2F1F6EB2A26B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6326" name="Rectangle 2">
            <a:extLst>
              <a:ext uri="{FF2B5EF4-FFF2-40B4-BE49-F238E27FC236}">
                <a16:creationId xmlns:a16="http://schemas.microsoft.com/office/drawing/2014/main" id="{74945F41-2E83-427F-AA6F-6DF7691B6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6327" name="Rectangle 3">
            <a:extLst>
              <a:ext uri="{FF2B5EF4-FFF2-40B4-BE49-F238E27FC236}">
                <a16:creationId xmlns:a16="http://schemas.microsoft.com/office/drawing/2014/main" id="{0207CDB2-1042-4DED-979A-4943B16C1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6328" name="그림 7" descr="Cap 2014-06-19 09-32-27-316.png">
            <a:extLst>
              <a:ext uri="{FF2B5EF4-FFF2-40B4-BE49-F238E27FC236}">
                <a16:creationId xmlns:a16="http://schemas.microsoft.com/office/drawing/2014/main" id="{C77BC040-0D5D-4721-9D63-6BC446F5E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3619500"/>
            <a:ext cx="5500687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>
            <a:extLst>
              <a:ext uri="{FF2B5EF4-FFF2-40B4-BE49-F238E27FC236}">
                <a16:creationId xmlns:a16="http://schemas.microsoft.com/office/drawing/2014/main" id="{D8DF0650-BB90-4D82-84C8-EBE361E94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시장의 균형</a:t>
            </a:r>
          </a:p>
        </p:txBody>
      </p:sp>
      <p:sp>
        <p:nvSpPr>
          <p:cNvPr id="149511" name="Rectangle 7">
            <a:extLst>
              <a:ext uri="{FF2B5EF4-FFF2-40B4-BE49-F238E27FC236}">
                <a16:creationId xmlns:a16="http://schemas.microsoft.com/office/drawing/2014/main" id="{41DEA23A-AB53-4149-8EF5-B6BBA258AE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0013" y="1728788"/>
            <a:ext cx="7313612" cy="4230687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시장수요곡선과 시장공급곡선을 동시에 그려보면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정부가 개입하지 않을 경우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시장균형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(market equilibrium)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(Q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p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 달성됨</a:t>
            </a:r>
          </a:p>
        </p:txBody>
      </p:sp>
      <p:sp>
        <p:nvSpPr>
          <p:cNvPr id="58372" name="바닥글 개체 틀 4">
            <a:extLst>
              <a:ext uri="{FF2B5EF4-FFF2-40B4-BE49-F238E27FC236}">
                <a16:creationId xmlns:a16="http://schemas.microsoft.com/office/drawing/2014/main" id="{926A1E63-6260-4174-A17B-48B57E3C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58373" name="슬라이드 번호 개체 틀 5">
            <a:extLst>
              <a:ext uri="{FF2B5EF4-FFF2-40B4-BE49-F238E27FC236}">
                <a16:creationId xmlns:a16="http://schemas.microsoft.com/office/drawing/2014/main" id="{CC4DAEA3-D719-4DC9-BA95-C5F44575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1C266D-0E98-41C7-AA82-A2791FB57671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8374" name="Rectangle 2">
            <a:extLst>
              <a:ext uri="{FF2B5EF4-FFF2-40B4-BE49-F238E27FC236}">
                <a16:creationId xmlns:a16="http://schemas.microsoft.com/office/drawing/2014/main" id="{AB4EF3AD-2C1D-4E78-A196-E4412CF9B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8375" name="Rectangle 3">
            <a:extLst>
              <a:ext uri="{FF2B5EF4-FFF2-40B4-BE49-F238E27FC236}">
                <a16:creationId xmlns:a16="http://schemas.microsoft.com/office/drawing/2014/main" id="{C33EE004-62BF-4A32-B8AA-85C583A8C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58376" name="그림 7" descr="Cap 2014-06-19 09-32-36-919.png">
            <a:extLst>
              <a:ext uri="{FF2B5EF4-FFF2-40B4-BE49-F238E27FC236}">
                <a16:creationId xmlns:a16="http://schemas.microsoft.com/office/drawing/2014/main" id="{9DDA0378-F4C3-4ADD-91A0-D213C62F7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325" y="2889250"/>
            <a:ext cx="5908675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1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418" name="Rectangle 7">
                <a:extLst>
                  <a:ext uri="{FF2B5EF4-FFF2-40B4-BE49-F238E27FC236}">
                    <a16:creationId xmlns:a16="http://schemas.microsoft.com/office/drawing/2014/main" id="{0041A784-B4B3-41DB-8494-C0841FD184A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84250" y="1827213"/>
                <a:ext cx="7694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만약 현재 시장가격이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*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보다도 높은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이라면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</a:t>
                </a:r>
              </a:p>
              <a:p>
                <a:pPr lvl="1" eaLnBrk="1" hangingPunct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생산자들은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을 공급하고자 하고 소비자는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2000" baseline="30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만큼만 소비하고자 하여 초과공급이 발생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초과공급을 소진하기 위해 시장가격이 하락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시장가격이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*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보다 낮은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라면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</a:t>
                </a:r>
                <a:endParaRPr lang="ko-KR" altLang="en-US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반대로 초과수요가 발생하여 가격이 상승</a:t>
                </a:r>
              </a:p>
              <a:p>
                <a:pPr eaLnBrk="1" hangingPunct="1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생산자와 수요자의 자유로운 거래를 통해 시장이 청산되는 경향을 </a:t>
                </a:r>
                <a:r>
                  <a:rPr lang="ko-KR" altLang="en-US" sz="24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시장메커니즘</a:t>
                </a:r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이라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부름</a:t>
                </a:r>
              </a:p>
              <a:p>
                <a:pPr eaLnBrk="1" hangingPunct="1"/>
                <a:endParaRPr lang="ko-KR" altLang="en-US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60418" name="Rectangle 7">
                <a:extLst>
                  <a:ext uri="{FF2B5EF4-FFF2-40B4-BE49-F238E27FC236}">
                    <a16:creationId xmlns:a16="http://schemas.microsoft.com/office/drawing/2014/main" id="{0041A784-B4B3-41DB-8494-C0841FD18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4250" y="1827213"/>
                <a:ext cx="7694613" cy="4114800"/>
              </a:xfrm>
              <a:blipFill>
                <a:blip r:embed="rId3"/>
                <a:stretch>
                  <a:fillRect l="-1029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19" name="Rectangle 6">
            <a:extLst>
              <a:ext uri="{FF2B5EF4-FFF2-40B4-BE49-F238E27FC236}">
                <a16:creationId xmlns:a16="http://schemas.microsoft.com/office/drawing/2014/main" id="{C4374472-EB49-426F-AB80-4A2B82ED3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시장의 균형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0420" name="바닥글 개체 틀 4">
            <a:extLst>
              <a:ext uri="{FF2B5EF4-FFF2-40B4-BE49-F238E27FC236}">
                <a16:creationId xmlns:a16="http://schemas.microsoft.com/office/drawing/2014/main" id="{AC50B0B1-10EE-4200-92F9-D93118EB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0421" name="슬라이드 번호 개체 틀 5">
            <a:extLst>
              <a:ext uri="{FF2B5EF4-FFF2-40B4-BE49-F238E27FC236}">
                <a16:creationId xmlns:a16="http://schemas.microsoft.com/office/drawing/2014/main" id="{1063E8F9-D1DF-41B8-9183-2EF1F439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295CE1-0DF0-4A4F-B8B1-47E21C34DAD7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98B56814-BD5A-4425-8128-F0DB7F4F8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673DBBCB-3212-42A7-8A73-5A4AA98FE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0424" name="Rectangle 9">
            <a:extLst>
              <a:ext uri="{FF2B5EF4-FFF2-40B4-BE49-F238E27FC236}">
                <a16:creationId xmlns:a16="http://schemas.microsoft.com/office/drawing/2014/main" id="{E75C0049-0452-40B0-9828-24C599949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0425" name="Rectangle 11">
            <a:extLst>
              <a:ext uri="{FF2B5EF4-FFF2-40B4-BE49-F238E27FC236}">
                <a16:creationId xmlns:a16="http://schemas.microsoft.com/office/drawing/2014/main" id="{58AB0A1E-F960-4FDA-8912-7A7140C1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0426" name="Rectangle 13">
            <a:extLst>
              <a:ext uri="{FF2B5EF4-FFF2-40B4-BE49-F238E27FC236}">
                <a16:creationId xmlns:a16="http://schemas.microsoft.com/office/drawing/2014/main" id="{393A70AA-2056-4143-8F8A-7B43C9781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99BBD379-D85C-4EA3-93EB-18BB722A5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119063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시장메커니즘의 효율성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67" name="Rectangle 7">
            <a:extLst>
              <a:ext uri="{FF2B5EF4-FFF2-40B4-BE49-F238E27FC236}">
                <a16:creationId xmlns:a16="http://schemas.microsoft.com/office/drawing/2014/main" id="{DD908325-7100-45CB-9A3B-DEB0D0BC66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2975" y="1560513"/>
            <a:ext cx="7905750" cy="41148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시장메커니즘은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경제 전체 </a:t>
            </a:r>
            <a:r>
              <a:rPr lang="ko-KR" altLang="en-US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순편익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극대화를 유도함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경제 전체가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보다도 더 많은 소비와 생산을 하고 있다면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상품 한 단위에 대한 사회 전체의 한계지불의사는 한계생산비용보다 작음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소비량을 줄여나가는 것이 사회 전체 </a:t>
            </a:r>
            <a:r>
              <a:rPr lang="ko-KR" altLang="en-US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순편익을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증대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Q</a:t>
            </a:r>
            <a:r>
              <a:rPr lang="en-US" altLang="ko-KR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보다도 더 적은 소비와 생산을 하고 있다면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상품 한 단위에 대한 사회 전체의 한계지불의사는 한계생산비용보다 큼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소비량을 늘림에 따라 사회 전체 </a:t>
            </a:r>
            <a:r>
              <a:rPr lang="ko-KR" altLang="en-US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순편익이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증가</a:t>
            </a:r>
          </a:p>
          <a:p>
            <a:pPr eaLnBrk="1" hangingPunct="1"/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2468" name="바닥글 개체 틀 4">
            <a:extLst>
              <a:ext uri="{FF2B5EF4-FFF2-40B4-BE49-F238E27FC236}">
                <a16:creationId xmlns:a16="http://schemas.microsoft.com/office/drawing/2014/main" id="{82AD07C5-C161-434B-B828-AA5D5330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2469" name="슬라이드 번호 개체 틀 5">
            <a:extLst>
              <a:ext uri="{FF2B5EF4-FFF2-40B4-BE49-F238E27FC236}">
                <a16:creationId xmlns:a16="http://schemas.microsoft.com/office/drawing/2014/main" id="{5C47686F-4089-453C-8400-3B749B45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4C8B0C-B0DF-4D92-B4A6-BDC03AB86372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3728712A-B906-472C-80FB-F520523A2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D4FF3261-FA84-4358-960C-1B69B491A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>
            <a:extLst>
              <a:ext uri="{FF2B5EF4-FFF2-40B4-BE49-F238E27FC236}">
                <a16:creationId xmlns:a16="http://schemas.microsoft.com/office/drawing/2014/main" id="{2B6C8B7B-1A26-4874-A8CA-F0A1BBD91C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444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시장메커니즘의 효율성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4515" name="Rectangle 7">
            <a:extLst>
              <a:ext uri="{FF2B5EF4-FFF2-40B4-BE49-F238E27FC236}">
                <a16:creationId xmlns:a16="http://schemas.microsoft.com/office/drawing/2014/main" id="{1A5154A5-629B-4668-B7AD-3CEA996376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2975" y="1827213"/>
            <a:ext cx="7905750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경제전체의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순편익이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극대화되어 경제의 효율성이 달성될 경우 </a:t>
            </a:r>
            <a:r>
              <a:rPr lang="ko-KR" altLang="en-US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파레토</a:t>
            </a:r>
            <a:r>
              <a:rPr lang="ko-KR" altLang="en-US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 최적</a:t>
            </a:r>
            <a:r>
              <a:rPr lang="en-US" altLang="ko-KR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(Pareto optimum)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 달성됨</a:t>
            </a:r>
          </a:p>
          <a:p>
            <a:pPr lvl="1" eaLnBrk="1" hangingPunct="1"/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파레토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최적상태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다른 사람의 후생을 감소시키지 않고서는 어느 한 사람의 후생을 증대시키는 것이 불가능하도록 자원이 배분된 상태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사회 전체의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순편익이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극대화되면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다른 사람의 후생을 감소시키지 않고서는 어느 한 사람의 후생을 증대시키는 것이 불가능해짐 </a:t>
            </a:r>
          </a:p>
          <a:p>
            <a:pPr eaLnBrk="1" hangingPunct="1"/>
            <a:endParaRPr lang="ko-KR" altLang="en-US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64516" name="바닥글 개체 틀 4">
            <a:extLst>
              <a:ext uri="{FF2B5EF4-FFF2-40B4-BE49-F238E27FC236}">
                <a16:creationId xmlns:a16="http://schemas.microsoft.com/office/drawing/2014/main" id="{F90F63C6-C76C-4765-9ED9-506A372B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3</a:t>
            </a:r>
          </a:p>
        </p:txBody>
      </p:sp>
      <p:sp>
        <p:nvSpPr>
          <p:cNvPr id="64517" name="슬라이드 번호 개체 틀 5">
            <a:extLst>
              <a:ext uri="{FF2B5EF4-FFF2-40B4-BE49-F238E27FC236}">
                <a16:creationId xmlns:a16="http://schemas.microsoft.com/office/drawing/2014/main" id="{D38081B4-354E-4093-A72B-B8D85391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39DAF8-9670-4B1F-882F-D7A60E4D5E5B}" type="slidenum">
              <a:rPr lang="ko-KR" altLang="en-US" sz="120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2FAA907B-ED27-48B3-8744-C69D9F4FA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FB4801DB-8BEB-4847-861C-A99F59E27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1924</TotalTime>
  <Words>1310</Words>
  <Application>Microsoft Office PowerPoint</Application>
  <PresentationFormat>화면 슬라이드 쇼(4:3)</PresentationFormat>
  <Paragraphs>232</Paragraphs>
  <Slides>29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1" baseType="lpstr">
      <vt:lpstr>HY신명조</vt:lpstr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Ⅱ. 환경문제의 경제적 분석틀</vt:lpstr>
      <vt:lpstr>3장 개요</vt:lpstr>
      <vt:lpstr>수요</vt:lpstr>
      <vt:lpstr>지불의사 (willingness to pay)</vt:lpstr>
      <vt:lpstr>지불의사</vt:lpstr>
      <vt:lpstr>지불의사</vt:lpstr>
      <vt:lpstr>수요곡선 (demand curve)</vt:lpstr>
      <vt:lpstr>시장수요 (market demand)</vt:lpstr>
      <vt:lpstr>시장수요 (market demand)</vt:lpstr>
      <vt:lpstr>편익</vt:lpstr>
      <vt:lpstr>편익</vt:lpstr>
      <vt:lpstr>편익</vt:lpstr>
      <vt:lpstr>소비자잉여 (consumer surplus)</vt:lpstr>
      <vt:lpstr>공급</vt:lpstr>
      <vt:lpstr>공급</vt:lpstr>
      <vt:lpstr>비용 – 기회비용/회계비용</vt:lpstr>
      <vt:lpstr>비용 – 사적 비용/사회적 비용</vt:lpstr>
      <vt:lpstr>비용곡선과 공급곡선</vt:lpstr>
      <vt:lpstr>비용곡선과 공급곡선</vt:lpstr>
      <vt:lpstr>비용곡선과 공급곡선</vt:lpstr>
      <vt:lpstr>한계비용곡선의 형태</vt:lpstr>
      <vt:lpstr>한계비용곡선의 형태</vt:lpstr>
      <vt:lpstr>한계비용곡선의 형태</vt:lpstr>
      <vt:lpstr>시장공급</vt:lpstr>
      <vt:lpstr>생산자잉여 (producer surplus)</vt:lpstr>
      <vt:lpstr>시장의 균형</vt:lpstr>
      <vt:lpstr>시장의 균형</vt:lpstr>
      <vt:lpstr>시장메커니즘의 효율성</vt:lpstr>
      <vt:lpstr>시장메커니즘의 효율성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194</cp:revision>
  <dcterms:created xsi:type="dcterms:W3CDTF">1997-07-14T00:22:12Z</dcterms:created>
  <dcterms:modified xsi:type="dcterms:W3CDTF">2025-02-13T23:51:50Z</dcterms:modified>
</cp:coreProperties>
</file>