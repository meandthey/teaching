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6"/>
  </p:notesMasterIdLst>
  <p:handoutMasterIdLst>
    <p:handoutMasterId r:id="rId47"/>
  </p:handoutMasterIdLst>
  <p:sldIdLst>
    <p:sldId id="262" r:id="rId2"/>
    <p:sldId id="345" r:id="rId3"/>
    <p:sldId id="346" r:id="rId4"/>
    <p:sldId id="347" r:id="rId5"/>
    <p:sldId id="394" r:id="rId6"/>
    <p:sldId id="350" r:id="rId7"/>
    <p:sldId id="427" r:id="rId8"/>
    <p:sldId id="428" r:id="rId9"/>
    <p:sldId id="429" r:id="rId10"/>
    <p:sldId id="395" r:id="rId11"/>
    <p:sldId id="430" r:id="rId12"/>
    <p:sldId id="401" r:id="rId13"/>
    <p:sldId id="402" r:id="rId14"/>
    <p:sldId id="268" r:id="rId15"/>
    <p:sldId id="431" r:id="rId16"/>
    <p:sldId id="432" r:id="rId17"/>
    <p:sldId id="433" r:id="rId18"/>
    <p:sldId id="434" r:id="rId19"/>
    <p:sldId id="435" r:id="rId20"/>
    <p:sldId id="436" r:id="rId21"/>
    <p:sldId id="437" r:id="rId22"/>
    <p:sldId id="361" r:id="rId23"/>
    <p:sldId id="362" r:id="rId24"/>
    <p:sldId id="365" r:id="rId25"/>
    <p:sldId id="366" r:id="rId26"/>
    <p:sldId id="369" r:id="rId27"/>
    <p:sldId id="404" r:id="rId28"/>
    <p:sldId id="363" r:id="rId29"/>
    <p:sldId id="439" r:id="rId30"/>
    <p:sldId id="438" r:id="rId31"/>
    <p:sldId id="374" r:id="rId32"/>
    <p:sldId id="440" r:id="rId33"/>
    <p:sldId id="441" r:id="rId34"/>
    <p:sldId id="384" r:id="rId35"/>
    <p:sldId id="388" r:id="rId36"/>
    <p:sldId id="411" r:id="rId37"/>
    <p:sldId id="412" r:id="rId38"/>
    <p:sldId id="413" r:id="rId39"/>
    <p:sldId id="416" r:id="rId40"/>
    <p:sldId id="417" r:id="rId41"/>
    <p:sldId id="414" r:id="rId42"/>
    <p:sldId id="418" r:id="rId43"/>
    <p:sldId id="419" r:id="rId44"/>
    <p:sldId id="423" r:id="rId45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68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689" y="9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C6C614D-23A6-45E3-96AE-2B79352419C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986FA98-ED24-44D9-B537-C7E904D1E2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A7F1B2F-FA15-493A-BE51-67DDB44B1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42AA799-5BB4-4E61-A8A1-4EDC8C9EA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365D6272-5AAD-44AE-8D6F-58305AAC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EBFB1E65-3AB0-43C9-B938-A4F02C3B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1DEAEB95-72F0-40CF-9E9A-C9E730FC5C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88231989-A559-4FBB-876C-F2B2E57E24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AF825C62-1269-4B92-9D18-49998612F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5BC13A25-9C77-4549-A5D1-E9DA87F7E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A5AC6161-512A-4F39-A8C1-819673442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DF971A2A-B697-4D3A-8A83-EF5BE8769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F9C02C67-DD1F-4846-A97B-847723BC6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AAAB764D-2B8D-43A7-9A50-D6CE1B344A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0FE55AB-BE4C-49D0-9FDF-913AB6F0E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379850B4-4AA6-4CF5-8622-65A3CCF28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143318B3-36B2-4B91-BAE4-F0839AA5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0733E886-8AF1-4007-991F-3284BC754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7391A8AB-DB1C-4394-B712-7D77D9EA58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C25977DC-0BF7-4ED2-90B3-46EC4A43B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359F78B-9C8F-4386-ACC1-40060C41E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CAC1EE-7F74-4718-9D01-75889CD4E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16958368-A4B6-49ED-9B3A-19DFC2965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0FD71CB5-0CFD-420A-906C-9FBF297B6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E7E6C6F8-BCA7-4177-827E-52639EAB83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DC57D4EC-A4F5-4C5B-B3F8-1AD7894CA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359F78B-9C8F-4386-ACC1-40060C41E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CAC1EE-7F74-4718-9D01-75889CD4E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16958368-A4B6-49ED-9B3A-19DFC2965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0FD71CB5-0CFD-420A-906C-9FBF297B6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E7E6C6F8-BCA7-4177-827E-52639EAB83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DC57D4EC-A4F5-4C5B-B3F8-1AD7894CA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4326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77065C9-81A1-4E38-B0E9-79455599C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B72E1D0-4E51-4135-8229-8848F3BF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99230A1D-30EF-4116-AB4C-EF9CA43E9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476066D9-2850-4662-B376-819908E5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569AEBF2-7063-4C9D-BAB0-624C6ECB0F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0A165027-D1AF-4C08-B6E0-A814A410A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77065C9-81A1-4E38-B0E9-79455599C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B72E1D0-4E51-4135-8229-8848F3BF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99230A1D-30EF-4116-AB4C-EF9CA43E9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476066D9-2850-4662-B376-819908E5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569AEBF2-7063-4C9D-BAB0-624C6ECB0F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0A165027-D1AF-4C08-B6E0-A814A410A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928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77065C9-81A1-4E38-B0E9-79455599C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B72E1D0-4E51-4135-8229-8848F3BF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99230A1D-30EF-4116-AB4C-EF9CA43E9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476066D9-2850-4662-B376-819908E5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569AEBF2-7063-4C9D-BAB0-624C6ECB0F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0A165027-D1AF-4C08-B6E0-A814A410A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8426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77065C9-81A1-4E38-B0E9-79455599C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B72E1D0-4E51-4135-8229-8848F3BF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99230A1D-30EF-4116-AB4C-EF9CA43E9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476066D9-2850-4662-B376-819908E5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569AEBF2-7063-4C9D-BAB0-624C6ECB0F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0A165027-D1AF-4C08-B6E0-A814A410A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315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77065C9-81A1-4E38-B0E9-79455599C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B72E1D0-4E51-4135-8229-8848F3BF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99230A1D-30EF-4116-AB4C-EF9CA43E9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476066D9-2850-4662-B376-819908E5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569AEBF2-7063-4C9D-BAB0-624C6ECB0F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0A165027-D1AF-4C08-B6E0-A814A410A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7217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77065C9-81A1-4E38-B0E9-79455599C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B72E1D0-4E51-4135-8229-8848F3BF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99230A1D-30EF-4116-AB4C-EF9CA43E9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476066D9-2850-4662-B376-819908E5D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569AEBF2-7063-4C9D-BAB0-624C6ECB0F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0A165027-D1AF-4C08-B6E0-A814A410A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1048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DCEB0A-3747-4388-B833-C4944025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6FDBA13-87E4-47FC-929A-2B1202D6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B56B264-3FBC-40A5-8720-E8DF2F27C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278A0BD4-38E4-40FE-BEE4-F04CA1E1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838847E-8E00-4BD4-980D-53B21AC2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13070FE0-5F6A-4D8D-9B18-8B479FDE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DCEB0A-3747-4388-B833-C4944025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6FDBA13-87E4-47FC-929A-2B1202D6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B56B264-3FBC-40A5-8720-E8DF2F27C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278A0BD4-38E4-40FE-BEE4-F04CA1E1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838847E-8E00-4BD4-980D-53B21AC2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13070FE0-5F6A-4D8D-9B18-8B479FDE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6465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DCEB0A-3747-4388-B833-C4944025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6FDBA13-87E4-47FC-929A-2B1202D6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B56B264-3FBC-40A5-8720-E8DF2F27C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278A0BD4-38E4-40FE-BEE4-F04CA1E1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838847E-8E00-4BD4-980D-53B21AC2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13070FE0-5F6A-4D8D-9B18-8B479FDE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4427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DCEB0A-3747-4388-B833-C4944025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6FDBA13-87E4-47FC-929A-2B1202D6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B56B264-3FBC-40A5-8720-E8DF2F27C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278A0BD4-38E4-40FE-BEE4-F04CA1E1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838847E-8E00-4BD4-980D-53B21AC2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13070FE0-5F6A-4D8D-9B18-8B479FDE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659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DCEB0A-3747-4388-B833-C4944025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6FDBA13-87E4-47FC-929A-2B1202D6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B56B264-3FBC-40A5-8720-E8DF2F27C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278A0BD4-38E4-40FE-BEE4-F04CA1E1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838847E-8E00-4BD4-980D-53B21AC2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13070FE0-5F6A-4D8D-9B18-8B479FDE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0621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DCEB0A-3747-4388-B833-C4944025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6FDBA13-87E4-47FC-929A-2B1202D6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B56B264-3FBC-40A5-8720-E8DF2F27C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278A0BD4-38E4-40FE-BEE4-F04CA1E1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838847E-8E00-4BD4-980D-53B21AC2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13070FE0-5F6A-4D8D-9B18-8B479FDE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0904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DCEB0A-3747-4388-B833-C4944025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6FDBA13-87E4-47FC-929A-2B1202D6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B56B264-3FBC-40A5-8720-E8DF2F27C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278A0BD4-38E4-40FE-BEE4-F04CA1E1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838847E-8E00-4BD4-980D-53B21AC2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13070FE0-5F6A-4D8D-9B18-8B479FDE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9525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ECDCEB0A-3747-4388-B833-C4944025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6FDBA13-87E4-47FC-929A-2B1202D6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B56B264-3FBC-40A5-8720-E8DF2F27C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278A0BD4-38E4-40FE-BEE4-F04CA1E1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838847E-8E00-4BD4-980D-53B21AC25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13070FE0-5F6A-4D8D-9B18-8B479FDE6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25387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3632C7C6-89E4-4778-B164-982DE6131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2A2C58A-734B-475D-9EDE-C1999F16A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B9719179-BC83-4A8A-A254-D35434887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9C5CC100-1060-40EB-8DFC-9C9BDCEF6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A4BC50A8-90A6-4EE0-B05A-693F2A82E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7C2B21BF-B6BD-4E7A-9FDE-092493A1CE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DEDC5076-4532-4461-AB7E-67E8790EE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26AF4C1-BE4B-444A-A13E-CA4B645DB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B3EEE644-2154-497B-8BD5-638776E01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58BBBF3A-293F-446A-B45D-C0763D80E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65478D82-4FC3-4AF6-A81E-C0FD2005E3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6C3F4702-7DB6-4785-BAE9-BD29E0117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AC1E3B2-58F7-4BFC-BBCB-B1FB4DC6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73D43EF-2427-4DCD-B0AD-EB417ED50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86387AD4-AFE2-46D0-AD28-DA06F8803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8D54664A-ACB8-4443-8626-A1CA2C594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ABF35643-C3D3-48E7-9235-419762EA8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13B51EBB-F8EF-4EE3-AFD3-5F8BB92F7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702EF220-EAED-4518-885A-9CA8B15E4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30453028-E795-4084-B2C4-CFE02DD84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5F5CD067-96D1-4750-ADE5-56FE88362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B70F046A-5C2B-442D-93B2-CB91DEB16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10757632-9620-4412-A724-569FDC787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FBCFCC5D-72BF-4C80-B740-28E9A08DF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20A2BD8-6FE3-4169-9A79-9C5747D6E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63903AC-F723-4295-9D51-1D63C4817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BA5AE6D2-FBFB-4CD4-9635-F57EA3755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70A15D65-F50E-40F2-ABE4-905D641E5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7EA242EA-1465-4EF4-96A0-9C912CD5BF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FB30CF19-CCB9-459D-B3EC-961FC2277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20A2BD8-6FE3-4169-9A79-9C5747D6E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D63903AC-F723-4295-9D51-1D63C4817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BA5AE6D2-FBFB-4CD4-9635-F57EA3755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70A15D65-F50E-40F2-ABE4-905D641E5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7EA242EA-1465-4EF4-96A0-9C912CD5BF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FB30CF19-CCB9-459D-B3EC-961FC2277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24127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FA3743C1-705F-42FB-A10B-257F5F876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2E6C3F6-CA74-404A-BEE7-F8420442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71E7F1CA-A80B-406B-8B47-AF56F7948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7C0A1D87-FCF7-4A48-94CC-C0D30935A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FCE8529F-49D6-46F1-BFA5-F127FF55F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9C49CB01-8600-49C3-88BA-06E967662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FA3743C1-705F-42FB-A10B-257F5F876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2E6C3F6-CA74-404A-BEE7-F8420442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71E7F1CA-A80B-406B-8B47-AF56F7948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7C0A1D87-FCF7-4A48-94CC-C0D30935A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FCE8529F-49D6-46F1-BFA5-F127FF55F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9C49CB01-8600-49C3-88BA-06E967662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1359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FA3743C1-705F-42FB-A10B-257F5F876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2E6C3F6-CA74-404A-BEE7-F8420442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71E7F1CA-A80B-406B-8B47-AF56F7948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7C0A1D87-FCF7-4A48-94CC-C0D30935A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FCE8529F-49D6-46F1-BFA5-F127FF55F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9C49CB01-8600-49C3-88BA-06E967662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1560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A93D568-3B33-4613-A88E-EC2F026D4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B35AD0D0-7C55-423A-917E-817D617B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915ABDA1-4649-4631-A5D4-6DACB6558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79990CE0-BBA5-4491-8C6E-358CBD47C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8E9F36F9-094C-4064-B7FB-4767EA3976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480C3E1D-0FB0-4BB2-BECC-041297477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A93D568-3B33-4613-A88E-EC2F026D4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B35AD0D0-7C55-423A-917E-817D617B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915ABDA1-4649-4631-A5D4-6DACB6558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79990CE0-BBA5-4491-8C6E-358CBD47C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8E9F36F9-094C-4064-B7FB-4767EA3976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480C3E1D-0FB0-4BB2-BECC-041297477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48165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A93D568-3B33-4613-A88E-EC2F026D4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B35AD0D0-7C55-423A-917E-817D617B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915ABDA1-4649-4631-A5D4-6DACB6558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79990CE0-BBA5-4491-8C6E-358CBD47C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8E9F36F9-094C-4064-B7FB-4767EA3976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480C3E1D-0FB0-4BB2-BECC-041297477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33693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0E925C47-BBE6-46EA-A990-C8E6D2808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0B583B60-7801-438F-A1A2-C1590D47F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CDD218BB-9EFD-4394-B4BB-DA5CDC54A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6036E028-50F9-42CD-8FC4-0700E6D24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6502" name="Rectangle 6">
            <a:extLst>
              <a:ext uri="{FF2B5EF4-FFF2-40B4-BE49-F238E27FC236}">
                <a16:creationId xmlns:a16="http://schemas.microsoft.com/office/drawing/2014/main" id="{4B5230DA-402F-4251-AA77-DE3A54AC19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6503" name="Rectangle 7">
            <a:extLst>
              <a:ext uri="{FF2B5EF4-FFF2-40B4-BE49-F238E27FC236}">
                <a16:creationId xmlns:a16="http://schemas.microsoft.com/office/drawing/2014/main" id="{B20F4BD2-5134-4993-A249-27817BB7D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CA49C447-4E0F-4C35-98B6-CBECB4FC5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7D213EC-70F3-4ECB-8DBE-6082BE708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1AC20D16-2CEF-49F1-9943-0E4227440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69F96760-C2D7-48FD-BCB1-0617B22E1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6" name="Rectangle 6">
            <a:extLst>
              <a:ext uri="{FF2B5EF4-FFF2-40B4-BE49-F238E27FC236}">
                <a16:creationId xmlns:a16="http://schemas.microsoft.com/office/drawing/2014/main" id="{E610DF38-CBFA-4491-9865-620308809B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7527" name="Rectangle 7">
            <a:extLst>
              <a:ext uri="{FF2B5EF4-FFF2-40B4-BE49-F238E27FC236}">
                <a16:creationId xmlns:a16="http://schemas.microsoft.com/office/drawing/2014/main" id="{1D957716-71A9-4323-8EE2-ECE2CB730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CA49C447-4E0F-4C35-98B6-CBECB4FC5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7D213EC-70F3-4ECB-8DBE-6082BE708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1AC20D16-2CEF-49F1-9943-0E4227440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69F96760-C2D7-48FD-BCB1-0617B22E1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6" name="Rectangle 6">
            <a:extLst>
              <a:ext uri="{FF2B5EF4-FFF2-40B4-BE49-F238E27FC236}">
                <a16:creationId xmlns:a16="http://schemas.microsoft.com/office/drawing/2014/main" id="{E610DF38-CBFA-4491-9865-620308809B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7527" name="Rectangle 7">
            <a:extLst>
              <a:ext uri="{FF2B5EF4-FFF2-40B4-BE49-F238E27FC236}">
                <a16:creationId xmlns:a16="http://schemas.microsoft.com/office/drawing/2014/main" id="{1D957716-71A9-4323-8EE2-ECE2CB730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5427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CA49C447-4E0F-4C35-98B6-CBECB4FC5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7D213EC-70F3-4ECB-8DBE-6082BE708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1AC20D16-2CEF-49F1-9943-0E4227440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69F96760-C2D7-48FD-BCB1-0617B22E1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6" name="Rectangle 6">
            <a:extLst>
              <a:ext uri="{FF2B5EF4-FFF2-40B4-BE49-F238E27FC236}">
                <a16:creationId xmlns:a16="http://schemas.microsoft.com/office/drawing/2014/main" id="{E610DF38-CBFA-4491-9865-620308809B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7527" name="Rectangle 7">
            <a:extLst>
              <a:ext uri="{FF2B5EF4-FFF2-40B4-BE49-F238E27FC236}">
                <a16:creationId xmlns:a16="http://schemas.microsoft.com/office/drawing/2014/main" id="{1D957716-71A9-4323-8EE2-ECE2CB730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28816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CA49C447-4E0F-4C35-98B6-CBECB4FC5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7D213EC-70F3-4ECB-8DBE-6082BE708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1AC20D16-2CEF-49F1-9943-0E4227440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69F96760-C2D7-48FD-BCB1-0617B22E1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7526" name="Rectangle 6">
            <a:extLst>
              <a:ext uri="{FF2B5EF4-FFF2-40B4-BE49-F238E27FC236}">
                <a16:creationId xmlns:a16="http://schemas.microsoft.com/office/drawing/2014/main" id="{E610DF38-CBFA-4491-9865-620308809B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7527" name="Rectangle 7">
            <a:extLst>
              <a:ext uri="{FF2B5EF4-FFF2-40B4-BE49-F238E27FC236}">
                <a16:creationId xmlns:a16="http://schemas.microsoft.com/office/drawing/2014/main" id="{1D957716-71A9-4323-8EE2-ECE2CB730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46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0B71AE07-83F4-4252-BC2F-9ECB45FFE1E7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73B535BC-672E-463C-8081-CDC878293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43F2893D-0B89-4104-A0C4-13F158F4E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1BCD1D57-2BE3-4712-AA77-C7B2765DF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75A4B600-7F2B-4549-B8E2-E070193AC0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3BFF2906-5497-4B05-BABC-F1E61E94C3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5394FB46-D87A-48E9-8E8F-1EB295AA8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4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75B33F3-559A-45FC-9A5F-01DA196A45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3294CB3-12DF-444A-B1A8-ABBACED09D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31094DD-574C-4ABC-9B8B-23F83BB3C0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1A12D6-C075-41D8-8F5F-C6DFB89E7CD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061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65B8C81-89C7-4554-841C-70910693D7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36652D8-6755-4731-A215-0A926DF8BD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080CDC5-D1C4-4CA3-89EB-3C482FCD92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AEC818-51B5-41B3-9BDE-8740EB59B37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646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F5FD56F-605B-46B3-B307-7BE6B78297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6DEF1D1-362E-4F65-A265-DD6A93922F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E32D5EFA-B0BB-4F42-82BE-35AF8FACAD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164EF5-0284-4A8E-B47A-8BAA37577EF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885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0996CBF-6E79-4C05-8BC0-5E0354965A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AA8559E-10DF-496C-BBE4-A24BDC13C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23FBBC97-A5F1-490F-B122-5EE8B6A280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FB4DD7-FE63-4414-AFAF-CF97B88B1EA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747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B818CFFE-1AF7-42BB-B5C0-C9A64684A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17C5F1A-62F8-4632-BD75-CAB64F6F64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2D4EC0A-9A74-4C70-A16C-11E9641BEB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0772B-D41A-49CD-91C8-92044AB0727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272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CD9FD146-7915-48E8-933F-B6F39931F1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DF5AB90-87DB-4F77-9D6C-FF4A0B5754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3C484670-2068-4F86-AD1C-030ED40CB3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0241E-60EF-4FA1-877D-1370C395C12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413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5A3CD49-4650-4B97-83EC-CE3DAF2230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DCA1B9C-E539-4C75-BB7A-5CD7FF97F7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29BA03F-32AB-4FED-99AD-59980364BB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FC63B9-0308-49E6-97D6-AAB3A0C627D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985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4C0E0AC-9DE6-4501-B7A6-A021914D58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3131EBB-B54B-462A-8F3B-B7D06DB37E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3ADE704-7FFD-4BE2-87EA-3804B12024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CF908-CBC2-4DC0-9ECA-768FD992680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961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4D11772-0C85-414C-818C-DB8F3C851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14C32CB-8AC5-4427-BAA8-6957AADE2C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2B90936-074E-493A-8138-7CA7A69F63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BEC02-A8CA-47E4-B6BB-6D029077888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5357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6C565AB-4F3B-4AC1-A06A-88298F4F34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0FB1E7D-BC88-4F16-B884-58A18EF6D0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C4D395F-F33C-4748-9869-5BCA0A7591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2A2C99-6298-4C0C-9DF7-6C5B0E75E24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446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>
            <a:extLst>
              <a:ext uri="{FF2B5EF4-FFF2-40B4-BE49-F238E27FC236}">
                <a16:creationId xmlns:a16="http://schemas.microsoft.com/office/drawing/2014/main" id="{6291CD5D-1CB9-4B02-AAC1-0C24DE80AD84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32F7C3CB-1422-4596-A32A-4C644BD79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55BB8E6A-400B-4BCA-AC31-D74CBE9A1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A3C36F78-127D-40EB-8000-C021D914F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11267" name="Rectangle 6">
            <a:extLst>
              <a:ext uri="{FF2B5EF4-FFF2-40B4-BE49-F238E27FC236}">
                <a16:creationId xmlns:a16="http://schemas.microsoft.com/office/drawing/2014/main" id="{80AD80F8-BE7D-4861-8877-32FCE4EFC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1268" name="Rectangle 7">
            <a:extLst>
              <a:ext uri="{FF2B5EF4-FFF2-40B4-BE49-F238E27FC236}">
                <a16:creationId xmlns:a16="http://schemas.microsoft.com/office/drawing/2014/main" id="{7AB49685-21A3-4352-92FC-08F4CB0F1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AE9095F7-26C0-42B0-AABB-E504EE79671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537826E3-A6A1-47F3-B675-62D74F68B4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73B38D72-39D6-4AB5-BBE7-57A7A81D28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208971D5-80A0-4369-AB09-0A869A58B410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36">
            <a:extLst>
              <a:ext uri="{FF2B5EF4-FFF2-40B4-BE49-F238E27FC236}">
                <a16:creationId xmlns:a16="http://schemas.microsoft.com/office/drawing/2014/main" id="{75EC1A80-EAF0-4A42-BD1C-200178E53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22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D36DC439-767A-4E3D-BC86-5FB594CDC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17845" y="2686050"/>
            <a:ext cx="6326155" cy="370853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지구온난화 과학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기후변화 대응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통합평가모형과 탄소의 사회적 비용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6" name="바닥글 개체 틀 4">
            <a:extLst>
              <a:ext uri="{FF2B5EF4-FFF2-40B4-BE49-F238E27FC236}">
                <a16:creationId xmlns:a16="http://schemas.microsoft.com/office/drawing/2014/main" id="{14C9ED0E-7029-4140-9256-CC7442CD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3557" name="슬라이드 번호 개체 틀 5">
            <a:extLst>
              <a:ext uri="{FF2B5EF4-FFF2-40B4-BE49-F238E27FC236}">
                <a16:creationId xmlns:a16="http://schemas.microsoft.com/office/drawing/2014/main" id="{8C010203-56F4-48D1-B736-5D7838CF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C39FCF3-F430-4667-8EAE-535277F864D0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8" name="Rectangle 1026">
            <a:extLst>
              <a:ext uri="{FF2B5EF4-FFF2-40B4-BE49-F238E27FC236}">
                <a16:creationId xmlns:a16="http://schemas.microsoft.com/office/drawing/2014/main" id="{BB7EB039-9C94-468B-8D84-9F17BF8D8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9" name="Rectangle 1027">
            <a:extLst>
              <a:ext uri="{FF2B5EF4-FFF2-40B4-BE49-F238E27FC236}">
                <a16:creationId xmlns:a16="http://schemas.microsoft.com/office/drawing/2014/main" id="{EC7EAA95-5930-4ECB-A0C4-FBE0462E7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BB279FC-DA59-40EE-8647-AD0E3C523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22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기후변화의 경제학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>
            <a:extLst>
              <a:ext uri="{FF2B5EF4-FFF2-40B4-BE49-F238E27FC236}">
                <a16:creationId xmlns:a16="http://schemas.microsoft.com/office/drawing/2014/main" id="{FEC57931-C2C5-437E-87FC-905FC50DD0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5675" y="1503363"/>
            <a:ext cx="7737475" cy="4114800"/>
          </a:xfrm>
        </p:spPr>
        <p:txBody>
          <a:bodyPr/>
          <a:lstStyle/>
          <a:p>
            <a:pPr eaLnBrk="1" hangingPunct="1"/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21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세기에 있어 전 지구적 환경문제 중 가장 중요한 것은 단연 </a:t>
            </a:r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기후변화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(climate change)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임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기후변화는 지구표면의 온도가 장기적으로 꾸준히 상승하는 현상을 의미함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이는 생태계와 인간의 생활에 대단히 큰 충격을 주며 그 피해가 상당할 것으로 예측됨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기후변화는 </a:t>
            </a:r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온실가스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(greenhouse gases)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가 주원인으로 지목되고 있음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기후변화를 완화하기 위해서는 온실가스 배출량을 줄이는 것이 필수적인데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이는 전 세계 모든 국가의 경제활동에 큰 변화를 요구하므로 실제로 실행하기가 쉽지 않음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바닥글 개체 틀 4">
            <a:extLst>
              <a:ext uri="{FF2B5EF4-FFF2-40B4-BE49-F238E27FC236}">
                <a16:creationId xmlns:a16="http://schemas.microsoft.com/office/drawing/2014/main" id="{1F032A1F-242F-49CB-8A38-F2B43091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4580" name="슬라이드 번호 개체 틀 5">
            <a:extLst>
              <a:ext uri="{FF2B5EF4-FFF2-40B4-BE49-F238E27FC236}">
                <a16:creationId xmlns:a16="http://schemas.microsoft.com/office/drawing/2014/main" id="{AFDC1A1F-407B-44FA-97EF-08852B6A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FC248E4-B1D6-4823-AF9D-1941ED4DBD6F}" type="slidenum">
              <a:rPr lang="ko-KR" altLang="en-US" sz="1200" b="0">
                <a:solidFill>
                  <a:schemeClr val="tx1"/>
                </a:solidFill>
              </a:rPr>
              <a:pPr/>
              <a:t>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0DC1E65C-CAD8-4D0E-869A-75E6F8A6A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F32382DB-204C-4CB4-935E-24B4BCA38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77326BD5-B448-4B04-B115-2C4375DA5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기후변화의 경제학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Rectangle 9">
                <a:extLst>
                  <a:ext uri="{FF2B5EF4-FFF2-40B4-BE49-F238E27FC236}">
                    <a16:creationId xmlns:a16="http://schemas.microsoft.com/office/drawing/2014/main" id="{7523AD37-1051-4878-9D4E-08C02199E2A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27100" y="1250950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지구온난화를 유발하는 온실가스로는 약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20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여종이 있는 것으로 알려져 있음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대표적인 가스로 이산화탄소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(CO2),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메탄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(CH4),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아산화질소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(N2O),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과불화탄소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(PFCs),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수소불화탄소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(HFCs),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육불화황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(SF6),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염화불화탄소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(CFCs)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등이 있음</a:t>
                </a:r>
              </a:p>
              <a:p>
                <a:pPr lvl="1" eaLnBrk="1" hangingPunct="1"/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CFCs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를 제외한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6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가지는 교토의정서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(Kyoto Protocol)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에서 규제되기 때문에 교토가스라 부름</a:t>
                </a:r>
              </a:p>
              <a:p>
                <a:pPr lvl="1" eaLnBrk="1" hangingPunct="1"/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CFCs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몬트리올의정서에서 규제됨</a:t>
                </a:r>
                <a:endParaRPr lang="ko-KR" altLang="en-US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각각의 가스가 기후에 미치는 영향은 상이하므로 이들 가스들이 온실효과를 유발하는 정도를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이산화탄소로 환산된 양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(CO</a:t>
                </a:r>
                <a:r>
                  <a:rPr lang="en-US" altLang="ko-KR" sz="2000" b="1" baseline="-25000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 equivalent, CO</a:t>
                </a:r>
                <a:r>
                  <a:rPr lang="en-US" altLang="ko-KR" sz="2000" b="1" baseline="-25000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e)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으로 측정되기도 함</a:t>
                </a:r>
              </a:p>
              <a:p>
                <a:pPr lvl="1" eaLnBrk="1" hangingPunct="1"/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ppm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단위로 농도가 측정되며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ppm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은 공기질량에서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CO</a:t>
                </a:r>
                <a:r>
                  <a:rPr lang="en-US" altLang="ko-KR" sz="1800" baseline="-250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e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질량이 차지하는 비중에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백만을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곱한 것임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1" dirty="0">
                          <a:latin typeface="Cambria Math" panose="02040503050406030204" pitchFamily="18" charset="0"/>
                          <a:ea typeface="나눔명조" pitchFamily="18" charset="-127"/>
                        </a:rPr>
                        <m:t>ppm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  <a:ea typeface="나눔명조" pitchFamily="18" charset="-127"/>
                        </a:rPr>
                        <m:t>=1,000,000×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CO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e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질량</m:t>
                          </m:r>
                        </m:num>
                        <m:den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</a:rPr>
                            <m:t>공기질량</m:t>
                          </m:r>
                        </m:den>
                      </m:f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027" name="Rectangle 9">
                <a:extLst>
                  <a:ext uri="{FF2B5EF4-FFF2-40B4-BE49-F238E27FC236}">
                    <a16:creationId xmlns:a16="http://schemas.microsoft.com/office/drawing/2014/main" id="{7523AD37-1051-4878-9D4E-08C02199E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7100" y="1250950"/>
                <a:ext cx="7737475" cy="4114800"/>
              </a:xfrm>
              <a:blipFill>
                <a:blip r:embed="rId3"/>
                <a:stretch>
                  <a:fillRect l="-709" t="-741" r="-1418" b="-13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바닥글 개체 틀 4">
            <a:extLst>
              <a:ext uri="{FF2B5EF4-FFF2-40B4-BE49-F238E27FC236}">
                <a16:creationId xmlns:a16="http://schemas.microsoft.com/office/drawing/2014/main" id="{088969A6-FC6D-4B7D-9B3D-EA1E2352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1029" name="슬라이드 번호 개체 틀 5">
            <a:extLst>
              <a:ext uri="{FF2B5EF4-FFF2-40B4-BE49-F238E27FC236}">
                <a16:creationId xmlns:a16="http://schemas.microsoft.com/office/drawing/2014/main" id="{EABB766E-7BE4-4DF9-BA93-8588CD0A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8CA4659-6309-4779-9D8A-1544374A38BE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30" name="Rectangle 2">
            <a:extLst>
              <a:ext uri="{FF2B5EF4-FFF2-40B4-BE49-F238E27FC236}">
                <a16:creationId xmlns:a16="http://schemas.microsoft.com/office/drawing/2014/main" id="{D48058F5-A106-4F48-94D5-06497276C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6172D9C5-6E5B-439C-9C79-E7BC63098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2" name="Rectangle 6">
            <a:extLst>
              <a:ext uri="{FF2B5EF4-FFF2-40B4-BE49-F238E27FC236}">
                <a16:creationId xmlns:a16="http://schemas.microsoft.com/office/drawing/2014/main" id="{EC93FE21-EE04-42FE-A653-D70A22AFF6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-16827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온실가스와 기온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기온상승의 영향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9">
            <a:extLst>
              <a:ext uri="{FF2B5EF4-FFF2-40B4-BE49-F238E27FC236}">
                <a16:creationId xmlns:a16="http://schemas.microsoft.com/office/drawing/2014/main" id="{8CF3A4E6-9379-462B-94D5-3295F12068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7550" y="1322970"/>
            <a:ext cx="8207958" cy="5015625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온실가스는 지구 내부로 태양빛을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유입시키지만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유입된 적외선이 반사되어 외부로 유출되는 것을 차단하여 지구 내부온도를 높임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온실가스의 균형은 산업혁명 이후 발생한 화석연료의 사용과 급속한 이산화탄소 배출량 증대로 무너짐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 대기중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CO2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농도는 산업혁명이전보다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30%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이상 높음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온실가스 축적의 온실효과 유발정도는 </a:t>
            </a:r>
            <a:r>
              <a:rPr lang="ko-KR" altLang="en-US" sz="24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복사강제력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(radiative forcing, FR)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으로 나타냄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단위면적당 지구로 유입되는 에너지와 지구에서 방출되는 에너지의 차이를 면적당 와트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(Wm</a:t>
            </a:r>
            <a:r>
              <a:rPr lang="en-US" altLang="ko-KR" sz="2000" baseline="30000" dirty="0">
                <a:latin typeface="나눔명조" pitchFamily="18" charset="-127"/>
                <a:ea typeface="나눔명조" pitchFamily="18" charset="-127"/>
              </a:rPr>
              <a:t>-2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로 측정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1750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0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일때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1950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0.57, 2011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2.29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온실가스 배출증가는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복사강제력을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높이고 기온과 해수면 상승을 초래함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3" name="바닥글 개체 틀 4">
            <a:extLst>
              <a:ext uri="{FF2B5EF4-FFF2-40B4-BE49-F238E27FC236}">
                <a16:creationId xmlns:a16="http://schemas.microsoft.com/office/drawing/2014/main" id="{ED5200D1-33A6-4D82-8186-805FFB96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5604" name="슬라이드 번호 개체 틀 5">
            <a:extLst>
              <a:ext uri="{FF2B5EF4-FFF2-40B4-BE49-F238E27FC236}">
                <a16:creationId xmlns:a16="http://schemas.microsoft.com/office/drawing/2014/main" id="{AADBC709-79CD-4C94-B826-9E737ADC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B1D4108-47DF-4DCD-B5C5-1C1FF22EAA1B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23313C9B-9620-466C-BBA5-E2712BBC3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33806729-6797-45A6-82D8-E2EDA87A2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D0E77BF0-2F91-49DB-9EE2-7A2DC658B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4" y="83124"/>
            <a:ext cx="7380000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온실가스와 기온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,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기온상승의 영향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9">
            <a:extLst>
              <a:ext uri="{FF2B5EF4-FFF2-40B4-BE49-F238E27FC236}">
                <a16:creationId xmlns:a16="http://schemas.microsoft.com/office/drawing/2014/main" id="{8CF3A4E6-9379-462B-94D5-3295F12068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325" y="1226124"/>
            <a:ext cx="7737475" cy="4114800"/>
          </a:xfrm>
        </p:spPr>
        <p:txBody>
          <a:bodyPr/>
          <a:lstStyle/>
          <a:p>
            <a:pPr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IPCC(</a:t>
            </a:r>
            <a:r>
              <a:rPr lang="en-US" altLang="ko-KR" sz="2000" dirty="0" err="1">
                <a:latin typeface="나눔명조" pitchFamily="18" charset="-127"/>
                <a:ea typeface="나눔명조" pitchFamily="18" charset="-127"/>
              </a:rPr>
              <a:t>Intergovenmental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Panel on Climate Change)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6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차보고서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(2021)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따르면 지표면 평균기온이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1850~1900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년과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2010~2019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사이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1.07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이미 상승함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기온과 해수면 상승의 영향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강우 패턴 변화 발생과 해빙으로 수자원의 양과 질이 바뀜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육상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담수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해양 생물의 지리적 생존 범위와 계절 활동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이동 형태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개체수와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종간 상호작용의 변화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말라리아와 같은 질병의 발생패턴 변화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작물은 생산성이 높아지기 보다는 낮아지는 쪽이 더 흔히 발생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홍수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가뭄의 재해와 용수부족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산불 피해 발생 가능성 증대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해안침식과 재산상의 피해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해양산성화에 따른 바다생물의 생존위협 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이상기후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(extreme events)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양상변화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극단적 고온 발생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비정상적 해수면 상승과 높은 강우량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3" name="바닥글 개체 틀 4">
            <a:extLst>
              <a:ext uri="{FF2B5EF4-FFF2-40B4-BE49-F238E27FC236}">
                <a16:creationId xmlns:a16="http://schemas.microsoft.com/office/drawing/2014/main" id="{ED5200D1-33A6-4D82-8186-805FFB96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5604" name="슬라이드 번호 개체 틀 5">
            <a:extLst>
              <a:ext uri="{FF2B5EF4-FFF2-40B4-BE49-F238E27FC236}">
                <a16:creationId xmlns:a16="http://schemas.microsoft.com/office/drawing/2014/main" id="{AADBC709-79CD-4C94-B826-9E737ADC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B1D4108-47DF-4DCD-B5C5-1C1FF22EAA1B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23313C9B-9620-466C-BBA5-E2712BBC3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33806729-6797-45A6-82D8-E2EDA87A2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D0E77BF0-2F91-49DB-9EE2-7A2DC658B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4" y="83124"/>
            <a:ext cx="7380000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온실가스와 기온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,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기온상승의 영향</a:t>
            </a:r>
          </a:p>
        </p:txBody>
      </p:sp>
    </p:spTree>
    <p:extLst>
      <p:ext uri="{BB962C8B-B14F-4D97-AF65-F5344CB8AC3E}">
        <p14:creationId xmlns:p14="http://schemas.microsoft.com/office/powerpoint/2010/main" val="3430682544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6626" name="Rectangle 9">
                <a:extLst>
                  <a:ext uri="{FF2B5EF4-FFF2-40B4-BE49-F238E27FC236}">
                    <a16:creationId xmlns:a16="http://schemas.microsoft.com/office/drawing/2014/main" id="{F8AADF5B-1390-4BCD-B1DA-0C231C7FF00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95350" y="1071563"/>
                <a:ext cx="8111801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기후변화 영향의 지역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/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국가 간 편차가 큼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지역과 국가 발전 단계별 영향의 차이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저위도 지역 개발도상국이 고위도 선진국에 비해 큰 피해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온실가스 총배출량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𝐸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𝐿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𝑁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den>
                    </m:f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𝑁</m:t>
                        </m:r>
                      </m:den>
                    </m:f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총배출량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인구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X 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인당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GDP X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에너지 집약도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X CO2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집약도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변환율로 전환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(Kaya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항등식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CO2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배출 증가율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=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인구 증가율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+ 1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인당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GDP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증가율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+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에너지 집약도 증가율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+ CO2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집약도 증가율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1965~2020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간 연간 변화율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2.1% = 1.6%+1.7%-0.9%-0.3%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배출량은 인구증가와 소득증가로 인해 늘어나고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에너지와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CO2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효율성 개선으로 감소함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네 가지 요소의 향후 변화에 의해 총배출량이 결정될 것임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26626" name="Rectangle 9">
                <a:extLst>
                  <a:ext uri="{FF2B5EF4-FFF2-40B4-BE49-F238E27FC236}">
                    <a16:creationId xmlns:a16="http://schemas.microsoft.com/office/drawing/2014/main" id="{F8AADF5B-1390-4BCD-B1DA-0C231C7FF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5350" y="1071563"/>
                <a:ext cx="8111801" cy="4114800"/>
              </a:xfrm>
              <a:blipFill>
                <a:blip r:embed="rId3"/>
                <a:stretch>
                  <a:fillRect l="-1052" t="-1185" b="-22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7" name="바닥글 개체 틀 4">
            <a:extLst>
              <a:ext uri="{FF2B5EF4-FFF2-40B4-BE49-F238E27FC236}">
                <a16:creationId xmlns:a16="http://schemas.microsoft.com/office/drawing/2014/main" id="{C1F06DE7-800E-4F64-B64F-67764FAE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6628" name="슬라이드 번호 개체 틀 5">
            <a:extLst>
              <a:ext uri="{FF2B5EF4-FFF2-40B4-BE49-F238E27FC236}">
                <a16:creationId xmlns:a16="http://schemas.microsoft.com/office/drawing/2014/main" id="{E57AEF95-4745-4721-9CD1-A88ABF7E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85C361F-437D-4A96-8AE7-0D8F46447EEA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B666E491-805E-4ED3-856A-FCA3CA44F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EB537783-53FB-421E-881F-D06263FB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E5C33728-97DE-46F0-9104-2AFFB4319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569" y="332027"/>
            <a:ext cx="7416000" cy="739536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미래 전망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9">
            <a:extLst>
              <a:ext uri="{FF2B5EF4-FFF2-40B4-BE49-F238E27FC236}">
                <a16:creationId xmlns:a16="http://schemas.microsoft.com/office/drawing/2014/main" id="{F8AADF5B-1390-4BCD-B1DA-0C231C7FF0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5350" y="971044"/>
            <a:ext cx="8111801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IPCC 6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차보고서는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SSP(Shared Socio-economic Pathway)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라는 향후 시나리오 구성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en-US" altLang="ko-KR" sz="2000" dirty="0" err="1">
                <a:latin typeface="나눔명조" pitchFamily="18" charset="-127"/>
                <a:ea typeface="나눔명조" pitchFamily="18" charset="-127"/>
              </a:rPr>
              <a:t>SSP</a:t>
            </a:r>
            <a:r>
              <a:rPr lang="en-US" altLang="ko-KR" sz="2000" baseline="-25000" dirty="0" err="1">
                <a:latin typeface="나눔명조" pitchFamily="18" charset="-127"/>
                <a:ea typeface="나눔명조" pitchFamily="18" charset="-127"/>
              </a:rPr>
              <a:t>x</a:t>
            </a:r>
            <a:r>
              <a:rPr lang="en-US" altLang="ko-KR" sz="2000" baseline="-25000" dirty="0">
                <a:latin typeface="나눔명조" pitchFamily="18" charset="-127"/>
                <a:ea typeface="나눔명조" pitchFamily="18" charset="-127"/>
              </a:rPr>
              <a:t>-y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형태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x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사회경제적 변수들이 향후 변화는 모습에 대한 시나리오이며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1~5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값 중 하나 가짐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y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해당 시나리오에서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2100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복사강제력을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의미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SSP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시나리오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바닥글 개체 틀 4">
            <a:extLst>
              <a:ext uri="{FF2B5EF4-FFF2-40B4-BE49-F238E27FC236}">
                <a16:creationId xmlns:a16="http://schemas.microsoft.com/office/drawing/2014/main" id="{C1F06DE7-800E-4F64-B64F-67764FAE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6628" name="슬라이드 번호 개체 틀 5">
            <a:extLst>
              <a:ext uri="{FF2B5EF4-FFF2-40B4-BE49-F238E27FC236}">
                <a16:creationId xmlns:a16="http://schemas.microsoft.com/office/drawing/2014/main" id="{E57AEF95-4745-4721-9CD1-A88ABF7E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85C361F-437D-4A96-8AE7-0D8F46447EEA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B666E491-805E-4ED3-856A-FCA3CA44F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EB537783-53FB-421E-881F-D06263FB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E5C33728-97DE-46F0-9104-2AFFB4319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400" y="170777"/>
            <a:ext cx="7416000" cy="739536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미래 전망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C551D65-D55B-49AA-97FB-3C43BA9B4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00" y="3286591"/>
            <a:ext cx="6991739" cy="302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97266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9">
            <a:extLst>
              <a:ext uri="{FF2B5EF4-FFF2-40B4-BE49-F238E27FC236}">
                <a16:creationId xmlns:a16="http://schemas.microsoft.com/office/drawing/2014/main" id="{F8AADF5B-1390-4BCD-B1DA-0C231C7FF0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5350" y="971044"/>
            <a:ext cx="8111801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시나리오별 스토리를 인구성장과 경제성장의 양적 지표로 전환하고 에너지 소비량과 배출량 전망치 구함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각 시나리별로 달성할 수 있는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2100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년의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RF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수치를 얻음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SSP1-1.9, SSP1-2.6, SSP2-4.5, SSP3-7.0, SSP5-8.5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en-US" altLang="ko-KR" sz="2400" dirty="0" err="1">
                <a:latin typeface="나눔명조" pitchFamily="18" charset="-127"/>
                <a:ea typeface="나눔명조" pitchFamily="18" charset="-127"/>
              </a:rPr>
              <a:t>SSP</a:t>
            </a:r>
            <a:r>
              <a:rPr lang="en-US" altLang="ko-KR" sz="2400" baseline="-25000" dirty="0" err="1">
                <a:latin typeface="나눔명조" pitchFamily="18" charset="-127"/>
                <a:ea typeface="나눔명조" pitchFamily="18" charset="-127"/>
              </a:rPr>
              <a:t>x</a:t>
            </a:r>
            <a:r>
              <a:rPr lang="en-US" altLang="ko-KR" sz="2400" baseline="-25000" dirty="0">
                <a:latin typeface="나눔명조" pitchFamily="18" charset="-127"/>
                <a:ea typeface="나눔명조" pitchFamily="18" charset="-127"/>
              </a:rPr>
              <a:t>-y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형 시나리오가 주로 적용됨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바닥글 개체 틀 4">
            <a:extLst>
              <a:ext uri="{FF2B5EF4-FFF2-40B4-BE49-F238E27FC236}">
                <a16:creationId xmlns:a16="http://schemas.microsoft.com/office/drawing/2014/main" id="{C1F06DE7-800E-4F64-B64F-67764FAE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6628" name="슬라이드 번호 개체 틀 5">
            <a:extLst>
              <a:ext uri="{FF2B5EF4-FFF2-40B4-BE49-F238E27FC236}">
                <a16:creationId xmlns:a16="http://schemas.microsoft.com/office/drawing/2014/main" id="{E57AEF95-4745-4721-9CD1-A88ABF7E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85C361F-437D-4A96-8AE7-0D8F46447EEA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B666E491-805E-4ED3-856A-FCA3CA44F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EB537783-53FB-421E-881F-D06263FB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E5C33728-97DE-46F0-9104-2AFFB4319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400" y="170777"/>
            <a:ext cx="7416000" cy="739536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미래 전망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C46EC9-3DA2-4875-AAC4-45AE8FA9C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56" y="3429000"/>
            <a:ext cx="7526694" cy="258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5878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9">
            <a:extLst>
              <a:ext uri="{FF2B5EF4-FFF2-40B4-BE49-F238E27FC236}">
                <a16:creationId xmlns:a16="http://schemas.microsoft.com/office/drawing/2014/main" id="{F8AADF5B-1390-4BCD-B1DA-0C231C7FF0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7004" y="971044"/>
            <a:ext cx="8640147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2100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1.5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혹은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2.0℃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이하로 기온상승 제한하려면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세기 전반기부터 강한 배출억제를 실행하여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SSP1-1.9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혹은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SSP1-2.6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경로를 취해야 함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미래 기후시스템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기온은 해양부보다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육지부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열대보다 고위도로 갈수록 높이 상승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강우량은 고위도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적도 태평양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 몬순 기후대에서 증가하지만 아열대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열대 지역 일부에서 감소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온난화가 발생하면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1550~1900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년엔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빈도 폭염이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2100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9.4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 빈도가 높아지고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10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빈도 폭우는 빈도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2.7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 시 강우량이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30.2%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 많음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10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빈도 가뭄은 빈도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4.1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심각성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배로 증가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온난화에서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2100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이전 바닷물 온난화가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1971~2018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년간 변화의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4~8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배에 달하며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산성화 발생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영구동토층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해빙으로 탄소 유출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그린란드와 남극 빙상 해빙으로 해수면이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1995~2014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대비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0.63~1.01m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상승하며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 영향이 수천년간 지속될 것임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바닥글 개체 틀 4">
            <a:extLst>
              <a:ext uri="{FF2B5EF4-FFF2-40B4-BE49-F238E27FC236}">
                <a16:creationId xmlns:a16="http://schemas.microsoft.com/office/drawing/2014/main" id="{C1F06DE7-800E-4F64-B64F-67764FAE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6628" name="슬라이드 번호 개체 틀 5">
            <a:extLst>
              <a:ext uri="{FF2B5EF4-FFF2-40B4-BE49-F238E27FC236}">
                <a16:creationId xmlns:a16="http://schemas.microsoft.com/office/drawing/2014/main" id="{E57AEF95-4745-4721-9CD1-A88ABF7E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85C361F-437D-4A96-8AE7-0D8F46447EEA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B666E491-805E-4ED3-856A-FCA3CA44F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EB537783-53FB-421E-881F-D06263FB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E5C33728-97DE-46F0-9104-2AFFB4319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400" y="170777"/>
            <a:ext cx="7416000" cy="739536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미래 전망</a:t>
            </a:r>
          </a:p>
        </p:txBody>
      </p:sp>
    </p:spTree>
    <p:extLst>
      <p:ext uri="{BB962C8B-B14F-4D97-AF65-F5344CB8AC3E}">
        <p14:creationId xmlns:p14="http://schemas.microsoft.com/office/powerpoint/2010/main" val="1990417846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6626" name="Rectangle 9">
                <a:extLst>
                  <a:ext uri="{FF2B5EF4-FFF2-40B4-BE49-F238E27FC236}">
                    <a16:creationId xmlns:a16="http://schemas.microsoft.com/office/drawing/2014/main" id="{F8AADF5B-1390-4BCD-B1DA-0C231C7FF00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95350" y="1071563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1850~2019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년 간 인간활동으로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2390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±240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CtCO2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배출된 것으로 추정됨 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탄소예산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(carbon budget):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지구온난화를 높은 확률로 특정 수준에 한정하기 위해 허용될 수 있는 최대한의 인간 활동 탄소 누적 순배출량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1.5</a:t>
                </a:r>
                <a:r>
                  <a:rPr lang="ko-KR" altLang="ko-KR" sz="1600" dirty="0">
                    <a:latin typeface="나눔명조" pitchFamily="18" charset="-127"/>
                    <a:ea typeface="나눔명조" pitchFamily="18" charset="-127"/>
                  </a:rPr>
                  <a:t>℃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온난화를 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83%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이상의 확률로 달성하려면 앞으로 남은 배출량이 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300 GtCO2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이고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이미 배출된 양의 </a:t>
                </a:r>
                <a:r>
                  <a:rPr lang="en-US" altLang="ko-KR" sz="1600" dirty="0">
                    <a:latin typeface="나눔명조" pitchFamily="18" charset="-127"/>
                    <a:ea typeface="나눔명조" pitchFamily="18" charset="-127"/>
                  </a:rPr>
                  <a:t>1/8 </a:t>
                </a:r>
                <a:r>
                  <a:rPr lang="ko-KR" altLang="en-US" sz="1600" dirty="0">
                    <a:latin typeface="나눔명조" pitchFamily="18" charset="-127"/>
                    <a:ea typeface="나눔명조" pitchFamily="18" charset="-127"/>
                  </a:rPr>
                  <a:t>정도</a:t>
                </a: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26626" name="Rectangle 9">
                <a:extLst>
                  <a:ext uri="{FF2B5EF4-FFF2-40B4-BE49-F238E27FC236}">
                    <a16:creationId xmlns:a16="http://schemas.microsoft.com/office/drawing/2014/main" id="{F8AADF5B-1390-4BCD-B1DA-0C231C7FF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5350" y="1071563"/>
                <a:ext cx="7737475" cy="4114800"/>
              </a:xfrm>
              <a:blipFill>
                <a:blip r:embed="rId3"/>
                <a:stretch>
                  <a:fillRect l="-709" t="-889" r="-1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7" name="바닥글 개체 틀 4">
            <a:extLst>
              <a:ext uri="{FF2B5EF4-FFF2-40B4-BE49-F238E27FC236}">
                <a16:creationId xmlns:a16="http://schemas.microsoft.com/office/drawing/2014/main" id="{C1F06DE7-800E-4F64-B64F-67764FAE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6628" name="슬라이드 번호 개체 틀 5">
            <a:extLst>
              <a:ext uri="{FF2B5EF4-FFF2-40B4-BE49-F238E27FC236}">
                <a16:creationId xmlns:a16="http://schemas.microsoft.com/office/drawing/2014/main" id="{E57AEF95-4745-4721-9CD1-A88ABF7E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85C361F-437D-4A96-8AE7-0D8F46447EEA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B666E491-805E-4ED3-856A-FCA3CA44F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EB537783-53FB-421E-881F-D06263FB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E5C33728-97DE-46F0-9104-2AFFB4319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569" y="332027"/>
            <a:ext cx="7416000" cy="739536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탄소예산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DE47425-DF20-46D1-8C31-C209825A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777" y="3255650"/>
            <a:ext cx="6761584" cy="282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73374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9">
            <a:extLst>
              <a:ext uri="{FF2B5EF4-FFF2-40B4-BE49-F238E27FC236}">
                <a16:creationId xmlns:a16="http://schemas.microsoft.com/office/drawing/2014/main" id="{F8AADF5B-1390-4BCD-B1DA-0C231C7FF0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8432" y="1071563"/>
            <a:ext cx="8006124" cy="4114800"/>
          </a:xfrm>
        </p:spPr>
        <p:txBody>
          <a:bodyPr/>
          <a:lstStyle/>
          <a:p>
            <a:pPr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2100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1.5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℃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목표를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50%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확률로 달성하려면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2050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년에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넷제로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(net zero)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이루어야 함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2050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이전에는 점차 높은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감축률로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배출을 줄여야 함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2050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이후에는 순배출이 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(-)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되어야 함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CO2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외 온실가스 배출량도 줄여 나가야 함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2100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2.0℃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이하 기온상승을 위해서는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넷제로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달성시점을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2070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년으로 늦출 수 있음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eaLnBrk="1" hangingPunct="1"/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넷제로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달성시점은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2030, 2040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이전의 저감정도와 메탄 저감 정도에 의해서도 영향 받음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바닥글 개체 틀 4">
            <a:extLst>
              <a:ext uri="{FF2B5EF4-FFF2-40B4-BE49-F238E27FC236}">
                <a16:creationId xmlns:a16="http://schemas.microsoft.com/office/drawing/2014/main" id="{C1F06DE7-800E-4F64-B64F-67764FAE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6628" name="슬라이드 번호 개체 틀 5">
            <a:extLst>
              <a:ext uri="{FF2B5EF4-FFF2-40B4-BE49-F238E27FC236}">
                <a16:creationId xmlns:a16="http://schemas.microsoft.com/office/drawing/2014/main" id="{E57AEF95-4745-4721-9CD1-A88ABF7E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85C361F-437D-4A96-8AE7-0D8F46447EEA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B666E491-805E-4ED3-856A-FCA3CA44F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EB537783-53FB-421E-881F-D06263FB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E5C33728-97DE-46F0-9104-2AFFB4319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569" y="332027"/>
            <a:ext cx="7416000" cy="739536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배출저감 로드맵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8196DD-E50E-4AEF-BEEE-4953DADE8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7" y="3771299"/>
            <a:ext cx="7143743" cy="231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95204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56B28-8C88-4E0B-BF48-F0FA05FEB75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</a:rPr>
              <a:t>온실가스 배출감소와 그린 패러독스</a:t>
            </a:r>
            <a:r>
              <a:rPr lang="en-US" altLang="ko-KR" dirty="0">
                <a:solidFill>
                  <a:srgbClr val="7030A0"/>
                </a:solidFill>
              </a:rPr>
              <a:t>(Green Paradox)</a:t>
            </a:r>
            <a:endParaRPr lang="ko-KR" alt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020B6E-6EBF-4DDC-A782-22444640AE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677923"/>
                <a:ext cx="7313612" cy="4114800"/>
              </a:xfrm>
            </p:spPr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탄소세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배출권거래제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등의 정책은 탄소에 대한 수요를 줄이는 수요관리정책임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진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(Sinn, 2008)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그린 패러독스 주장은 이런 종류의 수요관리정책은 탄소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혹은 화석연료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공급측면을 간과하고 있어 오히려 기후변화를 촉진할 수 있다고 지적함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화석연료를 공급하는 기업이 가진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부존량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𝑅</m:t>
                    </m:r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이를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두 기에 걸쳐 채굴하여 판매하는데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단위당 채굴비용은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𝑐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이자율은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이라고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하면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자원기업은 현재 및 미래 할인이윤의 합을 극대화하는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선택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𝜋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+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1+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𝑟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[</m:t>
                      </m:r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𝑅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𝑐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𝑅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ko-KR" altLang="en-US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020B6E-6EBF-4DDC-A782-22444640A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677923"/>
                <a:ext cx="7313612" cy="4114800"/>
              </a:xfrm>
              <a:blipFill>
                <a:blip r:embed="rId2"/>
                <a:stretch>
                  <a:fillRect l="-751" t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85A697-7D9A-4DB4-8389-2AE3844E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22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68D19C-8781-49BD-AAC7-4A70E914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12D6-C075-41D8-8F5F-C6DFB89E7CD7}" type="slidenum">
              <a:rPr lang="ko-KR" altLang="en-US" smtClean="0"/>
              <a:pPr/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4620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56B28-8C88-4E0B-BF48-F0FA05FEB75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</a:rPr>
              <a:t>온실가스 배출감소와 그린 패러독스</a:t>
            </a:r>
            <a:r>
              <a:rPr lang="en-US" altLang="ko-KR" dirty="0">
                <a:solidFill>
                  <a:srgbClr val="7030A0"/>
                </a:solidFill>
              </a:rPr>
              <a:t>(Green Paradox)</a:t>
            </a:r>
            <a:endParaRPr lang="ko-KR" alt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020B6E-6EBF-4DDC-A782-22444640AE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9179" y="1603155"/>
                <a:ext cx="7313612" cy="4114800"/>
              </a:xfrm>
            </p:spPr>
            <p:txBody>
              <a:bodyPr/>
              <a:lstStyle/>
              <a:p>
                <a:r>
                  <a:rPr lang="ko-KR" altLang="en-US" sz="2000" dirty="0">
                    <a:ea typeface="나눔명조" panose="02020603020101020101" pitchFamily="18" charset="-127"/>
                  </a:rPr>
                  <a:t>동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태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이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윤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𝜋</m:t>
                    </m:r>
                  </m:oMath>
                </a14:m>
                <a:r>
                  <a:rPr lang="ko-KR" altLang="en-US" sz="20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에 대해 미분하고 </a:t>
                </a:r>
                <a:r>
                  <a:rPr lang="en-US" altLang="ko-KR" sz="20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0</a:t>
                </a:r>
                <a:r>
                  <a:rPr lang="ko-KR" altLang="en-US" sz="20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으로 두면</a:t>
                </a:r>
                <a:r>
                  <a:rPr lang="en-US" altLang="ko-KR" sz="20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최적 자원공급형태가 도출됨</a:t>
                </a:r>
                <a:r>
                  <a:rPr lang="en-US" altLang="ko-KR" sz="20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(</a:t>
                </a:r>
                <a:r>
                  <a:rPr lang="en-US" altLang="ko-KR" sz="2000" dirty="0" err="1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Hotelling’s</a:t>
                </a:r>
                <a:r>
                  <a:rPr lang="en-US" altLang="ko-KR" sz="2000" dirty="0">
                    <a:latin typeface="Cambria Math" panose="02040503050406030204" pitchFamily="18" charset="0"/>
                    <a:ea typeface="나눔명조" panose="02020603020101020101" pitchFamily="18" charset="-127"/>
                  </a:rPr>
                  <a:t> rule)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anose="02020603020101020101" pitchFamily="18" charset="-127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−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𝑐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−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−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𝑐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]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anose="02020603020101020101" pitchFamily="18" charset="-127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𝑐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]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𝑟</m:t>
                      </m:r>
                    </m:oMath>
                  </m:oMathPara>
                </a14:m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자원의 단위당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순이윤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혹은 희소성지대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𝑐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이자율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속도로 상승해야 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우변이 더 클 경우 이번 기에 자원을 모두 채굴</a:t>
                </a:r>
                <a:r>
                  <a:rPr lang="en-US" altLang="ko-KR" sz="1600" dirty="0">
                    <a:latin typeface="Arial" panose="020B0604020202020204" pitchFamily="34" charset="0"/>
                    <a:ea typeface="나눔명조" panose="02020603020101020101" pitchFamily="18" charset="-127"/>
                    <a:cs typeface="Arial" panose="020B0604020202020204" pitchFamily="34" charset="0"/>
                  </a:rPr>
                  <a:t>·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판매하려 하고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좌변이 더 클 경우 기다렸다가 미래에 모두 채굴</a:t>
                </a:r>
                <a:r>
                  <a:rPr lang="en-US" altLang="ko-KR" sz="1600" dirty="0">
                    <a:latin typeface="Arial" panose="020B0604020202020204" pitchFamily="34" charset="0"/>
                    <a:ea typeface="나눔명조" panose="02020603020101020101" pitchFamily="18" charset="-127"/>
                    <a:cs typeface="Arial" panose="020B0604020202020204" pitchFamily="34" charset="0"/>
                  </a:rPr>
                  <a:t>·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판매하려 할 것임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정부가 점차 강화되는 탄소세정책을 도입하면 미래의 석유가격 증가속도가 하락하므로 기업은 채굴속도를 빨리하여 가능한 한 조기에 석유를 공급하고자 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초기에 배출된 온실가스는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𝐶𝑂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농도를 누적적으로 증가시키므로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이러한 수요관리정책은 오히려 기후변화를 악화시킬 수 있음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020B6E-6EBF-4DDC-A782-22444640A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9179" y="1603155"/>
                <a:ext cx="7313612" cy="4114800"/>
              </a:xfrm>
              <a:blipFill>
                <a:blip r:embed="rId2"/>
                <a:stretch>
                  <a:fillRect l="-750" t="-741" b="-12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85A697-7D9A-4DB4-8389-2AE3844E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22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68D19C-8781-49BD-AAC7-4A70E914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12D6-C075-41D8-8F5F-C6DFB89E7CD7}" type="slidenum">
              <a:rPr lang="ko-KR" altLang="en-US" smtClean="0"/>
              <a:pPr/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32694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5A1E95CB-5F3F-4060-9B6E-01EB6D70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기후변화 대응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C6CEBAB7-3630-4B37-924B-77EE55DBF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4790" y="1371599"/>
            <a:ext cx="7313613" cy="4767943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기후변화에 대한 대응은 온실가스 배출저감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(mitigation)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혹은 감축과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기후위기에 대한 적응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(adaptation)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으로 나뉨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저감의 경우 개별 국가의 노력보다는 지구 전체의 조직화된 공동 대응이 필요함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배출량은 인구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인당 소득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소득당 에너지 사용량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사용 에너지 단위당 온실가스 배출량의 네 가지 요소에 의해 결정됨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인구와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인당 소득을 줄이는 선택은 하기 어려우므로 결국 에너지 효율을 높이고 에너지 단위당 배출량을 줄이는 조치를 취해야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에너지 전환과 기술개발이 주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감축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(mitigation)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수단이 되어야 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비에너지 부문도 배출감소 혹은 흡수를 추진해야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36C84B69-8611-4283-8931-D51542D9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CA60C5D9-ED46-4C64-9CDE-5BC617E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352C7-EC86-4987-8963-7A8C8FE0E626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216285D4-311C-4084-B0DF-01C33098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B3B2C60-5B41-47A8-A374-E4B795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5A1E95CB-5F3F-4060-9B6E-01EB6D70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배출저감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C6CEBAB7-3630-4B37-924B-77EE55DBF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7593" y="1301426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감축을 위한 정책수단으로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탄소세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배출권거래제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기술개발에 대한 지원 등이 사용되어야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에너지부문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화석연료 사용 최소화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사용된 화석연료는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CCS(carbon capture and storage)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기술을 적용해 탄소를 회수하고 저장해야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에너지시스템의 전력화 달성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전력 생산은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CO2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배출없이 이루어야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전력화를 위한 기반시설 투자가 필요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이미 배출된 탄소는 직접 흡수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(DACCS, direct air CCS)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하거나 바이오매스를 활용하여 흡수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(BECCS, bioenergy with CCS)</a:t>
            </a: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36C84B69-8611-4283-8931-D51542D9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CA60C5D9-ED46-4C64-9CDE-5BC617E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352C7-EC86-4987-8963-7A8C8FE0E626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216285D4-311C-4084-B0DF-01C33098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B3B2C60-5B41-47A8-A374-E4B795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2165276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5A1E95CB-5F3F-4060-9B6E-01EB6D70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배출저감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C6CEBAB7-3630-4B37-924B-77EE55DBF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7593" y="1301426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산업부문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원자재의 수요관리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효율성 증대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순환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재활용 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체계 구축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신공정의 도입을 통해 배출저감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상당한 정도의 기술혁신이 도입되어야 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원료물질의 국제교역을 감안해 국제적 협력도 필요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도시부문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건물 등의 에너지와 원료 사용 절감하고 친환경적 도시 및 생산과 소비로 전환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도시 내 전력화와 탄소 흡수 및 저장 추진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토지이용 형태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공간구조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도시화 등의 계획 자체에 이러한 내용을 반영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36C84B69-8611-4283-8931-D51542D9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CA60C5D9-ED46-4C64-9CDE-5BC617E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352C7-EC86-4987-8963-7A8C8FE0E626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216285D4-311C-4084-B0DF-01C33098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B3B2C60-5B41-47A8-A374-E4B795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8063734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5A1E95CB-5F3F-4060-9B6E-01EB6D70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배출저감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C6CEBAB7-3630-4B37-924B-77EE55DBF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7593" y="1143000"/>
            <a:ext cx="7313613" cy="51054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수송부문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육상수송은 전기자동차 보급이 가장 중요한 수단이 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바이오에너지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공급 확대도 기여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항공과 해운은 기존 설비의 에너지 효율성 향상과 신기술 도입 필요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친환경 연료로의 전환 추진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전체 에너지 시스템의 전력화와 연계하여 탄소저감 추진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기반투자 및 요금체계의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변동 필요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농업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산림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여타 토지이용부문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(AFOLU, Agriculture, Forestry, and Other Land Use)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에너지 공급부문과 함께 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(-)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배출 담당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열대림 파괴 줄이고 삼림과 여타 생태계 보존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작물과 축산 생산을 보다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지속가능하게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하고 탄소흡수능력 제고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수요관리와 지속가능한 식단 변경 등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36C84B69-8611-4283-8931-D51542D9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CA60C5D9-ED46-4C64-9CDE-5BC617E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352C7-EC86-4987-8963-7A8C8FE0E626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216285D4-311C-4084-B0DF-01C33098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B3B2C60-5B41-47A8-A374-E4B795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8444085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5A1E95CB-5F3F-4060-9B6E-01EB6D70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기후변화 적응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C6CEBAB7-3630-4B37-924B-77EE55DBF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1" y="1142999"/>
            <a:ext cx="7809722" cy="5276461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기후위기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(climate risk)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는 기후변화가 생태계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생물다양성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인간 시스템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(human system)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 미치는 점차 심해지면서도 서로 연관되고 또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비가역적인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영향을 의미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기후위기 유발요인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생명 손실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부상 및 건강상의 손실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자산 피해와 손실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생산성 손실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기초시설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서비스 공급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생태계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환경자원 등에 미치는 물리적 사건들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기후 위기 취약성은 개인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사회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지역과 국가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시점 간에 상당히 다른 모습을 보일 것 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적응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(adaptation)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은 기후변화에 대한 노출과 취약성을 줄이는 모든 행위를 의미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적응을 위해서는 사회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경제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생태 시스템이 </a:t>
            </a:r>
            <a:r>
              <a:rPr lang="ko-KR" altLang="en-US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회복력</a:t>
            </a:r>
            <a:r>
              <a:rPr lang="en-US" altLang="ko-KR" sz="1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(resilience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 =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기후위험 요인이 발생하고 증가하는 것에 대한 대응 능력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을 갖추도록 해야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에너지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토지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해양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생태계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도시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농촌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기초시설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산업과 사회 전체에서 적절한 전환이 필요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36C84B69-8611-4283-8931-D51542D9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CA60C5D9-ED46-4C64-9CDE-5BC617E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352C7-EC86-4987-8963-7A8C8FE0E626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216285D4-311C-4084-B0DF-01C33098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B3B2C60-5B41-47A8-A374-E4B795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0365522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5A1E95CB-5F3F-4060-9B6E-01EB6D70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기후변화 적응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C6CEBAB7-3630-4B37-924B-77EE55DBF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1" y="1142999"/>
            <a:ext cx="7809722" cy="5276461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토지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해양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생태계 전환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물 관리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농업용수 관리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식품의 가용성과 안정성 확보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지속가능한 숲 관리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육지부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담수부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해양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연안이 생태계 보존과 회복 등을 포함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물 관리 적응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홍수방지 조기경보 시스템 구축 및 제방 건설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습지와 하천 회복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산림관리를 통한 물 보유 능력 확보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수자원 관리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농업용수 관리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용수 저장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토양 습도 관리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농식품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관련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품종개량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농촌 지역단위 대응 조치 개발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도시농업 육성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삼림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지속가능한 삼림관리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수종 다양화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병해충과 산불 저감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생태계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육지부와 해양부 생태계 보존과 회복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서식지 이동을 원활하게 하는 조치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36C84B69-8611-4283-8931-D51542D9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CA60C5D9-ED46-4C64-9CDE-5BC617E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352C7-EC86-4987-8963-7A8C8FE0E626}" type="slidenum">
              <a:rPr lang="ko-KR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216285D4-311C-4084-B0DF-01C33098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B3B2C60-5B41-47A8-A374-E4B795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584698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5A1E95CB-5F3F-4060-9B6E-01EB6D70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기후변화 적응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C6CEBAB7-3630-4B37-924B-77EE55DBF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1" y="1142999"/>
            <a:ext cx="7809722" cy="5276461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도시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농촌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기초시설 전환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도시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농촌 정주와 기초시설 설계에 기후위기 문제 반영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물리적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자연적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사회적 기초시설의 전환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특히 재해방지시설 등의 물리적 기초시설에 대한 투자가 우선되어야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농촌은 특히 기후위기에 취약하므로 기초시설 공급과 함께 작물 재해보험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소득지원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공적 일자리 등의 사회안전망이 갖추어 져야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에너지 시스템 전환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에너지 기초시설 회복력을 높이는 것이 필요함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전력 시스템 신뢰도 향상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신재생자원 등 에너지 생산기반 확충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발전설비의 다양화와 지역화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에너지 시장구조 개편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스마트 그리드 기술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안정적인 송배전 시스템이 구비되어야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36C84B69-8611-4283-8931-D51542D9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CA60C5D9-ED46-4C64-9CDE-5BC617E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352C7-EC86-4987-8963-7A8C8FE0E626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216285D4-311C-4084-B0DF-01C33098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B3B2C60-5B41-47A8-A374-E4B795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130991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5A1E95CB-5F3F-4060-9B6E-01EB6D706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기후변화 적응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C6CEBAB7-3630-4B37-924B-77EE55DBF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1" y="1142999"/>
            <a:ext cx="7809722" cy="5276461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보건 시스템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보건 시스템의 회복력이 제고되어야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특히 취약계층을 우선 배려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이상고온 조기경보시스템과 건강 대책이 갖추어 져야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안전한 식수 및 음식에 대한 접근성 높임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감염성 질환에 대한 예측과 조기경보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백신 개발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대규모 기후난민 발생에 대처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민간과 공공부문의 역할 분담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모든 적응조치는 개인이 실행할 수 있는 바와 국가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지방자치단체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국제사회 등 공적부문이 담당해야할 역할로 구분됨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개인과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공공의 노력이 상호 조화를 이루어야 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지나친 공적 개입이 개인의 적응노력 동기를 저해하지 않아야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36C84B69-8611-4283-8931-D51542D9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CA60C5D9-ED46-4C64-9CDE-5BC617E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FA352C7-EC86-4987-8963-7A8C8FE0E626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216285D4-311C-4084-B0DF-01C33098C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B3B2C60-5B41-47A8-A374-E4B7957B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919933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7DD333C4-E331-438B-8E40-984E6783C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국제적 노력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4035" name="Rectangle 7">
            <a:extLst>
              <a:ext uri="{FF2B5EF4-FFF2-40B4-BE49-F238E27FC236}">
                <a16:creationId xmlns:a16="http://schemas.microsoft.com/office/drawing/2014/main" id="{B9A58D89-0266-4890-9450-3F81C619D5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8856" y="1371600"/>
            <a:ext cx="7431088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온실가스는 전형적인 전 지구적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동질적 오염물질이므로 저감편익을 전 세계가 공유하지만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저감비용은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저감국가가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직접 지불해야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각국의 적극적인 배출저감노력을 막는 요인이 됨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모든 국가들이 스스로 배출량을 줄이기보다 다른 국가가 줄인 성과를 이용하려는 동기를 가질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기후변화문제는 지구상 대부분의 국가가 동참하는 노력이 있어야 완화될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4036" name="바닥글 개체 틀 4">
            <a:extLst>
              <a:ext uri="{FF2B5EF4-FFF2-40B4-BE49-F238E27FC236}">
                <a16:creationId xmlns:a16="http://schemas.microsoft.com/office/drawing/2014/main" id="{8287FCAB-3D03-4456-BF76-37841B48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4037" name="슬라이드 번호 개체 틀 5">
            <a:extLst>
              <a:ext uri="{FF2B5EF4-FFF2-40B4-BE49-F238E27FC236}">
                <a16:creationId xmlns:a16="http://schemas.microsoft.com/office/drawing/2014/main" id="{BFCACAA9-E5AD-419B-99D5-86068F31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0596529-3C0A-4CD4-8A65-D461CFB51801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882E2A61-96C0-43D6-9133-117B16531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8C3A856C-4FD9-4916-9427-F477750A1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19BB7126-BD2C-4A47-BDB6-2B02247ED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65125"/>
            <a:ext cx="7313612" cy="810532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국제적 노력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7">
            <a:extLst>
              <a:ext uri="{FF2B5EF4-FFF2-40B4-BE49-F238E27FC236}">
                <a16:creationId xmlns:a16="http://schemas.microsoft.com/office/drawing/2014/main" id="{D4BE5667-158E-4684-A7CA-91FF169B2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1" y="1371600"/>
            <a:ext cx="7313613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1992</a:t>
            </a:r>
            <a:r>
              <a:rPr lang="ko-KR" altLang="en-US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년 </a:t>
            </a:r>
            <a:r>
              <a:rPr lang="ko-KR" altLang="en-US" sz="21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리우정상회담에서</a:t>
            </a:r>
            <a:r>
              <a:rPr lang="ko-KR" altLang="en-US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1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UN</a:t>
            </a:r>
            <a:r>
              <a:rPr lang="ko-KR" altLang="en-US" sz="21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기후변화협약</a:t>
            </a:r>
            <a:r>
              <a:rPr lang="en-US" altLang="ko-KR" sz="21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(UN Framework Convention on Climate Change)</a:t>
            </a:r>
            <a:r>
              <a:rPr lang="ko-KR" altLang="en-US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을 채택함</a:t>
            </a:r>
          </a:p>
          <a:p>
            <a:pPr lvl="1" eaLnBrk="1" hangingPunct="1">
              <a:defRPr/>
            </a:pP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온실가스 배출량 증대에 크게 기여한 선진국들은 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2000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년까지 온실가스 배출량을 자국의 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1990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년도 수준까지 줄여야 함</a:t>
            </a:r>
          </a:p>
          <a:p>
            <a:pPr eaLnBrk="1" hangingPunct="1">
              <a:defRPr/>
            </a:pPr>
            <a:r>
              <a:rPr lang="en-US" altLang="ko-KR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1997</a:t>
            </a:r>
            <a:r>
              <a:rPr lang="ko-KR" altLang="en-US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년 </a:t>
            </a:r>
            <a:r>
              <a:rPr lang="en-US" altLang="ko-KR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12</a:t>
            </a:r>
            <a:r>
              <a:rPr lang="ko-KR" altLang="en-US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월 </a:t>
            </a:r>
            <a:r>
              <a:rPr lang="ko-KR" altLang="en-US" sz="2100" b="1" dirty="0" err="1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교토의정서</a:t>
            </a:r>
            <a:r>
              <a:rPr lang="en-US" altLang="ko-KR" sz="21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(Kyoto Protocol)</a:t>
            </a:r>
            <a:r>
              <a:rPr lang="ko-KR" altLang="en-US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</a:t>
            </a:r>
            <a:r>
              <a:rPr lang="en-US" altLang="ko-KR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2000</a:t>
            </a:r>
            <a:r>
              <a:rPr lang="ko-KR" altLang="en-US" sz="21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년 이후의 선진국들의 온실가스 감축목표를 설정함</a:t>
            </a:r>
          </a:p>
          <a:p>
            <a:pPr lvl="1" eaLnBrk="1" hangingPunct="1">
              <a:defRPr/>
            </a:pP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당초의 기후변화협약에서는 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CO</a:t>
            </a:r>
            <a:r>
              <a:rPr lang="en-US" altLang="ko-KR" sz="185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CH</a:t>
            </a:r>
            <a:r>
              <a:rPr lang="en-US" altLang="ko-KR" sz="185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4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N</a:t>
            </a:r>
            <a:r>
              <a:rPr lang="en-US" altLang="ko-KR" sz="185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O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만을 온실가스에 포함시켰으나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CFC 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대체물질인 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HFC, PFC, SF</a:t>
            </a:r>
            <a:r>
              <a:rPr lang="en-US" altLang="ko-KR" sz="185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6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까지 추가함</a:t>
            </a:r>
            <a:endParaRPr lang="en-US" altLang="ko-KR" sz="185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선진국을 중심으로 국가별 의무 </a:t>
            </a:r>
            <a:r>
              <a:rPr lang="ko-KR" altLang="en-US" sz="185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감축량을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부과하고 국가 간의 </a:t>
            </a:r>
            <a:r>
              <a:rPr lang="ko-KR" altLang="en-US" sz="185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배출권거래제와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공동이행제도</a:t>
            </a:r>
            <a:r>
              <a:rPr lang="en-US" altLang="ko-KR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(Joint Implementation)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 도입함</a:t>
            </a:r>
          </a:p>
          <a:p>
            <a:pPr lvl="2" eaLnBrk="1" hangingPunct="1">
              <a:defRPr/>
            </a:pPr>
            <a:r>
              <a:rPr lang="ko-KR" altLang="en-US" sz="17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배출감소에 있어서의 효율성과 신축성을 달성할 수 있는 여지를 만듦</a:t>
            </a:r>
            <a:r>
              <a:rPr lang="en-US" altLang="ko-KR" sz="17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-</a:t>
            </a:r>
            <a:r>
              <a:rPr lang="ko-KR" altLang="en-US" sz="17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공동이행제도</a:t>
            </a:r>
            <a:r>
              <a:rPr lang="en-US" altLang="ko-KR" sz="17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7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청정개발체제</a:t>
            </a:r>
          </a:p>
          <a:p>
            <a:pPr lvl="1" eaLnBrk="1" hangingPunct="1">
              <a:defRPr/>
            </a:pP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인간활동에 의한 토지이용의 변화나 삼림 등의 </a:t>
            </a:r>
            <a:r>
              <a:rPr lang="ko-KR" altLang="en-US" sz="185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흡수원을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통한 온실가스 제거 행위를 인정하여 이를 </a:t>
            </a:r>
            <a:r>
              <a:rPr lang="ko-KR" altLang="en-US" sz="185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감축량에</a:t>
            </a:r>
            <a:r>
              <a:rPr lang="ko-KR" altLang="en-US" sz="185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포함하기로 함</a:t>
            </a:r>
          </a:p>
        </p:txBody>
      </p:sp>
      <p:sp>
        <p:nvSpPr>
          <p:cNvPr id="45060" name="바닥글 개체 틀 4">
            <a:extLst>
              <a:ext uri="{FF2B5EF4-FFF2-40B4-BE49-F238E27FC236}">
                <a16:creationId xmlns:a16="http://schemas.microsoft.com/office/drawing/2014/main" id="{2DE16B95-AAA7-45B0-A3A4-F3A2DFD0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5061" name="슬라이드 번호 개체 틀 5">
            <a:extLst>
              <a:ext uri="{FF2B5EF4-FFF2-40B4-BE49-F238E27FC236}">
                <a16:creationId xmlns:a16="http://schemas.microsoft.com/office/drawing/2014/main" id="{4489391A-F514-47F8-AD51-476E09D2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D021852-7D90-4D99-9295-A4676E58917D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2896EFA1-F94B-4B2C-A8F2-90C398504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1BDF8BAD-473D-4C57-B961-1DF89025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>
            <a:extLst>
              <a:ext uri="{FF2B5EF4-FFF2-40B4-BE49-F238E27FC236}">
                <a16:creationId xmlns:a16="http://schemas.microsoft.com/office/drawing/2014/main" id="{5CF437BA-A5EC-470B-A90C-CED353DBB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65125"/>
            <a:ext cx="7313612" cy="717226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국제적 노력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3" name="Rectangle 7">
            <a:extLst>
              <a:ext uri="{FF2B5EF4-FFF2-40B4-BE49-F238E27FC236}">
                <a16:creationId xmlns:a16="http://schemas.microsoft.com/office/drawing/2014/main" id="{A8876B9A-D2A9-436E-B14C-6CB1A4F3A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9435" y="1195679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최대 배출국이었던 미국이 교토의정서에 서명만 하고 비준을 하지 않아 감축의무를 지지 않게 되었고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조약의 실효성이 문제가 됨 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브라질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러시아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중국 등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(BRICs)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온실가스 배출 비중이 커지면서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교토의정서상의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의무감축국들이 전 세계 배출량에서 차지하는 비중이 갈수록 줄어드는 문제가 발생함</a:t>
            </a:r>
          </a:p>
          <a:p>
            <a:pPr eaLnBrk="1" hangingPunct="1"/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2012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년까지의 배출저감 목표를 명시하고 있는 교토의정서 이후의 감축내용에 대한 합의를 도출하고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갈수록 비중이 커지는 개발도상국들로 하여금 의무감축에 동참하게 하기 위한 노력이 계속 진행됨</a:t>
            </a:r>
          </a:p>
        </p:txBody>
      </p:sp>
      <p:sp>
        <p:nvSpPr>
          <p:cNvPr id="46084" name="바닥글 개체 틀 4">
            <a:extLst>
              <a:ext uri="{FF2B5EF4-FFF2-40B4-BE49-F238E27FC236}">
                <a16:creationId xmlns:a16="http://schemas.microsoft.com/office/drawing/2014/main" id="{4B97BC0C-2B63-455C-9474-FE8E6084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6085" name="슬라이드 번호 개체 틀 5">
            <a:extLst>
              <a:ext uri="{FF2B5EF4-FFF2-40B4-BE49-F238E27FC236}">
                <a16:creationId xmlns:a16="http://schemas.microsoft.com/office/drawing/2014/main" id="{8B37725A-EE93-4074-9A48-55D007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1432887-8D94-4EA0-81C5-DE6CE42EB725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C3DDAAA3-347A-4D22-B1F2-D343E00EE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2835226B-2F90-4845-9680-23EAFE9A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>
            <a:extLst>
              <a:ext uri="{FF2B5EF4-FFF2-40B4-BE49-F238E27FC236}">
                <a16:creationId xmlns:a16="http://schemas.microsoft.com/office/drawing/2014/main" id="{0C72DC11-8CBC-4E3E-BCEA-AAE99D6501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65125"/>
            <a:ext cx="7313612" cy="667463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국제적 노력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7" name="Rectangle 7">
            <a:extLst>
              <a:ext uri="{FF2B5EF4-FFF2-40B4-BE49-F238E27FC236}">
                <a16:creationId xmlns:a16="http://schemas.microsoft.com/office/drawing/2014/main" id="{DCB4FF36-9E94-468D-8129-7DC6C94EFF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0159" y="1163638"/>
            <a:ext cx="7313612" cy="41148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2009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년의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코펜하겐합의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(Copenhagen Accord)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미국과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BASIC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국가들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브라질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남아프리카 공화국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인도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중국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의해 초안이 만들어진 것이고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결국 미국과 중국 간의 정치적 타결의 산물이 됨</a:t>
            </a:r>
          </a:p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포스트교토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(Post-2012)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도출의 가장 큰 장애는 선진국과 개발도상국의 이해관계가 충돌임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선진국은 전 지구적 차원의 감축을 달성하기 위해서는 개발도상국의 배출량 감소가 불가피함을 강조함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개발도상국들은 지구온난화는 주로 선진국의 산업화에 의해 이루어졌으며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앞으로 성장해야 할 개발도상국의 에너지 소비증대의 불가피성을 들어 개발도상국에 대해서도 강제적인 감축계획을 적용하는 것을 반대함</a:t>
            </a:r>
          </a:p>
        </p:txBody>
      </p:sp>
      <p:sp>
        <p:nvSpPr>
          <p:cNvPr id="47108" name="바닥글 개체 틀 4">
            <a:extLst>
              <a:ext uri="{FF2B5EF4-FFF2-40B4-BE49-F238E27FC236}">
                <a16:creationId xmlns:a16="http://schemas.microsoft.com/office/drawing/2014/main" id="{1C689342-2926-4853-B427-BA6D7072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3F262C36-4448-4669-A016-0B6E9DC61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6FF1268-50F5-47C1-AF91-2984CCD8AA54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A10F6E8A-9DC6-4C7E-8F5C-315869B6E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88577103-9429-4054-B041-F3016635B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D74EB38A-1CF1-4F96-82E7-5FD97115CC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65125"/>
            <a:ext cx="7313612" cy="648802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국제적 노력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9B230D94-28C1-41E8-B410-080BAD4F4A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7593" y="144029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코펜하겐 합의는 감축의무할당과 개발도상국에 대한 재정지원문제에 있어 각국의 입장 차이로 인해 결국 구속력을 갖는 합의를 도출하지 못함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현 시점에 있어 온실가스 배출저감에 가장 큰 영향을 미치는 국제합의는 </a:t>
            </a:r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파리협정</a:t>
            </a:r>
            <a:r>
              <a:rPr lang="en-US" altLang="ko-KR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(Paris Agreement)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온실가스관련 국제협약으로서는 처음으로 포괄적으로 적용되는 국제법이 되었으며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2016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년 효력이 발효됨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교토의정서와는 성격이 매우 다르므로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신 기후체제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(new climate regime)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라 불림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목표 기온상승을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2℃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보다도 더 아래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(well below)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로 잡아야 함을 공식화함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감축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2)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적응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3)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재원조달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(finance), 4)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5)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역량배양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(capacity-building), 6)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감축 투명성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(transparency)</a:t>
            </a: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A8231315-BFC2-46F4-8ECE-AF1CCA1E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660E0A20-8FB1-499C-A7E2-BC1C3643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0D7CA9E-1383-4463-8AAF-4346A4526D22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AA1BBE43-E05C-4C59-A1CC-B9F0ED070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B4C749B0-EFF8-4F4F-BD10-D471795CF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D74EB38A-1CF1-4F96-82E7-5FD97115CC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65125"/>
            <a:ext cx="7313612" cy="655022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국제적 노력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9B230D94-28C1-41E8-B410-080BAD4F4A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9260" y="1085070"/>
            <a:ext cx="7313613" cy="4505325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파리협정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국가 자발적 기여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(Nationally Determined Contribution, NDC)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감축부터 투명성에 이르는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6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가지 사항에 대한 국가 목표를 스스로 설정하여 제출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감축량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할당과정에서 발생하는 국가 간 갈등을 피하고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개발도상국을 포함하는 모든 국가가 감축노력에 동참하게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스스로 설정한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NDC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달성하기 위한 정책을 시행해야 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주기적으로 새로운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NDC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제출해야 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새로운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NDC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기존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NDC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에 비해 감축목표가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상향되어야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하는 원칙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각국은 처한 경제적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환경적 상황을 반영하여 현실가능성이 있으면서도 국제사회의 요구에 부응하는 방법을 찾아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NDC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를 제시하였음</a:t>
            </a: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A8231315-BFC2-46F4-8ECE-AF1CCA1E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660E0A20-8FB1-499C-A7E2-BC1C3643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0D7CA9E-1383-4463-8AAF-4346A4526D22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AA1BBE43-E05C-4C59-A1CC-B9F0ED070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B4C749B0-EFF8-4F4F-BD10-D471795CF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988863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6B402409-EC2C-473C-B798-F2986326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422275"/>
            <a:ext cx="7313613" cy="64763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통합평가모형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B3886266-C07C-4901-8E47-57DD4C2C93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0" y="1285875"/>
            <a:ext cx="7313613" cy="4114800"/>
          </a:xfrm>
        </p:spPr>
        <p:txBody>
          <a:bodyPr/>
          <a:lstStyle/>
          <a:p>
            <a:pPr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IPCC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보고서의 구조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미래의 사회경제적 발전경로 시나리오 설정 후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시나리오별 인구와 경제성장 등을 수량지표로 전환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이러한 사회경제적 수량 지표 전망치로부터 향후 에너지 소비량과 온실가스 배출량 전망치 생성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에너지 소비량과 배출량 전망치로부터 기후시스템 전망치 도출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과정에서 두 가지 분석 모형이 중요한 역할을 담당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통합평가모형</a:t>
            </a:r>
            <a:r>
              <a:rPr lang="en-US" altLang="ko-KR" sz="18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(Integrated Assessment Model, IAM):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시나리오별로 에너지 소비량과 온실가스 배출량을 전망하며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대응정책의 경제적 효과까지 분석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GCM(global climate model):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지구의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3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차원 그리드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(grid)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모형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온실가스 배출량과 농도 증가로 인해 발생하는 물리적 과정과 기후시스템 변화를 전망 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ko-KR" altLang="en-US" sz="19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AC5C19A8-2EEB-4C60-BC66-DBA86392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BA2EAA0E-BA8C-4242-88C2-AC9E263A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89EAB00-AF4F-4C3B-A138-E9A683B27F51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4E533D66-6C99-495D-AE79-7C8F1170A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0E3AE426-D516-4CB1-AB61-6F1ACAAE6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6B402409-EC2C-473C-B798-F2986326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422275"/>
            <a:ext cx="7313613" cy="64763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통합평가모형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B3886266-C07C-4901-8E47-57DD4C2C93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0" y="1285875"/>
            <a:ext cx="7313613" cy="4114800"/>
          </a:xfrm>
        </p:spPr>
        <p:txBody>
          <a:bodyPr/>
          <a:lstStyle/>
          <a:p>
            <a:pPr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IAM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경제학 분석이 큰 비중을 차지하는 학제적 모형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과정기반모형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IPCC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미래 전망을 위해 사용하는 약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여개에 이르는 모형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시나리오 가정하에 에너지 사용과 온실가스배출을 모형화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경제활동별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시설별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에너지 종류별 세부 정보 제공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집계 비용편익모형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기후변화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피해비용과 완화비용을 집계하고 최적의 배출수준을 찾기 위한 모형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경제활동별 세밀한 영향을 도출하지는 않으며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경제 전체 영향을 분석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온실가스 배출의 비용과 편익을 반영하고 동태최적화를 통해 정책효과 분석과 최적 성장경로를 찾는 데 유용 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다수의 집계 비용편익모형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IAM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있음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대표적으로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스턴리뷰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(Stern Review)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모형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 Nordhaus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DICE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모형 등이 있음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ko-KR" altLang="en-US" sz="19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AC5C19A8-2EEB-4C60-BC66-DBA86392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BA2EAA0E-BA8C-4242-88C2-AC9E263A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89EAB00-AF4F-4C3B-A138-E9A683B27F51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4E533D66-6C99-495D-AE79-7C8F1170A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0E3AE426-D516-4CB1-AB61-6F1ACAAE6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6679599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6B402409-EC2C-473C-B798-F2986326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422275"/>
            <a:ext cx="7313613" cy="647635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통합평가모형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B3886266-C07C-4901-8E47-57DD4C2C93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0" y="1069910"/>
            <a:ext cx="7313613" cy="4114800"/>
          </a:xfrm>
        </p:spPr>
        <p:txBody>
          <a:bodyPr/>
          <a:lstStyle/>
          <a:p>
            <a:pPr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IAM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구조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생산과정에서 배출량이 늘어나 온실가스 농도가 올라감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 때문에 지구의 기온이 높아지며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생산성이 하락함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온실가스 농도를 계속 높이지 않고 안정화 시키기 위해서는 탄소세나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배출권거래제와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같은 정책을 도입할 수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탄소가격 상승으로 인해 생산량이 직접 달라질 수 있고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생산기술의 변화가 발생하면 동일한 양이 생산되더라도 온실가스 배출량이 달라질 수 있음</a:t>
            </a:r>
          </a:p>
          <a:p>
            <a:pPr eaLnBrk="1" hangingPunct="1"/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AC5C19A8-2EEB-4C60-BC66-DBA86392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BA2EAA0E-BA8C-4242-88C2-AC9E263A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89EAB00-AF4F-4C3B-A138-E9A683B27F51}" type="slidenum">
              <a:rPr lang="ko-KR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4E533D66-6C99-495D-AE79-7C8F1170A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0E3AE426-D516-4CB1-AB61-6F1ACAAE6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8CBFCF4-F271-4FE5-B74E-7F1D8B9B5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396" y="3563059"/>
            <a:ext cx="7072604" cy="291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06180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6">
            <a:extLst>
              <a:ext uri="{FF2B5EF4-FFF2-40B4-BE49-F238E27FC236}">
                <a16:creationId xmlns:a16="http://schemas.microsoft.com/office/drawing/2014/main" id="{A8D097D5-BE9C-4804-A39B-559A87058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744894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통합평가모형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4" name="Rectangle 7">
                <a:extLst>
                  <a:ext uri="{FF2B5EF4-FFF2-40B4-BE49-F238E27FC236}">
                    <a16:creationId xmlns:a16="http://schemas.microsoft.com/office/drawing/2014/main" id="{BF92571B-4F64-4042-8E21-3F8F7B31870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5194" y="744894"/>
                <a:ext cx="7313612" cy="5164494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최적화형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IAM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모형은 소비로부터 발생하는 모든 후생의 할인합을 극대화하고자 함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(1+</m:t>
                                  </m:r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𝜌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특정 시점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 있어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인당 소비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인구</a:t>
                </a:r>
                <a:r>
                  <a:rPr lang="en-US" altLang="ko-KR" sz="2000" dirty="0"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효용함수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파라메터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서로 다른 시점 간의 효용을 비교하도록 해주는 시간에 대한 선호를 나타내는 지표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소비를 위한 생산은 노동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자본 및 생산성에 의해 결정되며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생산성은 지구온난화정도와 저감비용 지출에 의해 결정됨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이번 기에 생산을 많이 하면 온난화를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심화시켜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미래 생산과 소비 줄임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기후변화의 피해를 생산성 손실로 나타내어 모형에 반영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저감정도와 자본 투자 수준을 선택해 동태 최적화 달성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저감행위를 하는 것이 하지 않는 경우보다 장기 후생 높임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4" name="Rectangle 7">
                <a:extLst>
                  <a:ext uri="{FF2B5EF4-FFF2-40B4-BE49-F238E27FC236}">
                    <a16:creationId xmlns:a16="http://schemas.microsoft.com/office/drawing/2014/main" id="{BF92571B-4F64-4042-8E21-3F8F7B3187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194" y="744894"/>
                <a:ext cx="7313612" cy="5164494"/>
              </a:xfrm>
              <a:blipFill>
                <a:blip r:embed="rId3"/>
                <a:stretch>
                  <a:fillRect l="-1083" t="-1063" r="-417" b="-77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5" name="바닥글 개체 틀 4">
            <a:extLst>
              <a:ext uri="{FF2B5EF4-FFF2-40B4-BE49-F238E27FC236}">
                <a16:creationId xmlns:a16="http://schemas.microsoft.com/office/drawing/2014/main" id="{47FBE298-6416-4ED8-B8F0-7FFDC575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056" name="슬라이드 번호 개체 틀 5">
            <a:extLst>
              <a:ext uri="{FF2B5EF4-FFF2-40B4-BE49-F238E27FC236}">
                <a16:creationId xmlns:a16="http://schemas.microsoft.com/office/drawing/2014/main" id="{1004E2A0-0EA4-4B97-B971-A7076332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47EBE43-25A6-44B7-901A-94B952BDDCC9}" type="slidenum">
              <a:rPr lang="ko-KR" altLang="en-US" sz="1200" b="0">
                <a:solidFill>
                  <a:schemeClr val="tx1"/>
                </a:solidFill>
              </a:rPr>
              <a:pPr/>
              <a:t>31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7" name="Rectangle 2">
            <a:extLst>
              <a:ext uri="{FF2B5EF4-FFF2-40B4-BE49-F238E27FC236}">
                <a16:creationId xmlns:a16="http://schemas.microsoft.com/office/drawing/2014/main" id="{4D7A0C8D-B2DE-4BF1-BFC1-A3E6FDE94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8" name="Rectangle 3">
            <a:extLst>
              <a:ext uri="{FF2B5EF4-FFF2-40B4-BE49-F238E27FC236}">
                <a16:creationId xmlns:a16="http://schemas.microsoft.com/office/drawing/2014/main" id="{26788EEF-744A-4B44-9311-6E498616F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6">
            <a:extLst>
              <a:ext uri="{FF2B5EF4-FFF2-40B4-BE49-F238E27FC236}">
                <a16:creationId xmlns:a16="http://schemas.microsoft.com/office/drawing/2014/main" id="{A8D097D5-BE9C-4804-A39B-559A87058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744894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탄소의 사회적 비용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BF92571B-4F64-4042-8E21-3F8F7B318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0941" y="914400"/>
            <a:ext cx="7313612" cy="5511282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IAM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제공할 수 있는 매우 유용한 정보 중 하나가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탄소의 사회적 비용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(social cost of carbon, SCC)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 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톤의 탄소를 더 배출함으로 인해 발생하는 사회적 비용을 금액으로 계측한 것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역으로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톤을 감축함에 따라 얻게 되는 사회적 편익으로서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특정 시점에 배출을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톤 줄임에 따라 향후 발생하는 소비가치를 할인해서 더해준 것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최적의 동태적 의사결정이 이루어졌다면 탄소의 가격과 일치해야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최적 정책수단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/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수준과 배출경로를 찾는데 활용됨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그외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다양한 정책에 적용될 수 있음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승용차 연비 규제와 발전소 대기오염 배출규제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CCS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등 탄소저감 기술에 대한 보조금 산정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전력요금에 일종의 환경세로 부과 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 조달업무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석유 등 화석연료 개발권 가격 산정 등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055" name="바닥글 개체 틀 4">
            <a:extLst>
              <a:ext uri="{FF2B5EF4-FFF2-40B4-BE49-F238E27FC236}">
                <a16:creationId xmlns:a16="http://schemas.microsoft.com/office/drawing/2014/main" id="{47FBE298-6416-4ED8-B8F0-7FFDC575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056" name="슬라이드 번호 개체 틀 5">
            <a:extLst>
              <a:ext uri="{FF2B5EF4-FFF2-40B4-BE49-F238E27FC236}">
                <a16:creationId xmlns:a16="http://schemas.microsoft.com/office/drawing/2014/main" id="{1004E2A0-0EA4-4B97-B971-A7076332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47EBE43-25A6-44B7-901A-94B952BDDCC9}" type="slidenum">
              <a:rPr lang="ko-KR" altLang="en-US" sz="1200" b="0">
                <a:solidFill>
                  <a:schemeClr val="tx1"/>
                </a:solidFill>
              </a:rPr>
              <a:pPr/>
              <a:t>32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7" name="Rectangle 2">
            <a:extLst>
              <a:ext uri="{FF2B5EF4-FFF2-40B4-BE49-F238E27FC236}">
                <a16:creationId xmlns:a16="http://schemas.microsoft.com/office/drawing/2014/main" id="{4D7A0C8D-B2DE-4BF1-BFC1-A3E6FDE94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8" name="Rectangle 3">
            <a:extLst>
              <a:ext uri="{FF2B5EF4-FFF2-40B4-BE49-F238E27FC236}">
                <a16:creationId xmlns:a16="http://schemas.microsoft.com/office/drawing/2014/main" id="{26788EEF-744A-4B44-9311-6E498616F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8613284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6">
            <a:extLst>
              <a:ext uri="{FF2B5EF4-FFF2-40B4-BE49-F238E27FC236}">
                <a16:creationId xmlns:a16="http://schemas.microsoft.com/office/drawing/2014/main" id="{A8D097D5-BE9C-4804-A39B-559A87058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0"/>
            <a:ext cx="7313612" cy="744894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탄소의 사회적 비용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BF92571B-4F64-4042-8E21-3F8F7B318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0941" y="914400"/>
            <a:ext cx="7313612" cy="5511282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SCC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가지는 중요도로 인해 다양한 추정작업이 이루어짐 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여러 조건들이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SCC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수치에 영향을 미침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온난화 피해함수 추정의 적절성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배출량 전망치가 기후시스템에 미치는 영향에 대한 정확한 평가 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미래의 경제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환경적 변화에 개입된 불확실성 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무엇보다도 할인율 선택이 중요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배출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톤 저감에 따른 미래 소비량변화를 할인해서 더해주어야 하므로 이때 적용하는 할인율이 결과에 민감한 영향을 미침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055" name="바닥글 개체 틀 4">
            <a:extLst>
              <a:ext uri="{FF2B5EF4-FFF2-40B4-BE49-F238E27FC236}">
                <a16:creationId xmlns:a16="http://schemas.microsoft.com/office/drawing/2014/main" id="{47FBE298-6416-4ED8-B8F0-7FFDC575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2056" name="슬라이드 번호 개체 틀 5">
            <a:extLst>
              <a:ext uri="{FF2B5EF4-FFF2-40B4-BE49-F238E27FC236}">
                <a16:creationId xmlns:a16="http://schemas.microsoft.com/office/drawing/2014/main" id="{1004E2A0-0EA4-4B97-B971-A7076332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47EBE43-25A6-44B7-901A-94B952BDDCC9}" type="slidenum">
              <a:rPr lang="ko-KR" altLang="en-US" sz="1200" b="0">
                <a:solidFill>
                  <a:schemeClr val="tx1"/>
                </a:solidFill>
              </a:rPr>
              <a:pPr/>
              <a:t>33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7" name="Rectangle 2">
            <a:extLst>
              <a:ext uri="{FF2B5EF4-FFF2-40B4-BE49-F238E27FC236}">
                <a16:creationId xmlns:a16="http://schemas.microsoft.com/office/drawing/2014/main" id="{4D7A0C8D-B2DE-4BF1-BFC1-A3E6FDE94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8" name="Rectangle 3">
            <a:extLst>
              <a:ext uri="{FF2B5EF4-FFF2-40B4-BE49-F238E27FC236}">
                <a16:creationId xmlns:a16="http://schemas.microsoft.com/office/drawing/2014/main" id="{26788EEF-744A-4B44-9311-6E498616F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A9A9B0-5619-46C2-B27E-7BB07B7F4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47" y="1717894"/>
            <a:ext cx="7912359" cy="219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96459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B2BBF573-430E-4558-B7BC-D696C54B5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D04A5445-B027-4547-AA3D-DAA0ADAC37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3300" y="1476375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할인율 선택이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SCC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미치는 영향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Rennert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et al., 2021)</a:t>
            </a: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인근 연도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(10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년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할인율 추정치 평균값이 각각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3%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2%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되도록 매년 변하는 가변할인율을 적용하는 경우 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3%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2%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고정 할인율을 동일하게 모든 연도에 적용하는 경우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적용 할인율에 따라 큰 폭의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SCC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추정치 차이 발생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62468" name="바닥글 개체 틀 4">
            <a:extLst>
              <a:ext uri="{FF2B5EF4-FFF2-40B4-BE49-F238E27FC236}">
                <a16:creationId xmlns:a16="http://schemas.microsoft.com/office/drawing/2014/main" id="{FD052FCA-9408-4EBE-9DCA-342CAFF9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62469" name="슬라이드 번호 개체 틀 5">
            <a:extLst>
              <a:ext uri="{FF2B5EF4-FFF2-40B4-BE49-F238E27FC236}">
                <a16:creationId xmlns:a16="http://schemas.microsoft.com/office/drawing/2014/main" id="{6EEA2520-3D0A-4613-9A04-33E9B3EE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2EF683E-1FF9-4C6C-8789-7CF55ED287CF}" type="slidenum">
              <a:rPr lang="ko-KR" altLang="en-US" sz="1200" b="0">
                <a:solidFill>
                  <a:schemeClr val="tx1"/>
                </a:solidFill>
              </a:rPr>
              <a:pPr/>
              <a:t>34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8B69C94D-FF9E-46A9-81B1-D669F0031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2B77436E-9EBF-4C23-8173-879F20794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DE5450C-24E7-47F8-BA41-563A80DD5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95339"/>
            <a:ext cx="8366449" cy="196472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6">
            <a:extLst>
              <a:ext uri="{FF2B5EF4-FFF2-40B4-BE49-F238E27FC236}">
                <a16:creationId xmlns:a16="http://schemas.microsoft.com/office/drawing/2014/main" id="{97D76781-3C7E-4D5C-8712-CF89C6574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3" name="Rectangle 7">
                <a:extLst>
                  <a:ext uri="{FF2B5EF4-FFF2-40B4-BE49-F238E27FC236}">
                    <a16:creationId xmlns:a16="http://schemas.microsoft.com/office/drawing/2014/main" id="{29D7CD7F-276F-4501-927D-135449CEB2E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03300" y="1476375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이론적 근거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동태 최적화문제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ko-KR" altLang="en-US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  <m:t>𝜌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  <m:t>𝜌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ko-KR" altLang="en-US" sz="18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시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점의 소비량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지구 전체 경제를 책임지는 기획자가 있다면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최대화하는 소비수준 경로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}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결정할 것임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18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서로 다른 시점의 소비로부터 얻는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‘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만족도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’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비교를 위해 적용되는 일종의 시간에 대한 선호를 나타내는 파라메터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할인율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서로 다른 시점의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‘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</a:t>
                </a:r>
                <a14:m>
                  <m:oMath xmlns:m="http://schemas.openxmlformats.org/officeDocument/2006/math">
                    <m:r>
                      <a:rPr lang="ko-KR" altLang="en-US" sz="18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비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′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동일한 만족도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유지하면서 교환하고자 할 때 적용해주는 일종의 가중치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2" eaLnBrk="1" hangingPunct="1"/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효용을 현재가치로 전환할 때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는</m:t>
                    </m:r>
                    <m:r>
                      <a:rPr lang="en-US" altLang="ko-KR" sz="1700" b="0" i="1" dirty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type m:val="lin"/>
                        <m:ctrlPr>
                          <a:rPr lang="ko-KR" altLang="en-US" sz="17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7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𝑈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7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  <a:ea typeface="나눔명조" pitchFamily="18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나눔명조" pitchFamily="18" charset="-127"/>
                                    <a:cs typeface="Times New Roman" panose="02020603050405020304" pitchFamily="18" charset="0"/>
                                  </a:rPr>
                                  <m:t>1+</m:t>
                                </m:r>
                                <m:r>
                                  <a:rPr lang="ko-KR" altLang="en-US" sz="1700" i="1">
                                    <a:latin typeface="Cambria Math" panose="02040503050406030204" pitchFamily="18" charset="0"/>
                                    <a:ea typeface="나눔명조" pitchFamily="18" charset="-127"/>
                                    <a:cs typeface="Times New Roman" panose="02020603050405020304" pitchFamily="18" charset="0"/>
                                  </a:rPr>
                                  <m:t>𝜌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소비나 소득을 할인할 때는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17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700" i="1">
                                    <a:latin typeface="Cambria Math" panose="02040503050406030204" pitchFamily="18" charset="0"/>
                                    <a:ea typeface="나눔명조" pitchFamily="18" charset="-127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700" i="1">
                                    <a:latin typeface="Cambria Math" panose="02040503050406030204" pitchFamily="18" charset="0"/>
                                    <a:ea typeface="나눔명조" pitchFamily="18" charset="-127"/>
                                    <a:cs typeface="Times New Roman" panose="020206030504050203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en-US" altLang="ko-KR" sz="1700" i="1" smtClean="0">
                                        <a:latin typeface="Cambria Math" panose="02040503050406030204" pitchFamily="18" charset="0"/>
                                        <a:ea typeface="나눔명조" pitchFamily="18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700" b="0" i="1" smtClean="0">
                                        <a:latin typeface="Cambria Math" panose="02040503050406030204" pitchFamily="18" charset="0"/>
                                        <a:ea typeface="나눔명조" pitchFamily="18" charset="-127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700" b="0" i="1" smtClean="0">
                                        <a:latin typeface="Cambria Math" panose="02040503050406030204" pitchFamily="18" charset="0"/>
                                        <a:ea typeface="나눔명조" pitchFamily="18" charset="-127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sz="17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sz="17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2" eaLnBrk="1" hangingPunct="1"/>
                <a14:m>
                  <m:oMath xmlns:m="http://schemas.openxmlformats.org/officeDocument/2006/math">
                    <m:r>
                      <a:rPr lang="en-US" altLang="ko-KR" sz="17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시점별로 달라질 수 있어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sz="17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로</m:t>
                    </m:r>
                  </m:oMath>
                </a14:m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표기</a:t>
                </a:r>
                <a:endParaRPr lang="en-US" altLang="ko-KR" sz="17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73" name="Rectangle 7">
                <a:extLst>
                  <a:ext uri="{FF2B5EF4-FFF2-40B4-BE49-F238E27FC236}">
                    <a16:creationId xmlns:a16="http://schemas.microsoft.com/office/drawing/2014/main" id="{29D7CD7F-276F-4501-927D-135449CEB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300" y="1476375"/>
                <a:ext cx="7313613" cy="4114800"/>
              </a:xfrm>
              <a:blipFill>
                <a:blip r:embed="rId3"/>
                <a:stretch>
                  <a:fillRect l="-1168" t="-1333" r="-83" b="-122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4" name="바닥글 개체 틀 4">
            <a:extLst>
              <a:ext uri="{FF2B5EF4-FFF2-40B4-BE49-F238E27FC236}">
                <a16:creationId xmlns:a16="http://schemas.microsoft.com/office/drawing/2014/main" id="{DA7C579E-D236-4834-B067-D65C018E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7175" name="슬라이드 번호 개체 틀 5">
            <a:extLst>
              <a:ext uri="{FF2B5EF4-FFF2-40B4-BE49-F238E27FC236}">
                <a16:creationId xmlns:a16="http://schemas.microsoft.com/office/drawing/2014/main" id="{3DCE77ED-C767-4AC2-9EFC-9A4B144F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93D7BBB-2C61-4E0D-8939-6F24B3F575E6}" type="slidenum">
              <a:rPr lang="ko-KR" altLang="en-US" sz="1200" b="0">
                <a:solidFill>
                  <a:schemeClr val="tx1"/>
                </a:solidFill>
              </a:rPr>
              <a:pPr/>
              <a:t>35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176" name="Rectangle 2">
            <a:extLst>
              <a:ext uri="{FF2B5EF4-FFF2-40B4-BE49-F238E27FC236}">
                <a16:creationId xmlns:a16="http://schemas.microsoft.com/office/drawing/2014/main" id="{3B890A89-0FC1-4F97-8F2D-5E295036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177" name="Rectangle 3">
            <a:extLst>
              <a:ext uri="{FF2B5EF4-FFF2-40B4-BE49-F238E27FC236}">
                <a16:creationId xmlns:a16="http://schemas.microsoft.com/office/drawing/2014/main" id="{ED41E033-452A-4EA8-8096-F283225F5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6">
            <a:extLst>
              <a:ext uri="{FF2B5EF4-FFF2-40B4-BE49-F238E27FC236}">
                <a16:creationId xmlns:a16="http://schemas.microsoft.com/office/drawing/2014/main" id="{97D76781-3C7E-4D5C-8712-CF89C6574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3" name="Rectangle 7">
                <a:extLst>
                  <a:ext uri="{FF2B5EF4-FFF2-40B4-BE49-F238E27FC236}">
                    <a16:creationId xmlns:a16="http://schemas.microsoft.com/office/drawing/2014/main" id="{29D7CD7F-276F-4501-927D-135449CEB2E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03300" y="1476374"/>
                <a:ext cx="7313613" cy="4772025"/>
              </a:xfrm>
            </p:spPr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극대화하기 위해서 시점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에서 한 단위 소득을 더 받아 소비하여 효용이 늘어나는 것과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대신 시점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에서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소득이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(1+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 늘어나서 소비가 늘어날 때 얻는 효용이 일치해야 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(1+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𝜌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p>
                        </m:sSubSup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이므로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이를 대입하면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1+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=[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f>
                      <m:f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소비증가율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73" name="Rectangle 7">
                <a:extLst>
                  <a:ext uri="{FF2B5EF4-FFF2-40B4-BE49-F238E27FC236}">
                    <a16:creationId xmlns:a16="http://schemas.microsoft.com/office/drawing/2014/main" id="{29D7CD7F-276F-4501-927D-135449CEB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300" y="1476374"/>
                <a:ext cx="7313613" cy="4772025"/>
              </a:xfrm>
              <a:blipFill>
                <a:blip r:embed="rId3"/>
                <a:stretch>
                  <a:fillRect l="-751" t="-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4" name="바닥글 개체 틀 4">
            <a:extLst>
              <a:ext uri="{FF2B5EF4-FFF2-40B4-BE49-F238E27FC236}">
                <a16:creationId xmlns:a16="http://schemas.microsoft.com/office/drawing/2014/main" id="{DA7C579E-D236-4834-B067-D65C018E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7175" name="슬라이드 번호 개체 틀 5">
            <a:extLst>
              <a:ext uri="{FF2B5EF4-FFF2-40B4-BE49-F238E27FC236}">
                <a16:creationId xmlns:a16="http://schemas.microsoft.com/office/drawing/2014/main" id="{3DCE77ED-C767-4AC2-9EFC-9A4B144F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93D7BBB-2C61-4E0D-8939-6F24B3F575E6}" type="slidenum">
              <a:rPr lang="ko-KR" altLang="en-US" sz="1200" b="0">
                <a:solidFill>
                  <a:schemeClr val="tx1"/>
                </a:solidFill>
              </a:rPr>
              <a:pPr/>
              <a:t>36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176" name="Rectangle 2">
            <a:extLst>
              <a:ext uri="{FF2B5EF4-FFF2-40B4-BE49-F238E27FC236}">
                <a16:creationId xmlns:a16="http://schemas.microsoft.com/office/drawing/2014/main" id="{3B890A89-0FC1-4F97-8F2D-5E295036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177" name="Rectangle 3">
            <a:extLst>
              <a:ext uri="{FF2B5EF4-FFF2-40B4-BE49-F238E27FC236}">
                <a16:creationId xmlns:a16="http://schemas.microsoft.com/office/drawing/2014/main" id="{ED41E033-452A-4EA8-8096-F283225F5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100227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6">
            <a:extLst>
              <a:ext uri="{FF2B5EF4-FFF2-40B4-BE49-F238E27FC236}">
                <a16:creationId xmlns:a16="http://schemas.microsoft.com/office/drawing/2014/main" id="{97D76781-3C7E-4D5C-8712-CF89C6574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3" name="Rectangle 7">
                <a:extLst>
                  <a:ext uri="{FF2B5EF4-FFF2-40B4-BE49-F238E27FC236}">
                    <a16:creationId xmlns:a16="http://schemas.microsoft.com/office/drawing/2014/main" id="{29D7CD7F-276F-4501-927D-135449CEB2E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03300" y="1476374"/>
                <a:ext cx="7313613" cy="4772025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앞의 식 양변에 로그를 취하면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𝛼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ea typeface="나눔명조" pitchFamily="18" charset="-127"/>
                                          <a:cs typeface="Times New Roman" panose="020206030504050203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anose="02020603050405020304" pitchFamily="18" charset="0"/>
                                    </a:rPr>
                                    <m:t>𝜌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altLang="ko-KR" sz="2000" b="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최적의 소비를 할 때 시간에 대한 선호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할인율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소비증가율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ko-KR" altLang="en-US" sz="18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가</m:t>
                    </m:r>
                  </m:oMath>
                </a14:m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서로 맺고 있는 관계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선형근사를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하면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ko-KR" alt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1+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에서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선형근사하면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1+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func>
                      <m:func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e>
                    </m:func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−0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임을 이용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동태적 소비행위에 있어서의 </a:t>
                </a:r>
                <a:r>
                  <a:rPr lang="ko-KR" altLang="en-US" sz="18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램지법칙</a:t>
                </a:r>
                <a:r>
                  <a:rPr lang="en-US" altLang="ko-KR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(Ramsey rule)</a:t>
                </a: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사회적 최적 할인율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은 시간에 대한 선호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소비증가율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 파라메터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가중치로 반영하여 더한 것과 같음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73" name="Rectangle 7">
                <a:extLst>
                  <a:ext uri="{FF2B5EF4-FFF2-40B4-BE49-F238E27FC236}">
                    <a16:creationId xmlns:a16="http://schemas.microsoft.com/office/drawing/2014/main" id="{29D7CD7F-276F-4501-927D-135449CEB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300" y="1476374"/>
                <a:ext cx="7313613" cy="4772025"/>
              </a:xfrm>
              <a:blipFill>
                <a:blip r:embed="rId3"/>
                <a:stretch>
                  <a:fillRect l="-751" t="-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4" name="바닥글 개체 틀 4">
            <a:extLst>
              <a:ext uri="{FF2B5EF4-FFF2-40B4-BE49-F238E27FC236}">
                <a16:creationId xmlns:a16="http://schemas.microsoft.com/office/drawing/2014/main" id="{DA7C579E-D236-4834-B067-D65C018E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7175" name="슬라이드 번호 개체 틀 5">
            <a:extLst>
              <a:ext uri="{FF2B5EF4-FFF2-40B4-BE49-F238E27FC236}">
                <a16:creationId xmlns:a16="http://schemas.microsoft.com/office/drawing/2014/main" id="{3DCE77ED-C767-4AC2-9EFC-9A4B144F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93D7BBB-2C61-4E0D-8939-6F24B3F575E6}" type="slidenum">
              <a:rPr lang="ko-KR" altLang="en-US" sz="1200" b="0">
                <a:solidFill>
                  <a:schemeClr val="tx1"/>
                </a:solidFill>
              </a:rPr>
              <a:pPr/>
              <a:t>37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176" name="Rectangle 2">
            <a:extLst>
              <a:ext uri="{FF2B5EF4-FFF2-40B4-BE49-F238E27FC236}">
                <a16:creationId xmlns:a16="http://schemas.microsoft.com/office/drawing/2014/main" id="{3B890A89-0FC1-4F97-8F2D-5E295036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177" name="Rectangle 3">
            <a:extLst>
              <a:ext uri="{FF2B5EF4-FFF2-40B4-BE49-F238E27FC236}">
                <a16:creationId xmlns:a16="http://schemas.microsoft.com/office/drawing/2014/main" id="{ED41E033-452A-4EA8-8096-F283225F5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8538328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6">
            <a:extLst>
              <a:ext uri="{FF2B5EF4-FFF2-40B4-BE49-F238E27FC236}">
                <a16:creationId xmlns:a16="http://schemas.microsoft.com/office/drawing/2014/main" id="{97D76781-3C7E-4D5C-8712-CF89C6574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3" name="Rectangle 7">
                <a:extLst>
                  <a:ext uri="{FF2B5EF4-FFF2-40B4-BE49-F238E27FC236}">
                    <a16:creationId xmlns:a16="http://schemas.microsoft.com/office/drawing/2014/main" id="{29D7CD7F-276F-4501-927D-135449CEB2E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03300" y="1476374"/>
                <a:ext cx="7313613" cy="4772025"/>
              </a:xfrm>
            </p:spPr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소비가 늘어날 때 한계효용이 얼마나 빠른 속도로 변하는지를 나타내는 탄력성의 음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(-)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값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𝑀𝑈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ko-KR" altLang="en-US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이고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𝑀𝑈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=−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ko-KR" altLang="en-US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o-KR" altLang="en-US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이므로</a:t>
                </a:r>
                <a:r>
                  <a:rPr lang="en-US" altLang="ko-KR" sz="16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𝑀𝑈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altLang="ko-KR" sz="16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𝑀𝑈</m:t>
                        </m:r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=−</m:t>
                    </m:r>
                    <m:r>
                      <a:rPr lang="ko-KR" altLang="en-US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에서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보다 크면 후세대가 현세대보다 더 많은 부와 더 큰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갖게 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사회적 최적을 찾는 기획자는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때문에 한계효용이 감소하는 정도를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로 반영하여 할인율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을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보다 크게 만듦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램지법칙은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최적의 할인율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을 결정하는 요소가 무엇인지 정확한 함수형태로 표현하므로 할인율 선택의 기본이론이 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그러나 도출된 할인율은 다분히 규범적인 동태 최적화문제로부터 도출된 것이라서 실제 경제자료를 이용해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을 도출하는 것은 큰 문제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73" name="Rectangle 7">
                <a:extLst>
                  <a:ext uri="{FF2B5EF4-FFF2-40B4-BE49-F238E27FC236}">
                    <a16:creationId xmlns:a16="http://schemas.microsoft.com/office/drawing/2014/main" id="{29D7CD7F-276F-4501-927D-135449CEB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300" y="1476374"/>
                <a:ext cx="7313613" cy="4772025"/>
              </a:xfrm>
              <a:blipFill>
                <a:blip r:embed="rId3"/>
                <a:stretch>
                  <a:fillRect l="-751" t="-894" r="-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4" name="바닥글 개체 틀 4">
            <a:extLst>
              <a:ext uri="{FF2B5EF4-FFF2-40B4-BE49-F238E27FC236}">
                <a16:creationId xmlns:a16="http://schemas.microsoft.com/office/drawing/2014/main" id="{DA7C579E-D236-4834-B067-D65C018E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22</a:t>
            </a:r>
          </a:p>
        </p:txBody>
      </p:sp>
      <p:sp>
        <p:nvSpPr>
          <p:cNvPr id="7175" name="슬라이드 번호 개체 틀 5">
            <a:extLst>
              <a:ext uri="{FF2B5EF4-FFF2-40B4-BE49-F238E27FC236}">
                <a16:creationId xmlns:a16="http://schemas.microsoft.com/office/drawing/2014/main" id="{3DCE77ED-C767-4AC2-9EFC-9A4B144F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93D7BBB-2C61-4E0D-8939-6F24B3F575E6}" type="slidenum">
              <a:rPr lang="ko-KR" altLang="en-US" sz="1200" b="0">
                <a:solidFill>
                  <a:schemeClr val="tx1"/>
                </a:solidFill>
              </a:rPr>
              <a:pPr/>
              <a:t>38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176" name="Rectangle 2">
            <a:extLst>
              <a:ext uri="{FF2B5EF4-FFF2-40B4-BE49-F238E27FC236}">
                <a16:creationId xmlns:a16="http://schemas.microsoft.com/office/drawing/2014/main" id="{3B890A89-0FC1-4F97-8F2D-5E295036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177" name="Rectangle 3">
            <a:extLst>
              <a:ext uri="{FF2B5EF4-FFF2-40B4-BE49-F238E27FC236}">
                <a16:creationId xmlns:a16="http://schemas.microsoft.com/office/drawing/2014/main" id="{ED41E033-452A-4EA8-8096-F283225F5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69671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ED3496-2400-4847-908F-50244D26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ko-KR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E170A7-5817-45A3-B6E5-A3105EA85E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1289" y="1518376"/>
                <a:ext cx="7313612" cy="4114800"/>
              </a:xfrm>
            </p:spPr>
            <p:txBody>
              <a:bodyPr/>
              <a:lstStyle/>
              <a:p>
                <a:r>
                  <a:rPr lang="ko-KR" altLang="en-US" sz="2000" dirty="0">
                    <a:ea typeface="나눔명조" panose="02020603020101020101"/>
                  </a:rPr>
                  <a:t>기후변화</a:t>
                </a:r>
                <a:r>
                  <a:rPr lang="en-US" altLang="ko-KR" sz="2000" dirty="0">
                    <a:ea typeface="나눔명조" panose="02020603020101020101"/>
                  </a:rPr>
                  <a:t> </a:t>
                </a:r>
                <a:r>
                  <a:rPr lang="ko-KR" altLang="en-US" sz="2000" dirty="0">
                    <a:ea typeface="나눔명조" panose="02020603020101020101"/>
                  </a:rPr>
                  <a:t>정책평가에 반영할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을</a:t>
                </a:r>
                <a:r>
                  <a:rPr lang="en-US" altLang="ko-KR" sz="2000" dirty="0">
                    <a:ea typeface="나눔명조" panose="02020603020101020101"/>
                  </a:rPr>
                  <a:t> </a:t>
                </a:r>
                <a:r>
                  <a:rPr lang="ko-KR" altLang="en-US" sz="2000" dirty="0">
                    <a:ea typeface="나눔명조" panose="02020603020101020101"/>
                  </a:rPr>
                  <a:t>구함에 있어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는 향후 경제성장률 전망치 등을 이용하여 구할 수 있음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관건은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와</a:t>
                </a:r>
                <a:r>
                  <a:rPr lang="ko-KR" altLang="en-US" sz="1600" dirty="0">
                    <a:ea typeface="나눔명조" panose="02020603020101020101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를 구하는 것임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r>
                  <a:rPr lang="ko-KR" altLang="en-US" sz="2000" dirty="0">
                    <a:ea typeface="나눔명조" panose="02020603020101020101"/>
                  </a:rPr>
                  <a:t>미국 환경처</a:t>
                </a:r>
                <a:r>
                  <a:rPr lang="en-US" altLang="ko-KR" sz="2000" dirty="0">
                    <a:ea typeface="나눔명조" panose="02020603020101020101"/>
                  </a:rPr>
                  <a:t>(EPA)</a:t>
                </a:r>
                <a:r>
                  <a:rPr lang="ko-KR" altLang="en-US" sz="2000" dirty="0">
                    <a:ea typeface="나눔명조" panose="02020603020101020101"/>
                  </a:rPr>
                  <a:t>는 </a:t>
                </a:r>
                <a:r>
                  <a:rPr lang="en-US" altLang="ko-KR" sz="2000" dirty="0">
                    <a:ea typeface="나눔명조" panose="02020603020101020101"/>
                  </a:rPr>
                  <a:t>2011</a:t>
                </a:r>
                <a:r>
                  <a:rPr lang="ko-KR" altLang="en-US" sz="2000" dirty="0">
                    <a:ea typeface="나눔명조" panose="02020603020101020101"/>
                  </a:rPr>
                  <a:t>년 </a:t>
                </a:r>
                <a:r>
                  <a:rPr lang="en-US" altLang="ko-KR" sz="2000" dirty="0">
                    <a:ea typeface="나눔명조" panose="02020603020101020101"/>
                  </a:rPr>
                  <a:t>12</a:t>
                </a:r>
                <a:r>
                  <a:rPr lang="ko-KR" altLang="en-US" sz="2000" dirty="0">
                    <a:ea typeface="나눔명조" panose="02020603020101020101"/>
                  </a:rPr>
                  <a:t>인의 저명한 전문가들로 패널을 구성하여 이 문제 검토</a:t>
                </a:r>
                <a:r>
                  <a:rPr lang="en-US" altLang="ko-KR" sz="2000" dirty="0">
                    <a:ea typeface="나눔명조" panose="02020603020101020101"/>
                  </a:rPr>
                  <a:t>(Arrow et al., 2012)</a:t>
                </a:r>
              </a:p>
              <a:p>
                <a:pPr lvl="1"/>
                <a:r>
                  <a:rPr lang="ko-KR" altLang="en-US" sz="1600" dirty="0" err="1">
                    <a:ea typeface="나눔명조" panose="02020603020101020101"/>
                  </a:rPr>
                  <a:t>램지법칙을</a:t>
                </a:r>
                <a:r>
                  <a:rPr lang="ko-KR" altLang="en-US" sz="1600" dirty="0">
                    <a:ea typeface="나눔명조" panose="02020603020101020101"/>
                  </a:rPr>
                  <a:t> 할인율 선정의 기본 원리로 사용하는 것에 전원 동의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대부분이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는 </a:t>
                </a:r>
                <a:r>
                  <a:rPr lang="en-US" altLang="ko-KR" sz="1600" dirty="0">
                    <a:ea typeface="나눔명조" panose="02020603020101020101"/>
                  </a:rPr>
                  <a:t>0</a:t>
                </a:r>
                <a:r>
                  <a:rPr lang="ko-KR" altLang="en-US" sz="1600" dirty="0">
                    <a:ea typeface="나눔명조" panose="02020603020101020101"/>
                  </a:rPr>
                  <a:t>이거나 매우 작은 값이어야 한다고 봄</a:t>
                </a:r>
                <a:r>
                  <a:rPr lang="en-US" altLang="ko-KR" sz="1600" dirty="0">
                    <a:ea typeface="나눔명조" panose="02020603020101020101"/>
                  </a:rPr>
                  <a:t>(=</a:t>
                </a:r>
                <a:r>
                  <a:rPr lang="ko-KR" altLang="en-US" sz="1600" dirty="0">
                    <a:ea typeface="나눔명조" panose="02020603020101020101"/>
                  </a:rPr>
                  <a:t>미래세대의 후생은 원칙적으로 할인하지 않아야 함</a:t>
                </a:r>
                <a:r>
                  <a:rPr lang="en-US" altLang="ko-KR" sz="1600" dirty="0">
                    <a:ea typeface="나눔명조" panose="02020603020101020101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는 세대 간 부의 불균등을 회피하는 정도를 나타내는 지수라 볼 수 있음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미래세대의 소득이 늘면 그만큼 페널티를 주는 것이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값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사회적 합의에 의해 현재 시행 중인 정책의 모습을 파악해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값을 도출할 수도 있음</a:t>
                </a:r>
                <a:endParaRPr lang="ko-KR" altLang="en-US" sz="1300" dirty="0">
                  <a:ea typeface="나눔명조" panose="02020603020101020101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E170A7-5817-45A3-B6E5-A3105EA85E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1289" y="1518376"/>
                <a:ext cx="7313612" cy="4114800"/>
              </a:xfrm>
              <a:blipFill>
                <a:blip r:embed="rId2"/>
                <a:stretch>
                  <a:fillRect l="-750" t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E3FC70-BE89-4E3D-9D80-10AC6A16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CE23A4-7FBA-42B5-9479-10897E41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12D6-C075-41D8-8F5F-C6DFB89E7CD7}" type="slidenum">
              <a:rPr lang="ko-KR" altLang="en-US" smtClean="0"/>
              <a:pPr/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71647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ED3496-2400-4847-908F-50244D26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ko-KR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E170A7-5817-45A3-B6E5-A3105EA85E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0250" y="1509972"/>
                <a:ext cx="7313612" cy="4114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2400" dirty="0">
                    <a:ea typeface="나눔명조" panose="02020603020101020101"/>
                  </a:rPr>
                  <a:t>를 정책이나 설문조사보다는 시장에서 찾으려는 시도도 있음</a:t>
                </a:r>
                <a:endParaRPr lang="en-US" altLang="ko-KR" sz="24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보험이나 금융시장의 투자분산행위 등</a:t>
                </a:r>
                <a:r>
                  <a:rPr lang="en-US" altLang="ko-KR" sz="2000" dirty="0">
                    <a:ea typeface="나눔명조" panose="02020603020101020101"/>
                  </a:rPr>
                  <a:t>, </a:t>
                </a:r>
                <a:r>
                  <a:rPr lang="ko-KR" altLang="en-US" sz="2000" dirty="0">
                    <a:ea typeface="나눔명조" panose="02020603020101020101"/>
                  </a:rPr>
                  <a:t>위험회피와 관련된 행동을 분석하여 추정 가능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sz="2400" dirty="0">
                    <a:ea typeface="나눔명조" panose="02020603020101020101"/>
                  </a:rPr>
                  <a:t>의 값 자체를 직접 시장정보를 이용해 추정하는 시도도 가능</a:t>
                </a:r>
                <a:endParaRPr lang="en-US" altLang="ko-KR" sz="2400" dirty="0">
                  <a:ea typeface="나눔명조" panose="02020603020101020101"/>
                </a:endParaRPr>
              </a:p>
              <a:p>
                <a:endParaRPr lang="en-US" altLang="ko-KR" sz="2400" dirty="0">
                  <a:ea typeface="나눔명조" panose="02020603020101020101"/>
                </a:endParaRPr>
              </a:p>
              <a:p>
                <a:endParaRPr lang="ko-KR" altLang="en-US" sz="28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E170A7-5817-45A3-B6E5-A3105EA85E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0250" y="1509972"/>
                <a:ext cx="7313612" cy="4114800"/>
              </a:xfrm>
              <a:blipFill>
                <a:blip r:embed="rId2"/>
                <a:stretch>
                  <a:fillRect l="-1168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E3FC70-BE89-4E3D-9D80-10AC6A16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CE23A4-7FBA-42B5-9479-10897E41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12D6-C075-41D8-8F5F-C6DFB89E7CD7}" type="slidenum">
              <a:rPr lang="ko-KR" altLang="en-US" smtClean="0"/>
              <a:pPr/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90317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AB190B-B2E0-44DF-A36F-5B0A06240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>
                    <a:ea typeface="나눔명조" panose="02020603020101020101"/>
                  </a:rPr>
                  <a:t>할인율 관련 최근 논의 중</a:t>
                </a:r>
                <a:r>
                  <a:rPr lang="en-US" altLang="ko-KR" sz="2400" dirty="0">
                    <a:ea typeface="나눔명조" panose="02020603020101020101"/>
                  </a:rPr>
                  <a:t> </a:t>
                </a:r>
                <a:r>
                  <a:rPr lang="ko-KR" altLang="en-US" sz="2400" dirty="0">
                    <a:ea typeface="나눔명조" panose="02020603020101020101"/>
                  </a:rPr>
                  <a:t>중요한 것은 기후변화의 불확실성을 할인에 반영하는 문제</a:t>
                </a:r>
                <a:endParaRPr lang="en-US" altLang="ko-KR" sz="2400" dirty="0">
                  <a:ea typeface="나눔명조" panose="02020603020101020101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ko-KR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ko-KR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400" dirty="0">
                    <a:ea typeface="나눔명조" panose="02020603020101020101"/>
                  </a:rPr>
                  <a:t>에서 가장 불확실하게 변할 수 있는 것은 미래의 소비성장률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ko-KR" sz="24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기후변화나 경제여건 변화 때문에 불확실하게 움직일 수 있어 현 단계에서 정확히 예측하지 못함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불확실성 변수는 확률적 요인의 영향을 받으며 변함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2000" dirty="0">
                    <a:ea typeface="나눔명조" panose="02020603020101020101"/>
                  </a:rPr>
                  <a:t>값에 영향을 미치는 확률변수 자체가 경향을 가질 수 있음</a:t>
                </a:r>
                <a:endParaRPr lang="en-US" altLang="ko-KR" sz="2000" dirty="0">
                  <a:ea typeface="나눔명조" panose="02020603020101020101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AB190B-B2E0-44DF-A36F-5B0A06240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8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146166-B111-4F88-BD27-E77D5597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3FFCD8-ECD7-4C5E-9BE2-D968FBDE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12D6-C075-41D8-8F5F-C6DFB89E7CD7}" type="slidenum">
              <a:rPr lang="ko-KR" altLang="en-US" smtClean="0"/>
              <a:pPr/>
              <a:t>41</a:t>
            </a:fld>
            <a:endParaRPr lang="en-US" altLang="ko-KR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528F593-23B8-4BD7-BC30-2582E7B9B34A}"/>
              </a:ext>
            </a:extLst>
          </p:cNvPr>
          <p:cNvSpPr txBox="1">
            <a:spLocks/>
          </p:cNvSpPr>
          <p:nvPr/>
        </p:nvSpPr>
        <p:spPr bwMode="auto">
          <a:xfrm>
            <a:off x="1522413" y="4540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ko-KR" alt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8096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AB190B-B2E0-44DF-A36F-5B0A06240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194" y="1197427"/>
                <a:ext cx="7313612" cy="468442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이 불확실하면 미래의 할인율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도 불확실해짐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r>
                  <a:rPr lang="ko-KR" altLang="en-US" sz="2000" dirty="0">
                    <a:ea typeface="나눔명조" panose="02020603020101020101"/>
                  </a:rPr>
                  <a:t>미래에 발생할 수 있는 할인율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의 실현되는 값</a:t>
                </a:r>
                <a:r>
                  <a:rPr lang="en-US" altLang="ko-KR" sz="2000" dirty="0">
                    <a:ea typeface="나눔명조" panose="02020603020101020101"/>
                  </a:rPr>
                  <a:t>, </a:t>
                </a:r>
                <a:r>
                  <a:rPr lang="ko-KR" altLang="en-US" sz="2000" dirty="0">
                    <a:ea typeface="나눔명조" panose="02020603020101020101"/>
                  </a:rPr>
                  <a:t>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로</a:t>
                </a:r>
                <a:r>
                  <a:rPr lang="en-US" altLang="ko-KR" sz="2000" dirty="0">
                    <a:ea typeface="나눔명조" panose="02020603020101020101"/>
                  </a:rPr>
                  <a:t> </a:t>
                </a:r>
                <a:r>
                  <a:rPr lang="ko-KR" altLang="en-US" sz="2000" dirty="0">
                    <a:ea typeface="나눔명조" panose="02020603020101020101"/>
                  </a:rPr>
                  <a:t>나타날 수 있는 값이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2000" dirty="0">
                    <a:ea typeface="나눔명조" panose="02020603020101020101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의</a:t>
                </a:r>
                <a:r>
                  <a:rPr lang="en-US" altLang="ko-KR" sz="2000" dirty="0">
                    <a:ea typeface="나눔명조" panose="02020603020101020101"/>
                  </a:rPr>
                  <a:t> N</a:t>
                </a:r>
                <a:r>
                  <a:rPr lang="ko-KR" altLang="en-US" sz="2000" dirty="0">
                    <a:ea typeface="나눔명조" panose="02020603020101020101"/>
                  </a:rPr>
                  <a:t>가지라고 하고</a:t>
                </a:r>
                <a:r>
                  <a:rPr lang="en-US" altLang="ko-KR" sz="2000" dirty="0">
                    <a:ea typeface="나눔명조" panose="02020603020101020101"/>
                  </a:rPr>
                  <a:t>, </a:t>
                </a:r>
                <a:r>
                  <a:rPr lang="ko-KR" altLang="en-US" sz="2000" dirty="0">
                    <a:ea typeface="나눔명조" panose="02020603020101020101"/>
                  </a:rPr>
                  <a:t>각각 발생할 수 있는 확률이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</m:oMath>
                </a14:m>
                <a:r>
                  <a:rPr lang="en-US" altLang="ko-KR" sz="2000" dirty="0">
                    <a:ea typeface="나눔명조" panose="02020603020101020101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이라고 가정</a:t>
                </a:r>
                <a:r>
                  <a:rPr lang="en-US" altLang="ko-KR" sz="2000" dirty="0">
                    <a:ea typeface="나눔명조" panose="02020603020101020101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altLang="ko-KR" sz="2000" dirty="0">
                  <a:ea typeface="나눔명조" panose="02020603020101020101"/>
                </a:endParaRPr>
              </a:p>
              <a:p>
                <a:r>
                  <a:rPr lang="ko-KR" altLang="en-US" sz="2000" dirty="0">
                    <a:ea typeface="나눔명조" panose="02020603020101020101"/>
                  </a:rPr>
                  <a:t>시점</a:t>
                </a:r>
                <a:r>
                  <a:rPr lang="en-US" altLang="ko-KR" sz="2000" dirty="0">
                    <a:ea typeface="나눔명조" panose="02020603020101020101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의 소비변화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를</a:t>
                </a:r>
                <a:r>
                  <a:rPr lang="en-US" altLang="ko-KR" sz="2000" dirty="0">
                    <a:ea typeface="나눔명조" panose="02020603020101020101"/>
                  </a:rPr>
                  <a:t> </a:t>
                </a:r>
                <a:r>
                  <a:rPr lang="ko-KR" altLang="en-US" sz="2000" dirty="0">
                    <a:ea typeface="나눔명조" panose="02020603020101020101"/>
                  </a:rPr>
                  <a:t>현재가치로 나타낼 때</a:t>
                </a:r>
                <a:r>
                  <a:rPr lang="en-US" altLang="ko-KR" sz="2000" dirty="0">
                    <a:ea typeface="나눔명조" panose="02020603020101020101"/>
                  </a:rPr>
                  <a:t>, </a:t>
                </a:r>
                <a:r>
                  <a:rPr lang="ko-KR" altLang="en-US" sz="2000" dirty="0">
                    <a:ea typeface="나눔명조" panose="02020603020101020101"/>
                  </a:rPr>
                  <a:t>이 때 현재가치는 </a:t>
                </a:r>
                <a:r>
                  <a:rPr lang="ko-KR" altLang="en-US" sz="2000" b="1" dirty="0" err="1">
                    <a:solidFill>
                      <a:srgbClr val="0000FF"/>
                    </a:solidFill>
                    <a:ea typeface="나눔명조" panose="02020603020101020101"/>
                  </a:rPr>
                  <a:t>기대현재가치</a:t>
                </a:r>
                <a:r>
                  <a:rPr lang="en-US" altLang="ko-KR" sz="2000" b="1" dirty="0">
                    <a:solidFill>
                      <a:srgbClr val="0000FF"/>
                    </a:solidFill>
                    <a:ea typeface="나눔명조" panose="02020603020101020101"/>
                  </a:rPr>
                  <a:t>(expected net present value, ENPV)</a:t>
                </a:r>
                <a:endParaRPr lang="en-US" altLang="ko-KR" sz="2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나눔명조" panose="02020603020101020101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𝐸𝑁𝑉𝑃</m:t>
                      </m:r>
                      <m:d>
                        <m:dPr>
                          <m:ctrl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(1+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sSubSup>
                                    <m:sSub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2000" dirty="0">
                  <a:solidFill>
                    <a:srgbClr val="0000FF"/>
                  </a:solidFill>
                  <a:ea typeface="나눔명조" panose="02020603020101020101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800" dirty="0">
                    <a:solidFill>
                      <a:schemeClr val="tx1"/>
                    </a:solidFill>
                    <a:ea typeface="나눔명조" panose="02020603020101020101"/>
                  </a:rPr>
                  <a:t>는 </a:t>
                </a:r>
                <a:r>
                  <a:rPr lang="en-US" altLang="ko-KR" sz="1800" dirty="0">
                    <a:solidFill>
                      <a:schemeClr val="tx1"/>
                    </a:solidFill>
                    <a:ea typeface="나눔명조" panose="02020603020101020101"/>
                  </a:rPr>
                  <a:t>N</a:t>
                </a:r>
                <a:r>
                  <a:rPr lang="ko-KR" altLang="en-US" sz="1800" dirty="0">
                    <a:solidFill>
                      <a:schemeClr val="tx1"/>
                    </a:solidFill>
                    <a:ea typeface="나눔명조" panose="02020603020101020101"/>
                  </a:rPr>
                  <a:t>가지의 값을 가지는 할인율</a:t>
                </a:r>
                <a:r>
                  <a:rPr lang="en-US" altLang="ko-KR" sz="1800" dirty="0">
                    <a:solidFill>
                      <a:schemeClr val="tx1"/>
                    </a:solidFill>
                    <a:ea typeface="나눔명조" panose="02020603020101020101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  <a:ea typeface="나눔명조" panose="02020603020101020101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800" dirty="0">
                    <a:solidFill>
                      <a:schemeClr val="tx1"/>
                    </a:solidFill>
                    <a:ea typeface="나눔명조" panose="02020603020101020101"/>
                  </a:rPr>
                  <a:t>을 적용했을 때와 동일한 </a:t>
                </a:r>
                <a:r>
                  <a:rPr lang="ko-KR" altLang="en-US" sz="1800" dirty="0" err="1">
                    <a:solidFill>
                      <a:schemeClr val="tx1"/>
                    </a:solidFill>
                    <a:ea typeface="나눔명조" panose="02020603020101020101"/>
                  </a:rPr>
                  <a:t>기대현재가치를</a:t>
                </a:r>
                <a:r>
                  <a:rPr lang="ko-KR" altLang="en-US" sz="1800" dirty="0">
                    <a:solidFill>
                      <a:schemeClr val="tx1"/>
                    </a:solidFill>
                    <a:ea typeface="나눔명조" panose="02020603020101020101"/>
                  </a:rPr>
                  <a:t> 도출하는 하나의 사전적 할인율</a:t>
                </a:r>
                <a:r>
                  <a:rPr lang="en-US" altLang="ko-KR" sz="1800" dirty="0">
                    <a:solidFill>
                      <a:schemeClr val="tx1"/>
                    </a:solidFill>
                    <a:ea typeface="나눔명조" panose="02020603020101020101"/>
                  </a:rPr>
                  <a:t>(=</a:t>
                </a:r>
                <a:r>
                  <a:rPr lang="ko-KR" altLang="en-US" sz="1800" dirty="0" err="1">
                    <a:ea typeface="나눔명조" panose="02020603020101020101"/>
                  </a:rPr>
                  <a:t>확실등가</a:t>
                </a:r>
                <a:r>
                  <a:rPr lang="en-US" altLang="ko-KR" sz="1800" dirty="0">
                    <a:ea typeface="나눔명조" panose="02020603020101020101"/>
                  </a:rPr>
                  <a:t>(certainty equivalent)</a:t>
                </a:r>
                <a:r>
                  <a:rPr lang="ko-KR" altLang="en-US" sz="1800" dirty="0">
                    <a:ea typeface="나눔명조" panose="02020603020101020101"/>
                  </a:rPr>
                  <a:t> 할인율</a:t>
                </a:r>
                <a:r>
                  <a:rPr lang="en-US" altLang="ko-KR" sz="1800" dirty="0">
                    <a:ea typeface="나눔명조" panose="02020603020101020101"/>
                  </a:rPr>
                  <a:t>)</a:t>
                </a:r>
                <a:r>
                  <a:rPr lang="ko-KR" altLang="en-US" sz="1800" dirty="0">
                    <a:solidFill>
                      <a:schemeClr val="tx1"/>
                    </a:solidFill>
                    <a:ea typeface="나눔명조" panose="02020603020101020101"/>
                  </a:rPr>
                  <a:t>이고</a:t>
                </a:r>
                <a:r>
                  <a:rPr lang="en-US" altLang="ko-KR" sz="1800" dirty="0">
                    <a:solidFill>
                      <a:schemeClr val="tx1"/>
                    </a:solidFill>
                    <a:ea typeface="나눔명조" panose="02020603020101020101"/>
                  </a:rPr>
                  <a:t>, </a:t>
                </a:r>
                <a:r>
                  <a:rPr lang="ko-KR" altLang="en-US" sz="1800" dirty="0">
                    <a:solidFill>
                      <a:schemeClr val="tx1"/>
                    </a:solidFill>
                    <a:ea typeface="나눔명조" panose="02020603020101020101"/>
                  </a:rPr>
                  <a:t>이를 </a:t>
                </a:r>
                <a:r>
                  <a:rPr lang="ko-KR" altLang="en-US" sz="1800" dirty="0" err="1">
                    <a:solidFill>
                      <a:schemeClr val="tx1"/>
                    </a:solidFill>
                    <a:ea typeface="나눔명조" panose="02020603020101020101"/>
                  </a:rPr>
                  <a:t>불확실성하에서의</a:t>
                </a:r>
                <a:r>
                  <a:rPr lang="ko-KR" altLang="en-US" sz="1800" dirty="0">
                    <a:solidFill>
                      <a:schemeClr val="tx1"/>
                    </a:solidFill>
                    <a:ea typeface="나눔명조" panose="02020603020101020101"/>
                  </a:rPr>
                  <a:t> 적정 할인율로 봄</a:t>
                </a:r>
                <a:endParaRPr lang="en-US" altLang="ko-KR" sz="1800" dirty="0">
                  <a:solidFill>
                    <a:srgbClr val="0000FF"/>
                  </a:solidFill>
                  <a:ea typeface="나눔명조" panose="02020603020101020101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AB190B-B2E0-44DF-A36F-5B0A06240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194" y="1197427"/>
                <a:ext cx="7313612" cy="4684423"/>
              </a:xfrm>
              <a:blipFill>
                <a:blip r:embed="rId2"/>
                <a:stretch>
                  <a:fillRect l="-750" t="-650" r="-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146166-B111-4F88-BD27-E77D5597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3FFCD8-ECD7-4C5E-9BE2-D968FBDE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12D6-C075-41D8-8F5F-C6DFB89E7CD7}" type="slidenum">
              <a:rPr lang="ko-KR" altLang="en-US" smtClean="0"/>
              <a:pPr/>
              <a:t>42</a:t>
            </a:fld>
            <a:endParaRPr lang="en-US" altLang="ko-KR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528F593-23B8-4BD7-BC30-2582E7B9B34A}"/>
              </a:ext>
            </a:extLst>
          </p:cNvPr>
          <p:cNvSpPr txBox="1">
            <a:spLocks/>
          </p:cNvSpPr>
          <p:nvPr/>
        </p:nvSpPr>
        <p:spPr bwMode="auto">
          <a:xfrm>
            <a:off x="1249909" y="0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ko-KR" alt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027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AB190B-B2E0-44DF-A36F-5B0A06240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4564" y="1475986"/>
                <a:ext cx="7313612" cy="4684423"/>
              </a:xfrm>
            </p:spPr>
            <p:txBody>
              <a:bodyPr/>
              <a:lstStyle/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(1+</m:t>
                                    </m:r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sSubSup>
                                  <m:sSub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를 충족하는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값이 커질수록 감소하는 특징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𝐸𝑁𝑉𝑃</m:t>
                    </m:r>
                  </m:oMath>
                </a14:m>
                <a:r>
                  <a:rPr lang="ko-KR" altLang="en-US" sz="2000" dirty="0">
                    <a:ea typeface="나눔명조" panose="02020603020101020101"/>
                  </a:rPr>
                  <a:t>를</a:t>
                </a:r>
                <a:r>
                  <a:rPr lang="en-US" altLang="ko-KR" sz="2000" dirty="0">
                    <a:ea typeface="나눔명조" panose="02020603020101020101"/>
                  </a:rPr>
                  <a:t> </a:t>
                </a:r>
                <a:r>
                  <a:rPr lang="ko-KR" altLang="en-US" sz="2000" dirty="0">
                    <a:ea typeface="나눔명조" panose="02020603020101020101"/>
                  </a:rPr>
                  <a:t>이용한 할인율 선택 예시</a:t>
                </a:r>
                <a:endParaRPr lang="en-US" altLang="ko-KR" sz="2000" dirty="0">
                  <a:ea typeface="나눔명조" panose="02020603020101020101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1600" dirty="0">
                    <a:ea typeface="나눔명조" panose="02020603020101020101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1600" dirty="0">
                    <a:ea typeface="나눔명조" panose="02020603020101020101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1600" dirty="0">
                    <a:ea typeface="나눔명조" panose="02020603020101020101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)=(0.01, 0.03, 0.05, 0.07)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</a:t>
                </a:r>
                <a:r>
                  <a:rPr lang="en-US" altLang="ko-KR" sz="1600" dirty="0">
                    <a:ea typeface="나눔명조" panose="02020603020101020101"/>
                  </a:rPr>
                  <a:t>4</a:t>
                </a:r>
                <a:r>
                  <a:rPr lang="ko-KR" altLang="en-US" sz="1600" dirty="0">
                    <a:ea typeface="나눔명조" panose="02020603020101020101"/>
                  </a:rPr>
                  <a:t>가지 값이 </a:t>
                </a:r>
                <a:r>
                  <a:rPr lang="ko-KR" altLang="en-US" sz="1600" dirty="0" err="1">
                    <a:ea typeface="나눔명조" panose="02020603020101020101"/>
                  </a:rPr>
                  <a:t>실현가능하고</a:t>
                </a:r>
                <a:r>
                  <a:rPr lang="en-US" altLang="ko-KR" sz="1600" dirty="0">
                    <a:ea typeface="나눔명조" panose="02020603020101020101"/>
                  </a:rPr>
                  <a:t>, </a:t>
                </a:r>
                <a:r>
                  <a:rPr lang="ko-KR" altLang="en-US" sz="1600" dirty="0">
                    <a:ea typeface="나눔명조" panose="02020603020101020101"/>
                  </a:rPr>
                  <a:t>발생확률은 각각 </a:t>
                </a:r>
                <a:r>
                  <a:rPr lang="en-US" altLang="ko-KR" sz="1600" dirty="0">
                    <a:ea typeface="나눔명조" panose="02020603020101020101"/>
                  </a:rPr>
                  <a:t>¼</a:t>
                </a:r>
                <a:r>
                  <a:rPr lang="ko-KR" altLang="en-US" sz="1600" dirty="0">
                    <a:ea typeface="나눔명조" panose="02020603020101020101"/>
                  </a:rPr>
                  <a:t>이라고 가정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몇 가지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에</a:t>
                </a:r>
                <a:r>
                  <a:rPr lang="en-US" altLang="ko-KR" sz="1600" dirty="0">
                    <a:ea typeface="나눔명조" panose="02020603020101020101"/>
                  </a:rPr>
                  <a:t> </a:t>
                </a:r>
                <a:r>
                  <a:rPr lang="ko-KR" altLang="en-US" sz="1600" dirty="0">
                    <a:ea typeface="나눔명조" panose="02020603020101020101"/>
                  </a:rPr>
                  <a:t>대해 구한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는 다음과 같음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가 </a:t>
                </a:r>
                <a:r>
                  <a:rPr lang="en-US" altLang="ko-KR" sz="1600" dirty="0">
                    <a:ea typeface="나눔명조" panose="02020603020101020101"/>
                  </a:rPr>
                  <a:t>1 </a:t>
                </a:r>
                <a:r>
                  <a:rPr lang="ko-KR" altLang="en-US" sz="1600" dirty="0">
                    <a:ea typeface="나눔명조" panose="02020603020101020101"/>
                  </a:rPr>
                  <a:t>부근일때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 값은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</a:t>
                </a:r>
                <a:r>
                  <a:rPr lang="en-US" altLang="ko-KR" sz="1600" dirty="0">
                    <a:ea typeface="나눔명조" panose="02020603020101020101"/>
                  </a:rPr>
                  <a:t> </a:t>
                </a:r>
                <a:r>
                  <a:rPr lang="ko-KR" altLang="en-US" sz="1600" dirty="0">
                    <a:ea typeface="나눔명조" panose="02020603020101020101"/>
                  </a:rPr>
                  <a:t>평균인 </a:t>
                </a:r>
                <a:r>
                  <a:rPr lang="en-US" altLang="ko-KR" sz="1600" dirty="0">
                    <a:ea typeface="나눔명조" panose="02020603020101020101"/>
                  </a:rPr>
                  <a:t>0.04</a:t>
                </a:r>
                <a:r>
                  <a:rPr lang="ko-KR" altLang="en-US" sz="1600" dirty="0">
                    <a:ea typeface="나눔명조" panose="02020603020101020101"/>
                  </a:rPr>
                  <a:t>와 가까움</a:t>
                </a:r>
                <a:endParaRPr lang="en-US" altLang="ko-KR" sz="1600" dirty="0">
                  <a:ea typeface="나눔명조" panose="02020603020101020101"/>
                </a:endParaRPr>
              </a:p>
              <a:p>
                <a:pPr lvl="1"/>
                <a:r>
                  <a:rPr lang="ko-KR" altLang="en-US" sz="1600" dirty="0">
                    <a:ea typeface="나눔명조" panose="02020603020101020101"/>
                  </a:rPr>
                  <a:t>하지만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가 커질수록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의</a:t>
                </a:r>
                <a:r>
                  <a:rPr lang="en-US" altLang="ko-KR" sz="1600" dirty="0">
                    <a:ea typeface="나눔명조" panose="02020603020101020101"/>
                  </a:rPr>
                  <a:t> </a:t>
                </a:r>
                <a:r>
                  <a:rPr lang="ko-KR" altLang="en-US" sz="1600" dirty="0">
                    <a:ea typeface="나눔명조" panose="02020603020101020101"/>
                  </a:rPr>
                  <a:t>값은 작아지며</a:t>
                </a:r>
                <a:r>
                  <a:rPr lang="en-US" altLang="ko-KR" sz="1600" dirty="0">
                    <a:ea typeface="나눔명조" panose="02020603020101020101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가 아주 커져 긴 시간 후에 발생한 소비변화이면 발생할 수 있는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 값 중 가장 작은 값인 </a:t>
                </a:r>
                <a:r>
                  <a:rPr lang="en-US" altLang="ko-KR" sz="1600" dirty="0">
                    <a:ea typeface="나눔명조" panose="02020603020101020101"/>
                  </a:rPr>
                  <a:t>0.01</a:t>
                </a:r>
                <a:r>
                  <a:rPr lang="ko-KR" altLang="en-US" sz="1600" dirty="0">
                    <a:ea typeface="나눔명조" panose="02020603020101020101"/>
                  </a:rPr>
                  <a:t>에 수렴하는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ko-KR" altLang="en-US" sz="1600" dirty="0">
                    <a:ea typeface="나눔명조" panose="02020603020101020101"/>
                  </a:rPr>
                  <a:t>가 선택되어야 함</a:t>
                </a:r>
                <a:endParaRPr lang="en-US" altLang="ko-KR" sz="1600" dirty="0">
                  <a:ea typeface="나눔명조" panose="02020603020101020101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AB190B-B2E0-44DF-A36F-5B0A06240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4564" y="1475986"/>
                <a:ext cx="7313612" cy="4684423"/>
              </a:xfrm>
              <a:blipFill>
                <a:blip r:embed="rId2"/>
                <a:stretch>
                  <a:fillRect l="-750" t="-6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146166-B111-4F88-BD27-E77D5597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22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3FFCD8-ECD7-4C5E-9BE2-D968FBDE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12D6-C075-41D8-8F5F-C6DFB89E7CD7}" type="slidenum">
              <a:rPr lang="ko-KR" altLang="en-US" smtClean="0"/>
              <a:pPr/>
              <a:t>43</a:t>
            </a:fld>
            <a:endParaRPr lang="en-US" altLang="ko-KR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528F593-23B8-4BD7-BC30-2582E7B9B34A}"/>
              </a:ext>
            </a:extLst>
          </p:cNvPr>
          <p:cNvSpPr txBox="1">
            <a:spLocks/>
          </p:cNvSpPr>
          <p:nvPr/>
        </p:nvSpPr>
        <p:spPr bwMode="auto">
          <a:xfrm>
            <a:off x="915194" y="155873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ko-KR" altLang="en-US" kern="0" dirty="0">
              <a:solidFill>
                <a:srgbClr val="0070C0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F67F8D1-32C3-4741-939C-04588EB00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371" y="3154921"/>
            <a:ext cx="5934269" cy="146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868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AB190B-B2E0-44DF-A36F-5B0A062403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827212"/>
                <a:ext cx="7313612" cy="4684423"/>
              </a:xfrm>
            </p:spPr>
            <p:txBody>
              <a:bodyPr/>
              <a:lstStyle/>
              <a:p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불확실성을 고려할 때에는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값과 그 발생확률도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 더하여 추가로 파악해야 하므로 할인율 결정 작업이 더 어려움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하지만 기후변화는 아주 장기의 문제를 다루고 있고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장래의 불확실성도 크기 때문에 관련된 최근 실증분석에서는 시점이 지날수록 할인율을 낮추어주는 방식을 많이 사용함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프랑스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영국 등의 일부 국가에서는 일반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공공사업 평가에 적용하는 할인율도 적용 기간을 몇 개의 구간으로 나누어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구간별로 서로 다르고 점차 감소하는 할인율을 실제로 적용하고 있음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불확실성을 할인율 선택에 반영하는 여러 방법과 추가 이슈들이 있으며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이에 관해서는 제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22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장 부록을 참고하기 바람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AB190B-B2E0-44DF-A36F-5B0A062403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827212"/>
                <a:ext cx="7313612" cy="4684423"/>
              </a:xfrm>
              <a:blipFill>
                <a:blip r:embed="rId2"/>
                <a:stretch>
                  <a:fillRect l="-751" t="-911" r="-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146166-B111-4F88-BD27-E77D5597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22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3FFCD8-ECD7-4C5E-9BE2-D968FBDE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12D6-C075-41D8-8F5F-C6DFB89E7CD7}" type="slidenum">
              <a:rPr lang="ko-KR" altLang="en-US" smtClean="0"/>
              <a:pPr/>
              <a:t>44</a:t>
            </a:fld>
            <a:endParaRPr lang="en-US" altLang="ko-KR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528F593-23B8-4BD7-BC30-2582E7B9B34A}"/>
              </a:ext>
            </a:extLst>
          </p:cNvPr>
          <p:cNvSpPr txBox="1">
            <a:spLocks/>
          </p:cNvSpPr>
          <p:nvPr/>
        </p:nvSpPr>
        <p:spPr bwMode="auto">
          <a:xfrm>
            <a:off x="1522413" y="4540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 선택 논쟁</a:t>
            </a:r>
            <a:endParaRPr lang="ko-KR" alt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743909"/>
      </p:ext>
    </p:extLst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3017</TotalTime>
  <Words>3917</Words>
  <Application>Microsoft Office PowerPoint</Application>
  <PresentationFormat>화면 슬라이드 쇼(4:3)</PresentationFormat>
  <Paragraphs>453</Paragraphs>
  <Slides>44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22장 개요</vt:lpstr>
      <vt:lpstr>기후변화의 경제학</vt:lpstr>
      <vt:lpstr>온실가스와 기온, 기온상승의 영향</vt:lpstr>
      <vt:lpstr>온실가스와 기온 , 기온상승의 영향</vt:lpstr>
      <vt:lpstr>온실가스와 기온 , 기온상승의 영향</vt:lpstr>
      <vt:lpstr>미래 전망</vt:lpstr>
      <vt:lpstr>미래 전망</vt:lpstr>
      <vt:lpstr>미래 전망</vt:lpstr>
      <vt:lpstr>미래 전망</vt:lpstr>
      <vt:lpstr>탄소예산</vt:lpstr>
      <vt:lpstr>배출저감 로드맵</vt:lpstr>
      <vt:lpstr>온실가스 배출감소와 그린 패러독스(Green Paradox)</vt:lpstr>
      <vt:lpstr>온실가스 배출감소와 그린 패러독스(Green Paradox)</vt:lpstr>
      <vt:lpstr>기후변화 대응</vt:lpstr>
      <vt:lpstr>배출저감</vt:lpstr>
      <vt:lpstr>배출저감</vt:lpstr>
      <vt:lpstr>배출저감</vt:lpstr>
      <vt:lpstr>기후변화 적응</vt:lpstr>
      <vt:lpstr>기후변화 적응</vt:lpstr>
      <vt:lpstr>기후변화 적응</vt:lpstr>
      <vt:lpstr>기후변화 적응</vt:lpstr>
      <vt:lpstr>국제적 노력</vt:lpstr>
      <vt:lpstr>국제적 노력</vt:lpstr>
      <vt:lpstr>국제적 노력</vt:lpstr>
      <vt:lpstr>국제적 노력</vt:lpstr>
      <vt:lpstr>국제적 노력</vt:lpstr>
      <vt:lpstr>국제적 노력</vt:lpstr>
      <vt:lpstr>통합평가모형</vt:lpstr>
      <vt:lpstr>통합평가모형</vt:lpstr>
      <vt:lpstr>통합평가모형</vt:lpstr>
      <vt:lpstr>통합평가모형</vt:lpstr>
      <vt:lpstr>탄소의 사회적 비용</vt:lpstr>
      <vt:lpstr>탄소의 사회적 비용</vt:lpstr>
      <vt:lpstr>할인율 선택 논쟁</vt:lpstr>
      <vt:lpstr>할인율 선택 논쟁</vt:lpstr>
      <vt:lpstr>할인율 선택 논쟁</vt:lpstr>
      <vt:lpstr>할인율 선택 논쟁</vt:lpstr>
      <vt:lpstr>할인율 선택 논쟁</vt:lpstr>
      <vt:lpstr>할인율 선택 논쟁</vt:lpstr>
      <vt:lpstr>할인율 선택 논쟁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324</cp:revision>
  <dcterms:created xsi:type="dcterms:W3CDTF">1997-07-14T00:22:12Z</dcterms:created>
  <dcterms:modified xsi:type="dcterms:W3CDTF">2025-02-19T02:12:01Z</dcterms:modified>
</cp:coreProperties>
</file>