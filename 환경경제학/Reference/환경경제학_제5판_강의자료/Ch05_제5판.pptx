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32"/>
  </p:notesMasterIdLst>
  <p:handoutMasterIdLst>
    <p:handoutMasterId r:id="rId33"/>
  </p:handoutMasterIdLst>
  <p:sldIdLst>
    <p:sldId id="373" r:id="rId2"/>
    <p:sldId id="262" r:id="rId3"/>
    <p:sldId id="340" r:id="rId4"/>
    <p:sldId id="332" r:id="rId5"/>
    <p:sldId id="351" r:id="rId6"/>
    <p:sldId id="264" r:id="rId7"/>
    <p:sldId id="352" r:id="rId8"/>
    <p:sldId id="353" r:id="rId9"/>
    <p:sldId id="293" r:id="rId10"/>
    <p:sldId id="333" r:id="rId11"/>
    <p:sldId id="354" r:id="rId12"/>
    <p:sldId id="355" r:id="rId13"/>
    <p:sldId id="356" r:id="rId14"/>
    <p:sldId id="357" r:id="rId15"/>
    <p:sldId id="358" r:id="rId16"/>
    <p:sldId id="266" r:id="rId17"/>
    <p:sldId id="342" r:id="rId18"/>
    <p:sldId id="334" r:id="rId19"/>
    <p:sldId id="359" r:id="rId20"/>
    <p:sldId id="344" r:id="rId21"/>
    <p:sldId id="325" r:id="rId22"/>
    <p:sldId id="360" r:id="rId23"/>
    <p:sldId id="361" r:id="rId24"/>
    <p:sldId id="362" r:id="rId25"/>
    <p:sldId id="363" r:id="rId26"/>
    <p:sldId id="366" r:id="rId27"/>
    <p:sldId id="368" r:id="rId28"/>
    <p:sldId id="367" r:id="rId29"/>
    <p:sldId id="364" r:id="rId30"/>
    <p:sldId id="365" r:id="rId31"/>
  </p:sldIdLst>
  <p:sldSz cx="9144000" cy="6858000" type="screen4x3"/>
  <p:notesSz cx="6858000" cy="9144000"/>
  <p:kinsoku lang="ko-KR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900" b="1" kern="1200">
        <a:solidFill>
          <a:srgbClr val="8D7DFF"/>
        </a:solidFill>
        <a:latin typeface="Verdana" panose="020B060403050404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900" b="1" kern="1200">
        <a:solidFill>
          <a:srgbClr val="8D7DFF"/>
        </a:solidFill>
        <a:latin typeface="Verdana" panose="020B060403050404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900" b="1" kern="1200">
        <a:solidFill>
          <a:srgbClr val="8D7DFF"/>
        </a:solidFill>
        <a:latin typeface="Verdana" panose="020B060403050404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900" b="1" kern="1200">
        <a:solidFill>
          <a:srgbClr val="8D7DFF"/>
        </a:solidFill>
        <a:latin typeface="Verdana" panose="020B060403050404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900" b="1" kern="1200">
        <a:solidFill>
          <a:srgbClr val="8D7DFF"/>
        </a:solidFill>
        <a:latin typeface="Verdana" panose="020B0604030504040204" pitchFamily="34" charset="0"/>
        <a:ea typeface="+mn-ea"/>
        <a:cs typeface="+mn-cs"/>
      </a:defRPr>
    </a:lvl5pPr>
    <a:lvl6pPr marL="2286000" algn="l" defTabSz="914400" rtl="0" eaLnBrk="1" latinLnBrk="1" hangingPunct="1">
      <a:defRPr sz="2900" b="1" kern="1200">
        <a:solidFill>
          <a:srgbClr val="8D7DFF"/>
        </a:solidFill>
        <a:latin typeface="Verdana" panose="020B0604030504040204" pitchFamily="34" charset="0"/>
        <a:ea typeface="+mn-ea"/>
        <a:cs typeface="+mn-cs"/>
      </a:defRPr>
    </a:lvl6pPr>
    <a:lvl7pPr marL="2743200" algn="l" defTabSz="914400" rtl="0" eaLnBrk="1" latinLnBrk="1" hangingPunct="1">
      <a:defRPr sz="2900" b="1" kern="1200">
        <a:solidFill>
          <a:srgbClr val="8D7DFF"/>
        </a:solidFill>
        <a:latin typeface="Verdana" panose="020B0604030504040204" pitchFamily="34" charset="0"/>
        <a:ea typeface="+mn-ea"/>
        <a:cs typeface="+mn-cs"/>
      </a:defRPr>
    </a:lvl7pPr>
    <a:lvl8pPr marL="3200400" algn="l" defTabSz="914400" rtl="0" eaLnBrk="1" latinLnBrk="1" hangingPunct="1">
      <a:defRPr sz="2900" b="1" kern="1200">
        <a:solidFill>
          <a:srgbClr val="8D7DFF"/>
        </a:solidFill>
        <a:latin typeface="Verdana" panose="020B0604030504040204" pitchFamily="34" charset="0"/>
        <a:ea typeface="+mn-ea"/>
        <a:cs typeface="+mn-cs"/>
      </a:defRPr>
    </a:lvl8pPr>
    <a:lvl9pPr marL="3657600" algn="l" defTabSz="914400" rtl="0" eaLnBrk="1" latinLnBrk="1" hangingPunct="1">
      <a:defRPr sz="2900" b="1" kern="1200">
        <a:solidFill>
          <a:srgbClr val="8D7DFF"/>
        </a:solidFill>
        <a:latin typeface="Verdan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FF"/>
    <a:srgbClr val="DAEDD1"/>
    <a:srgbClr val="C4E3B5"/>
    <a:srgbClr val="663300"/>
    <a:srgbClr val="1C4E35"/>
    <a:srgbClr val="FFFFFF"/>
    <a:srgbClr val="B2B2B2"/>
    <a:srgbClr val="CC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89" autoAdjust="0"/>
    <p:restoredTop sz="94662" autoAdjust="0"/>
  </p:normalViewPr>
  <p:slideViewPr>
    <p:cSldViewPr snapToGrid="0">
      <p:cViewPr varScale="1">
        <p:scale>
          <a:sx n="88" d="100"/>
          <a:sy n="88" d="100"/>
        </p:scale>
        <p:origin x="1234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37" d="100"/>
          <a:sy n="37" d="100"/>
        </p:scale>
        <p:origin x="-1470" y="-9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>
            <a:extLst>
              <a:ext uri="{FF2B5EF4-FFF2-40B4-BE49-F238E27FC236}">
                <a16:creationId xmlns:a16="http://schemas.microsoft.com/office/drawing/2014/main" id="{979658C8-89C8-45A2-83B9-7DA7C7C2512C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9350" y="692150"/>
            <a:ext cx="4559300" cy="34163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3CE239E1-DA90-4225-B418-BD2A1DB126D6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noProof="0"/>
              <a:t>Click to edit Master text styles</a:t>
            </a:r>
          </a:p>
          <a:p>
            <a:pPr lvl="1"/>
            <a:r>
              <a:rPr lang="en-US" altLang="ko-KR" noProof="0"/>
              <a:t>Second level</a:t>
            </a:r>
          </a:p>
          <a:p>
            <a:pPr lvl="2"/>
            <a:r>
              <a:rPr lang="en-US" altLang="ko-KR" noProof="0"/>
              <a:t>Third level</a:t>
            </a:r>
          </a:p>
          <a:p>
            <a:pPr lvl="3"/>
            <a:r>
              <a:rPr lang="en-US" altLang="ko-KR" noProof="0"/>
              <a:t>Fourth level</a:t>
            </a:r>
          </a:p>
          <a:p>
            <a:pPr lvl="4"/>
            <a:r>
              <a:rPr lang="en-US" altLang="ko-KR" noProof="0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entury Gothic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entury Gothic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entury Gothic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entury Gothic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entury Gothic" pitchFamily="34" charset="0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>
            <a:extLst>
              <a:ext uri="{FF2B5EF4-FFF2-40B4-BE49-F238E27FC236}">
                <a16:creationId xmlns:a16="http://schemas.microsoft.com/office/drawing/2014/main" id="{5C414753-6084-4103-B37E-11E83860DE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C4D4D5DF-93BA-41E7-B2FE-1EAFD7DDA4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2</a:t>
            </a:r>
          </a:p>
        </p:txBody>
      </p:sp>
      <p:sp>
        <p:nvSpPr>
          <p:cNvPr id="52228" name="Rectangle 4">
            <a:extLst>
              <a:ext uri="{FF2B5EF4-FFF2-40B4-BE49-F238E27FC236}">
                <a16:creationId xmlns:a16="http://schemas.microsoft.com/office/drawing/2014/main" id="{8DC97D45-C034-4CAD-8E2B-D3A83EE8C2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2229" name="Rectangle 5">
            <a:extLst>
              <a:ext uri="{FF2B5EF4-FFF2-40B4-BE49-F238E27FC236}">
                <a16:creationId xmlns:a16="http://schemas.microsoft.com/office/drawing/2014/main" id="{5FB1D543-E221-45ED-9809-E7C7A694F1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2230" name="Rectangle 6">
            <a:extLst>
              <a:ext uri="{FF2B5EF4-FFF2-40B4-BE49-F238E27FC236}">
                <a16:creationId xmlns:a16="http://schemas.microsoft.com/office/drawing/2014/main" id="{2997FA53-2675-4A97-B377-C452F9A3A7A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52231" name="Rectangle 7">
            <a:extLst>
              <a:ext uri="{FF2B5EF4-FFF2-40B4-BE49-F238E27FC236}">
                <a16:creationId xmlns:a16="http://schemas.microsoft.com/office/drawing/2014/main" id="{C8F8FA1F-D219-49D0-8E9D-A34D96675BA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>
            <a:extLst>
              <a:ext uri="{FF2B5EF4-FFF2-40B4-BE49-F238E27FC236}">
                <a16:creationId xmlns:a16="http://schemas.microsoft.com/office/drawing/2014/main" id="{232AD40A-2FB2-44B2-BFE3-F8ED0DD240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3251" name="Rectangle 3">
            <a:extLst>
              <a:ext uri="{FF2B5EF4-FFF2-40B4-BE49-F238E27FC236}">
                <a16:creationId xmlns:a16="http://schemas.microsoft.com/office/drawing/2014/main" id="{E773B30E-4E4B-41B5-A6AA-7BE9934CE0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10</a:t>
            </a:r>
          </a:p>
        </p:txBody>
      </p:sp>
      <p:sp>
        <p:nvSpPr>
          <p:cNvPr id="53252" name="Rectangle 4">
            <a:extLst>
              <a:ext uri="{FF2B5EF4-FFF2-40B4-BE49-F238E27FC236}">
                <a16:creationId xmlns:a16="http://schemas.microsoft.com/office/drawing/2014/main" id="{4406519F-C65B-4828-B1A5-09BAEAAD60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3253" name="Rectangle 5">
            <a:extLst>
              <a:ext uri="{FF2B5EF4-FFF2-40B4-BE49-F238E27FC236}">
                <a16:creationId xmlns:a16="http://schemas.microsoft.com/office/drawing/2014/main" id="{9FA705D0-CA80-4023-B0D0-228F7B1136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3254" name="Rectangle 6">
            <a:extLst>
              <a:ext uri="{FF2B5EF4-FFF2-40B4-BE49-F238E27FC236}">
                <a16:creationId xmlns:a16="http://schemas.microsoft.com/office/drawing/2014/main" id="{38BA04DB-287A-496E-A749-57ED2145925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53255" name="Rectangle 7">
            <a:extLst>
              <a:ext uri="{FF2B5EF4-FFF2-40B4-BE49-F238E27FC236}">
                <a16:creationId xmlns:a16="http://schemas.microsoft.com/office/drawing/2014/main" id="{20703A5E-1474-4548-975D-C5979611941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>
            <a:extLst>
              <a:ext uri="{FF2B5EF4-FFF2-40B4-BE49-F238E27FC236}">
                <a16:creationId xmlns:a16="http://schemas.microsoft.com/office/drawing/2014/main" id="{85DF2DC1-E6B9-49AC-AF03-642A1708B7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4275" name="Rectangle 3">
            <a:extLst>
              <a:ext uri="{FF2B5EF4-FFF2-40B4-BE49-F238E27FC236}">
                <a16:creationId xmlns:a16="http://schemas.microsoft.com/office/drawing/2014/main" id="{FA03F551-6F16-4F6A-A8D6-F4E9944D83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2</a:t>
            </a:r>
          </a:p>
        </p:txBody>
      </p:sp>
      <p:sp>
        <p:nvSpPr>
          <p:cNvPr id="54276" name="Rectangle 4">
            <a:extLst>
              <a:ext uri="{FF2B5EF4-FFF2-40B4-BE49-F238E27FC236}">
                <a16:creationId xmlns:a16="http://schemas.microsoft.com/office/drawing/2014/main" id="{362AAAD4-812E-42FE-841D-5C64C686FD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4277" name="Rectangle 5">
            <a:extLst>
              <a:ext uri="{FF2B5EF4-FFF2-40B4-BE49-F238E27FC236}">
                <a16:creationId xmlns:a16="http://schemas.microsoft.com/office/drawing/2014/main" id="{F01CCCDC-0551-4AF9-BED5-C3F3B017DB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4278" name="Rectangle 6">
            <a:extLst>
              <a:ext uri="{FF2B5EF4-FFF2-40B4-BE49-F238E27FC236}">
                <a16:creationId xmlns:a16="http://schemas.microsoft.com/office/drawing/2014/main" id="{F08A70A7-1022-48E2-AB5D-50784EADFAF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54279" name="Rectangle 7">
            <a:extLst>
              <a:ext uri="{FF2B5EF4-FFF2-40B4-BE49-F238E27FC236}">
                <a16:creationId xmlns:a16="http://schemas.microsoft.com/office/drawing/2014/main" id="{7274E9C2-CC60-4E93-9753-8CDC03C9A06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>
            <a:extLst>
              <a:ext uri="{FF2B5EF4-FFF2-40B4-BE49-F238E27FC236}">
                <a16:creationId xmlns:a16="http://schemas.microsoft.com/office/drawing/2014/main" id="{42C82C9D-8F52-4D3F-B35E-6A23605392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5299" name="Rectangle 3">
            <a:extLst>
              <a:ext uri="{FF2B5EF4-FFF2-40B4-BE49-F238E27FC236}">
                <a16:creationId xmlns:a16="http://schemas.microsoft.com/office/drawing/2014/main" id="{5CF09252-457B-4CA2-9EE1-25E119460C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2</a:t>
            </a:r>
          </a:p>
        </p:txBody>
      </p:sp>
      <p:sp>
        <p:nvSpPr>
          <p:cNvPr id="55300" name="Rectangle 4">
            <a:extLst>
              <a:ext uri="{FF2B5EF4-FFF2-40B4-BE49-F238E27FC236}">
                <a16:creationId xmlns:a16="http://schemas.microsoft.com/office/drawing/2014/main" id="{57CF65BF-D068-4EA4-9B7E-76EE6B759D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5301" name="Rectangle 5">
            <a:extLst>
              <a:ext uri="{FF2B5EF4-FFF2-40B4-BE49-F238E27FC236}">
                <a16:creationId xmlns:a16="http://schemas.microsoft.com/office/drawing/2014/main" id="{EEA014B7-DA13-4D4F-9FCE-F588CC43D2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5302" name="Rectangle 6">
            <a:extLst>
              <a:ext uri="{FF2B5EF4-FFF2-40B4-BE49-F238E27FC236}">
                <a16:creationId xmlns:a16="http://schemas.microsoft.com/office/drawing/2014/main" id="{E6B319A6-0030-4C27-8D47-4A2F448FB60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55303" name="Rectangle 7">
            <a:extLst>
              <a:ext uri="{FF2B5EF4-FFF2-40B4-BE49-F238E27FC236}">
                <a16:creationId xmlns:a16="http://schemas.microsoft.com/office/drawing/2014/main" id="{57354453-AEE2-4481-B87D-B5E4354EDF9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>
            <a:extLst>
              <a:ext uri="{FF2B5EF4-FFF2-40B4-BE49-F238E27FC236}">
                <a16:creationId xmlns:a16="http://schemas.microsoft.com/office/drawing/2014/main" id="{061FC774-2FE6-4D1B-8850-1A9FD38CE9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6323" name="Rectangle 3">
            <a:extLst>
              <a:ext uri="{FF2B5EF4-FFF2-40B4-BE49-F238E27FC236}">
                <a16:creationId xmlns:a16="http://schemas.microsoft.com/office/drawing/2014/main" id="{60EC8FA2-6223-457C-8DE0-ABF5C837A3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4</a:t>
            </a:r>
          </a:p>
        </p:txBody>
      </p:sp>
      <p:sp>
        <p:nvSpPr>
          <p:cNvPr id="56324" name="Rectangle 4">
            <a:extLst>
              <a:ext uri="{FF2B5EF4-FFF2-40B4-BE49-F238E27FC236}">
                <a16:creationId xmlns:a16="http://schemas.microsoft.com/office/drawing/2014/main" id="{66D9872B-2121-4CBE-8208-CE8DF4D8BD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6325" name="Rectangle 5">
            <a:extLst>
              <a:ext uri="{FF2B5EF4-FFF2-40B4-BE49-F238E27FC236}">
                <a16:creationId xmlns:a16="http://schemas.microsoft.com/office/drawing/2014/main" id="{910CC577-2D4C-4AF9-A070-4C57D56049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6326" name="Rectangle 6">
            <a:extLst>
              <a:ext uri="{FF2B5EF4-FFF2-40B4-BE49-F238E27FC236}">
                <a16:creationId xmlns:a16="http://schemas.microsoft.com/office/drawing/2014/main" id="{E78C8E39-9AC3-4A8C-A2CD-D7A3A435DDB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56327" name="Rectangle 7">
            <a:extLst>
              <a:ext uri="{FF2B5EF4-FFF2-40B4-BE49-F238E27FC236}">
                <a16:creationId xmlns:a16="http://schemas.microsoft.com/office/drawing/2014/main" id="{AD3BBDB2-44C1-4116-AF22-CF11AD1B4FB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>
            <a:extLst>
              <a:ext uri="{FF2B5EF4-FFF2-40B4-BE49-F238E27FC236}">
                <a16:creationId xmlns:a16="http://schemas.microsoft.com/office/drawing/2014/main" id="{982430A9-CF69-440D-9ED2-C73C764498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7347" name="Rectangle 3">
            <a:extLst>
              <a:ext uri="{FF2B5EF4-FFF2-40B4-BE49-F238E27FC236}">
                <a16:creationId xmlns:a16="http://schemas.microsoft.com/office/drawing/2014/main" id="{A1D90D0E-0F01-4E81-B4A8-1EC6F53D9F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4</a:t>
            </a:r>
          </a:p>
        </p:txBody>
      </p:sp>
      <p:sp>
        <p:nvSpPr>
          <p:cNvPr id="57348" name="Rectangle 4">
            <a:extLst>
              <a:ext uri="{FF2B5EF4-FFF2-40B4-BE49-F238E27FC236}">
                <a16:creationId xmlns:a16="http://schemas.microsoft.com/office/drawing/2014/main" id="{6EDE5D01-3B2D-4731-9E22-7AD16A9E32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7349" name="Rectangle 5">
            <a:extLst>
              <a:ext uri="{FF2B5EF4-FFF2-40B4-BE49-F238E27FC236}">
                <a16:creationId xmlns:a16="http://schemas.microsoft.com/office/drawing/2014/main" id="{F7C30E65-EA95-4055-9189-EC367E95CF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7350" name="Rectangle 6">
            <a:extLst>
              <a:ext uri="{FF2B5EF4-FFF2-40B4-BE49-F238E27FC236}">
                <a16:creationId xmlns:a16="http://schemas.microsoft.com/office/drawing/2014/main" id="{DDA91788-B051-4C60-9912-8FAD903BA6F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57351" name="Rectangle 7">
            <a:extLst>
              <a:ext uri="{FF2B5EF4-FFF2-40B4-BE49-F238E27FC236}">
                <a16:creationId xmlns:a16="http://schemas.microsoft.com/office/drawing/2014/main" id="{D3989B3A-01C2-46C2-A1A6-C77707AEDF9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>
            <a:extLst>
              <a:ext uri="{FF2B5EF4-FFF2-40B4-BE49-F238E27FC236}">
                <a16:creationId xmlns:a16="http://schemas.microsoft.com/office/drawing/2014/main" id="{51E68119-99A2-4DF1-B217-054742BF9D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8371" name="Rectangle 3">
            <a:extLst>
              <a:ext uri="{FF2B5EF4-FFF2-40B4-BE49-F238E27FC236}">
                <a16:creationId xmlns:a16="http://schemas.microsoft.com/office/drawing/2014/main" id="{B52A2FF3-1423-4489-B8C8-8ABF90DBC8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4</a:t>
            </a:r>
          </a:p>
        </p:txBody>
      </p:sp>
      <p:sp>
        <p:nvSpPr>
          <p:cNvPr id="58372" name="Rectangle 4">
            <a:extLst>
              <a:ext uri="{FF2B5EF4-FFF2-40B4-BE49-F238E27FC236}">
                <a16:creationId xmlns:a16="http://schemas.microsoft.com/office/drawing/2014/main" id="{4D5CCE73-3BCD-4A99-9732-C9F86CB3CC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8373" name="Rectangle 5">
            <a:extLst>
              <a:ext uri="{FF2B5EF4-FFF2-40B4-BE49-F238E27FC236}">
                <a16:creationId xmlns:a16="http://schemas.microsoft.com/office/drawing/2014/main" id="{C3337F11-C01B-425B-A316-B0B4A2BBD3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8374" name="Rectangle 6">
            <a:extLst>
              <a:ext uri="{FF2B5EF4-FFF2-40B4-BE49-F238E27FC236}">
                <a16:creationId xmlns:a16="http://schemas.microsoft.com/office/drawing/2014/main" id="{F9945027-0CE6-4FEE-9466-244DA4D6E9E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58375" name="Rectangle 7">
            <a:extLst>
              <a:ext uri="{FF2B5EF4-FFF2-40B4-BE49-F238E27FC236}">
                <a16:creationId xmlns:a16="http://schemas.microsoft.com/office/drawing/2014/main" id="{824A42B9-0D10-4BCF-BA0F-939D32CF2DE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>
            <a:extLst>
              <a:ext uri="{FF2B5EF4-FFF2-40B4-BE49-F238E27FC236}">
                <a16:creationId xmlns:a16="http://schemas.microsoft.com/office/drawing/2014/main" id="{4654EA73-BBBA-4746-B102-492BAD1A21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9395" name="Rectangle 3">
            <a:extLst>
              <a:ext uri="{FF2B5EF4-FFF2-40B4-BE49-F238E27FC236}">
                <a16:creationId xmlns:a16="http://schemas.microsoft.com/office/drawing/2014/main" id="{712CC0F4-4822-4DAB-9A3D-6655C56FFB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6</a:t>
            </a:r>
          </a:p>
        </p:txBody>
      </p:sp>
      <p:sp>
        <p:nvSpPr>
          <p:cNvPr id="59396" name="Rectangle 4">
            <a:extLst>
              <a:ext uri="{FF2B5EF4-FFF2-40B4-BE49-F238E27FC236}">
                <a16:creationId xmlns:a16="http://schemas.microsoft.com/office/drawing/2014/main" id="{51D55FF4-50D9-497B-B3FF-811837C019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9397" name="Rectangle 5">
            <a:extLst>
              <a:ext uri="{FF2B5EF4-FFF2-40B4-BE49-F238E27FC236}">
                <a16:creationId xmlns:a16="http://schemas.microsoft.com/office/drawing/2014/main" id="{7320974A-7152-4C59-A64F-7FA0329B40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9398" name="Rectangle 6">
            <a:extLst>
              <a:ext uri="{FF2B5EF4-FFF2-40B4-BE49-F238E27FC236}">
                <a16:creationId xmlns:a16="http://schemas.microsoft.com/office/drawing/2014/main" id="{8A39834E-59E2-4278-8180-787AF64BAA1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59399" name="Rectangle 7">
            <a:extLst>
              <a:ext uri="{FF2B5EF4-FFF2-40B4-BE49-F238E27FC236}">
                <a16:creationId xmlns:a16="http://schemas.microsoft.com/office/drawing/2014/main" id="{B8D79FB3-0C74-4D45-9C53-80AA43D894F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>
            <a:extLst>
              <a:ext uri="{FF2B5EF4-FFF2-40B4-BE49-F238E27FC236}">
                <a16:creationId xmlns:a16="http://schemas.microsoft.com/office/drawing/2014/main" id="{75199FA2-DABF-48DE-9C7D-7AB4D3CD0A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0419" name="Rectangle 3">
            <a:extLst>
              <a:ext uri="{FF2B5EF4-FFF2-40B4-BE49-F238E27FC236}">
                <a16:creationId xmlns:a16="http://schemas.microsoft.com/office/drawing/2014/main" id="{EA6E75F4-1C73-4381-A96F-7C7CA030EF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6</a:t>
            </a:r>
          </a:p>
        </p:txBody>
      </p:sp>
      <p:sp>
        <p:nvSpPr>
          <p:cNvPr id="60420" name="Rectangle 4">
            <a:extLst>
              <a:ext uri="{FF2B5EF4-FFF2-40B4-BE49-F238E27FC236}">
                <a16:creationId xmlns:a16="http://schemas.microsoft.com/office/drawing/2014/main" id="{275BE555-7681-4833-B2A7-4A1A96B347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0421" name="Rectangle 5">
            <a:extLst>
              <a:ext uri="{FF2B5EF4-FFF2-40B4-BE49-F238E27FC236}">
                <a16:creationId xmlns:a16="http://schemas.microsoft.com/office/drawing/2014/main" id="{CA7BF618-5E46-402A-90AE-820DF95FFE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0422" name="Rectangle 6">
            <a:extLst>
              <a:ext uri="{FF2B5EF4-FFF2-40B4-BE49-F238E27FC236}">
                <a16:creationId xmlns:a16="http://schemas.microsoft.com/office/drawing/2014/main" id="{30531486-CF9C-439C-A1B6-799A51E7571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60423" name="Rectangle 7">
            <a:extLst>
              <a:ext uri="{FF2B5EF4-FFF2-40B4-BE49-F238E27FC236}">
                <a16:creationId xmlns:a16="http://schemas.microsoft.com/office/drawing/2014/main" id="{2F710D43-C513-4808-ABD8-469135B9A26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>
            <a:extLst>
              <a:ext uri="{FF2B5EF4-FFF2-40B4-BE49-F238E27FC236}">
                <a16:creationId xmlns:a16="http://schemas.microsoft.com/office/drawing/2014/main" id="{3FD2C206-D577-4107-A9D3-688CE033FE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1443" name="Rectangle 3">
            <a:extLst>
              <a:ext uri="{FF2B5EF4-FFF2-40B4-BE49-F238E27FC236}">
                <a16:creationId xmlns:a16="http://schemas.microsoft.com/office/drawing/2014/main" id="{D1D0618B-542E-4AA1-90AF-4C3ACC50A0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7</a:t>
            </a:r>
          </a:p>
        </p:txBody>
      </p:sp>
      <p:sp>
        <p:nvSpPr>
          <p:cNvPr id="61444" name="Rectangle 4">
            <a:extLst>
              <a:ext uri="{FF2B5EF4-FFF2-40B4-BE49-F238E27FC236}">
                <a16:creationId xmlns:a16="http://schemas.microsoft.com/office/drawing/2014/main" id="{5B1873AA-8AFB-45DA-B1AC-DE8E415BD1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1445" name="Rectangle 5">
            <a:extLst>
              <a:ext uri="{FF2B5EF4-FFF2-40B4-BE49-F238E27FC236}">
                <a16:creationId xmlns:a16="http://schemas.microsoft.com/office/drawing/2014/main" id="{9BAFAC65-AB3A-4D92-9178-213E46D063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1446" name="Rectangle 6">
            <a:extLst>
              <a:ext uri="{FF2B5EF4-FFF2-40B4-BE49-F238E27FC236}">
                <a16:creationId xmlns:a16="http://schemas.microsoft.com/office/drawing/2014/main" id="{0E9B83B7-9453-4916-A309-7E57832FBC9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61447" name="Rectangle 7">
            <a:extLst>
              <a:ext uri="{FF2B5EF4-FFF2-40B4-BE49-F238E27FC236}">
                <a16:creationId xmlns:a16="http://schemas.microsoft.com/office/drawing/2014/main" id="{2B2B43C2-2EB6-44F1-A014-06729CDAB78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>
            <a:extLst>
              <a:ext uri="{FF2B5EF4-FFF2-40B4-BE49-F238E27FC236}">
                <a16:creationId xmlns:a16="http://schemas.microsoft.com/office/drawing/2014/main" id="{AF50A1F0-6EE4-4F89-90BB-25A675C7F8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2467" name="Rectangle 3">
            <a:extLst>
              <a:ext uri="{FF2B5EF4-FFF2-40B4-BE49-F238E27FC236}">
                <a16:creationId xmlns:a16="http://schemas.microsoft.com/office/drawing/2014/main" id="{1B306831-7422-40FE-B54E-81B88B299F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7</a:t>
            </a:r>
          </a:p>
        </p:txBody>
      </p:sp>
      <p:sp>
        <p:nvSpPr>
          <p:cNvPr id="62468" name="Rectangle 4">
            <a:extLst>
              <a:ext uri="{FF2B5EF4-FFF2-40B4-BE49-F238E27FC236}">
                <a16:creationId xmlns:a16="http://schemas.microsoft.com/office/drawing/2014/main" id="{E2755A11-A817-454C-AC37-CCF40E2879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2469" name="Rectangle 5">
            <a:extLst>
              <a:ext uri="{FF2B5EF4-FFF2-40B4-BE49-F238E27FC236}">
                <a16:creationId xmlns:a16="http://schemas.microsoft.com/office/drawing/2014/main" id="{5ECF5045-66D9-4374-8803-C1AD92E440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2470" name="Rectangle 6">
            <a:extLst>
              <a:ext uri="{FF2B5EF4-FFF2-40B4-BE49-F238E27FC236}">
                <a16:creationId xmlns:a16="http://schemas.microsoft.com/office/drawing/2014/main" id="{E76CD557-F1D0-4D7A-AD00-4274A9B679B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62471" name="Rectangle 7">
            <a:extLst>
              <a:ext uri="{FF2B5EF4-FFF2-40B4-BE49-F238E27FC236}">
                <a16:creationId xmlns:a16="http://schemas.microsoft.com/office/drawing/2014/main" id="{BE0D2957-DBF1-4F1B-A1FD-ACDBFC9649D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>
            <a:extLst>
              <a:ext uri="{FF2B5EF4-FFF2-40B4-BE49-F238E27FC236}">
                <a16:creationId xmlns:a16="http://schemas.microsoft.com/office/drawing/2014/main" id="{FAD4F62F-EF74-4311-B74B-3C9E2BFA20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3491" name="Rectangle 3">
            <a:extLst>
              <a:ext uri="{FF2B5EF4-FFF2-40B4-BE49-F238E27FC236}">
                <a16:creationId xmlns:a16="http://schemas.microsoft.com/office/drawing/2014/main" id="{404F5547-BF11-4D72-A62D-30D6309A94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10</a:t>
            </a:r>
          </a:p>
        </p:txBody>
      </p:sp>
      <p:sp>
        <p:nvSpPr>
          <p:cNvPr id="63492" name="Rectangle 4">
            <a:extLst>
              <a:ext uri="{FF2B5EF4-FFF2-40B4-BE49-F238E27FC236}">
                <a16:creationId xmlns:a16="http://schemas.microsoft.com/office/drawing/2014/main" id="{B28E8544-3A22-4377-B378-3E1ADCFD16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3493" name="Rectangle 5">
            <a:extLst>
              <a:ext uri="{FF2B5EF4-FFF2-40B4-BE49-F238E27FC236}">
                <a16:creationId xmlns:a16="http://schemas.microsoft.com/office/drawing/2014/main" id="{745FF144-94ED-4A00-862B-57B65B9EC5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3494" name="Rectangle 6">
            <a:extLst>
              <a:ext uri="{FF2B5EF4-FFF2-40B4-BE49-F238E27FC236}">
                <a16:creationId xmlns:a16="http://schemas.microsoft.com/office/drawing/2014/main" id="{D633E2B8-5AFA-45B0-80D8-5A3E08C65A9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63495" name="Rectangle 7">
            <a:extLst>
              <a:ext uri="{FF2B5EF4-FFF2-40B4-BE49-F238E27FC236}">
                <a16:creationId xmlns:a16="http://schemas.microsoft.com/office/drawing/2014/main" id="{B6F87F55-CB07-40A3-977D-CE6D01BB8AE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1026">
            <a:extLst>
              <a:ext uri="{FF2B5EF4-FFF2-40B4-BE49-F238E27FC236}">
                <a16:creationId xmlns:a16="http://schemas.microsoft.com/office/drawing/2014/main" id="{DD4C8F2B-02C8-4D1B-B78F-5AD9C48C8859}"/>
              </a:ext>
            </a:extLst>
          </p:cNvPr>
          <p:cNvGrpSpPr>
            <a:grpSpLocks/>
          </p:cNvGrpSpPr>
          <p:nvPr/>
        </p:nvGrpSpPr>
        <p:grpSpPr bwMode="auto">
          <a:xfrm>
            <a:off x="-3222625" y="304800"/>
            <a:ext cx="11909425" cy="4724400"/>
            <a:chOff x="-2030" y="192"/>
            <a:chExt cx="7502" cy="2976"/>
          </a:xfrm>
        </p:grpSpPr>
        <p:sp>
          <p:nvSpPr>
            <p:cNvPr id="5" name="Line 1027">
              <a:extLst>
                <a:ext uri="{FF2B5EF4-FFF2-40B4-BE49-F238E27FC236}">
                  <a16:creationId xmlns:a16="http://schemas.microsoft.com/office/drawing/2014/main" id="{C5F28ECB-9925-4E0A-A96F-87F9BE68B9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2" y="1584"/>
              <a:ext cx="4560" cy="0"/>
            </a:xfrm>
            <a:prstGeom prst="line">
              <a:avLst/>
            </a:prstGeom>
            <a:noFill/>
            <a:ln w="57150" cmpd="thickThin">
              <a:solidFill>
                <a:srgbClr val="8D7DFF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/>
            </a:p>
          </p:txBody>
        </p:sp>
        <p:sp>
          <p:nvSpPr>
            <p:cNvPr id="6" name="AutoShape 1028">
              <a:extLst>
                <a:ext uri="{FF2B5EF4-FFF2-40B4-BE49-F238E27FC236}">
                  <a16:creationId xmlns:a16="http://schemas.microsoft.com/office/drawing/2014/main" id="{0A052C97-DEE0-4A84-871A-30CB290BB2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1584" y="864"/>
              <a:ext cx="2304" cy="2304"/>
            </a:xfrm>
            <a:custGeom>
              <a:avLst/>
              <a:gdLst>
                <a:gd name="T0" fmla="*/ 57 w 64000"/>
                <a:gd name="T1" fmla="*/ 3 h 64000"/>
                <a:gd name="T2" fmla="*/ 83 w 64000"/>
                <a:gd name="T3" fmla="*/ 41 h 64000"/>
                <a:gd name="T4" fmla="*/ 57 w 64000"/>
                <a:gd name="T5" fmla="*/ 80 h 64000"/>
                <a:gd name="T6" fmla="*/ 57 w 64000"/>
                <a:gd name="T7" fmla="*/ 80 h 64000"/>
                <a:gd name="T8" fmla="*/ 57 w 64000"/>
                <a:gd name="T9" fmla="*/ 80 h 64000"/>
                <a:gd name="T10" fmla="*/ 57 w 64000"/>
                <a:gd name="T11" fmla="*/ 80 h 64000"/>
                <a:gd name="T12" fmla="*/ 57 w 64000"/>
                <a:gd name="T13" fmla="*/ 3 h 64000"/>
                <a:gd name="T14" fmla="*/ 57 w 64000"/>
                <a:gd name="T15" fmla="*/ 3 h 64000"/>
                <a:gd name="T16" fmla="*/ 57 w 64000"/>
                <a:gd name="T17" fmla="*/ 3 h 6400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44083 w 64000"/>
                <a:gd name="T28" fmla="*/ -29639 h 64000"/>
                <a:gd name="T29" fmla="*/ 44083 w 64000"/>
                <a:gd name="T30" fmla="*/ 29639 h 6400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64000" h="64000">
                  <a:moveTo>
                    <a:pt x="44083" y="2368"/>
                  </a:moveTo>
                  <a:cubicBezTo>
                    <a:pt x="56127" y="7280"/>
                    <a:pt x="64000" y="18993"/>
                    <a:pt x="64000" y="32000"/>
                  </a:cubicBezTo>
                  <a:cubicBezTo>
                    <a:pt x="64000" y="45006"/>
                    <a:pt x="56127" y="56719"/>
                    <a:pt x="44083" y="61631"/>
                  </a:cubicBezTo>
                  <a:cubicBezTo>
                    <a:pt x="44082" y="61631"/>
                    <a:pt x="44082" y="61631"/>
                    <a:pt x="44082" y="61631"/>
                  </a:cubicBezTo>
                  <a:lnTo>
                    <a:pt x="44083" y="61632"/>
                  </a:lnTo>
                  <a:lnTo>
                    <a:pt x="44083" y="2368"/>
                  </a:lnTo>
                  <a:lnTo>
                    <a:pt x="44082" y="2368"/>
                  </a:lnTo>
                  <a:cubicBezTo>
                    <a:pt x="44082" y="2368"/>
                    <a:pt x="44082" y="2368"/>
                    <a:pt x="44083" y="2368"/>
                  </a:cubicBezTo>
                  <a:close/>
                </a:path>
              </a:pathLst>
            </a:custGeom>
            <a:solidFill>
              <a:srgbClr val="9999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/>
            </a:p>
          </p:txBody>
        </p:sp>
        <p:sp>
          <p:nvSpPr>
            <p:cNvPr id="7" name="AutoShape 1029">
              <a:extLst>
                <a:ext uri="{FF2B5EF4-FFF2-40B4-BE49-F238E27FC236}">
                  <a16:creationId xmlns:a16="http://schemas.microsoft.com/office/drawing/2014/main" id="{15951644-2555-4654-8FD0-63BD04EB87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2030" y="192"/>
              <a:ext cx="2544" cy="2544"/>
            </a:xfrm>
            <a:custGeom>
              <a:avLst/>
              <a:gdLst>
                <a:gd name="T0" fmla="*/ 81 w 64000"/>
                <a:gd name="T1" fmla="*/ 10 h 64000"/>
                <a:gd name="T2" fmla="*/ 101 w 64000"/>
                <a:gd name="T3" fmla="*/ 51 h 64000"/>
                <a:gd name="T4" fmla="*/ 81 w 64000"/>
                <a:gd name="T5" fmla="*/ 91 h 64000"/>
                <a:gd name="T6" fmla="*/ 81 w 64000"/>
                <a:gd name="T7" fmla="*/ 91 h 64000"/>
                <a:gd name="T8" fmla="*/ 81 w 64000"/>
                <a:gd name="T9" fmla="*/ 91 h 64000"/>
                <a:gd name="T10" fmla="*/ 81 w 64000"/>
                <a:gd name="T11" fmla="*/ 91 h 64000"/>
                <a:gd name="T12" fmla="*/ 81 w 64000"/>
                <a:gd name="T13" fmla="*/ 10 h 64000"/>
                <a:gd name="T14" fmla="*/ 81 w 64000"/>
                <a:gd name="T15" fmla="*/ 10 h 64000"/>
                <a:gd name="T16" fmla="*/ 81 w 64000"/>
                <a:gd name="T17" fmla="*/ 10 h 6400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50994 w 64000"/>
                <a:gd name="T28" fmla="*/ -25761 h 64000"/>
                <a:gd name="T29" fmla="*/ 50994 w 64000"/>
                <a:gd name="T30" fmla="*/ 25761 h 6400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64000" h="64000">
                  <a:moveTo>
                    <a:pt x="50994" y="6246"/>
                  </a:moveTo>
                  <a:cubicBezTo>
                    <a:pt x="59172" y="12279"/>
                    <a:pt x="64000" y="21837"/>
                    <a:pt x="64000" y="32000"/>
                  </a:cubicBezTo>
                  <a:cubicBezTo>
                    <a:pt x="64000" y="42162"/>
                    <a:pt x="59172" y="51720"/>
                    <a:pt x="50994" y="57753"/>
                  </a:cubicBezTo>
                  <a:cubicBezTo>
                    <a:pt x="50993" y="57753"/>
                    <a:pt x="50993" y="57753"/>
                    <a:pt x="50993" y="57753"/>
                  </a:cubicBezTo>
                  <a:lnTo>
                    <a:pt x="50994" y="57754"/>
                  </a:lnTo>
                  <a:lnTo>
                    <a:pt x="50994" y="6246"/>
                  </a:lnTo>
                  <a:lnTo>
                    <a:pt x="50993" y="6246"/>
                  </a:lnTo>
                  <a:cubicBezTo>
                    <a:pt x="50993" y="6246"/>
                    <a:pt x="50993" y="6246"/>
                    <a:pt x="50994" y="6246"/>
                  </a:cubicBezTo>
                  <a:close/>
                </a:path>
              </a:pathLst>
            </a:custGeom>
            <a:solidFill>
              <a:srgbClr val="CCCC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/>
            </a:p>
          </p:txBody>
        </p:sp>
      </p:grpSp>
      <p:sp>
        <p:nvSpPr>
          <p:cNvPr id="216070" name="Rectangle 1030"/>
          <p:cNvSpPr>
            <a:spLocks noGrp="1" noChangeArrowheads="1"/>
          </p:cNvSpPr>
          <p:nvPr>
            <p:ph type="ctrTitle"/>
          </p:nvPr>
        </p:nvSpPr>
        <p:spPr>
          <a:xfrm>
            <a:off x="1443038" y="985838"/>
            <a:ext cx="7239000" cy="1444625"/>
          </a:xfrm>
        </p:spPr>
        <p:txBody>
          <a:bodyPr/>
          <a:lstStyle>
            <a:lvl1pPr algn="ctr">
              <a:defRPr sz="4400"/>
            </a:lvl1pPr>
          </a:lstStyle>
          <a:p>
            <a:r>
              <a:rPr lang="en-US" altLang="ko-KR"/>
              <a:t>Click to edit Master title style</a:t>
            </a:r>
          </a:p>
        </p:txBody>
      </p:sp>
      <p:sp>
        <p:nvSpPr>
          <p:cNvPr id="216071" name="Rectangle 1031"/>
          <p:cNvSpPr>
            <a:spLocks noGrp="1" noChangeArrowheads="1"/>
          </p:cNvSpPr>
          <p:nvPr>
            <p:ph type="subTitle" idx="1"/>
          </p:nvPr>
        </p:nvSpPr>
        <p:spPr>
          <a:xfrm>
            <a:off x="1443038" y="3427413"/>
            <a:ext cx="72390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4000"/>
            </a:lvl1pPr>
          </a:lstStyle>
          <a:p>
            <a:r>
              <a:rPr lang="en-US" altLang="ko-KR"/>
              <a:t>Click to edit Master subtitle style</a:t>
            </a:r>
          </a:p>
        </p:txBody>
      </p:sp>
      <p:sp>
        <p:nvSpPr>
          <p:cNvPr id="8" name="Rectangle 1032">
            <a:extLst>
              <a:ext uri="{FF2B5EF4-FFF2-40B4-BE49-F238E27FC236}">
                <a16:creationId xmlns:a16="http://schemas.microsoft.com/office/drawing/2014/main" id="{596CCFB1-0B72-42BD-A557-EDDCACEB7A3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320675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9" name="Rectangle 1033">
            <a:extLst>
              <a:ext uri="{FF2B5EF4-FFF2-40B4-BE49-F238E27FC236}">
                <a16:creationId xmlns:a16="http://schemas.microsoft.com/office/drawing/2014/main" id="{24C215C1-4E57-4C9C-8AE6-01686F0FF78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Chapter 5</a:t>
            </a:r>
            <a:endParaRPr lang="ko-KR" altLang="en-US"/>
          </a:p>
        </p:txBody>
      </p:sp>
      <p:sp>
        <p:nvSpPr>
          <p:cNvPr id="10" name="Rectangle 1034">
            <a:extLst>
              <a:ext uri="{FF2B5EF4-FFF2-40B4-BE49-F238E27FC236}">
                <a16:creationId xmlns:a16="http://schemas.microsoft.com/office/drawing/2014/main" id="{3C7B612E-9291-4BFA-BCB3-1E04B863AD0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88436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7F718599-80AC-451F-96BD-68DDF6A4C88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9">
            <a:extLst>
              <a:ext uri="{FF2B5EF4-FFF2-40B4-BE49-F238E27FC236}">
                <a16:creationId xmlns:a16="http://schemas.microsoft.com/office/drawing/2014/main" id="{2D887C5C-148F-4DB7-B47A-95FA3B037D4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Chapter 5</a:t>
            </a:r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7EA15447-7F6F-418B-94C6-200C00130BC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E56789B-7850-4E4C-80F8-8AE6267B79ED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7045331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6B93506E-6B1C-4375-936F-C837EE34AB7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9">
            <a:extLst>
              <a:ext uri="{FF2B5EF4-FFF2-40B4-BE49-F238E27FC236}">
                <a16:creationId xmlns:a16="http://schemas.microsoft.com/office/drawing/2014/main" id="{890AD118-051D-4053-9AD7-FC8823809D1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Chapter 5</a:t>
            </a:r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252F3302-CF23-42E2-B0AE-63F96BEB5E0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A41B890-8B7B-4952-AEBF-77DC2BF6C8B6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6672464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1370013" y="1827213"/>
            <a:ext cx="3579812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102225" y="1827213"/>
            <a:ext cx="35814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A4920BC7-D15A-4D6B-8C06-7C5965F2FD8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9">
            <a:extLst>
              <a:ext uri="{FF2B5EF4-FFF2-40B4-BE49-F238E27FC236}">
                <a16:creationId xmlns:a16="http://schemas.microsoft.com/office/drawing/2014/main" id="{159E4A02-C12B-46CA-A956-5AB2542D3DD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Chapter 5</a:t>
            </a:r>
          </a:p>
        </p:txBody>
      </p:sp>
      <p:sp>
        <p:nvSpPr>
          <p:cNvPr id="7" name="Rectangle 10">
            <a:extLst>
              <a:ext uri="{FF2B5EF4-FFF2-40B4-BE49-F238E27FC236}">
                <a16:creationId xmlns:a16="http://schemas.microsoft.com/office/drawing/2014/main" id="{A2F4859C-EDA4-4997-9B41-05362F3D348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BF20AF3-791B-40B8-9589-64A61771C8B0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6850969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B9EADCC7-60AC-4C96-830D-8CDF51B3245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9">
            <a:extLst>
              <a:ext uri="{FF2B5EF4-FFF2-40B4-BE49-F238E27FC236}">
                <a16:creationId xmlns:a16="http://schemas.microsoft.com/office/drawing/2014/main" id="{BD2F6B90-4804-48C7-BDD7-81CDD62BACB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Chapter 5</a:t>
            </a:r>
          </a:p>
        </p:txBody>
      </p:sp>
      <p:sp>
        <p:nvSpPr>
          <p:cNvPr id="9" name="Rectangle 10">
            <a:extLst>
              <a:ext uri="{FF2B5EF4-FFF2-40B4-BE49-F238E27FC236}">
                <a16:creationId xmlns:a16="http://schemas.microsoft.com/office/drawing/2014/main" id="{3E422472-CA78-4057-B80B-B9C21DE65F5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6485F0F-9FF8-4720-B0DC-7DE4E275E8EF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7264621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Rectangle 8">
            <a:extLst>
              <a:ext uri="{FF2B5EF4-FFF2-40B4-BE49-F238E27FC236}">
                <a16:creationId xmlns:a16="http://schemas.microsoft.com/office/drawing/2014/main" id="{BAADD465-6D57-43B8-9C97-ECA306813E2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9">
            <a:extLst>
              <a:ext uri="{FF2B5EF4-FFF2-40B4-BE49-F238E27FC236}">
                <a16:creationId xmlns:a16="http://schemas.microsoft.com/office/drawing/2014/main" id="{A0D6427B-69B4-4E56-B1F1-77DF4456166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Chapter 5</a:t>
            </a:r>
          </a:p>
        </p:txBody>
      </p:sp>
      <p:sp>
        <p:nvSpPr>
          <p:cNvPr id="5" name="Rectangle 10">
            <a:extLst>
              <a:ext uri="{FF2B5EF4-FFF2-40B4-BE49-F238E27FC236}">
                <a16:creationId xmlns:a16="http://schemas.microsoft.com/office/drawing/2014/main" id="{141AFA75-214F-43B3-81C1-C737F3F028F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7B4D21E-D6A2-4E72-836D-CC0F13340D62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7411062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>
            <a:extLst>
              <a:ext uri="{FF2B5EF4-FFF2-40B4-BE49-F238E27FC236}">
                <a16:creationId xmlns:a16="http://schemas.microsoft.com/office/drawing/2014/main" id="{F36D1557-44A5-492B-A116-43C265D3FAF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Rectangle 9">
            <a:extLst>
              <a:ext uri="{FF2B5EF4-FFF2-40B4-BE49-F238E27FC236}">
                <a16:creationId xmlns:a16="http://schemas.microsoft.com/office/drawing/2014/main" id="{AAC458E9-87B2-41DB-81CF-63727C69A31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Chapter 5</a:t>
            </a:r>
          </a:p>
        </p:txBody>
      </p:sp>
      <p:sp>
        <p:nvSpPr>
          <p:cNvPr id="4" name="Rectangle 10">
            <a:extLst>
              <a:ext uri="{FF2B5EF4-FFF2-40B4-BE49-F238E27FC236}">
                <a16:creationId xmlns:a16="http://schemas.microsoft.com/office/drawing/2014/main" id="{FF784641-3A0E-421F-9035-91BE00ADA2B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C26C319-56A9-4A28-90E0-B0FF1A07010E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1699408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6D723CFD-8F57-4DD5-9BA4-3333BE95F21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9">
            <a:extLst>
              <a:ext uri="{FF2B5EF4-FFF2-40B4-BE49-F238E27FC236}">
                <a16:creationId xmlns:a16="http://schemas.microsoft.com/office/drawing/2014/main" id="{220247EF-DFB2-424A-9811-07A424A186F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Chapter 5</a:t>
            </a:r>
          </a:p>
        </p:txBody>
      </p:sp>
      <p:sp>
        <p:nvSpPr>
          <p:cNvPr id="7" name="Rectangle 10">
            <a:extLst>
              <a:ext uri="{FF2B5EF4-FFF2-40B4-BE49-F238E27FC236}">
                <a16:creationId xmlns:a16="http://schemas.microsoft.com/office/drawing/2014/main" id="{6352EB62-F5AB-4BC4-B112-616AE80FB8C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634F21E-C48D-4763-9245-DE44AED9255B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2731124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28EA2CE4-E0E3-4A89-A225-3FA842A9307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9">
            <a:extLst>
              <a:ext uri="{FF2B5EF4-FFF2-40B4-BE49-F238E27FC236}">
                <a16:creationId xmlns:a16="http://schemas.microsoft.com/office/drawing/2014/main" id="{1D5D7BBD-9DB6-47A0-8821-BA2DFB14224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Chapter 5</a:t>
            </a:r>
          </a:p>
        </p:txBody>
      </p:sp>
      <p:sp>
        <p:nvSpPr>
          <p:cNvPr id="7" name="Rectangle 10">
            <a:extLst>
              <a:ext uri="{FF2B5EF4-FFF2-40B4-BE49-F238E27FC236}">
                <a16:creationId xmlns:a16="http://schemas.microsoft.com/office/drawing/2014/main" id="{1001CF59-3D6D-44E0-A88D-1611F28AF43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525DCF1-F2B5-40B0-9A4D-C2F4146DBBC9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4687602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2CFB6DAC-7175-4C78-B084-FA2F1DD4F1D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9">
            <a:extLst>
              <a:ext uri="{FF2B5EF4-FFF2-40B4-BE49-F238E27FC236}">
                <a16:creationId xmlns:a16="http://schemas.microsoft.com/office/drawing/2014/main" id="{58FC422B-BBA4-4B4D-93C4-62FFBF55E5F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Chapter 5</a:t>
            </a:r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FBF6A88C-D004-4D3C-8146-A76B176D56B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2E52FAA-1DF0-4CB5-A51A-7F904D510CD8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6781034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856413" y="301625"/>
            <a:ext cx="1827212" cy="564038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1370013" y="301625"/>
            <a:ext cx="5334000" cy="564038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A1B816B2-29C7-43B7-9DF4-1F977AD4ACB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9">
            <a:extLst>
              <a:ext uri="{FF2B5EF4-FFF2-40B4-BE49-F238E27FC236}">
                <a16:creationId xmlns:a16="http://schemas.microsoft.com/office/drawing/2014/main" id="{42C8573C-B226-4397-9F9D-C19CFBF18E5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Chapter 5</a:t>
            </a:r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0016E6BE-AA57-4888-96B6-5559CBB80D4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46BBBA7-CBA4-4DD6-8008-298C516D59A6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4345757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4" name="Group 2">
            <a:extLst>
              <a:ext uri="{FF2B5EF4-FFF2-40B4-BE49-F238E27FC236}">
                <a16:creationId xmlns:a16="http://schemas.microsoft.com/office/drawing/2014/main" id="{FA5CF484-7CB6-4926-8D40-A5DCD6D57591}"/>
              </a:ext>
            </a:extLst>
          </p:cNvPr>
          <p:cNvGrpSpPr>
            <a:grpSpLocks/>
          </p:cNvGrpSpPr>
          <p:nvPr/>
        </p:nvGrpSpPr>
        <p:grpSpPr bwMode="auto">
          <a:xfrm>
            <a:off x="-3238500" y="0"/>
            <a:ext cx="11925300" cy="3810000"/>
            <a:chOff x="-2040" y="0"/>
            <a:chExt cx="7512" cy="2400"/>
          </a:xfrm>
        </p:grpSpPr>
        <p:sp>
          <p:nvSpPr>
            <p:cNvPr id="1032" name="AutoShape 3">
              <a:extLst>
                <a:ext uri="{FF2B5EF4-FFF2-40B4-BE49-F238E27FC236}">
                  <a16:creationId xmlns:a16="http://schemas.microsoft.com/office/drawing/2014/main" id="{C79C4D85-8361-41D9-8E0E-6DB5479A42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2040" y="432"/>
              <a:ext cx="2592" cy="1968"/>
            </a:xfrm>
            <a:custGeom>
              <a:avLst/>
              <a:gdLst>
                <a:gd name="T0" fmla="*/ 82 w 64000"/>
                <a:gd name="T1" fmla="*/ 5 h 64000"/>
                <a:gd name="T2" fmla="*/ 105 w 64000"/>
                <a:gd name="T3" fmla="*/ 30 h 64000"/>
                <a:gd name="T4" fmla="*/ 82 w 64000"/>
                <a:gd name="T5" fmla="*/ 55 h 64000"/>
                <a:gd name="T6" fmla="*/ 82 w 64000"/>
                <a:gd name="T7" fmla="*/ 55 h 64000"/>
                <a:gd name="T8" fmla="*/ 82 w 64000"/>
                <a:gd name="T9" fmla="*/ 55 h 64000"/>
                <a:gd name="T10" fmla="*/ 82 w 64000"/>
                <a:gd name="T11" fmla="*/ 55 h 64000"/>
                <a:gd name="T12" fmla="*/ 82 w 64000"/>
                <a:gd name="T13" fmla="*/ 5 h 64000"/>
                <a:gd name="T14" fmla="*/ 82 w 64000"/>
                <a:gd name="T15" fmla="*/ 5 h 64000"/>
                <a:gd name="T16" fmla="*/ 82 w 64000"/>
                <a:gd name="T17" fmla="*/ 5 h 6400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50296 w 64000"/>
                <a:gd name="T28" fmla="*/ -26244 h 64000"/>
                <a:gd name="T29" fmla="*/ 50296 w 64000"/>
                <a:gd name="T30" fmla="*/ 26244 h 6400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64000" h="64000">
                  <a:moveTo>
                    <a:pt x="50296" y="5746"/>
                  </a:moveTo>
                  <a:cubicBezTo>
                    <a:pt x="58882" y="11730"/>
                    <a:pt x="64000" y="21534"/>
                    <a:pt x="64000" y="32000"/>
                  </a:cubicBezTo>
                  <a:cubicBezTo>
                    <a:pt x="64000" y="42465"/>
                    <a:pt x="58882" y="52269"/>
                    <a:pt x="50296" y="58253"/>
                  </a:cubicBezTo>
                  <a:cubicBezTo>
                    <a:pt x="50296" y="58253"/>
                    <a:pt x="50296" y="58253"/>
                    <a:pt x="50295" y="58253"/>
                  </a:cubicBezTo>
                  <a:lnTo>
                    <a:pt x="50296" y="58254"/>
                  </a:lnTo>
                  <a:lnTo>
                    <a:pt x="50296" y="5746"/>
                  </a:lnTo>
                  <a:lnTo>
                    <a:pt x="50295" y="5746"/>
                  </a:lnTo>
                  <a:cubicBezTo>
                    <a:pt x="50296" y="5746"/>
                    <a:pt x="50296" y="5746"/>
                    <a:pt x="50296" y="5746"/>
                  </a:cubicBezTo>
                  <a:close/>
                </a:path>
              </a:pathLst>
            </a:custGeom>
            <a:solidFill>
              <a:srgbClr val="9999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/>
            </a:p>
          </p:txBody>
        </p:sp>
        <p:sp>
          <p:nvSpPr>
            <p:cNvPr id="1033" name="AutoShape 4">
              <a:extLst>
                <a:ext uri="{FF2B5EF4-FFF2-40B4-BE49-F238E27FC236}">
                  <a16:creationId xmlns:a16="http://schemas.microsoft.com/office/drawing/2014/main" id="{C934AD57-0CC5-4300-8726-6415DCA880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1528" y="0"/>
              <a:ext cx="1949" cy="1987"/>
            </a:xfrm>
            <a:custGeom>
              <a:avLst/>
              <a:gdLst>
                <a:gd name="T0" fmla="*/ 46 w 64000"/>
                <a:gd name="T1" fmla="*/ 5 h 64000"/>
                <a:gd name="T2" fmla="*/ 59 w 64000"/>
                <a:gd name="T3" fmla="*/ 31 h 64000"/>
                <a:gd name="T4" fmla="*/ 46 w 64000"/>
                <a:gd name="T5" fmla="*/ 56 h 64000"/>
                <a:gd name="T6" fmla="*/ 46 w 64000"/>
                <a:gd name="T7" fmla="*/ 56 h 64000"/>
                <a:gd name="T8" fmla="*/ 46 w 64000"/>
                <a:gd name="T9" fmla="*/ 56 h 64000"/>
                <a:gd name="T10" fmla="*/ 46 w 64000"/>
                <a:gd name="T11" fmla="*/ 56 h 64000"/>
                <a:gd name="T12" fmla="*/ 46 w 64000"/>
                <a:gd name="T13" fmla="*/ 5 h 64000"/>
                <a:gd name="T14" fmla="*/ 46 w 64000"/>
                <a:gd name="T15" fmla="*/ 5 h 64000"/>
                <a:gd name="T16" fmla="*/ 46 w 64000"/>
                <a:gd name="T17" fmla="*/ 5 h 6400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50077 w 64000"/>
                <a:gd name="T28" fmla="*/ -26412 h 64000"/>
                <a:gd name="T29" fmla="*/ 50077 w 64000"/>
                <a:gd name="T30" fmla="*/ 26412 h 6400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64000" h="64000">
                  <a:moveTo>
                    <a:pt x="50077" y="5595"/>
                  </a:moveTo>
                  <a:cubicBezTo>
                    <a:pt x="58790" y="11560"/>
                    <a:pt x="64000" y="21440"/>
                    <a:pt x="64000" y="32000"/>
                  </a:cubicBezTo>
                  <a:cubicBezTo>
                    <a:pt x="64000" y="42559"/>
                    <a:pt x="58790" y="52439"/>
                    <a:pt x="50077" y="58404"/>
                  </a:cubicBezTo>
                  <a:cubicBezTo>
                    <a:pt x="50077" y="58404"/>
                    <a:pt x="50077" y="58404"/>
                    <a:pt x="50076" y="58404"/>
                  </a:cubicBezTo>
                  <a:lnTo>
                    <a:pt x="50077" y="58405"/>
                  </a:lnTo>
                  <a:lnTo>
                    <a:pt x="50077" y="5595"/>
                  </a:lnTo>
                  <a:lnTo>
                    <a:pt x="50076" y="5595"/>
                  </a:lnTo>
                  <a:cubicBezTo>
                    <a:pt x="50077" y="5595"/>
                    <a:pt x="50077" y="5595"/>
                    <a:pt x="50077" y="5595"/>
                  </a:cubicBezTo>
                  <a:close/>
                </a:path>
              </a:pathLst>
            </a:custGeom>
            <a:solidFill>
              <a:srgbClr val="CCCC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/>
            </a:p>
          </p:txBody>
        </p:sp>
        <p:sp>
          <p:nvSpPr>
            <p:cNvPr id="1034" name="Line 5">
              <a:extLst>
                <a:ext uri="{FF2B5EF4-FFF2-40B4-BE49-F238E27FC236}">
                  <a16:creationId xmlns:a16="http://schemas.microsoft.com/office/drawing/2014/main" id="{2D6A7D29-6845-47A7-9943-C2A522ECA7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4" y="960"/>
              <a:ext cx="460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/>
            </a:p>
          </p:txBody>
        </p:sp>
      </p:grpSp>
      <p:sp>
        <p:nvSpPr>
          <p:cNvPr id="3075" name="Rectangle 6">
            <a:extLst>
              <a:ext uri="{FF2B5EF4-FFF2-40B4-BE49-F238E27FC236}">
                <a16:creationId xmlns:a16="http://schemas.microsoft.com/office/drawing/2014/main" id="{21DEA7CF-C993-4263-9035-CE86FC60085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370013" y="301625"/>
            <a:ext cx="7313612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Click to edit Master title style</a:t>
            </a:r>
          </a:p>
        </p:txBody>
      </p:sp>
      <p:sp>
        <p:nvSpPr>
          <p:cNvPr id="3076" name="Rectangle 7">
            <a:extLst>
              <a:ext uri="{FF2B5EF4-FFF2-40B4-BE49-F238E27FC236}">
                <a16:creationId xmlns:a16="http://schemas.microsoft.com/office/drawing/2014/main" id="{10B4570D-AD70-4396-A83F-57F2123D1C8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370013" y="1827213"/>
            <a:ext cx="7313612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</a:p>
        </p:txBody>
      </p:sp>
      <p:sp>
        <p:nvSpPr>
          <p:cNvPr id="215048" name="Rectangle 8">
            <a:extLst>
              <a:ext uri="{FF2B5EF4-FFF2-40B4-BE49-F238E27FC236}">
                <a16:creationId xmlns:a16="http://schemas.microsoft.com/office/drawing/2014/main" id="{9E0ADE63-2F52-4E3E-997D-01F5443F372C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8717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 b="0">
                <a:solidFill>
                  <a:schemeClr val="tx1"/>
                </a:solidFill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15049" name="Rectangle 9">
            <a:extLst>
              <a:ext uri="{FF2B5EF4-FFF2-40B4-BE49-F238E27FC236}">
                <a16:creationId xmlns:a16="http://schemas.microsoft.com/office/drawing/2014/main" id="{D850D2A0-C38E-4C55-A646-E10A7EA25FE6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200" b="0">
                <a:solidFill>
                  <a:schemeClr val="tx1"/>
                </a:solidFill>
                <a:ea typeface="굴림" pitchFamily="50" charset="-127"/>
              </a:defRPr>
            </a:lvl1pPr>
          </a:lstStyle>
          <a:p>
            <a:pPr>
              <a:defRPr/>
            </a:pPr>
            <a:r>
              <a:rPr lang="en-US" altLang="ko-KR"/>
              <a:t>Chapter 5</a:t>
            </a:r>
          </a:p>
        </p:txBody>
      </p:sp>
      <p:sp>
        <p:nvSpPr>
          <p:cNvPr id="215050" name="Rectangle 10">
            <a:extLst>
              <a:ext uri="{FF2B5EF4-FFF2-40B4-BE49-F238E27FC236}">
                <a16:creationId xmlns:a16="http://schemas.microsoft.com/office/drawing/2014/main" id="{06F4CDED-EE9D-48C2-AEA5-5FF71DBE063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solidFill>
                  <a:schemeClr val="tx1"/>
                </a:solidFill>
                <a:ea typeface="굴림" panose="020B0600000101010101" pitchFamily="50" charset="-127"/>
              </a:defRPr>
            </a:lvl1pPr>
          </a:lstStyle>
          <a:p>
            <a:fld id="{67C260A4-9B73-4244-9132-1FFF2E342501}" type="slidenum">
              <a:rPr lang="ko-KR" altLang="en-US"/>
              <a:pPr/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32" r:id="rId1"/>
    <p:sldLayoutId id="2147484133" r:id="rId2"/>
    <p:sldLayoutId id="2147484134" r:id="rId3"/>
    <p:sldLayoutId id="2147484135" r:id="rId4"/>
    <p:sldLayoutId id="2147484136" r:id="rId5"/>
    <p:sldLayoutId id="2147484137" r:id="rId6"/>
    <p:sldLayoutId id="2147484138" r:id="rId7"/>
    <p:sldLayoutId id="2147484139" r:id="rId8"/>
    <p:sldLayoutId id="2147484140" r:id="rId9"/>
    <p:sldLayoutId id="2147484141" r:id="rId10"/>
    <p:sldLayoutId id="2147484142" r:id="rId11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8D7DFF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8D7DFF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8D7DFF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8D7DFF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8D7DFF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 b="1">
          <a:solidFill>
            <a:srgbClr val="8D7DFF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 b="1">
          <a:solidFill>
            <a:srgbClr val="8D7DFF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 b="1">
          <a:solidFill>
            <a:srgbClr val="8D7DFF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 b="1">
          <a:solidFill>
            <a:srgbClr val="8D7DFF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8D7DFF"/>
        </a:buClr>
        <a:buFont typeface="Wingdings" panose="05000000000000000000" pitchFamily="2" charset="2"/>
        <a:buChar char="l"/>
        <a:defRPr sz="29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8D7DFF"/>
        </a:buClr>
        <a:buFont typeface="Wingdings" panose="05000000000000000000" pitchFamily="2" charset="2"/>
        <a:buChar char="m"/>
        <a:defRPr sz="25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8D7DFF"/>
        </a:buClr>
        <a:buSzPct val="80000"/>
        <a:buFont typeface="Wingdings" panose="05000000000000000000" pitchFamily="2" charset="2"/>
        <a:buChar char="l"/>
        <a:defRPr sz="22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8D7DFF"/>
        </a:buClr>
        <a:buSzPct val="80000"/>
        <a:buFont typeface="Wingdings" panose="05000000000000000000" pitchFamily="2" charset="2"/>
        <a:buChar char="m"/>
        <a:defRPr sz="19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8D7DFF"/>
        </a:buClr>
        <a:buSzPct val="70000"/>
        <a:buFont typeface="Wingdings" panose="05000000000000000000" pitchFamily="2" charset="2"/>
        <a:buChar char="l"/>
        <a:defRPr sz="19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rgbClr val="8D7DFF"/>
        </a:buClr>
        <a:buSzPct val="70000"/>
        <a:buFont typeface="Wingdings" pitchFamily="2" charset="2"/>
        <a:buChar char="l"/>
        <a:defRPr sz="19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rgbClr val="8D7DFF"/>
        </a:buClr>
        <a:buSzPct val="70000"/>
        <a:buFont typeface="Wingdings" pitchFamily="2" charset="2"/>
        <a:buChar char="l"/>
        <a:defRPr sz="19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rgbClr val="8D7DFF"/>
        </a:buClr>
        <a:buSzPct val="70000"/>
        <a:buFont typeface="Wingdings" pitchFamily="2" charset="2"/>
        <a:buChar char="l"/>
        <a:defRPr sz="19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rgbClr val="8D7DFF"/>
        </a:buClr>
        <a:buSzPct val="70000"/>
        <a:buFont typeface="Wingdings" pitchFamily="2" charset="2"/>
        <a:buChar char="l"/>
        <a:defRPr sz="1900">
          <a:solidFill>
            <a:schemeClr val="tx1"/>
          </a:solidFill>
          <a:latin typeface="+mn-lt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D14887BC-DED3-416B-9607-5146BFD8CA30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998538"/>
            <a:ext cx="8088313" cy="1444625"/>
          </a:xfrm>
        </p:spPr>
        <p:txBody>
          <a:bodyPr/>
          <a:lstStyle/>
          <a:p>
            <a:pPr eaLnBrk="1" hangingPunct="1"/>
            <a:r>
              <a:rPr lang="en-US" altLang="ko-KR" sz="4800">
                <a:solidFill>
                  <a:srgbClr val="002060"/>
                </a:solidFill>
                <a:latin typeface="나눔명조" pitchFamily="18" charset="-127"/>
                <a:ea typeface="나눔명조" pitchFamily="18" charset="-127"/>
              </a:rPr>
              <a:t>Ⅲ. </a:t>
            </a:r>
            <a:r>
              <a:rPr lang="ko-KR" altLang="en-US" sz="4800">
                <a:solidFill>
                  <a:srgbClr val="002060"/>
                </a:solidFill>
                <a:latin typeface="나눔명조" pitchFamily="18" charset="-127"/>
                <a:ea typeface="나눔명조" pitchFamily="18" charset="-127"/>
              </a:rPr>
              <a:t>환경정책의 수립과 집행</a:t>
            </a:r>
            <a:endParaRPr lang="en-US" altLang="ko-KR" sz="4800">
              <a:solidFill>
                <a:srgbClr val="00206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4C44E132-2AF0-4B22-9622-3ED4A11960F4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771775" y="3244850"/>
            <a:ext cx="6372225" cy="1752600"/>
          </a:xfrm>
        </p:spPr>
        <p:txBody>
          <a:bodyPr/>
          <a:lstStyle/>
          <a:p>
            <a:pPr algn="l" eaLnBrk="1" hangingPunct="1"/>
            <a:r>
              <a:rPr lang="ko-KR" altLang="en-US" sz="2000" b="1">
                <a:latin typeface="나눔명조" pitchFamily="18" charset="-127"/>
                <a:ea typeface="나눔명조" pitchFamily="18" charset="-127"/>
              </a:rPr>
              <a:t>제 </a:t>
            </a:r>
            <a:r>
              <a:rPr lang="en-US" altLang="ko-KR" sz="2000" b="1">
                <a:latin typeface="나눔명조" pitchFamily="18" charset="-127"/>
                <a:ea typeface="나눔명조" pitchFamily="18" charset="-127"/>
              </a:rPr>
              <a:t>5</a:t>
            </a:r>
            <a:r>
              <a:rPr lang="ko-KR" altLang="en-US" sz="2000" b="1">
                <a:latin typeface="나눔명조" pitchFamily="18" charset="-127"/>
                <a:ea typeface="나눔명조" pitchFamily="18" charset="-127"/>
              </a:rPr>
              <a:t>장 환경정책의 평가기준</a:t>
            </a:r>
          </a:p>
          <a:p>
            <a:pPr algn="l" eaLnBrk="1" hangingPunct="1"/>
            <a:r>
              <a:rPr lang="ko-KR" altLang="en-US" sz="2000" b="1">
                <a:latin typeface="나눔명조" pitchFamily="18" charset="-127"/>
                <a:ea typeface="나눔명조" pitchFamily="18" charset="-127"/>
              </a:rPr>
              <a:t>제 </a:t>
            </a:r>
            <a:r>
              <a:rPr lang="en-US" altLang="ko-KR" sz="2000" b="1">
                <a:latin typeface="나눔명조" pitchFamily="18" charset="-127"/>
                <a:ea typeface="나눔명조" pitchFamily="18" charset="-127"/>
              </a:rPr>
              <a:t>6</a:t>
            </a:r>
            <a:r>
              <a:rPr lang="ko-KR" altLang="en-US" sz="2000" b="1">
                <a:latin typeface="나눔명조" pitchFamily="18" charset="-127"/>
                <a:ea typeface="나눔명조" pitchFamily="18" charset="-127"/>
              </a:rPr>
              <a:t>장 직접규제</a:t>
            </a:r>
          </a:p>
          <a:p>
            <a:pPr algn="l" eaLnBrk="1" hangingPunct="1"/>
            <a:r>
              <a:rPr lang="ko-KR" altLang="en-US" sz="2000" b="1">
                <a:latin typeface="나눔명조" pitchFamily="18" charset="-127"/>
                <a:ea typeface="나눔명조" pitchFamily="18" charset="-127"/>
              </a:rPr>
              <a:t>제 </a:t>
            </a:r>
            <a:r>
              <a:rPr lang="en-US" altLang="ko-KR" sz="2000" b="1">
                <a:latin typeface="나눔명조" pitchFamily="18" charset="-127"/>
                <a:ea typeface="나눔명조" pitchFamily="18" charset="-127"/>
              </a:rPr>
              <a:t>7</a:t>
            </a:r>
            <a:r>
              <a:rPr lang="ko-KR" altLang="en-US" sz="2000" b="1">
                <a:latin typeface="나눔명조" pitchFamily="18" charset="-127"/>
                <a:ea typeface="나눔명조" pitchFamily="18" charset="-127"/>
              </a:rPr>
              <a:t>장 배출부과금과 보조금</a:t>
            </a:r>
          </a:p>
          <a:p>
            <a:pPr algn="l" eaLnBrk="1" hangingPunct="1"/>
            <a:r>
              <a:rPr lang="ko-KR" altLang="en-US" sz="2000" b="1">
                <a:latin typeface="나눔명조" pitchFamily="18" charset="-127"/>
                <a:ea typeface="나눔명조" pitchFamily="18" charset="-127"/>
              </a:rPr>
              <a:t>제 </a:t>
            </a:r>
            <a:r>
              <a:rPr lang="en-US" altLang="ko-KR" sz="2000" b="1">
                <a:latin typeface="나눔명조" pitchFamily="18" charset="-127"/>
                <a:ea typeface="나눔명조" pitchFamily="18" charset="-127"/>
              </a:rPr>
              <a:t>8</a:t>
            </a:r>
            <a:r>
              <a:rPr lang="ko-KR" altLang="en-US" sz="2000" b="1">
                <a:latin typeface="나눔명조" pitchFamily="18" charset="-127"/>
                <a:ea typeface="나눔명조" pitchFamily="18" charset="-127"/>
              </a:rPr>
              <a:t>장 배출권거래제</a:t>
            </a:r>
          </a:p>
          <a:p>
            <a:pPr algn="l" eaLnBrk="1" hangingPunct="1"/>
            <a:r>
              <a:rPr lang="ko-KR" altLang="en-US" sz="2000" b="1">
                <a:latin typeface="나눔명조" pitchFamily="18" charset="-127"/>
                <a:ea typeface="나눔명조" pitchFamily="18" charset="-127"/>
              </a:rPr>
              <a:t>제 </a:t>
            </a:r>
            <a:r>
              <a:rPr lang="en-US" altLang="ko-KR" sz="2000" b="1">
                <a:latin typeface="나눔명조" pitchFamily="18" charset="-127"/>
                <a:ea typeface="나눔명조" pitchFamily="18" charset="-127"/>
              </a:rPr>
              <a:t>9</a:t>
            </a:r>
            <a:r>
              <a:rPr lang="ko-KR" altLang="en-US" sz="2000" b="1">
                <a:latin typeface="나눔명조" pitchFamily="18" charset="-127"/>
                <a:ea typeface="나눔명조" pitchFamily="18" charset="-127"/>
              </a:rPr>
              <a:t>장 불확실한 정보와 비대칭적 정보하의 오염규제</a:t>
            </a:r>
          </a:p>
          <a:p>
            <a:pPr algn="l" eaLnBrk="1" hangingPunct="1"/>
            <a:r>
              <a:rPr lang="ko-KR" altLang="en-US" sz="2000" b="1">
                <a:latin typeface="나눔명조" pitchFamily="18" charset="-127"/>
                <a:ea typeface="나눔명조" pitchFamily="18" charset="-127"/>
              </a:rPr>
              <a:t>제 </a:t>
            </a:r>
            <a:r>
              <a:rPr lang="en-US" altLang="ko-KR" sz="2000" b="1">
                <a:latin typeface="나눔명조" pitchFamily="18" charset="-127"/>
                <a:ea typeface="나눔명조" pitchFamily="18" charset="-127"/>
              </a:rPr>
              <a:t>10</a:t>
            </a:r>
            <a:r>
              <a:rPr lang="ko-KR" altLang="en-US" sz="2000" b="1">
                <a:latin typeface="나눔명조" pitchFamily="18" charset="-127"/>
                <a:ea typeface="나눔명조" pitchFamily="18" charset="-127"/>
              </a:rPr>
              <a:t>장 환경정책의 정치경제학</a:t>
            </a:r>
            <a:r>
              <a:rPr lang="en-US" altLang="ko-KR" sz="2000" b="1">
                <a:latin typeface="나눔명조" pitchFamily="18" charset="-127"/>
                <a:ea typeface="나눔명조" pitchFamily="18" charset="-127"/>
              </a:rPr>
              <a:t>: </a:t>
            </a:r>
            <a:r>
              <a:rPr lang="ko-KR" altLang="en-US" sz="2000" b="1">
                <a:latin typeface="나눔명조" pitchFamily="18" charset="-127"/>
                <a:ea typeface="나눔명조" pitchFamily="18" charset="-127"/>
              </a:rPr>
              <a:t>지방자치와 소득분배</a:t>
            </a:r>
          </a:p>
          <a:p>
            <a:pPr algn="l" eaLnBrk="1" hangingPunct="1"/>
            <a:r>
              <a:rPr lang="ko-KR" altLang="en-US" sz="2000" b="1">
                <a:latin typeface="나눔명조" pitchFamily="18" charset="-127"/>
                <a:ea typeface="나눔명조" pitchFamily="18" charset="-127"/>
              </a:rPr>
              <a:t>제 </a:t>
            </a:r>
            <a:r>
              <a:rPr lang="en-US" altLang="ko-KR" sz="2000" b="1">
                <a:latin typeface="나눔명조" pitchFamily="18" charset="-127"/>
                <a:ea typeface="나눔명조" pitchFamily="18" charset="-127"/>
              </a:rPr>
              <a:t>11</a:t>
            </a:r>
            <a:r>
              <a:rPr lang="ko-KR" altLang="en-US" sz="2000" b="1">
                <a:latin typeface="나눔명조" pitchFamily="18" charset="-127"/>
                <a:ea typeface="나눔명조" pitchFamily="18" charset="-127"/>
              </a:rPr>
              <a:t>장 사법적 절차를 통한 오염규제</a:t>
            </a:r>
            <a:r>
              <a:rPr lang="en-US" altLang="ko-KR" sz="2000" b="1">
                <a:latin typeface="나눔명조" pitchFamily="18" charset="-127"/>
                <a:ea typeface="나눔명조" pitchFamily="18" charset="-127"/>
              </a:rPr>
              <a:t>: </a:t>
            </a:r>
            <a:r>
              <a:rPr lang="ko-KR" altLang="en-US" sz="2000" b="1">
                <a:latin typeface="나눔명조" pitchFamily="18" charset="-127"/>
                <a:ea typeface="나눔명조" pitchFamily="18" charset="-127"/>
              </a:rPr>
              <a:t>불법행위법 </a:t>
            </a:r>
          </a:p>
          <a:p>
            <a:pPr algn="l" eaLnBrk="1" hangingPunct="1"/>
            <a:r>
              <a:rPr lang="ko-KR" altLang="en-US" sz="2000" b="1">
                <a:latin typeface="나눔명조" pitchFamily="18" charset="-127"/>
                <a:ea typeface="나눔명조" pitchFamily="18" charset="-127"/>
              </a:rPr>
              <a:t>제 </a:t>
            </a:r>
            <a:r>
              <a:rPr lang="en-US" altLang="ko-KR" sz="2000" b="1">
                <a:latin typeface="나눔명조" pitchFamily="18" charset="-127"/>
                <a:ea typeface="나눔명조" pitchFamily="18" charset="-127"/>
              </a:rPr>
              <a:t>12</a:t>
            </a:r>
            <a:r>
              <a:rPr lang="ko-KR" altLang="en-US" sz="2000" b="1">
                <a:latin typeface="나눔명조" pitchFamily="18" charset="-127"/>
                <a:ea typeface="나눔명조" pitchFamily="18" charset="-127"/>
              </a:rPr>
              <a:t>장 한국의 환경정책</a:t>
            </a:r>
            <a:endParaRPr lang="en-US" altLang="ko-KR" sz="2000" b="1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DE1899D-1C82-49AB-BC90-964533A82E67}"/>
              </a:ext>
            </a:extLst>
          </p:cNvPr>
          <p:cNvSpPr/>
          <p:nvPr/>
        </p:nvSpPr>
        <p:spPr bwMode="auto">
          <a:xfrm>
            <a:off x="2700338" y="3208338"/>
            <a:ext cx="85725" cy="3009900"/>
          </a:xfrm>
          <a:prstGeom prst="rect">
            <a:avLst/>
          </a:prstGeom>
          <a:solidFill>
            <a:schemeClr val="accent5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pPr>
              <a:defRPr/>
            </a:pPr>
            <a:endParaRPr lang="ko-KR" altLang="en-US">
              <a:ea typeface="굴림" pitchFamily="50" charset="-127"/>
            </a:endParaRPr>
          </a:p>
        </p:txBody>
      </p:sp>
      <p:sp>
        <p:nvSpPr>
          <p:cNvPr id="2" name="바닥글 개체 틀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Chapter 5</a:t>
            </a:r>
            <a:endParaRPr lang="ko-KR" altLang="en-US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1036">
            <a:extLst>
              <a:ext uri="{FF2B5EF4-FFF2-40B4-BE49-F238E27FC236}">
                <a16:creationId xmlns:a16="http://schemas.microsoft.com/office/drawing/2014/main" id="{B5507A52-1720-4EA7-8E71-B1612DE97F4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54038" y="2593975"/>
            <a:ext cx="7313612" cy="1143000"/>
          </a:xfrm>
        </p:spPr>
        <p:txBody>
          <a:bodyPr/>
          <a:lstStyle/>
          <a:p>
            <a:pPr eaLnBrk="1" hangingPunct="1"/>
            <a:r>
              <a:rPr lang="en-US" altLang="ko-KR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5</a:t>
            </a:r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장 개요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75789" name="Rectangle 1037">
            <a:extLst>
              <a:ext uri="{FF2B5EF4-FFF2-40B4-BE49-F238E27FC236}">
                <a16:creationId xmlns:a16="http://schemas.microsoft.com/office/drawing/2014/main" id="{85677AFB-E767-4BE8-B61F-258FBF8D7C3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071813" y="2686050"/>
            <a:ext cx="6072187" cy="4114800"/>
          </a:xfrm>
        </p:spPr>
        <p:txBody>
          <a:bodyPr/>
          <a:lstStyle/>
          <a:p>
            <a:pPr eaLnBrk="1" hangingPunct="1">
              <a:buClr>
                <a:srgbClr val="3366CC"/>
              </a:buClr>
            </a:pPr>
            <a:r>
              <a:rPr lang="ko-KR" altLang="en-US" dirty="0">
                <a:latin typeface="나눔명조" pitchFamily="18" charset="-127"/>
                <a:ea typeface="나눔명조" pitchFamily="18" charset="-127"/>
              </a:rPr>
              <a:t>오염피해와 저감비용</a:t>
            </a:r>
          </a:p>
          <a:p>
            <a:pPr eaLnBrk="1" hangingPunct="1">
              <a:buClr>
                <a:srgbClr val="3366CC"/>
              </a:buClr>
            </a:pPr>
            <a:r>
              <a:rPr lang="ko-KR" altLang="en-US" dirty="0">
                <a:latin typeface="나눔명조" pitchFamily="18" charset="-127"/>
                <a:ea typeface="나눔명조" pitchFamily="18" charset="-127"/>
              </a:rPr>
              <a:t>환경정책의 평가기준</a:t>
            </a:r>
          </a:p>
          <a:p>
            <a:pPr eaLnBrk="1" hangingPunct="1">
              <a:buClr>
                <a:srgbClr val="3366CC"/>
              </a:buClr>
            </a:pPr>
            <a:endParaRPr lang="en-US" altLang="ko-KR" dirty="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16388" name="바닥글 개체 틀 4">
            <a:extLst>
              <a:ext uri="{FF2B5EF4-FFF2-40B4-BE49-F238E27FC236}">
                <a16:creationId xmlns:a16="http://schemas.microsoft.com/office/drawing/2014/main" id="{36DF1081-A8F6-4A59-A95E-427CD1C8BC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5</a:t>
            </a:r>
          </a:p>
        </p:txBody>
      </p:sp>
      <p:sp>
        <p:nvSpPr>
          <p:cNvPr id="16389" name="슬라이드 번호 개체 틀 5">
            <a:extLst>
              <a:ext uri="{FF2B5EF4-FFF2-40B4-BE49-F238E27FC236}">
                <a16:creationId xmlns:a16="http://schemas.microsoft.com/office/drawing/2014/main" id="{D0C17BBF-BA6C-40D7-9619-2D0510281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A76EEE33-4D7F-4572-AD4A-C89415892270}" type="slidenum">
              <a:rPr lang="ko-KR" altLang="en-US" sz="1200" b="0">
                <a:solidFill>
                  <a:schemeClr val="tx1"/>
                </a:solidFill>
                <a:latin typeface="나눔명조" pitchFamily="18" charset="-127"/>
                <a:ea typeface="나눔명조" pitchFamily="18" charset="-127"/>
              </a:rPr>
              <a:pPr/>
              <a:t>2</a:t>
            </a:fld>
            <a:endParaRPr lang="en-US" altLang="ko-KR" sz="1200" b="0">
              <a:solidFill>
                <a:schemeClr val="tx1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16390" name="Rectangle 1026">
            <a:extLst>
              <a:ext uri="{FF2B5EF4-FFF2-40B4-BE49-F238E27FC236}">
                <a16:creationId xmlns:a16="http://schemas.microsoft.com/office/drawing/2014/main" id="{93806EBD-CB96-4CA0-B90C-EEFC7E4E62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16391" name="Rectangle 1027">
            <a:extLst>
              <a:ext uri="{FF2B5EF4-FFF2-40B4-BE49-F238E27FC236}">
                <a16:creationId xmlns:a16="http://schemas.microsoft.com/office/drawing/2014/main" id="{7882BC28-D01A-4E9F-A8EB-EAEAC5242F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730B3936-AC5D-4576-845D-A786A7E661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3550" y="-112713"/>
            <a:ext cx="8301038" cy="14446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eaLnBrk="1" hangingPunct="1">
              <a:defRPr/>
            </a:pPr>
            <a:r>
              <a:rPr lang="ko-KR" altLang="en-US" sz="3600" kern="0" dirty="0">
                <a:solidFill>
                  <a:srgbClr val="00206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제 </a:t>
            </a:r>
            <a:r>
              <a:rPr lang="en-US" altLang="ko-KR" sz="3600" kern="0" dirty="0">
                <a:solidFill>
                  <a:srgbClr val="00206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5</a:t>
            </a:r>
            <a:r>
              <a:rPr lang="ko-KR" altLang="en-US" sz="3600" kern="0" dirty="0">
                <a:solidFill>
                  <a:srgbClr val="00206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장 </a:t>
            </a:r>
            <a:r>
              <a:rPr lang="en-US" altLang="ko-KR" sz="3600" kern="0" dirty="0">
                <a:solidFill>
                  <a:srgbClr val="00206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: </a:t>
            </a:r>
            <a:r>
              <a:rPr lang="ko-KR" altLang="en-US" sz="3600" kern="0" dirty="0">
                <a:solidFill>
                  <a:srgbClr val="00206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환경정책의 평가기준</a:t>
            </a:r>
            <a:endParaRPr lang="en-US" altLang="ko-KR" sz="3600" kern="0" dirty="0">
              <a:solidFill>
                <a:srgbClr val="002060"/>
              </a:solidFill>
              <a:latin typeface="나눔명조" pitchFamily="18" charset="-127"/>
              <a:ea typeface="나눔명조" pitchFamily="18" charset="-127"/>
              <a:cs typeface="+mj-cs"/>
            </a:endParaRPr>
          </a:p>
        </p:txBody>
      </p:sp>
    </p:spTree>
  </p:cSld>
  <p:clrMapOvr>
    <a:masterClrMapping/>
  </p:clrMapOvr>
  <p:transition spd="med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57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57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789" grpId="0" build="p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6">
            <a:extLst>
              <a:ext uri="{FF2B5EF4-FFF2-40B4-BE49-F238E27FC236}">
                <a16:creationId xmlns:a16="http://schemas.microsoft.com/office/drawing/2014/main" id="{6B516E93-1F98-45BB-B9BD-4C342952FC6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환경정책의 평가기준</a:t>
            </a:r>
          </a:p>
        </p:txBody>
      </p:sp>
      <p:sp>
        <p:nvSpPr>
          <p:cNvPr id="17411" name="Rectangle 7">
            <a:extLst>
              <a:ext uri="{FF2B5EF4-FFF2-40B4-BE49-F238E27FC236}">
                <a16:creationId xmlns:a16="http://schemas.microsoft.com/office/drawing/2014/main" id="{9EDF6B22-85D1-47BF-AD23-6F3E3212518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ko-KR" altLang="en-US" sz="2800" dirty="0" err="1">
                <a:latin typeface="나눔명조" pitchFamily="18" charset="-127"/>
                <a:ea typeface="나눔명조" pitchFamily="18" charset="-127"/>
              </a:rPr>
              <a:t>환경재</a:t>
            </a:r>
            <a:r>
              <a:rPr lang="ko-KR" altLang="en-US" sz="2800" dirty="0">
                <a:latin typeface="나눔명조" pitchFamily="18" charset="-127"/>
                <a:ea typeface="나눔명조" pitchFamily="18" charset="-127"/>
              </a:rPr>
              <a:t> 이용에 있어서는 시장의 실패가 발생할 수 있으며</a:t>
            </a:r>
            <a:r>
              <a:rPr lang="en-US" altLang="ko-KR" sz="28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800" dirty="0">
                <a:latin typeface="나눔명조" pitchFamily="18" charset="-127"/>
                <a:ea typeface="나눔명조" pitchFamily="18" charset="-127"/>
              </a:rPr>
              <a:t>이를 개선하기 위해서는 정부나 </a:t>
            </a:r>
            <a:r>
              <a:rPr lang="ko-KR" altLang="en-US" sz="2800" dirty="0" err="1">
                <a:latin typeface="나눔명조" pitchFamily="18" charset="-127"/>
                <a:ea typeface="나눔명조" pitchFamily="18" charset="-127"/>
              </a:rPr>
              <a:t>사법기구와</a:t>
            </a:r>
            <a:r>
              <a:rPr lang="ko-KR" altLang="en-US" sz="2800" dirty="0">
                <a:latin typeface="나눔명조" pitchFamily="18" charset="-127"/>
                <a:ea typeface="나눔명조" pitchFamily="18" charset="-127"/>
              </a:rPr>
              <a:t> 같은 조정자가 필요함</a:t>
            </a:r>
          </a:p>
          <a:p>
            <a:pPr eaLnBrk="1" hangingPunct="1"/>
            <a:r>
              <a:rPr lang="ko-KR" altLang="en-US" sz="2800" dirty="0">
                <a:latin typeface="나눔명조" pitchFamily="18" charset="-127"/>
                <a:ea typeface="나눔명조" pitchFamily="18" charset="-127"/>
              </a:rPr>
              <a:t>환경문제의 해결을 위한 수단은  다양하므로 각 환경정책이 야기할 여러 효과에 대해 종합적인 검토가 요구됨</a:t>
            </a:r>
          </a:p>
          <a:p>
            <a:pPr eaLnBrk="1" hangingPunct="1"/>
            <a:r>
              <a:rPr lang="ko-KR" altLang="en-US" sz="2800" dirty="0">
                <a:latin typeface="나눔명조" pitchFamily="18" charset="-127"/>
                <a:ea typeface="나눔명조" pitchFamily="18" charset="-127"/>
              </a:rPr>
              <a:t>이번 장에서는 여러 환경정책의 장</a:t>
            </a:r>
            <a:r>
              <a:rPr lang="en-US" altLang="ko-KR" sz="2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2800" dirty="0">
                <a:latin typeface="나눔명조" pitchFamily="18" charset="-127"/>
                <a:ea typeface="나눔명조" pitchFamily="18" charset="-127"/>
              </a:rPr>
              <a:t>단점을 평가하기 위해 사용될 수 있는 판단기준을 살펴 봄</a:t>
            </a:r>
            <a:endParaRPr lang="en-US" altLang="ko-KR" sz="2800" dirty="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17412" name="바닥글 개체 틀 4">
            <a:extLst>
              <a:ext uri="{FF2B5EF4-FFF2-40B4-BE49-F238E27FC236}">
                <a16:creationId xmlns:a16="http://schemas.microsoft.com/office/drawing/2014/main" id="{5EA15DE4-D90D-4789-B6C1-D21DA48D77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5</a:t>
            </a:r>
          </a:p>
        </p:txBody>
      </p:sp>
      <p:sp>
        <p:nvSpPr>
          <p:cNvPr id="17413" name="슬라이드 번호 개체 틀 5">
            <a:extLst>
              <a:ext uri="{FF2B5EF4-FFF2-40B4-BE49-F238E27FC236}">
                <a16:creationId xmlns:a16="http://schemas.microsoft.com/office/drawing/2014/main" id="{16484CEF-6667-403D-8CFC-6DA97BA65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A7B9BB13-482E-461C-B29C-0CB2460B4388}" type="slidenum">
              <a:rPr lang="ko-KR" altLang="en-US" sz="1200" b="0">
                <a:solidFill>
                  <a:schemeClr val="tx1"/>
                </a:solidFill>
              </a:rPr>
              <a:pPr/>
              <a:t>3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17414" name="Rectangle 2">
            <a:extLst>
              <a:ext uri="{FF2B5EF4-FFF2-40B4-BE49-F238E27FC236}">
                <a16:creationId xmlns:a16="http://schemas.microsoft.com/office/drawing/2014/main" id="{97AABED8-38CF-42E3-99DC-F33B989153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17415" name="Rectangle 3">
            <a:extLst>
              <a:ext uri="{FF2B5EF4-FFF2-40B4-BE49-F238E27FC236}">
                <a16:creationId xmlns:a16="http://schemas.microsoft.com/office/drawing/2014/main" id="{110CB598-0754-4458-9052-3E69322924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1036">
            <a:extLst>
              <a:ext uri="{FF2B5EF4-FFF2-40B4-BE49-F238E27FC236}">
                <a16:creationId xmlns:a16="http://schemas.microsoft.com/office/drawing/2014/main" id="{A41FCFE3-7286-4A93-9F6A-5C732F5BFBE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ko-KR" altLang="en-US" dirty="0" err="1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오염피해와</a:t>
            </a:r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 </a:t>
            </a:r>
            <a:r>
              <a:rPr lang="ko-KR" altLang="en-US" dirty="0" err="1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저감비용</a:t>
            </a:r>
            <a:endParaRPr lang="en-US" altLang="ko-KR" dirty="0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18435" name="Rectangle 1037">
            <a:extLst>
              <a:ext uri="{FF2B5EF4-FFF2-40B4-BE49-F238E27FC236}">
                <a16:creationId xmlns:a16="http://schemas.microsoft.com/office/drawing/2014/main" id="{1932654C-02C7-46A1-9A5A-A64720E0463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154113" y="1827213"/>
            <a:ext cx="7529512" cy="4114800"/>
          </a:xfrm>
        </p:spPr>
        <p:txBody>
          <a:bodyPr/>
          <a:lstStyle/>
          <a:p>
            <a:pPr eaLnBrk="1" hangingPunct="1"/>
            <a:r>
              <a:rPr lang="ko-KR" altLang="en-US" dirty="0">
                <a:latin typeface="나눔명조" pitchFamily="18" charset="-127"/>
                <a:ea typeface="나눔명조" pitchFamily="18" charset="-127"/>
              </a:rPr>
              <a:t>모든 환경정책은 사회 전체의 후생을 증가시키는 측면과 감소시키는 측면을 동시에 가짐</a:t>
            </a:r>
          </a:p>
          <a:p>
            <a:pPr lvl="1" eaLnBrk="1" hangingPunct="1"/>
            <a:r>
              <a:rPr lang="ko-KR" altLang="en-US" dirty="0">
                <a:latin typeface="나눔명조" pitchFamily="18" charset="-127"/>
                <a:ea typeface="나눔명조" pitchFamily="18" charset="-127"/>
              </a:rPr>
              <a:t>오염피해자는 환경오염 감소로 인한 후생증가</a:t>
            </a:r>
            <a:r>
              <a:rPr lang="en-US" altLang="ko-KR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dirty="0">
                <a:latin typeface="나눔명조" pitchFamily="18" charset="-127"/>
                <a:ea typeface="나눔명조" pitchFamily="18" charset="-127"/>
              </a:rPr>
              <a:t>오염자는 생산행위 축소 혹은 오염을 줄이는 행위로 인한 후생감소</a:t>
            </a:r>
          </a:p>
          <a:p>
            <a:pPr eaLnBrk="1" hangingPunct="1"/>
            <a:r>
              <a:rPr lang="ko-KR" altLang="en-US" dirty="0">
                <a:latin typeface="나눔명조" pitchFamily="18" charset="-127"/>
                <a:ea typeface="나눔명조" pitchFamily="18" charset="-127"/>
              </a:rPr>
              <a:t>환경정책으로 인한 편익과 비용을 체계적으로 고려하도록 하는 분석수단이 필요함</a:t>
            </a:r>
          </a:p>
        </p:txBody>
      </p:sp>
      <p:sp>
        <p:nvSpPr>
          <p:cNvPr id="18436" name="바닥글 개체 틀 4">
            <a:extLst>
              <a:ext uri="{FF2B5EF4-FFF2-40B4-BE49-F238E27FC236}">
                <a16:creationId xmlns:a16="http://schemas.microsoft.com/office/drawing/2014/main" id="{AADEE3B5-F4C1-434A-93E1-F97D27EBD9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5</a:t>
            </a:r>
          </a:p>
        </p:txBody>
      </p:sp>
      <p:sp>
        <p:nvSpPr>
          <p:cNvPr id="18437" name="슬라이드 번호 개체 틀 5">
            <a:extLst>
              <a:ext uri="{FF2B5EF4-FFF2-40B4-BE49-F238E27FC236}">
                <a16:creationId xmlns:a16="http://schemas.microsoft.com/office/drawing/2014/main" id="{527E2384-8607-41BE-AE9E-6244DFFD8B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C0104B97-8CF8-4600-B466-8CC13C353FCD}" type="slidenum">
              <a:rPr lang="ko-KR" altLang="en-US" sz="1200" b="0">
                <a:solidFill>
                  <a:schemeClr val="tx1"/>
                </a:solidFill>
              </a:rPr>
              <a:pPr/>
              <a:t>4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18438" name="Rectangle 1026">
            <a:extLst>
              <a:ext uri="{FF2B5EF4-FFF2-40B4-BE49-F238E27FC236}">
                <a16:creationId xmlns:a16="http://schemas.microsoft.com/office/drawing/2014/main" id="{B9174A86-D1CA-4FD9-83AA-25EBEFB270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18439" name="Rectangle 1027">
            <a:extLst>
              <a:ext uri="{FF2B5EF4-FFF2-40B4-BE49-F238E27FC236}">
                <a16:creationId xmlns:a16="http://schemas.microsoft.com/office/drawing/2014/main" id="{0FCC7BDE-B430-4A6F-86F3-74D41A5EAB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pull dir="r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1036">
            <a:extLst>
              <a:ext uri="{FF2B5EF4-FFF2-40B4-BE49-F238E27FC236}">
                <a16:creationId xmlns:a16="http://schemas.microsoft.com/office/drawing/2014/main" id="{7474A577-D6E9-4576-B425-FADB902D12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70013" y="174625"/>
            <a:ext cx="7313612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오염피해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19459" name="Rectangle 1037">
            <a:extLst>
              <a:ext uri="{FF2B5EF4-FFF2-40B4-BE49-F238E27FC236}">
                <a16:creationId xmlns:a16="http://schemas.microsoft.com/office/drawing/2014/main" id="{D312AA18-3AA4-4942-B3F5-EAF1033D5C5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125538" y="1601788"/>
            <a:ext cx="7529512" cy="4114800"/>
          </a:xfrm>
        </p:spPr>
        <p:txBody>
          <a:bodyPr/>
          <a:lstStyle/>
          <a:p>
            <a:pPr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오염피해란 환경오염이 사람과 생태계에 미치는 모든 피해를 의미</a:t>
            </a:r>
          </a:p>
          <a:p>
            <a:pPr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오염피해는 다양한 경로를 통해 발생함</a:t>
            </a: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예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: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대기가 오염되면 호흡기질환 증가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산성비로 인한 건물 훼손의 가속화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동식물 피해 등이 야기됨</a:t>
            </a:r>
          </a:p>
          <a:p>
            <a:pPr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오염은 대개 여러 종류의 피해를 복합적으로 유발</a:t>
            </a:r>
            <a:endParaRPr lang="en-US" altLang="ko-KR" sz="24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이들을 모두 합하여 전체 피해로 나타내기 위해서는 모든 종류의 피해에 적용되는 공통의 단위가 필요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: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화폐단위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피해함수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(damage function):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환경이 오염된 정도와 화폐단위로 측정된 그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피해도의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관계를 나타냄</a:t>
            </a:r>
          </a:p>
          <a:p>
            <a:pPr eaLnBrk="1" hangingPunct="1"/>
            <a:endParaRPr lang="ko-KR" altLang="en-US" sz="2400" dirty="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19460" name="바닥글 개체 틀 4">
            <a:extLst>
              <a:ext uri="{FF2B5EF4-FFF2-40B4-BE49-F238E27FC236}">
                <a16:creationId xmlns:a16="http://schemas.microsoft.com/office/drawing/2014/main" id="{60BEA5E1-AD4C-4DEF-A872-A8B4F72935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5</a:t>
            </a:r>
          </a:p>
        </p:txBody>
      </p:sp>
      <p:sp>
        <p:nvSpPr>
          <p:cNvPr id="19461" name="슬라이드 번호 개체 틀 5">
            <a:extLst>
              <a:ext uri="{FF2B5EF4-FFF2-40B4-BE49-F238E27FC236}">
                <a16:creationId xmlns:a16="http://schemas.microsoft.com/office/drawing/2014/main" id="{295296E8-3AD3-4559-ACCF-314FD9F51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D4DC1323-A6B0-4258-9FE1-647BDABB828D}" type="slidenum">
              <a:rPr lang="ko-KR" altLang="en-US" sz="1200" b="0">
                <a:solidFill>
                  <a:schemeClr val="tx1"/>
                </a:solidFill>
              </a:rPr>
              <a:pPr/>
              <a:t>5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19462" name="Rectangle 1026">
            <a:extLst>
              <a:ext uri="{FF2B5EF4-FFF2-40B4-BE49-F238E27FC236}">
                <a16:creationId xmlns:a16="http://schemas.microsoft.com/office/drawing/2014/main" id="{1B4900AA-91FC-494A-97EE-3D846CCCD9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19463" name="Rectangle 1027">
            <a:extLst>
              <a:ext uri="{FF2B5EF4-FFF2-40B4-BE49-F238E27FC236}">
                <a16:creationId xmlns:a16="http://schemas.microsoft.com/office/drawing/2014/main" id="{75CE00E1-073F-4FBC-BEEC-D719017BD2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pull dir="r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6">
            <a:extLst>
              <a:ext uri="{FF2B5EF4-FFF2-40B4-BE49-F238E27FC236}">
                <a16:creationId xmlns:a16="http://schemas.microsoft.com/office/drawing/2014/main" id="{C9355047-4F91-4F3C-BB90-9AC26E1066D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55725" y="168275"/>
            <a:ext cx="7313613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배출량 기준 한계오염피해곡선</a:t>
            </a:r>
          </a:p>
        </p:txBody>
      </p:sp>
      <p:sp>
        <p:nvSpPr>
          <p:cNvPr id="20483" name="Rectangle 7">
            <a:extLst>
              <a:ext uri="{FF2B5EF4-FFF2-40B4-BE49-F238E27FC236}">
                <a16:creationId xmlns:a16="http://schemas.microsoft.com/office/drawing/2014/main" id="{22620988-BCE2-4479-A79B-C4B92715751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39813" y="1476375"/>
            <a:ext cx="7542212" cy="4114800"/>
          </a:xfrm>
        </p:spPr>
        <p:txBody>
          <a:bodyPr/>
          <a:lstStyle/>
          <a:p>
            <a:pPr eaLnBrk="1" hangingPunct="1"/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한계오염피해곡선은 통상적으로 배출량에 대해 증가함</a:t>
            </a:r>
          </a:p>
          <a:p>
            <a:pPr lvl="1" eaLnBrk="1" hangingPunct="1"/>
            <a:r>
              <a:rPr lang="ko-KR" altLang="en-US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배출량이 적을 경우 민감한 사람만 피해를 입어 </a:t>
            </a:r>
            <a:r>
              <a:rPr lang="ko-KR" altLang="en-US" sz="18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한계피해가</a:t>
            </a:r>
            <a:r>
              <a:rPr lang="ko-KR" altLang="en-US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작으나</a:t>
            </a:r>
            <a:r>
              <a:rPr lang="en-US" altLang="ko-KR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, </a:t>
            </a:r>
            <a:r>
              <a:rPr lang="ko-KR" altLang="en-US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배출량이 많아지면 대부분의 사람이 피해를 입게 됨</a:t>
            </a:r>
            <a:endParaRPr lang="en-US" altLang="ko-KR" sz="18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  <a:p>
            <a:pPr lvl="2" eaLnBrk="1" hangingPunct="1"/>
            <a:r>
              <a:rPr lang="en-US" altLang="ko-KR" sz="15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(a)</a:t>
            </a:r>
            <a:r>
              <a:rPr lang="ko-KR" altLang="en-US" sz="15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독성이 약한 오염물질의 경우</a:t>
            </a:r>
          </a:p>
          <a:p>
            <a:pPr lvl="2" eaLnBrk="1" hangingPunct="1"/>
            <a:r>
              <a:rPr lang="en-US" altLang="ko-KR" sz="15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(b)</a:t>
            </a:r>
            <a:r>
              <a:rPr lang="ko-KR" altLang="en-US" sz="15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독성물질처럼 소량에 의해서도 환경피해를 유발하는 경우</a:t>
            </a:r>
          </a:p>
          <a:p>
            <a:pPr eaLnBrk="1" hangingPunct="1"/>
            <a:endParaRPr lang="ko-KR" altLang="en-US" sz="2800" dirty="0">
              <a:latin typeface="나눔명조" pitchFamily="18" charset="-127"/>
              <a:ea typeface="나눔명조" pitchFamily="18" charset="-127"/>
              <a:cs typeface="Times New Roman" panose="02020603050405020304" pitchFamily="18" charset="0"/>
            </a:endParaRPr>
          </a:p>
        </p:txBody>
      </p:sp>
      <p:sp>
        <p:nvSpPr>
          <p:cNvPr id="20484" name="바닥글 개체 틀 4">
            <a:extLst>
              <a:ext uri="{FF2B5EF4-FFF2-40B4-BE49-F238E27FC236}">
                <a16:creationId xmlns:a16="http://schemas.microsoft.com/office/drawing/2014/main" id="{4B620D9B-3082-480F-99D5-DEDA2B3184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5</a:t>
            </a:r>
          </a:p>
        </p:txBody>
      </p:sp>
      <p:sp>
        <p:nvSpPr>
          <p:cNvPr id="20485" name="슬라이드 번호 개체 틀 5">
            <a:extLst>
              <a:ext uri="{FF2B5EF4-FFF2-40B4-BE49-F238E27FC236}">
                <a16:creationId xmlns:a16="http://schemas.microsoft.com/office/drawing/2014/main" id="{084F61DD-5F66-4F67-90CC-F6D4E36C9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9E8A0E13-0783-48F8-A073-4E80FB92DC15}" type="slidenum">
              <a:rPr lang="ko-KR" altLang="en-US" sz="1200" b="0">
                <a:solidFill>
                  <a:schemeClr val="tx1"/>
                </a:solidFill>
              </a:rPr>
              <a:pPr/>
              <a:t>6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20486" name="Rectangle 2">
            <a:extLst>
              <a:ext uri="{FF2B5EF4-FFF2-40B4-BE49-F238E27FC236}">
                <a16:creationId xmlns:a16="http://schemas.microsoft.com/office/drawing/2014/main" id="{2FE41268-DD6B-4C4B-9814-A2F5FA2D00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20487" name="Rectangle 3">
            <a:extLst>
              <a:ext uri="{FF2B5EF4-FFF2-40B4-BE49-F238E27FC236}">
                <a16:creationId xmlns:a16="http://schemas.microsoft.com/office/drawing/2014/main" id="{ED185937-B4EF-4C98-95C5-02ED8F3080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pic>
        <p:nvPicPr>
          <p:cNvPr id="20488" name="그림 8" descr="Cap 2014-06-19 09-36-21-644.png">
            <a:extLst>
              <a:ext uri="{FF2B5EF4-FFF2-40B4-BE49-F238E27FC236}">
                <a16:creationId xmlns:a16="http://schemas.microsoft.com/office/drawing/2014/main" id="{F9423AEC-6F5C-4840-8229-101ECB9C40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6988" y="3203575"/>
            <a:ext cx="6550025" cy="317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wipe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6">
            <a:extLst>
              <a:ext uri="{FF2B5EF4-FFF2-40B4-BE49-F238E27FC236}">
                <a16:creationId xmlns:a16="http://schemas.microsoft.com/office/drawing/2014/main" id="{84F21298-05DA-406B-8D12-E6D8323A4C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55725" y="254000"/>
            <a:ext cx="7313613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배출량 기준 한계오염피해곡선</a:t>
            </a:r>
          </a:p>
        </p:txBody>
      </p:sp>
      <p:sp>
        <p:nvSpPr>
          <p:cNvPr id="21507" name="Rectangle 7">
            <a:extLst>
              <a:ext uri="{FF2B5EF4-FFF2-40B4-BE49-F238E27FC236}">
                <a16:creationId xmlns:a16="http://schemas.microsoft.com/office/drawing/2014/main" id="{9A469813-2C77-4FEF-AF69-9D377F5FBDF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74725" y="1728788"/>
            <a:ext cx="7367588" cy="4114800"/>
          </a:xfrm>
        </p:spPr>
        <p:txBody>
          <a:bodyPr/>
          <a:lstStyle/>
          <a:p>
            <a:pPr eaLnBrk="1" hangingPunct="1"/>
            <a:r>
              <a:rPr lang="ko-KR" altLang="en-US">
                <a:latin typeface="나눔명조" pitchFamily="18" charset="-127"/>
                <a:ea typeface="나눔명조" pitchFamily="18" charset="-127"/>
              </a:rPr>
              <a:t>같은 정도의 독성을 가진 폐기물이 동일한 양만큼 배출되어도 그 피해는 폐기물이 배출되는 공간적</a:t>
            </a:r>
            <a:r>
              <a:rPr lang="en-US" altLang="ko-KR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>
                <a:latin typeface="나눔명조" pitchFamily="18" charset="-127"/>
                <a:ea typeface="나눔명조" pitchFamily="18" charset="-127"/>
              </a:rPr>
              <a:t>시간적 환경에 따라 다르게 나타남</a:t>
            </a:r>
          </a:p>
          <a:p>
            <a:pPr lvl="1" eaLnBrk="1" hangingPunct="1"/>
            <a:r>
              <a:rPr lang="ko-KR" altLang="en-US">
                <a:latin typeface="나눔명조" pitchFamily="18" charset="-127"/>
                <a:ea typeface="나눔명조" pitchFamily="18" charset="-127"/>
              </a:rPr>
              <a:t>인구밀집지역에 배출된 </a:t>
            </a:r>
            <a:r>
              <a:rPr lang="en-US" altLang="ko-KR">
                <a:latin typeface="나눔명조" pitchFamily="18" charset="-127"/>
                <a:ea typeface="나눔명조" pitchFamily="18" charset="-127"/>
              </a:rPr>
              <a:t>SO</a:t>
            </a:r>
            <a:r>
              <a:rPr lang="en-US" altLang="ko-KR" sz="2800" baseline="-25000">
                <a:latin typeface="나눔명조" pitchFamily="18" charset="-127"/>
                <a:ea typeface="나눔명조" pitchFamily="18" charset="-127"/>
              </a:rPr>
              <a:t>2</a:t>
            </a:r>
            <a:r>
              <a:rPr lang="ko-KR" altLang="en-US">
                <a:latin typeface="나눔명조" pitchFamily="18" charset="-127"/>
                <a:ea typeface="나눔명조" pitchFamily="18" charset="-127"/>
              </a:rPr>
              <a:t>한 단위는 더 큰 오염피해를 유발함</a:t>
            </a:r>
          </a:p>
          <a:p>
            <a:pPr lvl="1" eaLnBrk="1" hangingPunct="1"/>
            <a:r>
              <a:rPr lang="ko-KR" altLang="en-US">
                <a:latin typeface="나눔명조" pitchFamily="18" charset="-127"/>
                <a:ea typeface="나눔명조" pitchFamily="18" charset="-127"/>
              </a:rPr>
              <a:t>동일한 양의 폐수라도 비가 많이 올 때 하천으로 배출되면 더 적은 피해를 유발함</a:t>
            </a:r>
          </a:p>
        </p:txBody>
      </p:sp>
      <p:sp>
        <p:nvSpPr>
          <p:cNvPr id="21508" name="바닥글 개체 틀 4">
            <a:extLst>
              <a:ext uri="{FF2B5EF4-FFF2-40B4-BE49-F238E27FC236}">
                <a16:creationId xmlns:a16="http://schemas.microsoft.com/office/drawing/2014/main" id="{D25B63C6-71B5-4804-81C6-3B6331CB6C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5</a:t>
            </a:r>
          </a:p>
        </p:txBody>
      </p:sp>
      <p:sp>
        <p:nvSpPr>
          <p:cNvPr id="21509" name="슬라이드 번호 개체 틀 5">
            <a:extLst>
              <a:ext uri="{FF2B5EF4-FFF2-40B4-BE49-F238E27FC236}">
                <a16:creationId xmlns:a16="http://schemas.microsoft.com/office/drawing/2014/main" id="{092BADC1-A7DA-46E5-A1C1-5222EED2F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2BEDC6A4-BDBC-43CD-BFF4-F783D15BE1D4}" type="slidenum">
              <a:rPr lang="ko-KR" altLang="en-US" sz="1200" b="0">
                <a:solidFill>
                  <a:schemeClr val="tx1"/>
                </a:solidFill>
              </a:rPr>
              <a:pPr/>
              <a:t>7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21510" name="Rectangle 2">
            <a:extLst>
              <a:ext uri="{FF2B5EF4-FFF2-40B4-BE49-F238E27FC236}">
                <a16:creationId xmlns:a16="http://schemas.microsoft.com/office/drawing/2014/main" id="{34E8B240-77C7-4A9F-864B-1B276C9FC0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21511" name="Rectangle 3">
            <a:extLst>
              <a:ext uri="{FF2B5EF4-FFF2-40B4-BE49-F238E27FC236}">
                <a16:creationId xmlns:a16="http://schemas.microsoft.com/office/drawing/2014/main" id="{11ACD0B5-0EDC-4E62-9F07-36E1BE318D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6">
            <a:extLst>
              <a:ext uri="{FF2B5EF4-FFF2-40B4-BE49-F238E27FC236}">
                <a16:creationId xmlns:a16="http://schemas.microsoft.com/office/drawing/2014/main" id="{D3F2C284-4FF3-4574-A399-FAA1990DA50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41438" y="0"/>
            <a:ext cx="7313612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오염도 기준 한계오염피해곡선</a:t>
            </a:r>
          </a:p>
        </p:txBody>
      </p:sp>
      <p:sp>
        <p:nvSpPr>
          <p:cNvPr id="22531" name="Rectangle 7">
            <a:extLst>
              <a:ext uri="{FF2B5EF4-FFF2-40B4-BE49-F238E27FC236}">
                <a16:creationId xmlns:a16="http://schemas.microsoft.com/office/drawing/2014/main" id="{180FED62-DFE3-44F8-AF45-9C6F5E3E4DF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89013" y="1404938"/>
            <a:ext cx="7367587" cy="4114800"/>
          </a:xfrm>
        </p:spPr>
        <p:txBody>
          <a:bodyPr/>
          <a:lstStyle/>
          <a:p>
            <a:pPr eaLnBrk="1" hangingPunct="1"/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(a)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오염도 증가 초기에는 민감한 사람들이 영향을 받아 </a:t>
            </a:r>
            <a:r>
              <a:rPr lang="ko-KR" altLang="en-US" sz="20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한계피해가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급속히 증가함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. 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오염도가 매우 심해지면 모든 사람들이 영향을 받으므로 </a:t>
            </a:r>
            <a:r>
              <a:rPr lang="ko-KR" altLang="en-US" sz="20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한계피해가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다시 급속히 증가</a:t>
            </a:r>
          </a:p>
          <a:p>
            <a:pPr eaLnBrk="1" hangingPunct="1"/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(b)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독성이 낮은 폐기물에 의한 피해</a:t>
            </a:r>
            <a:endParaRPr lang="en-US" altLang="ko-KR" sz="20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  <a:p>
            <a:pPr lvl="1" eaLnBrk="1" hangingPunct="1"/>
            <a:r>
              <a:rPr lang="en-US" altLang="ko-KR" sz="16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</a:t>
            </a:r>
            <a:r>
              <a:rPr lang="ko-KR" altLang="en-US" sz="16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임계치</a:t>
            </a:r>
            <a:r>
              <a:rPr lang="ko-KR" altLang="en-US" sz="16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</a:t>
            </a:r>
            <a:r>
              <a:rPr lang="en-US" altLang="ko-KR" sz="16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q</a:t>
            </a:r>
            <a:r>
              <a:rPr lang="en-US" altLang="ko-KR" sz="1600" baseline="-25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0</a:t>
            </a:r>
            <a:r>
              <a:rPr lang="ko-KR" altLang="en-US" sz="16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까지의 오염도는 오염피해를 유발하지 않음</a:t>
            </a:r>
          </a:p>
        </p:txBody>
      </p:sp>
      <p:sp>
        <p:nvSpPr>
          <p:cNvPr id="22532" name="바닥글 개체 틀 4">
            <a:extLst>
              <a:ext uri="{FF2B5EF4-FFF2-40B4-BE49-F238E27FC236}">
                <a16:creationId xmlns:a16="http://schemas.microsoft.com/office/drawing/2014/main" id="{6880C853-E047-4A61-94CE-942F971446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5</a:t>
            </a:r>
          </a:p>
        </p:txBody>
      </p:sp>
      <p:sp>
        <p:nvSpPr>
          <p:cNvPr id="22533" name="슬라이드 번호 개체 틀 5">
            <a:extLst>
              <a:ext uri="{FF2B5EF4-FFF2-40B4-BE49-F238E27FC236}">
                <a16:creationId xmlns:a16="http://schemas.microsoft.com/office/drawing/2014/main" id="{E85537A4-7015-4F56-86A0-730FFC724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EC32C9B4-3D0C-4919-B726-682529687C59}" type="slidenum">
              <a:rPr lang="ko-KR" altLang="en-US" sz="1200" b="0">
                <a:solidFill>
                  <a:schemeClr val="tx1"/>
                </a:solidFill>
              </a:rPr>
              <a:pPr/>
              <a:t>8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22534" name="Rectangle 2">
            <a:extLst>
              <a:ext uri="{FF2B5EF4-FFF2-40B4-BE49-F238E27FC236}">
                <a16:creationId xmlns:a16="http://schemas.microsoft.com/office/drawing/2014/main" id="{AC4398DF-DAA9-4ABE-9C98-C4534DDBE2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22535" name="Rectangle 3">
            <a:extLst>
              <a:ext uri="{FF2B5EF4-FFF2-40B4-BE49-F238E27FC236}">
                <a16:creationId xmlns:a16="http://schemas.microsoft.com/office/drawing/2014/main" id="{B1287F15-6A9D-49D1-8324-70549B0041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pic>
        <p:nvPicPr>
          <p:cNvPr id="22536" name="그림 9" descr="Cap 2014-06-19 09-36-33-877.png">
            <a:extLst>
              <a:ext uri="{FF2B5EF4-FFF2-40B4-BE49-F238E27FC236}">
                <a16:creationId xmlns:a16="http://schemas.microsoft.com/office/drawing/2014/main" id="{6FA520EB-0FE0-42C8-88CD-A53D80B191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8079" y="3154653"/>
            <a:ext cx="6007100" cy="300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wipe dir="r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052">
            <a:extLst>
              <a:ext uri="{FF2B5EF4-FFF2-40B4-BE49-F238E27FC236}">
                <a16:creationId xmlns:a16="http://schemas.microsoft.com/office/drawing/2014/main" id="{E31AA543-124D-4C3A-A295-6E69E74AC4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84300" y="0"/>
            <a:ext cx="7313613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저감량과 한계편익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23555" name="Rectangle 2053">
            <a:extLst>
              <a:ext uri="{FF2B5EF4-FFF2-40B4-BE49-F238E27FC236}">
                <a16:creationId xmlns:a16="http://schemas.microsoft.com/office/drawing/2014/main" id="{875C5FAE-F98C-446D-8C7F-C501B5EEC7A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60450" y="1390650"/>
            <a:ext cx="7313613" cy="4114800"/>
          </a:xfrm>
        </p:spPr>
        <p:txBody>
          <a:bodyPr/>
          <a:lstStyle/>
          <a:p>
            <a:pPr eaLnBrk="1" hangingPunct="1"/>
            <a:r>
              <a:rPr lang="ko-KR" altLang="en-US" sz="20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오염피해의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변화를 오염자가 줄인 폐기물 배출량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(=</a:t>
            </a:r>
            <a:r>
              <a:rPr lang="ko-KR" altLang="en-US" sz="20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저감량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)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기준으로도 측정할 수 있음</a:t>
            </a:r>
          </a:p>
          <a:p>
            <a:pPr lvl="1" eaLnBrk="1" hangingPunct="1"/>
            <a:r>
              <a:rPr lang="ko-KR" altLang="en-US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가로축은 오염물질의 </a:t>
            </a:r>
            <a:r>
              <a:rPr lang="ko-KR" altLang="en-US" sz="18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저감량</a:t>
            </a:r>
            <a:r>
              <a:rPr lang="en-US" altLang="ko-KR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, </a:t>
            </a:r>
            <a:r>
              <a:rPr lang="ko-KR" altLang="en-US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세로축은 </a:t>
            </a:r>
            <a:r>
              <a:rPr lang="ko-KR" altLang="en-US" sz="18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한계편익</a:t>
            </a:r>
            <a:r>
              <a:rPr lang="en-US" altLang="ko-KR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(MB)</a:t>
            </a:r>
            <a:endParaRPr lang="ko-KR" altLang="en-US" sz="18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  <a:p>
            <a:pPr eaLnBrk="1" hangingPunct="1"/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통상적으로 높은 수준의 배출량에서 한 단위의 배출을 줄일 경우 </a:t>
            </a:r>
            <a:r>
              <a:rPr lang="ko-KR" altLang="en-US" sz="20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한계편익이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크므로 한계편익곡선은 </a:t>
            </a:r>
            <a:r>
              <a:rPr lang="ko-KR" altLang="en-US" sz="20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우하향</a:t>
            </a:r>
            <a:endParaRPr lang="en-US" altLang="ko-KR" sz="20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</p:txBody>
      </p:sp>
      <p:sp>
        <p:nvSpPr>
          <p:cNvPr id="23556" name="바닥글 개체 틀 4">
            <a:extLst>
              <a:ext uri="{FF2B5EF4-FFF2-40B4-BE49-F238E27FC236}">
                <a16:creationId xmlns:a16="http://schemas.microsoft.com/office/drawing/2014/main" id="{F33DFFCD-401F-45D4-8ADF-9B477FE832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5</a:t>
            </a:r>
          </a:p>
        </p:txBody>
      </p:sp>
      <p:sp>
        <p:nvSpPr>
          <p:cNvPr id="23557" name="슬라이드 번호 개체 틀 5">
            <a:extLst>
              <a:ext uri="{FF2B5EF4-FFF2-40B4-BE49-F238E27FC236}">
                <a16:creationId xmlns:a16="http://schemas.microsoft.com/office/drawing/2014/main" id="{C7C8F3C0-A9DC-4F3D-8BDB-85FCD4C79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52428449-D7C0-447B-9E86-F1F9A642C4C1}" type="slidenum">
              <a:rPr lang="ko-KR" altLang="en-US" sz="1200" b="0">
                <a:solidFill>
                  <a:schemeClr val="tx1"/>
                </a:solidFill>
              </a:rPr>
              <a:pPr/>
              <a:t>9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pic>
        <p:nvPicPr>
          <p:cNvPr id="23558" name="그림 6" descr="Cap 2014-06-19 09-36-44-926.png">
            <a:extLst>
              <a:ext uri="{FF2B5EF4-FFF2-40B4-BE49-F238E27FC236}">
                <a16:creationId xmlns:a16="http://schemas.microsoft.com/office/drawing/2014/main" id="{0294A5EE-C16C-4FA6-83D6-F364237357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6859" y="3069304"/>
            <a:ext cx="6047524" cy="30663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wipe dir="r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052">
            <a:extLst>
              <a:ext uri="{FF2B5EF4-FFF2-40B4-BE49-F238E27FC236}">
                <a16:creationId xmlns:a16="http://schemas.microsoft.com/office/drawing/2014/main" id="{47A00213-3AE2-4B74-A9B3-9425636FCFD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55725" y="203200"/>
            <a:ext cx="7313613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저감비용</a:t>
            </a:r>
            <a:r>
              <a:rPr lang="en-US" altLang="ko-KR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(abatement cost)</a:t>
            </a:r>
          </a:p>
        </p:txBody>
      </p:sp>
      <p:sp>
        <p:nvSpPr>
          <p:cNvPr id="24579" name="Rectangle 2053">
            <a:extLst>
              <a:ext uri="{FF2B5EF4-FFF2-40B4-BE49-F238E27FC236}">
                <a16:creationId xmlns:a16="http://schemas.microsoft.com/office/drawing/2014/main" id="{D521A22D-8405-4000-9E38-D57BD4E31D2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144588" y="1700213"/>
            <a:ext cx="7313612" cy="4114800"/>
          </a:xfrm>
        </p:spPr>
        <p:txBody>
          <a:bodyPr/>
          <a:lstStyle/>
          <a:p>
            <a:pPr eaLnBrk="1" hangingPunct="1"/>
            <a:r>
              <a:rPr lang="ko-KR" altLang="en-US" b="1">
                <a:solidFill>
                  <a:srgbClr val="0000FF"/>
                </a:solidFill>
                <a:latin typeface="나눔명조" pitchFamily="18" charset="-127"/>
                <a:ea typeface="나눔명조" pitchFamily="18" charset="-127"/>
              </a:rPr>
              <a:t>저감비용</a:t>
            </a:r>
            <a:r>
              <a:rPr lang="ko-KR" altLang="en-US">
                <a:latin typeface="나눔명조" pitchFamily="18" charset="-127"/>
                <a:ea typeface="나눔명조" pitchFamily="18" charset="-127"/>
              </a:rPr>
              <a:t>이란 오염자가 폐기물의 배출량을 줄이기 위해 부담해야 하는 비용을 의미함</a:t>
            </a:r>
          </a:p>
          <a:p>
            <a:pPr eaLnBrk="1" hangingPunct="1"/>
            <a:r>
              <a:rPr lang="ko-KR" altLang="en-US">
                <a:latin typeface="나눔명조" pitchFamily="18" charset="-127"/>
                <a:ea typeface="나눔명조" pitchFamily="18" charset="-127"/>
              </a:rPr>
              <a:t>저감비용함수는 배출량</a:t>
            </a:r>
            <a:r>
              <a:rPr lang="en-US" altLang="ko-KR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>
                <a:latin typeface="나눔명조" pitchFamily="18" charset="-127"/>
                <a:ea typeface="나눔명조" pitchFamily="18" charset="-127"/>
              </a:rPr>
              <a:t>오염도</a:t>
            </a:r>
            <a:r>
              <a:rPr lang="en-US" altLang="ko-KR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>
                <a:latin typeface="나눔명조" pitchFamily="18" charset="-127"/>
                <a:ea typeface="나눔명조" pitchFamily="18" charset="-127"/>
              </a:rPr>
              <a:t>저감량 가운데 한 가지와 이를 달성하는 데 필요한 비용과의 관계를 나타냄</a:t>
            </a:r>
          </a:p>
          <a:p>
            <a:pPr eaLnBrk="1" hangingPunct="1"/>
            <a:r>
              <a:rPr lang="ko-KR" altLang="en-US">
                <a:latin typeface="나눔명조" pitchFamily="18" charset="-127"/>
                <a:ea typeface="나눔명조" pitchFamily="18" charset="-127"/>
              </a:rPr>
              <a:t>산업이나 기업체의 기술적인 특성에 따라 다양한 형태를 가짐</a:t>
            </a:r>
            <a:endParaRPr lang="en-US" altLang="ko-KR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24580" name="바닥글 개체 틀 4">
            <a:extLst>
              <a:ext uri="{FF2B5EF4-FFF2-40B4-BE49-F238E27FC236}">
                <a16:creationId xmlns:a16="http://schemas.microsoft.com/office/drawing/2014/main" id="{BB4ED8EA-B907-40B0-87CF-03164FF69A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5</a:t>
            </a:r>
          </a:p>
        </p:txBody>
      </p:sp>
      <p:sp>
        <p:nvSpPr>
          <p:cNvPr id="24581" name="슬라이드 번호 개체 틀 5">
            <a:extLst>
              <a:ext uri="{FF2B5EF4-FFF2-40B4-BE49-F238E27FC236}">
                <a16:creationId xmlns:a16="http://schemas.microsoft.com/office/drawing/2014/main" id="{D0A643BF-3A27-4EC7-99AF-C34F7E29E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F6184C61-D7DE-482F-A573-BBA54685F0A7}" type="slidenum">
              <a:rPr lang="ko-KR" altLang="en-US" sz="1200" b="0">
                <a:solidFill>
                  <a:schemeClr val="tx1"/>
                </a:solidFill>
              </a:rPr>
              <a:pPr/>
              <a:t>10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052">
            <a:extLst>
              <a:ext uri="{FF2B5EF4-FFF2-40B4-BE49-F238E27FC236}">
                <a16:creationId xmlns:a16="http://schemas.microsoft.com/office/drawing/2014/main" id="{69484E40-9129-4DB7-9639-22D0FA6006A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55725" y="-98425"/>
            <a:ext cx="7313613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한계저감비용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25603" name="Rectangle 2053">
            <a:extLst>
              <a:ext uri="{FF2B5EF4-FFF2-40B4-BE49-F238E27FC236}">
                <a16:creationId xmlns:a16="http://schemas.microsoft.com/office/drawing/2014/main" id="{12FA37A5-6BF0-49B8-A341-CB5D3F691C6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74738" y="1152525"/>
            <a:ext cx="7313612" cy="4114800"/>
          </a:xfrm>
        </p:spPr>
        <p:txBody>
          <a:bodyPr/>
          <a:lstStyle/>
          <a:p>
            <a:pPr eaLnBrk="1" hangingPunct="1"/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저감량을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기준으로 할 경우 한계저감비용곡선은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우상향</a:t>
            </a:r>
            <a:endParaRPr lang="ko-KR" altLang="en-US" sz="20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손쉽고 비용이 적게 드는 방법을 우선 사용</a:t>
            </a:r>
            <a:endParaRPr lang="en-US" altLang="ko-KR" sz="18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배출량을 더 줄이기 위해서는 생산공정 자체를 완전히 바꾸는 등 비용이 많이 드는 방법 선택해야 </a:t>
            </a:r>
          </a:p>
          <a:p>
            <a:pPr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반면 배출량이나 오염도를 기준으로 할 경우에는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우하향</a:t>
            </a:r>
            <a:endParaRPr lang="ko-KR" altLang="en-US" sz="2000" dirty="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25604" name="바닥글 개체 틀 4">
            <a:extLst>
              <a:ext uri="{FF2B5EF4-FFF2-40B4-BE49-F238E27FC236}">
                <a16:creationId xmlns:a16="http://schemas.microsoft.com/office/drawing/2014/main" id="{B41CF113-EAB8-4338-8765-66F2FC92DB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5</a:t>
            </a:r>
          </a:p>
        </p:txBody>
      </p:sp>
      <p:sp>
        <p:nvSpPr>
          <p:cNvPr id="25605" name="슬라이드 번호 개체 틀 5">
            <a:extLst>
              <a:ext uri="{FF2B5EF4-FFF2-40B4-BE49-F238E27FC236}">
                <a16:creationId xmlns:a16="http://schemas.microsoft.com/office/drawing/2014/main" id="{B9BCC375-265D-48A6-B59E-9C26EE8C8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E157C456-FBAB-4007-90B3-E13173BAADE0}" type="slidenum">
              <a:rPr lang="ko-KR" altLang="en-US" sz="1200" b="0">
                <a:solidFill>
                  <a:schemeClr val="tx1"/>
                </a:solidFill>
              </a:rPr>
              <a:pPr/>
              <a:t>11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pic>
        <p:nvPicPr>
          <p:cNvPr id="25606" name="그림 5" descr="Cap 2014-06-19 09-38-13-813.png">
            <a:extLst>
              <a:ext uri="{FF2B5EF4-FFF2-40B4-BE49-F238E27FC236}">
                <a16:creationId xmlns:a16="http://schemas.microsoft.com/office/drawing/2014/main" id="{AEA53CAE-C0C9-4BA5-9098-232F4D9F7F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5725" y="2868397"/>
            <a:ext cx="6540500" cy="299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wipe dir="r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052">
            <a:extLst>
              <a:ext uri="{FF2B5EF4-FFF2-40B4-BE49-F238E27FC236}">
                <a16:creationId xmlns:a16="http://schemas.microsoft.com/office/drawing/2014/main" id="{21812297-27BF-48E4-AFE3-D4A3372A5DA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55725" y="119063"/>
            <a:ext cx="7472511" cy="1143000"/>
          </a:xfrm>
        </p:spPr>
        <p:txBody>
          <a:bodyPr/>
          <a:lstStyle/>
          <a:p>
            <a:pPr eaLnBrk="1" hangingPunct="1"/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지역이나 산업 전체의 한계저감비용</a:t>
            </a:r>
            <a:endParaRPr lang="en-US" altLang="ko-KR" dirty="0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26627" name="Rectangle 2053">
            <a:extLst>
              <a:ext uri="{FF2B5EF4-FFF2-40B4-BE49-F238E27FC236}">
                <a16:creationId xmlns:a16="http://schemas.microsoft.com/office/drawing/2014/main" id="{E450250C-248A-49A6-81EB-55F9D010890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130300" y="1355725"/>
            <a:ext cx="7313613" cy="4114800"/>
          </a:xfrm>
        </p:spPr>
        <p:txBody>
          <a:bodyPr/>
          <a:lstStyle/>
          <a:p>
            <a:pPr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각 기업의 한계저감비용곡선을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수평합하여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같은 오염물질을 배출하는 산업 전체의 한계저감비용곡선을 구함</a:t>
            </a:r>
          </a:p>
          <a:p>
            <a:pPr eaLnBrk="1" hangingPunct="1"/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저감량이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각 기업의 한계저감비용이 동일하도록 분배되게 되며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전체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저감량을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가장 적은 전체 비용으로 줄이게 함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26628" name="바닥글 개체 틀 4">
            <a:extLst>
              <a:ext uri="{FF2B5EF4-FFF2-40B4-BE49-F238E27FC236}">
                <a16:creationId xmlns:a16="http://schemas.microsoft.com/office/drawing/2014/main" id="{069B1F35-4D85-4AC6-9CD1-172D94A844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5</a:t>
            </a:r>
          </a:p>
        </p:txBody>
      </p:sp>
      <p:sp>
        <p:nvSpPr>
          <p:cNvPr id="26629" name="슬라이드 번호 개체 틀 5">
            <a:extLst>
              <a:ext uri="{FF2B5EF4-FFF2-40B4-BE49-F238E27FC236}">
                <a16:creationId xmlns:a16="http://schemas.microsoft.com/office/drawing/2014/main" id="{47F7325D-C9A6-4FC4-95A8-6B99B51A9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CAC44BA4-7166-4A2B-9D92-AC072E1493E1}" type="slidenum">
              <a:rPr lang="ko-KR" altLang="en-US" sz="1200" b="0">
                <a:solidFill>
                  <a:schemeClr val="tx1"/>
                </a:solidFill>
              </a:rPr>
              <a:pPr/>
              <a:t>12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pic>
        <p:nvPicPr>
          <p:cNvPr id="26630" name="그림 5" descr="Cap 2014-06-19 09-38-28-884.png">
            <a:extLst>
              <a:ext uri="{FF2B5EF4-FFF2-40B4-BE49-F238E27FC236}">
                <a16:creationId xmlns:a16="http://schemas.microsoft.com/office/drawing/2014/main" id="{418CE1C4-5D82-455A-A028-4FCD371784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423" y="2718580"/>
            <a:ext cx="7021512" cy="320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wipe dir="r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1028">
            <a:extLst>
              <a:ext uri="{FF2B5EF4-FFF2-40B4-BE49-F238E27FC236}">
                <a16:creationId xmlns:a16="http://schemas.microsoft.com/office/drawing/2014/main" id="{538E640A-92C0-4587-BEEC-126F7CDB0CC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70013" y="695325"/>
            <a:ext cx="7313612" cy="1143000"/>
          </a:xfrm>
          <a:ln>
            <a:solidFill>
              <a:srgbClr val="7030A0"/>
            </a:solidFill>
          </a:ln>
        </p:spPr>
        <p:txBody>
          <a:bodyPr/>
          <a:lstStyle/>
          <a:p>
            <a:pPr eaLnBrk="1" hangingPunct="1"/>
            <a:r>
              <a:rPr lang="ko-KR" altLang="en-US" dirty="0">
                <a:solidFill>
                  <a:srgbClr val="7030A0"/>
                </a:solidFill>
                <a:latin typeface="나눔고딕" pitchFamily="50" charset="-127"/>
                <a:ea typeface="나눔고딕" pitchFamily="50" charset="-127"/>
              </a:rPr>
              <a:t>등한계원칙</a:t>
            </a:r>
            <a:br>
              <a:rPr lang="en-US" altLang="ko-KR" dirty="0">
                <a:solidFill>
                  <a:srgbClr val="7030A0"/>
                </a:solidFill>
                <a:latin typeface="나눔고딕" pitchFamily="50" charset="-127"/>
                <a:ea typeface="나눔고딕" pitchFamily="50" charset="-127"/>
              </a:rPr>
            </a:br>
            <a:r>
              <a:rPr lang="en-US" altLang="ko-KR" dirty="0">
                <a:solidFill>
                  <a:srgbClr val="7030A0"/>
                </a:solidFill>
                <a:latin typeface="나눔고딕" pitchFamily="50" charset="-127"/>
                <a:ea typeface="나눔고딕" pitchFamily="50" charset="-127"/>
              </a:rPr>
              <a:t>(</a:t>
            </a:r>
            <a:r>
              <a:rPr lang="en-US" altLang="ko-KR" dirty="0" err="1">
                <a:solidFill>
                  <a:srgbClr val="7030A0"/>
                </a:solidFill>
                <a:latin typeface="나눔고딕" pitchFamily="50" charset="-127"/>
                <a:ea typeface="나눔고딕" pitchFamily="50" charset="-127"/>
              </a:rPr>
              <a:t>equi</a:t>
            </a:r>
            <a:r>
              <a:rPr lang="en-US" altLang="ko-KR" dirty="0">
                <a:solidFill>
                  <a:srgbClr val="7030A0"/>
                </a:solidFill>
                <a:latin typeface="나눔고딕" pitchFamily="50" charset="-127"/>
                <a:ea typeface="나눔고딕" pitchFamily="50" charset="-127"/>
              </a:rPr>
              <a:t>-marginal principle)</a:t>
            </a:r>
          </a:p>
        </p:txBody>
      </p:sp>
      <p:sp>
        <p:nvSpPr>
          <p:cNvPr id="27651" name="Rectangle 1029">
            <a:extLst>
              <a:ext uri="{FF2B5EF4-FFF2-40B4-BE49-F238E27FC236}">
                <a16:creationId xmlns:a16="http://schemas.microsoft.com/office/drawing/2014/main" id="{EA9FBA5F-790C-44D8-818F-6EB88A87998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27113" y="2305050"/>
            <a:ext cx="7642225" cy="4114800"/>
          </a:xfrm>
        </p:spPr>
        <p:txBody>
          <a:bodyPr/>
          <a:lstStyle/>
          <a:p>
            <a:pPr eaLnBrk="1" hangingPunct="1"/>
            <a:r>
              <a:rPr lang="ko-KR" altLang="en-US" dirty="0">
                <a:latin typeface="나눔명조" pitchFamily="18" charset="-127"/>
                <a:ea typeface="나눔명조" pitchFamily="18" charset="-127"/>
              </a:rPr>
              <a:t>동일한 종류의 오염물질을 배출하는 다수의 오염원이 존재할 경우</a:t>
            </a:r>
            <a:r>
              <a:rPr lang="en-US" altLang="ko-KR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dirty="0">
                <a:latin typeface="나눔명조" pitchFamily="18" charset="-127"/>
                <a:ea typeface="나눔명조" pitchFamily="18" charset="-127"/>
              </a:rPr>
              <a:t>줄이고자 하는 전체 배출량을 각 오염원의 한계저감비용이 서로 일치하도록 배분해야 전체 </a:t>
            </a:r>
            <a:r>
              <a:rPr lang="ko-KR" altLang="en-US" dirty="0" err="1">
                <a:latin typeface="나눔명조" pitchFamily="18" charset="-127"/>
                <a:ea typeface="나눔명조" pitchFamily="18" charset="-127"/>
              </a:rPr>
              <a:t>저감비용이</a:t>
            </a:r>
            <a:r>
              <a:rPr lang="ko-KR" altLang="en-US" dirty="0">
                <a:latin typeface="나눔명조" pitchFamily="18" charset="-127"/>
                <a:ea typeface="나눔명조" pitchFamily="18" charset="-127"/>
              </a:rPr>
              <a:t> 최소가 됨</a:t>
            </a:r>
          </a:p>
          <a:p>
            <a:pPr eaLnBrk="1" hangingPunct="1"/>
            <a:r>
              <a:rPr lang="ko-KR" altLang="en-US" dirty="0">
                <a:latin typeface="나눔명조" pitchFamily="18" charset="-127"/>
                <a:ea typeface="나눔명조" pitchFamily="18" charset="-127"/>
              </a:rPr>
              <a:t>제약하의 최적화기법을 이용하여 등한계원칙을 도출</a:t>
            </a:r>
            <a:endParaRPr lang="en-US" altLang="ko-KR" dirty="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27652" name="바닥글 개체 틀 4">
            <a:extLst>
              <a:ext uri="{FF2B5EF4-FFF2-40B4-BE49-F238E27FC236}">
                <a16:creationId xmlns:a16="http://schemas.microsoft.com/office/drawing/2014/main" id="{0ACF4B5A-FCF3-4787-AB33-5C4186A19A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5</a:t>
            </a:r>
          </a:p>
        </p:txBody>
      </p:sp>
      <p:sp>
        <p:nvSpPr>
          <p:cNvPr id="27653" name="슬라이드 번호 개체 틀 5">
            <a:extLst>
              <a:ext uri="{FF2B5EF4-FFF2-40B4-BE49-F238E27FC236}">
                <a16:creationId xmlns:a16="http://schemas.microsoft.com/office/drawing/2014/main" id="{D03352EB-AE3C-46F4-A68A-8CD993A03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D705E98A-AB14-49B7-95DF-01B5943230C0}" type="slidenum">
              <a:rPr lang="ko-KR" altLang="en-US" sz="1200" b="0">
                <a:solidFill>
                  <a:schemeClr val="tx1"/>
                </a:solidFill>
              </a:rPr>
              <a:pPr/>
              <a:t>13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028" name="Rectangle 1029">
                <a:extLst>
                  <a:ext uri="{FF2B5EF4-FFF2-40B4-BE49-F238E27FC236}">
                    <a16:creationId xmlns:a16="http://schemas.microsoft.com/office/drawing/2014/main" id="{3739BC55-3C29-4551-A9E7-B1C3820C5349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1133584" y="2076450"/>
                <a:ext cx="7642225" cy="4114800"/>
              </a:xfrm>
            </p:spPr>
            <p:txBody>
              <a:bodyPr/>
              <a:lstStyle/>
              <a:p>
                <a:pPr eaLnBrk="1" hangingPunct="1"/>
                <a:r>
                  <a:rPr lang="ko-KR" altLang="en-US" sz="24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어떤 지역에 </a:t>
                </a:r>
                <a:r>
                  <a:rPr lang="en-US" altLang="ko-KR" sz="24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N</a:t>
                </a:r>
                <a:r>
                  <a:rPr lang="ko-KR" altLang="en-US" sz="24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개의 오염원이 있고</a:t>
                </a:r>
                <a:r>
                  <a:rPr lang="en-US" altLang="ko-KR" sz="24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, </a:t>
                </a:r>
                <a:r>
                  <a:rPr lang="ko-KR" altLang="en-US" sz="24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 지역전체에서 줄이고자 하는 오염물질 배출량은 </a:t>
                </a:r>
                <a:r>
                  <a:rPr lang="en-US" altLang="ko-KR" sz="24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A</a:t>
                </a:r>
                <a:endParaRPr lang="ko-KR" altLang="en-US" sz="2400" dirty="0">
                  <a:latin typeface="Times New Roman" panose="02020603050405020304" pitchFamily="18" charset="0"/>
                  <a:ea typeface="나눔명조" pitchFamily="18" charset="-127"/>
                  <a:cs typeface="Times New Roman" panose="02020603050405020304" pitchFamily="18" charset="0"/>
                </a:endParaRPr>
              </a:p>
              <a:p>
                <a:pPr eaLnBrk="1" hangingPunct="1"/>
                <a:r>
                  <a:rPr lang="ko-KR" altLang="en-US" sz="24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각 오염원에게 돌아가는 </a:t>
                </a:r>
                <a:r>
                  <a:rPr lang="ko-KR" altLang="en-US" sz="2400" dirty="0" err="1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저감량은</a:t>
                </a:r>
                <a:r>
                  <a:rPr lang="ko-KR" altLang="en-US" sz="24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 </a:t>
                </a:r>
                <a:r>
                  <a:rPr lang="en-US" altLang="ko-KR" sz="24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a</a:t>
                </a:r>
                <a:r>
                  <a:rPr lang="en-US" altLang="ko-KR" sz="2400" baseline="-25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i </a:t>
                </a:r>
                <a:r>
                  <a:rPr lang="en-US" altLang="ko-KR" sz="24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(</a:t>
                </a:r>
                <a:r>
                  <a:rPr lang="en-US" altLang="ko-KR" sz="2400" dirty="0" err="1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i</a:t>
                </a:r>
                <a:r>
                  <a:rPr lang="en-US" altLang="ko-KR" sz="24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=1,2,…,N)</a:t>
                </a:r>
              </a:p>
              <a:p>
                <a:pPr eaLnBrk="1" hangingPunct="1"/>
                <a:r>
                  <a:rPr lang="ko-KR" altLang="en-US" sz="24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개별오염원의 </a:t>
                </a:r>
                <a:r>
                  <a:rPr lang="ko-KR" altLang="en-US" sz="2400" dirty="0" err="1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저감량</a:t>
                </a:r>
                <a:r>
                  <a:rPr lang="ko-KR" altLang="en-US" sz="24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 합이 </a:t>
                </a:r>
                <a:r>
                  <a:rPr lang="en-US" altLang="ko-KR" sz="24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A</a:t>
                </a:r>
                <a:r>
                  <a:rPr lang="ko-KR" altLang="en-US" sz="24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라는 제약조건 하에서 저감비용의 합을 최소화하여야 함</a:t>
                </a:r>
                <a:endParaRPr lang="en-US" altLang="ko-KR" sz="2400" dirty="0">
                  <a:latin typeface="Times New Roman" panose="02020603050405020304" pitchFamily="18" charset="0"/>
                  <a:ea typeface="나눔명조" pitchFamily="18" charset="-127"/>
                  <a:cs typeface="Times New Roman" panose="02020603050405020304" pitchFamily="18" charset="0"/>
                </a:endParaRPr>
              </a:p>
              <a:p>
                <a:pPr marL="0" indent="0" eaLnBrk="1" hangingPunct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  <a:ea typeface="나눔명조" pitchFamily="18" charset="-127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2400" b="0" i="0" smtClean="0">
                              <a:latin typeface="Cambria Math" panose="02040503050406030204" pitchFamily="18" charset="0"/>
                              <a:ea typeface="나눔명조" pitchFamily="18" charset="-127"/>
                              <a:cs typeface="Times New Roman" panose="02020603050405020304" pitchFamily="18" charset="0"/>
                            </a:rPr>
                            <m:t>min</m:t>
                          </m:r>
                        </m:fName>
                        <m:e>
                          <m:nary>
                            <m:naryPr>
                              <m:chr m:val="∑"/>
                              <m:ctrlPr>
                                <a:rPr lang="en-US" altLang="ko-KR" sz="2400" b="0" i="1" smtClean="0">
                                  <a:latin typeface="Cambria Math" panose="02040503050406030204" pitchFamily="18" charset="0"/>
                                  <a:ea typeface="나눔명조" pitchFamily="18" charset="-127"/>
                                  <a:cs typeface="Times New Roman" panose="020206030504050203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ko-KR" sz="2400" b="0" i="1" smtClean="0">
                                  <a:latin typeface="Cambria Math" panose="02040503050406030204" pitchFamily="18" charset="0"/>
                                  <a:ea typeface="나눔명조" pitchFamily="18" charset="-127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  <a:ea typeface="나눔명조" pitchFamily="18" charset="-127"/>
                                  <a:cs typeface="Times New Roman" panose="020206030504050203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  <a:ea typeface="나눔명조" pitchFamily="18" charset="-127"/>
                                  <a:cs typeface="Times New Roman" panose="02020603050405020304" pitchFamily="18" charset="0"/>
                                </a:rPr>
                                <m:t>𝑁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ko-KR" sz="2400" b="0" i="1" smtClean="0">
                                      <a:latin typeface="Cambria Math" panose="02040503050406030204" pitchFamily="18" charset="0"/>
                                      <a:ea typeface="나눔명조" pitchFamily="18" charset="-127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400" b="0" i="1" smtClean="0">
                                      <a:latin typeface="Cambria Math" panose="02040503050406030204" pitchFamily="18" charset="0"/>
                                      <a:ea typeface="나눔명조" pitchFamily="18" charset="-127"/>
                                      <a:cs typeface="Times New Roman" panose="02020603050405020304" pitchFamily="18" charset="0"/>
                                    </a:rPr>
                                    <m:t>𝐴𝐶</m:t>
                                  </m:r>
                                </m:e>
                                <m:sub>
                                  <m:r>
                                    <a:rPr lang="en-US" altLang="ko-KR" sz="2400" b="0" i="1" smtClean="0">
                                      <a:latin typeface="Cambria Math" panose="02040503050406030204" pitchFamily="18" charset="0"/>
                                      <a:ea typeface="나눔명조" pitchFamily="18" charset="-127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  <a:ea typeface="나눔명조" pitchFamily="18" charset="-127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ko-KR" sz="2400" b="0" i="1" smtClean="0">
                                      <a:latin typeface="Cambria Math" panose="02040503050406030204" pitchFamily="18" charset="0"/>
                                      <a:ea typeface="나눔명조" pitchFamily="18" charset="-127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400" b="0" i="1" smtClean="0">
                                      <a:latin typeface="Cambria Math" panose="02040503050406030204" pitchFamily="18" charset="0"/>
                                      <a:ea typeface="나눔명조" pitchFamily="18" charset="-127"/>
                                      <a:cs typeface="Times New Roman" panose="020206030504050203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ko-KR" sz="2400" b="0" i="1" smtClean="0">
                                      <a:latin typeface="Cambria Math" panose="02040503050406030204" pitchFamily="18" charset="0"/>
                                      <a:ea typeface="나눔명조" pitchFamily="18" charset="-127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  <a:ea typeface="나눔명조" pitchFamily="18" charset="-127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</m:e>
                          </m:nary>
                        </m:e>
                      </m:func>
                      <m:r>
                        <a:rPr lang="en-US" altLang="ko-KR" sz="2400" b="0" i="1" smtClean="0">
                          <a:latin typeface="Cambria Math" panose="02040503050406030204" pitchFamily="18" charset="0"/>
                          <a:ea typeface="나눔명조" pitchFamily="18" charset="-127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  <a:ea typeface="나눔명조" pitchFamily="18" charset="-127"/>
                          <a:cs typeface="Times New Roman" panose="02020603050405020304" pitchFamily="18" charset="0"/>
                        </a:rPr>
                        <m:t>𝑠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  <a:ea typeface="나눔명조" pitchFamily="18" charset="-127"/>
                          <a:cs typeface="Times New Roman" panose="02020603050405020304" pitchFamily="18" charset="0"/>
                        </a:rPr>
                        <m:t>.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  <a:ea typeface="나눔명조" pitchFamily="18" charset="-127"/>
                          <a:cs typeface="Times New Roman" panose="02020603050405020304" pitchFamily="18" charset="0"/>
                        </a:rPr>
                        <m:t>𝑡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  <a:ea typeface="나눔명조" pitchFamily="18" charset="-127"/>
                          <a:cs typeface="Times New Roman" panose="02020603050405020304" pitchFamily="18" charset="0"/>
                        </a:rPr>
                        <m:t>, 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  <a:ea typeface="나눔명조" pitchFamily="18" charset="-127"/>
                          <a:cs typeface="Times New Roman" panose="02020603050405020304" pitchFamily="18" charset="0"/>
                        </a:rPr>
                        <m:t>𝐴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  <a:ea typeface="나눔명조" pitchFamily="18" charset="-127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  <a:ea typeface="나눔명조" pitchFamily="18" charset="-127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ko-KR" sz="2400" b="0" i="1" smtClean="0">
                              <a:latin typeface="Cambria Math" panose="02040503050406030204" pitchFamily="18" charset="0"/>
                              <a:ea typeface="나눔명조" pitchFamily="18" charset="-127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  <a:ea typeface="나눔명조" pitchFamily="18" charset="-127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  <a:ea typeface="나눔명조" pitchFamily="18" charset="-127"/>
                              <a:cs typeface="Times New Roman" panose="02020603050405020304" pitchFamily="18" charset="0"/>
                            </a:rPr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lang="en-US" altLang="ko-KR" sz="2400" b="0" i="1" smtClean="0">
                                  <a:latin typeface="Cambria Math" panose="02040503050406030204" pitchFamily="18" charset="0"/>
                                  <a:ea typeface="나눔명조" pitchFamily="18" charset="-127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  <a:ea typeface="나눔명조" pitchFamily="18" charset="-127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  <a:ea typeface="나눔명조" pitchFamily="18" charset="-127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altLang="ko-KR" sz="2400" dirty="0">
                  <a:latin typeface="Times New Roman" panose="02020603050405020304" pitchFamily="18" charset="0"/>
                  <a:ea typeface="나눔명조" pitchFamily="18" charset="-127"/>
                  <a:cs typeface="Times New Roman" panose="02020603050405020304" pitchFamily="18" charset="0"/>
                </a:endParaRPr>
              </a:p>
              <a:p>
                <a:pPr eaLnBrk="1" hangingPunct="1"/>
                <a:r>
                  <a:rPr lang="ko-KR" altLang="en-US" sz="2400" dirty="0" err="1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라그랑지안</a:t>
                </a:r>
                <a:r>
                  <a:rPr lang="en-US" altLang="ko-KR" sz="24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(</a:t>
                </a:r>
                <a:r>
                  <a:rPr lang="en-US" altLang="ko-KR" sz="2400" dirty="0" err="1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Lagrangian</a:t>
                </a:r>
                <a:r>
                  <a:rPr lang="en-US" altLang="ko-KR" sz="24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) </a:t>
                </a:r>
                <a:r>
                  <a:rPr lang="ko-KR" altLang="en-US" sz="24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함수 이용해 제약 하의 </a:t>
                </a:r>
                <a:r>
                  <a:rPr lang="ko-KR" altLang="en-US" sz="2400" dirty="0" err="1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최적화문제</a:t>
                </a:r>
                <a:r>
                  <a:rPr lang="ko-KR" altLang="en-US" sz="24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 설정</a:t>
                </a:r>
                <a:endParaRPr lang="en-US" altLang="ko-KR" sz="2400" dirty="0">
                  <a:latin typeface="Times New Roman" panose="02020603050405020304" pitchFamily="18" charset="0"/>
                  <a:ea typeface="나눔명조" pitchFamily="18" charset="-127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28" name="Rectangle 1029">
                <a:extLst>
                  <a:ext uri="{FF2B5EF4-FFF2-40B4-BE49-F238E27FC236}">
                    <a16:creationId xmlns:a16="http://schemas.microsoft.com/office/drawing/2014/main" id="{3739BC55-3C29-4551-A9E7-B1C3820C534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33584" y="2076450"/>
                <a:ext cx="7642225" cy="4114800"/>
              </a:xfrm>
              <a:blipFill>
                <a:blip r:embed="rId2"/>
                <a:stretch>
                  <a:fillRect l="-1116" t="-163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29" name="Rectangle 1028">
            <a:extLst>
              <a:ext uri="{FF2B5EF4-FFF2-40B4-BE49-F238E27FC236}">
                <a16:creationId xmlns:a16="http://schemas.microsoft.com/office/drawing/2014/main" id="{BAD04E7B-9FE7-4828-93DC-98A8FA91790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70013" y="695325"/>
            <a:ext cx="7313612" cy="1143000"/>
          </a:xfrm>
          <a:ln>
            <a:solidFill>
              <a:srgbClr val="7030A0"/>
            </a:solidFill>
          </a:ln>
        </p:spPr>
        <p:txBody>
          <a:bodyPr/>
          <a:lstStyle/>
          <a:p>
            <a:pPr eaLnBrk="1" hangingPunct="1"/>
            <a:r>
              <a:rPr lang="ko-KR" altLang="en-US" dirty="0">
                <a:solidFill>
                  <a:srgbClr val="7030A0"/>
                </a:solidFill>
                <a:latin typeface="나눔고딕" pitchFamily="50" charset="-127"/>
                <a:ea typeface="나눔고딕" pitchFamily="50" charset="-127"/>
              </a:rPr>
              <a:t>등한계원칙</a:t>
            </a:r>
            <a:br>
              <a:rPr lang="en-US" altLang="ko-KR" dirty="0">
                <a:solidFill>
                  <a:srgbClr val="7030A0"/>
                </a:solidFill>
                <a:latin typeface="나눔고딕" pitchFamily="50" charset="-127"/>
                <a:ea typeface="나눔고딕" pitchFamily="50" charset="-127"/>
              </a:rPr>
            </a:br>
            <a:r>
              <a:rPr lang="en-US" altLang="ko-KR" dirty="0">
                <a:solidFill>
                  <a:srgbClr val="7030A0"/>
                </a:solidFill>
                <a:latin typeface="나눔고딕" pitchFamily="50" charset="-127"/>
                <a:ea typeface="나눔고딕" pitchFamily="50" charset="-127"/>
              </a:rPr>
              <a:t>(</a:t>
            </a:r>
            <a:r>
              <a:rPr lang="en-US" altLang="ko-KR" dirty="0" err="1">
                <a:solidFill>
                  <a:srgbClr val="7030A0"/>
                </a:solidFill>
                <a:latin typeface="나눔고딕" pitchFamily="50" charset="-127"/>
                <a:ea typeface="나눔고딕" pitchFamily="50" charset="-127"/>
              </a:rPr>
              <a:t>equi</a:t>
            </a:r>
            <a:r>
              <a:rPr lang="en-US" altLang="ko-KR" dirty="0">
                <a:solidFill>
                  <a:srgbClr val="7030A0"/>
                </a:solidFill>
                <a:latin typeface="나눔고딕" pitchFamily="50" charset="-127"/>
                <a:ea typeface="나눔고딕" pitchFamily="50" charset="-127"/>
              </a:rPr>
              <a:t>-marginal principle)</a:t>
            </a:r>
          </a:p>
        </p:txBody>
      </p:sp>
      <p:sp>
        <p:nvSpPr>
          <p:cNvPr id="1030" name="바닥글 개체 틀 4">
            <a:extLst>
              <a:ext uri="{FF2B5EF4-FFF2-40B4-BE49-F238E27FC236}">
                <a16:creationId xmlns:a16="http://schemas.microsoft.com/office/drawing/2014/main" id="{88E6B3BB-707E-4412-9B92-E2689BE015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5</a:t>
            </a:r>
          </a:p>
        </p:txBody>
      </p:sp>
      <p:sp>
        <p:nvSpPr>
          <p:cNvPr id="1031" name="슬라이드 번호 개체 틀 5">
            <a:extLst>
              <a:ext uri="{FF2B5EF4-FFF2-40B4-BE49-F238E27FC236}">
                <a16:creationId xmlns:a16="http://schemas.microsoft.com/office/drawing/2014/main" id="{46DF1EB5-71A8-451D-A240-4575E9A3A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353D2056-5213-42A7-8B15-EA452FDBC615}" type="slidenum">
              <a:rPr lang="ko-KR" altLang="en-US" sz="1200" b="0">
                <a:solidFill>
                  <a:schemeClr val="tx1"/>
                </a:solidFill>
              </a:rPr>
              <a:pPr/>
              <a:t>14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1032" name="Rectangle 2">
            <a:extLst>
              <a:ext uri="{FF2B5EF4-FFF2-40B4-BE49-F238E27FC236}">
                <a16:creationId xmlns:a16="http://schemas.microsoft.com/office/drawing/2014/main" id="{42FBC688-0251-4A00-A6AB-01CC4EEDB6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1033" name="Rectangle 4">
            <a:extLst>
              <a:ext uri="{FF2B5EF4-FFF2-40B4-BE49-F238E27FC236}">
                <a16:creationId xmlns:a16="http://schemas.microsoft.com/office/drawing/2014/main" id="{0785148A-EE17-480F-8F97-040BAC63F2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1034" name="Rectangle 6">
            <a:extLst>
              <a:ext uri="{FF2B5EF4-FFF2-40B4-BE49-F238E27FC236}">
                <a16:creationId xmlns:a16="http://schemas.microsoft.com/office/drawing/2014/main" id="{C501A880-B6DE-4ACC-89B1-7F618DDC15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052" name="Rectangle 1029">
                <a:extLst>
                  <a:ext uri="{FF2B5EF4-FFF2-40B4-BE49-F238E27FC236}">
                    <a16:creationId xmlns:a16="http://schemas.microsoft.com/office/drawing/2014/main" id="{867CC994-1EE8-4561-9824-51213965CEDA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998538" y="1897063"/>
                <a:ext cx="7642225" cy="4114800"/>
              </a:xfrm>
            </p:spPr>
            <p:txBody>
              <a:bodyPr/>
              <a:lstStyle/>
              <a:p>
                <a:pPr marL="0" indent="0" eaLnBrk="1" hangingPunct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sz="24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ko-KR" altLang="en-US" sz="24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ko-KR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ko-KR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ko-KR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ko-KR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r>
                            <a:rPr lang="ko-KR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sSub>
                            <m:sSubPr>
                              <m:ctrlPr>
                                <a:rPr lang="ko-KR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ko-KR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ko-KR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ko-KR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ko-KR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ko-KR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)+</m:t>
                          </m:r>
                          <m:r>
                            <a:rPr lang="ko-KR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ko-KR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ko-KR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ko-KR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nary>
                                <m:naryPr>
                                  <m:chr m:val="∑"/>
                                  <m:ctrlPr>
                                    <a:rPr lang="ko-KR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ko-KR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ko-KR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ko-KR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sup>
                                <m:e>
                                  <m:sSub>
                                    <m:sSubPr>
                                      <m:ctrlPr>
                                        <a:rPr lang="ko-KR" altLang="en-US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ko-KR" altLang="en-US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ko-KR" altLang="en-US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nary>
                            </m:e>
                          </m:d>
                        </m:e>
                      </m:nary>
                    </m:oMath>
                  </m:oMathPara>
                </a14:m>
                <a:endParaRPr lang="en-US" altLang="ko-KR" sz="2400" dirty="0">
                  <a:latin typeface="Times New Roman" panose="02020603050405020304" pitchFamily="18" charset="0"/>
                  <a:ea typeface="나눔명조" pitchFamily="18" charset="-127"/>
                  <a:cs typeface="Times New Roman" panose="02020603050405020304" pitchFamily="18" charset="0"/>
                </a:endParaRPr>
              </a:p>
              <a:p>
                <a:pPr lvl="1" eaLnBrk="1" hangingPunct="1"/>
                <a:r>
                  <a:rPr lang="el-GR" altLang="ko-KR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λ</a:t>
                </a:r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는 </a:t>
                </a:r>
                <a:r>
                  <a:rPr lang="ko-KR" altLang="en-US" sz="2000" dirty="0" err="1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라그랑지안</a:t>
                </a:r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 승수로서 </a:t>
                </a:r>
                <a:r>
                  <a:rPr lang="ko-KR" altLang="en-US" sz="2000" dirty="0" err="1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목표저감량</a:t>
                </a:r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 </a:t>
                </a:r>
                <a:r>
                  <a:rPr lang="en-US" altLang="ko-KR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A</a:t>
                </a:r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가 한 단위 늘어나면서 증가하는 전체 저감비용을 의미</a:t>
                </a:r>
                <a:r>
                  <a:rPr lang="en-US" altLang="ko-KR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 </a:t>
                </a:r>
                <a:endParaRPr lang="ko-KR" altLang="en-US" sz="2000" dirty="0">
                  <a:latin typeface="Times New Roman" panose="02020603050405020304" pitchFamily="18" charset="0"/>
                  <a:ea typeface="나눔명조" pitchFamily="18" charset="-127"/>
                  <a:cs typeface="Times New Roman" panose="02020603050405020304" pitchFamily="18" charset="0"/>
                </a:endParaRPr>
              </a:p>
              <a:p>
                <a:pPr eaLnBrk="1" hangingPunct="1"/>
                <a:r>
                  <a:rPr lang="en-US" altLang="ko-KR" sz="24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L</a:t>
                </a:r>
                <a:r>
                  <a:rPr lang="ko-KR" altLang="en-US" sz="24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을 각 </a:t>
                </a:r>
                <a:r>
                  <a:rPr lang="en-US" altLang="ko-KR" sz="24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a</a:t>
                </a:r>
                <a:r>
                  <a:rPr lang="en-US" altLang="ko-KR" sz="2400" baseline="-25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i</a:t>
                </a:r>
                <a:r>
                  <a:rPr lang="ko-KR" altLang="en-US" sz="24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에 대해 미분을 취한 값이 모두 </a:t>
                </a:r>
                <a:r>
                  <a:rPr lang="en-US" altLang="ko-KR" sz="24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0</a:t>
                </a:r>
                <a:r>
                  <a:rPr lang="ko-KR" altLang="en-US" sz="24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이 되도록 하는 </a:t>
                </a:r>
                <a:r>
                  <a:rPr lang="en-US" altLang="ko-KR" sz="24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a</a:t>
                </a:r>
                <a:r>
                  <a:rPr lang="en-US" altLang="ko-KR" sz="2400" baseline="-25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i</a:t>
                </a:r>
                <a:r>
                  <a:rPr lang="ko-KR" altLang="en-US" sz="24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들을 구할 때 비용이 최소가 됨</a:t>
                </a:r>
                <a:endParaRPr lang="en-US" altLang="ko-KR" sz="2400" dirty="0">
                  <a:latin typeface="Times New Roman" panose="02020603050405020304" pitchFamily="18" charset="0"/>
                  <a:ea typeface="나눔명조" pitchFamily="18" charset="-127"/>
                  <a:cs typeface="Times New Roman" panose="02020603050405020304" pitchFamily="18" charset="0"/>
                </a:endParaRPr>
              </a:p>
              <a:p>
                <a:pPr marL="0" indent="0" algn="ctr" eaLnBrk="1" hangingPunct="1">
                  <a:buNone/>
                </a:pPr>
                <a14:m>
                  <m:oMath xmlns:m="http://schemas.openxmlformats.org/officeDocument/2006/math">
                    <m:r>
                      <a:rPr lang="en-US" altLang="ko-KR" sz="2400" b="0" i="1" smtClean="0">
                        <a:latin typeface="Cambria Math" panose="02040503050406030204" pitchFamily="18" charset="0"/>
                        <a:ea typeface="나눔명조" pitchFamily="18" charset="-127"/>
                        <a:cs typeface="Times New Roman" panose="02020603050405020304" pitchFamily="18" charset="0"/>
                      </a:rPr>
                      <m:t>𝑀𝐴</m:t>
                    </m:r>
                    <m:sSub>
                      <m:sSub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2400" b="0" i="1" smtClean="0">
                                <a:latin typeface="Cambria Math" panose="02040503050406030204" pitchFamily="18" charset="0"/>
                                <a:ea typeface="나눔명조" pitchFamily="18" charset="-127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  <a:ea typeface="나눔명조" pitchFamily="18" charset="-127"/>
                                <a:cs typeface="Times New Roman" panose="020206030504050203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  <a:ea typeface="나눔명조" pitchFamily="18" charset="-127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ko-KR" sz="2400" b="0" i="1" smtClean="0">
                        <a:latin typeface="Cambria Math" panose="02040503050406030204" pitchFamily="18" charset="0"/>
                        <a:ea typeface="나눔명조" pitchFamily="18" charset="-127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ko-KR" sz="2400" b="0" i="1" smtClean="0">
                        <a:latin typeface="Cambria Math" panose="02040503050406030204" pitchFamily="18" charset="0"/>
                        <a:ea typeface="나눔명조" pitchFamily="18" charset="-127"/>
                        <a:cs typeface="Times New Roman" panose="02020603050405020304" pitchFamily="18" charset="0"/>
                      </a:rPr>
                      <m:t>𝑀𝐴</m:t>
                    </m:r>
                    <m:sSub>
                      <m:sSub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2400" b="0" i="1" smtClean="0">
                                <a:latin typeface="Cambria Math" panose="02040503050406030204" pitchFamily="18" charset="0"/>
                                <a:ea typeface="나눔명조" pitchFamily="18" charset="-127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  <a:ea typeface="나눔명조" pitchFamily="18" charset="-127"/>
                                <a:cs typeface="Times New Roman" panose="020206030504050203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  <a:ea typeface="나눔명조" pitchFamily="18" charset="-127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altLang="ko-KR" sz="2400" b="0" i="1" smtClean="0">
                        <a:latin typeface="Cambria Math" panose="02040503050406030204" pitchFamily="18" charset="0"/>
                        <a:ea typeface="나눔명조" pitchFamily="18" charset="-127"/>
                        <a:cs typeface="Times New Roman" panose="02020603050405020304" pitchFamily="18" charset="0"/>
                      </a:rPr>
                      <m:t>=</m:t>
                    </m:r>
                  </m:oMath>
                </a14:m>
                <a:r>
                  <a:rPr lang="en-US" altLang="ko-KR" sz="24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⋯=</a:t>
                </a:r>
                <a14:m>
                  <m:oMath xmlns:m="http://schemas.openxmlformats.org/officeDocument/2006/math">
                    <m:r>
                      <a:rPr lang="en-US" altLang="ko-KR" sz="2400" b="0" i="1" smtClean="0">
                        <a:latin typeface="Cambria Math" panose="02040503050406030204" pitchFamily="18" charset="0"/>
                        <a:ea typeface="나눔명조" pitchFamily="18" charset="-127"/>
                        <a:cs typeface="Times New Roman" panose="02020603050405020304" pitchFamily="18" charset="0"/>
                      </a:rPr>
                      <m:t>𝑀𝐴</m:t>
                    </m:r>
                    <m:sSub>
                      <m:sSub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𝑁</m:t>
                        </m:r>
                      </m:sub>
                    </m:sSub>
                    <m:r>
                      <a:rPr lang="en-US" altLang="ko-KR" sz="2400" b="0" i="1" smtClean="0">
                        <a:latin typeface="Cambria Math" panose="02040503050406030204" pitchFamily="18" charset="0"/>
                        <a:ea typeface="나눔명조" pitchFamily="18" charset="-127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𝑁</m:t>
                        </m:r>
                      </m:sub>
                    </m:sSub>
                    <m:r>
                      <a:rPr lang="en-US" altLang="ko-KR" sz="2400" b="0" i="1" smtClean="0">
                        <a:latin typeface="Cambria Math" panose="02040503050406030204" pitchFamily="18" charset="0"/>
                        <a:ea typeface="나눔명조" pitchFamily="18" charset="-127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altLang="ko-KR" sz="24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=</a:t>
                </a:r>
                <a:r>
                  <a:rPr lang="ko-KR" altLang="en-US" sz="24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𝜆</a:t>
                </a:r>
                <a:endParaRPr lang="en-US" altLang="ko-KR" sz="2400" dirty="0">
                  <a:latin typeface="Times New Roman" panose="02020603050405020304" pitchFamily="18" charset="0"/>
                  <a:ea typeface="나눔명조" pitchFamily="18" charset="-127"/>
                  <a:cs typeface="Times New Roman" panose="02020603050405020304" pitchFamily="18" charset="0"/>
                </a:endParaRPr>
              </a:p>
              <a:p>
                <a:pPr eaLnBrk="1" hangingPunct="1"/>
                <a:r>
                  <a:rPr lang="ko-KR" altLang="en-US" sz="24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즉</a:t>
                </a:r>
                <a:r>
                  <a:rPr lang="en-US" altLang="ko-KR" sz="24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, </a:t>
                </a:r>
                <a:r>
                  <a:rPr lang="ko-KR" altLang="en-US" sz="24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목표 </a:t>
                </a:r>
                <a:r>
                  <a:rPr lang="ko-KR" altLang="en-US" sz="2400" dirty="0" err="1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저감량을</a:t>
                </a:r>
                <a:r>
                  <a:rPr lang="ko-KR" altLang="en-US" sz="24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 각 오염원의 한계저감비용이 동일하도록 배분할 때 전체 저감비용이 최소가 됨</a:t>
                </a:r>
              </a:p>
              <a:p>
                <a:pPr eaLnBrk="1" hangingPunct="1"/>
                <a:endParaRPr lang="en-US" altLang="ko-KR" sz="2400" dirty="0">
                  <a:latin typeface="Times New Roman" panose="02020603050405020304" pitchFamily="18" charset="0"/>
                  <a:ea typeface="나눔명조" pitchFamily="18" charset="-127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052" name="Rectangle 1029">
                <a:extLst>
                  <a:ext uri="{FF2B5EF4-FFF2-40B4-BE49-F238E27FC236}">
                    <a16:creationId xmlns:a16="http://schemas.microsoft.com/office/drawing/2014/main" id="{867CC994-1EE8-4561-9824-51213965CED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98538" y="1897063"/>
                <a:ext cx="7642225" cy="4114800"/>
              </a:xfrm>
              <a:blipFill>
                <a:blip r:embed="rId2"/>
                <a:stretch>
                  <a:fillRect l="-111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53" name="Rectangle 1028">
            <a:extLst>
              <a:ext uri="{FF2B5EF4-FFF2-40B4-BE49-F238E27FC236}">
                <a16:creationId xmlns:a16="http://schemas.microsoft.com/office/drawing/2014/main" id="{FFE18195-EF95-4E75-94D1-2DDF730C12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55725" y="315913"/>
            <a:ext cx="7313613" cy="1143000"/>
          </a:xfrm>
          <a:ln>
            <a:solidFill>
              <a:srgbClr val="7030A0"/>
            </a:solidFill>
          </a:ln>
        </p:spPr>
        <p:txBody>
          <a:bodyPr/>
          <a:lstStyle/>
          <a:p>
            <a:pPr eaLnBrk="1" hangingPunct="1"/>
            <a:r>
              <a:rPr lang="ko-KR" altLang="en-US" dirty="0">
                <a:solidFill>
                  <a:srgbClr val="7030A0"/>
                </a:solidFill>
                <a:latin typeface="나눔고딕" pitchFamily="50" charset="-127"/>
                <a:ea typeface="나눔고딕" pitchFamily="50" charset="-127"/>
              </a:rPr>
              <a:t>등한계원칙</a:t>
            </a:r>
            <a:br>
              <a:rPr lang="en-US" altLang="ko-KR" dirty="0">
                <a:solidFill>
                  <a:srgbClr val="7030A0"/>
                </a:solidFill>
                <a:latin typeface="나눔고딕" pitchFamily="50" charset="-127"/>
                <a:ea typeface="나눔고딕" pitchFamily="50" charset="-127"/>
              </a:rPr>
            </a:br>
            <a:r>
              <a:rPr lang="en-US" altLang="ko-KR" dirty="0">
                <a:solidFill>
                  <a:srgbClr val="7030A0"/>
                </a:solidFill>
                <a:latin typeface="나눔고딕" pitchFamily="50" charset="-127"/>
                <a:ea typeface="나눔고딕" pitchFamily="50" charset="-127"/>
              </a:rPr>
              <a:t>(</a:t>
            </a:r>
            <a:r>
              <a:rPr lang="en-US" altLang="ko-KR" dirty="0" err="1">
                <a:solidFill>
                  <a:srgbClr val="7030A0"/>
                </a:solidFill>
                <a:latin typeface="나눔고딕" pitchFamily="50" charset="-127"/>
                <a:ea typeface="나눔고딕" pitchFamily="50" charset="-127"/>
              </a:rPr>
              <a:t>equi</a:t>
            </a:r>
            <a:r>
              <a:rPr lang="en-US" altLang="ko-KR" dirty="0">
                <a:solidFill>
                  <a:srgbClr val="7030A0"/>
                </a:solidFill>
                <a:latin typeface="나눔고딕" pitchFamily="50" charset="-127"/>
                <a:ea typeface="나눔고딕" pitchFamily="50" charset="-127"/>
              </a:rPr>
              <a:t>-marginal principle)</a:t>
            </a:r>
          </a:p>
        </p:txBody>
      </p:sp>
      <p:sp>
        <p:nvSpPr>
          <p:cNvPr id="2054" name="바닥글 개체 틀 4">
            <a:extLst>
              <a:ext uri="{FF2B5EF4-FFF2-40B4-BE49-F238E27FC236}">
                <a16:creationId xmlns:a16="http://schemas.microsoft.com/office/drawing/2014/main" id="{CA8EF673-9B94-401F-AC01-3A929BCCB7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192838"/>
            <a:ext cx="28956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 dirty="0" err="1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</a:t>
            </a:r>
            <a:r>
              <a:rPr lang="ko-KR" altLang="en-US" sz="12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 </a:t>
            </a:r>
            <a:r>
              <a:rPr lang="en-US" altLang="ko-KR" sz="12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5</a:t>
            </a:r>
          </a:p>
        </p:txBody>
      </p:sp>
      <p:sp>
        <p:nvSpPr>
          <p:cNvPr id="2055" name="슬라이드 번호 개체 틀 5">
            <a:extLst>
              <a:ext uri="{FF2B5EF4-FFF2-40B4-BE49-F238E27FC236}">
                <a16:creationId xmlns:a16="http://schemas.microsoft.com/office/drawing/2014/main" id="{CD3E86A2-3BD5-4103-9729-2353F96D9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192838"/>
            <a:ext cx="21336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DF64ECB5-D4A9-4ED5-840B-77C5DB2D861A}" type="slidenum">
              <a:rPr lang="ko-KR" altLang="en-US" sz="1200" b="0">
                <a:solidFill>
                  <a:schemeClr val="tx1"/>
                </a:solidFill>
              </a:rPr>
              <a:pPr/>
              <a:t>15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2056" name="Rectangle 2">
            <a:extLst>
              <a:ext uri="{FF2B5EF4-FFF2-40B4-BE49-F238E27FC236}">
                <a16:creationId xmlns:a16="http://schemas.microsoft.com/office/drawing/2014/main" id="{5D572FDC-907F-40D0-9247-5BFE30BBBE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2057" name="Rectangle 4">
            <a:extLst>
              <a:ext uri="{FF2B5EF4-FFF2-40B4-BE49-F238E27FC236}">
                <a16:creationId xmlns:a16="http://schemas.microsoft.com/office/drawing/2014/main" id="{E43E1DEE-A20D-499F-B971-913A1058E9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2058" name="Rectangle 6">
            <a:extLst>
              <a:ext uri="{FF2B5EF4-FFF2-40B4-BE49-F238E27FC236}">
                <a16:creationId xmlns:a16="http://schemas.microsoft.com/office/drawing/2014/main" id="{5AE073F2-A8C2-4A93-9448-40F3D8F986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4" name="그림 7" descr="Cap 2014-06-19 09-38-54-334.png">
            <a:extLst>
              <a:ext uri="{FF2B5EF4-FFF2-40B4-BE49-F238E27FC236}">
                <a16:creationId xmlns:a16="http://schemas.microsoft.com/office/drawing/2014/main" id="{1ED07137-E2C2-44EF-828E-960DDA0978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3088" y="3444875"/>
            <a:ext cx="5868987" cy="294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675" name="Rectangle 6">
            <a:extLst>
              <a:ext uri="{FF2B5EF4-FFF2-40B4-BE49-F238E27FC236}">
                <a16:creationId xmlns:a16="http://schemas.microsoft.com/office/drawing/2014/main" id="{62101478-57D2-4280-BEE2-9013B849A6A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70013" y="-141288"/>
            <a:ext cx="7313612" cy="1143001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환경의 최적 이용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28676" name="Rectangle 7">
            <a:extLst>
              <a:ext uri="{FF2B5EF4-FFF2-40B4-BE49-F238E27FC236}">
                <a16:creationId xmlns:a16="http://schemas.microsoft.com/office/drawing/2014/main" id="{25B791FB-24EC-4341-ADE9-A59469DEE2E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66800" y="1001713"/>
            <a:ext cx="7313613" cy="4114800"/>
          </a:xfrm>
        </p:spPr>
        <p:txBody>
          <a:bodyPr/>
          <a:lstStyle/>
          <a:p>
            <a:pPr eaLnBrk="1" hangingPunct="1"/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최적 배출량은 오염물질 배출의 한계오염피해와 한계저감비용이 동일하게 되는 배출량을 의미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(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그림의 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e</a:t>
            </a:r>
            <a:r>
              <a:rPr lang="en-US" altLang="ko-KR" sz="2000" baseline="30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*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)</a:t>
            </a:r>
          </a:p>
          <a:p>
            <a:pPr lvl="1" eaLnBrk="1" hangingPunct="1"/>
            <a:r>
              <a:rPr lang="ko-KR" altLang="en-US" sz="16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배출량이 </a:t>
            </a:r>
            <a:r>
              <a:rPr lang="en-US" altLang="ko-KR" sz="16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e</a:t>
            </a:r>
            <a:r>
              <a:rPr lang="en-US" altLang="ko-KR" sz="1600" baseline="30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*</a:t>
            </a:r>
            <a:r>
              <a:rPr lang="ko-KR" altLang="en-US" sz="16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보다 클 경우</a:t>
            </a:r>
            <a:r>
              <a:rPr lang="en-US" altLang="ko-KR" sz="16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, </a:t>
            </a:r>
            <a:r>
              <a:rPr lang="ko-KR" altLang="en-US" sz="16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한 단위의 </a:t>
            </a:r>
            <a:r>
              <a:rPr lang="ko-KR" altLang="en-US" sz="16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배출감소로</a:t>
            </a:r>
            <a:r>
              <a:rPr lang="ko-KR" altLang="en-US" sz="16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인한 </a:t>
            </a:r>
            <a:r>
              <a:rPr lang="ko-KR" altLang="en-US" sz="16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오염피해</a:t>
            </a:r>
            <a:r>
              <a:rPr lang="ko-KR" altLang="en-US" sz="16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감소분이 저감비용보다도 더 큼</a:t>
            </a:r>
            <a:r>
              <a:rPr lang="en-US" altLang="ko-KR" sz="16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(</a:t>
            </a:r>
            <a:r>
              <a:rPr lang="ko-KR" altLang="en-US" sz="16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배출량을 줄여야 </a:t>
            </a:r>
            <a:r>
              <a:rPr lang="ko-KR" altLang="en-US" sz="16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순편익</a:t>
            </a:r>
            <a:r>
              <a:rPr lang="ko-KR" altLang="en-US" sz="16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증가</a:t>
            </a:r>
            <a:r>
              <a:rPr lang="en-US" altLang="ko-KR" sz="16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)</a:t>
            </a:r>
          </a:p>
          <a:p>
            <a:pPr lvl="1" eaLnBrk="1" hangingPunct="1"/>
            <a:r>
              <a:rPr lang="ko-KR" altLang="en-US" sz="16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배출량이 </a:t>
            </a:r>
            <a:r>
              <a:rPr lang="en-US" altLang="ko-KR" sz="16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e</a:t>
            </a:r>
            <a:r>
              <a:rPr lang="en-US" altLang="ko-KR" sz="1600" baseline="30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*</a:t>
            </a:r>
            <a:r>
              <a:rPr lang="ko-KR" altLang="en-US" sz="16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보다 작을 경우</a:t>
            </a:r>
            <a:r>
              <a:rPr lang="en-US" altLang="ko-KR" sz="16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, </a:t>
            </a:r>
            <a:r>
              <a:rPr lang="ko-KR" altLang="en-US" sz="16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배출을 늘리면서 절약되는 </a:t>
            </a:r>
            <a:r>
              <a:rPr lang="ko-KR" altLang="en-US" sz="16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저감비용이</a:t>
            </a:r>
            <a:r>
              <a:rPr lang="ko-KR" altLang="en-US" sz="16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추가 피해액보다 더 큼</a:t>
            </a:r>
            <a:r>
              <a:rPr lang="en-US" altLang="ko-KR" sz="16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(</a:t>
            </a:r>
            <a:r>
              <a:rPr lang="ko-KR" altLang="en-US" sz="16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배출량을 늘려야 </a:t>
            </a:r>
            <a:r>
              <a:rPr lang="ko-KR" altLang="en-US" sz="16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순편익</a:t>
            </a:r>
            <a:r>
              <a:rPr lang="ko-KR" altLang="en-US" sz="16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증가</a:t>
            </a:r>
            <a:r>
              <a:rPr lang="en-US" altLang="ko-KR" sz="16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)</a:t>
            </a:r>
          </a:p>
          <a:p>
            <a:pPr eaLnBrk="1" hangingPunct="1"/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최적 </a:t>
            </a:r>
            <a:r>
              <a:rPr lang="ko-KR" altLang="en-US" sz="20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저감량은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오염물질 저감의 </a:t>
            </a:r>
            <a:r>
              <a:rPr lang="ko-KR" altLang="en-US" sz="20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한계편익과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한계저감비용이 일치하는 수준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(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그림의 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a</a:t>
            </a:r>
            <a:r>
              <a:rPr lang="en-US" altLang="ko-KR" sz="2000" baseline="30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*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)</a:t>
            </a:r>
          </a:p>
          <a:p>
            <a:pPr eaLnBrk="1" hangingPunct="1"/>
            <a:endParaRPr lang="en-US" altLang="ko-KR" sz="2000" dirty="0">
              <a:latin typeface="나눔명조" pitchFamily="18" charset="-127"/>
              <a:ea typeface="나눔명조" pitchFamily="18" charset="-127"/>
              <a:cs typeface="Times New Roman" panose="02020603050405020304" pitchFamily="18" charset="0"/>
            </a:endParaRPr>
          </a:p>
        </p:txBody>
      </p:sp>
      <p:sp>
        <p:nvSpPr>
          <p:cNvPr id="28677" name="바닥글 개체 틀 4">
            <a:extLst>
              <a:ext uri="{FF2B5EF4-FFF2-40B4-BE49-F238E27FC236}">
                <a16:creationId xmlns:a16="http://schemas.microsoft.com/office/drawing/2014/main" id="{0B025A53-6AC0-4CAD-B669-C287F8AF2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5</a:t>
            </a:r>
          </a:p>
        </p:txBody>
      </p:sp>
      <p:sp>
        <p:nvSpPr>
          <p:cNvPr id="28678" name="슬라이드 번호 개체 틀 5">
            <a:extLst>
              <a:ext uri="{FF2B5EF4-FFF2-40B4-BE49-F238E27FC236}">
                <a16:creationId xmlns:a16="http://schemas.microsoft.com/office/drawing/2014/main" id="{5DDFCF77-87D2-4903-B012-8676AC1BD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A4187222-D8C4-4E02-96B8-5A8906046DB9}" type="slidenum">
              <a:rPr lang="ko-KR" altLang="en-US" sz="1200" b="0">
                <a:solidFill>
                  <a:schemeClr val="tx1"/>
                </a:solidFill>
              </a:rPr>
              <a:pPr/>
              <a:t>16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28679" name="Rectangle 2">
            <a:extLst>
              <a:ext uri="{FF2B5EF4-FFF2-40B4-BE49-F238E27FC236}">
                <a16:creationId xmlns:a16="http://schemas.microsoft.com/office/drawing/2014/main" id="{9E7163F2-821A-4CA1-8611-3B5C8D9C79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28680" name="Rectangle 3">
            <a:extLst>
              <a:ext uri="{FF2B5EF4-FFF2-40B4-BE49-F238E27FC236}">
                <a16:creationId xmlns:a16="http://schemas.microsoft.com/office/drawing/2014/main" id="{9147638B-F18B-4BE1-98BB-6DB0336E17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8" name="그림 8" descr="Cap 2014-06-19 09-39-16-328.png">
            <a:extLst>
              <a:ext uri="{FF2B5EF4-FFF2-40B4-BE49-F238E27FC236}">
                <a16:creationId xmlns:a16="http://schemas.microsoft.com/office/drawing/2014/main" id="{7684F3A1-98D9-4F7E-A813-B51B3B5574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6375" y="3095625"/>
            <a:ext cx="6584950" cy="3413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699" name="Rectangle 6">
            <a:extLst>
              <a:ext uri="{FF2B5EF4-FFF2-40B4-BE49-F238E27FC236}">
                <a16:creationId xmlns:a16="http://schemas.microsoft.com/office/drawing/2014/main" id="{9372593C-DC4B-4839-ADAF-2A0D01E81FB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41438" y="0"/>
            <a:ext cx="7313612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환경의 최적 이용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700" name="Rectangle 7">
                <a:extLst>
                  <a:ext uri="{FF2B5EF4-FFF2-40B4-BE49-F238E27FC236}">
                    <a16:creationId xmlns:a16="http://schemas.microsoft.com/office/drawing/2014/main" id="{B49F571E-3C7A-4208-B118-D5C356A06149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1158875" y="1320800"/>
                <a:ext cx="7313613" cy="4114800"/>
              </a:xfrm>
            </p:spPr>
            <p:txBody>
              <a:bodyPr/>
              <a:lstStyle/>
              <a:p>
                <a:pPr eaLnBrk="1" hangingPunct="1"/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최적 배출량이나 최적 </a:t>
                </a:r>
                <a:r>
                  <a:rPr lang="ko-KR" altLang="en-US" sz="2000" dirty="0" err="1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저감량은</a:t>
                </a:r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 한계피해곡선</a:t>
                </a:r>
                <a:r>
                  <a:rPr lang="en-US" altLang="ko-KR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, </a:t>
                </a:r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한계저감비용곡선</a:t>
                </a:r>
                <a:r>
                  <a:rPr lang="en-US" altLang="ko-KR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, </a:t>
                </a:r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한계편익곡선 등이 변할 경우 달라짐</a:t>
                </a:r>
              </a:p>
              <a:p>
                <a:pPr lvl="1" eaLnBrk="1" hangingPunct="1"/>
                <a:r>
                  <a:rPr lang="en-US" altLang="ko-KR" sz="16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(a)</a:t>
                </a:r>
                <a:r>
                  <a:rPr lang="ko-KR" altLang="en-US" sz="16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피해를 입는 인구가 많은 지역과 인구가 적은 지역의 최적 오염물질 배출량 비교</a:t>
                </a:r>
                <a:r>
                  <a:rPr lang="en-US" altLang="ko-KR" sz="16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MD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en-US" sz="16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이 인구가 상대적으로 적은 지역의 한계피해곡선</a:t>
                </a:r>
                <a:r>
                  <a:rPr lang="en-US" altLang="ko-KR" sz="16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)</a:t>
                </a:r>
                <a:endParaRPr lang="ko-KR" altLang="en-US" sz="1600" dirty="0">
                  <a:latin typeface="Times New Roman" panose="02020603050405020304" pitchFamily="18" charset="0"/>
                  <a:ea typeface="나눔명조" pitchFamily="18" charset="-127"/>
                  <a:cs typeface="Times New Roman" panose="02020603050405020304" pitchFamily="18" charset="0"/>
                </a:endParaRPr>
              </a:p>
              <a:p>
                <a:pPr lvl="1" eaLnBrk="1" hangingPunct="1"/>
                <a:r>
                  <a:rPr lang="en-US" altLang="ko-KR" sz="16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(b)</a:t>
                </a:r>
                <a:r>
                  <a:rPr lang="ko-KR" altLang="en-US" sz="16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배출량 저감기술이 발전하여 배출량을 줄이기 위한 한계비용이 하향 이동하였을 경우 </a:t>
                </a:r>
                <a:endParaRPr lang="en-US" altLang="ko-KR" sz="1600" dirty="0">
                  <a:latin typeface="Times New Roman" panose="02020603050405020304" pitchFamily="18" charset="0"/>
                  <a:ea typeface="나눔명조" pitchFamily="18" charset="-127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9700" name="Rectangle 7">
                <a:extLst>
                  <a:ext uri="{FF2B5EF4-FFF2-40B4-BE49-F238E27FC236}">
                    <a16:creationId xmlns:a16="http://schemas.microsoft.com/office/drawing/2014/main" id="{B49F571E-3C7A-4208-B118-D5C356A0614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58875" y="1320800"/>
                <a:ext cx="7313613" cy="4114800"/>
              </a:xfrm>
              <a:blipFill>
                <a:blip r:embed="rId4"/>
                <a:stretch>
                  <a:fillRect l="-750" t="-103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701" name="바닥글 개체 틀 4">
            <a:extLst>
              <a:ext uri="{FF2B5EF4-FFF2-40B4-BE49-F238E27FC236}">
                <a16:creationId xmlns:a16="http://schemas.microsoft.com/office/drawing/2014/main" id="{BF52D6A8-8DA4-45D9-846F-66B7F4646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5</a:t>
            </a:r>
          </a:p>
        </p:txBody>
      </p:sp>
      <p:sp>
        <p:nvSpPr>
          <p:cNvPr id="29702" name="슬라이드 번호 개체 틀 5">
            <a:extLst>
              <a:ext uri="{FF2B5EF4-FFF2-40B4-BE49-F238E27FC236}">
                <a16:creationId xmlns:a16="http://schemas.microsoft.com/office/drawing/2014/main" id="{958A5CF4-A5CC-4243-9473-9414055E9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544BC38F-0343-4660-BBE1-FE2E874A0E2B}" type="slidenum">
              <a:rPr lang="ko-KR" altLang="en-US" sz="1200" b="0">
                <a:solidFill>
                  <a:schemeClr val="tx1"/>
                </a:solidFill>
              </a:rPr>
              <a:pPr/>
              <a:t>17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29703" name="Rectangle 2">
            <a:extLst>
              <a:ext uri="{FF2B5EF4-FFF2-40B4-BE49-F238E27FC236}">
                <a16:creationId xmlns:a16="http://schemas.microsoft.com/office/drawing/2014/main" id="{8E280820-A247-48B5-9489-94DCA7EDB0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29704" name="Rectangle 3">
            <a:extLst>
              <a:ext uri="{FF2B5EF4-FFF2-40B4-BE49-F238E27FC236}">
                <a16:creationId xmlns:a16="http://schemas.microsoft.com/office/drawing/2014/main" id="{863E1308-F326-4CE7-AF9F-707C3FC2C2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4">
            <a:extLst>
              <a:ext uri="{FF2B5EF4-FFF2-40B4-BE49-F238E27FC236}">
                <a16:creationId xmlns:a16="http://schemas.microsoft.com/office/drawing/2014/main" id="{EBC0B301-7FEF-4BEE-AEF1-40644BE3E50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0488" tIns="44450" rIns="90488" bIns="44450"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환경정책의 평가기준</a:t>
            </a:r>
          </a:p>
        </p:txBody>
      </p:sp>
      <p:sp>
        <p:nvSpPr>
          <p:cNvPr id="30723" name="Rectangle 5">
            <a:extLst>
              <a:ext uri="{FF2B5EF4-FFF2-40B4-BE49-F238E27FC236}">
                <a16:creationId xmlns:a16="http://schemas.microsoft.com/office/drawing/2014/main" id="{83B2BD6F-387D-48FA-8141-0FB925D2DDC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57263" y="1827213"/>
            <a:ext cx="7932737" cy="4114800"/>
          </a:xfrm>
        </p:spPr>
        <p:txBody>
          <a:bodyPr lIns="90488" tIns="44450" rIns="90488" bIns="44450"/>
          <a:lstStyle/>
          <a:p>
            <a:pPr eaLnBrk="1" hangingPunct="1"/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환경오염 방지를 위해 실제 사용되고 있는 정책들은 정보가 제한되거나 </a:t>
            </a:r>
            <a:r>
              <a:rPr lang="ko-KR" altLang="en-US" sz="2200" dirty="0" err="1">
                <a:latin typeface="나눔명조" pitchFamily="18" charset="-127"/>
                <a:ea typeface="나눔명조" pitchFamily="18" charset="-127"/>
              </a:rPr>
              <a:t>집행비용이</a:t>
            </a:r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 높은 문제 등으로 인해 사회적 관점에서의 최적 </a:t>
            </a:r>
            <a:r>
              <a:rPr lang="ko-KR" altLang="en-US" sz="2200" dirty="0" err="1">
                <a:latin typeface="나눔명조" pitchFamily="18" charset="-127"/>
                <a:ea typeface="나눔명조" pitchFamily="18" charset="-127"/>
              </a:rPr>
              <a:t>환경이용을</a:t>
            </a:r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 항상 달성하지는 못함</a:t>
            </a:r>
          </a:p>
          <a:p>
            <a:pPr eaLnBrk="1" hangingPunct="1"/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따라서 </a:t>
            </a:r>
            <a:r>
              <a:rPr lang="ko-KR" altLang="en-US" sz="2200" dirty="0" err="1">
                <a:latin typeface="나눔명조" pitchFamily="18" charset="-127"/>
                <a:ea typeface="나눔명조" pitchFamily="18" charset="-127"/>
              </a:rPr>
              <a:t>최적성</a:t>
            </a:r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 뿐만 아니라 여타 다양한 평가기준들도 사용할 필요성이 있음</a:t>
            </a: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효율성 기준</a:t>
            </a: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형평성</a:t>
            </a: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기술개발의 촉진</a:t>
            </a: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감시 및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감독비용</a:t>
            </a:r>
            <a:endParaRPr lang="ko-KR" altLang="en-US" sz="20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윤리적 기준</a:t>
            </a: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기타 평가기준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 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endParaRPr lang="ko-KR" altLang="en-US" dirty="0">
              <a:latin typeface="나눔명조" pitchFamily="18" charset="-127"/>
              <a:ea typeface="나눔명조" pitchFamily="18" charset="-127"/>
            </a:endParaRPr>
          </a:p>
          <a:p>
            <a:pPr lvl="2" eaLnBrk="1" hangingPunct="1"/>
            <a:endParaRPr lang="ko-KR" altLang="en-US" dirty="0">
              <a:latin typeface="나눔명조" pitchFamily="18" charset="-127"/>
              <a:ea typeface="나눔명조" pitchFamily="18" charset="-127"/>
            </a:endParaRPr>
          </a:p>
          <a:p>
            <a:pPr lvl="2" eaLnBrk="1" hangingPunct="1"/>
            <a:endParaRPr lang="en-US" altLang="ko-KR" dirty="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30724" name="바닥글 개체 틀 4">
            <a:extLst>
              <a:ext uri="{FF2B5EF4-FFF2-40B4-BE49-F238E27FC236}">
                <a16:creationId xmlns:a16="http://schemas.microsoft.com/office/drawing/2014/main" id="{D9E79F6F-E432-4DB8-B082-06692C1BFE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5</a:t>
            </a:r>
          </a:p>
        </p:txBody>
      </p:sp>
      <p:sp>
        <p:nvSpPr>
          <p:cNvPr id="30725" name="슬라이드 번호 개체 틀 5">
            <a:extLst>
              <a:ext uri="{FF2B5EF4-FFF2-40B4-BE49-F238E27FC236}">
                <a16:creationId xmlns:a16="http://schemas.microsoft.com/office/drawing/2014/main" id="{08B7AA91-855D-4EFF-96DC-0F064E728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EB6B3F36-A37B-44DC-A6A9-41C3E3442F17}" type="slidenum">
              <a:rPr lang="ko-KR" altLang="en-US" sz="1200" b="0">
                <a:solidFill>
                  <a:schemeClr val="tx1"/>
                </a:solidFill>
              </a:rPr>
              <a:pPr/>
              <a:t>18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30726" name="Rectangle 2">
            <a:extLst>
              <a:ext uri="{FF2B5EF4-FFF2-40B4-BE49-F238E27FC236}">
                <a16:creationId xmlns:a16="http://schemas.microsoft.com/office/drawing/2014/main" id="{CE5B8206-D37F-4078-A471-0B98F4008C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30727" name="Rectangle 3">
            <a:extLst>
              <a:ext uri="{FF2B5EF4-FFF2-40B4-BE49-F238E27FC236}">
                <a16:creationId xmlns:a16="http://schemas.microsoft.com/office/drawing/2014/main" id="{8342C9B9-43C0-4C23-AB34-81061F31F0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4">
            <a:extLst>
              <a:ext uri="{FF2B5EF4-FFF2-40B4-BE49-F238E27FC236}">
                <a16:creationId xmlns:a16="http://schemas.microsoft.com/office/drawing/2014/main" id="{D71995E5-D77F-4C22-8F01-BBD271EA9DD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70013" y="-22225"/>
            <a:ext cx="7313612" cy="1143000"/>
          </a:xfrm>
          <a:noFill/>
        </p:spPr>
        <p:txBody>
          <a:bodyPr lIns="90488" tIns="44450" rIns="90488" bIns="44450"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환경정책의 종류</a:t>
            </a:r>
          </a:p>
        </p:txBody>
      </p:sp>
      <p:sp>
        <p:nvSpPr>
          <p:cNvPr id="31747" name="Rectangle 5">
            <a:extLst>
              <a:ext uri="{FF2B5EF4-FFF2-40B4-BE49-F238E27FC236}">
                <a16:creationId xmlns:a16="http://schemas.microsoft.com/office/drawing/2014/main" id="{8D0F9EC4-D4F0-432C-BE89-A9E6381E74D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12813" y="1276350"/>
            <a:ext cx="7932737" cy="4114800"/>
          </a:xfrm>
        </p:spPr>
        <p:txBody>
          <a:bodyPr lIns="90488" tIns="44450" rIns="90488" bIns="44450"/>
          <a:lstStyle/>
          <a:p>
            <a:pPr eaLnBrk="1" hangingPunct="1"/>
            <a:r>
              <a:rPr lang="ko-KR" altLang="en-US" sz="2000">
                <a:latin typeface="나눔명조" pitchFamily="18" charset="-127"/>
                <a:ea typeface="나눔명조" pitchFamily="18" charset="-127"/>
              </a:rPr>
              <a:t>사적 교섭을 제외한 오염규제수단은 사법적 수단과 제도적</a:t>
            </a:r>
            <a:r>
              <a:rPr lang="en-US" altLang="ko-KR" sz="2000"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2000">
                <a:latin typeface="나눔명조" pitchFamily="18" charset="-127"/>
                <a:ea typeface="나눔명조" pitchFamily="18" charset="-127"/>
              </a:rPr>
              <a:t>행정적 규제로 나눌 수 있음</a:t>
            </a:r>
          </a:p>
          <a:p>
            <a:pPr lvl="1" eaLnBrk="1" hangingPunct="1"/>
            <a:r>
              <a:rPr lang="ko-KR" altLang="en-US" sz="1800">
                <a:latin typeface="나눔명조" pitchFamily="18" charset="-127"/>
                <a:ea typeface="나눔명조" pitchFamily="18" charset="-127"/>
              </a:rPr>
              <a:t>제도적</a:t>
            </a:r>
            <a:r>
              <a:rPr lang="en-US" altLang="ko-KR" sz="1800"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800">
                <a:latin typeface="나눔명조" pitchFamily="18" charset="-127"/>
                <a:ea typeface="나눔명조" pitchFamily="18" charset="-127"/>
              </a:rPr>
              <a:t>행정적 규제는 경제적 유인을 통해 오염을 규제하느냐 아니면 직접적인 환경기준을 오염원이 의무적으로 따르게 하느냐에 따라 구분</a:t>
            </a:r>
          </a:p>
          <a:p>
            <a:pPr lvl="1" eaLnBrk="1" hangingPunct="1"/>
            <a:r>
              <a:rPr lang="ko-KR" altLang="en-US" sz="1800">
                <a:latin typeface="나눔명조" pitchFamily="18" charset="-127"/>
                <a:ea typeface="나눔명조" pitchFamily="18" charset="-127"/>
              </a:rPr>
              <a:t>경제적 유인을 이용한 규제정책은 다시 가격변화를 통해 오염규제를 달성하고자 하는 부과금제도나 보조금제도와</a:t>
            </a:r>
            <a:r>
              <a:rPr lang="en-US" altLang="ko-KR" sz="180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1800">
                <a:latin typeface="나눔명조" pitchFamily="18" charset="-127"/>
                <a:ea typeface="나눔명조" pitchFamily="18" charset="-127"/>
              </a:rPr>
              <a:t>배출량을 수량적으로 제한하려는 배출권거래제로 분류</a:t>
            </a:r>
          </a:p>
          <a:p>
            <a:pPr eaLnBrk="1" hangingPunct="1"/>
            <a:endParaRPr lang="en-US" altLang="ko-KR" sz="1800">
              <a:latin typeface="나눔명조" pitchFamily="18" charset="-127"/>
              <a:ea typeface="나눔명조" pitchFamily="18" charset="-127"/>
            </a:endParaRPr>
          </a:p>
          <a:p>
            <a:pPr lvl="1" eaLnBrk="1" hangingPunct="1">
              <a:buFont typeface="Wingdings" panose="05000000000000000000" pitchFamily="2" charset="2"/>
              <a:buNone/>
            </a:pPr>
            <a:endParaRPr lang="ko-KR" altLang="en-US">
              <a:latin typeface="나눔명조" pitchFamily="18" charset="-127"/>
              <a:ea typeface="나눔명조" pitchFamily="18" charset="-127"/>
            </a:endParaRPr>
          </a:p>
          <a:p>
            <a:pPr lvl="2" eaLnBrk="1" hangingPunct="1"/>
            <a:endParaRPr lang="ko-KR" altLang="en-US">
              <a:latin typeface="나눔명조" pitchFamily="18" charset="-127"/>
              <a:ea typeface="나눔명조" pitchFamily="18" charset="-127"/>
            </a:endParaRPr>
          </a:p>
          <a:p>
            <a:pPr lvl="2" eaLnBrk="1" hangingPunct="1"/>
            <a:endParaRPr lang="en-US" altLang="ko-KR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31748" name="바닥글 개체 틀 4">
            <a:extLst>
              <a:ext uri="{FF2B5EF4-FFF2-40B4-BE49-F238E27FC236}">
                <a16:creationId xmlns:a16="http://schemas.microsoft.com/office/drawing/2014/main" id="{E789C4A4-03FD-41D0-ABC6-A8AF9045FA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5</a:t>
            </a:r>
          </a:p>
        </p:txBody>
      </p:sp>
      <p:sp>
        <p:nvSpPr>
          <p:cNvPr id="31749" name="슬라이드 번호 개체 틀 5">
            <a:extLst>
              <a:ext uri="{FF2B5EF4-FFF2-40B4-BE49-F238E27FC236}">
                <a16:creationId xmlns:a16="http://schemas.microsoft.com/office/drawing/2014/main" id="{13BFA8FE-36B3-4B66-9D58-739D812F5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48D5BDCD-D611-404E-A18B-EAE585D8DE57}" type="slidenum">
              <a:rPr lang="ko-KR" altLang="en-US" sz="1200" b="0">
                <a:solidFill>
                  <a:schemeClr val="tx1"/>
                </a:solidFill>
              </a:rPr>
              <a:pPr/>
              <a:t>19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31750" name="Rectangle 2">
            <a:extLst>
              <a:ext uri="{FF2B5EF4-FFF2-40B4-BE49-F238E27FC236}">
                <a16:creationId xmlns:a16="http://schemas.microsoft.com/office/drawing/2014/main" id="{E9F110CD-9227-4778-9530-6777CDA728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31751" name="Rectangle 3">
            <a:extLst>
              <a:ext uri="{FF2B5EF4-FFF2-40B4-BE49-F238E27FC236}">
                <a16:creationId xmlns:a16="http://schemas.microsoft.com/office/drawing/2014/main" id="{8943884E-05A2-4A6B-A894-CFE85FE40D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pic>
        <p:nvPicPr>
          <p:cNvPr id="31752" name="그림 7" descr="Cap 2014-06-19 09-39-25-884.png">
            <a:extLst>
              <a:ext uri="{FF2B5EF4-FFF2-40B4-BE49-F238E27FC236}">
                <a16:creationId xmlns:a16="http://schemas.microsoft.com/office/drawing/2014/main" id="{0EC867FB-E3FF-4863-839E-FC8CA48DF4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225" y="3946525"/>
            <a:ext cx="7899400" cy="2212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wipe dir="r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6">
            <a:extLst>
              <a:ext uri="{FF2B5EF4-FFF2-40B4-BE49-F238E27FC236}">
                <a16:creationId xmlns:a16="http://schemas.microsoft.com/office/drawing/2014/main" id="{F7951520-0E5D-4C39-B43F-73870466E4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b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</a:br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효율성 기준</a:t>
            </a:r>
          </a:p>
        </p:txBody>
      </p:sp>
      <p:sp>
        <p:nvSpPr>
          <p:cNvPr id="32771" name="Rectangle 7">
            <a:extLst>
              <a:ext uri="{FF2B5EF4-FFF2-40B4-BE49-F238E27FC236}">
                <a16:creationId xmlns:a16="http://schemas.microsoft.com/office/drawing/2014/main" id="{BD5E2203-D94B-4278-9FB5-01222EC6AC9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103313" y="1728788"/>
            <a:ext cx="7313612" cy="4114800"/>
          </a:xfrm>
        </p:spPr>
        <p:txBody>
          <a:bodyPr/>
          <a:lstStyle/>
          <a:p>
            <a:pPr eaLnBrk="1" hangingPunct="1"/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환경정책이 효율적이어야 한다는 것은 사회적 관점에서 최적인 배출량이나 </a:t>
            </a:r>
            <a:r>
              <a:rPr lang="ko-KR" altLang="en-US" sz="2200" dirty="0" err="1">
                <a:latin typeface="나눔명조" pitchFamily="18" charset="-127"/>
                <a:ea typeface="나눔명조" pitchFamily="18" charset="-127"/>
              </a:rPr>
              <a:t>저감량이</a:t>
            </a:r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 달성되어야 함을 의미</a:t>
            </a:r>
          </a:p>
          <a:p>
            <a:pPr lvl="1" eaLnBrk="1" hangingPunct="1"/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그러나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 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사회적 피해함수의 경우 이를 분석하기가 매우 힘들어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정책당국이 최적 배출량을 항상 정책적으로 유도할 수는 없음</a:t>
            </a:r>
          </a:p>
          <a:p>
            <a:pPr eaLnBrk="1" hangingPunct="1"/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정책당국이 피해함수에 대한 정보를 가지고 있지 않을 때 차선의 효율성 기준으로 사용하는 것이 </a:t>
            </a:r>
            <a:r>
              <a:rPr lang="ko-KR" altLang="en-US" sz="2200" b="1" dirty="0">
                <a:solidFill>
                  <a:srgbClr val="0000FF"/>
                </a:solidFill>
                <a:latin typeface="나눔명조" pitchFamily="18" charset="-127"/>
                <a:ea typeface="나눔명조" pitchFamily="18" charset="-127"/>
              </a:rPr>
              <a:t>비용효과성</a:t>
            </a:r>
            <a:r>
              <a:rPr lang="en-US" altLang="ko-KR" sz="2200" b="1" dirty="0">
                <a:solidFill>
                  <a:srgbClr val="0000FF"/>
                </a:solidFill>
                <a:latin typeface="나눔명조" pitchFamily="18" charset="-127"/>
                <a:ea typeface="나눔명조" pitchFamily="18" charset="-127"/>
              </a:rPr>
              <a:t>(cost-effectiveness)</a:t>
            </a:r>
            <a:endParaRPr lang="ko-KR" altLang="en-US" sz="22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1800" dirty="0" err="1">
                <a:latin typeface="나눔명조" pitchFamily="18" charset="-127"/>
                <a:ea typeface="나눔명조" pitchFamily="18" charset="-127"/>
              </a:rPr>
              <a:t>비용효과적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 정책 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= 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목표 </a:t>
            </a:r>
            <a:r>
              <a:rPr lang="ko-KR" altLang="en-US" sz="1800" dirty="0" err="1">
                <a:latin typeface="나눔명조" pitchFamily="18" charset="-127"/>
                <a:ea typeface="나눔명조" pitchFamily="18" charset="-127"/>
              </a:rPr>
              <a:t>저감량을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 가장 적은 비용으로 저감하거나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주어진 비용으로 가장 많은 오염물질을 저감할 수 있는 정책</a:t>
            </a:r>
          </a:p>
          <a:p>
            <a:pPr eaLnBrk="1" hangingPunct="1"/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오염의 피해와 저감비용을 모두 파악하는 것이 힘들기 때문에 비용효과성은 보다 현실적인 기준이 될 수 있음</a:t>
            </a:r>
            <a:endParaRPr lang="en-US" altLang="ko-KR" sz="2200" dirty="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32772" name="바닥글 개체 틀 4">
            <a:extLst>
              <a:ext uri="{FF2B5EF4-FFF2-40B4-BE49-F238E27FC236}">
                <a16:creationId xmlns:a16="http://schemas.microsoft.com/office/drawing/2014/main" id="{BC0F5F33-B4A8-4FE7-945E-CC37072C9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5</a:t>
            </a:r>
          </a:p>
        </p:txBody>
      </p:sp>
      <p:sp>
        <p:nvSpPr>
          <p:cNvPr id="32773" name="슬라이드 번호 개체 틀 5">
            <a:extLst>
              <a:ext uri="{FF2B5EF4-FFF2-40B4-BE49-F238E27FC236}">
                <a16:creationId xmlns:a16="http://schemas.microsoft.com/office/drawing/2014/main" id="{E18F9E2A-E32A-4CE5-AF57-C1F08E2105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6BB1820E-F26B-46A6-8990-9DC037DD79AC}" type="slidenum">
              <a:rPr lang="ko-KR" altLang="en-US" sz="1200" b="0">
                <a:solidFill>
                  <a:schemeClr val="tx1"/>
                </a:solidFill>
              </a:rPr>
              <a:pPr/>
              <a:t>20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32774" name="Rectangle 2">
            <a:extLst>
              <a:ext uri="{FF2B5EF4-FFF2-40B4-BE49-F238E27FC236}">
                <a16:creationId xmlns:a16="http://schemas.microsoft.com/office/drawing/2014/main" id="{A21FD300-CCE7-4EF9-8151-F6E0BF68DA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32775" name="Rectangle 3">
            <a:extLst>
              <a:ext uri="{FF2B5EF4-FFF2-40B4-BE49-F238E27FC236}">
                <a16:creationId xmlns:a16="http://schemas.microsoft.com/office/drawing/2014/main" id="{F02993C3-289F-4029-B808-CF23043B3D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4">
            <a:extLst>
              <a:ext uri="{FF2B5EF4-FFF2-40B4-BE49-F238E27FC236}">
                <a16:creationId xmlns:a16="http://schemas.microsoft.com/office/drawing/2014/main" id="{11632C73-FEBA-4FD2-AB8D-91EBF38B394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형평성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33795" name="Rectangle 5">
            <a:extLst>
              <a:ext uri="{FF2B5EF4-FFF2-40B4-BE49-F238E27FC236}">
                <a16:creationId xmlns:a16="http://schemas.microsoft.com/office/drawing/2014/main" id="{A8255093-419E-4F6A-BEA8-111F79D81D0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158875" y="1757363"/>
            <a:ext cx="7313613" cy="4114800"/>
          </a:xfrm>
        </p:spPr>
        <p:txBody>
          <a:bodyPr/>
          <a:lstStyle/>
          <a:p>
            <a:pPr eaLnBrk="1" hangingPunct="1"/>
            <a:r>
              <a:rPr lang="ko-KR" altLang="en-US" sz="2400" b="1" dirty="0">
                <a:solidFill>
                  <a:srgbClr val="0000FF"/>
                </a:solidFill>
                <a:latin typeface="나눔명조" pitchFamily="18" charset="-127"/>
                <a:ea typeface="나눔명조" pitchFamily="18" charset="-127"/>
              </a:rPr>
              <a:t>형평성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이란 일종의 도덕적 판단에 따른 것으로 환경정책의 편익이 얼마나 공평하게 사회 구성원들 사이에 </a:t>
            </a:r>
            <a:r>
              <a:rPr lang="ko-KR" altLang="en-US" sz="2400" dirty="0" err="1">
                <a:latin typeface="나눔명조" pitchFamily="18" charset="-127"/>
                <a:ea typeface="나눔명조" pitchFamily="18" charset="-127"/>
              </a:rPr>
              <a:t>배분되느냐를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 의미</a:t>
            </a:r>
          </a:p>
          <a:p>
            <a:pPr lvl="1" eaLnBrk="1" hangingPunct="1"/>
            <a:r>
              <a:rPr lang="ko-KR" altLang="en-US" sz="2100" dirty="0">
                <a:latin typeface="나눔명조" pitchFamily="18" charset="-127"/>
                <a:ea typeface="나눔명조" pitchFamily="18" charset="-127"/>
              </a:rPr>
              <a:t>상당수의 환경정책이 부유한 계층에게 더 많은 이득이 돌아가도록 유도하는 속성을 가지기 때문에 비판 받고 있음</a:t>
            </a:r>
            <a:endParaRPr lang="en-US" altLang="ko-KR" sz="2100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만약 한 정책이 효율성 측면에서는 다른 정책보다도 우월하나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형평성 측면에서는 더 못하다면 두 정책 간의 선택이 매우 어려움</a:t>
            </a:r>
          </a:p>
          <a:p>
            <a:pPr lvl="1" eaLnBrk="1" hangingPunct="1"/>
            <a:r>
              <a:rPr lang="ko-KR" altLang="en-US" sz="2100" dirty="0">
                <a:latin typeface="나눔명조" pitchFamily="18" charset="-127"/>
                <a:ea typeface="나눔명조" pitchFamily="18" charset="-127"/>
              </a:rPr>
              <a:t>이 경우에는 사회전체의 윤리적 기준에 가까운 정책을 선택할 수밖에 없음</a:t>
            </a:r>
            <a:endParaRPr lang="en-US" altLang="ko-KR" sz="2100" dirty="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33796" name="바닥글 개체 틀 4">
            <a:extLst>
              <a:ext uri="{FF2B5EF4-FFF2-40B4-BE49-F238E27FC236}">
                <a16:creationId xmlns:a16="http://schemas.microsoft.com/office/drawing/2014/main" id="{F97760CD-D3D5-4FF7-A74D-F113B5B55E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5</a:t>
            </a:r>
          </a:p>
        </p:txBody>
      </p:sp>
      <p:sp>
        <p:nvSpPr>
          <p:cNvPr id="33797" name="슬라이드 번호 개체 틀 5">
            <a:extLst>
              <a:ext uri="{FF2B5EF4-FFF2-40B4-BE49-F238E27FC236}">
                <a16:creationId xmlns:a16="http://schemas.microsoft.com/office/drawing/2014/main" id="{06E561FF-A7B7-4CBF-81CF-C6A841639A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13F101D2-0BE9-45DE-8D60-1E785D4D7179}" type="slidenum">
              <a:rPr lang="ko-KR" altLang="en-US" sz="1200" b="0">
                <a:solidFill>
                  <a:schemeClr val="tx1"/>
                </a:solidFill>
              </a:rPr>
              <a:pPr/>
              <a:t>21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4">
            <a:extLst>
              <a:ext uri="{FF2B5EF4-FFF2-40B4-BE49-F238E27FC236}">
                <a16:creationId xmlns:a16="http://schemas.microsoft.com/office/drawing/2014/main" id="{9EACFC18-48AA-4083-B82D-774597EB1F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기술개발의 촉진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34819" name="Rectangle 5">
            <a:extLst>
              <a:ext uri="{FF2B5EF4-FFF2-40B4-BE49-F238E27FC236}">
                <a16:creationId xmlns:a16="http://schemas.microsoft.com/office/drawing/2014/main" id="{3B4F8FF0-398A-45A0-89C8-335BC82E2A5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158875" y="1757363"/>
            <a:ext cx="7313613" cy="4114800"/>
          </a:xfrm>
        </p:spPr>
        <p:txBody>
          <a:bodyPr/>
          <a:lstStyle/>
          <a:p>
            <a:pPr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오염물질 저감기술 개발을 촉진하는 정책이 그렇지 못한 정책에 비해 우월함</a:t>
            </a: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기술개발로 한계저감비용이 하락하면 정책당국은 더 높은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환경질을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목표로 정책을 입안할 수 있고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전반적인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환경질이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향상됨</a:t>
            </a:r>
          </a:p>
          <a:p>
            <a:pPr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환경정책은 기술개발에 대한 투자를 많이 하고자 하는 동기를 민간에게 부여할 수 있어야 함</a:t>
            </a: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정책이 자주 바뀔 경우 불확실성으로 인해 민간기업이 투자를 꺼리게 되므로 안정적인 정책 집행이 필요</a:t>
            </a: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오염저감기술을 개발하여 판매하는 환경기술산업이 육성될 수 있는 인센티브를 제공할 수 있어야 함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34820" name="바닥글 개체 틀 4">
            <a:extLst>
              <a:ext uri="{FF2B5EF4-FFF2-40B4-BE49-F238E27FC236}">
                <a16:creationId xmlns:a16="http://schemas.microsoft.com/office/drawing/2014/main" id="{8707E9F5-F21B-457E-8887-39D35007B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5</a:t>
            </a:r>
          </a:p>
        </p:txBody>
      </p:sp>
      <p:sp>
        <p:nvSpPr>
          <p:cNvPr id="34821" name="슬라이드 번호 개체 틀 5">
            <a:extLst>
              <a:ext uri="{FF2B5EF4-FFF2-40B4-BE49-F238E27FC236}">
                <a16:creationId xmlns:a16="http://schemas.microsoft.com/office/drawing/2014/main" id="{7BCD831C-8DC8-4103-85EC-EE24CC42A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B3262584-34FF-4CA3-9579-D84317171730}" type="slidenum">
              <a:rPr lang="ko-KR" altLang="en-US" sz="1200" b="0">
                <a:solidFill>
                  <a:schemeClr val="tx1"/>
                </a:solidFill>
              </a:rPr>
              <a:pPr/>
              <a:t>22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4">
            <a:extLst>
              <a:ext uri="{FF2B5EF4-FFF2-40B4-BE49-F238E27FC236}">
                <a16:creationId xmlns:a16="http://schemas.microsoft.com/office/drawing/2014/main" id="{0D21702F-530B-4220-9108-ACF6E66F9D9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감시 및 감독비용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35843" name="Rectangle 5">
            <a:extLst>
              <a:ext uri="{FF2B5EF4-FFF2-40B4-BE49-F238E27FC236}">
                <a16:creationId xmlns:a16="http://schemas.microsoft.com/office/drawing/2014/main" id="{F424A44F-2AF8-42FF-92A4-D631CF1BFF0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158875" y="1757363"/>
            <a:ext cx="7313613" cy="4114800"/>
          </a:xfrm>
        </p:spPr>
        <p:txBody>
          <a:bodyPr/>
          <a:lstStyle/>
          <a:p>
            <a:pPr eaLnBrk="1" hangingPunct="1"/>
            <a:r>
              <a:rPr lang="ko-KR" altLang="en-US" dirty="0">
                <a:latin typeface="나눔명조" pitchFamily="18" charset="-127"/>
                <a:ea typeface="나눔명조" pitchFamily="18" charset="-127"/>
              </a:rPr>
              <a:t>각 오염원은 정부가 정한 규정을 위반하고자 하는 동기를 항상 가지고 있으므로 정부는 오염원들이 규정을 준수하도록 유도하기 위해 노력해야 함</a:t>
            </a:r>
          </a:p>
          <a:p>
            <a:pPr eaLnBrk="1" hangingPunct="1"/>
            <a:r>
              <a:rPr lang="ko-KR" altLang="en-US" dirty="0">
                <a:latin typeface="나눔명조" pitchFamily="18" charset="-127"/>
                <a:ea typeface="나눔명조" pitchFamily="18" charset="-127"/>
              </a:rPr>
              <a:t>어떤 정책을 사용하느냐에 따라 정책집행을 위해 소요되는 비용이 달라짐</a:t>
            </a:r>
          </a:p>
          <a:p>
            <a:pPr eaLnBrk="1" hangingPunct="1"/>
            <a:r>
              <a:rPr lang="ko-KR" altLang="en-US" dirty="0">
                <a:latin typeface="나눔명조" pitchFamily="18" charset="-127"/>
                <a:ea typeface="나눔명조" pitchFamily="18" charset="-127"/>
              </a:rPr>
              <a:t>오염자가 정책을 따르도록 유도하는 것이 얼마나 쉬운지를 정책 평가 시 반드시 고려하여야 함</a:t>
            </a:r>
            <a:endParaRPr lang="en-US" altLang="ko-KR" dirty="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35844" name="바닥글 개체 틀 4">
            <a:extLst>
              <a:ext uri="{FF2B5EF4-FFF2-40B4-BE49-F238E27FC236}">
                <a16:creationId xmlns:a16="http://schemas.microsoft.com/office/drawing/2014/main" id="{96FF7531-03CE-4B5F-9C41-A0549F922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5</a:t>
            </a:r>
          </a:p>
        </p:txBody>
      </p:sp>
      <p:sp>
        <p:nvSpPr>
          <p:cNvPr id="35845" name="슬라이드 번호 개체 틀 5">
            <a:extLst>
              <a:ext uri="{FF2B5EF4-FFF2-40B4-BE49-F238E27FC236}">
                <a16:creationId xmlns:a16="http://schemas.microsoft.com/office/drawing/2014/main" id="{B700E151-950B-4C84-AFA0-E9D74DF69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A8EA88ED-281D-41FE-BDCF-B181D60EBE68}" type="slidenum">
              <a:rPr lang="ko-KR" altLang="en-US" sz="1200" b="0">
                <a:solidFill>
                  <a:schemeClr val="tx1"/>
                </a:solidFill>
              </a:rPr>
              <a:pPr/>
              <a:t>23</a:t>
            </a:fld>
            <a:endParaRPr lang="en-US" altLang="ko-KR" sz="1200" b="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4">
            <a:extLst>
              <a:ext uri="{FF2B5EF4-FFF2-40B4-BE49-F238E27FC236}">
                <a16:creationId xmlns:a16="http://schemas.microsoft.com/office/drawing/2014/main" id="{B78E4B15-6CC3-45F0-8AC9-B3F93BA4C3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454150" y="293076"/>
            <a:ext cx="7313613" cy="849923"/>
          </a:xfrm>
          <a:ln>
            <a:solidFill>
              <a:srgbClr val="7030A0"/>
            </a:solidFill>
          </a:ln>
        </p:spPr>
        <p:txBody>
          <a:bodyPr/>
          <a:lstStyle/>
          <a:p>
            <a:pPr eaLnBrk="1" hangingPunct="1"/>
            <a:r>
              <a:rPr lang="ko-KR" altLang="en-US" dirty="0">
                <a:solidFill>
                  <a:srgbClr val="7030A0"/>
                </a:solidFill>
                <a:latin typeface="나눔명조" pitchFamily="18" charset="-127"/>
                <a:ea typeface="나눔명조" pitchFamily="18" charset="-127"/>
              </a:rPr>
              <a:t>규제준수의 감시</a:t>
            </a:r>
            <a:endParaRPr lang="en-US" altLang="ko-KR" dirty="0">
              <a:solidFill>
                <a:srgbClr val="7030A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36867" name="Rectangle 5">
            <a:extLst>
              <a:ext uri="{FF2B5EF4-FFF2-40B4-BE49-F238E27FC236}">
                <a16:creationId xmlns:a16="http://schemas.microsoft.com/office/drawing/2014/main" id="{1AF823DE-FB72-4656-8276-2A31A026CFA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60450" y="1363663"/>
            <a:ext cx="7323138" cy="4114800"/>
          </a:xfrm>
        </p:spPr>
        <p:txBody>
          <a:bodyPr/>
          <a:lstStyle/>
          <a:p>
            <a:pPr eaLnBrk="1" hangingPunct="1"/>
            <a:r>
              <a:rPr lang="ko-KR" altLang="en-US" sz="2300" dirty="0">
                <a:latin typeface="나눔명조" pitchFamily="18" charset="-127"/>
                <a:ea typeface="나눔명조" pitchFamily="18" charset="-127"/>
              </a:rPr>
              <a:t>오염자는 규정을 위반하여 얻는 이득과 적발되었을 때 지불해야 할 벌금 등을 고려하여 자신의 </a:t>
            </a:r>
            <a:r>
              <a:rPr lang="ko-KR" altLang="en-US" sz="2300" dirty="0" err="1">
                <a:latin typeface="나눔명조" pitchFamily="18" charset="-127"/>
                <a:ea typeface="나눔명조" pitchFamily="18" charset="-127"/>
              </a:rPr>
              <a:t>기대이윤을</a:t>
            </a:r>
            <a:r>
              <a:rPr lang="ko-KR" altLang="en-US" sz="2300" dirty="0">
                <a:latin typeface="나눔명조" pitchFamily="18" charset="-127"/>
                <a:ea typeface="나눔명조" pitchFamily="18" charset="-127"/>
              </a:rPr>
              <a:t> 극대화하도록 배출량을 결정함</a:t>
            </a:r>
          </a:p>
          <a:p>
            <a:pPr eaLnBrk="1" hangingPunct="1"/>
            <a:r>
              <a:rPr lang="ko-KR" altLang="en-US" sz="2300" dirty="0">
                <a:latin typeface="나눔명조" pitchFamily="18" charset="-127"/>
                <a:ea typeface="나눔명조" pitchFamily="18" charset="-127"/>
              </a:rPr>
              <a:t>정부규제 준수 비율을 높이는 방안에 관한 연구</a:t>
            </a:r>
            <a:endParaRPr lang="en-US" altLang="ko-KR" sz="23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오염원을 몇 개의 집단으로 차등</a:t>
            </a:r>
            <a:r>
              <a:rPr lang="en-US" altLang="ko-KR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관리하는 것이 더 효율적</a:t>
            </a:r>
          </a:p>
          <a:p>
            <a:pPr lvl="2" eaLnBrk="1" hangingPunct="1"/>
            <a:r>
              <a:rPr lang="ko-KR" altLang="en-US" sz="1800" dirty="0" err="1">
                <a:latin typeface="나눔명조" pitchFamily="18" charset="-127"/>
                <a:ea typeface="나눔명조" pitchFamily="18" charset="-127"/>
              </a:rPr>
              <a:t>모범그룹은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 배출량에 대한 </a:t>
            </a:r>
            <a:r>
              <a:rPr lang="ko-KR" altLang="en-US" sz="1800" dirty="0" err="1">
                <a:latin typeface="나눔명조" pitchFamily="18" charset="-127"/>
                <a:ea typeface="나눔명조" pitchFamily="18" charset="-127"/>
              </a:rPr>
              <a:t>감시횟수도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 적게 하고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적발 시 </a:t>
            </a:r>
            <a:r>
              <a:rPr lang="ko-KR" altLang="en-US" sz="1800" dirty="0" err="1">
                <a:latin typeface="나눔명조" pitchFamily="18" charset="-127"/>
                <a:ea typeface="나눔명조" pitchFamily="18" charset="-127"/>
              </a:rPr>
              <a:t>벌금액도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 적게 부과하지만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일반 오염원은 자주 감시하며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적발 시 높은 </a:t>
            </a:r>
            <a:r>
              <a:rPr lang="ko-KR" altLang="en-US" sz="1800" dirty="0" err="1">
                <a:latin typeface="나눔명조" pitchFamily="18" charset="-127"/>
                <a:ea typeface="나눔명조" pitchFamily="18" charset="-127"/>
              </a:rPr>
              <a:t>벌금액을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 부과함</a:t>
            </a: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차등화된 감시제도에서는 각 오염원은 모범그룹으로 분류될 경우 누릴 수 있는 이점을 잃지 않기 위해 획일적인 관리가 시행될 때에 비해 규제를 더 잘 준수하고자 함 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(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한국도 시행 중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)</a:t>
            </a:r>
            <a:endParaRPr lang="ko-KR" altLang="en-US" sz="2000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endParaRPr lang="en-US" altLang="ko-KR" sz="2100" dirty="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36868" name="바닥글 개체 틀 4">
            <a:extLst>
              <a:ext uri="{FF2B5EF4-FFF2-40B4-BE49-F238E27FC236}">
                <a16:creationId xmlns:a16="http://schemas.microsoft.com/office/drawing/2014/main" id="{40F944B4-6AA6-4A79-A627-56DE802582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5</a:t>
            </a:r>
          </a:p>
        </p:txBody>
      </p:sp>
      <p:sp>
        <p:nvSpPr>
          <p:cNvPr id="36869" name="슬라이드 번호 개체 틀 5">
            <a:extLst>
              <a:ext uri="{FF2B5EF4-FFF2-40B4-BE49-F238E27FC236}">
                <a16:creationId xmlns:a16="http://schemas.microsoft.com/office/drawing/2014/main" id="{DE1D8C4F-ECAE-4C57-832F-26D34F46D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6CC7DE90-124E-46ED-A301-B73193B7A416}" type="slidenum">
              <a:rPr lang="ko-KR" altLang="en-US" sz="1200" b="0">
                <a:solidFill>
                  <a:schemeClr val="tx1"/>
                </a:solidFill>
              </a:rPr>
              <a:pPr/>
              <a:t>24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4">
            <a:extLst>
              <a:ext uri="{FF2B5EF4-FFF2-40B4-BE49-F238E27FC236}">
                <a16:creationId xmlns:a16="http://schemas.microsoft.com/office/drawing/2014/main" id="{A03420CF-61F0-4BB6-B175-976EB396D3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71537" y="301625"/>
            <a:ext cx="8100000" cy="1143000"/>
          </a:xfrm>
          <a:ln>
            <a:solidFill>
              <a:srgbClr val="7030A0"/>
            </a:solidFill>
          </a:ln>
        </p:spPr>
        <p:txBody>
          <a:bodyPr/>
          <a:lstStyle/>
          <a:p>
            <a:pPr eaLnBrk="1" hangingPunct="1"/>
            <a:r>
              <a:rPr lang="ko-KR" altLang="en-US" dirty="0">
                <a:solidFill>
                  <a:srgbClr val="7030A0"/>
                </a:solidFill>
                <a:latin typeface="나눔명조" pitchFamily="18" charset="-127"/>
                <a:ea typeface="나눔명조" pitchFamily="18" charset="-127"/>
              </a:rPr>
              <a:t>규제위반과 감시행위</a:t>
            </a:r>
            <a:r>
              <a:rPr lang="en-US" altLang="ko-KR" dirty="0">
                <a:solidFill>
                  <a:srgbClr val="7030A0"/>
                </a:solidFill>
                <a:latin typeface="나눔명조" pitchFamily="18" charset="-127"/>
                <a:ea typeface="나눔명조" pitchFamily="18" charset="-127"/>
              </a:rPr>
              <a:t>: </a:t>
            </a:r>
            <a:r>
              <a:rPr lang="ko-KR" altLang="en-US" dirty="0">
                <a:solidFill>
                  <a:srgbClr val="7030A0"/>
                </a:solidFill>
                <a:latin typeface="나눔명조" pitchFamily="18" charset="-127"/>
                <a:ea typeface="나눔명조" pitchFamily="18" charset="-127"/>
              </a:rPr>
              <a:t>게임이론의 적용</a:t>
            </a:r>
            <a:endParaRPr lang="en-US" altLang="ko-KR" dirty="0">
              <a:solidFill>
                <a:srgbClr val="7030A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37891" name="Rectangle 5">
            <a:extLst>
              <a:ext uri="{FF2B5EF4-FFF2-40B4-BE49-F238E27FC236}">
                <a16:creationId xmlns:a16="http://schemas.microsoft.com/office/drawing/2014/main" id="{67101B68-2480-4184-910F-CBA401CF5B5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158875" y="1757363"/>
            <a:ext cx="7313613" cy="4114800"/>
          </a:xfrm>
        </p:spPr>
        <p:txBody>
          <a:bodyPr/>
          <a:lstStyle/>
          <a:p>
            <a:pPr eaLnBrk="1" hangingPunct="1"/>
            <a:r>
              <a:rPr lang="ko-KR" altLang="en-US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오염원과 규제당국의 전략적 행위에 관한 게임이론의 설명</a:t>
            </a:r>
          </a:p>
          <a:p>
            <a:pPr lvl="1" eaLnBrk="1" hangingPunct="1"/>
            <a:r>
              <a:rPr lang="ko-KR" altLang="en-US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오염원의 규제위반이득 </a:t>
            </a:r>
            <a:r>
              <a:rPr lang="en-US" altLang="ko-KR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= g, </a:t>
            </a:r>
            <a:r>
              <a:rPr lang="ko-KR" altLang="en-US" sz="24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오염피해</a:t>
            </a:r>
            <a:r>
              <a:rPr lang="ko-KR" altLang="en-US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</a:t>
            </a:r>
            <a:r>
              <a:rPr lang="en-US" altLang="ko-KR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= d</a:t>
            </a:r>
            <a:endParaRPr lang="ko-KR" altLang="en-US" sz="24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  <a:p>
            <a:pPr lvl="1" eaLnBrk="1" hangingPunct="1"/>
            <a:r>
              <a:rPr lang="ko-KR" altLang="en-US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위반행위가 적발될 경우 벌금 </a:t>
            </a:r>
            <a:r>
              <a:rPr lang="en-US" altLang="ko-KR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= p (p&gt;g)</a:t>
            </a:r>
          </a:p>
          <a:p>
            <a:pPr lvl="1" eaLnBrk="1" hangingPunct="1"/>
            <a:r>
              <a:rPr lang="ko-KR" altLang="en-US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규제당국의 단속 및 감시에 드는 비용 </a:t>
            </a:r>
            <a:r>
              <a:rPr lang="en-US" altLang="ko-KR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= c</a:t>
            </a:r>
          </a:p>
          <a:p>
            <a:pPr lvl="1" eaLnBrk="1" hangingPunct="1"/>
            <a:r>
              <a:rPr lang="ko-KR" altLang="en-US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오염원이 불법행위 중에 적발되면 오염피해액이 </a:t>
            </a:r>
            <a:r>
              <a:rPr lang="en-US" altLang="ko-KR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s</a:t>
            </a:r>
            <a:r>
              <a:rPr lang="ko-KR" altLang="en-US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만큼 줄어듦 </a:t>
            </a:r>
            <a:r>
              <a:rPr lang="en-US" altLang="ko-KR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(s&gt;c)</a:t>
            </a:r>
          </a:p>
          <a:p>
            <a:pPr lvl="1" eaLnBrk="1" hangingPunct="1"/>
            <a:r>
              <a:rPr lang="ko-KR" altLang="en-US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정부는 오염으로 인한 사회적 비용을 자신의 비용으로 인식</a:t>
            </a:r>
            <a:endParaRPr lang="en-US" altLang="ko-KR" sz="24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</p:txBody>
      </p:sp>
      <p:sp>
        <p:nvSpPr>
          <p:cNvPr id="37892" name="바닥글 개체 틀 4">
            <a:extLst>
              <a:ext uri="{FF2B5EF4-FFF2-40B4-BE49-F238E27FC236}">
                <a16:creationId xmlns:a16="http://schemas.microsoft.com/office/drawing/2014/main" id="{DAB3B419-0614-4EC1-9D2D-FE229B5B0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5</a:t>
            </a:r>
          </a:p>
        </p:txBody>
      </p:sp>
      <p:sp>
        <p:nvSpPr>
          <p:cNvPr id="37893" name="슬라이드 번호 개체 틀 5">
            <a:extLst>
              <a:ext uri="{FF2B5EF4-FFF2-40B4-BE49-F238E27FC236}">
                <a16:creationId xmlns:a16="http://schemas.microsoft.com/office/drawing/2014/main" id="{3D052A29-B6B7-422E-9ECD-519BC9DDD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0FEF6B6E-0885-40C8-A09F-EE1096CD49CB}" type="slidenum">
              <a:rPr lang="ko-KR" altLang="en-US" sz="1200" b="0">
                <a:solidFill>
                  <a:schemeClr val="tx1"/>
                </a:solidFill>
              </a:rPr>
              <a:pPr/>
              <a:t>25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4">
            <a:extLst>
              <a:ext uri="{FF2B5EF4-FFF2-40B4-BE49-F238E27FC236}">
                <a16:creationId xmlns:a16="http://schemas.microsoft.com/office/drawing/2014/main" id="{B3F4AD8B-CE13-46B3-9EED-1D9A7214E90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71537" y="301625"/>
            <a:ext cx="8100000" cy="1143000"/>
          </a:xfrm>
          <a:ln>
            <a:solidFill>
              <a:srgbClr val="7030A0"/>
            </a:solidFill>
          </a:ln>
        </p:spPr>
        <p:txBody>
          <a:bodyPr/>
          <a:lstStyle/>
          <a:p>
            <a:pPr eaLnBrk="1" hangingPunct="1"/>
            <a:r>
              <a:rPr lang="ko-KR" altLang="en-US" dirty="0">
                <a:solidFill>
                  <a:srgbClr val="7030A0"/>
                </a:solidFill>
                <a:latin typeface="나눔명조" pitchFamily="18" charset="-127"/>
                <a:ea typeface="나눔명조" pitchFamily="18" charset="-127"/>
              </a:rPr>
              <a:t>규제위반과</a:t>
            </a:r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 </a:t>
            </a:r>
            <a:r>
              <a:rPr lang="ko-KR" altLang="en-US" dirty="0">
                <a:solidFill>
                  <a:srgbClr val="7030A0"/>
                </a:solidFill>
                <a:latin typeface="나눔명조" pitchFamily="18" charset="-127"/>
                <a:ea typeface="나눔명조" pitchFamily="18" charset="-127"/>
              </a:rPr>
              <a:t>감시행위</a:t>
            </a:r>
            <a:r>
              <a:rPr lang="en-US" altLang="ko-KR" dirty="0">
                <a:solidFill>
                  <a:srgbClr val="7030A0"/>
                </a:solidFill>
                <a:latin typeface="나눔명조" pitchFamily="18" charset="-127"/>
                <a:ea typeface="나눔명조" pitchFamily="18" charset="-127"/>
              </a:rPr>
              <a:t>: </a:t>
            </a:r>
            <a:r>
              <a:rPr lang="ko-KR" altLang="en-US" dirty="0">
                <a:solidFill>
                  <a:srgbClr val="7030A0"/>
                </a:solidFill>
                <a:latin typeface="나눔명조" pitchFamily="18" charset="-127"/>
                <a:ea typeface="나눔명조" pitchFamily="18" charset="-127"/>
              </a:rPr>
              <a:t>게임이론의 적용</a:t>
            </a:r>
            <a:endParaRPr lang="en-US" altLang="ko-KR" dirty="0">
              <a:solidFill>
                <a:srgbClr val="7030A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38915" name="Rectangle 5">
            <a:extLst>
              <a:ext uri="{FF2B5EF4-FFF2-40B4-BE49-F238E27FC236}">
                <a16:creationId xmlns:a16="http://schemas.microsoft.com/office/drawing/2014/main" id="{D7F4D2D9-0617-4EB2-B54E-7F86AF8DA9D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158875" y="1612374"/>
            <a:ext cx="7395364" cy="4259789"/>
          </a:xfrm>
        </p:spPr>
        <p:txBody>
          <a:bodyPr/>
          <a:lstStyle/>
          <a:p>
            <a:pPr eaLnBrk="1" hangingPunct="1"/>
            <a:r>
              <a:rPr lang="ko-KR" altLang="en-US" sz="2300" dirty="0">
                <a:latin typeface="나눔명조" pitchFamily="18" charset="-127"/>
                <a:ea typeface="나눔명조" pitchFamily="18" charset="-127"/>
              </a:rPr>
              <a:t>오염원과 규제당국의 선택 별 편익</a:t>
            </a:r>
            <a:r>
              <a:rPr lang="en-US" altLang="ko-KR" sz="2300" dirty="0">
                <a:latin typeface="나눔명조" pitchFamily="18" charset="-127"/>
                <a:ea typeface="나눔명조" pitchFamily="18" charset="-127"/>
              </a:rPr>
              <a:t> </a:t>
            </a:r>
            <a:r>
              <a:rPr lang="ko-KR" altLang="en-US" sz="2300" dirty="0">
                <a:latin typeface="나눔명조" pitchFamily="18" charset="-127"/>
                <a:ea typeface="나눔명조" pitchFamily="18" charset="-127"/>
              </a:rPr>
              <a:t>혹은 보수</a:t>
            </a:r>
            <a:r>
              <a:rPr lang="en-US" altLang="ko-KR" sz="2300" dirty="0">
                <a:latin typeface="나눔명조" pitchFamily="18" charset="-127"/>
                <a:ea typeface="나눔명조" pitchFamily="18" charset="-127"/>
              </a:rPr>
              <a:t>(payoff)</a:t>
            </a:r>
            <a:r>
              <a:rPr lang="ko-KR" altLang="en-US" sz="2300" dirty="0">
                <a:latin typeface="나눔명조" pitchFamily="18" charset="-127"/>
                <a:ea typeface="나눔명조" pitchFamily="18" charset="-127"/>
              </a:rPr>
              <a:t> </a:t>
            </a:r>
            <a:endParaRPr lang="en-US" altLang="ko-KR" sz="2300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endParaRPr lang="en-US" altLang="ko-KR" sz="2300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endParaRPr lang="en-US" altLang="ko-KR" sz="2300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endParaRPr lang="en-US" altLang="ko-KR" sz="2300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ko-KR" sz="2300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r>
              <a:rPr lang="ko-KR" altLang="en-US" sz="2300" b="1" dirty="0" err="1">
                <a:solidFill>
                  <a:srgbClr val="0000FF"/>
                </a:solidFill>
                <a:latin typeface="나눔명조" pitchFamily="18" charset="-127"/>
                <a:ea typeface="나눔명조" pitchFamily="18" charset="-127"/>
              </a:rPr>
              <a:t>내쉬균형</a:t>
            </a:r>
            <a:r>
              <a:rPr lang="ko-KR" altLang="en-US" sz="2300" dirty="0" err="1">
                <a:latin typeface="나눔명조" pitchFamily="18" charset="-127"/>
                <a:ea typeface="나눔명조" pitchFamily="18" charset="-127"/>
              </a:rPr>
              <a:t>은</a:t>
            </a:r>
            <a:r>
              <a:rPr lang="ko-KR" altLang="en-US" sz="2300" dirty="0">
                <a:latin typeface="나눔명조" pitchFamily="18" charset="-127"/>
                <a:ea typeface="나눔명조" pitchFamily="18" charset="-127"/>
              </a:rPr>
              <a:t> 모든 행위자에 있어 상대방이 선택을 바꾸지 않는 상태에서 자신만이 선택을 바꾸어 더 큰 이득을 얻는 것이 불가능한 상태를 의미함</a:t>
            </a:r>
          </a:p>
          <a:p>
            <a:pPr eaLnBrk="1" hangingPunct="1"/>
            <a:r>
              <a:rPr lang="ko-KR" altLang="en-US" sz="2300" dirty="0">
                <a:latin typeface="나눔명조" pitchFamily="18" charset="-127"/>
                <a:ea typeface="나눔명조" pitchFamily="18" charset="-127"/>
              </a:rPr>
              <a:t>네 가지 </a:t>
            </a:r>
            <a:r>
              <a:rPr lang="ko-KR" altLang="en-US" sz="2300" dirty="0" err="1">
                <a:latin typeface="나눔명조" pitchFamily="18" charset="-127"/>
                <a:ea typeface="나눔명조" pitchFamily="18" charset="-127"/>
              </a:rPr>
              <a:t>선택조합</a:t>
            </a:r>
            <a:r>
              <a:rPr lang="ko-KR" altLang="en-US" sz="2300" dirty="0">
                <a:latin typeface="나눔명조" pitchFamily="18" charset="-127"/>
                <a:ea typeface="나눔명조" pitchFamily="18" charset="-127"/>
              </a:rPr>
              <a:t> 모두가 </a:t>
            </a:r>
            <a:r>
              <a:rPr lang="ko-KR" altLang="en-US" sz="2300" dirty="0" err="1">
                <a:latin typeface="나눔명조" pitchFamily="18" charset="-127"/>
                <a:ea typeface="나눔명조" pitchFamily="18" charset="-127"/>
              </a:rPr>
              <a:t>내쉬균형이</a:t>
            </a:r>
            <a:r>
              <a:rPr lang="ko-KR" altLang="en-US" sz="2300" dirty="0">
                <a:latin typeface="나눔명조" pitchFamily="18" charset="-127"/>
                <a:ea typeface="나눔명조" pitchFamily="18" charset="-127"/>
              </a:rPr>
              <a:t> 될 수 없음</a:t>
            </a:r>
            <a:endParaRPr lang="en-US" altLang="ko-KR" sz="2300" dirty="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38916" name="바닥글 개체 틀 4">
            <a:extLst>
              <a:ext uri="{FF2B5EF4-FFF2-40B4-BE49-F238E27FC236}">
                <a16:creationId xmlns:a16="http://schemas.microsoft.com/office/drawing/2014/main" id="{E545802C-A060-453C-9DFC-14DBEBBB8B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5</a:t>
            </a:r>
          </a:p>
        </p:txBody>
      </p:sp>
      <p:sp>
        <p:nvSpPr>
          <p:cNvPr id="38917" name="슬라이드 번호 개체 틀 5">
            <a:extLst>
              <a:ext uri="{FF2B5EF4-FFF2-40B4-BE49-F238E27FC236}">
                <a16:creationId xmlns:a16="http://schemas.microsoft.com/office/drawing/2014/main" id="{B4C454EE-D5AA-4C60-9BAE-9C07290EC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1B67F8B1-1E3B-4500-B0A0-82BE0758281A}" type="slidenum">
              <a:rPr lang="ko-KR" altLang="en-US" sz="1200" b="0">
                <a:solidFill>
                  <a:schemeClr val="tx1"/>
                </a:solidFill>
              </a:rPr>
              <a:pPr/>
              <a:t>26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pic>
        <p:nvPicPr>
          <p:cNvPr id="38918" name="그림 5" descr="Cap 2014-06-19 09-39-41-256.png">
            <a:extLst>
              <a:ext uri="{FF2B5EF4-FFF2-40B4-BE49-F238E27FC236}">
                <a16:creationId xmlns:a16="http://schemas.microsoft.com/office/drawing/2014/main" id="{F726DC94-4F4F-4E59-B1D9-8F53069F4A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0375" y="2037293"/>
            <a:ext cx="5889625" cy="170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4">
            <a:extLst>
              <a:ext uri="{FF2B5EF4-FFF2-40B4-BE49-F238E27FC236}">
                <a16:creationId xmlns:a16="http://schemas.microsoft.com/office/drawing/2014/main" id="{7394E2EA-E248-48DE-87BE-C5FF1D2ACA9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71537" y="301625"/>
            <a:ext cx="8100000" cy="1143000"/>
          </a:xfrm>
          <a:ln>
            <a:solidFill>
              <a:srgbClr val="7030A0"/>
            </a:solidFill>
          </a:ln>
        </p:spPr>
        <p:txBody>
          <a:bodyPr/>
          <a:lstStyle/>
          <a:p>
            <a:pPr eaLnBrk="1" hangingPunct="1"/>
            <a:r>
              <a:rPr lang="ko-KR" altLang="en-US" dirty="0">
                <a:solidFill>
                  <a:srgbClr val="7030A0"/>
                </a:solidFill>
                <a:latin typeface="나눔명조" pitchFamily="18" charset="-127"/>
                <a:ea typeface="나눔명조" pitchFamily="18" charset="-127"/>
              </a:rPr>
              <a:t>규제위반과 감시행위</a:t>
            </a:r>
            <a:r>
              <a:rPr lang="en-US" altLang="ko-KR" dirty="0">
                <a:solidFill>
                  <a:srgbClr val="7030A0"/>
                </a:solidFill>
                <a:latin typeface="나눔명조" pitchFamily="18" charset="-127"/>
                <a:ea typeface="나눔명조" pitchFamily="18" charset="-127"/>
              </a:rPr>
              <a:t>: </a:t>
            </a:r>
            <a:r>
              <a:rPr lang="ko-KR" altLang="en-US" dirty="0">
                <a:solidFill>
                  <a:srgbClr val="7030A0"/>
                </a:solidFill>
                <a:latin typeface="나눔명조" pitchFamily="18" charset="-127"/>
                <a:ea typeface="나눔명조" pitchFamily="18" charset="-127"/>
              </a:rPr>
              <a:t>게임이론의 적용</a:t>
            </a:r>
            <a:endParaRPr lang="en-US" altLang="ko-KR" dirty="0">
              <a:solidFill>
                <a:srgbClr val="7030A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39939" name="Rectangle 5">
            <a:extLst>
              <a:ext uri="{FF2B5EF4-FFF2-40B4-BE49-F238E27FC236}">
                <a16:creationId xmlns:a16="http://schemas.microsoft.com/office/drawing/2014/main" id="{3F79676E-AA06-444A-9595-F3DAC349224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144588" y="1616075"/>
            <a:ext cx="7313612" cy="4114800"/>
          </a:xfrm>
        </p:spPr>
        <p:txBody>
          <a:bodyPr/>
          <a:lstStyle/>
          <a:p>
            <a:pPr eaLnBrk="1" hangingPunct="1"/>
            <a:r>
              <a:rPr lang="ko-KR" altLang="en-US" sz="2300" dirty="0">
                <a:latin typeface="나눔명조" pitchFamily="18" charset="-127"/>
                <a:ea typeface="나눔명조" pitchFamily="18" charset="-127"/>
              </a:rPr>
              <a:t>오염원과 규제당국이 </a:t>
            </a:r>
            <a:r>
              <a:rPr lang="ko-KR" altLang="en-US" sz="2300" b="1" dirty="0" err="1">
                <a:solidFill>
                  <a:srgbClr val="0000FF"/>
                </a:solidFill>
                <a:latin typeface="나눔명조" pitchFamily="18" charset="-127"/>
                <a:ea typeface="나눔명조" pitchFamily="18" charset="-127"/>
              </a:rPr>
              <a:t>혼합전략</a:t>
            </a:r>
            <a:r>
              <a:rPr lang="en-US" altLang="ko-KR" sz="2300" b="1" dirty="0">
                <a:solidFill>
                  <a:srgbClr val="0000FF"/>
                </a:solidFill>
                <a:latin typeface="나눔명조" pitchFamily="18" charset="-127"/>
                <a:ea typeface="나눔명조" pitchFamily="18" charset="-127"/>
              </a:rPr>
              <a:t>(mixed strategy)</a:t>
            </a:r>
            <a:r>
              <a:rPr lang="ko-KR" altLang="en-US" sz="2300" dirty="0">
                <a:latin typeface="나눔명조" pitchFamily="18" charset="-127"/>
                <a:ea typeface="나눔명조" pitchFamily="18" charset="-127"/>
              </a:rPr>
              <a:t>을 선택하면 최소한 하나의 </a:t>
            </a:r>
            <a:r>
              <a:rPr lang="ko-KR" altLang="en-US" sz="2300" dirty="0" err="1">
                <a:latin typeface="나눔명조" pitchFamily="18" charset="-127"/>
                <a:ea typeface="나눔명조" pitchFamily="18" charset="-127"/>
              </a:rPr>
              <a:t>내쉬균형을</a:t>
            </a:r>
            <a:r>
              <a:rPr lang="ko-KR" altLang="en-US" sz="2300" dirty="0">
                <a:latin typeface="나눔명조" pitchFamily="18" charset="-127"/>
                <a:ea typeface="나눔명조" pitchFamily="18" charset="-127"/>
              </a:rPr>
              <a:t> 찾아낼 수 있음</a:t>
            </a:r>
            <a:endParaRPr lang="en-US" altLang="ko-KR" sz="2300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r>
              <a:rPr lang="ko-KR" altLang="en-US" sz="2300" dirty="0">
                <a:latin typeface="나눔명조" pitchFamily="18" charset="-127"/>
                <a:ea typeface="나눔명조" pitchFamily="18" charset="-127"/>
              </a:rPr>
              <a:t>오염원은 확률 </a:t>
            </a:r>
            <a:r>
              <a:rPr lang="en-US" altLang="ko-KR" sz="2300" dirty="0">
                <a:latin typeface="나눔명조" pitchFamily="18" charset="-127"/>
                <a:ea typeface="나눔명조" pitchFamily="18" charset="-127"/>
              </a:rPr>
              <a:t>x</a:t>
            </a:r>
            <a:r>
              <a:rPr lang="ko-KR" altLang="en-US" sz="2300" dirty="0">
                <a:latin typeface="나눔명조" pitchFamily="18" charset="-127"/>
                <a:ea typeface="나눔명조" pitchFamily="18" charset="-127"/>
              </a:rPr>
              <a:t>만큼의 빈도로 위반행위를 하고</a:t>
            </a:r>
            <a:r>
              <a:rPr lang="en-US" altLang="ko-KR" sz="23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300" dirty="0">
                <a:latin typeface="나눔명조" pitchFamily="18" charset="-127"/>
                <a:ea typeface="나눔명조" pitchFamily="18" charset="-127"/>
              </a:rPr>
              <a:t>규제당국은 확률 </a:t>
            </a:r>
            <a:r>
              <a:rPr lang="en-US" altLang="ko-KR" sz="2300" dirty="0">
                <a:latin typeface="나눔명조" pitchFamily="18" charset="-127"/>
                <a:ea typeface="나눔명조" pitchFamily="18" charset="-127"/>
              </a:rPr>
              <a:t>y</a:t>
            </a:r>
            <a:r>
              <a:rPr lang="ko-KR" altLang="en-US" sz="2300" dirty="0">
                <a:latin typeface="나눔명조" pitchFamily="18" charset="-127"/>
                <a:ea typeface="나눔명조" pitchFamily="18" charset="-127"/>
              </a:rPr>
              <a:t>만큼의 빈도로 </a:t>
            </a:r>
            <a:r>
              <a:rPr lang="ko-KR" altLang="en-US" sz="2300" dirty="0" err="1">
                <a:latin typeface="나눔명조" pitchFamily="18" charset="-127"/>
                <a:ea typeface="나눔명조" pitchFamily="18" charset="-127"/>
              </a:rPr>
              <a:t>감시행위를</a:t>
            </a:r>
            <a:r>
              <a:rPr lang="ko-KR" altLang="en-US" sz="2300" dirty="0">
                <a:latin typeface="나눔명조" pitchFamily="18" charset="-127"/>
                <a:ea typeface="나눔명조" pitchFamily="18" charset="-127"/>
              </a:rPr>
              <a:t> 함</a:t>
            </a:r>
          </a:p>
          <a:p>
            <a:pPr eaLnBrk="1" hangingPunct="1"/>
            <a:r>
              <a:rPr lang="ko-KR" altLang="en-US" sz="2300" dirty="0" err="1">
                <a:latin typeface="나눔명조" pitchFamily="18" charset="-127"/>
                <a:ea typeface="나눔명조" pitchFamily="18" charset="-127"/>
              </a:rPr>
              <a:t>혼합전략의</a:t>
            </a:r>
            <a:r>
              <a:rPr lang="ko-KR" altLang="en-US" sz="2300" dirty="0">
                <a:latin typeface="나눔명조" pitchFamily="18" charset="-127"/>
                <a:ea typeface="나눔명조" pitchFamily="18" charset="-127"/>
              </a:rPr>
              <a:t> 균형에서는 규제당국이 </a:t>
            </a:r>
            <a:r>
              <a:rPr lang="ko-KR" altLang="en-US" sz="2300" dirty="0" err="1">
                <a:latin typeface="나눔명조" pitchFamily="18" charset="-127"/>
                <a:ea typeface="나눔명조" pitchFamily="18" charset="-127"/>
              </a:rPr>
              <a:t>감시행위를</a:t>
            </a:r>
            <a:r>
              <a:rPr lang="ko-KR" altLang="en-US" sz="2300" dirty="0">
                <a:latin typeface="나눔명조" pitchFamily="18" charset="-127"/>
                <a:ea typeface="나눔명조" pitchFamily="18" charset="-127"/>
              </a:rPr>
              <a:t> 할 때 예상할 수 있는 편익과 하지 않을 때 예상할 수 있는 편익이 일치해야 함</a:t>
            </a:r>
            <a:r>
              <a:rPr lang="en-US" altLang="ko-KR" sz="2300" dirty="0">
                <a:latin typeface="나눔명조" pitchFamily="18" charset="-127"/>
                <a:ea typeface="나눔명조" pitchFamily="18" charset="-127"/>
              </a:rPr>
              <a:t>(</a:t>
            </a:r>
            <a:r>
              <a:rPr lang="ko-KR" altLang="en-US" sz="2300" dirty="0">
                <a:latin typeface="나눔명조" pitchFamily="18" charset="-127"/>
                <a:ea typeface="나눔명조" pitchFamily="18" charset="-127"/>
              </a:rPr>
              <a:t>오염원도 마찬가지</a:t>
            </a:r>
            <a:r>
              <a:rPr lang="en-US" altLang="ko-KR" sz="2300" dirty="0">
                <a:latin typeface="나눔명조" pitchFamily="18" charset="-127"/>
                <a:ea typeface="나눔명조" pitchFamily="18" charset="-127"/>
              </a:rPr>
              <a:t>)</a:t>
            </a:r>
            <a:endParaRPr lang="ko-KR" altLang="en-US" sz="23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어느 한 쪽의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예상편익이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크다면 항상 그쪽을 선택하지 확률을 부여하지 않을 것임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39940" name="바닥글 개체 틀 4">
            <a:extLst>
              <a:ext uri="{FF2B5EF4-FFF2-40B4-BE49-F238E27FC236}">
                <a16:creationId xmlns:a16="http://schemas.microsoft.com/office/drawing/2014/main" id="{29238D1B-21EF-4B72-BE2E-8F0C74D6BE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5</a:t>
            </a:r>
          </a:p>
        </p:txBody>
      </p:sp>
      <p:sp>
        <p:nvSpPr>
          <p:cNvPr id="39941" name="슬라이드 번호 개체 틀 5">
            <a:extLst>
              <a:ext uri="{FF2B5EF4-FFF2-40B4-BE49-F238E27FC236}">
                <a16:creationId xmlns:a16="http://schemas.microsoft.com/office/drawing/2014/main" id="{6A258550-48DA-4A64-B5F2-431F034A7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239E3FFB-E8FD-4F49-9460-D42FA7B8A6C0}" type="slidenum">
              <a:rPr lang="ko-KR" altLang="en-US" sz="1200" b="0">
                <a:solidFill>
                  <a:schemeClr val="tx1"/>
                </a:solidFill>
              </a:rPr>
              <a:pPr/>
              <a:t>27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4">
            <a:extLst>
              <a:ext uri="{FF2B5EF4-FFF2-40B4-BE49-F238E27FC236}">
                <a16:creationId xmlns:a16="http://schemas.microsoft.com/office/drawing/2014/main" id="{39C06F7C-1D1B-4926-9A49-45B497DB17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46112" y="120650"/>
            <a:ext cx="8100000" cy="1143000"/>
          </a:xfrm>
          <a:ln>
            <a:solidFill>
              <a:srgbClr val="7030A0"/>
            </a:solidFill>
          </a:ln>
        </p:spPr>
        <p:txBody>
          <a:bodyPr/>
          <a:lstStyle/>
          <a:p>
            <a:pPr eaLnBrk="1" hangingPunct="1"/>
            <a:r>
              <a:rPr lang="ko-KR" altLang="en-US" dirty="0">
                <a:solidFill>
                  <a:srgbClr val="7030A0"/>
                </a:solidFill>
                <a:latin typeface="나눔명조" pitchFamily="18" charset="-127"/>
                <a:ea typeface="나눔명조" pitchFamily="18" charset="-127"/>
              </a:rPr>
              <a:t>규제위반과 감시행위</a:t>
            </a:r>
            <a:r>
              <a:rPr lang="en-US" altLang="ko-KR" dirty="0">
                <a:solidFill>
                  <a:srgbClr val="7030A0"/>
                </a:solidFill>
                <a:latin typeface="나눔명조" pitchFamily="18" charset="-127"/>
                <a:ea typeface="나눔명조" pitchFamily="18" charset="-127"/>
              </a:rPr>
              <a:t>: </a:t>
            </a:r>
            <a:r>
              <a:rPr lang="ko-KR" altLang="en-US" dirty="0">
                <a:solidFill>
                  <a:srgbClr val="7030A0"/>
                </a:solidFill>
                <a:latin typeface="나눔명조" pitchFamily="18" charset="-127"/>
                <a:ea typeface="나눔명조" pitchFamily="18" charset="-127"/>
              </a:rPr>
              <a:t>게임이론의 적용</a:t>
            </a:r>
            <a:endParaRPr lang="en-US" altLang="ko-KR" dirty="0">
              <a:solidFill>
                <a:srgbClr val="7030A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40963" name="Rectangle 5">
            <a:extLst>
              <a:ext uri="{FF2B5EF4-FFF2-40B4-BE49-F238E27FC236}">
                <a16:creationId xmlns:a16="http://schemas.microsoft.com/office/drawing/2014/main" id="{B08D3AC4-5A06-4AF4-A9EF-99C1D6D6319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144588" y="1263650"/>
            <a:ext cx="7313612" cy="4114800"/>
          </a:xfrm>
        </p:spPr>
        <p:txBody>
          <a:bodyPr/>
          <a:lstStyle/>
          <a:p>
            <a:pPr eaLnBrk="1" hangingPunct="1"/>
            <a:r>
              <a:rPr lang="ko-KR" altLang="en-US" sz="20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혼합전략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</a:t>
            </a:r>
            <a:r>
              <a:rPr lang="ko-KR" altLang="en-US" sz="20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내쉬균형의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도출</a:t>
            </a:r>
            <a:endParaRPr lang="en-US" altLang="ko-KR" sz="20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  <a:p>
            <a:pPr lvl="1" eaLnBrk="1" hangingPunct="1"/>
            <a:r>
              <a:rPr lang="ko-KR" altLang="en-US" sz="18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감시행위를</a:t>
            </a:r>
            <a:r>
              <a:rPr lang="ko-KR" altLang="en-US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할 경우의 규제당국의 </a:t>
            </a:r>
            <a:r>
              <a:rPr lang="ko-KR" altLang="en-US" sz="18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예상편익과</a:t>
            </a:r>
            <a:r>
              <a:rPr lang="ko-KR" altLang="en-US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하지 않을 경우의 </a:t>
            </a:r>
            <a:r>
              <a:rPr lang="ko-KR" altLang="en-US" sz="18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예상편익</a:t>
            </a:r>
            <a:r>
              <a:rPr lang="en-US" altLang="ko-KR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: x(s-d-c)+(1-x)(-c)  </a:t>
            </a:r>
            <a:r>
              <a:rPr lang="en-US" altLang="ko-KR" sz="1800" i="1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vs.</a:t>
            </a:r>
            <a:r>
              <a:rPr lang="en-US" altLang="ko-KR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x(-d)</a:t>
            </a:r>
          </a:p>
          <a:p>
            <a:pPr lvl="1" eaLnBrk="1" hangingPunct="1"/>
            <a:r>
              <a:rPr lang="ko-KR" altLang="en-US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즉</a:t>
            </a:r>
            <a:r>
              <a:rPr lang="en-US" altLang="ko-KR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, </a:t>
            </a:r>
            <a:r>
              <a:rPr lang="ko-KR" altLang="en-US" sz="1800" b="1" dirty="0">
                <a:solidFill>
                  <a:srgbClr val="0000FF"/>
                </a:solidFill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위반행위의 확률</a:t>
            </a:r>
            <a:r>
              <a:rPr lang="ko-KR" altLang="en-US" sz="1800" b="1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</a:t>
            </a:r>
            <a:r>
              <a:rPr lang="en-US" altLang="ko-KR" sz="1800" b="1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x=c/s</a:t>
            </a:r>
            <a:r>
              <a:rPr lang="ko-KR" altLang="en-US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가 됨</a:t>
            </a:r>
          </a:p>
          <a:p>
            <a:pPr lvl="1" eaLnBrk="1" hangingPunct="1"/>
            <a:r>
              <a:rPr lang="ko-KR" altLang="en-US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위반행위를 할 때 </a:t>
            </a:r>
            <a:r>
              <a:rPr lang="ko-KR" altLang="en-US" sz="18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예상편익과</a:t>
            </a:r>
            <a:r>
              <a:rPr lang="ko-KR" altLang="en-US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규제를 준수할 때의 </a:t>
            </a:r>
            <a:r>
              <a:rPr lang="ko-KR" altLang="en-US" sz="18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예상편익</a:t>
            </a:r>
            <a:r>
              <a:rPr lang="ko-KR" altLang="en-US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</a:t>
            </a:r>
            <a:endParaRPr lang="en-US" altLang="ko-KR" sz="18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ko-KR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    : y(-</a:t>
            </a:r>
            <a:r>
              <a:rPr lang="en-US" altLang="ko-KR" sz="18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p+g</a:t>
            </a:r>
            <a:r>
              <a:rPr lang="en-US" altLang="ko-KR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)+(1-y)g  </a:t>
            </a:r>
            <a:r>
              <a:rPr lang="en-US" altLang="ko-KR" sz="1800" i="1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vs.</a:t>
            </a:r>
            <a:r>
              <a:rPr lang="en-US" altLang="ko-KR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0</a:t>
            </a:r>
          </a:p>
          <a:p>
            <a:pPr lvl="1" eaLnBrk="1" hangingPunct="1"/>
            <a:r>
              <a:rPr lang="ko-KR" altLang="en-US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즉</a:t>
            </a:r>
            <a:r>
              <a:rPr lang="en-US" altLang="ko-KR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, </a:t>
            </a:r>
            <a:r>
              <a:rPr lang="ko-KR" altLang="en-US" sz="1800" b="1" dirty="0" err="1">
                <a:solidFill>
                  <a:srgbClr val="0000FF"/>
                </a:solidFill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감시행위의</a:t>
            </a:r>
            <a:r>
              <a:rPr lang="ko-KR" altLang="en-US" sz="1800" b="1" dirty="0">
                <a:solidFill>
                  <a:srgbClr val="0000FF"/>
                </a:solidFill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확률 </a:t>
            </a:r>
            <a:r>
              <a:rPr lang="en-US" altLang="ko-KR" sz="1800" b="1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y=g/p</a:t>
            </a:r>
            <a:r>
              <a:rPr lang="ko-KR" altLang="en-US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가 됨</a:t>
            </a:r>
            <a:endParaRPr lang="en-US" altLang="ko-KR" sz="18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  <a:p>
            <a:pPr eaLnBrk="1" hangingPunct="1"/>
            <a:r>
              <a:rPr lang="ko-KR" altLang="en-US" sz="20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감시비용이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적거나 불법행위를 중단시켜 얻는 이득이 클 경우 규제당국이 </a:t>
            </a:r>
            <a:r>
              <a:rPr lang="ko-KR" altLang="en-US" sz="20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감시행위를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하여 얻는 </a:t>
            </a:r>
            <a:r>
              <a:rPr lang="ko-KR" altLang="en-US" sz="20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추가편익이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크고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, 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오염원은 법규를 위반하고자 하는 시도를 덜 하게 됨</a:t>
            </a:r>
          </a:p>
          <a:p>
            <a:pPr eaLnBrk="1" hangingPunct="1"/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오염원이 불법행위로부터 얻는 이득이 크거나 적발 시 </a:t>
            </a:r>
            <a:r>
              <a:rPr lang="ko-KR" altLang="en-US" sz="20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벌금액이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적을 경우 위반행위를 하고자 하는 인센티브가 커지게 되고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, 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정부는 오염원의 위반행위를 막기 위해 더 자주 감시하여야 함</a:t>
            </a:r>
            <a:endParaRPr lang="en-US" altLang="ko-KR" sz="20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</p:txBody>
      </p:sp>
      <p:sp>
        <p:nvSpPr>
          <p:cNvPr id="40964" name="바닥글 개체 틀 4">
            <a:extLst>
              <a:ext uri="{FF2B5EF4-FFF2-40B4-BE49-F238E27FC236}">
                <a16:creationId xmlns:a16="http://schemas.microsoft.com/office/drawing/2014/main" id="{ACA53274-5FAD-4B90-A561-F6E298A8C3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5</a:t>
            </a:r>
          </a:p>
        </p:txBody>
      </p:sp>
      <p:sp>
        <p:nvSpPr>
          <p:cNvPr id="40965" name="슬라이드 번호 개체 틀 5">
            <a:extLst>
              <a:ext uri="{FF2B5EF4-FFF2-40B4-BE49-F238E27FC236}">
                <a16:creationId xmlns:a16="http://schemas.microsoft.com/office/drawing/2014/main" id="{BD63C98C-D5B9-4B03-A52C-31DC59368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D7805BDF-329D-4752-B949-7904001EFF36}" type="slidenum">
              <a:rPr lang="ko-KR" altLang="en-US" sz="1200" b="0">
                <a:solidFill>
                  <a:schemeClr val="tx1"/>
                </a:solidFill>
              </a:rPr>
              <a:pPr/>
              <a:t>28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4">
            <a:extLst>
              <a:ext uri="{FF2B5EF4-FFF2-40B4-BE49-F238E27FC236}">
                <a16:creationId xmlns:a16="http://schemas.microsoft.com/office/drawing/2014/main" id="{58498634-F75D-4341-A889-55DAE066C0D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윤리적 기준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41987" name="Rectangle 5">
            <a:extLst>
              <a:ext uri="{FF2B5EF4-FFF2-40B4-BE49-F238E27FC236}">
                <a16:creationId xmlns:a16="http://schemas.microsoft.com/office/drawing/2014/main" id="{B028D0CA-BF09-4041-8A60-2E5EEA80B2C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158875" y="1757363"/>
            <a:ext cx="7313613" cy="4114800"/>
          </a:xfrm>
        </p:spPr>
        <p:txBody>
          <a:bodyPr/>
          <a:lstStyle/>
          <a:p>
            <a:pPr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환경정책을 수립하고 시행하는 데 있어서는 형평성 외에 여러 가지 다양한 윤리적 판단이 필요함</a:t>
            </a:r>
          </a:p>
          <a:p>
            <a:pPr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윤리적 판단이 필요한 대표적인 경우가 </a:t>
            </a:r>
            <a:r>
              <a:rPr lang="ko-KR" altLang="en-US" sz="2400" b="1" dirty="0">
                <a:solidFill>
                  <a:srgbClr val="0000FF"/>
                </a:solidFill>
                <a:latin typeface="나눔명조" pitchFamily="18" charset="-127"/>
                <a:ea typeface="나눔명조" pitchFamily="18" charset="-127"/>
              </a:rPr>
              <a:t>오염자부담원칙</a:t>
            </a:r>
            <a:r>
              <a:rPr lang="en-US" altLang="ko-KR" sz="2400" b="1" dirty="0">
                <a:solidFill>
                  <a:srgbClr val="0000FF"/>
                </a:solidFill>
                <a:latin typeface="나눔명조" pitchFamily="18" charset="-127"/>
                <a:ea typeface="나눔명조" pitchFamily="18" charset="-127"/>
              </a:rPr>
              <a:t>/</a:t>
            </a:r>
            <a:r>
              <a:rPr lang="ko-KR" altLang="en-US" sz="2400" b="1" dirty="0">
                <a:solidFill>
                  <a:srgbClr val="0000FF"/>
                </a:solidFill>
                <a:latin typeface="나눔명조" pitchFamily="18" charset="-127"/>
                <a:ea typeface="나눔명조" pitchFamily="18" charset="-127"/>
              </a:rPr>
              <a:t>피해자부담원칙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에 관한 문제</a:t>
            </a:r>
          </a:p>
          <a:p>
            <a:pPr lvl="1" eaLnBrk="1" hangingPunct="1"/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오염자부담원칙 </a:t>
            </a:r>
            <a:r>
              <a:rPr lang="en-US" altLang="ko-KR" sz="2200" dirty="0">
                <a:latin typeface="나눔명조" pitchFamily="18" charset="-127"/>
                <a:ea typeface="나눔명조" pitchFamily="18" charset="-127"/>
              </a:rPr>
              <a:t>= </a:t>
            </a:r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정부가 사용하기로 결정한 환경정책에 소요되는 비용을 모두 오염자가 부담해야 한다는 원칙</a:t>
            </a:r>
            <a:r>
              <a:rPr lang="en-US" altLang="ko-KR" sz="2200" dirty="0">
                <a:latin typeface="나눔명조" pitchFamily="18" charset="-127"/>
                <a:ea typeface="나눔명조" pitchFamily="18" charset="-127"/>
              </a:rPr>
              <a:t>(1970</a:t>
            </a:r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년대 </a:t>
            </a:r>
            <a:r>
              <a:rPr lang="en-US" altLang="ko-KR" sz="2200" dirty="0">
                <a:latin typeface="나눔명조" pitchFamily="18" charset="-127"/>
                <a:ea typeface="나눔명조" pitchFamily="18" charset="-127"/>
              </a:rPr>
              <a:t>OECD </a:t>
            </a:r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중심으로 도입</a:t>
            </a:r>
            <a:r>
              <a:rPr lang="en-US" altLang="ko-KR" sz="2200" dirty="0">
                <a:latin typeface="나눔명조" pitchFamily="18" charset="-127"/>
                <a:ea typeface="나눔명조" pitchFamily="18" charset="-127"/>
              </a:rPr>
              <a:t>)</a:t>
            </a:r>
            <a:endParaRPr lang="ko-KR" altLang="en-US" sz="22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피해자부담원칙 </a:t>
            </a:r>
            <a:r>
              <a:rPr lang="en-US" altLang="ko-KR" sz="2200" dirty="0">
                <a:latin typeface="나눔명조" pitchFamily="18" charset="-127"/>
                <a:ea typeface="나눔명조" pitchFamily="18" charset="-127"/>
              </a:rPr>
              <a:t>= </a:t>
            </a:r>
            <a:r>
              <a:rPr lang="ko-KR" altLang="en-US" sz="2200" dirty="0" err="1">
                <a:latin typeface="나눔명조" pitchFamily="18" charset="-127"/>
                <a:ea typeface="나눔명조" pitchFamily="18" charset="-127"/>
              </a:rPr>
              <a:t>환경질</a:t>
            </a:r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 개선에 소요되는 비용을 </a:t>
            </a:r>
            <a:r>
              <a:rPr lang="ko-KR" altLang="en-US" sz="2200" dirty="0" err="1">
                <a:latin typeface="나눔명조" pitchFamily="18" charset="-127"/>
                <a:ea typeface="나눔명조" pitchFamily="18" charset="-127"/>
              </a:rPr>
              <a:t>환경질이</a:t>
            </a:r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 개선되면서 이득을 보는 환경오염의 피해자가 부담하여야 한다는 원칙</a:t>
            </a:r>
            <a:endParaRPr lang="en-US" altLang="ko-KR" sz="2200" dirty="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41988" name="바닥글 개체 틀 4">
            <a:extLst>
              <a:ext uri="{FF2B5EF4-FFF2-40B4-BE49-F238E27FC236}">
                <a16:creationId xmlns:a16="http://schemas.microsoft.com/office/drawing/2014/main" id="{EAC047B0-9D26-45A4-93A7-9DC2B87D1B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5</a:t>
            </a:r>
          </a:p>
        </p:txBody>
      </p:sp>
      <p:sp>
        <p:nvSpPr>
          <p:cNvPr id="41989" name="슬라이드 번호 개체 틀 5">
            <a:extLst>
              <a:ext uri="{FF2B5EF4-FFF2-40B4-BE49-F238E27FC236}">
                <a16:creationId xmlns:a16="http://schemas.microsoft.com/office/drawing/2014/main" id="{9F5859F2-230A-456C-A5A2-A8678796E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7A848BD3-B05C-4131-BBC1-B2C27436A830}" type="slidenum">
              <a:rPr lang="ko-KR" altLang="en-US" sz="1200" b="0">
                <a:solidFill>
                  <a:schemeClr val="tx1"/>
                </a:solidFill>
              </a:rPr>
              <a:pPr/>
              <a:t>29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4">
            <a:extLst>
              <a:ext uri="{FF2B5EF4-FFF2-40B4-BE49-F238E27FC236}">
                <a16:creationId xmlns:a16="http://schemas.microsoft.com/office/drawing/2014/main" id="{4A8E41A4-1B3B-4BE6-B9FF-951784F0D6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기타 평가기준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43011" name="Rectangle 5">
            <a:extLst>
              <a:ext uri="{FF2B5EF4-FFF2-40B4-BE49-F238E27FC236}">
                <a16:creationId xmlns:a16="http://schemas.microsoft.com/office/drawing/2014/main" id="{EEFD0A3F-7460-43CC-8DB1-2DB4E046F08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158875" y="1757363"/>
            <a:ext cx="7313613" cy="4114800"/>
          </a:xfrm>
        </p:spPr>
        <p:txBody>
          <a:bodyPr/>
          <a:lstStyle/>
          <a:p>
            <a:pPr eaLnBrk="1" hangingPunct="1"/>
            <a:r>
              <a:rPr lang="ko-KR" altLang="en-US" sz="2800" dirty="0">
                <a:latin typeface="나눔명조" pitchFamily="18" charset="-127"/>
                <a:ea typeface="나눔명조" pitchFamily="18" charset="-127"/>
              </a:rPr>
              <a:t>정책이 오염자가 경제여건의 변화에 대해 탄력적으로 반응하는 것이 가능하도록 하는지</a:t>
            </a:r>
            <a:r>
              <a:rPr lang="en-US" altLang="ko-KR" sz="2800" dirty="0">
                <a:latin typeface="나눔명조" pitchFamily="18" charset="-127"/>
                <a:ea typeface="나눔명조" pitchFamily="18" charset="-127"/>
              </a:rPr>
              <a:t>:</a:t>
            </a:r>
            <a:r>
              <a:rPr lang="ko-KR" altLang="en-US" sz="2800" dirty="0">
                <a:latin typeface="나눔명조" pitchFamily="18" charset="-127"/>
                <a:ea typeface="나눔명조" pitchFamily="18" charset="-127"/>
              </a:rPr>
              <a:t> </a:t>
            </a:r>
            <a:r>
              <a:rPr lang="ko-KR" altLang="en-US" sz="2800" b="1" dirty="0">
                <a:solidFill>
                  <a:srgbClr val="0000FF"/>
                </a:solidFill>
                <a:latin typeface="나눔명조" pitchFamily="18" charset="-127"/>
                <a:ea typeface="나눔명조" pitchFamily="18" charset="-127"/>
              </a:rPr>
              <a:t>신축성</a:t>
            </a:r>
            <a:r>
              <a:rPr lang="en-US" altLang="ko-KR" sz="2800" b="1" dirty="0">
                <a:solidFill>
                  <a:srgbClr val="0000FF"/>
                </a:solidFill>
                <a:latin typeface="나눔명조" pitchFamily="18" charset="-127"/>
                <a:ea typeface="나눔명조" pitchFamily="18" charset="-127"/>
              </a:rPr>
              <a:t>(flexibility) </a:t>
            </a:r>
            <a:r>
              <a:rPr lang="ko-KR" altLang="en-US" sz="2800" dirty="0">
                <a:latin typeface="나눔명조" pitchFamily="18" charset="-127"/>
                <a:ea typeface="나눔명조" pitchFamily="18" charset="-127"/>
              </a:rPr>
              <a:t>조건 </a:t>
            </a:r>
          </a:p>
          <a:p>
            <a:pPr lvl="1"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오염자가 기술수준의 변화나 시장여건의 변화에 탄력적으로 반응할 여지를 많이 부여하는 정책일수록 </a:t>
            </a:r>
            <a:r>
              <a:rPr lang="ko-KR" altLang="en-US" sz="2400" dirty="0" err="1">
                <a:latin typeface="나눔명조" pitchFamily="18" charset="-127"/>
                <a:ea typeface="나눔명조" pitchFamily="18" charset="-127"/>
              </a:rPr>
              <a:t>저감비용을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 절약할 수 있도록 해주므로 우월한 정책임</a:t>
            </a:r>
          </a:p>
          <a:p>
            <a:pPr eaLnBrk="1" hangingPunct="1"/>
            <a:r>
              <a:rPr lang="ko-KR" altLang="en-US" sz="2800" dirty="0">
                <a:latin typeface="나눔명조" pitchFamily="18" charset="-127"/>
                <a:ea typeface="나눔명조" pitchFamily="18" charset="-127"/>
              </a:rPr>
              <a:t>또한 </a:t>
            </a:r>
            <a:r>
              <a:rPr lang="ko-KR" altLang="en-US" sz="2800" b="1" dirty="0">
                <a:solidFill>
                  <a:srgbClr val="0000FF"/>
                </a:solidFill>
                <a:latin typeface="나눔명조" pitchFamily="18" charset="-127"/>
                <a:ea typeface="나눔명조" pitchFamily="18" charset="-127"/>
              </a:rPr>
              <a:t>정부의 실패가 발생할 가능성이 적어야 </a:t>
            </a:r>
            <a:r>
              <a:rPr lang="ko-KR" altLang="en-US" sz="2800" dirty="0">
                <a:latin typeface="나눔명조" pitchFamily="18" charset="-127"/>
                <a:ea typeface="나눔명조" pitchFamily="18" charset="-127"/>
              </a:rPr>
              <a:t>한다는 것 역시 하나의 정책선택 기준으로 작용할 수 있음</a:t>
            </a:r>
            <a:endParaRPr lang="en-US" altLang="ko-KR" sz="2800" dirty="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43012" name="바닥글 개체 틀 4">
            <a:extLst>
              <a:ext uri="{FF2B5EF4-FFF2-40B4-BE49-F238E27FC236}">
                <a16:creationId xmlns:a16="http://schemas.microsoft.com/office/drawing/2014/main" id="{CC593C24-ED90-4386-8CEF-5D155CFA84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5</a:t>
            </a:r>
          </a:p>
        </p:txBody>
      </p:sp>
      <p:sp>
        <p:nvSpPr>
          <p:cNvPr id="43013" name="슬라이드 번호 개체 틀 5">
            <a:extLst>
              <a:ext uri="{FF2B5EF4-FFF2-40B4-BE49-F238E27FC236}">
                <a16:creationId xmlns:a16="http://schemas.microsoft.com/office/drawing/2014/main" id="{9D71B2E8-DC90-4188-B167-C4284F7B51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532D2B26-88CC-4B1C-BA46-42452473C1CA}" type="slidenum">
              <a:rPr lang="ko-KR" altLang="en-US" sz="1200" b="0">
                <a:solidFill>
                  <a:schemeClr val="tx1"/>
                </a:solidFill>
              </a:rPr>
              <a:pPr/>
              <a:t>30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indyck">
  <a:themeElements>
    <a:clrScheme name="Pindyck 1">
      <a:dk1>
        <a:srgbClr val="000000"/>
      </a:dk1>
      <a:lt1>
        <a:srgbClr val="FFFFFF"/>
      </a:lt1>
      <a:dk2>
        <a:srgbClr val="006666"/>
      </a:dk2>
      <a:lt2>
        <a:srgbClr val="5F5F5F"/>
      </a:lt2>
      <a:accent1>
        <a:srgbClr val="33CCCC"/>
      </a:accent1>
      <a:accent2>
        <a:srgbClr val="99CCCC"/>
      </a:accent2>
      <a:accent3>
        <a:srgbClr val="FFFFFF"/>
      </a:accent3>
      <a:accent4>
        <a:srgbClr val="000000"/>
      </a:accent4>
      <a:accent5>
        <a:srgbClr val="ADE2E2"/>
      </a:accent5>
      <a:accent6>
        <a:srgbClr val="8AB9B9"/>
      </a:accent6>
      <a:hlink>
        <a:srgbClr val="006666"/>
      </a:hlink>
      <a:folHlink>
        <a:srgbClr val="B2B2B2"/>
      </a:folHlink>
    </a:clrScheme>
    <a:fontScheme name="Pindyc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900" b="1" i="0" u="none" strike="noStrike" cap="none" normalizeH="0" baseline="0" smtClean="0">
            <a:ln>
              <a:noFill/>
            </a:ln>
            <a:solidFill>
              <a:srgbClr val="8D7DFF"/>
            </a:solidFill>
            <a:effectLst/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900" b="1" i="0" u="none" strike="noStrike" cap="none" normalizeH="0" baseline="0" smtClean="0">
            <a:ln>
              <a:noFill/>
            </a:ln>
            <a:solidFill>
              <a:srgbClr val="8D7DFF"/>
            </a:solidFill>
            <a:effectLst/>
            <a:latin typeface="Verdana" pitchFamily="34" charset="0"/>
          </a:defRPr>
        </a:defPPr>
      </a:lstStyle>
    </a:lnDef>
  </a:objectDefaults>
  <a:extraClrSchemeLst>
    <a:extraClrScheme>
      <a:clrScheme name="Pindyck 1">
        <a:dk1>
          <a:srgbClr val="000000"/>
        </a:dk1>
        <a:lt1>
          <a:srgbClr val="FFFFFF"/>
        </a:lt1>
        <a:dk2>
          <a:srgbClr val="006666"/>
        </a:dk2>
        <a:lt2>
          <a:srgbClr val="5F5F5F"/>
        </a:lt2>
        <a:accent1>
          <a:srgbClr val="33CCCC"/>
        </a:accent1>
        <a:accent2>
          <a:srgbClr val="99CCCC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AB9B9"/>
        </a:accent6>
        <a:hlink>
          <a:srgbClr val="006666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ndyck 2">
        <a:dk1>
          <a:srgbClr val="000000"/>
        </a:dk1>
        <a:lt1>
          <a:srgbClr val="FFFFFF"/>
        </a:lt1>
        <a:dk2>
          <a:srgbClr val="333366"/>
        </a:dk2>
        <a:lt2>
          <a:srgbClr val="5F5F5F"/>
        </a:lt2>
        <a:accent1>
          <a:srgbClr val="CC99FF"/>
        </a:accent1>
        <a:accent2>
          <a:srgbClr val="99CCCC"/>
        </a:accent2>
        <a:accent3>
          <a:srgbClr val="FFFFFF"/>
        </a:accent3>
        <a:accent4>
          <a:srgbClr val="000000"/>
        </a:accent4>
        <a:accent5>
          <a:srgbClr val="E2CAFF"/>
        </a:accent5>
        <a:accent6>
          <a:srgbClr val="8AB9B9"/>
        </a:accent6>
        <a:hlink>
          <a:srgbClr val="666699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ndyck 3">
        <a:dk1>
          <a:srgbClr val="000000"/>
        </a:dk1>
        <a:lt1>
          <a:srgbClr val="FFFFFF"/>
        </a:lt1>
        <a:dk2>
          <a:srgbClr val="0000CC"/>
        </a:dk2>
        <a:lt2>
          <a:srgbClr val="434343"/>
        </a:lt2>
        <a:accent1>
          <a:srgbClr val="99CC00"/>
        </a:accent1>
        <a:accent2>
          <a:srgbClr val="FFCC00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E7B900"/>
        </a:accent6>
        <a:hlink>
          <a:srgbClr val="FF0000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ndyck 4">
        <a:dk1>
          <a:srgbClr val="000000"/>
        </a:dk1>
        <a:lt1>
          <a:srgbClr val="64AAAE"/>
        </a:lt1>
        <a:dk2>
          <a:srgbClr val="FFFFCC"/>
        </a:dk2>
        <a:lt2>
          <a:srgbClr val="5F5F5F"/>
        </a:lt2>
        <a:accent1>
          <a:srgbClr val="B4B1DB"/>
        </a:accent1>
        <a:accent2>
          <a:srgbClr val="61C1D7"/>
        </a:accent2>
        <a:accent3>
          <a:srgbClr val="B8D2D3"/>
        </a:accent3>
        <a:accent4>
          <a:srgbClr val="000000"/>
        </a:accent4>
        <a:accent5>
          <a:srgbClr val="D6D5EA"/>
        </a:accent5>
        <a:accent6>
          <a:srgbClr val="57AFC3"/>
        </a:accent6>
        <a:hlink>
          <a:srgbClr val="257177"/>
        </a:hlink>
        <a:folHlink>
          <a:srgbClr val="CC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ndyck 5">
        <a:dk1>
          <a:srgbClr val="5F5F5F"/>
        </a:dk1>
        <a:lt1>
          <a:srgbClr val="F8F8F8"/>
        </a:lt1>
        <a:dk2>
          <a:srgbClr val="2A285A"/>
        </a:dk2>
        <a:lt2>
          <a:srgbClr val="FFFFFF"/>
        </a:lt2>
        <a:accent1>
          <a:srgbClr val="999966"/>
        </a:accent1>
        <a:accent2>
          <a:srgbClr val="8C8B9D"/>
        </a:accent2>
        <a:accent3>
          <a:srgbClr val="ACACB5"/>
        </a:accent3>
        <a:accent4>
          <a:srgbClr val="D4D4D4"/>
        </a:accent4>
        <a:accent5>
          <a:srgbClr val="CACAB8"/>
        </a:accent5>
        <a:accent6>
          <a:srgbClr val="7E7D8E"/>
        </a:accent6>
        <a:hlink>
          <a:srgbClr val="465174"/>
        </a:hlink>
        <a:folHlink>
          <a:srgbClr val="C0C0C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ndyck 6">
        <a:dk1>
          <a:srgbClr val="434343"/>
        </a:dk1>
        <a:lt1>
          <a:srgbClr val="FFFFFF"/>
        </a:lt1>
        <a:dk2>
          <a:srgbClr val="360404"/>
        </a:dk2>
        <a:lt2>
          <a:srgbClr val="FFFFFF"/>
        </a:lt2>
        <a:accent1>
          <a:srgbClr val="669900"/>
        </a:accent1>
        <a:accent2>
          <a:srgbClr val="CC6600"/>
        </a:accent2>
        <a:accent3>
          <a:srgbClr val="AEAAAA"/>
        </a:accent3>
        <a:accent4>
          <a:srgbClr val="DADADA"/>
        </a:accent4>
        <a:accent5>
          <a:srgbClr val="B8CAAA"/>
        </a:accent5>
        <a:accent6>
          <a:srgbClr val="B95C00"/>
        </a:accent6>
        <a:hlink>
          <a:srgbClr val="CC3300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ndyck 7">
        <a:dk1>
          <a:srgbClr val="434343"/>
        </a:dk1>
        <a:lt1>
          <a:srgbClr val="FFFFFF"/>
        </a:lt1>
        <a:dk2>
          <a:srgbClr val="000000"/>
        </a:dk2>
        <a:lt2>
          <a:srgbClr val="8285FE"/>
        </a:lt2>
        <a:accent1>
          <a:srgbClr val="669900"/>
        </a:accent1>
        <a:accent2>
          <a:srgbClr val="9900FF"/>
        </a:accent2>
        <a:accent3>
          <a:srgbClr val="AAAAAA"/>
        </a:accent3>
        <a:accent4>
          <a:srgbClr val="DADADA"/>
        </a:accent4>
        <a:accent5>
          <a:srgbClr val="B8CAAA"/>
        </a:accent5>
        <a:accent6>
          <a:srgbClr val="8A00E7"/>
        </a:accent6>
        <a:hlink>
          <a:srgbClr val="6600CC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ndyck 8">
        <a:dk1>
          <a:srgbClr val="434343"/>
        </a:dk1>
        <a:lt1>
          <a:srgbClr val="FFFFFF"/>
        </a:lt1>
        <a:dk2>
          <a:srgbClr val="000000"/>
        </a:dk2>
        <a:lt2>
          <a:srgbClr val="0066FF"/>
        </a:lt2>
        <a:accent1>
          <a:srgbClr val="339966"/>
        </a:accent1>
        <a:accent2>
          <a:srgbClr val="FFCC00"/>
        </a:accent2>
        <a:accent3>
          <a:srgbClr val="AAAAAA"/>
        </a:accent3>
        <a:accent4>
          <a:srgbClr val="DADADA"/>
        </a:accent4>
        <a:accent5>
          <a:srgbClr val="ADCAB8"/>
        </a:accent5>
        <a:accent6>
          <a:srgbClr val="E7B900"/>
        </a:accent6>
        <a:hlink>
          <a:srgbClr val="CC0000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ndyck 9">
        <a:dk1>
          <a:srgbClr val="333300"/>
        </a:dk1>
        <a:lt1>
          <a:srgbClr val="FFFFFF"/>
        </a:lt1>
        <a:dk2>
          <a:srgbClr val="669900"/>
        </a:dk2>
        <a:lt2>
          <a:srgbClr val="FFFFCC"/>
        </a:lt2>
        <a:accent1>
          <a:srgbClr val="CCCC00"/>
        </a:accent1>
        <a:accent2>
          <a:srgbClr val="99CC00"/>
        </a:accent2>
        <a:accent3>
          <a:srgbClr val="B8CAAA"/>
        </a:accent3>
        <a:accent4>
          <a:srgbClr val="DADADA"/>
        </a:accent4>
        <a:accent5>
          <a:srgbClr val="E2E2AA"/>
        </a:accent5>
        <a:accent6>
          <a:srgbClr val="8AB900"/>
        </a:accent6>
        <a:hlink>
          <a:srgbClr val="336600"/>
        </a:hlink>
        <a:folHlink>
          <a:srgbClr val="FFFF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ndyck 10">
        <a:dk1>
          <a:srgbClr val="333333"/>
        </a:dk1>
        <a:lt1>
          <a:srgbClr val="FFFFCC"/>
        </a:lt1>
        <a:dk2>
          <a:srgbClr val="660000"/>
        </a:dk2>
        <a:lt2>
          <a:srgbClr val="CCCCCC"/>
        </a:lt2>
        <a:accent1>
          <a:srgbClr val="FF6600"/>
        </a:accent1>
        <a:accent2>
          <a:srgbClr val="CC3300"/>
        </a:accent2>
        <a:accent3>
          <a:srgbClr val="B8AAAA"/>
        </a:accent3>
        <a:accent4>
          <a:srgbClr val="DADAAE"/>
        </a:accent4>
        <a:accent5>
          <a:srgbClr val="FFB8AA"/>
        </a:accent5>
        <a:accent6>
          <a:srgbClr val="B92D00"/>
        </a:accent6>
        <a:hlink>
          <a:srgbClr val="990000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1837</TotalTime>
  <Words>1732</Words>
  <Application>Microsoft Office PowerPoint</Application>
  <PresentationFormat>화면 슬라이드 쇼(4:3)</PresentationFormat>
  <Paragraphs>234</Paragraphs>
  <Slides>30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30</vt:i4>
      </vt:variant>
    </vt:vector>
  </HeadingPairs>
  <TitlesOfParts>
    <vt:vector size="41" baseType="lpstr">
      <vt:lpstr>굴림</vt:lpstr>
      <vt:lpstr>나눔고딕</vt:lpstr>
      <vt:lpstr>나눔명조</vt:lpstr>
      <vt:lpstr>맑은 고딕</vt:lpstr>
      <vt:lpstr>Arial</vt:lpstr>
      <vt:lpstr>Cambria Math</vt:lpstr>
      <vt:lpstr>Century Gothic</vt:lpstr>
      <vt:lpstr>Times New Roman</vt:lpstr>
      <vt:lpstr>Verdana</vt:lpstr>
      <vt:lpstr>Wingdings</vt:lpstr>
      <vt:lpstr>Pindyck</vt:lpstr>
      <vt:lpstr>Ⅲ. 환경정책의 수립과 집행</vt:lpstr>
      <vt:lpstr>5장 개요</vt:lpstr>
      <vt:lpstr>환경정책의 평가기준</vt:lpstr>
      <vt:lpstr>오염피해와 저감비용</vt:lpstr>
      <vt:lpstr>오염피해</vt:lpstr>
      <vt:lpstr>배출량 기준 한계오염피해곡선</vt:lpstr>
      <vt:lpstr>배출량 기준 한계오염피해곡선</vt:lpstr>
      <vt:lpstr>오염도 기준 한계오염피해곡선</vt:lpstr>
      <vt:lpstr>저감량과 한계편익</vt:lpstr>
      <vt:lpstr>저감비용(abatement cost)</vt:lpstr>
      <vt:lpstr>한계저감비용</vt:lpstr>
      <vt:lpstr>지역이나 산업 전체의 한계저감비용</vt:lpstr>
      <vt:lpstr>등한계원칙 (equi-marginal principle)</vt:lpstr>
      <vt:lpstr>등한계원칙 (equi-marginal principle)</vt:lpstr>
      <vt:lpstr>등한계원칙 (equi-marginal principle)</vt:lpstr>
      <vt:lpstr>환경의 최적 이용</vt:lpstr>
      <vt:lpstr>환경의 최적 이용</vt:lpstr>
      <vt:lpstr>환경정책의 평가기준</vt:lpstr>
      <vt:lpstr>환경정책의 종류</vt:lpstr>
      <vt:lpstr> 효율성 기준</vt:lpstr>
      <vt:lpstr>형평성</vt:lpstr>
      <vt:lpstr>기술개발의 촉진</vt:lpstr>
      <vt:lpstr>감시 및 감독비용</vt:lpstr>
      <vt:lpstr>규제준수의 감시</vt:lpstr>
      <vt:lpstr>규제위반과 감시행위: 게임이론의 적용</vt:lpstr>
      <vt:lpstr>규제위반과 감시행위: 게임이론의 적용</vt:lpstr>
      <vt:lpstr>규제위반과 감시행위: 게임이론의 적용</vt:lpstr>
      <vt:lpstr>규제위반과 감시행위: 게임이론의 적용</vt:lpstr>
      <vt:lpstr>윤리적 기준</vt:lpstr>
      <vt:lpstr>기타 평가기준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</dc:title>
  <dc:creator>Marie Truesdell</dc:creator>
  <cp:lastModifiedBy>User</cp:lastModifiedBy>
  <cp:revision>265</cp:revision>
  <dcterms:created xsi:type="dcterms:W3CDTF">1997-07-14T00:22:12Z</dcterms:created>
  <dcterms:modified xsi:type="dcterms:W3CDTF">2025-02-15T00:23:10Z</dcterms:modified>
</cp:coreProperties>
</file>