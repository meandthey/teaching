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5"/>
  </p:notesMasterIdLst>
  <p:handoutMasterIdLst>
    <p:handoutMasterId r:id="rId66"/>
  </p:handoutMasterIdLst>
  <p:sldIdLst>
    <p:sldId id="262" r:id="rId2"/>
    <p:sldId id="332" r:id="rId3"/>
    <p:sldId id="344" r:id="rId4"/>
    <p:sldId id="293" r:id="rId5"/>
    <p:sldId id="359" r:id="rId6"/>
    <p:sldId id="360" r:id="rId7"/>
    <p:sldId id="348" r:id="rId8"/>
    <p:sldId id="266" r:id="rId9"/>
    <p:sldId id="362" r:id="rId10"/>
    <p:sldId id="364" r:id="rId11"/>
    <p:sldId id="365" r:id="rId12"/>
    <p:sldId id="366" r:id="rId13"/>
    <p:sldId id="367" r:id="rId14"/>
    <p:sldId id="368" r:id="rId15"/>
    <p:sldId id="370" r:id="rId16"/>
    <p:sldId id="379" r:id="rId17"/>
    <p:sldId id="371" r:id="rId18"/>
    <p:sldId id="380" r:id="rId19"/>
    <p:sldId id="372" r:id="rId20"/>
    <p:sldId id="405" r:id="rId21"/>
    <p:sldId id="406" r:id="rId22"/>
    <p:sldId id="407" r:id="rId23"/>
    <p:sldId id="408" r:id="rId24"/>
    <p:sldId id="423" r:id="rId25"/>
    <p:sldId id="373" r:id="rId26"/>
    <p:sldId id="374" r:id="rId27"/>
    <p:sldId id="381" r:id="rId28"/>
    <p:sldId id="375" r:id="rId29"/>
    <p:sldId id="376" r:id="rId30"/>
    <p:sldId id="382" r:id="rId31"/>
    <p:sldId id="383" r:id="rId32"/>
    <p:sldId id="384" r:id="rId33"/>
    <p:sldId id="377" r:id="rId34"/>
    <p:sldId id="378" r:id="rId35"/>
    <p:sldId id="385" r:id="rId36"/>
    <p:sldId id="386" r:id="rId37"/>
    <p:sldId id="387" r:id="rId38"/>
    <p:sldId id="388" r:id="rId39"/>
    <p:sldId id="389" r:id="rId40"/>
    <p:sldId id="390" r:id="rId41"/>
    <p:sldId id="391" r:id="rId42"/>
    <p:sldId id="392" r:id="rId43"/>
    <p:sldId id="421" r:id="rId44"/>
    <p:sldId id="394" r:id="rId45"/>
    <p:sldId id="395" r:id="rId46"/>
    <p:sldId id="396" r:id="rId47"/>
    <p:sldId id="397" r:id="rId48"/>
    <p:sldId id="398" r:id="rId49"/>
    <p:sldId id="399" r:id="rId50"/>
    <p:sldId id="400" r:id="rId51"/>
    <p:sldId id="401" r:id="rId52"/>
    <p:sldId id="403" r:id="rId53"/>
    <p:sldId id="404" r:id="rId54"/>
    <p:sldId id="424" r:id="rId55"/>
    <p:sldId id="413" r:id="rId56"/>
    <p:sldId id="414" r:id="rId57"/>
    <p:sldId id="415" r:id="rId58"/>
    <p:sldId id="416" r:id="rId59"/>
    <p:sldId id="425" r:id="rId60"/>
    <p:sldId id="417" r:id="rId61"/>
    <p:sldId id="419" r:id="rId62"/>
    <p:sldId id="420" r:id="rId63"/>
    <p:sldId id="422" r:id="rId64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07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50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A0B6AFB-52B3-4978-BD5B-7BFCB8D7615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FE9BB45-9A95-43A5-AE1A-003DCA3DCC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86C9984-6FB5-4AEF-8E02-F84A8B233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9AD25C0-069F-4DA1-AE8D-A9466A69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A61D173D-CE62-40D5-85DA-10555B23F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C63D552B-85FE-4892-B4A9-417A7ACF8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4C75FC3A-4FCC-42E0-9AE5-4D46FF7B33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39B150F6-B9DE-47C9-A12A-29FBAD5985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B4D1CAE-CF3D-4420-99FC-A331F7676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018F3A0-E79E-40AE-9578-9E8EF9E13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06A0DF62-67B9-4851-AB11-D02C5D5AB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B6574E2D-14A2-4F0F-98A0-4C88FA7A2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5CECD440-B195-42C3-BFD7-F00EFFD86E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43E24C3E-45ED-4CDE-8CB9-E0DD2CE57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6CAA523-7A29-4A27-B6EA-25065FF49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EDAC3DF-C953-476A-B109-2A9235547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8BC463AD-3D02-48B3-8DAE-75A1740A2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B089C68D-A01F-4103-A8C2-9A595AF91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EFAE2856-0701-4F31-AC60-98BDC556C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C820DB36-7300-47A2-A904-B861AC656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AE86A2B-F453-48D8-B090-048AE60AB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42DFB9A-93DB-49C9-8679-0B16A1CD5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E7AC98F2-6985-4AA2-9E5B-FF418EAEB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EC551FC4-47D8-42F9-8A51-B26547F5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D747B09D-6BCF-4D74-8EEC-082D473EBE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C94F6831-E5FF-4C6A-A388-34E7C12868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AA330ED-882A-4204-BDFA-C9240750A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AF4A68D-5309-4632-AA8D-EE2A13A33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0A6F84E7-AC06-4568-A4F7-E6B8B2C1C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BC12F4E8-49D4-4C6F-BB21-E9B16F619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67219C8F-A956-4E56-B2AE-699F01066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68D0EA89-0ADC-43BE-AB27-B54F051A3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1BFE4B1-647B-4848-BA3A-040C19345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A2E2746-E1DD-49DA-9B5C-9799BBC88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BF8579A4-B1C7-4160-8EB6-37817E465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B9168320-CF9A-4E90-9FF1-7FB97E4F7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1989D814-6114-42E2-82C5-827A2F2BD7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B1A0B6AB-9EC8-4318-B7BD-58D60BEEB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9D1716-D05D-4F30-9FDA-D269C0A2E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90920A8-5A8C-4D9D-8102-F4BEBC80B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86339580-0710-470F-B1B0-813426991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BCB5110A-1629-4615-BA32-528D3A521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FF3D3680-4E2A-4F02-BFC6-1E99B4ED31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09E0753F-6384-486D-9A29-F156AAD166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D3139F3-A2D9-4A0D-82EB-E9DB3890D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35ABEF5-1117-48C9-8391-9585A84C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5206B42C-D15C-4118-8281-1A325BAFA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DB87C747-7DE4-4634-B4D1-470D64D48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2C408CC3-D8EF-46E1-B05F-741046E6D1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FDE1D6B0-4D70-487D-844E-7C1B03BF5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D9A1A7-A3A6-42F0-A78B-430FC2E00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2D8EE42-764D-4C5C-A048-922244B5F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34786BC2-94F4-4E9D-A32E-40B13FD30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527DCE99-CFE5-41C8-B724-A76B0DB0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A93B35D6-C9A6-4DCF-8360-D16E3D8F81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83D02883-CF7F-4E4E-8B29-CAD09C797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9863D8B-F921-4BEB-933D-0E23190FA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4F4A26C-0EF4-439F-9CB5-16AA64911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9E0D6CB0-752F-4F8D-A146-8CF2701E9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3E50C12C-8DB7-41FA-9727-07DA9F5CB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BA8BD02C-E85C-4959-9F96-5B060791B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DB403113-500A-4137-A3D7-0C652AAAE0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6C9E268-8856-4A26-9598-F6EE13525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C6CC1E2-DCF9-4641-BD1A-ABE45C8BB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40A210BA-6BC2-4815-B5E2-8D337FBBD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F1FC5D9D-51C3-40E1-A383-39DC8EEC1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3FE43528-6793-4074-811B-12DF7EA8FF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33FF8B7C-9961-466F-89D9-AACB109A1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03806514-0D0A-4163-B45B-EFC802679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261C9A5-7692-4BA3-8D3C-9FDF5A5B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0BF285AD-592E-48FA-9F0F-224B826AE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EB4F4668-03C5-4B93-AEB7-C187EA12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144830EE-A870-4433-AA37-223D4DDA00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9B99D003-5AD2-4DE1-A598-E168A783A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3B8F74B-0BB1-4EFC-B65C-FCF6BAD8F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09752984-9FA7-46B1-8557-63CF21BFA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5711ADFE-998E-448A-B974-D1FCDAEAF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ADDA2960-5A39-46E9-BA52-73C20967D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6B2EDA65-0B73-4B79-AF68-E29C85151E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32135380-2E82-4595-BB5D-E6B9F7439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58BE8CC-E410-4796-B1B6-03D25925B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6652DC6-49BA-4C6A-960F-DE2175BB0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7358F9B7-97CC-4BFB-8366-CBB02C384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83142F43-47F5-4BD2-BCCA-A3E82FB45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F709A34B-24D9-4879-8095-C81FF1373C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EB1F6F5F-7A77-4D5B-A36F-F01075A1F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316324E-6EC1-4C2F-AA90-1EEB964BF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F1E6933-53AD-4DB7-A8F2-52C9005DB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38853E3C-9270-47DA-9514-6C434291E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BAB49852-A71D-405F-8CF9-AD185A3BA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C9D63C04-1FF6-4C7C-A1DE-124769BC9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17D7533F-9925-4D91-AB6A-2F869E6335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A7A26500-616D-4655-9359-680CC604D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39D834C-5808-4564-B5EC-509177250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ECE65BA0-5691-406F-B3AB-4EA206FB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5DDC479A-D359-4B4D-8CC4-3954C3B89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C011F7EF-5F7A-408B-BBB0-A579C89A1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480BAEE5-C998-48C4-84AE-73469A007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03D819E-BC84-466D-81E5-B4DA7D7F4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1DAF76D-F514-4949-ACD1-677CF8327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C6659CF1-DD1E-4BE9-86DA-77A30AEF2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4AC7D838-67DA-4414-B8E9-EAFBC77B9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1947D622-FC11-4CC4-9141-F0E2298E06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18A63A05-F55B-4367-A222-61633CCE8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197840BD-26C9-4F59-93EA-03AA05C1E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07C8DCC-20AF-4EEE-9FD6-0DC14911E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85DEBE76-AEED-4E93-BD16-163E85B40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F56ED0D3-2AD1-4E18-873D-EE092360B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499FAD72-CA30-4331-AABA-9C88692EF5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6867C012-26BA-4800-A593-A80D493C1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2B1A522-D486-40F0-B951-FFC897D4D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74C1985-AD09-4C9C-AB97-D500AB757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2CFB9BFA-104A-4A13-95EB-282C52A40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CB5E6B4A-65E8-4750-9D9F-DDA2DFBA5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C7498C2E-B9DE-44F9-8297-210EFA601B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A42C77FD-0182-45D2-8A4D-80A6CDE0AA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BCB73A2C-DDC5-4BE9-A8CA-365663C70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D70146B-8884-46AE-9156-842F8013C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D0F96F92-9920-4888-8CB0-88D9ACCDD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1199CB6B-AEEE-45E7-B4AA-9056B3995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85591CD8-B61B-48DE-B93F-BFBD9B13C2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9213622F-6735-481F-81ED-96F36FA1D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FD6D1BF-21D5-42DD-948A-EA2749F08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82B8A8C-9F59-4235-A8E6-6860A0A0A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5D5A772F-36B1-4862-9E1A-793CDE4C6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657B7E70-569A-4B1E-80A5-56ADBF8B1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563F8717-8ABF-496F-8417-F1059CB3BD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07CBEB41-61FC-4D7B-8C71-C30FFE56B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1141E99A-C62C-4A10-8F03-97F21C0AB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8291226-2A00-4089-AE12-C2D46A3C7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B51FCAAF-3300-4ECC-BF0A-A1762389B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D72E7A7C-3D3E-462C-8EC8-EFDF90304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C3EB8D27-A02E-47B0-9CAF-387D24D852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A28CCFF8-D3AE-4CB1-B648-EB5FA5FC36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31F0E2C-BBB7-4CEF-B19C-3DDDD66C8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9589F3E-FBDB-4992-B593-815651865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672C282A-3EAF-4D52-9B3F-21D895E60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480347F1-7310-42D1-BE2F-484EBD490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BF92F7F8-7393-426B-95F1-4A2553B4B0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29ECD245-7FDD-4579-BCBC-80B948C7A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C2F2B8B5-40D1-495E-9098-42E3AE49F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8F03084-A2A5-4E3E-8722-488EA5BD1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069B4633-9BDC-4216-8FB4-25D0BDF8C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4D504A29-F7A4-4CB9-AA4E-DA4633ED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2" name="Rectangle 6">
            <a:extLst>
              <a:ext uri="{FF2B5EF4-FFF2-40B4-BE49-F238E27FC236}">
                <a16:creationId xmlns:a16="http://schemas.microsoft.com/office/drawing/2014/main" id="{74E9CBC5-ABA4-46A4-874E-2C52F9164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6C2B028D-2A8F-4840-A6D9-DAFC7C98F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E93B897B-6F82-4D1A-B425-F2BE25A12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1BA18BF-5400-4D71-AAA7-7E26DB4E2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FAD54A86-23F0-4DD5-94FE-F2358E773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2EBEDD63-5F7C-4109-82F4-8F1326210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10" name="Rectangle 6">
            <a:extLst>
              <a:ext uri="{FF2B5EF4-FFF2-40B4-BE49-F238E27FC236}">
                <a16:creationId xmlns:a16="http://schemas.microsoft.com/office/drawing/2014/main" id="{056C7809-B603-4C75-BF83-B4550E631A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2711" name="Rectangle 7">
            <a:extLst>
              <a:ext uri="{FF2B5EF4-FFF2-40B4-BE49-F238E27FC236}">
                <a16:creationId xmlns:a16="http://schemas.microsoft.com/office/drawing/2014/main" id="{41703742-1855-4ED1-BBFD-9EEE36593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4D7D065B-3C8A-4674-8902-BB4B404B8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81152C3-39E0-4660-BFEA-5702DBD45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3F534DE2-804A-432F-A23D-AC4B47041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FE3D9469-39AF-47B3-B4E7-50B95563D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42C1D590-EDC3-46A0-B0B2-5E401E109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126D5F88-103D-446D-8B59-1946AF7D7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F67C24B3-2707-4253-BA9D-9C880B939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CDA40F78-3A09-48F9-B636-373532B5A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6E6E318C-370C-4833-9CAC-44C8CA198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DC8F798C-1BA7-4FA2-BB43-AF0B6C1C0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F612F8A5-22F0-4F19-9DD4-5F3C847148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267CC00B-4E26-4DF9-9BD8-3B98668C21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F2639E00-EAB8-4731-BDEB-6776B19F5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7E7242D5-2BC7-4C16-83C1-E217B9D0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8E85958C-EA53-4819-BFAA-8E2C66DFA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74765835-A31C-4B26-B609-2F0FCED87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4" name="Rectangle 6">
            <a:extLst>
              <a:ext uri="{FF2B5EF4-FFF2-40B4-BE49-F238E27FC236}">
                <a16:creationId xmlns:a16="http://schemas.microsoft.com/office/drawing/2014/main" id="{4948000B-40AD-484F-8A9F-747D161E6E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84DBEA15-D7B8-4610-AA17-36F7AAD48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37D2312B-55CC-4B66-BB47-9CC718EBB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BFEE73F-1D9A-452B-A866-C5D06C40B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AC1D1A67-023E-408D-AC61-CCD555072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67C307D2-C84B-4043-B263-E0C6B1C0B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A6E62C72-18B5-4EDF-A360-8D5831E772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D1C4B63A-131E-46E5-92D9-F112DDC55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810E963A-D095-4625-8687-7BC4E34A7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6012763-8312-4666-8698-823C682E1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F14F826F-FB5E-4BBE-8E10-D3FDE11DB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36F14189-9ACA-45C5-8DE5-DBADADD3A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F3549CF5-6BF9-49EF-BDAB-8A50EFD99A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1D62F5E5-821F-4410-91CD-DDC3A65D93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810E963A-D095-4625-8687-7BC4E34A7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6012763-8312-4666-8698-823C682E1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F14F826F-FB5E-4BBE-8E10-D3FDE11DB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36F14189-9ACA-45C5-8DE5-DBADADD3A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F3549CF5-6BF9-49EF-BDAB-8A50EFD99A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1D62F5E5-821F-4410-91CD-DDC3A65D93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25378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26F8B086-FECA-419B-9361-8B0FD769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649C8816-5D6D-4A53-8FD2-56B5FDA36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C2328AA4-6B0D-433A-83BD-1E800A081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21EFC8D8-C644-4D92-963F-4B6D24DA0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DB1082E6-73E0-4769-802D-2B332504A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905B2983-D03B-4EBD-8407-BAE6D186E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BE11A09-B95F-460C-BA6A-C1CEACBF1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8036773-6F6D-41FA-935C-38122EA88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C04695B8-6A9F-4CC1-8D37-574E99A23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BC549BE3-9976-4FD0-88F5-30C7BAE60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0D7FD97C-C2B4-41D7-A9BB-0CEA7FA776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3C10AF01-EDC5-4F2E-817E-4696DF5A2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18ABC4B4-F797-44F3-9A81-D7F0F053D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7A37351-AD16-4BDA-AF27-755C93F23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57323FD2-1E09-4B57-B7EA-386AFF73C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95EDCD02-53B0-454F-AF6E-6394AB784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BB2B30A8-F040-4EEA-930E-BF7098EC84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125132C8-E8ED-4D81-AC61-B7A6291E7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BECA8147-F1AF-41C9-A971-B4B594477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D42DDDC8-60F7-4971-ADDA-7EC6D80A2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0DA9801A-EF39-413A-AFDA-5712A187A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71FAE986-A194-42FE-8209-228B6D377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223670F7-350E-47A5-A6E7-0E068A4B3C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9DF5F696-C5C3-4C32-8BB3-B5922A8D43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A0D72DCF-C53F-4B9F-9F53-54F8B178D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C0C39D26-3123-491A-864B-55B04148F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95236" name="Rectangle 4">
            <a:extLst>
              <a:ext uri="{FF2B5EF4-FFF2-40B4-BE49-F238E27FC236}">
                <a16:creationId xmlns:a16="http://schemas.microsoft.com/office/drawing/2014/main" id="{C9EE3B4D-63E7-4EFE-B7E7-C01224A5F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7" name="Rectangle 5">
            <a:extLst>
              <a:ext uri="{FF2B5EF4-FFF2-40B4-BE49-F238E27FC236}">
                <a16:creationId xmlns:a16="http://schemas.microsoft.com/office/drawing/2014/main" id="{E627F72C-9E91-4C72-864A-A10EEF2CD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8" name="Rectangle 6">
            <a:extLst>
              <a:ext uri="{FF2B5EF4-FFF2-40B4-BE49-F238E27FC236}">
                <a16:creationId xmlns:a16="http://schemas.microsoft.com/office/drawing/2014/main" id="{BF860C9F-65D7-4A5E-8025-18030B3E3B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5239" name="Rectangle 7">
            <a:extLst>
              <a:ext uri="{FF2B5EF4-FFF2-40B4-BE49-F238E27FC236}">
                <a16:creationId xmlns:a16="http://schemas.microsoft.com/office/drawing/2014/main" id="{EF59AD38-56DD-4448-8C48-35986DC3A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D3A15C0B-2620-4039-8E02-36C2B9723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5D48FAA-305B-4D2A-B93F-6B0596A74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B9B49C8D-7E28-459C-8474-16629E463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0FE17F5B-929D-40AF-9CED-3F5266CAE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6" name="Rectangle 6">
            <a:extLst>
              <a:ext uri="{FF2B5EF4-FFF2-40B4-BE49-F238E27FC236}">
                <a16:creationId xmlns:a16="http://schemas.microsoft.com/office/drawing/2014/main" id="{C865853C-A7E6-4574-8343-963223022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7287" name="Rectangle 7">
            <a:extLst>
              <a:ext uri="{FF2B5EF4-FFF2-40B4-BE49-F238E27FC236}">
                <a16:creationId xmlns:a16="http://schemas.microsoft.com/office/drawing/2014/main" id="{01206637-6A88-4293-B1AD-261CA6D83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51C06763-D0ED-44AF-926B-6ADC1F558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E8D36446-5E74-403B-B8D2-2DAC7B62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B17AA583-56D9-4EBB-BCE4-70478F64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C8A30C2A-1A41-42FA-A5DE-035C9DD63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4" name="Rectangle 6">
            <a:extLst>
              <a:ext uri="{FF2B5EF4-FFF2-40B4-BE49-F238E27FC236}">
                <a16:creationId xmlns:a16="http://schemas.microsoft.com/office/drawing/2014/main" id="{6839C8C8-3951-4BB5-9F7C-213443F294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9335" name="Rectangle 7">
            <a:extLst>
              <a:ext uri="{FF2B5EF4-FFF2-40B4-BE49-F238E27FC236}">
                <a16:creationId xmlns:a16="http://schemas.microsoft.com/office/drawing/2014/main" id="{8AD2E3BB-64A3-4969-A701-689BF3B63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C7F0AEF5-0F05-4358-AD52-6ADD92A69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74458B0A-B2CC-453A-A3B7-95CD5FCA9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AC98BA44-86DF-436C-83BE-BA58F0E95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51B82920-5100-4197-A472-1E3EB8B99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E7342548-CB45-41DE-9CE2-0EB87B6823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7AF3BA5A-AEFB-4C0A-B488-0C8DAED8E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0D192514-3AA4-4912-B701-5E63D2EA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E108620A-9185-4D0D-B02B-5BC544BEB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03428" name="Rectangle 4">
            <a:extLst>
              <a:ext uri="{FF2B5EF4-FFF2-40B4-BE49-F238E27FC236}">
                <a16:creationId xmlns:a16="http://schemas.microsoft.com/office/drawing/2014/main" id="{CDB1E4A8-C263-4132-B41E-9FC19B978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9" name="Rectangle 5">
            <a:extLst>
              <a:ext uri="{FF2B5EF4-FFF2-40B4-BE49-F238E27FC236}">
                <a16:creationId xmlns:a16="http://schemas.microsoft.com/office/drawing/2014/main" id="{CEE89C4F-5A7F-4D16-8F37-A4DA5A6CE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30" name="Rectangle 6">
            <a:extLst>
              <a:ext uri="{FF2B5EF4-FFF2-40B4-BE49-F238E27FC236}">
                <a16:creationId xmlns:a16="http://schemas.microsoft.com/office/drawing/2014/main" id="{6D9AE2DE-1FA9-4789-A089-26ADFE5CC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3431" name="Rectangle 7">
            <a:extLst>
              <a:ext uri="{FF2B5EF4-FFF2-40B4-BE49-F238E27FC236}">
                <a16:creationId xmlns:a16="http://schemas.microsoft.com/office/drawing/2014/main" id="{FB08E237-B09C-4F46-B8EC-43C5170E0C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D4FE4003-F098-4561-9CA8-C27A99ADC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94E14EE-4BF8-4A15-9517-0C8A1A9CA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05476" name="Rectangle 4">
            <a:extLst>
              <a:ext uri="{FF2B5EF4-FFF2-40B4-BE49-F238E27FC236}">
                <a16:creationId xmlns:a16="http://schemas.microsoft.com/office/drawing/2014/main" id="{9AE1B46E-B69B-400A-A63E-66CF39E20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7" name="Rectangle 5">
            <a:extLst>
              <a:ext uri="{FF2B5EF4-FFF2-40B4-BE49-F238E27FC236}">
                <a16:creationId xmlns:a16="http://schemas.microsoft.com/office/drawing/2014/main" id="{61E3CC21-30D2-48D9-8DAE-6AC190C7B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8" name="Rectangle 6">
            <a:extLst>
              <a:ext uri="{FF2B5EF4-FFF2-40B4-BE49-F238E27FC236}">
                <a16:creationId xmlns:a16="http://schemas.microsoft.com/office/drawing/2014/main" id="{4E1D3461-A99C-48E3-8290-3A4A03EA82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5479" name="Rectangle 7">
            <a:extLst>
              <a:ext uri="{FF2B5EF4-FFF2-40B4-BE49-F238E27FC236}">
                <a16:creationId xmlns:a16="http://schemas.microsoft.com/office/drawing/2014/main" id="{3B9CE761-DD75-420E-96C9-CC8C1F8F4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D4FE4003-F098-4561-9CA8-C27A99ADC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94E14EE-4BF8-4A15-9517-0C8A1A9CA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05476" name="Rectangle 4">
            <a:extLst>
              <a:ext uri="{FF2B5EF4-FFF2-40B4-BE49-F238E27FC236}">
                <a16:creationId xmlns:a16="http://schemas.microsoft.com/office/drawing/2014/main" id="{9AE1B46E-B69B-400A-A63E-66CF39E20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7" name="Rectangle 5">
            <a:extLst>
              <a:ext uri="{FF2B5EF4-FFF2-40B4-BE49-F238E27FC236}">
                <a16:creationId xmlns:a16="http://schemas.microsoft.com/office/drawing/2014/main" id="{61E3CC21-30D2-48D9-8DAE-6AC190C7B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8" name="Rectangle 6">
            <a:extLst>
              <a:ext uri="{FF2B5EF4-FFF2-40B4-BE49-F238E27FC236}">
                <a16:creationId xmlns:a16="http://schemas.microsoft.com/office/drawing/2014/main" id="{4E1D3461-A99C-48E3-8290-3A4A03EA82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5479" name="Rectangle 7">
            <a:extLst>
              <a:ext uri="{FF2B5EF4-FFF2-40B4-BE49-F238E27FC236}">
                <a16:creationId xmlns:a16="http://schemas.microsoft.com/office/drawing/2014/main" id="{3B9CE761-DD75-420E-96C9-CC8C1F8F4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990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FF5A9AC4-145C-4F50-97D9-83D61CE27239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B2EDF8F1-6D1D-487F-AD2A-11812BCA6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8CD01DC2-1F1A-440D-BB7E-5A66B61F4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57 w 64000"/>
                <a:gd name="T1" fmla="*/ 3 h 64000"/>
                <a:gd name="T2" fmla="*/ 83 w 64000"/>
                <a:gd name="T3" fmla="*/ 41 h 64000"/>
                <a:gd name="T4" fmla="*/ 57 w 64000"/>
                <a:gd name="T5" fmla="*/ 80 h 64000"/>
                <a:gd name="T6" fmla="*/ 57 w 64000"/>
                <a:gd name="T7" fmla="*/ 80 h 64000"/>
                <a:gd name="T8" fmla="*/ 57 w 64000"/>
                <a:gd name="T9" fmla="*/ 80 h 64000"/>
                <a:gd name="T10" fmla="*/ 57 w 64000"/>
                <a:gd name="T11" fmla="*/ 80 h 64000"/>
                <a:gd name="T12" fmla="*/ 57 w 64000"/>
                <a:gd name="T13" fmla="*/ 3 h 64000"/>
                <a:gd name="T14" fmla="*/ 57 w 64000"/>
                <a:gd name="T15" fmla="*/ 3 h 64000"/>
                <a:gd name="T16" fmla="*/ 57 w 64000"/>
                <a:gd name="T17" fmla="*/ 3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FD1A2EA6-5BDE-482B-8E48-03B758D84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81 w 64000"/>
                <a:gd name="T1" fmla="*/ 10 h 64000"/>
                <a:gd name="T2" fmla="*/ 101 w 64000"/>
                <a:gd name="T3" fmla="*/ 51 h 64000"/>
                <a:gd name="T4" fmla="*/ 81 w 64000"/>
                <a:gd name="T5" fmla="*/ 91 h 64000"/>
                <a:gd name="T6" fmla="*/ 81 w 64000"/>
                <a:gd name="T7" fmla="*/ 91 h 64000"/>
                <a:gd name="T8" fmla="*/ 81 w 64000"/>
                <a:gd name="T9" fmla="*/ 91 h 64000"/>
                <a:gd name="T10" fmla="*/ 81 w 64000"/>
                <a:gd name="T11" fmla="*/ 91 h 64000"/>
                <a:gd name="T12" fmla="*/ 81 w 64000"/>
                <a:gd name="T13" fmla="*/ 10 h 64000"/>
                <a:gd name="T14" fmla="*/ 81 w 64000"/>
                <a:gd name="T15" fmla="*/ 10 h 64000"/>
                <a:gd name="T16" fmla="*/ 81 w 64000"/>
                <a:gd name="T17" fmla="*/ 1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D726A6A8-CD1C-4F3E-93C7-CC0BF50A94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C538CFED-45E3-4A4E-9867-E34BDD815C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BB28AD4B-7645-4ACF-AE43-EDDF91C830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40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D661819-B19A-47D3-A5AA-A465D59C6B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72A2C7B-4F67-4208-83BA-0FA82A697D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2C8ED47-4DC9-4BE5-AED6-B2B0E9AE2A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95DF81-F274-4983-979B-0FB960C68A6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627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8FB0929-C941-4DB3-81DE-E62517FD08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60B9C75-76AB-43DE-993F-8EFD38BF0F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4AE27CB-BBF2-4CC7-B12B-EED7FC3F47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1A092B-6793-40FA-A42F-19F77C90B49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51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B50063C-B6FE-4CFA-A85F-FD5061DC64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C1C3714-C3E0-4086-A912-64A55A3832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018244B-A189-4DC9-98A8-AEABA70C97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CD2E0D-74F0-491F-9683-D9E3209FBB7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145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3197A3A-68A1-4285-B241-B06E1E107B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BC7CDB6-C320-4070-87A6-534B1DF4A1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C9008C22-1A76-40EC-9FC8-46C82476AD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0C1902-F7FE-4647-8400-B850375F370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746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CB38263E-5F8C-4ECC-918B-430AA14426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9DA56DF-13E5-4F9F-A91D-81E03F842A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5D260AD4-1B4C-40A4-BE76-9C36B7AB2A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3FA2F-0CAD-45BA-BC77-3E1F508A235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633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BAF9EFE6-19E5-49E3-9501-86341B84C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C12EB61-8185-4B21-8ECE-ED3853867A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2C03A71-6FEB-4756-BBA4-187BECB039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8C9ADA-8AF1-4931-8A99-975996EFCF5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2864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7D2D25C-0242-4D9E-9255-845EACC881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549AF20-D43E-4D3D-9AC3-F14094C4B1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30719A1-B228-475C-AD60-E6894E004B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D5539-3237-4948-A93B-241715D650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30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8407E71-C16A-4FFC-8289-B6DFD29BFC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DB994C8-FC95-4515-846E-C3B371BCCF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56E2C3A2-D2B6-4B8A-99C5-3C91824CE4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46B4A5-89BE-4542-ACCB-CEF13CAB42C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6580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5B2CEC31-BBE6-4FB5-AB96-FE0120B56C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D8E8502-AA1A-4FA6-90CE-414C48698F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C8606B3-B3E3-45D0-982E-C9524BFD1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7FB2E2-755D-4708-9345-FBD3AC529DF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939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95CD9BE-0527-4A30-8E1C-0769E319DF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6AD0577-A887-4606-8E8A-A41AB79E9C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A6204B32-1875-4A60-9867-2AEF54045D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C7E1C-2968-42EA-AFC9-808D7BE22C6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941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EA514354-15C9-4EE0-ABD2-242AA091EBE9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C3D90A2E-F868-42E7-95EF-498F856EE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82 w 64000"/>
                <a:gd name="T1" fmla="*/ 5 h 64000"/>
                <a:gd name="T2" fmla="*/ 105 w 64000"/>
                <a:gd name="T3" fmla="*/ 30 h 64000"/>
                <a:gd name="T4" fmla="*/ 82 w 64000"/>
                <a:gd name="T5" fmla="*/ 55 h 64000"/>
                <a:gd name="T6" fmla="*/ 82 w 64000"/>
                <a:gd name="T7" fmla="*/ 55 h 64000"/>
                <a:gd name="T8" fmla="*/ 82 w 64000"/>
                <a:gd name="T9" fmla="*/ 55 h 64000"/>
                <a:gd name="T10" fmla="*/ 82 w 64000"/>
                <a:gd name="T11" fmla="*/ 55 h 64000"/>
                <a:gd name="T12" fmla="*/ 82 w 64000"/>
                <a:gd name="T13" fmla="*/ 5 h 64000"/>
                <a:gd name="T14" fmla="*/ 82 w 64000"/>
                <a:gd name="T15" fmla="*/ 5 h 64000"/>
                <a:gd name="T16" fmla="*/ 82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53C25096-FBB2-41C3-B23D-340705BA0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46 w 64000"/>
                <a:gd name="T1" fmla="*/ 5 h 64000"/>
                <a:gd name="T2" fmla="*/ 59 w 64000"/>
                <a:gd name="T3" fmla="*/ 31 h 64000"/>
                <a:gd name="T4" fmla="*/ 46 w 64000"/>
                <a:gd name="T5" fmla="*/ 56 h 64000"/>
                <a:gd name="T6" fmla="*/ 46 w 64000"/>
                <a:gd name="T7" fmla="*/ 56 h 64000"/>
                <a:gd name="T8" fmla="*/ 46 w 64000"/>
                <a:gd name="T9" fmla="*/ 56 h 64000"/>
                <a:gd name="T10" fmla="*/ 46 w 64000"/>
                <a:gd name="T11" fmla="*/ 56 h 64000"/>
                <a:gd name="T12" fmla="*/ 46 w 64000"/>
                <a:gd name="T13" fmla="*/ 5 h 64000"/>
                <a:gd name="T14" fmla="*/ 46 w 64000"/>
                <a:gd name="T15" fmla="*/ 5 h 64000"/>
                <a:gd name="T16" fmla="*/ 46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D0C051BF-5657-4E6C-A752-F4C89453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F103DD58-AF87-4CC1-877C-879B6ED60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D58EF5FB-2AF6-45AE-A27A-B3ABAC7AE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E27D5A24-42FB-40C1-B135-3E2A95AFB8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1935B6CB-87B2-40A8-8D25-B8247281CF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AA9E4154-C864-40CF-9A3C-5042A192F5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E9E33849-A69F-40A1-8EA5-83FA00C5D5F7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2" r:id="rId1"/>
    <p:sldLayoutId id="2147484243" r:id="rId2"/>
    <p:sldLayoutId id="2147484244" r:id="rId3"/>
    <p:sldLayoutId id="2147484245" r:id="rId4"/>
    <p:sldLayoutId id="2147484246" r:id="rId5"/>
    <p:sldLayoutId id="2147484247" r:id="rId6"/>
    <p:sldLayoutId id="2147484248" r:id="rId7"/>
    <p:sldLayoutId id="2147484249" r:id="rId8"/>
    <p:sldLayoutId id="2147484250" r:id="rId9"/>
    <p:sldLayoutId id="2147484251" r:id="rId10"/>
    <p:sldLayoutId id="214748425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>
            <a:extLst>
              <a:ext uri="{FF2B5EF4-FFF2-40B4-BE49-F238E27FC236}">
                <a16:creationId xmlns:a16="http://schemas.microsoft.com/office/drawing/2014/main" id="{5D1A84D0-D06E-4434-B1CF-46788860D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7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35B4D5C0-D62E-403F-8B74-35BE6F8645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57525" y="2897188"/>
            <a:ext cx="6072188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배출부과금제도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보조금제도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환경관련 세금의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이중편익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시장구조와 배출부과금제도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0" name="바닥글 개체 틀 4">
            <a:extLst>
              <a:ext uri="{FF2B5EF4-FFF2-40B4-BE49-F238E27FC236}">
                <a16:creationId xmlns:a16="http://schemas.microsoft.com/office/drawing/2014/main" id="{08E63278-37ED-406D-B073-AFFCA732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14341" name="슬라이드 번호 개체 틀 5">
            <a:extLst>
              <a:ext uri="{FF2B5EF4-FFF2-40B4-BE49-F238E27FC236}">
                <a16:creationId xmlns:a16="http://schemas.microsoft.com/office/drawing/2014/main" id="{693F2D9B-4B7F-4FAE-95C7-D055F338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153F84-A0D6-4BE7-8EB7-8163D50B0B52}" type="slidenum">
              <a:rPr lang="ko-KR" altLang="en-US" sz="120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>
            <a:extLst>
              <a:ext uri="{FF2B5EF4-FFF2-40B4-BE49-F238E27FC236}">
                <a16:creationId xmlns:a16="http://schemas.microsoft.com/office/drawing/2014/main" id="{D825B6E1-D652-41EC-B31B-72AFE8854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>
            <a:extLst>
              <a:ext uri="{FF2B5EF4-FFF2-40B4-BE49-F238E27FC236}">
                <a16:creationId xmlns:a16="http://schemas.microsoft.com/office/drawing/2014/main" id="{63724A20-B5DE-4BCF-9A53-1572E53F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3383E89-8716-42A6-B17E-7B8C284B0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-112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7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배출부과금과 보조금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6">
            <a:extLst>
              <a:ext uri="{FF2B5EF4-FFF2-40B4-BE49-F238E27FC236}">
                <a16:creationId xmlns:a16="http://schemas.microsoft.com/office/drawing/2014/main" id="{41E2FCA5-C544-402F-86DC-8C46F037F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23971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배출부과금과 보조금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7" name="Rectangle 1037">
            <a:extLst>
              <a:ext uri="{FF2B5EF4-FFF2-40B4-BE49-F238E27FC236}">
                <a16:creationId xmlns:a16="http://schemas.microsoft.com/office/drawing/2014/main" id="{8A0C40FE-3CF7-4C1C-8863-9793413B4D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743075"/>
            <a:ext cx="7835900" cy="4114800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직접규제는 정책당국에게 많은 재량권을 부여하지만 오염원 입장에서는 지나치게 경직된 제도임</a:t>
            </a: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반면 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7</a:t>
            </a: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장과 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8</a:t>
            </a: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장에서 다룰 배출부과금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보조금제도와 배출권거래제는 경제적 유인을 제공하여 오염원 스스로 배출량이나 배출방법을 선택하게 하는 제도임</a:t>
            </a:r>
          </a:p>
          <a:p>
            <a:pPr eaLnBrk="1" hangingPunct="1"/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7</a:t>
            </a: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장에서는 경제적 유인제도 중 가격변수의 변화를 통해 바람직한 환경이용형태를 달성하고자 하는 배출부과금제와 보조금제를 살펴볼 것임</a:t>
            </a:r>
          </a:p>
        </p:txBody>
      </p:sp>
      <p:sp>
        <p:nvSpPr>
          <p:cNvPr id="16388" name="바닥글 개체 틀 4">
            <a:extLst>
              <a:ext uri="{FF2B5EF4-FFF2-40B4-BE49-F238E27FC236}">
                <a16:creationId xmlns:a16="http://schemas.microsoft.com/office/drawing/2014/main" id="{E038D388-7571-46FA-8184-61726F50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16389" name="슬라이드 번호 개체 틀 5">
            <a:extLst>
              <a:ext uri="{FF2B5EF4-FFF2-40B4-BE49-F238E27FC236}">
                <a16:creationId xmlns:a16="http://schemas.microsoft.com/office/drawing/2014/main" id="{7B9222D1-C219-4A76-83C6-19EE4775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C06142-55DC-486D-875B-3FE3620B8E9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6390" name="Rectangle 1026">
            <a:extLst>
              <a:ext uri="{FF2B5EF4-FFF2-40B4-BE49-F238E27FC236}">
                <a16:creationId xmlns:a16="http://schemas.microsoft.com/office/drawing/2014/main" id="{427A6D78-D8F1-48B3-B9BA-54C0BE8D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1" name="Rectangle 1027">
            <a:extLst>
              <a:ext uri="{FF2B5EF4-FFF2-40B4-BE49-F238E27FC236}">
                <a16:creationId xmlns:a16="http://schemas.microsoft.com/office/drawing/2014/main" id="{F466969B-A98A-4EBD-8F80-A867E8D1A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36">
            <a:extLst>
              <a:ext uri="{FF2B5EF4-FFF2-40B4-BE49-F238E27FC236}">
                <a16:creationId xmlns:a16="http://schemas.microsoft.com/office/drawing/2014/main" id="{0D6B511C-3AC6-4559-8ECD-89B3381F3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159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배출부과금제도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Rectangle 1037">
            <a:extLst>
              <a:ext uri="{FF2B5EF4-FFF2-40B4-BE49-F238E27FC236}">
                <a16:creationId xmlns:a16="http://schemas.microsoft.com/office/drawing/2014/main" id="{D0BCD751-A77B-4413-9429-82455DCE9E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8550" y="1912938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배출부과금제도란 오염원이 자신이 배출하는 오염물질에 대해 단위당 특정금액의 부과금이나 수수료를 정부에 납부하는 것으로 경제적 유인의 한 형태임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이 제도하에서 오염원은 배출량과 배출방법을 스스로 결정할 수 있으므로  자신에게 가장 유리한 배출량과 배출방법을 찾기 위해 끊임없이 노력함</a:t>
            </a:r>
          </a:p>
        </p:txBody>
      </p:sp>
      <p:sp>
        <p:nvSpPr>
          <p:cNvPr id="18436" name="바닥글 개체 틀 4">
            <a:extLst>
              <a:ext uri="{FF2B5EF4-FFF2-40B4-BE49-F238E27FC236}">
                <a16:creationId xmlns:a16="http://schemas.microsoft.com/office/drawing/2014/main" id="{364B7AC3-3BB3-4699-A911-7C7F4FFD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18437" name="슬라이드 번호 개체 틀 5">
            <a:extLst>
              <a:ext uri="{FF2B5EF4-FFF2-40B4-BE49-F238E27FC236}">
                <a16:creationId xmlns:a16="http://schemas.microsoft.com/office/drawing/2014/main" id="{95F5FA0A-4820-4CE0-96F0-3C0B2A43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20D74C-E657-42D0-8492-3FD903C00EB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8438" name="Rectangle 1026">
            <a:extLst>
              <a:ext uri="{FF2B5EF4-FFF2-40B4-BE49-F238E27FC236}">
                <a16:creationId xmlns:a16="http://schemas.microsoft.com/office/drawing/2014/main" id="{34077B3D-0EED-480F-88BC-50246F731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9" name="Rectangle 1027">
            <a:extLst>
              <a:ext uri="{FF2B5EF4-FFF2-40B4-BE49-F238E27FC236}">
                <a16:creationId xmlns:a16="http://schemas.microsoft.com/office/drawing/2014/main" id="{CFB96FD2-CF25-4D34-BED3-FBAF71B7A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052">
            <a:extLst>
              <a:ext uri="{FF2B5EF4-FFF2-40B4-BE49-F238E27FC236}">
                <a16:creationId xmlns:a16="http://schemas.microsoft.com/office/drawing/2014/main" id="{DE5DE117-39FE-4A77-9CCB-F005DB28D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18256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배출부과금이 작동하는 원리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Rectangle 2053">
            <a:extLst>
              <a:ext uri="{FF2B5EF4-FFF2-40B4-BE49-F238E27FC236}">
                <a16:creationId xmlns:a16="http://schemas.microsoft.com/office/drawing/2014/main" id="{623B0C75-95F9-4D4F-8A65-3FD6DB1AFE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113" y="1587500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오염원이 배출하는 오염물질 단위당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부과금을 징수한다면 오염원은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오염물질을 배출하고자 할 것임</a:t>
            </a:r>
            <a:endParaRPr lang="en-US" altLang="ko-KR" sz="24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0484" name="바닥글 개체 틀 4">
            <a:extLst>
              <a:ext uri="{FF2B5EF4-FFF2-40B4-BE49-F238E27FC236}">
                <a16:creationId xmlns:a16="http://schemas.microsoft.com/office/drawing/2014/main" id="{C502B44D-1A80-4235-84B8-BAA7F19C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20485" name="슬라이드 번호 개체 틀 5">
            <a:extLst>
              <a:ext uri="{FF2B5EF4-FFF2-40B4-BE49-F238E27FC236}">
                <a16:creationId xmlns:a16="http://schemas.microsoft.com/office/drawing/2014/main" id="{C9AE140A-3402-4084-AF51-69C68A8C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845D36-960F-466F-861B-454A1CB9BB3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pic>
        <p:nvPicPr>
          <p:cNvPr id="20486" name="그림 5" descr="Cap 2014-06-19 09-42-56-297.png">
            <a:extLst>
              <a:ext uri="{FF2B5EF4-FFF2-40B4-BE49-F238E27FC236}">
                <a16:creationId xmlns:a16="http://schemas.microsoft.com/office/drawing/2014/main" id="{C0FC507C-13C7-4FBA-A9FB-7FF09DFCD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2843213"/>
            <a:ext cx="6542088" cy="348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052">
            <a:extLst>
              <a:ext uri="{FF2B5EF4-FFF2-40B4-BE49-F238E27FC236}">
                <a16:creationId xmlns:a16="http://schemas.microsoft.com/office/drawing/2014/main" id="{2003CEC8-98CD-4ED4-BED6-3B75029B7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18256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배출부과금이 작동하는 원리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07" name="Rectangle 2053">
            <a:extLst>
              <a:ext uri="{FF2B5EF4-FFF2-40B4-BE49-F238E27FC236}">
                <a16:creationId xmlns:a16="http://schemas.microsoft.com/office/drawing/2014/main" id="{3528522E-E3FB-4415-A2D0-0736B2CEBC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113" y="1587500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배출량이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적을 경우 오염원의 한계저감비용이 부과금보다 더 큼</a:t>
            </a:r>
          </a:p>
          <a:p>
            <a:pPr lvl="1"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경우 오염원은 배출량을 늘려서 비용을 절감하고자 함</a:t>
            </a:r>
          </a:p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배출량이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많을 경우 한계저감비용이 단위당 부과금보다 더 작음</a:t>
            </a:r>
          </a:p>
          <a:p>
            <a:pPr lvl="1"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배출량을 줄이고 부과금 납부액을 줄이는 것이 더 유리함</a:t>
            </a:r>
          </a:p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따라서 배출부과금제도하에서는 오염원이 자신의 한계저감비용과 단위당 부과금이 일치하는 수준에서 배출량을 스스로 결정함</a:t>
            </a:r>
            <a:endParaRPr lang="en-US" altLang="ko-KR" sz="24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1508" name="바닥글 개체 틀 4">
            <a:extLst>
              <a:ext uri="{FF2B5EF4-FFF2-40B4-BE49-F238E27FC236}">
                <a16:creationId xmlns:a16="http://schemas.microsoft.com/office/drawing/2014/main" id="{25521FE3-9D06-4352-9677-E54CE727A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21509" name="슬라이드 번호 개체 틀 5">
            <a:extLst>
              <a:ext uri="{FF2B5EF4-FFF2-40B4-BE49-F238E27FC236}">
                <a16:creationId xmlns:a16="http://schemas.microsoft.com/office/drawing/2014/main" id="{F1C19557-B59B-42D1-A375-FE362310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6DDFC4-5C97-45CE-8BF6-93D033310E6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052">
            <a:extLst>
              <a:ext uri="{FF2B5EF4-FFF2-40B4-BE49-F238E27FC236}">
                <a16:creationId xmlns:a16="http://schemas.microsoft.com/office/drawing/2014/main" id="{BF4D2131-C3B8-4B49-BBE2-28B87AAFE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배출부과금의 부과 원리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Rectangle 2053">
                <a:extLst>
                  <a:ext uri="{FF2B5EF4-FFF2-40B4-BE49-F238E27FC236}">
                    <a16:creationId xmlns:a16="http://schemas.microsoft.com/office/drawing/2014/main" id="{E08FB285-98A4-4C34-AA40-34934457A11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27113" y="1390650"/>
                <a:ext cx="7685087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그렇다면 정부는 어떤 기준을 가지고 배출량 단위당 부과금을 결정해야 하는가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? </a:t>
                </a: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사회적으로 최적인 배출량을 달성하기 위해서는 한계저감비용과 사회적 한계피해가 일치하는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만큼의 배출량을 오염원이 선택하도록 단위당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t</a:t>
                </a:r>
                <a:r>
                  <a:rPr lang="en-US" altLang="ko-KR" sz="1800" baseline="30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*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부과금을 매겨야 함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531" name="Rectangle 2053">
                <a:extLst>
                  <a:ext uri="{FF2B5EF4-FFF2-40B4-BE49-F238E27FC236}">
                    <a16:creationId xmlns:a16="http://schemas.microsoft.com/office/drawing/2014/main" id="{E08FB285-98A4-4C34-AA40-34934457A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7113" y="1390650"/>
                <a:ext cx="7685087" cy="4114800"/>
              </a:xfrm>
              <a:blipFill>
                <a:blip r:embed="rId2"/>
                <a:stretch>
                  <a:fillRect l="-714" t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2" name="바닥글 개체 틀 4">
            <a:extLst>
              <a:ext uri="{FF2B5EF4-FFF2-40B4-BE49-F238E27FC236}">
                <a16:creationId xmlns:a16="http://schemas.microsoft.com/office/drawing/2014/main" id="{4A679B66-799D-4468-AB3D-34B3EF8E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22533" name="슬라이드 번호 개체 틀 5">
            <a:extLst>
              <a:ext uri="{FF2B5EF4-FFF2-40B4-BE49-F238E27FC236}">
                <a16:creationId xmlns:a16="http://schemas.microsoft.com/office/drawing/2014/main" id="{8A9BE6F6-8632-4511-BFA2-EF7924FC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979E66-A149-4DB4-B004-F720C0DA372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pic>
        <p:nvPicPr>
          <p:cNvPr id="22534" name="그림 6" descr="Cap 2014-06-19 09-43-05-739.png">
            <a:extLst>
              <a:ext uri="{FF2B5EF4-FFF2-40B4-BE49-F238E27FC236}">
                <a16:creationId xmlns:a16="http://schemas.microsoft.com/office/drawing/2014/main" id="{CC5B8CD9-7951-41D6-89AA-36095737F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957513"/>
            <a:ext cx="6273800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052">
            <a:extLst>
              <a:ext uri="{FF2B5EF4-FFF2-40B4-BE49-F238E27FC236}">
                <a16:creationId xmlns:a16="http://schemas.microsoft.com/office/drawing/2014/main" id="{A4440DEB-703A-42DB-B8B4-83370C7E9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-1270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배출부과금의 부과 원리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5" name="Rectangle 2053">
            <a:extLst>
              <a:ext uri="{FF2B5EF4-FFF2-40B4-BE49-F238E27FC236}">
                <a16:creationId xmlns:a16="http://schemas.microsoft.com/office/drawing/2014/main" id="{D7F11778-7751-4143-8492-4809BE9F65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4250" y="1376363"/>
            <a:ext cx="7685088" cy="4114800"/>
          </a:xfrm>
        </p:spPr>
        <p:txBody>
          <a:bodyPr/>
          <a:lstStyle/>
          <a:p>
            <a:pPr eaLnBrk="1" hangingPunct="1"/>
            <a:r>
              <a:rPr lang="en-US" altLang="ko-KR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en-US" altLang="ko-KR" sz="23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부과금이 부과되면 오염원은 두 가지 비용을 부담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오염물질 배출량을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줄이기 위해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저감비용을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지불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오염물질을 배출하기 위한 부과금액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a+b+c+d</a:t>
            </a:r>
            <a:endParaRPr lang="ko-KR" altLang="en-US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부과금제도하에서 오염원은 사회적 피해보다도 더 많은 금액을 부과금으로 납부함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배출로인한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사회적 피해는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b+d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</a:p>
          <a:p>
            <a:pPr eaLnBrk="1" hangingPunct="1"/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오염자가 사회에 지불하는 과잉 부담금을 줄여주기 위해 </a:t>
            </a:r>
            <a:r>
              <a:rPr lang="en-US" altLang="ko-KR" sz="23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3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단계 배출부과금제도</a:t>
            </a:r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사용할 수 있음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수준까지의 배출량은 부과금을 징수하지 않고 배출량이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넘어설 경우 단위당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부과금을 징수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오염원은 여전히 사회적 최적인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배출량을 선택하지만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오염원이 지불하는 부담금은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c+d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하락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3556" name="바닥글 개체 틀 4">
            <a:extLst>
              <a:ext uri="{FF2B5EF4-FFF2-40B4-BE49-F238E27FC236}">
                <a16:creationId xmlns:a16="http://schemas.microsoft.com/office/drawing/2014/main" id="{107869AE-0E77-4239-BEB6-879F634C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23557" name="슬라이드 번호 개체 틀 5">
            <a:extLst>
              <a:ext uri="{FF2B5EF4-FFF2-40B4-BE49-F238E27FC236}">
                <a16:creationId xmlns:a16="http://schemas.microsoft.com/office/drawing/2014/main" id="{4A2F7BDB-F2E0-4679-A852-A54E7D6B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B04026-B55E-4758-A655-1DF25F59029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6BFBAE9D-BE2E-4CB2-ABEC-62157746A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2540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배출부과금제도의 비용효과성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8389B2D7-AF73-4C92-9CF5-3C1D4BF19D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70180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최적 부과금을 결정하기 위해 정부는 오염으로 인한 사회적 피해와 저감비용에 관한 모든 정보를 알고 있어야 하는데 이는 어려움</a:t>
            </a:r>
          </a:p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정부가 최적 부과금률을 결정하는 데 필요한 모든 정보를 알지 못할 경우</a:t>
            </a:r>
            <a:r>
              <a:rPr lang="en-US" altLang="ko-KR" sz="25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임의의 부과금률을 설정하여 일률적으로 적용함</a:t>
            </a:r>
          </a:p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직접규제와는 달리 임의의 부과금률을 획일적으로 적용하여도 비용효과성이 달성될 수 있으며</a:t>
            </a:r>
            <a:r>
              <a:rPr lang="en-US" altLang="ko-KR" sz="25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이것이 부과금제가 직접규제에 비해 가지는 큰 장점임</a:t>
            </a:r>
          </a:p>
        </p:txBody>
      </p:sp>
      <p:sp>
        <p:nvSpPr>
          <p:cNvPr id="24580" name="바닥글 개체 틀 4">
            <a:extLst>
              <a:ext uri="{FF2B5EF4-FFF2-40B4-BE49-F238E27FC236}">
                <a16:creationId xmlns:a16="http://schemas.microsoft.com/office/drawing/2014/main" id="{4762B882-9050-4FCF-AACC-A7BD8779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24581" name="슬라이드 번호 개체 틀 5">
            <a:extLst>
              <a:ext uri="{FF2B5EF4-FFF2-40B4-BE49-F238E27FC236}">
                <a16:creationId xmlns:a16="http://schemas.microsoft.com/office/drawing/2014/main" id="{A9FBF952-D651-48F7-98EF-9187F365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6D0550-0B19-4500-89F7-B7AF96A6EF8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EBBEAC2E-1DCF-4FA7-AEE2-FC5546674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3" name="Rectangle 3">
            <a:extLst>
              <a:ext uri="{FF2B5EF4-FFF2-40B4-BE49-F238E27FC236}">
                <a16:creationId xmlns:a16="http://schemas.microsoft.com/office/drawing/2014/main" id="{E92BE7A9-7049-4AC3-8B9C-3544A271D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>
            <a:extLst>
              <a:ext uri="{FF2B5EF4-FFF2-40B4-BE49-F238E27FC236}">
                <a16:creationId xmlns:a16="http://schemas.microsoft.com/office/drawing/2014/main" id="{B26967B7-69E5-49F3-8612-B78548DEC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465138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배출부과금제도의 비용효과성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동질적 오염물질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Rectangle 7">
            <a:extLst>
              <a:ext uri="{FF2B5EF4-FFF2-40B4-BE49-F238E27FC236}">
                <a16:creationId xmlns:a16="http://schemas.microsoft.com/office/drawing/2014/main" id="{2366F381-185C-4AF6-ACAF-D949EA6A97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3938" y="1593850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지역 전체가 줄이는 배출량을 가장 적은 비용으로 저감하기 위해서는 각 오염원의 한계저감비용이 일치하도록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저감량이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배분되어야 함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(=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등한계원칙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배출부과금제도에서는 정부가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어떤 </a:t>
            </a:r>
            <a:r>
              <a:rPr lang="ko-KR" altLang="en-US" sz="24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부과금률을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 획일적으로 적용해도</a:t>
            </a:r>
            <a:r>
              <a:rPr lang="ko-KR" altLang="en-US" sz="2400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각 오염원 스스로 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부과금률에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자신의 한계저감비용을 맞추어 배출량과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저감량을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결정하기 때문에 비용효과성이 자동적으로 달성됨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따라서 정부는 개별 오염원의 한계저감비용에 대한 지식이 없이도 비용효과성을 달성할 수 있음</a:t>
            </a:r>
          </a:p>
          <a:p>
            <a:pPr eaLnBrk="1" hangingPunct="1"/>
            <a:endParaRPr lang="ko-KR" altLang="en-US" sz="25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1F1358C2-2A33-45C5-A0B4-2C007D9C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150AD301-C894-4030-A0F4-DA452D0E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F86974-9C0B-4EDC-8B3D-AA558551526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D5EEB9AE-4389-4957-84AD-9A23F038B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6631" name="Rectangle 3">
            <a:extLst>
              <a:ext uri="{FF2B5EF4-FFF2-40B4-BE49-F238E27FC236}">
                <a16:creationId xmlns:a16="http://schemas.microsoft.com/office/drawing/2014/main" id="{656FE49D-3B66-41B4-BCE5-2C21F2A51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55FF6763-257C-43D6-987E-B08EA5F78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239713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배출부과금제도의 비용효과성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동질적 오염물질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8392E499-F8B7-4AC0-B035-01E1ABDC8F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7588" y="149066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개별 오염원의 한계저감비용을 모르는 상태에서 목표로 하고 있는 배출감소량을 달성하기 위해서는 순차적으로 부과금률을 변경하는 방법을 사용할 수 있음</a:t>
            </a:r>
          </a:p>
          <a:p>
            <a:pPr lvl="1" eaLnBrk="1" hangingPunct="1"/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en-US" altLang="ko-KR" sz="2000" baseline="-25000">
                <a:solidFill>
                  <a:srgbClr val="000000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부과금을 적용한 결과 저감량이 목표 저감량에 미치지 못한다면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t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같이 부과금을 인상하고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 결과 발생하는 저감량이 정부목표와 부합되는지를 확인하면 됨</a:t>
            </a:r>
          </a:p>
          <a:p>
            <a:pPr eaLnBrk="1" hangingPunct="1"/>
            <a:endParaRPr lang="ko-KR" altLang="en-US" sz="250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1B8F40D7-F8B9-42A5-B081-30CD1876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0F815748-0BA8-4D79-A882-5D36AD6A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66D8748-3FFA-4F35-B7F4-B77D13FBB0B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41BC1E4B-C0CB-4BBE-841E-338B38FCD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0B6E1C52-9FC1-4278-9B14-511234A9C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8680" name="그림 7" descr="Cap 2014-06-19 09-43-17-447.png">
            <a:extLst>
              <a:ext uri="{FF2B5EF4-FFF2-40B4-BE49-F238E27FC236}">
                <a16:creationId xmlns:a16="http://schemas.microsoft.com/office/drawing/2014/main" id="{BEBE3B10-E5EF-4203-993E-E26CCB6BA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3362325"/>
            <a:ext cx="5489575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C857562C-2F4B-4A31-9D31-C85286481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465138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배출부과금제도의 비용효과성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이질적 오염물질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33D7D056-B9E5-42CE-821D-A8F7669D31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78593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오염물질 배출량이 어떤 지역의 오염도에 미치는 영향은 배출농도나 오염원과 피해발생지점 간의 거리 등의 변수에 영향을 받음</a:t>
            </a:r>
          </a:p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5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오염물질이 이질적이라면 비용효과성은 단순히 각 오염원의 한계저감비용이 동일하다고 해서 충족되지는 않음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예를 들어 오염원 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이 배출하는 오염물질 한 단위가 오염원 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에 비해 오염도에 두 배의 영향을 준다면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오염원 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의 전이계수가 오염원 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의 두 배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) 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오염원 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에 대해 부과되는 부과금률은 오염원 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에 부과되는 부과금률의 두 배가 되어야 함</a:t>
            </a:r>
          </a:p>
          <a:p>
            <a:pPr eaLnBrk="1" hangingPunct="1"/>
            <a:endParaRPr lang="ko-KR" altLang="en-US" sz="25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2630AB30-1F40-4E20-8BAE-5B95A2DD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ED8210AC-00CE-497E-AD8D-491F5577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25A85F-8ED7-4A10-982A-D0034EFE0ED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1E5E8D5D-AB27-482A-B134-8ECBCD179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E3C28755-8DE8-4646-BDF1-839204558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8">
            <a:extLst>
              <a:ext uri="{FF2B5EF4-FFF2-40B4-BE49-F238E27FC236}">
                <a16:creationId xmlns:a16="http://schemas.microsoft.com/office/drawing/2014/main" id="{60AE8428-2F72-4198-BACD-68AC1DF13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436563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이질적 오염에 있어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비용효과적인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 부과금제도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Rectangle 1029">
                <a:extLst>
                  <a:ext uri="{FF2B5EF4-FFF2-40B4-BE49-F238E27FC236}">
                    <a16:creationId xmlns:a16="http://schemas.microsoft.com/office/drawing/2014/main" id="{4EE8E4BC-2BF2-4F4F-867D-CE82DE77D79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85838" y="1911350"/>
                <a:ext cx="7515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어떤 지역의 오염원이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개라 가정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배출규제가 없을 때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번째 오염원의 배출량은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규제도입 시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번째 오염원의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저감량은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전이계수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자연적으로 발생하는 오염도는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실제 나타나는 오염도는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Q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로 표현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전체오염도와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간의 관계는 아래와 같음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sz="2000" dirty="0"/>
              </a:p>
              <a:p>
                <a:pPr eaLnBrk="1" hangingPunct="1"/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771" name="Rectangle 1029">
                <a:extLst>
                  <a:ext uri="{FF2B5EF4-FFF2-40B4-BE49-F238E27FC236}">
                    <a16:creationId xmlns:a16="http://schemas.microsoft.com/office/drawing/2014/main" id="{4EE8E4BC-2BF2-4F4F-867D-CE82DE77D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5838" y="1911350"/>
                <a:ext cx="7515225" cy="4114800"/>
              </a:xfrm>
              <a:blipFill>
                <a:blip r:embed="rId2"/>
                <a:stretch>
                  <a:fillRect l="-730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2" name="바닥글 개체 틀 4">
            <a:extLst>
              <a:ext uri="{FF2B5EF4-FFF2-40B4-BE49-F238E27FC236}">
                <a16:creationId xmlns:a16="http://schemas.microsoft.com/office/drawing/2014/main" id="{AD869B15-3620-48CB-829A-CEC781F6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32773" name="슬라이드 번호 개체 틀 5">
            <a:extLst>
              <a:ext uri="{FF2B5EF4-FFF2-40B4-BE49-F238E27FC236}">
                <a16:creationId xmlns:a16="http://schemas.microsoft.com/office/drawing/2014/main" id="{B3898572-3529-4A0F-A75D-30285A3C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D787E3-E7B8-4ABA-835D-06B53F1D4889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6C1AA43C-A6B8-43A9-B575-1A8B7C03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8">
            <a:extLst>
              <a:ext uri="{FF2B5EF4-FFF2-40B4-BE49-F238E27FC236}">
                <a16:creationId xmlns:a16="http://schemas.microsoft.com/office/drawing/2014/main" id="{DB9C5BE3-8BCF-468B-A233-4A5C35B5E9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1738" y="141288"/>
            <a:ext cx="7313612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이질적 오염에 있어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비용효과적인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 부과금제도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5" name="Rectangle 1029">
                <a:extLst>
                  <a:ext uri="{FF2B5EF4-FFF2-40B4-BE49-F238E27FC236}">
                    <a16:creationId xmlns:a16="http://schemas.microsoft.com/office/drawing/2014/main" id="{F25AABEE-BCFA-45D2-AB84-45F4B641D80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85838" y="1379538"/>
                <a:ext cx="7515225" cy="4224337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정부가 목표로 하는 오염도를 제약조건으로 하고 전체 저감비용을 최소화하기 위해서는 아래와 같은 </a:t>
                </a:r>
                <a:r>
                  <a:rPr lang="ko-KR" altLang="en-US" sz="19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라그랑지안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함수를 사용</a:t>
                </a:r>
                <a:endParaRPr lang="en-US" altLang="ko-KR" sz="19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ko-KR" altLang="en-US" sz="1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ko-KR" altLang="en-US" sz="1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ko-KR" altLang="en-US" sz="1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ko-KR" altLang="en-US" sz="1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ko-KR" altLang="en-US" sz="1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ko-KR" altLang="en-US" sz="1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ko-KR" altLang="en-US" sz="1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ko-KR" altLang="en-US" sz="1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ko-KR" altLang="en-US" sz="1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ko-KR" altLang="en-US" sz="19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9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ko-KR" altLang="en-US" sz="19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ko-KR" altLang="en-US" sz="1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  <m:r>
                                    <a:rPr lang="ko-KR" altLang="en-US" sz="1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ko-KR" altLang="en-US" sz="1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ko-KR" altLang="en-US" sz="1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ko-KR" altLang="en-US" sz="1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bar>
                                <m:barPr>
                                  <m:pos m:val="top"/>
                                  <m:ctrlPr>
                                    <a:rPr lang="ko-KR" altLang="en-US" sz="1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ko-KR" altLang="en-US" sz="1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ba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9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단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l-GR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λ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오염물질 </a:t>
                </a:r>
                <a:r>
                  <a:rPr lang="ko-KR" altLang="en-US" sz="17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축적량을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한 단위 더 줄이기 위해 소요되는 전체 </a:t>
                </a:r>
                <a:r>
                  <a:rPr lang="ko-KR" altLang="en-US" sz="17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저감비용의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증가분</a:t>
                </a:r>
              </a:p>
              <a:p>
                <a:pPr eaLnBrk="1" hangingPunct="1"/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L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을 </a:t>
                </a:r>
                <a:r>
                  <a:rPr lang="ko-KR" altLang="en-US" sz="19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로 미분한 것이 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되게 하는 최적화조건을 구할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수 있으며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이는 비용효과성이 충족되기 위해서는 각 오염원의 한계저감비용과 전이계수의 비율이 동일해야 함을 의미</a:t>
                </a:r>
                <a:endParaRPr lang="en-US" altLang="ko-KR" sz="19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1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𝑀𝐴</m:t>
                          </m:r>
                          <m:sSub>
                            <m:sSubPr>
                              <m:ctrlP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=⋯=</m:t>
                      </m:r>
                      <m:f>
                        <m:fPr>
                          <m:ctrlP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𝑀𝐴</m:t>
                          </m:r>
                          <m:sSub>
                            <m:sSubPr>
                              <m:ctrlP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ko-KR" altLang="en-US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19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795" name="Rectangle 1029">
                <a:extLst>
                  <a:ext uri="{FF2B5EF4-FFF2-40B4-BE49-F238E27FC236}">
                    <a16:creationId xmlns:a16="http://schemas.microsoft.com/office/drawing/2014/main" id="{F25AABEE-BCFA-45D2-AB84-45F4B641D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5838" y="1379538"/>
                <a:ext cx="7515225" cy="4224337"/>
              </a:xfrm>
              <a:blipFill>
                <a:blip r:embed="rId2"/>
                <a:stretch>
                  <a:fillRect l="-649" t="-1010" r="-1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6" name="바닥글 개체 틀 4">
            <a:extLst>
              <a:ext uri="{FF2B5EF4-FFF2-40B4-BE49-F238E27FC236}">
                <a16:creationId xmlns:a16="http://schemas.microsoft.com/office/drawing/2014/main" id="{61807599-DF57-43C1-A28E-14EDC561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33797" name="슬라이드 번호 개체 틀 5">
            <a:extLst>
              <a:ext uri="{FF2B5EF4-FFF2-40B4-BE49-F238E27FC236}">
                <a16:creationId xmlns:a16="http://schemas.microsoft.com/office/drawing/2014/main" id="{C60FE4A7-C4F3-4757-A5C4-61EADCD81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D7ADEC-5A62-49FD-8946-66488242C8E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DD9B03A6-EA9F-4AD4-BA2B-B87C1AAC5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85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3799" name="Rectangle 2">
            <a:extLst>
              <a:ext uri="{FF2B5EF4-FFF2-40B4-BE49-F238E27FC236}">
                <a16:creationId xmlns:a16="http://schemas.microsoft.com/office/drawing/2014/main" id="{0F4CB65A-E3A7-4F34-A7A4-8242543A5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3800" name="Rectangle 4">
            <a:extLst>
              <a:ext uri="{FF2B5EF4-FFF2-40B4-BE49-F238E27FC236}">
                <a16:creationId xmlns:a16="http://schemas.microsoft.com/office/drawing/2014/main" id="{26840BA2-6119-47FE-AF7D-4A5F753AE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8">
            <a:extLst>
              <a:ext uri="{FF2B5EF4-FFF2-40B4-BE49-F238E27FC236}">
                <a16:creationId xmlns:a16="http://schemas.microsoft.com/office/drawing/2014/main" id="{C4BD05C7-4BD0-494E-ACC7-90C56AC25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141288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이질적 오염에 있어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비용효과적인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 부과금제도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1029">
                <a:extLst>
                  <a:ext uri="{FF2B5EF4-FFF2-40B4-BE49-F238E27FC236}">
                    <a16:creationId xmlns:a16="http://schemas.microsoft.com/office/drawing/2014/main" id="{4F0F75B3-DBDA-4564-AC3E-091F9D9DCAD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84263" y="1460500"/>
                <a:ext cx="7515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한편 어떤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번째 오염원에 대해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부과금률이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적용되고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저감량을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선택함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때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총비용은 저감비용과 부과금 납부액의 합과 같음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비용최소화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조건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𝑀𝐴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앞에서 구한 사회적 비용 최소화 조건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=⋯=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각 오염원에 대해 오염원의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전이계수와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비례하도록 차등화된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부과금률이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적용될 경우 이질적 오염에 있어서도 각 오염원의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비용최소화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행위에 의해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비용효과성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조건이 자동적으로 충족됨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endParaRPr lang="ko-KR" altLang="en-US" sz="20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endParaRPr lang="en-US" altLang="ko-KR" sz="18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endParaRPr lang="ko-KR" altLang="en-US" sz="18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819" name="Rectangle 1029">
                <a:extLst>
                  <a:ext uri="{FF2B5EF4-FFF2-40B4-BE49-F238E27FC236}">
                    <a16:creationId xmlns:a16="http://schemas.microsoft.com/office/drawing/2014/main" id="{4F0F75B3-DBDA-4564-AC3E-091F9D9DCA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4263" y="1460500"/>
                <a:ext cx="7515225" cy="4114800"/>
              </a:xfrm>
              <a:blipFill>
                <a:blip r:embed="rId2"/>
                <a:stretch>
                  <a:fillRect l="-730" t="-1185" r="-162" b="-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EA31E095-B940-41E4-9002-3E15C558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E67583B0-CC71-4BB3-9328-E68B8849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A73198-CFAC-4E32-AC06-94C80ECAC6F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6">
            <a:extLst>
              <a:ext uri="{FF2B5EF4-FFF2-40B4-BE49-F238E27FC236}">
                <a16:creationId xmlns:a16="http://schemas.microsoft.com/office/drawing/2014/main" id="{E35D1231-9904-4DED-AC01-A64528001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141288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구획화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7" name="Rectangle 1037">
            <a:extLst>
              <a:ext uri="{FF2B5EF4-FFF2-40B4-BE49-F238E27FC236}">
                <a16:creationId xmlns:a16="http://schemas.microsoft.com/office/drawing/2014/main" id="{8EEE258F-6EE0-4D9A-9E5E-02514904F5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1589088"/>
            <a:ext cx="7629525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오염물질이 이질적인 경우 현실적으로 정부가 모든 오염원의 전이계수를 알 수 없음</a:t>
            </a:r>
          </a:p>
          <a:p>
            <a:pPr eaLnBrk="1" hangingPunct="1"/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구획배출부과금제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(zonal emission charge)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는 각 오염원의 전이계수를 모르는 경우에 획일적인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부과금률을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적용함으로써 발생할 수 있는 비효율성을 제거하고자 사용되는 정책수단임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오염이 발생하는 지역을 몇 개의 구획으로 나눈 뒤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서로 다른 구획에는 오염에 미치는 영향에 따라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차등화된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부과금률을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적용</a:t>
            </a:r>
          </a:p>
        </p:txBody>
      </p:sp>
      <p:sp>
        <p:nvSpPr>
          <p:cNvPr id="36868" name="바닥글 개체 틀 4">
            <a:extLst>
              <a:ext uri="{FF2B5EF4-FFF2-40B4-BE49-F238E27FC236}">
                <a16:creationId xmlns:a16="http://schemas.microsoft.com/office/drawing/2014/main" id="{7DFA43DB-04EB-4CD2-8AFD-DE40B4C6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36869" name="슬라이드 번호 개체 틀 5">
            <a:extLst>
              <a:ext uri="{FF2B5EF4-FFF2-40B4-BE49-F238E27FC236}">
                <a16:creationId xmlns:a16="http://schemas.microsoft.com/office/drawing/2014/main" id="{4D114A91-4878-47AE-B3E8-C681788B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8AB156F-BE90-4DDE-9011-F528BC7AD80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70" name="Rectangle 1026">
            <a:extLst>
              <a:ext uri="{FF2B5EF4-FFF2-40B4-BE49-F238E27FC236}">
                <a16:creationId xmlns:a16="http://schemas.microsoft.com/office/drawing/2014/main" id="{DCC6910F-B4D1-4204-BB3B-F2156305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1" name="Rectangle 1027">
            <a:extLst>
              <a:ext uri="{FF2B5EF4-FFF2-40B4-BE49-F238E27FC236}">
                <a16:creationId xmlns:a16="http://schemas.microsoft.com/office/drawing/2014/main" id="{C6EBCAA7-6597-4E11-A86D-637A7B75E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36">
            <a:extLst>
              <a:ext uri="{FF2B5EF4-FFF2-40B4-BE49-F238E27FC236}">
                <a16:creationId xmlns:a16="http://schemas.microsoft.com/office/drawing/2014/main" id="{E5DFF414-74BF-4FD2-B1E4-EA365817B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4286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구획화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5" name="Rectangle 1037">
            <a:extLst>
              <a:ext uri="{FF2B5EF4-FFF2-40B4-BE49-F238E27FC236}">
                <a16:creationId xmlns:a16="http://schemas.microsoft.com/office/drawing/2014/main" id="{52B741B3-40EE-4BEA-ADAD-0868C1DF6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8700" y="1420813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예를 들어 구획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의 오염원들이 피해지역에 가깝기 때문에 평균적으로 구획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의 두 배 정도 큰 전이계수를 가질 것이라 추측된다면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구획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1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오염원들 부과금률의 두 배인 부과금률을 적용하여야 함</a:t>
            </a:r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ko-KR" altLang="en-US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ko-KR" altLang="en-US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이 제도는 비용효과성을 달성할 수는 없으나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오염물질이 이질적임에도 불구하고 획일적인 부과금률을 적용함으로써 발생하는 비효율성을 어느 정도 줄여줄 수 있음</a:t>
            </a:r>
          </a:p>
        </p:txBody>
      </p:sp>
      <p:sp>
        <p:nvSpPr>
          <p:cNvPr id="38916" name="바닥글 개체 틀 4">
            <a:extLst>
              <a:ext uri="{FF2B5EF4-FFF2-40B4-BE49-F238E27FC236}">
                <a16:creationId xmlns:a16="http://schemas.microsoft.com/office/drawing/2014/main" id="{6FF0910C-9044-453D-88F4-66F74B64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38917" name="슬라이드 번호 개체 틀 5">
            <a:extLst>
              <a:ext uri="{FF2B5EF4-FFF2-40B4-BE49-F238E27FC236}">
                <a16:creationId xmlns:a16="http://schemas.microsoft.com/office/drawing/2014/main" id="{254FF3EE-BA09-4304-B538-DA3D8C26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8AAD73-260F-43F7-9C5F-46AB174BC3F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8918" name="Rectangle 1026">
            <a:extLst>
              <a:ext uri="{FF2B5EF4-FFF2-40B4-BE49-F238E27FC236}">
                <a16:creationId xmlns:a16="http://schemas.microsoft.com/office/drawing/2014/main" id="{CA245026-B754-4AB2-95CD-773226C8E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8919" name="Rectangle 1027">
            <a:extLst>
              <a:ext uri="{FF2B5EF4-FFF2-40B4-BE49-F238E27FC236}">
                <a16:creationId xmlns:a16="http://schemas.microsoft.com/office/drawing/2014/main" id="{73F0BB36-A2A2-487D-8570-7345CF912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8920" name="그림 7" descr="Cap 2014-06-19 09-43-33-187.png">
            <a:extLst>
              <a:ext uri="{FF2B5EF4-FFF2-40B4-BE49-F238E27FC236}">
                <a16:creationId xmlns:a16="http://schemas.microsoft.com/office/drawing/2014/main" id="{E28DC932-8638-4389-BE67-0A63F4572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2697163"/>
            <a:ext cx="5060950" cy="207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6">
            <a:extLst>
              <a:ext uri="{FF2B5EF4-FFF2-40B4-BE49-F238E27FC236}">
                <a16:creationId xmlns:a16="http://schemas.microsoft.com/office/drawing/2014/main" id="{AEB988D0-E2AC-464F-A33B-8B87E08F1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1889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배출부과금제의 기술혁신 유인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0963" name="Rectangle 1037">
            <a:extLst>
              <a:ext uri="{FF2B5EF4-FFF2-40B4-BE49-F238E27FC236}">
                <a16:creationId xmlns:a16="http://schemas.microsoft.com/office/drawing/2014/main" id="{81E18201-AFBE-4699-BF39-FB443E7EDD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8550" y="1589088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배출부과금제도는 비용효과성을 달성하는 데 있어 직접규제보다 유리할 뿐 아니라 장기적으로 저감기술의 발전을 유도하는 데 있어서도 효과적임</a:t>
            </a:r>
          </a:p>
        </p:txBody>
      </p:sp>
      <p:sp>
        <p:nvSpPr>
          <p:cNvPr id="40964" name="바닥글 개체 틀 4">
            <a:extLst>
              <a:ext uri="{FF2B5EF4-FFF2-40B4-BE49-F238E27FC236}">
                <a16:creationId xmlns:a16="http://schemas.microsoft.com/office/drawing/2014/main" id="{83481AA0-A6C2-4436-95C3-E8DCBD46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40965" name="슬라이드 번호 개체 틀 5">
            <a:extLst>
              <a:ext uri="{FF2B5EF4-FFF2-40B4-BE49-F238E27FC236}">
                <a16:creationId xmlns:a16="http://schemas.microsoft.com/office/drawing/2014/main" id="{5A5E3D21-9188-42E5-9229-6C75D50AB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4347EB-D981-4587-930F-B4098A51375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0966" name="Rectangle 1026">
            <a:extLst>
              <a:ext uri="{FF2B5EF4-FFF2-40B4-BE49-F238E27FC236}">
                <a16:creationId xmlns:a16="http://schemas.microsoft.com/office/drawing/2014/main" id="{784AA2B3-8024-4123-B02D-981FE36DF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7" name="Rectangle 1027">
            <a:extLst>
              <a:ext uri="{FF2B5EF4-FFF2-40B4-BE49-F238E27FC236}">
                <a16:creationId xmlns:a16="http://schemas.microsoft.com/office/drawing/2014/main" id="{CB9C9521-CB08-49D3-B312-B8FA31C24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40968" name="그림 7" descr="Cap 2014-06-19 09-43-43-296.png">
            <a:extLst>
              <a:ext uri="{FF2B5EF4-FFF2-40B4-BE49-F238E27FC236}">
                <a16:creationId xmlns:a16="http://schemas.microsoft.com/office/drawing/2014/main" id="{731C442E-3983-4BA5-88F2-6DA3D941E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2836863"/>
            <a:ext cx="6556375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36">
            <a:extLst>
              <a:ext uri="{FF2B5EF4-FFF2-40B4-BE49-F238E27FC236}">
                <a16:creationId xmlns:a16="http://schemas.microsoft.com/office/drawing/2014/main" id="{A3D31D48-B6D1-4A3B-BBB1-0119A4669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배출부과금제의 기술혁신 유인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1" name="Rectangle 1037">
            <a:extLst>
              <a:ext uri="{FF2B5EF4-FFF2-40B4-BE49-F238E27FC236}">
                <a16:creationId xmlns:a16="http://schemas.microsoft.com/office/drawing/2014/main" id="{BE9755A4-36F3-4D55-820D-20FF94131F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2838" y="1392238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부과금률을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적용할 경우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기술혁신이 없을 때 오염원은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배출량을 선택하여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d+e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저감비용을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지불하고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부과금으로는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a+b+c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지불함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기술혁신 후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배출량을 선택하고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저감비용으로는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b+e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부과금으로는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지불함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기술혁신으로 인해 오염원은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c+d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이득을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얻게됨</a:t>
            </a:r>
            <a:endParaRPr lang="ko-KR" altLang="en-US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배출기준을 적용할 경우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직접규제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배출기준인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기술혁신 이후에도 동일하게 적용될 경우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기술혁신으로 인해 발생하는 생산자의 비용절감은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  <a:endParaRPr lang="ko-KR" altLang="en-US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직접규제보다도 배출부과금제도가 기술혁신의 더 큰 유인을 제공함</a:t>
            </a:r>
          </a:p>
        </p:txBody>
      </p:sp>
      <p:sp>
        <p:nvSpPr>
          <p:cNvPr id="43012" name="바닥글 개체 틀 4">
            <a:extLst>
              <a:ext uri="{FF2B5EF4-FFF2-40B4-BE49-F238E27FC236}">
                <a16:creationId xmlns:a16="http://schemas.microsoft.com/office/drawing/2014/main" id="{CF1C4D52-0C65-4648-B4E9-FF0C0563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43013" name="슬라이드 번호 개체 틀 5">
            <a:extLst>
              <a:ext uri="{FF2B5EF4-FFF2-40B4-BE49-F238E27FC236}">
                <a16:creationId xmlns:a16="http://schemas.microsoft.com/office/drawing/2014/main" id="{67793688-A751-41A7-B014-11175242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56AE8E-297F-47FE-B3B9-C8232979942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3014" name="Rectangle 1026">
            <a:extLst>
              <a:ext uri="{FF2B5EF4-FFF2-40B4-BE49-F238E27FC236}">
                <a16:creationId xmlns:a16="http://schemas.microsoft.com/office/drawing/2014/main" id="{5B1302AC-AC9A-4FD4-A236-9185A8799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5" name="Rectangle 1027">
            <a:extLst>
              <a:ext uri="{FF2B5EF4-FFF2-40B4-BE49-F238E27FC236}">
                <a16:creationId xmlns:a16="http://schemas.microsoft.com/office/drawing/2014/main" id="{07CD02B2-721E-480D-95A1-A7DEDC55F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6">
            <a:extLst>
              <a:ext uri="{FF2B5EF4-FFF2-40B4-BE49-F238E27FC236}">
                <a16:creationId xmlns:a16="http://schemas.microsoft.com/office/drawing/2014/main" id="{780D1BDF-C0F3-48B0-801A-CB78320A1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75" y="26035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부과금제도가 가지는 또 다른 장점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5059" name="Rectangle 1037">
            <a:extLst>
              <a:ext uri="{FF2B5EF4-FFF2-40B4-BE49-F238E27FC236}">
                <a16:creationId xmlns:a16="http://schemas.microsoft.com/office/drawing/2014/main" id="{A47FE4F7-DF62-4047-B7BC-4A42377C37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4413" y="1701800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sz="2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직접규제를 사용할 경우 배출기준을 강화하지 않는 한 기술혁신이 발생하여도 배출량이 줄어들지 않음</a:t>
            </a:r>
          </a:p>
          <a:p>
            <a:pPr lvl="1"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기술혁신 발생 후 정부가 배출기준을 강화하여 배출량을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줄이고자 한다면 기술혁신의 유인이 아주 작아짐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음이 될 가능성도 있음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ko-KR" altLang="en-US" sz="2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부과금제도는 기술혁신에 대한 강한 유인을 제공하면서도 기술혁신 후 배출량이 </a:t>
            </a:r>
            <a:r>
              <a:rPr lang="en-US" altLang="ko-KR" sz="2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32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자동적으로 감소되도록 하여 오염피해를 줄일 수 있음</a:t>
            </a:r>
          </a:p>
        </p:txBody>
      </p:sp>
      <p:sp>
        <p:nvSpPr>
          <p:cNvPr id="45060" name="바닥글 개체 틀 4">
            <a:extLst>
              <a:ext uri="{FF2B5EF4-FFF2-40B4-BE49-F238E27FC236}">
                <a16:creationId xmlns:a16="http://schemas.microsoft.com/office/drawing/2014/main" id="{8A53D366-85A4-45BA-B849-28720B49B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45061" name="슬라이드 번호 개체 틀 5">
            <a:extLst>
              <a:ext uri="{FF2B5EF4-FFF2-40B4-BE49-F238E27FC236}">
                <a16:creationId xmlns:a16="http://schemas.microsoft.com/office/drawing/2014/main" id="{7DE2BB22-FE45-4EF3-AEEF-480DC61D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C4ABBC-3318-4A55-8441-10ADFB3BEE99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5062" name="Rectangle 1026">
            <a:extLst>
              <a:ext uri="{FF2B5EF4-FFF2-40B4-BE49-F238E27FC236}">
                <a16:creationId xmlns:a16="http://schemas.microsoft.com/office/drawing/2014/main" id="{259DC4DF-8506-4453-B377-E892D416C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5063" name="Rectangle 1027">
            <a:extLst>
              <a:ext uri="{FF2B5EF4-FFF2-40B4-BE49-F238E27FC236}">
                <a16:creationId xmlns:a16="http://schemas.microsoft.com/office/drawing/2014/main" id="{DD323D7C-77C3-41D0-B9E4-E55905E3A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DF579-9842-4D42-8080-1DEFDC73A7A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기술투자와 오염규제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과연 개별 기업이 사회적 최적 수준의 기술혁신을 얻고자 노력할 것인가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?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기업의 저감비용이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𝑐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𝑘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𝑒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는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배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출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량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𝑘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기술개발을 위한 투자비임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𝑒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𝑘</m:t>
                    </m:r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모두 늘어날수록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저감비용을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줄임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이때 사회적 비용은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𝑐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𝑘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𝑘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𝐷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로</m:t>
                    </m:r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저감비용과 기술투자비용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그리고 오염관련비용을 모두 합한 것임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𝑘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로 각각 미분하면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사회적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ko-KR" altLang="en-US" sz="2000" dirty="0">
                        <a:latin typeface="나눔명조" panose="02020603020101020101" pitchFamily="18" charset="-127"/>
                        <a:ea typeface="나눔명조" panose="02020603020101020101" pitchFamily="18" charset="-127"/>
                      </a:rPr>
                      <m:t>최적에서는 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=0, 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+1=0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이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되어야 함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.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즉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eqArr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한</m:t>
                                  </m:r>
                                  <m:r>
                                    <a:rPr lang="ko-KR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계</m:t>
                                  </m:r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저</m:t>
                                  </m:r>
                                  <m:r>
                                    <a:rPr lang="ko-KR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감</m:t>
                                  </m:r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비</m:t>
                                  </m:r>
                                  <m:r>
                                    <a:rPr lang="ko-KR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용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한</m:t>
                              </m:r>
                              <m: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계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피</m:t>
                              </m:r>
                              <m: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해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투</m:t>
                                  </m:r>
                                  <m:r>
                                    <a:rPr lang="ko-KR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자</m:t>
                                  </m:r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로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비</m:t>
                                  </m:r>
                                  <m:r>
                                    <a:rPr lang="ko-KR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용</m:t>
                                  </m:r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이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절</m:t>
                                  </m:r>
                                  <m:r>
                                    <a:rPr lang="ko-KR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감</m:t>
                                  </m:r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되</m:t>
                                  </m:r>
                                  <m:r>
                                    <a:rPr lang="ko-KR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는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정</m:t>
                                  </m:r>
                                  <m:r>
                                    <a:rPr lang="ko-KR" alt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도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=1(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단</m:t>
                              </m:r>
                              <m: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위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당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투</m:t>
                              </m:r>
                              <m:r>
                                <a:rPr lang="ko-KR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자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비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1" t="-889" b="-20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127434-33D6-48C2-8E25-C20302D3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9089D7-B9A7-4B5E-BB96-1455D2F9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6916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DF579-9842-4D42-8080-1DEFDC73A7A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기술투자와 오염규제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정부가 배출부과금을 오염물질 단위당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t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만큼 부과할 때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기업의 비용은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𝑐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𝑘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𝑘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𝑡𝑒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이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기업입장에서의 최적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e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와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k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선택함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=0, 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+1=0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그러므로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정부는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𝑀𝐷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𝑒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𝑡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인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부과금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t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만을 적용하여 기업이 사회적 최적 수준의 오염물질을 배출하고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기술개발비를 집행하게 만들 수 있음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하지만 현실에서는 기술혁신의 중요 특성 중 하나인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파급효과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(spillovers)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있기 때문에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특정 기업의 기술개발투자는 다른 기업의 저감비용도 감소시키는 역할을 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파급효과는 긍정적 외부효과이긴 하나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고려하지 않으면 또 다른 시장실패 요인이 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1" t="-889" r="-751" b="-14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127434-33D6-48C2-8E25-C20302D3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9089D7-B9A7-4B5E-BB96-1455D2F9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040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DF579-9842-4D42-8080-1DEFDC73A7A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기술투자와 오염규제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두 기업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과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있다고 한다면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기업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저감비용은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c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+</m:t>
                        </m:r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𝛼</m:t>
                        </m:r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기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업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2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의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저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감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비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용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은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𝑐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2, 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+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𝛼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2000" b="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0&lt;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&lt;1</m:t>
                    </m:r>
                  </m:oMath>
                </a14:m>
                <a:endParaRPr lang="en-US" altLang="ko-KR" sz="1800" b="0" i="1" dirty="0">
                  <a:latin typeface="Cambria Math" panose="02040503050406030204" pitchFamily="18" charset="0"/>
                  <a:ea typeface="나눔명조" panose="02020603020101020101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𝑘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때문에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기업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투자비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𝑘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도 기업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저감비용에 영향을 미침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이때 사회 전체의 비용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𝑆𝐶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=2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𝑐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𝐾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+2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𝑘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𝐷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𝐸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, </m:t>
                      </m:r>
                      <m:r>
                        <a:rPr lang="ko-KR" altLang="en-US" sz="2000" i="1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단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E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e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K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l-GR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ko-KR" sz="2000" b="0" dirty="0">
                  <a:latin typeface="나눔명조" panose="02020603020101020101" pitchFamily="18" charset="-127"/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K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파급효과를 포함하여 각 기업의 저감비용에 영향을 미치는 유효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(effective)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기술투자액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사회적 최적조건은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=0, 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(1+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+1=0</m:t>
                    </m:r>
                  </m:oMath>
                </a14:m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1" t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127434-33D6-48C2-8E25-C20302D3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9089D7-B9A7-4B5E-BB96-1455D2F9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7424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DF579-9842-4D42-8080-1DEFDC73A7A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기술투자와 오염규제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570429"/>
                <a:ext cx="7313612" cy="4114800"/>
              </a:xfrm>
            </p:spPr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오염행위는 음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(-)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그리고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기술투자는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양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(+)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서로 다른 외부효과를 유발하므로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둘을 모두 해결하기 위해서는 서로 다른 두 가지 정책수단이 필요함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정부는 오염문제는 배출부과금으로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기술투자의 외부효과는 투자비를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s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비율만큼 보조하는 것으로 해결하고자 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기업 </a:t>
                </a:r>
                <a:r>
                  <a:rPr lang="en-US" altLang="ko-KR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i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비용은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c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+</m:t>
                        </m:r>
                        <m:r>
                          <a:rPr lang="ko-KR" altLang="en-US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𝛼</m:t>
                        </m:r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𝑡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+(1−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𝑘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이를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최소화하는 행동은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=0, </m:t>
                    </m:r>
                    <m:f>
                      <m:f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+1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−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𝑠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=0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충족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따라서 정부가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𝑡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den>
                    </m:f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부과금과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개발비 보조를 도입하면 파급효과가 존재해도 사회적 최적 행위 유도할 수 있음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570429"/>
                <a:ext cx="7313612" cy="4114800"/>
              </a:xfrm>
              <a:blipFill>
                <a:blip r:embed="rId2"/>
                <a:stretch>
                  <a:fillRect l="-751" t="-889" r="-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127434-33D6-48C2-8E25-C20302D3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9089D7-B9A7-4B5E-BB96-1455D2F9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23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8591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DF579-9842-4D42-8080-1DEFDC73A7A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기술투자와 오염규제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570429"/>
                <a:ext cx="7313612" cy="4114800"/>
              </a:xfrm>
            </p:spPr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만약 정부가 개발비 보조정책을 사용할 수 없고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배출규제만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해야 한다면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?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𝑡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𝑀𝐷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𝐸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+</m:t>
                      </m:r>
                      <m:r>
                        <a:rPr lang="ko-KR" altLang="en-US" sz="18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𝛼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457200" lvl="1" indent="0">
                  <a:buNone/>
                </a:pP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                                            (+)</a:t>
                </a: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우변 첫 번째 항은 오염의 한계피해이고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두 번째 항은 파급효과를 가지는 기술혁신투자를 늘리도록 유도하기 위해 필요한 것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도출과정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교과서 참조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기술개발의 파급효과가 있는 상태에서 배출부과금만 사용할 수 있다면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기술개발을 자극하기 위해 오염의 한계피해보다도 더 큰 부과금이 적용되어야 함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두 번째 항이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0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보다 크기 때문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864324-F592-4720-849F-A0334E0B8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570429"/>
                <a:ext cx="7313612" cy="4114800"/>
              </a:xfrm>
              <a:blipFill>
                <a:blip r:embed="rId2"/>
                <a:stretch>
                  <a:fillRect l="-751" t="-889" r="-8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127434-33D6-48C2-8E25-C20302D3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9089D7-B9A7-4B5E-BB96-1455D2F9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24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2795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6">
            <a:extLst>
              <a:ext uri="{FF2B5EF4-FFF2-40B4-BE49-F238E27FC236}">
                <a16:creationId xmlns:a16="http://schemas.microsoft.com/office/drawing/2014/main" id="{D0C12296-B0B7-41ED-BE2F-A5E621FD8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높은 정책집행비용과 대안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7107" name="Rectangle 1037">
            <a:extLst>
              <a:ext uri="{FF2B5EF4-FFF2-40B4-BE49-F238E27FC236}">
                <a16:creationId xmlns:a16="http://schemas.microsoft.com/office/drawing/2014/main" id="{5B4B7312-F2FD-4355-B992-D8CC69FD69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0125" y="1533525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배출부과금제도는 효율성과 기술혁신 유인의 측면에서 볼 때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직접규제에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비해 더 우월한 제도임</a:t>
            </a: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그럼에도 불구하고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직접규제가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많이 사용되는 이유는 부과금제도의 정책관련 거래비용이 크기 때문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부과금제도에서는 각 오염원이 배출한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배출총량을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파악할 수 있어야 하고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각 오염원의 배출량을 지속적으로 계측하여야 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특히 오염의 경로나 오염원이 쉽게 파악되지 않는 비점원오염의 경우 어느 오염원이 오염물질을 얼마나 배출하고 있는지를 파악할 수 없음</a:t>
            </a: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배출부과금제도가 가지는 장점을 어느 정도 보유하면서도 정책집행비용을 절약하기 위해 흔히 사용하는 정책들</a:t>
            </a:r>
          </a:p>
          <a:p>
            <a:pPr lvl="1"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제품부과금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혹은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상품세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(product charge)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폐기물예치금제도</a:t>
            </a:r>
          </a:p>
        </p:txBody>
      </p:sp>
      <p:sp>
        <p:nvSpPr>
          <p:cNvPr id="47108" name="바닥글 개체 틀 4">
            <a:extLst>
              <a:ext uri="{FF2B5EF4-FFF2-40B4-BE49-F238E27FC236}">
                <a16:creationId xmlns:a16="http://schemas.microsoft.com/office/drawing/2014/main" id="{F19B0AA9-BA35-457C-A557-CF5CD377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47109" name="슬라이드 번호 개체 틀 5">
            <a:extLst>
              <a:ext uri="{FF2B5EF4-FFF2-40B4-BE49-F238E27FC236}">
                <a16:creationId xmlns:a16="http://schemas.microsoft.com/office/drawing/2014/main" id="{8C54AFF9-F9F4-4ECC-B28B-F816BAAB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EAEB9F-C2A4-4706-853A-E3762EC8CF2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7110" name="Rectangle 1026">
            <a:extLst>
              <a:ext uri="{FF2B5EF4-FFF2-40B4-BE49-F238E27FC236}">
                <a16:creationId xmlns:a16="http://schemas.microsoft.com/office/drawing/2014/main" id="{E50CF3DB-4ABD-44C0-B4BB-2C558E0EA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7111" name="Rectangle 1027">
            <a:extLst>
              <a:ext uri="{FF2B5EF4-FFF2-40B4-BE49-F238E27FC236}">
                <a16:creationId xmlns:a16="http://schemas.microsoft.com/office/drawing/2014/main" id="{05A677A0-DEF9-44BF-8D17-1A75601F1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36">
            <a:extLst>
              <a:ext uri="{FF2B5EF4-FFF2-40B4-BE49-F238E27FC236}">
                <a16:creationId xmlns:a16="http://schemas.microsoft.com/office/drawing/2014/main" id="{301099D3-C0A1-4F66-B0A7-6B1CBEA301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5826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제품부과금 혹은 상품세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(product charge)</a:t>
            </a:r>
          </a:p>
        </p:txBody>
      </p:sp>
      <p:sp>
        <p:nvSpPr>
          <p:cNvPr id="49155" name="Rectangle 1037">
            <a:extLst>
              <a:ext uri="{FF2B5EF4-FFF2-40B4-BE49-F238E27FC236}">
                <a16:creationId xmlns:a16="http://schemas.microsoft.com/office/drawing/2014/main" id="{06C0B804-1DAA-4FE4-BC3F-E3278A62A4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4263" y="2166938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각 오염원이 배출하는 오염물질량을 정부가 지속적으로 직접 계측하는 것은 어려움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그에 대한 대안으로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생산과정에서 많은 오염물질을 배출하는 제품에 대해서는 제품단위당 특정 금액의 세금을 매기는 방법이 있음</a:t>
            </a:r>
          </a:p>
        </p:txBody>
      </p:sp>
      <p:sp>
        <p:nvSpPr>
          <p:cNvPr id="49156" name="바닥글 개체 틀 4">
            <a:extLst>
              <a:ext uri="{FF2B5EF4-FFF2-40B4-BE49-F238E27FC236}">
                <a16:creationId xmlns:a16="http://schemas.microsoft.com/office/drawing/2014/main" id="{53C5D336-AD9B-4814-8492-36DD5F63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49157" name="슬라이드 번호 개체 틀 5">
            <a:extLst>
              <a:ext uri="{FF2B5EF4-FFF2-40B4-BE49-F238E27FC236}">
                <a16:creationId xmlns:a16="http://schemas.microsoft.com/office/drawing/2014/main" id="{7397E8FC-8163-45A3-950E-97C844EE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298CE9-D164-4CB8-9899-C858D845369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9158" name="Rectangle 1026">
            <a:extLst>
              <a:ext uri="{FF2B5EF4-FFF2-40B4-BE49-F238E27FC236}">
                <a16:creationId xmlns:a16="http://schemas.microsoft.com/office/drawing/2014/main" id="{CBFC81F4-3EE3-4845-B012-6157BB7FE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9159" name="Rectangle 1027">
            <a:extLst>
              <a:ext uri="{FF2B5EF4-FFF2-40B4-BE49-F238E27FC236}">
                <a16:creationId xmlns:a16="http://schemas.microsoft.com/office/drawing/2014/main" id="{E48D4663-842A-49BC-9477-38F0B9D41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36">
            <a:extLst>
              <a:ext uri="{FF2B5EF4-FFF2-40B4-BE49-F238E27FC236}">
                <a16:creationId xmlns:a16="http://schemas.microsoft.com/office/drawing/2014/main" id="{49C5A265-5096-4A6B-B73C-CFF738BE9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제품부과금 혹은 상품세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3" name="Rectangle 1037">
            <a:extLst>
              <a:ext uri="{FF2B5EF4-FFF2-40B4-BE49-F238E27FC236}">
                <a16:creationId xmlns:a16="http://schemas.microsoft.com/office/drawing/2014/main" id="{7B271048-C93A-4AF3-A98D-D14349723A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5838" y="1504950"/>
            <a:ext cx="7694612" cy="4114800"/>
          </a:xfrm>
        </p:spPr>
        <p:txBody>
          <a:bodyPr/>
          <a:lstStyle/>
          <a:p>
            <a:pPr eaLnBrk="1" hangingPunct="1"/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상품을 생산하는 과정에서 오염이 발생한다면</a:t>
            </a:r>
            <a:r>
              <a:rPr lang="en-US" altLang="ko-KR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기업의 생산량 </a:t>
            </a:r>
            <a:r>
              <a:rPr lang="en-US" altLang="ko-KR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9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사회전체의 입장에서 볼 때는 지나치게 많은 생산량임</a:t>
            </a:r>
          </a:p>
          <a:p>
            <a:pPr eaLnBrk="1" hangingPunct="1"/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사회적 한계비용과 사적 한계비용의 차이인 </a:t>
            </a:r>
            <a:r>
              <a:rPr lang="en-US" altLang="ko-KR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제품단위당 세금의 형태로 부과한다면 기업의 한계비용곡선이 </a:t>
            </a:r>
            <a:r>
              <a:rPr lang="en-US" altLang="ko-KR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 상향 이동하게 되고</a:t>
            </a:r>
            <a:r>
              <a:rPr lang="en-US" altLang="ko-KR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기업은 사회적 최적인 </a:t>
            </a:r>
            <a:r>
              <a:rPr lang="en-US" altLang="ko-KR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9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선택</a:t>
            </a: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242131D6-9A7B-4F8C-8D5B-2FDE998C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1A683B31-F98C-45D0-B92A-AF318F2E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FAA889-CD28-444B-A53A-12952D7650D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1206" name="Rectangle 1026">
            <a:extLst>
              <a:ext uri="{FF2B5EF4-FFF2-40B4-BE49-F238E27FC236}">
                <a16:creationId xmlns:a16="http://schemas.microsoft.com/office/drawing/2014/main" id="{AFD9F2F0-44C1-488B-BB9B-A4CFD6FF2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7" name="Rectangle 1027">
            <a:extLst>
              <a:ext uri="{FF2B5EF4-FFF2-40B4-BE49-F238E27FC236}">
                <a16:creationId xmlns:a16="http://schemas.microsoft.com/office/drawing/2014/main" id="{938C54C7-52DE-4135-8050-934ADE2F8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51208" name="그림 7" descr="Cap 2014-06-19 09-43-53-940.png">
            <a:extLst>
              <a:ext uri="{FF2B5EF4-FFF2-40B4-BE49-F238E27FC236}">
                <a16:creationId xmlns:a16="http://schemas.microsoft.com/office/drawing/2014/main" id="{4DED85D4-C02B-4BE4-A5F3-309BFD7D5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3160713"/>
            <a:ext cx="5667375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36">
            <a:extLst>
              <a:ext uri="{FF2B5EF4-FFF2-40B4-BE49-F238E27FC236}">
                <a16:creationId xmlns:a16="http://schemas.microsoft.com/office/drawing/2014/main" id="{6B2C6991-A6C1-4557-BAAE-6E357B2526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제품부과금 혹은 상품세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3251" name="Rectangle 1037">
            <a:extLst>
              <a:ext uri="{FF2B5EF4-FFF2-40B4-BE49-F238E27FC236}">
                <a16:creationId xmlns:a16="http://schemas.microsoft.com/office/drawing/2014/main" id="{7994179C-FF92-446E-A7E8-6DCAE3ADF4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8550" y="1533525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이 제도는 비교적 낮은 정책집행비용을 지불하고 배출부과금제도와 유사한 효과를 거둘 수 있다는 장점을 가짐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규제당국이 오염물질 총량을 계측하는 것은 힘든 일이나 생산한 제품의 수를 파악하는 것은 상대적으로 쉬움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그러나 이 제도는 배출부과금제도에서는 없는 또 다른 비용을 유발할 수 있음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제품부과금을 부과하면 생산자는 반드시 생산량을 줄여 배출량을 감소하여야 하고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배출감소를 위해 선택할 수 있는 수단이 제한됨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제품부과금이 가지는 경직성이 비효율성의 또 다른 원인이 될 수 있음</a:t>
            </a:r>
          </a:p>
        </p:txBody>
      </p:sp>
      <p:sp>
        <p:nvSpPr>
          <p:cNvPr id="53252" name="바닥글 개체 틀 4">
            <a:extLst>
              <a:ext uri="{FF2B5EF4-FFF2-40B4-BE49-F238E27FC236}">
                <a16:creationId xmlns:a16="http://schemas.microsoft.com/office/drawing/2014/main" id="{A7556D78-4FFB-4CE2-A853-33006A0B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53253" name="슬라이드 번호 개체 틀 5">
            <a:extLst>
              <a:ext uri="{FF2B5EF4-FFF2-40B4-BE49-F238E27FC236}">
                <a16:creationId xmlns:a16="http://schemas.microsoft.com/office/drawing/2014/main" id="{0144B8F2-9687-41BD-96E1-3720D506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3AC031-4EB6-4EA7-8204-099E3712ABE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3254" name="Rectangle 1026">
            <a:extLst>
              <a:ext uri="{FF2B5EF4-FFF2-40B4-BE49-F238E27FC236}">
                <a16:creationId xmlns:a16="http://schemas.microsoft.com/office/drawing/2014/main" id="{3F8B23C7-5C91-4261-AC12-8FBC09F68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5" name="Rectangle 1027">
            <a:extLst>
              <a:ext uri="{FF2B5EF4-FFF2-40B4-BE49-F238E27FC236}">
                <a16:creationId xmlns:a16="http://schemas.microsoft.com/office/drawing/2014/main" id="{0CB83723-2EB7-430D-BA3E-4362054E9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36">
            <a:extLst>
              <a:ext uri="{FF2B5EF4-FFF2-40B4-BE49-F238E27FC236}">
                <a16:creationId xmlns:a16="http://schemas.microsoft.com/office/drawing/2014/main" id="{BB80F096-9AB4-4C59-8097-F89CFC5D8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5699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폐기물예치금제도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(deposit-refund system)</a:t>
            </a:r>
          </a:p>
        </p:txBody>
      </p:sp>
      <p:sp>
        <p:nvSpPr>
          <p:cNvPr id="55299" name="Rectangle 1037">
            <a:extLst>
              <a:ext uri="{FF2B5EF4-FFF2-40B4-BE49-F238E27FC236}">
                <a16:creationId xmlns:a16="http://schemas.microsoft.com/office/drawing/2014/main" id="{458BC817-2A5E-47F8-8B07-A0D42A5E8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2975" y="1955800"/>
            <a:ext cx="7656513" cy="4114800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폐기물예치금제도는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   </a:t>
            </a: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이를테면 음료수를 판매하는 생산자가 음료수를 판매할 때 빈 병의 회수 및 재활용과 관련된 예치금을 납부하고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생산자가 음료수의 빈 병을 회수하여 재활용할 경우 예치한 금액을 되돌려 받게 되는 제도를 말함</a:t>
            </a: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폐기물예치금제도가 가지는 큰 장점은 정부의 정책집행비용을 절약할 수 있다는 점임</a:t>
            </a:r>
          </a:p>
        </p:txBody>
      </p:sp>
      <p:sp>
        <p:nvSpPr>
          <p:cNvPr id="55300" name="바닥글 개체 틀 4">
            <a:extLst>
              <a:ext uri="{FF2B5EF4-FFF2-40B4-BE49-F238E27FC236}">
                <a16:creationId xmlns:a16="http://schemas.microsoft.com/office/drawing/2014/main" id="{51390352-90EE-44A0-AAF3-F5B0CF6C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55301" name="슬라이드 번호 개체 틀 5">
            <a:extLst>
              <a:ext uri="{FF2B5EF4-FFF2-40B4-BE49-F238E27FC236}">
                <a16:creationId xmlns:a16="http://schemas.microsoft.com/office/drawing/2014/main" id="{BDBDA8C4-1019-45F0-876B-7933BE52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6EC814-5CF8-4636-97D0-D57A2D58758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5302" name="Rectangle 1026">
            <a:extLst>
              <a:ext uri="{FF2B5EF4-FFF2-40B4-BE49-F238E27FC236}">
                <a16:creationId xmlns:a16="http://schemas.microsoft.com/office/drawing/2014/main" id="{26962010-3FFB-44B4-B180-34BAB1D9A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3" name="Rectangle 1027">
            <a:extLst>
              <a:ext uri="{FF2B5EF4-FFF2-40B4-BE49-F238E27FC236}">
                <a16:creationId xmlns:a16="http://schemas.microsoft.com/office/drawing/2014/main" id="{DECF76B4-7DE5-4F1A-A604-71FECDAC2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36">
            <a:extLst>
              <a:ext uri="{FF2B5EF4-FFF2-40B4-BE49-F238E27FC236}">
                <a16:creationId xmlns:a16="http://schemas.microsoft.com/office/drawing/2014/main" id="{16267BD9-B097-4B98-81C6-03E31F36E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-196850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폐기물예치금제도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7347" name="Rectangle 1037">
            <a:extLst>
              <a:ext uri="{FF2B5EF4-FFF2-40B4-BE49-F238E27FC236}">
                <a16:creationId xmlns:a16="http://schemas.microsoft.com/office/drawing/2014/main" id="{86DCF4DC-0206-45DF-B196-066FBE8F4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3263" y="1055688"/>
            <a:ext cx="7867650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생산자가 특정기간 동안 판매한 음료수가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100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병이라 가정 </a:t>
            </a:r>
          </a:p>
          <a:p>
            <a:pPr lvl="1" eaLnBrk="1" hangingPunct="1"/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가로축은 생산자가 수거하지 않아 그냥 버려지게 되는 병의 수</a:t>
            </a:r>
          </a:p>
          <a:p>
            <a:pPr lvl="1" eaLnBrk="1" hangingPunct="1"/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MB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곡선은 음료수 생산자가 빈 병을 수거하지 않아 얻는 한계편익이며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병을 수거하는 인적 및 시간적 비용을 절감하여 얻는 편익임</a:t>
            </a:r>
          </a:p>
          <a:p>
            <a:pPr lvl="1" eaLnBrk="1" hangingPunct="1"/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병을 그냥 버리는 행위의 사회적 한계비용은 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MC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곡선임</a:t>
            </a:r>
          </a:p>
        </p:txBody>
      </p:sp>
      <p:sp>
        <p:nvSpPr>
          <p:cNvPr id="57348" name="바닥글 개체 틀 4">
            <a:extLst>
              <a:ext uri="{FF2B5EF4-FFF2-40B4-BE49-F238E27FC236}">
                <a16:creationId xmlns:a16="http://schemas.microsoft.com/office/drawing/2014/main" id="{378801B2-E15E-4278-83E5-FBF8997D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57349" name="슬라이드 번호 개체 틀 5">
            <a:extLst>
              <a:ext uri="{FF2B5EF4-FFF2-40B4-BE49-F238E27FC236}">
                <a16:creationId xmlns:a16="http://schemas.microsoft.com/office/drawing/2014/main" id="{90DB100A-3054-47AA-ACC1-E3C8F3AD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CC4C01-D04C-4996-B0EE-637D66DA609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7350" name="Rectangle 1026">
            <a:extLst>
              <a:ext uri="{FF2B5EF4-FFF2-40B4-BE49-F238E27FC236}">
                <a16:creationId xmlns:a16="http://schemas.microsoft.com/office/drawing/2014/main" id="{23834EDB-768F-4D61-80D6-444CE422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7351" name="Rectangle 1027">
            <a:extLst>
              <a:ext uri="{FF2B5EF4-FFF2-40B4-BE49-F238E27FC236}">
                <a16:creationId xmlns:a16="http://schemas.microsoft.com/office/drawing/2014/main" id="{1E1B8A11-3403-46EB-8061-99D48703B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57352" name="그림 7" descr="Cap 2014-06-19 09-44-03-904.png">
            <a:extLst>
              <a:ext uri="{FF2B5EF4-FFF2-40B4-BE49-F238E27FC236}">
                <a16:creationId xmlns:a16="http://schemas.microsoft.com/office/drawing/2014/main" id="{A43F09E1-97FC-4D8F-9CB9-E82D57C36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88" y="3082925"/>
            <a:ext cx="6794500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36">
            <a:extLst>
              <a:ext uri="{FF2B5EF4-FFF2-40B4-BE49-F238E27FC236}">
                <a16:creationId xmlns:a16="http://schemas.microsoft.com/office/drawing/2014/main" id="{110730B2-0274-47F9-9D36-9B7344EA8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폐기물예치금제도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5" name="Rectangle 1037">
            <a:extLst>
              <a:ext uri="{FF2B5EF4-FFF2-40B4-BE49-F238E27FC236}">
                <a16:creationId xmlns:a16="http://schemas.microsoft.com/office/drawing/2014/main" id="{23E856DA-E141-4335-9AC2-905E40C543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6125" y="1490663"/>
            <a:ext cx="7867650" cy="4114800"/>
          </a:xfrm>
        </p:spPr>
        <p:txBody>
          <a:bodyPr/>
          <a:lstStyle/>
          <a:p>
            <a:pPr eaLnBrk="1" hangingPunct="1"/>
            <a:r>
              <a:rPr lang="ko-KR" altLang="en-US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사회적 관점에서 볼 때 생산자는 </a:t>
            </a:r>
            <a:r>
              <a:rPr lang="en-US" altLang="ko-KR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100-Q</a:t>
            </a:r>
            <a:r>
              <a:rPr lang="en-US" altLang="ko-KR" sz="25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만큼을 수거하여야 하나</a:t>
            </a:r>
            <a:r>
              <a:rPr lang="en-US" altLang="ko-KR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실제로는 </a:t>
            </a:r>
            <a:r>
              <a:rPr lang="en-US" altLang="ko-KR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100-Q</a:t>
            </a:r>
            <a:r>
              <a:rPr lang="en-US" altLang="ko-KR" sz="25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ko-KR" altLang="en-US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만큼만을 수거하여 시장 실패가 발생</a:t>
            </a:r>
          </a:p>
          <a:p>
            <a:pPr eaLnBrk="1" hangingPunct="1"/>
            <a:r>
              <a:rPr lang="ko-KR" altLang="en-US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생산된 음료수 </a:t>
            </a:r>
            <a:r>
              <a:rPr lang="en-US" altLang="ko-KR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병당 </a:t>
            </a:r>
            <a:r>
              <a:rPr lang="en-US" altLang="ko-KR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  <a:r>
              <a:rPr lang="ko-KR" altLang="en-US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예치금을 생산자에게 부과한다면</a:t>
            </a:r>
            <a:endParaRPr lang="en-US" altLang="ko-KR" sz="25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생산자는 병을 수거하지 않으면 예치금을 포기해야 하므로 그냥 버리는 병의 한계비용이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됨</a:t>
            </a:r>
          </a:p>
          <a:p>
            <a:pPr lvl="1"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사회적 최적인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100-Q</a:t>
            </a:r>
            <a:r>
              <a:rPr lang="en-US" altLang="ko-KR" sz="22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병을 수거함</a:t>
            </a:r>
            <a:endParaRPr lang="en-US" altLang="ko-KR" sz="22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예치금제도는 배출부과금제도처럼 적절한 경제적 유인을 제공하여 효율적인 환경이용을 유도할 수 있음</a:t>
            </a:r>
          </a:p>
        </p:txBody>
      </p:sp>
      <p:sp>
        <p:nvSpPr>
          <p:cNvPr id="59396" name="바닥글 개체 틀 4">
            <a:extLst>
              <a:ext uri="{FF2B5EF4-FFF2-40B4-BE49-F238E27FC236}">
                <a16:creationId xmlns:a16="http://schemas.microsoft.com/office/drawing/2014/main" id="{A32D1375-B4EB-46AF-A7BF-7B99C2B6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59397" name="슬라이드 번호 개체 틀 5">
            <a:extLst>
              <a:ext uri="{FF2B5EF4-FFF2-40B4-BE49-F238E27FC236}">
                <a16:creationId xmlns:a16="http://schemas.microsoft.com/office/drawing/2014/main" id="{2B2418B4-40C0-43DA-8486-B9259AE6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8262E4-495E-4885-9ADA-44CFBE0881C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9398" name="Rectangle 1026">
            <a:extLst>
              <a:ext uri="{FF2B5EF4-FFF2-40B4-BE49-F238E27FC236}">
                <a16:creationId xmlns:a16="http://schemas.microsoft.com/office/drawing/2014/main" id="{2808988E-A9ED-4161-AA27-1E851802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9399" name="Rectangle 1027">
            <a:extLst>
              <a:ext uri="{FF2B5EF4-FFF2-40B4-BE49-F238E27FC236}">
                <a16:creationId xmlns:a16="http://schemas.microsoft.com/office/drawing/2014/main" id="{6BF9AA16-01ED-4466-8D8A-3CF129C44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36">
            <a:extLst>
              <a:ext uri="{FF2B5EF4-FFF2-40B4-BE49-F238E27FC236}">
                <a16:creationId xmlns:a16="http://schemas.microsoft.com/office/drawing/2014/main" id="{F4DBE0DD-6E38-4661-8CAA-DF20708FB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폐기물예치금제도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1443" name="Rectangle 1037">
            <a:extLst>
              <a:ext uri="{FF2B5EF4-FFF2-40B4-BE49-F238E27FC236}">
                <a16:creationId xmlns:a16="http://schemas.microsoft.com/office/drawing/2014/main" id="{D4C606BE-EB2E-4E96-A05B-8134F55DC8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6125" y="1490663"/>
            <a:ext cx="7867650" cy="4114800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예치금제도가 부과금제도에 비해 가지는 큰 차이</a:t>
            </a:r>
            <a:endParaRPr lang="en-US" altLang="ko-KR" sz="26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실제로 환경을 오염시키는 오염자에게만 벌칙을 부과하는 것이 아니라 모든 잠재적 오염원에게 일단 벌칙을 부과한 후</a:t>
            </a:r>
            <a:r>
              <a:rPr lang="en-US" altLang="ko-KR" sz="23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오염행위를 하지 않았다는 것을 스스로 입증하면 벌칙을 면해 줌</a:t>
            </a: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정부가 오염원의 행위를 일일이 감시해야 하는 부담에서 해방될 수 있음</a:t>
            </a: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이런 특징으로 인해 예치금제도는 소비과정에서 오염을 유발하되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매우 광범위하게 사용되어 행정당국이 일일이 오염행위를 감독할 수 없는 제품에 주로 적용함</a:t>
            </a:r>
          </a:p>
        </p:txBody>
      </p:sp>
      <p:sp>
        <p:nvSpPr>
          <p:cNvPr id="61444" name="바닥글 개체 틀 4">
            <a:extLst>
              <a:ext uri="{FF2B5EF4-FFF2-40B4-BE49-F238E27FC236}">
                <a16:creationId xmlns:a16="http://schemas.microsoft.com/office/drawing/2014/main" id="{4E37AF42-C223-40DE-A1E9-53BF6054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61445" name="슬라이드 번호 개체 틀 5">
            <a:extLst>
              <a:ext uri="{FF2B5EF4-FFF2-40B4-BE49-F238E27FC236}">
                <a16:creationId xmlns:a16="http://schemas.microsoft.com/office/drawing/2014/main" id="{E739B701-D941-4181-A10A-DCA79E78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6D1C0E-2E40-48AF-B49A-A18C8E17284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1446" name="Rectangle 1026">
            <a:extLst>
              <a:ext uri="{FF2B5EF4-FFF2-40B4-BE49-F238E27FC236}">
                <a16:creationId xmlns:a16="http://schemas.microsoft.com/office/drawing/2014/main" id="{3DDFB3B1-0F06-4820-A8FC-24C2BD7B6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1447" name="Rectangle 1027">
            <a:extLst>
              <a:ext uri="{FF2B5EF4-FFF2-40B4-BE49-F238E27FC236}">
                <a16:creationId xmlns:a16="http://schemas.microsoft.com/office/drawing/2014/main" id="{91A0F1D7-0563-4692-80EF-EF0825DC1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36">
            <a:extLst>
              <a:ext uri="{FF2B5EF4-FFF2-40B4-BE49-F238E27FC236}">
                <a16:creationId xmlns:a16="http://schemas.microsoft.com/office/drawing/2014/main" id="{27F6B724-3A7F-4696-90FF-1E47A41D1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보조금제도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3491" name="Rectangle 1037">
            <a:extLst>
              <a:ext uri="{FF2B5EF4-FFF2-40B4-BE49-F238E27FC236}">
                <a16:creationId xmlns:a16="http://schemas.microsoft.com/office/drawing/2014/main" id="{2AB678AE-54BE-4D7D-9714-315604DC87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4413" y="1435100"/>
            <a:ext cx="7637462" cy="4114800"/>
          </a:xfrm>
        </p:spPr>
        <p:txBody>
          <a:bodyPr/>
          <a:lstStyle/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부과금제도는 오염자부담원칙에 입각한 제도로서 오염원이 환경을 훼손할 권리를 전혀 인정하지 않는 제도임</a:t>
            </a:r>
          </a:p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그러나 실제 사용되고 있는 환경정책 중에는 오염원에게 오염의 권리를 인정해주는 제도들이 많이 있음</a:t>
            </a:r>
          </a:p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보조금제도는 수혜자부담원칙이나 피해자부담원칙에 가까운 정책 중 하나임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특정 수준까지 오염물질을 배출할 권리를 인정해주고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오염원이 권리 가운데 일부를 포기할 경우 보조금을 주어 보상하는 방식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오염저감시설에 대한 보조정책과 저감량에 대한 보조정책으로 나눌 수 있음</a:t>
            </a:r>
          </a:p>
        </p:txBody>
      </p:sp>
      <p:sp>
        <p:nvSpPr>
          <p:cNvPr id="63492" name="바닥글 개체 틀 4">
            <a:extLst>
              <a:ext uri="{FF2B5EF4-FFF2-40B4-BE49-F238E27FC236}">
                <a16:creationId xmlns:a16="http://schemas.microsoft.com/office/drawing/2014/main" id="{BB617112-AA77-4D24-9026-C6B6B9578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63493" name="슬라이드 번호 개체 틀 5">
            <a:extLst>
              <a:ext uri="{FF2B5EF4-FFF2-40B4-BE49-F238E27FC236}">
                <a16:creationId xmlns:a16="http://schemas.microsoft.com/office/drawing/2014/main" id="{7C953F57-4483-4749-B3B3-CB303370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74B6DD-EFAF-474A-B5A6-ACDC37A5C80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3494" name="Rectangle 1026">
            <a:extLst>
              <a:ext uri="{FF2B5EF4-FFF2-40B4-BE49-F238E27FC236}">
                <a16:creationId xmlns:a16="http://schemas.microsoft.com/office/drawing/2014/main" id="{447ECCA0-853B-417B-9E55-570F91559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3495" name="Rectangle 1027">
            <a:extLst>
              <a:ext uri="{FF2B5EF4-FFF2-40B4-BE49-F238E27FC236}">
                <a16:creationId xmlns:a16="http://schemas.microsoft.com/office/drawing/2014/main" id="{7302434C-80BB-4C17-A9BA-B259E0C32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6">
            <a:extLst>
              <a:ext uri="{FF2B5EF4-FFF2-40B4-BE49-F238E27FC236}">
                <a16:creationId xmlns:a16="http://schemas.microsoft.com/office/drawing/2014/main" id="{9D7940D6-C2EC-4868-BC84-03C301CAF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저감시설에 대한 보조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1037">
            <a:extLst>
              <a:ext uri="{FF2B5EF4-FFF2-40B4-BE49-F238E27FC236}">
                <a16:creationId xmlns:a16="http://schemas.microsoft.com/office/drawing/2014/main" id="{31BC6E53-4E24-4010-97C9-5A467652F4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9975" y="1533525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오염물질 발생량을 줄이는 데 필요한 시설을 오염원이 설치할 경우 그 비용의 일부를 정부가 보조해주는 정책</a:t>
            </a:r>
          </a:p>
          <a:p>
            <a:pPr lvl="1"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영세한 축산농가의 폐수정화시설 설치에 대한 각종보조나 저리의 융자</a:t>
            </a:r>
            <a:endParaRPr lang="en-US" altLang="ko-KR" sz="22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다음장의 그림에서 가로축은 축산폐수 정화시설의 규모</a:t>
            </a:r>
          </a:p>
          <a:p>
            <a:pPr eaLnBrk="1" hangingPunct="1"/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MC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선은 폐수 정화시설을 생산하는 데 소요되는 한계비용</a:t>
            </a:r>
          </a:p>
          <a:p>
            <a:pPr eaLnBrk="1" hangingPunct="1"/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MB</a:t>
            </a:r>
            <a:r>
              <a:rPr lang="en-US" altLang="ko-KR" sz="22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축산농가가 정화시설에 대해 갖는 한계가치</a:t>
            </a:r>
          </a:p>
          <a:p>
            <a:pPr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정화시설은 양의 외부효과를 유발하므로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MB</a:t>
            </a:r>
            <a:r>
              <a:rPr lang="en-US" altLang="ko-KR" sz="22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곡선은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MB</a:t>
            </a:r>
            <a:r>
              <a:rPr lang="en-US" altLang="ko-KR" sz="22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곡선보다 위쪽에 위치</a:t>
            </a:r>
          </a:p>
        </p:txBody>
      </p:sp>
      <p:sp>
        <p:nvSpPr>
          <p:cNvPr id="65540" name="바닥글 개체 틀 4">
            <a:extLst>
              <a:ext uri="{FF2B5EF4-FFF2-40B4-BE49-F238E27FC236}">
                <a16:creationId xmlns:a16="http://schemas.microsoft.com/office/drawing/2014/main" id="{08FFCA41-95D4-477F-AAC8-EC483A37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65541" name="슬라이드 번호 개체 틀 5">
            <a:extLst>
              <a:ext uri="{FF2B5EF4-FFF2-40B4-BE49-F238E27FC236}">
                <a16:creationId xmlns:a16="http://schemas.microsoft.com/office/drawing/2014/main" id="{D83D90E1-C6B6-46B6-B7EB-E73A568D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CC5E4E-ADE2-46C5-B06B-9610384FF63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5542" name="Rectangle 1026">
            <a:extLst>
              <a:ext uri="{FF2B5EF4-FFF2-40B4-BE49-F238E27FC236}">
                <a16:creationId xmlns:a16="http://schemas.microsoft.com/office/drawing/2014/main" id="{C68AA058-179E-4E15-AA72-0E816CC7D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3" name="Rectangle 1027">
            <a:extLst>
              <a:ext uri="{FF2B5EF4-FFF2-40B4-BE49-F238E27FC236}">
                <a16:creationId xmlns:a16="http://schemas.microsoft.com/office/drawing/2014/main" id="{315D4F41-6E93-41FC-8229-4AF8F9E4F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36">
            <a:extLst>
              <a:ext uri="{FF2B5EF4-FFF2-40B4-BE49-F238E27FC236}">
                <a16:creationId xmlns:a16="http://schemas.microsoft.com/office/drawing/2014/main" id="{D408D68A-08D2-4B1B-B91E-86A2C2DDB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-211138"/>
            <a:ext cx="7313612" cy="1143001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저감시설에 대한 보조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7587" name="Rectangle 1037">
            <a:extLst>
              <a:ext uri="{FF2B5EF4-FFF2-40B4-BE49-F238E27FC236}">
                <a16:creationId xmlns:a16="http://schemas.microsoft.com/office/drawing/2014/main" id="{CD64D3D0-3235-4F95-B5F1-F4E0BD17D9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688" y="1012825"/>
            <a:ext cx="7783512" cy="4114800"/>
          </a:xfrm>
        </p:spPr>
        <p:txBody>
          <a:bodyPr/>
          <a:lstStyle/>
          <a:p>
            <a:pPr eaLnBrk="1" hangingPunct="1"/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사회적 최적은 </a:t>
            </a:r>
            <a:r>
              <a:rPr lang="en-US" altLang="ko-KR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9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이지만 정부개입이 없으면 사적 수요곡선과 정화시설 공급곡선이 만나는 </a:t>
            </a:r>
            <a:r>
              <a:rPr lang="en-US" altLang="ko-KR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9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 설치됨</a:t>
            </a:r>
          </a:p>
          <a:p>
            <a:pPr eaLnBrk="1" hangingPunct="1"/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폐수정화시설 설치규모당 </a:t>
            </a:r>
            <a:r>
              <a:rPr lang="en-US" altLang="ko-KR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ab</a:t>
            </a:r>
            <a:r>
              <a:rPr lang="ko-KR" altLang="en-US" sz="19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보조금을 지불한다면</a:t>
            </a:r>
          </a:p>
          <a:p>
            <a:pPr lvl="1" eaLnBrk="1" hangingPunct="1"/>
            <a:r>
              <a:rPr lang="ko-KR" altLang="en-US" sz="17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축산농가의 입장에서는 정화시설의 단위 규모당 구입가격이 </a:t>
            </a:r>
            <a:r>
              <a:rPr lang="en-US" altLang="ko-KR" sz="17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en-US" altLang="ko-KR" sz="17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7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으로 하락하여</a:t>
            </a:r>
            <a:r>
              <a:rPr lang="en-US" altLang="ko-KR" sz="17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7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사회적 최적인 </a:t>
            </a:r>
            <a:r>
              <a:rPr lang="en-US" altLang="ko-KR" sz="17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7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17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시설을 설치</a:t>
            </a:r>
          </a:p>
        </p:txBody>
      </p:sp>
      <p:sp>
        <p:nvSpPr>
          <p:cNvPr id="67588" name="바닥글 개체 틀 4">
            <a:extLst>
              <a:ext uri="{FF2B5EF4-FFF2-40B4-BE49-F238E27FC236}">
                <a16:creationId xmlns:a16="http://schemas.microsoft.com/office/drawing/2014/main" id="{3B1AADE6-AA5C-47C0-9CB0-C0D0D0FB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67589" name="슬라이드 번호 개체 틀 5">
            <a:extLst>
              <a:ext uri="{FF2B5EF4-FFF2-40B4-BE49-F238E27FC236}">
                <a16:creationId xmlns:a16="http://schemas.microsoft.com/office/drawing/2014/main" id="{9632620E-9E07-457C-910A-977B469B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AC87A6-1DFB-4FF8-B6C8-E7CD6BF0A50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7590" name="Rectangle 1026">
            <a:extLst>
              <a:ext uri="{FF2B5EF4-FFF2-40B4-BE49-F238E27FC236}">
                <a16:creationId xmlns:a16="http://schemas.microsoft.com/office/drawing/2014/main" id="{6F97AF74-224F-4133-88A1-F7A15241B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7591" name="Rectangle 1027">
            <a:extLst>
              <a:ext uri="{FF2B5EF4-FFF2-40B4-BE49-F238E27FC236}">
                <a16:creationId xmlns:a16="http://schemas.microsoft.com/office/drawing/2014/main" id="{97A53C85-CB5B-4EB4-8B06-0A699BCF1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67592" name="그림 7" descr="Cap 2014-06-19 09-44-15-042.png">
            <a:extLst>
              <a:ext uri="{FF2B5EF4-FFF2-40B4-BE49-F238E27FC236}">
                <a16:creationId xmlns:a16="http://schemas.microsoft.com/office/drawing/2014/main" id="{D9B561A0-8283-4027-AC1D-5229AEE04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576513"/>
            <a:ext cx="6542087" cy="361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36">
            <a:extLst>
              <a:ext uri="{FF2B5EF4-FFF2-40B4-BE49-F238E27FC236}">
                <a16:creationId xmlns:a16="http://schemas.microsoft.com/office/drawing/2014/main" id="{12CC203E-435F-44B1-823F-6CA70EE5B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저감시설에 대한 보조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9635" name="Rectangle 1037">
            <a:extLst>
              <a:ext uri="{FF2B5EF4-FFF2-40B4-BE49-F238E27FC236}">
                <a16:creationId xmlns:a16="http://schemas.microsoft.com/office/drawing/2014/main" id="{61FA7294-FCF6-4007-8D1E-DD12E3FDE0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1400" y="1462088"/>
            <a:ext cx="7543800" cy="4114800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저감시설에 대한 보조금제도는 오염자의 수익성을 저해하지 않으면서도 오염피해를 줄일 수 있기 때문에 산업에 대한 보호와 환경오염 완화를 동시에 추구하기 위해 자주 사용되는 정책임</a:t>
            </a: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그러나 저감시설에 대한 보조정책은 오염원이 취할 수 있는 다양한 저감노력 가운데 한 가지 방법에 대해서만 지원을 하므로 오염원이 취할 수 있는 선택의 폭을 제한하게 됨</a:t>
            </a:r>
          </a:p>
        </p:txBody>
      </p:sp>
      <p:sp>
        <p:nvSpPr>
          <p:cNvPr id="69636" name="바닥글 개체 틀 4">
            <a:extLst>
              <a:ext uri="{FF2B5EF4-FFF2-40B4-BE49-F238E27FC236}">
                <a16:creationId xmlns:a16="http://schemas.microsoft.com/office/drawing/2014/main" id="{367B074A-F461-4B88-8150-11971E2C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69637" name="슬라이드 번호 개체 틀 5">
            <a:extLst>
              <a:ext uri="{FF2B5EF4-FFF2-40B4-BE49-F238E27FC236}">
                <a16:creationId xmlns:a16="http://schemas.microsoft.com/office/drawing/2014/main" id="{4DBC0757-27BF-414D-9649-198ADBF0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CF4DDF-D259-477C-9663-8440F58463F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9638" name="Rectangle 1026">
            <a:extLst>
              <a:ext uri="{FF2B5EF4-FFF2-40B4-BE49-F238E27FC236}">
                <a16:creationId xmlns:a16="http://schemas.microsoft.com/office/drawing/2014/main" id="{358BD6D1-2718-4830-82FD-A19865C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9639" name="Rectangle 1027">
            <a:extLst>
              <a:ext uri="{FF2B5EF4-FFF2-40B4-BE49-F238E27FC236}">
                <a16:creationId xmlns:a16="http://schemas.microsoft.com/office/drawing/2014/main" id="{65BB04A6-F486-44C1-81EE-462C18869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36">
            <a:extLst>
              <a:ext uri="{FF2B5EF4-FFF2-40B4-BE49-F238E27FC236}">
                <a16:creationId xmlns:a16="http://schemas.microsoft.com/office/drawing/2014/main" id="{9A612475-7E5E-4525-AA60-7EC145971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159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저감보조금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(emission subsidy)</a:t>
            </a:r>
          </a:p>
        </p:txBody>
      </p:sp>
      <p:sp>
        <p:nvSpPr>
          <p:cNvPr id="71683" name="Rectangle 1037">
            <a:extLst>
              <a:ext uri="{FF2B5EF4-FFF2-40B4-BE49-F238E27FC236}">
                <a16:creationId xmlns:a16="http://schemas.microsoft.com/office/drawing/2014/main" id="{CCDC0D40-9D23-4FF2-940C-ADEE98B6E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9975" y="1800225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저감시설에 대한 보조가 가지는 경직성을 완화하면서 동시에 오염원을 보호하는 정책으로 저감량에 대한 보조정책을 들 수 있음</a:t>
            </a: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정부는 오염원이 자유롭게 배출할 수 있는 오염물질의 상한을 부여하고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만약 오염원이 정부가 부여한 상한보다도 더 적은 양의 오염물질을 배출한다면 차이에 대해 단위당 특정 금액만큼의 보조금을 지불</a:t>
            </a:r>
          </a:p>
          <a:p>
            <a:pPr eaLnBrk="1" hangingPunct="1"/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1684" name="바닥글 개체 틀 4">
            <a:extLst>
              <a:ext uri="{FF2B5EF4-FFF2-40B4-BE49-F238E27FC236}">
                <a16:creationId xmlns:a16="http://schemas.microsoft.com/office/drawing/2014/main" id="{5B9E2979-B54C-4C47-AB1D-67519D29B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71685" name="슬라이드 번호 개체 틀 5">
            <a:extLst>
              <a:ext uri="{FF2B5EF4-FFF2-40B4-BE49-F238E27FC236}">
                <a16:creationId xmlns:a16="http://schemas.microsoft.com/office/drawing/2014/main" id="{E4620C34-24D6-4845-A7A5-55699E8D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821542-58B9-49EF-A93D-D11B3877DAD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1686" name="Rectangle 1026">
            <a:extLst>
              <a:ext uri="{FF2B5EF4-FFF2-40B4-BE49-F238E27FC236}">
                <a16:creationId xmlns:a16="http://schemas.microsoft.com/office/drawing/2014/main" id="{9C75D8AE-49FD-47CB-932D-547F1DDAD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1687" name="Rectangle 1027">
            <a:extLst>
              <a:ext uri="{FF2B5EF4-FFF2-40B4-BE49-F238E27FC236}">
                <a16:creationId xmlns:a16="http://schemas.microsoft.com/office/drawing/2014/main" id="{9B1D26F0-AC10-4E2A-8496-3C79004FC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36">
            <a:extLst>
              <a:ext uri="{FF2B5EF4-FFF2-40B4-BE49-F238E27FC236}">
                <a16:creationId xmlns:a16="http://schemas.microsoft.com/office/drawing/2014/main" id="{A07CDDDD-768C-4E13-99A7-5C68173EE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-182563"/>
            <a:ext cx="7313613" cy="1143001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저감보조정책의 작동원리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3731" name="Rectangle 1037">
            <a:extLst>
              <a:ext uri="{FF2B5EF4-FFF2-40B4-BE49-F238E27FC236}">
                <a16:creationId xmlns:a16="http://schemas.microsoft.com/office/drawing/2014/main" id="{52EC9DBD-0C27-4A57-A261-08676782B6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9975" y="1238250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정부정책이 없을 경우 오염원이 배출하는 오염물질량은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</a:p>
          <a:p>
            <a:pPr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오염원이 사회적 최적 배출량인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선택하도록 하기 위해서</a:t>
            </a:r>
          </a:p>
          <a:p>
            <a:pPr lvl="1" eaLnBrk="1" hangingPunct="1"/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 단위당 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0a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배출부과금을 징수하거나</a:t>
            </a:r>
          </a:p>
          <a:p>
            <a:pPr lvl="1" eaLnBrk="1" hangingPunct="1"/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오염원이 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더 적은 양을 배출하면 저감량에 대해 단위당 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0a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보조금을 지급</a:t>
            </a:r>
          </a:p>
        </p:txBody>
      </p:sp>
      <p:sp>
        <p:nvSpPr>
          <p:cNvPr id="73732" name="바닥글 개체 틀 4">
            <a:extLst>
              <a:ext uri="{FF2B5EF4-FFF2-40B4-BE49-F238E27FC236}">
                <a16:creationId xmlns:a16="http://schemas.microsoft.com/office/drawing/2014/main" id="{33BC22F5-AB09-49A5-BF22-FA1DEE70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73733" name="슬라이드 번호 개체 틀 5">
            <a:extLst>
              <a:ext uri="{FF2B5EF4-FFF2-40B4-BE49-F238E27FC236}">
                <a16:creationId xmlns:a16="http://schemas.microsoft.com/office/drawing/2014/main" id="{41A5D8A3-FBAD-462D-B311-AB60BE66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8F392E-02D2-406B-8617-DDE394D9980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3734" name="Rectangle 1026">
            <a:extLst>
              <a:ext uri="{FF2B5EF4-FFF2-40B4-BE49-F238E27FC236}">
                <a16:creationId xmlns:a16="http://schemas.microsoft.com/office/drawing/2014/main" id="{C924BC59-B083-4AEC-949F-C9165BB73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3735" name="Rectangle 1027">
            <a:extLst>
              <a:ext uri="{FF2B5EF4-FFF2-40B4-BE49-F238E27FC236}">
                <a16:creationId xmlns:a16="http://schemas.microsoft.com/office/drawing/2014/main" id="{BD05328C-51D9-495A-A508-F1287DE9F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73736" name="그림 7" descr="Cap 2014-06-19 09-44-24-368.png">
            <a:extLst>
              <a:ext uri="{FF2B5EF4-FFF2-40B4-BE49-F238E27FC236}">
                <a16:creationId xmlns:a16="http://schemas.microsoft.com/office/drawing/2014/main" id="{73BB67F0-2390-4DDE-BBB7-5C09FD33B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525" y="2922588"/>
            <a:ext cx="6738938" cy="354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36">
            <a:extLst>
              <a:ext uri="{FF2B5EF4-FFF2-40B4-BE49-F238E27FC236}">
                <a16:creationId xmlns:a16="http://schemas.microsoft.com/office/drawing/2014/main" id="{B4A5690C-0FEF-4F19-8CA9-1E8ABF4FE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저감보조정책의 작동원리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79" name="Rectangle 1037">
            <a:extLst>
              <a:ext uri="{FF2B5EF4-FFF2-40B4-BE49-F238E27FC236}">
                <a16:creationId xmlns:a16="http://schemas.microsoft.com/office/drawing/2014/main" id="{F5B0630B-4E72-44C3-8486-763B3F79F3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1838" y="1490663"/>
            <a:ext cx="7896225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오염원이 사회적 최적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선택하는 원리</a:t>
            </a:r>
          </a:p>
          <a:p>
            <a:pPr lvl="1" eaLnBrk="1" hangingPunct="1"/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이상의 배출수준에서는 배출을 한 단위 줄이면서 얻는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0a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보상이 한계저감비용보다 크므로 배출을 줄이고자 하고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</a:p>
          <a:p>
            <a:pPr lvl="1" eaLnBrk="1" hangingPunct="1"/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이하의 배출수준에서는 보조금이 한계저감비용보다 더 작으므로 배출량을 늘리고자 함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따라서 보조금제도를 사용하여도 배출부과금제도와 마찬가지로 사회적으로 최적인 오염수준을 유도할 수 있음</a:t>
            </a:r>
          </a:p>
          <a:p>
            <a:pPr eaLnBrk="1" hangingPunct="1"/>
            <a:endParaRPr lang="ko-KR" altLang="en-US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75780" name="바닥글 개체 틀 4">
            <a:extLst>
              <a:ext uri="{FF2B5EF4-FFF2-40B4-BE49-F238E27FC236}">
                <a16:creationId xmlns:a16="http://schemas.microsoft.com/office/drawing/2014/main" id="{73DF9961-2B85-494B-88AD-83766CDE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75781" name="슬라이드 번호 개체 틀 5">
            <a:extLst>
              <a:ext uri="{FF2B5EF4-FFF2-40B4-BE49-F238E27FC236}">
                <a16:creationId xmlns:a16="http://schemas.microsoft.com/office/drawing/2014/main" id="{E95C5740-FEA1-4A1E-A182-06EBCBAD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4CF389-11E1-4592-9A83-01498BDB7AA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5782" name="Rectangle 1026">
            <a:extLst>
              <a:ext uri="{FF2B5EF4-FFF2-40B4-BE49-F238E27FC236}">
                <a16:creationId xmlns:a16="http://schemas.microsoft.com/office/drawing/2014/main" id="{64E89B49-E398-42FC-B844-F657EB61E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5783" name="Rectangle 1027">
            <a:extLst>
              <a:ext uri="{FF2B5EF4-FFF2-40B4-BE49-F238E27FC236}">
                <a16:creationId xmlns:a16="http://schemas.microsoft.com/office/drawing/2014/main" id="{4A4F3860-DF89-4F7A-B42A-98243B6BF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036">
            <a:extLst>
              <a:ext uri="{FF2B5EF4-FFF2-40B4-BE49-F238E27FC236}">
                <a16:creationId xmlns:a16="http://schemas.microsoft.com/office/drawing/2014/main" id="{DC029970-9165-41C3-BE73-B6EC58F8D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159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배출부과금과 저감보조금의 대칭성과 비대칭성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7827" name="Rectangle 1037">
            <a:extLst>
              <a:ext uri="{FF2B5EF4-FFF2-40B4-BE49-F238E27FC236}">
                <a16:creationId xmlns:a16="http://schemas.microsoft.com/office/drawing/2014/main" id="{78C6EC8B-C0AE-4082-AC78-CF5BE0EEC1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589088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앞서 보았듯이 동일한 수준의 배출부과금과 저감보조금은 완전히 동일한 배출량 수준을 유도함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보조금을 줄 경우 오염원의 소득이 늘어나지만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부과금을 징수할 경우 오염원의 소득이 줄어든다는 점만 차이점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오염원의 권리를 인정해주든 책임을 묻든 사회적 효율성이나 달성되는 오염도 측면에서 차이가 발생하지 않는다는 것은 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4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장의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코즈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정리와 동일한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결론임</a:t>
            </a:r>
            <a:endParaRPr lang="ko-KR" altLang="en-US" sz="19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그러나 좀 더 일반적인 상황을 고려할 경우 배출부과금과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저감보조금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사이의 대칭성은 무너지게 됨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장기적으로 저감보조금을 기업에 줄 경우 기업의 이윤이 늘어나게 되고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새로운 기업이 산업에 진입하게 됨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저감보조금을 줄 경우 부과금제도를 시행할 경우에 비해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산업전체의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생산량이 늘어나고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오염물질량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역시 더 많아질 것임</a:t>
            </a:r>
          </a:p>
          <a:p>
            <a:pPr lvl="1" eaLnBrk="1" hangingPunct="1"/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7828" name="바닥글 개체 틀 4">
            <a:extLst>
              <a:ext uri="{FF2B5EF4-FFF2-40B4-BE49-F238E27FC236}">
                <a16:creationId xmlns:a16="http://schemas.microsoft.com/office/drawing/2014/main" id="{8A34F149-82F8-4110-91A2-1B34FC0D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77829" name="슬라이드 번호 개체 틀 5">
            <a:extLst>
              <a:ext uri="{FF2B5EF4-FFF2-40B4-BE49-F238E27FC236}">
                <a16:creationId xmlns:a16="http://schemas.microsoft.com/office/drawing/2014/main" id="{E6E84A99-7AAA-4A19-8CFD-68E33245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5A4B2D-818C-4D3F-B03A-C2E545276EF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7830" name="Rectangle 1026">
            <a:extLst>
              <a:ext uri="{FF2B5EF4-FFF2-40B4-BE49-F238E27FC236}">
                <a16:creationId xmlns:a16="http://schemas.microsoft.com/office/drawing/2014/main" id="{214043B8-3196-4490-85E6-592F20E97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7831" name="Rectangle 1027">
            <a:extLst>
              <a:ext uri="{FF2B5EF4-FFF2-40B4-BE49-F238E27FC236}">
                <a16:creationId xmlns:a16="http://schemas.microsoft.com/office/drawing/2014/main" id="{7AA8508C-D826-438D-AB67-12B406091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036">
            <a:extLst>
              <a:ext uri="{FF2B5EF4-FFF2-40B4-BE49-F238E27FC236}">
                <a16:creationId xmlns:a16="http://schemas.microsoft.com/office/drawing/2014/main" id="{C9B72CE9-1524-45C6-BC56-1360285C6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159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배출부과금과 저감보조금의 대칭성과 비대칭성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9875" name="Rectangle 1037">
            <a:extLst>
              <a:ext uri="{FF2B5EF4-FFF2-40B4-BE49-F238E27FC236}">
                <a16:creationId xmlns:a16="http://schemas.microsoft.com/office/drawing/2014/main" id="{80DF34EE-C584-4B77-86B6-59C576D0BA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589088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하지만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부과금제도나 보조금제도가 시행되는 방식을 변경할 경우 장기에도 대칭성이 성립될 수 있음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700" dirty="0" err="1">
                <a:latin typeface="나눔명조" pitchFamily="18" charset="-127"/>
                <a:ea typeface="나눔명조" pitchFamily="18" charset="-127"/>
              </a:rPr>
              <a:t>Pezzey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, 1992)</a:t>
            </a:r>
            <a:endParaRPr lang="ko-KR" altLang="en-US" sz="2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이를 위해서는 정책이 시행되는 최초 시점에 정부가 이 산업의 배출량 상한을 정해주되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상한의 합이 변하지 않도록 하여야 함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새로 이 산업에 진입하는 기업은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배출상한을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부여 받지 못하여 자신의 배출량 전체에 대해 부과금을 지불하게 됨</a:t>
            </a:r>
          </a:p>
        </p:txBody>
      </p:sp>
      <p:sp>
        <p:nvSpPr>
          <p:cNvPr id="79876" name="바닥글 개체 틀 4">
            <a:extLst>
              <a:ext uri="{FF2B5EF4-FFF2-40B4-BE49-F238E27FC236}">
                <a16:creationId xmlns:a16="http://schemas.microsoft.com/office/drawing/2014/main" id="{83D8BF51-D74A-41F4-9545-31377578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79877" name="슬라이드 번호 개체 틀 5">
            <a:extLst>
              <a:ext uri="{FF2B5EF4-FFF2-40B4-BE49-F238E27FC236}">
                <a16:creationId xmlns:a16="http://schemas.microsoft.com/office/drawing/2014/main" id="{57D60DBB-AC35-4A01-B15E-9D3BA22A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0A56CE-EE88-40C5-8456-37FFBFC6769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9878" name="Rectangle 1026">
            <a:extLst>
              <a:ext uri="{FF2B5EF4-FFF2-40B4-BE49-F238E27FC236}">
                <a16:creationId xmlns:a16="http://schemas.microsoft.com/office/drawing/2014/main" id="{A481E5A9-CF53-4B35-B484-D058C6AD7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9879" name="Rectangle 1027">
            <a:extLst>
              <a:ext uri="{FF2B5EF4-FFF2-40B4-BE49-F238E27FC236}">
                <a16:creationId xmlns:a16="http://schemas.microsoft.com/office/drawing/2014/main" id="{98883B97-59EB-4EF6-A5C1-33CF63839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36">
            <a:extLst>
              <a:ext uri="{FF2B5EF4-FFF2-40B4-BE49-F238E27FC236}">
                <a16:creationId xmlns:a16="http://schemas.microsoft.com/office/drawing/2014/main" id="{02019FD3-8ECA-48A8-BB52-238FCAEEB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159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배출부과금과 저감보조금의 대칭성과 비대칭성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3" name="Rectangle 1037">
                <a:extLst>
                  <a:ext uri="{FF2B5EF4-FFF2-40B4-BE49-F238E27FC236}">
                    <a16:creationId xmlns:a16="http://schemas.microsoft.com/office/drawing/2014/main" id="{455FC35E-FFBA-40D7-A713-8E9FC794691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00113" y="1589088"/>
                <a:ext cx="7685087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산업에 처음부터 소속되어 있던 어떤 기업이 부여 받은 배출상한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   </a:t>
                </a: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배출상한이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</a:t>
                </a:r>
                <a:r>
                  <a:rPr lang="en-US" altLang="ko-KR" sz="18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동일할 경우 저감보조금 제도가 시행되는 것이고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그 값이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이면 배출부과금제도가 시행되는 것임</a:t>
                </a: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기업이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저감량에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대해 지불 받는 단위 보조금은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 (=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사회적 최적에서의 한계피해액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새로 진입하는 기업이 기존 기업으로부터 배출상한을 구입할 경우 가격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기존 기업은 자신의 배출상한을 보유한 채 배출량을 줄이면 정부로부터 배출단위당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받으므로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금액은 받으려 함</a:t>
                </a: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반면 새로 진입하는 기업이 배출상한을 구입하지 않은 채 오염물질을 배출하면 단위당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배출부과금을 정부에 주면 되므로 배출상한을 구입할 때 단위당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이상은 지불하지 않으려 함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즉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배출권의 단위당 가격은 정확히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됨</a:t>
                </a:r>
              </a:p>
            </p:txBody>
          </p:sp>
        </mc:Choice>
        <mc:Fallback xmlns="">
          <p:sp>
            <p:nvSpPr>
              <p:cNvPr id="81923" name="Rectangle 1037">
                <a:extLst>
                  <a:ext uri="{FF2B5EF4-FFF2-40B4-BE49-F238E27FC236}">
                    <a16:creationId xmlns:a16="http://schemas.microsoft.com/office/drawing/2014/main" id="{455FC35E-FFBA-40D7-A713-8E9FC7946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0113" y="1589088"/>
                <a:ext cx="7685087" cy="4114800"/>
              </a:xfrm>
              <a:blipFill>
                <a:blip r:embed="rId3"/>
                <a:stretch>
                  <a:fillRect l="-714" t="-889" b="-10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24" name="바닥글 개체 틀 4">
            <a:extLst>
              <a:ext uri="{FF2B5EF4-FFF2-40B4-BE49-F238E27FC236}">
                <a16:creationId xmlns:a16="http://schemas.microsoft.com/office/drawing/2014/main" id="{536F1772-98A6-467B-8193-B8CD3D8D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81925" name="슬라이드 번호 개체 틀 5">
            <a:extLst>
              <a:ext uri="{FF2B5EF4-FFF2-40B4-BE49-F238E27FC236}">
                <a16:creationId xmlns:a16="http://schemas.microsoft.com/office/drawing/2014/main" id="{222408D7-7064-42DD-A76F-D1E00A6C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03D37C-53A0-4DF5-A366-8DC51D2F387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1926" name="Rectangle 1026">
            <a:extLst>
              <a:ext uri="{FF2B5EF4-FFF2-40B4-BE49-F238E27FC236}">
                <a16:creationId xmlns:a16="http://schemas.microsoft.com/office/drawing/2014/main" id="{9435B0F2-782F-43BD-A51C-D54639C22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1927" name="Rectangle 1027">
            <a:extLst>
              <a:ext uri="{FF2B5EF4-FFF2-40B4-BE49-F238E27FC236}">
                <a16:creationId xmlns:a16="http://schemas.microsoft.com/office/drawing/2014/main" id="{01D7BFB3-ED41-4034-B59B-0EA528CF5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36">
            <a:extLst>
              <a:ext uri="{FF2B5EF4-FFF2-40B4-BE49-F238E27FC236}">
                <a16:creationId xmlns:a16="http://schemas.microsoft.com/office/drawing/2014/main" id="{02019FD3-8ECA-48A8-BB52-238FCAEEB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159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배출부과금과 저감보조금의 대칭성과 비대칭성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3" name="Rectangle 1037">
                <a:extLst>
                  <a:ext uri="{FF2B5EF4-FFF2-40B4-BE49-F238E27FC236}">
                    <a16:creationId xmlns:a16="http://schemas.microsoft.com/office/drawing/2014/main" id="{455FC35E-FFBA-40D7-A713-8E9FC794691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00113" y="1589088"/>
                <a:ext cx="7685087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어떤 기업이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오염물질을 배출하고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Q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만큼을 생산할 때 생산비</a:t>
                </a:r>
                <a:r>
                  <a:rPr lang="en-US" altLang="ko-KR" sz="2400" dirty="0"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𝑄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d>
                  </m:oMath>
                </a14:m>
                <a:endParaRPr lang="en-US" altLang="ko-KR" sz="2400" dirty="0"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기업의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총기회비용 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</m:ba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𝑠</m:t>
                      </m:r>
                      <m:bar>
                        <m:barPr>
                          <m:pos m:val="top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ba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𝑠𝑒</m:t>
                      </m:r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𝑠</m:t>
                    </m:r>
                    <m:bar>
                      <m:barPr>
                        <m:pos m:val="top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ba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기업이 산업을 떠나지 않고 생산행위를 함으로써 부담하는 비용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기업의 비용은 최초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부여받은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배출상한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와는 독립이 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따라서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부과금제와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보조금제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사이에는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코즈의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정리가 의미하는 완전한 대칭성이 성립하게 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기업의 총 기회비용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기업이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오염물질을 배출하면서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Q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생산할 때 발생하는 사회적 비용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기업의 외부효과는 완전히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내부화되어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사회적 최적이 달성됨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23" name="Rectangle 1037">
                <a:extLst>
                  <a:ext uri="{FF2B5EF4-FFF2-40B4-BE49-F238E27FC236}">
                    <a16:creationId xmlns:a16="http://schemas.microsoft.com/office/drawing/2014/main" id="{455FC35E-FFBA-40D7-A713-8E9FC7946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0113" y="1589088"/>
                <a:ext cx="7685087" cy="4114800"/>
              </a:xfrm>
              <a:blipFill>
                <a:blip r:embed="rId3"/>
                <a:stretch>
                  <a:fillRect l="-1111" t="-1630" r="-238" b="-16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24" name="바닥글 개체 틀 4">
            <a:extLst>
              <a:ext uri="{FF2B5EF4-FFF2-40B4-BE49-F238E27FC236}">
                <a16:creationId xmlns:a16="http://schemas.microsoft.com/office/drawing/2014/main" id="{536F1772-98A6-467B-8193-B8CD3D8D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81925" name="슬라이드 번호 개체 틀 5">
            <a:extLst>
              <a:ext uri="{FF2B5EF4-FFF2-40B4-BE49-F238E27FC236}">
                <a16:creationId xmlns:a16="http://schemas.microsoft.com/office/drawing/2014/main" id="{222408D7-7064-42DD-A76F-D1E00A6C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03D37C-53A0-4DF5-A366-8DC51D2F387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1926" name="Rectangle 1026">
            <a:extLst>
              <a:ext uri="{FF2B5EF4-FFF2-40B4-BE49-F238E27FC236}">
                <a16:creationId xmlns:a16="http://schemas.microsoft.com/office/drawing/2014/main" id="{9435B0F2-782F-43BD-A51C-D54639C22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1927" name="Rectangle 1027">
            <a:extLst>
              <a:ext uri="{FF2B5EF4-FFF2-40B4-BE49-F238E27FC236}">
                <a16:creationId xmlns:a16="http://schemas.microsoft.com/office/drawing/2014/main" id="{01D7BFB3-ED41-4034-B59B-0EA528CF5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3593846"/>
      </p:ext>
    </p:extLst>
  </p:cSld>
  <p:clrMapOvr>
    <a:masterClrMapping/>
  </p:clrMapOvr>
  <p:transition spd="med">
    <p:pull dir="r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36">
            <a:extLst>
              <a:ext uri="{FF2B5EF4-FFF2-40B4-BE49-F238E27FC236}">
                <a16:creationId xmlns:a16="http://schemas.microsoft.com/office/drawing/2014/main" id="{85F9816F-B9ED-450C-AC9F-7C3C97C1A7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-112713"/>
            <a:ext cx="7313612" cy="1143001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환경관련 세금의 이중편익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6019" name="Rectangle 1037">
            <a:extLst>
              <a:ext uri="{FF2B5EF4-FFF2-40B4-BE49-F238E27FC236}">
                <a16:creationId xmlns:a16="http://schemas.microsoft.com/office/drawing/2014/main" id="{27CFE365-3740-42BB-AC93-BC04A421A2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377950"/>
            <a:ext cx="7685088" cy="4114800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정부는 여러 공공사업이나 정책의 시행을 위해 재정수입을 필요로 하며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재원은 대개 조세를 통해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얻어짐</a:t>
            </a:r>
            <a:endParaRPr lang="ko-KR" altLang="en-US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문제는 조세를 걷어가는 과정에서 정부가 시장에 개입하게 되어 의도하지 않은 경제적 손실이 발생하게 된다는 것임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환경관련 조세는 주목적이 오염물질 배출 감소를 유도하는 데 있는데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시행결과 정부 수입이 일종의 부산물로 얻어지게 됨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따라서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환경세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수입을 적절히 활용하게 되면 정부가 걷어야 하는 여타 조세가 줄어들기 때문에 조세를 걷어가는 과정에서 발생하는 경제적 손실이 감소되는 추가적 편익이 발생할 수 있음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3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환경세의 이중편익가설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eaLnBrk="1" hangingPunct="1"/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6020" name="바닥글 개체 틀 4">
            <a:extLst>
              <a:ext uri="{FF2B5EF4-FFF2-40B4-BE49-F238E27FC236}">
                <a16:creationId xmlns:a16="http://schemas.microsoft.com/office/drawing/2014/main" id="{D2258412-5650-4417-9018-1CE82C36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86021" name="슬라이드 번호 개체 틀 5">
            <a:extLst>
              <a:ext uri="{FF2B5EF4-FFF2-40B4-BE49-F238E27FC236}">
                <a16:creationId xmlns:a16="http://schemas.microsoft.com/office/drawing/2014/main" id="{151B448D-760F-4FE8-B83D-BC642572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18CD7B-95E9-42F2-9A81-CFF65A609FF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6022" name="Rectangle 1026">
            <a:extLst>
              <a:ext uri="{FF2B5EF4-FFF2-40B4-BE49-F238E27FC236}">
                <a16:creationId xmlns:a16="http://schemas.microsoft.com/office/drawing/2014/main" id="{B6A8FF14-43A4-42B9-AA15-360D8D7C0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6023" name="Rectangle 1027">
            <a:extLst>
              <a:ext uri="{FF2B5EF4-FFF2-40B4-BE49-F238E27FC236}">
                <a16:creationId xmlns:a16="http://schemas.microsoft.com/office/drawing/2014/main" id="{3339E54A-0CA7-4936-BB4E-92BD3232C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036">
            <a:extLst>
              <a:ext uri="{FF2B5EF4-FFF2-40B4-BE49-F238E27FC236}">
                <a16:creationId xmlns:a16="http://schemas.microsoft.com/office/drawing/2014/main" id="{4C837E6F-15A6-473A-8D7E-4559E07BD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조세의 초과부담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8067" name="Rectangle 1037">
            <a:extLst>
              <a:ext uri="{FF2B5EF4-FFF2-40B4-BE49-F238E27FC236}">
                <a16:creationId xmlns:a16="http://schemas.microsoft.com/office/drawing/2014/main" id="{143F6EB8-21E7-4179-B594-BC3CB44F67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462088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일단 환경문제는 없으며 어떤 종류의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외부효과도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존재하지 않는다고 가정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정부는 조세를 걷어갈 때 소비자의 소득에서 특정 금액을 정액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(lump-sum)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으로 직접 떼어가거나 소비자가 구입하는 상품에 대해 세금을 매길 수 있음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전자의 경우 소비자 소득이 세금만큼 줄어들지만 상품의 가격은 바뀌지 않음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후자의 경우 소비자 소득은 그대로이지만 세금이 부과되는 상품의 가격은 더 높아져 상품간 상대가격의 변화가 발생함</a:t>
            </a:r>
          </a:p>
        </p:txBody>
      </p:sp>
      <p:sp>
        <p:nvSpPr>
          <p:cNvPr id="88068" name="바닥글 개체 틀 4">
            <a:extLst>
              <a:ext uri="{FF2B5EF4-FFF2-40B4-BE49-F238E27FC236}">
                <a16:creationId xmlns:a16="http://schemas.microsoft.com/office/drawing/2014/main" id="{AC150CA7-B602-497B-893A-4EBBFCFD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88069" name="슬라이드 번호 개체 틀 5">
            <a:extLst>
              <a:ext uri="{FF2B5EF4-FFF2-40B4-BE49-F238E27FC236}">
                <a16:creationId xmlns:a16="http://schemas.microsoft.com/office/drawing/2014/main" id="{1E0F932F-BB79-4B16-9018-86271CF1A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DE1B49-1ACF-47E1-BA17-0DF47E37011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8070" name="Rectangle 1026">
            <a:extLst>
              <a:ext uri="{FF2B5EF4-FFF2-40B4-BE49-F238E27FC236}">
                <a16:creationId xmlns:a16="http://schemas.microsoft.com/office/drawing/2014/main" id="{CFE3DEB4-3969-4C8D-95F5-32F238D48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8071" name="Rectangle 1027">
            <a:extLst>
              <a:ext uri="{FF2B5EF4-FFF2-40B4-BE49-F238E27FC236}">
                <a16:creationId xmlns:a16="http://schemas.microsoft.com/office/drawing/2014/main" id="{3947BA2C-DF76-4586-B7D5-0C808D164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036">
            <a:extLst>
              <a:ext uri="{FF2B5EF4-FFF2-40B4-BE49-F238E27FC236}">
                <a16:creationId xmlns:a16="http://schemas.microsoft.com/office/drawing/2014/main" id="{12724E89-EE73-4BAC-8884-B120E0DA8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조세의 초과부담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0115" name="Rectangle 1037">
            <a:extLst>
              <a:ext uri="{FF2B5EF4-FFF2-40B4-BE49-F238E27FC236}">
                <a16:creationId xmlns:a16="http://schemas.microsoft.com/office/drawing/2014/main" id="{CF8FBA53-2780-48EF-914F-FE11DD139A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462088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상품에 제품 한 단위당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세금을 부과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세금이 부과되면 소비자가격과 생산자가격 사이의 격차가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되는 생산량은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소비자가격은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생산자가격은 여전히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endParaRPr lang="ko-KR" altLang="en-US" sz="1800" baseline="30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0116" name="바닥글 개체 틀 4">
            <a:extLst>
              <a:ext uri="{FF2B5EF4-FFF2-40B4-BE49-F238E27FC236}">
                <a16:creationId xmlns:a16="http://schemas.microsoft.com/office/drawing/2014/main" id="{20E17BE5-726E-417A-A60F-98DEDEC8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90117" name="슬라이드 번호 개체 틀 5">
            <a:extLst>
              <a:ext uri="{FF2B5EF4-FFF2-40B4-BE49-F238E27FC236}">
                <a16:creationId xmlns:a16="http://schemas.microsoft.com/office/drawing/2014/main" id="{4DF3A6CB-037B-4B13-962D-6E424F80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E438F8-9E79-4197-94AF-CA8466E882B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0118" name="Rectangle 1026">
            <a:extLst>
              <a:ext uri="{FF2B5EF4-FFF2-40B4-BE49-F238E27FC236}">
                <a16:creationId xmlns:a16="http://schemas.microsoft.com/office/drawing/2014/main" id="{0C642705-8BEA-4D91-B143-1EBF7024E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0119" name="Rectangle 1027">
            <a:extLst>
              <a:ext uri="{FF2B5EF4-FFF2-40B4-BE49-F238E27FC236}">
                <a16:creationId xmlns:a16="http://schemas.microsoft.com/office/drawing/2014/main" id="{14968DA7-BEBD-4182-977C-BE5C16A4E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60CF87-502B-417E-9AF7-4A88CC2C9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38" y="2621712"/>
            <a:ext cx="6382336" cy="3626687"/>
          </a:xfrm>
          <a:prstGeom prst="rect">
            <a:avLst/>
          </a:prstGeom>
        </p:spPr>
      </p:pic>
    </p:spTree>
  </p:cSld>
  <p:clrMapOvr>
    <a:masterClrMapping/>
  </p:clrMapOvr>
  <p:transition spd="med">
    <p:pull dir="r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36">
            <a:extLst>
              <a:ext uri="{FF2B5EF4-FFF2-40B4-BE49-F238E27FC236}">
                <a16:creationId xmlns:a16="http://schemas.microsoft.com/office/drawing/2014/main" id="{7590B559-F414-42AB-BDD5-7DB384D7F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조세의 초과부담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2163" name="Rectangle 1037">
            <a:extLst>
              <a:ext uri="{FF2B5EF4-FFF2-40B4-BE49-F238E27FC236}">
                <a16:creationId xmlns:a16="http://schemas.microsoft.com/office/drawing/2014/main" id="{18E45C6C-8792-43E8-9B40-315E2BA85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462088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상품세를 부과하면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소비자는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A+B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해당되는 소비자잉여의 손실을 입게 됨</a:t>
            </a: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생산자는 수평의 공급곡선을 가져 생산자잉여는 항상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이기 때문에 후생 변화가 없음</a:t>
            </a: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정부는 판매되는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2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대해 단위당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세금을 부과하므로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조세수입을 얻음  </a:t>
            </a: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조세수입을 얻고자 하지만 이를 상품세를 부과해 달성하고자 하면 시장을 교란해 소비자에게는 세금 외에 추가로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해당되는 피해를 입히게 되며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이것이 조세가 유발하는 사회적 손실인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조세의 초과부담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(excess burden)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</a:p>
        </p:txBody>
      </p:sp>
      <p:sp>
        <p:nvSpPr>
          <p:cNvPr id="92164" name="바닥글 개체 틀 4">
            <a:extLst>
              <a:ext uri="{FF2B5EF4-FFF2-40B4-BE49-F238E27FC236}">
                <a16:creationId xmlns:a16="http://schemas.microsoft.com/office/drawing/2014/main" id="{38E9ED6E-2A80-4833-B787-59BB2F20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92165" name="슬라이드 번호 개체 틀 5">
            <a:extLst>
              <a:ext uri="{FF2B5EF4-FFF2-40B4-BE49-F238E27FC236}">
                <a16:creationId xmlns:a16="http://schemas.microsoft.com/office/drawing/2014/main" id="{BBE4E42C-0DA7-41A8-AB2C-08867624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CEE818-FBC8-4EB7-B6F4-30D3057711D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2166" name="Rectangle 1026">
            <a:extLst>
              <a:ext uri="{FF2B5EF4-FFF2-40B4-BE49-F238E27FC236}">
                <a16:creationId xmlns:a16="http://schemas.microsoft.com/office/drawing/2014/main" id="{B1303FAE-BC1D-4843-B603-665F05C2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2167" name="Rectangle 1027">
            <a:extLst>
              <a:ext uri="{FF2B5EF4-FFF2-40B4-BE49-F238E27FC236}">
                <a16:creationId xmlns:a16="http://schemas.microsoft.com/office/drawing/2014/main" id="{15B924BE-F1E2-43D3-8CD1-CE57DD09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036">
            <a:extLst>
              <a:ext uri="{FF2B5EF4-FFF2-40B4-BE49-F238E27FC236}">
                <a16:creationId xmlns:a16="http://schemas.microsoft.com/office/drawing/2014/main" id="{7FE6F42E-0CFD-44C9-854F-2310328CE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조세의 초과부담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4211" name="Rectangle 1037">
            <a:extLst>
              <a:ext uri="{FF2B5EF4-FFF2-40B4-BE49-F238E27FC236}">
                <a16:creationId xmlns:a16="http://schemas.microsoft.com/office/drawing/2014/main" id="{BA70502A-896F-47E9-9E99-35C5B5DD36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687513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5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만약 정부가 소비자가 어떤 소비행위를 하든 관계없이 면적 </a:t>
            </a:r>
            <a:r>
              <a:rPr lang="en-US" altLang="ko-KR" sz="25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5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해당되는 금액을 일괄 징수하는 정액세 혹은 </a:t>
            </a:r>
            <a:r>
              <a:rPr lang="ko-KR" altLang="en-US" sz="25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일괄세</a:t>
            </a:r>
            <a:r>
              <a:rPr lang="en-US" altLang="ko-KR" sz="25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(lump-sum tax)</a:t>
            </a:r>
            <a:r>
              <a:rPr lang="ko-KR" altLang="en-US" sz="25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</a:t>
            </a:r>
            <a:r>
              <a:rPr lang="ko-KR" altLang="en-US" sz="25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상품세</a:t>
            </a:r>
            <a:r>
              <a:rPr lang="ko-KR" altLang="en-US" sz="25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대신 도입하면</a:t>
            </a:r>
            <a:r>
              <a:rPr lang="en-US" altLang="ko-KR" sz="25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5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상품에 세금을 매겨서 발생하는 이와 같은 추가 비용을 피해갈 수 있음</a:t>
            </a:r>
            <a:endParaRPr lang="en-US" altLang="ko-KR" sz="2500" dirty="0">
              <a:latin typeface="Times New Roman" panose="02020603050405020304" pitchFamily="18" charset="0"/>
              <a:ea typeface="나눔명조" panose="02020603020101020101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5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그러나</a:t>
            </a:r>
            <a:r>
              <a:rPr lang="en-US" altLang="ko-KR" sz="25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5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소득이나 </a:t>
            </a:r>
            <a:r>
              <a:rPr lang="ko-KR" altLang="en-US" sz="2500" dirty="0" err="1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구매행위와</a:t>
            </a:r>
            <a:r>
              <a:rPr lang="ko-KR" altLang="en-US" sz="25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 전혀 연관되지 않는 </a:t>
            </a:r>
            <a:r>
              <a:rPr lang="ko-KR" altLang="en-US" sz="2500" dirty="0" err="1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일괄세만을</a:t>
            </a:r>
            <a:r>
              <a:rPr lang="ko-KR" altLang="en-US" sz="25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 걷어 정부 재정수입을 모두 충당하는 것은 현실적으로 가능하지 않으므로 결국 정부는 </a:t>
            </a:r>
            <a:r>
              <a:rPr lang="ko-KR" altLang="en-US" sz="2500" dirty="0" err="1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상품세를</a:t>
            </a:r>
            <a:r>
              <a:rPr lang="ko-KR" altLang="en-US" sz="25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 걷게 됨</a:t>
            </a:r>
          </a:p>
        </p:txBody>
      </p:sp>
      <p:sp>
        <p:nvSpPr>
          <p:cNvPr id="94212" name="바닥글 개체 틀 4">
            <a:extLst>
              <a:ext uri="{FF2B5EF4-FFF2-40B4-BE49-F238E27FC236}">
                <a16:creationId xmlns:a16="http://schemas.microsoft.com/office/drawing/2014/main" id="{EA9240D8-2829-4A2B-9710-A1DB9BA7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94213" name="슬라이드 번호 개체 틀 5">
            <a:extLst>
              <a:ext uri="{FF2B5EF4-FFF2-40B4-BE49-F238E27FC236}">
                <a16:creationId xmlns:a16="http://schemas.microsoft.com/office/drawing/2014/main" id="{DDF06E18-EE07-4D51-98A9-80B78733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B7CA9A-31D2-4264-B456-701B873D87F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4214" name="Rectangle 1026">
            <a:extLst>
              <a:ext uri="{FF2B5EF4-FFF2-40B4-BE49-F238E27FC236}">
                <a16:creationId xmlns:a16="http://schemas.microsoft.com/office/drawing/2014/main" id="{4E99007B-6E59-42A0-BEC2-6AABA0D66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4215" name="Rectangle 1027">
            <a:extLst>
              <a:ext uri="{FF2B5EF4-FFF2-40B4-BE49-F238E27FC236}">
                <a16:creationId xmlns:a16="http://schemas.microsoft.com/office/drawing/2014/main" id="{C31B601C-3288-45B3-8BBA-FA70EF570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036">
            <a:extLst>
              <a:ext uri="{FF2B5EF4-FFF2-40B4-BE49-F238E27FC236}">
                <a16:creationId xmlns:a16="http://schemas.microsoft.com/office/drawing/2014/main" id="{8210BB61-EA80-4860-A2CD-33AF7A528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조세의 초과부담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6259" name="Rectangle 1037">
            <a:extLst>
              <a:ext uri="{FF2B5EF4-FFF2-40B4-BE49-F238E27FC236}">
                <a16:creationId xmlns:a16="http://schemas.microsoft.com/office/drawing/2014/main" id="{3C573FD4-9A10-4E25-842F-8B9C14C884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433513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조세수입을 위해 여러 품목에 대해 세금이 부과될 경우에는 품목별로 어떤 세율을 적용할지 결정해야 함</a:t>
            </a:r>
          </a:p>
          <a:p>
            <a:pPr eaLnBrk="1" hangingPunct="1"/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동일한 세율이 적용된다면 수요곡선의 기울기가 가파르고 상품 수요가 가격에 대해 둔감하게 반응할수록 조세의 </a:t>
            </a:r>
            <a:r>
              <a:rPr lang="ko-KR" altLang="en-US" sz="2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초과부담인</a:t>
            </a:r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작아짐</a:t>
            </a:r>
          </a:p>
          <a:p>
            <a:pPr eaLnBrk="1" hangingPunct="1"/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따라서 여러 개의 상품에 대해 세금을 부과할 때에는 수요가 가격에 대해 민감하게 반응하는 상품일수록 낮은 세율을 적용하고</a:t>
            </a:r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가격이 바뀌어도 수요가 잘 변하지 않는 상품에 대해서는 높은 세율을 적용해야 함</a:t>
            </a:r>
          </a:p>
          <a:p>
            <a:pPr eaLnBrk="1" hangingPunct="1"/>
            <a:endParaRPr lang="ko-KR" altLang="en-US" sz="26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6260" name="바닥글 개체 틀 4">
            <a:extLst>
              <a:ext uri="{FF2B5EF4-FFF2-40B4-BE49-F238E27FC236}">
                <a16:creationId xmlns:a16="http://schemas.microsoft.com/office/drawing/2014/main" id="{6B036EE4-C2F1-419E-BC48-431146C72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96261" name="슬라이드 번호 개체 틀 5">
            <a:extLst>
              <a:ext uri="{FF2B5EF4-FFF2-40B4-BE49-F238E27FC236}">
                <a16:creationId xmlns:a16="http://schemas.microsoft.com/office/drawing/2014/main" id="{B336CCE1-5DBB-4425-90D1-F0741450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CC2345-BBD0-4A60-8224-4EB03A050E3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6262" name="Rectangle 1026">
            <a:extLst>
              <a:ext uri="{FF2B5EF4-FFF2-40B4-BE49-F238E27FC236}">
                <a16:creationId xmlns:a16="http://schemas.microsoft.com/office/drawing/2014/main" id="{B9664AEA-F433-41FB-A311-88A1AF6F0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6263" name="Rectangle 1027">
            <a:extLst>
              <a:ext uri="{FF2B5EF4-FFF2-40B4-BE49-F238E27FC236}">
                <a16:creationId xmlns:a16="http://schemas.microsoft.com/office/drawing/2014/main" id="{C1EDBE6E-FF0A-4B08-8736-389169F5A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036">
            <a:extLst>
              <a:ext uri="{FF2B5EF4-FFF2-40B4-BE49-F238E27FC236}">
                <a16:creationId xmlns:a16="http://schemas.microsoft.com/office/drawing/2014/main" id="{A5C02A46-2CED-4AD2-86A5-445A8A7D3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조세의 초과부담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8307" name="Rectangle 1037">
            <a:extLst>
              <a:ext uri="{FF2B5EF4-FFF2-40B4-BE49-F238E27FC236}">
                <a16:creationId xmlns:a16="http://schemas.microsoft.com/office/drawing/2014/main" id="{BF4A6DAF-FA5F-44C4-9233-74AD8EAD4D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433513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수요의 가격탄력성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(price elasticity of demand)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상품가격이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1%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변할 때 수요량이 몇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%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변하는지를 나타냄</a:t>
            </a:r>
          </a:p>
          <a:p>
            <a:pPr lvl="1"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상품세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부과의 초과부담을 최소화하기 위해서는 각 상품에 대해 부과되는 조세의 가격대비 비율이 해당 상품의 수요의 가격탄력성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음의 값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반비례하게 정해주어야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endParaRPr lang="ko-KR" altLang="en-US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위와 같은 조세를 </a:t>
            </a:r>
            <a:r>
              <a:rPr lang="ko-KR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램지세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(Ramsey tax)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라 부름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램지세는 일괄세처럼 사회적 손실없이 조세를 징수할 수는 없지만</a:t>
            </a:r>
            <a:r>
              <a:rPr lang="en-US" altLang="ko-KR" sz="20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상품세</a:t>
            </a:r>
            <a:r>
              <a:rPr lang="ko-KR" altLang="en-US" sz="20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 중에서는 정부 목표세입을 최소의 사회적 비용으로 얻게 하는 것이기 때문에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차선의 정책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(second-best policy)</a:t>
            </a:r>
            <a:r>
              <a:rPr lang="ko-KR" altLang="en-US" sz="2000" dirty="0">
                <a:latin typeface="Times New Roman" panose="02020603050405020304" pitchFamily="18" charset="0"/>
                <a:ea typeface="나눔명조" panose="02020603020101020101" pitchFamily="18" charset="-127"/>
                <a:cs typeface="Times New Roman" panose="02020603050405020304" pitchFamily="18" charset="0"/>
              </a:rPr>
              <a:t>이라 할 수 있음</a:t>
            </a:r>
          </a:p>
        </p:txBody>
      </p:sp>
      <p:sp>
        <p:nvSpPr>
          <p:cNvPr id="98308" name="바닥글 개체 틀 4">
            <a:extLst>
              <a:ext uri="{FF2B5EF4-FFF2-40B4-BE49-F238E27FC236}">
                <a16:creationId xmlns:a16="http://schemas.microsoft.com/office/drawing/2014/main" id="{976C7D92-089E-4761-A60C-51569D41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98309" name="슬라이드 번호 개체 틀 5">
            <a:extLst>
              <a:ext uri="{FF2B5EF4-FFF2-40B4-BE49-F238E27FC236}">
                <a16:creationId xmlns:a16="http://schemas.microsoft.com/office/drawing/2014/main" id="{6438D3DA-9193-4EAF-8E4F-1FE738FB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B27553-EDC0-4D36-A907-EB221AE7CF8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8310" name="Rectangle 1026">
            <a:extLst>
              <a:ext uri="{FF2B5EF4-FFF2-40B4-BE49-F238E27FC236}">
                <a16:creationId xmlns:a16="http://schemas.microsoft.com/office/drawing/2014/main" id="{E726E71C-6034-47AC-A827-B4B271161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8311" name="Rectangle 1027">
            <a:extLst>
              <a:ext uri="{FF2B5EF4-FFF2-40B4-BE49-F238E27FC236}">
                <a16:creationId xmlns:a16="http://schemas.microsoft.com/office/drawing/2014/main" id="{1220484D-5228-4D76-8EA8-252E8CC28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graphicFrame>
        <p:nvGraphicFramePr>
          <p:cNvPr id="98312" name="Object 3">
            <a:hlinkClick r:id="" action="ppaction://ole?verb=0"/>
            <a:extLst>
              <a:ext uri="{FF2B5EF4-FFF2-40B4-BE49-F238E27FC236}">
                <a16:creationId xmlns:a16="http://schemas.microsoft.com/office/drawing/2014/main" id="{47ADF319-3CDE-4339-9E1A-96471D5BBF9F}"/>
              </a:ext>
            </a:extLst>
          </p:cNvPr>
          <p:cNvGraphicFramePr>
            <a:graphicFrameLocks/>
          </p:cNvGraphicFramePr>
          <p:nvPr/>
        </p:nvGraphicFramePr>
        <p:xfrm>
          <a:off x="2638425" y="3246438"/>
          <a:ext cx="26352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3" name="Equation" r:id="rId4" imgW="787400" imgH="431800" progId="Equation.3">
                  <p:embed/>
                </p:oleObj>
              </mc:Choice>
              <mc:Fallback>
                <p:oleObj name="Equation" r:id="rId4" imgW="787400" imgH="4318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3246438"/>
                        <a:ext cx="2635250" cy="758825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036">
            <a:extLst>
              <a:ext uri="{FF2B5EF4-FFF2-40B4-BE49-F238E27FC236}">
                <a16:creationId xmlns:a16="http://schemas.microsoft.com/office/drawing/2014/main" id="{6D3C1731-F60D-420D-85E1-AFD897899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환경세의 이중편익가설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0355" name="Rectangle 1037">
            <a:extLst>
              <a:ext uri="{FF2B5EF4-FFF2-40B4-BE49-F238E27FC236}">
                <a16:creationId xmlns:a16="http://schemas.microsoft.com/office/drawing/2014/main" id="{E40BE134-455F-4516-99CB-0A4BD232F2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3954" y="1273349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오염이 있을 때 최선의 조세는 일단 오염의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한계피해에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해당되는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단위당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상품세로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부과하여 오염을 줄이고 외부효과를 제거한 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정부가 필요로 하는 세입 중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징수액을 초과하는 부분은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일괄세로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걷는 것임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현실에서는 환경개선을 목적으로 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정부 세입을 목적으로 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상품세가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함께 부과되며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오염을 줄이는 기여를 하지만 일반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상품세는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조세의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초과부담을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유발함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따라서 환경개선을 위해  얻어진 환경세입만큼 다른 일반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상품세를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줄여주면 환경이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개선됨은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물론이고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일반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상품세가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유발하던 조세의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초과부담이라는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손실까지 줄여줄 수 있어 일거양득의 효과가 발생할 수 있음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이중편익가설</a:t>
            </a:r>
          </a:p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이중편익은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약이중편익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(weak double dividend)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ko-KR" altLang="en-US" sz="20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강이중편익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(strong double dividend)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으로 구분됨</a:t>
            </a:r>
          </a:p>
          <a:p>
            <a:pPr eaLnBrk="1" hangingPunct="1"/>
            <a:endParaRPr lang="ko-KR" altLang="en-US" sz="2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0356" name="바닥글 개체 틀 4">
            <a:extLst>
              <a:ext uri="{FF2B5EF4-FFF2-40B4-BE49-F238E27FC236}">
                <a16:creationId xmlns:a16="http://schemas.microsoft.com/office/drawing/2014/main" id="{D44F3367-CFE7-43ED-A784-13397313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100357" name="슬라이드 번호 개체 틀 5">
            <a:extLst>
              <a:ext uri="{FF2B5EF4-FFF2-40B4-BE49-F238E27FC236}">
                <a16:creationId xmlns:a16="http://schemas.microsoft.com/office/drawing/2014/main" id="{6F1F29ED-7B4F-4D1B-B11E-0E6A1A5F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C22B35-2396-4DE7-8F6B-9827B3BCCB6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0358" name="Rectangle 1026">
            <a:extLst>
              <a:ext uri="{FF2B5EF4-FFF2-40B4-BE49-F238E27FC236}">
                <a16:creationId xmlns:a16="http://schemas.microsoft.com/office/drawing/2014/main" id="{643FEFC1-EDFC-47A1-BA0D-A20CC68BA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0359" name="Rectangle 1027">
            <a:extLst>
              <a:ext uri="{FF2B5EF4-FFF2-40B4-BE49-F238E27FC236}">
                <a16:creationId xmlns:a16="http://schemas.microsoft.com/office/drawing/2014/main" id="{CBA01845-5FF4-424C-A340-4C83E2B38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036">
            <a:extLst>
              <a:ext uri="{FF2B5EF4-FFF2-40B4-BE49-F238E27FC236}">
                <a16:creationId xmlns:a16="http://schemas.microsoft.com/office/drawing/2014/main" id="{F03D82C3-22F1-4AA0-A766-E8FE8A92F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환경세의 이중편익가설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2403" name="Rectangle 1037">
            <a:extLst>
              <a:ext uri="{FF2B5EF4-FFF2-40B4-BE49-F238E27FC236}">
                <a16:creationId xmlns:a16="http://schemas.microsoft.com/office/drawing/2014/main" id="{616BFCE4-536F-414F-B77B-1F4CECBDE0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1856" y="1283179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 가지 상품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2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x</a:t>
            </a:r>
            <a:r>
              <a:rPr lang="en-US" altLang="ko-KR" sz="22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x</a:t>
            </a:r>
            <a:r>
              <a:rPr lang="en-US" altLang="ko-KR" sz="22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있을 때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중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2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x</a:t>
            </a:r>
            <a:r>
              <a:rPr lang="en-US" altLang="ko-KR" sz="22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생산과 소비과정에서 오염을 유발하지 않는 ‘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청정재’이고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x</a:t>
            </a:r>
            <a:r>
              <a:rPr lang="en-US" altLang="ko-KR" sz="22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외부효과를 유발하는 ‘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오염재’라고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가정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대해서는 세금이 없고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또 다른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청정재인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과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오염재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대해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상품세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과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각각 부과된다 가정</a:t>
            </a:r>
          </a:p>
          <a:p>
            <a:pPr eaLnBrk="1" hangingPunct="1"/>
            <a:r>
              <a:rPr lang="ko-KR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약이중편익가설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이미 걷힌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환경세를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국민들에게 일괄적으로  되돌려 주기보다는 그만큼 다른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세금액을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줄여주는 데 사용하면 환경개선효과에 더하여 다른 조세 징수과정에서 발생하는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초과부담을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줄이는 추가편익까지 얻게 한다는 내용임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(=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환경세의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세입재활용효과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배출부과금제도가 이러한 추가적인 기여를 할 수 있기 때문에 전통적으로 유럽 국가들은 부과금제도를 선호해 왔음</a:t>
            </a:r>
          </a:p>
        </p:txBody>
      </p:sp>
      <p:sp>
        <p:nvSpPr>
          <p:cNvPr id="102404" name="바닥글 개체 틀 4">
            <a:extLst>
              <a:ext uri="{FF2B5EF4-FFF2-40B4-BE49-F238E27FC236}">
                <a16:creationId xmlns:a16="http://schemas.microsoft.com/office/drawing/2014/main" id="{1BBEE0F1-BE97-4EFB-9383-0E6DED76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102405" name="슬라이드 번호 개체 틀 5">
            <a:extLst>
              <a:ext uri="{FF2B5EF4-FFF2-40B4-BE49-F238E27FC236}">
                <a16:creationId xmlns:a16="http://schemas.microsoft.com/office/drawing/2014/main" id="{1B772108-AB30-46D3-98FA-80E60AD4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1A60BC-6198-46A6-82A7-95A43BA2238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2406" name="Rectangle 1026">
            <a:extLst>
              <a:ext uri="{FF2B5EF4-FFF2-40B4-BE49-F238E27FC236}">
                <a16:creationId xmlns:a16="http://schemas.microsoft.com/office/drawing/2014/main" id="{A4093B42-B614-4D8E-BB88-4A852375A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2407" name="Rectangle 1027">
            <a:extLst>
              <a:ext uri="{FF2B5EF4-FFF2-40B4-BE49-F238E27FC236}">
                <a16:creationId xmlns:a16="http://schemas.microsoft.com/office/drawing/2014/main" id="{816826EC-75B0-4576-88E8-F8624525D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036">
            <a:extLst>
              <a:ext uri="{FF2B5EF4-FFF2-40B4-BE49-F238E27FC236}">
                <a16:creationId xmlns:a16="http://schemas.microsoft.com/office/drawing/2014/main" id="{D323CE6C-41C5-4585-842D-5C37CA2E1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환경세의 이중편익가설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4451" name="Rectangle 1037">
            <a:extLst>
              <a:ext uri="{FF2B5EF4-FFF2-40B4-BE49-F238E27FC236}">
                <a16:creationId xmlns:a16="http://schemas.microsoft.com/office/drawing/2014/main" id="{D3236513-AF8F-4D6A-A77C-5D3D934F96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2475" y="1200150"/>
            <a:ext cx="7685088" cy="4283075"/>
          </a:xfrm>
        </p:spPr>
        <p:txBody>
          <a:bodyPr/>
          <a:lstStyle/>
          <a:p>
            <a:pPr eaLnBrk="1" hangingPunct="1"/>
            <a:r>
              <a:rPr lang="ko-KR" altLang="en-US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강이중편익가설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은 현재보다 더 높은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환경세를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부과하고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즉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t</a:t>
            </a:r>
            <a:r>
              <a:rPr lang="en-US" altLang="ko-KR" sz="22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를 높이고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대신 다른 세금을 그만큼 줄여주면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즉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t</a:t>
            </a:r>
            <a:r>
              <a:rPr lang="en-US" altLang="ko-KR" sz="2200" baseline="-25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을 낮추면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첫 번째 편익으로 환경개선효과가 나타나고 두 번째 편익으로 다른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상품세가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줄어들면서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조세징수의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효율성이 높아지는 효과가 있다는 내용임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즉 강이중편익가설은 현재의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세율구조를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환경세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비중을 높이는 쪽으로 개편해야 한다는 주장을 담고 있으며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오염의 사회적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한계피해에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해당되는 만큼의 세금을 매길 것이 아니라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환경세의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두 번째 편익을 얻기 위해 더 높은 세율을 적용해야 한다는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주장으로까지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확대될 수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즉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t</a:t>
            </a:r>
            <a:r>
              <a:rPr lang="en-US" altLang="ko-KR" sz="18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가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x</a:t>
            </a:r>
            <a:r>
              <a:rPr lang="en-US" altLang="ko-KR" sz="18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의 오염 한계피해액보다 더 커야 한다는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주장임</a:t>
            </a:r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4452" name="바닥글 개체 틀 4">
            <a:extLst>
              <a:ext uri="{FF2B5EF4-FFF2-40B4-BE49-F238E27FC236}">
                <a16:creationId xmlns:a16="http://schemas.microsoft.com/office/drawing/2014/main" id="{A8D44B98-10AF-4BDE-8CF4-53657BF2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104453" name="슬라이드 번호 개체 틀 5">
            <a:extLst>
              <a:ext uri="{FF2B5EF4-FFF2-40B4-BE49-F238E27FC236}">
                <a16:creationId xmlns:a16="http://schemas.microsoft.com/office/drawing/2014/main" id="{BF82C1DA-C34E-42A0-B8C5-EB7352FF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59AA46-F051-4A9D-A1C6-78CFFB3619A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4454" name="Rectangle 1026">
            <a:extLst>
              <a:ext uri="{FF2B5EF4-FFF2-40B4-BE49-F238E27FC236}">
                <a16:creationId xmlns:a16="http://schemas.microsoft.com/office/drawing/2014/main" id="{C89F93F6-7D09-4BE8-9E55-91F9F897F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4455" name="Rectangle 1027">
            <a:extLst>
              <a:ext uri="{FF2B5EF4-FFF2-40B4-BE49-F238E27FC236}">
                <a16:creationId xmlns:a16="http://schemas.microsoft.com/office/drawing/2014/main" id="{9328F529-11CB-4E06-A3E4-42FA6E3CD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036">
            <a:extLst>
              <a:ext uri="{FF2B5EF4-FFF2-40B4-BE49-F238E27FC236}">
                <a16:creationId xmlns:a16="http://schemas.microsoft.com/office/drawing/2014/main" id="{D323CE6C-41C5-4585-842D-5C37CA2E1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환경세의 이중편익가설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4451" name="Rectangle 1037">
            <a:extLst>
              <a:ext uri="{FF2B5EF4-FFF2-40B4-BE49-F238E27FC236}">
                <a16:creationId xmlns:a16="http://schemas.microsoft.com/office/drawing/2014/main" id="{D3236513-AF8F-4D6A-A77C-5D3D934F96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2475" y="1200150"/>
            <a:ext cx="7685088" cy="4283075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강이중편익가설은 현재의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세율구조가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어떠하냐에 따라 맞을 수도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아닐 수도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현재의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조세 효율성 개선편익까지 유발할 정도로 낮다면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증대는 두 가지 편익을 모두 유발할 것임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환경세율이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충분히 높은 상태에서 추가로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환경세율을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더 높이면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조세징수의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비효율성은 더 높아질 수 있음</a:t>
            </a:r>
          </a:p>
        </p:txBody>
      </p:sp>
      <p:sp>
        <p:nvSpPr>
          <p:cNvPr id="104452" name="바닥글 개체 틀 4">
            <a:extLst>
              <a:ext uri="{FF2B5EF4-FFF2-40B4-BE49-F238E27FC236}">
                <a16:creationId xmlns:a16="http://schemas.microsoft.com/office/drawing/2014/main" id="{A8D44B98-10AF-4BDE-8CF4-53657BF2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104453" name="슬라이드 번호 개체 틀 5">
            <a:extLst>
              <a:ext uri="{FF2B5EF4-FFF2-40B4-BE49-F238E27FC236}">
                <a16:creationId xmlns:a16="http://schemas.microsoft.com/office/drawing/2014/main" id="{BF82C1DA-C34E-42A0-B8C5-EB7352FF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59AA46-F051-4A9D-A1C6-78CFFB3619A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4454" name="Rectangle 1026">
            <a:extLst>
              <a:ext uri="{FF2B5EF4-FFF2-40B4-BE49-F238E27FC236}">
                <a16:creationId xmlns:a16="http://schemas.microsoft.com/office/drawing/2014/main" id="{C89F93F6-7D09-4BE8-9E55-91F9F897F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4455" name="Rectangle 1027">
            <a:extLst>
              <a:ext uri="{FF2B5EF4-FFF2-40B4-BE49-F238E27FC236}">
                <a16:creationId xmlns:a16="http://schemas.microsoft.com/office/drawing/2014/main" id="{9328F529-11CB-4E06-A3E4-42FA6E3CD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619726"/>
      </p:ext>
    </p:extLst>
  </p:cSld>
  <p:clrMapOvr>
    <a:masterClrMapping/>
  </p:clrMapOvr>
  <p:transition spd="med">
    <p:pull dir="r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16D3AB-2196-4977-8CF3-9CCC733BBF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6067" y="1213438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샌드모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en-US" altLang="ko-KR" sz="24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Sandmo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2000,pp.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97~100)</a:t>
                </a: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세 가지 상품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에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대한 가정은 앞과 같고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부과될 차선의 조세가 다음의 조건을 충족함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교차가격효과 등은 없다고 가정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조건은 정해진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정부세입을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소비자들의 후생을 극대화하도록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걷을 수 있게 하며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일괄세가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아닌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상품세에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의존하기 때문에 차선의 세율을 나타냄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ko-KR" altLang="en-US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11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ko-KR" altLang="en-US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22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+(1−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𝛿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𝜖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𝑖𝑖</m:t>
                        </m:r>
                      </m:sub>
                    </m:sSub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는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수요가격탄력성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세금을 포함하는 소비자가격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𝛿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하나 생산이 초래하는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한계피해액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𝜇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−</m:t>
                        </m:r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𝜆</m:t>
                        </m:r>
                      </m:num>
                      <m:den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𝜇</m:t>
                        </m:r>
                      </m:den>
                    </m:f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𝜇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정부세입 한 단위가 가지는 사회적 가치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𝜆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소비자소득 한 단위가 가지는 사회적 가치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0&lt;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&lt;1)</m:t>
                    </m:r>
                  </m:oMath>
                </a14:m>
                <a:endParaRPr lang="ko-KR" altLang="en-US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16D3AB-2196-4977-8CF3-9CCC733BB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6067" y="1213438"/>
                <a:ext cx="7313612" cy="4114800"/>
              </a:xfrm>
              <a:blipFill>
                <a:blip r:embed="rId2"/>
                <a:stretch>
                  <a:fillRect l="-1083" t="-1185" r="-917" b="-19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B467EC-4793-4726-980E-F02921B9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55</a:t>
            </a:fld>
            <a:endParaRPr lang="en-US" altLang="ko-KR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A16FF13-1317-4A87-A305-483BBBAE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3" y="301625"/>
            <a:ext cx="6696075" cy="720725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정부 재정수입과 차선의 </a:t>
            </a:r>
            <a:r>
              <a:rPr lang="ko-KR" altLang="en-US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환경세</a:t>
            </a:r>
            <a:endParaRPr lang="ko-KR" altLang="en-US" dirty="0">
              <a:solidFill>
                <a:srgbClr val="7030A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28474387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16D3AB-2196-4977-8CF3-9CCC733BBF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8066" y="1276150"/>
                <a:ext cx="7313612" cy="4114800"/>
              </a:xfrm>
            </p:spPr>
            <p:txBody>
              <a:bodyPr/>
              <a:lstStyle/>
              <a:p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오염을 유발하지 않는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에게는 </a:t>
                </a:r>
                <a:r>
                  <a:rPr lang="ko-KR" altLang="en-US" sz="19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오염책임을</a:t>
                </a:r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묻지 않아야 하고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9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초과부담을</a:t>
                </a:r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최소화하도록 세율이 배정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19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램지세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  <a:p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오염을 유발하는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ko-KR" altLang="en-US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의</m:t>
                    </m:r>
                  </m:oMath>
                </a14:m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세율은 </a:t>
                </a:r>
                <a:r>
                  <a:rPr lang="ko-KR" altLang="en-US" sz="19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램지세와</a:t>
                </a:r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9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피구세의</a:t>
                </a:r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9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가중합으로</a:t>
                </a:r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구성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 </a:t>
                </a:r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세금징수 과정의 초과부담문제를 고려하면서 동시에 오염피해도 감안하여 그 세율을 정함</a:t>
                </a:r>
                <a:endParaRPr lang="en-US" altLang="ko-KR" sz="19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=0</m:t>
                    </m:r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이면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𝜇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ko-KR" altLang="en-US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𝜆</m:t>
                    </m:r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로서 정부세입의 단위당 사회적 가치는 개인의 단위당 사회적 가치와 동일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sSubSup>
                      <m:sSubSupPr>
                        <m:ctrlPr>
                          <a:rPr lang="en-US" altLang="ko-KR" sz="19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∗</m:t>
                        </m:r>
                      </m:sup>
                    </m:sSubSup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=0,</m:t>
                    </m:r>
                    <m:sSub>
                      <m:sSub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9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sSubSup>
                      <m:sSubSup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∗</m:t>
                        </m:r>
                      </m:sup>
                    </m:sSubSup>
                    <m:r>
                      <a:rPr lang="en-US" altLang="ko-KR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ko-KR" altLang="en-US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𝛿</m:t>
                    </m:r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이고 일괄세를 제한없이 적용할 수 있어 사회적 최적 조세 부과 가능</a:t>
                </a:r>
                <a:endParaRPr lang="en-US" altLang="ko-KR" sz="19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=1</m:t>
                    </m:r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이면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𝜇</m:t>
                    </m:r>
                    <m:r>
                      <a:rPr lang="en-US" altLang="ko-KR" sz="1900" b="0" i="0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→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이고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ko-KR" altLang="en-US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22</m:t>
                            </m:r>
                          </m:sub>
                        </m:sSub>
                      </m:den>
                    </m:f>
                    <m:r>
                      <a:rPr lang="ko-KR" altLang="en-US" sz="1900" b="0" i="0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이</m:t>
                    </m:r>
                  </m:oMath>
                </a14:m>
                <a:r>
                  <a:rPr lang="ko-KR" altLang="en-US" sz="19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므로 오염책임을 세금으로 묻지 않고 </a:t>
                </a:r>
                <a:r>
                  <a:rPr lang="ko-KR" altLang="en-US" sz="1900" dirty="0" err="1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램지세만</a:t>
                </a:r>
                <a:r>
                  <a:rPr lang="ko-KR" altLang="en-US" sz="19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 적용됨</a:t>
                </a:r>
                <a:r>
                  <a:rPr lang="en-US" altLang="ko-KR" sz="19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 </a:t>
                </a:r>
                <a:endParaRPr lang="en-US" altLang="ko-KR" sz="1900" i="1" dirty="0">
                  <a:latin typeface="Cambria Math" panose="02040503050406030204" pitchFamily="18" charset="0"/>
                  <a:ea typeface="나눔명조" panose="02020603020101020101" pitchFamily="18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9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9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𝑃</m:t>
                        </m:r>
                      </m:sub>
                    </m:sSub>
                    <m:r>
                      <a:rPr lang="en-US" altLang="ko-KR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ko-KR" altLang="en-US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𝛿</m:t>
                    </m:r>
                    <m:r>
                      <a:rPr lang="ko-KR" altLang="en-US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이</m:t>
                    </m:r>
                  </m:oMath>
                </a14:m>
                <a:r>
                  <a:rPr lang="ko-KR" altLang="en-US" sz="19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90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ko-KR" altLang="en-US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f>
                      <m:f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ko-KR" altLang="en-US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22</m:t>
                            </m:r>
                          </m:sub>
                        </m:sSub>
                      </m:den>
                    </m:f>
                    <m:r>
                      <a:rPr lang="en-US" altLang="ko-KR" sz="19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−</m:t>
                    </m:r>
                    <m:f>
                      <m:f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ko-KR" altLang="en-US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𝛿</m:t>
                        </m:r>
                      </m:num>
                      <m:den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관계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성립</a:t>
                </a:r>
                <a:r>
                  <a:rPr lang="en-US" altLang="ko-KR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ko-KR" altLang="en-US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22</m:t>
                            </m:r>
                          </m:sub>
                        </m:sSub>
                      </m:den>
                    </m:f>
                    <m:r>
                      <a:rPr lang="en-US" altLang="ko-KR" sz="19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&gt;</m:t>
                    </m:r>
                    <m:f>
                      <m:f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ko-KR" altLang="en-US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𝛿</m:t>
                        </m:r>
                      </m:num>
                      <m:den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조건이 </a:t>
                </a:r>
                <a:r>
                  <a:rPr lang="ko-KR" altLang="en-US" sz="19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성립하느냐에</a:t>
                </a:r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따라 차선의 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9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9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보다 큰지 작은지 결정됨</a:t>
                </a:r>
                <a:endParaRPr lang="en-US" altLang="ko-KR" sz="19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16D3AB-2196-4977-8CF3-9CCC733BB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8066" y="1276150"/>
                <a:ext cx="7313612" cy="4114800"/>
              </a:xfrm>
              <a:blipFill>
                <a:blip r:embed="rId2"/>
                <a:stretch>
                  <a:fillRect l="-667" t="-1037" r="-667" b="-11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B467EC-4793-4726-980E-F02921B9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56</a:t>
            </a:fld>
            <a:endParaRPr lang="en-US" altLang="ko-KR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A16FF13-1317-4A87-A305-483BBBAE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3" y="301625"/>
            <a:ext cx="6696075" cy="720725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정부 재정수입과 차선의 </a:t>
            </a:r>
            <a:r>
              <a:rPr lang="ko-KR" altLang="en-US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환경세</a:t>
            </a:r>
            <a:endParaRPr lang="ko-KR" altLang="en-US" dirty="0">
              <a:solidFill>
                <a:srgbClr val="7030A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12925688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제목 1">
            <a:extLst>
              <a:ext uri="{FF2B5EF4-FFF2-40B4-BE49-F238E27FC236}">
                <a16:creationId xmlns:a16="http://schemas.microsoft.com/office/drawing/2014/main" id="{F6ACD35F-A84A-4320-80B0-081BAF704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독점기업에 대한 최적 </a:t>
            </a:r>
            <a:r>
              <a:rPr lang="ko-KR" altLang="en-US" dirty="0" err="1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환경세</a:t>
            </a:r>
            <a:endParaRPr lang="ko-KR" altLang="en-US" dirty="0">
              <a:solidFill>
                <a:srgbClr val="0070C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14691" name="내용 개체 틀 2">
            <a:extLst>
              <a:ext uri="{FF2B5EF4-FFF2-40B4-BE49-F238E27FC236}">
                <a16:creationId xmlns:a16="http://schemas.microsoft.com/office/drawing/2014/main" id="{74737BA2-AF67-405B-A241-AA5C6F4552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앞서 논의한 내용들은 어떤 산업에 동질적인 생산물을 생산하는 무수히 많은 생산자가 존재하여 시장이 </a:t>
            </a:r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완전경쟁적인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형태를 지닌다고 가정함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현실 경제에서는 독점기업이 있고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독점시장에서는 사회적 손실이 발생함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독점시장에서는 이미 완전경쟁시장에 비해 더 적은 양의 제품만을 공급하는데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이 상황에서 환경세를 적용할 경우 생산량이 추가적으로 더 줄어들게 되고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오염규제로 인해 사회적 후생이 더 줄어들 수도 있음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즉 독점기업에 대한 오염규제 시에는 환경세의 적용으로 인해 외부효과가 줄어들어 발생하는 후생 증대와 생산량이 줄어들면서 더욱 늘어나는 독점의 사회적 비용을 모두 고려해야함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부록의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설명 참조</a:t>
            </a:r>
            <a:r>
              <a:rPr lang="en-US" altLang="ko-KR" sz="2000">
                <a:latin typeface="나눔명조" panose="02020603020101020101" pitchFamily="18" charset="-127"/>
                <a:ea typeface="나눔명조" panose="02020603020101020101" pitchFamily="18" charset="-127"/>
              </a:rPr>
              <a:t>)</a:t>
            </a:r>
            <a:endParaRPr lang="ko-KR" altLang="en-US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14693" name="슬라이드 번호 개체 틀 4">
            <a:extLst>
              <a:ext uri="{FF2B5EF4-FFF2-40B4-BE49-F238E27FC236}">
                <a16:creationId xmlns:a16="http://schemas.microsoft.com/office/drawing/2014/main" id="{FC451248-FA9E-4A1E-BC03-B48774D1CF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3C4B851-5533-4AF6-9611-AF57E1E8FA2B}" type="slidenum">
              <a:rPr lang="ko-KR" altLang="en-US" sz="1200" b="0" smtClean="0">
                <a:solidFill>
                  <a:schemeClr val="tx1"/>
                </a:solidFill>
              </a:rPr>
              <a:pPr/>
              <a:t>57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7D9E9-F9F0-43B9-AC5F-2983B21F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독점의 사회적 비용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독점기업의 경우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공급량은 시장 전체의 공급량과 같으므로 독점기업의 수요곡선은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우하향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.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수요곡선은 독점기업이 한 단위 제품에 대해 수취할 수 있는 가격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즉 평균수입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(AR)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곡선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독점기업이 얻는 총수입은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ko-KR" altLang="en-US" sz="1800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고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한계수입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𝑇𝑅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𝐴𝑅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독점기업의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사적인 한계생산비가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로 일정하다고 가정하면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기업의 이윤은 한계수입과 한계비용이 일치하는 점을 생산할 때 극대가 되고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이때 소비자는 단위당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지불함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그러나 만약 독점기업이 완전경쟁기업처럼 행동한다면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수요곡선과 한계비용곡선이 만나는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생산해야 하고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이때의 가격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ko-KR" altLang="en-US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4" t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000816-6FA0-47B5-AE11-B00FAE40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58</a:t>
            </a:fld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12962009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제목 1">
            <a:extLst>
              <a:ext uri="{FF2B5EF4-FFF2-40B4-BE49-F238E27FC236}">
                <a16:creationId xmlns:a16="http://schemas.microsoft.com/office/drawing/2014/main" id="{BD0390F1-5CE1-4B9B-A4DE-90C1D8DEC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독점의 사회적 비용</a:t>
            </a:r>
          </a:p>
        </p:txBody>
      </p:sp>
      <p:sp>
        <p:nvSpPr>
          <p:cNvPr id="117764" name="슬라이드 번호 개체 틀 4">
            <a:extLst>
              <a:ext uri="{FF2B5EF4-FFF2-40B4-BE49-F238E27FC236}">
                <a16:creationId xmlns:a16="http://schemas.microsoft.com/office/drawing/2014/main" id="{6B9D4003-1A04-454E-B382-DA5F00EEC0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73F5B1E-6617-451F-B611-A7CA696DD933}" type="slidenum">
              <a:rPr lang="ko-KR" altLang="en-US" sz="1200" b="0" smtClean="0">
                <a:solidFill>
                  <a:schemeClr val="tx1"/>
                </a:solidFill>
              </a:rPr>
              <a:pPr/>
              <a:t>59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17765" name="Rectangle 2">
            <a:extLst>
              <a:ext uri="{FF2B5EF4-FFF2-40B4-BE49-F238E27FC236}">
                <a16:creationId xmlns:a16="http://schemas.microsoft.com/office/drawing/2014/main" id="{7CF8120B-E5FB-43B7-9DB5-76F1EFDFA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108" y="1620239"/>
            <a:ext cx="6149892" cy="4314278"/>
          </a:xfrm>
          <a:prstGeom prst="rect">
            <a:avLst/>
          </a:prstGeom>
        </p:spPr>
      </p:pic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42437285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7D9E9-F9F0-43B9-AC5F-2983B21F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독점의 사회적 비용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독점의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사회적 비용은 완전경쟁적 행위에 비해 더 적은 양을 생산하기 때문에 발생함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독점기업이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생산함으로써 소비자는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𝑎𝑐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해당되는 소비자잉여를 상실함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반면 독점기업은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생산하는 경우에는 이윤을 얻을 수 없으나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생산함으로써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해당되는 이윤을 얻음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사회전체에 발생하는 독점의 사회적 비용은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ko-KR" altLang="en-US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4" t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000816-6FA0-47B5-AE11-B00FAE40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60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23571605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7D9E9-F9F0-43B9-AC5F-2983B21F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기업에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대한 최적 </a:t>
            </a:r>
            <a:r>
              <a:rPr lang="ko-KR" altLang="en-US" dirty="0" err="1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환경세</a:t>
            </a:r>
            <a:endParaRPr lang="ko-KR" altLang="en-US" dirty="0">
              <a:solidFill>
                <a:srgbClr val="0070C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독점기업에 대한 최적 규제는 기업이 오염저감을 위한 별도의 조치를 취할 수 없어 배출저감이 생산량 감소를 통해서만 이루어지는 경우와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저감기술이 존재해 같은 양을 생산하더라도 저감기술 선택에 따라 배출량이 달라지는 경우로 구분하여 생각할 필요가 있음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오염물질 배출량이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와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같이 생산량과 완전 비례하는 경우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𝑄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단위당 한계피해를 더한 사회적 한계비용곡선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이고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이때 사회적 최적 생산량은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가격은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𝑃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정부가 외부효과를 제거하기 위해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제품부과금을 부과하면 사회적 최적 생산량과의 괴리가 더 커지므로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단위당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e>
                    </m:acc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만큼의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음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(-)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제품부과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보조금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동시에 지급하면 사회적 최적을 생산하게 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4" t="-889" r="-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000816-6FA0-47B5-AE11-B00FAE40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61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31829703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7D9E9-F9F0-43B9-AC5F-2983B21F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기업에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대한 최적 </a:t>
            </a:r>
            <a:r>
              <a:rPr lang="ko-KR" altLang="en-US" dirty="0" err="1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환경세</a:t>
            </a:r>
            <a:endParaRPr lang="ko-KR" altLang="en-US" dirty="0">
              <a:solidFill>
                <a:srgbClr val="0070C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두 가지 규제수단을 각각 도입하지 않고 순효과인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)−</m:t>
                        </m:r>
                        <m:acc>
                          <m:accPr>
                            <m:chr m:val="̅"/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e>
                        </m:acc>
                      </m:e>
                    </m:d>
                  </m:oMath>
                </a14:m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제품부과금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보조금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적용해도  사회적 최적을 달성할 수 있음</a:t>
                </a:r>
                <a:endParaRPr lang="en-US" altLang="ko-KR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이는 산출량과 배출량이 비례하기 때문에 오염문제도 산출량 조절을 통해 해결할 수 있기 때문임</a:t>
                </a:r>
                <a:endParaRPr lang="en-US" altLang="ko-KR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최적 </a:t>
                </a:r>
                <a:r>
                  <a:rPr lang="ko-KR" altLang="en-US" sz="24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제품부과금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</a:t>
                </a:r>
              </a:p>
              <a:p>
                <a:pPr lvl="1"/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𝜏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𝑀𝐷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−[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𝐴𝑅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𝑀𝑅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]</m:t>
                    </m:r>
                  </m:oMath>
                </a14:m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8" t="-1185" r="-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000816-6FA0-47B5-AE11-B00FAE40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62</a:t>
            </a:fld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27925228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7D9E9-F9F0-43B9-AC5F-2983B21F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기업에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대한 최적 </a:t>
            </a:r>
            <a:r>
              <a:rPr lang="ko-KR" altLang="en-US" dirty="0" err="1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환경세</a:t>
            </a:r>
            <a:endParaRPr lang="ko-KR" altLang="en-US" dirty="0">
              <a:solidFill>
                <a:srgbClr val="0070C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526588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같은 양을 생산하더라도 오염물질 배출량이 달라지게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저감행위를 할 수 있다면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배출량 저감은 반드시 산출량 감소를 통해 이루어지지는 않음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.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경우엔 정책변수도 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개가 되어야함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(Tinbergen’s rule)</a:t>
                </a:r>
              </a:p>
              <a:p>
                <a:r>
                  <a:rPr lang="ko-KR" altLang="en-US" sz="24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독점문제는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4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제품부과금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/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보조금으로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오염의 문제는 상품이 아닌 오염물질에 대해 부과되는 배출과금으로 동시에 해결</a:t>
                </a:r>
                <a:endParaRPr lang="en-US" altLang="ko-KR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오염물질에 대한 </a:t>
                </a:r>
                <a:r>
                  <a:rPr lang="ko-KR" altLang="en-US" sz="24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규제만을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할 수 있어 제품부과금없이 배출부과금만 부과할 수 있으면 차선의 정책만 도입할 수 있음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부록 설명 참조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𝑃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(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𝐴𝑅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𝑀𝑅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)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endParaRPr lang="ko-KR" altLang="en-US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C8A41-EFA3-450E-A936-C86BFCDE1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526588"/>
                <a:ext cx="7313612" cy="4114800"/>
              </a:xfrm>
              <a:blipFill>
                <a:blip r:embed="rId2"/>
                <a:stretch>
                  <a:fillRect l="-1168" t="-1185" b="-15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607AF3-8F62-4FCD-A61B-7F5E0107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2645" y="6274641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ko-KR"/>
              <a:t>Chapter 7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000816-6FA0-47B5-AE11-B00FAE40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DF81-F274-4983-979B-0FB960C68A63}" type="slidenum">
              <a:rPr lang="ko-KR" altLang="en-US" smtClean="0"/>
              <a:pPr/>
              <a:t>63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85829194"/>
      </p:ext>
    </p:extLst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2776</TotalTime>
  <Words>4436</Words>
  <Application>Microsoft Office PowerPoint</Application>
  <PresentationFormat>화면 슬라이드 쇼(4:3)</PresentationFormat>
  <Paragraphs>498</Paragraphs>
  <Slides>63</Slides>
  <Notes>42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5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Equation</vt:lpstr>
      <vt:lpstr>7장 개요</vt:lpstr>
      <vt:lpstr>배출부과금과 보조금</vt:lpstr>
      <vt:lpstr> 배출부과금제도</vt:lpstr>
      <vt:lpstr>배출부과금이 작동하는 원리</vt:lpstr>
      <vt:lpstr>배출부과금이 작동하는 원리</vt:lpstr>
      <vt:lpstr>배출부과금의 부과 원리</vt:lpstr>
      <vt:lpstr>배출부과금의 부과 원리</vt:lpstr>
      <vt:lpstr>배출부과금제도의 비용효과성</vt:lpstr>
      <vt:lpstr>배출부과금제도의 비용효과성 : 동질적 오염물질</vt:lpstr>
      <vt:lpstr>배출부과금제도의 비용효과성 : 동질적 오염물질</vt:lpstr>
      <vt:lpstr>배출부과금제도의 비용효과성 : 이질적 오염물질</vt:lpstr>
      <vt:lpstr>이질적 오염에 있어 비용효과적인 부과금제도</vt:lpstr>
      <vt:lpstr>이질적 오염에 있어 비용효과적인 부과금제도</vt:lpstr>
      <vt:lpstr>이질적 오염에 있어 비용효과적인 부과금제도</vt:lpstr>
      <vt:lpstr> 구획화</vt:lpstr>
      <vt:lpstr> 구획화</vt:lpstr>
      <vt:lpstr> 배출부과금제의 기술혁신 유인</vt:lpstr>
      <vt:lpstr> 배출부과금제의 기술혁신 유인</vt:lpstr>
      <vt:lpstr> 부과금제도가 가지는 또 다른 장점</vt:lpstr>
      <vt:lpstr>기술투자와 오염규제</vt:lpstr>
      <vt:lpstr>기술투자와 오염규제</vt:lpstr>
      <vt:lpstr>기술투자와 오염규제</vt:lpstr>
      <vt:lpstr>기술투자와 오염규제</vt:lpstr>
      <vt:lpstr>기술투자와 오염규제</vt:lpstr>
      <vt:lpstr> 높은 정책집행비용과 대안</vt:lpstr>
      <vt:lpstr> 제품부과금 혹은 상품세 (product charge)</vt:lpstr>
      <vt:lpstr> 제품부과금 혹은 상품세</vt:lpstr>
      <vt:lpstr>  제품부과금 혹은 상품세</vt:lpstr>
      <vt:lpstr>  폐기물예치금제도 (deposit-refund system)</vt:lpstr>
      <vt:lpstr>  폐기물예치금제도</vt:lpstr>
      <vt:lpstr>  폐기물예치금제도</vt:lpstr>
      <vt:lpstr>  폐기물예치금제도</vt:lpstr>
      <vt:lpstr> 보조금제도</vt:lpstr>
      <vt:lpstr> 저감시설에 대한 보조</vt:lpstr>
      <vt:lpstr> 저감시설에 대한 보조</vt:lpstr>
      <vt:lpstr> 저감시설에 대한 보조</vt:lpstr>
      <vt:lpstr> 저감보조금 (emission subsidy)</vt:lpstr>
      <vt:lpstr> 저감보조정책의 작동원리</vt:lpstr>
      <vt:lpstr> 저감보조정책의 작동원리</vt:lpstr>
      <vt:lpstr> 배출부과금과 저감보조금의 대칭성과 비대칭성</vt:lpstr>
      <vt:lpstr> 배출부과금과 저감보조금의 대칭성과 비대칭성</vt:lpstr>
      <vt:lpstr> 배출부과금과 저감보조금의 대칭성과 비대칭성</vt:lpstr>
      <vt:lpstr> 배출부과금과 저감보조금의 대칭성과 비대칭성</vt:lpstr>
      <vt:lpstr>  환경관련 세금의 이중편익</vt:lpstr>
      <vt:lpstr>  조세의 초과부담 </vt:lpstr>
      <vt:lpstr>  조세의 초과부담 </vt:lpstr>
      <vt:lpstr>  조세의 초과부담 </vt:lpstr>
      <vt:lpstr>  조세의 초과부담 </vt:lpstr>
      <vt:lpstr>  조세의 초과부담 </vt:lpstr>
      <vt:lpstr>  조세의 초과부담 </vt:lpstr>
      <vt:lpstr>  환경세의 이중편익가설 </vt:lpstr>
      <vt:lpstr>  환경세의 이중편익가설 </vt:lpstr>
      <vt:lpstr>  환경세의 이중편익가설 </vt:lpstr>
      <vt:lpstr>  환경세의 이중편익가설 </vt:lpstr>
      <vt:lpstr>정부 재정수입과 차선의 환경세</vt:lpstr>
      <vt:lpstr>정부 재정수입과 차선의 환경세</vt:lpstr>
      <vt:lpstr>독점기업에 대한 최적 환경세</vt:lpstr>
      <vt:lpstr>독점의 사회적 비용</vt:lpstr>
      <vt:lpstr>독점의 사회적 비용</vt:lpstr>
      <vt:lpstr>독점의 사회적 비용</vt:lpstr>
      <vt:lpstr>기업에 대한 최적 환경세</vt:lpstr>
      <vt:lpstr>기업에 대한 최적 환경세</vt:lpstr>
      <vt:lpstr>기업에 대한 최적 환경세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316</cp:revision>
  <dcterms:created xsi:type="dcterms:W3CDTF">1997-07-14T00:22:12Z</dcterms:created>
  <dcterms:modified xsi:type="dcterms:W3CDTF">2025-02-18T22:52:54Z</dcterms:modified>
</cp:coreProperties>
</file>