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72"/>
  </p:notesMasterIdLst>
  <p:handoutMasterIdLst>
    <p:handoutMasterId r:id="rId73"/>
  </p:handoutMasterIdLst>
  <p:sldIdLst>
    <p:sldId id="262" r:id="rId2"/>
    <p:sldId id="390" r:id="rId3"/>
    <p:sldId id="391" r:id="rId4"/>
    <p:sldId id="392" r:id="rId5"/>
    <p:sldId id="368" r:id="rId6"/>
    <p:sldId id="369" r:id="rId7"/>
    <p:sldId id="393" r:id="rId8"/>
    <p:sldId id="432" r:id="rId9"/>
    <p:sldId id="394" r:id="rId10"/>
    <p:sldId id="395" r:id="rId11"/>
    <p:sldId id="373" r:id="rId12"/>
    <p:sldId id="397" r:id="rId13"/>
    <p:sldId id="374" r:id="rId14"/>
    <p:sldId id="375" r:id="rId15"/>
    <p:sldId id="376" r:id="rId16"/>
    <p:sldId id="377" r:id="rId17"/>
    <p:sldId id="378" r:id="rId18"/>
    <p:sldId id="379" r:id="rId19"/>
    <p:sldId id="398" r:id="rId20"/>
    <p:sldId id="380" r:id="rId21"/>
    <p:sldId id="381" r:id="rId22"/>
    <p:sldId id="382" r:id="rId23"/>
    <p:sldId id="383" r:id="rId24"/>
    <p:sldId id="400" r:id="rId25"/>
    <p:sldId id="384" r:id="rId26"/>
    <p:sldId id="401" r:id="rId27"/>
    <p:sldId id="402" r:id="rId28"/>
    <p:sldId id="403" r:id="rId29"/>
    <p:sldId id="404" r:id="rId30"/>
    <p:sldId id="433" r:id="rId31"/>
    <p:sldId id="346" r:id="rId32"/>
    <p:sldId id="347" r:id="rId33"/>
    <p:sldId id="405" r:id="rId34"/>
    <p:sldId id="406" r:id="rId35"/>
    <p:sldId id="407" r:id="rId36"/>
    <p:sldId id="434" r:id="rId37"/>
    <p:sldId id="408" r:id="rId38"/>
    <p:sldId id="350" r:id="rId39"/>
    <p:sldId id="410" r:id="rId40"/>
    <p:sldId id="352" r:id="rId41"/>
    <p:sldId id="353" r:id="rId42"/>
    <p:sldId id="354" r:id="rId43"/>
    <p:sldId id="435" r:id="rId44"/>
    <p:sldId id="436" r:id="rId45"/>
    <p:sldId id="413" r:id="rId46"/>
    <p:sldId id="356" r:id="rId47"/>
    <p:sldId id="414" r:id="rId48"/>
    <p:sldId id="415" r:id="rId49"/>
    <p:sldId id="416" r:id="rId50"/>
    <p:sldId id="417" r:id="rId51"/>
    <p:sldId id="418" r:id="rId52"/>
    <p:sldId id="419" r:id="rId53"/>
    <p:sldId id="420" r:id="rId54"/>
    <p:sldId id="421" r:id="rId55"/>
    <p:sldId id="422" r:id="rId56"/>
    <p:sldId id="427" r:id="rId57"/>
    <p:sldId id="423" r:id="rId58"/>
    <p:sldId id="424" r:id="rId59"/>
    <p:sldId id="425" r:id="rId60"/>
    <p:sldId id="426" r:id="rId61"/>
    <p:sldId id="357" r:id="rId62"/>
    <p:sldId id="358" r:id="rId63"/>
    <p:sldId id="359" r:id="rId64"/>
    <p:sldId id="360" r:id="rId65"/>
    <p:sldId id="361" r:id="rId66"/>
    <p:sldId id="431" r:id="rId67"/>
    <p:sldId id="437" r:id="rId68"/>
    <p:sldId id="438" r:id="rId69"/>
    <p:sldId id="439" r:id="rId70"/>
    <p:sldId id="440" r:id="rId71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2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9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F8DDBEB-49D4-4B6C-9FFD-E1227EFAA8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CEE8B45-F09E-452D-8DDA-A50E0373BC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9FC18FB-6BA7-4412-84FE-375B87ED2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DD204EC-96EF-4D81-8A12-E2F07EC49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56683E1-695C-42FF-A57B-1DF185584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93C88D94-53B5-404B-B49B-F254C2FF0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2B02BADA-6ABC-485B-9B98-1930C5C891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69F9436B-58B6-43FE-8231-CB50D01665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4C88C5A-F097-4702-9F37-6B8F9D554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61C385C-9175-4B91-98C5-1FF3D1A4F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A6AED2DA-668A-4F1A-857B-37910308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91A7B893-5EE7-49BA-A5BC-1A8DDF988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935A377B-94E8-419E-B2D2-247AF87FD9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66DAA3AA-7361-44D6-8209-4EE3B13E3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4992ACB-EC1A-47FB-99CB-FE61DB6B7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C7244FD-E4C6-4C8D-B6A7-4DCB3187F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8572783E-3F8E-47EC-BEA2-A562F4BA2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A1AE939F-805A-42D5-BC80-B943B5760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01CFAE62-AE8E-4F97-BFE8-4C767B4F6E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4E4DD61C-056D-4C53-B398-932F97047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C901901-CE0A-48C2-8190-640306B0A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939828B-FF32-4D41-9A44-981A52828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DF09594-7538-4CF4-B7A3-D00001368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ED22EFB8-8EEF-45CF-8202-0EFB01F09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6F8759CF-F65B-4276-B124-2962ECB96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2F05626F-520D-40A7-A831-BD6F555B7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C901901-CE0A-48C2-8190-640306B0A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939828B-FF32-4D41-9A44-981A52828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DF09594-7538-4CF4-B7A3-D00001368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ED22EFB8-8EEF-45CF-8202-0EFB01F09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6F8759CF-F65B-4276-B124-2962ECB96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2F05626F-520D-40A7-A831-BD6F555B7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677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312FFF4-36DC-4CE0-BEB8-B9ACA800F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AE4C251-9AD0-411A-B3DF-F434F610D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05025BCA-C637-46E7-9158-44DE0E0A3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C81F04B6-9A0E-45DA-A863-40518DEC3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E785DD11-0ABE-42A6-A1C0-EB7E7293A0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FCFAABEB-14B1-42BB-B928-62839D5EE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AB11B59-E00F-4681-B817-FEFA16E0B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6AA6EB6-78A0-42B8-9FDF-2E57AF17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AE95D2E-83D0-4097-A803-F0EFFF0DA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8A7AF22A-1FE6-4382-888D-00CB55FBE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77F3C381-23BA-4174-984C-AC594BEF0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8580B720-1ED7-44DD-B448-694873DC5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3CADF5C-3B4A-4849-AD45-5794ED623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74FFEBA-7082-48DB-885E-CE227C7AB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74586952-935A-41A1-ABB9-660F8D6D2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08651259-56F7-435A-AEA1-C6BDF7EAF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19346780-7653-4E4A-A107-B189DA03E2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35A98F78-1C23-411C-9B65-A13638EFC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9391FED-A94B-4800-A6FD-BD9370EA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7E15ECE-417F-465D-9274-B523D83BD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BA3B33A0-A0CF-4F7F-876B-FD239A89B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B8E98F91-9F62-47F5-8476-029320F20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BFEFBE07-3DD4-4271-B4C7-791523017D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8BEF9928-CF1B-42B4-B800-372AA830F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4692A7F6-A34B-4B3B-A1EF-99D98AF42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4B4FADE9-AF41-459D-BC26-23CCA780B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E4EC53E0-0402-40EE-96E9-7C2A2788E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E29E0572-3A5E-4404-9396-18AC3CC50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7C29190F-5BE0-4547-A1A6-974B82728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FCC9ACFA-E135-4738-B451-2E6A1739C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1641BD0A-B6E4-43A4-82D2-56646CB60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D5951351-0396-4134-99C1-CB4C9A4F4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E5BCB62E-2914-40A1-BC2E-3AB8E7784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2E7EB9B5-A00C-4955-B758-9F1E78276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DFD66ADA-1626-4BA0-9174-64C9502B23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7A4936E7-4A46-4928-8043-2CB8AB4C9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781D5EE-31A1-4380-BB9F-46FE4A11F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BD67D4E-51B6-41E2-8967-CC6E1FEC4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5236" name="Rectangle 4">
            <a:extLst>
              <a:ext uri="{FF2B5EF4-FFF2-40B4-BE49-F238E27FC236}">
                <a16:creationId xmlns:a16="http://schemas.microsoft.com/office/drawing/2014/main" id="{C2A0BCDC-861D-4183-99E7-AA919DBE5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7" name="Rectangle 5">
            <a:extLst>
              <a:ext uri="{FF2B5EF4-FFF2-40B4-BE49-F238E27FC236}">
                <a16:creationId xmlns:a16="http://schemas.microsoft.com/office/drawing/2014/main" id="{E6CF9763-6023-4081-B3F4-6ED00CF43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5238" name="Rectangle 6">
            <a:extLst>
              <a:ext uri="{FF2B5EF4-FFF2-40B4-BE49-F238E27FC236}">
                <a16:creationId xmlns:a16="http://schemas.microsoft.com/office/drawing/2014/main" id="{F4DCECA3-F88F-4BC6-9025-78875A1516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5239" name="Rectangle 7">
            <a:extLst>
              <a:ext uri="{FF2B5EF4-FFF2-40B4-BE49-F238E27FC236}">
                <a16:creationId xmlns:a16="http://schemas.microsoft.com/office/drawing/2014/main" id="{E5398E86-B875-4C3C-A3B5-66BE9CC91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048D6A0-1ACB-40FF-84A5-7153A7A5F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5479306-40BE-4C23-8BE7-2D9A40D2D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DF2FA8AD-57F3-4F40-97E3-B9EE8FDC5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738B5FA0-E83C-461A-9380-C850A8C5E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7286" name="Rectangle 6">
            <a:extLst>
              <a:ext uri="{FF2B5EF4-FFF2-40B4-BE49-F238E27FC236}">
                <a16:creationId xmlns:a16="http://schemas.microsoft.com/office/drawing/2014/main" id="{F3A34D14-E8C4-40B6-843B-CABAA5EB1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7287" name="Rectangle 7">
            <a:extLst>
              <a:ext uri="{FF2B5EF4-FFF2-40B4-BE49-F238E27FC236}">
                <a16:creationId xmlns:a16="http://schemas.microsoft.com/office/drawing/2014/main" id="{DB42967E-029F-44F6-9CF9-4E00E81FC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446D08D-CA93-4F80-BCA6-968DF81F1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ABD76B5-A06A-49C5-B117-FAC0620F5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CD5BB2FE-9CE6-4E93-BCAE-404303A76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0C905C2E-9E04-432B-9605-B963543AB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9334" name="Rectangle 6">
            <a:extLst>
              <a:ext uri="{FF2B5EF4-FFF2-40B4-BE49-F238E27FC236}">
                <a16:creationId xmlns:a16="http://schemas.microsoft.com/office/drawing/2014/main" id="{9F45EC82-BC39-4E13-A31D-970C7C3499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9335" name="Rectangle 7">
            <a:extLst>
              <a:ext uri="{FF2B5EF4-FFF2-40B4-BE49-F238E27FC236}">
                <a16:creationId xmlns:a16="http://schemas.microsoft.com/office/drawing/2014/main" id="{72F91B74-8343-4DDF-90A0-39089EADE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662CBD50-CC78-461A-91AF-53A628D3F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E2F5BDA2-E0C0-449F-86DF-8DAD448BE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7FB32584-6728-49DE-97BB-0494667F7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9632E23E-2D60-4111-B023-54D06B623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3430" name="Rectangle 6">
            <a:extLst>
              <a:ext uri="{FF2B5EF4-FFF2-40B4-BE49-F238E27FC236}">
                <a16:creationId xmlns:a16="http://schemas.microsoft.com/office/drawing/2014/main" id="{71B908AA-6492-477C-979E-019CF0C352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3431" name="Rectangle 7">
            <a:extLst>
              <a:ext uri="{FF2B5EF4-FFF2-40B4-BE49-F238E27FC236}">
                <a16:creationId xmlns:a16="http://schemas.microsoft.com/office/drawing/2014/main" id="{103662B2-0A51-4E89-943C-B31190D7D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29BFBA65-7D50-4190-B345-0D44042C0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08B4F4AE-C676-4607-B398-03516AD8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105476" name="Rectangle 4">
            <a:extLst>
              <a:ext uri="{FF2B5EF4-FFF2-40B4-BE49-F238E27FC236}">
                <a16:creationId xmlns:a16="http://schemas.microsoft.com/office/drawing/2014/main" id="{F0AB0CCB-1D50-42B2-B81D-DA0593AED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7" name="Rectangle 5">
            <a:extLst>
              <a:ext uri="{FF2B5EF4-FFF2-40B4-BE49-F238E27FC236}">
                <a16:creationId xmlns:a16="http://schemas.microsoft.com/office/drawing/2014/main" id="{1DC3384B-397D-4B9D-8581-EB6F6D83B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05478" name="Rectangle 6">
            <a:extLst>
              <a:ext uri="{FF2B5EF4-FFF2-40B4-BE49-F238E27FC236}">
                <a16:creationId xmlns:a16="http://schemas.microsoft.com/office/drawing/2014/main" id="{FFF6FE8B-B19D-47E6-B024-1AFD49891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5479" name="Rectangle 7">
            <a:extLst>
              <a:ext uri="{FF2B5EF4-FFF2-40B4-BE49-F238E27FC236}">
                <a16:creationId xmlns:a16="http://schemas.microsoft.com/office/drawing/2014/main" id="{A470DF33-ECF4-44CD-B709-264488256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8468EBF-2BA7-41A5-B5DC-2A8C8D39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6E36A4B-3E1E-4F23-8D2E-1A148857C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F0083B6F-86D3-43DA-B897-4FC594B6C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C34E1BC2-9A58-4513-85CD-81AD19BA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1F2EA684-99DF-4D33-B7A7-FAFD2F5FD4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E0EDB9D8-DB45-4C5B-A275-CE1163C16E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473E9D-D761-46D2-A780-09357FB8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420CF1-CDD1-46E3-BBFC-6EE55516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A976131F-7534-4CBF-BEAB-95D2F238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EF81E4C-D258-4A60-88CD-EBCC35A3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0F48B13D-5FEE-46F1-820F-014DF61D7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D3BE57D-89BF-4E8B-BD0F-C1A4E40C3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473E9D-D761-46D2-A780-09357FB8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420CF1-CDD1-46E3-BBFC-6EE55516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A976131F-7534-4CBF-BEAB-95D2F238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EF81E4C-D258-4A60-88CD-EBCC35A3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0F48B13D-5FEE-46F1-820F-014DF61D7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D3BE57D-89BF-4E8B-BD0F-C1A4E40C3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6088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473E9D-D761-46D2-A780-09357FB8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420CF1-CDD1-46E3-BBFC-6EE55516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A976131F-7534-4CBF-BEAB-95D2F238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EF81E4C-D258-4A60-88CD-EBCC35A3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0F48B13D-5FEE-46F1-820F-014DF61D7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D3BE57D-89BF-4E8B-BD0F-C1A4E40C3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701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473E9D-D761-46D2-A780-09357FB8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420CF1-CDD1-46E3-BBFC-6EE55516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A976131F-7534-4CBF-BEAB-95D2F238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EF81E4C-D258-4A60-88CD-EBCC35A3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0F48B13D-5FEE-46F1-820F-014DF61D7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D3BE57D-89BF-4E8B-BD0F-C1A4E40C3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967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473E9D-D761-46D2-A780-09357FB8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420CF1-CDD1-46E3-BBFC-6EE55516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A976131F-7534-4CBF-BEAB-95D2F238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EF81E4C-D258-4A60-88CD-EBCC35A3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0F48B13D-5FEE-46F1-820F-014DF61D7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D3BE57D-89BF-4E8B-BD0F-C1A4E40C3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3225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473E9D-D761-46D2-A780-09357FB85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6420CF1-CDD1-46E3-BBFC-6EE55516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A976131F-7534-4CBF-BEAB-95D2F238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EF81E4C-D258-4A60-88CD-EBCC35A3D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0F48B13D-5FEE-46F1-820F-014DF61D7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BD3BE57D-89BF-4E8B-BD0F-C1A4E40C3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151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93A77B9-8A46-496D-B8FC-863C4E819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A4951AF-48C4-43E1-BFD1-8281F91D7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9C9DA113-54C5-40EA-B413-D23C35FFA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94657E4F-4A4E-4408-A0BD-E7BFCDC3C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F62B7D9C-5806-4292-A167-55A512DDD3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59AA16BD-FE31-4443-B868-1AD0BE77A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75C0CB6-EA6F-4E7F-9627-B7DA8E27F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8DE4BA2-A30B-488B-A64B-09961D897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A26735C9-3129-4C05-90AB-3A9F1BB1F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812F42B0-F0EF-4212-93F2-244AF345D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7A458E2A-99A5-4036-A46D-CCBCF0E80C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ED696408-5A8F-47A9-BECB-04C9C800D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A6E287D-51AE-4BC1-98A8-BBD11BDB0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5BB6954-254F-4F8B-B516-0CB72CFF3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242646DB-34C4-4D61-8ECE-EFF618596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F04A5C0B-8EB4-46F9-AF55-2CF710E1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4899951D-546E-4EDE-8917-D1D80CD7D4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21C2D708-05AF-4FBE-B463-8D6753081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83D12DE-1760-4905-9BD3-034E24DBE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6356DA-4671-48CD-9A92-58407781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C8540D70-8727-459B-96A0-8259E67D3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BB1894E3-C510-4D20-9B18-7AA18239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2F217558-0DF0-4243-8FD7-800EF247A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58321AEC-35B2-474C-A12B-DDFD12A4A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83D12DE-1760-4905-9BD3-034E24DBE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6356DA-4671-48CD-9A92-58407781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C8540D70-8727-459B-96A0-8259E67D3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BB1894E3-C510-4D20-9B18-7AA18239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2F217558-0DF0-4243-8FD7-800EF247A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58321AEC-35B2-474C-A12B-DDFD12A4A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53402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38064AB-BFE8-4DDF-9E59-62C6AB15B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9FEA3AE-0E44-4DB6-8E43-5D666AB7B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957C582E-E560-4D1A-B6DC-78B7AA82D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8153F699-B582-4F99-8FA5-FB6CA8073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CD29DDC9-B2DE-4C06-8108-40C907AD63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F195B499-C52F-4708-94FE-83D21519E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54067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83D12DE-1760-4905-9BD3-034E24DBE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6356DA-4671-48CD-9A92-58407781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C8540D70-8727-459B-96A0-8259E67D3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BB1894E3-C510-4D20-9B18-7AA18239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2F217558-0DF0-4243-8FD7-800EF247A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58321AEC-35B2-474C-A12B-DDFD12A4A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71056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DABB1FB-168E-4D9A-85E5-9449DCC6B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8D6198D-AF62-4E23-B19E-CE2958C1F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310C31E1-F119-468B-AFD5-E950ADE2B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540FEBD-ABFC-4440-B61C-0E2F3731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812C8DB5-8D78-4638-ACC7-6652AEB82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906861BC-FA54-497F-8DA1-8486E34AA7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6B17040-75CC-4877-86F4-A9BB6E9AF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11256DD-9A9D-407E-84E8-FE499812F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302BF31C-3515-46D7-9F44-232906558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2A9AB1E7-E1C8-4A5B-BB96-557812CBA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A37F5F68-889B-4964-BE5B-F7CC936D6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69A0452C-9241-4038-9E44-518E56BA5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B764FB9-A7EA-4370-9F50-DAB0D96CA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DD189F6-7404-45E3-8B0A-259DAABE0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5329AA15-B0AB-4FB3-853E-DFF662F1E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F1F1D758-BC40-48CD-87DB-4AF5EA500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0182" name="Rectangle 6">
            <a:extLst>
              <a:ext uri="{FF2B5EF4-FFF2-40B4-BE49-F238E27FC236}">
                <a16:creationId xmlns:a16="http://schemas.microsoft.com/office/drawing/2014/main" id="{446638FE-1675-495B-84AC-F2AF6D8C44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0183" name="Rectangle 7">
            <a:extLst>
              <a:ext uri="{FF2B5EF4-FFF2-40B4-BE49-F238E27FC236}">
                <a16:creationId xmlns:a16="http://schemas.microsoft.com/office/drawing/2014/main" id="{BB647581-C989-469A-A209-353A58C79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75EF4C8-A1E1-40FE-92E3-9035E41A9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B597360-4B64-45E3-B6D1-8322F0C85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6EFE727F-B449-404E-92DC-F76CADC54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9381B7A9-8FB7-47BB-8EB9-5BA08D448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F5D773B-88B1-4FEB-AAB7-F034B6303D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E163C295-8C9F-4C12-A953-8F8D7D332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5752124-4160-4CF0-98C6-6001FE98B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92940EF-BBB2-473C-8B65-BE70572F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139DBDF1-8EA6-4091-AA72-4755552DE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AF3B89A2-82D9-4547-A9D1-B425F3E73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FF0BC3C9-EDF9-47B5-A956-4908FF4F5B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CB5B7A5E-15EE-4DFB-BEEB-17EB0ECC1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2C1CF87-8ED6-4F17-A5D4-A21BCEB36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90E26DA-323A-4566-92E6-7FD36C69E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579A0F58-F124-4740-A579-A2083B85A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AF40EFE6-37DB-466B-BDCD-3D1E43F9C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F913142A-EBF0-4118-BB47-6BA3BE97D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8E3AA469-91FB-43B5-95D7-7ACCF05BD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2C1CF87-8ED6-4F17-A5D4-A21BCEB36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90E26DA-323A-4566-92E6-7FD36C69E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579A0F58-F124-4740-A579-A2083B85A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AF40EFE6-37DB-466B-BDCD-3D1E43F9C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F913142A-EBF0-4118-BB47-6BA3BE97D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8E3AA469-91FB-43B5-95D7-7ACCF05BD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16858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2C1CF87-8ED6-4F17-A5D4-A21BCEB36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90E26DA-323A-4566-92E6-7FD36C69E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579A0F58-F124-4740-A579-A2083B85A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AF40EFE6-37DB-466B-BDCD-3D1E43F9C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F913142A-EBF0-4118-BB47-6BA3BE97D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8E3AA469-91FB-43B5-95D7-7ACCF05BD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80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657378F3-327C-48C5-B87E-70D93A361BEE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9F37F515-3236-441A-8B82-39AFFBBD4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9B640E0A-DAFD-4A8B-B0D2-33683D975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129EF313-6965-4E46-B5AD-84FC75173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219DAF3E-F43D-42AB-B109-C002B2215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D355159E-9612-43D7-959C-EE26F7D826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A99AB941-FFD8-4ED9-9602-A585D4568C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07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0013" y="-40480"/>
            <a:ext cx="7313612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0013" y="1371600"/>
            <a:ext cx="7313612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C25D949-53D3-4F4A-B4A5-85FF75761B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D4A8C20-6847-42F9-9B0C-7F3820BF4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AA27AC42-C4C5-465B-9DF7-EFDE276E38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464C8E-C8E8-4CA9-B062-6B6BE1EFDFE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6996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6A56382-926D-497A-A631-4DBCA1AE0E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9570613-5C64-4CEE-9214-6B25F080B2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E9A4A64-6C78-4B84-847D-C2E0D98E97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F0FBD6-85AC-4823-AF6C-07399D07D8B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953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C1C77B9-0E03-4B32-83C8-755F2F7E3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C02500A-3561-4A45-A847-002CA4382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5ACBE91-8B23-44EF-8015-0888260CFA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3D729-E2F7-4BBA-B073-1B60D7E8B4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7454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CF99567-3C83-43AD-9FA3-E8BC496AA1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D853BB8-3117-4FE5-B53E-0A7B6B7E4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98931E88-7A62-4218-9EB0-5A32CF0D6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3273D-256F-41DE-8C2C-0D1329B1B3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5705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363537F-A79B-4FB6-B1FF-208052CDEE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8E16F3F-0303-45F6-85CC-E0980CAF1B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EF06E8A-253A-46D9-B410-8157AD95F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8E0352-2F81-4D20-B7C5-48F30733D21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415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5E7424BE-C5EC-4ACC-A522-DF162EE815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9B2274E7-9BE8-4C0C-A5C2-832765CB03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E2930D4-9B17-4F0D-9347-9E18BB13AA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4DC375-4974-4FE1-95E8-49598E95DB3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00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E29575-BD9A-465B-BCF2-FE80B00510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89BB920-24DA-46F2-BA71-E5845BC10D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F84AB94-A346-4C52-B4DD-B0CADD937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2000F9-0BED-4CBA-8AB7-485AD2A38CA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298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57669F4-1F49-49D6-84DF-2141931A9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F865C82-79A4-44EF-8E2C-3FFE07C5C5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90E4F3D-6ECB-480B-9EA2-D2542473BD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609E7E-F00F-4CC4-8D50-D10EB781AE8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064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4E7B6A-9013-4500-B397-F52DE1BF71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AE1646E-7853-4870-90AE-C8B32F7232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E1939CC-335C-45E9-A079-6CC91C9226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BE90F8-2821-4162-96E3-86D71007565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249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BD43006-DF1A-4C96-81E8-BD4156CE17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C545FF1-ED21-4998-8CEC-27FE94DBBF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238DB1E-61B7-4FD1-98B9-6932C144A4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55F6E5-38A2-40E8-A0F7-7722329C397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067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CB477EC-E6BF-4297-AC4E-E0EB63AC8A1D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DAB36C42-051C-4FD0-88F5-75464522F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A600FB81-C7AB-4E17-BE2F-11DC8BCDB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71E3B970-D7B2-42F8-9DF0-BFDCA8196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410A125E-62F0-4CD2-B951-1ECB9C009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E9C8BB30-CD00-40F9-8021-91BA425A6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7D178C40-8EBB-4291-B3C0-F9D4E04D82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6D92AA51-D324-48D6-8CB5-FE63AAC18F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FC4BCBF9-556A-486B-B194-E5FE0C838B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198250C8-EA53-4F51-9FC7-654A5DC44DE2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6" r:id="rId1"/>
    <p:sldLayoutId id="2147484397" r:id="rId2"/>
    <p:sldLayoutId id="2147484398" r:id="rId3"/>
    <p:sldLayoutId id="2147484399" r:id="rId4"/>
    <p:sldLayoutId id="2147484400" r:id="rId5"/>
    <p:sldLayoutId id="2147484401" r:id="rId6"/>
    <p:sldLayoutId id="2147484402" r:id="rId7"/>
    <p:sldLayoutId id="2147484403" r:id="rId8"/>
    <p:sldLayoutId id="2147484404" r:id="rId9"/>
    <p:sldLayoutId id="2147484405" r:id="rId10"/>
    <p:sldLayoutId id="214748440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FA79F930-A96D-4880-A6AD-C99EC2111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16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D070DFDE-B671-4207-916E-0C7245E85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여행비용법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  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 err="1">
                <a:latin typeface="나눔명조" pitchFamily="18" charset="-127"/>
                <a:ea typeface="나눔명조" pitchFamily="18" charset="-127"/>
              </a:rPr>
              <a:t>균형소팅모형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특성임금분석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4244D843-FF14-4022-AF3E-1C776C30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6947CBD4-FF3C-440F-98C1-4968CB7F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6DFC28-A77D-4506-81F3-8A364E138595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CBAA3E17-8941-4BC2-90AA-91A3D54B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3B6D7C78-9F65-4B31-A05B-7DCF917F7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F7D9E44-B3BD-49A4-9FF1-92878C87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16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환경개선의 편익분석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2</a:t>
            </a:r>
          </a:p>
          <a:p>
            <a:pPr algn="r" eaLnBrk="1" hangingPunct="1">
              <a:defRPr/>
            </a:pP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휴양수요분석법과 특성가격법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7597D-5B22-44DE-99E8-420D4DF0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휴양수요분석법과 특성가격법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A4DF7-3E46-4E9D-89C8-09ED51196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환경개선 편익분석을 위한 현시선호모형 가운데에서도 가장 사용 예가 많은 휴양수요분석법과 특성가격법에 대해 논의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휴양수요분석법은 자연생태계의 경제적 편익을 분석하기 위해 사용됨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국립공원이나 일반 자연휴양지를 사람들이 선택하여 방문하는 행위를 분석하여 휴양지 자체의 경제적 가치는 물론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수질이나 생태계의 다양성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경관 등과 같은 휴양지가 가지고 있는 여러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특성별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가치도 도출할 수 있음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휴양수요분석은 다시 여행비용법과 </a:t>
            </a:r>
            <a:r>
              <a:rPr lang="ko-KR" altLang="en-US" sz="1800">
                <a:latin typeface="나눔명조" panose="02020603020101020101" pitchFamily="18" charset="-127"/>
                <a:ea typeface="나눔명조" panose="02020603020101020101" pitchFamily="18" charset="-127"/>
              </a:rPr>
              <a:t>확률효용모형으로 나뉨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특성가격법은 내구재의 시장가격과 환경특성 간의 관계를 분석하여 </a:t>
            </a:r>
            <a:r>
              <a:rPr lang="ko-KR" altLang="en-US" sz="20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환경질</a:t>
            </a:r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개선의 편익을 분석</a:t>
            </a:r>
            <a:endParaRPr lang="en-US" altLang="ko-KR" sz="20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0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특성임금모형은 작업장에서의 위험도와 임금수준 간의 관계를 분석하여 생명의 가치 등을 추정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E21E-7181-4BF7-A104-FB91044B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D7A887-DFDF-4BF0-8231-9FC74989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158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62CB-2A45-4D36-AEF3-5DE831D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분석절차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여행수요를 분석하는 연구자는 각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개인은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자신이 처한 시간적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금전적 제약 하에서 만족도를 극대화하도록 휴양지 방문횟수와 기타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시장재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소비량수준을 결정한다고 가정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휴양지 방문 횟수는 방문을 위해 지불하는 비용과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소득 및 기타 사회경제적 변수에 의해 결정됨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개인별 여행비용 및 소득 등이 방문횟수에 미치는 영향을 통계적으로 분석하여 휴양지 수요곡선을 도출할 수 있고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이에 기초하여 휴양지의 경제적 가치를 평가할 수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수요함수 추정 시 사용되는 여행비용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=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입장료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+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교통비 등의 금전적 여행비용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+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여행시간의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기회비용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endParaRPr lang="ko-KR" altLang="en-US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741" r="-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01DE4-8A8F-4268-866D-D6CD02AE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8335D-2BF0-406D-B5B9-315031A2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589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62CB-2A45-4D36-AEF3-5DE831D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분석절차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876800"/>
              </a:xfrm>
            </p:spPr>
            <p:txBody>
              <a:bodyPr/>
              <a:lstStyle/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여행비용법 적용 사례 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권오상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(2004)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은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1,000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명을 대상으로 조사하여 이들이 최근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년간 지리산을 방문한 횟수와 여행비용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소득 등의 자료를 구하여 여행수요함수를 다음과 같이 추정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</m:oMath>
                </a14:m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-3.79-0.000023×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지리산여행비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+0.000029×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가장 가까운 다른 국립공원으로의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여행비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+0.007×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소득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+0.034×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나이</a:t>
                </a:r>
              </a:p>
              <a:p>
                <a:pPr lvl="1"/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인당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회 방문의 편익 혹은 소비자잉여는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약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23,300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원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ko-KR" altLang="en-US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876800"/>
              </a:xfrm>
              <a:blipFill>
                <a:blip r:embed="rId2"/>
                <a:stretch>
                  <a:fillRect l="-7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01DE4-8A8F-4268-866D-D6CD02AE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8335D-2BF0-406D-B5B9-315031A2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A59968-FD5F-4EC2-950F-EC9BF660E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32" y="1238907"/>
            <a:ext cx="7101750" cy="224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32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490" name="Rectangle 9">
                <a:extLst>
                  <a:ext uri="{FF2B5EF4-FFF2-40B4-BE49-F238E27FC236}">
                    <a16:creationId xmlns:a16="http://schemas.microsoft.com/office/drawing/2014/main" id="{10AE3E60-9417-4131-803D-28AD3C19736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558925"/>
                <a:ext cx="7737475" cy="4114800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특정 기간 어떤 개인의 일반 재화 및 서비스에 대한 지출을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z,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국립공원 방문횟수를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r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이라 둠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효용함수는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HPF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적용할 경우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u(z, g(r, q))(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(∆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/∆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𝑟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𝑞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&gt;0</m:t>
                    </m:r>
                  </m:oMath>
                </a14:m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r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은 필수투입물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적용하지 않을 경우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u(z, r, q)</a:t>
                </a: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국립공원의 특성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개인의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비임금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소득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y,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시간당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임금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단위거리당 금전적 여행비용 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24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거주지와의 거리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개인이 이용 가능한 총 시간은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이며 국립공원 왕복에 소요되는 시간을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여행지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체류시간을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노동시간을 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</a:t>
                </a:r>
                <a:r>
                  <a:rPr lang="en-US" altLang="ko-KR" sz="24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라 가정함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개인은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효용함수를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 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y+p</a:t>
                </a:r>
                <a:r>
                  <a:rPr lang="en-US" altLang="ko-KR" sz="24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</a:t>
                </a:r>
                <a:r>
                  <a:rPr lang="en-US" altLang="ko-KR" sz="24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= z + (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24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d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+f)r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과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 = 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t</a:t>
                </a:r>
                <a:r>
                  <a:rPr lang="en-US" altLang="ko-KR" sz="24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w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 (t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+t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2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)r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하에서 극대화함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63490" name="Rectangle 9">
                <a:extLst>
                  <a:ext uri="{FF2B5EF4-FFF2-40B4-BE49-F238E27FC236}">
                    <a16:creationId xmlns:a16="http://schemas.microsoft.com/office/drawing/2014/main" id="{10AE3E60-9417-4131-803D-28AD3C197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558925"/>
                <a:ext cx="7737475" cy="4114800"/>
              </a:xfrm>
              <a:blipFill>
                <a:blip r:embed="rId3"/>
                <a:stretch>
                  <a:fillRect l="-1024" t="-1333" r="-787" b="-16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35" name="바닥글 개체 틀 4">
            <a:extLst>
              <a:ext uri="{FF2B5EF4-FFF2-40B4-BE49-F238E27FC236}">
                <a16:creationId xmlns:a16="http://schemas.microsoft.com/office/drawing/2014/main" id="{A9F3729B-E8AF-42B8-8582-A08CD46D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69636" name="슬라이드 번호 개체 틀 5">
            <a:extLst>
              <a:ext uri="{FF2B5EF4-FFF2-40B4-BE49-F238E27FC236}">
                <a16:creationId xmlns:a16="http://schemas.microsoft.com/office/drawing/2014/main" id="{6B79E56C-AFB1-4D57-9A35-AED2083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C52977-4186-48E5-BEDE-69A436A65D6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69637" name="Rectangle 2">
            <a:extLst>
              <a:ext uri="{FF2B5EF4-FFF2-40B4-BE49-F238E27FC236}">
                <a16:creationId xmlns:a16="http://schemas.microsoft.com/office/drawing/2014/main" id="{18C09903-3881-4BBB-8947-B8C3A8416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69638" name="Rectangle 3">
            <a:extLst>
              <a:ext uri="{FF2B5EF4-FFF2-40B4-BE49-F238E27FC236}">
                <a16:creationId xmlns:a16="http://schemas.microsoft.com/office/drawing/2014/main" id="{7A178047-E327-4F42-BFF3-8A7461A47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5F3E3B7-CDDB-4CE3-A76E-35EBCE7906C6}"/>
              </a:ext>
            </a:extLst>
          </p:cNvPr>
          <p:cNvSpPr txBox="1">
            <a:spLocks/>
          </p:cNvSpPr>
          <p:nvPr/>
        </p:nvSpPr>
        <p:spPr bwMode="auto">
          <a:xfrm>
            <a:off x="915194" y="271145"/>
            <a:ext cx="7313612" cy="11430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kern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여행비용법의 이론적 기초</a:t>
            </a:r>
            <a:endParaRPr lang="ko-KR" altLang="en-US" kern="0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9">
            <a:extLst>
              <a:ext uri="{FF2B5EF4-FFF2-40B4-BE49-F238E27FC236}">
                <a16:creationId xmlns:a16="http://schemas.microsoft.com/office/drawing/2014/main" id="{C9AC44A7-FED3-4E94-A2E4-664E9E8A22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585913"/>
            <a:ext cx="7737475" cy="41148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두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제약식의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결합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 = y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w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T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= z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m = y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w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T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총 소득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= f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d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d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+ p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w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(t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1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+t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: 1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회 방문의 총비용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이와 같은 효용극대화 문제를 푸는 개인의 여행수요함수는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 = r(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m, q)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로 표현됨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개인별 여행수요는 여행비용과 소득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환경질의 함수임 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통상적으로 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t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2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모두에게 동일하다고 가정하여 여행비용계산에서 포함하지 않음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특정 휴양지의 특성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역시 모두에게 동일하므로  여행수요함수는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 = r(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p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r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m)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과 같이 추정함</a:t>
            </a:r>
            <a:endParaRPr lang="en-US" altLang="ko-KR" sz="22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71683" name="바닥글 개체 틀 4">
            <a:extLst>
              <a:ext uri="{FF2B5EF4-FFF2-40B4-BE49-F238E27FC236}">
                <a16:creationId xmlns:a16="http://schemas.microsoft.com/office/drawing/2014/main" id="{5F8E173D-07BD-4341-863F-7E9B0373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71684" name="슬라이드 번호 개체 틀 5">
            <a:extLst>
              <a:ext uri="{FF2B5EF4-FFF2-40B4-BE49-F238E27FC236}">
                <a16:creationId xmlns:a16="http://schemas.microsoft.com/office/drawing/2014/main" id="{D7943AD1-D577-4B8D-B022-BF34385C0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003039-F626-4757-8F50-D313217DFEE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1685" name="Rectangle 2">
            <a:extLst>
              <a:ext uri="{FF2B5EF4-FFF2-40B4-BE49-F238E27FC236}">
                <a16:creationId xmlns:a16="http://schemas.microsoft.com/office/drawing/2014/main" id="{C9D0D963-01B6-4011-9BBE-A152F4A8E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BFD4600E-E335-4AD2-BE73-A4BD70B6C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B4E5B15-0500-49EA-8D00-FAB1A35CD0F5}"/>
              </a:ext>
            </a:extLst>
          </p:cNvPr>
          <p:cNvSpPr txBox="1">
            <a:spLocks/>
          </p:cNvSpPr>
          <p:nvPr/>
        </p:nvSpPr>
        <p:spPr bwMode="auto">
          <a:xfrm>
            <a:off x="915194" y="152400"/>
            <a:ext cx="7313612" cy="114300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r>
              <a:rPr lang="ko-KR" altLang="en-US" kern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여행비용법의 이론적 기초</a:t>
            </a:r>
            <a:endParaRPr lang="ko-KR" altLang="en-US" kern="0" dirty="0">
              <a:solidFill>
                <a:srgbClr val="7030A0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62CB-2A45-4D36-AEF3-5DE831D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분석절차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여행횟수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(=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</m:oMath>
                </a14:m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종속변수로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여행비용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과 소득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(=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</m:oMath>
                </a14:m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),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방문지의 생태적 특성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(=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</m:oMath>
                </a14:m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등을 설명변수로 하는 여행수요함수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추정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추정된 여행수요함수로부터 각 개인이 얻는 휴양지 방문의 편익을 소비자잉여 등을 통해 도출할 수 있고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이를 전체 인구구성에 반영하여 사회 전체의 편익을 도출할 수도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지리산과 같은 자연생태계의 여행수요함수를 추정 후 편익 도출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자연휴양지로서 지리산이 제공하는 전체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휴양편익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면적이나 생물다양성과 같은 지리산의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환경특성별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가치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630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01DE4-8A8F-4268-866D-D6CD02AE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8335D-2BF0-406D-B5B9-315031A2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5327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62CB-2A45-4D36-AEF3-5DE831D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분석절차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01DE4-8A8F-4268-866D-D6CD02AE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8335D-2BF0-406D-B5B9-315031A2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8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18" y="1464658"/>
            <a:ext cx="4736985" cy="396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8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62CB-2A45-4D36-AEF3-5DE831DB0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분석절차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69726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지리산과 같은 특정 자연휴양지가 제공하는 전체 휴양가치를 평가할 경우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만족도를 최소비용으로 얻게 하는 보상수요를 나타내는 수요곡선은 여행이 정상재라면 통상수요곡선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보다 더 가파르게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𝑟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로 나타남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자료를 이용해 추정하는 것은</a:t>
                </a:r>
                <a:r>
                  <a:rPr lang="en-US" altLang="ko-KR" sz="2000" b="0" dirty="0"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𝑟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인데 편익은 보상변화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CV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나 동등변화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EV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처럼 직접 추정되지 않는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h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𝑟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𝑞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통해 정의됨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만약 여행비용이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로 소폭 변했다면 통상수요를 보상수요 대신 사용하여 가격변화의 효과를 분석할 때 면적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a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해당되는 만큼의 오차가 발생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국립공원이나 또는 주거지 인근 산이나 하천의 경우 여행수요가 소득에 대해 탄력적이라 보기는 어려우므로 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a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크지 않을 것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697260"/>
              </a:xfrm>
              <a:blipFill>
                <a:blip r:embed="rId2"/>
                <a:stretch>
                  <a:fillRect l="-1168" t="-1038" r="-7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01DE4-8A8F-4268-866D-D6CD02AE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8335D-2BF0-406D-B5B9-315031A2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59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62CB-2A45-4D36-AEF3-5DE831DB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3" y="-227013"/>
            <a:ext cx="7313612" cy="1143000"/>
          </a:xfrm>
        </p:spPr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분석절차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114800"/>
              </a:xfrm>
            </p:spPr>
            <p:txBody>
              <a:bodyPr/>
              <a:lstStyle/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그러나 소폭의 여행비용 상승효과가 아니라 국립공원이나 하천의 전체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휴양가치를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알고자 한다면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?</a:t>
                </a: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경우 가치는 수요곡선과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가격선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사이의 면적 전체가 되는데 여행비용이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𝑟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이라면 통상수요함수를 통해 계측되는 휴양지 편익과 보상수요함수를 통해 정의되는 휴양지 편익이 면적 </a:t>
                </a:r>
                <a:r>
                  <a:rPr lang="en-US" altLang="ko-KR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a+b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만큼 격차를 가지고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이는 상당히 큰 차이일 수도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통상수요를 추정하여 편익을 계산하는 것이 이와 같이 큰 오차를 가질 가능성이 우려된다면 앞서 소개한 여러 방법을 이용하여 추정된 통상수요로부터 보다 정확한 보상변화나 동등변화를 도출하고자 시도해야 함</a:t>
                </a:r>
              </a:p>
              <a:p>
                <a:pPr lvl="1"/>
                <a:endParaRPr lang="ko-KR" altLang="en-US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endParaRPr lang="ko-KR" altLang="en-US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0E7AAF-4B31-4BB8-92D5-FCEC38C78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114800"/>
              </a:xfrm>
              <a:blipFill>
                <a:blip r:embed="rId2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01DE4-8A8F-4268-866D-D6CD02AE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D8335D-2BF0-406D-B5B9-315031A2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244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9">
            <a:extLst>
              <a:ext uri="{FF2B5EF4-FFF2-40B4-BE49-F238E27FC236}">
                <a16:creationId xmlns:a16="http://schemas.microsoft.com/office/drawing/2014/main" id="{5DEBB472-0D07-4AEB-85AB-99A38789E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192213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여행비용법에서 여행비용은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[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입장료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+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금전적 여행비용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+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여행시간의 기회비용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]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으로 구성됨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위 계산에서 시간의 기회비용을 임금과 같거나 임금수준의 특정비율이라 보는 관행이 문제가 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위 관행은 개인이 노동시간을 자유로이 선택할 수 있다는 것을 가정하는데 이는 비현실적임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임금소득을 여행시간의 기회비용으로 보는 것은 출퇴근 시간의 기회비용에 대한 연구의 영향을 받은 것으로서 여행시간이 주는 즐거움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혹은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불편함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 반영하지 못함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개인별로 여행지 체류시간이 상이할 경우 체류시간의 기회비용을 산정할 방법이 필요함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9875" name="바닥글 개체 틀 4">
            <a:extLst>
              <a:ext uri="{FF2B5EF4-FFF2-40B4-BE49-F238E27FC236}">
                <a16:creationId xmlns:a16="http://schemas.microsoft.com/office/drawing/2014/main" id="{0356AE07-120C-49DD-BBE5-0D37458E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79876" name="슬라이드 번호 개체 틀 5">
            <a:extLst>
              <a:ext uri="{FF2B5EF4-FFF2-40B4-BE49-F238E27FC236}">
                <a16:creationId xmlns:a16="http://schemas.microsoft.com/office/drawing/2014/main" id="{396FD948-1B46-4D6F-A0CA-FF55B0A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36FF46-ED51-4310-899E-CAF8EF73BB7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9877" name="Rectangle 2">
            <a:extLst>
              <a:ext uri="{FF2B5EF4-FFF2-40B4-BE49-F238E27FC236}">
                <a16:creationId xmlns:a16="http://schemas.microsoft.com/office/drawing/2014/main" id="{9F03EB08-89EF-4013-A4BA-998B7F3B0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8" name="Rectangle 3">
            <a:extLst>
              <a:ext uri="{FF2B5EF4-FFF2-40B4-BE49-F238E27FC236}">
                <a16:creationId xmlns:a16="http://schemas.microsoft.com/office/drawing/2014/main" id="{E0C738BA-F3F3-4EC4-A02B-1250916F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9" name="Rectangle 6">
            <a:extLst>
              <a:ext uri="{FF2B5EF4-FFF2-40B4-BE49-F238E27FC236}">
                <a16:creationId xmlns:a16="http://schemas.microsoft.com/office/drawing/2014/main" id="{58942739-801C-458F-97BA-6034DFCAE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7150" y="-1682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시간비용의 처리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9">
            <a:extLst>
              <a:ext uri="{FF2B5EF4-FFF2-40B4-BE49-F238E27FC236}">
                <a16:creationId xmlns:a16="http://schemas.microsoft.com/office/drawing/2014/main" id="{5DEBB472-0D07-4AEB-85AB-99A38789E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192213"/>
            <a:ext cx="7737475" cy="4114800"/>
          </a:xfrm>
        </p:spPr>
        <p:txBody>
          <a:bodyPr/>
          <a:lstStyle/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여러 여행지를 동시에 방문하는 경우가 많으며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그럼에도 불구하고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방문지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가운데 한 군데만의 수요를 분석하면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여행비용의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과대평가 문제 발생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기본분석모형은 입장료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시간비용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금전비용은 여행비용이라는 점에서 성격상 차이가 없고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따라서 이들을 모두 더해줄 수 있다는 가정을 하는데 이 가정이 문제가 될 수 있음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실제 조사에서는 지리산으로 가기 위해 수십만 원의 교통비와 숙박비는 흔쾌히 지출하지만 몇 천원 정도의 입장료나 문화재 관람료 인상에도 매우 민감한 반응을 보임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9875" name="바닥글 개체 틀 4">
            <a:extLst>
              <a:ext uri="{FF2B5EF4-FFF2-40B4-BE49-F238E27FC236}">
                <a16:creationId xmlns:a16="http://schemas.microsoft.com/office/drawing/2014/main" id="{0356AE07-120C-49DD-BBE5-0D37458E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79876" name="슬라이드 번호 개체 틀 5">
            <a:extLst>
              <a:ext uri="{FF2B5EF4-FFF2-40B4-BE49-F238E27FC236}">
                <a16:creationId xmlns:a16="http://schemas.microsoft.com/office/drawing/2014/main" id="{396FD948-1B46-4D6F-A0CA-FF55B0AB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36FF46-ED51-4310-899E-CAF8EF73BB7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79877" name="Rectangle 2">
            <a:extLst>
              <a:ext uri="{FF2B5EF4-FFF2-40B4-BE49-F238E27FC236}">
                <a16:creationId xmlns:a16="http://schemas.microsoft.com/office/drawing/2014/main" id="{9F03EB08-89EF-4013-A4BA-998B7F3B0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8" name="Rectangle 3">
            <a:extLst>
              <a:ext uri="{FF2B5EF4-FFF2-40B4-BE49-F238E27FC236}">
                <a16:creationId xmlns:a16="http://schemas.microsoft.com/office/drawing/2014/main" id="{E0C738BA-F3F3-4EC4-A02B-1250916F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79879" name="Rectangle 6">
            <a:extLst>
              <a:ext uri="{FF2B5EF4-FFF2-40B4-BE49-F238E27FC236}">
                <a16:creationId xmlns:a16="http://schemas.microsoft.com/office/drawing/2014/main" id="{58942739-801C-458F-97BA-6034DFCAE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7150" y="-1682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시간비용의 처리</a:t>
            </a:r>
            <a:endParaRPr lang="ko-KR" altLang="en-US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722596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6">
            <a:extLst>
              <a:ext uri="{FF2B5EF4-FFF2-40B4-BE49-F238E27FC236}">
                <a16:creationId xmlns:a16="http://schemas.microsoft.com/office/drawing/2014/main" id="{88591DA6-22F2-461E-9D16-73C77ED80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방문횟수자료의 특이성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1923" name="Rectangle 7">
            <a:extLst>
              <a:ext uri="{FF2B5EF4-FFF2-40B4-BE49-F238E27FC236}">
                <a16:creationId xmlns:a16="http://schemas.microsoft.com/office/drawing/2014/main" id="{BF1FC637-426B-47A5-8576-F28F41C015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여행횟수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통상적인 연속변수와는 매우 상이한 분포를 보이기 때문에 신중하게 분석되어야 함</a:t>
            </a: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방문횟수는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작은 값을 가질 수 없음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방문횟수는 대부분 작은 수의 정수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값만을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가짐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대부분의 방문횟수는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만약 휴양지에서 표본을 추출할 경우 모집단에 대해 편향된 추정이 산출됨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이러한 문제를 해결하기 위해서는 높은 수준의 계량경제학적 훈련과 연구방법에 대한 고려가 필요함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81924" name="바닥글 개체 틀 4">
            <a:extLst>
              <a:ext uri="{FF2B5EF4-FFF2-40B4-BE49-F238E27FC236}">
                <a16:creationId xmlns:a16="http://schemas.microsoft.com/office/drawing/2014/main" id="{7071AC27-8224-42DF-B55B-290CAA56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81925" name="슬라이드 번호 개체 틀 5">
            <a:extLst>
              <a:ext uri="{FF2B5EF4-FFF2-40B4-BE49-F238E27FC236}">
                <a16:creationId xmlns:a16="http://schemas.microsoft.com/office/drawing/2014/main" id="{5CE9ADFF-ED70-435E-AAC8-AF97563A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A7D271-02F8-4BE6-A35D-344EBC42C46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1926" name="Rectangle 2">
            <a:extLst>
              <a:ext uri="{FF2B5EF4-FFF2-40B4-BE49-F238E27FC236}">
                <a16:creationId xmlns:a16="http://schemas.microsoft.com/office/drawing/2014/main" id="{88BEB5B3-F722-40DF-927F-369AC40E2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1927" name="Rectangle 3">
            <a:extLst>
              <a:ext uri="{FF2B5EF4-FFF2-40B4-BE49-F238E27FC236}">
                <a16:creationId xmlns:a16="http://schemas.microsoft.com/office/drawing/2014/main" id="{8FCDDBF2-A0A6-4A0B-9C27-52CD61E48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6">
            <a:extLst>
              <a:ext uri="{FF2B5EF4-FFF2-40B4-BE49-F238E27FC236}">
                <a16:creationId xmlns:a16="http://schemas.microsoft.com/office/drawing/2014/main" id="{CCFC95B1-6D73-4E1F-BB57-A0B90222F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38200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여행비용법 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자연생태계 특성변화의 가치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3971" name="Rectangle 7">
            <a:extLst>
              <a:ext uri="{FF2B5EF4-FFF2-40B4-BE49-F238E27FC236}">
                <a16:creationId xmlns:a16="http://schemas.microsoft.com/office/drawing/2014/main" id="{DD84BBB7-84EC-4C7B-B1D0-AA73375F46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여행비용법을 통해 휴양지의 가치를 평가할 수 있음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그러나 생태계의 특성 변화에 따른 편익의 변화를 추정하는 것이 정책적으로 보다 유용함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휴양지 환경질의 한계적인 변화가 야기하는 편익의 변화는 약보완성 개념을 통해 계산될 수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다음 그림에서 환경질의 악화로 인한 수요곡선의 이동은 면적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abcd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만큼의 편익을 감소시킴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그러나 통상적인 여행비용법은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환경질을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수요함수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추정에 반영하지 않으며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환경질의 변화와 관련된 분석에서는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확률효용모형이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훨씬 더 유용함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83972" name="바닥글 개체 틀 4">
            <a:extLst>
              <a:ext uri="{FF2B5EF4-FFF2-40B4-BE49-F238E27FC236}">
                <a16:creationId xmlns:a16="http://schemas.microsoft.com/office/drawing/2014/main" id="{CF53A549-023A-473E-9BC4-F3FCA2AB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83973" name="슬라이드 번호 개체 틀 5">
            <a:extLst>
              <a:ext uri="{FF2B5EF4-FFF2-40B4-BE49-F238E27FC236}">
                <a16:creationId xmlns:a16="http://schemas.microsoft.com/office/drawing/2014/main" id="{14A960B7-67C1-4AAA-A369-EEED9F19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7A38F2-CA95-48A2-90A7-F78F33E9CEE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3974" name="Rectangle 2">
            <a:extLst>
              <a:ext uri="{FF2B5EF4-FFF2-40B4-BE49-F238E27FC236}">
                <a16:creationId xmlns:a16="http://schemas.microsoft.com/office/drawing/2014/main" id="{D01B9755-D46B-4052-8FAC-CE902169E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3975" name="Rectangle 3">
            <a:extLst>
              <a:ext uri="{FF2B5EF4-FFF2-40B4-BE49-F238E27FC236}">
                <a16:creationId xmlns:a16="http://schemas.microsoft.com/office/drawing/2014/main" id="{D2F7C05C-A9D6-4349-B45E-92074E4B1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바닥글 개체 틀 4">
            <a:extLst>
              <a:ext uri="{FF2B5EF4-FFF2-40B4-BE49-F238E27FC236}">
                <a16:creationId xmlns:a16="http://schemas.microsoft.com/office/drawing/2014/main" id="{1FCCD7B6-6192-493C-A489-A64F4DCD0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86020" name="슬라이드 번호 개체 틀 5">
            <a:extLst>
              <a:ext uri="{FF2B5EF4-FFF2-40B4-BE49-F238E27FC236}">
                <a16:creationId xmlns:a16="http://schemas.microsoft.com/office/drawing/2014/main" id="{59054E48-4B0B-4BB0-914B-D7194DFC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923E08-CEE4-4CA0-B1C8-E5FA653F310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6021" name="Rectangle 2">
            <a:extLst>
              <a:ext uri="{FF2B5EF4-FFF2-40B4-BE49-F238E27FC236}">
                <a16:creationId xmlns:a16="http://schemas.microsoft.com/office/drawing/2014/main" id="{8C5F025D-31A0-479B-B9AB-276384AE3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6022" name="Rectangle 3">
            <a:extLst>
              <a:ext uri="{FF2B5EF4-FFF2-40B4-BE49-F238E27FC236}">
                <a16:creationId xmlns:a16="http://schemas.microsoft.com/office/drawing/2014/main" id="{D63CD827-A615-4B66-94BE-BE7802A1B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1F4853D-66CF-4F83-98E6-038EF6275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kern="0">
                <a:latin typeface="나눔명조" pitchFamily="18" charset="-127"/>
                <a:ea typeface="나눔명조" pitchFamily="18" charset="-127"/>
              </a:rPr>
              <a:t>여행비용법 </a:t>
            </a:r>
            <a:r>
              <a:rPr lang="en-US" altLang="ko-KR" kern="0">
                <a:latin typeface="나눔명조" panose="02020603020101020101" pitchFamily="18" charset="-127"/>
                <a:ea typeface="나눔명조" panose="02020603020101020101" pitchFamily="18" charset="-127"/>
              </a:rPr>
              <a:t>: </a:t>
            </a:r>
            <a:r>
              <a:rPr lang="ko-KR" altLang="en-US" kern="0">
                <a:latin typeface="나눔명조" pitchFamily="18" charset="-127"/>
                <a:ea typeface="나눔명조" pitchFamily="18" charset="-127"/>
              </a:rPr>
              <a:t>자연생태계 특성변화의 가치</a:t>
            </a:r>
            <a:endParaRPr lang="en-US" altLang="ko-KR" kern="0" dirty="0">
              <a:latin typeface="나눔명조" pitchFamily="18" charset="-127"/>
              <a:ea typeface="나눔명조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3" y="1477574"/>
            <a:ext cx="5902536" cy="434696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>
            <a:extLst>
              <a:ext uri="{FF2B5EF4-FFF2-40B4-BE49-F238E27FC236}">
                <a16:creationId xmlns:a16="http://schemas.microsoft.com/office/drawing/2014/main" id="{38A416BC-44D4-45C2-8C60-EC313CC5B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8067" name="Rectangle 7">
            <a:extLst>
              <a:ext uri="{FF2B5EF4-FFF2-40B4-BE49-F238E27FC236}">
                <a16:creationId xmlns:a16="http://schemas.microsoft.com/office/drawing/2014/main" id="{2F8E92F6-172C-4E2D-8108-A1C3D2837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확률효용모형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(random utility model, RUM)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혹은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이산선택모형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(discrete choice model)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선택 가능한 여러 휴양지 중 하나를 선택하는 행위를 분석함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방법은 경합관계에 있는 다양한 휴양지 사이의 선택문제를 분석하는데 유용하며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휴양지 전체의 가치는 물론 개별 특성변화에 따른 편익도 분석할 수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개의 휴양지 중 휴양지 </a:t>
            </a:r>
            <a:r>
              <a:rPr lang="en-US" altLang="ko-KR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제공하는 효용은 개인의 특성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(s),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여행비용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(p),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휴양지의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(q)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과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같은 관측되는 변수들이 설명하는 부분과 연구자가 관측할 수 없는 변수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(ε), 2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부분으로 구성됨</a:t>
            </a:r>
            <a:endParaRPr lang="ko-KR" altLang="en-US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88068" name="바닥글 개체 틀 4">
            <a:extLst>
              <a:ext uri="{FF2B5EF4-FFF2-40B4-BE49-F238E27FC236}">
                <a16:creationId xmlns:a16="http://schemas.microsoft.com/office/drawing/2014/main" id="{7BC6758C-A94B-41DA-8204-4E38DA20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88069" name="슬라이드 번호 개체 틀 5">
            <a:extLst>
              <a:ext uri="{FF2B5EF4-FFF2-40B4-BE49-F238E27FC236}">
                <a16:creationId xmlns:a16="http://schemas.microsoft.com/office/drawing/2014/main" id="{278590A9-B35F-412E-A695-8B1AB1AD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AEBA14-3F55-4424-A309-F2341D636ACF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A870A2C1-B94F-40CA-9812-6914B452E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50E072B9-29E7-4FAD-8B9A-C64BC662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6">
            <a:extLst>
              <a:ext uri="{FF2B5EF4-FFF2-40B4-BE49-F238E27FC236}">
                <a16:creationId xmlns:a16="http://schemas.microsoft.com/office/drawing/2014/main" id="{6C83B712-ED85-49AE-80E3-7929E4EE8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CBBF808E-67D4-4F10-9AEF-254814D48D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선형의 효용함수를 가정할 경우 다음의 확률효용함수를 설정할 수 있음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= v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ε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= α(y - p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 + βq</a:t>
            </a:r>
            <a:r>
              <a:rPr lang="en-US" altLang="ko-KR" sz="2400" baseline="-25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γ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+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ε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endParaRPr lang="en-US" altLang="ko-KR" sz="2400" baseline="-25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   (y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개인의 소득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ε</a:t>
            </a:r>
            <a:r>
              <a:rPr lang="en-US" altLang="ko-KR" sz="20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확률변수이므로 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0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도 확률변수임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)</a:t>
            </a:r>
          </a:p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국립공원을 선택하는 행위를 분석할 때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N = 23 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이며 개인의 선택에 따라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q, p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달라짐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특정 개인에게 고유하나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s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효용에 미치는 영향인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γ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는 공원 별로 다를 수 있게 설정하고 추정</a:t>
            </a:r>
            <a:endParaRPr lang="en-US" altLang="ko-KR" sz="24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 eaLnBrk="1" hangingPunct="1"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예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: 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젊은 층일수록 산악형보다는 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해양형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선호 등</a:t>
            </a:r>
            <a:endParaRPr lang="en-US" altLang="ko-KR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다른 어떤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j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보다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u</a:t>
            </a:r>
            <a:r>
              <a:rPr lang="en-US" altLang="ko-KR" sz="2400" baseline="-25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가 클 때 </a:t>
            </a:r>
            <a:r>
              <a:rPr lang="en-US" altLang="ko-KR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i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를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선택하며 그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선택확률은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확률변수 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ε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</a:t>
            </a:r>
            <a:r>
              <a:rPr lang="en-US" altLang="ko-KR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ko-KR" altLang="en-US" sz="24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분포가정으로부터</a:t>
            </a:r>
            <a:r>
              <a:rPr lang="ko-KR" altLang="en-US" sz="24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도출</a:t>
            </a:r>
            <a:endParaRPr lang="ko-KR" altLang="en-US" sz="20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</p:txBody>
      </p:sp>
      <p:sp>
        <p:nvSpPr>
          <p:cNvPr id="90116" name="바닥글 개체 틀 4">
            <a:extLst>
              <a:ext uri="{FF2B5EF4-FFF2-40B4-BE49-F238E27FC236}">
                <a16:creationId xmlns:a16="http://schemas.microsoft.com/office/drawing/2014/main" id="{A1D0B8D0-F749-4621-A228-892A5E23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90117" name="슬라이드 번호 개체 틀 5">
            <a:extLst>
              <a:ext uri="{FF2B5EF4-FFF2-40B4-BE49-F238E27FC236}">
                <a16:creationId xmlns:a16="http://schemas.microsoft.com/office/drawing/2014/main" id="{13B7D7CE-E60E-44E9-89D9-67C9F33AE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7BF835-EA7B-4E20-82D2-93AAD73F97C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3F6947DE-21DF-4685-B0C4-E973F1D0E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8FB61120-58A6-4139-96EC-00F3D28D1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6">
            <a:extLst>
              <a:ext uri="{FF2B5EF4-FFF2-40B4-BE49-F238E27FC236}">
                <a16:creationId xmlns:a16="http://schemas.microsoft.com/office/drawing/2014/main" id="{659FA53F-1DA6-46B0-82D7-C0DF7EA47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7">
                <a:extLst>
                  <a:ext uri="{FF2B5EF4-FFF2-40B4-BE49-F238E27FC236}">
                    <a16:creationId xmlns:a16="http://schemas.microsoft.com/office/drawing/2014/main" id="{75A99590-7310-4D93-93AC-F6610C33AC7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9656" y="1323870"/>
                <a:ext cx="7313613" cy="4114800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조건부로짓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(conditional </a:t>
                </a:r>
                <a:r>
                  <a:rPr lang="en-US" altLang="ko-KR" sz="2400" b="1" dirty="0" err="1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logit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기법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어떤 개인이 </a:t>
                </a:r>
                <a:r>
                  <a:rPr lang="en-US" altLang="ko-KR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번째 휴양지를 선택할 확률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0" indent="0" algn="ctr" eaLnBrk="1" hangingPunct="1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en-U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unc>
                              <m:funcPr>
                                <m:ctrlP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ko-KR" altLang="en-U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)+</m:t>
                            </m:r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  <m:sSub>
                              <m:sSubPr>
                                <m:ctrlP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 </a:t>
                </a: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𝜖</m:t>
                    </m:r>
                    <m:r>
                      <a:rPr lang="ko-KR" altLang="en-US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이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형태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극한치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분포 따를 경우 가정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사람들의 실제선택을 조사하고 이를 통해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α, β,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γ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추정하여 효용함수를 복원함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효용함수가 파악되면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변화에 따른 편익의 변화를 파악할 수 있게 됨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위 식의 추정에는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최우추정법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(MLE)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사용되는데 이는 실제의 선택결과와 가장 부합하는 모수를 찾아내는 방법임</a:t>
                </a:r>
                <a:endParaRPr lang="ko-KR" altLang="en-US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3731" name="Rectangle 7">
                <a:extLst>
                  <a:ext uri="{FF2B5EF4-FFF2-40B4-BE49-F238E27FC236}">
                    <a16:creationId xmlns:a16="http://schemas.microsoft.com/office/drawing/2014/main" id="{75A99590-7310-4D93-93AC-F6610C33A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9656" y="1323870"/>
                <a:ext cx="7313613" cy="4114800"/>
              </a:xfrm>
              <a:blipFill>
                <a:blip r:embed="rId3"/>
                <a:stretch>
                  <a:fillRect l="-1168" t="-1333" b="-20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64" name="바닥글 개체 틀 4">
            <a:extLst>
              <a:ext uri="{FF2B5EF4-FFF2-40B4-BE49-F238E27FC236}">
                <a16:creationId xmlns:a16="http://schemas.microsoft.com/office/drawing/2014/main" id="{1BA58E27-DBA3-4904-B186-92826D41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92165" name="슬라이드 번호 개체 틀 5">
            <a:extLst>
              <a:ext uri="{FF2B5EF4-FFF2-40B4-BE49-F238E27FC236}">
                <a16:creationId xmlns:a16="http://schemas.microsoft.com/office/drawing/2014/main" id="{433AED7D-9A32-4B41-B8C6-AF388E7B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6BA720-E2D7-42F0-BB93-1EC43CF2CD6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2166" name="Rectangle 2">
            <a:extLst>
              <a:ext uri="{FF2B5EF4-FFF2-40B4-BE49-F238E27FC236}">
                <a16:creationId xmlns:a16="http://schemas.microsoft.com/office/drawing/2014/main" id="{D499940C-434B-4BDE-B040-36C4CA1E4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2167" name="Rectangle 3">
            <a:extLst>
              <a:ext uri="{FF2B5EF4-FFF2-40B4-BE49-F238E27FC236}">
                <a16:creationId xmlns:a16="http://schemas.microsoft.com/office/drawing/2014/main" id="{B3F6F2C8-ED22-4BC9-8992-FF793680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28E2D-589C-41F7-9F94-6549CF0B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D74DBD-267E-44D7-894C-1F8F8B3DB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8282" y="1191208"/>
                <a:ext cx="7313612" cy="5212080"/>
              </a:xfrm>
            </p:spPr>
            <p:txBody>
              <a:bodyPr/>
              <a:lstStyle/>
              <a:p>
                <a:r>
                  <a:rPr lang="ko-KR" altLang="en-US" sz="2000" b="1" dirty="0">
                    <a:solidFill>
                      <a:srgbClr val="0000FF"/>
                    </a:solidFill>
                  </a:rPr>
                  <a:t>최우추정법</a:t>
                </a:r>
                <a:r>
                  <a:rPr lang="en-US" altLang="ko-KR" sz="2000" b="1" dirty="0">
                    <a:solidFill>
                      <a:srgbClr val="0000FF"/>
                    </a:solidFill>
                  </a:rPr>
                  <a:t>(maximum likelihood estimation, MLE)</a:t>
                </a:r>
              </a:p>
              <a:p>
                <a:r>
                  <a:rPr lang="ko-KR" altLang="en-US" sz="2000" dirty="0"/>
                  <a:t>예</a:t>
                </a:r>
                <a:r>
                  <a:rPr lang="en-US" altLang="ko-KR" sz="2000" dirty="0"/>
                  <a:t>) </a:t>
                </a:r>
                <a:r>
                  <a:rPr lang="ko-KR" altLang="en-US" sz="2000" dirty="0"/>
                  <a:t>두 개의 </a:t>
                </a:r>
                <a:r>
                  <a:rPr lang="ko-KR" altLang="en-US" sz="2000" dirty="0" err="1"/>
                  <a:t>선택가능한</a:t>
                </a:r>
                <a:r>
                  <a:rPr lang="ko-KR" altLang="en-US" sz="2000" dirty="0"/>
                  <a:t> 휴양지가 있음</a:t>
                </a:r>
                <a:r>
                  <a:rPr lang="en-US" altLang="ko-KR" sz="2000" dirty="0"/>
                  <a:t>. </a:t>
                </a:r>
                <a:r>
                  <a:rPr lang="ko-KR" altLang="en-US" sz="2000" dirty="0"/>
                  <a:t>둘 중 한 곳을 선택한 사람 중 세 명을 선정하여 각자 어디를 방문했는지를 조사하되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2000" dirty="0"/>
                  <a:t>는 항상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이라 가정</a:t>
                </a:r>
                <a:r>
                  <a:rPr lang="en-US" altLang="ko-KR" sz="2000" dirty="0"/>
                  <a:t>. </a:t>
                </a:r>
                <a:r>
                  <a:rPr lang="ko-KR" altLang="en-US" sz="2000" dirty="0"/>
                  <a:t>세 명이 첫 번째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두 번째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첫 번째의 휴양지를 각각 선택했다면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다음의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ko-KR" altLang="en-US" sz="2000" dirty="0"/>
                  <a:t>은 </a:t>
                </a:r>
                <a:r>
                  <a:rPr lang="ko-KR" altLang="en-US" sz="2000" dirty="0" err="1"/>
                  <a:t>우도함수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(likelihood function)</a:t>
                </a:r>
                <a:r>
                  <a:rPr lang="ko-KR" altLang="en-US" sz="2000" dirty="0"/>
                  <a:t>라 불리는 파라메터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/>
                  <a:t>와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sz="2000" dirty="0"/>
                  <a:t>의 함수</a:t>
                </a:r>
                <a:endParaRPr lang="en-US" altLang="ko-KR" sz="2000" dirty="0"/>
              </a:p>
              <a:p>
                <a:endParaRPr lang="en-US" altLang="ko-KR" sz="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ko-KR" sz="1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400" dirty="0"/>
              </a:p>
              <a:p>
                <a:pPr lvl="1"/>
                <a:endParaRPr lang="en-US" altLang="ko-KR" sz="800" dirty="0"/>
              </a:p>
              <a:p>
                <a:pPr lvl="1"/>
                <a:r>
                  <a:rPr lang="ko-KR" altLang="en-US" sz="18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은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[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첫 번째 방문자의 실제 선택이 나타날 확률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×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번째 방문자의 실제 선택이 나타날 확률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×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세 번째 방문자의 실제 선택이 나타날 확률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]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의미함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각 개인의 선택이 서로 독립적으로 이루어졌음을 감안하면 이는 조사대상 개인들 전체가 실제로 선택한 결과를 자료로 얻을 확률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즉 자료상의 선택결과가 발생할 확률을 최대로 만드는 </a:t>
                </a:r>
                <a14:m>
                  <m:oMath xmlns:m="http://schemas.openxmlformats.org/officeDocument/2006/math">
                    <m:r>
                      <a:rPr lang="ko-KR" altLang="en-US" sz="1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구하는 것이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최우추정법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ED74DBD-267E-44D7-894C-1F8F8B3DB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8282" y="1191208"/>
                <a:ext cx="7313612" cy="5212080"/>
              </a:xfrm>
              <a:blipFill>
                <a:blip r:embed="rId2"/>
                <a:stretch>
                  <a:fillRect l="-750" t="-5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45DA6B-ED83-4177-9D06-72E1E612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2D184A-EA99-4270-A065-95FBCE36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912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>
            <a:extLst>
              <a:ext uri="{FF2B5EF4-FFF2-40B4-BE49-F238E27FC236}">
                <a16:creationId xmlns:a16="http://schemas.microsoft.com/office/drawing/2014/main" id="{0A350A1D-1EA7-489F-AADE-224ADE481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7">
                <a:extLst>
                  <a:ext uri="{FF2B5EF4-FFF2-40B4-BE49-F238E27FC236}">
                    <a16:creationId xmlns:a16="http://schemas.microsoft.com/office/drawing/2014/main" id="{BBFCD801-CBDA-4D0E-9414-521A6FACA05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3600" y="1404938"/>
                <a:ext cx="7313613" cy="4114800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최우추정법을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통해 효용함수가 추정되면 휴양지의 전체 가치 및 특성변화의 가치를 도출할 수 있음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</a:p>
              <a:p>
                <a:pPr lvl="1" eaLnBrk="1" hangingPunct="1">
                  <a:defRPr/>
                </a:pP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변화에 따른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CS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다음과 같이 도출됨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 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max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[α(y -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 + βq</a:t>
                </a:r>
                <a:r>
                  <a:rPr lang="en-US" altLang="ko-KR" sz="19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0</a:t>
                </a:r>
                <a:r>
                  <a:rPr lang="en-US" altLang="ko-KR" sz="19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γ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ε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]=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max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[α(y –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- CS) + βq</a:t>
                </a:r>
                <a:r>
                  <a:rPr lang="en-US" altLang="ko-KR" sz="1900" baseline="30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</a:t>
                </a:r>
                <a:r>
                  <a:rPr lang="en-US" altLang="ko-KR" sz="19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γ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+ </a:t>
                </a:r>
                <a:r>
                  <a:rPr lang="en-US" altLang="ko-KR" sz="19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ε</a:t>
                </a:r>
                <a:r>
                  <a:rPr lang="en-US" altLang="ko-KR" sz="1900" baseline="-25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</a:t>
                </a:r>
                <a:r>
                  <a:rPr lang="en-US" altLang="ko-KR" sz="19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]</a:t>
                </a:r>
              </a:p>
              <a:p>
                <a:pPr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위 식은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N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개의 휴양지 중 자신의 효용을 극대화하는 휴양지를 선택했을 때의 효용이 특성변화에도 불구하고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동일하려면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얼마만큼의 소득변화가 있어야 하는지를 의미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>
                  <a:defRPr/>
                </a:pP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위 식을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CS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 대해 풀면 다음과 같음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marL="457200" lvl="1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5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ko-KR" altLang="en-US" sz="165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func>
                        <m:func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ko-KR" altLang="en-US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65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ko-KR" altLang="en-US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fName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func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]−</m:t>
                      </m:r>
                      <m:func>
                        <m:func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ko-KR" altLang="en-US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65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ko-KR" altLang="en-US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fName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func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ko-KR" altLang="en-US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ko-KR" altLang="en-US" sz="1650" dirty="0"/>
              </a:p>
              <a:p>
                <a:pPr lvl="1" eaLnBrk="1" hangingPunct="1">
                  <a:defRPr/>
                </a:pPr>
                <a:endParaRPr lang="en-US" altLang="ko-KR" sz="16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>
                  <a:defRPr/>
                </a:pP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eaLnBrk="1" hangingPunct="1">
                  <a:defRPr/>
                </a:pPr>
                <a:endParaRPr lang="ko-KR" altLang="en-US" sz="20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73731" name="Rectangle 7">
                <a:extLst>
                  <a:ext uri="{FF2B5EF4-FFF2-40B4-BE49-F238E27FC236}">
                    <a16:creationId xmlns:a16="http://schemas.microsoft.com/office/drawing/2014/main" id="{BBFCD801-CBDA-4D0E-9414-521A6FACA0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404938"/>
                <a:ext cx="7313613" cy="4114800"/>
              </a:xfrm>
              <a:blipFill>
                <a:blip r:embed="rId3"/>
                <a:stretch>
                  <a:fillRect l="-1168" t="-1185" r="-10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12" name="바닥글 개체 틀 4">
            <a:extLst>
              <a:ext uri="{FF2B5EF4-FFF2-40B4-BE49-F238E27FC236}">
                <a16:creationId xmlns:a16="http://schemas.microsoft.com/office/drawing/2014/main" id="{864FD338-F0B8-4C01-873C-CAF3D5A9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94213" name="슬라이드 번호 개체 틀 5">
            <a:extLst>
              <a:ext uri="{FF2B5EF4-FFF2-40B4-BE49-F238E27FC236}">
                <a16:creationId xmlns:a16="http://schemas.microsoft.com/office/drawing/2014/main" id="{51785BC7-4D47-4B5F-8C93-3FFE1907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1AB581-BB00-4B1A-A48B-0B611742C03E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A4605582-404F-4CB1-A3DD-7A9BD946B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B4124938-9440-45C9-85DE-AC590CF80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6">
            <a:extLst>
              <a:ext uri="{FF2B5EF4-FFF2-40B4-BE49-F238E27FC236}">
                <a16:creationId xmlns:a16="http://schemas.microsoft.com/office/drawing/2014/main" id="{EB5BBEF8-A3DA-458B-BBF8-BFF663DE9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259" name="Rectangle 7">
                <a:extLst>
                  <a:ext uri="{FF2B5EF4-FFF2-40B4-BE49-F238E27FC236}">
                    <a16:creationId xmlns:a16="http://schemas.microsoft.com/office/drawing/2014/main" id="{31C4DB59-C5CF-497E-8221-659C4BFF16F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63600" y="1517650"/>
                <a:ext cx="7313613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이러한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CS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확률변수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ε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를 포함하고 있기 때문에 정확한 값이 도출될 수는 없으며 평균치만 산출될 수 있음</a:t>
                </a: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예를 들어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국립공원 방문행위 분석에 있어서 모든 공원의 특성이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같이 동일하게 변했다고 한다면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한 개인의 기대치는 다음과 같음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ko-KR" altLang="en-US" sz="1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ko-KR" altLang="en-US" sz="1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ko-KR" sz="1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ko-KR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1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ko-KR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</m:e>
                      </m:nary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ko-K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m:rPr>
                          <m:sty m:val="p"/>
                        </m:rPr>
                        <a:rPr lang="en-US" altLang="ko-KR" sz="1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ko-KR" sz="1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ko-KR" altLang="en-US" sz="1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sz="12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altLang="ko-KR" sz="1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ko-KR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1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ko-KR" alt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</m:e>
                      </m:nary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ko-KR" alt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))]=</m:t>
                      </m:r>
                      <m:f>
                        <m:fPr>
                          <m:ctrlPr>
                            <a:rPr lang="en-US" altLang="ko-K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ko-KR" altLang="en-US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ko-KR" altLang="en-US" sz="12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나눔명조" pitchFamily="18" charset="-127"/>
                          <a:cs typeface="Times New Roman" panose="02020603050405020304" pitchFamily="18" charset="0"/>
                        </a:rPr>
                        <m:t>𝑞</m:t>
                      </m:r>
                    </m:oMath>
                  </m:oMathPara>
                </a14:m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아울러 특정 국립공원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en-US" altLang="ko-KR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i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=1)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의 휴양가치 전체를 평가할 수도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ko-KR" alt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ko-KR" alt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ko-KR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1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ko-KR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</m:e>
                      </m:nary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))−</m:t>
                      </m:r>
                      <m:func>
                        <m:func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ko-KR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ko-KR" altLang="en-US" sz="1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ko-KR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</m:e>
                      </m:nary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))]</m:t>
                      </m:r>
                    </m:oMath>
                  </m:oMathPara>
                </a14:m>
                <a:endParaRPr lang="en-US" altLang="ko-KR" sz="1600" dirty="0"/>
              </a:p>
              <a:p>
                <a:pPr eaLnBrk="1" hangingPunct="1"/>
                <a:r>
                  <a:rPr lang="ko-KR" altLang="en-US" sz="2000" dirty="0"/>
                  <a:t>이상의 기대잉여는 국립공원 중 한 군데를 방문하는 사람이 실제로 어디를 선택하여 방문하든지 상관없이 얻는 편익</a:t>
                </a:r>
              </a:p>
              <a:p>
                <a:pPr eaLnBrk="1" hangingPunct="1"/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endParaRPr lang="ko-KR" altLang="en-US" sz="2000" dirty="0">
                  <a:latin typeface="나눔명조" pitchFamily="18" charset="-127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259" name="Rectangle 7">
                <a:extLst>
                  <a:ext uri="{FF2B5EF4-FFF2-40B4-BE49-F238E27FC236}">
                    <a16:creationId xmlns:a16="http://schemas.microsoft.com/office/drawing/2014/main" id="{31C4DB59-C5CF-497E-8221-659C4BFF16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3600" y="1517650"/>
                <a:ext cx="7313613" cy="4114800"/>
              </a:xfrm>
              <a:blipFill>
                <a:blip r:embed="rId3"/>
                <a:stretch>
                  <a:fillRect l="-751" t="-1037" r="-667" b="-7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260" name="바닥글 개체 틀 4">
            <a:extLst>
              <a:ext uri="{FF2B5EF4-FFF2-40B4-BE49-F238E27FC236}">
                <a16:creationId xmlns:a16="http://schemas.microsoft.com/office/drawing/2014/main" id="{C7D47D13-3E30-4BD6-A3D8-542A4D96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96261" name="슬라이드 번호 개체 틀 5">
            <a:extLst>
              <a:ext uri="{FF2B5EF4-FFF2-40B4-BE49-F238E27FC236}">
                <a16:creationId xmlns:a16="http://schemas.microsoft.com/office/drawing/2014/main" id="{4D568078-6461-4C6F-9BA6-ACDB10C4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D224A1-2BC6-4890-BFED-1D55D688D56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6262" name="Rectangle 2">
            <a:extLst>
              <a:ext uri="{FF2B5EF4-FFF2-40B4-BE49-F238E27FC236}">
                <a16:creationId xmlns:a16="http://schemas.microsoft.com/office/drawing/2014/main" id="{E51BFD1B-804E-4D14-8D37-D10427D18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6263" name="Rectangle 3">
            <a:extLst>
              <a:ext uri="{FF2B5EF4-FFF2-40B4-BE49-F238E27FC236}">
                <a16:creationId xmlns:a16="http://schemas.microsoft.com/office/drawing/2014/main" id="{B6E96C87-E5D4-4F6D-8E67-7CFA28F15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6">
            <a:extLst>
              <a:ext uri="{FF2B5EF4-FFF2-40B4-BE49-F238E27FC236}">
                <a16:creationId xmlns:a16="http://schemas.microsoft.com/office/drawing/2014/main" id="{416A760F-C296-4C05-8375-EACAEC523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901959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8308" name="바닥글 개체 틀 4">
            <a:extLst>
              <a:ext uri="{FF2B5EF4-FFF2-40B4-BE49-F238E27FC236}">
                <a16:creationId xmlns:a16="http://schemas.microsoft.com/office/drawing/2014/main" id="{E19E02D6-898A-4D10-89B3-4EF5292A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98309" name="슬라이드 번호 개체 틀 5">
            <a:extLst>
              <a:ext uri="{FF2B5EF4-FFF2-40B4-BE49-F238E27FC236}">
                <a16:creationId xmlns:a16="http://schemas.microsoft.com/office/drawing/2014/main" id="{1BADAD85-3F6D-4DF9-AB1D-81EC664A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9F8F99-11BA-4C3C-8B70-395942F9C02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98310" name="Rectangle 2">
            <a:extLst>
              <a:ext uri="{FF2B5EF4-FFF2-40B4-BE49-F238E27FC236}">
                <a16:creationId xmlns:a16="http://schemas.microsoft.com/office/drawing/2014/main" id="{9ED28880-AEC9-4B11-811C-260CCCF03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98311" name="Rectangle 3">
            <a:extLst>
              <a:ext uri="{FF2B5EF4-FFF2-40B4-BE49-F238E27FC236}">
                <a16:creationId xmlns:a16="http://schemas.microsoft.com/office/drawing/2014/main" id="{43DE71DC-256F-4D79-85BE-6CD289C23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438602-DC9E-4700-A4BD-8A87F150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53" y="911047"/>
            <a:ext cx="6646506" cy="2401233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71C11A8-1E3D-44E9-B276-DFAE1DB88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93858"/>
              </p:ext>
            </p:extLst>
          </p:nvPr>
        </p:nvGraphicFramePr>
        <p:xfrm>
          <a:off x="834053" y="3429000"/>
          <a:ext cx="7756331" cy="2853760"/>
        </p:xfrm>
        <a:graphic>
          <a:graphicData uri="http://schemas.openxmlformats.org/drawingml/2006/table">
            <a:tbl>
              <a:tblPr/>
              <a:tblGrid>
                <a:gridCol w="7756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9551">
                <a:tc>
                  <a:txBody>
                    <a:bodyPr/>
                    <a:lstStyle>
                      <a:lvl1pPr marL="127000">
                        <a:spcBef>
                          <a:spcPct val="20000"/>
                        </a:spcBef>
                        <a:buClr>
                          <a:srgbClr val="8D7DFF"/>
                        </a:buClr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8D7DFF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8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당시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20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개의 국립공원 중 경주와 한라산을 제외한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18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개 국립공원 가운데 한 군데를 선택하여 방문하는 행위를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457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명을 대상으로 조사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(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권오상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, 2005)</a:t>
                      </a: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v= -1.521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D</a:t>
                      </a:r>
                      <a:r>
                        <a:rPr kumimoji="0" lang="en-US" altLang="ko-KR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+0.011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D</a:t>
                      </a:r>
                      <a:r>
                        <a:rPr kumimoji="0" lang="en-US" altLang="ko-KR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방문객 나이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-0.595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D</a:t>
                      </a:r>
                      <a:r>
                        <a:rPr kumimoji="0" lang="en-US" altLang="ko-KR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×(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남자면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아니면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0)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+0.006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D</a:t>
                      </a:r>
                      <a:r>
                        <a:rPr kumimoji="0" lang="en-US" altLang="ko-KR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공원면적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-0.0007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공원면적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+0.003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관리인 수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-0.0003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여행비용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  <a:cs typeface="신명 세고딕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D</a:t>
                      </a:r>
                      <a:r>
                        <a:rPr kumimoji="0" lang="en-US" altLang="ko-KR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1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=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산악형 국립공원이면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아니면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0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의 값을 가지는 변수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  <a:cs typeface="신명 세고딕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모든 공원의 면적이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1km</a:t>
                      </a:r>
                      <a:r>
                        <a:rPr kumimoji="0" lang="en-US" altLang="ko-KR" sz="16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2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늘어날 때 방문객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인당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179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원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연간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33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억 원 편익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  <a:cs typeface="신명 세고딕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모든 공원의 관리직원이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명 증가하면 방문객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인당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128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원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연간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24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억 원 편익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각 국립공원이 연간 제공하는 휴양가치는 지리산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2,030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억 원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설악산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870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억 원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태안반도가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300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cs typeface="신명 세고딕"/>
                        </a:rPr>
                        <a:t>억 원 등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</a:txBody>
                  <a:tcPr marL="17907" marR="17907" marT="17910" marB="17910" anchor="ctr" horzOverflow="overflow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6">
            <a:extLst>
              <a:ext uri="{FF2B5EF4-FFF2-40B4-BE49-F238E27FC236}">
                <a16:creationId xmlns:a16="http://schemas.microsoft.com/office/drawing/2014/main" id="{4746BDA9-2FCD-4F3D-9FD1-7A2E8F012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확률효용모형의 문제점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2403" name="Rectangle 7">
            <a:extLst>
              <a:ext uri="{FF2B5EF4-FFF2-40B4-BE49-F238E27FC236}">
                <a16:creationId xmlns:a16="http://schemas.microsoft.com/office/drawing/2014/main" id="{0B847EE9-8BD1-467C-B57F-E8D9092E3F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675563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확률효용모형도 여러 한계를 가짐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본문 참조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모형에서 사용되는 </a:t>
            </a:r>
            <a:r>
              <a:rPr lang="ko-KR" altLang="en-US" sz="22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조건부로짓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모형은 </a:t>
            </a:r>
            <a:r>
              <a:rPr lang="ko-KR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무관한 대안 간의 독립성</a:t>
            </a:r>
            <a:r>
              <a:rPr lang="en-US" altLang="ko-KR" sz="22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(independence of irrelevant alternatives, IIA)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가정하는데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이는 두 휴양지를 선택할 확률의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비율은 그 이외의 다른 휴양지 특성에 영향을 받지 않는다는 것으로서 비현실적으로 강한 가정임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자연휴양지의 특성변수 </a:t>
            </a:r>
            <a:r>
              <a:rPr lang="en-US" altLang="ko-KR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구축하는 것이 어려움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현장 방문객을 대상으로 조사한 자료를 이용할 경우 표본이 모집단을 왜곡할 수 있음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모형은 특정 기간 동안 전체 휴양지를 방문하는 사람의 수가 특성변화에 따라 달라지는지를 고려하지 않음</a:t>
            </a:r>
          </a:p>
        </p:txBody>
      </p:sp>
      <p:sp>
        <p:nvSpPr>
          <p:cNvPr id="102404" name="바닥글 개체 틀 4">
            <a:extLst>
              <a:ext uri="{FF2B5EF4-FFF2-40B4-BE49-F238E27FC236}">
                <a16:creationId xmlns:a16="http://schemas.microsoft.com/office/drawing/2014/main" id="{442DA086-100B-4A8A-B3A9-440B066C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102405" name="슬라이드 번호 개체 틀 5">
            <a:extLst>
              <a:ext uri="{FF2B5EF4-FFF2-40B4-BE49-F238E27FC236}">
                <a16:creationId xmlns:a16="http://schemas.microsoft.com/office/drawing/2014/main" id="{E5667830-AC45-44DD-AAF3-41E2025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F5DE3B-1997-4328-9CD5-81C93619D07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2406" name="Rectangle 2">
            <a:extLst>
              <a:ext uri="{FF2B5EF4-FFF2-40B4-BE49-F238E27FC236}">
                <a16:creationId xmlns:a16="http://schemas.microsoft.com/office/drawing/2014/main" id="{C6549F92-D44F-452F-AFE5-AB96BB571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2407" name="Rectangle 3">
            <a:extLst>
              <a:ext uri="{FF2B5EF4-FFF2-40B4-BE49-F238E27FC236}">
                <a16:creationId xmlns:a16="http://schemas.microsoft.com/office/drawing/2014/main" id="{24DC7B03-1958-43EC-B815-07A62654C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C390A-DB1A-4A0D-B3DB-7A89BF3E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07" y="152400"/>
            <a:ext cx="8185785" cy="1143000"/>
          </a:xfrm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b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확률효용모형의 </a:t>
            </a:r>
            <a:r>
              <a:rPr lang="en-US" altLang="ko-KR" b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IIA</a:t>
            </a:r>
            <a:r>
              <a:rPr lang="ko-KR" altLang="en-US" b="0" dirty="0">
                <a:solidFill>
                  <a:srgbClr val="7030A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5CA6A9-C328-4A45-BA86-8BB669857E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대안선택확률을 도출하는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조건부로짓모형은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IIA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특성을 가지기 때문에 대안선택행위를 지나치게 제약하는 한계가 있음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문제를 해결하는 두 가지 방법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>
                  <a:buAutoNum type="arabicParenR"/>
                </a:pP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다항프로빗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(multinomial </a:t>
                </a:r>
                <a:r>
                  <a:rPr lang="en-US" altLang="ko-KR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probit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모형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확률변수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=1,⋯,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들이 </a:t>
                </a: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다변량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정규분포를 가진다고 가정하고 그에 맞게 </a:t>
                </a: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우도함수를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도출해 </a:t>
                </a: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최우추정법을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적용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이 모형은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IIA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성질을 가지지 않고 신축적인 대안선택행위를 허용함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</a:p>
              <a:p>
                <a:pPr>
                  <a:buAutoNum type="arabicParenR"/>
                </a:pP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혼합로짓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(mixed logit)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모형 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: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각 대안의 선택확률은 </a:t>
                </a:r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조건부로짓모형과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같은 형태를 지니지만 효용함수의 파라메터 중 적어도 일부는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예를 들면 여행비용의 파라메터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값이 고정된 것이 아니라 그 자체가 정규분포와 같은 특정 분포를 가지는 확률변수임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따라서 특성이나 휴양지에 대한 지불의사 추정치도 어떤 분포를 가지게 됨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. </a:t>
                </a:r>
              </a:p>
              <a:p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IIA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문제를 해결하는 이상 두 가지의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최우추정법에서는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우도함수가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대수적으로 풀리지 않는 기술적인 문제가 있으나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이를 확률변수 값을 추출하는 시뮬레이션기법으로 해결하는 방법이 이미 일반적으로 사용되고 있음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5CA6A9-C328-4A45-BA86-8BB669857E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741" b="-9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9A6BF1-19C2-4B4D-9473-0892EEB0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C1251A-007E-4EBF-B7D1-199754F0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2693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6">
            <a:extLst>
              <a:ext uri="{FF2B5EF4-FFF2-40B4-BE49-F238E27FC236}">
                <a16:creationId xmlns:a16="http://schemas.microsoft.com/office/drawing/2014/main" id="{B00348CD-B2AA-49E4-927B-E8089FC80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193" y="1524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휴양지 선택행위와 방문횟수 선택행위의 동시 분석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04451" name="Rectangle 7">
            <a:extLst>
              <a:ext uri="{FF2B5EF4-FFF2-40B4-BE49-F238E27FC236}">
                <a16:creationId xmlns:a16="http://schemas.microsoft.com/office/drawing/2014/main" id="{4ACE3318-3677-4833-9783-A1B232CF5C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3600" y="1517650"/>
            <a:ext cx="7313613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여행비용법과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확률효용모형은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모두 장점과 한계가 있으므로  두 모형을 결합하려는 시도가 있음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연계분석법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(Linked Model)</a:t>
            </a: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연속선택모형</a:t>
            </a:r>
          </a:p>
        </p:txBody>
      </p:sp>
      <p:sp>
        <p:nvSpPr>
          <p:cNvPr id="104452" name="바닥글 개체 틀 4">
            <a:extLst>
              <a:ext uri="{FF2B5EF4-FFF2-40B4-BE49-F238E27FC236}">
                <a16:creationId xmlns:a16="http://schemas.microsoft.com/office/drawing/2014/main" id="{D63D3B14-7D2A-498F-92BA-1BF78AA1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104453" name="슬라이드 번호 개체 틀 5">
            <a:extLst>
              <a:ext uri="{FF2B5EF4-FFF2-40B4-BE49-F238E27FC236}">
                <a16:creationId xmlns:a16="http://schemas.microsoft.com/office/drawing/2014/main" id="{0A4F71A5-931D-4F60-AA37-19324107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0CBB0A-B64E-4E1A-8F12-2BA69D320E18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04454" name="Rectangle 2">
            <a:extLst>
              <a:ext uri="{FF2B5EF4-FFF2-40B4-BE49-F238E27FC236}">
                <a16:creationId xmlns:a16="http://schemas.microsoft.com/office/drawing/2014/main" id="{9527D743-BFED-48AA-859C-4E1E8405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04455" name="Rectangle 3">
            <a:extLst>
              <a:ext uri="{FF2B5EF4-FFF2-40B4-BE49-F238E27FC236}">
                <a16:creationId xmlns:a16="http://schemas.microsoft.com/office/drawing/2014/main" id="{370D345A-78A0-4556-B924-BD50AD342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A7E2F-955D-4696-9452-D78A7D3C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연계분석법</a:t>
            </a:r>
            <a:r>
              <a:rPr lang="en-US" altLang="ko-KR" dirty="0"/>
              <a:t>(Linked Model)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93F3F9E-A244-4934-A89F-491ED0EC0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+mj-ea"/>
                    <a:ea typeface="+mj-ea"/>
                  </a:rPr>
                  <a:t>연계분석법은 대상 휴양지 가운데 어느 한 곳을 선택해서 </a:t>
                </a:r>
                <a:r>
                  <a:rPr lang="en-US" altLang="ko-KR" sz="2400" dirty="0">
                    <a:latin typeface="+mj-ea"/>
                    <a:ea typeface="+mj-ea"/>
                  </a:rPr>
                  <a:t>1</a:t>
                </a:r>
                <a:r>
                  <a:rPr lang="ko-KR" altLang="en-US" sz="2400" dirty="0">
                    <a:latin typeface="+mj-ea"/>
                    <a:ea typeface="+mj-ea"/>
                  </a:rPr>
                  <a:t>회 방문할 때 얻는 편익과 총방문횟수 간의 관계를 연계해서 </a:t>
                </a:r>
                <a:r>
                  <a:rPr lang="en-US" altLang="ko-KR" sz="2400" dirty="0">
                    <a:latin typeface="+mj-ea"/>
                    <a:ea typeface="+mj-ea"/>
                  </a:rPr>
                  <a:t>2</a:t>
                </a:r>
                <a:r>
                  <a:rPr lang="ko-KR" altLang="en-US" sz="2400" dirty="0">
                    <a:latin typeface="+mj-ea"/>
                    <a:ea typeface="+mj-ea"/>
                  </a:rPr>
                  <a:t>단계로 분석하는 방법</a:t>
                </a:r>
                <a:endParaRPr lang="en-US" altLang="ko-KR" sz="2400" dirty="0">
                  <a:latin typeface="+mj-ea"/>
                  <a:ea typeface="+mj-ea"/>
                </a:endParaRPr>
              </a:p>
              <a:p>
                <a:pPr lvl="1"/>
                <a:r>
                  <a:rPr lang="ko-KR" altLang="en-US" sz="1800" dirty="0">
                    <a:latin typeface="+mj-ea"/>
                    <a:ea typeface="+mj-ea"/>
                  </a:rPr>
                  <a:t>앞서 특성변화로 인해 </a:t>
                </a:r>
                <a:r>
                  <a:rPr lang="en-US" altLang="ko-KR" sz="1800" dirty="0">
                    <a:latin typeface="+mj-ea"/>
                    <a:ea typeface="+mj-ea"/>
                  </a:rPr>
                  <a:t>1</a:t>
                </a:r>
                <a:r>
                  <a:rPr lang="ko-KR" altLang="en-US" sz="1800" dirty="0">
                    <a:latin typeface="+mj-ea"/>
                    <a:ea typeface="+mj-ea"/>
                  </a:rPr>
                  <a:t>회 방문에서 얻는 편익을 </a:t>
                </a:r>
                <a:r>
                  <a:rPr lang="en-US" altLang="ko-KR" sz="1800" dirty="0">
                    <a:latin typeface="+mj-ea"/>
                    <a:ea typeface="+mj-ea"/>
                  </a:rPr>
                  <a:t>E(CS)</a:t>
                </a:r>
                <a:r>
                  <a:rPr lang="ko-KR" altLang="en-US" sz="1800" dirty="0">
                    <a:latin typeface="+mj-ea"/>
                    <a:ea typeface="+mj-ea"/>
                  </a:rPr>
                  <a:t>같이 구했다면</a:t>
                </a:r>
                <a:r>
                  <a:rPr lang="en-US" altLang="ko-KR" sz="1800" dirty="0">
                    <a:latin typeface="+mj-ea"/>
                    <a:ea typeface="+mj-ea"/>
                  </a:rPr>
                  <a:t>,</a:t>
                </a:r>
                <a:r>
                  <a:rPr lang="ko-KR" altLang="en-US" sz="1800" dirty="0">
                    <a:latin typeface="+mj-ea"/>
                    <a:ea typeface="+mj-ea"/>
                  </a:rPr>
                  <a:t> 현재의 모든 방문객에 의한 연간 총방문횟수가 </a:t>
                </a:r>
                <a:r>
                  <a:rPr lang="en-US" altLang="ko-KR" sz="1800" dirty="0">
                    <a:latin typeface="+mj-ea"/>
                    <a:ea typeface="+mj-ea"/>
                  </a:rPr>
                  <a:t>R</a:t>
                </a:r>
                <a:r>
                  <a:rPr lang="ko-KR" altLang="en-US" sz="1800" dirty="0">
                    <a:latin typeface="+mj-ea"/>
                    <a:ea typeface="+mj-ea"/>
                  </a:rPr>
                  <a:t>일 때 </a:t>
                </a:r>
                <a:r>
                  <a:rPr lang="en-US" altLang="ko-KR" sz="1800" dirty="0">
                    <a:latin typeface="+mj-ea"/>
                    <a:ea typeface="+mj-ea"/>
                  </a:rPr>
                  <a:t>E(CS)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  <a:ea typeface="+mj-ea"/>
                      </a:rPr>
                      <m:t>×</m:t>
                    </m:r>
                  </m:oMath>
                </a14:m>
                <a:r>
                  <a:rPr lang="en-US" altLang="ko-KR" sz="1800" dirty="0">
                    <a:latin typeface="+mj-ea"/>
                    <a:ea typeface="+mj-ea"/>
                  </a:rPr>
                  <a:t>R</a:t>
                </a:r>
                <a:r>
                  <a:rPr lang="ko-KR" altLang="en-US" sz="1800" dirty="0">
                    <a:latin typeface="+mj-ea"/>
                    <a:ea typeface="+mj-ea"/>
                  </a:rPr>
                  <a:t>을 특성변화의 연간 편익이라고 보는 것이 관행</a:t>
                </a:r>
                <a:endParaRPr lang="en-US" altLang="ko-KR" sz="1800" dirty="0">
                  <a:latin typeface="+mj-ea"/>
                  <a:ea typeface="+mj-ea"/>
                </a:endParaRPr>
              </a:p>
              <a:p>
                <a:pPr lvl="1"/>
                <a:r>
                  <a:rPr lang="ko-KR" altLang="en-US" sz="1800" dirty="0" err="1">
                    <a:latin typeface="+mj-ea"/>
                    <a:ea typeface="+mj-ea"/>
                  </a:rPr>
                  <a:t>확률효용법은</a:t>
                </a:r>
                <a:r>
                  <a:rPr lang="ko-KR" altLang="en-US" sz="1800" dirty="0">
                    <a:latin typeface="+mj-ea"/>
                    <a:ea typeface="+mj-ea"/>
                  </a:rPr>
                  <a:t> 이렇게 </a:t>
                </a:r>
                <a:r>
                  <a:rPr lang="en-US" altLang="ko-KR" sz="1800" dirty="0">
                    <a:latin typeface="+mj-ea"/>
                    <a:ea typeface="+mj-ea"/>
                  </a:rPr>
                  <a:t>R</a:t>
                </a:r>
                <a:r>
                  <a:rPr lang="ko-KR" altLang="en-US" sz="1800" dirty="0">
                    <a:latin typeface="+mj-ea"/>
                    <a:ea typeface="+mj-ea"/>
                  </a:rPr>
                  <a:t>을 특성변화에도 불구하고 고정되어 있다고 가정하는 것이 문제인데</a:t>
                </a:r>
                <a:r>
                  <a:rPr lang="en-US" altLang="ko-KR" sz="1800" dirty="0">
                    <a:latin typeface="+mj-ea"/>
                    <a:ea typeface="+mj-ea"/>
                  </a:rPr>
                  <a:t>, </a:t>
                </a:r>
                <a:r>
                  <a:rPr lang="ko-KR" altLang="en-US" sz="1800" dirty="0">
                    <a:latin typeface="+mj-ea"/>
                    <a:ea typeface="+mj-ea"/>
                  </a:rPr>
                  <a:t>연계분석법은 </a:t>
                </a:r>
                <a:r>
                  <a:rPr lang="en-US" altLang="ko-KR" sz="1800" dirty="0">
                    <a:latin typeface="+mj-ea"/>
                    <a:ea typeface="+mj-ea"/>
                  </a:rPr>
                  <a:t>R</a:t>
                </a:r>
                <a:r>
                  <a:rPr lang="ko-KR" altLang="en-US" sz="1800" dirty="0">
                    <a:latin typeface="+mj-ea"/>
                    <a:ea typeface="+mj-ea"/>
                  </a:rPr>
                  <a:t>이 </a:t>
                </a:r>
                <a:r>
                  <a:rPr lang="en-US" altLang="ko-KR" sz="1800" dirty="0">
                    <a:latin typeface="+mj-ea"/>
                    <a:ea typeface="+mj-ea"/>
                  </a:rPr>
                  <a:t>1</a:t>
                </a:r>
                <a:r>
                  <a:rPr lang="ko-KR" altLang="en-US" sz="1800" dirty="0">
                    <a:latin typeface="+mj-ea"/>
                    <a:ea typeface="+mj-ea"/>
                  </a:rPr>
                  <a:t>회 방문의 편익 </a:t>
                </a:r>
                <a:r>
                  <a:rPr lang="en-US" altLang="ko-KR" sz="1800" dirty="0">
                    <a:latin typeface="+mj-ea"/>
                    <a:ea typeface="+mj-ea"/>
                  </a:rPr>
                  <a:t>E(CS)</a:t>
                </a:r>
                <a:r>
                  <a:rPr lang="ko-KR" altLang="en-US" sz="1800" dirty="0">
                    <a:latin typeface="+mj-ea"/>
                    <a:ea typeface="+mj-ea"/>
                  </a:rPr>
                  <a:t>에 따라</a:t>
                </a:r>
                <a:r>
                  <a:rPr lang="en-US" altLang="ko-KR" sz="1800" dirty="0">
                    <a:latin typeface="+mj-ea"/>
                    <a:ea typeface="+mj-ea"/>
                  </a:rPr>
                  <a:t> </a:t>
                </a:r>
                <a:r>
                  <a:rPr lang="ko-KR" altLang="en-US" sz="1800" dirty="0">
                    <a:latin typeface="+mj-ea"/>
                    <a:ea typeface="+mj-ea"/>
                  </a:rPr>
                  <a:t>변함</a:t>
                </a:r>
                <a:endParaRPr lang="en-US" altLang="ko-KR" sz="1800" dirty="0">
                  <a:latin typeface="+mj-ea"/>
                  <a:ea typeface="+mj-ea"/>
                </a:endParaRPr>
              </a:p>
              <a:p>
                <a:pPr lvl="1"/>
                <a:r>
                  <a:rPr lang="ko-KR" altLang="en-US" sz="1800" dirty="0">
                    <a:latin typeface="+mj-ea"/>
                    <a:ea typeface="+mj-ea"/>
                  </a:rPr>
                  <a:t>예</a:t>
                </a:r>
                <a:r>
                  <a:rPr lang="en-US" altLang="ko-KR" sz="1800" dirty="0">
                    <a:latin typeface="+mj-ea"/>
                    <a:ea typeface="+mj-ea"/>
                  </a:rPr>
                  <a:t>: </a:t>
                </a:r>
                <a:r>
                  <a:rPr lang="ko-KR" altLang="en-US" sz="1800" dirty="0">
                    <a:latin typeface="+mj-ea"/>
                    <a:ea typeface="+mj-ea"/>
                  </a:rPr>
                  <a:t>설악산에 안식년을 도입하여 입산을 전면 금지시키면 국립공원 </a:t>
                </a:r>
                <a:r>
                  <a:rPr lang="ko-KR" altLang="en-US" sz="1800" dirty="0" err="1">
                    <a:latin typeface="+mj-ea"/>
                    <a:ea typeface="+mj-ea"/>
                  </a:rPr>
                  <a:t>방문행위의</a:t>
                </a:r>
                <a:r>
                  <a:rPr lang="ko-KR" altLang="en-US" sz="1800" dirty="0">
                    <a:latin typeface="+mj-ea"/>
                    <a:ea typeface="+mj-ea"/>
                  </a:rPr>
                  <a:t> 만족도가 하락하므로 전체 국립공원 방문객 수가 줄어들 수밖에 없음</a:t>
                </a:r>
                <a:endParaRPr lang="en-US" altLang="ko-KR" sz="18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93F3F9E-A244-4934-A89F-491ED0EC0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114800"/>
              </a:xfrm>
              <a:blipFill>
                <a:blip r:embed="rId2"/>
                <a:stretch>
                  <a:fillRect l="-1168" t="-1185" r="-7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BB49BF-31E1-4C77-A4F6-5F5E376D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F0FF3E-A631-4C80-B0E8-B01300A3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313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A7E2F-955D-4696-9452-D78A7D3C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연계분석법</a:t>
            </a:r>
            <a:r>
              <a:rPr lang="en-US" altLang="ko-KR" dirty="0"/>
              <a:t>(Linked Model)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93F3F9E-A244-4934-A89F-491ED0EC0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114800"/>
              </a:xfrm>
            </p:spPr>
            <p:txBody>
              <a:bodyPr/>
              <a:lstStyle/>
              <a:p>
                <a:r>
                  <a:rPr lang="ko-KR" altLang="en-US" sz="1900" dirty="0"/>
                  <a:t>대상 휴양지  </a:t>
                </a:r>
                <a:r>
                  <a:rPr lang="en-US" altLang="ko-KR" sz="1900" dirty="0"/>
                  <a:t>N. </a:t>
                </a:r>
                <a:r>
                  <a:rPr lang="ko-KR" altLang="en-US" sz="1900" dirty="0"/>
                  <a:t>첫 번째 단계로서 등산을 하는 개인이 주로 방문하는 등산지가 어디인지를 확률효용모형을 이용해 추정하고</a:t>
                </a:r>
                <a:r>
                  <a:rPr lang="en-US" altLang="ko-KR" sz="1900" dirty="0"/>
                  <a:t>, </a:t>
                </a:r>
                <a:r>
                  <a:rPr lang="ko-KR" altLang="en-US" sz="1900" dirty="0"/>
                  <a:t>각 등산지를 방문할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900" dirty="0"/>
                  <a:t>를 </a:t>
                </a:r>
                <a:r>
                  <a:rPr lang="ko-KR" altLang="en-US" sz="1900" dirty="0" err="1"/>
                  <a:t>조건부로짓</a:t>
                </a:r>
                <a:r>
                  <a:rPr lang="ko-KR" altLang="en-US" sz="1900" dirty="0"/>
                  <a:t> 기법의 휴양지 선택 확률을 이용해 도출</a:t>
                </a:r>
                <a:endParaRPr lang="en-US" altLang="ko-KR" sz="1900" dirty="0"/>
              </a:p>
              <a:p>
                <a:r>
                  <a:rPr lang="ko-KR" altLang="en-US" sz="1900" dirty="0"/>
                  <a:t>개인이 각 등산지를 방문할 때 지불하는 비용을 이 개인의 각 등산지 선택확률을 가중치로 하여 평균해준 평균여행비용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9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9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1900" dirty="0"/>
                  <a:t>, </a:t>
                </a:r>
                <a:r>
                  <a:rPr lang="ko-KR" altLang="en-US" sz="1900" dirty="0"/>
                  <a:t>평균특성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US" altLang="ko-KR" sz="19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9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9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9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1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900" dirty="0"/>
                  <a:t>도출</a:t>
                </a:r>
                <a:endParaRPr lang="en-US" altLang="ko-KR" sz="1900" dirty="0"/>
              </a:p>
              <a:p>
                <a:r>
                  <a:rPr lang="ko-KR" altLang="en-US" sz="1900" dirty="0"/>
                  <a:t>두 번째 단계에서는 이 평균 변수들을 이용해 각 개인이 연간 등산을 하는 횟수를 여행수요함수 </a:t>
                </a:r>
                <a14:m>
                  <m:oMath xmlns:m="http://schemas.openxmlformats.org/officeDocument/2006/math"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US" altLang="ko-KR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19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US" altLang="ko-KR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900" dirty="0"/>
                  <a:t>로 추정</a:t>
                </a:r>
                <a:endParaRPr lang="en-US" altLang="ko-KR" sz="1900" dirty="0"/>
              </a:p>
              <a:p>
                <a:r>
                  <a:rPr lang="ko-KR" altLang="en-US" sz="1900" dirty="0"/>
                  <a:t>이로부터 개인별 여행횟수 예측치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9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ko-KR" altLang="en-US" sz="1900" dirty="0" err="1"/>
                  <a:t>를</a:t>
                </a:r>
                <a:r>
                  <a:rPr lang="ko-KR" altLang="en-US" sz="1900" dirty="0"/>
                  <a:t> 얻고</a:t>
                </a:r>
                <a:r>
                  <a:rPr lang="en-US" altLang="ko-KR" sz="1900" dirty="0"/>
                  <a:t>, </a:t>
                </a:r>
                <a:r>
                  <a:rPr lang="ko-KR" altLang="en-US" sz="1900" dirty="0"/>
                  <a:t>이 값에 전체 등산인구를 반영해 총방문횟수의 예측치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ko-KR" altLang="en-US" sz="1900" dirty="0"/>
                  <a:t>을 얻어 이를 </a:t>
                </a:r>
                <a:r>
                  <a:rPr lang="en-US" altLang="ko-KR" sz="1900" dirty="0"/>
                  <a:t>E(CS)</a:t>
                </a:r>
                <a:r>
                  <a:rPr lang="ko-KR" altLang="en-US" sz="1900" dirty="0"/>
                  <a:t>와 곱해 줌</a:t>
                </a:r>
                <a:endParaRPr lang="en-US" altLang="ko-KR" sz="1900" dirty="0"/>
              </a:p>
              <a:p>
                <a:r>
                  <a:rPr lang="ko-KR" altLang="en-US" sz="1900" dirty="0"/>
                  <a:t>특정 등산지의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9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900" dirty="0"/>
                  <a:t>가 변하면 </a:t>
                </a:r>
                <a:r>
                  <a:rPr lang="en-US" altLang="ko-KR" sz="1900" dirty="0"/>
                  <a:t>1</a:t>
                </a:r>
                <a:r>
                  <a:rPr lang="ko-KR" altLang="en-US" sz="1900" dirty="0"/>
                  <a:t>단계 분석에서 얻는 </a:t>
                </a:r>
                <a:r>
                  <a:rPr lang="en-US" altLang="ko-KR" sz="1900" dirty="0"/>
                  <a:t>E(CS)</a:t>
                </a:r>
                <a:r>
                  <a:rPr lang="ko-KR" altLang="en-US" sz="1900" dirty="0"/>
                  <a:t>가 변할 뿐 아니라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9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900" dirty="0"/>
                  <a:t>들이 변하기 때문에 </a:t>
                </a:r>
                <a:r>
                  <a:rPr lang="en-US" altLang="ko-KR" sz="1900" dirty="0"/>
                  <a:t>2</a:t>
                </a:r>
                <a:r>
                  <a:rPr lang="ko-KR" altLang="en-US" sz="1900" dirty="0"/>
                  <a:t>단계 추정식의 설명변수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US" altLang="ko-KR" sz="190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ko-KR" altLang="en-US" sz="1900" dirty="0"/>
                  <a:t>도 변하고</a:t>
                </a:r>
                <a:r>
                  <a:rPr lang="en-US" altLang="ko-KR" sz="1900" dirty="0"/>
                  <a:t>, </a:t>
                </a:r>
                <a:r>
                  <a:rPr lang="ko-KR" altLang="en-US" sz="1900" dirty="0"/>
                  <a:t>따라서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ko-KR" altLang="en-US" sz="1900" dirty="0"/>
                  <a:t>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9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9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ko-KR" altLang="en-US" sz="1900" dirty="0"/>
                  <a:t>도 변함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93F3F9E-A244-4934-A89F-491ED0EC0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114800"/>
              </a:xfrm>
              <a:blipFill>
                <a:blip r:embed="rId2"/>
                <a:stretch>
                  <a:fillRect l="-667" t="-741" b="-16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BB49BF-31E1-4C77-A4F6-5F5E376D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F0FF3E-A631-4C80-B0E8-B01300A3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1752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1CE3E-1743-49FB-8BFD-27D39B5D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이산</a:t>
            </a:r>
            <a:r>
              <a:rPr lang="en-US" altLang="ko-KR" dirty="0"/>
              <a:t>-</a:t>
            </a:r>
            <a:r>
              <a:rPr lang="ko-KR" altLang="en-US" dirty="0"/>
              <a:t>연속선택모형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8E2BB-EBA8-4DDB-8199-563A0883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013" y="1371600"/>
            <a:ext cx="7313612" cy="4958080"/>
          </a:xfrm>
        </p:spPr>
        <p:txBody>
          <a:bodyPr/>
          <a:lstStyle/>
          <a:p>
            <a:r>
              <a:rPr lang="en-US" altLang="ko-KR" sz="2000" dirty="0"/>
              <a:t>2</a:t>
            </a:r>
            <a:r>
              <a:rPr lang="ko-KR" altLang="en-US" sz="2000" dirty="0"/>
              <a:t>단계 연계분석법은 매우 편리하게 </a:t>
            </a:r>
            <a:r>
              <a:rPr lang="ko-KR" altLang="en-US" sz="2000" dirty="0" err="1"/>
              <a:t>방문지</a:t>
            </a:r>
            <a:r>
              <a:rPr lang="ko-KR" altLang="en-US" sz="2000" dirty="0"/>
              <a:t> 선택과 총 방문횟수 선택을 함께 분석할 수 있는 방법이지만</a:t>
            </a:r>
            <a:r>
              <a:rPr lang="en-US" altLang="ko-KR" sz="2000" dirty="0"/>
              <a:t>, </a:t>
            </a:r>
            <a:r>
              <a:rPr lang="ko-KR" altLang="en-US" sz="2000" dirty="0"/>
              <a:t>선택자의 효용함수가 어떻게 생겨야 최종 분석결과가 </a:t>
            </a:r>
            <a:r>
              <a:rPr lang="ko-KR" altLang="en-US" sz="2000" dirty="0" err="1"/>
              <a:t>효용극대화행위와</a:t>
            </a:r>
            <a:r>
              <a:rPr lang="ko-KR" altLang="en-US" sz="2000" dirty="0"/>
              <a:t> 일관성을 가지는지가 알려져 있지 않아 이론적 기반이 불충분한 분석법임</a:t>
            </a:r>
            <a:endParaRPr lang="en-US" altLang="ko-KR" sz="2000" dirty="0"/>
          </a:p>
          <a:p>
            <a:r>
              <a:rPr lang="ko-KR" altLang="en-US" sz="2000" dirty="0"/>
              <a:t>대안으로서 휴양수요분석에 도입된 기법이 </a:t>
            </a:r>
            <a:r>
              <a:rPr lang="ko-KR" altLang="en-US" sz="2000" b="1" dirty="0">
                <a:solidFill>
                  <a:srgbClr val="0000FF"/>
                </a:solidFill>
              </a:rPr>
              <a:t>이산</a:t>
            </a:r>
            <a:r>
              <a:rPr lang="en-US" altLang="ko-KR" sz="2000" b="1" dirty="0">
                <a:solidFill>
                  <a:srgbClr val="0000FF"/>
                </a:solidFill>
              </a:rPr>
              <a:t>-</a:t>
            </a:r>
            <a:r>
              <a:rPr lang="ko-KR" altLang="en-US" sz="2000" b="1" dirty="0">
                <a:solidFill>
                  <a:srgbClr val="0000FF"/>
                </a:solidFill>
              </a:rPr>
              <a:t>연속선택</a:t>
            </a:r>
            <a:r>
              <a:rPr lang="en-US" altLang="ko-KR" sz="2000" b="1" dirty="0">
                <a:solidFill>
                  <a:srgbClr val="0000FF"/>
                </a:solidFill>
              </a:rPr>
              <a:t>(discrete-continuous choice)</a:t>
            </a:r>
            <a:r>
              <a:rPr lang="ko-KR" altLang="en-US" sz="2000" b="1" dirty="0">
                <a:solidFill>
                  <a:srgbClr val="0000FF"/>
                </a:solidFill>
              </a:rPr>
              <a:t>모형</a:t>
            </a:r>
            <a:endParaRPr lang="en-US" altLang="ko-KR" sz="2000" b="1" dirty="0">
              <a:solidFill>
                <a:srgbClr val="0000FF"/>
              </a:solidFill>
            </a:endParaRPr>
          </a:p>
          <a:p>
            <a:r>
              <a:rPr lang="ko-KR" altLang="en-US" sz="2000" dirty="0"/>
              <a:t>이 방법은 </a:t>
            </a:r>
            <a:r>
              <a:rPr lang="en-US" altLang="ko-KR" sz="2000" dirty="0"/>
              <a:t>N</a:t>
            </a:r>
            <a:r>
              <a:rPr lang="ko-KR" altLang="en-US" sz="2000" dirty="0"/>
              <a:t>개의 휴양지 중 어느 곳은 방문하고 어느 곳은 방문하지 </a:t>
            </a:r>
            <a:r>
              <a:rPr lang="ko-KR" altLang="en-US" sz="2000" dirty="0" err="1"/>
              <a:t>않는지의</a:t>
            </a:r>
            <a:r>
              <a:rPr lang="ko-KR" altLang="en-US" sz="2000" dirty="0"/>
              <a:t> 여부</a:t>
            </a:r>
            <a:r>
              <a:rPr lang="en-US" altLang="ko-KR" sz="2000" dirty="0"/>
              <a:t>(=</a:t>
            </a:r>
            <a:r>
              <a:rPr lang="ko-KR" altLang="en-US" sz="2000" dirty="0"/>
              <a:t>이산변수 선택</a:t>
            </a:r>
            <a:r>
              <a:rPr lang="en-US" altLang="ko-KR" sz="2000" dirty="0"/>
              <a:t>)</a:t>
            </a:r>
            <a:r>
              <a:rPr lang="ko-KR" altLang="en-US" sz="2000" dirty="0"/>
              <a:t>와 방문하는 지역은 몇 번씩을 방문하는지</a:t>
            </a:r>
            <a:r>
              <a:rPr lang="en-US" altLang="ko-KR" sz="2000" dirty="0"/>
              <a:t>(=</a:t>
            </a:r>
            <a:r>
              <a:rPr lang="ko-KR" altLang="en-US" sz="2000" dirty="0"/>
              <a:t>연속변수 선택</a:t>
            </a:r>
            <a:r>
              <a:rPr lang="en-US" altLang="ko-KR" sz="2000" dirty="0"/>
              <a:t>)</a:t>
            </a:r>
            <a:r>
              <a:rPr lang="ko-KR" altLang="en-US" sz="2000" dirty="0"/>
              <a:t>를 단계적 의사결정이 아닌 하나의 의사결정으로 분석함</a:t>
            </a:r>
            <a:endParaRPr lang="en-US" altLang="ko-KR" sz="2000" dirty="0"/>
          </a:p>
          <a:p>
            <a:r>
              <a:rPr lang="ko-KR" altLang="en-US" sz="2000" dirty="0"/>
              <a:t>이 의사결정은 구체적인 효용함수 형태를 반영하여 이루어지며</a:t>
            </a:r>
            <a:r>
              <a:rPr lang="en-US" altLang="ko-KR" sz="2000" dirty="0"/>
              <a:t>,  </a:t>
            </a:r>
            <a:r>
              <a:rPr lang="ko-KR" altLang="en-US" sz="2000" dirty="0"/>
              <a:t>따라서 효용이론에 기반을 두고 모든 분석이 진행됨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5174C4-7EF3-4C83-801C-7A450087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689DEF-829D-476A-B9D9-95712781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2039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1CE3E-1743-49FB-8BFD-27D39B5D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이산</a:t>
            </a:r>
            <a:r>
              <a:rPr lang="en-US" altLang="ko-KR" dirty="0"/>
              <a:t>-</a:t>
            </a:r>
            <a:r>
              <a:rPr lang="ko-KR" altLang="en-US" dirty="0"/>
              <a:t>연속선택모형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298E2BB-EBA8-4DDB-8199-563A08832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958080"/>
              </a:xfrm>
            </p:spPr>
            <p:txBody>
              <a:bodyPr/>
              <a:lstStyle/>
              <a:p>
                <a:r>
                  <a:rPr lang="ko-KR" altLang="en-US" sz="2000" dirty="0"/>
                  <a:t>특정 기간 동안 각 개인은 첫 번째부터  </a:t>
                </a:r>
                <a:r>
                  <a:rPr lang="en-US" altLang="ko-KR" sz="2000" dirty="0"/>
                  <a:t>N</a:t>
                </a:r>
                <a:r>
                  <a:rPr lang="ko-KR" altLang="en-US" sz="2000" dirty="0"/>
                  <a:t>번째까지의 개별 휴양지를 몇 번이고 선택해 방문하거나 한 번도 방문하지 않을 수 있다고 보고 수요분석을 함</a:t>
                </a:r>
                <a:endParaRPr lang="en-US" altLang="ko-KR" sz="2000" dirty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2000" dirty="0" err="1"/>
                  <a:t>를</a:t>
                </a:r>
                <a:r>
                  <a:rPr lang="ko-KR" altLang="en-US" sz="2000" dirty="0"/>
                  <a:t> 휴양행위 외의 다른 모든 소비재에 대한 지출액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/>
                  <a:t>를 자연휴양지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2000" dirty="0"/>
                  <a:t>의 만족도 관련해 첨부되는 확률변수라 하면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각 개인의 </a:t>
                </a:r>
                <a:r>
                  <a:rPr lang="ko-KR" altLang="en-US" sz="2000" dirty="0" err="1"/>
                  <a:t>확률효용은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r>
                      <m:rPr>
                        <m:nor/>
                      </m:rPr>
                      <a:rPr lang="en-US" altLang="ko-KR" sz="2000" dirty="0"/>
                      <m:t> 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/>
              </a:p>
              <a:p>
                <a:r>
                  <a:rPr lang="ko-KR" altLang="en-US" sz="2000" dirty="0" err="1"/>
                  <a:t>개인은</a:t>
                </a:r>
                <a:r>
                  <a:rPr lang="ko-KR" altLang="en-US" sz="2000" dirty="0"/>
                  <a:t> 이를 예산제약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nary>
                  </m:oMath>
                </a14:m>
                <a:r>
                  <a:rPr lang="ko-KR" altLang="en-US" sz="2000" dirty="0"/>
                  <a:t>을 반영하여 극대화하도록 각 휴양지로의 방문횟수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/>
                  <a:t>와 기타 소비재에 대한 지출액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2000" dirty="0"/>
                  <a:t>를 선택</a:t>
                </a:r>
                <a:endParaRPr lang="en-US" altLang="ko-KR" sz="2000" dirty="0"/>
              </a:p>
              <a:p>
                <a:r>
                  <a:rPr lang="ko-KR" altLang="en-US" sz="2000" dirty="0"/>
                  <a:t>이때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sz="2000" dirty="0"/>
                  <a:t>이고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sz="2000" dirty="0"/>
                  <a:t>이어서 각 휴양지에 대한 방문횟수는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이거나 아니면 양</a:t>
                </a:r>
                <a:r>
                  <a:rPr lang="en-US" altLang="ko-KR" sz="2000" dirty="0"/>
                  <a:t>(+)</a:t>
                </a:r>
                <a:r>
                  <a:rPr lang="ko-KR" altLang="en-US" sz="2000" dirty="0"/>
                  <a:t>의 어떤 수치가 되도록 제약</a:t>
                </a:r>
                <a:endParaRPr lang="en-US" altLang="ko-KR" sz="2000" dirty="0"/>
              </a:p>
              <a:p>
                <a:r>
                  <a:rPr lang="ko-KR" altLang="en-US" sz="2000" dirty="0"/>
                  <a:t>확률변수에 분포를 부여하고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효용함수의 형태도 설정한 후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최적선택조건을 적용하면 자료가 보여주는 바와 같은 선택이 나타날 확률을 </a:t>
                </a:r>
                <a:r>
                  <a:rPr lang="ko-KR" altLang="en-US" sz="2000" dirty="0" err="1"/>
                  <a:t>우도함수로</a:t>
                </a:r>
                <a:r>
                  <a:rPr lang="ko-KR" altLang="en-US" sz="2000" dirty="0"/>
                  <a:t> 도출할 수 있음</a:t>
                </a:r>
                <a:endParaRPr lang="en-US" altLang="ko-KR" sz="2000" dirty="0"/>
              </a:p>
              <a:p>
                <a:r>
                  <a:rPr lang="ko-KR" altLang="en-US" sz="2000" dirty="0"/>
                  <a:t>이 </a:t>
                </a:r>
                <a:r>
                  <a:rPr lang="ko-KR" altLang="en-US" sz="2000" dirty="0" err="1"/>
                  <a:t>우도함수를</a:t>
                </a:r>
                <a:r>
                  <a:rPr lang="ko-KR" altLang="en-US" sz="2000" dirty="0"/>
                  <a:t> 극대화하도록 효용함수형태를 추정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298E2BB-EBA8-4DDB-8199-563A08832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958080"/>
              </a:xfrm>
              <a:blipFill>
                <a:blip r:embed="rId2"/>
                <a:stretch>
                  <a:fillRect l="-751" t="-861" r="-667" b="-2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5174C4-7EF3-4C83-801C-7A450087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689DEF-829D-476A-B9D9-95712781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209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1CE3E-1743-49FB-8BFD-27D39B5D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이산</a:t>
            </a:r>
            <a:r>
              <a:rPr lang="en-US" altLang="ko-KR" dirty="0"/>
              <a:t>-</a:t>
            </a:r>
            <a:r>
              <a:rPr lang="ko-KR" altLang="en-US" dirty="0"/>
              <a:t>연속선택모형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298E2BB-EBA8-4DDB-8199-563A08832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958080"/>
              </a:xfrm>
            </p:spPr>
            <p:txBody>
              <a:bodyPr/>
              <a:lstStyle/>
              <a:p>
                <a:r>
                  <a:rPr lang="ko-KR" altLang="en-US" sz="2000" dirty="0"/>
                  <a:t>적용되는 함수 예 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공</a:t>
                </a:r>
                <a14:m>
                  <m:oMath xmlns:m="http://schemas.openxmlformats.org/officeDocument/2006/math">
                    <m:r>
                      <a:rPr lang="ko-KR" altLang="en-US" sz="2000" b="0" i="1" dirty="0">
                        <a:latin typeface="Cambria Math" panose="02040503050406030204" pitchFamily="18" charset="0"/>
                      </a:rPr>
                      <m:t>원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별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2000" dirty="0"/>
                  <a:t>지의 공공재 특성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𝑖𝑠</m:t>
                        </m:r>
                      </m:sub>
                    </m:sSub>
                  </m:oMath>
                </a14:m>
                <a:r>
                  <a:rPr lang="en-US" altLang="ko-KR" sz="2000" dirty="0"/>
                  <a:t>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𝑖𝑠</m:t>
                                      </m:r>
                                    </m:sub>
                                  </m:s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+1 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𝑙𝑛𝑧</m:t>
                          </m:r>
                        </m:e>
                      </m:nary>
                    </m:oMath>
                  </m:oMathPara>
                </a14:m>
                <a:endParaRPr lang="en-US" altLang="ko-KR" sz="2000" dirty="0"/>
              </a:p>
              <a:p>
                <a:r>
                  <a:rPr lang="ko-KR" altLang="en-US" sz="2000" dirty="0"/>
                  <a:t>제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약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nary>
                  </m:oMath>
                </a14:m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</m:t>
                    </m:r>
                  </m:oMath>
                </a14:m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 sz="2000" dirty="0"/>
                  <a:t>을 적용했을 때의  효용극대화조건과 일치하게 </a:t>
                </a:r>
                <a:r>
                  <a:rPr lang="ko-KR" altLang="en-US" sz="2000" dirty="0" err="1"/>
                  <a:t>우도함수를</a:t>
                </a:r>
                <a:r>
                  <a:rPr lang="ko-KR" altLang="en-US" sz="2000" dirty="0"/>
                  <a:t> 도출하고 모형 추정하여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값 구함</a:t>
                </a:r>
                <a:endParaRPr lang="en-US" altLang="ko-KR" sz="2000" dirty="0"/>
              </a:p>
              <a:p>
                <a:r>
                  <a:rPr lang="ko-KR" altLang="en-US" sz="2000" dirty="0"/>
                  <a:t>추정된 효용함수로부터 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𝑖𝑠</m:t>
                        </m:r>
                      </m:sub>
                    </m:sSub>
                  </m:oMath>
                </a14:m>
                <a:r>
                  <a:rPr lang="ko-KR" altLang="en-US" sz="2000" dirty="0"/>
                  <a:t>의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경제적 가치 도출</a:t>
                </a:r>
                <a:endParaRPr lang="en-US" altLang="ko-KR" sz="2000" dirty="0"/>
              </a:p>
              <a:p>
                <a:pPr lvl="1"/>
                <a:r>
                  <a:rPr lang="ko-KR" altLang="en-US" sz="1600" dirty="0">
                    <a:latin typeface="+mj-lt"/>
                  </a:rPr>
                  <a:t>위의 </a:t>
                </a:r>
                <a:r>
                  <a:rPr lang="ko-KR" altLang="en-US" sz="1600" dirty="0" err="1">
                    <a:latin typeface="+mj-lt"/>
                  </a:rPr>
                  <a:t>효용함수가</a:t>
                </a:r>
                <a:r>
                  <a:rPr lang="ko-KR" altLang="en-US" sz="1600" dirty="0">
                    <a:latin typeface="+mj-lt"/>
                  </a:rPr>
                  <a:t> </a:t>
                </a:r>
                <a:r>
                  <a:rPr lang="ko-KR" altLang="en-US" sz="1600" dirty="0" err="1">
                    <a:latin typeface="+mj-lt"/>
                  </a:rPr>
                  <a:t>약보완성</a:t>
                </a:r>
                <a:r>
                  <a:rPr lang="ko-KR" altLang="en-US" sz="1600" dirty="0">
                    <a:latin typeface="+mj-lt"/>
                  </a:rPr>
                  <a:t> 충족하는지 확인해 볼 것</a:t>
                </a:r>
                <a:endParaRPr lang="en-US" altLang="ko-KR" sz="1600" dirty="0">
                  <a:latin typeface="+mj-lt"/>
                </a:endParaRPr>
              </a:p>
              <a:p>
                <a:r>
                  <a:rPr lang="ko-KR" altLang="en-US" sz="2000" dirty="0"/>
                  <a:t>이산</a:t>
                </a:r>
                <a:r>
                  <a:rPr lang="en-US" altLang="ko-KR" sz="2000" dirty="0"/>
                  <a:t>-</a:t>
                </a:r>
                <a:r>
                  <a:rPr lang="ko-KR" altLang="en-US" sz="2000" dirty="0"/>
                  <a:t>연속선택모형은 휴양수요분석 외에도 일반 </a:t>
                </a:r>
                <a:r>
                  <a:rPr lang="ko-KR" altLang="en-US" sz="2000" dirty="0" err="1"/>
                  <a:t>소비행위나</a:t>
                </a:r>
                <a:r>
                  <a:rPr lang="ko-KR" altLang="en-US" sz="2000" dirty="0"/>
                  <a:t> 마케팅 분야 연구에도 활발하게 사용됨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298E2BB-EBA8-4DDB-8199-563A08832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958080"/>
              </a:xfrm>
              <a:blipFill>
                <a:blip r:embed="rId2"/>
                <a:stretch>
                  <a:fillRect l="-751" t="-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689DEF-829D-476A-B9D9-95712781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30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</p:spTree>
    <p:extLst>
      <p:ext uri="{BB962C8B-B14F-4D97-AF65-F5344CB8AC3E}">
        <p14:creationId xmlns:p14="http://schemas.microsoft.com/office/powerpoint/2010/main" val="2793439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>
            <a:extLst>
              <a:ext uri="{FF2B5EF4-FFF2-40B4-BE49-F238E27FC236}">
                <a16:creationId xmlns:a16="http://schemas.microsoft.com/office/drawing/2014/main" id="{C13D4607-A02E-4ADD-90AA-32FC03249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대기질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소음도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등의 주택 특성은 주택가격에 영향을 주며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다른 조건이 동일할 때 자연환경이 쾌적한 주택의 가격은 시장에서 더 높게 형성될 것임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자연환경이 주택 등의 자산가치에 미치는 영향을 파악하여 환경의 가치와 환경개선의 편익을 추정하는 방법이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(hedonic price methods)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000" b="1" dirty="0">
              <a:solidFill>
                <a:srgbClr val="0000FF"/>
              </a:solidFill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특성가격법을 이용하여 환경질이 주택가격에 미치는 영향을 분석할 경우 어떤 지리적 범위 내의 주택은 단일시장에 편입되어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개인은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주택의 여러 특성을 알고 있고 최적의 주택을 구매한다고 가정함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바닥글 개체 틀 4">
            <a:extLst>
              <a:ext uri="{FF2B5EF4-FFF2-40B4-BE49-F238E27FC236}">
                <a16:creationId xmlns:a16="http://schemas.microsoft.com/office/drawing/2014/main" id="{5A18AE85-079A-482E-A822-407DAE120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18436" name="슬라이드 번호 개체 틀 5">
            <a:extLst>
              <a:ext uri="{FF2B5EF4-FFF2-40B4-BE49-F238E27FC236}">
                <a16:creationId xmlns:a16="http://schemas.microsoft.com/office/drawing/2014/main" id="{9F89BC77-A86D-49A2-8544-F6C8131B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939827-2BBE-4FB5-BFDA-844CC235A55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D8D0235F-331E-448F-AAFC-433F2E3F0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9BF9E57B-7D62-48AB-B7F4-2CA6C325D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5593575E-2F2E-4827-9107-CB625505E0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번째 주택의 가격을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hi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주택 자체의 특성을 나타내는 변수를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S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학군이나 도심지와의 거리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범죄율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등 주변환경을 나타내는 변수를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N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주택 주변의 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대기질을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en-US" altLang="ko-KR" sz="24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설정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특성가격법을 사용할 경우 여러 주택이 가지고 있는 특성과 주택가격을 조사하여 다음의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특성가격함수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(hedonic price function)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추정해야 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algn="ctr" eaLnBrk="1" hangingPunct="1">
                  <a:buNone/>
                  <a:defRPr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P</a:t>
                </a:r>
                <a:r>
                  <a:rPr lang="en-US" altLang="ko-KR" sz="20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h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= f(S, N, Q)</a:t>
                </a:r>
              </a:p>
              <a:p>
                <a:pPr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추정한 후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f(S, N, Q)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에 대해 미분하여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eaLnBrk="1" hangingPunct="1">
                  <a:buNone/>
                  <a:defRPr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각 주택에 대해 구하며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ko-KR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주택의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eaLnBrk="1" hangingPunct="1">
                  <a:buFont typeface="Wingdings" panose="05000000000000000000" pitchFamily="2" charset="2"/>
                  <a:buNone/>
                  <a:defRPr/>
                </a:pPr>
                <a:r>
                  <a:rPr lang="ko-KR" altLang="en-US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 잠재한계가격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(implicit marginal price)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이라 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주택의 잠재한계가격은 대기질이 한 단위 더 개선된 주택을 구입하기 위해 소비자가 지불해야 할 금액임</a:t>
                </a:r>
                <a:endParaRPr lang="en-US" altLang="ko-KR" sz="26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 b="-24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22F3212C-1EEA-40B3-B478-AD981B1C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73A9A77A-9761-49CC-8C79-7A1906D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070190-F79B-49B7-A5BA-6BC1F101AD2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2CAEAD11-B7A0-4C1B-9AA0-AB5F6DB4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06964F8-7541-4008-BA96-DDEBFF09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998D4821-F730-49F6-90AE-F6F665F05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주택시장에서 소비자들은 각기 다양한 잠재한계가격을 가지는 주택들을 살펴본 후 자신이 한 단위 개선된 대기질에 거주하기 위해 지불할 의사가 있는 금액과 일치하는 잠재한계가격을 가지는 주택을 선택할 것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이론적 근거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: </a:t>
                </a:r>
              </a:p>
              <a:p>
                <a:pPr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편의상 주택가격은 자산 거래가격보다는 임대료로 평가된다고 가정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𝑁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𝑄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특성을 가진 주택에 거주하고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가족구성 등 가구특성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𝛼</m:t>
                    </m:r>
                  </m:oMath>
                </a14:m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가지면서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소비지출을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𝑧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만큼 하는 어떤 가구의 만족도는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𝑁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𝑄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𝑧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;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𝑎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2" eaLnBrk="1" hangingPunct="1">
                  <a:defRPr/>
                </a:pP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가구는 주택의 특성으로부터 직접 만족도를 얻음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  <a:blipFill>
                <a:blip r:embed="rId3"/>
                <a:stretch>
                  <a:fillRect l="-1024" t="-1272" r="-5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22F3212C-1EEA-40B3-B478-AD981B1C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73A9A77A-9761-49CC-8C79-7A1906D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070190-F79B-49B7-A5BA-6BC1F101AD2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2CAEAD11-B7A0-4C1B-9AA0-AB5F6DB4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06964F8-7541-4008-BA96-DDEBFF09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998D4821-F730-49F6-90AE-F6F665F05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  <p:extLst>
      <p:ext uri="{BB962C8B-B14F-4D97-AF65-F5344CB8AC3E}">
        <p14:creationId xmlns:p14="http://schemas.microsoft.com/office/powerpoint/2010/main" val="1256713012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</p:spPr>
            <p:txBody>
              <a:bodyPr/>
              <a:lstStyle/>
              <a:p>
                <a:pPr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가구소득을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𝑚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이라 하면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특정 만족도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유지하면서 주택에 대해 임대료로 지불하고자 하는 금액을 다음 관계를 만족하는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함수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𝑏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정의하고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입찰지대함수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(bid-rent function)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라 함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𝑁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𝑄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𝑚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−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𝑆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𝑁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𝑄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𝑚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나눔명조" pitchFamily="18" charset="-127"/>
                                      <a:cs typeface="Times New Roman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;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>
                  <a:defRPr/>
                </a:pP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입찰지대함수로부터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환경질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𝑄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한 단위 개선에 대한 한계지불의사 도출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457200" lvl="1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𝑢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(∙)</m:t>
                          </m:r>
                        </m:num>
                        <m:den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∙</m:t>
                              </m:r>
                            </m:e>
                          </m:d>
                        </m:num>
                        <m:den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∙</m:t>
                              </m:r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=0⇒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𝑁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𝑄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∙</m:t>
                              </m:r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∆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itchFamily="18" charset="-127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itchFamily="18" charset="-127"/>
                              <a:cs typeface="Times New Roman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∆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  <m:t>∙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∆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𝑄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나눔명조" pitchFamily="18" charset="-127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∆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itchFamily="18" charset="0"/>
                                    </a:rPr>
                                    <m:t>∙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∆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𝑧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00100"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한계지불의사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𝑁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주택 외의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시장재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𝑧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한계효용대비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𝑄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한계효용과 같으며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주택의 특성과 달성하고자 하는 만족도에 따라 그 값이 달라짐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</a:p>
              <a:p>
                <a:pPr marL="1200150" lvl="2" eaLnBrk="1" hangingPunct="1">
                  <a:defRPr/>
                </a:pP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한계지불의사는 제</a:t>
                </a:r>
                <a:r>
                  <a:rPr lang="en-US" altLang="ko-KR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14</a:t>
                </a: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장에서 도출했던 공공재에 대한 한계지불의사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𝑟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𝑞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,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𝑢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같음</a:t>
                </a:r>
                <a:endParaRPr lang="en-US" altLang="ko-KR" sz="17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1200150" lvl="2" eaLnBrk="1" hangingPunct="1">
                  <a:defRPr/>
                </a:pPr>
                <a:r>
                  <a:rPr lang="ko-KR" altLang="en-US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소득에 대해 독립인 이유는 본문 참조</a:t>
                </a:r>
                <a:r>
                  <a:rPr lang="en-US" altLang="ko-KR" sz="17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  <a:blipFill>
                <a:blip r:embed="rId3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22F3212C-1EEA-40B3-B478-AD981B1C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73A9A77A-9761-49CC-8C79-7A1906D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070190-F79B-49B7-A5BA-6BC1F101AD2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2CAEAD11-B7A0-4C1B-9AA0-AB5F6DB4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06964F8-7541-4008-BA96-DDEBFF09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998D4821-F730-49F6-90AE-F6F665F05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  <p:extLst>
      <p:ext uri="{BB962C8B-B14F-4D97-AF65-F5344CB8AC3E}">
        <p14:creationId xmlns:p14="http://schemas.microsoft.com/office/powerpoint/2010/main" val="2593724141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</p:spPr>
            <p:txBody>
              <a:bodyPr/>
              <a:lstStyle/>
              <a:p>
                <a:pPr marL="800100" lvl="1"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간편함을 위해 𝑆와 𝑁의 영향은 배제하고 주택가격을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𝑄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같이 나타낸다면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가격은 주택시장에서 형성되는 가격으로서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개별 소비자 입장에서는 외부적으로 주어진 가격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00100" lvl="1"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반면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𝑏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소득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특성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을 가진 개별 소비자가 효용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𝑢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얻기 위해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𝑄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특성을 가지는 주택에 대해 지불하고자 하는 금액</a:t>
                </a:r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00100" lvl="1"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두 수치가 일치하는 어떤 수준의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𝑄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있다면 이 환경특성을 가진 주택은 개인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𝑗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사용하게 됨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</a:p>
              <a:p>
                <a:pPr marL="800100" lvl="1" eaLnBrk="1" hangingPunct="1">
                  <a:defRPr/>
                </a:pP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이는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𝑏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)</m:t>
                    </m:r>
                  </m:oMath>
                </a14:m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충족하는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4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개인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𝑗</m:t>
                    </m:r>
                  </m:oMath>
                </a14:m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선택함을 의미하는데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양변을 미분하면</a:t>
                </a:r>
                <a:r>
                  <a:rPr lang="en-US" altLang="ko-KR" sz="24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w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∆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altLang="ko-KR" sz="24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  <a:blipFill>
                <a:blip r:embed="rId3"/>
                <a:stretch>
                  <a:fillRect t="-1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22F3212C-1EEA-40B3-B478-AD981B1C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73A9A77A-9761-49CC-8C79-7A1906D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070190-F79B-49B7-A5BA-6BC1F101AD2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2CAEAD11-B7A0-4C1B-9AA0-AB5F6DB4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06964F8-7541-4008-BA96-DDEBFF09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998D4821-F730-49F6-90AE-F6F665F05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  <p:extLst>
      <p:ext uri="{BB962C8B-B14F-4D97-AF65-F5344CB8AC3E}">
        <p14:creationId xmlns:p14="http://schemas.microsoft.com/office/powerpoint/2010/main" val="3286036592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22F3212C-1EEA-40B3-B478-AD981B1C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73A9A77A-9761-49CC-8C79-7A1906D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070190-F79B-49B7-A5BA-6BC1F101AD2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2CAEAD11-B7A0-4C1B-9AA0-AB5F6DB4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06964F8-7541-4008-BA96-DDEBFF09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998D4821-F730-49F6-90AE-F6F665F05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53E7C6-8F1B-4E7F-889E-6B63670AA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52030"/>
            <a:ext cx="7966617" cy="435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92126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</p:spPr>
            <p:txBody>
              <a:bodyPr/>
              <a:lstStyle/>
              <a:p>
                <a:pPr marL="800100"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특성함수를 추정한 결과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(a)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같은 가격곡선이 도출되었고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미분하여 잠재한계가격곡선을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(b)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같이 도출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00100"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어떤 소비자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𝑗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가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대기질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개선에 대해 지불하고자 하는 한계지불의사를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w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다른 소비자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k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한계지불의사를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w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 나타낼 때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분석자가 직접 관찰할 수 없는 두  한계지불의사곡선은 소비자의 가구특성에 따라 달라짐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00100" lvl="1"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 두 소비자는 자신의 실제 한계지불의사와 자신이 지불해야 하는 잠재한계가격이 일치하는 수준의 대기질인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20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의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대기질을 가지는 주택을 각각 선택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marL="800100" lvl="1" eaLnBrk="1" hangingPunct="1">
                  <a:defRPr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따라서 잠재한계가격선은 각기 다른 소비자들이 지불하고자 하는 한계지불의사를 균형점에서 연결해 놓은 궤적임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3742D8CA-BBC9-41A1-BB30-7186C8053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5273675"/>
              </a:xfrm>
              <a:blipFill>
                <a:blip r:embed="rId3"/>
                <a:stretch>
                  <a:fillRect t="-809" r="-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22F3212C-1EEA-40B3-B478-AD981B1C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73A9A77A-9761-49CC-8C79-7A1906DE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070190-F79B-49B7-A5BA-6BC1F101AD2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2CAEAD11-B7A0-4C1B-9AA0-AB5F6DB40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F06964F8-7541-4008-BA96-DDEBFF096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998D4821-F730-49F6-90AE-F6F665F05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  <p:extLst>
      <p:ext uri="{BB962C8B-B14F-4D97-AF65-F5344CB8AC3E}">
        <p14:creationId xmlns:p14="http://schemas.microsoft.com/office/powerpoint/2010/main" val="1041243669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C0B76723-09A2-4D54-AECB-4160A191D3A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4816475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Q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비한계적 변화로 인한 후생효과를 알고자 하면 한계지불의사 함수 자체를 알아야함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.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이를 위해 다음의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회귀식을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다시 추정함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(2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단계 분석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</a:p>
              <a:p>
                <a:pPr marL="0" indent="0" algn="ctr" eaLnBrk="1" hangingPunct="1">
                  <a:buNone/>
                  <a:defRPr/>
                </a:pP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ko-KR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ko-KR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소비자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소득이며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소비자의 기타 사회경제적 특성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e>
                          <m:sub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ko-KR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ko-KR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ko-KR" alt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 추정된 특성가격함수를 미분한 후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각 주택의 특성변수 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(S</a:t>
                </a:r>
                <a:r>
                  <a:rPr lang="en-US" altLang="ko-KR" sz="18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N</a:t>
                </a:r>
                <a:r>
                  <a:rPr lang="en-US" altLang="ko-KR" sz="18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, Q</a:t>
                </a:r>
                <a:r>
                  <a:rPr lang="en-US" altLang="ko-KR" sz="1800" baseline="-25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i</a:t>
                </a:r>
                <a:r>
                  <a:rPr lang="en-US" altLang="ko-KR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18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를 대입하여 도출한 것임</a:t>
                </a:r>
                <a:endParaRPr lang="en-US" altLang="ko-KR" sz="18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이와 같이 추정된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는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대기질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개선에 대한 소비자들의 한계지불의사를 나타냄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따라서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대기질이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로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개선되면서 발생하는 두 가구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(</a:t>
                </a:r>
                <a:r>
                  <a:rPr lang="en-US" altLang="ko-KR" sz="2000" dirty="0" err="1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j,k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)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의 각각의 편익은 추정된 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곡선과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ko-KR" altLang="en-US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곡선</a:t>
                </a:r>
                <a:r>
                  <a:rPr lang="en-US" altLang="ko-KR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 </a:t>
                </a:r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하의 면적을 각각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Times New Roman" pitchFamily="18" charset="0"/>
                    <a:ea typeface="나눔명조" pitchFamily="18" charset="-127"/>
                    <a:cs typeface="Times New Roman" pitchFamily="18" charset="0"/>
                  </a:rPr>
                  <a:t>구간에서 계산하여 구한 값</a:t>
                </a: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endParaRPr lang="en-US" altLang="ko-KR" sz="2000" dirty="0">
                  <a:latin typeface="Times New Roman" pitchFamily="18" charset="0"/>
                  <a:ea typeface="나눔명조" pitchFamily="18" charset="-127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6386" name="Rectangle 9">
                <a:extLst>
                  <a:ext uri="{FF2B5EF4-FFF2-40B4-BE49-F238E27FC236}">
                    <a16:creationId xmlns:a16="http://schemas.microsoft.com/office/drawing/2014/main" id="{C0B76723-09A2-4D54-AECB-4160A191D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4816475"/>
              </a:xfrm>
              <a:blipFill>
                <a:blip r:embed="rId3"/>
                <a:stretch>
                  <a:fillRect l="-709" t="-886" r="-8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1" name="바닥글 개체 틀 4">
            <a:extLst>
              <a:ext uri="{FF2B5EF4-FFF2-40B4-BE49-F238E27FC236}">
                <a16:creationId xmlns:a16="http://schemas.microsoft.com/office/drawing/2014/main" id="{F3B903F8-1579-4A0A-903C-A8E5FF86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32772" name="슬라이드 번호 개체 틀 5">
            <a:extLst>
              <a:ext uri="{FF2B5EF4-FFF2-40B4-BE49-F238E27FC236}">
                <a16:creationId xmlns:a16="http://schemas.microsoft.com/office/drawing/2014/main" id="{5EC5EFC7-E1F8-4895-AFBE-8C4B213D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91260B-F8DE-491C-9B17-42D5A157285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17D560AE-6119-4F51-98AE-FA70DAF66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C6291A38-296F-44BC-9D0C-7F1B3207A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1610E798-CB37-41BF-8661-FE37DF006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11729-FBDC-4DFF-97CA-DFF95EA8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분석절차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865617-4D71-4AC6-9DBD-9C73246C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794E1C-6EF0-4A7A-9DC5-10840838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39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A779D7-64C9-4888-ABD2-45253CABA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363" y="1102520"/>
            <a:ext cx="5763209" cy="2362916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534AA87-B9A5-4CE0-866E-7F6108B40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88471"/>
              </p:ext>
            </p:extLst>
          </p:nvPr>
        </p:nvGraphicFramePr>
        <p:xfrm>
          <a:off x="824706" y="3638940"/>
          <a:ext cx="7494588" cy="2282890"/>
        </p:xfrm>
        <a:graphic>
          <a:graphicData uri="http://schemas.openxmlformats.org/drawingml/2006/table">
            <a:tbl>
              <a:tblPr/>
              <a:tblGrid>
                <a:gridCol w="749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2890">
                <a:tc>
                  <a:txBody>
                    <a:bodyPr/>
                    <a:lstStyle>
                      <a:lvl1pPr marL="127000">
                        <a:spcBef>
                          <a:spcPct val="20000"/>
                        </a:spcBef>
                        <a:buClr>
                          <a:srgbClr val="8D7DFF"/>
                        </a:buClr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8D7DFF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8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해리슨과 </a:t>
                      </a:r>
                      <a:r>
                        <a:rPr kumimoji="0" lang="ko-KR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루빈펠트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(Harrison and </a:t>
                      </a:r>
                      <a:r>
                        <a:rPr kumimoji="0" lang="en-US" altLang="ko-KR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Rubinfeld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1978)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는 미국 </a:t>
                      </a:r>
                      <a:r>
                        <a:rPr kumimoji="0" lang="ko-KR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보스톤시의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506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 관측치 자료를 이용해 다음과 같은 특성가격함수를 추정함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단계분석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ln(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주택가격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= 9.76+0.0063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방수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+8.98×10-5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노후연수관련변수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                         -0.19ln(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도심지거리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)+․․․-0.012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주변범죄율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-0.0064NOx</a:t>
                      </a: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 추정결과로부터 도출된 잠재한계가격을 다시 질소산화물오염도와 소득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가구원수에 대해 다음과 같이 회귀분석하여 한계지불의사함수를 추정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단계 분석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w=-581+189NOx+12.4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소득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-119.8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가구원수</a:t>
                      </a:r>
                    </a:p>
                  </a:txBody>
                  <a:tcPr marL="17907" marR="17907" marT="17910" marB="17910" anchor="ctr" horzOverflow="overflow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833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9">
            <a:extLst>
              <a:ext uri="{FF2B5EF4-FFF2-40B4-BE49-F238E27FC236}">
                <a16:creationId xmlns:a16="http://schemas.microsoft.com/office/drawing/2014/main" id="{AD0076A8-E455-4E98-9037-9F2D1BF71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1538" y="162877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특성가격모형은 내구재의 시장균형가격을 통해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개선의 편익을 도출하는 이론적 기반이 강한 분석법임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그러나 이 분석은 복잡한 통계분석을 요구하며 주택의 특성과 거주자의 특성을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변수화할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수 있어야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특성가격함수의 형태나 주택시장의 범위 그리고 환경의 경제적 가치를 도출하는 것과 관련해서도 문제가 남아있음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6867" name="바닥글 개체 틀 4">
            <a:extLst>
              <a:ext uri="{FF2B5EF4-FFF2-40B4-BE49-F238E27FC236}">
                <a16:creationId xmlns:a16="http://schemas.microsoft.com/office/drawing/2014/main" id="{8C61AD67-37F4-42CF-8ABE-B546F1BF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36868" name="슬라이드 번호 개체 틀 5">
            <a:extLst>
              <a:ext uri="{FF2B5EF4-FFF2-40B4-BE49-F238E27FC236}">
                <a16:creationId xmlns:a16="http://schemas.microsoft.com/office/drawing/2014/main" id="{38DA94B9-75A3-4671-97D9-648D3166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EE4C82-B9A5-4174-A6DD-4F228C99A5E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2F40DCA7-A53B-4344-B4DB-2871DAB93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EC6BD504-1730-4210-AE2D-83296A39B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4E730A03-AAB9-4519-966F-8C6B5B5EB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특성가격법의 몇 가지 문제 및 해결방안</a:t>
            </a: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9">
            <a:extLst>
              <a:ext uri="{FF2B5EF4-FFF2-40B4-BE49-F238E27FC236}">
                <a16:creationId xmlns:a16="http://schemas.microsoft.com/office/drawing/2014/main" id="{DC8C23FF-BFC8-49E3-9014-8C5C152CEA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544638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특히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 2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단계 분석방식은 여러 논란을 야기함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개인별 지불의사까지 도출하기 위해서는 소득과 가구 특성을 일일이 파악해야 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개인은 환경재의 양과 함께 가격을 동시에 선택하는데 이는 주어진 가격 하에서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소비량를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선택하는 일상적인 소비행위와는 상이한 성격을 지님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근본적으로 잠재한계가격에서 개인별 지불의사를 도출하는 과정이 추가적인 정보를 제공하지 못할 확률이 높음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8915" name="바닥글 개체 틀 4">
            <a:extLst>
              <a:ext uri="{FF2B5EF4-FFF2-40B4-BE49-F238E27FC236}">
                <a16:creationId xmlns:a16="http://schemas.microsoft.com/office/drawing/2014/main" id="{AA3831DB-7C5A-447F-ACB6-A62DD948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38916" name="슬라이드 번호 개체 틀 5">
            <a:extLst>
              <a:ext uri="{FF2B5EF4-FFF2-40B4-BE49-F238E27FC236}">
                <a16:creationId xmlns:a16="http://schemas.microsoft.com/office/drawing/2014/main" id="{841550FD-C877-43F7-9575-50B5DF96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284563-33B1-4EC1-A5DD-450A9ADBFDE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B0ACAAA5-6497-4234-92E5-46A474373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40A9FE41-8AB9-4816-BD93-9A63D124D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4973E0D1-142A-4A74-B821-7967FFBD8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880" y="0"/>
            <a:ext cx="796417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개인별 한계지불의사의 식별문제</a:t>
            </a: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962" name="Rectangle 9">
                <a:extLst>
                  <a:ext uri="{FF2B5EF4-FFF2-40B4-BE49-F238E27FC236}">
                    <a16:creationId xmlns:a16="http://schemas.microsoft.com/office/drawing/2014/main" id="{C49A0FA6-519A-49BD-AB6D-9E0C29D649F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4816475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두 번째 추정과정에서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̂"/>
                            <m:ctrlPr>
                              <a:rPr lang="ko-KR" altLang="en-US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ko-KR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ko-K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20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은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실제 관측되는 통계자료상의 수치가 아니라 </a:t>
                </a:r>
                <a:r>
                  <a:rPr lang="ko-KR" altLang="en-US" sz="20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특성가격함수로부터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도출되었기 때문에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사실상 첫 번째 추정절차의 반복일 가능성이 많음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개인별 한계지불의사곡선 전체가 아니라 이 곡선과 잠재한계가격 곡선이 만나는 한 점에 관한 정보만 알려져 있음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단계의 회귀분석은 각기 다른 소비자들의 한계지불의사 추정치를 자료로 하여 회귀분석하기 때문에 각 개인별 한계지불의사곡선 전체를 추정하지는 못함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대신 다수의 개별 한계지불의사를 연결하는 잠재한계가격곡선을 다시 추정하는 결과 야기함</a:t>
                </a:r>
                <a:endParaRPr lang="en-US" altLang="ko-KR" sz="16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962" name="Rectangle 9">
                <a:extLst>
                  <a:ext uri="{FF2B5EF4-FFF2-40B4-BE49-F238E27FC236}">
                    <a16:creationId xmlns:a16="http://schemas.microsoft.com/office/drawing/2014/main" id="{C49A0FA6-519A-49BD-AB6D-9E0C29D64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4816475"/>
              </a:xfrm>
              <a:blipFill>
                <a:blip r:embed="rId3"/>
                <a:stretch>
                  <a:fillRect l="-709" r="-5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F87BF170-FA31-4D76-A426-6BD86E84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6F186FC1-FA7F-4796-9D1D-E4A968F7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AC17CD-9C3D-4459-8448-0ABAD2ED06B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FA305C2A-A88E-47FE-BB65-B302A844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11318777-1469-4842-8BEF-FF7EF534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AD53A8DA-7B57-4F8E-89F8-CBAC91087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080" y="0"/>
            <a:ext cx="801497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개인별 한계지불의사의 식별문제</a:t>
            </a: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9">
            <a:extLst>
              <a:ext uri="{FF2B5EF4-FFF2-40B4-BE49-F238E27FC236}">
                <a16:creationId xmlns:a16="http://schemas.microsoft.com/office/drawing/2014/main" id="{C49A0FA6-519A-49BD-AB6D-9E0C29D649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4"/>
            <a:ext cx="7737475" cy="4816475"/>
          </a:xfrm>
        </p:spPr>
        <p:txBody>
          <a:bodyPr/>
          <a:lstStyle/>
          <a:p>
            <a:pPr eaLnBrk="1" hangingPunct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단계 추정결과를 이용해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단계 추정치를 적절히 도출하기 어려운 현상을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식별문제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(identification problem)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라 부름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 사람의 한계지불의사곡선 가운데 한 점만 관측이 되는 것이 문제라면 이 사람이 행한 다수의 거래기록을 이용하면 됨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하지만 현실적으로 한 개인이 여러 차례 부동산 거래를 한 기록을 모아 분석하는 것은 어려우므로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대안은 서로 독립된 다수의 부동산시장 거래자료를 이용하는 것임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 다수의 시장자료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상이한 도시의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잠재가격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이용하여 각 개인의 한계지불곡선상의 여러 점을 파악하는 것이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바람직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F87BF170-FA31-4D76-A426-6BD86E84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6F186FC1-FA7F-4796-9D1D-E4A968F7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AC17CD-9C3D-4459-8448-0ABAD2ED06B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FA305C2A-A88E-47FE-BB65-B302A844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11318777-1469-4842-8BEF-FF7EF534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AD53A8DA-7B57-4F8E-89F8-CBAC91087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0080" y="0"/>
            <a:ext cx="801497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개인별 한계지불의사의 식별문제</a:t>
            </a:r>
          </a:p>
        </p:txBody>
      </p:sp>
    </p:spTree>
    <p:extLst>
      <p:ext uri="{BB962C8B-B14F-4D97-AF65-F5344CB8AC3E}">
        <p14:creationId xmlns:p14="http://schemas.microsoft.com/office/powerpoint/2010/main" val="1312428853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바닥글 개체 틀 4">
            <a:extLst>
              <a:ext uri="{FF2B5EF4-FFF2-40B4-BE49-F238E27FC236}">
                <a16:creationId xmlns:a16="http://schemas.microsoft.com/office/drawing/2014/main" id="{EBBD9791-0F3C-4239-81BA-0B9D09B7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3011" name="슬라이드 번호 개체 틀 5">
            <a:extLst>
              <a:ext uri="{FF2B5EF4-FFF2-40B4-BE49-F238E27FC236}">
                <a16:creationId xmlns:a16="http://schemas.microsoft.com/office/drawing/2014/main" id="{CBD7F308-AC71-4E70-9509-DCB478AB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713D7C-D6CA-4537-9BD6-98BF50C1B52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2735BE3E-675C-4CA8-AD45-67D4E286D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3D78369B-4FB2-4EFF-865D-5AFB9D483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0496FD3A-18C2-4A84-9C9A-40F00F491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개인별 한계지불의사의 식별문제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7F92C1-2A3B-4CD8-AC28-0AE9C582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611" y="1268963"/>
            <a:ext cx="6918399" cy="39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06708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962" name="Rectangle 9">
                <a:extLst>
                  <a:ext uri="{FF2B5EF4-FFF2-40B4-BE49-F238E27FC236}">
                    <a16:creationId xmlns:a16="http://schemas.microsoft.com/office/drawing/2014/main" id="{C49A0FA6-519A-49BD-AB6D-9E0C29D649F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4"/>
                <a:ext cx="7737475" cy="4816475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다수 주택 시장의 분석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서울과 부산의 주택시장은 적어도 단기적으로는 분리되어 있어 한 개인이 서울과 부산에서 동시에 주택을 찾지는 않을 것임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그림에서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p>
                        </m:sSubSup>
                      </m:num>
                      <m:den>
                        <m:r>
                          <a:rPr lang="ko-KR" altLang="en-US" sz="18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𝑄</m:t>
                        </m:r>
                      </m:den>
                    </m:f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서울지역 주택시장자료를 이용해 추정된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특성가격함수로부터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도출된 잠재한계가격의 궤적이고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sup>
                        </m:sSubSup>
                      </m:num>
                      <m:den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𝑄</m:t>
                        </m:r>
                      </m:den>
                    </m:f>
                  </m:oMath>
                </a14:m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부산지역자료를 이용해 추정된 결과로부터 도출된 잠재한계가격 궤적임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번째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개인은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서울지역에서 주택을 구입했고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따라서 점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본인의 </a:t>
                </a:r>
                <a:r>
                  <a:rPr lang="ko-KR" altLang="en-US" sz="18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선택점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개인의 소득이나 기타 사회경제적 특성 값을 추정된 부산의 잠재한계가격함수에 대입하면 점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가 예측됨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</a:p>
              <a:p>
                <a:pPr lvl="2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점은 이 사람이 부산에서도 주택구매 행위를 했다면 선택할 것이라 예측되는 점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 eaLnBrk="1" hangingPunct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이렇게 서울의 주택시장과 부산의 주택시장을 별도로 추정한 결과를 모두 이용할 경우 개인 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j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는 서울지역의 주택을 선택하였지만 연구자는 이 사람의 한계지불의사곡선 상의 점 두 개를 알게 되고</a:t>
                </a:r>
                <a:r>
                  <a:rPr lang="en-US" altLang="ko-KR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 곡선을 더 잘 식별할 수 있음</a:t>
                </a:r>
                <a:endParaRPr lang="en-US" altLang="ko-KR" sz="18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62" name="Rectangle 9">
                <a:extLst>
                  <a:ext uri="{FF2B5EF4-FFF2-40B4-BE49-F238E27FC236}">
                    <a16:creationId xmlns:a16="http://schemas.microsoft.com/office/drawing/2014/main" id="{C49A0FA6-519A-49BD-AB6D-9E0C29D64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4"/>
                <a:ext cx="7737475" cy="4816475"/>
              </a:xfrm>
              <a:blipFill>
                <a:blip r:embed="rId3"/>
                <a:stretch>
                  <a:fillRect l="-709" t="-1013" r="-630" b="-16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3" name="바닥글 개체 틀 4">
            <a:extLst>
              <a:ext uri="{FF2B5EF4-FFF2-40B4-BE49-F238E27FC236}">
                <a16:creationId xmlns:a16="http://schemas.microsoft.com/office/drawing/2014/main" id="{F87BF170-FA31-4D76-A426-6BD86E84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 dirty="0" err="1">
                <a:latin typeface="나눔고딕" pitchFamily="50" charset="-127"/>
                <a:ea typeface="나눔고딕" pitchFamily="50" charset="-127"/>
              </a:rPr>
              <a:t>Chapter</a:t>
            </a:r>
            <a:r>
              <a:rPr lang="ko-KR" altLang="en-US" sz="12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0964" name="슬라이드 번호 개체 틀 5">
            <a:extLst>
              <a:ext uri="{FF2B5EF4-FFF2-40B4-BE49-F238E27FC236}">
                <a16:creationId xmlns:a16="http://schemas.microsoft.com/office/drawing/2014/main" id="{6F186FC1-FA7F-4796-9D1D-E4A968F7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AC17CD-9C3D-4459-8448-0ABAD2ED06B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200" dirty="0">
              <a:latin typeface="Verdana" panose="020B0604030504040204" pitchFamily="34" charset="0"/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FA305C2A-A88E-47FE-BB65-B302A844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11318777-1469-4842-8BEF-FF7EF534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AD53A8DA-7B57-4F8E-89F8-CBAC91087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0240" y="0"/>
            <a:ext cx="8004810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개인별 한계지불의사의 식별문제</a:t>
            </a:r>
          </a:p>
        </p:txBody>
      </p:sp>
    </p:spTree>
    <p:extLst>
      <p:ext uri="{BB962C8B-B14F-4D97-AF65-F5344CB8AC3E}">
        <p14:creationId xmlns:p14="http://schemas.microsoft.com/office/powerpoint/2010/main" val="3945312098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58" name="Rectangle 9">
                <a:extLst>
                  <a:ext uri="{FF2B5EF4-FFF2-40B4-BE49-F238E27FC236}">
                    <a16:creationId xmlns:a16="http://schemas.microsoft.com/office/drawing/2014/main" id="{A2519B41-DDD0-48D9-BC77-6C58A8D0070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800" dirty="0">
                    <a:latin typeface="나눔명조" pitchFamily="18" charset="-127"/>
                    <a:ea typeface="나눔명조" pitchFamily="18" charset="-127"/>
                  </a:rPr>
                  <a:t>개인의 한계지불의사함수가 성공적으로 추정되었다고 해도 편익의 계산과 관련한 문제가 남아있음</a:t>
                </a:r>
                <a:endParaRPr lang="en-US" altLang="ko-KR" sz="2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2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단계에서 추정된 한계지불의사 함수</a:t>
                </a:r>
                <a:r>
                  <a:rPr lang="en-US" altLang="ko-KR" sz="2400" b="0" dirty="0">
                    <a:ea typeface="나눔명조" pitchFamily="18" charset="-127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𝑚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는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실제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  <a:cs typeface="Times New Roman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𝑄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𝑢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,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  <a:ea typeface="나눔명조" pitchFamily="18" charset="-127"/>
                            <a:cs typeface="Times New Roman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와 달리 효용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u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가 아니라 소득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m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을 설명변수로 하고 있어 보상수요가 아니라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통상수요함수로부터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도출된 편익지표라는 문제가 있음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5058" name="Rectangle 9">
                <a:extLst>
                  <a:ext uri="{FF2B5EF4-FFF2-40B4-BE49-F238E27FC236}">
                    <a16:creationId xmlns:a16="http://schemas.microsoft.com/office/drawing/2014/main" id="{A2519B41-DDD0-48D9-BC77-6C58A8D007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339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59" name="바닥글 개체 틀 4">
            <a:extLst>
              <a:ext uri="{FF2B5EF4-FFF2-40B4-BE49-F238E27FC236}">
                <a16:creationId xmlns:a16="http://schemas.microsoft.com/office/drawing/2014/main" id="{0876AB1D-4C8F-4A02-9B41-E1FBA686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5060" name="슬라이드 번호 개체 틀 5">
            <a:extLst>
              <a:ext uri="{FF2B5EF4-FFF2-40B4-BE49-F238E27FC236}">
                <a16:creationId xmlns:a16="http://schemas.microsoft.com/office/drawing/2014/main" id="{CAF0006B-86DE-4D5B-8ADB-80E557E4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E73CEA-EE62-4659-BB81-14768C96C2D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81F68A37-DC0B-4065-9410-E60CF6089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A65C62ED-F7CF-4071-AF51-75B26B58F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E58CA25C-39AD-4097-A615-EC3760F91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편익의 계산</a:t>
            </a: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BC2ED-8BA8-4C71-BDBE-3663A949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편익의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B94C8F-A464-43F7-8AB7-DEE8D6F61A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18622" y="1102520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 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 :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특수한 형태의 효용함수를 가정한 후 이로부터 환경질과 </a:t>
                </a:r>
                <a:r>
                  <a:rPr lang="ko-KR" altLang="en-US" sz="24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시장재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사이의 한계대체율을 구하여 이를 한계지불의사함수로 보는 방법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주택의 특성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𝑆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𝑁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𝑄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X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라는 변수로 표현할 때 개인의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효용함수는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𝑢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𝑋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𝑧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;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𝑋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어떤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환경질이라고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할 때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</a:t>
                </a:r>
              </a:p>
              <a:p>
                <a:pPr marL="457200" lvl="1" indent="0">
                  <a:buNone/>
                </a:pP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효용극대화조건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𝑤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𝑋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𝑢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ko-KR" altLang="en-US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𝛼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  <a:ea typeface="나눔명조" panose="0202060302010102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나눔명조" panose="02020603020101020101" pitchFamily="18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  <a:ea typeface="나눔명조" panose="02020603020101020101" pitchFamily="18" charset="-127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den>
                    </m:f>
                  </m:oMath>
                </a14:m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/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효용함수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형태를 먼저 설정하면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도출할 수 있고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2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 잠재한계가격함수를 추정함으로써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파라메터값과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𝑤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𝑋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𝑢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,</m:t>
                        </m:r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𝛼</m:t>
                        </m:r>
                      </m:e>
                    </m:d>
                  </m:oMath>
                </a14:m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구할 수 있음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𝑎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𝑏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𝑐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추정하여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효용함수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복원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  <a:endParaRPr lang="ko-KR" altLang="en-US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B94C8F-A464-43F7-8AB7-DEE8D6F61A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8622" y="1102520"/>
                <a:ext cx="7313612" cy="4114800"/>
              </a:xfrm>
              <a:blipFill>
                <a:blip r:embed="rId2"/>
                <a:stretch>
                  <a:fillRect l="-1167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5BB45C-E35C-4BD8-A6E4-3375A18C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3EA451-8DAC-47BE-9300-62B7926E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47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18" y="4874420"/>
            <a:ext cx="6162675" cy="6858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218" y="5432484"/>
            <a:ext cx="800100" cy="7905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318" y="5508683"/>
            <a:ext cx="26479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848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BC2ED-8BA8-4C71-BDBE-3663A949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편익의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B94C8F-A464-43F7-8AB7-DEE8D6F61A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 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 :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특성가격함수에서는 가격이 수량의 함수로 표현되므로 이를 수량이 가격의 함수인 통상적인 수요함수의 형태로 전환함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추정된 특성가격함수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대해 미분하여 얻은 잠재가격을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라 할 때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예산제약을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bar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𝑚</m:t>
                        </m:r>
                      </m:e>
                    </m:ba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𝑧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나눔명조" panose="02020603020101020101" pitchFamily="18" charset="-127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 같이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선형근사할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수 있고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특성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대해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ko-KR" altLang="en-US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b>
                    </m:sSub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𝛽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𝑁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+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𝛿</m:t>
                    </m:r>
                    <m:bar>
                      <m:barPr>
                        <m:pos m:val="top"/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bar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𝑚</m:t>
                        </m:r>
                      </m:e>
                    </m:bar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와 같은 수요함수를 추정할 수 있음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이렇게 추정된 수요함수를 통상수요함수의 하나로 간주하고 제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14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장에서 설명한 하우스만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(Hausman, 1981)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방법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등을 적용하여 환경질변화의 후생효과를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CV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나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EV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형태로 계산할 수 있음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B94C8F-A464-43F7-8AB7-DEE8D6F61A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5BB45C-E35C-4BD8-A6E4-3375A18C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3EA451-8DAC-47BE-9300-62B7926E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32819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앞선 특성가격분석법은 환경질이 변해도 시장균형 특성가격함수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400" dirty="0"/>
                  <a:t>자체는 변하지 않는 것으로 전제하였음</a:t>
                </a:r>
                <a:endParaRPr lang="en-US" altLang="ko-KR" sz="2400" dirty="0"/>
              </a:p>
              <a:p>
                <a:r>
                  <a:rPr lang="ko-KR" altLang="en-US" sz="2400" dirty="0"/>
                  <a:t>그러나 대규모 </a:t>
                </a:r>
                <a:r>
                  <a:rPr lang="ko-KR" altLang="en-US" sz="2400" dirty="0" err="1"/>
                  <a:t>환경질</a:t>
                </a:r>
                <a:r>
                  <a:rPr lang="ko-KR" altLang="en-US" sz="2400" dirty="0"/>
                  <a:t> 변화가 발생한다면 모든 주택의 수요가 영향을 받으므로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400" dirty="0"/>
                  <a:t>와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그 미분을 취한 잠재한계가격이 달라질 수 있음</a:t>
                </a:r>
                <a:endParaRPr lang="en-US" altLang="ko-KR" sz="2400" dirty="0"/>
              </a:p>
              <a:p>
                <a:r>
                  <a:rPr lang="ko-KR" altLang="en-US" sz="2400" dirty="0"/>
                  <a:t>이 경우에는 시장균형 자체가 변하는 효과까지 정책효과분석에 반영해야 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630" r="-10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8139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9D2ED7-1C96-4C8D-BD8C-3B1B59C2E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대규모의 </a:t>
            </a:r>
            <a:r>
              <a:rPr lang="ko-KR" altLang="en-US" sz="2400" dirty="0" err="1"/>
              <a:t>환경질</a:t>
            </a:r>
            <a:r>
              <a:rPr lang="ko-KR" altLang="en-US" sz="2400" dirty="0"/>
              <a:t> 변화가 있을 때 주택시장의 균형가격이 바뀌는 것은 개인이 </a:t>
            </a:r>
            <a:r>
              <a:rPr lang="ko-KR" altLang="en-US" sz="2400" dirty="0" err="1"/>
              <a:t>환경질</a:t>
            </a:r>
            <a:r>
              <a:rPr lang="ko-KR" altLang="en-US" sz="2400" dirty="0"/>
              <a:t> 변화에 반응하여 주택은 물론 거주지 자체를 적극적으로 바꾸기 때문에 발생함</a:t>
            </a:r>
            <a:endParaRPr lang="en-US" altLang="ko-KR" sz="2400" dirty="0"/>
          </a:p>
          <a:p>
            <a:r>
              <a:rPr lang="ko-KR" altLang="en-US" sz="2400" dirty="0"/>
              <a:t>이처럼 주거환경이 바뀔 때 각 개인의 주거지 선택이 달라져 주택시장의 가격조건도 바뀌는 효과</a:t>
            </a:r>
            <a:r>
              <a:rPr lang="en-US" altLang="ko-KR" sz="2400" dirty="0"/>
              <a:t>, </a:t>
            </a:r>
            <a:r>
              <a:rPr lang="ko-KR" altLang="en-US" sz="2400" dirty="0"/>
              <a:t>즉 개인으로부터 시장으로의 피드백까지 분석하도록 최근에 발전하고 있는 분석모형을 </a:t>
            </a:r>
            <a:r>
              <a:rPr lang="ko-KR" altLang="en-US" sz="2400" b="1" dirty="0" err="1">
                <a:solidFill>
                  <a:srgbClr val="0000FF"/>
                </a:solidFill>
              </a:rPr>
              <a:t>균형소팅모형</a:t>
            </a:r>
            <a:r>
              <a:rPr lang="en-US" altLang="ko-KR" sz="2400" b="1" dirty="0">
                <a:solidFill>
                  <a:srgbClr val="0000FF"/>
                </a:solidFill>
              </a:rPr>
              <a:t>(equilibrium sorting model)</a:t>
            </a:r>
            <a:r>
              <a:rPr lang="ko-KR" altLang="en-US" sz="2400" dirty="0"/>
              <a:t>이라 부름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335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/>
                  <a:t>균형소팅모형에서는 거주할 수 있는 전체 공간을 행정구역과 같은 몇 개의 지역으로 나눔</a:t>
                </a:r>
                <a:r>
                  <a:rPr lang="en-US" altLang="ko-KR" sz="20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altLang="ko-KR" sz="2000" b="0" dirty="0">
                  <a:ea typeface="Cambria Math" panose="02040503050406030204" pitchFamily="18" charset="0"/>
                </a:endParaRPr>
              </a:p>
              <a:p>
                <a:r>
                  <a:rPr lang="ko-KR" altLang="en-US" sz="2000" dirty="0"/>
                  <a:t>지역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/>
                  <a:t>에 거주하면서 가구 특성으로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 err="1"/>
                  <a:t>를</a:t>
                </a:r>
                <a:r>
                  <a:rPr lang="ko-KR" altLang="en-US" sz="2000" dirty="0"/>
                  <a:t> 가지는 어떤 가구의 효용함수는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20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1800" dirty="0">
                    <a:latin typeface="+mj-lt"/>
                  </a:rPr>
                  <a:t>는 면적과 같은 주택서비스에 대한 수요</a:t>
                </a:r>
                <a:r>
                  <a:rPr lang="en-US" altLang="ko-KR" sz="18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+mj-lt"/>
                  </a:rPr>
                  <a:t>은 지역 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800" dirty="0">
                    <a:latin typeface="+mj-lt"/>
                  </a:rPr>
                  <a:t>의 </a:t>
                </a:r>
                <a:r>
                  <a:rPr lang="ko-KR" altLang="en-US" sz="1800" dirty="0" err="1">
                    <a:latin typeface="+mj-lt"/>
                  </a:rPr>
                  <a:t>환경질</a:t>
                </a:r>
                <a:r>
                  <a:rPr lang="en-US" altLang="ko-KR" sz="18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+mj-lt"/>
                  </a:rPr>
                  <a:t>은 지역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800" dirty="0">
                    <a:latin typeface="+mj-lt"/>
                  </a:rPr>
                  <a:t>의 주택가격</a:t>
                </a:r>
                <a:endParaRPr lang="en-US" altLang="ko-KR" sz="1800" dirty="0">
                  <a:latin typeface="+mj-lt"/>
                </a:endParaRPr>
              </a:p>
              <a:p>
                <a:pPr lvl="1"/>
                <a:r>
                  <a:rPr lang="ko-KR" altLang="en-US" sz="1800" dirty="0">
                    <a:latin typeface="+mj-lt"/>
                  </a:rPr>
                  <a:t>지역 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+mj-lt"/>
                  </a:rPr>
                  <a:t>내의 환경질과 주택가격은 개별 주택별로 다르겠지만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+mj-lt"/>
                  </a:rPr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+mj-lt"/>
                  </a:rPr>
                  <a:t>을 지역 내 가중평균을 취한 대푯값으로 간주</a:t>
                </a:r>
                <a:endParaRPr lang="en-US" altLang="ko-KR" sz="1800" dirty="0">
                  <a:latin typeface="+mj-lt"/>
                </a:endParaRPr>
              </a:p>
              <a:p>
                <a:pPr lvl="1"/>
                <a:r>
                  <a:rPr lang="en-US" altLang="ko-KR" sz="1800" dirty="0">
                    <a:latin typeface="+mj-lt"/>
                  </a:rPr>
                  <a:t> </a:t>
                </a:r>
                <a:r>
                  <a:rPr lang="ko-KR" altLang="en-US" sz="1800" dirty="0">
                    <a:latin typeface="+mj-lt"/>
                  </a:rPr>
                  <a:t>효용을 극대화하는 주택서비스 수요량은 주어진 조건인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800" dirty="0">
                    <a:latin typeface="+mj-lt"/>
                  </a:rPr>
                  <a:t>에 의해 결정되므로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>
                    <a:latin typeface="+mj-lt"/>
                  </a:rPr>
                  <a:t>로 표현</a:t>
                </a:r>
                <a:endParaRPr lang="en-US" altLang="ko-KR" sz="1800" dirty="0">
                  <a:latin typeface="+mj-lt"/>
                </a:endParaRPr>
              </a:p>
              <a:p>
                <a:pPr lvl="1"/>
                <a:r>
                  <a:rPr lang="ko-KR" altLang="en-US" sz="1800" dirty="0">
                    <a:latin typeface="+mj-lt"/>
                  </a:rPr>
                  <a:t>따라서 극대화된 효용은</a:t>
                </a:r>
                <a:endParaRPr lang="en-US" altLang="ko-KR" sz="1800" dirty="0">
                  <a:latin typeface="+mj-lt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8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8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);</m:t>
                      </m:r>
                      <m:r>
                        <a:rPr lang="ko-KR" altLang="en-US" sz="18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8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1037" r="-7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58313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2845" y="1102520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/>
                  <a:t>균형소팅모형에서 각 가구는 거주했을 때 얻을 수 있는 최대한의 만족도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400" dirty="0"/>
                  <a:t>를 극대화하는 지역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400" dirty="0"/>
                  <a:t>을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선택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>
                    <a:latin typeface="+mj-lt"/>
                  </a:rPr>
                  <a:t>각 거주지는 서로 다른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+mj-lt"/>
                  </a:rPr>
                  <a:t>의 조합</a:t>
                </a:r>
                <a:r>
                  <a:rPr lang="en-US" altLang="ko-KR" sz="2000" dirty="0">
                    <a:latin typeface="+mj-lt"/>
                  </a:rPr>
                  <a:t>(</a:t>
                </a:r>
                <a:r>
                  <a:rPr lang="ko-KR" altLang="en-US" sz="2000" dirty="0">
                    <a:latin typeface="+mj-lt"/>
                  </a:rPr>
                  <a:t>환경과 주택가격의 조합</a:t>
                </a:r>
                <a:r>
                  <a:rPr lang="en-US" altLang="ko-KR" sz="2000" dirty="0">
                    <a:latin typeface="+mj-lt"/>
                  </a:rPr>
                  <a:t>)</a:t>
                </a:r>
                <a:r>
                  <a:rPr lang="ko-KR" altLang="en-US" sz="2000" dirty="0">
                    <a:latin typeface="+mj-lt"/>
                  </a:rPr>
                  <a:t>을 가지는 선택대상이 됨</a:t>
                </a:r>
                <a:endParaRPr lang="en-US" altLang="ko-KR" sz="2000" dirty="0">
                  <a:latin typeface="+mj-lt"/>
                </a:endParaRPr>
              </a:p>
              <a:p>
                <a:r>
                  <a:rPr lang="ko-KR" altLang="en-US" sz="2400" dirty="0"/>
                  <a:t>각 가구는 거주지역이 정해지면 그 내에서 주택면적 등과 관련한 최선의 선택을 하고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거주지역으로는 자신이 얻을 수 있는 만족도가 최대가 되게 해주는 지역을 택하는 일종의 </a:t>
                </a:r>
                <a:r>
                  <a:rPr lang="en-US" altLang="ko-KR" sz="2400" dirty="0"/>
                  <a:t>2</a:t>
                </a:r>
                <a:r>
                  <a:rPr lang="ko-KR" altLang="en-US" sz="2400" dirty="0"/>
                  <a:t>단계 의사결정을 함</a:t>
                </a:r>
                <a:endParaRPr lang="en-US" altLang="ko-KR" sz="2400" dirty="0"/>
              </a:p>
              <a:p>
                <a:r>
                  <a:rPr lang="ko-KR" altLang="en-US" sz="2400" dirty="0"/>
                  <a:t>모든 가구가 자신이 가장 원하는 거주지역을 찾아서 더 이상 이주할 의사가 없으면 부동산시장 전체의 균형 달성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2845" y="1102520"/>
                <a:ext cx="7313612" cy="4114800"/>
              </a:xfrm>
              <a:blipFill>
                <a:blip r:embed="rId2"/>
                <a:stretch>
                  <a:fillRect l="-1167" t="-1630" r="-833" b="-228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6894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5234" y="1183875"/>
                <a:ext cx="7313612" cy="4114800"/>
              </a:xfrm>
            </p:spPr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현재 어떤 가구가 지역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거주하는데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모든 지역의 환경질이 변했고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 중 지역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환경질은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으로 변했다고 가정</a:t>
                </a:r>
                <a:endParaRPr lang="en-US" altLang="ko-KR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통상적인 특성가격법은 환경변화에 대한 이 가구의 지불의사를 다음과 같이 도출함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𝑊𝑇𝑃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𝑃𝐸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방법은 환경변화에도 불구하고 지역 내 부동산 시장가격은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으로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불변이라 가정하고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동일 거주지에 남아있으면서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으로도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에서 얻던 만족도를 그대로 얻기 위해 필요한 지불의사를 도출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하지만 환경변화가 만약 광범위하다면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각 지역 부동산가격의 대푯값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𝑛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으로 모두 바뀜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각 가구는 이러한 환경변화와 가격변화에 반응하여 거주지역을 바꿀 수 있음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234" y="1183875"/>
                <a:ext cx="7313612" cy="4114800"/>
              </a:xfrm>
              <a:blipFill>
                <a:blip r:embed="rId2"/>
                <a:stretch>
                  <a:fillRect l="-1167" t="-1630" r="-917" b="-19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78294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만약 지역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거주하던 어떤 가구가 환경변화 때문에 지역</a:t>
                </a:r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으로 이주했다면 정확한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후생지표는 다음과 같음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𝑊𝑇𝑃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𝐺𝐸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지불의사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𝑊𝑇𝑃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𝐺𝐸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거주지 이전과 전체 부동산시장 균형변화까지 고려하므로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일반균형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(general equilibrium)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지불의사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라 할 수 있음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반면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통상적인 특성가격분석이 제시하는 지불의사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𝑊𝑇𝑃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𝑃𝐸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부분균형</a:t>
                </a:r>
                <a:r>
                  <a:rPr lang="en-US" altLang="ko-KR" sz="16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(partial equilibrium)</a:t>
                </a:r>
                <a:r>
                  <a:rPr lang="en-US" altLang="ko-KR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:r>
                  <a:rPr lang="ko-KR" altLang="en-US" sz="1600" b="1" dirty="0">
                    <a:solidFill>
                      <a:srgbClr val="0000FF"/>
                    </a:solidFill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지불의사</a:t>
                </a:r>
                <a:endParaRPr lang="en-US" altLang="ko-KR" sz="1600" b="1" dirty="0">
                  <a:solidFill>
                    <a:srgbClr val="0000FF"/>
                  </a:solidFill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만약 환경이 좋아지는 경우라면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부분균형 지불의사는 각 가구가 자신이 거주하는 지역까지 적극적으로 바꾸는 행위를 허용하지 않기 때문에 일반균형 지불의사에 비해 더 낮은 지불의사만을 제시함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이렇게 각 거주지에서 최적의 주택서비스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선택하고 동시에 거주지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까지 선택하는 행위를 반영하여 후생효과를 분석하는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균형소팅모형에는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여러 종류가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741"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41415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효용함수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형태를 설정하고 이를 극대화하는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수요함수형태를 도출함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그리고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변할 때 이 지역 내 거주 인구가 전체 인구에서 차지하는 비중이 달라지는 것을 파악할 수 있도록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확률분포함수도 도입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대기오염도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범죄율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공교육수준 등과 같은 여러 공공재 변수가 모여 지역의 환경지표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만들어내는 일종의 생산함수형태도 정함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이렇게 한 후 위의 세 가지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즉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수요함수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분포함수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생산함수를 동시에 추정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마지막으로 지역별 주택서비스 공급량은 고정되거나 특정 형태로 가격에 반응하는 것으로 가정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185" b="-10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16340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0013" y="1371600"/>
                <a:ext cx="7313612" cy="4460240"/>
              </a:xfrm>
            </p:spPr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1(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계속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lvl="1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이상 필요한 세 가지 함수형태를 추정하고 주택 공급곡선도 도입하면 경제 전체의 균형은 다음 조건에서 달성됨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 indent="-342900">
                  <a:buAutoNum type="arabicParenR"/>
                </a:pP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모든 가구는 거주하는 지역 내에서 최적의 주택 </a:t>
                </a:r>
                <a:r>
                  <a:rPr lang="ko-KR" altLang="en-US" sz="17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서비스량을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선택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 indent="-342900">
                  <a:buAutoNum type="arabicParenR"/>
                </a:pP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모든 가구는 거주지를 선택하고 이를 더 이상 변경할 유인이 없음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 indent="-342900">
                  <a:buAutoNum type="arabicParenR"/>
                </a:pP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모든 지역의 주택 서비스 수요와 공급이 일치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대기오염과 같은 환경변수의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외생적으로 바뀌면 이 세 가지 조건을 충족하는 균형이 어떻게 달라지는지를 도출하는데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특히 가격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달라지는 것을 도출할 수 있음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균형조건으로부터 주민 소득과 가구특성 </a:t>
                </a:r>
                <a14:m>
                  <m:oMath xmlns:m="http://schemas.openxmlformats.org/officeDocument/2006/math">
                    <m:r>
                      <a:rPr lang="en-US" altLang="ko-KR" sz="17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70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7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각 지역별 분포범위를 알 수 있기 때문에 여기에 이 두 특성의 확률분포함수를 적용해 지역별 인구 비중 변화도 도출할 수 있음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800100" lvl="1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이러한 균형 값들을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𝑊𝑇𝑃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</a:rPr>
                          <m:t>𝐺𝐸</m:t>
                        </m:r>
                      </m:sub>
                    </m:sSub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7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sz="17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ko-KR" sz="170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7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7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적용해 대기오염도 변화의 일반균형 지불의사를 도출함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0013" y="1371600"/>
                <a:ext cx="7313612" cy="4460240"/>
              </a:xfrm>
              <a:blipFill>
                <a:blip r:embed="rId2"/>
                <a:stretch>
                  <a:fillRect l="-751" t="-683" b="-1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92512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</a:p>
              <a:p>
                <a:pPr lvl="1"/>
                <a:r>
                  <a:rPr lang="ko-KR" altLang="en-US" sz="20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확률효용함수와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이산선택행위를 활용하는 방법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지역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에 거주하는 가구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𝑖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선택하는 최적의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h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지역의 평균 대기오염도와 같은 환경수준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주택가격의 대표치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여타 지역특성변수</a:t>
                </a:r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그리고 가족구성과 같은 개인 특성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등에 의해 결정되므로 이를 반영하면 이 가구의 만족도는 다음과 같음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명조" panose="02020603020101020101" pitchFamily="18" charset="-127"/>
                            </a:rPr>
                            <m:t>𝑖𝑛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=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나눔명조" panose="02020603020101020101" pitchFamily="18" charset="-127"/>
                        </a:rPr>
                        <m:t>𝛽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altLang="ko-KR" sz="18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8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𝛽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지역 내에서는 동일하지만 지역 간에는 차이가 있는 연구자가 관찰할 수 없는 확률변수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또 다른 확률변수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6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개인은</a:t>
                </a:r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가장 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𝑢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값을 주는 지역 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16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선택함</a:t>
                </a:r>
                <a:endParaRPr lang="en-US" altLang="ko-KR" sz="16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1" t="-741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937748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2(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계속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모형의 추정을 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단계로 진행하면 편리함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𝑢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𝑖𝑛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조건부로짓모형 등을 이용해 지역선택행위로 추정하고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과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추정치를 도출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단계에서는 제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1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 추정을 통해 값이 얻어진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종속변수로 하고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나머지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설명변수로 하는 회귀분석을 하여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𝛽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추정치를 구함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두 번째 추정식에서의 확률변수 역할은</a:t>
                </a:r>
                <a:r>
                  <a:rPr lang="en-US" altLang="ko-KR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의 값도 </a:t>
                </a:r>
                <a:r>
                  <a:rPr lang="en-US" altLang="ko-KR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단계 추정식의 </a:t>
                </a:r>
                <a:r>
                  <a:rPr lang="ko-KR" altLang="en-US" sz="18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잔차</a:t>
                </a:r>
                <a:r>
                  <a:rPr lang="ko-KR" altLang="en-US" sz="18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값으로 획득이 됨</a:t>
                </a:r>
                <a:endParaRPr lang="en-US" altLang="ko-KR" sz="18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endParaRPr lang="ko-KR" altLang="en-US" sz="24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185" r="-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46779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방법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2(</a:t>
                </a:r>
                <a:r>
                  <a:rPr lang="ko-KR" altLang="en-US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계속</a:t>
                </a:r>
                <a:r>
                  <a:rPr lang="en-US" altLang="ko-KR" sz="24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)</a:t>
                </a: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전체 모형의 추정결과가 얻어지면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가구들이 각 지역을 거주지로 선택할 확률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𝑛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𝐷</m:t>
                        </m:r>
                      </m:sup>
                    </m:sSub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ko-KR" altLang="en-US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𝜉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도출할 수 있음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단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(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𝑥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,</m:t>
                    </m:r>
                    <m:r>
                      <a:rPr lang="ko-KR" altLang="en-US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𝜉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𝑁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개 모든 지역의 관련 변수들을 포함함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거주지 </a:t>
                </a:r>
                <a:r>
                  <a:rPr lang="ko-KR" altLang="en-US" sz="17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환경질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변하면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𝑛</m:t>
                        </m:r>
                      </m:sub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도 변함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자료로 주어진 실제 거주확률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𝑛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을 공급측면의 거주비율이라 하면</a:t>
                </a:r>
                <a:r>
                  <a:rPr lang="en-US" altLang="ko-KR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변한 후의 새로운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𝑛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 모든 지역에서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𝑠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𝑛</m:t>
                        </m:r>
                      </m:sub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anose="02020603020101020101" pitchFamily="18" charset="-127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와 일치하게 하는 주택가격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</m:oMath>
                </a14:m>
                <a:r>
                  <a:rPr lang="ko-KR" altLang="en-US" sz="20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를 찾아내면 이것이 새로운 균형가격</a:t>
                </a:r>
                <a:endParaRPr lang="en-US" altLang="ko-KR" sz="20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즉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𝑞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변함에 따라 거주지 선택확률이 달라져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𝑝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나눔명조" panose="02020603020101020101" pitchFamily="18" charset="-127"/>
                      </a:rPr>
                      <m:t>=(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이 변하는 것을 도출할 수 있음</a:t>
                </a:r>
                <a:endParaRPr lang="en-US" altLang="ko-KR" sz="1700" dirty="0">
                  <a:latin typeface="나눔명조" panose="02020603020101020101" pitchFamily="18" charset="-127"/>
                  <a:ea typeface="나눔명조" panose="02020603020101020101" pitchFamily="18" charset="-127"/>
                </a:endParaRPr>
              </a:p>
              <a:p>
                <a:pPr lvl="2"/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가구별 효용함수의 형태를 알기 때문에 추정된 </a:t>
                </a:r>
                <a:r>
                  <a:rPr lang="ko-KR" altLang="en-US" sz="1700" dirty="0" err="1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확률효용함수로부터</a:t>
                </a:r>
                <a:r>
                  <a:rPr lang="ko-KR" altLang="en-US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지불의사를 도출하는 공식을 이용해 변화의 후생효과를 도출할 수 있음</a:t>
                </a:r>
                <a:r>
                  <a:rPr lang="en-US" altLang="ko-KR" sz="1700" dirty="0">
                    <a:latin typeface="나눔명조" panose="02020603020101020101" pitchFamily="18" charset="-127"/>
                    <a:ea typeface="나눔명조" panose="02020603020101020101" pitchFamily="18" charset="-127"/>
                  </a:rPr>
                  <a:t>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9D2ED7-1C96-4C8D-BD8C-3B1B59C2E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68" t="-1185" b="-103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59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39800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E23EF-9995-49D2-B145-223E59AD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균형소팅모형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9D2ED7-1C96-4C8D-BD8C-3B1B59C2E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이상 소개된 </a:t>
            </a:r>
            <a:r>
              <a:rPr lang="ko-KR" altLang="en-US" sz="24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균형소팅모형은</a:t>
            </a:r>
            <a:r>
              <a:rPr lang="ko-KR" altLang="en-US" sz="2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이론적 기반이 강하면서 환경변화 시 발생하는 거주지 이동까지 고려하는 분석을 행하기 때문에 광범위한 지역에 영향을 미치는 대규모 환경변화의 후생효과를 분석하는 데 매우 유용함</a:t>
            </a:r>
            <a:endParaRPr lang="en-US" altLang="ko-KR" sz="24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2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하지만 자료에 대한 요구수준이 높고</a:t>
            </a:r>
            <a:r>
              <a:rPr lang="en-US" altLang="ko-KR" sz="2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2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특히 높은 수준의 계량경제학적 사전지식을 필요로 함</a:t>
            </a:r>
            <a:endParaRPr lang="en-US" altLang="ko-KR" sz="24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endParaRPr lang="ko-KR" altLang="en-US" sz="24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17E86-A4EC-4781-B7AA-5AEE34F0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774922-F696-410A-A5B4-AEC4B51E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60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40962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9">
            <a:extLst>
              <a:ext uri="{FF2B5EF4-FFF2-40B4-BE49-F238E27FC236}">
                <a16:creationId xmlns:a16="http://schemas.microsoft.com/office/drawing/2014/main" id="{846C53C5-65F7-4EDC-AE0F-46F28DFDB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특성임금모형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(hedonic wage model)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은 개인이 선택할 수 있는 직업을 다양한 특성의 묶음으로 해석하여 임금 역시 이러한 특성들을 반영하여 결정된다고 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특성임금모형은 개인의 직업선택 행위를 통해 건강이나 생명의 가치를 평가하는 데에도 활용됨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건강과 관련된 분석은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15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장의 회피행위모형을 통해 수행될 수 있으나 이 모형은 </a:t>
            </a:r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회피행위의 비결합성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000" b="1" dirty="0" err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nonjointness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 가정으로 요구함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이는 회피행위가 개인의 만족도에 직접 영향을 주지 않아야 한다는 것으로 강한 가정이라 할 수 있음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7107" name="바닥글 개체 틀 4">
            <a:extLst>
              <a:ext uri="{FF2B5EF4-FFF2-40B4-BE49-F238E27FC236}">
                <a16:creationId xmlns:a16="http://schemas.microsoft.com/office/drawing/2014/main" id="{69BF842A-5D1A-4307-8C98-5882B25E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7108" name="슬라이드 번호 개체 틀 5">
            <a:extLst>
              <a:ext uri="{FF2B5EF4-FFF2-40B4-BE49-F238E27FC236}">
                <a16:creationId xmlns:a16="http://schemas.microsoft.com/office/drawing/2014/main" id="{D6629C43-127B-41CC-928B-9FB04A13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B60456-186A-4DCB-B02F-DA51BF41424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6DD216E8-E039-43DB-8B7D-B0E1308C0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4A4AD12F-729A-435A-A792-E8D8A1F9E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B793CC50-8663-4FCF-B6E5-273144E6A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9">
            <a:extLst>
              <a:ext uri="{FF2B5EF4-FFF2-40B4-BE49-F238E27FC236}">
                <a16:creationId xmlns:a16="http://schemas.microsoft.com/office/drawing/2014/main" id="{D18D031F-9456-4E66-B582-F4A100CA4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개인은 명예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노동강도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노동시간 등과 함께 직업의 위험성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사망확률도 감안하여 직업을 선택하기 때문에 다른 조건이 같다면 상대적으로 위험한 직업의 임금이 더 높게 결정됨</a:t>
            </a:r>
            <a:endParaRPr lang="en-US" altLang="ko-KR" sz="22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z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시장재에 대한 지출액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q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직업관련 환경질이나 사망률에 영향을 미치는 변수라 하면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개인의 효용은 노동여건으로부터 직접적으로 영향을 받아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u(z, q)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같은 형태로 나타남</a:t>
            </a:r>
            <a:endParaRPr lang="en-US" altLang="ko-KR" sz="220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시장재의 가격을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이라 하고 노동에 기인하지 않은 다른 소득을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라 하면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y + w(q) = z 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관계가 또한 성립함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임금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w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노동여건 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ko-KR" altLang="en-US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함수임</a:t>
            </a:r>
            <a:r>
              <a:rPr lang="en-US" altLang="ko-KR" sz="22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9155" name="바닥글 개체 틀 4">
            <a:extLst>
              <a:ext uri="{FF2B5EF4-FFF2-40B4-BE49-F238E27FC236}">
                <a16:creationId xmlns:a16="http://schemas.microsoft.com/office/drawing/2014/main" id="{FA2A107E-85AD-42FB-93C9-BF6F75FA5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49156" name="슬라이드 번호 개체 틀 5">
            <a:extLst>
              <a:ext uri="{FF2B5EF4-FFF2-40B4-BE49-F238E27FC236}">
                <a16:creationId xmlns:a16="http://schemas.microsoft.com/office/drawing/2014/main" id="{C5042549-2DB4-40C1-B5E5-87AB1CB1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A79A35-A15B-4B59-BFDB-78C7E4C01A0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998C3C71-C2EA-40FA-94AE-0B2F76929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951EBF6B-8D38-416B-A57C-D44B6C7EE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9159" name="Rectangle 6">
            <a:extLst>
              <a:ext uri="{FF2B5EF4-FFF2-40B4-BE49-F238E27FC236}">
                <a16:creationId xmlns:a16="http://schemas.microsoft.com/office/drawing/2014/main" id="{282EB522-C283-4C13-92FB-BCF091592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9">
            <a:extLst>
              <a:ext uri="{FF2B5EF4-FFF2-40B4-BE49-F238E27FC236}">
                <a16:creationId xmlns:a16="http://schemas.microsoft.com/office/drawing/2014/main" id="{28B339BE-AB3D-476C-AA2D-F1719D2CE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높이는 개인의 선택은 효용을 증진시키지만 동시에 임금을 </a:t>
            </a:r>
            <a:r>
              <a:rPr lang="ko-KR" altLang="en-US" sz="2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하락시키므로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6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개인은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자신의 효용을 극대화하는 특정 </a:t>
            </a:r>
            <a:r>
              <a:rPr lang="en-US" altLang="ko-KR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선택하게 됨</a:t>
            </a:r>
            <a:endParaRPr lang="en-US" altLang="ko-KR" sz="26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eaLnBrk="1" hangingPunct="1"/>
            <a:r>
              <a:rPr lang="ko-KR" altLang="en-US" sz="2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시장에서 관측되는 임금은 그 직업의 사망위험도 등의 여타 특성을 반영하고 있음</a:t>
            </a:r>
            <a:endParaRPr lang="en-US" altLang="ko-KR" sz="26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다양한 직업의 사망위험도를 비롯한 여타 특성자료와 이들 직업의 임금수준을 분석하여 사망위험도의 한계적인 변화가 임금에 미치는 영향을 파악할 수 있음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 eaLnBrk="1" hangingPunct="1"/>
            <a:r>
              <a:rPr lang="ko-KR" altLang="en-US" sz="22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이를 통해 사망위험도 등에 대한 한계지불의사를 도출할 수 있음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51203" name="바닥글 개체 틀 4">
            <a:extLst>
              <a:ext uri="{FF2B5EF4-FFF2-40B4-BE49-F238E27FC236}">
                <a16:creationId xmlns:a16="http://schemas.microsoft.com/office/drawing/2014/main" id="{6C0F67D9-FBCF-4A9F-A14F-ED37A5B8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51204" name="슬라이드 번호 개체 틀 5">
            <a:extLst>
              <a:ext uri="{FF2B5EF4-FFF2-40B4-BE49-F238E27FC236}">
                <a16:creationId xmlns:a16="http://schemas.microsoft.com/office/drawing/2014/main" id="{D8BE326B-23C7-4502-A991-94FE3E0F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C8B68F-426D-4459-AB7B-57AD4EAAC119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4BA2C98E-8C6A-40AF-BB86-F659935CC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8CDA5456-2ABA-4D89-A2A6-F750BA332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1207" name="Rectangle 6">
            <a:extLst>
              <a:ext uri="{FF2B5EF4-FFF2-40B4-BE49-F238E27FC236}">
                <a16:creationId xmlns:a16="http://schemas.microsoft.com/office/drawing/2014/main" id="{F7AC38C1-1DE4-40E8-9371-C19203B6D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바닥글 개체 틀 4">
            <a:extLst>
              <a:ext uri="{FF2B5EF4-FFF2-40B4-BE49-F238E27FC236}">
                <a16:creationId xmlns:a16="http://schemas.microsoft.com/office/drawing/2014/main" id="{88F97506-B777-4816-BD4D-1639FFF9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53252" name="슬라이드 번호 개체 틀 5">
            <a:extLst>
              <a:ext uri="{FF2B5EF4-FFF2-40B4-BE49-F238E27FC236}">
                <a16:creationId xmlns:a16="http://schemas.microsoft.com/office/drawing/2014/main" id="{19CBFB76-03B5-4354-A12A-23B63EED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3EDF4B-4BFC-4DF5-BE57-065C1A0D6AD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17D62FDB-1C84-440B-B0D2-542105D37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930247FB-1FEE-44EA-ACAB-6782DB357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3255" name="Rectangle 6">
            <a:extLst>
              <a:ext uri="{FF2B5EF4-FFF2-40B4-BE49-F238E27FC236}">
                <a16:creationId xmlns:a16="http://schemas.microsoft.com/office/drawing/2014/main" id="{9560C519-F7DC-4CE8-B668-89F92F465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FE6F16-2E3E-418A-B5D1-FDC9B5ADD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73" y="1192658"/>
            <a:ext cx="6301273" cy="1938367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561111D-5299-42C3-8AA0-D5D3AAFA2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252038"/>
              </p:ext>
            </p:extLst>
          </p:nvPr>
        </p:nvGraphicFramePr>
        <p:xfrm>
          <a:off x="762000" y="3266941"/>
          <a:ext cx="7996335" cy="2855474"/>
        </p:xfrm>
        <a:graphic>
          <a:graphicData uri="http://schemas.openxmlformats.org/drawingml/2006/table">
            <a:tbl>
              <a:tblPr/>
              <a:tblGrid>
                <a:gridCol w="7996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86563">
                <a:tc>
                  <a:txBody>
                    <a:bodyPr/>
                    <a:lstStyle>
                      <a:lvl1pPr marL="127000">
                        <a:spcBef>
                          <a:spcPct val="20000"/>
                        </a:spcBef>
                        <a:buClr>
                          <a:srgbClr val="8D7DFF"/>
                        </a:buClr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8D7DFF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8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D7DFF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김효진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(2019)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은 한국 노동시장에 있어 임금 프리미엄을 결정하는 변수를 다음처럼 추정함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ln(Y) = </a:t>
                      </a:r>
                      <a:r>
                        <a:rPr kumimoji="0" lang="ko-KR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상수항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+0.042*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-0.033*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소상공기업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-0.107*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중견기업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-0.052*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중소기업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+0.029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일용직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+0.024*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임시직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+0.018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초과근무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×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+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재해율의 영향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sym typeface="Wingdings" panose="05000000000000000000" pitchFamily="2" charset="2"/>
                        </a:rPr>
                        <a:t>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위의 추정치에서 *표시가 부착된 것은 통계적으로 유의한 것들임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sym typeface="Wingdings" panose="05000000000000000000" pitchFamily="2" charset="2"/>
                        </a:rPr>
                        <a:t>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사망률은 임금을 높임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. 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하지만 기업의 규모가 클수록 사망률이 높아질 때 임금이 높아지는 정도는 낮아짐</a:t>
                      </a:r>
                      <a:endParaRPr kumimoji="0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명조" panose="02020603020101020101" pitchFamily="18" charset="-127"/>
                        <a:ea typeface="나눔명조" panose="02020603020101020101" pitchFamily="18" charset="-127"/>
                      </a:endParaRPr>
                    </a:p>
                    <a:p>
                      <a:pPr marL="127000" marR="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  <a:sym typeface="Wingdings" panose="05000000000000000000" pitchFamily="2" charset="2"/>
                        </a:rPr>
                        <a:t>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이 추정결과를 토대로 확률적 생명의 가치가 </a:t>
                      </a: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40</a:t>
                      </a:r>
                      <a:r>
                        <a:rPr kumimoji="0" lang="ko-KR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여억</a:t>
                      </a: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명조" panose="02020603020101020101" pitchFamily="18" charset="-127"/>
                          <a:ea typeface="나눔명조" panose="02020603020101020101" pitchFamily="18" charset="-127"/>
                        </a:rPr>
                        <a:t> 원임을 계측하였음</a:t>
                      </a:r>
                    </a:p>
                  </a:txBody>
                  <a:tcPr marL="17907" marR="17907" marT="17910" marB="17910" anchor="ctr" horzOverflow="overflow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9">
            <a:extLst>
              <a:ext uri="{FF2B5EF4-FFF2-40B4-BE49-F238E27FC236}">
                <a16:creationId xmlns:a16="http://schemas.microsoft.com/office/drawing/2014/main" id="{8060B5C3-DA48-4E3C-9AC8-743D41B4B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431925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특성임금모형을 적용할 때의 주의할 점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노동자들이 인식하는 위험도와 실제 위험도가 상이할 경우 분석결과는 오류를 낳을 수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특성임금모형은 작업장에서 발생하는 미세한 위험도 변화의 경제적 가치를 평가함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노동시장이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완전경쟁적이지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않을 경우 이를 고려해야함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노동조합의 영향이나 기타 요인에 의해 노동시장이 경쟁적이지 못할 수 있다는 가능성을 염두에 두어야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특성임금모형이 분석하는 위험도와 환경정책이 줄이고자 하는 위험도가 서로 다를 수 있음에 주의해야함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특성임금모형이 분석하는 위험도는 주로 청장년층의 위험도이나</a:t>
            </a:r>
            <a:r>
              <a:rPr lang="en-US" altLang="ko-KR" sz="17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 환경정책이 줄이고자 하는 위험도는 노약자의 위험도라는 점도 고려되어야 함</a:t>
            </a:r>
            <a:endParaRPr lang="en-US" altLang="ko-KR" sz="17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5299" name="바닥글 개체 틀 4">
            <a:extLst>
              <a:ext uri="{FF2B5EF4-FFF2-40B4-BE49-F238E27FC236}">
                <a16:creationId xmlns:a16="http://schemas.microsoft.com/office/drawing/2014/main" id="{FDAAEC17-645C-4B9F-B73E-563609E3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55300" name="슬라이드 번호 개체 틀 5">
            <a:extLst>
              <a:ext uri="{FF2B5EF4-FFF2-40B4-BE49-F238E27FC236}">
                <a16:creationId xmlns:a16="http://schemas.microsoft.com/office/drawing/2014/main" id="{E0560D29-F7DD-4E78-9302-D66D5971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27ED1F-7019-4868-A39F-1EF6C249C59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604446AE-F48C-4745-B14B-FADD0E67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DF7F4B41-DB3B-412D-9C33-489FD8EFD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AA8B5ED8-57C7-46CC-9286-69FF56DA2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298" name="Rectangle 9">
                <a:extLst>
                  <a:ext uri="{FF2B5EF4-FFF2-40B4-BE49-F238E27FC236}">
                    <a16:creationId xmlns:a16="http://schemas.microsoft.com/office/drawing/2014/main" id="{8060B5C3-DA48-4E3C-9AC8-743D41B4B3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특성임금모형을 적용할 때의 주의할 점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특성임금모형에서의 위험도는 개인이 자발적으로 수용하는 것이지만 환경정책이 개선하고자 하는 위험은 강제적으로 수용할 수 밖에 없는 것임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근무환경과 임금 사이에는 흔히 양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(+)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관계가 관찰됨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학력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경력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자격증 등 근로자가 가지고 있는 특성을 </a:t>
                </a:r>
                <a14:m>
                  <m:oMath xmlns:m="http://schemas.openxmlformats.org/officeDocument/2006/math">
                    <m:r>
                      <a:rPr lang="ko-KR" altLang="en-US" sz="17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라 하면 임금수준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는 작업환경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는 물론이고 근로자의 개인 특성 </a:t>
                </a: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에 의해서도 영향을 받아 결정됨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즉 업무능력이나 여타 개인 특성 면에서 근로자별로 차이가 있는 상황에서 높은 임금을 받을 수 있는 뛰어난 근로자는 안전한 작업환경도 원하기 때문에 좋은 환경의 직업이나 직장은 이들이 우선적으로 차지하게 되고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따라서 시장에서 관측되는 임금과 작업환경의 관계는 정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(+)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의 관계로 나타날 가능성이 대단히 높음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55298" name="Rectangle 9">
                <a:extLst>
                  <a:ext uri="{FF2B5EF4-FFF2-40B4-BE49-F238E27FC236}">
                    <a16:creationId xmlns:a16="http://schemas.microsoft.com/office/drawing/2014/main" id="{8060B5C3-DA48-4E3C-9AC8-743D41B4B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299" name="바닥글 개체 틀 4">
            <a:extLst>
              <a:ext uri="{FF2B5EF4-FFF2-40B4-BE49-F238E27FC236}">
                <a16:creationId xmlns:a16="http://schemas.microsoft.com/office/drawing/2014/main" id="{FDAAEC17-645C-4B9F-B73E-563609E3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55300" name="슬라이드 번호 개체 틀 5">
            <a:extLst>
              <a:ext uri="{FF2B5EF4-FFF2-40B4-BE49-F238E27FC236}">
                <a16:creationId xmlns:a16="http://schemas.microsoft.com/office/drawing/2014/main" id="{E0560D29-F7DD-4E78-9302-D66D5971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27ED1F-7019-4868-A39F-1EF6C249C59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604446AE-F48C-4745-B14B-FADD0E67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DF7F4B41-DB3B-412D-9C33-489FD8EFD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AA8B5ED8-57C7-46CC-9286-69FF56DA2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</p:spTree>
    <p:extLst>
      <p:ext uri="{BB962C8B-B14F-4D97-AF65-F5344CB8AC3E}">
        <p14:creationId xmlns:p14="http://schemas.microsoft.com/office/powerpoint/2010/main" val="1722047962"/>
      </p:ext>
    </p:extLst>
  </p:cSld>
  <p:clrMapOvr>
    <a:masterClrMapping/>
  </p:clrMapOvr>
  <p:transition spd="med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298" name="Rectangle 9">
                <a:extLst>
                  <a:ext uri="{FF2B5EF4-FFF2-40B4-BE49-F238E27FC236}">
                    <a16:creationId xmlns:a16="http://schemas.microsoft.com/office/drawing/2014/main" id="{8060B5C3-DA48-4E3C-9AC8-743D41B4B3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</p:spPr>
            <p:txBody>
              <a:bodyPr/>
              <a:lstStyle/>
              <a:p>
                <a:pPr eaLnBrk="1" hangingPunct="1"/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특성임금모형을 적용할 때의 주의할 점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계속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특성임금모형에서의 위험도는 개인이 자발적으로 수용하는 것이지만 환경정책이 개선하고자 하는 위험은 강제적으로 수용할 수 밖에 없는 것임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 eaLnBrk="1" hangingPunct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근무환경과 임금 사이에는 흔히 양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(+)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관계가 관찰됨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학력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경력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자격증 등 근로자가 가지고 있는 특성을 </a:t>
                </a:r>
                <a14:m>
                  <m:oMath xmlns:m="http://schemas.openxmlformats.org/officeDocument/2006/math">
                    <m:r>
                      <a:rPr lang="ko-KR" altLang="en-US" sz="170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라 하면 임금수준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𝑤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는 작업환경 </a:t>
                </a:r>
                <a14:m>
                  <m:oMath xmlns:m="http://schemas.openxmlformats.org/officeDocument/2006/math">
                    <m:r>
                      <a:rPr lang="en-US" altLang="ko-KR" sz="17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𝑞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는 물론이고 근로자의 개인 특성 </a:t>
                </a:r>
                <a14:m>
                  <m:oMath xmlns:m="http://schemas.openxmlformats.org/officeDocument/2006/math">
                    <m:r>
                      <a:rPr lang="ko-KR" altLang="en-US" sz="17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</m:oMath>
                </a14:m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에 의해서도 영향을 받아 결정됨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2" eaLnBrk="1" hangingPunct="1"/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즉 업무능력이나 여타 개인 특성 면에서 근로자별로 차이가 있는 상황에서 높은 임금을 받을 수 있는 뛰어난 근로자는 안전한 작업환경도 원하기 때문에 좋은 환경의 직업이나 직장은 이들이 우선적으로 차지하게 되고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따라서 시장에서 관측되는 임금과 작업환경의 관계는 정</a:t>
                </a:r>
                <a:r>
                  <a:rPr lang="en-US" altLang="ko-KR" sz="1700" dirty="0">
                    <a:latin typeface="나눔명조" pitchFamily="18" charset="-127"/>
                    <a:ea typeface="나눔명조" pitchFamily="18" charset="-127"/>
                  </a:rPr>
                  <a:t>(+)</a:t>
                </a:r>
                <a:r>
                  <a:rPr lang="ko-KR" altLang="en-US" sz="1700" dirty="0">
                    <a:latin typeface="나눔명조" pitchFamily="18" charset="-127"/>
                    <a:ea typeface="나눔명조" pitchFamily="18" charset="-127"/>
                  </a:rPr>
                  <a:t>의 관계로 나타날 가능성이 대단히 높음</a:t>
                </a:r>
                <a:endParaRPr lang="en-US" altLang="ko-KR" sz="1700" dirty="0">
                  <a:latin typeface="나눔명조" pitchFamily="18" charset="-127"/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55298" name="Rectangle 9">
                <a:extLst>
                  <a:ext uri="{FF2B5EF4-FFF2-40B4-BE49-F238E27FC236}">
                    <a16:creationId xmlns:a16="http://schemas.microsoft.com/office/drawing/2014/main" id="{8060B5C3-DA48-4E3C-9AC8-743D41B4B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31925"/>
                <a:ext cx="7737475" cy="4114800"/>
              </a:xfrm>
              <a:blipFill>
                <a:blip r:embed="rId3"/>
                <a:stretch>
                  <a:fillRect l="-1024" t="-1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299" name="바닥글 개체 틀 4">
            <a:extLst>
              <a:ext uri="{FF2B5EF4-FFF2-40B4-BE49-F238E27FC236}">
                <a16:creationId xmlns:a16="http://schemas.microsoft.com/office/drawing/2014/main" id="{FDAAEC17-645C-4B9F-B73E-563609E3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16</a:t>
            </a:r>
          </a:p>
        </p:txBody>
      </p:sp>
      <p:sp>
        <p:nvSpPr>
          <p:cNvPr id="55300" name="슬라이드 번호 개체 틀 5">
            <a:extLst>
              <a:ext uri="{FF2B5EF4-FFF2-40B4-BE49-F238E27FC236}">
                <a16:creationId xmlns:a16="http://schemas.microsoft.com/office/drawing/2014/main" id="{E0560D29-F7DD-4E78-9302-D66D5971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27ED1F-7019-4868-A39F-1EF6C249C59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604446AE-F48C-4745-B14B-FADD0E67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DF7F4B41-DB3B-412D-9C33-489FD8EFD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AA8B5ED8-57C7-46CC-9286-69FF56DA2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특성임금분석</a:t>
            </a:r>
          </a:p>
        </p:txBody>
      </p:sp>
    </p:spTree>
    <p:extLst>
      <p:ext uri="{BB962C8B-B14F-4D97-AF65-F5344CB8AC3E}">
        <p14:creationId xmlns:p14="http://schemas.microsoft.com/office/powerpoint/2010/main" val="3546462905"/>
      </p:ext>
    </p:extLst>
  </p:cSld>
  <p:clrMapOvr>
    <a:masterClrMapping/>
  </p:clrMapOvr>
  <p:transition spd="med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8E65991-B48E-48FA-83D7-366362590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2988" y="1371600"/>
                <a:ext cx="8335347" cy="4655976"/>
              </a:xfrm>
            </p:spPr>
            <p:txBody>
              <a:bodyPr/>
              <a:lstStyle/>
              <a:p>
                <a:r>
                  <a:rPr lang="ko-KR" altLang="en-US" sz="2400" dirty="0"/>
                  <a:t>세 가지 유형의 사망확률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24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ko-KR" sz="2400" dirty="0"/>
                  <a:t>: </a:t>
                </a:r>
                <a:r>
                  <a:rPr lang="ko-KR" altLang="en-US" sz="2400" dirty="0"/>
                  <a:t>환경적 요인에 의한 사망확률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공공재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2400" dirty="0"/>
                  <a:t>:  j</a:t>
                </a:r>
                <a:r>
                  <a:rPr lang="ko-KR" altLang="en-US" sz="2400" dirty="0"/>
                  <a:t>번째 직업유형의 사망확률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스스로 선택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400" dirty="0"/>
                  <a:t>: </a:t>
                </a:r>
                <a:r>
                  <a:rPr lang="ko-KR" altLang="en-US" sz="2400" dirty="0"/>
                  <a:t>회피행위 </a:t>
                </a:r>
                <a:r>
                  <a:rPr lang="en-US" altLang="ko-KR" sz="2400" dirty="0"/>
                  <a:t>x</a:t>
                </a:r>
                <a:r>
                  <a:rPr lang="ko-KR" altLang="en-US" sz="2400" dirty="0"/>
                  <a:t>를 선택할 때 사망확률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스스로 선택</a:t>
                </a:r>
                <a:endParaRPr lang="en-US" altLang="ko-KR" sz="2400" dirty="0"/>
              </a:p>
              <a:p>
                <a:r>
                  <a:rPr lang="ko-KR" altLang="en-US" sz="2400" dirty="0"/>
                  <a:t>생존확률</a:t>
                </a:r>
                <a:r>
                  <a:rPr lang="en-US" altLang="ko-KR" sz="24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=(1−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)(1−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)(1−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400" dirty="0"/>
              </a:p>
              <a:p>
                <a:r>
                  <a:rPr lang="ko-KR" altLang="en-US" sz="2400" dirty="0"/>
                  <a:t>일반소비 지출액</a:t>
                </a:r>
                <a:r>
                  <a:rPr lang="en-US" altLang="ko-KR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i="1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𝑝𝑥</m:t>
                    </m:r>
                  </m:oMath>
                </a14:m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ko-KR" altLang="en-US" sz="2000" dirty="0" err="1"/>
                  <a:t>비임금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소득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/>
                  <a:t>: </a:t>
                </a:r>
                <a:r>
                  <a:rPr lang="ko-KR" altLang="en-US" sz="2000" dirty="0"/>
                  <a:t>특성임금</a:t>
                </a:r>
                <a:endParaRPr lang="en-US" altLang="ko-KR" sz="2000" dirty="0"/>
              </a:p>
              <a:p>
                <a:r>
                  <a:rPr lang="ko-KR" altLang="en-US" sz="2400" dirty="0" err="1"/>
                  <a:t>기대효용</a:t>
                </a:r>
                <a:r>
                  <a:rPr lang="en-US" altLang="ko-KR" sz="24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𝐸𝑢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𝑝𝑥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altLang="ko-KR" sz="2000" dirty="0"/>
                      <m:t>)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8E65991-B48E-48FA-83D7-366362590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988" y="1371600"/>
                <a:ext cx="8335347" cy="4655976"/>
              </a:xfrm>
              <a:blipFill>
                <a:blip r:embed="rId2"/>
                <a:stretch>
                  <a:fillRect l="-950" t="-1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B8187A-E592-4D35-8A3F-80DBC499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84B230-DB26-40E8-BD8D-3FB0B449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68</a:t>
            </a:fld>
            <a:endParaRPr lang="en-US" altLang="ko-KR"/>
          </a:p>
        </p:txBody>
      </p:sp>
      <p:sp>
        <p:nvSpPr>
          <p:cNvPr id="9" name="Rectangle 1028">
            <a:extLst>
              <a:ext uri="{FF2B5EF4-FFF2-40B4-BE49-F238E27FC236}">
                <a16:creationId xmlns:a16="http://schemas.microsoft.com/office/drawing/2014/main" id="{99FC52FF-77D9-42AF-BF13-12227E6ED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1042" y="412222"/>
            <a:ext cx="7220195" cy="73855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통계적 생명가치 추정의 이론적 기초</a:t>
            </a:r>
            <a:endParaRPr lang="en-US" altLang="ko-KR" sz="2800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0228509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8E65991-B48E-48FA-83D7-366362590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2988" y="1371600"/>
                <a:ext cx="8335347" cy="4655976"/>
              </a:xfrm>
            </p:spPr>
            <p:txBody>
              <a:bodyPr/>
              <a:lstStyle/>
              <a:p>
                <a:r>
                  <a:rPr lang="ko-KR" altLang="en-US" sz="2400" dirty="0"/>
                  <a:t>환경요인에 의한 사망률 변화의 한계편익</a:t>
                </a:r>
                <a:endParaRPr lang="en-US" altLang="ko-KR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𝐸𝑢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 [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(∙)]∆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2000" dirty="0"/>
              </a:p>
              <a:p>
                <a:pPr lvl="1"/>
                <a:r>
                  <a:rPr lang="ko-KR" altLang="en-US" sz="2000" dirty="0"/>
                  <a:t>따라서</a:t>
                </a:r>
                <a:r>
                  <a:rPr lang="en-US" altLang="ko-KR" sz="2000" dirty="0"/>
                  <a:t>, WTP=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(∙)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2000" dirty="0"/>
              </a:p>
              <a:p>
                <a:pPr lvl="1"/>
                <a:r>
                  <a:rPr lang="en-US" altLang="ko-KR" sz="2000" dirty="0"/>
                  <a:t> WTP</a:t>
                </a:r>
                <a:r>
                  <a:rPr lang="ko-KR" altLang="en-US" sz="2000" dirty="0"/>
                  <a:t>는 진술선호법</a:t>
                </a:r>
                <a:r>
                  <a:rPr lang="en-US" altLang="ko-KR" sz="2000" dirty="0"/>
                  <a:t>(=</a:t>
                </a:r>
                <a:r>
                  <a:rPr lang="ko-KR" altLang="en-US" sz="2000" dirty="0"/>
                  <a:t>설문조사법</a:t>
                </a:r>
                <a:r>
                  <a:rPr lang="en-US" altLang="ko-KR" sz="2000" dirty="0"/>
                  <a:t>, 17</a:t>
                </a:r>
                <a:r>
                  <a:rPr lang="ko-KR" altLang="en-US" sz="2000" dirty="0"/>
                  <a:t>장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등으로 추정 </a:t>
                </a:r>
                <a:endParaRPr lang="en-US" altLang="ko-KR" sz="2000" dirty="0"/>
              </a:p>
              <a:p>
                <a:r>
                  <a:rPr lang="ko-KR" altLang="en-US" sz="2800" dirty="0"/>
                  <a:t>특성임금법 이용 시</a:t>
                </a:r>
                <a:endParaRPr lang="en-US" altLang="ko-KR" sz="2800" dirty="0"/>
              </a:p>
              <a:p>
                <a:pPr lvl="1"/>
                <a:r>
                  <a:rPr lang="ko-KR" altLang="en-US" sz="2000" dirty="0"/>
                  <a:t>최적조건</a:t>
                </a:r>
                <a:r>
                  <a:rPr lang="en-US" altLang="ko-KR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[</a:t>
                </a:r>
                <a14:m>
                  <m:oMath xmlns:m="http://schemas.openxmlformats.org/officeDocument/2006/math">
                    <m:r>
                      <a:rPr lang="en-US" altLang="ko-KR" sz="200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(∙)] 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2000" dirty="0"/>
              </a:p>
              <a:p>
                <a:pPr lvl="1"/>
                <a:r>
                  <a:rPr lang="ko-KR" altLang="en-US" sz="2000" dirty="0"/>
                  <a:t>따라서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(∙)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2000" dirty="0"/>
              </a:p>
              <a:p>
                <a:pPr lvl="1"/>
                <a:r>
                  <a:rPr lang="ko-KR" altLang="en-US" sz="2000" dirty="0"/>
                  <a:t>이는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특성임금법으로 추정하며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sz="2000" dirty="0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000" dirty="0"/>
                  <a:t>와 가깝거나 양자간 비율이 알려져 있으면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2000" dirty="0"/>
                  <a:t>를 대신할 수 있음</a:t>
                </a:r>
                <a:endParaRPr lang="en-US" altLang="ko-KR" sz="2000" dirty="0"/>
              </a:p>
              <a:p>
                <a:endParaRPr lang="ko-KR" altLang="en-US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8E65991-B48E-48FA-83D7-366362590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988" y="1371600"/>
                <a:ext cx="8335347" cy="4655976"/>
              </a:xfrm>
              <a:blipFill>
                <a:blip r:embed="rId2"/>
                <a:stretch>
                  <a:fillRect l="-1243" t="-1047" r="-658" b="-14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B8187A-E592-4D35-8A3F-80DBC499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84B230-DB26-40E8-BD8D-3FB0B449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69</a:t>
            </a:fld>
            <a:endParaRPr lang="en-US" altLang="ko-KR"/>
          </a:p>
        </p:txBody>
      </p:sp>
      <p:sp>
        <p:nvSpPr>
          <p:cNvPr id="8" name="Rectangle 1028">
            <a:extLst>
              <a:ext uri="{FF2B5EF4-FFF2-40B4-BE49-F238E27FC236}">
                <a16:creationId xmlns:a16="http://schemas.microsoft.com/office/drawing/2014/main" id="{1E172000-0107-451A-ADEA-5F39ECAA9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520" y="323653"/>
            <a:ext cx="7220195" cy="738554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D7DFF"/>
                </a:solidFill>
                <a:latin typeface="Arial" charset="0"/>
              </a:defRPr>
            </a:lvl9pPr>
          </a:lstStyle>
          <a:p>
            <a:pPr eaLnBrk="1" hangingPunct="1"/>
            <a:r>
              <a:rPr lang="ko-KR" altLang="en-US" sz="2800" kern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통계적 생명가치 추정의 이론적 기초</a:t>
            </a:r>
            <a:endParaRPr lang="en-US" altLang="ko-KR" sz="2800" kern="0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18365453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8E65991-B48E-48FA-83D7-366362590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2988" y="1371600"/>
                <a:ext cx="8335347" cy="4655976"/>
              </a:xfrm>
            </p:spPr>
            <p:txBody>
              <a:bodyPr/>
              <a:lstStyle/>
              <a:p>
                <a:r>
                  <a:rPr lang="ko-KR" altLang="en-US" sz="2400" dirty="0"/>
                  <a:t>회피행위 분석 시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최적화</a:t>
                </a:r>
                <a:r>
                  <a:rPr lang="en-US" altLang="ko-KR" sz="2000" dirty="0"/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[</a:t>
                </a:r>
                <a14:m>
                  <m:oMath xmlns:m="http://schemas.openxmlformats.org/officeDocument/2006/math">
                    <m:r>
                      <a:rPr lang="en-US" altLang="ko-KR" sz="200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(∙)] </m:t>
                    </m:r>
                    <m:r>
                      <a:rPr lang="en-US" altLang="ko-KR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2000" dirty="0"/>
              </a:p>
              <a:p>
                <a:pPr lvl="1"/>
                <a:r>
                  <a:rPr lang="ko-KR" altLang="en-US" sz="2000" dirty="0"/>
                  <a:t>따라서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(∙)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altLang="ko-KR" sz="2000" dirty="0"/>
              </a:p>
              <a:p>
                <a:pPr lvl="1"/>
                <a:r>
                  <a:rPr lang="ko-KR" altLang="en-US" sz="2000" dirty="0"/>
                  <a:t>좌변에서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000" dirty="0"/>
                  <a:t>는 </a:t>
                </a:r>
                <a:r>
                  <a:rPr lang="ko-KR" altLang="en-US" sz="2000" dirty="0" err="1"/>
                  <a:t>시장자료이며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000" dirty="0"/>
                  <a:t>는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가계생산함수 분석등을 통해 얻을 수 있음</a:t>
                </a:r>
                <a:endParaRPr lang="en-US" altLang="ko-KR" sz="2000" dirty="0"/>
              </a:p>
              <a:p>
                <a:pPr lvl="1"/>
                <a:r>
                  <a:rPr lang="ko-KR" altLang="en-US" sz="2000" dirty="0"/>
                  <a:t>개인이 선택한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sz="2000" dirty="0"/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sz="2000" dirty="0"/>
                  <a:t>와 가깝고</a:t>
                </a:r>
                <a:r>
                  <a:rPr lang="en-US" altLang="ko-KR" sz="20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2000" dirty="0"/>
                  <a:t>일 경우 </a:t>
                </a:r>
                <a14:m>
                  <m:oMath xmlns:m="http://schemas.openxmlformats.org/officeDocument/2006/math">
                    <m:r>
                      <a:rPr lang="en-US" altLang="ko-KR" sz="20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2000" dirty="0"/>
              </a:p>
              <a:p>
                <a:r>
                  <a:rPr lang="ko-KR" altLang="en-US" sz="2400" dirty="0"/>
                  <a:t>환경오염의 사망확률은 연령</a:t>
                </a:r>
                <a:r>
                  <a:rPr lang="en-US" altLang="ko-KR" sz="2400" dirty="0"/>
                  <a:t>/</a:t>
                </a:r>
                <a:r>
                  <a:rPr lang="ko-KR" altLang="en-US" sz="2400" dirty="0"/>
                  <a:t>건강도에 따라 다르고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소득도 연령에 따라 다름</a:t>
                </a:r>
                <a:r>
                  <a:rPr lang="en-US" altLang="ko-KR" sz="2400" dirty="0"/>
                  <a:t>. </a:t>
                </a:r>
                <a:r>
                  <a:rPr lang="ko-KR" altLang="en-US" sz="2400" dirty="0"/>
                  <a:t>따라서 생애주기</a:t>
                </a:r>
                <a:r>
                  <a:rPr lang="en-US" altLang="ko-KR" sz="2400" dirty="0"/>
                  <a:t>(life cycle)</a:t>
                </a:r>
                <a:r>
                  <a:rPr lang="ko-KR" altLang="en-US" sz="2400" dirty="0"/>
                  <a:t>에 걸친 직업선택행위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회피행위 등을 동태적으로 분석하여 통계적 생명 가치를 연령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건강도별로 달리 도출할 수 있음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8E65991-B48E-48FA-83D7-366362590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988" y="1371600"/>
                <a:ext cx="8335347" cy="4655976"/>
              </a:xfrm>
              <a:blipFill>
                <a:blip r:embed="rId2"/>
                <a:stretch>
                  <a:fillRect l="-950" t="-1047" r="-585" b="-7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B8187A-E592-4D35-8A3F-80DBC499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Chapter 16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84B230-DB26-40E8-BD8D-3FB0B449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4C8E-C8E8-4CA9-B062-6B6BE1EFDFEB}" type="slidenum">
              <a:rPr lang="ko-KR" altLang="en-US" smtClean="0"/>
              <a:pPr/>
              <a:t>70</a:t>
            </a:fld>
            <a:endParaRPr lang="en-US" altLang="ko-KR"/>
          </a:p>
        </p:txBody>
      </p:sp>
      <p:sp>
        <p:nvSpPr>
          <p:cNvPr id="6" name="Rectangle 1028">
            <a:extLst>
              <a:ext uri="{FF2B5EF4-FFF2-40B4-BE49-F238E27FC236}">
                <a16:creationId xmlns:a16="http://schemas.microsoft.com/office/drawing/2014/main" id="{E5FC0826-915D-4C7B-A717-E2FBFE826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404446"/>
            <a:ext cx="7220195" cy="738554"/>
          </a:xfrm>
          <a:ln>
            <a:solidFill>
              <a:srgbClr val="7030A0"/>
            </a:solidFill>
          </a:ln>
        </p:spPr>
        <p:txBody>
          <a:bodyPr/>
          <a:lstStyle/>
          <a:p>
            <a:pPr eaLnBrk="1" hangingPunct="1"/>
            <a:r>
              <a:rPr lang="ko-KR" altLang="en-US" sz="2800" dirty="0">
                <a:solidFill>
                  <a:srgbClr val="7030A0"/>
                </a:solidFill>
                <a:latin typeface="나눔고딕" pitchFamily="50" charset="-127"/>
                <a:ea typeface="나눔명조" panose="02020603020101020101"/>
              </a:rPr>
              <a:t>통계적 생명가치 추정의 이론적 기초</a:t>
            </a:r>
            <a:endParaRPr lang="en-US" altLang="ko-KR" sz="2800" dirty="0">
              <a:solidFill>
                <a:srgbClr val="7030A0"/>
              </a:solidFill>
              <a:latin typeface="나눔고딕" pitchFamily="50" charset="-127"/>
              <a:ea typeface="나눔명조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4112002448"/>
      </p:ext>
    </p:extLst>
  </p:cSld>
  <p:clrMapOvr>
    <a:masterClrMapping/>
  </p:clrMapOvr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사용자 지정 3">
      <a:majorFont>
        <a:latin typeface="나눔명조"/>
        <a:ea typeface="나눔명조"/>
        <a:cs typeface=""/>
      </a:majorFont>
      <a:minorFont>
        <a:latin typeface="Arial"/>
        <a:ea typeface="나눔명조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</TotalTime>
  <Words>6349</Words>
  <Application>Microsoft Office PowerPoint</Application>
  <PresentationFormat>화면 슬라이드 쇼(4:3)</PresentationFormat>
  <Paragraphs>593</Paragraphs>
  <Slides>70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82" baseType="lpstr">
      <vt:lpstr>굴림</vt:lpstr>
      <vt:lpstr>나눔고딕</vt:lpstr>
      <vt:lpstr>나눔명조</vt:lpstr>
      <vt:lpstr>맑은 고딕</vt:lpstr>
      <vt:lpstr>신명 세고딕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16장 개요</vt:lpstr>
      <vt:lpstr>휴양수요분석법과 특성가격법</vt:lpstr>
      <vt:lpstr>여행비용법 : 분석절차</vt:lpstr>
      <vt:lpstr>여행비용법 : 분석절차</vt:lpstr>
      <vt:lpstr>PowerPoint 프레젠테이션</vt:lpstr>
      <vt:lpstr>PowerPoint 프레젠테이션</vt:lpstr>
      <vt:lpstr>여행비용법 : 분석절차</vt:lpstr>
      <vt:lpstr>여행비용법 : 분석절차</vt:lpstr>
      <vt:lpstr>여행비용법 : 분석절차</vt:lpstr>
      <vt:lpstr>여행비용법 : 분석절차</vt:lpstr>
      <vt:lpstr>여행비용법 : 시간비용의 처리</vt:lpstr>
      <vt:lpstr>여행비용법 : 시간비용의 처리</vt:lpstr>
      <vt:lpstr>여행비용법 : 방문횟수자료의 특이성</vt:lpstr>
      <vt:lpstr>여행비용법 : 자연생태계 특성변화의 가치</vt:lpstr>
      <vt:lpstr>PowerPoint 프레젠테이션</vt:lpstr>
      <vt:lpstr>확률효용모형</vt:lpstr>
      <vt:lpstr>확률효용모형</vt:lpstr>
      <vt:lpstr>확률효용모형</vt:lpstr>
      <vt:lpstr>확률효용모형</vt:lpstr>
      <vt:lpstr>확률효용모형</vt:lpstr>
      <vt:lpstr>확률효용모형</vt:lpstr>
      <vt:lpstr>확률효용모형</vt:lpstr>
      <vt:lpstr>확률효용모형의 문제점</vt:lpstr>
      <vt:lpstr>확률효용모형의 IIA문제</vt:lpstr>
      <vt:lpstr>휴양지 선택행위와 방문횟수 선택행위의 동시 분석</vt:lpstr>
      <vt:lpstr>연계분석법(Linked Model)</vt:lpstr>
      <vt:lpstr>연계분석법(Linked Model)</vt:lpstr>
      <vt:lpstr>이산-연속선택모형</vt:lpstr>
      <vt:lpstr>이산-연속선택모형</vt:lpstr>
      <vt:lpstr>이산-연속선택모형</vt:lpstr>
      <vt:lpstr>특성가격법 : 분석절차</vt:lpstr>
      <vt:lpstr>특성가격법 : 분석절차</vt:lpstr>
      <vt:lpstr>특성가격법 : 분석절차</vt:lpstr>
      <vt:lpstr>특성가격법 : 분석절차</vt:lpstr>
      <vt:lpstr>특성가격법 : 분석절차</vt:lpstr>
      <vt:lpstr>특성가격법 : 분석절차</vt:lpstr>
      <vt:lpstr>특성가격법 : 분석절차</vt:lpstr>
      <vt:lpstr>특성가격법 : 분석절차</vt:lpstr>
      <vt:lpstr>특성가격법 : 분석절차</vt:lpstr>
      <vt:lpstr>특성가격법의 몇 가지 문제 및 해결방안</vt:lpstr>
      <vt:lpstr>개인별 한계지불의사의 식별문제</vt:lpstr>
      <vt:lpstr>개인별 한계지불의사의 식별문제</vt:lpstr>
      <vt:lpstr>개인별 한계지불의사의 식별문제</vt:lpstr>
      <vt:lpstr>개인별 한계지불의사의 식별문제</vt:lpstr>
      <vt:lpstr>개인별 한계지불의사의 식별문제</vt:lpstr>
      <vt:lpstr>편익의 계산</vt:lpstr>
      <vt:lpstr>편익의 계산</vt:lpstr>
      <vt:lpstr>편익의 계산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균형소팅모형</vt:lpstr>
      <vt:lpstr>특성임금분석</vt:lpstr>
      <vt:lpstr>특성임금분석</vt:lpstr>
      <vt:lpstr>특성임금분석</vt:lpstr>
      <vt:lpstr>특성임금분석</vt:lpstr>
      <vt:lpstr>특성임금분석</vt:lpstr>
      <vt:lpstr>특성임금분석</vt:lpstr>
      <vt:lpstr>특성임금분석</vt:lpstr>
      <vt:lpstr>통계적 생명가치 추정의 이론적 기초</vt:lpstr>
      <vt:lpstr>PowerPoint 프레젠테이션</vt:lpstr>
      <vt:lpstr>통계적 생명가치 추정의 이론적 기초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330</cp:revision>
  <dcterms:created xsi:type="dcterms:W3CDTF">1997-07-14T00:22:12Z</dcterms:created>
  <dcterms:modified xsi:type="dcterms:W3CDTF">2025-02-19T00:41:25Z</dcterms:modified>
</cp:coreProperties>
</file>