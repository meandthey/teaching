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sldIdLst>
    <p:sldId id="375" r:id="rId2"/>
    <p:sldId id="405" r:id="rId3"/>
    <p:sldId id="550" r:id="rId4"/>
    <p:sldId id="567" r:id="rId5"/>
    <p:sldId id="625" r:id="rId6"/>
    <p:sldId id="626" r:id="rId7"/>
    <p:sldId id="627" r:id="rId8"/>
    <p:sldId id="628" r:id="rId9"/>
    <p:sldId id="629" r:id="rId10"/>
    <p:sldId id="630" r:id="rId11"/>
    <p:sldId id="632" r:id="rId12"/>
    <p:sldId id="633" r:id="rId13"/>
    <p:sldId id="634" r:id="rId14"/>
    <p:sldId id="635" r:id="rId15"/>
    <p:sldId id="637" r:id="rId16"/>
    <p:sldId id="636" r:id="rId17"/>
    <p:sldId id="638" r:id="rId18"/>
    <p:sldId id="639" r:id="rId19"/>
    <p:sldId id="641" r:id="rId20"/>
    <p:sldId id="642" r:id="rId21"/>
    <p:sldId id="643" r:id="rId22"/>
    <p:sldId id="649" r:id="rId23"/>
    <p:sldId id="648" r:id="rId24"/>
    <p:sldId id="651" r:id="rId25"/>
    <p:sldId id="652" r:id="rId26"/>
    <p:sldId id="650" r:id="rId27"/>
    <p:sldId id="364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02FF"/>
    <a:srgbClr val="0000FF"/>
    <a:srgbClr val="070B12"/>
    <a:srgbClr val="E9E9E9"/>
    <a:srgbClr val="FFFFFF"/>
    <a:srgbClr val="E15F5F"/>
    <a:srgbClr val="F8F7FC"/>
    <a:srgbClr val="2D72BE"/>
    <a:srgbClr val="0047A0"/>
    <a:srgbClr val="E360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5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8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2025-11-23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6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25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12" Type="http://schemas.openxmlformats.org/officeDocument/2006/relationships/image" Target="../media/image3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42.png"/><Relationship Id="rId10" Type="http://schemas.openxmlformats.org/officeDocument/2006/relationships/image" Target="../media/image20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32.png"/><Relationship Id="rId12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46.png"/><Relationship Id="rId5" Type="http://schemas.openxmlformats.org/officeDocument/2006/relationships/image" Target="../media/image30.png"/><Relationship Id="rId10" Type="http://schemas.openxmlformats.org/officeDocument/2006/relationships/image" Target="../media/image36.png"/><Relationship Id="rId4" Type="http://schemas.openxmlformats.org/officeDocument/2006/relationships/image" Target="../media/image45.png"/><Relationship Id="rId9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4" Type="http://schemas.openxmlformats.org/officeDocument/2006/relationships/image" Target="../media/image4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38.png"/><Relationship Id="rId9" Type="http://schemas.openxmlformats.org/officeDocument/2006/relationships/image" Target="../media/image19.png"/><Relationship Id="rId14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11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18" Type="http://schemas.openxmlformats.org/officeDocument/2006/relationships/image" Target="../media/image66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17" Type="http://schemas.openxmlformats.org/officeDocument/2006/relationships/image" Target="../media/image64.png"/><Relationship Id="rId2" Type="http://schemas.openxmlformats.org/officeDocument/2006/relationships/image" Target="../media/image11.png"/><Relationship Id="rId16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6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76.png"/><Relationship Id="rId3" Type="http://schemas.openxmlformats.org/officeDocument/2006/relationships/image" Target="../media/image68.png"/><Relationship Id="rId7" Type="http://schemas.openxmlformats.org/officeDocument/2006/relationships/image" Target="../media/image36.png"/><Relationship Id="rId12" Type="http://schemas.openxmlformats.org/officeDocument/2006/relationships/image" Target="../media/image75.png"/><Relationship Id="rId17" Type="http://schemas.openxmlformats.org/officeDocument/2006/relationships/image" Target="../media/image80.png"/><Relationship Id="rId2" Type="http://schemas.openxmlformats.org/officeDocument/2006/relationships/image" Target="../media/image43.png"/><Relationship Id="rId16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11" Type="http://schemas.openxmlformats.org/officeDocument/2006/relationships/image" Target="../media/image74.png"/><Relationship Id="rId5" Type="http://schemas.openxmlformats.org/officeDocument/2006/relationships/image" Target="../media/image70.png"/><Relationship Id="rId15" Type="http://schemas.openxmlformats.org/officeDocument/2006/relationships/image" Target="../media/image78.png"/><Relationship Id="rId10" Type="http://schemas.openxmlformats.org/officeDocument/2006/relationships/image" Target="../media/image73.png"/><Relationship Id="rId4" Type="http://schemas.openxmlformats.org/officeDocument/2006/relationships/image" Target="../media/image69.png"/><Relationship Id="rId9" Type="http://schemas.openxmlformats.org/officeDocument/2006/relationships/image" Target="../media/image67.png"/><Relationship Id="rId14" Type="http://schemas.openxmlformats.org/officeDocument/2006/relationships/image" Target="../media/image7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9422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/>
              <a:t>환경경제학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83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</a:t>
            </a:r>
            <a:r>
              <a:rPr lang="en-US" altLang="ko-KR" sz="2800">
                <a:latin typeface="HY헤드라인M" panose="02030600000101010101" pitchFamily="18" charset="-127"/>
                <a:ea typeface="HY헤드라인M" panose="02030600000101010101" pitchFamily="18" charset="-127"/>
              </a:rPr>
              <a:t>- 12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2200275" y="5144158"/>
            <a:ext cx="779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Seungho Jeon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Chapter 14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편익분석을 위한 기본이론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가격변화의 후생효과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60EA2-F904-A536-F618-B967B0BD9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24DECD-B385-6301-1866-D08542EA4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통상수요와 소비자잉여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BF888C-7908-D0CC-A3FD-1875DD8F4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19AF4B-5956-0053-CDC6-4D0ABE999742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259128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소비자가 시장에서 거래되는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를 소비한다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두 재화의 시장가격은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소비자가 지출 가능한 소득은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경제학에서는 소비자의 만족도를 효용이라고 부르며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소비자는 주어진 여건하에서 효용을 최대화하는 결정을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소비량과 소비자 효용 간의 관계를 나타내는 함수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spc="-50" dirty="0"/>
                  <a:t>를 효용함수라고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소비자의 예산제약은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과 같다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재화의 시장가격 및 소득이 달라지면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소비자는 효용극대화를 위해 각 재화의 소비량을 변화시킨다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소비자가 효용극대화를 위해 각 재화의 수요를 시장가격과 소득의 함수로 나타내는 것을 통상수요함수 </a:t>
                </a:r>
                <a:r>
                  <a:rPr lang="ko-KR" altLang="en-US" sz="1600" spc="-50" dirty="0" err="1"/>
                  <a:t>라고</a:t>
                </a:r>
                <a:r>
                  <a:rPr lang="ko-KR" altLang="en-US" sz="1600" spc="-50" dirty="0"/>
                  <a:t>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지금까지 수업시간에 다루었던 수요는 모두 통상수요함수를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통상수요함수는 아래와 같이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통상수요함수 </a:t>
                </a:r>
                <a14:m>
                  <m:oMath xmlns:m="http://schemas.openxmlformats.org/officeDocument/2006/math">
                    <m:r>
                      <a:rPr lang="en-US" altLang="ko-KR" sz="16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통상수요함수 </a:t>
                </a:r>
                <a14:m>
                  <m:oMath xmlns:m="http://schemas.openxmlformats.org/officeDocument/2006/math">
                    <m:r>
                      <a:rPr lang="en-US" altLang="ko-KR" sz="1600" spc="-5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 err="1"/>
                  <a:t>뒷</a:t>
                </a:r>
                <a:r>
                  <a:rPr lang="ko-KR" altLang="en-US" sz="1600" spc="-50" dirty="0"/>
                  <a:t> 부분에서 배우겠지만 통상수요함수와는 다른 개념의 수요함수인 보상수요함수 라는 것도 있다</a:t>
                </a:r>
                <a:r>
                  <a:rPr lang="en-US" altLang="ko-KR" sz="1600" spc="-50" dirty="0"/>
                  <a:t>.</a:t>
                </a:r>
              </a:p>
              <a:p>
                <a:pPr marL="1006475" lvl="2">
                  <a:lnSpc>
                    <a:spcPct val="150000"/>
                  </a:lnSpc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19AF4B-5956-0053-CDC6-4D0ABE9997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259128" cy="52153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65586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54DDA1-D588-1F6B-642A-2129C89C8D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C2094-E2BE-5735-F961-BF83E4193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50698-46A6-7474-FA4B-74FDE77474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78" y="1201619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BA2DBE-6A96-3928-4000-EDA708330FC6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521533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그래프는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소비량과 그 가격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관계를 그래프로 보여준다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 변하면 그래프의 곡선을 따라 이동하여 그에 맞게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소비량을 결정한다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다른 재화의 가격인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혹은 소득인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이 변하면 그래프의 곡선은 상하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혹은 좌우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로 이동하게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정책이 시행되면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소득 혹은 상품가격이 변하게 되어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극대화가 달성되는 효용 수준도 달라지게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상품가격을 변화시키는 정부 정책으로 인해 발생하는 편익을 측정하기 위해서는 그 효용수준의 변화를 계측하는 것이 필요하다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다만 효용이라고 하는 것은 주관적인 개념이기 때문에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서로 비교하고 더할 수 있는 공통의 단위가 필요하다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가장 편리하게 사용하는 것이 화폐단위이다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소비자 만족도라는 주관적 지표를 금액이라는 객관적 지표로 전화하는 과정이 필요하며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변환과정에서 사용되는 것이 통상수요함수이다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6BA2DBE-6A96-3928-4000-EDA708330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5215338"/>
              </a:xfrm>
              <a:prstGeom prst="rect">
                <a:avLst/>
              </a:prstGeom>
              <a:blipFill>
                <a:blip r:embed="rId3"/>
                <a:stretch>
                  <a:fillRect r="-168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B2CEED-F265-D3BF-C77F-02C587E9AC52}"/>
                  </a:ext>
                </a:extLst>
              </p:cNvPr>
              <p:cNvSpPr txBox="1"/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1B2CEED-F265-D3BF-C77F-02C587E9AC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blipFill>
                <a:blip r:embed="rId7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45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83002-5C78-D3BA-BE95-7D0F86941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8706D1-ED69-F563-49D9-E87D643C8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EBDAF8-7B5A-9838-3F90-04BDA08B8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B43270D-D0DB-6421-0EEC-CCBFD5DBC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78" y="1201619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E102F7-9233-B876-3F17-59AC0F079CD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559775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와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이 주어져 있을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따라 감소하므로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통상수요곡선은 </a:t>
                </a:r>
                <a:r>
                  <a:rPr lang="ko-KR" altLang="en-US" sz="1600" spc="-50" dirty="0" err="1"/>
                  <a:t>우하향</a:t>
                </a:r>
                <a:r>
                  <a:rPr lang="ko-KR" altLang="en-US" sz="1600" spc="-50" dirty="0"/>
                  <a:t>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시장가격이 원래에는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이었으나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정책의 영향으로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하락했다고 하자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가격변화로 인해 변한 후생효과를 화폐단위로 계측해보자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그리고 그 계측된 값을 </a:t>
                </a:r>
                <a14:m>
                  <m:oMath xmlns:m="http://schemas.openxmlformats.org/officeDocument/2006/math"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라고 표기해보자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 는 소비자잉여의 변화분이다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는 그림에서 면적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결국 정부 정책의 영향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소비자의 후생을 얼만큼 변화시켰는지 그래프를 통해 확인해보니 면적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dirty="0"/>
                  <a:t>만큼 변화가 있었다고 보이는데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이게 후생의 변화를 정확하게 반영하고 있을까</a:t>
                </a:r>
                <a:r>
                  <a:rPr lang="en-US" altLang="ko-KR" sz="160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그렇지 않다</a:t>
                </a:r>
                <a:r>
                  <a:rPr lang="en-US" altLang="ko-KR" sz="160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dirty="0"/>
                  <a:t>왜냐하면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특정 통상수요곡선 위의 각 점에서는 소득과 다른 소비재의 가격은 같지만 해당 소비재의 가격은 각각 다르며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달성되는 만족도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즉 효용함수의 값도 다 다르기 때문이다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그래프에서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점과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점의 효용 값은 다르다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E102F7-9233-B876-3F17-59AC0F079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5597751"/>
              </a:xfrm>
              <a:prstGeom prst="rect">
                <a:avLst/>
              </a:prstGeom>
              <a:blipFill>
                <a:blip r:embed="rId3"/>
                <a:stretch>
                  <a:fillRect r="-1091" b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4CDE62-DFA1-DC2C-502B-C8DF60D4C30D}"/>
                  </a:ext>
                </a:extLst>
              </p:cNvPr>
              <p:cNvSpPr txBox="1"/>
              <p:nvPr/>
            </p:nvSpPr>
            <p:spPr>
              <a:xfrm>
                <a:off x="8424644" y="3552737"/>
                <a:ext cx="19095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14CDE62-DFA1-DC2C-502B-C8DF60D4C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644" y="3552737"/>
                <a:ext cx="190950" cy="246221"/>
              </a:xfrm>
              <a:prstGeom prst="rect">
                <a:avLst/>
              </a:prstGeom>
              <a:blipFill>
                <a:blip r:embed="rId4"/>
                <a:stretch>
                  <a:fillRect l="-9677" r="-3226" b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C5FA6-10D6-F0CE-81AD-02A0D98F16A8}"/>
                  </a:ext>
                </a:extLst>
              </p:cNvPr>
              <p:cNvSpPr txBox="1"/>
              <p:nvPr/>
            </p:nvSpPr>
            <p:spPr>
              <a:xfrm>
                <a:off x="8848288" y="2940340"/>
                <a:ext cx="2039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8C5FA6-10D6-F0CE-81AD-02A0D98F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288" y="2940340"/>
                <a:ext cx="203967" cy="246221"/>
              </a:xfrm>
              <a:prstGeom prst="rect">
                <a:avLst/>
              </a:prstGeom>
              <a:blipFill>
                <a:blip r:embed="rId5"/>
                <a:stretch>
                  <a:fillRect l="-14706" r="-1470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4F4EB-C7C5-334E-4A39-89633E2B181B}"/>
                  </a:ext>
                </a:extLst>
              </p:cNvPr>
              <p:cNvSpPr txBox="1"/>
              <p:nvPr/>
            </p:nvSpPr>
            <p:spPr>
              <a:xfrm>
                <a:off x="9964023" y="3897423"/>
                <a:ext cx="212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B64F4EB-C7C5-334E-4A39-89633E2B1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23" y="3897423"/>
                <a:ext cx="212302" cy="246221"/>
              </a:xfrm>
              <a:prstGeom prst="rect">
                <a:avLst/>
              </a:prstGeom>
              <a:blipFill>
                <a:blip r:embed="rId6"/>
                <a:stretch>
                  <a:fillRect l="-17647" r="-1470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796F5E-61C4-8FE2-DA7C-5AA1EDAAD780}"/>
                  </a:ext>
                </a:extLst>
              </p:cNvPr>
              <p:cNvSpPr txBox="1"/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5796F5E-61C4-8FE2-DA7C-5AA1EDAAD7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blipFill>
                <a:blip r:embed="rId7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7469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5E836-22B9-462D-98F0-ED74D4EA3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5F26B-588F-D7C4-1D03-4330D550D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58C4C2-9ABC-33A9-14F5-D93747914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 descr="텍스트, 라인, 스크린샷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ABA6048-F52C-2817-8C70-C811A1A0C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4578" y="1201619"/>
            <a:ext cx="4744876" cy="540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DB9CD-84F7-451B-25C9-0D9B8E269DA9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374455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 정책으로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하락하고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소비자가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점에서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점으로 선택을 옮겼을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소비자의 효용이 변함이 없었다면 면적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sz="1600" spc="-50" dirty="0"/>
                  <a:t> (</a:t>
                </a:r>
                <a:r>
                  <a:rPr lang="ko-KR" altLang="en-US" sz="1600" spc="-50" dirty="0"/>
                  <a:t>혹은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는 동일한 만족도를 얻기 위해 소비자가 절약한 지출액을 나타낸다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그러나 소비점이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로 옮겨가면서 소비자가 얻는 만족도 자체가 변했기 때문에 명목적으로는 소득수준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을 유지하고 있지만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 달성되는 만족도 자체가 변할 정도로 소득이 변한 효과가 있는 것이다</a:t>
                </a:r>
                <a:r>
                  <a:rPr lang="en-US" altLang="ko-KR" sz="1600" spc="-50" dirty="0"/>
                  <a:t>.</a:t>
                </a:r>
                <a:r>
                  <a:rPr lang="ko-KR" altLang="en-US" sz="1600" i="1" spc="-50" dirty="0"/>
                  <a:t> </a:t>
                </a:r>
                <a:endParaRPr lang="en-US" altLang="ko-KR" sz="1600" i="1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i="1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결과적으로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로의 이동효과를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를 통해 평가하면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에는 순수하게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가격이 변한 효과뿐 아니라 실질소득 혹은 구매력이 늘어남에 따라 후생자체가 증가한 효과까지 혼재되어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5ADB9CD-84F7-451B-25C9-0D9B8E269D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3744551"/>
              </a:xfrm>
              <a:prstGeom prst="rect">
                <a:avLst/>
              </a:prstGeom>
              <a:blipFill>
                <a:blip r:embed="rId3"/>
                <a:stretch>
                  <a:fillRect r="-336" b="-97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5B1884-3014-38CC-7337-17E398756C04}"/>
                  </a:ext>
                </a:extLst>
              </p:cNvPr>
              <p:cNvSpPr txBox="1"/>
              <p:nvPr/>
            </p:nvSpPr>
            <p:spPr>
              <a:xfrm>
                <a:off x="8424644" y="3552737"/>
                <a:ext cx="19095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35B1884-3014-38CC-7337-17E398756C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644" y="3552737"/>
                <a:ext cx="190950" cy="246221"/>
              </a:xfrm>
              <a:prstGeom prst="rect">
                <a:avLst/>
              </a:prstGeom>
              <a:blipFill>
                <a:blip r:embed="rId4"/>
                <a:stretch>
                  <a:fillRect l="-9677" r="-3226" b="-2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32324A-DCB9-100B-D93C-2BFA95CD2122}"/>
                  </a:ext>
                </a:extLst>
              </p:cNvPr>
              <p:cNvSpPr txBox="1"/>
              <p:nvPr/>
            </p:nvSpPr>
            <p:spPr>
              <a:xfrm>
                <a:off x="8848288" y="2940340"/>
                <a:ext cx="203967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132324A-DCB9-100B-D93C-2BFA95CD21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288" y="2940340"/>
                <a:ext cx="203967" cy="246221"/>
              </a:xfrm>
              <a:prstGeom prst="rect">
                <a:avLst/>
              </a:prstGeom>
              <a:blipFill>
                <a:blip r:embed="rId5"/>
                <a:stretch>
                  <a:fillRect l="-14706" r="-1470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1D34AE-9DFF-8FDB-EE80-51203A81C016}"/>
                  </a:ext>
                </a:extLst>
              </p:cNvPr>
              <p:cNvSpPr txBox="1"/>
              <p:nvPr/>
            </p:nvSpPr>
            <p:spPr>
              <a:xfrm>
                <a:off x="9964023" y="3897423"/>
                <a:ext cx="21230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1D34AE-9DFF-8FDB-EE80-51203A81C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23" y="3897423"/>
                <a:ext cx="212302" cy="246221"/>
              </a:xfrm>
              <a:prstGeom prst="rect">
                <a:avLst/>
              </a:prstGeom>
              <a:blipFill>
                <a:blip r:embed="rId6"/>
                <a:stretch>
                  <a:fillRect l="-17647" r="-14706" b="-975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5FD2A4-CD07-D9A9-9995-0E3ABA478454}"/>
                  </a:ext>
                </a:extLst>
              </p:cNvPr>
              <p:cNvSpPr txBox="1"/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6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b="0" i="1" spc="-5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6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25FD2A4-CD07-D9A9-9995-0E3ABA4784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4023" y="5203354"/>
                <a:ext cx="1504774" cy="338554"/>
              </a:xfrm>
              <a:prstGeom prst="rect">
                <a:avLst/>
              </a:prstGeom>
              <a:blipFill>
                <a:blip r:embed="rId7"/>
                <a:stretch>
                  <a:fillRect b="-1454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688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2C3E-5BDD-326D-3BCF-0B29B631B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1F796-C2E3-177F-CB2D-06817F3D0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741A6D-A552-A271-0CBB-20CCDD7A8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A62DDA3-CED7-B087-88DF-3DAA2ED710E1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5" name="그림 4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097BED1C-81ED-2E5F-D728-6D579B7B813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6B69FC-838A-C0DD-E603-BA4F780D8E41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6B69FC-838A-C0DD-E603-BA4F780D8E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원호 6">
              <a:extLst>
                <a:ext uri="{FF2B5EF4-FFF2-40B4-BE49-F238E27FC236}">
                  <a16:creationId xmlns:a16="http://schemas.microsoft.com/office/drawing/2014/main" id="{F110F54E-3AEE-A7D6-C427-246EAC63638B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원호 13">
              <a:extLst>
                <a:ext uri="{FF2B5EF4-FFF2-40B4-BE49-F238E27FC236}">
                  <a16:creationId xmlns:a16="http://schemas.microsoft.com/office/drawing/2014/main" id="{64D3353F-2C26-00E5-99F0-CE5BEE6C63B0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7440A-C2CA-8ED2-06BB-607A228FAD2F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A17440A-C2CA-8ED2-06BB-607A228FAD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80B5B1E-D6A8-24D4-E16D-BC79C205DF7D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780B5B1E-D6A8-24D4-E16D-BC79C205DF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87C5106-7AFC-80CA-2E5F-F6945F6D93BB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E87C5106-7AFC-80CA-2E5F-F6945F6D93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9588F02-2446-CC14-FC6E-F05482F5D27B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9588F02-2446-CC14-FC6E-F05482F5D2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D499BF-E673-D303-599C-AB2F88FDE56F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8D499BF-E673-D303-599C-AB2F88FDE5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8178BB2-41D3-8EFE-4E2A-CE9E8CA58448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18178BB2-41D3-8EFE-4E2A-CE9E8CA584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862F80C6-C14D-4CE1-3FDD-677539E12AE4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9FC84AA6-BCFB-68BC-34BA-368AE91A15A1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2F1D539-2F53-2B25-5973-935A8208451D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72F1D539-2F53-2B25-5973-935A82084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A1F72D8-1202-B846-0EF1-63C19C26F6B8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EA1F72D8-1202-B846-0EF1-63C19C26F6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D6CAC26-4C65-8B2E-4333-4B35442B8CFC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D6CAC26-4C65-8B2E-4333-4B35442B8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FEA1DD-060D-8D61-9B55-79BFEB802564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540859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상품의 가격변화가 </a:t>
                </a:r>
                <a:r>
                  <a:rPr lang="ko-KR" altLang="en-US" sz="1600" spc="-50" dirty="0" err="1"/>
                  <a:t>통상수요량를</a:t>
                </a:r>
                <a:r>
                  <a:rPr lang="ko-KR" altLang="en-US" sz="1600" spc="-50" dirty="0"/>
                  <a:t> 변화시켰다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그 변화는 순수한 가격변화의 영향과 실질구매력의 영향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둘 모두가 영향을 미친 결과이다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즉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는 이 두 효과를 분리하여 계측하지 못하였다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는 주어진 소득을 전부 지출하여 구매할 수 있는 두 재화의 수량을 나타내며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예산선이라고 부른다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예산제약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대해 정리하면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이므로 예산선의 기울기는 두 재화의 가격 비 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f>
                      <m:fPr>
                        <m:type m:val="skw"/>
                        <m:ctrlPr>
                          <a:rPr lang="en-US" altLang="ko-KR" sz="1600" i="1" spc="-5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반영한다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직선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는 최초의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일 때의 예산선으로서</a:t>
                </a:r>
                <a:r>
                  <a:rPr lang="en-US" altLang="ko-KR" sz="1600" spc="-50" dirty="0"/>
                  <a:t>,</a:t>
                </a:r>
              </a:p>
              <a:p>
                <a:pPr marL="549275" lvl="1">
                  <a:lnSpc>
                    <a:spcPct val="150000"/>
                  </a:lnSpc>
                </a:pPr>
                <a:r>
                  <a:rPr lang="en-US" altLang="ko-KR" sz="1600" spc="-50" dirty="0"/>
                  <a:t>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의 관계를 충족한다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는 무차별곡선 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무차별곡선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상의 점들은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효용을 </a:t>
                </a:r>
                <a:r>
                  <a:rPr lang="ko-KR" altLang="en-US" sz="1600" spc="-50" dirty="0" err="1"/>
                  <a:t>가져다주는</a:t>
                </a:r>
                <a:r>
                  <a:rPr lang="ko-KR" altLang="en-US" sz="1600" spc="-50" dirty="0"/>
                  <a:t> 모든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조합이다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무차별곡선은 원점에서 멀어질수록 더 많은 소비재를 소비하므로 더 높은 효용을 나타낸다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BFEA1DD-060D-8D61-9B55-79BFEB8025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5408597"/>
              </a:xfrm>
              <a:prstGeom prst="rect">
                <a:avLst/>
              </a:prstGeom>
              <a:blipFill>
                <a:blip r:embed="rId13"/>
                <a:stretch>
                  <a:fillRect r="-168" b="-3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8334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97124-38A9-9BFA-03B5-3B80AD3E2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C03116-C502-0FE4-14FB-B0AECB23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C9AD0D-493D-124E-6D0A-B4179DECB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E277D98-40E9-1745-DBC8-77B104EDC5D6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9" name="그림 8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3A8E5CA-A5A7-4ECA-D4CB-DD75D0BE9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736ED9C-1422-B897-5E34-83E0CA6974F1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736ED9C-1422-B897-5E34-83E0CA6974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원호 12">
              <a:extLst>
                <a:ext uri="{FF2B5EF4-FFF2-40B4-BE49-F238E27FC236}">
                  <a16:creationId xmlns:a16="http://schemas.microsoft.com/office/drawing/2014/main" id="{05F16B81-1BCD-63A0-3805-1A6AFD8DAA11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원호 14">
              <a:extLst>
                <a:ext uri="{FF2B5EF4-FFF2-40B4-BE49-F238E27FC236}">
                  <a16:creationId xmlns:a16="http://schemas.microsoft.com/office/drawing/2014/main" id="{83087F06-C2C0-82FE-E51A-298D01632450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3B7466-9A6B-9266-BFD8-81B844B78E1F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93B7466-9A6B-9266-BFD8-81B844B78E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66D1328-6169-2F4F-BD74-EA5F26D6EFCC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66D1328-6169-2F4F-BD74-EA5F26D6EF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735717-4F1A-07CF-8D9B-BDD24C3EEA6E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C2735717-4F1A-07CF-8D9B-BDD24C3EEA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14EDD1-F0D9-1838-F62D-A55F40881F82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A514EDD1-F0D9-1838-F62D-A55F40881F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F16AED3-DE31-4B91-00E1-64EDCAA4DDCC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DF16AED3-DE31-4B91-00E1-64EDCAA4DD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A77A5F7-F748-B2C5-044B-0F05D261635A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2A77A5F7-F748-B2C5-044B-0F05D26163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771A2258-1B3D-E734-903B-4F6C48EBA221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C76E585C-90EF-FCD0-E7F1-45B20574F2FE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19733A-51F1-DA09-02E0-F002E6F4682F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19733A-51F1-DA09-02E0-F002E6F4682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C2E89F5-D592-8B3E-8B8A-695D997488C5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8C2E89F5-D592-8B3E-8B8A-695D997488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0CCFF61-D5ED-ACED-08D6-E1AC257F0307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0CCFF61-D5ED-ACED-08D6-E1AC257F03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F50F86-FC53-7493-55DC-7C9377B0E5E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375173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오른쪽 그림에서 소비자는 </a:t>
                </a:r>
                <a:r>
                  <a:rPr lang="ko-KR" altLang="en-US" sz="1600" spc="-50" dirty="0" err="1"/>
                  <a:t>소비점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선택하여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을 소비하고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나머지 소득을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지출한다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왜냐하면 현재 소득으로는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보다 높은 효용을 가져다 주는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도달할 수 없고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보다 원점에 가까운 무차별 곡선은 소비가 가능하지만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보다 더 낮은 효용을 가져다 주기 때문이다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주어진 소득과 가격조건에서 효용을 극대화하는 소비점은 무차별곡선과 예산선이 접하는 점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정부의 정책으로 인해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으</m:t>
                    </m:r>
                  </m:oMath>
                </a14:m>
                <a:r>
                  <a:rPr lang="ko-KR" altLang="en-US" sz="1600" spc="-50" dirty="0"/>
                  <a:t>로 하락했고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그로 인해 예산선의 기울기가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되었다고 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이러한 변화로 인해 소비자는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점을 선택하여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소비량은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증가하고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결과 후생은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으로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증대된다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4F50F86-FC53-7493-55DC-7C9377B0E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3751733"/>
              </a:xfrm>
              <a:prstGeom prst="rect">
                <a:avLst/>
              </a:prstGeom>
              <a:blipFill>
                <a:blip r:embed="rId13"/>
                <a:stretch>
                  <a:fillRect b="-9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9244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4DF30-76D0-313A-1E16-74F2A44BE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그림 101">
            <a:extLst>
              <a:ext uri="{FF2B5EF4-FFF2-40B4-BE49-F238E27FC236}">
                <a16:creationId xmlns:a16="http://schemas.microsoft.com/office/drawing/2014/main" id="{20713A6D-E22C-E1CE-989F-74DF9C3029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275" y="902145"/>
            <a:ext cx="2233931" cy="273385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E3107F5-4873-6FA5-9210-9C584AC8E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5EF12B-AE6E-5A56-0FFE-1386BE3F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40C7F9-BDBD-B74E-29F6-1242D7E5990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37380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아래쪽 그림에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 으로 나타낸 것이 바로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의 통상수요곡선이다</a:t>
                </a:r>
                <a:r>
                  <a:rPr lang="en-US" altLang="ko-KR" sz="1600" dirty="0"/>
                  <a:t>. </a:t>
                </a:r>
                <a:endParaRPr lang="ko-KR" altLang="en-US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수요량 사이의 관계를 나타내는 곡선으로서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통상수요곡선 상의 각 점에서 소비자는 서로 다른 수준의 효용을 얻는다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</a:t>
                </a:r>
                <a:r>
                  <a:rPr lang="en-US" altLang="ko-KR" sz="1600" spc="-5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 하락은 사실 두 가지 효과를 통해 소비점을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에서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로 이동시킨다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대체효과 </a:t>
                </a:r>
                <a:r>
                  <a:rPr lang="en-US" altLang="ko-KR" sz="1600" spc="-50" dirty="0"/>
                  <a:t>+ </a:t>
                </a:r>
                <a:r>
                  <a:rPr lang="ko-KR" altLang="en-US" sz="1600" spc="-50" dirty="0"/>
                  <a:t>소득효과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대체효과는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보다 상대적으로 더 싸졌기 때문에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소비가 늘어나고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소비는 줄어드는 효과를 말한다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소득효과는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 하락해서 소비자의 실질구매력이 상승하고 그로 인해 </a:t>
                </a:r>
                <a:r>
                  <a:rPr lang="ko-KR" altLang="en-US" sz="1600" spc="-50" dirty="0" err="1"/>
                  <a:t>구매량이</a:t>
                </a:r>
                <a:r>
                  <a:rPr lang="ko-KR" altLang="en-US" sz="1600" spc="-50" dirty="0"/>
                  <a:t> 변하는 효과이다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140C7F9-BDBD-B74E-29F6-1242D7E59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3738011"/>
              </a:xfrm>
              <a:prstGeom prst="rect">
                <a:avLst/>
              </a:prstGeom>
              <a:blipFill>
                <a:blip r:embed="rId3"/>
                <a:stretch>
                  <a:fillRect r="-503" b="-9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" name="직사각형 72">
            <a:extLst>
              <a:ext uri="{FF2B5EF4-FFF2-40B4-BE49-F238E27FC236}">
                <a16:creationId xmlns:a16="http://schemas.microsoft.com/office/drawing/2014/main" id="{D3BCC532-4AAE-A98F-D190-B7819C0B2EAB}"/>
              </a:ext>
            </a:extLst>
          </p:cNvPr>
          <p:cNvSpPr/>
          <p:nvPr/>
        </p:nvSpPr>
        <p:spPr>
          <a:xfrm>
            <a:off x="8663940" y="3799417"/>
            <a:ext cx="2023534" cy="244422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4" name="직선 연결선 73">
            <a:extLst>
              <a:ext uri="{FF2B5EF4-FFF2-40B4-BE49-F238E27FC236}">
                <a16:creationId xmlns:a16="http://schemas.microsoft.com/office/drawing/2014/main" id="{04B1EC3C-28E2-311A-46F2-77A933A6AF56}"/>
              </a:ext>
            </a:extLst>
          </p:cNvPr>
          <p:cNvCxnSpPr>
            <a:cxnSpLocks/>
          </p:cNvCxnSpPr>
          <p:nvPr/>
        </p:nvCxnSpPr>
        <p:spPr>
          <a:xfrm>
            <a:off x="9124945" y="3552049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9C52B3C9-72FC-54C5-AAD7-72914435C23C}"/>
              </a:ext>
            </a:extLst>
          </p:cNvPr>
          <p:cNvCxnSpPr>
            <a:cxnSpLocks/>
          </p:cNvCxnSpPr>
          <p:nvPr/>
        </p:nvCxnSpPr>
        <p:spPr>
          <a:xfrm>
            <a:off x="9892688" y="3539350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31648C35-F189-D521-7883-F88E4015BFC4}"/>
              </a:ext>
            </a:extLst>
          </p:cNvPr>
          <p:cNvCxnSpPr>
            <a:cxnSpLocks/>
          </p:cNvCxnSpPr>
          <p:nvPr/>
        </p:nvCxnSpPr>
        <p:spPr>
          <a:xfrm>
            <a:off x="8776283" y="4211273"/>
            <a:ext cx="1592510" cy="1793144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0CD367-1F7E-409F-5834-6DDA760D5680}"/>
                  </a:ext>
                </a:extLst>
              </p:cNvPr>
              <p:cNvSpPr txBox="1"/>
              <p:nvPr/>
            </p:nvSpPr>
            <p:spPr>
              <a:xfrm>
                <a:off x="9878312" y="6063119"/>
                <a:ext cx="717827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800" i="1" spc="-5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800" b="0" i="1" spc="-5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800" b="0" i="1" spc="-5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ko-KR" sz="800" i="1" spc="-5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8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160CD367-1F7E-409F-5834-6DDA760D56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8312" y="6063119"/>
                <a:ext cx="717827" cy="215444"/>
              </a:xfrm>
              <a:prstGeom prst="rect">
                <a:avLst/>
              </a:prstGeom>
              <a:blipFill>
                <a:blip r:embed="rId4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A3B675E-9D5F-3006-D7CD-F2DF111513E2}"/>
                  </a:ext>
                </a:extLst>
              </p:cNvPr>
              <p:cNvSpPr txBox="1"/>
              <p:nvPr/>
            </p:nvSpPr>
            <p:spPr>
              <a:xfrm>
                <a:off x="9774811" y="5605303"/>
                <a:ext cx="150477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A3B675E-9D5F-3006-D7CD-F2DF111513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4811" y="5605303"/>
                <a:ext cx="1504774" cy="246221"/>
              </a:xfrm>
              <a:prstGeom prst="rect">
                <a:avLst/>
              </a:prstGeom>
              <a:blipFill>
                <a:blip r:embed="rId5"/>
                <a:stretch>
                  <a:fillRect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637CE39-B3AF-CD83-3526-740159908BC0}"/>
                  </a:ext>
                </a:extLst>
              </p:cNvPr>
              <p:cNvSpPr txBox="1"/>
              <p:nvPr/>
            </p:nvSpPr>
            <p:spPr>
              <a:xfrm>
                <a:off x="10584076" y="6208729"/>
                <a:ext cx="28321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5637CE39-B3AF-CD83-3526-740159908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076" y="6208729"/>
                <a:ext cx="283219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CC832E8-AF13-CE67-767A-67EDF943AA14}"/>
                  </a:ext>
                </a:extLst>
              </p:cNvPr>
              <p:cNvSpPr txBox="1"/>
              <p:nvPr/>
            </p:nvSpPr>
            <p:spPr>
              <a:xfrm>
                <a:off x="8421357" y="4466482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CC832E8-AF13-CE67-767A-67EDF943A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357" y="4466482"/>
                <a:ext cx="275079" cy="2476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EB75FC7F-56B5-F55B-87EC-55AEC6A98807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77603" y="3587906"/>
            <a:ext cx="0" cy="2016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02921475-3AAB-4790-48C9-A8A88EF33939}"/>
              </a:ext>
            </a:extLst>
          </p:cNvPr>
          <p:cNvCxnSpPr>
            <a:cxnSpLocks/>
          </p:cNvCxnSpPr>
          <p:nvPr/>
        </p:nvCxnSpPr>
        <p:spPr>
          <a:xfrm rot="16200000" flipV="1">
            <a:off x="9677603" y="4451411"/>
            <a:ext cx="0" cy="2016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9F6BD21-E557-40AC-CA96-49B962B3833E}"/>
                  </a:ext>
                </a:extLst>
              </p:cNvPr>
              <p:cNvSpPr txBox="1"/>
              <p:nvPr/>
            </p:nvSpPr>
            <p:spPr>
              <a:xfrm>
                <a:off x="8421357" y="5327207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49F6BD21-E557-40AC-CA96-49B962B383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1357" y="5327207"/>
                <a:ext cx="275079" cy="2476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ED3442-B209-37CB-B2D8-F9ABAA0DBDBD}"/>
                  </a:ext>
                </a:extLst>
              </p:cNvPr>
              <p:cNvSpPr txBox="1"/>
              <p:nvPr/>
            </p:nvSpPr>
            <p:spPr>
              <a:xfrm>
                <a:off x="8979017" y="6216434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9ED3442-B209-37CB-B2D8-F9ABAA0DB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017" y="6216434"/>
                <a:ext cx="275079" cy="2476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244EA6E-ABF3-7BAD-F7A1-F4BD0EC06E69}"/>
                  </a:ext>
                </a:extLst>
              </p:cNvPr>
              <p:cNvSpPr txBox="1"/>
              <p:nvPr/>
            </p:nvSpPr>
            <p:spPr>
              <a:xfrm>
                <a:off x="9744041" y="6216434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A244EA6E-ABF3-7BAD-F7A1-F4BD0EC06E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041" y="6216434"/>
                <a:ext cx="275079" cy="2476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07022B-7274-005B-867B-E902F452EEF5}"/>
                  </a:ext>
                </a:extLst>
              </p:cNvPr>
              <p:cNvSpPr txBox="1"/>
              <p:nvPr/>
            </p:nvSpPr>
            <p:spPr>
              <a:xfrm>
                <a:off x="8446755" y="3644178"/>
                <a:ext cx="28321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0A07022B-7274-005B-867B-E902F452EE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755" y="3644178"/>
                <a:ext cx="283219" cy="24622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8" name="화살표: 아래쪽 97">
            <a:extLst>
              <a:ext uri="{FF2B5EF4-FFF2-40B4-BE49-F238E27FC236}">
                <a16:creationId xmlns:a16="http://schemas.microsoft.com/office/drawing/2014/main" id="{B049CD35-75DD-B3BD-FF30-21C3AF90A08D}"/>
              </a:ext>
            </a:extLst>
          </p:cNvPr>
          <p:cNvSpPr/>
          <p:nvPr/>
        </p:nvSpPr>
        <p:spPr>
          <a:xfrm>
            <a:off x="9519917" y="3485012"/>
            <a:ext cx="187250" cy="20039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620C6A1-6DFF-CEE5-D6CF-778687611917}"/>
                  </a:ext>
                </a:extLst>
              </p:cNvPr>
              <p:cNvSpPr txBox="1"/>
              <p:nvPr/>
            </p:nvSpPr>
            <p:spPr>
              <a:xfrm>
                <a:off x="9126346" y="4426896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 xmlns=""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8620C6A1-6DFF-CEE5-D6CF-778687611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6346" y="4426896"/>
                <a:ext cx="140808" cy="138499"/>
              </a:xfrm>
              <a:prstGeom prst="rect">
                <a:avLst/>
              </a:prstGeom>
              <a:blipFill>
                <a:blip r:embed="rId12"/>
                <a:stretch>
                  <a:fillRect l="-8696" r="-4348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6CDD48A-3517-617D-CAE5-7EFB0BDD56C2}"/>
                  </a:ext>
                </a:extLst>
              </p:cNvPr>
              <p:cNvSpPr txBox="1"/>
              <p:nvPr/>
            </p:nvSpPr>
            <p:spPr>
              <a:xfrm>
                <a:off x="9878312" y="5301924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26CDD48A-3517-617D-CAE5-7EFB0BDD5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8312" y="5301924"/>
                <a:ext cx="140808" cy="138499"/>
              </a:xfrm>
              <a:prstGeom prst="rect">
                <a:avLst/>
              </a:prstGeom>
              <a:blipFill>
                <a:blip r:embed="rId13"/>
                <a:stretch>
                  <a:fillRect l="-8333" b="-13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3497BB91-B905-F0C2-8FFD-A5DB083772E9}"/>
              </a:ext>
            </a:extLst>
          </p:cNvPr>
          <p:cNvCxnSpPr>
            <a:cxnSpLocks/>
          </p:cNvCxnSpPr>
          <p:nvPr/>
        </p:nvCxnSpPr>
        <p:spPr>
          <a:xfrm>
            <a:off x="8859838" y="4083050"/>
            <a:ext cx="1079500" cy="2090738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02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795D7F-940B-C118-482E-54BA6612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9E0842-EE5A-ACE1-A303-220573F3F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B5361C-291E-7544-A6EC-59B7811F7EE1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6" name="그림 5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A33D3EB-D72F-73CA-9865-FD8073796C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53C07B-6704-E9EB-E89C-772EE45ACEC8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5053C07B-6704-E9EB-E89C-772EE45ACE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C20AFA-CDA7-7CAA-5688-E5035FB83661}"/>
                    </a:ext>
                  </a:extLst>
                </p:cNvPr>
                <p:cNvSpPr txBox="1"/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9C20AFA-CDA7-7CAA-5688-E5035FB836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337C6B34-05D0-57EE-AD5F-3B631B5711E1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B9332BC4-4500-2686-4DAB-C38563A70F06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967767-CADE-0DA9-A11E-324B3A90D0D1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D6967767-CADE-0DA9-A11E-324B3A90D0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AF4B11D-3C69-9DE1-4067-0EB8F44B47B3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FAF4B11D-3C69-9DE1-4067-0EB8F44B4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217FE0-0557-D30F-8FC5-1C86F93B8CC6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2217FE0-0557-D30F-8FC5-1C86F93B8C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2774F8-6DB6-8AC8-D726-8D3F5549FE51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62774F8-6DB6-8AC8-D726-8D3F5549F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DA186E-6AF5-E4E6-A689-D3BF5E2ABFEF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C4DA186E-6AF5-E4E6-A689-D3BF5E2ABFE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BC8FE01-3EA9-8C13-D83E-C2E73F7C2E9E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5BC8FE01-3EA9-8C13-D83E-C2E73F7C2E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4013E710-3C9C-83F2-24BF-A6DF425C4D86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6E07489-10C1-5098-2D09-3981AD5F7528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6ECE649B-EC7F-B520-439C-A39676513BF1}"/>
                </a:ext>
              </a:extLst>
            </p:cNvPr>
            <p:cNvCxnSpPr>
              <a:cxnSpLocks/>
            </p:cNvCxnSpPr>
            <p:nvPr/>
          </p:nvCxnSpPr>
          <p:spPr>
            <a:xfrm>
              <a:off x="8288867" y="4206303"/>
              <a:ext cx="2008086" cy="1698903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E529580E-7B6C-347A-BC56-6ADDD844F12F}"/>
                </a:ext>
              </a:extLst>
            </p:cNvPr>
            <p:cNvCxnSpPr>
              <a:cxnSpLocks/>
            </p:cNvCxnSpPr>
            <p:nvPr/>
          </p:nvCxnSpPr>
          <p:spPr>
            <a:xfrm>
              <a:off x="9521429" y="5239644"/>
              <a:ext cx="0" cy="75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813E397-0461-4829-6F7A-F325BCFE3EF9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C813E397-0461-4829-6F7A-F325BCFE3E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E2EBB8E-C2F5-4905-42B1-F8F407088149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E2EBB8E-C2F5-4905-42B1-F8F4070881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8DE5398-B0FD-64DD-3EC0-A9D7D719633A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8DE5398-B0FD-64DD-3EC0-A9D7D71963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E99F1F-FAFE-7220-D0BD-58022CE99C4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4846007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순수한 가격변화 효과인 대체효과만을 분리해 살펴보기 위해서는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 하락에도 불구하고 소비자의 실질 구매력이 늘어나지 않도록 해야 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이를 위해 새로운 예산선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평행이동 시켜 원래의 무차별곡선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접하도록 만들어보자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이때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 평행 이동된 예산선 </a:t>
                </a: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점선으로 표시된 예산선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과 원래의 무차별곡선이 접하는 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는 소비자가 변화된 가격조건에서도 원래의 효용만을 달성하도록 하는 점이다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</a:t>
                </a:r>
                <a:r>
                  <a:rPr lang="ko-KR" altLang="en-US" sz="1600" spc="-50" dirty="0" err="1"/>
                  <a:t>소비점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에서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로의 이동은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 하락에도 불구하고 소비자의 실질 구매력을 원래의 효용만을 달성하도록 고정시킬 때의 소비변화이다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재화의 순수한 상대가격 변화에 대한 반응을 나타낸다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대체효과는 가격이 떨어진 재화의 소비는 항상 늘리고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가격이 오른 재화의 소비는 항상 줄이는 역할을 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5E99F1F-FAFE-7220-D0BD-58022CE99C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4846007"/>
              </a:xfrm>
              <a:prstGeom prst="rect">
                <a:avLst/>
              </a:prstGeom>
              <a:blipFill>
                <a:blip r:embed="rId14"/>
                <a:stretch>
                  <a:fillRect r="-84" b="-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2937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8C3CBB-C618-F290-FFDF-0ABCF9938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BB00EA-1612-A1EE-30BD-9B5C48E2B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42731B-087A-DD7E-ED29-961F816E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3DD9C7D3-AFFC-B241-A827-3D88A54650BF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6" name="그림 5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D0C9B77-0382-C296-A6DF-027D22679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0FE5EE6-71BC-DA41-9C3E-B0D4B533D140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10FE5EE6-71BC-DA41-9C3E-B0D4B533D1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474E4D2-ECBA-E560-8DA0-2A7BBA1B8AF9}"/>
                    </a:ext>
                  </a:extLst>
                </p:cNvPr>
                <p:cNvSpPr txBox="1"/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D474E4D2-ECBA-E560-8DA0-2A7BBA1B8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9791707B-5851-F4BE-4ECF-63B7AB9FD33C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5291A3EB-55F2-FDC9-0DE5-577025329C69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1A63D0-920F-300F-B393-B91674F043A7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2E1A63D0-920F-300F-B393-B91674F043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3F4234-5356-50EB-1EA5-135A4AF64E30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93F4234-5356-50EB-1EA5-135A4AF64E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E6657F3-BBD3-9FF0-E5AF-39A6A665ED59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3E6657F3-BBD3-9FF0-E5AF-39A6A665ED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D58D84F-7F8D-5EBC-AE14-4249F6F72833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DD58D84F-7F8D-5EBC-AE14-4249F6F72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33606AB-00D1-188F-9B96-45A166E6DCF3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B33606AB-00D1-188F-9B96-45A166E6DC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0B4B835-6F65-0A23-0E68-579AAF98642E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E0B4B835-6F65-0A23-0E68-579AAF98642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B00596A3-802C-FB13-5686-0A5FAB3E1882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FEE4C3C-FDC7-967C-AB2A-430EB29D3540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71B824BC-AE8A-4607-C4E8-60832CF31E4E}"/>
                </a:ext>
              </a:extLst>
            </p:cNvPr>
            <p:cNvCxnSpPr>
              <a:cxnSpLocks/>
            </p:cNvCxnSpPr>
            <p:nvPr/>
          </p:nvCxnSpPr>
          <p:spPr>
            <a:xfrm>
              <a:off x="8288867" y="4206303"/>
              <a:ext cx="2008086" cy="1698903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490777D0-BB6C-9986-7FAD-C400CDCC2011}"/>
                </a:ext>
              </a:extLst>
            </p:cNvPr>
            <p:cNvCxnSpPr>
              <a:cxnSpLocks/>
            </p:cNvCxnSpPr>
            <p:nvPr/>
          </p:nvCxnSpPr>
          <p:spPr>
            <a:xfrm>
              <a:off x="9521429" y="5239644"/>
              <a:ext cx="0" cy="75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8396C74-D034-DC7B-617B-2E10D807F019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8396C74-D034-DC7B-617B-2E10D807F01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0C308DF-9FB2-2E80-617B-1126F278EC5C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0C308DF-9FB2-2E80-617B-1126F278EC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81403AC-1E75-914C-48BD-0DF3430E7546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881403AC-1E75-914C-48BD-0DF3430E75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76C287-BF06-A2FC-578C-38AC96C02249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한편 </a:t>
                </a:r>
                <a:r>
                  <a:rPr lang="ko-KR" altLang="en-US" sz="1600" spc="-50" dirty="0" err="1"/>
                  <a:t>소비점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에서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로의 이동은 소득효과를 나타낸다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두 소비점에서의 상대가격 비율이 동일하기 때문에 소득효과는 두 재화의 가격비는 불변인 채 단지 소비자의 구매력이 증가하여 발생하는 구매형태의 변화이다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그림에서 </a:t>
                </a:r>
                <a:r>
                  <a:rPr lang="ko-KR" altLang="en-US" sz="1600" spc="-50" dirty="0" err="1"/>
                  <a:t>처럼</a:t>
                </a:r>
                <a:r>
                  <a:rPr lang="ko-KR" altLang="en-US" sz="1600" spc="-50" dirty="0"/>
                  <a:t> 두 재화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가 모두 </a:t>
                </a:r>
                <a:r>
                  <a:rPr lang="ko-KR" altLang="en-US" sz="1600" spc="-50" dirty="0" err="1"/>
                  <a:t>정상재일</a:t>
                </a:r>
                <a:r>
                  <a:rPr lang="ko-KR" altLang="en-US" sz="1600" spc="-50" dirty="0"/>
                  <a:t> 때에는 실질 구매력이 증대될 때 두 재화 모두의 수요량이 소득효과에 의해 늘어나지만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어느 한 재화가 </a:t>
                </a:r>
                <a:r>
                  <a:rPr lang="ko-KR" altLang="en-US" sz="1600" spc="-50" dirty="0" err="1"/>
                  <a:t>열등재인</a:t>
                </a:r>
                <a:r>
                  <a:rPr lang="ko-KR" altLang="en-US" sz="1600" spc="-50" dirty="0"/>
                  <a:t> 경우에는 그 재화의 수요량은 소득효과에 의해 줄어든다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 err="1"/>
                  <a:t>통상수요량은</a:t>
                </a:r>
                <a:r>
                  <a:rPr lang="ko-KR" altLang="en-US" sz="1600" spc="-50" dirty="0"/>
                  <a:t> 가격이 변할 때 </a:t>
                </a:r>
                <a:r>
                  <a:rPr lang="ko-KR" altLang="en-US" sz="1600" spc="-50" dirty="0" err="1"/>
                  <a:t>대체효과뿐만</a:t>
                </a:r>
                <a:r>
                  <a:rPr lang="ko-KR" altLang="en-US" sz="1600" spc="-50" dirty="0"/>
                  <a:t> 아니라 소득효과에 의해서도 변하게 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한편 다음에 설명할 보상수요함수에서는 가격변화의 순수한 대체효과만을 나타낼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통상수요와 소비자잉여의 변화분을 통해 후생효과를 화폐가치로 나타낼 때 발생했던 문제를 제거할 수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276C287-BF06-A2FC-578C-38AC96C022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5584670"/>
              </a:xfrm>
              <a:prstGeom prst="rect">
                <a:avLst/>
              </a:prstGeom>
              <a:blipFill>
                <a:blip r:embed="rId14"/>
                <a:stretch>
                  <a:fillRect r="-84" b="-3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041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994C9A-9405-3992-B898-AD2FF211D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7BC877-ACEA-9F93-499E-3FA4D326E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09D6995-D104-1A91-BA8B-2D2A637FC02E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7" name="그림 6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C3D26379-B47A-A37F-67D2-4A0F0BEEE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85A7D6-ED3F-2E48-ECAA-C98377CCEDC6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2B85A7D6-ED3F-2E48-ECAA-C98377CCED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4EE7E02-916F-0AEC-F10E-51A4404C37C1}"/>
                    </a:ext>
                  </a:extLst>
                </p:cNvPr>
                <p:cNvSpPr txBox="1"/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4EE7E02-916F-0AEC-F10E-51A4404C37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FABB4C3D-BF21-7428-4947-0D0AF2C88326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0293F7A6-28B1-1296-FC57-9079BC0A5B12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AF85643-4B2C-7E05-49F8-9E285BD3145A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AF85643-4B2C-7E05-49F8-9E285BD314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88F8381-477F-32B5-9741-65769DA30B4B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E88F8381-477F-32B5-9741-65769DA30B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CCDFD8-CADD-46CD-DB3E-7C69C48FBD0E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6FCCDFD8-CADD-46CD-DB3E-7C69C48FBD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F946227-F597-132F-F316-15D39B01F791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FF946227-F597-132F-F316-15D39B01F7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A5DBAB9-94DF-C4DE-9547-9E29D638CA86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A5DBAB9-94DF-C4DE-9547-9E29D638CA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CC05610-6E2B-5A46-4FB7-0777354F3B23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CC05610-6E2B-5A46-4FB7-0777354F3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2F281B54-CE90-1D7E-C099-A7245E1D6FB8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E5A88117-E059-1131-B3D6-F5DBC0E310EA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3F1C0C05-3F0F-1A89-9FC4-E212CE92C396}"/>
                </a:ext>
              </a:extLst>
            </p:cNvPr>
            <p:cNvCxnSpPr>
              <a:cxnSpLocks/>
            </p:cNvCxnSpPr>
            <p:nvPr/>
          </p:nvCxnSpPr>
          <p:spPr>
            <a:xfrm>
              <a:off x="8288867" y="4206303"/>
              <a:ext cx="2008086" cy="1698903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3DABC20D-0DAD-002E-069B-1B153D9F43E9}"/>
                </a:ext>
              </a:extLst>
            </p:cNvPr>
            <p:cNvCxnSpPr>
              <a:cxnSpLocks/>
            </p:cNvCxnSpPr>
            <p:nvPr/>
          </p:nvCxnSpPr>
          <p:spPr>
            <a:xfrm>
              <a:off x="9521429" y="5239644"/>
              <a:ext cx="0" cy="75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DC10AC-998C-D6B6-60DC-4CBCD6DC3CAD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5BDC10AC-998C-D6B6-60DC-4CBCD6DC3C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A1E057C-9DCB-F634-9285-CD76F3A43046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1A1E057C-9DCB-F634-9285-CD76F3A430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151CD21-32C3-A863-B79B-BB722570BC99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151CD21-32C3-A863-B79B-BB722570B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3363D-32D6-6048-8D6F-3746D91D60A2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통상수요함수는 주어진 예산제약 하에서 효용을 극대화하는 재화의 수요량을 나타내었다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하지만 반대로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소비자가 달성할 수 있는 효용 수준을 먼저 정한 후 이를 최소 비용으로 달성하기 위해 소비량을 결정할 수도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예산선이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주어진 상태에서 소비자가 효용을 극대화하자면 </a:t>
                </a:r>
                <a:r>
                  <a:rPr lang="ko-KR" altLang="en-US" sz="1600" spc="-50" dirty="0" err="1"/>
                  <a:t>소비점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선택하여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효용을 얻을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통상수요 개념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소비자가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효용을 얻되 가장 적은 비용으로 그 효용을 얻고자 한다면 이때에도 소비자는 </a:t>
                </a:r>
                <a:r>
                  <a:rPr lang="ko-KR" altLang="en-US" sz="1600" spc="-50" dirty="0" err="1"/>
                  <a:t>소비점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를 선택할 것이다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보상수요 개념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이처럼 주어진 가격조건에서 특정 수준의 효용을 최소의 비용으로 달성하게 해주는 수요량을 나타내는 함수를 보상수요함수라 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아래와 같이 표현한다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8D3363D-32D6-6048-8D6F-3746D91D60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4107343"/>
              </a:xfrm>
              <a:prstGeom prst="rect">
                <a:avLst/>
              </a:prstGeom>
              <a:blipFill>
                <a:blip r:embed="rId14"/>
                <a:stretch>
                  <a:fillRect r="-252"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FD57C8-C316-BEC8-AAE0-F975F292D4C7}"/>
                  </a:ext>
                </a:extLst>
              </p:cNvPr>
              <p:cNvSpPr txBox="1"/>
              <p:nvPr/>
            </p:nvSpPr>
            <p:spPr>
              <a:xfrm>
                <a:off x="703417" y="4921796"/>
                <a:ext cx="6134100" cy="870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006475"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pc="-5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spc="-50" dirty="0"/>
                  <a:t>의 보상수요함수 </a:t>
                </a:r>
                <a14:m>
                  <m:oMath xmlns:m="http://schemas.openxmlformats.org/officeDocument/2006/math">
                    <m:r>
                      <a:rPr lang="en-US" altLang="ko-KR" sz="1800" b="0" i="0" spc="-5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pc="-5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b="0" i="1" spc="-5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pc="-5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spc="-50" dirty="0"/>
              </a:p>
              <a:p>
                <a:pPr marL="1006475" lvl="2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800" spc="-50" dirty="0"/>
                  <a:t>의 보상수요함수 </a:t>
                </a:r>
                <a14:m>
                  <m:oMath xmlns:m="http://schemas.openxmlformats.org/officeDocument/2006/math">
                    <m:r>
                      <a:rPr lang="en-US" altLang="ko-KR" sz="1800" spc="-5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8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18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800" i="1" spc="-5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b="0" i="1" spc="-50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altLang="ko-KR" sz="18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sz="1800" spc="-5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2FD57C8-C316-BEC8-AAE0-F975F292D4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17" y="4921796"/>
                <a:ext cx="6134100" cy="870559"/>
              </a:xfrm>
              <a:prstGeom prst="rect">
                <a:avLst/>
              </a:prstGeom>
              <a:blipFill>
                <a:blip r:embed="rId15"/>
                <a:stretch>
                  <a:fillRect b="-97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0894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그림 27">
            <a:extLst>
              <a:ext uri="{FF2B5EF4-FFF2-40B4-BE49-F238E27FC236}">
                <a16:creationId xmlns:a16="http://schemas.microsoft.com/office/drawing/2014/main" id="{85CEB3EB-F6E9-9B81-BC39-C27CAC9ECF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1262" y="888094"/>
            <a:ext cx="2228270" cy="2735049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90C5B9B-D99F-E04B-ADA0-9F26EAE6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보상수요함수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637516-AC29-F686-FE04-90BF24100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5F413-DF20-8271-CCA3-C4B400CCB67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269692" cy="522187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보상수요는 가격이 변했음에도 불구하고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원래 얻던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그대로 얻게 할 때의 수요량을 의미하는데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이는 앞서 설명한 바와 같이 점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에서 얻어진다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목표 효용 수준이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라면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에서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변할 때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소비량은 통상수요일 경우에 비해 덜 늘어나며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 관계는 오른쪽 아래의 그래프로 표현할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재화가 </a:t>
                </a:r>
                <a:r>
                  <a:rPr lang="ko-KR" altLang="en-US" sz="1600" spc="-50" dirty="0" err="1"/>
                  <a:t>정상재</a:t>
                </a:r>
                <a:r>
                  <a:rPr lang="ko-KR" altLang="en-US" sz="1600" spc="-50" dirty="0"/>
                  <a:t> 일 경우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보상수요곡선은 그림과 같이 통상수요곡선보다 더 가파른 형태를 지닌다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(</a:t>
                </a:r>
                <a:r>
                  <a:rPr lang="ko-KR" altLang="en-US" sz="1600" spc="-50" dirty="0"/>
                  <a:t>종합</a:t>
                </a:r>
                <a:r>
                  <a:rPr lang="en-US" altLang="ko-KR" sz="1600" spc="-50" dirty="0"/>
                  <a:t>) </a:t>
                </a:r>
                <a:r>
                  <a:rPr lang="ko-KR" altLang="en-US" sz="1600" spc="-50" dirty="0"/>
                  <a:t>통상수요와 보상수요함수는 효용 극대화점 혹은 최소비용 선택점을 통해 소비자 행위를 잘 반영하고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통상수요의 반응에는 앞서 설명한대로 가격변화의 대체효과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그리고 소득효과가 모두 포함된다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대체효과</a:t>
                </a:r>
                <a:r>
                  <a:rPr lang="en-US" altLang="ko-KR" sz="1600" spc="-50" dirty="0"/>
                  <a:t>+</a:t>
                </a:r>
                <a:r>
                  <a:rPr lang="ko-KR" altLang="en-US" sz="1600" spc="-50" dirty="0"/>
                  <a:t>소득효과</a:t>
                </a:r>
                <a:r>
                  <a:rPr lang="en-US" altLang="ko-KR" sz="1600" spc="-50" dirty="0"/>
                  <a:t>)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보상수요의 반응에는 효용이 항상 일정한 수준을 유지하도록 하므로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소득효과는 포함되지 않는다</a:t>
                </a:r>
                <a:r>
                  <a:rPr lang="en-US" altLang="ko-KR" sz="1600" spc="-50" dirty="0"/>
                  <a:t>. (</a:t>
                </a:r>
                <a:r>
                  <a:rPr lang="ko-KR" altLang="en-US" sz="1600" spc="-50" dirty="0"/>
                  <a:t>대체효과</a:t>
                </a:r>
                <a:r>
                  <a:rPr lang="en-US" altLang="ko-KR" sz="1600" spc="-50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915F413-DF20-8271-CCA3-C4B400CC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269692" cy="5221879"/>
              </a:xfrm>
              <a:prstGeom prst="rect">
                <a:avLst/>
              </a:prstGeom>
              <a:blipFill>
                <a:blip r:embed="rId3"/>
                <a:stretch>
                  <a:fillRect r="-168" b="-4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8E681BF8-BF00-9EA6-2955-FFF1E55C8FDD}"/>
              </a:ext>
            </a:extLst>
          </p:cNvPr>
          <p:cNvSpPr/>
          <p:nvPr/>
        </p:nvSpPr>
        <p:spPr>
          <a:xfrm>
            <a:off x="9258516" y="3478790"/>
            <a:ext cx="187250" cy="20039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7108DE70-780C-CE20-D943-3BCACE6F11E5}"/>
              </a:ext>
            </a:extLst>
          </p:cNvPr>
          <p:cNvGrpSpPr/>
          <p:nvPr/>
        </p:nvGrpSpPr>
        <p:grpSpPr>
          <a:xfrm>
            <a:off x="8421357" y="3539350"/>
            <a:ext cx="2581194" cy="2924716"/>
            <a:chOff x="8421357" y="3539350"/>
            <a:chExt cx="2581194" cy="2924716"/>
          </a:xfrm>
        </p:grpSpPr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2152ED-21BF-DCC6-E441-328E75F0DE4C}"/>
                </a:ext>
              </a:extLst>
            </p:cNvPr>
            <p:cNvSpPr/>
            <p:nvPr/>
          </p:nvSpPr>
          <p:spPr>
            <a:xfrm>
              <a:off x="8663940" y="3799417"/>
              <a:ext cx="2023534" cy="2444221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56A9CB0C-69F0-BB74-73F1-9B8C388BE9A6}"/>
                </a:ext>
              </a:extLst>
            </p:cNvPr>
            <p:cNvCxnSpPr>
              <a:cxnSpLocks/>
            </p:cNvCxnSpPr>
            <p:nvPr/>
          </p:nvCxnSpPr>
          <p:spPr>
            <a:xfrm>
              <a:off x="9124945" y="3552049"/>
              <a:ext cx="0" cy="2700000"/>
            </a:xfrm>
            <a:prstGeom prst="line">
              <a:avLst/>
            </a:prstGeom>
            <a:ln w="6350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2139F645-ADE6-3BB3-C433-187A84BD41EC}"/>
                </a:ext>
              </a:extLst>
            </p:cNvPr>
            <p:cNvCxnSpPr>
              <a:cxnSpLocks/>
            </p:cNvCxnSpPr>
            <p:nvPr/>
          </p:nvCxnSpPr>
          <p:spPr>
            <a:xfrm>
              <a:off x="9568839" y="3539350"/>
              <a:ext cx="0" cy="2700000"/>
            </a:xfrm>
            <a:prstGeom prst="line">
              <a:avLst/>
            </a:prstGeom>
            <a:ln w="6350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C57C48E-7DA8-116E-6F80-C54F38956AB0}"/>
                </a:ext>
              </a:extLst>
            </p:cNvPr>
            <p:cNvCxnSpPr>
              <a:cxnSpLocks/>
            </p:cNvCxnSpPr>
            <p:nvPr/>
          </p:nvCxnSpPr>
          <p:spPr>
            <a:xfrm>
              <a:off x="8859838" y="4083050"/>
              <a:ext cx="1079500" cy="2090738"/>
            </a:xfrm>
            <a:prstGeom prst="line">
              <a:avLst/>
            </a:prstGeom>
            <a:ln w="9525">
              <a:solidFill>
                <a:srgbClr val="020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27574CC-602B-9873-2F8C-3121FCFCFCF6}"/>
                    </a:ext>
                  </a:extLst>
                </p:cNvPr>
                <p:cNvSpPr txBox="1"/>
                <p:nvPr/>
              </p:nvSpPr>
              <p:spPr>
                <a:xfrm>
                  <a:off x="9497777" y="5942788"/>
                  <a:ext cx="1504774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000" i="1" spc="-5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000" i="1" spc="-5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ko-KR" sz="1000" i="1" spc="-5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727574CC-602B-9873-2F8C-3121FCFCFC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7777" y="5942788"/>
                  <a:ext cx="1504774" cy="246221"/>
                </a:xfrm>
                <a:prstGeom prst="rect">
                  <a:avLst/>
                </a:prstGeom>
                <a:blipFill>
                  <a:blip r:embed="rId4"/>
                  <a:stretch>
                    <a:fillRect b="-7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99D03-A010-0D9A-9D52-CAE167C7D01F}"/>
                    </a:ext>
                  </a:extLst>
                </p:cNvPr>
                <p:cNvSpPr txBox="1"/>
                <p:nvPr/>
              </p:nvSpPr>
              <p:spPr>
                <a:xfrm>
                  <a:off x="10584076" y="6208729"/>
                  <a:ext cx="28321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3AF99D03-A010-0D9A-9D52-CAE167C7D0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84076" y="6208729"/>
                  <a:ext cx="283219" cy="24622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7D90F4-101D-7B3B-6787-1BDCAC88C0AB}"/>
                    </a:ext>
                  </a:extLst>
                </p:cNvPr>
                <p:cNvSpPr txBox="1"/>
                <p:nvPr/>
              </p:nvSpPr>
              <p:spPr>
                <a:xfrm>
                  <a:off x="8421357" y="4466482"/>
                  <a:ext cx="275079" cy="247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000" spc="-50" dirty="0"/>
                    <a:t> </a:t>
                  </a:r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57D90F4-101D-7B3B-6787-1BDCAC88C0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357" y="4466482"/>
                  <a:ext cx="275079" cy="2476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A38F1238-9734-5464-7C25-5536F65FBCA7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677603" y="3587906"/>
              <a:ext cx="0" cy="2016000"/>
            </a:xfrm>
            <a:prstGeom prst="line">
              <a:avLst/>
            </a:prstGeom>
            <a:ln w="6350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D7078D68-4981-1C74-5BF9-C57C226C326B}"/>
                </a:ext>
              </a:extLst>
            </p:cNvPr>
            <p:cNvCxnSpPr>
              <a:cxnSpLocks/>
            </p:cNvCxnSpPr>
            <p:nvPr/>
          </p:nvCxnSpPr>
          <p:spPr>
            <a:xfrm rot="16200000" flipV="1">
              <a:off x="9677603" y="4451411"/>
              <a:ext cx="0" cy="2016000"/>
            </a:xfrm>
            <a:prstGeom prst="line">
              <a:avLst/>
            </a:prstGeom>
            <a:ln w="6350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A5720A7-9639-754C-FCD1-35B6AC2B325B}"/>
                    </a:ext>
                  </a:extLst>
                </p:cNvPr>
                <p:cNvSpPr txBox="1"/>
                <p:nvPr/>
              </p:nvSpPr>
              <p:spPr>
                <a:xfrm>
                  <a:off x="8421357" y="5327207"/>
                  <a:ext cx="275079" cy="247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000" spc="-50" dirty="0"/>
                    <a:t> </a:t>
                  </a:r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A5720A7-9639-754C-FCD1-35B6AC2B32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1357" y="5327207"/>
                  <a:ext cx="275079" cy="2476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E4B92D-2843-29B4-B582-9B12F515F048}"/>
                    </a:ext>
                  </a:extLst>
                </p:cNvPr>
                <p:cNvSpPr txBox="1"/>
                <p:nvPr/>
              </p:nvSpPr>
              <p:spPr>
                <a:xfrm>
                  <a:off x="8979017" y="6216434"/>
                  <a:ext cx="275079" cy="2476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000" spc="-50" dirty="0"/>
                    <a:t> </a:t>
                  </a:r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9E4B92D-2843-29B4-B582-9B12F515F0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79017" y="6216434"/>
                  <a:ext cx="275079" cy="2476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4A4E0F-683F-F9B9-A4F5-C034E8042554}"/>
                    </a:ext>
                  </a:extLst>
                </p:cNvPr>
                <p:cNvSpPr txBox="1"/>
                <p:nvPr/>
              </p:nvSpPr>
              <p:spPr>
                <a:xfrm>
                  <a:off x="8446755" y="3644178"/>
                  <a:ext cx="283219" cy="2462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0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sz="10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000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D74A4E0F-683F-F9B9-A4F5-C034E80425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6755" y="3644178"/>
                  <a:ext cx="283219" cy="246221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9ED207-FC36-25B7-F986-F4BA2B449E43}"/>
                    </a:ext>
                  </a:extLst>
                </p:cNvPr>
                <p:cNvSpPr txBox="1"/>
                <p:nvPr/>
              </p:nvSpPr>
              <p:spPr>
                <a:xfrm>
                  <a:off x="9126346" y="4426896"/>
                  <a:ext cx="14080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9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F9ED207-FC36-25B7-F986-F4BA2B449E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26346" y="4426896"/>
                  <a:ext cx="140808" cy="138499"/>
                </a:xfrm>
                <a:prstGeom prst="rect">
                  <a:avLst/>
                </a:prstGeom>
                <a:blipFill>
                  <a:blip r:embed="rId10"/>
                  <a:stretch>
                    <a:fillRect l="-8696" r="-4348" b="-86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7C459DA-A348-9858-BF9D-A0CC51FEDD0B}"/>
                    </a:ext>
                  </a:extLst>
                </p:cNvPr>
                <p:cNvSpPr txBox="1"/>
                <p:nvPr/>
              </p:nvSpPr>
              <p:spPr>
                <a:xfrm>
                  <a:off x="9555648" y="5311687"/>
                  <a:ext cx="140808" cy="1384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9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9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7C459DA-A348-9858-BF9D-A0CC51FED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55648" y="5311687"/>
                  <a:ext cx="140808" cy="138499"/>
                </a:xfrm>
                <a:prstGeom prst="rect">
                  <a:avLst/>
                </a:prstGeom>
                <a:blipFill>
                  <a:blip r:embed="rId11"/>
                  <a:stretch>
                    <a:fillRect l="-8696" r="-4348" b="-869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34B742-B254-0543-B1A6-E8E60C41C845}"/>
                  </a:ext>
                </a:extLst>
              </p:cNvPr>
              <p:cNvSpPr txBox="1"/>
              <p:nvPr/>
            </p:nvSpPr>
            <p:spPr>
              <a:xfrm>
                <a:off x="9744041" y="6216434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E34B742-B254-0543-B1A6-E8E60C41C8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4041" y="6216434"/>
                <a:ext cx="275079" cy="2476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31D5F9DD-2D53-5E5D-E129-FA26DC98F566}"/>
              </a:ext>
            </a:extLst>
          </p:cNvPr>
          <p:cNvCxnSpPr>
            <a:cxnSpLocks/>
          </p:cNvCxnSpPr>
          <p:nvPr/>
        </p:nvCxnSpPr>
        <p:spPr>
          <a:xfrm>
            <a:off x="8776283" y="4211273"/>
            <a:ext cx="1592510" cy="1793144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1DC17D-204E-7220-DBDC-7FD82C99A4AF}"/>
                  </a:ext>
                </a:extLst>
              </p:cNvPr>
              <p:cNvSpPr txBox="1"/>
              <p:nvPr/>
            </p:nvSpPr>
            <p:spPr>
              <a:xfrm>
                <a:off x="10149737" y="5605303"/>
                <a:ext cx="754922" cy="2154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80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800" i="1" spc="-5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800" b="0" i="1" spc="-5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sz="800" i="1" spc="-5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800" b="0" i="1" spc="-50" smtClean="0">
                              <a:solidFill>
                                <a:schemeClr val="bg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800" b="0" i="1" spc="-5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800" b="0" i="1" spc="-50" smtClean="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800" i="1" spc="-50">
                          <a:solidFill>
                            <a:schemeClr val="bg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800" dirty="0">
                  <a:solidFill>
                    <a:schemeClr val="bg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CC1DC17D-204E-7220-DBDC-7FD82C99A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9737" y="5605303"/>
                <a:ext cx="754922" cy="215444"/>
              </a:xfrm>
              <a:prstGeom prst="rect">
                <a:avLst/>
              </a:prstGeom>
              <a:blipFill>
                <a:blip r:embed="rId13"/>
                <a:stretch>
                  <a:fillRect b="-285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6034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8A79-FF9D-2019-CD3A-B2809FBD9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9808F214-3654-653E-5E68-A5C4DF54EA39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7" name="그림 6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EFE83AB0-3F63-C640-5568-F2EA79034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DD7C84B-A8A0-BA5F-25DD-1C96094563A5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3DD7C84B-A8A0-BA5F-25DD-1C9609456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07A9EE4-4A3C-BEEB-FA01-B8A54BD8BCB4}"/>
                    </a:ext>
                  </a:extLst>
                </p:cNvPr>
                <p:cNvSpPr txBox="1"/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C07A9EE4-4A3C-BEEB-FA01-B8A54BD8BC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FAFA36DB-F6FC-F3D1-475A-7CBA06EFD931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7D291892-7CF1-229B-FDCD-627560E25D4B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6ACFF8E-AD9A-66E8-C330-038392C202D9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56ACFF8E-AD9A-66E8-C330-038392C202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661BE94-181E-C549-6282-EAA95370E3A5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2661BE94-181E-C549-6282-EAA95370E3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0920BDD-7BB5-88AC-EF2F-ADBB6E200CFC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0920BDD-7BB5-88AC-EF2F-ADBB6E200C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95B3942-3469-BCF0-10DC-20FCEA6BE5ED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95B3942-3469-BCF0-10DC-20FCEA6BE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176796-1A79-232F-AC96-E43935D1BD14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DC176796-1A79-232F-AC96-E43935D1B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CFF5254-A634-62DC-D105-579DEE07F886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ECFF5254-A634-62DC-D105-579DEE07F8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A383FED-7D63-DFBB-16AF-35E7DA8CFD69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528FD72-7A6B-EA02-D910-8075F6C9B01C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DFFF938-AC01-2938-C149-5810A6B97DE8}"/>
                </a:ext>
              </a:extLst>
            </p:cNvPr>
            <p:cNvCxnSpPr>
              <a:cxnSpLocks/>
            </p:cNvCxnSpPr>
            <p:nvPr/>
          </p:nvCxnSpPr>
          <p:spPr>
            <a:xfrm>
              <a:off x="8288867" y="4206303"/>
              <a:ext cx="2008086" cy="1698903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F8EE7A0-99B7-8F8B-F712-FCE329C3BB71}"/>
                </a:ext>
              </a:extLst>
            </p:cNvPr>
            <p:cNvCxnSpPr>
              <a:cxnSpLocks/>
            </p:cNvCxnSpPr>
            <p:nvPr/>
          </p:nvCxnSpPr>
          <p:spPr>
            <a:xfrm>
              <a:off x="9521429" y="5239644"/>
              <a:ext cx="0" cy="75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A5F21BD-8196-9220-4AAC-2376FEB63559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A5F21BD-8196-9220-4AAC-2376FEB63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39B978B-477D-2860-3B8A-8A85D5500EBA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39B978B-477D-2860-3B8A-8A85D5500E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301255-AEA2-A032-7372-5C1A4F47E063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FB301255-AEA2-A032-7372-5C1A4F47E0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D1EDC65B-F3A5-5FB8-88A5-ECB36B1C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E8C6E3-4FB0-B5DD-8C53-6884D7F35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697378-6433-476F-EE11-3E8440F37512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360028" cy="375391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보상변화 </a:t>
                </a:r>
                <a:r>
                  <a:rPr lang="en-US" altLang="ko-KR" sz="1600" spc="-50" dirty="0"/>
                  <a:t>(Compensating variation, CV)</a:t>
                </a:r>
                <a:r>
                  <a:rPr lang="ko-KR" altLang="en-US" sz="1600" spc="-50" dirty="0"/>
                  <a:t>라 불리는 지표는 가격변화가 발생하기 이전의 효용을 기준으로 하여 정의되는 후생변화 척도이다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변화된 가격조건에서도 원래의 효용 수준을 달성하기 위해 필요한 소득변화를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일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효용을 얻는다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하락한 후에도 이 효용을 여전히 유지하라고 하면 이 소비자는 </a:t>
                </a:r>
                <a:r>
                  <a:rPr lang="en-US" altLang="ko-KR" sz="1600" spc="-50" dirty="0"/>
                  <a:t>B</a:t>
                </a:r>
                <a:r>
                  <a:rPr lang="ko-KR" altLang="en-US" sz="1600" spc="-50" dirty="0"/>
                  <a:t>점을 선택한다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따라서 자신의 원래 소득 </a:t>
                </a:r>
                <a14:m>
                  <m:oMath xmlns:m="http://schemas.openxmlformats.org/officeDocument/2006/math"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다 지출할 필요가 없다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이렇게 가격이 변한 후에도 원래 효용을 유지하기 위해서 원래의 소득에서 어느 정도를 빼 줄 수 있는지를 계산했을 때의 금액이 바로 보상변화이다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697378-6433-476F-EE11-3E8440F37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360028" cy="3753913"/>
              </a:xfrm>
              <a:prstGeom prst="rect">
                <a:avLst/>
              </a:prstGeom>
              <a:blipFill>
                <a:blip r:embed="rId1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00640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0703E6D5-5C29-CB14-BECF-6B3D07158379}"/>
              </a:ext>
            </a:extLst>
          </p:cNvPr>
          <p:cNvGrpSpPr/>
          <p:nvPr/>
        </p:nvGrpSpPr>
        <p:grpSpPr>
          <a:xfrm>
            <a:off x="7218771" y="-619160"/>
            <a:ext cx="9857638" cy="7225284"/>
            <a:chOff x="7218771" y="-619160"/>
            <a:chExt cx="9857638" cy="7225284"/>
          </a:xfrm>
        </p:grpSpPr>
        <p:pic>
          <p:nvPicPr>
            <p:cNvPr id="7" name="그림 6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993CE68-8168-13B4-D646-30ECF45911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18771" y="1206124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FED4944-0BA2-D616-ECB9-36ED793F2632}"/>
                    </a:ext>
                  </a:extLst>
                </p:cNvPr>
                <p:cNvSpPr txBox="1"/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4FED4944-0BA2-D616-ECB9-36ED793F26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2649" y="3965970"/>
                  <a:ext cx="203967" cy="246221"/>
                </a:xfrm>
                <a:prstGeom prst="rect">
                  <a:avLst/>
                </a:prstGeom>
                <a:blipFill>
                  <a:blip r:embed="rId3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0EF7FA-38DA-2E03-8E32-494D7D02185E}"/>
                    </a:ext>
                  </a:extLst>
                </p:cNvPr>
                <p:cNvSpPr txBox="1"/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630EF7FA-38DA-2E03-8E32-494D7D021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49309" y="4941578"/>
                  <a:ext cx="212302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7AC60B34-53E8-E4A6-81B9-B41185F28A76}"/>
                </a:ext>
              </a:extLst>
            </p:cNvPr>
            <p:cNvSpPr/>
            <p:nvPr/>
          </p:nvSpPr>
          <p:spPr>
            <a:xfrm rot="12101947">
              <a:off x="8546578" y="-619160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1836D05B-0F5D-30A3-185D-155DCDC486E2}"/>
                </a:ext>
              </a:extLst>
            </p:cNvPr>
            <p:cNvSpPr/>
            <p:nvPr/>
          </p:nvSpPr>
          <p:spPr>
            <a:xfrm rot="12101947">
              <a:off x="8051278" y="-27333"/>
              <a:ext cx="8529831" cy="6472090"/>
            </a:xfrm>
            <a:prstGeom prst="arc">
              <a:avLst>
                <a:gd name="adj1" fmla="val 16200000"/>
                <a:gd name="adj2" fmla="val 20696178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3FACB92-FCE9-0D6A-CBE7-272FDB6FA0B0}"/>
                    </a:ext>
                  </a:extLst>
                </p:cNvPr>
                <p:cNvSpPr txBox="1"/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3FACB92-FCE9-0D6A-CBE7-272FDB6FA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23571" y="5187799"/>
                  <a:ext cx="406400" cy="33855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C3A72B2-015A-C822-C94F-4DCECAD7FD68}"/>
                    </a:ext>
                  </a:extLst>
                </p:cNvPr>
                <p:cNvSpPr txBox="1"/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6C3A72B2-015A-C822-C94F-4DCECAD7FD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17171" y="6055014"/>
                  <a:ext cx="406400" cy="33855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D869258-EC04-6601-4DDF-5824919872E6}"/>
                    </a:ext>
                  </a:extLst>
                </p:cNvPr>
                <p:cNvSpPr txBox="1"/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8D869258-EC04-6601-4DDF-5824919872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92655" y="3158700"/>
                  <a:ext cx="343961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0CE408F-743B-0CE5-FA65-015A4F78880C}"/>
                    </a:ext>
                  </a:extLst>
                </p:cNvPr>
                <p:cNvSpPr txBox="1"/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0CE408F-743B-0CE5-FA65-015A4F7888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94567" y="3271840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05A9FB-193A-5E67-A758-152398A74375}"/>
                    </a:ext>
                  </a:extLst>
                </p:cNvPr>
                <p:cNvSpPr txBox="1"/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3005A9FB-193A-5E67-A758-152398A743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397" y="1321873"/>
                  <a:ext cx="406400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7B6627B-C912-74F4-A6C2-0672D8203AAF}"/>
                    </a:ext>
                  </a:extLst>
                </p:cNvPr>
                <p:cNvSpPr txBox="1"/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D7B6627B-C912-74F4-A6C2-0672D8203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19201" y="589696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E6332C08-81D6-1FB5-465A-6501B1D0D805}"/>
                </a:ext>
              </a:extLst>
            </p:cNvPr>
            <p:cNvCxnSpPr>
              <a:cxnSpLocks/>
            </p:cNvCxnSpPr>
            <p:nvPr/>
          </p:nvCxnSpPr>
          <p:spPr>
            <a:xfrm>
              <a:off x="8686800" y="4252698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11E18B17-010F-0FF9-1E01-3E901E7D07DE}"/>
                </a:ext>
              </a:extLst>
            </p:cNvPr>
            <p:cNvCxnSpPr>
              <a:cxnSpLocks/>
            </p:cNvCxnSpPr>
            <p:nvPr/>
          </p:nvCxnSpPr>
          <p:spPr>
            <a:xfrm>
              <a:off x="10114944" y="4739807"/>
              <a:ext cx="0" cy="126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C95D5588-A9BA-ABCA-BF07-E6E2CC6B93F2}"/>
                </a:ext>
              </a:extLst>
            </p:cNvPr>
            <p:cNvCxnSpPr>
              <a:cxnSpLocks/>
            </p:cNvCxnSpPr>
            <p:nvPr/>
          </p:nvCxnSpPr>
          <p:spPr>
            <a:xfrm>
              <a:off x="8288867" y="4206303"/>
              <a:ext cx="2008086" cy="1698903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0853587C-271D-8B3D-9B6F-61DD0A70C400}"/>
                </a:ext>
              </a:extLst>
            </p:cNvPr>
            <p:cNvCxnSpPr>
              <a:cxnSpLocks/>
            </p:cNvCxnSpPr>
            <p:nvPr/>
          </p:nvCxnSpPr>
          <p:spPr>
            <a:xfrm>
              <a:off x="9521429" y="5239644"/>
              <a:ext cx="0" cy="75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5B90E9E-31D5-929F-EBCB-1088783C0C3F}"/>
                    </a:ext>
                  </a:extLst>
                </p:cNvPr>
                <p:cNvSpPr txBox="1"/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B5B90E9E-31D5-929F-EBCB-1088783C0C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043289" y="4444279"/>
                  <a:ext cx="203004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18182" r="-12121" b="-1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CE92FD-682F-8996-102C-CAAACC941FDD}"/>
                    </a:ext>
                  </a:extLst>
                </p:cNvPr>
                <p:cNvSpPr txBox="1"/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CE92FD-682F-8996-102C-CAAACC941F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6803" y="5954513"/>
                  <a:ext cx="391681" cy="342914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03E7392-100D-8018-3917-C6983E5CB7E6}"/>
                    </a:ext>
                  </a:extLst>
                </p:cNvPr>
                <p:cNvSpPr txBox="1"/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03E7392-100D-8018-3917-C6983E5CB7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95710" y="5954513"/>
                  <a:ext cx="391681" cy="34092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4F4EAF67-27A0-6CA8-D8FD-8B4BBB07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동등변화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063CD9-7629-D0DB-BD54-A25EDD747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A3AD3C-8EE3-B792-BB6C-BC4836D1BC1B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360028" cy="3754682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동등변화 </a:t>
                </a:r>
                <a:r>
                  <a:rPr lang="en-US" altLang="ko-KR" sz="1600" spc="-50" dirty="0"/>
                  <a:t>(Equivalent, EV)</a:t>
                </a:r>
                <a:r>
                  <a:rPr lang="ko-KR" altLang="en-US" sz="1600" spc="-50" dirty="0"/>
                  <a:t>라 불리는 지표는 새로운 가격조건에서 얻어지는 효용을 기준으로 하여 가격변화의 후생효과를 나타낸다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원래의 가격조건에서 새로운 효용수준을 최소비용으로 달성하려고 할 때 필요한 소득변화를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오른쪽 그림에서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낮으면 소비자는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점을 선택하고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의 효용을 얻는다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이 때 이 효용</a:t>
                </a:r>
                <a:r>
                  <a:rPr lang="en-US" altLang="ko-KR" sz="1600" spc="-5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을 원래 가격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에서 달성하라고 하면 이는 소득을 늘려주지 않는 한 불가능하다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이때 원래 소득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을 얼만큼 늘려주어야 소비자가 효용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 에서 얻을 수 있는지를 계산을 때의 금액이 바로 동등변화이다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2A3AD3C-8EE3-B792-BB6C-BC4836D1B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360028" cy="3754682"/>
              </a:xfrm>
              <a:prstGeom prst="rect">
                <a:avLst/>
              </a:prstGeom>
              <a:blipFill>
                <a:blip r:embed="rId14"/>
                <a:stretch>
                  <a:fillRect b="-11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4859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77B5A-D3BE-15D8-3B1A-052F68BBC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그룹 90">
            <a:extLst>
              <a:ext uri="{FF2B5EF4-FFF2-40B4-BE49-F238E27FC236}">
                <a16:creationId xmlns:a16="http://schemas.microsoft.com/office/drawing/2014/main" id="{AB278671-3DFA-2EDA-792E-ABAC2C0C07C1}"/>
              </a:ext>
            </a:extLst>
          </p:cNvPr>
          <p:cNvGrpSpPr/>
          <p:nvPr/>
        </p:nvGrpSpPr>
        <p:grpSpPr>
          <a:xfrm>
            <a:off x="7118900" y="-1587221"/>
            <a:ext cx="8905511" cy="8529831"/>
            <a:chOff x="7099850" y="-1587221"/>
            <a:chExt cx="8905511" cy="8529831"/>
          </a:xfrm>
        </p:grpSpPr>
        <p:pic>
          <p:nvPicPr>
            <p:cNvPr id="5" name="그림 4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D65323F-BAB4-5B73-F337-1B6AC89AC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1993" y="1211900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0A506CC-73AA-8B30-9C7F-50B9A3AA8C72}"/>
                    </a:ext>
                  </a:extLst>
                </p:cNvPr>
                <p:cNvSpPr txBox="1"/>
                <p:nvPr/>
              </p:nvSpPr>
              <p:spPr>
                <a:xfrm>
                  <a:off x="7401452" y="3641322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40A506CC-73AA-8B30-9C7F-50B9A3AA8C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3641322"/>
                  <a:ext cx="406400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7A1BCE3-F8AB-1498-13FA-0A908696B558}"/>
                    </a:ext>
                  </a:extLst>
                </p:cNvPr>
                <p:cNvSpPr txBox="1"/>
                <p:nvPr/>
              </p:nvSpPr>
              <p:spPr>
                <a:xfrm>
                  <a:off x="7401452" y="503469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37A1BCE3-F8AB-1498-13FA-0A908696B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503469"/>
                  <a:ext cx="40640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F07BF7-C10B-7736-BA37-B487D78306FB}"/>
                    </a:ext>
                  </a:extLst>
                </p:cNvPr>
                <p:cNvSpPr txBox="1"/>
                <p:nvPr/>
              </p:nvSpPr>
              <p:spPr>
                <a:xfrm>
                  <a:off x="8615871" y="3971746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9AF07BF7-C10B-7736-BA37-B487D78306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871" y="3971746"/>
                  <a:ext cx="203967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0043DC4-97C1-F41F-F9EE-4F3D8BDB8E82}"/>
                    </a:ext>
                  </a:extLst>
                </p:cNvPr>
                <p:cNvSpPr txBox="1"/>
                <p:nvPr/>
              </p:nvSpPr>
              <p:spPr>
                <a:xfrm>
                  <a:off x="9681337" y="519246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0043DC4-97C1-F41F-F9EE-4F3D8BDB8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337" y="5192468"/>
                  <a:ext cx="21230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6019A79C-3902-E167-71EA-5E98D0AF0A71}"/>
                </a:ext>
              </a:extLst>
            </p:cNvPr>
            <p:cNvSpPr/>
            <p:nvPr/>
          </p:nvSpPr>
          <p:spPr>
            <a:xfrm rot="13962985">
              <a:off x="8504400" y="-558350"/>
              <a:ext cx="8529831" cy="6472090"/>
            </a:xfrm>
            <a:prstGeom prst="arc">
              <a:avLst>
                <a:gd name="adj1" fmla="val 14024421"/>
                <a:gd name="adj2" fmla="val 18903353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39BCAFD-D534-7933-49A8-F2556DD578F2}"/>
                    </a:ext>
                  </a:extLst>
                </p:cNvPr>
                <p:cNvSpPr txBox="1"/>
                <p:nvPr/>
              </p:nvSpPr>
              <p:spPr>
                <a:xfrm>
                  <a:off x="8962780" y="1828005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539BCAFD-D534-7933-49A8-F2556DD578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2780" y="1828005"/>
                  <a:ext cx="406400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AC4132B-5061-4007-7846-0B75FC899194}"/>
                    </a:ext>
                  </a:extLst>
                </p:cNvPr>
                <p:cNvSpPr txBox="1"/>
                <p:nvPr/>
              </p:nvSpPr>
              <p:spPr>
                <a:xfrm>
                  <a:off x="8475877" y="3164476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AC4132B-5061-4007-7846-0B75FC8991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5877" y="3164476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CD69CA5-9943-3248-61BD-7247B5A372FD}"/>
                    </a:ext>
                  </a:extLst>
                </p:cNvPr>
                <p:cNvSpPr txBox="1"/>
                <p:nvPr/>
              </p:nvSpPr>
              <p:spPr>
                <a:xfrm>
                  <a:off x="7777789" y="3277616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5CD69CA5-9943-3248-61BD-7247B5A372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7789" y="3277616"/>
                  <a:ext cx="343961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A454FB5-0A23-6F17-4299-A4ED654D2F3D}"/>
                    </a:ext>
                  </a:extLst>
                </p:cNvPr>
                <p:cNvSpPr txBox="1"/>
                <p:nvPr/>
              </p:nvSpPr>
              <p:spPr>
                <a:xfrm>
                  <a:off x="7099850" y="296397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A454FB5-0A23-6F17-4299-A4ED654D2F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9850" y="296397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DB8314-2597-DE48-BEAB-8BE8D5C36D01}"/>
                    </a:ext>
                  </a:extLst>
                </p:cNvPr>
                <p:cNvSpPr txBox="1"/>
                <p:nvPr/>
              </p:nvSpPr>
              <p:spPr>
                <a:xfrm>
                  <a:off x="9622280" y="627820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D3DB8314-2597-DE48-BEAB-8BE8D5C36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280" y="6278203"/>
                  <a:ext cx="40640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3E53CA51-F848-3A12-26DD-2A5EC464D0A6}"/>
                </a:ext>
              </a:extLst>
            </p:cNvPr>
            <p:cNvCxnSpPr>
              <a:cxnSpLocks/>
            </p:cNvCxnSpPr>
            <p:nvPr/>
          </p:nvCxnSpPr>
          <p:spPr>
            <a:xfrm>
              <a:off x="8670022" y="4258474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E009EE87-BAD4-28F3-BD4A-C879ED86C62B}"/>
                </a:ext>
              </a:extLst>
            </p:cNvPr>
            <p:cNvCxnSpPr>
              <a:cxnSpLocks/>
            </p:cNvCxnSpPr>
            <p:nvPr/>
          </p:nvCxnSpPr>
          <p:spPr>
            <a:xfrm>
              <a:off x="9889347" y="4168529"/>
              <a:ext cx="0" cy="183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B45371CB-F985-94D2-4621-83532B1DB7CE}"/>
                </a:ext>
              </a:extLst>
            </p:cNvPr>
            <p:cNvCxnSpPr>
              <a:cxnSpLocks/>
            </p:cNvCxnSpPr>
            <p:nvPr/>
          </p:nvCxnSpPr>
          <p:spPr>
            <a:xfrm>
              <a:off x="9737769" y="5492893"/>
              <a:ext cx="0" cy="504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3EACB9B-A639-9FC0-98CC-8312EDC5B7CA}"/>
                    </a:ext>
                  </a:extLst>
                </p:cNvPr>
                <p:cNvSpPr txBox="1"/>
                <p:nvPr/>
              </p:nvSpPr>
              <p:spPr>
                <a:xfrm>
                  <a:off x="10877130" y="5192467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3EACB9B-A639-9FC0-98CC-8312EDC5B7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7130" y="5192467"/>
                  <a:ext cx="203004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4706" r="-11765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2436E84-8542-80E7-F6DB-D816A697AF08}"/>
                    </a:ext>
                  </a:extLst>
                </p:cNvPr>
                <p:cNvSpPr txBox="1"/>
                <p:nvPr/>
              </p:nvSpPr>
              <p:spPr>
                <a:xfrm>
                  <a:off x="8380025" y="5960289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2436E84-8542-80E7-F6DB-D816A697AF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025" y="5960289"/>
                  <a:ext cx="391681" cy="3429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63F55-394B-33ED-01B0-9AAECC3AA2A6}"/>
                    </a:ext>
                  </a:extLst>
                </p:cNvPr>
                <p:cNvSpPr txBox="1"/>
                <p:nvPr/>
              </p:nvSpPr>
              <p:spPr>
                <a:xfrm>
                  <a:off x="9778932" y="5960289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55A63F55-394B-33ED-01B0-9AAECC3AA2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8932" y="5960289"/>
                  <a:ext cx="391681" cy="34092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4110CA37-8466-0EC5-9CEE-5F13965B3C26}"/>
                </a:ext>
              </a:extLst>
            </p:cNvPr>
            <p:cNvCxnSpPr>
              <a:cxnSpLocks/>
            </p:cNvCxnSpPr>
            <p:nvPr/>
          </p:nvCxnSpPr>
          <p:spPr>
            <a:xfrm>
              <a:off x="7817281" y="379874"/>
              <a:ext cx="0" cy="2124000"/>
            </a:xfrm>
            <a:prstGeom prst="line">
              <a:avLst/>
            </a:prstGeom>
            <a:ln w="9525">
              <a:solidFill>
                <a:srgbClr val="070B1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원호 55">
              <a:extLst>
                <a:ext uri="{FF2B5EF4-FFF2-40B4-BE49-F238E27FC236}">
                  <a16:creationId xmlns:a16="http://schemas.microsoft.com/office/drawing/2014/main" id="{D21A7825-292B-9F22-58D3-2301414A509A}"/>
                </a:ext>
              </a:extLst>
            </p:cNvPr>
            <p:cNvSpPr/>
            <p:nvPr/>
          </p:nvSpPr>
          <p:spPr>
            <a:xfrm rot="13962985">
              <a:off x="7244771" y="-558350"/>
              <a:ext cx="8529831" cy="6472090"/>
            </a:xfrm>
            <a:prstGeom prst="arc">
              <a:avLst>
                <a:gd name="adj1" fmla="val 14024421"/>
                <a:gd name="adj2" fmla="val 18903353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95D5769A-BC6D-D49E-218D-B6F9612B6A40}"/>
                </a:ext>
              </a:extLst>
            </p:cNvPr>
            <p:cNvCxnSpPr>
              <a:cxnSpLocks/>
            </p:cNvCxnSpPr>
            <p:nvPr/>
          </p:nvCxnSpPr>
          <p:spPr>
            <a:xfrm>
              <a:off x="10972721" y="5459332"/>
              <a:ext cx="0" cy="54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966ABE92-05E8-867E-CAD1-1E48FB7F8985}"/>
                </a:ext>
              </a:extLst>
            </p:cNvPr>
            <p:cNvCxnSpPr>
              <a:cxnSpLocks/>
            </p:cNvCxnSpPr>
            <p:nvPr/>
          </p:nvCxnSpPr>
          <p:spPr>
            <a:xfrm>
              <a:off x="7629811" y="396650"/>
              <a:ext cx="3450323" cy="5830896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4607EA7-265A-45C4-EB96-E8042D47F0AD}"/>
                    </a:ext>
                  </a:extLst>
                </p:cNvPr>
                <p:cNvSpPr txBox="1"/>
                <p:nvPr/>
              </p:nvSpPr>
              <p:spPr>
                <a:xfrm>
                  <a:off x="9858637" y="3909222"/>
                  <a:ext cx="22083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44607EA7-265A-45C4-EB96-E8042D47F0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637" y="3909222"/>
                  <a:ext cx="220830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13514" r="-10811" b="-97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606BF12-4EE9-045B-780F-59DC842AE668}"/>
                    </a:ext>
                  </a:extLst>
                </p:cNvPr>
                <p:cNvSpPr txBox="1"/>
                <p:nvPr/>
              </p:nvSpPr>
              <p:spPr>
                <a:xfrm>
                  <a:off x="7775950" y="1828005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8606BF12-4EE9-045B-780F-59DC842AE6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950" y="1828005"/>
                  <a:ext cx="406400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C0D714DE-17E9-E93F-0B75-12591BDD2BD0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724628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3053795B-1484-1AAC-EA58-B69D8E870733}"/>
                </a:ext>
              </a:extLst>
            </p:cNvPr>
            <p:cNvCxnSpPr>
              <a:cxnSpLocks/>
            </p:cNvCxnSpPr>
            <p:nvPr/>
          </p:nvCxnSpPr>
          <p:spPr>
            <a:xfrm>
              <a:off x="7475292" y="3581288"/>
              <a:ext cx="3014134" cy="2544384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CA314DC9-545C-DEC7-E503-AED071728BB3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3862481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0FEF225-92AF-F547-52EB-F6063CBE4D5A}"/>
                    </a:ext>
                  </a:extLst>
                </p:cNvPr>
                <p:cNvSpPr txBox="1"/>
                <p:nvPr/>
              </p:nvSpPr>
              <p:spPr>
                <a:xfrm>
                  <a:off x="7401452" y="2610425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B0FEF225-92AF-F547-52EB-F6063CBE4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2610425"/>
                  <a:ext cx="406400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7CE0264D-F8BC-8C8B-E475-3E9C4352ADE8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2831584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986C5444-D13A-50F3-8FB6-53E894AC0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보상변화와 동등변화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849DA7-09E5-F4BB-47D0-AA21CDA60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6D40A4-6755-87A4-039D-3097CFAE1BCC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360028" cy="5598969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보상변화를 오른쪽 그림을 통해 확인해보자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가로축</a:t>
                </a:r>
                <a:r>
                  <a:rPr lang="en-US" altLang="ko-KR" sz="1600" spc="-50" dirty="0"/>
                  <a:t>(x</a:t>
                </a:r>
                <a:r>
                  <a:rPr lang="ko-KR" altLang="en-US" sz="1600" spc="-50" dirty="0"/>
                  <a:t>축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소비량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세로축</a:t>
                </a:r>
                <a:r>
                  <a:rPr lang="en-US" altLang="ko-KR" sz="1600" spc="-50" dirty="0"/>
                  <a:t>(y</a:t>
                </a:r>
                <a:r>
                  <a:rPr lang="ko-KR" altLang="en-US" sz="1600" spc="-50" dirty="0"/>
                  <a:t>축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ko-KR" altLang="en-US" sz="1600" i="1" spc="-50" smtClean="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600" spc="-50" dirty="0"/>
                  <a:t> 소비량이다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가격은 </a:t>
                </a:r>
                <a:r>
                  <a:rPr lang="en-US" altLang="ko-KR" sz="1600" spc="-50" dirty="0"/>
                  <a:t>1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따라서 세로축</a:t>
                </a:r>
                <a:r>
                  <a:rPr lang="en-US" altLang="ko-KR" sz="1600" spc="-50" dirty="0"/>
                  <a:t>(y</a:t>
                </a:r>
                <a:r>
                  <a:rPr lang="ko-KR" altLang="en-US" sz="1600" spc="-50" dirty="0"/>
                  <a:t>축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은 모두 소비량임과 동시에 소비 지출액이라고 해도 무방하다</a:t>
                </a:r>
                <a:r>
                  <a:rPr lang="en-US" altLang="ko-KR" sz="1600" spc="-50" dirty="0"/>
                  <a:t>.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y</a:t>
                </a:r>
                <a:r>
                  <a:rPr lang="ko-KR" altLang="en-US" sz="1600" spc="-50" dirty="0"/>
                  <a:t>절편은 소비자의 총 소득을 의미한다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만약 이 소비자가 원래가격에서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은 소비 하지 않고</a:t>
                </a:r>
                <a:r>
                  <a:rPr lang="en-US" altLang="ko-KR" sz="1600" spc="-5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만 소비한다면 소득을 전부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에 지출하므로 예산선의 세로축 절편은 소비자 소득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spc="-50" dirty="0"/>
                  <a:t>이라고 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 가격이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일 경우 효용극대화는 </a:t>
                </a:r>
                <a:r>
                  <a:rPr lang="en-US" altLang="ko-KR" sz="1600" spc="-50" dirty="0"/>
                  <a:t>A</a:t>
                </a:r>
                <a:r>
                  <a:rPr lang="ko-KR" altLang="en-US" sz="1600" spc="-50" dirty="0"/>
                  <a:t>점에서 달성되고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spc="-50" dirty="0"/>
                  <a:t>으로 하락하면 </a:t>
                </a:r>
                <a:r>
                  <a:rPr lang="en-US" altLang="ko-KR" sz="1600" spc="-50" dirty="0"/>
                  <a:t>C</a:t>
                </a:r>
                <a:r>
                  <a:rPr lang="ko-KR" altLang="en-US" sz="1600" spc="-50" dirty="0"/>
                  <a:t>점을 선택한다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가격하락 때문에 효용은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dirty="0"/>
                  <a:t>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dirty="0"/>
                  <a:t>으로 높아진다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만약 이 소비자가 새로운 가격에서도 원래의 효용을 달성하려 한다면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최적 소비점은 </a:t>
                </a:r>
                <a:r>
                  <a:rPr lang="en-US" altLang="ko-KR" sz="1600" dirty="0"/>
                  <a:t>B</a:t>
                </a:r>
                <a:r>
                  <a:rPr lang="ko-KR" altLang="en-US" sz="1600" dirty="0"/>
                  <a:t>가 된다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dirty="0"/>
                  <a:t>A</a:t>
                </a:r>
                <a:r>
                  <a:rPr lang="ko-KR" altLang="en-US" sz="1600" dirty="0"/>
                  <a:t>점을 지나는 예산선에 해당되는 소득은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dirty="0"/>
                  <a:t>인 반면</a:t>
                </a:r>
                <a:r>
                  <a:rPr lang="en-US" altLang="ko-KR" sz="1600" dirty="0"/>
                  <a:t>, B</a:t>
                </a:r>
                <a:r>
                  <a:rPr lang="ko-KR" altLang="en-US" sz="1600" dirty="0"/>
                  <a:t>점을 지나면서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dirty="0"/>
                  <a:t>의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무차별곡선과 접하는 예산선에 해당되는 소득은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보상변화</a:t>
                </a:r>
                <a:r>
                  <a:rPr lang="en-US" altLang="ko-KR" sz="1600" dirty="0"/>
                  <a:t>(CV)</a:t>
                </a:r>
                <a:r>
                  <a:rPr lang="ko-KR" altLang="en-US" sz="1600" dirty="0"/>
                  <a:t>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26D40A4-6755-87A4-039D-3097CFAE1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360028" cy="5598969"/>
              </a:xfrm>
              <a:prstGeom prst="rect">
                <a:avLst/>
              </a:prstGeom>
              <a:blipFill>
                <a:blip r:embed="rId18"/>
                <a:stretch>
                  <a:fillRect r="-911" b="-3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5710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65A2D6-2D9F-2DF8-C4C5-54C5027CB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" name="그룹 90">
            <a:extLst>
              <a:ext uri="{FF2B5EF4-FFF2-40B4-BE49-F238E27FC236}">
                <a16:creationId xmlns:a16="http://schemas.microsoft.com/office/drawing/2014/main" id="{431AC8FF-22DB-8652-7398-E99B52B5E476}"/>
              </a:ext>
            </a:extLst>
          </p:cNvPr>
          <p:cNvGrpSpPr/>
          <p:nvPr/>
        </p:nvGrpSpPr>
        <p:grpSpPr>
          <a:xfrm>
            <a:off x="7118900" y="-1587221"/>
            <a:ext cx="8905511" cy="8529831"/>
            <a:chOff x="7099850" y="-1587221"/>
            <a:chExt cx="8905511" cy="8529831"/>
          </a:xfrm>
        </p:grpSpPr>
        <p:pic>
          <p:nvPicPr>
            <p:cNvPr id="5" name="그림 4" descr="라인, 스크린샷, 텍스트, 도표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2C9AA37D-D2FF-5AF0-CE59-AFDFCB425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01993" y="1211900"/>
              <a:ext cx="4744876" cy="54000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5D613BD-5102-82E3-C9C0-30F5C792FFB5}"/>
                    </a:ext>
                  </a:extLst>
                </p:cNvPr>
                <p:cNvSpPr txBox="1"/>
                <p:nvPr/>
              </p:nvSpPr>
              <p:spPr>
                <a:xfrm>
                  <a:off x="7401452" y="3641322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7" name="TextBox 86">
                  <a:extLst>
                    <a:ext uri="{FF2B5EF4-FFF2-40B4-BE49-F238E27FC236}">
                      <a16:creationId xmlns:a16="http://schemas.microsoft.com/office/drawing/2014/main" id="{95D613BD-5102-82E3-C9C0-30F5C792FF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3641322"/>
                  <a:ext cx="406400" cy="33855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9B5AA00-04D1-F2F9-9B4B-D836DA5718B3}"/>
                    </a:ext>
                  </a:extLst>
                </p:cNvPr>
                <p:cNvSpPr txBox="1"/>
                <p:nvPr/>
              </p:nvSpPr>
              <p:spPr>
                <a:xfrm>
                  <a:off x="7401452" y="503469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69B5AA00-04D1-F2F9-9B4B-D836DA5718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503469"/>
                  <a:ext cx="406400" cy="33855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33AA891-3BBA-758F-87B9-B869EA611F15}"/>
                    </a:ext>
                  </a:extLst>
                </p:cNvPr>
                <p:cNvSpPr txBox="1"/>
                <p:nvPr/>
              </p:nvSpPr>
              <p:spPr>
                <a:xfrm>
                  <a:off x="8615871" y="3971746"/>
                  <a:ext cx="203967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33AA891-3BBA-758F-87B9-B869EA611F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15871" y="3971746"/>
                  <a:ext cx="203967" cy="246221"/>
                </a:xfrm>
                <a:prstGeom prst="rect">
                  <a:avLst/>
                </a:prstGeom>
                <a:blipFill>
                  <a:blip r:embed="rId5"/>
                  <a:stretch>
                    <a:fillRect l="-14706" r="-1470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2FD576-141B-D27D-4AA9-113097C77317}"/>
                    </a:ext>
                  </a:extLst>
                </p:cNvPr>
                <p:cNvSpPr txBox="1"/>
                <p:nvPr/>
              </p:nvSpPr>
              <p:spPr>
                <a:xfrm>
                  <a:off x="9681337" y="5192468"/>
                  <a:ext cx="21230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D32FD576-141B-D27D-4AA9-113097C77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81337" y="5192468"/>
                  <a:ext cx="212302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4286" r="-14286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원호 27">
              <a:extLst>
                <a:ext uri="{FF2B5EF4-FFF2-40B4-BE49-F238E27FC236}">
                  <a16:creationId xmlns:a16="http://schemas.microsoft.com/office/drawing/2014/main" id="{6A073019-EB8E-77A7-8E22-4BF8B226121E}"/>
                </a:ext>
              </a:extLst>
            </p:cNvPr>
            <p:cNvSpPr/>
            <p:nvPr/>
          </p:nvSpPr>
          <p:spPr>
            <a:xfrm rot="13962985">
              <a:off x="8504400" y="-558350"/>
              <a:ext cx="8529831" cy="6472090"/>
            </a:xfrm>
            <a:prstGeom prst="arc">
              <a:avLst>
                <a:gd name="adj1" fmla="val 14024421"/>
                <a:gd name="adj2" fmla="val 18903353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47CC730-E2D8-EA16-4F95-057EAD1CA2CE}"/>
                    </a:ext>
                  </a:extLst>
                </p:cNvPr>
                <p:cNvSpPr txBox="1"/>
                <p:nvPr/>
              </p:nvSpPr>
              <p:spPr>
                <a:xfrm>
                  <a:off x="8962780" y="1828005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B47CC730-E2D8-EA16-4F95-057EAD1CA2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62780" y="1828005"/>
                  <a:ext cx="406400" cy="33855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EFE0F5-3F5A-4F0A-55CD-BC476A3D8CC1}"/>
                    </a:ext>
                  </a:extLst>
                </p:cNvPr>
                <p:cNvSpPr txBox="1"/>
                <p:nvPr/>
              </p:nvSpPr>
              <p:spPr>
                <a:xfrm>
                  <a:off x="8475877" y="3164476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EEFE0F5-3F5A-4F0A-55CD-BC476A3D8C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5877" y="3164476"/>
                  <a:ext cx="343961" cy="338554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A9438DB-629F-E500-FEF5-D3D3661E1BF4}"/>
                    </a:ext>
                  </a:extLst>
                </p:cNvPr>
                <p:cNvSpPr txBox="1"/>
                <p:nvPr/>
              </p:nvSpPr>
              <p:spPr>
                <a:xfrm>
                  <a:off x="7777789" y="3277616"/>
                  <a:ext cx="343961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>
                    <a:solidFill>
                      <a:srgbClr val="0000FF"/>
                    </a:solidFill>
                  </a:endParaRP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4A9438DB-629F-E500-FEF5-D3D3661E1B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7789" y="3277616"/>
                  <a:ext cx="343961" cy="33855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0CEE15A-45C3-D6E8-1D7D-58520E838657}"/>
                    </a:ext>
                  </a:extLst>
                </p:cNvPr>
                <p:cNvSpPr txBox="1"/>
                <p:nvPr/>
              </p:nvSpPr>
              <p:spPr>
                <a:xfrm>
                  <a:off x="7099850" y="2963971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20CEE15A-45C3-D6E8-1D7D-58520E8386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9850" y="2963971"/>
                  <a:ext cx="406400" cy="33855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CCE6F8A-C6D1-740C-D23C-4C2D99F0871F}"/>
                    </a:ext>
                  </a:extLst>
                </p:cNvPr>
                <p:cNvSpPr txBox="1"/>
                <p:nvPr/>
              </p:nvSpPr>
              <p:spPr>
                <a:xfrm>
                  <a:off x="9622280" y="6278203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5CCE6F8A-C6D1-740C-D23C-4C2D99F087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2280" y="6278203"/>
                  <a:ext cx="406400" cy="3385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직선 연결선 35">
              <a:extLst>
                <a:ext uri="{FF2B5EF4-FFF2-40B4-BE49-F238E27FC236}">
                  <a16:creationId xmlns:a16="http://schemas.microsoft.com/office/drawing/2014/main" id="{6E97E217-8920-54C4-3A45-715F9CC97CC9}"/>
                </a:ext>
              </a:extLst>
            </p:cNvPr>
            <p:cNvCxnSpPr>
              <a:cxnSpLocks/>
            </p:cNvCxnSpPr>
            <p:nvPr/>
          </p:nvCxnSpPr>
          <p:spPr>
            <a:xfrm>
              <a:off x="8670022" y="4258474"/>
              <a:ext cx="0" cy="1728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002C5793-8A5C-D976-FD66-F36576A2E0A9}"/>
                </a:ext>
              </a:extLst>
            </p:cNvPr>
            <p:cNvCxnSpPr>
              <a:cxnSpLocks/>
            </p:cNvCxnSpPr>
            <p:nvPr/>
          </p:nvCxnSpPr>
          <p:spPr>
            <a:xfrm>
              <a:off x="9889347" y="4168529"/>
              <a:ext cx="0" cy="1836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421B001A-4842-063A-7E01-EBBCCEACCE6A}"/>
                </a:ext>
              </a:extLst>
            </p:cNvPr>
            <p:cNvCxnSpPr>
              <a:cxnSpLocks/>
            </p:cNvCxnSpPr>
            <p:nvPr/>
          </p:nvCxnSpPr>
          <p:spPr>
            <a:xfrm>
              <a:off x="9737769" y="5492893"/>
              <a:ext cx="0" cy="504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2F7EE2C-3D39-617B-821B-7703E14CED8C}"/>
                    </a:ext>
                  </a:extLst>
                </p:cNvPr>
                <p:cNvSpPr txBox="1"/>
                <p:nvPr/>
              </p:nvSpPr>
              <p:spPr>
                <a:xfrm>
                  <a:off x="10877130" y="5192467"/>
                  <a:ext cx="20300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52F7EE2C-3D39-617B-821B-7703E14CED8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77130" y="5192467"/>
                  <a:ext cx="203004" cy="246221"/>
                </a:xfrm>
                <a:prstGeom prst="rect">
                  <a:avLst/>
                </a:prstGeom>
                <a:blipFill>
                  <a:blip r:embed="rId12"/>
                  <a:stretch>
                    <a:fillRect l="-14706" r="-11765" b="-100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BCB85D7-9B5D-2CA2-50A3-B5B023AD07BA}"/>
                    </a:ext>
                  </a:extLst>
                </p:cNvPr>
                <p:cNvSpPr txBox="1"/>
                <p:nvPr/>
              </p:nvSpPr>
              <p:spPr>
                <a:xfrm>
                  <a:off x="8380025" y="5960289"/>
                  <a:ext cx="391681" cy="3429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BCB85D7-9B5D-2CA2-50A3-B5B023AD07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0025" y="5960289"/>
                  <a:ext cx="391681" cy="34291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D617B3D-61FA-D179-021B-5D78A6865755}"/>
                    </a:ext>
                  </a:extLst>
                </p:cNvPr>
                <p:cNvSpPr txBox="1"/>
                <p:nvPr/>
              </p:nvSpPr>
              <p:spPr>
                <a:xfrm>
                  <a:off x="9778932" y="5960289"/>
                  <a:ext cx="391681" cy="34092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Sup>
                        <m:sSubSupPr>
                          <m:ctrlPr>
                            <a:rPr lang="en-US" altLang="ko-KR" sz="1600" i="1" spc="-5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ko-KR" sz="16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</m:oMath>
                  </a14:m>
                  <a:r>
                    <a:rPr lang="en-US" altLang="ko-KR" sz="1600" spc="-50" dirty="0"/>
                    <a:t> </a:t>
                  </a:r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CD617B3D-61FA-D179-021B-5D78A68657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78932" y="5960289"/>
                  <a:ext cx="391681" cy="34092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6121322F-A82B-F062-296E-64AFECB7E038}"/>
                </a:ext>
              </a:extLst>
            </p:cNvPr>
            <p:cNvCxnSpPr>
              <a:cxnSpLocks/>
            </p:cNvCxnSpPr>
            <p:nvPr/>
          </p:nvCxnSpPr>
          <p:spPr>
            <a:xfrm>
              <a:off x="7817281" y="379874"/>
              <a:ext cx="0" cy="2124000"/>
            </a:xfrm>
            <a:prstGeom prst="line">
              <a:avLst/>
            </a:prstGeom>
            <a:ln w="9525">
              <a:solidFill>
                <a:srgbClr val="070B12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원호 55">
              <a:extLst>
                <a:ext uri="{FF2B5EF4-FFF2-40B4-BE49-F238E27FC236}">
                  <a16:creationId xmlns:a16="http://schemas.microsoft.com/office/drawing/2014/main" id="{E95F0EC0-BC4E-A6D7-45F7-E1ADF85EECA5}"/>
                </a:ext>
              </a:extLst>
            </p:cNvPr>
            <p:cNvSpPr/>
            <p:nvPr/>
          </p:nvSpPr>
          <p:spPr>
            <a:xfrm rot="13962985">
              <a:off x="7244771" y="-558350"/>
              <a:ext cx="8529831" cy="6472090"/>
            </a:xfrm>
            <a:prstGeom prst="arc">
              <a:avLst>
                <a:gd name="adj1" fmla="val 14024421"/>
                <a:gd name="adj2" fmla="val 18903353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D0435550-F536-BCF5-CA4B-EC795F39EFBB}"/>
                </a:ext>
              </a:extLst>
            </p:cNvPr>
            <p:cNvCxnSpPr>
              <a:cxnSpLocks/>
            </p:cNvCxnSpPr>
            <p:nvPr/>
          </p:nvCxnSpPr>
          <p:spPr>
            <a:xfrm>
              <a:off x="10972721" y="5459332"/>
              <a:ext cx="0" cy="540000"/>
            </a:xfrm>
            <a:prstGeom prst="line">
              <a:avLst/>
            </a:prstGeom>
            <a:ln w="9525">
              <a:solidFill>
                <a:srgbClr val="070B12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직선 연결선 58">
              <a:extLst>
                <a:ext uri="{FF2B5EF4-FFF2-40B4-BE49-F238E27FC236}">
                  <a16:creationId xmlns:a16="http://schemas.microsoft.com/office/drawing/2014/main" id="{A08936B2-1ADF-672B-D451-65D7B9D0707D}"/>
                </a:ext>
              </a:extLst>
            </p:cNvPr>
            <p:cNvCxnSpPr>
              <a:cxnSpLocks/>
            </p:cNvCxnSpPr>
            <p:nvPr/>
          </p:nvCxnSpPr>
          <p:spPr>
            <a:xfrm>
              <a:off x="7629811" y="396650"/>
              <a:ext cx="3450323" cy="5830896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16FE298-CEAF-A4AF-E9FA-716503894386}"/>
                    </a:ext>
                  </a:extLst>
                </p:cNvPr>
                <p:cNvSpPr txBox="1"/>
                <p:nvPr/>
              </p:nvSpPr>
              <p:spPr>
                <a:xfrm>
                  <a:off x="9858637" y="3909222"/>
                  <a:ext cx="220830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2" name="TextBox 61">
                  <a:extLst>
                    <a:ext uri="{FF2B5EF4-FFF2-40B4-BE49-F238E27FC236}">
                      <a16:creationId xmlns:a16="http://schemas.microsoft.com/office/drawing/2014/main" id="{816FE298-CEAF-A4AF-E9FA-7165038943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58637" y="3909222"/>
                  <a:ext cx="220830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13514" r="-10811" b="-975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7F4739C-2682-7D3B-4E54-E534B4B39A46}"/>
                    </a:ext>
                  </a:extLst>
                </p:cNvPr>
                <p:cNvSpPr txBox="1"/>
                <p:nvPr/>
              </p:nvSpPr>
              <p:spPr>
                <a:xfrm>
                  <a:off x="7775950" y="1828005"/>
                  <a:ext cx="406400" cy="33855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ko-KR" sz="1600" i="1" spc="-5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sz="1600" i="1" spc="-5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US" altLang="ko-KR" sz="1600" b="0" i="1" spc="-5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p>
                        </m:sSup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A7F4739C-2682-7D3B-4E54-E534B4B39A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75950" y="1828005"/>
                  <a:ext cx="406400" cy="338554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16DA1003-72BD-4D5F-40D5-D47425FBB7B7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724628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6C4396AC-C9B9-F705-447E-058CB77A57D9}"/>
                </a:ext>
              </a:extLst>
            </p:cNvPr>
            <p:cNvCxnSpPr>
              <a:cxnSpLocks/>
            </p:cNvCxnSpPr>
            <p:nvPr/>
          </p:nvCxnSpPr>
          <p:spPr>
            <a:xfrm>
              <a:off x="7475292" y="3581288"/>
              <a:ext cx="3014134" cy="2544384"/>
            </a:xfrm>
            <a:prstGeom prst="line">
              <a:avLst/>
            </a:prstGeom>
            <a:ln>
              <a:solidFill>
                <a:srgbClr val="0000FF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990D1BBA-3E3D-E19A-2C0F-3AA11FA3AB38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3862481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111DF1A-A450-0C33-61C5-0CA300F44667}"/>
                    </a:ext>
                  </a:extLst>
                </p:cNvPr>
                <p:cNvSpPr txBox="1"/>
                <p:nvPr/>
              </p:nvSpPr>
              <p:spPr>
                <a:xfrm>
                  <a:off x="7401452" y="2610425"/>
                  <a:ext cx="406400" cy="338554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𝑚</m:t>
                        </m:r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89" name="TextBox 88">
                  <a:extLst>
                    <a:ext uri="{FF2B5EF4-FFF2-40B4-BE49-F238E27FC236}">
                      <a16:creationId xmlns:a16="http://schemas.microsoft.com/office/drawing/2014/main" id="{E111DF1A-A450-0C33-61C5-0CA300F446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01452" y="2610425"/>
                  <a:ext cx="406400" cy="338554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803DFF55-D781-9EA5-912B-122A4CB03894}"/>
                </a:ext>
              </a:extLst>
            </p:cNvPr>
            <p:cNvCxnSpPr>
              <a:cxnSpLocks/>
            </p:cNvCxnSpPr>
            <p:nvPr/>
          </p:nvCxnSpPr>
          <p:spPr>
            <a:xfrm>
              <a:off x="7763281" y="2831584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75907619-4114-B3EB-7903-D859CA779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보상변화와 동등변화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7E66B3-0867-A472-C01A-DF1D47937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B3B874-CB51-E10A-2787-4F2053A8D672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360028" cy="2643544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동등변화를 오른쪽 그림을 통해 확인해보자</a:t>
                </a:r>
                <a:endParaRPr lang="en-US" altLang="ko-KR" sz="1600" spc="-5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한편 소비자로 하여금 원래의 가격에서 새로운 효용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을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최소비용으로 달성하게 하면 원래의 가격선을 평형 이동시킬 때 무차별곡선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과 접하는 </a:t>
                </a: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점을 선택할 것이다</a:t>
                </a:r>
                <a:r>
                  <a:rPr lang="en-US" altLang="ko-KR" sz="1600" spc="-5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D</a:t>
                </a:r>
                <a:r>
                  <a:rPr lang="ko-KR" altLang="en-US" sz="1600" spc="-50" dirty="0"/>
                  <a:t>점을 지나면서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무차별곡선과 접하는 예산선에 해당하는 소득은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동등변화</a:t>
                </a:r>
                <a:r>
                  <a:rPr lang="en-US" altLang="ko-KR" sz="1600" dirty="0"/>
                  <a:t>(EV)</a:t>
                </a:r>
                <a:r>
                  <a:rPr lang="ko-KR" altLang="en-US" sz="1600" dirty="0"/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</a:t>
                </a:r>
                <a:endParaRPr lang="ko-KR" altLang="en-US" sz="16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0B3B874-CB51-E10A-2787-4F2053A8D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360028" cy="2643544"/>
              </a:xfrm>
              <a:prstGeom prst="rect">
                <a:avLst/>
              </a:prstGeom>
              <a:blipFill>
                <a:blip r:embed="rId18"/>
                <a:stretch>
                  <a:fillRect b="-18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20007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98792-BA6A-68F1-7F97-B5F15DED1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보상변화와 동등변화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DC4969-93AD-5150-0270-8D2BEA39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E6A462-97EA-6E32-D925-05BFD7086A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76" b="5229"/>
          <a:stretch>
            <a:fillRect/>
          </a:stretch>
        </p:blipFill>
        <p:spPr>
          <a:xfrm>
            <a:off x="8148304" y="597101"/>
            <a:ext cx="2381583" cy="310809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D03871B4-D306-E23A-588E-C57ACA2F4427}"/>
              </a:ext>
            </a:extLst>
          </p:cNvPr>
          <p:cNvSpPr/>
          <p:nvPr/>
        </p:nvSpPr>
        <p:spPr>
          <a:xfrm>
            <a:off x="8365490" y="3861944"/>
            <a:ext cx="2023534" cy="244422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AE74942-8378-BA4A-063F-13174862373E}"/>
              </a:ext>
            </a:extLst>
          </p:cNvPr>
          <p:cNvCxnSpPr>
            <a:cxnSpLocks/>
          </p:cNvCxnSpPr>
          <p:nvPr/>
        </p:nvCxnSpPr>
        <p:spPr>
          <a:xfrm>
            <a:off x="8826495" y="3614576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5F669B9-E3B3-B936-2EDA-D45E87F03DCF}"/>
              </a:ext>
            </a:extLst>
          </p:cNvPr>
          <p:cNvCxnSpPr>
            <a:cxnSpLocks/>
          </p:cNvCxnSpPr>
          <p:nvPr/>
        </p:nvCxnSpPr>
        <p:spPr>
          <a:xfrm>
            <a:off x="9397389" y="3601877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A5D761-58B5-2E90-A470-C758E27BE09C}"/>
                  </a:ext>
                </a:extLst>
              </p:cNvPr>
              <p:cNvSpPr txBox="1"/>
              <p:nvPr/>
            </p:nvSpPr>
            <p:spPr>
              <a:xfrm>
                <a:off x="10285626" y="6271256"/>
                <a:ext cx="28321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0A5D761-58B5-2E90-A470-C758E27BE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85626" y="6271256"/>
                <a:ext cx="283219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738E32-B919-4223-A712-8019B4C63E14}"/>
                  </a:ext>
                </a:extLst>
              </p:cNvPr>
              <p:cNvSpPr txBox="1"/>
              <p:nvPr/>
            </p:nvSpPr>
            <p:spPr>
              <a:xfrm>
                <a:off x="8122907" y="4529009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2738E32-B919-4223-A712-8019B4C63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907" y="4529009"/>
                <a:ext cx="275079" cy="2476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A772DD0-B3FD-F310-79D3-D778F3958C1E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79153" y="3650433"/>
            <a:ext cx="0" cy="2016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BC87FFDB-7757-DB7C-F2A7-CEEA7B58CD96}"/>
              </a:ext>
            </a:extLst>
          </p:cNvPr>
          <p:cNvCxnSpPr>
            <a:cxnSpLocks/>
          </p:cNvCxnSpPr>
          <p:nvPr/>
        </p:nvCxnSpPr>
        <p:spPr>
          <a:xfrm rot="16200000" flipV="1">
            <a:off x="9379153" y="4513938"/>
            <a:ext cx="0" cy="2016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0F55DA-289A-6736-C096-8387F9B7B9B7}"/>
                  </a:ext>
                </a:extLst>
              </p:cNvPr>
              <p:cNvSpPr txBox="1"/>
              <p:nvPr/>
            </p:nvSpPr>
            <p:spPr>
              <a:xfrm>
                <a:off x="8122907" y="5389734"/>
                <a:ext cx="275079" cy="2476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000" i="1" spc="-5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0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en-US" altLang="ko-KR" sz="1000" spc="-50" dirty="0"/>
                  <a:t> </a:t>
                </a:r>
                <a:endParaRPr lang="ko-KR" altLang="en-US" sz="1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20F55DA-289A-6736-C096-8387F9B7B9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2907" y="5389734"/>
                <a:ext cx="275079" cy="2476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BB9AD9-8B0D-AEC9-C2D4-1DA35C7B05B6}"/>
                  </a:ext>
                </a:extLst>
              </p:cNvPr>
              <p:cNvSpPr txBox="1"/>
              <p:nvPr/>
            </p:nvSpPr>
            <p:spPr>
              <a:xfrm>
                <a:off x="8148305" y="3706705"/>
                <a:ext cx="283219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FABB9AD9-8B0D-AEC9-C2D4-1DA35C7B05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305" y="3706705"/>
                <a:ext cx="283219" cy="2462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A1701-0638-9232-B8CC-D902CE7F7D1B}"/>
                  </a:ext>
                </a:extLst>
              </p:cNvPr>
              <p:cNvSpPr txBox="1"/>
              <p:nvPr/>
            </p:nvSpPr>
            <p:spPr>
              <a:xfrm>
                <a:off x="8827896" y="4489423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C8A1701-0638-9232-B8CC-D902CE7F7D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7896" y="4489423"/>
                <a:ext cx="140808" cy="138499"/>
              </a:xfrm>
              <a:prstGeom prst="rect">
                <a:avLst/>
              </a:prstGeom>
              <a:blipFill>
                <a:blip r:embed="rId7"/>
                <a:stretch>
                  <a:fillRect l="-8696" r="-4348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73C282-3ED1-55F4-0EF2-E9508A2998B3}"/>
                  </a:ext>
                </a:extLst>
              </p:cNvPr>
              <p:cNvSpPr txBox="1"/>
              <p:nvPr/>
            </p:nvSpPr>
            <p:spPr>
              <a:xfrm>
                <a:off x="9310316" y="5521948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𝐵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673C282-3ED1-55F4-0EF2-E9508A2998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0316" y="5521948"/>
                <a:ext cx="140808" cy="138499"/>
              </a:xfrm>
              <a:prstGeom prst="rect">
                <a:avLst/>
              </a:prstGeom>
              <a:blipFill>
                <a:blip r:embed="rId8"/>
                <a:stretch>
                  <a:fillRect l="-8696" r="-4348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C7A7B44E-58F8-E8FF-D02B-DB43934BFD8C}"/>
              </a:ext>
            </a:extLst>
          </p:cNvPr>
          <p:cNvCxnSpPr>
            <a:cxnSpLocks/>
          </p:cNvCxnSpPr>
          <p:nvPr/>
        </p:nvCxnSpPr>
        <p:spPr>
          <a:xfrm>
            <a:off x="9479939" y="3601877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A77F326-555B-0F08-03CE-C1D6F3A26163}"/>
              </a:ext>
            </a:extLst>
          </p:cNvPr>
          <p:cNvCxnSpPr>
            <a:cxnSpLocks/>
          </p:cNvCxnSpPr>
          <p:nvPr/>
        </p:nvCxnSpPr>
        <p:spPr>
          <a:xfrm>
            <a:off x="10061746" y="3601877"/>
            <a:ext cx="0" cy="2700000"/>
          </a:xfrm>
          <a:prstGeom prst="line">
            <a:avLst/>
          </a:prstGeom>
          <a:ln w="6350">
            <a:solidFill>
              <a:srgbClr val="070B1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388A0C9-2502-DA4E-E064-639D13AA2C01}"/>
                  </a:ext>
                </a:extLst>
              </p:cNvPr>
              <p:cNvSpPr txBox="1"/>
              <p:nvPr/>
            </p:nvSpPr>
            <p:spPr>
              <a:xfrm>
                <a:off x="10182870" y="5574567"/>
                <a:ext cx="112471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000" i="1" spc="-5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388A0C9-2502-DA4E-E064-639D13AA2C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2870" y="5574567"/>
                <a:ext cx="1124710" cy="246221"/>
              </a:xfrm>
              <a:prstGeom prst="rect">
                <a:avLst/>
              </a:prstGeom>
              <a:blipFill>
                <a:blip r:embed="rId9"/>
                <a:stretch>
                  <a:fillRect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B8F46A-AE4C-0A21-89EA-1B4A2266F56B}"/>
                  </a:ext>
                </a:extLst>
              </p:cNvPr>
              <p:cNvSpPr txBox="1"/>
              <p:nvPr/>
            </p:nvSpPr>
            <p:spPr>
              <a:xfrm>
                <a:off x="10124427" y="5868000"/>
                <a:ext cx="71112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000" i="1" spc="-5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1,</m:t>
                      </m:r>
                      <m:sSup>
                        <m:sSup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4BB8F46A-AE4C-0A21-89EA-1B4A2266F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24427" y="5868000"/>
                <a:ext cx="711124" cy="246221"/>
              </a:xfrm>
              <a:prstGeom prst="rect">
                <a:avLst/>
              </a:prstGeom>
              <a:blipFill>
                <a:blip r:embed="rId10"/>
                <a:stretch>
                  <a:fillRect r="-5172" b="-75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F6D7C98-C437-3D05-3CFB-3EA3D6401A84}"/>
                  </a:ext>
                </a:extLst>
              </p:cNvPr>
              <p:cNvSpPr txBox="1"/>
              <p:nvPr/>
            </p:nvSpPr>
            <p:spPr>
              <a:xfrm>
                <a:off x="9405770" y="6080012"/>
                <a:ext cx="711124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000" i="1" spc="-5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000" i="1" spc="-5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sz="1000" b="0" i="1" spc="-50" smtClean="0">
                          <a:latin typeface="Cambria Math" panose="02040503050406030204" pitchFamily="18" charset="0"/>
                        </a:rPr>
                        <m:t>1,</m:t>
                      </m:r>
                      <m:sSup>
                        <m:sSupPr>
                          <m:ctrlP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000" i="1" spc="-5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ko-KR" sz="1000" b="0" i="1" spc="-5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ko-KR" sz="1000" i="1" spc="-5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00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7F6D7C98-C437-3D05-3CFB-3EA3D6401A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5770" y="6080012"/>
                <a:ext cx="711124" cy="246221"/>
              </a:xfrm>
              <a:prstGeom prst="rect">
                <a:avLst/>
              </a:prstGeom>
              <a:blipFill>
                <a:blip r:embed="rId11"/>
                <a:stretch>
                  <a:fillRect r="-4274" b="-487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71A1BE-78F2-0FF5-50B7-3A2033BB530C}"/>
                  </a:ext>
                </a:extLst>
              </p:cNvPr>
              <p:cNvSpPr txBox="1"/>
              <p:nvPr/>
            </p:nvSpPr>
            <p:spPr>
              <a:xfrm>
                <a:off x="9463909" y="4522278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471A1BE-78F2-0FF5-50B7-3A2033BB5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3909" y="4522278"/>
                <a:ext cx="140808" cy="138499"/>
              </a:xfrm>
              <a:prstGeom prst="rect">
                <a:avLst/>
              </a:prstGeom>
              <a:blipFill>
                <a:blip r:embed="rId12"/>
                <a:stretch>
                  <a:fillRect l="-8333" r="-4167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7A1312-0F0F-F43C-F74A-27B1F4DADE92}"/>
                  </a:ext>
                </a:extLst>
              </p:cNvPr>
              <p:cNvSpPr txBox="1"/>
              <p:nvPr/>
            </p:nvSpPr>
            <p:spPr>
              <a:xfrm>
                <a:off x="10054023" y="5367414"/>
                <a:ext cx="140808" cy="1384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9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ko-KR" altLang="en-US" sz="9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0A7A1312-0F0F-F43C-F74A-27B1F4DADE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4023" y="5367414"/>
                <a:ext cx="140808" cy="138499"/>
              </a:xfrm>
              <a:prstGeom prst="rect">
                <a:avLst/>
              </a:prstGeom>
              <a:blipFill>
                <a:blip r:embed="rId13"/>
                <a:stretch>
                  <a:fillRect l="-8696" b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자유형: 도형 46">
            <a:extLst>
              <a:ext uri="{FF2B5EF4-FFF2-40B4-BE49-F238E27FC236}">
                <a16:creationId xmlns:a16="http://schemas.microsoft.com/office/drawing/2014/main" id="{87F04D50-E06D-F555-8BC7-E5167905B02B}"/>
              </a:ext>
            </a:extLst>
          </p:cNvPr>
          <p:cNvSpPr/>
          <p:nvPr/>
        </p:nvSpPr>
        <p:spPr>
          <a:xfrm>
            <a:off x="8367184" y="4658783"/>
            <a:ext cx="1035050" cy="863600"/>
          </a:xfrm>
          <a:custGeom>
            <a:avLst/>
            <a:gdLst>
              <a:gd name="connsiteX0" fmla="*/ 0 w 1035050"/>
              <a:gd name="connsiteY0" fmla="*/ 2117 h 863600"/>
              <a:gd name="connsiteX1" fmla="*/ 467783 w 1035050"/>
              <a:gd name="connsiteY1" fmla="*/ 0 h 863600"/>
              <a:gd name="connsiteX2" fmla="*/ 1035050 w 1035050"/>
              <a:gd name="connsiteY2" fmla="*/ 861484 h 863600"/>
              <a:gd name="connsiteX3" fmla="*/ 0 w 1035050"/>
              <a:gd name="connsiteY3" fmla="*/ 863600 h 863600"/>
              <a:gd name="connsiteX4" fmla="*/ 0 w 1035050"/>
              <a:gd name="connsiteY4" fmla="*/ 2117 h 86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35050" h="863600">
                <a:moveTo>
                  <a:pt x="0" y="2117"/>
                </a:moveTo>
                <a:lnTo>
                  <a:pt x="467783" y="0"/>
                </a:lnTo>
                <a:lnTo>
                  <a:pt x="1035050" y="861484"/>
                </a:lnTo>
                <a:lnTo>
                  <a:pt x="0" y="863600"/>
                </a:lnTo>
                <a:cubicBezTo>
                  <a:pt x="706" y="575733"/>
                  <a:pt x="1411" y="287867"/>
                  <a:pt x="0" y="2117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자유형: 도형 47">
            <a:extLst>
              <a:ext uri="{FF2B5EF4-FFF2-40B4-BE49-F238E27FC236}">
                <a16:creationId xmlns:a16="http://schemas.microsoft.com/office/drawing/2014/main" id="{62AF1DF2-D38B-0E3D-1171-003D0D483F8F}"/>
              </a:ext>
            </a:extLst>
          </p:cNvPr>
          <p:cNvSpPr/>
          <p:nvPr/>
        </p:nvSpPr>
        <p:spPr>
          <a:xfrm>
            <a:off x="8826500" y="4654550"/>
            <a:ext cx="1236133" cy="869950"/>
          </a:xfrm>
          <a:custGeom>
            <a:avLst/>
            <a:gdLst>
              <a:gd name="connsiteX0" fmla="*/ 0 w 1236133"/>
              <a:gd name="connsiteY0" fmla="*/ 0 h 869950"/>
              <a:gd name="connsiteX1" fmla="*/ 571500 w 1236133"/>
              <a:gd name="connsiteY1" fmla="*/ 865717 h 869950"/>
              <a:gd name="connsiteX2" fmla="*/ 1236133 w 1236133"/>
              <a:gd name="connsiteY2" fmla="*/ 869950 h 869950"/>
              <a:gd name="connsiteX3" fmla="*/ 0 w 1236133"/>
              <a:gd name="connsiteY3" fmla="*/ 0 h 869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6133" h="869950">
                <a:moveTo>
                  <a:pt x="0" y="0"/>
                </a:moveTo>
                <a:lnTo>
                  <a:pt x="571500" y="865717"/>
                </a:lnTo>
                <a:lnTo>
                  <a:pt x="1236133" y="86995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: 도형 48">
            <a:extLst>
              <a:ext uri="{FF2B5EF4-FFF2-40B4-BE49-F238E27FC236}">
                <a16:creationId xmlns:a16="http://schemas.microsoft.com/office/drawing/2014/main" id="{977175B7-E33D-61D9-E5B0-C0A9AD925F2D}"/>
              </a:ext>
            </a:extLst>
          </p:cNvPr>
          <p:cNvSpPr/>
          <p:nvPr/>
        </p:nvSpPr>
        <p:spPr>
          <a:xfrm>
            <a:off x="8824383" y="4656667"/>
            <a:ext cx="1238250" cy="865716"/>
          </a:xfrm>
          <a:custGeom>
            <a:avLst/>
            <a:gdLst>
              <a:gd name="connsiteX0" fmla="*/ 0 w 1238250"/>
              <a:gd name="connsiteY0" fmla="*/ 0 h 865716"/>
              <a:gd name="connsiteX1" fmla="*/ 656167 w 1238250"/>
              <a:gd name="connsiteY1" fmla="*/ 4233 h 865716"/>
              <a:gd name="connsiteX2" fmla="*/ 1238250 w 1238250"/>
              <a:gd name="connsiteY2" fmla="*/ 865716 h 865716"/>
              <a:gd name="connsiteX3" fmla="*/ 0 w 1238250"/>
              <a:gd name="connsiteY3" fmla="*/ 0 h 865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8250" h="865716">
                <a:moveTo>
                  <a:pt x="0" y="0"/>
                </a:moveTo>
                <a:lnTo>
                  <a:pt x="656167" y="4233"/>
                </a:lnTo>
                <a:lnTo>
                  <a:pt x="1238250" y="865716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30C8905-19E2-1BBE-5C5C-D35E33096A08}"/>
                  </a:ext>
                </a:extLst>
              </p:cNvPr>
              <p:cNvSpPr txBox="1"/>
              <p:nvPr/>
            </p:nvSpPr>
            <p:spPr>
              <a:xfrm>
                <a:off x="8753979" y="5080178"/>
                <a:ext cx="140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30C8905-19E2-1BBE-5C5C-D35E33096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3979" y="5080178"/>
                <a:ext cx="140808" cy="184666"/>
              </a:xfrm>
              <a:prstGeom prst="rect">
                <a:avLst/>
              </a:prstGeom>
              <a:blipFill>
                <a:blip r:embed="rId14"/>
                <a:stretch>
                  <a:fillRect l="-8696" r="-86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BB63FFB-8F17-ADDC-A477-004BB85569F9}"/>
                  </a:ext>
                </a:extLst>
              </p:cNvPr>
              <p:cNvSpPr txBox="1"/>
              <p:nvPr/>
            </p:nvSpPr>
            <p:spPr>
              <a:xfrm>
                <a:off x="9268691" y="5080178"/>
                <a:ext cx="140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5BB63FFB-8F17-ADDC-A477-004BB85569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8691" y="5080178"/>
                <a:ext cx="140808" cy="184666"/>
              </a:xfrm>
              <a:prstGeom prst="rect">
                <a:avLst/>
              </a:prstGeom>
              <a:blipFill>
                <a:blip r:embed="rId15"/>
                <a:stretch>
                  <a:fillRect l="-20833" r="-12500" b="-96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FA5141B-7232-5D20-2567-E5F6D139357F}"/>
                  </a:ext>
                </a:extLst>
              </p:cNvPr>
              <p:cNvSpPr txBox="1"/>
              <p:nvPr/>
            </p:nvSpPr>
            <p:spPr>
              <a:xfrm>
                <a:off x="9363879" y="4800461"/>
                <a:ext cx="1408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12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ko-KR" altLang="en-US" sz="1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6FA5141B-7232-5D20-2567-E5F6D13935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3879" y="4800461"/>
                <a:ext cx="140808" cy="184666"/>
              </a:xfrm>
              <a:prstGeom prst="rect">
                <a:avLst/>
              </a:prstGeom>
              <a:blipFill>
                <a:blip r:embed="rId16"/>
                <a:stretch>
                  <a:fillRect l="-4348" r="-43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7C19014-4FB6-D8FE-DEE5-934CE1A6E66C}"/>
                  </a:ext>
                </a:extLst>
              </p:cNvPr>
              <p:cNvSpPr txBox="1"/>
              <p:nvPr/>
            </p:nvSpPr>
            <p:spPr>
              <a:xfrm>
                <a:off x="200705" y="782884"/>
                <a:ext cx="7360028" cy="5591211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보상변화</a:t>
                </a:r>
                <a:r>
                  <a:rPr lang="en-US" altLang="ko-KR" sz="1600" spc="-50" dirty="0"/>
                  <a:t>(CV)</a:t>
                </a:r>
                <a:r>
                  <a:rPr lang="ko-KR" altLang="en-US" sz="1600" spc="-50" dirty="0"/>
                  <a:t>와 동등변화</a:t>
                </a:r>
                <a:r>
                  <a:rPr lang="en-US" altLang="ko-KR" sz="1600" spc="-50" dirty="0"/>
                  <a:t>(EV)</a:t>
                </a:r>
                <a:r>
                  <a:rPr lang="ko-KR" altLang="en-US" sz="1600" spc="-50" dirty="0"/>
                  <a:t>는 오른쪽 아래 그림처럼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spc="-50" dirty="0"/>
                  <a:t>의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보상수요곡선을 통해서도 표현할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보상수요곡선인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1,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은 효용을 원래 수준에 묶어두면서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의 각 가격에서 소비자가 소비하고자 하는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양을 나타낸다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이 수요곡선이 두 가격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bSup>
                  </m:oMath>
                </a14:m>
                <a:r>
                  <a:rPr lang="ko-KR" altLang="en-US" sz="1600" dirty="0"/>
                  <a:t>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bSup>
                  </m:oMath>
                </a14:m>
                <a:r>
                  <a:rPr lang="ko-KR" altLang="en-US" sz="1600" dirty="0"/>
                  <a:t> 사이에서 만들어내는 면적이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면적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바로 보상변화</a:t>
                </a:r>
                <a:r>
                  <a:rPr lang="en-US" altLang="ko-KR" sz="1600" dirty="0"/>
                  <a:t>(CV)</a:t>
                </a:r>
                <a:r>
                  <a:rPr lang="ko-KR" altLang="en-US" sz="1600" dirty="0"/>
                  <a:t> 이며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이는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sz="1600" dirty="0"/>
                  <a:t>와 같다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마찬가지로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, 1,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가격변화 후의 효용을 기준으로 정의되는 </a:t>
                </a:r>
                <a:r>
                  <a:rPr lang="ko-KR" altLang="en-US" sz="1600" dirty="0" err="1"/>
                  <a:t>보상수요곡선이고</a:t>
                </a:r>
                <a:r>
                  <a:rPr lang="en-US" altLang="ko-KR" sz="1600" dirty="0"/>
                  <a:t>,</a:t>
                </a:r>
                <a:r>
                  <a:rPr lang="ko-KR" altLang="en-US" sz="1600" dirty="0"/>
                  <a:t> 이 곡선이 만들어내는 면적은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이 면적 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이 바로 동등변화</a:t>
                </a:r>
                <a:r>
                  <a:rPr lang="en-US" altLang="ko-KR" sz="1600" dirty="0"/>
                  <a:t>(EV)</a:t>
                </a:r>
                <a:r>
                  <a:rPr lang="ko-KR" altLang="en-US" sz="1600" dirty="0"/>
                  <a:t> 이다</a:t>
                </a:r>
                <a:r>
                  <a:rPr lang="en-US" altLang="ko-KR" sz="1600" dirty="0"/>
                  <a:t>. </a:t>
                </a:r>
                <a:r>
                  <a:rPr lang="ko-KR" altLang="en-US" sz="1600" dirty="0"/>
                  <a:t>이는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𝐸</m:t>
                        </m:r>
                      </m:sub>
                    </m:sSub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ko-KR" altLang="en-US" sz="1600" dirty="0"/>
                  <a:t>와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같다</a:t>
                </a:r>
                <a:r>
                  <a:rPr lang="en-US" altLang="ko-KR" sz="160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한편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의 가격 하락으로 인한 소비자잉여의 </a:t>
                </a:r>
                <a:r>
                  <a:rPr lang="ko-KR" altLang="en-US" sz="1600" dirty="0" err="1"/>
                  <a:t>변화분</a:t>
                </a:r>
                <a:r>
                  <a:rPr lang="en-US" altLang="ko-KR" sz="1600" dirty="0"/>
                  <a:t>(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altLang="ko-KR" sz="1600" dirty="0"/>
                  <a:t>)</a:t>
                </a:r>
                <a:r>
                  <a:rPr lang="ko-KR" altLang="en-US" sz="1600" dirty="0"/>
                  <a:t>은 이 그래프에서 면적 </a:t>
                </a:r>
                <a14:m>
                  <m:oMath xmlns:m="http://schemas.openxmlformats.org/officeDocument/2006/math"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sz="1600" i="1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ko-KR" altLang="en-US" sz="1600" dirty="0"/>
                  <a:t>이다</a:t>
                </a:r>
                <a:r>
                  <a:rPr lang="en-US" altLang="ko-KR" sz="1600" dirty="0"/>
                  <a:t>. 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dirty="0"/>
                  <a:t>따라서 그림에서 볼 수 있듯이 정상재의 경우에서는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세 가지 후생지표 간에 다음과 같은 부등호 관계가 성립한다</a:t>
                </a:r>
                <a:r>
                  <a:rPr lang="en-US" altLang="ko-KR" sz="160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14:m>
                  <m:oMath xmlns:m="http://schemas.openxmlformats.org/officeDocument/2006/math"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𝐶𝑉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𝐸𝑉</m:t>
                    </m:r>
                  </m:oMath>
                </a14:m>
                <a:endParaRPr lang="ko-KR" altLang="en-US" sz="1600" dirty="0"/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7C19014-4FB6-D8FE-DEE5-934CE1A6E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05" y="782884"/>
                <a:ext cx="7360028" cy="5591211"/>
              </a:xfrm>
              <a:prstGeom prst="rect">
                <a:avLst/>
              </a:prstGeom>
              <a:blipFill>
                <a:blip r:embed="rId17"/>
                <a:stretch>
                  <a:fillRect r="-1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B1E16AFA-0A51-6807-8663-EEC9E202FF5B}"/>
              </a:ext>
            </a:extLst>
          </p:cNvPr>
          <p:cNvCxnSpPr>
            <a:cxnSpLocks/>
          </p:cNvCxnSpPr>
          <p:nvPr/>
        </p:nvCxnSpPr>
        <p:spPr>
          <a:xfrm>
            <a:off x="8563928" y="4257675"/>
            <a:ext cx="1223971" cy="1851025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2EA670DB-1427-3F79-A61E-602F5E98B0D3}"/>
              </a:ext>
            </a:extLst>
          </p:cNvPr>
          <p:cNvCxnSpPr>
            <a:cxnSpLocks/>
          </p:cNvCxnSpPr>
          <p:nvPr/>
        </p:nvCxnSpPr>
        <p:spPr>
          <a:xfrm>
            <a:off x="8472963" y="4410075"/>
            <a:ext cx="1921724" cy="1342910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EE444B07-0AB7-977B-B086-7DD953174535}"/>
              </a:ext>
            </a:extLst>
          </p:cNvPr>
          <p:cNvCxnSpPr>
            <a:cxnSpLocks/>
          </p:cNvCxnSpPr>
          <p:nvPr/>
        </p:nvCxnSpPr>
        <p:spPr>
          <a:xfrm>
            <a:off x="9043681" y="4010929"/>
            <a:ext cx="1273482" cy="1888221"/>
          </a:xfrm>
          <a:prstGeom prst="line">
            <a:avLst/>
          </a:prstGeom>
          <a:ln w="9525">
            <a:solidFill>
              <a:srgbClr val="020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86788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205DD6-3324-0757-E04E-B474F9EDC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지불의사와 수용의사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1231E2-F817-420E-81A7-96E845A2A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1A419F-8A2F-F74B-D33F-9E487C24FED7}"/>
                  </a:ext>
                </a:extLst>
              </p:cNvPr>
              <p:cNvSpPr txBox="1"/>
              <p:nvPr/>
            </p:nvSpPr>
            <p:spPr>
              <a:xfrm>
                <a:off x="678872" y="958844"/>
                <a:ext cx="11259128" cy="55846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이처럼 후생변화는 세 가지 다른 척도를 사용해서 측정할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는 가격과 소득 자료만 있으면 쉽게 측정할 수 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보상변화</a:t>
                </a:r>
                <a:r>
                  <a:rPr lang="en-US" altLang="ko-KR" sz="1600" spc="-50" dirty="0"/>
                  <a:t>(CV)</a:t>
                </a:r>
                <a:r>
                  <a:rPr lang="ko-KR" altLang="en-US" sz="1600" spc="-50" dirty="0"/>
                  <a:t>와 동등변화</a:t>
                </a:r>
                <a:r>
                  <a:rPr lang="en-US" altLang="ko-KR" sz="1600" spc="-50" dirty="0"/>
                  <a:t>(EV)</a:t>
                </a:r>
                <a:r>
                  <a:rPr lang="ko-KR" altLang="en-US" sz="1600" spc="-50" dirty="0"/>
                  <a:t>를 계측하기 위해서는 보상수요함수를 알아야 하는데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우리가 눈으로 확인할 수 없는 효용이라는 값에 의존하기 때문에 통계자료를 이용해서 그 형태를 알아 낼 수 없다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이런 이유로 인해 이론적 결함에도 불구하고 </a:t>
                </a:r>
                <a14:m>
                  <m:oMath xmlns:m="http://schemas.openxmlformats.org/officeDocument/2006/math"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∆</m:t>
                    </m:r>
                    <m:r>
                      <a:rPr lang="en-US" altLang="ko-KR" sz="1600" i="1" spc="-5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ko-KR" altLang="en-US" sz="1600" spc="-50" dirty="0"/>
                  <a:t>를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나 </a:t>
                </a:r>
                <a:r>
                  <a:rPr lang="en-US" altLang="ko-KR" sz="1600" spc="-50" dirty="0"/>
                  <a:t>EV </a:t>
                </a:r>
                <a:r>
                  <a:rPr lang="ko-KR" altLang="en-US" sz="1600" spc="-50" dirty="0"/>
                  <a:t>대신 후생효과 분석에 사용해 왔다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그러나 이 분야의 이론 발전에 의해 통계적인 절차를 거쳐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나 </a:t>
                </a:r>
                <a:r>
                  <a:rPr lang="en-US" altLang="ko-KR" sz="1600" spc="-50" dirty="0"/>
                  <a:t>EV</a:t>
                </a:r>
                <a:r>
                  <a:rPr lang="ko-KR" altLang="en-US" sz="1600" spc="-50" dirty="0"/>
                  <a:t>를 정확히 구하는 것이 가능하게 되었다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보상수요곡선을 사용해서 앞서 도출한 두 지표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EV</a:t>
                </a:r>
                <a:r>
                  <a:rPr lang="ko-KR" altLang="en-US" sz="1600" spc="-50" dirty="0"/>
                  <a:t>는 후생효과의 화폐화 된 지표로 흔히 사용하는 지불의사 및 수용의사와 연결이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지불의사와 수용의사의 기준 효용은 여건 변화 이전인지 이후인지가 아니라 상대적으로 더 </a:t>
                </a:r>
                <a:r>
                  <a:rPr lang="ko-KR" altLang="en-US" sz="1600" spc="-50" dirty="0" err="1"/>
                  <a:t>작은지</a:t>
                </a:r>
                <a:r>
                  <a:rPr lang="ko-KR" altLang="en-US" sz="1600" spc="-50" dirty="0"/>
                  <a:t> 큰지에 의해 각각 선택된다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지금까지 배운</a:t>
                </a:r>
                <a:r>
                  <a:rPr lang="en-US" altLang="ko-KR" sz="1600" spc="-50" dirty="0"/>
                  <a:t> CV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EV</a:t>
                </a:r>
                <a:r>
                  <a:rPr lang="ko-KR" altLang="en-US" sz="1600" spc="-50" dirty="0"/>
                  <a:t>의 경우</a:t>
                </a:r>
                <a:r>
                  <a:rPr lang="en-US" altLang="ko-KR" sz="1600" spc="-50" dirty="0"/>
                  <a:t>,</a:t>
                </a:r>
                <a:r>
                  <a:rPr lang="ko-KR" altLang="en-US" sz="1600" spc="-50" dirty="0"/>
                  <a:t> 측정하는 기준 효용은 상대적 크기 아니라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각각 변화 이전인지 이후인지에 의해 선택되었다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지불의사는 둘 중 낮은 효용을 기준으로 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더 높은 수준의 효용을 얻기 위해 지불할 의사가 있는 금액이다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수용의사는 더 높은 효용을 기준으로 하며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이를 달성하지 못하는 대신 받고자 하는 금액이다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B1A419F-8A2F-F74B-D33F-9E487C24F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58844"/>
                <a:ext cx="11259128" cy="5584670"/>
              </a:xfrm>
              <a:prstGeom prst="rect">
                <a:avLst/>
              </a:prstGeom>
              <a:blipFill>
                <a:blip r:embed="rId2"/>
                <a:stretch>
                  <a:fillRect b="-43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8522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0B83B-88B2-23FD-9567-75D0FF71C6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F56BF3-1206-B643-19C0-37F719DA0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지불의사와 수용의사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7622BE-5497-5841-2C7B-F1D113A3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B6BEB-E232-9EDD-22ED-894081B9CCC8}"/>
                  </a:ext>
                </a:extLst>
              </p:cNvPr>
              <p:cNvSpPr txBox="1"/>
              <p:nvPr/>
            </p:nvSpPr>
            <p:spPr>
              <a:xfrm>
                <a:off x="678872" y="938524"/>
                <a:ext cx="11259128" cy="5592428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발생하는 변화가 효용을 높이는 쪽인지 낮추는 쪽인지에 따라서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와 </a:t>
                </a:r>
                <a:r>
                  <a:rPr lang="en-US" altLang="ko-KR" sz="1600" spc="-50" dirty="0"/>
                  <a:t>EV </a:t>
                </a:r>
                <a:r>
                  <a:rPr lang="ko-KR" altLang="en-US" sz="1600" spc="-50" dirty="0"/>
                  <a:t>중 무엇이 지불의사 혹은 수용의사와 연결되는지가 달라진다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앞서 살펴본 그림과 같이 가격이 하락할 경우에는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이므로 변화 이후의 효용이 더 높다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지불의사는 보상변화</a:t>
                </a:r>
                <a:r>
                  <a:rPr lang="en-US" altLang="ko-KR" sz="1600" spc="-50" dirty="0"/>
                  <a:t>(CV)</a:t>
                </a:r>
                <a:r>
                  <a:rPr lang="ko-KR" altLang="en-US" sz="1600" spc="-50" dirty="0"/>
                  <a:t>와 수용의사는 동등변화</a:t>
                </a:r>
                <a:r>
                  <a:rPr lang="en-US" altLang="ko-KR" sz="1600" spc="-50" dirty="0"/>
                  <a:t>(EV)</a:t>
                </a:r>
                <a:r>
                  <a:rPr lang="ko-KR" altLang="en-US" sz="1600" spc="-50" dirty="0"/>
                  <a:t>와 연결된다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때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 하락에도 불구하고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유지를 위해 줄여줄 수 있는 소득인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이 금액을 지불해도 가격 하락 시에는 만족도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를 유지할 수 있으므로 </a:t>
                </a:r>
                <a:r>
                  <a:rPr lang="en-US" altLang="ko-KR" sz="1600" spc="-50" dirty="0"/>
                  <a:t>CV</a:t>
                </a:r>
                <a:r>
                  <a:rPr lang="ko-KR" altLang="en-US" sz="1600" spc="-50" dirty="0"/>
                  <a:t>가 가격 하락의 </a:t>
                </a:r>
                <a:r>
                  <a:rPr lang="ko-KR" altLang="en-US" sz="1600" b="1" spc="-50" dirty="0"/>
                  <a:t>지불의사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EV </a:t>
                </a:r>
                <a:r>
                  <a:rPr lang="ko-KR" altLang="en-US" sz="1600" spc="-50" dirty="0"/>
                  <a:t>역시 </a:t>
                </a:r>
                <a:r>
                  <a:rPr lang="en-US" altLang="ko-KR" sz="1600" spc="-50" dirty="0"/>
                  <a:t>0</a:t>
                </a:r>
                <a:r>
                  <a:rPr lang="ko-KR" altLang="en-US" sz="1600" spc="-50" dirty="0"/>
                  <a:t>보다 크며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가격이 하락하지 않는다면 기준이 되는 효용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ko-KR" altLang="en-US" sz="1600" i="1" spc="-50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달성되지 못하기 때문에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대신 소비자가 받고자 하는 금액이므로 가격변화의 </a:t>
                </a:r>
                <a:r>
                  <a:rPr lang="ko-KR" altLang="en-US" sz="1600" b="1" spc="-50" dirty="0"/>
                  <a:t>수용의사</a:t>
                </a:r>
                <a:r>
                  <a:rPr lang="ko-KR" altLang="en-US" sz="1600" spc="-50" dirty="0"/>
                  <a:t>이다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하지만 가격이 상승할 경우를 가정하면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ko-KR" sz="1600" b="0" i="1" spc="-50" smtClean="0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이므로 반대로 변화 이전의 효용이 더 높다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지불의사는 동등변화</a:t>
                </a:r>
                <a:r>
                  <a:rPr lang="en-US" altLang="ko-KR" sz="1600" spc="-50" dirty="0"/>
                  <a:t>(EV)</a:t>
                </a:r>
                <a:r>
                  <a:rPr lang="ko-KR" altLang="en-US" sz="1600" spc="-50" dirty="0"/>
                  <a:t>와 수용의사는 보상변화</a:t>
                </a:r>
                <a:r>
                  <a:rPr lang="en-US" altLang="ko-KR" sz="1600" spc="-50" dirty="0"/>
                  <a:t>(CV)</a:t>
                </a:r>
                <a:r>
                  <a:rPr lang="ko-KR" altLang="en-US" sz="1600" spc="-50" dirty="0"/>
                  <a:t>와 연결된다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가격상승 후에도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를 유지하기 위해서는 줄여줄 수 있는 소득이 음</a:t>
                </a:r>
                <a:r>
                  <a:rPr lang="en-US" altLang="ko-KR" sz="1600" spc="-50" dirty="0"/>
                  <a:t>(-)</a:t>
                </a:r>
                <a:r>
                  <a:rPr lang="ko-KR" altLang="en-US" sz="1600" spc="-50" dirty="0"/>
                  <a:t>이어야 한다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가격상승으로 인한 후생손실을 수용하는 대신 받고자 하는 </a:t>
                </a:r>
                <a:r>
                  <a:rPr lang="ko-KR" altLang="en-US" sz="1600" b="1" spc="-50" dirty="0"/>
                  <a:t>수용의사</a:t>
                </a:r>
                <a:r>
                  <a:rPr lang="ko-KR" altLang="en-US" sz="1600" spc="-50" dirty="0"/>
                  <a:t>가 </a:t>
                </a:r>
                <a:r>
                  <a:rPr lang="en-US" altLang="ko-KR" sz="1600" spc="-50" dirty="0"/>
                  <a:t>–CV </a:t>
                </a:r>
                <a:r>
                  <a:rPr lang="ko-KR" altLang="en-US" sz="1600" spc="-50" dirty="0"/>
                  <a:t>인 것이다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ko-KR" sz="1600" spc="-50" dirty="0"/>
                  <a:t>EV</a:t>
                </a:r>
                <a:r>
                  <a:rPr lang="ko-KR" altLang="en-US" sz="1600" spc="-50" dirty="0"/>
                  <a:t>는 원래 가격에서 더 낮은 효용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을 얻을 수 있도록 더해주어야 하는 소득인데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실제로는 소득이 덜 필요하므로 역시 음</a:t>
                </a:r>
                <a:r>
                  <a:rPr lang="en-US" altLang="ko-KR" sz="1600" spc="-50" dirty="0"/>
                  <a:t>(-)</a:t>
                </a:r>
                <a:r>
                  <a:rPr lang="ko-KR" altLang="en-US" sz="1600" spc="-50" dirty="0"/>
                  <a:t>의 값을 가진다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그리고 </a:t>
                </a:r>
                <a:r>
                  <a:rPr lang="en-US" altLang="ko-KR" sz="1600" spc="-50" dirty="0"/>
                  <a:t>–EV</a:t>
                </a:r>
                <a:r>
                  <a:rPr lang="ko-KR" altLang="en-US" sz="1600" spc="-50" dirty="0"/>
                  <a:t>는 가격상승을 취소하여 후생이</a:t>
                </a:r>
                <a:r>
                  <a:rPr lang="en-US" altLang="ko-KR" sz="1600" spc="-5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i="1" spc="-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i="1" spc="-5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p>
                        <m:r>
                          <a:rPr lang="en-US" altLang="ko-KR" sz="1600" b="0" i="1" spc="-5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ko-KR" altLang="en-US" sz="1600" spc="-50" dirty="0"/>
                  <a:t>로 늘어나는 사건에 대한 </a:t>
                </a:r>
                <a:r>
                  <a:rPr lang="ko-KR" altLang="en-US" sz="1600" b="1" spc="-50" dirty="0"/>
                  <a:t>지불의사</a:t>
                </a:r>
                <a:r>
                  <a:rPr lang="ko-KR" altLang="en-US" sz="1600" spc="-50" dirty="0"/>
                  <a:t>가 된다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CEB6BEB-E232-9EDD-22ED-894081B9C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872" y="938524"/>
                <a:ext cx="11259128" cy="5592428"/>
              </a:xfrm>
              <a:prstGeom prst="rect">
                <a:avLst/>
              </a:prstGeom>
              <a:blipFill>
                <a:blip r:embed="rId2"/>
                <a:stretch>
                  <a:fillRect r="-108" b="-4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13336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04D3EC-9A0A-C3BC-BDD0-23A90534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지불의사와 수용의사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4A5F0A-6B25-8B8A-0F8E-5C71BCA34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E45AB1-52BE-18EF-0C97-A3D9E95A8DBE}"/>
              </a:ext>
            </a:extLst>
          </p:cNvPr>
          <p:cNvSpPr txBox="1"/>
          <p:nvPr/>
        </p:nvSpPr>
        <p:spPr>
          <a:xfrm>
            <a:off x="678872" y="938524"/>
            <a:ext cx="11259128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손해인 상황에서 이득을 보는 상황으로 갈 때 필요한 금액은 </a:t>
            </a:r>
            <a:r>
              <a:rPr lang="en-US" altLang="ko-KR" sz="1600" spc="-50" dirty="0"/>
              <a:t>‘</a:t>
            </a:r>
            <a:r>
              <a:rPr lang="ko-KR" altLang="en-US" sz="1600" b="1" u="sng" spc="-50" dirty="0"/>
              <a:t>지불의사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표현한다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치킨 가격이 하락해서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효용이 증가 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 효용수준으로 되돌아가려면 나의 소득이 줄어들어야 함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원래효용으로 돌아가려면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얼마를 </a:t>
            </a:r>
            <a:r>
              <a:rPr lang="ko-KR" altLang="en-US" sz="1600" b="1" u="sng" spc="-50" dirty="0"/>
              <a:t>지불</a:t>
            </a:r>
            <a:r>
              <a:rPr lang="ko-KR" altLang="en-US" sz="1600" spc="-50" dirty="0"/>
              <a:t> 해야 하지</a:t>
            </a:r>
            <a:r>
              <a:rPr lang="en-US" altLang="ko-KR" sz="1600" spc="-50" dirty="0"/>
              <a:t>? (</a:t>
            </a:r>
            <a:r>
              <a:rPr lang="ko-KR" altLang="en-US" sz="1600" spc="-50" dirty="0"/>
              <a:t>가격하락으로 얻은 이득을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소득을 줄여서 그 이득을 상쇄시키려면 얼마를 버려야 하지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치킨 가격이 상승해서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효용이 감소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 효용에서 변화된 효용으로 가려면 나의 소득이 줄어들어야 함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가격이 변화한 상태로 바뀌는데 내가 얼마를 </a:t>
            </a:r>
            <a:r>
              <a:rPr lang="ko-KR" altLang="en-US" sz="1600" b="1" u="sng" spc="-50" dirty="0"/>
              <a:t>지불</a:t>
            </a:r>
            <a:r>
              <a:rPr lang="ko-KR" altLang="en-US" sz="1600" spc="-50" dirty="0"/>
              <a:t> 해야 하지</a:t>
            </a:r>
            <a:r>
              <a:rPr lang="en-US" altLang="ko-KR" sz="1600" spc="-50" dirty="0"/>
              <a:t>? (</a:t>
            </a:r>
            <a:r>
              <a:rPr lang="ko-KR" altLang="en-US" sz="1600" spc="-50" dirty="0"/>
              <a:t>가격 상승으로 보게 되는 손해를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소득을 버려서  상쇄시키려면 얼마를 </a:t>
            </a:r>
            <a:r>
              <a:rPr lang="ko-KR" altLang="en-US" sz="1600" spc="-50" dirty="0" err="1"/>
              <a:t>버려야하지</a:t>
            </a:r>
            <a:r>
              <a:rPr lang="en-US" altLang="ko-KR" sz="1600" spc="-50" dirty="0"/>
              <a:t>?)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이득인 상황에서 손해를 보는 상황으로 갈 때 필요한 금액은 </a:t>
            </a:r>
            <a:r>
              <a:rPr lang="en-US" altLang="ko-KR" sz="1600" spc="-50" dirty="0"/>
              <a:t>‘</a:t>
            </a:r>
            <a:r>
              <a:rPr lang="ko-KR" altLang="en-US" sz="1600" b="1" u="sng" spc="-50" dirty="0"/>
              <a:t>수용의사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라고 표현한다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치킨 가격이 하락해서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효용이 증가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 효용에서 변화된 효용으로 가려면 나의 소득이 늘어나야 함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가격이 변화한 상태로 바뀌는 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돈을 받는 다면 내가 얼마까지 </a:t>
            </a:r>
            <a:r>
              <a:rPr lang="ko-KR" altLang="en-US" sz="1600" b="1" u="sng" spc="-50" dirty="0"/>
              <a:t>수용</a:t>
            </a:r>
            <a:r>
              <a:rPr lang="ko-KR" altLang="en-US" sz="1600" spc="-50" dirty="0"/>
              <a:t>할 수 있지</a:t>
            </a:r>
            <a:r>
              <a:rPr lang="en-US" altLang="ko-KR" sz="1600" spc="-50" dirty="0"/>
              <a:t>? (</a:t>
            </a:r>
            <a:r>
              <a:rPr lang="ko-KR" altLang="en-US" sz="1600" spc="-50" dirty="0"/>
              <a:t>가격 하락으로 이득을 얻는 대신에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소득을 늘려서 그 이득을 얻으려면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얼마까지 받아야 하지</a:t>
            </a:r>
            <a:r>
              <a:rPr lang="en-US" altLang="ko-KR" sz="1600" spc="-50" dirty="0"/>
              <a:t>?)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치킨 가격이 상승해서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효용이 감소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 효용수준으로 되돌아가려면 나의 소득이 늘어나야 함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원래효용으로 돌아가는 조건으로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돈을 받는 다면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내가 얼마까지 </a:t>
            </a:r>
            <a:r>
              <a:rPr lang="ko-KR" altLang="en-US" sz="1600" b="1" u="sng" spc="-50" dirty="0"/>
              <a:t>수용</a:t>
            </a:r>
            <a:r>
              <a:rPr lang="ko-KR" altLang="en-US" sz="1600" spc="-50" dirty="0"/>
              <a:t>할 수 있지</a:t>
            </a:r>
            <a:r>
              <a:rPr lang="en-US" altLang="ko-KR" sz="1600" spc="-50" dirty="0"/>
              <a:t>? (</a:t>
            </a:r>
            <a:r>
              <a:rPr lang="ko-KR" altLang="en-US" sz="1600" spc="-50" dirty="0"/>
              <a:t>가격 상승으로 보게 되는 손해를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소득을 늘려서 상쇄시키려면 얼마까지 받아야 하지</a:t>
            </a:r>
            <a:r>
              <a:rPr lang="en-US" altLang="ko-KR" sz="1600" spc="-50" dirty="0"/>
              <a:t>?)</a:t>
            </a:r>
          </a:p>
        </p:txBody>
      </p:sp>
    </p:spTree>
    <p:extLst>
      <p:ext uri="{BB962C8B-B14F-4D97-AF65-F5344CB8AC3E}">
        <p14:creationId xmlns:p14="http://schemas.microsoft.com/office/powerpoint/2010/main" val="21313802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89B850-465C-C014-422D-EB262E86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지불의사와 수용의사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ED71028-9BE9-67F4-E639-560B316DF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3B0D0D-8C0A-815C-16E4-DDE472D4216A}"/>
              </a:ext>
            </a:extLst>
          </p:cNvPr>
          <p:cNvSpPr txBox="1"/>
          <p:nvPr/>
        </p:nvSpPr>
        <p:spPr>
          <a:xfrm>
            <a:off x="678872" y="938524"/>
            <a:ext cx="11259128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종합해보면 아래의 표와 같이 정리할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가격이 변하였을 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하락 혹은 상승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원래의 효용 수준을 달성하기 위해 필요한 줄여도 되는 소득변화를 보상변화라고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가격이 하락하면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원래의 효용은 더 작기 때문에 줄여도 되는 소득변화는 양의 값을 갖는다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소득이 줄어드는 상황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가격이 상승하면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원래의 효용은 더 크기 때문에 줄여도 되는 소득변화는 음의 값을 갖는다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소득이 더 필요한 상황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가격이 변하였을 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하락 혹은 상승</a:t>
            </a:r>
            <a:r>
              <a:rPr lang="en-US" altLang="ko-KR" sz="1600" spc="-50" dirty="0"/>
              <a:t>), </a:t>
            </a:r>
            <a:r>
              <a:rPr lang="ko-KR" altLang="en-US" sz="1600" spc="-50" dirty="0"/>
              <a:t>변화된 가격조건에서 얻어지는 효용을 원래의 가격조건에서도 달성하기 위해 필요한 소득변화를 동등변화라고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가격이 하락하면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변화된 효용은 더 크기 때문에 필요한 소득변화는 양의 값을 갖는다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소득이 더 필요한 상황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가격이 상승하면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변화된 효용은 더 작기 때문에 필요한 소득변화는 음의 값을 갖는다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소득이 줄어드는 상황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소득이 줄어드는 변화는 지불의사라고 표현하고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소득이 늘어나는 변화는 수용의사라고 표현한다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위 사실들을 모두 종합해보면 아래와 같은 표로 정리할 수 있다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75A13AD2-D672-9420-8E21-A1F368327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7921541"/>
                  </p:ext>
                </p:extLst>
              </p:nvPr>
            </p:nvGraphicFramePr>
            <p:xfrm>
              <a:off x="2495173" y="5219144"/>
              <a:ext cx="6115427" cy="126323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4411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280508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280508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334076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변화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지불의사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수용의사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4645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가격 하락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𝐶𝑉</m:t>
                              </m:r>
                            </m:oMath>
                          </a14:m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</a:t>
                          </a:r>
                          <a:r>
                            <a:rPr lang="ko-KR" alt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보상변화</a:t>
                          </a: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𝐸𝑉</m:t>
                              </m:r>
                            </m:oMath>
                          </a14:m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</a:t>
                          </a:r>
                          <a:r>
                            <a:rPr lang="ko-KR" alt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동등변화</a:t>
                          </a: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4645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가격 상승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𝐸𝑉</m:t>
                              </m:r>
                            </m:oMath>
                          </a14:m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</a:t>
                          </a:r>
                          <a:r>
                            <a:rPr lang="ko-KR" altLang="en-US" sz="1300" b="0" kern="0" spc="0" baseline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음의 </a:t>
                          </a:r>
                          <a:r>
                            <a:rPr lang="ko-KR" alt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동등변화</a:t>
                          </a: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base" latinLnBrk="0" hangingPunct="1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−</m:t>
                              </m:r>
                              <m:r>
                                <a:rPr lang="en-US" altLang="ko-KR" sz="1300" b="0" i="1" kern="0" spc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𝐶𝑉</m:t>
                              </m:r>
                            </m:oMath>
                          </a14:m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 (</a:t>
                          </a:r>
                          <a:r>
                            <a:rPr lang="ko-KR" altLang="en-US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음의 보상변화</a:t>
                          </a:r>
                          <a:r>
                            <a:rPr lang="en-US" altLang="ko-KR" sz="1300" b="0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)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3">
                <a:extLst>
                  <a:ext uri="{FF2B5EF4-FFF2-40B4-BE49-F238E27FC236}">
                    <a16:creationId xmlns:a16="http://schemas.microsoft.com/office/drawing/2014/main" id="{75A13AD2-D672-9420-8E21-A1F368327B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27921541"/>
                  </p:ext>
                </p:extLst>
              </p:nvPr>
            </p:nvGraphicFramePr>
            <p:xfrm>
              <a:off x="2495173" y="5219144"/>
              <a:ext cx="6115427" cy="1263232"/>
            </p:xfrm>
            <a:graphic>
              <a:graphicData uri="http://schemas.openxmlformats.org/drawingml/2006/table">
                <a:tbl>
                  <a:tblPr firstRow="1" bandRow="1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tableStyleId>{5C22544A-7EE6-4342-B048-85BDC9FD1C3A}</a:tableStyleId>
                  </a:tblPr>
                  <a:tblGrid>
                    <a:gridCol w="1554411">
                      <a:extLst>
                        <a:ext uri="{9D8B030D-6E8A-4147-A177-3AD203B41FA5}">
                          <a16:colId xmlns:a16="http://schemas.microsoft.com/office/drawing/2014/main" val="2218693278"/>
                        </a:ext>
                      </a:extLst>
                    </a:gridCol>
                    <a:gridCol w="2280508">
                      <a:extLst>
                        <a:ext uri="{9D8B030D-6E8A-4147-A177-3AD203B41FA5}">
                          <a16:colId xmlns:a16="http://schemas.microsoft.com/office/drawing/2014/main" val="605825270"/>
                        </a:ext>
                      </a:extLst>
                    </a:gridCol>
                    <a:gridCol w="2280508">
                      <a:extLst>
                        <a:ext uri="{9D8B030D-6E8A-4147-A177-3AD203B41FA5}">
                          <a16:colId xmlns:a16="http://schemas.microsoft.com/office/drawing/2014/main" val="4050302428"/>
                        </a:ext>
                      </a:extLst>
                    </a:gridCol>
                  </a:tblGrid>
                  <a:tr h="334076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가격 변화</a:t>
                          </a: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지불의사</a:t>
                          </a:r>
                          <a:endParaRPr lang="ko-KR" altLang="en-US" sz="1200" b="1" kern="0" spc="0" dirty="0">
                            <a:solidFill>
                              <a:schemeClr val="tx1"/>
                            </a:solidFill>
                            <a:effectLst/>
                            <a:latin typeface="+mn-ea"/>
                            <a:ea typeface="+mn-ea"/>
                            <a:cs typeface="+mn-cs"/>
                          </a:endParaRP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chemeClr val="tx1"/>
                              </a:solidFill>
                              <a:effectLst/>
                              <a:latin typeface="+mn-ea"/>
                              <a:ea typeface="+mn-ea"/>
                              <a:cs typeface="+mn-cs"/>
                            </a:rPr>
                            <a:t>수용의사</a:t>
                          </a:r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69783466"/>
                      </a:ext>
                    </a:extLst>
                  </a:tr>
                  <a:tr h="4645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가격 하락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333" t="-77922" r="-103733" b="-11818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786" t="-77922" r="-4011" b="-11818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23031745"/>
                      </a:ext>
                    </a:extLst>
                  </a:tr>
                  <a:tr h="464578">
                    <a:tc>
                      <a:txBody>
                        <a:bodyPr/>
                        <a:lstStyle/>
                        <a:p>
                          <a:pPr marL="0" marR="0" indent="0" algn="ctr" fontAlgn="base" latinLnBrk="0">
                            <a:lnSpc>
                              <a:spcPct val="12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ko-KR" altLang="en-US" sz="1300" b="1" kern="0" spc="0" dirty="0">
                              <a:solidFill>
                                <a:srgbClr val="000000"/>
                              </a:solidFill>
                              <a:effectLst/>
                              <a:latin typeface="+mn-ea"/>
                              <a:ea typeface="+mn-ea"/>
                            </a:rPr>
                            <a:t>가격 상승</a:t>
                          </a:r>
                          <a:endParaRPr lang="en-US" sz="1300" b="1" kern="0" spc="0" dirty="0">
                            <a:solidFill>
                              <a:srgbClr val="000000"/>
                            </a:solidFill>
                            <a:effectLst/>
                            <a:latin typeface="+mn-ea"/>
                            <a:ea typeface="+mn-ea"/>
                          </a:endParaRPr>
                        </a:p>
                      </a:txBody>
                      <a:tcPr marL="60223" marR="60223" marT="16650" marB="1665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E9E9E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9333" t="-180263" r="-103733" b="-19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60223" marR="60223" marT="16650" marB="16650"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786" t="-180263" r="-4011" b="-19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127454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268603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2CBB7-02A5-9ECF-B665-99428FCB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7946EC-3201-950A-5952-0DBA1F8495E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E873AC-4DD7-C301-3457-FB07367C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073D521-E33A-7EE8-6EA1-F18E82458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수량 혹은 질 변화의 후생효과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492740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ACFC5-DCE8-A81B-9E8B-B15ECE02C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221A006-9504-79ED-56F1-1978BCCFDB7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82428F-61EA-342C-DD5C-C46A50F70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52823DD-7FDD-F16B-1B83-766F30BE8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환경편익의 분류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4895017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BEBE94-C5ED-1D9D-39C1-5438159E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환경재의 편익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4F82CD-F97C-AC71-0AB0-AE391C8B6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3921C7-7C2B-6A3E-C265-B62341AAAE22}"/>
              </a:ext>
            </a:extLst>
          </p:cNvPr>
          <p:cNvSpPr txBox="1"/>
          <p:nvPr/>
        </p:nvSpPr>
        <p:spPr>
          <a:xfrm>
            <a:off x="678872" y="938524"/>
            <a:ext cx="11259128" cy="15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환경재가 제공하는 편익은 다양하지만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예를 든다면 하천수질이 주는 편익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가치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아래의 표와 같이 정리할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환경재의 총가치는 우선적으로 사용가치와 존재가치</a:t>
            </a:r>
            <a:r>
              <a:rPr lang="en-US" altLang="ko-KR" sz="1600" spc="-50" dirty="0"/>
              <a:t> (</a:t>
            </a:r>
            <a:r>
              <a:rPr lang="ko-KR" altLang="en-US" sz="1600" spc="-50" dirty="0"/>
              <a:t>혹은 비사용가치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나눌 수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사용가치란 개인이 환경재를 물리적으로 이용하기 때문에 환경재에 부여하는 가치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존재가치란 환경을 물리적으로 이용하지 않음에도 불구하고 환경재에 부여하는 가치</a:t>
            </a:r>
            <a:endParaRPr lang="en-US" altLang="ko-KR" sz="1600" spc="-50" dirty="0"/>
          </a:p>
        </p:txBody>
      </p:sp>
      <p:graphicFrame>
        <p:nvGraphicFramePr>
          <p:cNvPr id="6" name="표 3">
            <a:extLst>
              <a:ext uri="{FF2B5EF4-FFF2-40B4-BE49-F238E27FC236}">
                <a16:creationId xmlns:a16="http://schemas.microsoft.com/office/drawing/2014/main" id="{78538E80-A443-67FC-64CE-EA1391DA7E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267114"/>
              </p:ext>
            </p:extLst>
          </p:nvPr>
        </p:nvGraphicFramePr>
        <p:xfrm>
          <a:off x="1572300" y="3105121"/>
          <a:ext cx="7789814" cy="337369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906563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74271">
                  <a:extLst>
                    <a:ext uri="{9D8B030D-6E8A-4147-A177-3AD203B41FA5}">
                      <a16:colId xmlns:a16="http://schemas.microsoft.com/office/drawing/2014/main" val="605825270"/>
                    </a:ext>
                  </a:extLst>
                </a:gridCol>
                <a:gridCol w="1154085">
                  <a:extLst>
                    <a:ext uri="{9D8B030D-6E8A-4147-A177-3AD203B41FA5}">
                      <a16:colId xmlns:a16="http://schemas.microsoft.com/office/drawing/2014/main" val="3576948955"/>
                    </a:ext>
                  </a:extLst>
                </a:gridCol>
                <a:gridCol w="395489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62918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편익의 종류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예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315636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사용가치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직접사용가치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수상활동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여가 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수상스키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낚시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수영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보트놀이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상업적 이용 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어로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항해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3156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물의 소비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식수 및 하수처리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관개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공업용수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077549"/>
                  </a:ext>
                </a:extLst>
              </a:tr>
              <a:tr h="315636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간접사용가치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경관의 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하천부근의 여가활동 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캠핑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사진촬영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인근 거주민의 경치 감상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578956"/>
                  </a:ext>
                </a:extLst>
              </a:tr>
              <a:tr h="31563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생태적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먹이사슬을 통한 생태계 보전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철새 감상기회 제공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7551140"/>
                  </a:ext>
                </a:extLst>
              </a:tr>
              <a:tr h="63127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존재가치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대리소비로 인한 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가족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친지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친구의 하천 이용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일반 대중의 이용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  <a:tr h="631272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9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청지기적 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유증가치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285750" marR="0" lvl="0" indent="-28575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고유가치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가족이나 후세를 위해 자연보존</a:t>
                      </a:r>
                      <a:r>
                        <a:rPr lang="en-US" altLang="ko-KR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오지의 습지 보존</a:t>
                      </a:r>
                      <a:endParaRPr lang="en-US" altLang="ko-KR" sz="1300" b="0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66650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42426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16541</TotalTime>
  <Words>3124</Words>
  <Application>Microsoft Office PowerPoint</Application>
  <PresentationFormat>와이드스크린</PresentationFormat>
  <Paragraphs>390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4" baseType="lpstr">
      <vt:lpstr>HY헤드라인M</vt:lpstr>
      <vt:lpstr>KoPub돋움체 Light</vt:lpstr>
      <vt:lpstr>맑은 고딕</vt:lpstr>
      <vt:lpstr>Arial</vt:lpstr>
      <vt:lpstr>Cambria Math</vt:lpstr>
      <vt:lpstr>Wingdings</vt:lpstr>
      <vt:lpstr>Office 테마</vt:lpstr>
      <vt:lpstr>환경경제학</vt:lpstr>
      <vt:lpstr>Chapter 14  편익분석을 위한 기본이론</vt:lpstr>
      <vt:lpstr>Section 1. 가격변화의 후생효과</vt:lpstr>
      <vt:lpstr>통상수요와 소비자잉여</vt:lpstr>
      <vt:lpstr>통상수요함수</vt:lpstr>
      <vt:lpstr>통상수요함수</vt:lpstr>
      <vt:lpstr>통상수요함수</vt:lpstr>
      <vt:lpstr>통상수요함수</vt:lpstr>
      <vt:lpstr>통상수요함수</vt:lpstr>
      <vt:lpstr>통상수요함수</vt:lpstr>
      <vt:lpstr>통상수요함수</vt:lpstr>
      <vt:lpstr>통상수요함수</vt:lpstr>
      <vt:lpstr>보상수요함수</vt:lpstr>
      <vt:lpstr>보상수요함수</vt:lpstr>
      <vt:lpstr>보상변화</vt:lpstr>
      <vt:lpstr>동등변화</vt:lpstr>
      <vt:lpstr>보상변화와 동등변화</vt:lpstr>
      <vt:lpstr>보상변화와 동등변화</vt:lpstr>
      <vt:lpstr>보상변화와 동등변화</vt:lpstr>
      <vt:lpstr>지불의사와 수용의사</vt:lpstr>
      <vt:lpstr>지불의사와 수용의사</vt:lpstr>
      <vt:lpstr>지불의사와 수용의사</vt:lpstr>
      <vt:lpstr>지불의사와 수용의사</vt:lpstr>
      <vt:lpstr>Section 2. 수량 혹은 질 변화의 후생효과</vt:lpstr>
      <vt:lpstr>Section 3. 환경편익의 분류</vt:lpstr>
      <vt:lpstr>환경재의 편익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633</cp:revision>
  <dcterms:created xsi:type="dcterms:W3CDTF">2025-07-05T05:15:23Z</dcterms:created>
  <dcterms:modified xsi:type="dcterms:W3CDTF">2025-11-23T08:01:47Z</dcterms:modified>
</cp:coreProperties>
</file>