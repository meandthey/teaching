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"/>
  </p:notesMasterIdLst>
  <p:sldIdLst>
    <p:sldId id="500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D4EF"/>
    <a:srgbClr val="070B12"/>
    <a:srgbClr val="0000FF"/>
    <a:srgbClr val="E9E9E9"/>
    <a:srgbClr val="FFFFFF"/>
    <a:srgbClr val="E15F5F"/>
    <a:srgbClr val="F8F7FC"/>
    <a:srgbClr val="2D72BE"/>
    <a:srgbClr val="0047A0"/>
    <a:srgbClr val="E360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5D005-E1E8-AE20-EBF6-C3C631D88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CEE381-F20D-3AAC-ED34-B41413A1C4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95C59D-563B-43FD-3BD9-89792BC07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71A76E-AE1E-DB5C-8D7B-42D21007FF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830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A9DBD-F6D6-5DBA-FA95-69116BCB3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AE121D-3E78-029E-1248-97E8326BA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독점의 비효율성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87392A-7CCB-F3F7-9311-270D0877F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0A6951-6857-74F4-2467-A39F209E56FD}"/>
              </a:ext>
            </a:extLst>
          </p:cNvPr>
          <p:cNvSpPr txBox="1"/>
          <p:nvPr/>
        </p:nvSpPr>
        <p:spPr>
          <a:xfrm>
            <a:off x="386773" y="958844"/>
            <a:ext cx="11316277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완전경쟁시장에서는 경제적 손실이 없음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독점시장에서는 경제적 순손실이 발생함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독점기업은 가격을 한계비용보다 높게 설정하기 때문에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소비자 중 일부는 재화의 생산비보다 지불용의가 높음에도 불구하고 재화를 소비하지 못함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B0E07BA-E85D-B2A3-1169-B3D9EB32C519}"/>
              </a:ext>
            </a:extLst>
          </p:cNvPr>
          <p:cNvGrpSpPr/>
          <p:nvPr/>
        </p:nvGrpSpPr>
        <p:grpSpPr>
          <a:xfrm>
            <a:off x="1529977" y="2285999"/>
            <a:ext cx="3839771" cy="4541099"/>
            <a:chOff x="1529977" y="2285999"/>
            <a:chExt cx="3839771" cy="4541099"/>
          </a:xfrm>
        </p:grpSpPr>
        <p:pic>
          <p:nvPicPr>
            <p:cNvPr id="9" name="그림 8" descr="라인, 텍스트, 그래프, 도표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38CE4B57-46F5-4BA1-8626-BB2387F724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9977" y="2285999"/>
              <a:ext cx="3839771" cy="4541099"/>
            </a:xfrm>
            <a:prstGeom prst="rect">
              <a:avLst/>
            </a:prstGeom>
          </p:spPr>
        </p:pic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32697A9D-CD41-92D9-4D66-4E5A2F36DDF8}"/>
                </a:ext>
              </a:extLst>
            </p:cNvPr>
            <p:cNvSpPr/>
            <p:nvPr/>
          </p:nvSpPr>
          <p:spPr>
            <a:xfrm>
              <a:off x="2091565" y="3119438"/>
              <a:ext cx="1407009" cy="1726716"/>
            </a:xfrm>
            <a:prstGeom prst="rtTriangle">
              <a:avLst/>
            </a:prstGeom>
            <a:solidFill>
              <a:schemeClr val="accent2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각 삼각형 17">
              <a:extLst>
                <a:ext uri="{FF2B5EF4-FFF2-40B4-BE49-F238E27FC236}">
                  <a16:creationId xmlns:a16="http://schemas.microsoft.com/office/drawing/2014/main" id="{A1675CDF-6929-79DE-8021-0E94081642B1}"/>
                </a:ext>
              </a:extLst>
            </p:cNvPr>
            <p:cNvSpPr/>
            <p:nvPr/>
          </p:nvSpPr>
          <p:spPr>
            <a:xfrm flipV="1">
              <a:off x="2091565" y="4846154"/>
              <a:ext cx="1407009" cy="1373670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F9B13E2-9FEF-BB19-F5C8-EC6176C4AAE7}"/>
                </a:ext>
              </a:extLst>
            </p:cNvPr>
            <p:cNvSpPr txBox="1"/>
            <p:nvPr/>
          </p:nvSpPr>
          <p:spPr>
            <a:xfrm>
              <a:off x="2010168" y="4229099"/>
              <a:ext cx="110331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spc="-50" dirty="0"/>
                <a:t>소비자 잉여</a:t>
              </a:r>
              <a:endParaRPr lang="ko-KR" altLang="en-US" sz="14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55E7FA2-3C49-7B8E-7263-FED3B1797B87}"/>
                </a:ext>
              </a:extLst>
            </p:cNvPr>
            <p:cNvSpPr txBox="1"/>
            <p:nvPr/>
          </p:nvSpPr>
          <p:spPr>
            <a:xfrm>
              <a:off x="2010168" y="5004794"/>
              <a:ext cx="110331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spc="-50"/>
                <a:t>공급자 </a:t>
              </a:r>
              <a:r>
                <a:rPr lang="ko-KR" altLang="en-US" sz="1400" spc="-50" dirty="0"/>
                <a:t>잉여</a:t>
              </a:r>
              <a:endParaRPr lang="ko-KR" altLang="en-US" sz="1400" dirty="0"/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EC6763BC-1AB7-549C-BFF6-825DEA354ADC}"/>
              </a:ext>
            </a:extLst>
          </p:cNvPr>
          <p:cNvGrpSpPr/>
          <p:nvPr/>
        </p:nvGrpSpPr>
        <p:grpSpPr>
          <a:xfrm>
            <a:off x="5476598" y="2285999"/>
            <a:ext cx="3839771" cy="4541099"/>
            <a:chOff x="5476598" y="2285999"/>
            <a:chExt cx="3839771" cy="4541099"/>
          </a:xfrm>
        </p:grpSpPr>
        <p:pic>
          <p:nvPicPr>
            <p:cNvPr id="11" name="그림 10" descr="라인, 도표, 그래프, 텍스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D405E87-8C0A-5298-EF4B-0CFA5E00A8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76598" y="2285999"/>
              <a:ext cx="3839771" cy="4541099"/>
            </a:xfrm>
            <a:prstGeom prst="rect">
              <a:avLst/>
            </a:prstGeom>
          </p:spPr>
        </p:pic>
        <p:sp>
          <p:nvSpPr>
            <p:cNvPr id="12" name="이등변 삼각형 11">
              <a:extLst>
                <a:ext uri="{FF2B5EF4-FFF2-40B4-BE49-F238E27FC236}">
                  <a16:creationId xmlns:a16="http://schemas.microsoft.com/office/drawing/2014/main" id="{1ACFE401-1DD0-61DE-205C-2909F94088EB}"/>
                </a:ext>
              </a:extLst>
            </p:cNvPr>
            <p:cNvSpPr/>
            <p:nvPr/>
          </p:nvSpPr>
          <p:spPr>
            <a:xfrm rot="5400000">
              <a:off x="6680948" y="4539901"/>
              <a:ext cx="1051393" cy="493946"/>
            </a:xfrm>
            <a:prstGeom prst="triangle">
              <a:avLst>
                <a:gd name="adj" fmla="val 54728"/>
              </a:avLst>
            </a:prstGeom>
            <a:solidFill>
              <a:srgbClr val="FFFF00">
                <a:alpha val="3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6B04A195-D46D-F458-8D59-A5DE585ECF65}"/>
                </a:ext>
              </a:extLst>
            </p:cNvPr>
            <p:cNvSpPr/>
            <p:nvPr/>
          </p:nvSpPr>
          <p:spPr>
            <a:xfrm>
              <a:off x="6034087" y="4229099"/>
              <a:ext cx="919162" cy="1990725"/>
            </a:xfrm>
            <a:custGeom>
              <a:avLst/>
              <a:gdLst>
                <a:gd name="connsiteX0" fmla="*/ 904875 w 919162"/>
                <a:gd name="connsiteY0" fmla="*/ 0 h 1990725"/>
                <a:gd name="connsiteX1" fmla="*/ 4762 w 919162"/>
                <a:gd name="connsiteY1" fmla="*/ 0 h 1990725"/>
                <a:gd name="connsiteX2" fmla="*/ 0 w 919162"/>
                <a:gd name="connsiteY2" fmla="*/ 1990725 h 1990725"/>
                <a:gd name="connsiteX3" fmla="*/ 919162 w 919162"/>
                <a:gd name="connsiteY3" fmla="*/ 1081087 h 1990725"/>
                <a:gd name="connsiteX4" fmla="*/ 904875 w 919162"/>
                <a:gd name="connsiteY4" fmla="*/ 0 h 1990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9162" h="1990725">
                  <a:moveTo>
                    <a:pt x="904875" y="0"/>
                  </a:moveTo>
                  <a:lnTo>
                    <a:pt x="4762" y="0"/>
                  </a:lnTo>
                  <a:cubicBezTo>
                    <a:pt x="3175" y="663575"/>
                    <a:pt x="1587" y="1327150"/>
                    <a:pt x="0" y="1990725"/>
                  </a:cubicBezTo>
                  <a:lnTo>
                    <a:pt x="919162" y="1081087"/>
                  </a:lnTo>
                  <a:lnTo>
                    <a:pt x="90487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각 삼각형 14">
              <a:extLst>
                <a:ext uri="{FF2B5EF4-FFF2-40B4-BE49-F238E27FC236}">
                  <a16:creationId xmlns:a16="http://schemas.microsoft.com/office/drawing/2014/main" id="{CCDDEDA5-FF96-83E4-2147-B5251445A354}"/>
                </a:ext>
              </a:extLst>
            </p:cNvPr>
            <p:cNvSpPr/>
            <p:nvPr/>
          </p:nvSpPr>
          <p:spPr>
            <a:xfrm>
              <a:off x="6034087" y="3119438"/>
              <a:ext cx="920821" cy="1109661"/>
            </a:xfrm>
            <a:prstGeom prst="rtTriangle">
              <a:avLst/>
            </a:prstGeom>
            <a:solidFill>
              <a:schemeClr val="accent2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4975180-8094-D79B-FCE9-7BD5CBA739DE}"/>
                </a:ext>
              </a:extLst>
            </p:cNvPr>
            <p:cNvSpPr txBox="1"/>
            <p:nvPr/>
          </p:nvSpPr>
          <p:spPr>
            <a:xfrm>
              <a:off x="5931336" y="4664009"/>
              <a:ext cx="110331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spc="-50"/>
                <a:t>공급자 </a:t>
              </a:r>
              <a:r>
                <a:rPr lang="ko-KR" altLang="en-US" sz="1400" spc="-50" dirty="0"/>
                <a:t>잉여</a:t>
              </a:r>
              <a:endParaRPr lang="ko-KR" altLang="en-US" sz="14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8ED8D32-423A-91A7-92EB-643F6A7D2AAC}"/>
                </a:ext>
              </a:extLst>
            </p:cNvPr>
            <p:cNvSpPr txBox="1"/>
            <p:nvPr/>
          </p:nvSpPr>
          <p:spPr>
            <a:xfrm>
              <a:off x="5976733" y="3747807"/>
              <a:ext cx="75537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spc="-50"/>
                <a:t>소비자 </a:t>
              </a:r>
              <a:r>
                <a:rPr lang="ko-KR" altLang="en-US" sz="1400" spc="-50" dirty="0"/>
                <a:t>잉여</a:t>
              </a:r>
              <a:endParaRPr lang="ko-KR" altLang="en-US" sz="14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14B7114-1AB6-390D-6AFC-A18B89311460}"/>
                </a:ext>
              </a:extLst>
            </p:cNvPr>
            <p:cNvSpPr txBox="1"/>
            <p:nvPr/>
          </p:nvSpPr>
          <p:spPr>
            <a:xfrm>
              <a:off x="6822578" y="4615811"/>
              <a:ext cx="64429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spc="-50" dirty="0"/>
                <a:t>경제적 </a:t>
              </a:r>
              <a:r>
                <a:rPr lang="ko-KR" altLang="en-US" sz="1000" spc="-50" dirty="0" err="1"/>
                <a:t>순손실</a:t>
              </a:r>
              <a:endParaRPr lang="ko-KR" alt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99112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12544</TotalTime>
  <Words>40</Words>
  <Application>Microsoft Office PowerPoint</Application>
  <PresentationFormat>와이드스크린</PresentationFormat>
  <Paragraphs>11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HY헤드라인M</vt:lpstr>
      <vt:lpstr>맑은 고딕</vt:lpstr>
      <vt:lpstr>Arial</vt:lpstr>
      <vt:lpstr>Wingdings</vt:lpstr>
      <vt:lpstr>Office 테마</vt:lpstr>
      <vt:lpstr>독점의 비효율성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387</cp:revision>
  <dcterms:created xsi:type="dcterms:W3CDTF">2025-07-05T05:15:23Z</dcterms:created>
  <dcterms:modified xsi:type="dcterms:W3CDTF">2025-09-28T06:06:24Z</dcterms:modified>
</cp:coreProperties>
</file>