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sldIdLst>
    <p:sldId id="375" r:id="rId2"/>
    <p:sldId id="405" r:id="rId3"/>
    <p:sldId id="550" r:id="rId4"/>
    <p:sldId id="492" r:id="rId5"/>
    <p:sldId id="552" r:id="rId6"/>
    <p:sldId id="554" r:id="rId7"/>
    <p:sldId id="555" r:id="rId8"/>
    <p:sldId id="556" r:id="rId9"/>
    <p:sldId id="557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567" r:id="rId18"/>
    <p:sldId id="565" r:id="rId19"/>
    <p:sldId id="568" r:id="rId20"/>
    <p:sldId id="569" r:id="rId21"/>
    <p:sldId id="570" r:id="rId22"/>
    <p:sldId id="571" r:id="rId23"/>
    <p:sldId id="572" r:id="rId24"/>
    <p:sldId id="573" r:id="rId25"/>
    <p:sldId id="574" r:id="rId26"/>
    <p:sldId id="575" r:id="rId27"/>
    <p:sldId id="583" r:id="rId28"/>
    <p:sldId id="584" r:id="rId29"/>
    <p:sldId id="585" r:id="rId30"/>
    <p:sldId id="577" r:id="rId31"/>
    <p:sldId id="576" r:id="rId32"/>
    <p:sldId id="578" r:id="rId33"/>
    <p:sldId id="579" r:id="rId34"/>
    <p:sldId id="580" r:id="rId35"/>
    <p:sldId id="581" r:id="rId36"/>
    <p:sldId id="582" r:id="rId37"/>
    <p:sldId id="364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9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- 9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9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불확실성 및 정보 비대칭성과 오염규제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불확실한 정보와 환경정책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사회적 한계피해 혹은 한계편익이 불확실한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/>
              <p:nvPr/>
            </p:nvSpPr>
            <p:spPr>
              <a:xfrm>
                <a:off x="251044" y="782682"/>
                <a:ext cx="7014310" cy="4115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그림에서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𝑀𝐴𝐶</m:t>
                    </m:r>
                  </m:oMath>
                </a14:m>
                <a:r>
                  <a:rPr lang="ko-KR" altLang="en-US" sz="1600" spc="-50" dirty="0"/>
                  <a:t>는 한계저감비용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배출저감으로 인한 한계편익을 나타내고 있다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정확히 알지 못하여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저감의 편익을 과소평가하여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한계편익으로 인지하고 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저감의 편익을 정확히 알고 있었다면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배출부과금을 부과하거나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혹은 오염원의 원래 배출량에서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빼 준 만큼을 배출권으로 부여하는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시행해야 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정부는 저감의 편익을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오해하고 있기 때문에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배출부과금을 부과하거나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혹은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기준으로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 결과 두 정책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배출부과금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배출권거래제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모두에 있어 사회적 최적인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아닌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배출감소가 이루어질 것이다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4" y="782682"/>
                <a:ext cx="7014310" cy="4115101"/>
              </a:xfrm>
              <a:prstGeom prst="rect">
                <a:avLst/>
              </a:prstGeom>
              <a:blipFill>
                <a:blip r:embed="rId2"/>
                <a:stretch>
                  <a:fillRect b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6E623DA1-0E9B-A69B-FEA8-FD362F8962BA}"/>
              </a:ext>
            </a:extLst>
          </p:cNvPr>
          <p:cNvGrpSpPr/>
          <p:nvPr/>
        </p:nvGrpSpPr>
        <p:grpSpPr>
          <a:xfrm>
            <a:off x="7223860" y="1044430"/>
            <a:ext cx="4717096" cy="5400000"/>
            <a:chOff x="7223860" y="1044430"/>
            <a:chExt cx="4717096" cy="5400000"/>
          </a:xfrm>
        </p:grpSpPr>
        <p:pic>
          <p:nvPicPr>
            <p:cNvPr id="14" name="그림 13" descr="텍스트, 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C7D4BA9-5E48-D502-9E4D-213272837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3860" y="1044430"/>
              <a:ext cx="4717096" cy="540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24CF1A-3DED-BE7A-F847-B76C508FD99B}"/>
                </a:ext>
              </a:extLst>
            </p:cNvPr>
            <p:cNvSpPr txBox="1"/>
            <p:nvPr/>
          </p:nvSpPr>
          <p:spPr>
            <a:xfrm>
              <a:off x="9662750" y="3059668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c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667B48-D85C-DFB6-3E82-11A36B421EB4}"/>
                </a:ext>
              </a:extLst>
            </p:cNvPr>
            <p:cNvSpPr txBox="1"/>
            <p:nvPr/>
          </p:nvSpPr>
          <p:spPr>
            <a:xfrm>
              <a:off x="9008589" y="2515527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AEBD6D-D346-28A8-9257-1C36F7D4918F}"/>
                </a:ext>
              </a:extLst>
            </p:cNvPr>
            <p:cNvSpPr txBox="1"/>
            <p:nvPr/>
          </p:nvSpPr>
          <p:spPr>
            <a:xfrm>
              <a:off x="8986394" y="3874544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b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8C3DE9-6170-EA15-87CE-D688DF6966E7}"/>
                </a:ext>
              </a:extLst>
            </p:cNvPr>
            <p:cNvSpPr txBox="1"/>
            <p:nvPr/>
          </p:nvSpPr>
          <p:spPr>
            <a:xfrm>
              <a:off x="7550304" y="1547997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d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F187FF5-8276-0AC8-EDA3-9EA0CCDA0240}"/>
                    </a:ext>
                  </a:extLst>
                </p:cNvPr>
                <p:cNvSpPr txBox="1"/>
                <p:nvPr/>
              </p:nvSpPr>
              <p:spPr>
                <a:xfrm>
                  <a:off x="10320068" y="1682717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𝑀𝐴𝐶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F187FF5-8276-0AC8-EDA3-9EA0CCDA02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0068" y="1682717"/>
                  <a:ext cx="86245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3F62467-A180-3BE6-9927-D119C2CDDD04}"/>
                    </a:ext>
                  </a:extLst>
                </p:cNvPr>
                <p:cNvSpPr txBox="1"/>
                <p:nvPr/>
              </p:nvSpPr>
              <p:spPr>
                <a:xfrm>
                  <a:off x="10605383" y="4585101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3F62467-A180-3BE6-9927-D119C2CDD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5383" y="4585101"/>
                  <a:ext cx="86245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5293C49-9A4F-4EBE-1D9C-C811124F2AA5}"/>
                    </a:ext>
                  </a:extLst>
                </p:cNvPr>
                <p:cNvSpPr txBox="1"/>
                <p:nvPr/>
              </p:nvSpPr>
              <p:spPr>
                <a:xfrm>
                  <a:off x="10089460" y="5444238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5293C49-9A4F-4EBE-1D9C-C811124F2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9460" y="5444238"/>
                  <a:ext cx="862455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59FF0FB-9A31-5CF9-14B5-A13DCF25B831}"/>
                </a:ext>
              </a:extLst>
            </p:cNvPr>
            <p:cNvSpPr txBox="1"/>
            <p:nvPr/>
          </p:nvSpPr>
          <p:spPr>
            <a:xfrm>
              <a:off x="7550304" y="5750881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0598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92832-84EC-5D6A-21C8-ABCFC950D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5AEFB-FAA9-4DE6-5D2E-1C61E6CC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사회적 한계피해 혹은 한계편익이 불확실한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460F2A-2DF6-987B-B164-CC404345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6AD08-4B1E-0DA1-74B6-8A837673E2B0}"/>
              </a:ext>
            </a:extLst>
          </p:cNvPr>
          <p:cNvSpPr txBox="1"/>
          <p:nvPr/>
        </p:nvSpPr>
        <p:spPr>
          <a:xfrm>
            <a:off x="251044" y="782682"/>
            <a:ext cx="7080934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 최적이 달성되면 배출저감으로 인한 편익은 </a:t>
            </a:r>
            <a:r>
              <a:rPr lang="en-US" altLang="ko-KR" sz="1600" spc="-50" dirty="0"/>
              <a:t>d0a</a:t>
            </a:r>
            <a:r>
              <a:rPr lang="en-US" altLang="ko-KR" sz="1600" spc="-50" baseline="-25000" dirty="0"/>
              <a:t>A</a:t>
            </a:r>
            <a:r>
              <a:rPr lang="en-US" altLang="ko-KR" sz="1600" spc="-50" dirty="0"/>
              <a:t>c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왜곡된 정보에서의 편익은 </a:t>
            </a:r>
            <a:r>
              <a:rPr lang="en-US" altLang="ko-KR" sz="1600" spc="-50" dirty="0"/>
              <a:t>d0a</a:t>
            </a:r>
            <a:r>
              <a:rPr lang="en-US" altLang="ko-KR" sz="1600" spc="-50" baseline="-25000" dirty="0"/>
              <a:t>E</a:t>
            </a:r>
            <a:r>
              <a:rPr lang="en-US" altLang="ko-KR" sz="1600" spc="-50" dirty="0"/>
              <a:t>a </a:t>
            </a:r>
            <a:r>
              <a:rPr lang="ko-KR" altLang="en-US" sz="1600" spc="-50" dirty="0"/>
              <a:t>으로 편익이 감소한다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 최적이 달성되면 배출저감을 위한 저감비용은 </a:t>
            </a:r>
            <a:r>
              <a:rPr lang="en-US" altLang="ko-KR" sz="1600" spc="-50" dirty="0"/>
              <a:t>0a</a:t>
            </a:r>
            <a:r>
              <a:rPr lang="en-US" altLang="ko-KR" sz="1600" spc="-50" baseline="-25000" dirty="0"/>
              <a:t>A</a:t>
            </a:r>
            <a:r>
              <a:rPr lang="en-US" altLang="ko-KR" sz="1600" spc="-50" dirty="0"/>
              <a:t>c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왜곡된 정보에서는 저감비용은 </a:t>
            </a:r>
            <a:r>
              <a:rPr lang="en-US" altLang="ko-KR" sz="1600" spc="-50" dirty="0"/>
              <a:t>0a</a:t>
            </a:r>
            <a:r>
              <a:rPr lang="en-US" altLang="ko-KR" sz="1600" spc="-50" baseline="-25000" dirty="0"/>
              <a:t>E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으로 비용 또한 감소한다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왜곡된 정보로 인해 저감으로 인한 편익과 비용 모두 감소하게 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결과적으로 </a:t>
            </a:r>
            <a:r>
              <a:rPr lang="ko-KR" altLang="en-US" sz="1600" spc="-50" dirty="0" err="1"/>
              <a:t>순편익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</a:t>
            </a:r>
            <a:r>
              <a:rPr lang="en-US" altLang="ko-KR" sz="1600" spc="-50" dirty="0" err="1"/>
              <a:t>abc</a:t>
            </a:r>
            <a:r>
              <a:rPr lang="ko-KR" altLang="en-US" sz="1600" spc="-50" dirty="0"/>
              <a:t>만큼 줄어들게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정부가 저감편익에 대한 잘못된 정보를 가지고 정책을 집행하여 발생한 사회적 </a:t>
            </a:r>
            <a:r>
              <a:rPr lang="ko-KR" altLang="en-US" sz="1600" spc="-50" dirty="0" err="1"/>
              <a:t>순손실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사회적 최적일때 </a:t>
            </a:r>
            <a:r>
              <a:rPr lang="ko-KR" altLang="en-US" sz="1600" spc="-50" dirty="0" err="1"/>
              <a:t>순편익</a:t>
            </a:r>
            <a:r>
              <a:rPr lang="en-US" altLang="ko-KR" sz="1600" spc="-50" dirty="0"/>
              <a:t>: d0c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왜곡된 정보일때 </a:t>
            </a:r>
            <a:r>
              <a:rPr lang="ko-KR" altLang="en-US" sz="1600" spc="-50" dirty="0" err="1"/>
              <a:t>순편익</a:t>
            </a:r>
            <a:r>
              <a:rPr lang="en-US" altLang="ko-KR" sz="1600" spc="-50" dirty="0"/>
              <a:t>: d0ba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순편익의 감소분</a:t>
            </a:r>
            <a:r>
              <a:rPr lang="en-US" altLang="ko-KR" sz="1600" spc="-50" dirty="0"/>
              <a:t>: </a:t>
            </a:r>
            <a:r>
              <a:rPr lang="en-US" altLang="ko-KR" sz="1600" spc="-50" dirty="0" err="1"/>
              <a:t>abc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설명한 이야기의 전개는 가격정책인 배출부과금제와 수량정책인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모두 동일하게 적용된다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배출부과금제와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모두 동일한 수준의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달성하기 때문이다</a:t>
            </a:r>
            <a:endParaRPr lang="en-US" altLang="ko-KR" sz="1600" spc="-5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3D97E8A-0D29-5F1B-63AD-8413640C2FD4}"/>
              </a:ext>
            </a:extLst>
          </p:cNvPr>
          <p:cNvGrpSpPr/>
          <p:nvPr/>
        </p:nvGrpSpPr>
        <p:grpSpPr>
          <a:xfrm>
            <a:off x="7223860" y="1044430"/>
            <a:ext cx="4717096" cy="5400000"/>
            <a:chOff x="7223860" y="1044430"/>
            <a:chExt cx="4717096" cy="5400000"/>
          </a:xfrm>
        </p:grpSpPr>
        <p:pic>
          <p:nvPicPr>
            <p:cNvPr id="14" name="그림 13" descr="텍스트, 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89E7150-6A1F-A210-3999-6FFEAE504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23860" y="1044430"/>
              <a:ext cx="4717096" cy="540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87F89A-BDD5-349A-4CE6-280A4F86F93E}"/>
                </a:ext>
              </a:extLst>
            </p:cNvPr>
            <p:cNvSpPr txBox="1"/>
            <p:nvPr/>
          </p:nvSpPr>
          <p:spPr>
            <a:xfrm>
              <a:off x="9662750" y="3059668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c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D6073BE-4D86-8451-8775-9056177F2C17}"/>
                </a:ext>
              </a:extLst>
            </p:cNvPr>
            <p:cNvSpPr txBox="1"/>
            <p:nvPr/>
          </p:nvSpPr>
          <p:spPr>
            <a:xfrm>
              <a:off x="7550304" y="1547997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d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3CEF0F6-1CA5-6BFA-E76D-2D1D047377C1}"/>
                    </a:ext>
                  </a:extLst>
                </p:cNvPr>
                <p:cNvSpPr txBox="1"/>
                <p:nvPr/>
              </p:nvSpPr>
              <p:spPr>
                <a:xfrm>
                  <a:off x="10320068" y="1682717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𝑀𝐴𝐶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3CEF0F6-1CA5-6BFA-E76D-2D1D04737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0068" y="1682717"/>
                  <a:ext cx="86245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A5DD6C0-030C-9AB3-693E-CAA3ACC23A31}"/>
                    </a:ext>
                  </a:extLst>
                </p:cNvPr>
                <p:cNvSpPr txBox="1"/>
                <p:nvPr/>
              </p:nvSpPr>
              <p:spPr>
                <a:xfrm>
                  <a:off x="10605383" y="4585101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A5DD6C0-030C-9AB3-693E-CAA3ACC23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5383" y="4585101"/>
                  <a:ext cx="862455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161578C-6E35-D31B-A834-C27B6826A2A3}"/>
                    </a:ext>
                  </a:extLst>
                </p:cNvPr>
                <p:cNvSpPr txBox="1"/>
                <p:nvPr/>
              </p:nvSpPr>
              <p:spPr>
                <a:xfrm>
                  <a:off x="10089460" y="5444238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161578C-6E35-D31B-A834-C27B6826A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9460" y="5444238"/>
                  <a:ext cx="86245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438E458-F77A-222C-4DB4-19A744754E3A}"/>
                </a:ext>
              </a:extLst>
            </p:cNvPr>
            <p:cNvSpPr txBox="1"/>
            <p:nvPr/>
          </p:nvSpPr>
          <p:spPr>
            <a:xfrm>
              <a:off x="7550304" y="5750881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49D853-C0B2-E370-E012-2427B5BB56FC}"/>
                </a:ext>
              </a:extLst>
            </p:cNvPr>
            <p:cNvSpPr txBox="1"/>
            <p:nvPr/>
          </p:nvSpPr>
          <p:spPr>
            <a:xfrm>
              <a:off x="9008589" y="2515527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8AA590-9D43-9EB5-D00E-FDF204E6495E}"/>
                </a:ext>
              </a:extLst>
            </p:cNvPr>
            <p:cNvSpPr txBox="1"/>
            <p:nvPr/>
          </p:nvSpPr>
          <p:spPr>
            <a:xfrm>
              <a:off x="8986394" y="3874544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b</a:t>
              </a:r>
              <a:endParaRPr lang="ko-KR" altLang="en-US" dirty="0"/>
            </a:p>
          </p:txBody>
        </p:sp>
      </p:grp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6E3974C1-1853-35BA-BC8B-1D0526DD5140}"/>
              </a:ext>
            </a:extLst>
          </p:cNvPr>
          <p:cNvSpPr/>
          <p:nvPr/>
        </p:nvSpPr>
        <p:spPr>
          <a:xfrm>
            <a:off x="9156583" y="2860646"/>
            <a:ext cx="654342" cy="1371600"/>
          </a:xfrm>
          <a:custGeom>
            <a:avLst/>
            <a:gdLst>
              <a:gd name="connsiteX0" fmla="*/ 4195 w 654342"/>
              <a:gd name="connsiteY0" fmla="*/ 0 h 1371600"/>
              <a:gd name="connsiteX1" fmla="*/ 0 w 654342"/>
              <a:gd name="connsiteY1" fmla="*/ 1371600 h 1371600"/>
              <a:gd name="connsiteX2" fmla="*/ 654342 w 654342"/>
              <a:gd name="connsiteY2" fmla="*/ 570451 h 1371600"/>
              <a:gd name="connsiteX3" fmla="*/ 4195 w 654342"/>
              <a:gd name="connsiteY3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4342" h="1371600">
                <a:moveTo>
                  <a:pt x="4195" y="0"/>
                </a:moveTo>
                <a:cubicBezTo>
                  <a:pt x="2797" y="457200"/>
                  <a:pt x="1398" y="914400"/>
                  <a:pt x="0" y="1371600"/>
                </a:cubicBezTo>
                <a:lnTo>
                  <a:pt x="654342" y="570451"/>
                </a:lnTo>
                <a:lnTo>
                  <a:pt x="4195" y="0"/>
                </a:lnTo>
                <a:close/>
              </a:path>
            </a:pathLst>
          </a:cu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701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74A94-D3B0-485D-D09C-2066D909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D6EF23-B785-6842-A2E9-715F9573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F7575-D0DA-D141-B8B9-7FCD8C802B6F}"/>
              </a:ext>
            </a:extLst>
          </p:cNvPr>
          <p:cNvSpPr txBox="1"/>
          <p:nvPr/>
        </p:nvSpPr>
        <p:spPr>
          <a:xfrm>
            <a:off x="678873" y="958844"/>
            <a:ext cx="11397079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 한계피해가 불확실한 경우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앞서는 정부가 사회적 한계피해 혹은 한계편익에 관해 잘못된 정보를 가지고 정책 결정을 하면 가격정책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배출부과금제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시행하던 수량정책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배출권거래제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시행하던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 발생하는 사회적 손실이 동일함을 보았다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정책효과의 대칭성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저감비용이 불확실한 경우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반대로 저감비용이 불확실한 경우에는 사회적 한계피해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한계편익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곡선의 기울기와 한계저감비용곡선의 기울기의 상대적 크기에 따라 양 정책의 효율성이 달라진다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891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C076A-96C7-A9D6-0A90-622048D0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DCE999-4772-6611-FC17-8FCE76840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09" y="1014858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FB9F21-B746-9FAA-B4B6-DC69393F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 </a:t>
            </a:r>
            <a:r>
              <a:rPr lang="en-US" altLang="ko-KR" dirty="0"/>
              <a:t>(</a:t>
            </a:r>
            <a:r>
              <a:rPr lang="ko-KR" altLang="en-US" dirty="0"/>
              <a:t>한계저감비용곡선의 기울기가 가파를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A2E161-D04A-B579-FBE4-56DFA515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28B57-328C-BB0A-58B4-D0F8644E785F}"/>
                  </a:ext>
                </a:extLst>
              </p:cNvPr>
              <p:cNvSpPr txBox="1"/>
              <p:nvPr/>
            </p:nvSpPr>
            <p:spPr>
              <a:xfrm>
                <a:off x="251043" y="782682"/>
                <a:ext cx="7290659" cy="595400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오염원의 실제 한계저감비용은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 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정부는 오염원의 한계저감비용을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과소평가하고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한계저감비용곡선</a:t>
                </a:r>
                <a:r>
                  <a:rPr lang="en-US" altLang="ko-KR" sz="1600" spc="-5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의 기울기가 한계편익곡선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더 가파르다고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오염원의 저감비용 정보를 올바르게 알고 있다면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정책을 시행하거나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배출부과금제 정책을 시행한다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저감하려고 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오염원의 저감비용곡선을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알고 있다면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정책을 시행하거나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배출부과금제 정책을 시행한다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저감하려고 할 것이다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오염원은 자신의 한계비용을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알고 있기 때문이다</a:t>
                </a:r>
                <a:r>
                  <a:rPr lang="en-US" altLang="ko-KR" sz="1600" spc="-50" dirty="0"/>
                  <a:t>.)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결과적으로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정부가 오염원의 저감비용곡선을 오해하고 있을 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도입하면 과잉저감을 하게 되고</a:t>
                </a:r>
                <a:r>
                  <a:rPr lang="en-US" altLang="ko-KR" sz="1600" spc="-50" dirty="0"/>
                  <a:t>,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배출부과금제를 도입하면 과소저감을 하게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28B57-328C-BB0A-58B4-D0F8644E7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3" y="782682"/>
                <a:ext cx="7290659" cy="5954002"/>
              </a:xfrm>
              <a:prstGeom prst="rect">
                <a:avLst/>
              </a:prstGeom>
              <a:blipFill>
                <a:blip r:embed="rId3"/>
                <a:stretch>
                  <a:fillRect b="-3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D452933-B11E-095C-33E3-28F5E34E98D5}"/>
              </a:ext>
            </a:extLst>
          </p:cNvPr>
          <p:cNvSpPr txBox="1"/>
          <p:nvPr/>
        </p:nvSpPr>
        <p:spPr>
          <a:xfrm>
            <a:off x="10018241" y="2128780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D778C2-AD7A-F384-42E5-32DACAD0EC30}"/>
              </a:ext>
            </a:extLst>
          </p:cNvPr>
          <p:cNvSpPr txBox="1"/>
          <p:nvPr/>
        </p:nvSpPr>
        <p:spPr>
          <a:xfrm>
            <a:off x="9155394" y="309762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6226E1-2735-9C6F-3448-830D813CDB6C}"/>
              </a:ext>
            </a:extLst>
          </p:cNvPr>
          <p:cNvSpPr txBox="1"/>
          <p:nvPr/>
        </p:nvSpPr>
        <p:spPr>
          <a:xfrm>
            <a:off x="10030823" y="3375620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8CF1EB-6433-FE44-4CF0-5536374AC03C}"/>
              </a:ext>
            </a:extLst>
          </p:cNvPr>
          <p:cNvSpPr txBox="1"/>
          <p:nvPr/>
        </p:nvSpPr>
        <p:spPr>
          <a:xfrm>
            <a:off x="8890850" y="30247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A0F2E6-E88F-0199-6ADC-A6B1AD20D70C}"/>
                  </a:ext>
                </a:extLst>
              </p:cNvPr>
              <p:cNvSpPr txBox="1"/>
              <p:nvPr/>
            </p:nvSpPr>
            <p:spPr>
              <a:xfrm>
                <a:off x="11157606" y="406965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A0F2E6-E88F-0199-6ADC-A6B1AD20D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606" y="4069656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B84CC9-ADB6-ECDB-FC6B-3147ABEA0E88}"/>
                  </a:ext>
                </a:extLst>
              </p:cNvPr>
              <p:cNvSpPr txBox="1"/>
              <p:nvPr/>
            </p:nvSpPr>
            <p:spPr>
              <a:xfrm>
                <a:off x="10610850" y="172445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B84CC9-ADB6-ECDB-FC6B-3147ABEA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850" y="1724455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229A35-E52A-BAED-331D-8F25886BB85D}"/>
                  </a:ext>
                </a:extLst>
              </p:cNvPr>
              <p:cNvSpPr txBox="1"/>
              <p:nvPr/>
            </p:nvSpPr>
            <p:spPr>
              <a:xfrm>
                <a:off x="10939494" y="2461687"/>
                <a:ext cx="86245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229A35-E52A-BAED-331D-8F25886BB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9494" y="2461687"/>
                <a:ext cx="862455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0F0AD63-A2B2-C315-E2FF-47690B7F4B8A}"/>
              </a:ext>
            </a:extLst>
          </p:cNvPr>
          <p:cNvSpPr txBox="1"/>
          <p:nvPr/>
        </p:nvSpPr>
        <p:spPr>
          <a:xfrm>
            <a:off x="7621609" y="575536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0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8517BD-E9AF-8B83-8C2C-32808C04480A}"/>
              </a:ext>
            </a:extLst>
          </p:cNvPr>
          <p:cNvSpPr txBox="1"/>
          <p:nvPr/>
        </p:nvSpPr>
        <p:spPr>
          <a:xfrm>
            <a:off x="8890850" y="360680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59627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DCCC-BA8E-6CB2-B5C4-7B3A08DB3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3C537-0C12-6859-26CD-52DC8325F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09" y="1014858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8E78220-AAB6-61DF-8EED-02CB3A4C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 </a:t>
            </a:r>
            <a:r>
              <a:rPr lang="en-US" altLang="ko-KR" dirty="0"/>
              <a:t>(</a:t>
            </a:r>
            <a:r>
              <a:rPr lang="ko-KR" altLang="en-US" dirty="0"/>
              <a:t>한계저감비용곡선의 기울기가 가파를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44443E-7128-5012-4078-AD5DE559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CA4FA0-2F83-9AC2-CBDD-63E5ADD788ED}"/>
                  </a:ext>
                </a:extLst>
              </p:cNvPr>
              <p:cNvSpPr txBox="1"/>
              <p:nvPr/>
            </p:nvSpPr>
            <p:spPr>
              <a:xfrm>
                <a:off x="251044" y="782682"/>
                <a:ext cx="6992566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위처럼 정보가 왜곡되면 각 정책이 서로 다른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유도하기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정책이 가져오는 사회적 편익도 다르다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배출권거래정책의</a:t>
                </a:r>
                <a:r>
                  <a:rPr lang="ko-KR" altLang="en-US" sz="1600" spc="-50" dirty="0"/>
                  <a:t> 경우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달성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사회적 최적에 비해 면적 </a:t>
                </a:r>
                <a:r>
                  <a:rPr lang="en-US" altLang="ko-KR" sz="1600" spc="-50" dirty="0" err="1"/>
                  <a:t>abc</a:t>
                </a:r>
                <a:r>
                  <a:rPr lang="ko-KR" altLang="en-US" sz="1600" spc="-50" dirty="0"/>
                  <a:t>만큼의 사회적 순손실을 초래한다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배출부과금정책의</a:t>
                </a:r>
                <a:r>
                  <a:rPr lang="ko-KR" altLang="en-US" sz="1600" spc="-50" dirty="0"/>
                  <a:t> 경우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달성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사회적 최적에 비해 </a:t>
                </a:r>
                <a:r>
                  <a:rPr lang="en-US" altLang="ko-KR" sz="1600" spc="-50" dirty="0" err="1"/>
                  <a:t>dea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사회적 순손실을 초래한다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정부가 오염원의 저감비용을 잘 모르는 상태이고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한계저감비용곡선이 한계편익곡선보다 상대적으로 가파른 상태에서는 수량제한정책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배출권거래제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가격정책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배출부과금제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에 비해 더 큰 사회적 순손실을 초래하게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수량제한정책은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ko-KR" altLang="en-US" sz="1600" spc="-50" dirty="0"/>
                  <a:t>곡선을 따라 이동하면서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축의 변화량이 손실이 되고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가격정책은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ko-KR" altLang="en-US" sz="1600" spc="-50" dirty="0"/>
                  <a:t>곡선을 따라 이동하면서 </a:t>
                </a: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축의 변화량이 손실이 되기 때문임을 생각해볼 필요가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CA4FA0-2F83-9AC2-CBDD-63E5ADD78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4" y="782682"/>
                <a:ext cx="6992566" cy="5584670"/>
              </a:xfrm>
              <a:prstGeom prst="rect">
                <a:avLst/>
              </a:prstGeom>
              <a:blipFill>
                <a:blip r:embed="rId3"/>
                <a:stretch>
                  <a:fillRect r="-4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59E557F-1EE9-5017-596D-A5F1FD8B748C}"/>
              </a:ext>
            </a:extLst>
          </p:cNvPr>
          <p:cNvSpPr txBox="1"/>
          <p:nvPr/>
        </p:nvSpPr>
        <p:spPr>
          <a:xfrm>
            <a:off x="10018241" y="2128780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0EEE96-8502-3153-5E85-15060DB811E4}"/>
              </a:ext>
            </a:extLst>
          </p:cNvPr>
          <p:cNvSpPr txBox="1"/>
          <p:nvPr/>
        </p:nvSpPr>
        <p:spPr>
          <a:xfrm>
            <a:off x="9155394" y="309762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91544E-671E-DDEF-570E-816DC0C621CB}"/>
              </a:ext>
            </a:extLst>
          </p:cNvPr>
          <p:cNvSpPr txBox="1"/>
          <p:nvPr/>
        </p:nvSpPr>
        <p:spPr>
          <a:xfrm>
            <a:off x="10030823" y="3375620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E0EEB3-A77F-31FF-8F1C-AC33503F3128}"/>
              </a:ext>
            </a:extLst>
          </p:cNvPr>
          <p:cNvSpPr txBox="1"/>
          <p:nvPr/>
        </p:nvSpPr>
        <p:spPr>
          <a:xfrm>
            <a:off x="8890850" y="30247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EE3901-DD08-FDEF-F46C-B3D3B0F8885D}"/>
                  </a:ext>
                </a:extLst>
              </p:cNvPr>
              <p:cNvSpPr txBox="1"/>
              <p:nvPr/>
            </p:nvSpPr>
            <p:spPr>
              <a:xfrm>
                <a:off x="11157606" y="406965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EE3901-DD08-FDEF-F46C-B3D3B0F88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606" y="4069656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705935-3DBD-EA27-C938-683826945402}"/>
                  </a:ext>
                </a:extLst>
              </p:cNvPr>
              <p:cNvSpPr txBox="1"/>
              <p:nvPr/>
            </p:nvSpPr>
            <p:spPr>
              <a:xfrm>
                <a:off x="10610850" y="172445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705935-3DBD-EA27-C938-683826945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850" y="1724455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A8001FD-8952-3498-3CF0-E07653C4B51F}"/>
                  </a:ext>
                </a:extLst>
              </p:cNvPr>
              <p:cNvSpPr txBox="1"/>
              <p:nvPr/>
            </p:nvSpPr>
            <p:spPr>
              <a:xfrm>
                <a:off x="10939494" y="2461687"/>
                <a:ext cx="86245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A8001FD-8952-3498-3CF0-E07653C4B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9494" y="2461687"/>
                <a:ext cx="862455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D9FD8D90-3D74-C268-F7E9-8F0FBCE548C7}"/>
              </a:ext>
            </a:extLst>
          </p:cNvPr>
          <p:cNvSpPr txBox="1"/>
          <p:nvPr/>
        </p:nvSpPr>
        <p:spPr>
          <a:xfrm>
            <a:off x="7621609" y="575536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0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EDA293-7CE0-ED7B-992F-B3BC61E5C812}"/>
              </a:ext>
            </a:extLst>
          </p:cNvPr>
          <p:cNvSpPr txBox="1"/>
          <p:nvPr/>
        </p:nvSpPr>
        <p:spPr>
          <a:xfrm>
            <a:off x="8890850" y="360680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A1FC74CF-5AB1-6180-1D3F-26B292C7981A}"/>
              </a:ext>
            </a:extLst>
          </p:cNvPr>
          <p:cNvSpPr/>
          <p:nvPr/>
        </p:nvSpPr>
        <p:spPr>
          <a:xfrm>
            <a:off x="9026525" y="3268663"/>
            <a:ext cx="265113" cy="373062"/>
          </a:xfrm>
          <a:custGeom>
            <a:avLst/>
            <a:gdLst>
              <a:gd name="connsiteX0" fmla="*/ 0 w 265113"/>
              <a:gd name="connsiteY0" fmla="*/ 0 h 373062"/>
              <a:gd name="connsiteX1" fmla="*/ 3175 w 265113"/>
              <a:gd name="connsiteY1" fmla="*/ 373062 h 373062"/>
              <a:gd name="connsiteX2" fmla="*/ 265113 w 265113"/>
              <a:gd name="connsiteY2" fmla="*/ 95250 h 373062"/>
              <a:gd name="connsiteX3" fmla="*/ 0 w 265113"/>
              <a:gd name="connsiteY3" fmla="*/ 0 h 373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5113" h="373062">
                <a:moveTo>
                  <a:pt x="0" y="0"/>
                </a:moveTo>
                <a:cubicBezTo>
                  <a:pt x="1058" y="124354"/>
                  <a:pt x="2117" y="248708"/>
                  <a:pt x="3175" y="373062"/>
                </a:cubicBezTo>
                <a:lnTo>
                  <a:pt x="265113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77FEA48B-AEBB-63AD-2849-C1B889511F8A}"/>
              </a:ext>
            </a:extLst>
          </p:cNvPr>
          <p:cNvSpPr/>
          <p:nvPr/>
        </p:nvSpPr>
        <p:spPr>
          <a:xfrm>
            <a:off x="9293225" y="2393950"/>
            <a:ext cx="862013" cy="1255713"/>
          </a:xfrm>
          <a:custGeom>
            <a:avLst/>
            <a:gdLst>
              <a:gd name="connsiteX0" fmla="*/ 0 w 862013"/>
              <a:gd name="connsiteY0" fmla="*/ 965200 h 1255713"/>
              <a:gd name="connsiteX1" fmla="*/ 860425 w 862013"/>
              <a:gd name="connsiteY1" fmla="*/ 0 h 1255713"/>
              <a:gd name="connsiteX2" fmla="*/ 862013 w 862013"/>
              <a:gd name="connsiteY2" fmla="*/ 1255713 h 1255713"/>
              <a:gd name="connsiteX3" fmla="*/ 0 w 862013"/>
              <a:gd name="connsiteY3" fmla="*/ 965200 h 1255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013" h="1255713">
                <a:moveTo>
                  <a:pt x="0" y="965200"/>
                </a:moveTo>
                <a:lnTo>
                  <a:pt x="860425" y="0"/>
                </a:lnTo>
                <a:cubicBezTo>
                  <a:pt x="860954" y="418571"/>
                  <a:pt x="861484" y="837142"/>
                  <a:pt x="862013" y="1255713"/>
                </a:cubicBezTo>
                <a:lnTo>
                  <a:pt x="0" y="96520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64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261D6-5304-87EA-0E8E-86FAC3AE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621125-CB29-9095-14F8-31EA5478D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10" y="1030060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317B17-787B-BDA1-A19A-D85819AD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 </a:t>
            </a:r>
            <a:r>
              <a:rPr lang="en-US" altLang="ko-KR" dirty="0"/>
              <a:t>(</a:t>
            </a:r>
            <a:r>
              <a:rPr lang="ko-KR" altLang="en-US" dirty="0"/>
              <a:t>한계편익곡선의 기울기가 가파를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5BBCA-DEF6-F42D-39B6-46C8FE7C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A4CB5-2C8E-EC6B-00B1-7EA8E8BA2132}"/>
              </a:ext>
            </a:extLst>
          </p:cNvPr>
          <p:cNvSpPr txBox="1"/>
          <p:nvPr/>
        </p:nvSpPr>
        <p:spPr>
          <a:xfrm>
            <a:off x="10163656" y="316216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52325C-82C6-02F6-21C5-1E745F2EF683}"/>
              </a:ext>
            </a:extLst>
          </p:cNvPr>
          <p:cNvSpPr txBox="1"/>
          <p:nvPr/>
        </p:nvSpPr>
        <p:spPr>
          <a:xfrm>
            <a:off x="9775553" y="332804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02133C-4E14-4DA6-99E6-F37C62CC7797}"/>
              </a:ext>
            </a:extLst>
          </p:cNvPr>
          <p:cNvSpPr txBox="1"/>
          <p:nvPr/>
        </p:nvSpPr>
        <p:spPr>
          <a:xfrm>
            <a:off x="10163656" y="399734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68D2F5-267E-AC5E-3A6A-EFBD4F27BE76}"/>
              </a:ext>
            </a:extLst>
          </p:cNvPr>
          <p:cNvSpPr txBox="1"/>
          <p:nvPr/>
        </p:nvSpPr>
        <p:spPr>
          <a:xfrm>
            <a:off x="8740355" y="16023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515AF6-7202-B2B4-AA64-C84C86160ECC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515AF6-7202-B2B4-AA64-C84C86160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FC098C-6517-551A-46E9-98F45F1AC236}"/>
                  </a:ext>
                </a:extLst>
              </p:cNvPr>
              <p:cNvSpPr txBox="1"/>
              <p:nvPr/>
            </p:nvSpPr>
            <p:spPr>
              <a:xfrm>
                <a:off x="11026176" y="2886247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FC098C-6517-551A-46E9-98F45F1AC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6176" y="2886247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7F241F-9574-1F80-5A00-DF578B6DFB57}"/>
                  </a:ext>
                </a:extLst>
              </p:cNvPr>
              <p:cNvSpPr txBox="1"/>
              <p:nvPr/>
            </p:nvSpPr>
            <p:spPr>
              <a:xfrm>
                <a:off x="10919174" y="3745300"/>
                <a:ext cx="86245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7F241F-9574-1F80-5A00-DF578B6DF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174" y="3745300"/>
                <a:ext cx="862455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6D9C6E7-1226-DA17-6FA9-4184112BD275}"/>
              </a:ext>
            </a:extLst>
          </p:cNvPr>
          <p:cNvSpPr txBox="1"/>
          <p:nvPr/>
        </p:nvSpPr>
        <p:spPr>
          <a:xfrm>
            <a:off x="7621609" y="575536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0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2F2B70-F783-2CB0-7C35-F04E419ABB82}"/>
              </a:ext>
            </a:extLst>
          </p:cNvPr>
          <p:cNvSpPr txBox="1"/>
          <p:nvPr/>
        </p:nvSpPr>
        <p:spPr>
          <a:xfrm>
            <a:off x="8644578" y="4011123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921777-D99E-AC61-1379-8A07A35998EF}"/>
                  </a:ext>
                </a:extLst>
              </p:cNvPr>
              <p:cNvSpPr txBox="1"/>
              <p:nvPr/>
            </p:nvSpPr>
            <p:spPr>
              <a:xfrm>
                <a:off x="251043" y="782682"/>
                <a:ext cx="7290659" cy="595400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오염원의 실제 한계저감비용은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 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정부는 오염원의 한계저감비용을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과소평가하고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한계편익곡선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기울기가 한계저감비용곡선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보다 더 가파르다고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오염원의 저감비용 정보를 올바르게 알고 있다면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정책을 시행하거나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배출부과금제 정책을 시행한다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저감하려고 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오염원의 저감비용곡선을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알고 있다면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정책을 시행하거나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배출부과금제 정책을 시행한다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저감하려고 할 것이다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오염원은 자신의 한계비용을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알고 있기 때문이다</a:t>
                </a:r>
                <a:r>
                  <a:rPr lang="en-US" altLang="ko-KR" sz="1600" spc="-50" dirty="0"/>
                  <a:t>.)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결과적으로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정부가 오염원의 저감비용곡선을 오해하고 있을 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도입하면 과잉저감을 하게 되고</a:t>
                </a:r>
                <a:r>
                  <a:rPr lang="en-US" altLang="ko-KR" sz="1600" spc="-50" dirty="0"/>
                  <a:t>,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배출부과금제를 도입하면 과소저감을 하게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921777-D99E-AC61-1379-8A07A3599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3" y="782682"/>
                <a:ext cx="7290659" cy="5954002"/>
              </a:xfrm>
              <a:prstGeom prst="rect">
                <a:avLst/>
              </a:prstGeom>
              <a:blipFill>
                <a:blip r:embed="rId6"/>
                <a:stretch>
                  <a:fillRect b="-3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169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D9DE0-9D1F-7926-ABF1-3E13992F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4B50D8-12CF-073F-4F85-78E75D8C5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10" y="1030060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FD9BA99-9E46-E24E-2D01-90F065060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 </a:t>
            </a:r>
            <a:r>
              <a:rPr lang="en-US" altLang="ko-KR" dirty="0"/>
              <a:t>(</a:t>
            </a:r>
            <a:r>
              <a:rPr lang="ko-KR" altLang="en-US" dirty="0"/>
              <a:t>한계편익곡선의 기울기가 가파를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6CF57E-63F0-E3CA-3BC2-73F2AC41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5F1CED-A3BE-A0C4-0938-BE3B1758F2E4}"/>
              </a:ext>
            </a:extLst>
          </p:cNvPr>
          <p:cNvSpPr txBox="1"/>
          <p:nvPr/>
        </p:nvSpPr>
        <p:spPr>
          <a:xfrm>
            <a:off x="10163656" y="316216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874D73-E7AB-9475-DDEE-FDB07AA2629F}"/>
              </a:ext>
            </a:extLst>
          </p:cNvPr>
          <p:cNvSpPr txBox="1"/>
          <p:nvPr/>
        </p:nvSpPr>
        <p:spPr>
          <a:xfrm>
            <a:off x="9775553" y="332804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354290-F8BE-8C49-5044-68BCAA6CCC2B}"/>
              </a:ext>
            </a:extLst>
          </p:cNvPr>
          <p:cNvSpPr txBox="1"/>
          <p:nvPr/>
        </p:nvSpPr>
        <p:spPr>
          <a:xfrm>
            <a:off x="10163656" y="399734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E5B78E-D309-A61D-C164-B1459AEB5EAC}"/>
              </a:ext>
            </a:extLst>
          </p:cNvPr>
          <p:cNvSpPr txBox="1"/>
          <p:nvPr/>
        </p:nvSpPr>
        <p:spPr>
          <a:xfrm>
            <a:off x="8740355" y="16023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CF36BE-6691-A7DB-680B-D1C067F9B13D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CF36BE-6691-A7DB-680B-D1C067F9B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6AD29C-2FB1-D6E9-A307-90E400F3705F}"/>
                  </a:ext>
                </a:extLst>
              </p:cNvPr>
              <p:cNvSpPr txBox="1"/>
              <p:nvPr/>
            </p:nvSpPr>
            <p:spPr>
              <a:xfrm>
                <a:off x="11026176" y="2886247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6AD29C-2FB1-D6E9-A307-90E400F37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6176" y="2886247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400F11-EB4E-7550-63C9-E3BA1902862A}"/>
                  </a:ext>
                </a:extLst>
              </p:cNvPr>
              <p:cNvSpPr txBox="1"/>
              <p:nvPr/>
            </p:nvSpPr>
            <p:spPr>
              <a:xfrm>
                <a:off x="10919174" y="3745300"/>
                <a:ext cx="86245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400F11-EB4E-7550-63C9-E3BA19028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174" y="3745300"/>
                <a:ext cx="862455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FA319FD-3962-CEAB-53A8-DD018C7BAB28}"/>
              </a:ext>
            </a:extLst>
          </p:cNvPr>
          <p:cNvSpPr txBox="1"/>
          <p:nvPr/>
        </p:nvSpPr>
        <p:spPr>
          <a:xfrm>
            <a:off x="7621609" y="575536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0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42E027-61DE-296A-B259-27EBB4A596AE}"/>
              </a:ext>
            </a:extLst>
          </p:cNvPr>
          <p:cNvSpPr txBox="1"/>
          <p:nvPr/>
        </p:nvSpPr>
        <p:spPr>
          <a:xfrm>
            <a:off x="8644578" y="4011123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C1F124D0-7D21-CF1D-99E7-11C959D3A253}"/>
              </a:ext>
            </a:extLst>
          </p:cNvPr>
          <p:cNvSpPr/>
          <p:nvPr/>
        </p:nvSpPr>
        <p:spPr>
          <a:xfrm>
            <a:off x="8782050" y="1733550"/>
            <a:ext cx="1123950" cy="2520950"/>
          </a:xfrm>
          <a:custGeom>
            <a:avLst/>
            <a:gdLst>
              <a:gd name="connsiteX0" fmla="*/ 0 w 1123950"/>
              <a:gd name="connsiteY0" fmla="*/ 0 h 2520950"/>
              <a:gd name="connsiteX1" fmla="*/ 0 w 1123950"/>
              <a:gd name="connsiteY1" fmla="*/ 2520950 h 2520950"/>
              <a:gd name="connsiteX2" fmla="*/ 1123950 w 1123950"/>
              <a:gd name="connsiteY2" fmla="*/ 1889125 h 2520950"/>
              <a:gd name="connsiteX3" fmla="*/ 0 w 1123950"/>
              <a:gd name="connsiteY3" fmla="*/ 0 h 252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950" h="2520950">
                <a:moveTo>
                  <a:pt x="0" y="0"/>
                </a:moveTo>
                <a:lnTo>
                  <a:pt x="0" y="2520950"/>
                </a:lnTo>
                <a:lnTo>
                  <a:pt x="1123950" y="1889125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D2F070D-8B99-3F2C-B683-16A711C8E1FD}"/>
              </a:ext>
            </a:extLst>
          </p:cNvPr>
          <p:cNvSpPr/>
          <p:nvPr/>
        </p:nvSpPr>
        <p:spPr>
          <a:xfrm>
            <a:off x="9911593" y="3418514"/>
            <a:ext cx="381699" cy="834704"/>
          </a:xfrm>
          <a:custGeom>
            <a:avLst/>
            <a:gdLst>
              <a:gd name="connsiteX0" fmla="*/ 0 w 381699"/>
              <a:gd name="connsiteY0" fmla="*/ 205530 h 834704"/>
              <a:gd name="connsiteX1" fmla="*/ 373310 w 381699"/>
              <a:gd name="connsiteY1" fmla="*/ 834704 h 834704"/>
              <a:gd name="connsiteX2" fmla="*/ 381699 w 381699"/>
              <a:gd name="connsiteY2" fmla="*/ 0 h 834704"/>
              <a:gd name="connsiteX3" fmla="*/ 0 w 381699"/>
              <a:gd name="connsiteY3" fmla="*/ 205530 h 83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99" h="834704">
                <a:moveTo>
                  <a:pt x="0" y="205530"/>
                </a:moveTo>
                <a:lnTo>
                  <a:pt x="373310" y="834704"/>
                </a:lnTo>
                <a:cubicBezTo>
                  <a:pt x="376106" y="556469"/>
                  <a:pt x="378903" y="278235"/>
                  <a:pt x="381699" y="0"/>
                </a:cubicBezTo>
                <a:lnTo>
                  <a:pt x="0" y="20553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B2F743-A32F-3B50-A27D-4F049B05A941}"/>
                  </a:ext>
                </a:extLst>
              </p:cNvPr>
              <p:cNvSpPr txBox="1"/>
              <p:nvPr/>
            </p:nvSpPr>
            <p:spPr>
              <a:xfrm>
                <a:off x="251044" y="782682"/>
                <a:ext cx="6992566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위처럼 정보가 왜곡되면 각 정책이 서로 다른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유도하기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정책이 가져오는 사회적 편익도 다르다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배출권거래정책의</a:t>
                </a:r>
                <a:r>
                  <a:rPr lang="ko-KR" altLang="en-US" sz="1600" spc="-50" dirty="0"/>
                  <a:t> 경우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달성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사회적 최적에 비해 면적 </a:t>
                </a:r>
                <a:r>
                  <a:rPr lang="en-US" altLang="ko-KR" sz="1600" spc="-50" dirty="0" err="1"/>
                  <a:t>abc</a:t>
                </a:r>
                <a:r>
                  <a:rPr lang="ko-KR" altLang="en-US" sz="1600" spc="-50" dirty="0"/>
                  <a:t>만큼의 사회적 순손실을 초래한다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배출부과금정책의</a:t>
                </a:r>
                <a:r>
                  <a:rPr lang="ko-KR" altLang="en-US" sz="1600" spc="-50" dirty="0"/>
                  <a:t> 경우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달성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사회적 최적에 비해 </a:t>
                </a:r>
                <a:r>
                  <a:rPr lang="en-US" altLang="ko-KR" sz="1600" spc="-50" dirty="0" err="1"/>
                  <a:t>dea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사회적 순손실을 초래한다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정부가 오염원의 저감비용을 잘 모르는 상태이고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한계편익곡선이 한계저감비용곡선보다 상대적으로 가파른 상태에서는 가격정책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배출부과금제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수량제한정책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배출권거래제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비해 더 큰 사회적 순손실을 초래하게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수량제한정책은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ko-KR" altLang="en-US" sz="1600" spc="-50" dirty="0"/>
                  <a:t>곡선을 따라 이동하면서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축의 변화량이 손실이 되고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가격정책은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ko-KR" altLang="en-US" sz="1600" spc="-50" dirty="0"/>
                  <a:t>곡선을 따라 이동하면서 </a:t>
                </a: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축의 변화량이 손실이 되기 때문임을 생각해볼 필요가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B2F743-A32F-3B50-A27D-4F049B05A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4" y="782682"/>
                <a:ext cx="6992566" cy="5584670"/>
              </a:xfrm>
              <a:prstGeom prst="rect">
                <a:avLst/>
              </a:prstGeom>
              <a:blipFill>
                <a:blip r:embed="rId6"/>
                <a:stretch>
                  <a:fillRect r="-4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3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BF6E1-7CB5-9A93-66F1-6FE605D3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03F62-13A6-8074-287B-0C650982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7D4EE-0870-796B-1B20-A24BB80B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AC8BD-FC30-BF7F-289C-6CE76DD6E98E}"/>
              </a:ext>
            </a:extLst>
          </p:cNvPr>
          <p:cNvSpPr txBox="1"/>
          <p:nvPr/>
        </p:nvSpPr>
        <p:spPr>
          <a:xfrm>
            <a:off x="678874" y="958844"/>
            <a:ext cx="11128632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대로 한계저감비용이 불확실할 경우 한계저감비용과 한계편익곡선의 기울기가 동일하지 않는 한 수량제한정책과 가격정책은 효율성 측면에서 동일하지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곡선의 상대적 기울기에 따라 어느 한 정책이 효율성 측면에서 우수한 결과를 만들었다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한계저감비용곡선 기울기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한계편익 곡선 기울기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가격정책이 수량제한정책보다 효율적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한계편익곡선 기울기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한계저감비용곡선 기울기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수량제한 정책이 가격정책보다 효율적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(Lecture 3</a:t>
            </a:r>
            <a:r>
              <a:rPr lang="ko-KR" altLang="en-US" sz="1600" spc="-50" dirty="0"/>
              <a:t>의 한계피해곡선 자료 참고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소음과 같은 공해는 다른 독성 오염물질에 비해 상대적으로 어느정도 까지는 감수할만하므로 한계편익곡선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한계피해곡선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기울기가 한계저감비용곡선보다 완만하다고 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가격정책이 수량제한정책보다 효율적으로 작동할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(Lecture 3</a:t>
            </a:r>
            <a:r>
              <a:rPr lang="ko-KR" altLang="en-US" sz="1600" spc="-50" dirty="0"/>
              <a:t>의 한계피해곡선 자료 참고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독성이 매우 높은 치명적인 오염물질의 경우 배출량이 늘어나면서 오염의 피해가 급속히 증가하는 경향이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한계편익곡선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한계피해곡선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기울기가 한계저감비용곡선보다 가파른 경향이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수량제한정책이 가격정책보다 효율적으로 작동할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52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D7A48-602A-759C-B3B6-DD51519F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혼합정책을 사용하는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60C61F-4E14-7752-AF37-1BD2C50E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BF58A-37F0-AF98-9E42-CDBEA10D8EF3}"/>
                  </a:ext>
                </a:extLst>
              </p:cNvPr>
              <p:cNvSpPr txBox="1"/>
              <p:nvPr/>
            </p:nvSpPr>
            <p:spPr>
              <a:xfrm>
                <a:off x="272015" y="958844"/>
                <a:ext cx="6913155" cy="565924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Roberts and Spence (1976)</a:t>
                </a:r>
                <a:r>
                  <a:rPr lang="ko-KR" altLang="en-US" sz="1600" spc="-50" dirty="0"/>
                  <a:t>에 따르면 가격을 통제하는 배출부과금과 수량을 통제하는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적절히 혼합하여 사용하면 어느 한 가지 정책만 사용할 때에 비해 사회적 손실이 줄어든다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오염원의 한계저감비용이 높을 경우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낮을 경우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임을 알고 있다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또 두개의 평균한계저감비용은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인 것도 알고 있다</a:t>
                </a:r>
                <a:r>
                  <a:rPr lang="en-US" altLang="ko-KR" sz="1600" spc="-50" dirty="0"/>
                  <a:t>.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가운데 어느 것이 실제 한계저감비용인지 모르고 정책을 </a:t>
                </a:r>
                <a:r>
                  <a:rPr lang="ko-KR" altLang="en-US" sz="1600" spc="-50" dirty="0" err="1"/>
                  <a:t>선택해야하고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자신의 한계저감비용을 정확히 알고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평균한계저감비용에 맞추어 배출부과금제를 시행하면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부과금을 부여할 것이고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시행한다면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기준으로 배출권을 발행할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실제 한계저감비용은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중 하나이기 때문에 필연적으로 두 정책 모두 사회적 손실을 초래하게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BF58A-37F0-AF98-9E42-CDBEA10D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5" y="958844"/>
                <a:ext cx="6913155" cy="5659242"/>
              </a:xfrm>
              <a:prstGeom prst="rect">
                <a:avLst/>
              </a:prstGeom>
              <a:blipFill>
                <a:blip r:embed="rId2"/>
                <a:stretch>
                  <a:fillRect b="-3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E58719-8B8A-3C9F-CFE4-A965E309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78" y="1166267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DB76AE-E200-5A0D-9D4C-371093AF8410}"/>
                  </a:ext>
                </a:extLst>
              </p:cNvPr>
              <p:cNvSpPr txBox="1"/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</m:ba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DB76AE-E200-5A0D-9D4C-371093AF8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A5590A-C9B1-9823-0419-54B9599E1D33}"/>
                  </a:ext>
                </a:extLst>
              </p:cNvPr>
              <p:cNvSpPr txBox="1"/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A5590A-C9B1-9823-0419-54B9599E1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98DFA3-7AD9-1781-5065-F6E9956EA908}"/>
                  </a:ext>
                </a:extLst>
              </p:cNvPr>
              <p:cNvSpPr txBox="1"/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98DFA3-7AD9-1781-5065-F6E9956EA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BC8023-AEE5-E303-3B1B-457A58EB2124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BC8023-AEE5-E303-3B1B-457A58EB2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94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F234-1BBB-DC72-939C-DD3755E3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9D0C-F4E9-2664-2629-F9F80DBF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혼합정책을 사용하는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A38BB5-28AA-DF6C-33C6-314188BE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0A100B-F314-67E9-52A6-B7E9041213BD}"/>
                  </a:ext>
                </a:extLst>
              </p:cNvPr>
              <p:cNvSpPr txBox="1"/>
              <p:nvPr/>
            </p:nvSpPr>
            <p:spPr>
              <a:xfrm>
                <a:off x="246844" y="958844"/>
                <a:ext cx="7001734" cy="4115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혼합정책으로서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배출부과금을 징수하면서 동시에 배출보조금을 지급하며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또한 </a:t>
                </a:r>
                <a:r>
                  <a:rPr lang="ko-KR" altLang="en-US" sz="1600" spc="-50" dirty="0" err="1"/>
                  <a:t>배출권거래제도</a:t>
                </a:r>
                <a:r>
                  <a:rPr lang="ko-KR" altLang="en-US" sz="1600" spc="-50" dirty="0"/>
                  <a:t> 함께 사용한다고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평균한계저감비용곡선과</a:t>
                </a:r>
                <a:r>
                  <a:rPr lang="ko-KR" altLang="en-US" sz="1600" spc="-50" dirty="0"/>
                  <a:t> 한계편익곡선이 만나는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에 맞추어 배출권을 발행한다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배출권이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거래되면서 거래가격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시장에서 형성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동시에 정부는 높은 한계저감비용곡선이 한계편익곡선과 만나는 수준인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의 배출부과금을 설정하며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보유한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이상을 배출하고자 하면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의 부과금을 납부해야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동시에 정부는 낮은 한계저감비용곡선이 한계편익곡선과 만나는 수준인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의 보조금을 지급하며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보유한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중 일부를 사용하지 않으면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만큼 정부로부터 보상을 받는다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0A100B-F314-67E9-52A6-B7E904121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44" y="958844"/>
                <a:ext cx="7001734" cy="4115101"/>
              </a:xfrm>
              <a:prstGeom prst="rect">
                <a:avLst/>
              </a:prstGeom>
              <a:blipFill>
                <a:blip r:embed="rId2"/>
                <a:stretch>
                  <a:fillRect b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D0F326-CDA2-6615-65E3-AA6F31EA5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78" y="1166267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A37613-FC96-5DF3-5DCF-F84F0582BD38}"/>
                  </a:ext>
                </a:extLst>
              </p:cNvPr>
              <p:cNvSpPr txBox="1"/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</m:ba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A37613-FC96-5DF3-5DCF-F84F0582B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FA6209-BEF6-3F31-E6DE-49F180C7ECD9}"/>
                  </a:ext>
                </a:extLst>
              </p:cNvPr>
              <p:cNvSpPr txBox="1"/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FA6209-BEF6-3F31-E6DE-49F180C7E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9D151-9FE2-F226-78D9-3CE807F7EA8F}"/>
                  </a:ext>
                </a:extLst>
              </p:cNvPr>
              <p:cNvSpPr txBox="1"/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9D151-9FE2-F226-78D9-3CE807F7E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717B6A-61B7-FD8E-CB85-C9AE97A80C04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717B6A-61B7-FD8E-CB85-C9AE97A80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99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F4691-3022-CA82-E3FA-E5DF241C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C8D3D-1881-240E-570C-C22E2252E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혼합정책을 사용하는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3B66E-84FB-9846-760E-78002870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1D09D5-E63E-B593-40E3-3E339BD284EB}"/>
                  </a:ext>
                </a:extLst>
              </p:cNvPr>
              <p:cNvSpPr txBox="1"/>
              <p:nvPr/>
            </p:nvSpPr>
            <p:spPr>
              <a:xfrm>
                <a:off x="276211" y="958844"/>
                <a:ext cx="7009628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이러한 혼합정책을 사용할 때 정부가 얼만큼의 배출권을 발행하더라도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아래와 같이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의 관계가 성립한다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정의상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 관계는 성립한다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 라면 오염원은 배출권을 구입한 뒤 이를 하나도 사용하지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보조금을 받아가면 </a:t>
                </a:r>
                <a:r>
                  <a:rPr lang="ko-KR" altLang="en-US" sz="1600" spc="-50" dirty="0" err="1"/>
                  <a:t>배출권시장이</a:t>
                </a:r>
                <a:r>
                  <a:rPr lang="ko-KR" altLang="en-US" sz="1600" spc="-50" dirty="0"/>
                  <a:t> 붕괴되므로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ko-KR" altLang="en-US" sz="1600" spc="-50" dirty="0"/>
                  <a:t> 라면 오염원은 배출권을 하나도 구입하지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부과금을 납부하게 되면 </a:t>
                </a:r>
                <a:r>
                  <a:rPr lang="ko-KR" altLang="en-US" sz="1600" spc="-50" dirty="0" err="1"/>
                  <a:t>배출권시장이</a:t>
                </a:r>
                <a:r>
                  <a:rPr lang="ko-KR" altLang="en-US" sz="1600" spc="-50" dirty="0"/>
                  <a:t> 붕괴되므로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1D09D5-E63E-B593-40E3-3E339BD28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11" y="958844"/>
                <a:ext cx="7009628" cy="41073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4258FB-DA0F-5255-D02C-031EE485A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78" y="1166267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2A487E-B993-F080-5F55-5187A36B48B7}"/>
                  </a:ext>
                </a:extLst>
              </p:cNvPr>
              <p:cNvSpPr txBox="1"/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</m:ba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2A487E-B993-F080-5F55-5187A36B4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8A2680-FAAA-1C7F-382B-733C6E9445A6}"/>
                  </a:ext>
                </a:extLst>
              </p:cNvPr>
              <p:cNvSpPr txBox="1"/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8A2680-FAAA-1C7F-382B-733C6E944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768CB2-B4B3-25F2-59B9-F8D7E197889C}"/>
                  </a:ext>
                </a:extLst>
              </p:cNvPr>
              <p:cNvSpPr txBox="1"/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768CB2-B4B3-25F2-59B9-F8D7E1978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C84E13-236B-766E-812F-B44FC79FD375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C84E13-236B-766E-812F-B44FC79FD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061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11C1-A558-E8D4-3ECE-91928376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F18B8-6116-0D0B-12AD-4FE96250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혼합정책을 사용하는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004121-0ACA-D9E0-B7CE-8CA9DAD3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DF6ED9-D5F9-547C-7E9D-E243217D6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578" y="1166267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A040F8-15A5-BD09-29D9-018651B4FB03}"/>
                  </a:ext>
                </a:extLst>
              </p:cNvPr>
              <p:cNvSpPr txBox="1"/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</m:ba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A040F8-15A5-BD09-29D9-018651B4F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13A4C-4C3F-504E-CE1C-BC22CDD83D50}"/>
                  </a:ext>
                </a:extLst>
              </p:cNvPr>
              <p:cNvSpPr txBox="1"/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13A4C-4C3F-504E-CE1C-BC22CDD83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3914B4-87C0-2431-CA24-72A2B9111F75}"/>
                  </a:ext>
                </a:extLst>
              </p:cNvPr>
              <p:cNvSpPr txBox="1"/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3914B4-87C0-2431-CA24-72A2B9111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34EE95-BFEE-7A71-ABC4-D7A08BD573F9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34EE95-BFEE-7A71-ABC4-D7A08BD57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40C064-00A7-7647-C6D3-482D1F5DA972}"/>
                  </a:ext>
                </a:extLst>
              </p:cNvPr>
              <p:cNvSpPr txBox="1"/>
              <p:nvPr/>
            </p:nvSpPr>
            <p:spPr>
              <a:xfrm>
                <a:off x="255236" y="958844"/>
                <a:ext cx="7101910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 입장에서는 </a:t>
                </a:r>
                <a:r>
                  <a:rPr lang="ko-KR" altLang="en-US" sz="1600" spc="-50" dirty="0" err="1"/>
                  <a:t>의사결정할때</a:t>
                </a:r>
                <a:r>
                  <a:rPr lang="ko-KR" altLang="en-US" sz="1600" spc="-50" dirty="0"/>
                  <a:t> 감안해야 할 것은 자신의 한계저감비용과 더불어 오른쪽 그래프에서 굵은 검은 선으로 표시된 계단모양의 선이다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오염원은 </a:t>
                </a:r>
                <a:r>
                  <a:rPr lang="ko-KR" altLang="en-US" sz="1600" dirty="0" err="1"/>
                  <a:t>배출권</a:t>
                </a:r>
                <a:r>
                  <a:rPr lang="ko-KR" altLang="en-US" sz="1600" dirty="0"/>
                  <a:t> 이상으로 배출을 하면 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다시 말해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저감량이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보다 줄어들면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의 비용을 오염원이 부담해야 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반대로 오염원은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이하로 배출을 하면 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다시 말해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저감량이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보다 늘어나면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의 보조금을 지급 받는다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 혹은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도입하면 수평선이나 수직선을 하나 긋게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선이 한계저감비용과 만나는 점에서 배출량이나 </a:t>
                </a:r>
                <a:r>
                  <a:rPr lang="ko-KR" altLang="en-US" sz="1600" spc="-50" dirty="0" err="1"/>
                  <a:t>배출권가격이</a:t>
                </a:r>
                <a:r>
                  <a:rPr lang="ko-KR" altLang="en-US" sz="1600" spc="-50" dirty="0"/>
                  <a:t> 형성된다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혼합정책의 경우 계단모양의 </a:t>
                </a:r>
                <a:r>
                  <a:rPr lang="ko-KR" altLang="en-US" sz="1600" spc="-50" dirty="0" err="1"/>
                  <a:t>우하향하는</a:t>
                </a:r>
                <a:r>
                  <a:rPr lang="ko-KR" altLang="en-US" sz="1600" spc="-50" dirty="0"/>
                  <a:t> 의사결정선이 도출되고 이 선과 실제한계저감비용이 만나는 수준에서 오염원의 배출량이 결정된다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혼합정책은 정보가 불확실한 상황에서 더 높은 사회적 편익을 가져다 준다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40C064-00A7-7647-C6D3-482D1F5DA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6" y="958844"/>
                <a:ext cx="7101910" cy="5584670"/>
              </a:xfrm>
              <a:prstGeom prst="rect">
                <a:avLst/>
              </a:prstGeom>
              <a:blipFill>
                <a:blip r:embed="rId7"/>
                <a:stretch>
                  <a:fillRect r="-172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3AD523BC-E807-1896-8648-6A7B051946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0561" y="1506750"/>
            <a:ext cx="395060" cy="15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94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B3480-BFD9-1D65-F239-C98DFC54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112641-315E-259D-8896-88368BA4C7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A839ED-2AAF-C712-BD83-638449E2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35E51D5-2B70-47E1-3C16-768EE7CB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불확실한 저감비용과 </a:t>
            </a:r>
            <a:br>
              <a:rPr lang="en-US" altLang="ko-KR" sz="4000" b="1" i="0" spc="150" dirty="0"/>
            </a:br>
            <a:r>
              <a:rPr lang="en-US" altLang="ko-KR" sz="4000" b="1" i="0" spc="150" dirty="0"/>
              <a:t>               </a:t>
            </a:r>
            <a:r>
              <a:rPr lang="ko-KR" altLang="en-US" sz="4000" b="1" i="0" spc="150" dirty="0"/>
              <a:t>오염원의 전략적 행위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726585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2BBFA-64B1-381B-BD3B-FF4B5A0B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F6231-9181-2C35-040D-CB2FBADA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불확실한 저감비용과 오염원의 전략적 행위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009473-C31B-C223-0332-DE5214E6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CEE47-5E7C-15E7-2D3C-D3D5D143995B}"/>
              </a:ext>
            </a:extLst>
          </p:cNvPr>
          <p:cNvSpPr txBox="1"/>
          <p:nvPr/>
        </p:nvSpPr>
        <p:spPr>
          <a:xfrm>
            <a:off x="678873" y="958844"/>
            <a:ext cx="1087276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 본 대로 정부가 오염원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기업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저감비용에 대해 정확히 모르는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 나름대로 추정한 한계저감비용에 기초하여 환경정책을 입안할 수도 있지만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저감비용을 오염원에게 직접 물어볼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오염원에게 저감비용에 관한 정보를 보고하도록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오염원이 저감비용을 정직하게 정부에게 보고한다면 저감비용의 불확실성으로 인한 문제는 발생하지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오염원 입장에서는 잘못된 저감비용 정보를 의도적으로 정부에게 보고하고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이로부터 이득을 얻으려는 전략적 행위를 할 가능성이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오염원은 정부가 선택한 정책에 따라 저감비용을 과장해서 보고하는 것이 유리할 수도 있고</a:t>
            </a:r>
            <a:r>
              <a:rPr lang="en-US" altLang="ko-KR" sz="1600" spc="-50" dirty="0"/>
              <a:t>,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반대로 저감비용을 축소해서 보고하는 것이 유리한 경우도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3263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167A-6AFA-EB02-D647-1B0B4911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79376B-3E24-A21D-B36A-C8436609B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69" y="1097319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75203D-52E1-B80E-863C-543B0C33D7DC}"/>
                  </a:ext>
                </a:extLst>
              </p:cNvPr>
              <p:cNvSpPr txBox="1"/>
              <p:nvPr/>
            </p:nvSpPr>
            <p:spPr>
              <a:xfrm>
                <a:off x="7989447" y="229125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75203D-52E1-B80E-863C-543B0C33D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447" y="2291255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00C810-F1D4-7ADE-76C1-91490CE47EFB}"/>
                  </a:ext>
                </a:extLst>
              </p:cNvPr>
              <p:cNvSpPr txBox="1"/>
              <p:nvPr/>
            </p:nvSpPr>
            <p:spPr>
              <a:xfrm>
                <a:off x="7972670" y="347842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00C810-F1D4-7ADE-76C1-91490CE47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670" y="3478421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3771F-C50E-96DD-59B7-A117BFB5DD8E}"/>
                  </a:ext>
                </a:extLst>
              </p:cNvPr>
              <p:cNvSpPr txBox="1"/>
              <p:nvPr/>
            </p:nvSpPr>
            <p:spPr>
              <a:xfrm>
                <a:off x="10498400" y="2888019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3771F-C50E-96DD-59B7-A117BFB5D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400" y="2888019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D7D9E20-E3C0-D60B-54CD-ECAB34426161}"/>
              </a:ext>
            </a:extLst>
          </p:cNvPr>
          <p:cNvSpPr txBox="1"/>
          <p:nvPr/>
        </p:nvSpPr>
        <p:spPr>
          <a:xfrm>
            <a:off x="9078265" y="5207342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71872B-B006-E4C9-AD2E-92DCA592516C}"/>
              </a:ext>
            </a:extLst>
          </p:cNvPr>
          <p:cNvSpPr txBox="1"/>
          <p:nvPr/>
        </p:nvSpPr>
        <p:spPr>
          <a:xfrm>
            <a:off x="9093164" y="55913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969546-93AB-64B2-77CD-767699CF17F5}"/>
              </a:ext>
            </a:extLst>
          </p:cNvPr>
          <p:cNvSpPr txBox="1"/>
          <p:nvPr/>
        </p:nvSpPr>
        <p:spPr>
          <a:xfrm>
            <a:off x="9530637" y="562218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54C652-7F96-9230-0FD0-75D7DF5BFAC9}"/>
              </a:ext>
            </a:extLst>
          </p:cNvPr>
          <p:cNvSpPr txBox="1"/>
          <p:nvPr/>
        </p:nvSpPr>
        <p:spPr>
          <a:xfrm>
            <a:off x="8412117" y="555357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6A6319-FCCC-64E9-829E-B704985B1BE2}"/>
              </a:ext>
            </a:extLst>
          </p:cNvPr>
          <p:cNvSpPr txBox="1"/>
          <p:nvPr/>
        </p:nvSpPr>
        <p:spPr>
          <a:xfrm>
            <a:off x="7814149" y="551843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B40A87-8271-3A5C-19B5-7527EA7DA406}"/>
              </a:ext>
            </a:extLst>
          </p:cNvPr>
          <p:cNvSpPr txBox="1"/>
          <p:nvPr/>
        </p:nvSpPr>
        <p:spPr>
          <a:xfrm>
            <a:off x="8057422" y="499960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16D5CA-C3C6-1F32-7D7A-BC984446B391}"/>
              </a:ext>
            </a:extLst>
          </p:cNvPr>
          <p:cNvSpPr txBox="1"/>
          <p:nvPr/>
        </p:nvSpPr>
        <p:spPr>
          <a:xfrm>
            <a:off x="8612537" y="521138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C7FDBE-CD0F-AB0B-7357-6F7E5038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배출권거래제와</a:t>
            </a:r>
            <a:r>
              <a:rPr lang="ko-KR" altLang="en-US" dirty="0"/>
              <a:t> 오염원의 전략적 행위</a:t>
            </a:r>
            <a:r>
              <a:rPr lang="en-US" altLang="ko-KR" dirty="0"/>
              <a:t>: </a:t>
            </a:r>
            <a:r>
              <a:rPr lang="ko-KR" altLang="en-US" dirty="0"/>
              <a:t>저감비용의 과대보고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43A73-72E4-F88E-48E2-AF72425F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7B3B47-BA53-D199-8458-19B6CC8532A1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오염원의 실제 한계저감비용곡선은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한계피해곡선은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MD</m:t>
                    </m:r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규모는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같이 실제보다 과장된 한계저감비용곡선을 보고하면 정부는 잘못된 정보를 바탕으로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해당하는 배출권을 분배할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실제 한계저감비용을 바탕으로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시장에서 거래를 할 것이므로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하락하게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실제 저감비용을 보고하면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오염물질을 저감한다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 err="1"/>
                  <a:t>e+f+g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구매비용은 </a:t>
                </a:r>
                <a:r>
                  <a:rPr lang="en-US" altLang="ko-KR" sz="1600" spc="-50" dirty="0" err="1"/>
                  <a:t>a+b+c+d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</a:t>
                </a:r>
                <a:r>
                  <a:rPr lang="en-US" altLang="ko-KR" sz="1600" spc="-50" dirty="0" err="1"/>
                  <a:t>a+b+c+d+e+f+g</a:t>
                </a:r>
                <a:r>
                  <a:rPr lang="ko-KR" altLang="en-US" sz="1600" spc="-50" dirty="0"/>
                  <a:t> 만큼의 비용이 소요된다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보고하면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오염물질을 저감한다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/>
                  <a:t>g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구매비용은 </a:t>
                </a:r>
                <a:r>
                  <a:rPr lang="en-US" altLang="ko-KR" sz="1600" spc="-50" dirty="0" err="1"/>
                  <a:t>b+c+f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총 </a:t>
                </a:r>
                <a:r>
                  <a:rPr lang="en-US" altLang="ko-KR" sz="1600" spc="-50" dirty="0" err="1"/>
                  <a:t>b+c+f+g</a:t>
                </a:r>
                <a:r>
                  <a:rPr lang="ko-KR" altLang="en-US" sz="1600" spc="-50" dirty="0"/>
                  <a:t>만큼의 비용이 소요된다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거짓보고를 통해 </a:t>
                </a:r>
                <a:r>
                  <a:rPr lang="en-US" altLang="ko-KR" sz="1600" spc="-50" dirty="0" err="1"/>
                  <a:t>a+d+e</a:t>
                </a:r>
                <a:r>
                  <a:rPr lang="ko-KR" altLang="en-US" sz="1600" spc="-50" dirty="0"/>
                  <a:t>만큼의 비용을 절감할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7B3B47-BA53-D199-8458-19B6CC853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blipFill>
                <a:blip r:embed="rId6"/>
                <a:stretch>
                  <a:fillRect r="-84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41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A40E8-1DFC-46A0-8BBE-D656BB8A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6F2BA5-2999-AFBC-F579-637A682F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987" y="1094453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6E1BA6-FA9A-0110-E01B-9BBE90325539}"/>
                  </a:ext>
                </a:extLst>
              </p:cNvPr>
              <p:cNvSpPr txBox="1"/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6E1BA6-FA9A-0110-E01B-9BBE90325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3AD7FA-8305-B6F4-9428-D296735E4E76}"/>
                  </a:ext>
                </a:extLst>
              </p:cNvPr>
              <p:cNvSpPr txBox="1"/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3AD7FA-8305-B6F4-9428-D296735E4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38F23E-F762-A365-2552-57C799248789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38F23E-F762-A365-2552-57C799248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5BD186A-6B8A-2834-C33E-4E88B9958D86}"/>
              </a:ext>
            </a:extLst>
          </p:cNvPr>
          <p:cNvSpPr txBox="1"/>
          <p:nvPr/>
        </p:nvSpPr>
        <p:spPr>
          <a:xfrm>
            <a:off x="9278395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EB77D3-51CC-BB9A-CEA2-02DD3F5D72E6}"/>
              </a:ext>
            </a:extLst>
          </p:cNvPr>
          <p:cNvSpPr txBox="1"/>
          <p:nvPr/>
        </p:nvSpPr>
        <p:spPr>
          <a:xfrm>
            <a:off x="9290977" y="493357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4C95EC-38C5-2B68-6435-A5473059B5AC}"/>
              </a:ext>
            </a:extLst>
          </p:cNvPr>
          <p:cNvSpPr txBox="1"/>
          <p:nvPr/>
        </p:nvSpPr>
        <p:spPr>
          <a:xfrm>
            <a:off x="9537205" y="56250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9D86D6-4D02-2060-68D8-E868988F8EBC}"/>
              </a:ext>
            </a:extLst>
          </p:cNvPr>
          <p:cNvSpPr txBox="1"/>
          <p:nvPr/>
        </p:nvSpPr>
        <p:spPr>
          <a:xfrm>
            <a:off x="8810014" y="544306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E07F43-A865-7568-7BEF-5461CD7B06F5}"/>
              </a:ext>
            </a:extLst>
          </p:cNvPr>
          <p:cNvSpPr txBox="1"/>
          <p:nvPr/>
        </p:nvSpPr>
        <p:spPr>
          <a:xfrm>
            <a:off x="8123516" y="499015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E7A22D-E2A1-7231-9627-5EFC4FDCA7D9}"/>
              </a:ext>
            </a:extLst>
          </p:cNvPr>
          <p:cNvSpPr txBox="1"/>
          <p:nvPr/>
        </p:nvSpPr>
        <p:spPr>
          <a:xfrm>
            <a:off x="8123516" y="445032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3295CC-7541-170E-1010-6AF93357B8BD}"/>
              </a:ext>
            </a:extLst>
          </p:cNvPr>
          <p:cNvSpPr txBox="1"/>
          <p:nvPr/>
        </p:nvSpPr>
        <p:spPr>
          <a:xfrm>
            <a:off x="8810014" y="439168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AA5671-33BA-45FB-9D97-3E03BACA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배출부과금제와 오염원의 전략적 행위</a:t>
            </a:r>
            <a:r>
              <a:rPr lang="en-US" altLang="ko-KR" dirty="0"/>
              <a:t>: </a:t>
            </a:r>
            <a:r>
              <a:rPr lang="ko-KR" altLang="en-US" dirty="0"/>
              <a:t>저감비용의 과소보고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6527BA-6FC8-1E3D-29CD-955B3796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776D8-3B74-C827-F6C2-E99476561D13}"/>
              </a:ext>
            </a:extLst>
          </p:cNvPr>
          <p:cNvSpPr txBox="1"/>
          <p:nvPr/>
        </p:nvSpPr>
        <p:spPr>
          <a:xfrm>
            <a:off x="9641765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BAC33-A30B-6412-E0CB-0B0DF243900A}"/>
              </a:ext>
            </a:extLst>
          </p:cNvPr>
          <p:cNvSpPr txBox="1"/>
          <p:nvPr/>
        </p:nvSpPr>
        <p:spPr>
          <a:xfrm>
            <a:off x="9667380" y="51508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D85B9-8DE8-F638-6202-182C992F454B}"/>
              </a:ext>
            </a:extLst>
          </p:cNvPr>
          <p:cNvSpPr txBox="1"/>
          <p:nvPr/>
        </p:nvSpPr>
        <p:spPr>
          <a:xfrm>
            <a:off x="10124579" y="5339573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j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53BF0C-2738-B3BA-2330-009A2B649A12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오염원의 실제 한계저감비용곡선은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한계피해곡선은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MD</m:t>
                    </m:r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규모는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같이 실제보다 축소된 한계저감비용곡선을 보고하면 정부는 잘못된 정보를 바탕으로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배출부과금을 결정할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실제 저감비용을 보고하면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배출부과금을 징수한다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오염물질 배출을 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 err="1"/>
                  <a:t>g+h+i+j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배출부과금 비용은 </a:t>
                </a:r>
                <a:r>
                  <a:rPr lang="en-US" altLang="ko-KR" sz="1600" spc="-50" dirty="0" err="1"/>
                  <a:t>a+b+c+d+e+f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</a:t>
                </a:r>
                <a:r>
                  <a:rPr lang="en-US" altLang="ko-KR" sz="1600" spc="-50" dirty="0" err="1"/>
                  <a:t>a+b+c+d+e+f+g+h+i+j</a:t>
                </a:r>
                <a:r>
                  <a:rPr lang="ko-KR" altLang="en-US" sz="1600" spc="-50" dirty="0"/>
                  <a:t> 만큼의 비용이 소요된다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보고하면 정부가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배출부과금을 징수한다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오염물질 배출을 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/>
                  <a:t>j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배출부과금 비용은 </a:t>
                </a:r>
                <a:r>
                  <a:rPr lang="en-US" altLang="ko-KR" sz="1600" spc="-50" dirty="0" err="1"/>
                  <a:t>b+c+f+g+h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총 </a:t>
                </a:r>
                <a:r>
                  <a:rPr lang="en-US" altLang="ko-KR" sz="1600" spc="-50" dirty="0" err="1"/>
                  <a:t>b+c+f+g+h+j</a:t>
                </a:r>
                <a:r>
                  <a:rPr lang="ko-KR" altLang="en-US" sz="1600" spc="-50" dirty="0"/>
                  <a:t>만큼의 비용이 소요된다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거짓보고를 통해 </a:t>
                </a:r>
                <a:r>
                  <a:rPr lang="en-US" altLang="ko-KR" sz="1600" spc="-50" dirty="0" err="1"/>
                  <a:t>a+d+e+i</a:t>
                </a:r>
                <a:r>
                  <a:rPr lang="ko-KR" altLang="en-US" sz="1600" spc="-50" dirty="0"/>
                  <a:t>만큼의 비용을 절감할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53BF0C-2738-B3BA-2330-009A2B64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blipFill>
                <a:blip r:embed="rId6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499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5D15-B250-721D-B760-67E6F821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29C460-9F29-1635-EDED-3E024917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69" y="1101036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5960A0-AB3E-5E46-B683-5077DDE2EBAA}"/>
                  </a:ext>
                </a:extLst>
              </p:cNvPr>
              <p:cNvSpPr txBox="1"/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5960A0-AB3E-5E46-B683-5077DDE2E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DA9EC1-47AD-94D3-D9A0-A6B6213641D6}"/>
                  </a:ext>
                </a:extLst>
              </p:cNvPr>
              <p:cNvSpPr txBox="1"/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DA9EC1-47AD-94D3-D9A0-A6B621364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1202E6-0486-E6AA-7FA0-1B35140CF8D8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1202E6-0486-E6AA-7FA0-1B35140CF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ACD7F3B-1E90-92E9-3A7A-12CF7959AF1E}"/>
              </a:ext>
            </a:extLst>
          </p:cNvPr>
          <p:cNvSpPr txBox="1"/>
          <p:nvPr/>
        </p:nvSpPr>
        <p:spPr>
          <a:xfrm>
            <a:off x="8553897" y="482472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5C29B-0CBA-981B-94C0-9EAE3AC794D9}"/>
              </a:ext>
            </a:extLst>
          </p:cNvPr>
          <p:cNvSpPr txBox="1"/>
          <p:nvPr/>
        </p:nvSpPr>
        <p:spPr>
          <a:xfrm>
            <a:off x="8653861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8F10FB-A56C-39A2-4E39-ED354E65ED69}"/>
              </a:ext>
            </a:extLst>
          </p:cNvPr>
          <p:cNvSpPr txBox="1"/>
          <p:nvPr/>
        </p:nvSpPr>
        <p:spPr>
          <a:xfrm>
            <a:off x="8868339" y="43508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D3D5F3-EE26-8E83-B3FA-87A07C9276CE}"/>
              </a:ext>
            </a:extLst>
          </p:cNvPr>
          <p:cNvSpPr txBox="1"/>
          <p:nvPr/>
        </p:nvSpPr>
        <p:spPr>
          <a:xfrm>
            <a:off x="8253691" y="551503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2C9ECB-DC32-AC81-EDD8-37FAE71B655A}"/>
              </a:ext>
            </a:extLst>
          </p:cNvPr>
          <p:cNvSpPr txBox="1"/>
          <p:nvPr/>
        </p:nvSpPr>
        <p:spPr>
          <a:xfrm>
            <a:off x="8053000" y="50123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C81622-AC97-6B31-B31B-8B5F2A9C3490}"/>
              </a:ext>
            </a:extLst>
          </p:cNvPr>
          <p:cNvSpPr txBox="1"/>
          <p:nvPr/>
        </p:nvSpPr>
        <p:spPr>
          <a:xfrm>
            <a:off x="8055783" y="444937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9D0D9B-9143-4EE6-BB11-44F2A46BE15F}"/>
              </a:ext>
            </a:extLst>
          </p:cNvPr>
          <p:cNvSpPr txBox="1"/>
          <p:nvPr/>
        </p:nvSpPr>
        <p:spPr>
          <a:xfrm>
            <a:off x="8553897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7F4738-4039-BFDB-E3E2-C9034A59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퀴렐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C34F7E-0C53-2834-34E2-852D7984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B36B1-829F-E58F-FC6B-2572E5C7847C}"/>
              </a:ext>
            </a:extLst>
          </p:cNvPr>
          <p:cNvSpPr txBox="1"/>
          <p:nvPr/>
        </p:nvSpPr>
        <p:spPr>
          <a:xfrm>
            <a:off x="9119567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733AC9-7ED2-0256-6D7C-C47A8D110434}"/>
              </a:ext>
            </a:extLst>
          </p:cNvPr>
          <p:cNvSpPr txBox="1"/>
          <p:nvPr/>
        </p:nvSpPr>
        <p:spPr>
          <a:xfrm>
            <a:off x="9239250" y="46993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3D60CB-305F-A108-B59F-37633274A81D}"/>
              </a:ext>
            </a:extLst>
          </p:cNvPr>
          <p:cNvSpPr txBox="1"/>
          <p:nvPr/>
        </p:nvSpPr>
        <p:spPr>
          <a:xfrm>
            <a:off x="9565515" y="5635632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j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27D410-AEF0-E35B-5931-FB46E387AEBC}"/>
                  </a:ext>
                </a:extLst>
              </p:cNvPr>
              <p:cNvSpPr txBox="1"/>
              <p:nvPr/>
            </p:nvSpPr>
            <p:spPr>
              <a:xfrm>
                <a:off x="255234" y="958844"/>
                <a:ext cx="7051499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살펴보았듯이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정부의 수량 혹은 가격정책에 따라 과대보고 혹은 과소보고 할 유인이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 err="1"/>
                  <a:t>Kwerel</a:t>
                </a:r>
                <a:r>
                  <a:rPr lang="en-US" altLang="ko-KR" sz="1600" spc="-50" dirty="0"/>
                  <a:t> (1977)</a:t>
                </a:r>
                <a:r>
                  <a:rPr lang="ko-KR" altLang="en-US" sz="1600" spc="-50" dirty="0"/>
                  <a:t>에 따르면 정부는 수량정책과 가격정책을 혼합하여 시행하면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한계저감비용을 거짓으로 보고하려는 유인을 완전히 없앨 수 있음을 보였다</a:t>
                </a:r>
                <a:r>
                  <a:rPr lang="en-US" altLang="ko-KR" sz="1600" spc="-50" dirty="0"/>
                  <a:t>. </a:t>
                </a:r>
                <a:r>
                  <a:rPr lang="en-US" altLang="ko-KR" sz="1600" spc="-50" dirty="0" err="1"/>
                  <a:t>Kwerel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메커니즘은 아래와 같이 진행된다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시행하고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이에 따라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오염원이 한계저감비용함수를 과대보고</a:t>
                </a:r>
                <a:r>
                  <a:rPr lang="en-US" altLang="ko-KR" sz="1600" spc="-5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하고 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</a:t>
                </a:r>
                <a:r>
                  <a:rPr lang="ko-KR" altLang="en-US" sz="1600" dirty="0"/>
                  <a:t>충족하는 배출권을 발행한다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보유한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중 사용되지 않은 것에 대해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단위당 보조금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발행한 배출권에서의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와 일치는 수준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지급한다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27D410-AEF0-E35B-5931-FB46E387A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4" y="958844"/>
                <a:ext cx="7051499" cy="4476675"/>
              </a:xfrm>
              <a:prstGeom prst="rect">
                <a:avLst/>
              </a:prstGeom>
              <a:blipFill>
                <a:blip r:embed="rId6"/>
                <a:stretch>
                  <a:fillRect r="-17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044F26D-C2B3-6BFA-1591-757CF7174CE5}"/>
              </a:ext>
            </a:extLst>
          </p:cNvPr>
          <p:cNvSpPr txBox="1"/>
          <p:nvPr/>
        </p:nvSpPr>
        <p:spPr>
          <a:xfrm>
            <a:off x="9864707" y="523803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k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21586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BB5F-0497-9455-56B9-AF49CADB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E3BC3F-DE21-534F-1CC8-25393A7E6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69" y="1101036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EAEBB7-916F-11BD-56ED-451D2A25FBC5}"/>
                  </a:ext>
                </a:extLst>
              </p:cNvPr>
              <p:cNvSpPr txBox="1"/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EAEBB7-916F-11BD-56ED-451D2A25F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8DF357-95CF-8C27-58BB-CF1482E695EB}"/>
                  </a:ext>
                </a:extLst>
              </p:cNvPr>
              <p:cNvSpPr txBox="1"/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8DF357-95CF-8C27-58BB-CF1482E69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B4AECA-B7A2-1A68-E11F-ADD8A165A0B4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B4AECA-B7A2-1A68-E11F-ADD8A165A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310BA06-413E-41A8-12AA-5C0B4E59E8CC}"/>
              </a:ext>
            </a:extLst>
          </p:cNvPr>
          <p:cNvSpPr txBox="1"/>
          <p:nvPr/>
        </p:nvSpPr>
        <p:spPr>
          <a:xfrm>
            <a:off x="8553897" y="482472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A5792F-1682-46C9-7635-BCCF947DE396}"/>
              </a:ext>
            </a:extLst>
          </p:cNvPr>
          <p:cNvSpPr txBox="1"/>
          <p:nvPr/>
        </p:nvSpPr>
        <p:spPr>
          <a:xfrm>
            <a:off x="8653861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AECE9E-F60D-1694-ED28-19AE6611E775}"/>
              </a:ext>
            </a:extLst>
          </p:cNvPr>
          <p:cNvSpPr txBox="1"/>
          <p:nvPr/>
        </p:nvSpPr>
        <p:spPr>
          <a:xfrm>
            <a:off x="8868339" y="43508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ED0387-A027-2CCD-8783-B1773105C792}"/>
              </a:ext>
            </a:extLst>
          </p:cNvPr>
          <p:cNvSpPr txBox="1"/>
          <p:nvPr/>
        </p:nvSpPr>
        <p:spPr>
          <a:xfrm>
            <a:off x="8253691" y="551503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906413-0FE5-1680-AF86-A4D822ED57E3}"/>
              </a:ext>
            </a:extLst>
          </p:cNvPr>
          <p:cNvSpPr txBox="1"/>
          <p:nvPr/>
        </p:nvSpPr>
        <p:spPr>
          <a:xfrm>
            <a:off x="8053000" y="50123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DC5C12-CF7C-C66B-3793-3341AD397291}"/>
              </a:ext>
            </a:extLst>
          </p:cNvPr>
          <p:cNvSpPr txBox="1"/>
          <p:nvPr/>
        </p:nvSpPr>
        <p:spPr>
          <a:xfrm>
            <a:off x="8055783" y="444937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7B4A3F-6F92-22E5-7922-E43F5C8B161A}"/>
              </a:ext>
            </a:extLst>
          </p:cNvPr>
          <p:cNvSpPr txBox="1"/>
          <p:nvPr/>
        </p:nvSpPr>
        <p:spPr>
          <a:xfrm>
            <a:off x="8553897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335941-7136-D915-CE06-19862223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퀴렐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2DA15F-1E77-2300-44D9-22C3BC4F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368138-927A-5258-2AE8-9DAF87A4C007}"/>
              </a:ext>
            </a:extLst>
          </p:cNvPr>
          <p:cNvSpPr txBox="1"/>
          <p:nvPr/>
        </p:nvSpPr>
        <p:spPr>
          <a:xfrm>
            <a:off x="9119567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EAE47C-1A77-674D-1529-448E6ADEF03B}"/>
              </a:ext>
            </a:extLst>
          </p:cNvPr>
          <p:cNvSpPr txBox="1"/>
          <p:nvPr/>
        </p:nvSpPr>
        <p:spPr>
          <a:xfrm>
            <a:off x="9239250" y="46993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6060B3-0CE8-3FB3-62E5-D31AFD83B04E}"/>
              </a:ext>
            </a:extLst>
          </p:cNvPr>
          <p:cNvSpPr txBox="1"/>
          <p:nvPr/>
        </p:nvSpPr>
        <p:spPr>
          <a:xfrm>
            <a:off x="9565515" y="5635632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j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630589-4624-EAF7-B5A3-1E1C488F40F9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059966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시행하고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이에 따라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오염원이 한계저감비용함수를 과대보고</a:t>
                </a:r>
                <a:r>
                  <a:rPr lang="en-US" altLang="ko-KR" sz="1600" spc="-5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오염원이 과장해서 알린 저감비용에 기초하여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배출권을 발행한다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동시에 오염원의 실제 배출량이 오염원이 보유한 배출권보다 적으면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차이에 대해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만큼의 보조금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에서의 한계피해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지급한다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보조금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하는 역할은 과장보고로 인해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발행량이</a:t>
                </a:r>
                <a:r>
                  <a:rPr lang="ko-KR" altLang="en-US" sz="1600" spc="-50" dirty="0"/>
                  <a:t> 지나치게 </a:t>
                </a:r>
                <a:r>
                  <a:rPr lang="ko-KR" altLang="en-US" sz="1600" spc="-50" dirty="0" err="1"/>
                  <a:t>많아졌음에도</a:t>
                </a:r>
                <a:r>
                  <a:rPr lang="ko-KR" altLang="en-US" sz="1600" spc="-50" dirty="0"/>
                  <a:t> 불구하고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가격이 하락하지 않도록 하는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가격이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보다 낮으면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배출권을 추가로 산 뒤 배출량을 늘리지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늘어난 배출권에 대해서 보조금을 받아 이윤을 얻을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필연적으로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시장가격은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수준에 묶여 있게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630589-4624-EAF7-B5A3-1E1C488F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059966" cy="4846007"/>
              </a:xfrm>
              <a:prstGeom prst="rect">
                <a:avLst/>
              </a:prstGeom>
              <a:blipFill>
                <a:blip r:embed="rId6"/>
                <a:stretch>
                  <a:fillRect r="-432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4BDF5F4-0BA4-FEB0-1563-0657BF9537B7}"/>
              </a:ext>
            </a:extLst>
          </p:cNvPr>
          <p:cNvSpPr txBox="1"/>
          <p:nvPr/>
        </p:nvSpPr>
        <p:spPr>
          <a:xfrm>
            <a:off x="9864707" y="523803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k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6244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A616-AAF4-E6FA-DC9C-EBA74AFF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FAC099-35C8-A1B6-C5C3-BC142C6E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69" y="1101036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7D6675-14BD-4D14-2297-BBE2BB39C119}"/>
                  </a:ext>
                </a:extLst>
              </p:cNvPr>
              <p:cNvSpPr txBox="1"/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7D6675-14BD-4D14-2297-BBE2BB39C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1A49CE-C6EA-604A-A262-DD07DA7A58DF}"/>
                  </a:ext>
                </a:extLst>
              </p:cNvPr>
              <p:cNvSpPr txBox="1"/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1A49CE-C6EA-604A-A262-DD07DA7A5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37BC73-0C2C-4D4A-FA4E-FA6666286F1D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37BC73-0C2C-4D4A-FA4E-FA6666286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E9658F4-B425-56D6-E058-B1AB866F3B9F}"/>
              </a:ext>
            </a:extLst>
          </p:cNvPr>
          <p:cNvSpPr txBox="1"/>
          <p:nvPr/>
        </p:nvSpPr>
        <p:spPr>
          <a:xfrm>
            <a:off x="8553897" y="482472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9C235E-9CB7-A223-AF77-72296FD33CE2}"/>
              </a:ext>
            </a:extLst>
          </p:cNvPr>
          <p:cNvSpPr txBox="1"/>
          <p:nvPr/>
        </p:nvSpPr>
        <p:spPr>
          <a:xfrm>
            <a:off x="8653861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9E4AFC-0946-96E1-9D43-CB436E7A250B}"/>
              </a:ext>
            </a:extLst>
          </p:cNvPr>
          <p:cNvSpPr txBox="1"/>
          <p:nvPr/>
        </p:nvSpPr>
        <p:spPr>
          <a:xfrm>
            <a:off x="8868339" y="43508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87D2D-7722-FFA5-B1C2-04DA7D5CE48B}"/>
              </a:ext>
            </a:extLst>
          </p:cNvPr>
          <p:cNvSpPr txBox="1"/>
          <p:nvPr/>
        </p:nvSpPr>
        <p:spPr>
          <a:xfrm>
            <a:off x="8253691" y="551503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E42BC-4875-E6DD-B663-173CF011C87A}"/>
              </a:ext>
            </a:extLst>
          </p:cNvPr>
          <p:cNvSpPr txBox="1"/>
          <p:nvPr/>
        </p:nvSpPr>
        <p:spPr>
          <a:xfrm>
            <a:off x="8053000" y="50123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4596B7-8AFE-7B6C-B100-9527F81B554D}"/>
              </a:ext>
            </a:extLst>
          </p:cNvPr>
          <p:cNvSpPr txBox="1"/>
          <p:nvPr/>
        </p:nvSpPr>
        <p:spPr>
          <a:xfrm>
            <a:off x="8055783" y="444937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9C9083-1664-115F-1C0A-E59F9A4EF506}"/>
              </a:ext>
            </a:extLst>
          </p:cNvPr>
          <p:cNvSpPr txBox="1"/>
          <p:nvPr/>
        </p:nvSpPr>
        <p:spPr>
          <a:xfrm>
            <a:off x="8553897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455DC3-8C0E-5C26-F85F-6EE36E35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퀴렐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D742A-A4F9-B225-40A9-4F91BC33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01FA4A-0FC9-C619-C04F-4F5F3E19BDA3}"/>
              </a:ext>
            </a:extLst>
          </p:cNvPr>
          <p:cNvSpPr txBox="1"/>
          <p:nvPr/>
        </p:nvSpPr>
        <p:spPr>
          <a:xfrm>
            <a:off x="9119567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4929D-6774-972B-46A0-360C65BFF464}"/>
              </a:ext>
            </a:extLst>
          </p:cNvPr>
          <p:cNvSpPr txBox="1"/>
          <p:nvPr/>
        </p:nvSpPr>
        <p:spPr>
          <a:xfrm>
            <a:off x="9239250" y="46993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0FECD-5EBC-B569-7EF8-6252B8DE2126}"/>
              </a:ext>
            </a:extLst>
          </p:cNvPr>
          <p:cNvSpPr txBox="1"/>
          <p:nvPr/>
        </p:nvSpPr>
        <p:spPr>
          <a:xfrm>
            <a:off x="9565515" y="5635632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j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EC3E4A-8B56-88CF-6052-5DA7635F8962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059966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이런 상황에서 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배출권을 가지고 있으나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 배출하게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보다도 더 많은 오염물질을 배출하면 실제 한계저감비용이 정부의 보조금보다도 낮고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배출 대신 저감을 하여 보조금을 받는 것이 더 유리하기 때문이다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결과적으로 오염원은 저감비용을 과장하게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최적보다도 오히려 더 적은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배출하고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만큼에 대해 보조금을 받는다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과장보고를 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 한계저감비용을 보고하면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총 비용이 </a:t>
                </a:r>
                <a:r>
                  <a:rPr lang="en-US" altLang="ko-KR" sz="1600" spc="-50" dirty="0" err="1"/>
                  <a:t>b+c+e+f+i+j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저감비용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i+j</a:t>
                </a:r>
                <a:r>
                  <a:rPr lang="en-US" altLang="ko-KR" sz="1600" spc="-50" dirty="0"/>
                  <a:t>            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구입비용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b+c+e+f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과장보고를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총 비용이 </a:t>
                </a:r>
                <a:r>
                  <a:rPr lang="en-US" altLang="ko-KR" sz="1600" spc="-50" dirty="0" err="1"/>
                  <a:t>a+b+c+d+e+f+i+j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저감비용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d+e+f+i+j</a:t>
                </a:r>
                <a:r>
                  <a:rPr lang="en-US" altLang="ko-KR" sz="1600" spc="-50" dirty="0"/>
                  <a:t>  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구입비용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a+b+c+d+e+f+g+h+i</a:t>
                </a: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r>
                  <a:rPr lang="en-US" altLang="ko-KR" sz="1600" spc="-50" dirty="0"/>
                  <a:t>                                   </a:t>
                </a:r>
                <a:r>
                  <a:rPr lang="ko-KR" altLang="en-US" sz="1600" spc="-50" dirty="0"/>
                  <a:t>정부 보조금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d+e+f+g+h+i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거짓된 보고를 하면 총비용이 </a:t>
                </a:r>
                <a:r>
                  <a:rPr lang="en-US" altLang="ko-KR" sz="1600" spc="-50" dirty="0" err="1"/>
                  <a:t>a+d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증가하게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실제 한계저감비용을 보고할 유인이 생기게 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EC3E4A-8B56-88CF-6052-5DA7635F8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059966" cy="5584670"/>
              </a:xfrm>
              <a:prstGeom prst="rect">
                <a:avLst/>
              </a:prstGeom>
              <a:blipFill>
                <a:blip r:embed="rId6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C081A91-CBFB-6B55-AF45-1702166F9301}"/>
              </a:ext>
            </a:extLst>
          </p:cNvPr>
          <p:cNvSpPr txBox="1"/>
          <p:nvPr/>
        </p:nvSpPr>
        <p:spPr>
          <a:xfrm>
            <a:off x="9864707" y="523803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k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98861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F1B6-04F9-5256-47B7-F3BBC9DC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5622A0-31BC-56B1-3A8A-C4DAF5A35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17" y="1082898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870635-91EA-AC38-A272-0685D273CFC9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870635-91EA-AC38-A272-0685D273C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7A313D-29B8-058B-7D23-63A58AF1195D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7A313D-29B8-058B-7D23-63A58AF11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AAA644B0-5420-867E-F3E9-DD2D2F86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CF439A-17AC-D050-FA53-BE540905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A0CBBFB-462A-8CCE-A721-D7C8C4590D38}"/>
                  </a:ext>
                </a:extLst>
              </p:cNvPr>
              <p:cNvSpPr txBox="1"/>
              <p:nvPr/>
            </p:nvSpPr>
            <p:spPr>
              <a:xfrm>
                <a:off x="94368" y="958844"/>
                <a:ext cx="7194879" cy="55853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Montero (2008)</a:t>
                </a:r>
                <a:r>
                  <a:rPr lang="ko-KR" altLang="en-US" sz="1600" dirty="0"/>
                  <a:t>은 오염원이 한계저감비용 정보를 드러나게끔 하는 또 다른 방법을 소개하고 있다</a:t>
                </a:r>
                <a:r>
                  <a:rPr lang="en-US" altLang="ko-KR" sz="1600" dirty="0"/>
                  <a:t>. Montero </a:t>
                </a:r>
                <a:r>
                  <a:rPr lang="ko-KR" altLang="en-US" sz="1600" dirty="0"/>
                  <a:t>메커니즘은 아래와 같이 진행된다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오염원은 한계저감비용을 과소보고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ko-KR" sz="1600" dirty="0"/>
                  <a:t>) </a:t>
                </a:r>
                <a:r>
                  <a:rPr lang="ko-KR" altLang="en-US" sz="1600" dirty="0"/>
                  <a:t>하고 있다고 하자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Cambria Math" panose="02040503050406030204" pitchFamily="18" charset="0"/>
                  </a:rPr>
                  <a:t>를  </a:t>
                </a:r>
                <a:r>
                  <a:rPr lang="ko-KR" altLang="en-US" sz="1600" dirty="0"/>
                  <a:t>충족하는 양의 배출권을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dirty="0"/>
                  <a:t> 금액에 오염원에게 판매한다</a:t>
                </a:r>
                <a:r>
                  <a:rPr lang="en-US" altLang="ko-KR" sz="1600" dirty="0"/>
                  <a:t>.</a:t>
                </a:r>
                <a:r>
                  <a:rPr lang="ko-KR" altLang="en-US" sz="1600" dirty="0"/>
                  <a:t> </a:t>
                </a: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 err="1"/>
                  <a:t>배출권</a:t>
                </a:r>
                <a:r>
                  <a:rPr lang="ko-KR" altLang="en-US" sz="1600" dirty="0"/>
                  <a:t> 판매액 중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의 비율을 오염원에게 돌려준다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즉 오염원은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금액 만큼을 되돌려 받는다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위와 같이 정책이 실행되면 오염원은 자신에게 가장 유리한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를 제출한다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정부는 오염원의 행위를 염두에 두고 최적의 </a:t>
                </a:r>
                <a:r>
                  <a:rPr lang="ko-KR" altLang="en-US" sz="1600" dirty="0" err="1"/>
                  <a:t>반환율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를 정해 거짓된 보고 유인을 아예 없애려 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이때 최적 </a:t>
                </a:r>
                <a:r>
                  <a:rPr lang="ko-KR" altLang="en-US" sz="1600" dirty="0" err="1"/>
                  <a:t>반환율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는 아래와 같아야 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는 오염의 총피해액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는 평균피해액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ko-KR" altLang="en-US" sz="16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한계피해액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A0CBBFB-462A-8CCE-A721-D7C8C4590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8" y="958844"/>
                <a:ext cx="7194879" cy="5585375"/>
              </a:xfrm>
              <a:prstGeom prst="rect">
                <a:avLst/>
              </a:prstGeom>
              <a:blipFill>
                <a:blip r:embed="rId5"/>
                <a:stretch>
                  <a:fillRect r="-169" b="-3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F16F0D-0F28-1513-DF6F-B0F4A7BCF007}"/>
                  </a:ext>
                </a:extLst>
              </p:cNvPr>
              <p:cNvSpPr txBox="1"/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F16F0D-0F28-1513-DF6F-B0F4A7BCF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3C9402-3F09-11D8-9547-E824B61920F7}"/>
                  </a:ext>
                </a:extLst>
              </p:cNvPr>
              <p:cNvSpPr txBox="1"/>
              <p:nvPr/>
            </p:nvSpPr>
            <p:spPr>
              <a:xfrm>
                <a:off x="1182059" y="5470304"/>
                <a:ext cx="4135507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3C9402-3F09-11D8-9547-E824B6192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059" y="5470304"/>
                <a:ext cx="4135507" cy="669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527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33EC-0CE4-E26B-EAED-FCA08BBC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E78862-6481-4424-F357-688C1066F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17" y="1082898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4567A9-54B3-9034-DE81-4D036D2035F5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4567A9-54B3-9034-DE81-4D036D203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128A10-D6F9-85FA-A014-1653054E3FFB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128A10-D6F9-85FA-A014-1653054E3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73FE2A01-28E4-392B-547A-5F943915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BDEDE-9E1B-8173-D6A3-FA4A6BE8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760B1D-79EB-AD5D-E839-42F32E62CCF9}"/>
                  </a:ext>
                </a:extLst>
              </p:cNvPr>
              <p:cNvSpPr txBox="1"/>
              <p:nvPr/>
            </p:nvSpPr>
            <p:spPr>
              <a:xfrm>
                <a:off x="187501" y="958844"/>
                <a:ext cx="7186965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최적 </a:t>
                </a:r>
                <a:r>
                  <a:rPr lang="ko-KR" altLang="en-US" sz="1600" dirty="0" err="1"/>
                  <a:t>반환율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는 아래와 같다</a:t>
                </a:r>
                <a:r>
                  <a:rPr lang="en-US" altLang="ko-KR" sz="1600"/>
                  <a:t>.</a:t>
                </a: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한계피해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가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dirty="0"/>
                  <a:t>가 커질 때 계속 증가하면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새로 한 단위 배출되는 오염물질이 유발하는 피해가 이미 배출된 오염물질이 단위당 유발했던 피해보다 크기 때문에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의 관계가 성립한다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</a:t>
                </a:r>
                <a14:m>
                  <m:oMath xmlns:m="http://schemas.openxmlformats.org/officeDocument/2006/math">
                    <m:r>
                      <a:rPr lang="el-GR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는</a:t>
                </a:r>
                <a:r>
                  <a:rPr lang="en-US" altLang="ko-KR" sz="1600" dirty="0"/>
                  <a:t> 0</a:t>
                </a:r>
                <a:r>
                  <a:rPr lang="ko-KR" altLang="en-US" sz="1600" dirty="0"/>
                  <a:t>과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사이의 어떤 값이 된다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600" dirty="0"/>
                  <a:t> </a:t>
                </a:r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정부가 반환율인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를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으로 선택하게 되면 기업은 과소보고를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하게 되고</a:t>
                </a:r>
                <a:r>
                  <a:rPr lang="en-US" altLang="ko-KR" sz="1600" dirty="0"/>
                  <a:t>, 1</a:t>
                </a:r>
                <a:r>
                  <a:rPr lang="ko-KR" altLang="en-US" sz="1600" dirty="0"/>
                  <a:t>로 선택하게 되면 기업은 과대보고를 하게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760B1D-79EB-AD5D-E839-42F32E62C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01" y="958844"/>
                <a:ext cx="7186965" cy="4476675"/>
              </a:xfrm>
              <a:prstGeom prst="rect">
                <a:avLst/>
              </a:prstGeom>
              <a:blipFill>
                <a:blip r:embed="rId5"/>
                <a:stretch>
                  <a:fillRect r="-1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93B1B-5620-7805-FD76-CE6625FDF878}"/>
                  </a:ext>
                </a:extLst>
              </p:cNvPr>
              <p:cNvSpPr txBox="1"/>
              <p:nvPr/>
            </p:nvSpPr>
            <p:spPr>
              <a:xfrm>
                <a:off x="530351" y="1563457"/>
                <a:ext cx="4135507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93B1B-5620-7805-FD76-CE6625FDF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1" y="1563457"/>
                <a:ext cx="4135507" cy="669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445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7E19-E8E2-ED23-CDAD-C8A1836F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E8113E-C267-6776-24C2-152CC603E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17" y="1082898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0674EB-84E1-1180-95F5-A11A2A0FE853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0674EB-84E1-1180-95F5-A11A2A0FE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40B955-C45B-26A4-C55C-5A01AAAB8DFF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40B955-C45B-26A4-C55C-5A01AAAB8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C1C088-5CA7-7928-82D4-9523E0367F6E}"/>
              </a:ext>
            </a:extLst>
          </p:cNvPr>
          <p:cNvSpPr txBox="1"/>
          <p:nvPr/>
        </p:nvSpPr>
        <p:spPr>
          <a:xfrm>
            <a:off x="9188786" y="3713377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e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D2A1EC-F6EB-9205-9F8E-12D9257227E5}"/>
              </a:ext>
            </a:extLst>
          </p:cNvPr>
          <p:cNvSpPr txBox="1"/>
          <p:nvPr/>
        </p:nvSpPr>
        <p:spPr>
          <a:xfrm>
            <a:off x="9209335" y="4164550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f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636BFE-AC6C-1C24-1C29-7031C67C268F}"/>
              </a:ext>
            </a:extLst>
          </p:cNvPr>
          <p:cNvSpPr txBox="1"/>
          <p:nvPr/>
        </p:nvSpPr>
        <p:spPr>
          <a:xfrm>
            <a:off x="9415272" y="4516235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g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6A9989-2B1D-8663-C9C6-CB0519D36922}"/>
              </a:ext>
            </a:extLst>
          </p:cNvPr>
          <p:cNvSpPr txBox="1"/>
          <p:nvPr/>
        </p:nvSpPr>
        <p:spPr>
          <a:xfrm>
            <a:off x="8621880" y="5351950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c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A9AA2A-79EA-C041-1573-EFD74D5279C9}"/>
              </a:ext>
            </a:extLst>
          </p:cNvPr>
          <p:cNvSpPr txBox="1"/>
          <p:nvPr/>
        </p:nvSpPr>
        <p:spPr>
          <a:xfrm>
            <a:off x="8222085" y="4901977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1EB8CB-FF2E-4F4F-6567-3624FBBF4357}"/>
              </a:ext>
            </a:extLst>
          </p:cNvPr>
          <p:cNvSpPr txBox="1"/>
          <p:nvPr/>
        </p:nvSpPr>
        <p:spPr>
          <a:xfrm>
            <a:off x="8222085" y="421981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a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5938B-3CFF-13BA-BBE4-CCC69671472F}"/>
              </a:ext>
            </a:extLst>
          </p:cNvPr>
          <p:cNvSpPr txBox="1"/>
          <p:nvPr/>
        </p:nvSpPr>
        <p:spPr>
          <a:xfrm>
            <a:off x="8845885" y="4133717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d</a:t>
            </a:r>
            <a:endParaRPr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B7EBC3C-D6FA-F351-2877-B265B7FC9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C2800-C1EE-CAE7-BFA0-441EC542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3CC02-A58D-0DB9-892C-F84AAF4CEE7E}"/>
              </a:ext>
            </a:extLst>
          </p:cNvPr>
          <p:cNvSpPr txBox="1"/>
          <p:nvPr/>
        </p:nvSpPr>
        <p:spPr>
          <a:xfrm>
            <a:off x="9788323" y="5621213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i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593DF3-DFC0-53BB-8073-A2C1EF70793D}"/>
              </a:ext>
            </a:extLst>
          </p:cNvPr>
          <p:cNvSpPr txBox="1"/>
          <p:nvPr/>
        </p:nvSpPr>
        <p:spPr>
          <a:xfrm>
            <a:off x="9285097" y="537019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4F4A80-6F8E-AAF3-1E59-FAD2762052CB}"/>
              </a:ext>
            </a:extLst>
          </p:cNvPr>
          <p:cNvSpPr txBox="1"/>
          <p:nvPr/>
        </p:nvSpPr>
        <p:spPr>
          <a:xfrm>
            <a:off x="9946405" y="453182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607D0B-3E22-8F2C-2493-74235A0686A5}"/>
                  </a:ext>
                </a:extLst>
              </p:cNvPr>
              <p:cNvSpPr txBox="1"/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607D0B-3E22-8F2C-2493-74235A068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5D62D9-640F-1535-E042-89D53540F732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그림은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600" spc="-50" dirty="0"/>
                  <a:t>인 경우로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과소보고를 선택하는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제대로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배포가격은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</a:t>
                </a:r>
                <a:r>
                  <a:rPr lang="en-US" altLang="ko-KR" sz="1600" spc="-50" dirty="0" err="1"/>
                  <a:t>a+b+c+d+f+g+h</a:t>
                </a:r>
                <a:r>
                  <a:rPr lang="ko-KR" altLang="en-US" sz="1600" spc="-50" dirty="0"/>
                  <a:t> 이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 비용은 </a:t>
                </a:r>
                <a:r>
                  <a:rPr lang="en-US" altLang="ko-KR" sz="1600" spc="-50" dirty="0" err="1"/>
                  <a:t>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 err="1"/>
                  <a:t>a+b+c+d+f+g+h+i+j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축소하여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가격은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</a:t>
                </a:r>
                <a:r>
                  <a:rPr lang="en-US" altLang="ko-KR" sz="1600" spc="-50" dirty="0" err="1"/>
                  <a:t>b+c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 err="1"/>
                  <a:t>e+f+g+h+i+j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 err="1"/>
                  <a:t>b+c+e+f+g+h+i+j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한계저감비용을 축소하여 제출하면 </a:t>
                </a:r>
                <a:r>
                  <a:rPr lang="en-US" altLang="ko-KR" sz="1600" spc="-50" dirty="0" err="1"/>
                  <a:t>a+d-e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비용을 절감할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 err="1"/>
                  <a:t>Bulckaen</a:t>
                </a:r>
                <a:r>
                  <a:rPr lang="en-US" altLang="ko-KR" sz="1600" spc="-50" dirty="0"/>
                  <a:t> (1997)</a:t>
                </a:r>
                <a:r>
                  <a:rPr lang="ko-KR" altLang="en-US" sz="1600" spc="-50" dirty="0"/>
                  <a:t>에 따르면 사회적 최적인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에서는 면적 </a:t>
                </a:r>
                <a:r>
                  <a:rPr lang="en-US" altLang="ko-KR" sz="1600" spc="-50" dirty="0" err="1"/>
                  <a:t>a+d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보다 큼을 확인하였다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5D62D9-640F-1535-E042-89D53540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4846007"/>
              </a:xfrm>
              <a:prstGeom prst="rect">
                <a:avLst/>
              </a:prstGeom>
              <a:blipFill>
                <a:blip r:embed="rId6"/>
                <a:stretch>
                  <a:fillRect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B3F59-F9DA-EDBC-1C99-7269FC81E6D5}"/>
                  </a:ext>
                </a:extLst>
              </p:cNvPr>
              <p:cNvSpPr txBox="1"/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200" dirty="0"/>
                  <a:t>인 경우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B3F59-F9DA-EDBC-1C99-7269FC81E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blipFill>
                <a:blip r:embed="rId7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209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703C-AD8D-6A53-7703-F94B0EF6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596256-ACB4-286F-1D17-B20685DE3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033" y="1099161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747837-CBA9-F401-9F24-1A12A1425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9BC658-5721-CB40-5E2F-76C3053D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7AC1FD-E515-A97D-9711-C943DA777AFA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그림은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600" spc="-50" dirty="0"/>
                  <a:t>인 경우로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과대보고를 선택하는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제대로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배포가격은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전액 환불 받게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 비용은 </a:t>
                </a:r>
                <a:r>
                  <a:rPr lang="en-US" altLang="ko-KR" sz="1600" spc="-50" dirty="0" err="1"/>
                  <a:t>a+b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 err="1"/>
                  <a:t>a+b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과장하여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가격은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전액 환불 받게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/>
                  <a:t>b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한계저감비용을 과장하여 제출하면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 비용을 절감할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종합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혹은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설정하면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한계저감비용을 과소보고 혹은 과대보고 하게 되므로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spc="-50" dirty="0"/>
                  <a:t>를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과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사이의 값으로 정하여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거짓보고 유인을 없앨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7AC1FD-E515-A97D-9711-C943DA777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blipFill>
                <a:blip r:embed="rId3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0793CB-F0AC-5E16-AD00-273F548D6753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0793CB-F0AC-5E16-AD00-273F548D6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7ED7C1-F8A6-BD7D-70D6-27AC3B51B7DC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7ED7C1-F8A6-BD7D-70D6-27AC3B51B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94A2D22-3690-0BF6-70E6-6ADD64047EA8}"/>
              </a:ext>
            </a:extLst>
          </p:cNvPr>
          <p:cNvSpPr txBox="1"/>
          <p:nvPr/>
        </p:nvSpPr>
        <p:spPr>
          <a:xfrm>
            <a:off x="9788323" y="5621213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</a:t>
            </a:r>
            <a:endParaRPr lang="ko-KR" alt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79B503-D303-8979-5132-5575922AA8DA}"/>
              </a:ext>
            </a:extLst>
          </p:cNvPr>
          <p:cNvSpPr txBox="1"/>
          <p:nvPr/>
        </p:nvSpPr>
        <p:spPr>
          <a:xfrm>
            <a:off x="9285097" y="537019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a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7D88EAD-E3D1-1C82-7F6B-F5E296125730}"/>
                  </a:ext>
                </a:extLst>
              </p:cNvPr>
              <p:cNvSpPr txBox="1"/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7D88EAD-E3D1-1C82-7F6B-F5E296125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3110F0-21B0-DF37-46B6-85683A6FCFD1}"/>
                  </a:ext>
                </a:extLst>
              </p:cNvPr>
              <p:cNvSpPr txBox="1"/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200" dirty="0"/>
                  <a:t>인 경우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3110F0-21B0-DF37-46B6-85683A6FC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blipFill>
                <a:blip r:embed="rId7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702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B9709-A658-15D4-4515-2A7159E0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638869-53F3-7CB0-2737-8B52908A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72A584-1761-AD5D-8229-7B4D24D64604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872767" cy="509992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몬테로 메커니즘 하에서 기업의 총 </a:t>
                </a:r>
                <a:r>
                  <a:rPr lang="ko-KR" altLang="en-US" sz="1600" b="0" spc="-50" dirty="0"/>
                  <a:t>비용은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는 기업의 실제 저감비용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spc="-50" dirty="0"/>
                  <a:t>는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환급액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제출된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가 일치되는 배출권을 배포하고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가격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는 이때의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로 정한다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기업의 총비용은 아래와 같이 다시 정리할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기업은 총비용을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spc="-50" dirty="0"/>
                  <a:t>에 대해 미분한 것을 다음처럼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 되게 하는 것이 기업의 최적 배출량이다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600" b="0" i="1" spc="-5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배출을 많이 할수록 저감비용은 줄어들기 때문에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가 실제 한계저감비용이다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한계저감비용과 한계피해가 일치하는 사회적 최적을 원한다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즉 정부는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원한다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위에서 살펴본 기업 최적 행위조건에 정부가 원하는 사회적 최적 조건을 적용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대입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하여 정리해보자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600" i="1" spc="-5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f>
                      <m:f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𝑀𝐷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𝑀𝐷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식을 정리하면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아래와 같이 기업이 사회적으로도 최적인 배출을 유도하기 위한 조건이 도출된다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72A584-1761-AD5D-8229-7B4D24D64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872767" cy="50999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F6726-A732-7077-EF9D-EE2512F84837}"/>
                  </a:ext>
                </a:extLst>
              </p:cNvPr>
              <p:cNvSpPr txBox="1"/>
              <p:nvPr/>
            </p:nvSpPr>
            <p:spPr>
              <a:xfrm>
                <a:off x="945606" y="5829259"/>
                <a:ext cx="4135507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F6726-A732-7077-EF9D-EE2512F84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06" y="5829259"/>
                <a:ext cx="4135507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831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622CE-1439-7A4D-E52A-A43408E0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몬테로</a:t>
            </a:r>
            <a:r>
              <a:rPr lang="ko-KR" altLang="en-US" dirty="0"/>
              <a:t> 메커니즘 수식 풀이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02CA9A-E66E-A313-BCDC-7CCF4852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D99477-392D-8962-E6DD-82F56F604D49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872767" cy="541494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pc="-5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ko-KR" altLang="en-US" sz="1600" b="0" i="1" spc="-50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600" b="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ko-KR" altLang="en-US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ko-KR" altLang="en-US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600" b="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b="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 dirty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600" i="1" spc="-5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f>
                        <m:f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f>
                        <m:f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 dirty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600" i="1" spc="-5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f>
                        <m:f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 dirty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d>
                        <m:d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１＋</m:t>
                          </m:r>
                          <m:f>
                            <m:f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𝑀𝐷</m:t>
                                  </m:r>
                                </m:e>
                                <m:sup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D99477-392D-8962-E6DD-82F56F604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872767" cy="54149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BB16BC-1892-6719-7BF2-9DC63AE5834F}"/>
                  </a:ext>
                </a:extLst>
              </p:cNvPr>
              <p:cNvSpPr txBox="1"/>
              <p:nvPr/>
            </p:nvSpPr>
            <p:spPr>
              <a:xfrm>
                <a:off x="4428457" y="1257018"/>
                <a:ext cx="23227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spc="-50" dirty="0"/>
                  <a:t>정부가 </a:t>
                </a:r>
                <a14:m>
                  <m:oMath xmlns:m="http://schemas.openxmlformats.org/officeDocument/2006/math">
                    <m:r>
                      <a:rPr lang="en-US" altLang="ko-KR" sz="1200" i="1" spc="-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200" spc="-50" dirty="0"/>
                  <a:t>를</a:t>
                </a:r>
                <a:r>
                  <a:rPr lang="en-US" altLang="ko-KR" sz="12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200" dirty="0"/>
                  <a:t>로 정한다</a:t>
                </a:r>
                <a:r>
                  <a:rPr lang="en-US" altLang="ko-KR" sz="1200" dirty="0"/>
                  <a:t>.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BB16BC-1892-6719-7BF2-9DC63AE58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457" y="1257018"/>
                <a:ext cx="2322701" cy="276999"/>
              </a:xfrm>
              <a:prstGeom prst="rect">
                <a:avLst/>
              </a:prstGeom>
              <a:blipFill>
                <a:blip r:embed="rId3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11F149F5-4F06-F558-3327-5AB32DB8B6C2}"/>
              </a:ext>
            </a:extLst>
          </p:cNvPr>
          <p:cNvSpPr/>
          <p:nvPr/>
        </p:nvSpPr>
        <p:spPr>
          <a:xfrm>
            <a:off x="3998407" y="1098958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D532BC-ECCD-C5BD-839A-42773FD5ED4E}"/>
              </a:ext>
            </a:extLst>
          </p:cNvPr>
          <p:cNvSpPr/>
          <p:nvPr/>
        </p:nvSpPr>
        <p:spPr>
          <a:xfrm>
            <a:off x="3998407" y="1465575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8AF854A4-F998-B5B1-0E3C-FC584C44EE5A}"/>
              </a:ext>
            </a:extLst>
          </p:cNvPr>
          <p:cNvCxnSpPr>
            <a:cxnSpLocks/>
            <a:stCxn id="10" idx="3"/>
            <a:endCxn id="11" idx="3"/>
          </p:cNvCxnSpPr>
          <p:nvPr/>
        </p:nvCxnSpPr>
        <p:spPr>
          <a:xfrm>
            <a:off x="4207082" y="1212210"/>
            <a:ext cx="12700" cy="36661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709AA6-F01B-C148-80F9-AAC1B220FD14}"/>
                  </a:ext>
                </a:extLst>
              </p:cNvPr>
              <p:cNvSpPr txBox="1"/>
              <p:nvPr/>
            </p:nvSpPr>
            <p:spPr>
              <a:xfrm>
                <a:off x="8643925" y="2048327"/>
                <a:ext cx="3155194" cy="841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spc="-50" dirty="0"/>
                  <a:t>정부는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200" spc="-50" dirty="0"/>
                  <a:t>가</a:t>
                </a:r>
                <a:r>
                  <a:rPr lang="en-US" altLang="ko-KR" sz="12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200" dirty="0"/>
                  <a:t>와 일치하기를 원한다</a:t>
                </a:r>
                <a:r>
                  <a:rPr lang="en-US" altLang="ko-KR" sz="1200" dirty="0"/>
                  <a:t>.</a:t>
                </a:r>
              </a:p>
              <a:p>
                <a:r>
                  <a:rPr lang="ko-KR" altLang="en-US" sz="1200" dirty="0"/>
                  <a:t>다시 말해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여기서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ko-KR" altLang="en-US" sz="1200" i="1" spc="-5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1200" dirty="0"/>
                  <a:t> 한계저감비용</a:t>
                </a:r>
                <a:r>
                  <a:rPr lang="en-US" altLang="ko-KR" sz="12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200" i="1" spc="-5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ko-KR" altLang="en-US" sz="1200" i="1" spc="-5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US" altLang="ko-KR" sz="1200" dirty="0"/>
                  <a:t>)</a:t>
                </a:r>
                <a:r>
                  <a:rPr lang="ko-KR" altLang="en-US" sz="1200" dirty="0"/>
                  <a:t>이고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정부는 한계저감비용과 사회적한계피해가 일치하기를 바란다</a:t>
                </a:r>
                <a:r>
                  <a:rPr lang="en-US" altLang="ko-KR" sz="1200" dirty="0"/>
                  <a:t>.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709AA6-F01B-C148-80F9-AAC1B220F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925" y="2048327"/>
                <a:ext cx="3155194" cy="841962"/>
              </a:xfrm>
              <a:prstGeom prst="rect">
                <a:avLst/>
              </a:prstGeom>
              <a:blipFill>
                <a:blip r:embed="rId4"/>
                <a:stretch>
                  <a:fillRect l="-193" t="-725" b="-260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0540FF-6379-884F-2921-0730B59DA87D}"/>
              </a:ext>
            </a:extLst>
          </p:cNvPr>
          <p:cNvSpPr/>
          <p:nvPr/>
        </p:nvSpPr>
        <p:spPr>
          <a:xfrm>
            <a:off x="8213875" y="2172748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5F71F0-3572-B839-20F1-FF9D5A804AD8}"/>
              </a:ext>
            </a:extLst>
          </p:cNvPr>
          <p:cNvSpPr/>
          <p:nvPr/>
        </p:nvSpPr>
        <p:spPr>
          <a:xfrm>
            <a:off x="8213875" y="2539365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9D1C8998-55EC-F6EE-0361-165CE2505A83}"/>
              </a:ext>
            </a:extLst>
          </p:cNvPr>
          <p:cNvCxnSpPr>
            <a:cxnSpLocks/>
            <a:stCxn id="16" idx="3"/>
            <a:endCxn id="17" idx="3"/>
          </p:cNvCxnSpPr>
          <p:nvPr/>
        </p:nvCxnSpPr>
        <p:spPr>
          <a:xfrm>
            <a:off x="8422550" y="2286000"/>
            <a:ext cx="12700" cy="36661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72AE0E5-0105-DD04-0969-0FC8312448E6}"/>
              </a:ext>
            </a:extLst>
          </p:cNvPr>
          <p:cNvSpPr txBox="1"/>
          <p:nvPr/>
        </p:nvSpPr>
        <p:spPr>
          <a:xfrm>
            <a:off x="7093415" y="2994609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74EA32-BEE3-1B78-F7D6-7C5976E05AC5}"/>
              </a:ext>
            </a:extLst>
          </p:cNvPr>
          <p:cNvSpPr/>
          <p:nvPr/>
        </p:nvSpPr>
        <p:spPr>
          <a:xfrm>
            <a:off x="7093415" y="2645923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A0D418-0791-856F-5B8D-58A37EED1DF1}"/>
              </a:ext>
            </a:extLst>
          </p:cNvPr>
          <p:cNvSpPr/>
          <p:nvPr/>
        </p:nvSpPr>
        <p:spPr>
          <a:xfrm>
            <a:off x="6542483" y="3003541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266FBF17-BBF5-92F1-6C35-61D3A73A808D}"/>
              </a:ext>
            </a:extLst>
          </p:cNvPr>
          <p:cNvCxnSpPr>
            <a:cxnSpLocks/>
            <a:stCxn id="20" idx="2"/>
            <a:endCxn id="21" idx="3"/>
          </p:cNvCxnSpPr>
          <p:nvPr/>
        </p:nvCxnSpPr>
        <p:spPr>
          <a:xfrm rot="5400000">
            <a:off x="6852273" y="2771312"/>
            <a:ext cx="244367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F6455F-7988-50A2-B216-A78CEC78AD35}"/>
              </a:ext>
            </a:extLst>
          </p:cNvPr>
          <p:cNvSpPr/>
          <p:nvPr/>
        </p:nvSpPr>
        <p:spPr>
          <a:xfrm>
            <a:off x="5918956" y="3009556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7159310-5CB3-0C03-1BC8-25D7610B3384}"/>
              </a:ext>
            </a:extLst>
          </p:cNvPr>
          <p:cNvSpPr/>
          <p:nvPr/>
        </p:nvSpPr>
        <p:spPr>
          <a:xfrm>
            <a:off x="5368024" y="3673366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45671B7C-84F8-9F62-DED5-6ADDF30340F6}"/>
              </a:ext>
            </a:extLst>
          </p:cNvPr>
          <p:cNvCxnSpPr>
            <a:cxnSpLocks/>
            <a:stCxn id="31" idx="2"/>
            <a:endCxn id="32" idx="3"/>
          </p:cNvCxnSpPr>
          <p:nvPr/>
        </p:nvCxnSpPr>
        <p:spPr>
          <a:xfrm rot="5400000">
            <a:off x="5524718" y="3288041"/>
            <a:ext cx="550559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A5A2D5D-8DC3-9E30-6A1E-95CD573C32DA}"/>
              </a:ext>
            </a:extLst>
          </p:cNvPr>
          <p:cNvSpPr txBox="1"/>
          <p:nvPr/>
        </p:nvSpPr>
        <p:spPr>
          <a:xfrm>
            <a:off x="5870020" y="3487308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67AB6E-A715-DC62-1F12-D22F294A0C34}"/>
              </a:ext>
            </a:extLst>
          </p:cNvPr>
          <p:cNvSpPr/>
          <p:nvPr/>
        </p:nvSpPr>
        <p:spPr>
          <a:xfrm>
            <a:off x="5249065" y="3804369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BDFE6B5-0875-5C0C-107E-D521CC033635}"/>
              </a:ext>
            </a:extLst>
          </p:cNvPr>
          <p:cNvSpPr/>
          <p:nvPr/>
        </p:nvSpPr>
        <p:spPr>
          <a:xfrm>
            <a:off x="4973278" y="4268984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E274768F-B960-1070-F52A-3259B225EED8}"/>
              </a:ext>
            </a:extLst>
          </p:cNvPr>
          <p:cNvCxnSpPr>
            <a:cxnSpLocks/>
            <a:stCxn id="35" idx="2"/>
            <a:endCxn id="36" idx="3"/>
          </p:cNvCxnSpPr>
          <p:nvPr/>
        </p:nvCxnSpPr>
        <p:spPr>
          <a:xfrm rot="5400000">
            <a:off x="5091996" y="4120829"/>
            <a:ext cx="351364" cy="17145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1857B9-A635-89EA-6D50-1EC0955681F8}"/>
                  </a:ext>
                </a:extLst>
              </p:cNvPr>
              <p:cNvSpPr txBox="1"/>
              <p:nvPr/>
            </p:nvSpPr>
            <p:spPr>
              <a:xfrm>
                <a:off x="5316576" y="4189825"/>
                <a:ext cx="18811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spc="-50" dirty="0" err="1"/>
                  <a:t>양변을</a:t>
                </a:r>
                <a:r>
                  <a:rPr lang="ko-KR" altLang="en-US" sz="12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𝑀𝐷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200" dirty="0"/>
                  <a:t> 로 나눔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1857B9-A635-89EA-6D50-1EC095568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576" y="4189825"/>
                <a:ext cx="1881176" cy="276999"/>
              </a:xfrm>
              <a:prstGeom prst="rect">
                <a:avLst/>
              </a:prstGeom>
              <a:blipFill>
                <a:blip r:embed="rId5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직사각형 40">
            <a:extLst>
              <a:ext uri="{FF2B5EF4-FFF2-40B4-BE49-F238E27FC236}">
                <a16:creationId xmlns:a16="http://schemas.microsoft.com/office/drawing/2014/main" id="{C486DBBF-441C-AEB3-0FE8-D4AE7BECFBC5}"/>
              </a:ext>
            </a:extLst>
          </p:cNvPr>
          <p:cNvSpPr/>
          <p:nvPr/>
        </p:nvSpPr>
        <p:spPr>
          <a:xfrm>
            <a:off x="4648024" y="4564149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26D04C4-0309-E36D-15F5-7FFD8415475F}"/>
              </a:ext>
            </a:extLst>
          </p:cNvPr>
          <p:cNvSpPr/>
          <p:nvPr/>
        </p:nvSpPr>
        <p:spPr>
          <a:xfrm>
            <a:off x="4097092" y="5045372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연결선: 구부러짐 42">
            <a:extLst>
              <a:ext uri="{FF2B5EF4-FFF2-40B4-BE49-F238E27FC236}">
                <a16:creationId xmlns:a16="http://schemas.microsoft.com/office/drawing/2014/main" id="{7DABCB5B-BE7D-328D-879B-2600BB52C70D}"/>
              </a:ext>
            </a:extLst>
          </p:cNvPr>
          <p:cNvCxnSpPr>
            <a:cxnSpLocks/>
            <a:stCxn id="41" idx="2"/>
            <a:endCxn id="42" idx="3"/>
          </p:cNvCxnSpPr>
          <p:nvPr/>
        </p:nvCxnSpPr>
        <p:spPr>
          <a:xfrm rot="5400000">
            <a:off x="4345079" y="4751341"/>
            <a:ext cx="367972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0F6863F-36C1-CC75-BCE1-5459E412E498}"/>
              </a:ext>
            </a:extLst>
          </p:cNvPr>
          <p:cNvSpPr txBox="1"/>
          <p:nvPr/>
        </p:nvSpPr>
        <p:spPr>
          <a:xfrm>
            <a:off x="4648024" y="4938251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BDACC45-CB86-04B2-00B8-4D5A771CADDE}"/>
              </a:ext>
            </a:extLst>
          </p:cNvPr>
          <p:cNvSpPr/>
          <p:nvPr/>
        </p:nvSpPr>
        <p:spPr>
          <a:xfrm>
            <a:off x="3801028" y="5386554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4C55855-5DC1-ECBA-CF8E-CECECD2ABEE4}"/>
              </a:ext>
            </a:extLst>
          </p:cNvPr>
          <p:cNvSpPr/>
          <p:nvPr/>
        </p:nvSpPr>
        <p:spPr>
          <a:xfrm>
            <a:off x="3250096" y="5867777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F5E9F7CC-EA7F-A9F5-55B1-EA1B3D3AA75E}"/>
              </a:ext>
            </a:extLst>
          </p:cNvPr>
          <p:cNvCxnSpPr>
            <a:cxnSpLocks/>
            <a:stCxn id="46" idx="2"/>
            <a:endCxn id="47" idx="3"/>
          </p:cNvCxnSpPr>
          <p:nvPr/>
        </p:nvCxnSpPr>
        <p:spPr>
          <a:xfrm rot="5400000">
            <a:off x="3498083" y="5573746"/>
            <a:ext cx="367972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8F3B384-6C29-B529-7BB2-A887FC862306}"/>
                  </a:ext>
                </a:extLst>
              </p:cNvPr>
              <p:cNvSpPr txBox="1"/>
              <p:nvPr/>
            </p:nvSpPr>
            <p:spPr>
              <a:xfrm>
                <a:off x="3801028" y="5760656"/>
                <a:ext cx="313113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200" i="1" spc="-5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200" dirty="0"/>
                  <a:t> 이라는 가정과 함께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단순 식 정리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8F3B384-6C29-B529-7BB2-A887FC862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28" y="5760656"/>
                <a:ext cx="3131133" cy="276999"/>
              </a:xfrm>
              <a:prstGeom prst="rect">
                <a:avLst/>
              </a:prstGeom>
              <a:blipFill>
                <a:blip r:embed="rId6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336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6E11C-7424-73EC-6EE8-E7400405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201DC-8D5D-42B4-4127-1415BDA15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몬테로</a:t>
            </a:r>
            <a:r>
              <a:rPr lang="ko-KR" altLang="en-US" dirty="0"/>
              <a:t> 메커니즘 수식 풀이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C47967-BD83-973C-1082-1BA8B6B2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096582-4863-54F1-F15D-C9E242AF8D07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872767" cy="441127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 dirty="0" smtClean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d>
                        <m:d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 dirty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096582-4863-54F1-F15D-C9E242AF8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872767" cy="44112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4AE8F06C-FFAE-CA78-0FDF-D0F28E81916C}"/>
              </a:ext>
            </a:extLst>
          </p:cNvPr>
          <p:cNvSpPr/>
          <p:nvPr/>
        </p:nvSpPr>
        <p:spPr>
          <a:xfrm>
            <a:off x="4107226" y="893408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D6CF22-CB84-79F6-37D6-0DC5378CA0EA}"/>
              </a:ext>
            </a:extLst>
          </p:cNvPr>
          <p:cNvSpPr/>
          <p:nvPr/>
        </p:nvSpPr>
        <p:spPr>
          <a:xfrm>
            <a:off x="3556294" y="1374631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DAC043E2-785B-564D-C3E2-6D934FFFD9CC}"/>
              </a:ext>
            </a:extLst>
          </p:cNvPr>
          <p:cNvCxnSpPr>
            <a:cxnSpLocks/>
            <a:stCxn id="5" idx="2"/>
            <a:endCxn id="6" idx="3"/>
          </p:cNvCxnSpPr>
          <p:nvPr/>
        </p:nvCxnSpPr>
        <p:spPr>
          <a:xfrm rot="5400000">
            <a:off x="3804281" y="1080600"/>
            <a:ext cx="367972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71B74B-548F-5699-AC0A-4B826A3A1856}"/>
                  </a:ext>
                </a:extLst>
              </p:cNvPr>
              <p:cNvSpPr txBox="1"/>
              <p:nvPr/>
            </p:nvSpPr>
            <p:spPr>
              <a:xfrm>
                <a:off x="4107225" y="1267510"/>
                <a:ext cx="3040195" cy="391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pc="-5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𝑀𝐷</m:t>
                            </m:r>
                          </m:e>
                          <m:sup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1200" i="1" spc="-5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pc="-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ko-KR" alt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ko-KR" altLang="en-US" sz="1200" dirty="0"/>
                  <a:t>이라는 관계식을 활용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71B74B-548F-5699-AC0A-4B826A3A1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225" y="1267510"/>
                <a:ext cx="3040195" cy="391326"/>
              </a:xfrm>
              <a:prstGeom prst="rect">
                <a:avLst/>
              </a:prstGeom>
              <a:blipFill>
                <a:blip r:embed="rId3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058C2A32-0156-72FE-39CE-7824160A6D6B}"/>
              </a:ext>
            </a:extLst>
          </p:cNvPr>
          <p:cNvSpPr/>
          <p:nvPr/>
        </p:nvSpPr>
        <p:spPr>
          <a:xfrm>
            <a:off x="3623084" y="1516101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E96DB2-DED9-61C1-F44E-90FF6B0FF78B}"/>
              </a:ext>
            </a:extLst>
          </p:cNvPr>
          <p:cNvSpPr/>
          <p:nvPr/>
        </p:nvSpPr>
        <p:spPr>
          <a:xfrm>
            <a:off x="3811866" y="2311122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0B159421-C64C-7355-9F41-5518C0095E7F}"/>
              </a:ext>
            </a:extLst>
          </p:cNvPr>
          <p:cNvCxnSpPr>
            <a:cxnSpLocks/>
            <a:stCxn id="9" idx="2"/>
            <a:endCxn id="10" idx="3"/>
          </p:cNvCxnSpPr>
          <p:nvPr/>
        </p:nvCxnSpPr>
        <p:spPr>
          <a:xfrm rot="16200000" flipH="1">
            <a:off x="3533096" y="1936929"/>
            <a:ext cx="681770" cy="293119"/>
          </a:xfrm>
          <a:prstGeom prst="curvedConnector4">
            <a:avLst>
              <a:gd name="adj1" fmla="val 473"/>
              <a:gd name="adj2" fmla="val 1779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9302BC8-B71E-EC92-A093-DD5BD310F81D}"/>
              </a:ext>
            </a:extLst>
          </p:cNvPr>
          <p:cNvSpPr txBox="1"/>
          <p:nvPr/>
        </p:nvSpPr>
        <p:spPr>
          <a:xfrm>
            <a:off x="4362798" y="2204001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8D1BBD-0C14-2FF0-78FE-B36F12D7CF13}"/>
              </a:ext>
            </a:extLst>
          </p:cNvPr>
          <p:cNvSpPr/>
          <p:nvPr/>
        </p:nvSpPr>
        <p:spPr>
          <a:xfrm>
            <a:off x="3556294" y="2537287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C5C6A4-161E-ECA9-95C5-35E92941DA6B}"/>
              </a:ext>
            </a:extLst>
          </p:cNvPr>
          <p:cNvSpPr/>
          <p:nvPr/>
        </p:nvSpPr>
        <p:spPr>
          <a:xfrm>
            <a:off x="3005362" y="3018510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80FDB06D-BD36-5A21-03AC-74B7787F05A2}"/>
              </a:ext>
            </a:extLst>
          </p:cNvPr>
          <p:cNvCxnSpPr>
            <a:cxnSpLocks/>
            <a:stCxn id="19" idx="2"/>
            <a:endCxn id="20" idx="3"/>
          </p:cNvCxnSpPr>
          <p:nvPr/>
        </p:nvCxnSpPr>
        <p:spPr>
          <a:xfrm rot="5400000">
            <a:off x="3253349" y="2724479"/>
            <a:ext cx="367972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BD25389-1590-2301-9CD1-8FF62712D756}"/>
              </a:ext>
            </a:extLst>
          </p:cNvPr>
          <p:cNvSpPr txBox="1"/>
          <p:nvPr/>
        </p:nvSpPr>
        <p:spPr>
          <a:xfrm>
            <a:off x="3576154" y="2963392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76C9DF-3F65-E1F5-62C5-B97BADABCA5A}"/>
                  </a:ext>
                </a:extLst>
              </p:cNvPr>
              <p:cNvSpPr txBox="1"/>
              <p:nvPr/>
            </p:nvSpPr>
            <p:spPr>
              <a:xfrm>
                <a:off x="4020541" y="3801221"/>
                <a:ext cx="272250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𝐴𝐷</m:t>
                    </m:r>
                    <m:d>
                      <m:dPr>
                        <m:ctrlP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200" dirty="0"/>
                  <a:t>이라는 관계식을 활용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76C9DF-3F65-E1F5-62C5-B97BADABC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541" y="3801221"/>
                <a:ext cx="2722508" cy="276999"/>
              </a:xfrm>
              <a:prstGeom prst="rect">
                <a:avLst/>
              </a:prstGeom>
              <a:blipFill>
                <a:blip r:embed="rId4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3201CC-1E1E-E1D9-CB16-979E47FDCC72}"/>
              </a:ext>
            </a:extLst>
          </p:cNvPr>
          <p:cNvSpPr/>
          <p:nvPr/>
        </p:nvSpPr>
        <p:spPr>
          <a:xfrm>
            <a:off x="3549007" y="3820235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104DEEB4-036B-FE28-95CF-6B98F3B55A05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3757682" y="3933487"/>
            <a:ext cx="262859" cy="62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FF81C59-F354-E222-0A36-A20629BE35BE}"/>
              </a:ext>
            </a:extLst>
          </p:cNvPr>
          <p:cNvSpPr/>
          <p:nvPr/>
        </p:nvSpPr>
        <p:spPr>
          <a:xfrm>
            <a:off x="7344558" y="946807"/>
            <a:ext cx="4373732" cy="5610060"/>
          </a:xfrm>
          <a:prstGeom prst="roundRect">
            <a:avLst>
              <a:gd name="adj" fmla="val 5387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DEA78A-6FA7-44B2-5AF8-97034F47A650}"/>
                  </a:ext>
                </a:extLst>
              </p:cNvPr>
              <p:cNvSpPr txBox="1"/>
              <p:nvPr/>
            </p:nvSpPr>
            <p:spPr>
              <a:xfrm>
                <a:off x="7464839" y="1289956"/>
                <a:ext cx="4295476" cy="5274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우선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,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아래와 같이  </a:t>
                </a:r>
                <a14:m>
                  <m:oMath xmlns:m="http://schemas.openxmlformats.org/officeDocument/2006/math">
                    <m:r>
                      <a:rPr lang="en-US" altLang="ko-KR" sz="1000" i="1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000" b="0" i="1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</a:t>
                </a:r>
                <a:r>
                  <a:rPr lang="ko-KR" altLang="en-US" sz="1000" b="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라는 함수를 생각해보자</a:t>
                </a:r>
                <a:endParaRPr lang="en-US" altLang="ko-KR" sz="1000" b="0" dirty="0">
                  <a:highlight>
                    <a:srgbClr val="FFFFFF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000" b="0" i="1" spc="-50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b="0" i="1" spc="-50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00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fPr>
                        <m:num>
                          <m:r>
                            <a:rPr lang="ko-KR" altLang="en-US" sz="100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𝜕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𝑍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(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)</m:t>
                          </m:r>
                        </m:num>
                        <m:den>
                          <m:r>
                            <a:rPr lang="ko-KR" altLang="en-US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𝜕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den>
                      </m:f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sSup>
                        <m:sSupPr>
                          <m:ctrlP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𝑍</m:t>
                          </m:r>
                        </m:e>
                        <m:sup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sSup>
                        <m:sSup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𝑒</m:t>
                      </m:r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+</m:t>
                      </m:r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𝑀𝐷</m:t>
                      </m:r>
                      <m:d>
                        <m:dPr>
                          <m:ctrlP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−</m:t>
                      </m:r>
                      <m:sSup>
                        <m:sSup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𝐷</m:t>
                          </m:r>
                        </m:e>
                        <m:sup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000" i="1" dirty="0">
                  <a:highlight>
                    <a:srgbClr val="FFFFFF"/>
                  </a:highlight>
                  <a:latin typeface="Cambria Math" panose="02040503050406030204" pitchFamily="18" charset="0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             </m:t>
                      </m:r>
                      <m:r>
                        <a:rPr lang="en-US" altLang="ko-KR" sz="1000" i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sSup>
                        <m:sSupPr>
                          <m:ctrlP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𝑍</m:t>
                          </m:r>
                        </m:e>
                        <m:sup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sSup>
                        <m:sSup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𝑒</m:t>
                      </m:r>
                    </m:oMath>
                  </m:oMathPara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빨간색 식의 좌변은 아래와 같이 정리할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i="1" spc="-5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pc="-50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i="1" spc="-5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𝑀𝐷</m:t>
                            </m:r>
                          </m:e>
                          <m:sup>
                            <m: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100" i="1" spc="-5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1100" b="0" i="1" spc="-50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1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10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den>
                    </m:f>
                    <m:r>
                      <a:rPr lang="en-US" altLang="ko-KR" sz="11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1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US" altLang="ko-KR" sz="110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𝑑𝐷</m:t>
                            </m:r>
                            <m:d>
                              <m:dPr>
                                <m:ctrlPr>
                                  <a:rPr lang="en-US" altLang="ko-KR" sz="11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1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𝑑𝑍</m:t>
                            </m:r>
                            <m:d>
                              <m:dPr>
                                <m:ctrlPr>
                                  <a:rPr lang="en-US" altLang="ko-KR" sz="11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1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den>
                    </m:f>
                    <m:r>
                      <a:rPr lang="en-US" altLang="ko-KR" sz="11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1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1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1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𝑑𝑍</m:t>
                        </m:r>
                        <m:d>
                          <m:dPr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빨간색 식의 우변은 아래와 같이 정리할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ko-KR" altLang="en-US" sz="800" i="1" spc="-5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위에서 정리한 빨간색 식의 좌변과 우변을 아래와 같이 정리할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den>
                    </m:f>
                    <m:r>
                      <a:rPr lang="en-US" altLang="ko-KR" sz="10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spc="-5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1000" i="1" dirty="0">
                    <a:highlight>
                      <a:srgbClr val="FFFFFF"/>
                    </a:highlight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  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 </a:t>
                </a:r>
                <a:r>
                  <a:rPr lang="en-US" altLang="ko-KR" sz="1000" i="1" dirty="0">
                    <a:highlight>
                      <a:srgbClr val="FFFFFF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spc="-5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1000" i="1" dirty="0">
                    <a:highlight>
                      <a:srgbClr val="FFFFFF"/>
                    </a:highlight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  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맑은 고딕" panose="020B0503020000020004" pitchFamily="50" charset="-127"/>
                  </a:rPr>
                  <a:t>→ 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sz="100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ko-KR" sz="100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𝑑𝐷</m:t>
                            </m:r>
                            <m:d>
                              <m:dPr>
                                <m:ctrlPr>
                                  <a:rPr lang="en-US" altLang="ko-KR" sz="10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0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0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ko-KR" sz="10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0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0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spc="-5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sz="100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𝑑𝑍</m:t>
                            </m:r>
                            <m:d>
                              <m:dPr>
                                <m:ctrlPr>
                                  <a:rPr lang="en-US" altLang="ko-KR" sz="10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0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ko-KR" sz="1000" dirty="0">
                    <a:highlight>
                      <a:srgbClr val="FFFFFF"/>
                    </a:highlight>
                    <a:latin typeface="맑은 고딕" panose="020B0503020000020004" pitchFamily="50" charset="-127"/>
                  </a:rPr>
                  <a:t>→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00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000" i="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)=</m:t>
                        </m:r>
                      </m:e>
                    </m:func>
                    <m:func>
                      <m:funcPr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000" i="1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 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맑은 고딕" panose="020B0503020000020004" pitchFamily="50" charset="-127"/>
                  </a:rPr>
                  <a:t>→  </a:t>
                </a:r>
                <a14:m>
                  <m:oMath xmlns:m="http://schemas.openxmlformats.org/officeDocument/2006/math"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)=</m:t>
                    </m:r>
                    <m:bar>
                      <m:barPr>
                        <m:pos m:val="top"/>
                        <m:ctrlP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00" i="1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   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)</a:t>
                </a:r>
              </a:p>
              <a:p>
                <a:pPr>
                  <a:lnSpc>
                    <a:spcPct val="120000"/>
                  </a:lnSpc>
                </a:pPr>
                <a:endParaRPr lang="en-US" altLang="ko-KR" sz="1000" spc="-50" dirty="0">
                  <a:highlight>
                    <a:srgbClr val="FFFFFF"/>
                  </a:highlight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spc="-50" dirty="0">
                    <a:highlight>
                      <a:srgbClr val="FFFFFF"/>
                    </a:highlight>
                  </a:rPr>
                  <a:t>위에서 </a:t>
                </a:r>
                <a14:m>
                  <m:oMath xmlns:m="http://schemas.openxmlformats.org/officeDocument/2006/math"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라고 하였으므로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,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아래와 같이 정리할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endParaRPr lang="en-US" altLang="ko-KR" sz="1000" b="0" i="1" spc="-50" dirty="0">
                  <a:highlight>
                    <a:srgbClr val="FFFFFF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)=</m:t>
                      </m:r>
                      <m:bar>
                        <m:barPr>
                          <m:pos m:val="top"/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d>
                        <m:dPr>
                          <m:begChr m:val="{"/>
                          <m:endChr m:val="}"/>
                          <m:ctrlPr>
                            <a:rPr lang="en-US" altLang="ko-KR" sz="1000" b="0" i="1" spc="-50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000" i="1" spc="-50"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i="1" spc="-50"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ko-KR" sz="1000" dirty="0">
                  <a:highlight>
                    <a:srgbClr val="FFFFFF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ko-KR" sz="1000" i="1" dirty="0">
                  <a:highlight>
                    <a:srgbClr val="FFFFFF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따라서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𝑑𝑍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den>
                    </m:f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spc="-5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0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altLang="ko-KR" sz="10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ko-KR" sz="10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0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이므로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,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결국 아래의 식이 성립함을 알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000" i="1" spc="-50" smtClean="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sz="1000" i="1" spc="-5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ko-KR" sz="1000" i="1" dirty="0">
                  <a:solidFill>
                    <a:schemeClr val="tx1"/>
                  </a:solidFill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DEA78A-6FA7-44B2-5AF8-97034F47A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839" y="1289956"/>
                <a:ext cx="4295476" cy="5274264"/>
              </a:xfrm>
              <a:prstGeom prst="rect">
                <a:avLst/>
              </a:prstGeom>
              <a:blipFill>
                <a:blip r:embed="rId5"/>
                <a:stretch>
                  <a:fillRect r="-2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151ED6-9017-AE2F-BCCA-498B7545B7FF}"/>
                  </a:ext>
                </a:extLst>
              </p:cNvPr>
              <p:cNvSpPr txBox="1"/>
              <p:nvPr/>
            </p:nvSpPr>
            <p:spPr>
              <a:xfrm>
                <a:off x="8656588" y="786759"/>
                <a:ext cx="1819360" cy="4410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spc="-5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𝑀𝐷</m:t>
                            </m:r>
                          </m:e>
                          <m:sup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1400" i="1" spc="-5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pc="-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endParaRPr lang="ko-KR" altLang="en-US" sz="1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151ED6-9017-AE2F-BCCA-498B7545B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588" y="786759"/>
                <a:ext cx="1819360" cy="441083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732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D3DA4-0184-DE23-BEDD-72DE7660C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B08CC5-4C23-DEC5-B6EA-522FC8C749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BA04D-F9FD-6532-3829-E182197A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CEFD279-1188-17CA-B374-38E1859B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배출량에 대한 감시가 </a:t>
            </a:r>
            <a:br>
              <a:rPr lang="en-US" altLang="ko-KR" sz="4000" b="1" i="0" spc="150" dirty="0"/>
            </a:br>
            <a:r>
              <a:rPr lang="en-US" altLang="ko-KR" sz="4000" b="1" i="0" spc="150" dirty="0"/>
              <a:t>               </a:t>
            </a:r>
            <a:r>
              <a:rPr lang="ko-KR" altLang="en-US" sz="4000" b="1" i="0" spc="150" dirty="0"/>
              <a:t>불가능할 경우의 오염규제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0726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65A6-EB06-3453-197C-CAFB6394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D5915-EB2B-E69F-8E98-17313F86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감시의 불가능성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91D0C-CBCD-868E-2633-A09269DE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8B0C3B-D8E5-F88F-70C4-10FD6EF185F3}"/>
              </a:ext>
            </a:extLst>
          </p:cNvPr>
          <p:cNvSpPr txBox="1"/>
          <p:nvPr/>
        </p:nvSpPr>
        <p:spPr>
          <a:xfrm>
            <a:off x="678873" y="958844"/>
            <a:ext cx="1087276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Section 1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에서는 정부가 오염원이 실제로 어느 정도의 오염물질을 배출하는지는 정확히 감시할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저감비용을 알지 못할 때 발생하는 문제를 살펴보았다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정보경제학에서는 이를 숨겨진 정보가 있는 상황이라고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비점원오염의 경우 오염원의 배출량 자체를 정확히 계측할 수가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정부가 배출상한을 정하여도 오염원들이 실제 지키는지 확인할 수가 없으므로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과잉배출이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정보경제학에서는 이처럼 오염원에 대한 정보의 부재 </a:t>
            </a:r>
            <a:r>
              <a:rPr lang="ko-KR" altLang="en-US" sz="1600" dirty="0" err="1"/>
              <a:t>때문이라기보다는</a:t>
            </a:r>
            <a:r>
              <a:rPr lang="ko-KR" altLang="en-US" sz="1600" dirty="0"/>
              <a:t> 오염원이 행하는 행위를 관측할 수 없기 때문에 오염원이 전략적으로 행동하여 발생하는 문제를 숨겨진 행위로 인한 문제 혹은 도덕적 해이라고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8047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93BB-D1F8-95E3-B4B0-C27EFF15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2D2F8-0A22-B760-FA91-AF7F2288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오염도와 배출량 간의 관계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F56A3E-F7FE-9E25-A8BD-EEC27581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9" name="그림 8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1EF87C-AFEF-F67C-B565-C70BA6B6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07"/>
          <a:stretch>
            <a:fillRect/>
          </a:stretch>
        </p:blipFill>
        <p:spPr>
          <a:xfrm>
            <a:off x="8505147" y="4009549"/>
            <a:ext cx="3431619" cy="17843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046EAC-8AB5-FF53-79DC-7BEB52F22C5B}"/>
              </a:ext>
            </a:extLst>
          </p:cNvPr>
          <p:cNvSpPr txBox="1"/>
          <p:nvPr/>
        </p:nvSpPr>
        <p:spPr>
          <a:xfrm>
            <a:off x="255234" y="958844"/>
            <a:ext cx="113652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수질오염에 영향을 주는 어떤 비점원오염이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정부는 오염물질의 배출량을 파악하는 것이 불가능하다고 하자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배출량 기준의 대안으로 오염도 기준의 정책을 시행하고자 하여도</a:t>
            </a:r>
            <a:r>
              <a:rPr lang="en-US" altLang="ko-KR" sz="1600" dirty="0"/>
              <a:t>, </a:t>
            </a:r>
            <a:r>
              <a:rPr lang="ko-KR" altLang="en-US" sz="1600" dirty="0"/>
              <a:t>오염도는 오염원의 배출량과 함께 자연조건에 의해서도 영향을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정부가 오염도를 계측하여도 오염원의 배출량을 정확히 파악하는 것은 불가능하다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자연조건이 동일하다면</a:t>
            </a:r>
            <a:r>
              <a:rPr lang="en-US" altLang="ko-KR" sz="1600" dirty="0"/>
              <a:t>, </a:t>
            </a:r>
            <a:r>
              <a:rPr lang="ko-KR" altLang="en-US" sz="1600" dirty="0"/>
              <a:t>오염원의 배출량이 적을 경우 오염도가 적게 나타난다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(</a:t>
            </a:r>
            <a:r>
              <a:rPr lang="ko-KR" altLang="en-US" sz="1600" dirty="0"/>
              <a:t>오른쪽 그림</a:t>
            </a:r>
            <a:r>
              <a:rPr lang="en-US" altLang="ko-KR" sz="1600" dirty="0"/>
              <a:t>) </a:t>
            </a:r>
            <a:r>
              <a:rPr lang="ko-KR" altLang="en-US" sz="1600" dirty="0"/>
              <a:t>좌측 그래프는 오염원이 저감행위를 할 경우의 오염도 발생 확률이고</a:t>
            </a:r>
            <a:r>
              <a:rPr lang="en-US" altLang="ko-KR" sz="1600" dirty="0"/>
              <a:t>, </a:t>
            </a:r>
            <a:r>
              <a:rPr lang="ko-KR" altLang="en-US" sz="1600" dirty="0"/>
              <a:t>우측 그래프는 저감행위를 하지 않을 경우의 오염도 발생 확률이다</a:t>
            </a:r>
            <a:r>
              <a:rPr lang="en-US" altLang="ko-KR" sz="16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05A3FA-78E5-3E4C-D942-7BD810F45B5E}"/>
                  </a:ext>
                </a:extLst>
              </p:cNvPr>
              <p:cNvSpPr txBox="1"/>
              <p:nvPr/>
            </p:nvSpPr>
            <p:spPr>
              <a:xfrm>
                <a:off x="255234" y="3584573"/>
                <a:ext cx="8247416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오염도는 자연조건의 영향을 받는 일종의 확률변수이다</a:t>
                </a:r>
                <a:r>
                  <a:rPr lang="en-US" altLang="ko-KR" sz="1600" spc="-1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오염원이 저감행위를 하면 높은 수준의 오염도가 발생할 확률은 상대적으로 작아진다</a:t>
                </a:r>
                <a:r>
                  <a:rPr lang="en-US" altLang="ko-KR" sz="1600" spc="-1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100" dirty="0"/>
                  <a:t>정부는 최소한 달성 되어야 할 오염도 기준이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1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10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b="0" i="1" spc="-10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100" dirty="0"/>
                  <a:t>라고 생각한다고 하자</a:t>
                </a:r>
                <a:r>
                  <a:rPr lang="en-US" altLang="ko-KR" sz="1600" spc="-1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실제 오염도가</a:t>
                </a:r>
                <a:r>
                  <a:rPr lang="en-US" altLang="ko-KR" sz="1600" spc="-1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1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1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 spc="-1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100" dirty="0"/>
                  <a:t> </a:t>
                </a:r>
                <a:r>
                  <a:rPr lang="ko-KR" altLang="en-US" sz="1600" spc="-100" dirty="0"/>
                  <a:t>수준을 넘어서면 저감행위를 하지 않은 것으로 간주하여 오염원을 제재한다</a:t>
                </a:r>
                <a:r>
                  <a:rPr lang="en-US" altLang="ko-KR" sz="1600" spc="-1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자연 조건 악화로 오염도가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1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1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 spc="-1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sz="1600" i="1" spc="-100">
                        <a:latin typeface="Cambria Math" panose="02040503050406030204" pitchFamily="18" charset="0"/>
                      </a:rPr>
                      <m:t>보</m:t>
                    </m:r>
                  </m:oMath>
                </a14:m>
                <a:r>
                  <a:rPr lang="ko-KR" altLang="en-US" sz="1600" spc="-100" dirty="0"/>
                  <a:t>다 심해서</a:t>
                </a:r>
                <a:r>
                  <a:rPr lang="en-US" altLang="ko-KR" sz="1600" spc="-100" dirty="0"/>
                  <a:t>, </a:t>
                </a:r>
                <a:r>
                  <a:rPr lang="ko-KR" altLang="en-US" sz="1600" spc="-100" dirty="0"/>
                  <a:t>오염원이 억울하게 </a:t>
                </a:r>
                <a:r>
                  <a:rPr lang="ko-KR" altLang="en-US" sz="1600" spc="-100" dirty="0" err="1"/>
                  <a:t>제재받을</a:t>
                </a:r>
                <a:r>
                  <a:rPr lang="ko-KR" altLang="en-US" sz="1600" spc="-100" dirty="0"/>
                  <a:t> 수도 있다</a:t>
                </a:r>
                <a:r>
                  <a:rPr lang="en-US" altLang="ko-KR" sz="1600" spc="-10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하지만 오염원에게 정부가 원하는 수준의 저감노력을 기울이도록 유도할 수 있다</a:t>
                </a:r>
                <a:r>
                  <a:rPr lang="en-US" altLang="ko-KR" sz="1600" spc="-100" dirty="0"/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05A3FA-78E5-3E4C-D942-7BD810F45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4" y="3584573"/>
                <a:ext cx="8247416" cy="2630015"/>
              </a:xfrm>
              <a:prstGeom prst="rect">
                <a:avLst/>
              </a:prstGeom>
              <a:blipFill>
                <a:blip r:embed="rId3"/>
                <a:stretch>
                  <a:fillRect r="-222" b="-20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2FB4BB-769E-E8D1-3D5A-9EA903FCD4D7}"/>
                  </a:ext>
                </a:extLst>
              </p:cNvPr>
              <p:cNvSpPr txBox="1"/>
              <p:nvPr/>
            </p:nvSpPr>
            <p:spPr>
              <a:xfrm>
                <a:off x="10015150" y="5755623"/>
                <a:ext cx="648449" cy="287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2FB4BB-769E-E8D1-3D5A-9EA903FCD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150" y="5755623"/>
                <a:ext cx="648449" cy="2870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120B9DC-AA7E-97A9-B9D6-B91EC0C68862}"/>
              </a:ext>
            </a:extLst>
          </p:cNvPr>
          <p:cNvSpPr txBox="1"/>
          <p:nvPr/>
        </p:nvSpPr>
        <p:spPr>
          <a:xfrm>
            <a:off x="11293753" y="5810484"/>
            <a:ext cx="6237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spc="-50"/>
              <a:t>오염도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53279-DF3D-1F3A-7D25-2DB08B155951}"/>
              </a:ext>
            </a:extLst>
          </p:cNvPr>
          <p:cNvSpPr txBox="1"/>
          <p:nvPr/>
        </p:nvSpPr>
        <p:spPr>
          <a:xfrm>
            <a:off x="8725543" y="3575864"/>
            <a:ext cx="1613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spc="-100" dirty="0"/>
              <a:t>저감행위를 할 경우의 </a:t>
            </a:r>
            <a:endParaRPr lang="en-US" altLang="ko-KR" sz="1000" spc="-100" dirty="0"/>
          </a:p>
          <a:p>
            <a:pPr algn="ctr"/>
            <a:r>
              <a:rPr lang="ko-KR" altLang="en-US" sz="1000" spc="-100" dirty="0"/>
              <a:t>오염도 발생 확률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D3705D-658F-1453-9A85-0B5265D2E6FF}"/>
              </a:ext>
            </a:extLst>
          </p:cNvPr>
          <p:cNvSpPr txBox="1"/>
          <p:nvPr/>
        </p:nvSpPr>
        <p:spPr>
          <a:xfrm>
            <a:off x="10353010" y="3575864"/>
            <a:ext cx="1613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spc="-100" dirty="0"/>
              <a:t>저감행위를 안 할 경우의 </a:t>
            </a:r>
            <a:endParaRPr lang="en-US" altLang="ko-KR" sz="1000" spc="-100" dirty="0"/>
          </a:p>
          <a:p>
            <a:pPr algn="ctr"/>
            <a:r>
              <a:rPr lang="ko-KR" altLang="en-US" sz="1000" spc="-100" dirty="0"/>
              <a:t>오염도 발생 확률</a:t>
            </a:r>
          </a:p>
        </p:txBody>
      </p:sp>
    </p:spTree>
    <p:extLst>
      <p:ext uri="{BB962C8B-B14F-4D97-AF65-F5344CB8AC3E}">
        <p14:creationId xmlns:p14="http://schemas.microsoft.com/office/powerpoint/2010/main" val="1139220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99A24-A7C2-9780-5014-E0BD6005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A8A9C-AEC8-292B-AB77-00098E00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감시가 불가능할 경우 오염규제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027ED-3E0E-F608-5F2D-C6785CB8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9AB0F94-380F-D88E-16B8-0C0A09121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74180"/>
              </p:ext>
            </p:extLst>
          </p:nvPr>
        </p:nvGraphicFramePr>
        <p:xfrm>
          <a:off x="2075010" y="3163269"/>
          <a:ext cx="6539688" cy="9831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989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179896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2179896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오염원의 행위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기상조건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안 함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함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좋음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1.0ppm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0.5ppm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나쁨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2.0ppm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1.0ppm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66616A8-8CD7-A378-3EA8-BA00503A4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14919"/>
              </p:ext>
            </p:extLst>
          </p:nvPr>
        </p:nvGraphicFramePr>
        <p:xfrm>
          <a:off x="2075010" y="5093669"/>
          <a:ext cx="6539688" cy="9831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989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179896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2179896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오염원의 행위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기상조건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안 함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함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좋음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나쁨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6614DE4-7F21-2957-5D87-6C03943D661A}"/>
              </a:ext>
            </a:extLst>
          </p:cNvPr>
          <p:cNvSpPr txBox="1"/>
          <p:nvPr/>
        </p:nvSpPr>
        <p:spPr>
          <a:xfrm>
            <a:off x="678873" y="958844"/>
            <a:ext cx="1087276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오염원은 저감행위를 전혀 하지 않는 경우와 특정 수준의 저감행위를 하는 경우 둘 중 하나를 선택한다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저감비용은 </a:t>
            </a:r>
            <a:r>
              <a:rPr lang="en-US" altLang="ko-KR" sz="1600" dirty="0"/>
              <a:t>50</a:t>
            </a:r>
            <a:r>
              <a:rPr lang="ko-KR" altLang="en-US" sz="1600" dirty="0"/>
              <a:t>만원이 소요된다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기상조건은 </a:t>
            </a:r>
            <a:r>
              <a:rPr lang="en-US" altLang="ko-KR" sz="1600" dirty="0"/>
              <a:t>50%</a:t>
            </a:r>
            <a:r>
              <a:rPr lang="ko-KR" altLang="en-US" sz="1600" dirty="0"/>
              <a:t>의 확률로 좋을 수도 있고</a:t>
            </a:r>
            <a:r>
              <a:rPr lang="en-US" altLang="ko-KR" sz="1600" dirty="0"/>
              <a:t>, </a:t>
            </a:r>
            <a:r>
              <a:rPr lang="ko-KR" altLang="en-US" sz="1600" dirty="0"/>
              <a:t>나쁠 수도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저감행위를 하지 않을 때</a:t>
            </a:r>
            <a:r>
              <a:rPr lang="en-US" altLang="ko-KR" sz="1600" dirty="0"/>
              <a:t>, </a:t>
            </a:r>
            <a:r>
              <a:rPr lang="ko-KR" altLang="en-US" sz="1600" dirty="0"/>
              <a:t>기상조건이 좋으면 </a:t>
            </a:r>
            <a:r>
              <a:rPr lang="en-US" altLang="ko-KR" sz="1600" dirty="0"/>
              <a:t>1.0ppm, </a:t>
            </a:r>
            <a:r>
              <a:rPr lang="ko-KR" altLang="en-US" sz="1600" dirty="0"/>
              <a:t>기상조건이 나쁘면 </a:t>
            </a:r>
            <a:r>
              <a:rPr lang="en-US" altLang="ko-KR" sz="1600" dirty="0"/>
              <a:t>2.0ppm 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저감행위를 할 때</a:t>
            </a:r>
            <a:r>
              <a:rPr lang="en-US" altLang="ko-KR" sz="1600" dirty="0"/>
              <a:t>, </a:t>
            </a:r>
            <a:r>
              <a:rPr lang="ko-KR" altLang="en-US" sz="1600" dirty="0"/>
              <a:t>기상조건이 좋으면 </a:t>
            </a:r>
            <a:r>
              <a:rPr lang="en-US" altLang="ko-KR" sz="1600" dirty="0"/>
              <a:t>0.5ppm, </a:t>
            </a:r>
            <a:r>
              <a:rPr lang="ko-KR" altLang="en-US" sz="1600" dirty="0"/>
              <a:t>기상조건이 나쁘면 </a:t>
            </a:r>
            <a:r>
              <a:rPr lang="en-US" altLang="ko-KR" sz="1600" dirty="0"/>
              <a:t>1.0ppm </a:t>
            </a:r>
            <a:r>
              <a:rPr lang="ko-KR" altLang="en-US" sz="1600" dirty="0"/>
              <a:t>이 된다</a:t>
            </a:r>
            <a:endParaRPr lang="en-US" altLang="ko-KR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BCE2AE-2AA8-AE39-2365-666754A41F0E}"/>
              </a:ext>
            </a:extLst>
          </p:cNvPr>
          <p:cNvSpPr txBox="1"/>
          <p:nvPr/>
        </p:nvSpPr>
        <p:spPr>
          <a:xfrm>
            <a:off x="678873" y="4476923"/>
            <a:ext cx="10872767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오염도에 따라 사회적 편익은 아래와 같다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2495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D2AC0-19FB-3E13-C40D-49F6F9A5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0F8B-BEED-CD6E-DAE4-C738FF3F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감시가 불가능할 경우 오염규제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41048-B683-351B-5C8B-E3068F87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D49F4-1270-ED6A-DE47-737F1BF7277D}"/>
              </a:ext>
            </a:extLst>
          </p:cNvPr>
          <p:cNvSpPr txBox="1"/>
          <p:nvPr/>
        </p:nvSpPr>
        <p:spPr>
          <a:xfrm>
            <a:off x="678873" y="1936744"/>
            <a:ext cx="10872767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위 상황에서 각각의 경우에 대해 사회 전체에서 발생하는 순편익의 </a:t>
            </a:r>
            <a:r>
              <a:rPr lang="ko-KR" altLang="en-US" sz="1600" dirty="0" err="1"/>
              <a:t>기댓값을</a:t>
            </a:r>
            <a:r>
              <a:rPr lang="ko-KR" altLang="en-US" sz="1600" dirty="0"/>
              <a:t> 구해보자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D4B8BD-C717-ED73-4312-BCCCB7AFF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648" y="1352913"/>
            <a:ext cx="4111518" cy="684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D12D1B-31C7-04C6-BD4F-AB30325D4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749" y="1352912"/>
            <a:ext cx="4111517" cy="68400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EDA6B54-3CFB-95C5-0AE6-056F1B78E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234843"/>
              </p:ext>
            </p:extLst>
          </p:nvPr>
        </p:nvGraphicFramePr>
        <p:xfrm>
          <a:off x="1433660" y="2972769"/>
          <a:ext cx="7850040" cy="9831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6251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396428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28592">
                  <a:extLst>
                    <a:ext uri="{9D8B030D-6E8A-4147-A177-3AD203B41FA5}">
                      <a16:colId xmlns:a16="http://schemas.microsoft.com/office/drawing/2014/main" val="3438438867"/>
                    </a:ext>
                  </a:extLst>
                </a:gridCol>
                <a:gridCol w="196251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오염원의 행위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저감비용 외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사회적 편익의 </a:t>
                      </a: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기댓값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기대 </a:t>
                      </a: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순편익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안함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0.5*100+0.5*0 = 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0.5*150+0.5*100 = 125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E1575FD-D144-1C3B-8526-A32251A79131}"/>
              </a:ext>
            </a:extLst>
          </p:cNvPr>
          <p:cNvSpPr txBox="1"/>
          <p:nvPr/>
        </p:nvSpPr>
        <p:spPr>
          <a:xfrm>
            <a:off x="678873" y="4137901"/>
            <a:ext cx="10872767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오염원이 저감행위를 할 때의 사회적 순편익이 더 크기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정부는 오염원이 저감행위를 하기를 원한다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때 정부가 오염원의 배출량을 확인할 수 없으므로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배출상한 및 배출부과금제는 의미가 없다</a:t>
            </a:r>
            <a:r>
              <a:rPr lang="en-US" altLang="ko-KR" sz="16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F8B52-C111-9196-4B66-F4FE2A20C8AC}"/>
              </a:ext>
            </a:extLst>
          </p:cNvPr>
          <p:cNvSpPr txBox="1"/>
          <p:nvPr/>
        </p:nvSpPr>
        <p:spPr>
          <a:xfrm>
            <a:off x="1238426" y="983580"/>
            <a:ext cx="1831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&lt;</a:t>
            </a:r>
            <a:r>
              <a:rPr lang="ko-KR" altLang="en-US" sz="1800" dirty="0"/>
              <a:t>주어진 상황</a:t>
            </a:r>
            <a:r>
              <a:rPr lang="en-US" altLang="ko-KR" sz="1800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1143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A8D3F-049F-E945-04BC-3BF1377C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감시가 불가능할 경우 오염규제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1D526-B34C-4FE1-0945-6DF806C9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2F068A-95E0-7504-6E29-5FC01FD92332}"/>
                  </a:ext>
                </a:extLst>
              </p:cNvPr>
              <p:cNvSpPr txBox="1"/>
              <p:nvPr/>
            </p:nvSpPr>
            <p:spPr>
              <a:xfrm>
                <a:off x="678873" y="2284298"/>
                <a:ext cx="1087276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정부는 최소한 달성되어야 할 오염도가 </a:t>
                </a:r>
                <a:r>
                  <a:rPr lang="en-US" altLang="ko-KR" sz="1600" dirty="0"/>
                  <a:t>1.0ppm(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dirty="0"/>
                  <a:t>) </a:t>
                </a:r>
                <a:r>
                  <a:rPr lang="ko-KR" altLang="en-US" sz="1600" dirty="0"/>
                  <a:t>이라 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실제 오염도가 이 수준보다 더 심하면 오염원이 저감행위를 하지 않은 것으로 간주하여 </a:t>
                </a:r>
                <a:r>
                  <a:rPr lang="en-US" altLang="ko-KR" sz="1600" dirty="0"/>
                  <a:t>125</a:t>
                </a:r>
                <a:r>
                  <a:rPr lang="ko-KR" altLang="en-US" sz="1600" dirty="0"/>
                  <a:t>만원의 벌금을 부과한다고 해보자</a:t>
                </a:r>
                <a:r>
                  <a:rPr lang="en-US" altLang="ko-KR" sz="160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오염도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≤</a:t>
                </a:r>
                <a:r>
                  <a:rPr lang="en-US" altLang="ko-KR" sz="1600" dirty="0"/>
                  <a:t> 1.0ppm</a:t>
                </a:r>
                <a:r>
                  <a:rPr lang="ko-KR" altLang="en-US" sz="1600" dirty="0"/>
                  <a:t>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벌금은 없고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한편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오염도 </a:t>
                </a:r>
                <a:r>
                  <a:rPr lang="en-US" altLang="ko-KR" sz="1600" dirty="0"/>
                  <a:t>&gt;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1.0ppm</a:t>
                </a:r>
                <a:r>
                  <a:rPr lang="ko-KR" altLang="en-US" sz="1600" dirty="0"/>
                  <a:t>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벌금 </a:t>
                </a:r>
                <a:r>
                  <a:rPr lang="en-US" altLang="ko-KR" sz="1600" dirty="0"/>
                  <a:t>125</a:t>
                </a:r>
                <a:r>
                  <a:rPr lang="ko-KR" altLang="en-US" sz="1600" dirty="0"/>
                  <a:t>만원을 부과한다고 하자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위와 같은 정책이 시행되면 오염원의 기대비용은 아래와 같이 계산된다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오염원은 저감행위를 할 경우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기대비용이 더 적으므로 저감행위를 하고자 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정부는 수질 오염도를 </a:t>
                </a:r>
                <a:r>
                  <a:rPr lang="en-US" altLang="ko-KR" sz="1600" dirty="0"/>
                  <a:t>1.0ppm </a:t>
                </a:r>
                <a:r>
                  <a:rPr lang="ko-KR" altLang="en-US" sz="1600" dirty="0"/>
                  <a:t>이하로 유지할 수 있게 된다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2F068A-95E0-7504-6E29-5FC01FD92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2284298"/>
                <a:ext cx="10872767" cy="4107343"/>
              </a:xfrm>
              <a:prstGeom prst="rect">
                <a:avLst/>
              </a:prstGeom>
              <a:blipFill>
                <a:blip r:embed="rId2"/>
                <a:stretch>
                  <a:fillRect b="-10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BB9B856-7380-7B40-8D64-5F366A1F2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747642"/>
              </p:ext>
            </p:extLst>
          </p:nvPr>
        </p:nvGraphicFramePr>
        <p:xfrm>
          <a:off x="1433660" y="4298223"/>
          <a:ext cx="7850040" cy="9831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6251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396428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28592">
                  <a:extLst>
                    <a:ext uri="{9D8B030D-6E8A-4147-A177-3AD203B41FA5}">
                      <a16:colId xmlns:a16="http://schemas.microsoft.com/office/drawing/2014/main" val="3438438867"/>
                    </a:ext>
                  </a:extLst>
                </a:gridCol>
                <a:gridCol w="196251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오염원의 행위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벌금의 </a:t>
                      </a: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기댓값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 기대비용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안함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0.5*125+0.5*0 = 62.5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62.5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0.5*0+0.5*0 = 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4F4A0050-3F78-F567-CB95-B812079D5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48" y="1352913"/>
            <a:ext cx="4111518" cy="684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932DA38-36AD-D2A3-68ED-37CBD08BF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749" y="1352912"/>
            <a:ext cx="4111517" cy="684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60EE61-BA97-1E71-B1E3-E5D4871D374A}"/>
              </a:ext>
            </a:extLst>
          </p:cNvPr>
          <p:cNvSpPr txBox="1"/>
          <p:nvPr/>
        </p:nvSpPr>
        <p:spPr>
          <a:xfrm>
            <a:off x="1238426" y="983580"/>
            <a:ext cx="1831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&lt;</a:t>
            </a:r>
            <a:r>
              <a:rPr lang="ko-KR" altLang="en-US" sz="1800" dirty="0"/>
              <a:t>주어진 상황</a:t>
            </a:r>
            <a:r>
              <a:rPr lang="en-US" altLang="ko-KR" sz="1800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6252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BC247-77FE-5DD4-D2C3-C427191D3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B0632-BBD0-F703-395C-6AB801E0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감시가 불가능할 경우 오염규제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E86C7-9F07-7BA4-B230-6F8D90DB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1270E-367D-8E55-6231-A9D0223C0B19}"/>
              </a:ext>
            </a:extLst>
          </p:cNvPr>
          <p:cNvSpPr txBox="1"/>
          <p:nvPr/>
        </p:nvSpPr>
        <p:spPr>
          <a:xfrm>
            <a:off x="678873" y="958844"/>
            <a:ext cx="1087276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오염원의 배출량을 정확히 계측할 수 없는 상황에서도 사용할 수 있는 정책수단을 배웠다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현실에서는 훨씬 상황이 복잡하므로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정책수단 또한 더욱 복잡해질 수 밖에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이보다 복잡한 현실을 반영한 하나의 예로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오염원이 존재하고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정부는 오염원들의 배출량을 계측할 수 없는 상황을 가정해보자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다수 오염원이 있음에도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앞서 배운 오염도와 연계한 정책을 시행하여 지역 전체의 벌금을 결정했다고 하자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오염원 가운데 누가 더 많이 배출했는지 알 수 없기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전체 벌금액을 오염원의 수대로 일률적으로 부과한다고 하자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이때 개별 오염원 입장에서는 자신이 배출량을 늘려도</a:t>
            </a:r>
            <a:r>
              <a:rPr lang="en-US" altLang="ko-KR" sz="1600" dirty="0"/>
              <a:t>, </a:t>
            </a:r>
            <a:r>
              <a:rPr lang="ko-KR" altLang="en-US" sz="1600" dirty="0"/>
              <a:t>전체 벌금액의 일부만을 내면 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모든 오염원은 무임승차의 유인이 생긴다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다수의 오염원이 개입되면</a:t>
            </a:r>
            <a:r>
              <a:rPr lang="en-US" altLang="ko-KR" sz="1600" dirty="0"/>
              <a:t>, </a:t>
            </a:r>
            <a:r>
              <a:rPr lang="ko-KR" altLang="en-US" sz="1600" dirty="0"/>
              <a:t>무임승차욕구를 없애기 위해서는 벌금이 훨씬 커져야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37085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13322</TotalTime>
  <Words>4393</Words>
  <Application>Microsoft Office PowerPoint</Application>
  <PresentationFormat>와이드스크린</PresentationFormat>
  <Paragraphs>579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9  불확실성 및 정보 비대칭성과 오염규제</vt:lpstr>
      <vt:lpstr>Section 1. 불확실한 정보와 환경정책</vt:lpstr>
      <vt:lpstr>사회적 한계피해 혹은 한계편익이 불확실한 경우</vt:lpstr>
      <vt:lpstr>사회적 한계피해 혹은 한계편익이 불확실한 경우</vt:lpstr>
      <vt:lpstr>저감비용이 불확실한 경우</vt:lpstr>
      <vt:lpstr>저감비용이 불확실한 경우 (한계저감비용곡선의 기울기가 가파를 때)</vt:lpstr>
      <vt:lpstr>저감비용이 불확실한 경우 (한계저감비용곡선의 기울기가 가파를 때)</vt:lpstr>
      <vt:lpstr>저감비용이 불확실한 경우 (한계편익곡선의 기울기가 가파를 때)</vt:lpstr>
      <vt:lpstr>저감비용이 불확실한 경우 (한계편익곡선의 기울기가 가파를 때)</vt:lpstr>
      <vt:lpstr>저감비용이 불확실한 경우</vt:lpstr>
      <vt:lpstr>혼합정책을 사용하는 경우</vt:lpstr>
      <vt:lpstr>혼합정책을 사용하는 경우</vt:lpstr>
      <vt:lpstr>혼합정책을 사용하는 경우</vt:lpstr>
      <vt:lpstr>혼합정책을 사용하는 경우</vt:lpstr>
      <vt:lpstr>Section 2. 불확실한 저감비용과                 오염원의 전략적 행위</vt:lpstr>
      <vt:lpstr>불확실한 저감비용과 오염원의 전략적 행위</vt:lpstr>
      <vt:lpstr>배출권거래제와 오염원의 전략적 행위: 저감비용의 과대보고</vt:lpstr>
      <vt:lpstr>배출부과금제와 오염원의 전략적 행위: 저감비용의 과소보고</vt:lpstr>
      <vt:lpstr>거짓보고 유인의 완전 제거: 퀴렐 메커니즘</vt:lpstr>
      <vt:lpstr>거짓보고 유인의 완전 제거: 퀴렐 메커니즘</vt:lpstr>
      <vt:lpstr>거짓보고 유인의 완전 제거: 퀴렐 메커니즘</vt:lpstr>
      <vt:lpstr>거짓보고 유인의 완전 제거: 몬테로 메커니즘</vt:lpstr>
      <vt:lpstr>거짓보고 유인의 완전 제거: 몬테로 메커니즘</vt:lpstr>
      <vt:lpstr>거짓보고 유인의 완전 제거: 몬테로 메커니즘</vt:lpstr>
      <vt:lpstr>거짓보고 유인의 완전 제거: 몬테로 메커니즘</vt:lpstr>
      <vt:lpstr>거짓보고 유인의 완전 제거: 몬테로 메커니즘</vt:lpstr>
      <vt:lpstr>몬테로 메커니즘 수식 풀이</vt:lpstr>
      <vt:lpstr>몬테로 메커니즘 수식 풀이</vt:lpstr>
      <vt:lpstr>Section 3. 배출량에 대한 감시가                 불가능할 경우의 오염규제</vt:lpstr>
      <vt:lpstr>배출량에 대한 감시의 불가능성</vt:lpstr>
      <vt:lpstr>오염도와 배출량 간의 관계</vt:lpstr>
      <vt:lpstr>배출량에 대한 감시가 불가능할 경우 오염규제 예시</vt:lpstr>
      <vt:lpstr>배출량에 대한 감시가 불가능할 경우 오염규제 예시</vt:lpstr>
      <vt:lpstr>배출량에 대한 감시가 불가능할 경우 오염규제 예시</vt:lpstr>
      <vt:lpstr>배출량에 대한 감시가 불가능할 경우 오염규제 예시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452</cp:revision>
  <dcterms:created xsi:type="dcterms:W3CDTF">2025-07-05T05:15:23Z</dcterms:created>
  <dcterms:modified xsi:type="dcterms:W3CDTF">2025-11-02T23:28:53Z</dcterms:modified>
</cp:coreProperties>
</file>