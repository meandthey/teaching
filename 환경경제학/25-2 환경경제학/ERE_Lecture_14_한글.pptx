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2"/>
  </p:notesMasterIdLst>
  <p:sldIdLst>
    <p:sldId id="375" r:id="rId2"/>
    <p:sldId id="405" r:id="rId3"/>
    <p:sldId id="550" r:id="rId4"/>
    <p:sldId id="654" r:id="rId5"/>
    <p:sldId id="655" r:id="rId6"/>
    <p:sldId id="673" r:id="rId7"/>
    <p:sldId id="674" r:id="rId8"/>
    <p:sldId id="675" r:id="rId9"/>
    <p:sldId id="676" r:id="rId10"/>
    <p:sldId id="677" r:id="rId11"/>
    <p:sldId id="679" r:id="rId12"/>
    <p:sldId id="680" r:id="rId13"/>
    <p:sldId id="681" r:id="rId14"/>
    <p:sldId id="657" r:id="rId15"/>
    <p:sldId id="682" r:id="rId16"/>
    <p:sldId id="683" r:id="rId17"/>
    <p:sldId id="684" r:id="rId18"/>
    <p:sldId id="685" r:id="rId19"/>
    <p:sldId id="686" r:id="rId20"/>
    <p:sldId id="687" r:id="rId21"/>
    <p:sldId id="689" r:id="rId22"/>
    <p:sldId id="688" r:id="rId23"/>
    <p:sldId id="690" r:id="rId24"/>
    <p:sldId id="691" r:id="rId25"/>
    <p:sldId id="692" r:id="rId26"/>
    <p:sldId id="694" r:id="rId27"/>
    <p:sldId id="693" r:id="rId28"/>
    <p:sldId id="696" r:id="rId29"/>
    <p:sldId id="695" r:id="rId30"/>
    <p:sldId id="697" r:id="rId31"/>
    <p:sldId id="698" r:id="rId32"/>
    <p:sldId id="699" r:id="rId33"/>
    <p:sldId id="700" r:id="rId34"/>
    <p:sldId id="701" r:id="rId35"/>
    <p:sldId id="702" r:id="rId36"/>
    <p:sldId id="703" r:id="rId37"/>
    <p:sldId id="704" r:id="rId38"/>
    <p:sldId id="707" r:id="rId39"/>
    <p:sldId id="705" r:id="rId40"/>
    <p:sldId id="364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070B12"/>
    <a:srgbClr val="0202FF"/>
    <a:srgbClr val="0000FF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- 14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21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전 지구적 차원의 환경문제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24" y="3765550"/>
            <a:ext cx="11311214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환경문제에 관한 국제협력의 어려움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F56B9-FEC2-FADD-BA53-2332117D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8FECB-D813-180C-990B-E3DD9062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A1B2F-893D-543E-DBA0-90281BE368CF}"/>
              </a:ext>
            </a:extLst>
          </p:cNvPr>
          <p:cNvSpPr txBox="1"/>
          <p:nvPr/>
        </p:nvSpPr>
        <p:spPr>
          <a:xfrm>
            <a:off x="678872" y="958844"/>
            <a:ext cx="110950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 환경문제에서는 미세먼지나 산성비 같은 오염피해가 몇 개의 국가에 걸쳐 나타나는 월경오염물질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온실가스와 같은 전 지구적 오염물질의 중요성이 갈수록 커지고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 지구적 오염물질은 여타 오염물질과는 달리 일단 배출되면 지구 전체의 환경오염을 유발하는 인류 공동의 문제가 되기 때문에 국제협력이 필요하다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 지구적 오염은 인류 역사상 비교적 최근에 발생하는 현상이어서 피해 규모가 불확실하다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오염물질의 저감비용을 분담하는데 있어 국가 간 형평성 문제가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각국은 자국의 이익을 먼저 생각하므로 오염물질 관리에 있어 무임승차 문제가 있다</a:t>
            </a:r>
            <a:r>
              <a:rPr lang="en-US" altLang="ko-KR" sz="1600" spc="-50" dirty="0"/>
              <a:t>. (Ch.4 </a:t>
            </a:r>
            <a:r>
              <a:rPr lang="ko-KR" altLang="en-US" sz="1600" spc="-50" dirty="0"/>
              <a:t>무임승차 내용 참고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무임승차 문제가 발생하는 것을 방지하고자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국제기구나 당사국들은 국제환경협약을 체결하여 국제적 환경문제를 해결하고자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협약의 목적은 각국을 협조적으로 행동하도록 유도하여 공동의 환경문제를 해결하는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협약체결이 반드시 각국의 태도를 협조적으로 변하게 하는 것은 아니다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2356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13E9B-C978-39D6-6468-FBA884FF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D3973-E930-7ACC-8B26-5ECA8101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8D028-CCDE-E48D-6EEB-E4788BE4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46D7A-E551-69B3-738F-390A7AFA5A44}"/>
              </a:ext>
            </a:extLst>
          </p:cNvPr>
          <p:cNvSpPr txBox="1"/>
          <p:nvPr/>
        </p:nvSpPr>
        <p:spPr>
          <a:xfrm>
            <a:off x="678872" y="958844"/>
            <a:ext cx="1109507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 5</a:t>
            </a:r>
            <a:r>
              <a:rPr lang="ko-KR" altLang="en-US" sz="1600" spc="-50" dirty="0"/>
              <a:t>에서 살펴보았듯이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같이 용의자의 딜레마라는 현상이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셀의 첫 번째 숫자는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국의 이득을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숫자는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국의 이득을 나타낸다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국가가 서로 협조하고 오염물질을 관리하는 것이 두 국가 후생의 합을 극대화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상대방이 어떤 선택을 하든 자신은 비협조를 선택하는 것이 더 낫기 때문에 결국 두 국가 모두 비협조를 선택하게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국가 모두 손해를 보게 되는 결과가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위의 표는 단순한 예이지만 환경문제를 국제적 협조체제 기반으로 해결하는 것이 어렵다는 점을 보여준다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예를 들어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국이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국의 협조를 끌어내기 위해 자신은 어떤 일이 있어도 협조할 것이라고 공언한다고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그 공언은 신뢰를 얻지 못한다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왜냐하면 막상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협조하면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본인도 협조하여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을 얻기보다는 협조하지 않고</a:t>
            </a:r>
            <a:r>
              <a:rPr lang="en-US" altLang="ko-KR" sz="1600" spc="-50" dirty="0"/>
              <a:t>, 2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얻어가려고 하기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협조행위를 도출해내는 한 가지 방법은 비협조적 행위를 할 때 제재를 하는 것이다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CE42D6BE-B4E7-C3A9-5C2A-852E96D86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048358"/>
              </p:ext>
            </p:extLst>
          </p:nvPr>
        </p:nvGraphicFramePr>
        <p:xfrm>
          <a:off x="2022484" y="3308564"/>
          <a:ext cx="6485469" cy="74537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61823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63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협조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비협조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137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협조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1,   1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-1,   2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1753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비협조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   -1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0,   0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5FE1BE5-FE00-810E-7856-D0A29BDFC15D}"/>
              </a:ext>
            </a:extLst>
          </p:cNvPr>
          <p:cNvSpPr txBox="1"/>
          <p:nvPr/>
        </p:nvSpPr>
        <p:spPr>
          <a:xfrm>
            <a:off x="5848905" y="2970328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국가 </a:t>
            </a:r>
            <a:r>
              <a:rPr lang="en-US" altLang="ko-KR" sz="1300" b="1" kern="0" dirty="0">
                <a:latin typeface="+mn-ea"/>
              </a:rPr>
              <a:t>B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C01AE-2F30-0726-9A1C-AF29935A141D}"/>
              </a:ext>
            </a:extLst>
          </p:cNvPr>
          <p:cNvSpPr txBox="1"/>
          <p:nvPr/>
        </p:nvSpPr>
        <p:spPr>
          <a:xfrm>
            <a:off x="1085542" y="3668829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>
                <a:latin typeface="+mn-ea"/>
              </a:rPr>
              <a:t>국가 </a:t>
            </a:r>
            <a:r>
              <a:rPr lang="en-US" altLang="ko-KR" sz="1300" b="1" kern="0" dirty="0">
                <a:latin typeface="+mn-ea"/>
              </a:rPr>
              <a:t>A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362228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06F9-E0AD-ED66-3277-8F3B3B0C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B540C-8BD9-36B5-D6F9-FBC04D19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4CA67-D702-E155-B0A7-C93D9A036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E409C-0364-95F1-A48F-FDE1A498BCF8}"/>
              </a:ext>
            </a:extLst>
          </p:cNvPr>
          <p:cNvSpPr txBox="1"/>
          <p:nvPr/>
        </p:nvSpPr>
        <p:spPr>
          <a:xfrm>
            <a:off x="678872" y="958844"/>
            <a:ext cx="110950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비협조를 선택하는 나라는 상대국에게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만큼의 벌금을 지급해야 한다고 합의했다고 해보자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표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아래의 상황에서는 상대방이 어떤 행위를 하든 협조를 선택하는 것이 더 나으므로 둘 다 협조를 선택한다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두 국가 사이의 이러한 합의는 구속력을 갖기 어렵다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왜냐하면 협약 위반자를 색출하고 또 제재할 수 있는 강력한 국제기구가 존재하지 않아서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합의를 위반한 국가로부터 실제로 벌금을 받아내기 어렵기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대상국가가 많은 경우를 생각해보면 국제협약을 가입 및 유지하는 것은 더더욱 어렵다는 것을 알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협약 자체가 협약 내용을 지키도록 하게끔 동기를 부여하는 속성을 가지고 있어야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9B161E92-878C-3D33-F7DE-1412AE310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03468"/>
              </p:ext>
            </p:extLst>
          </p:nvPr>
        </p:nvGraphicFramePr>
        <p:xfrm>
          <a:off x="2022484" y="2931069"/>
          <a:ext cx="6485469" cy="74537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61823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63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협조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비협조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137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협조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1,   1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1,   0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1753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비협조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0,   1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0,   0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DF7771-1708-766C-AE5D-8242E8B88599}"/>
              </a:ext>
            </a:extLst>
          </p:cNvPr>
          <p:cNvSpPr txBox="1"/>
          <p:nvPr/>
        </p:nvSpPr>
        <p:spPr>
          <a:xfrm>
            <a:off x="5848905" y="2592833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국가 </a:t>
            </a:r>
            <a:r>
              <a:rPr lang="en-US" altLang="ko-KR" sz="1300" b="1" kern="0" dirty="0">
                <a:latin typeface="+mn-ea"/>
              </a:rPr>
              <a:t>B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4FF4B-5794-4285-09A5-D23BE36B8EF5}"/>
              </a:ext>
            </a:extLst>
          </p:cNvPr>
          <p:cNvSpPr txBox="1"/>
          <p:nvPr/>
        </p:nvSpPr>
        <p:spPr>
          <a:xfrm>
            <a:off x="1085542" y="3291334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>
                <a:latin typeface="+mn-ea"/>
              </a:rPr>
              <a:t>국가 </a:t>
            </a:r>
            <a:r>
              <a:rPr lang="en-US" altLang="ko-KR" sz="1300" b="1" kern="0" dirty="0">
                <a:latin typeface="+mn-ea"/>
              </a:rPr>
              <a:t>A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78810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DD19-06B1-6E28-D556-5C3941A93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A4FAE-596A-AE56-D9B4-0C807005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A0CD13-7C3C-83E1-E0CB-CD20821D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929E19-731E-1601-7014-0941D64AEB83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54421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국가가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중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개의 국가가 국제협약에 가입하고 나머지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개의 국가는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가입하지 않는다고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국가들은 모두 동질적이고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가입하는지 안 </a:t>
                </a:r>
                <a:r>
                  <a:rPr lang="ko-KR" altLang="en-US" sz="1600" spc="-50" dirty="0" err="1"/>
                  <a:t>하는지의</a:t>
                </a:r>
                <a:r>
                  <a:rPr lang="ko-KR" altLang="en-US" sz="1600" spc="-50" dirty="0"/>
                  <a:t> 차이만 있을 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다른 조건은 같다고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협약에 가입하지 않는 국가의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가입한 국가의 </a:t>
                </a:r>
                <a:r>
                  <a:rPr lang="ko-KR" altLang="en-US" sz="1600" spc="-50" dirty="0" err="1"/>
                  <a:t>저감량을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국가들은 두 가지에 대해 의사결정을 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가입할지 결정해야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각국의 저감비용은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저감편익은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이며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1600" spc="-50" dirty="0"/>
                  <a:t> 이라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각국은 자국 저감비용만 부담하지만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배출저감의 편익은 다른 국가의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의해서도 영향을 받는다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국가가 협약에 가입하지 않았다면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국가는 자국의 이익만을 극대화하며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극대화 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선택한다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또 다른 국가는 협약에 가입했다면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국가는 자신을 포함하는 가입국 전체의 이득을 극대화하는 선택을 해야 하므로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극대화하는 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결정해야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함수의 형태를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𝑏𝐴</m:t>
                    </m:r>
                  </m:oMath>
                </a14:m>
                <a:r>
                  <a:rPr lang="en-US" altLang="ko-KR" sz="1600" spc="-50" dirty="0"/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이라고 가정해보자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여기서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뒷장 계속 </a:t>
                </a:r>
                <a:r>
                  <a:rPr lang="en-US" altLang="ko-KR" sz="1600" spc="-50" dirty="0"/>
                  <a:t>&gt;&gt;)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929E19-731E-1601-7014-0941D64AE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5442195"/>
              </a:xfrm>
              <a:prstGeom prst="rect">
                <a:avLst/>
              </a:prstGeom>
              <a:blipFill>
                <a:blip r:embed="rId2"/>
                <a:stretch>
                  <a:fillRect r="-220" b="-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59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C0D0-F2DB-A290-434E-DC8741CA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37DDF-BCBB-EC3B-9C64-636E185A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E9C95-ADE2-380E-9B72-A58EC676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39558D-D1AB-E40F-DC0C-85994E287365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44749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뒷장에 이어 계속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때 이익 극대화를 위해 협약에 가입하지 않은 국가는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, </a:t>
                </a:r>
                <a:r>
                  <a:rPr lang="ko-KR" altLang="en-US" sz="1600" spc="-50" dirty="0"/>
                  <a:t>한편 협약에 가입한 국가는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𝑀𝑏</m:t>
                        </m:r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 </a:t>
                </a:r>
                <a:r>
                  <a:rPr lang="ko-KR" altLang="en-US" sz="1600" spc="-50" dirty="0"/>
                  <a:t>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선택한다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1600" spc="-50" dirty="0"/>
                  <a:t>,  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𝑏𝐴</m:t>
                    </m:r>
                  </m:oMath>
                </a14:m>
                <a:r>
                  <a:rPr lang="en-US" altLang="ko-KR" sz="1600" spc="-50" dirty="0"/>
                  <a:t>,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주어져 있을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두개의 각 식을 최대화 해주는 각각의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를 구해보면 위의 결과를 얻게 되니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직접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확인 해보길 바란다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국이 선택하게 되는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가입한 국가는 가입하지 않은 국가에 비해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배만큼 많은 오염물질을 저감해야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 세계의 </a:t>
                </a:r>
                <a:r>
                  <a:rPr lang="ko-KR" altLang="en-US" sz="1600" spc="-50" dirty="0" err="1"/>
                  <a:t>저감량은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l-GR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l-GR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l-GR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과 같이 결정되고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가입국과 미가입국의 이득은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결정된다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이므로 협약에 가입하지 않은 나라가 더 큰 이득을 얻게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39558D-D1AB-E40F-DC0C-85994E28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4474943"/>
              </a:xfrm>
              <a:prstGeom prst="rect">
                <a:avLst/>
              </a:prstGeom>
              <a:blipFill>
                <a:blip r:embed="rId2"/>
                <a:stretch>
                  <a:fillRect b="-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39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49C6-310D-1497-F614-63A11520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3C5E7-E9CD-2F7A-B029-85213D3D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B4E74-6B30-01B5-7D53-8FB6321F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7FC1C0-D961-DDC0-A569-47EEFD5E5B1B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 때 각국은 국제협약에 가입할지 안 할지를 어떻게 결정할까</a:t>
                </a:r>
                <a:r>
                  <a:rPr lang="en-US" altLang="ko-KR" sz="1600" spc="-50" dirty="0"/>
                  <a:t>?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다시 말해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가입국의 수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크기는 어떻게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어느 정도 크기의 안정적 국제협약이 존재할 수 있을까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현재의 국제협약이 지속되기 위해서는 현재의 협약 가입국은 탈퇴할 의사가 없어야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가입되어 있는 국가가 탈퇴하게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저감량이</a:t>
                </a:r>
                <a:r>
                  <a:rPr lang="ko-KR" altLang="en-US" sz="1600" spc="-50" dirty="0"/>
                  <a:t> 적어지므로 무임승차 이득을 얻을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그러나 이 때 전 세계의 </a:t>
                </a:r>
                <a:r>
                  <a:rPr lang="ko-KR" altLang="en-US" sz="1600" spc="-50" dirty="0" err="1"/>
                  <a:t>저감량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가 줄어들고 그로 인해 저감편익이 감소하게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동시에 현재 가입하지 않은 국가도 의사결정을 바꾸어 협약에 가입할 이유가 없어야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가입하지 않은 국가가 추가로 협약에 가입하면 전 세계 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증가로 인한 편익이 늘어난다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그러나 이 때 무임승차자로 행동할 수 없기 때문에 손해를 보게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협약 가입국의 수가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가입국과 미가입국의 이득을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다음 두 조건이 동시에 충족될 때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개의 나라가 가입한 현재의 국제협약이 유지되게 된다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위에 기술한 설명을 수식으로 표현하면 아래와 같다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내적 안정성 조건</a:t>
                </a:r>
                <a:r>
                  <a:rPr lang="en-US" altLang="ko-KR" sz="1600" spc="-50" dirty="0"/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)≥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현재의 협약 가입국이 협약에서 탈퇴할 유인을 갖지 않을 조건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외적 안정성 조건</a:t>
                </a:r>
                <a:r>
                  <a:rPr lang="en-US" altLang="ko-KR" sz="1600" spc="-50" dirty="0"/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현재의 미가입국이 입장을 바꾸어 협약에 가입하지 않을 조건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7FC1C0-D961-DDC0-A569-47EEFD5E5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5584670"/>
              </a:xfrm>
              <a:prstGeom prst="rect">
                <a:avLst/>
              </a:prstGeom>
              <a:blipFill>
                <a:blip r:embed="rId2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32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BD23-143A-EF33-DC08-A72F7AB9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0EB1D-21C3-5FC6-F7D6-115B171E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5F391-754E-9A16-9F88-4547F7D9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6B2C1A-E928-C385-0566-6FF6BC31447F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지금까지 내용을 종합해보면 국제환경협약이 안정적으로 유지되려면 두 가지 안정성 조건과 균형 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동시에 충족되어야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몇 개의 국가가 가입할지는 파라미터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값에 따라 결정된다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예를 들어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모두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이라고 가정하고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지구에 세 국가만이 있어서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은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이라고 하자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상황은 아래의 표에 정리되어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(3, 3)</m:t>
                    </m:r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 모두 </a:t>
                </a:r>
                <a:r>
                  <a:rPr lang="en-US" altLang="ko-KR" sz="1600" spc="-50" dirty="0"/>
                  <a:t>4.5</a:t>
                </a:r>
                <a:r>
                  <a:rPr lang="ko-KR" altLang="en-US" sz="1600" spc="-50" dirty="0"/>
                  <a:t>로 동일하기 때문에 기존의 회원국이 협약을 탈퇴할 인센티브는 갖지 못한다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세 나라 모두가 참여하는 협약이 유지될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6B2C1A-E928-C385-0566-6FF6BC314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4107343"/>
              </a:xfrm>
              <a:prstGeom prst="rect">
                <a:avLst/>
              </a:prstGeom>
              <a:blipFill>
                <a:blip r:embed="rId2"/>
                <a:stretch>
                  <a:fillRect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3">
                <a:extLst>
                  <a:ext uri="{FF2B5EF4-FFF2-40B4-BE49-F238E27FC236}">
                    <a16:creationId xmlns:a16="http://schemas.microsoft.com/office/drawing/2014/main" id="{31901F05-9340-D17C-4615-5DC3D7E2A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3947214"/>
                  </p:ext>
                </p:extLst>
              </p:nvPr>
            </p:nvGraphicFramePr>
            <p:xfrm>
              <a:off x="2253180" y="3056310"/>
              <a:ext cx="6941154" cy="102954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156859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36639527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07647627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240710130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1497744155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8670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5791586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7767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3">
                <a:extLst>
                  <a:ext uri="{FF2B5EF4-FFF2-40B4-BE49-F238E27FC236}">
                    <a16:creationId xmlns:a16="http://schemas.microsoft.com/office/drawing/2014/main" id="{31901F05-9340-D17C-4615-5DC3D7E2A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3947214"/>
                  </p:ext>
                </p:extLst>
              </p:nvPr>
            </p:nvGraphicFramePr>
            <p:xfrm>
              <a:off x="2253180" y="3056310"/>
              <a:ext cx="6941154" cy="102954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156859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36639527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07647627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240710130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1497744155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8670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32" t="-10638" r="-5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632" t="-10638" r="-4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632" t="-10638" r="-3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632" t="-10638" r="-2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632" t="-10638" r="-1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632" t="-10638" r="-7368" b="-291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5791586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7767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38323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0560-F0B2-52E0-E811-0E3FF8FC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4465B-7625-6726-10C9-45B00727D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8FDD2B-27F3-2344-667E-B3533E23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3FE14F-E61E-2250-A1F4-6C8CB6877467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지구에 다섯 국가만이 있어서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은 </a:t>
                </a: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일 때의 상황은 아래와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5,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3)</m:t>
                    </m:r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, 2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모두 </a:t>
                </a:r>
                <a:r>
                  <a:rPr lang="en-US" altLang="ko-KR" sz="1600" spc="-50" dirty="0"/>
                  <a:t>6.5</a:t>
                </a:r>
                <a:r>
                  <a:rPr lang="ko-KR" altLang="en-US" sz="1600" spc="-50" dirty="0"/>
                  <a:t>로 동일하기 때문에 기존 회원이 탈퇴할 인센티브는 없다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3)</m:t>
                    </m:r>
                  </m:oMath>
                </a14:m>
                <a:r>
                  <a:rPr lang="ko-KR" altLang="en-US" sz="1600" spc="-50" dirty="0"/>
                  <a:t> 은 </a:t>
                </a:r>
                <a:r>
                  <a:rPr lang="en-US" altLang="ko-KR" sz="1600" spc="-50" dirty="0"/>
                  <a:t>10.5</a:t>
                </a:r>
                <a:r>
                  <a:rPr lang="ko-KR" altLang="en-US" sz="1600" spc="-50" dirty="0"/>
                  <a:t>인 반면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9</a:t>
                </a:r>
                <a:r>
                  <a:rPr lang="ko-KR" altLang="en-US" sz="1600" spc="-50" dirty="0"/>
                  <a:t>이기 때문에 기존의 협약 미가입국이 입장을 바꾸어 협약에 가입할 필요성도 느끼지 못한다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다섯 국가가 있을 경우에도 국제협약은 세 국가로 유지된다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지금까지 살펴본 저감편익과 비용구조에서는 전체 국가의 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큰 경우라 하더라도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안정적으로 유지될 수 있는 국제 협약 규모는 세 나라이다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이러한 결과가 발생하는 이유는 협약 가입국의 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늘어날수록 협약을 탈퇴하여 무임승차자가 되려는 욕구가 더 강해지기 때문이다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3FE14F-E61E-2250-A1F4-6C8CB6877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5215338"/>
              </a:xfrm>
              <a:prstGeom prst="rect">
                <a:avLst/>
              </a:prstGeom>
              <a:blipFill>
                <a:blip r:embed="rId2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4ADBFC5-5546-A5C8-13D7-4173C4A89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4161561"/>
                  </p:ext>
                </p:extLst>
              </p:nvPr>
            </p:nvGraphicFramePr>
            <p:xfrm>
              <a:off x="2253180" y="1567112"/>
              <a:ext cx="6941154" cy="149082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156859">
                      <a:extLst>
                        <a:ext uri="{9D8B030D-6E8A-4147-A177-3AD203B41FA5}">
                          <a16:colId xmlns:a16="http://schemas.microsoft.com/office/drawing/2014/main" val="37323257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78399928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46657647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88681539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089896872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2158936780"/>
                        </a:ext>
                      </a:extLst>
                    </a:gridCol>
                  </a:tblGrid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83065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439056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820029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604753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9071828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67862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4ADBFC5-5546-A5C8-13D7-4173C4A89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4161561"/>
                  </p:ext>
                </p:extLst>
              </p:nvPr>
            </p:nvGraphicFramePr>
            <p:xfrm>
              <a:off x="2253180" y="1567112"/>
              <a:ext cx="6941154" cy="149082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156859">
                      <a:extLst>
                        <a:ext uri="{9D8B030D-6E8A-4147-A177-3AD203B41FA5}">
                          <a16:colId xmlns:a16="http://schemas.microsoft.com/office/drawing/2014/main" val="37323257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78399928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46657647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88681539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089896872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2158936780"/>
                        </a:ext>
                      </a:extLst>
                    </a:gridCol>
                  </a:tblGrid>
                  <a:tr h="2527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32" t="-11905" r="-5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632" t="-11905" r="-4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632" t="-11905" r="-3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632" t="-11905" r="-2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632" t="-11905" r="-1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632" t="-11905" r="-7368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83065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439056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820029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604753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9071828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67862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954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A4D0-1BC8-6930-6471-FBB70AAA5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C99E2-9666-6F0F-9F46-F763B580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48D9D2-729E-9013-CAE6-63110525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0561C-E88B-76F9-1DB1-A7DF60BFEE31}"/>
              </a:ext>
            </a:extLst>
          </p:cNvPr>
          <p:cNvSpPr txBox="1"/>
          <p:nvPr/>
        </p:nvSpPr>
        <p:spPr>
          <a:xfrm>
            <a:off x="678872" y="958844"/>
            <a:ext cx="11233495" cy="63233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이상에서 살펴 본 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대부분의 이론적 연구는 조약 </a:t>
            </a:r>
            <a:r>
              <a:rPr lang="ko-KR" altLang="en-US" sz="1600" spc="-50" dirty="0" err="1"/>
              <a:t>미가입</a:t>
            </a:r>
            <a:r>
              <a:rPr lang="ko-KR" altLang="en-US" sz="1600" spc="-50" dirty="0"/>
              <a:t> 시 얻는 무임승차 욕구가 너무 크기 때문에 최대 협약 가입국이 두세 나라에 불과하거나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안정적인 협약 자체가 존재하지 않는다는 결론을 내리고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이론과는 달리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현실에서는 약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개 정도의 환경 및 자원 관련 국제협약이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유지되고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이론과 현실 간에 상반된 결과는 현실에서는 조약가입의 이득을 탈퇴 시 잃게 되는 손실보다 더 크게 하는 다른 장치가 있기 때문이라고 간주할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아래와 같은 이유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장치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있을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첫째는 가입국과 비가입국의 역할을 차등화 하는 경우이다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가입국이 먼저 의사결정 하는 것을 허용하는 것이다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여러 나라가 참여하는 국제협약은 개별 미가입국에 비해서는 환경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자원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미치는 정도가 크기 때문에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주도권을 쥐게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국제협약기구가 먼저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결정할 때 미가입국들의 반응을 예상하고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선택할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이 이론은 비가입국이 국제협약으로 하여금 먼저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결정하도록 순순히 허용하는지에 대한 설명이 약하다는 문제가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둘째는 당사국들의 전략적인 관계가 지속적으로 반복 되는 경우이다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당장은 기후변화 협상에 </a:t>
            </a:r>
            <a:r>
              <a:rPr lang="ko-KR" altLang="en-US" sz="1600" spc="-50" dirty="0" err="1"/>
              <a:t>미참여</a:t>
            </a:r>
            <a:r>
              <a:rPr lang="ko-KR" altLang="en-US" sz="1600" spc="-50" dirty="0"/>
              <a:t> 하는 것이 더 이득을 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 진행될 다른 </a:t>
            </a:r>
            <a:r>
              <a:rPr lang="en-US" altLang="ko-KR" sz="1600" spc="-50" dirty="0"/>
              <a:t>FTA, WTO</a:t>
            </a:r>
            <a:r>
              <a:rPr lang="ko-KR" altLang="en-US" sz="1600" spc="-50" dirty="0"/>
              <a:t>등의 협상에서 이번 기후변화 참여를 통해 상대국의 협조를 얻을 수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협상에 참여하는 것이 더 이득일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151124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EDA3-5CC4-C55F-95A5-A9397187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0E5C1-A1B0-46E5-AE1B-1A4272C2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D3D13-8FD7-67EE-83F9-C54EAE92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2E4622-F22C-C965-584A-3E887FBC8D14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036354" cy="500855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셋째는 협약 서명국들은 회원국의 수에 연계된 환경정책을 사용할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예를 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일정 수준의 가입국 수가 되지 않으면 조약을 해체하여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기존의 협약에 가입한 국가들도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ko-KR" altLang="en-US" sz="1600" spc="-50" dirty="0"/>
                  <a:t> 만큼만 저감하는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실제로도 대부분이 이러한 전략을 사용하고 있다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몬트리올의정서의 경우 </a:t>
                </a:r>
                <a:r>
                  <a:rPr lang="en-US" altLang="ko-KR" sz="1600" spc="-50" dirty="0"/>
                  <a:t>11</a:t>
                </a:r>
                <a:r>
                  <a:rPr lang="ko-KR" altLang="en-US" sz="1600" spc="-50" dirty="0"/>
                  <a:t>개국 이상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 세계 소비의 </a:t>
                </a:r>
                <a:r>
                  <a:rPr lang="en-US" altLang="ko-KR" sz="1600" spc="-50" dirty="0"/>
                  <a:t>2/3 </a:t>
                </a:r>
                <a:r>
                  <a:rPr lang="ko-KR" altLang="en-US" sz="1600" spc="-50" dirty="0"/>
                  <a:t>이상을 차지하는 국가가 가입하여야 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넷째는 협약가입에 대한 대가를 지불할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예를 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참여하여 큰 이득을 보는 국가가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손실을 보게 되는 국가에게 자신의 이득 중 일부를 지불하는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경우 규모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지급 방식에 대해 교섭이 진행되야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회원국의 교섭력에 의해 결정될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다섯째는 협약가입 여부를 국제무역과 연계할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예를 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환경협약에 가입하지 않는 국가에 대해서는 관련 제품을 회원국과 거래하는 것을 금지하는 것이다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현실에서도 많이 사용되며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다만 무역자유화를 추구하는 </a:t>
                </a:r>
                <a:r>
                  <a:rPr lang="en-US" altLang="ko-KR" sz="1600" spc="-50" dirty="0"/>
                  <a:t>WTO </a:t>
                </a:r>
                <a:r>
                  <a:rPr lang="ko-KR" altLang="en-US" sz="1600" spc="-50" dirty="0"/>
                  <a:t>등의 방침에 어긋나지 않아야 하는 제약을 가지고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2E4622-F22C-C965-584A-3E887FBC8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036354" cy="5008551"/>
              </a:xfrm>
              <a:prstGeom prst="rect">
                <a:avLst/>
              </a:prstGeom>
              <a:blipFill>
                <a:blip r:embed="rId2"/>
                <a:stretch>
                  <a:fillRect r="-497" b="-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689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FBBA-37CB-3E10-3F24-13723BAA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C16279-24D7-CC46-5B7D-27AEFB5B1F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38738-AF9D-1E61-44B8-358A97AC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E60737C-5F79-9F8E-442F-F6E9FC75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오존층 파괴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483550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FC8D-1AC3-E1DC-6E3D-1921C872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84ECC-682D-43A0-A6BC-E02121F7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오존층 파괴의 원인과 피해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68C007-5D01-CDF3-649F-B4FC54F7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2E9ED-782A-F3F8-AC2D-170848A8602A}"/>
              </a:ext>
            </a:extLst>
          </p:cNvPr>
          <p:cNvSpPr txBox="1"/>
          <p:nvPr/>
        </p:nvSpPr>
        <p:spPr>
          <a:xfrm>
            <a:off x="678872" y="958844"/>
            <a:ext cx="1123349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오존과 관련된 환경문제는 크게 두 가지로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국지적 혹은 지상오염 측면에서 살펴보면 오존은 일종의 대기오염물질이다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오존은 탄화수소가 질소산화물과 태양광 아래에서 결합하여 발생하는데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건강상의 피해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농작물 피해를 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 지구적 차원에서 살펴보면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오존 문제는 지표로부터 </a:t>
            </a:r>
            <a:r>
              <a:rPr lang="en-US" altLang="ko-KR" sz="1600" spc="-50" dirty="0"/>
              <a:t>10~50km </a:t>
            </a:r>
            <a:r>
              <a:rPr lang="ko-KR" altLang="en-US" sz="1600" spc="-50" dirty="0"/>
              <a:t>상공의 성층권에서 발생한다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지구상에 존재하는 오존의 대부분은 성층권에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지구의 방사선 균형을 유지하는데 결정적인 역할을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오존은 지구로 유입되는 자외선 복사를 차단하므로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오존층이 파괴되면 지구를 자외선으로부터 보호하는 보호막이 약해지게 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오존층 파괴는 다양한 화학제품으로 배출되는 </a:t>
            </a:r>
            <a:r>
              <a:rPr lang="en-US" altLang="ko-KR" sz="1600" spc="-50" dirty="0"/>
              <a:t>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이산화탄소</a:t>
            </a:r>
            <a:r>
              <a:rPr lang="en-US" altLang="ko-KR" sz="1600" spc="-50" dirty="0"/>
              <a:t>), CH</a:t>
            </a:r>
            <a:r>
              <a:rPr lang="en-US" altLang="ko-KR" sz="1600" spc="-50" baseline="-25000" dirty="0"/>
              <a:t>4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메테인</a:t>
            </a:r>
            <a:r>
              <a:rPr lang="en-US" altLang="ko-KR" sz="1600" spc="-50" dirty="0"/>
              <a:t>), N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O(</a:t>
            </a:r>
            <a:r>
              <a:rPr lang="ko-KR" altLang="en-US" sz="1600" spc="-50" dirty="0" err="1"/>
              <a:t>아산화질소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같은 염소계 가스 때문에 발생하며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오존층 파괴의 가장 큰 원인물질은 </a:t>
            </a:r>
            <a:r>
              <a:rPr lang="en-US" altLang="ko-KR" sz="1600" spc="-50" dirty="0"/>
              <a:t>CFC (</a:t>
            </a:r>
            <a:r>
              <a:rPr lang="ko-KR" altLang="en-US" sz="1600" spc="-50" dirty="0" err="1"/>
              <a:t>염화불화탄소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CFC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1930</a:t>
            </a:r>
            <a:r>
              <a:rPr lang="ko-KR" altLang="en-US" sz="1600" spc="-50" dirty="0"/>
              <a:t>년대에 기존 냉매제의 대체물질로 개발된 화학물질로서 냉장고와 에어컨의 </a:t>
            </a:r>
            <a:r>
              <a:rPr lang="ko-KR" altLang="en-US" sz="1600" spc="-50" dirty="0" err="1"/>
              <a:t>냉매제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헤어스프레이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살충제의 분무 촉진제로 사용하고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프레온 가스 혹은 </a:t>
            </a:r>
            <a:r>
              <a:rPr lang="ko-KR" altLang="en-US" sz="1600" spc="-50" dirty="0" err="1"/>
              <a:t>스타이로폼</a:t>
            </a:r>
            <a:r>
              <a:rPr lang="ko-KR" altLang="en-US" sz="1600" spc="-50" dirty="0"/>
              <a:t> 가스 라고 불리기도 한다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오존층 파괴에 두번째로 영향이 큰 물질은 </a:t>
            </a:r>
            <a:r>
              <a:rPr lang="ko-KR" altLang="en-US" sz="1600" spc="-50" dirty="0" err="1"/>
              <a:t>할론가스이다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주로 </a:t>
            </a:r>
            <a:r>
              <a:rPr lang="ko-KR" altLang="en-US" sz="1600" spc="-50" dirty="0" err="1"/>
              <a:t>소화용제로</a:t>
            </a:r>
            <a:r>
              <a:rPr lang="ko-KR" altLang="en-US" sz="1600" spc="-50" dirty="0"/>
              <a:t> 사용하며</a:t>
            </a:r>
            <a:r>
              <a:rPr lang="en-US" altLang="ko-KR" sz="1600" spc="-50" dirty="0"/>
              <a:t>, CFC</a:t>
            </a:r>
            <a:r>
              <a:rPr lang="ko-KR" altLang="en-US" sz="1600" spc="-50" dirty="0"/>
              <a:t>만큼 광범위하게 이용되고 있지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일단 방출된 </a:t>
            </a:r>
            <a:r>
              <a:rPr lang="en-US" altLang="ko-KR" sz="1600" spc="-50" dirty="0"/>
              <a:t>CFC</a:t>
            </a:r>
            <a:r>
              <a:rPr lang="ko-KR" altLang="en-US" sz="1600" spc="-50" dirty="0"/>
              <a:t>보다 더 강한 오존 파괴 효과를 가지는 것으로 알려져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0014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EA0F-1AAE-3625-9021-6678144D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A2950-84E7-4A4B-5780-C09BF509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오존층 보존을 위한 노력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7BC699-4C3D-3B94-B098-C20F9BC6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2D647-6D2C-366E-95B5-4544480012C0}"/>
              </a:ext>
            </a:extLst>
          </p:cNvPr>
          <p:cNvSpPr txBox="1"/>
          <p:nvPr/>
        </p:nvSpPr>
        <p:spPr>
          <a:xfrm>
            <a:off x="678872" y="958844"/>
            <a:ext cx="11233495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오존층을 보존 하기 위해 다양한 노력들을 해왔다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1978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미국과 몇몇 유럽 국가들은 분무 촉진제로 </a:t>
            </a:r>
            <a:r>
              <a:rPr lang="en-US" altLang="ko-KR" sz="1600" spc="-50" dirty="0"/>
              <a:t>CFC</a:t>
            </a:r>
            <a:r>
              <a:rPr lang="ko-KR" altLang="en-US" sz="1600" spc="-50" dirty="0"/>
              <a:t>를 사용하는 것을 금지한 바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1980</a:t>
            </a:r>
            <a:r>
              <a:rPr lang="ko-KR" altLang="en-US" sz="1600" spc="-50" dirty="0"/>
              <a:t>년대 들어와서 본격적인 국제협력이 나타났는데</a:t>
            </a:r>
            <a:r>
              <a:rPr lang="en-US" altLang="ko-KR" sz="1600" spc="-50" dirty="0"/>
              <a:t>, 1987</a:t>
            </a:r>
            <a:r>
              <a:rPr lang="ko-KR" altLang="en-US" sz="1600" spc="-50" dirty="0"/>
              <a:t>년에는 전 세계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개국이 서명한 몬트리올의정서가 채택되었다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몬트리올 의정서가 채택된 후 오존층 파괴로 인한 피해가 당초 예상보다 훨씬 심각하다는 사실이 밝혀졌다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선진국의 경우 </a:t>
            </a:r>
            <a:r>
              <a:rPr lang="en-US" altLang="ko-KR" sz="1600" spc="-50" dirty="0"/>
              <a:t>CFC(</a:t>
            </a:r>
            <a:r>
              <a:rPr lang="ko-KR" altLang="en-US" sz="1600" spc="-50" dirty="0" err="1"/>
              <a:t>염화불화탄소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배출량을 </a:t>
            </a:r>
            <a:r>
              <a:rPr lang="en-US" altLang="ko-KR" sz="1600" spc="-50" dirty="0"/>
              <a:t>1996</a:t>
            </a:r>
            <a:r>
              <a:rPr lang="ko-KR" altLang="en-US" sz="1600" spc="-50" dirty="0"/>
              <a:t>년부터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할론가스는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1994</a:t>
            </a:r>
            <a:r>
              <a:rPr lang="ko-KR" altLang="en-US" sz="1600" spc="-50" dirty="0"/>
              <a:t>년부터 생산 및 소비를 금지하였다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개발도상국의 경우 </a:t>
            </a:r>
            <a:r>
              <a:rPr lang="en-US" altLang="ko-KR" sz="1600" spc="-50" dirty="0"/>
              <a:t>2010</a:t>
            </a:r>
            <a:r>
              <a:rPr lang="ko-KR" altLang="en-US" sz="1600" spc="-50" dirty="0"/>
              <a:t>년부터 생산 및 소비를 금지하였다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오존층 파괴 방지를 위한 국제적 노력은 비교적 성공적이라고 평가받고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CFC </a:t>
            </a:r>
            <a:r>
              <a:rPr lang="ko-KR" altLang="en-US" sz="1600" spc="-50" dirty="0"/>
              <a:t>배출국 대부분이 회원국이며</a:t>
            </a:r>
            <a:r>
              <a:rPr lang="en-US" altLang="ko-KR" sz="1600" spc="-50" dirty="0"/>
              <a:t>, UN </a:t>
            </a:r>
            <a:r>
              <a:rPr lang="ko-KR" altLang="en-US" sz="1600" spc="-50" dirty="0"/>
              <a:t>역사상 가장 많은 국가가 참여하고 있는 조약이다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2192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6239-BC45-D4B1-D05C-B59EF3AA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4B0436-8F8D-2494-368C-5D097CF7A9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5A40EB-F065-E780-49DC-220F6570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A042D15-5CF2-7131-2953-4011DE1A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생물다양성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871843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BEE4-2BC8-8A22-BEB9-52ABDD91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00E36-0FE5-717B-5EC2-E9235D42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생물다양성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1F5227-D2D6-E24C-DB8E-4C120B14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2EFC9-C264-870A-7548-632A92F301BA}"/>
              </a:ext>
            </a:extLst>
          </p:cNvPr>
          <p:cNvSpPr txBox="1"/>
          <p:nvPr/>
        </p:nvSpPr>
        <p:spPr>
          <a:xfrm>
            <a:off x="678872" y="958844"/>
            <a:ext cx="11233495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생물다양성이란</a:t>
            </a:r>
            <a:r>
              <a:rPr lang="ko-KR" altLang="en-US" sz="1600" spc="-50" dirty="0"/>
              <a:t> 지구상에 존재하는 생물종의 다양성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유전학적 다양성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생물이 살아가는 생태계의 다양성을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생태계 내의 생물종이 줄어들고 유전적 측면에서 획일화가 이루어지면 생태계가 다양한 주변 환경변화에 적응할 수 있는 유연성을 상실하게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생물종은 자연환경에 적응하는 과정에서 자연적으로 감소할 수도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 </a:t>
            </a:r>
            <a:r>
              <a:rPr lang="ko-KR" altLang="en-US" sz="1600" spc="-50" dirty="0" err="1"/>
              <a:t>생물종</a:t>
            </a:r>
            <a:r>
              <a:rPr lang="ko-KR" altLang="en-US" sz="1600" spc="-50" dirty="0"/>
              <a:t> 감소 속도는 전 지구적 재앙으로 공룡이 멸종했던 시절 이래 가장 빠른 속도이다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생물다양성 감소는 단순히 생태계의 파괴로 끝나지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인류 복지에 직접적인 영향을 미친다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인류가 사용하는 의약품의 </a:t>
            </a:r>
            <a:r>
              <a:rPr lang="en-US" altLang="ko-KR" sz="1600" spc="-50" dirty="0"/>
              <a:t>25%</a:t>
            </a:r>
            <a:r>
              <a:rPr lang="ko-KR" altLang="en-US" sz="1600" spc="-50" dirty="0"/>
              <a:t>는 식물로부터 추출한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현재는 유용한 식물이 아니라 할지라도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미래에는 어떤 새로운 유용한 물질을 제공할지도 모른다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야생 동식물을 이용하여 농작물의 신품종을 만들거나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해충의 천적을 양성하는 경우는 흔히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생물은 오염물질에 대한 노출이나 인간의 수렵 및 채취 등에 의해 직접적으로 위협받는다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생물종의 유지를 위협하는 더 중요한 원인은 농업 및 도시개발로 인해 생물 서식지가 사라지는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실례로는 개발로 인해 아마존강 유역의 밀림이 급격히 줄어들면서 이곳에 서식하는 생물종의 수도 격감하고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아울러 기후변화도 서식 환경을 바꾸어 생물종을 대규모로 감소시키는 심각한 요인이다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5265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6FE3-E1CD-CCC5-AF40-8AF46C174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58418-53CC-827F-79B9-AE626084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생물다양성을 보존하기 위한 조치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15A66-D8E2-F2DA-7A0E-74D2BE89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3EC6C-B8E9-95DF-740B-819E29DE8F11}"/>
              </a:ext>
            </a:extLst>
          </p:cNvPr>
          <p:cNvSpPr txBox="1"/>
          <p:nvPr/>
        </p:nvSpPr>
        <p:spPr>
          <a:xfrm>
            <a:off x="678872" y="958844"/>
            <a:ext cx="1106991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생물다양성 감소를 방지하기 위한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차적인 대응은 생물종의 보존을 위해 필요한 지역을 보호지구로 정하여 개발을 금지하는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서식지 보호라는 차원에서는 유용한 제도가 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경제적 유인을 사용하는 것이 아니므로 효율적인 방식이 아니다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생물다양성 보존을 위해 경제적 유인제도를 사용하려면 생물종이 갖는 경제적 가치가 적절히 평가되도록 하여야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유전공학적 과정을 거친 동식물의 종이나 새로운 의약품 등에 대해서는 그 지적 소유권이 국제적으로 인정되고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그러한 지적인 산물의 원료가 되는 야생 </a:t>
            </a:r>
            <a:r>
              <a:rPr lang="ko-KR" altLang="en-US" sz="1600" spc="-50" dirty="0" err="1"/>
              <a:t>생물종</a:t>
            </a:r>
            <a:r>
              <a:rPr lang="ko-KR" altLang="en-US" sz="1600" spc="-50" dirty="0"/>
              <a:t> 자체에 대한 소유권은 인정받지 못하고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희귀 동식물의 서식지를 갖고 있는 국가가 자국이 보유한 생물종의 가치를 국제적으로 인정받을 수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국가는 서식지를 보존하려는 노력을 하게 될 것이며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</a:t>
            </a:r>
            <a:r>
              <a:rPr lang="ko-KR" altLang="en-US" sz="1600" spc="-50" dirty="0" err="1"/>
              <a:t>생물종</a:t>
            </a:r>
            <a:r>
              <a:rPr lang="ko-KR" altLang="en-US" sz="1600" spc="-50" dirty="0"/>
              <a:t> 감소를 방지할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생물다양성에 관한 국제협약으로는 </a:t>
            </a:r>
            <a:r>
              <a:rPr lang="en-US" altLang="ko-KR" sz="1600" spc="-50" dirty="0"/>
              <a:t>1992</a:t>
            </a:r>
            <a:r>
              <a:rPr lang="ko-KR" altLang="en-US" sz="1600" spc="-50" dirty="0"/>
              <a:t>년의 리우정상회담에서 채택된 생물다양성협약이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생물다양성 보존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생물다양성의 지속가능한 이용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유전자원이용 편익의 공정하고 균등한 배분을 추구한다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생물종</a:t>
            </a:r>
            <a:r>
              <a:rPr lang="ko-KR" altLang="en-US" sz="1600" spc="-50" dirty="0"/>
              <a:t> 보호와 관련된 또 다른 협약으로는 </a:t>
            </a:r>
            <a:r>
              <a:rPr lang="en-US" altLang="ko-KR" sz="1600" spc="-50" dirty="0"/>
              <a:t>1971</a:t>
            </a:r>
            <a:r>
              <a:rPr lang="ko-KR" altLang="en-US" sz="1600" spc="-50" dirty="0"/>
              <a:t>년 이란의 </a:t>
            </a:r>
            <a:r>
              <a:rPr lang="ko-KR" altLang="en-US" sz="1600" spc="-50" dirty="0" err="1"/>
              <a:t>람사르에서</a:t>
            </a:r>
            <a:r>
              <a:rPr lang="ko-KR" altLang="en-US" sz="1600" spc="-50" dirty="0"/>
              <a:t> 채택되어 </a:t>
            </a:r>
            <a:r>
              <a:rPr lang="ko-KR" altLang="en-US" sz="1600" spc="-50" dirty="0" err="1"/>
              <a:t>람사르</a:t>
            </a:r>
            <a:r>
              <a:rPr lang="ko-KR" altLang="en-US" sz="1600" spc="-50" dirty="0"/>
              <a:t> 협약이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회원국으로 하여금 최소한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개 이상의 습지를 협약등록습지로 등재하여 보호하도록 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한국의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강원도 인제군의 </a:t>
            </a:r>
            <a:r>
              <a:rPr lang="ko-KR" altLang="en-US" sz="1600" spc="-50" dirty="0" err="1"/>
              <a:t>대암산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용늪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경남 창녕의 </a:t>
            </a:r>
            <a:r>
              <a:rPr lang="ko-KR" altLang="en-US" sz="1600" spc="-50" dirty="0" err="1"/>
              <a:t>우포늪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전남 신안군 장도 및 순천만 등 다수의 습지를 등재하였다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1809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1769-4E21-8003-7A5E-138E1610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D56CBB-17CE-9ED3-FBAC-87117A3644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73BA4-9157-CD02-05A4-90506EBC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AB92C5F-1B3F-5429-16B5-A8E8B23C2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22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기후변화의 경제학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827282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4359-13A4-3D16-D8C7-EC687659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BC4C1B-536A-A457-2E15-82ECE7A71A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7E090-A0EB-0677-248B-CCCEF75A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8665769-5E89-C022-91DB-F73BB5D68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지구온난화 과학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337548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D49E-5C99-0721-7A82-4CE526EA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550FD-F765-2BBB-CBD5-E68D2A28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온실가스와 기온</a:t>
            </a:r>
            <a:r>
              <a:rPr lang="en-US" altLang="ko-KR" dirty="0"/>
              <a:t>, </a:t>
            </a:r>
            <a:r>
              <a:rPr lang="ko-KR" altLang="en-US" dirty="0"/>
              <a:t>기온상승의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367E3-2B61-41DC-3992-94DEB556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39A100-A695-1498-B412-7985E7FE82E7}"/>
                  </a:ext>
                </a:extLst>
              </p:cNvPr>
              <p:cNvSpPr txBox="1"/>
              <p:nvPr/>
            </p:nvSpPr>
            <p:spPr>
              <a:xfrm>
                <a:off x="678871" y="958844"/>
                <a:ext cx="11233495" cy="33686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지구온난화 유발 원인으로 지목되는 온실가스로는 </a:t>
                </a:r>
                <a:r>
                  <a:rPr lang="en-US" altLang="ko-KR" sz="1600" spc="-50" dirty="0"/>
                  <a:t>20</a:t>
                </a:r>
                <a:r>
                  <a:rPr lang="ko-KR" altLang="en-US" sz="1600" spc="-50" dirty="0"/>
                  <a:t>여 종이 있지만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아래의 표에 제시된 </a:t>
                </a:r>
                <a:r>
                  <a:rPr lang="en-US" altLang="ko-KR" sz="1600" spc="-50" dirty="0"/>
                  <a:t>7</a:t>
                </a:r>
                <a:r>
                  <a:rPr lang="ko-KR" altLang="en-US" sz="1600" spc="-50" dirty="0"/>
                  <a:t>종류의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온실가스가 대표적이다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종류의 가스가 지구의 온실효과에 미치는 영향은 달라서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온실효과를 유발하는 정도에 따라 이산화탄소로 환산된 양으로 측정한다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아래의 표에서 이산화탄소의 </a:t>
                </a:r>
                <a:r>
                  <a:rPr lang="en-US" altLang="ko-KR" sz="1600" spc="-50" dirty="0"/>
                  <a:t>GWP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인 것을 확인하길 바란다</a:t>
                </a:r>
                <a:r>
                  <a:rPr lang="en-US" altLang="ko-KR" sz="1600" spc="-50" dirty="0"/>
                  <a:t>.)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가스별 온실가스를 통일된 단위로 환산하기 위해 </a:t>
                </a:r>
                <a:r>
                  <a:rPr lang="en-US" altLang="ko-KR" sz="1600" spc="-50" dirty="0"/>
                  <a:t>GWP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(Global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Warming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Potential)</a:t>
                </a:r>
                <a:r>
                  <a:rPr lang="ko-KR" altLang="en-US" sz="1600" spc="-50" dirty="0"/>
                  <a:t>라는 계수를 활용한다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가스의 질량</a:t>
                </a:r>
                <a:r>
                  <a:rPr lang="en-US" altLang="ko-KR" sz="1600" spc="-50" dirty="0"/>
                  <a:t>(kg,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 err="1"/>
                  <a:t>tonne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등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에 </a:t>
                </a:r>
                <a:r>
                  <a:rPr lang="en-US" altLang="ko-KR" sz="1600" spc="-50" dirty="0"/>
                  <a:t>GWP</a:t>
                </a:r>
                <a:r>
                  <a:rPr lang="ko-KR" altLang="en-US" sz="1600" spc="-50" dirty="0"/>
                  <a:t>를 곱하면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라는 단위가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>
                    <a:latin typeface="Cambria Math" panose="02040503050406030204" pitchFamily="18" charset="0"/>
                  </a:rPr>
                  <a:t>1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톤의 </a:t>
                </a:r>
                <a:r>
                  <a:rPr lang="ko-KR" altLang="en-US" sz="1600" dirty="0" err="1">
                    <a:latin typeface="Cambria Math" panose="02040503050406030204" pitchFamily="18" charset="0"/>
                  </a:rPr>
                  <a:t>메테인은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28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톤의 이산화탄소와 온실효과에 미치는 영향이 같다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𝑡𝐶𝑂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𝑡𝐶𝐻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𝑡𝐶𝑂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39A100-A695-1498-B412-7985E7FE8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1" y="958844"/>
                <a:ext cx="11233495" cy="3368679"/>
              </a:xfrm>
              <a:prstGeom prst="rect">
                <a:avLst/>
              </a:prstGeom>
              <a:blipFill>
                <a:blip r:embed="rId2"/>
                <a:stretch>
                  <a:fillRect r="-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1813F7-509D-41E3-B701-938951556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69073"/>
              </p:ext>
            </p:extLst>
          </p:nvPr>
        </p:nvGraphicFramePr>
        <p:xfrm>
          <a:off x="1370562" y="4286878"/>
          <a:ext cx="8584108" cy="201757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3561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522224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92625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738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온실가스의 종류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GWP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이산화탄소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(CO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가장 대표적인 온실가스로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화석연료의 연소에서 대량으로 배출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메테인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(CH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가축의 소화과정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쓰레기 매립지 등에서 배출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아산화질소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(N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농업용 비료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가축 배설물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폐수처리 등에서 발생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수소불화탄소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(HFCs)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냉장고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에어컨의 냉매에서 사용되는 인공가스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~1,430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과불화탄소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(PFCs)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전자산업 및 반도체 생산에 사용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~12,400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육불화황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(SF6)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전력 절연가스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변압기에 사용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23,500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71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질소삼불화물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(NF</a:t>
                      </a:r>
                      <a:r>
                        <a:rPr lang="en-US" altLang="ko-KR" sz="1300" b="0" kern="0" spc="0" baseline="-25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반도체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디스플레이 제조과정에서 발생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17,400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767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4BFD0-C6BE-ADA0-E3A7-22B34704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온실효과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EF51F-0A5C-04C2-6410-2B9A5F3A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2CE936-BDE4-6514-D7C2-18C48FB79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646" y="4387497"/>
            <a:ext cx="2814139" cy="2067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3BC81C-F25F-AB0E-A491-A3DC9B6970A4}"/>
              </a:ext>
            </a:extLst>
          </p:cNvPr>
          <p:cNvSpPr txBox="1"/>
          <p:nvPr/>
        </p:nvSpPr>
        <p:spPr>
          <a:xfrm>
            <a:off x="3624412" y="6454573"/>
            <a:ext cx="289804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출처</a:t>
            </a:r>
            <a:r>
              <a:rPr lang="en-US" altLang="ko-KR" sz="700" dirty="0"/>
              <a:t>: </a:t>
            </a:r>
            <a:r>
              <a:rPr lang="ko-KR" altLang="en-US" sz="700" dirty="0"/>
              <a:t>https://www.kunews.ac.kr/news/articleView.html?idxno=25468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4DD3D-CA01-EBDA-574B-8E5823068C46}"/>
              </a:ext>
            </a:extLst>
          </p:cNvPr>
          <p:cNvSpPr txBox="1"/>
          <p:nvPr/>
        </p:nvSpPr>
        <p:spPr>
          <a:xfrm>
            <a:off x="678871" y="958844"/>
            <a:ext cx="11233495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태양에서 나오는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태양 복사에너지</a:t>
            </a:r>
            <a:r>
              <a:rPr lang="en-US" altLang="ko-KR" sz="1600" spc="-50" dirty="0"/>
              <a:t> (</a:t>
            </a:r>
            <a:r>
              <a:rPr lang="ko-KR" altLang="en-US" sz="1600" spc="-50" dirty="0" err="1"/>
              <a:t>쉽게말해</a:t>
            </a:r>
            <a:r>
              <a:rPr lang="ko-KR" altLang="en-US" sz="1600" spc="-50" dirty="0"/>
              <a:t> 빛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 지구로 도달하기까지 과정은 아래와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태양 복사에너지의 </a:t>
            </a:r>
            <a:r>
              <a:rPr lang="en-US" altLang="ko-KR" sz="1600" spc="-50" dirty="0"/>
              <a:t>30% </a:t>
            </a:r>
            <a:r>
              <a:rPr lang="ko-KR" altLang="en-US" sz="1600" spc="-50" dirty="0"/>
              <a:t>정도는 대기의 구름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먼지 등에 의해 반사된다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태양 복사에너지의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정도는 대기에 존재하는 오존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수증기에 의해 흡수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온실가스는 태양 복사에너지는 흡수를 못한다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태양 복사에너지는 단파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태양 복사에너지의 </a:t>
            </a:r>
            <a:r>
              <a:rPr lang="en-US" altLang="ko-KR" sz="1600" spc="-50" dirty="0"/>
              <a:t>50% </a:t>
            </a:r>
            <a:r>
              <a:rPr lang="ko-KR" altLang="en-US" sz="1600" spc="-50" dirty="0"/>
              <a:t>정도는 대기 표면에 직접 흡수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위처럼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지구는 태양으로 부터 받은 에너지를 지구 스스로 다시 우주로 방출한다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이를 지구 복사에너지라고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지구 복사에너지는 우주로 방출되는 과정에서 온실가스에 의해 쉽게 흡수되는 성질이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온실가스는 지구 복사에너지는 흡수를 잘한다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지구 복사에너지는 장파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온실가스가 지구 복사에너지를 흡수하는 과정에서 열이 발생하고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그 결과 온도가 상승한다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9395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F2FB-2B5D-045F-7DE5-11F03E86D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577BF-49F7-44C4-6E1C-531A3749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온실효과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E50D37-0D5E-B204-CEF6-8C36BFDD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D82B7-BE34-8A53-8BE5-CFE2BCD8EBAF}"/>
              </a:ext>
            </a:extLst>
          </p:cNvPr>
          <p:cNvSpPr txBox="1"/>
          <p:nvPr/>
        </p:nvSpPr>
        <p:spPr>
          <a:xfrm>
            <a:off x="678871" y="958844"/>
            <a:ext cx="11233495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산업혁명이 발생하기 이전에는 지구의 온실가스 양이 일종의 균형을 유지하고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온실가스는 주로 동식물의 사체로부터 발생하였고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다시 삼림과 바다로 흡수되었다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산업혁명 이후 화석연료 사용과 이로 인한 급속한 이산화탄소 배출 증가로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균형이 무너지기 시작했다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복사강제력이란</a:t>
            </a:r>
            <a:r>
              <a:rPr lang="ko-KR" altLang="en-US" sz="1600" spc="-50" dirty="0"/>
              <a:t> 온실가스 축적이 온실효과를 유발하는 정도를 지수로 나타내는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단위 면적당 지구로 유입되는 에너지와 지구에서 방출되는 에너지의 차이를 뜻한다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단위</a:t>
            </a:r>
            <a:r>
              <a:rPr lang="en-US" altLang="ko-KR" sz="1600" spc="-50" dirty="0"/>
              <a:t>: W/m</a:t>
            </a:r>
            <a:r>
              <a:rPr lang="en-US" altLang="ko-KR" sz="1600" spc="-50" baseline="30000" dirty="0"/>
              <a:t>2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1750</a:t>
            </a:r>
            <a:r>
              <a:rPr lang="ko-KR" altLang="en-US" sz="1600" spc="-50" dirty="0"/>
              <a:t>년을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으로 할 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년은 </a:t>
            </a:r>
            <a:r>
              <a:rPr lang="en-US" altLang="ko-KR" sz="1600" spc="-50" dirty="0"/>
              <a:t>2.72 W/m</a:t>
            </a:r>
            <a:r>
              <a:rPr lang="en-US" altLang="ko-KR" sz="1600" spc="-50" baseline="30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로 알려져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복사강제력</a:t>
            </a:r>
            <a:r>
              <a:rPr lang="ko-KR" altLang="en-US" sz="1600" spc="-50" dirty="0"/>
              <a:t> 증가로 인해 현재 지구의 지표면 평균기온은 산업혁명 이전 대비 </a:t>
            </a:r>
            <a:r>
              <a:rPr lang="en-US" altLang="ko-KR" sz="1600" spc="-50" dirty="0"/>
              <a:t>1.2~1.5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상승한 것으로 알려져 있다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2070AE-CA31-A152-578A-793BBFF7F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586" y="3802451"/>
            <a:ext cx="5030732" cy="25233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93D7C3-EF59-41D8-E3D3-C49D5C3BFDA4}"/>
              </a:ext>
            </a:extLst>
          </p:cNvPr>
          <p:cNvSpPr txBox="1"/>
          <p:nvPr/>
        </p:nvSpPr>
        <p:spPr>
          <a:xfrm>
            <a:off x="2744249" y="6325802"/>
            <a:ext cx="41095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" dirty="0"/>
              <a:t>출처</a:t>
            </a:r>
            <a:r>
              <a:rPr lang="en-US" altLang="ko-KR" sz="500" dirty="0"/>
              <a:t>: </a:t>
            </a:r>
            <a:r>
              <a:rPr lang="ko-KR" altLang="en-US" sz="500" dirty="0"/>
              <a:t>IPCC, 2021: </a:t>
            </a:r>
            <a:r>
              <a:rPr lang="ko-KR" altLang="en-US" sz="500" dirty="0" err="1"/>
              <a:t>Summary</a:t>
            </a:r>
            <a:r>
              <a:rPr lang="ko-KR" altLang="en-US" sz="500" dirty="0"/>
              <a:t> </a:t>
            </a:r>
            <a:r>
              <a:rPr lang="ko-KR" altLang="en-US" sz="500" dirty="0" err="1"/>
              <a:t>for</a:t>
            </a:r>
            <a:r>
              <a:rPr lang="ko-KR" altLang="en-US" sz="500" dirty="0"/>
              <a:t> </a:t>
            </a:r>
            <a:r>
              <a:rPr lang="ko-KR" altLang="en-US" sz="500" dirty="0" err="1"/>
              <a:t>Policymakers</a:t>
            </a:r>
            <a:r>
              <a:rPr lang="ko-KR" altLang="en-US" sz="500" dirty="0"/>
              <a:t>. </a:t>
            </a:r>
            <a:r>
              <a:rPr lang="ko-KR" altLang="en-US" sz="500" dirty="0" err="1"/>
              <a:t>In</a:t>
            </a:r>
            <a:r>
              <a:rPr lang="ko-KR" altLang="en-US" sz="500" dirty="0"/>
              <a:t>: </a:t>
            </a:r>
            <a:r>
              <a:rPr lang="ko-KR" altLang="en-US" sz="500" dirty="0" err="1"/>
              <a:t>Climate</a:t>
            </a:r>
            <a:r>
              <a:rPr lang="ko-KR" altLang="en-US" sz="500" dirty="0"/>
              <a:t> </a:t>
            </a:r>
            <a:r>
              <a:rPr lang="ko-KR" altLang="en-US" sz="500" dirty="0" err="1"/>
              <a:t>Change</a:t>
            </a:r>
            <a:r>
              <a:rPr lang="ko-KR" altLang="en-US" sz="500" dirty="0"/>
              <a:t> 2021: The </a:t>
            </a:r>
            <a:r>
              <a:rPr lang="ko-KR" altLang="en-US" sz="500" dirty="0" err="1"/>
              <a:t>Physical</a:t>
            </a:r>
            <a:r>
              <a:rPr lang="ko-KR" altLang="en-US" sz="500" dirty="0"/>
              <a:t> </a:t>
            </a:r>
            <a:r>
              <a:rPr lang="ko-KR" altLang="en-US" sz="500" dirty="0" err="1"/>
              <a:t>Science</a:t>
            </a:r>
            <a:r>
              <a:rPr lang="ko-KR" altLang="en-US" sz="500" dirty="0"/>
              <a:t> </a:t>
            </a:r>
            <a:r>
              <a:rPr lang="ko-KR" altLang="en-US" sz="500" dirty="0" err="1"/>
              <a:t>Basis</a:t>
            </a:r>
            <a:r>
              <a:rPr lang="ko-KR" altLang="en-US" sz="500" dirty="0"/>
              <a:t>. </a:t>
            </a:r>
            <a:r>
              <a:rPr lang="ko-KR" altLang="en-US" sz="500" dirty="0" err="1"/>
              <a:t>Contribution</a:t>
            </a:r>
            <a:r>
              <a:rPr lang="ko-KR" altLang="en-US" sz="500" dirty="0"/>
              <a:t> of </a:t>
            </a:r>
            <a:r>
              <a:rPr lang="ko-KR" altLang="en-US" sz="500" dirty="0" err="1"/>
              <a:t>Working</a:t>
            </a:r>
            <a:r>
              <a:rPr lang="ko-KR" altLang="en-US" sz="500" dirty="0"/>
              <a:t> Group </a:t>
            </a:r>
            <a:r>
              <a:rPr lang="ko-KR" altLang="en-US" sz="500" dirty="0" err="1"/>
              <a:t>I</a:t>
            </a:r>
            <a:r>
              <a:rPr lang="ko-KR" altLang="en-US" sz="500" dirty="0"/>
              <a:t> </a:t>
            </a:r>
          </a:p>
          <a:p>
            <a:r>
              <a:rPr lang="ko-KR" altLang="en-US" sz="500" dirty="0" err="1"/>
              <a:t>to</a:t>
            </a:r>
            <a:r>
              <a:rPr lang="ko-KR" altLang="en-US" sz="500" dirty="0"/>
              <a:t> </a:t>
            </a:r>
            <a:r>
              <a:rPr lang="ko-KR" altLang="en-US" sz="500" dirty="0" err="1"/>
              <a:t>the</a:t>
            </a:r>
            <a:r>
              <a:rPr lang="ko-KR" altLang="en-US" sz="500" dirty="0"/>
              <a:t> </a:t>
            </a:r>
            <a:r>
              <a:rPr lang="ko-KR" altLang="en-US" sz="500" dirty="0" err="1"/>
              <a:t>Sixth</a:t>
            </a:r>
            <a:r>
              <a:rPr lang="ko-KR" altLang="en-US" sz="500" dirty="0"/>
              <a:t> </a:t>
            </a:r>
            <a:r>
              <a:rPr lang="ko-KR" altLang="en-US" sz="500" dirty="0" err="1"/>
              <a:t>Assessment</a:t>
            </a:r>
            <a:r>
              <a:rPr lang="ko-KR" altLang="en-US" sz="500" dirty="0"/>
              <a:t> </a:t>
            </a:r>
            <a:r>
              <a:rPr lang="ko-KR" altLang="en-US" sz="500" dirty="0" err="1"/>
              <a:t>Report</a:t>
            </a:r>
            <a:r>
              <a:rPr lang="ko-KR" altLang="en-US" sz="500" dirty="0"/>
              <a:t> of </a:t>
            </a:r>
            <a:r>
              <a:rPr lang="ko-KR" altLang="en-US" sz="500" dirty="0" err="1"/>
              <a:t>the</a:t>
            </a:r>
            <a:r>
              <a:rPr lang="ko-KR" altLang="en-US" sz="500" dirty="0"/>
              <a:t> </a:t>
            </a:r>
            <a:r>
              <a:rPr lang="ko-KR" altLang="en-US" sz="500" dirty="0" err="1"/>
              <a:t>Intergovernmental</a:t>
            </a:r>
            <a:r>
              <a:rPr lang="ko-KR" altLang="en-US" sz="500" dirty="0"/>
              <a:t> </a:t>
            </a:r>
            <a:r>
              <a:rPr lang="ko-KR" altLang="en-US" sz="500" dirty="0" err="1"/>
              <a:t>Panel</a:t>
            </a:r>
            <a:r>
              <a:rPr lang="ko-KR" altLang="en-US" sz="500" dirty="0"/>
              <a:t> </a:t>
            </a:r>
            <a:r>
              <a:rPr lang="ko-KR" altLang="en-US" sz="500" dirty="0" err="1"/>
              <a:t>on</a:t>
            </a:r>
            <a:r>
              <a:rPr lang="ko-KR" altLang="en-US" sz="500" dirty="0"/>
              <a:t> </a:t>
            </a:r>
            <a:r>
              <a:rPr lang="ko-KR" altLang="en-US" sz="500" dirty="0" err="1"/>
              <a:t>Climate</a:t>
            </a:r>
            <a:r>
              <a:rPr lang="ko-KR" altLang="en-US" sz="500" dirty="0"/>
              <a:t> </a:t>
            </a:r>
            <a:r>
              <a:rPr lang="ko-KR" altLang="en-US" sz="500" dirty="0" err="1"/>
              <a:t>Change</a:t>
            </a:r>
            <a:r>
              <a:rPr lang="ko-KR" altLang="en-US" sz="500" dirty="0"/>
              <a:t>, doi:10.1017/9781009157896.001.</a:t>
            </a:r>
          </a:p>
        </p:txBody>
      </p:sp>
    </p:spTree>
    <p:extLst>
      <p:ext uri="{BB962C8B-B14F-4D97-AF65-F5344CB8AC3E}">
        <p14:creationId xmlns:p14="http://schemas.microsoft.com/office/powerpoint/2010/main" val="3879112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2B10-9F0F-4FE5-715C-D20529A3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72A2F3-D286-55AF-C84F-522AC155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기후변화의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1181A1-7D82-A169-73B7-B2595F16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69884-9C63-AA8E-F43C-B224E36CE3EA}"/>
              </a:ext>
            </a:extLst>
          </p:cNvPr>
          <p:cNvSpPr txBox="1"/>
          <p:nvPr/>
        </p:nvSpPr>
        <p:spPr>
          <a:xfrm>
            <a:off x="678871" y="958844"/>
            <a:ext cx="1123349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온도상승과 그로 인한 해수면상승은 인류를 포함한 자연생태계에 상당한 영향을 미치고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강우 패턴이 바뀌고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눈이 녹으면서 수자원의 양과 질이 바뀌고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육상과 담수 및 해양 생물의 지리적 생존 범위와 계절 활동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이동 형태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개체수 등이 변화하고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말라리아와 같은 질병의 발생패턴도 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작물의 경우 생산성이 낮아지는 경우가 더 많이 관찰되고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홍수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등의 자연재해와 용수 부족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산불 피해가 발생할 가능성이 높아지고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해수면상승은 해안침식과 그로 인한 재산상의 피해를 유발하고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해양 산성화는 바다생물의 생존을 위협하고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이상기후가 나타나고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극단적인 고온 발생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높은 강우량 등이 빈번히 관측되고 있다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위와 같은 기후변화의 영향은 지역 편차가 크게 나타나고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국가별 경제 발전 수준에 의해서도 크게 달라진다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지구의 저위도 지역에 위치한 개발도상국의 피해가 고위도 지역 선진국에 비해 더 큰 피해를 입고 있는 것으로 알려져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5807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3ED81-7173-19B2-1AD8-95C65C53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41E7B-E4C2-2D65-598F-B8DCC961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미래 전망 및 </a:t>
            </a:r>
            <a:r>
              <a:rPr lang="en-US" altLang="ko-KR" dirty="0"/>
              <a:t>Kaya </a:t>
            </a:r>
            <a:r>
              <a:rPr lang="ko-KR" altLang="en-US" dirty="0"/>
              <a:t>항등식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4A94C-1D22-869D-0C0A-745BA9B7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4088C9-AE40-2A48-51F6-23943BB978D0}"/>
                  </a:ext>
                </a:extLst>
              </p:cNvPr>
              <p:cNvSpPr txBox="1"/>
              <p:nvPr/>
            </p:nvSpPr>
            <p:spPr>
              <a:xfrm>
                <a:off x="678871" y="958844"/>
                <a:ext cx="11233495" cy="37380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온실가스 배출량을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인구를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ko-KR" sz="1600" spc="-50" dirty="0"/>
                  <a:t>, GDP</a:t>
                </a:r>
                <a:r>
                  <a:rPr lang="ko-KR" altLang="en-US" sz="1600" spc="-50" dirty="0"/>
                  <a:t>를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에너지사용량을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이라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다음의 항등식을 구성할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처음 이론을 고안한 일본 학자 이름을 붙여 </a:t>
                </a:r>
                <a:r>
                  <a:rPr lang="en-US" altLang="ko-KR" sz="1600" spc="-50" dirty="0"/>
                  <a:t>Kaya </a:t>
                </a:r>
                <a:r>
                  <a:rPr lang="ko-KR" altLang="en-US" sz="1600" spc="-50" dirty="0"/>
                  <a:t>항등식이라고 부르기도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식은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총 배출량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인구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ko-KR" sz="1600" spc="-50" dirty="0"/>
                  <a:t>), 1</a:t>
                </a:r>
                <a:r>
                  <a:rPr lang="ko-KR" altLang="en-US" sz="1600" spc="-50" dirty="0"/>
                  <a:t>인당 </a:t>
                </a:r>
                <a:r>
                  <a:rPr lang="en-US" altLang="ko-KR" sz="1600" spc="-50" dirty="0"/>
                  <a:t>GDP(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에너지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집약도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), CO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집약도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곱으로 구성된다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에너지 집약도는 </a:t>
                </a:r>
                <a:r>
                  <a:rPr lang="en-US" altLang="ko-KR" sz="1600" spc="-50" dirty="0"/>
                  <a:t>GDP </a:t>
                </a:r>
                <a:r>
                  <a:rPr lang="ko-KR" altLang="en-US" sz="1600" spc="-50" dirty="0"/>
                  <a:t>단위당 에너지 사용량을 뜻한다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CO</a:t>
                </a:r>
                <a:r>
                  <a:rPr lang="en-US" altLang="ko-KR" sz="1600" spc="-50" baseline="-25000" dirty="0"/>
                  <a:t>2</a:t>
                </a:r>
                <a:r>
                  <a:rPr lang="ko-KR" altLang="en-US" sz="1600" spc="-50" dirty="0"/>
                  <a:t> 집약도는 에너지 소비 단위당 </a:t>
                </a:r>
                <a:r>
                  <a:rPr lang="en-US" altLang="ko-KR" sz="1600" spc="-50" dirty="0"/>
                  <a:t>CO</a:t>
                </a:r>
                <a:r>
                  <a:rPr lang="en-US" altLang="ko-KR" sz="1600" spc="-50" baseline="-25000" dirty="0"/>
                  <a:t>2 </a:t>
                </a:r>
                <a:r>
                  <a:rPr lang="ko-KR" altLang="en-US" sz="1600" spc="-50" dirty="0"/>
                  <a:t>배출량을 뜻한다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식을 변화율로 전환하면 간편하게 사용할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4088C9-AE40-2A48-51F6-23943BB97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1" y="958844"/>
                <a:ext cx="11233495" cy="3738011"/>
              </a:xfrm>
              <a:prstGeom prst="rect">
                <a:avLst/>
              </a:prstGeom>
              <a:blipFill>
                <a:blip r:embed="rId2"/>
                <a:stretch>
                  <a:fillRect b="-11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D5737F-30BF-9D80-EB55-995EF4598C95}"/>
                  </a:ext>
                </a:extLst>
              </p:cNvPr>
              <p:cNvSpPr txBox="1"/>
              <p:nvPr/>
            </p:nvSpPr>
            <p:spPr>
              <a:xfrm>
                <a:off x="4150453" y="1976129"/>
                <a:ext cx="1998368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D5737F-30BF-9D80-EB55-995EF4598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453" y="1976129"/>
                <a:ext cx="1998368" cy="516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534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2500-B000-17A2-6487-A79BE9A12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7C30B-A02C-549B-C418-F9779DC6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미래 전망 및 </a:t>
            </a:r>
            <a:r>
              <a:rPr lang="en-US" altLang="ko-KR" dirty="0"/>
              <a:t>Kaya </a:t>
            </a:r>
            <a:r>
              <a:rPr lang="ko-KR" altLang="en-US" dirty="0"/>
              <a:t>항등식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A4D685-ADF5-137D-ED90-2CD9E7C6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64271F-26DF-FD53-CEA0-4D801A708DAF}"/>
                  </a:ext>
                </a:extLst>
              </p:cNvPr>
              <p:cNvSpPr txBox="1"/>
              <p:nvPr/>
            </p:nvSpPr>
            <p:spPr>
              <a:xfrm>
                <a:off x="678871" y="958844"/>
                <a:ext cx="11233495" cy="54160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왼쪽의 항등식이 변화율의 합으로 전환되는 과정은 다음과 같다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우선 분석의 편의상</a:t>
                </a:r>
                <a:r>
                  <a:rPr lang="en-US" altLang="ko-KR" sz="1600" dirty="0"/>
                  <a:t>,</a:t>
                </a:r>
                <a:r>
                  <a:rPr lang="ko-KR" altLang="en-US" sz="1600" dirty="0"/>
                  <a:t> 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sz="1600" spc="-50" dirty="0"/>
                  <a:t> 치환 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ko-KR" altLang="en-US" sz="1600" spc="-50" dirty="0"/>
                  <a:t> 를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𝐸𝐼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치환 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ko-KR" altLang="en-US" sz="1600" spc="-50" dirty="0"/>
                  <a:t> 를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𝐶𝐼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치환 하자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변수의 시점을 표기하기 위해 </a:t>
                </a:r>
                <a:r>
                  <a:rPr lang="ko-KR" altLang="en-US" sz="1600" spc="-50" dirty="0" err="1"/>
                  <a:t>하첨자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를 표기하자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그리고 자연로그를 취하고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기의 식과 </a:t>
                </a:r>
                <a14:m>
                  <m:oMath xmlns:m="http://schemas.openxmlformats.org/officeDocument/2006/math">
                    <m:r>
                      <a:rPr lang="en-US" altLang="ko-KR" sz="1600" i="1" spc="-5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600" b="0" i="1" spc="-50" dirty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ko-KR" sz="1600" i="1" spc="-5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기의 식을 </a:t>
                </a:r>
                <a:r>
                  <a:rPr lang="ko-KR" altLang="en-US" sz="1600" spc="-50" dirty="0" err="1"/>
                  <a:t>빼보자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lvl="1"/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lvl="1"/>
                <a:r>
                  <a:rPr lang="en-US" altLang="ko-KR" sz="1600" dirty="0">
                    <a:latin typeface="맑은 고딕" panose="020B0503020000020004" pitchFamily="50" charset="-127"/>
                  </a:rPr>
                  <a:t>①: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600" spc="-50" dirty="0"/>
                  <a:t>CO</a:t>
                </a:r>
                <a:r>
                  <a:rPr lang="en-US" altLang="ko-KR" sz="1600" spc="-50" baseline="-25000" dirty="0"/>
                  <a:t>2 </a:t>
                </a:r>
                <a:r>
                  <a:rPr lang="ko-KR" altLang="en-US" sz="1600" spc="-50" dirty="0"/>
                  <a:t>배출 증가율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lvl="1"/>
                <a:r>
                  <a:rPr lang="en-US" altLang="ko-KR" sz="1600" dirty="0">
                    <a:latin typeface="맑은 고딕" panose="020B0503020000020004" pitchFamily="50" charset="-127"/>
                  </a:rPr>
                  <a:t>②: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</a:t>
                </a:r>
                <a:r>
                  <a:rPr lang="ko-KR" altLang="en-US" sz="1600" spc="-50" dirty="0"/>
                  <a:t>인구증가율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lvl="1"/>
                <a:r>
                  <a:rPr lang="ko-KR" altLang="ko-KR" sz="1600" dirty="0">
                    <a:latin typeface="맑은 고딕" panose="020B0503020000020004" pitchFamily="50" charset="-127"/>
                  </a:rPr>
                  <a:t>③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인당 </a:t>
                </a:r>
                <a:r>
                  <a:rPr lang="en-US" altLang="ko-KR" sz="1600" spc="-50" dirty="0"/>
                  <a:t>GDP </a:t>
                </a:r>
                <a:r>
                  <a:rPr lang="ko-KR" altLang="en-US" sz="1600" spc="-50" dirty="0"/>
                  <a:t>증가율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lvl="1"/>
                <a:r>
                  <a:rPr lang="ko-KR" altLang="ko-KR" sz="1600" dirty="0">
                    <a:latin typeface="맑은 고딕" panose="020B0503020000020004" pitchFamily="50" charset="-127"/>
                  </a:rPr>
                  <a:t>④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 </a:t>
                </a:r>
                <a:r>
                  <a:rPr lang="ko-KR" altLang="en-US" sz="1600" spc="-50" dirty="0"/>
                  <a:t>에너지 집약도 증가율 </a:t>
                </a:r>
                <a:endParaRPr lang="en-US" altLang="ko-KR" sz="1600" spc="-50" dirty="0"/>
              </a:p>
              <a:p>
                <a:pPr lvl="1"/>
                <a:r>
                  <a:rPr lang="ko-KR" altLang="ko-KR" sz="1600" dirty="0">
                    <a:latin typeface="맑은 고딕" panose="020B0503020000020004" pitchFamily="50" charset="-127"/>
                  </a:rPr>
                  <a:t>⑤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 </a:t>
                </a:r>
                <a:r>
                  <a:rPr lang="en-US" altLang="ko-KR" sz="1600" spc="-50" dirty="0"/>
                  <a:t>CO</a:t>
                </a:r>
                <a:r>
                  <a:rPr lang="en-US" altLang="ko-KR" sz="1600" spc="-50" baseline="-25000" dirty="0"/>
                  <a:t>2 </a:t>
                </a:r>
                <a:r>
                  <a:rPr lang="ko-KR" altLang="en-US" sz="1600" spc="-50" dirty="0"/>
                  <a:t>집약도 증가율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64271F-26DF-FD53-CEA0-4D801A708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1" y="958844"/>
                <a:ext cx="11233495" cy="5416098"/>
              </a:xfrm>
              <a:prstGeom prst="rect">
                <a:avLst/>
              </a:prstGeom>
              <a:blipFill>
                <a:blip r:embed="rId2"/>
                <a:stretch>
                  <a:fillRect b="-4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9BD85C-4E9E-A6B8-7B4E-EB28F2388861}"/>
                  </a:ext>
                </a:extLst>
              </p:cNvPr>
              <p:cNvSpPr txBox="1"/>
              <p:nvPr/>
            </p:nvSpPr>
            <p:spPr>
              <a:xfrm>
                <a:off x="1457587" y="1569270"/>
                <a:ext cx="1998368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9BD85C-4E9E-A6B8-7B4E-EB28F2388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587" y="1569270"/>
                <a:ext cx="1998368" cy="516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CFBE94-EA30-84B0-E82B-6C53FF5EE91C}"/>
                  </a:ext>
                </a:extLst>
              </p:cNvPr>
              <p:cNvSpPr txBox="1"/>
              <p:nvPr/>
            </p:nvSpPr>
            <p:spPr>
              <a:xfrm>
                <a:off x="982561" y="3832231"/>
                <a:ext cx="906745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𝐸𝐼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𝐶𝐼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ko-K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𝐸𝐼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𝐶𝐼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ko-KR" sz="1600" dirty="0"/>
              </a:p>
              <a:p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func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𝐸𝐼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𝐸𝐼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𝐶𝐼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𝐶𝐼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fun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CFBE94-EA30-84B0-E82B-6C53FF5EE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61" y="3832231"/>
                <a:ext cx="9067450" cy="830997"/>
              </a:xfrm>
              <a:prstGeom prst="rect">
                <a:avLst/>
              </a:prstGeom>
              <a:blipFill>
                <a:blip r:embed="rId4"/>
                <a:stretch>
                  <a:fillRect l="-336" b="-8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8D2C995-EC35-C0A3-D6D4-F4C714611B21}"/>
              </a:ext>
            </a:extLst>
          </p:cNvPr>
          <p:cNvCxnSpPr>
            <a:cxnSpLocks/>
          </p:cNvCxnSpPr>
          <p:nvPr/>
        </p:nvCxnSpPr>
        <p:spPr>
          <a:xfrm>
            <a:off x="3477237" y="1828800"/>
            <a:ext cx="16211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7E2C56-3F85-37D9-9567-9D8118A4C01A}"/>
              </a:ext>
            </a:extLst>
          </p:cNvPr>
          <p:cNvSpPr txBox="1"/>
          <p:nvPr/>
        </p:nvSpPr>
        <p:spPr>
          <a:xfrm>
            <a:off x="4740830" y="1569270"/>
            <a:ext cx="7007952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9275" lvl="1">
              <a:lnSpc>
                <a:spcPct val="150000"/>
              </a:lnSpc>
            </a:pPr>
            <a:r>
              <a:rPr lang="en-US" altLang="ko-KR" sz="1400" spc="-50" dirty="0"/>
              <a:t>CO</a:t>
            </a:r>
            <a:r>
              <a:rPr lang="en-US" altLang="ko-KR" sz="1400" spc="-50" baseline="-25000" dirty="0"/>
              <a:t>2 </a:t>
            </a:r>
            <a:r>
              <a:rPr lang="ko-KR" altLang="en-US" sz="1400" spc="-50" dirty="0"/>
              <a:t>배출 증가율</a:t>
            </a:r>
            <a:r>
              <a:rPr lang="en-US" altLang="ko-KR" sz="1400" spc="-50" dirty="0"/>
              <a:t>(2.1%) = </a:t>
            </a:r>
            <a:r>
              <a:rPr lang="ko-KR" altLang="en-US" sz="1400" spc="-50" dirty="0"/>
              <a:t>인구증가율</a:t>
            </a:r>
            <a:r>
              <a:rPr lang="en-US" altLang="ko-KR" sz="1400" spc="-50" dirty="0"/>
              <a:t>(1.6%) + 1</a:t>
            </a:r>
            <a:r>
              <a:rPr lang="ko-KR" altLang="en-US" sz="1400" spc="-50" dirty="0"/>
              <a:t>인당 </a:t>
            </a:r>
            <a:r>
              <a:rPr lang="en-US" altLang="ko-KR" sz="1400" spc="-50" dirty="0"/>
              <a:t>GDP </a:t>
            </a:r>
            <a:r>
              <a:rPr lang="ko-KR" altLang="en-US" sz="1400" spc="-50" dirty="0"/>
              <a:t>증가율</a:t>
            </a:r>
            <a:r>
              <a:rPr lang="en-US" altLang="ko-KR" sz="1400" spc="-50" dirty="0"/>
              <a:t>(1.7%) + </a:t>
            </a:r>
            <a:r>
              <a:rPr lang="ko-KR" altLang="en-US" sz="1400" spc="-50" dirty="0"/>
              <a:t>에너지 집약도 증가율</a:t>
            </a:r>
            <a:r>
              <a:rPr lang="en-US" altLang="ko-KR" sz="1400" spc="-50" dirty="0"/>
              <a:t>(-0.9%) + CO</a:t>
            </a:r>
            <a:r>
              <a:rPr lang="en-US" altLang="ko-KR" sz="1400" spc="-50" baseline="-25000" dirty="0"/>
              <a:t>2 </a:t>
            </a:r>
            <a:r>
              <a:rPr lang="ko-KR" altLang="en-US" sz="1400" spc="-50" dirty="0"/>
              <a:t>집약도 증가율</a:t>
            </a:r>
            <a:r>
              <a:rPr lang="en-US" altLang="ko-KR" sz="1400" spc="-50" dirty="0"/>
              <a:t>(-0.3%)    </a:t>
            </a:r>
            <a:r>
              <a:rPr lang="en-US" altLang="ko-KR" sz="1400" u="sng" spc="-50" dirty="0"/>
              <a:t>(</a:t>
            </a:r>
            <a:r>
              <a:rPr lang="ko-KR" altLang="en-US" sz="1400" u="sng" spc="-50" dirty="0"/>
              <a:t>괄호 수치는 단순 예시</a:t>
            </a:r>
            <a:r>
              <a:rPr lang="en-US" altLang="ko-KR" sz="1400" u="sng" spc="-50" dirty="0"/>
              <a:t>)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83625ED-35C6-0541-FCB7-06C7D549B3A6}"/>
              </a:ext>
            </a:extLst>
          </p:cNvPr>
          <p:cNvSpPr/>
          <p:nvPr/>
        </p:nvSpPr>
        <p:spPr>
          <a:xfrm>
            <a:off x="1830958" y="4672647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CEAE9AA-CF90-8077-999F-3921BCD45836}"/>
              </a:ext>
            </a:extLst>
          </p:cNvPr>
          <p:cNvSpPr/>
          <p:nvPr/>
        </p:nvSpPr>
        <p:spPr>
          <a:xfrm>
            <a:off x="3384394" y="4672647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08D57A7-BBAE-9408-942C-CEAF4A36F948}"/>
              </a:ext>
            </a:extLst>
          </p:cNvPr>
          <p:cNvSpPr/>
          <p:nvPr/>
        </p:nvSpPr>
        <p:spPr>
          <a:xfrm>
            <a:off x="4987288" y="4672647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1A76FFD-C133-D097-F5F7-68575AE948A1}"/>
              </a:ext>
            </a:extLst>
          </p:cNvPr>
          <p:cNvSpPr/>
          <p:nvPr/>
        </p:nvSpPr>
        <p:spPr>
          <a:xfrm>
            <a:off x="6744788" y="4672647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5120809-4505-E203-CE6D-9BEE2CFC1BCA}"/>
              </a:ext>
            </a:extLst>
          </p:cNvPr>
          <p:cNvSpPr/>
          <p:nvPr/>
        </p:nvSpPr>
        <p:spPr>
          <a:xfrm>
            <a:off x="8485512" y="4672647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5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E37AFB8-8B76-9ACC-A350-47D6454A6022}"/>
              </a:ext>
            </a:extLst>
          </p:cNvPr>
          <p:cNvGrpSpPr/>
          <p:nvPr/>
        </p:nvGrpSpPr>
        <p:grpSpPr>
          <a:xfrm>
            <a:off x="5207404" y="5068242"/>
            <a:ext cx="5809525" cy="1438560"/>
            <a:chOff x="7845573" y="4829175"/>
            <a:chExt cx="3969102" cy="1865086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98056C6E-C211-E76F-429E-17B23751B257}"/>
                </a:ext>
              </a:extLst>
            </p:cNvPr>
            <p:cNvSpPr/>
            <p:nvPr/>
          </p:nvSpPr>
          <p:spPr>
            <a:xfrm>
              <a:off x="7845573" y="4829175"/>
              <a:ext cx="3969102" cy="1823494"/>
            </a:xfrm>
            <a:prstGeom prst="roundRect">
              <a:avLst>
                <a:gd name="adj" fmla="val 5387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388AA8C-60E3-3DDB-9C71-1586B76A87EB}"/>
                    </a:ext>
                  </a:extLst>
                </p:cNvPr>
                <p:cNvSpPr txBox="1"/>
                <p:nvPr/>
              </p:nvSpPr>
              <p:spPr>
                <a:xfrm>
                  <a:off x="7927288" y="5011518"/>
                  <a:ext cx="899831" cy="16065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1100" i="1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HY헤드라인M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1100" i="1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func>
                              <m:funcPr>
                                <m:ctrlPr>
                                  <a:rPr lang="en-US" altLang="ko-KR" sz="1100" i="1" smtClean="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100" i="0" smtClean="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ko-KR" sz="1100" b="0" i="1" smtClean="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ko-KR" sz="1100" i="1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100" b="0" i="1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ko-KR" sz="11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HY헤드라인M" panose="02030600000101010101" pitchFamily="18" charset="-127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100" b="0" i="1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HY헤드라인M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HY헤드라인M" panose="02030600000101010101" pitchFamily="18" charset="-127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100" b="0" i="1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HY헤드라인M" panose="02030600000101010101" pitchFamily="18" charset="-127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en-US" altLang="ko-KR" sz="1100" b="0" dirty="0">
                    <a:highlight>
                      <a:srgbClr val="FFFFFF"/>
                    </a:highlight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  <a:p>
                  <a:pPr algn="ctr">
                    <a:lnSpc>
                      <a:spcPct val="120000"/>
                    </a:lnSpc>
                  </a:pPr>
                  <a:endParaRPr lang="en-US" altLang="ko-KR" sz="1100" b="0" dirty="0">
                    <a:highlight>
                      <a:srgbClr val="FFFFFF"/>
                    </a:highlight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sz="11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func>
                          <m:funcPr>
                            <m:ctrlPr>
                              <a:rPr lang="en-US" altLang="ko-KR" sz="11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ko-KR" sz="11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 altLang="ko-KR" sz="11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HY헤드라인M" panose="02030600000101010101" pitchFamily="18" charset="-127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1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HY헤드라인M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11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1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ko-KR" sz="11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  <a:ea typeface="HY헤드라인M" panose="02030600000101010101" pitchFamily="18" charset="-127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en-US" altLang="ko-KR" sz="1100" dirty="0">
                    <a:highlight>
                      <a:srgbClr val="FFFFFF"/>
                    </a:highlight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  <a:p>
                  <a:pPr algn="ctr">
                    <a:lnSpc>
                      <a:spcPct val="120000"/>
                    </a:lnSpc>
                  </a:pPr>
                  <a:endParaRPr lang="en-US" altLang="ko-KR" sz="1100" dirty="0">
                    <a:highlight>
                      <a:srgbClr val="FFFFFF"/>
                    </a:highlight>
                    <a:latin typeface="HY헤드라인M" panose="02030600000101010101" pitchFamily="18" charset="-127"/>
                    <a:ea typeface="HY헤드라인M" panose="02030600000101010101" pitchFamily="18" charset="-127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388AA8C-60E3-3DDB-9C71-1586B76A8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7288" y="5011518"/>
                  <a:ext cx="899831" cy="16065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BD66739-95F3-3026-A9BD-170D60571293}"/>
                    </a:ext>
                  </a:extLst>
                </p:cNvPr>
                <p:cNvSpPr txBox="1"/>
                <p:nvPr/>
              </p:nvSpPr>
              <p:spPr>
                <a:xfrm>
                  <a:off x="8620788" y="4966374"/>
                  <a:ext cx="2971735" cy="1727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지난 학기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(t-1)</a:t>
                  </a: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의 내 성적은 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4.0, </a:t>
                  </a: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이번 학기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(t)</a:t>
                  </a: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의 내 성적 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4.1 </a:t>
                  </a: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이다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.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내 성적은 지난학기 대비 몇 퍼센트 상승했을까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?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왼쪽에 제시된 원리에 따라 아래 중 어떻게 계산해도 비슷하다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.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첫 번째 방법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: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14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4.1−4.0</m:t>
                          </m:r>
                        </m:num>
                        <m:den>
                          <m:r>
                            <a:rPr lang="en-US" altLang="ko-KR" sz="14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4.0</m:t>
                          </m:r>
                        </m:den>
                      </m:f>
                      <m:r>
                        <a:rPr lang="en-US" altLang="ko-KR" sz="1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ko-KR" sz="14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ko-KR" sz="14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sz="1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=0.025</m:t>
                      </m:r>
                    </m:oMath>
                  </a14:m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 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두 번째 방법</a:t>
                  </a:r>
                  <a:r>
                    <a:rPr lang="en-US" altLang="ko-KR" sz="11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: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ko-KR" sz="140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i="0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4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4.1</m:t>
                          </m:r>
                        </m:e>
                      </m:func>
                      <m:r>
                        <a:rPr lang="en-US" altLang="ko-KR" sz="1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−</m:t>
                      </m:r>
                      <m:func>
                        <m:funcPr>
                          <m:ctrlPr>
                            <a:rPr lang="en-US" altLang="ko-KR" sz="14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4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4.0</m:t>
                          </m:r>
                        </m:e>
                      </m:func>
                      <m:r>
                        <a:rPr lang="en-US" altLang="ko-KR" sz="1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r>
                        <a:rPr lang="en-US" altLang="ko-KR" sz="1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func>
                        <m:funcPr>
                          <m:ctrlPr>
                            <a:rPr lang="en-US" altLang="ko-KR" sz="14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4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ko-KR" sz="1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=0.02469</m:t>
                      </m:r>
                    </m:oMath>
                  </a14:m>
                  <a:r>
                    <a:rPr lang="en-US" altLang="ko-KR" sz="1400" dirty="0">
                      <a:highlight>
                        <a:srgbClr val="FFFFFF"/>
                      </a:highlight>
                      <a:latin typeface="HY헤드라인M" panose="02030600000101010101" pitchFamily="18" charset="-127"/>
                      <a:ea typeface="HY헤드라인M" panose="02030600000101010101" pitchFamily="18" charset="-127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BD66739-95F3-3026-A9BD-170D605712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788" y="4966374"/>
                  <a:ext cx="2971735" cy="1727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941DD79-875A-5EB6-BC22-7A451AF417C9}"/>
              </a:ext>
            </a:extLst>
          </p:cNvPr>
          <p:cNvSpPr txBox="1"/>
          <p:nvPr/>
        </p:nvSpPr>
        <p:spPr>
          <a:xfrm>
            <a:off x="7216694" y="4834152"/>
            <a:ext cx="1675636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8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로그의 차분</a:t>
            </a:r>
          </a:p>
        </p:txBody>
      </p:sp>
    </p:spTree>
    <p:extLst>
      <p:ext uri="{BB962C8B-B14F-4D97-AF65-F5344CB8AC3E}">
        <p14:creationId xmlns:p14="http://schemas.microsoft.com/office/powerpoint/2010/main" val="4106491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4ED67-3161-B235-C08C-DAD19F6A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미래 전망 및 </a:t>
            </a:r>
            <a:r>
              <a:rPr lang="en-US" altLang="ko-KR" dirty="0"/>
              <a:t>Kaya </a:t>
            </a:r>
            <a:r>
              <a:rPr lang="ko-KR" altLang="en-US" dirty="0"/>
              <a:t>항등식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0254C-F062-AD6F-10BC-34EE41E0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0EDB8-4F8E-A28D-675B-89E721452330}"/>
              </a:ext>
            </a:extLst>
          </p:cNvPr>
          <p:cNvSpPr txBox="1"/>
          <p:nvPr/>
        </p:nvSpPr>
        <p:spPr>
          <a:xfrm>
            <a:off x="678871" y="828818"/>
            <a:ext cx="1123349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항등식을 간단한 예제를 통해 살펴보자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배출 증가율</a:t>
            </a:r>
            <a:r>
              <a:rPr lang="en-US" altLang="ko-KR" sz="1600" spc="-50" dirty="0"/>
              <a:t>(10%) = </a:t>
            </a:r>
            <a:r>
              <a:rPr lang="ko-KR" altLang="en-US" sz="1600" spc="-50" dirty="0"/>
              <a:t>인구증가율</a:t>
            </a:r>
            <a:r>
              <a:rPr lang="en-US" altLang="ko-KR" sz="1600" spc="-50" dirty="0"/>
              <a:t>(41%) + 1</a:t>
            </a:r>
            <a:r>
              <a:rPr lang="ko-KR" altLang="en-US" sz="1600" spc="-50" dirty="0"/>
              <a:t>인당 </a:t>
            </a:r>
            <a:r>
              <a:rPr lang="en-US" altLang="ko-KR" sz="1600" spc="-50" dirty="0"/>
              <a:t>GDP </a:t>
            </a:r>
            <a:r>
              <a:rPr lang="ko-KR" altLang="en-US" sz="1600" spc="-50" dirty="0"/>
              <a:t>증가율</a:t>
            </a:r>
            <a:r>
              <a:rPr lang="en-US" altLang="ko-KR" sz="1600" spc="-50" dirty="0"/>
              <a:t>(-41%) + </a:t>
            </a:r>
            <a:r>
              <a:rPr lang="ko-KR" altLang="en-US" sz="1600" spc="-50" dirty="0"/>
              <a:t>에너지 집약도 증가율</a:t>
            </a:r>
            <a:r>
              <a:rPr lang="en-US" altLang="ko-KR" sz="1600" spc="-50" dirty="0"/>
              <a:t>(41%) + CO</a:t>
            </a:r>
            <a:r>
              <a:rPr lang="en-US" altLang="ko-KR" sz="1600" spc="-50" baseline="-25000" dirty="0"/>
              <a:t>2 </a:t>
            </a:r>
            <a:r>
              <a:rPr lang="ko-KR" altLang="en-US" sz="1600" spc="-50" dirty="0"/>
              <a:t>집약도 증가율</a:t>
            </a:r>
            <a:r>
              <a:rPr lang="en-US" altLang="ko-KR" sz="1600" spc="-50" dirty="0"/>
              <a:t>(-31%)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 증가율이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로 작기 때문에</a:t>
            </a:r>
            <a:r>
              <a:rPr lang="en-US" altLang="ko-KR" sz="1600" spc="-50" dirty="0"/>
              <a:t>, ln(110) - ln(100) </a:t>
            </a:r>
            <a:r>
              <a:rPr lang="ko-KR" altLang="en-US" sz="1600" spc="-50" dirty="0"/>
              <a:t>값은 실제 증가율과 매우 유사하다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인구처럼 증가율이 </a:t>
            </a:r>
            <a:r>
              <a:rPr lang="en-US" altLang="ko-KR" sz="1600" spc="-50" dirty="0"/>
              <a:t>50%</a:t>
            </a:r>
            <a:r>
              <a:rPr lang="ko-KR" altLang="en-US" sz="1600" spc="-50" dirty="0"/>
              <a:t>로 큰 경우</a:t>
            </a:r>
            <a:r>
              <a:rPr lang="en-US" altLang="ko-KR" sz="1600" spc="-50" dirty="0"/>
              <a:t>, ln(10) – ln(15) </a:t>
            </a:r>
            <a:r>
              <a:rPr lang="ko-KR" altLang="en-US" sz="1600" spc="-50" dirty="0"/>
              <a:t>값은 실제 증가율과의 차이가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로그의 차분 값은 증가율이 작을 경우에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 증가율을 잘 근사하게 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2EB668D-2852-1AB5-33BF-AD59CEBEAD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763259"/>
                  </p:ext>
                </p:extLst>
              </p:nvPr>
            </p:nvGraphicFramePr>
            <p:xfrm>
              <a:off x="1429284" y="2446672"/>
              <a:ext cx="8943703" cy="919115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485890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489046">
                      <a:extLst>
                        <a:ext uri="{9D8B030D-6E8A-4147-A177-3AD203B41FA5}">
                          <a16:colId xmlns:a16="http://schemas.microsoft.com/office/drawing/2014/main" val="2225896652"/>
                        </a:ext>
                      </a:extLst>
                    </a:gridCol>
                    <a:gridCol w="148904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501629">
                      <a:extLst>
                        <a:ext uri="{9D8B030D-6E8A-4147-A177-3AD203B41FA5}">
                          <a16:colId xmlns:a16="http://schemas.microsoft.com/office/drawing/2014/main" val="1920460401"/>
                        </a:ext>
                      </a:extLst>
                    </a:gridCol>
                    <a:gridCol w="1493241">
                      <a:extLst>
                        <a:ext uri="{9D8B030D-6E8A-4147-A177-3AD203B41FA5}">
                          <a16:colId xmlns:a16="http://schemas.microsoft.com/office/drawing/2014/main" val="294446273"/>
                        </a:ext>
                      </a:extLst>
                    </a:gridCol>
                    <a:gridCol w="1484851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73807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400" b="0" i="1" spc="-5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연도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배출량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인구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ko-KR" sz="1800" b="1" i="1" kern="0" spc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ko-KR" sz="1800" b="0" i="1" kern="0" spc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800" b="0" i="1" kern="0" spc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𝑌</m:t>
                                      </m:r>
                                    </m:num>
                                    <m:den>
                                      <m:r>
                                        <a:rPr lang="en-US" altLang="ko-KR" sz="1800" b="0" i="1" kern="0" spc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r>
                            <a:rPr lang="en-US" altLang="ko-KR" sz="18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(1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인당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GDP)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ko-KR" sz="1800" b="0" i="1" kern="0" spc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kern="0" spc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altLang="ko-KR" sz="1800" b="0" i="1" kern="0" spc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에너지 집약도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ko-KR" sz="1800" b="0" i="1" kern="0" spc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kern="0" spc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US" altLang="ko-KR" sz="1800" b="0" i="1" kern="0" spc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𝑁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(CO</a:t>
                          </a:r>
                          <a:r>
                            <a:rPr lang="en-US" altLang="ko-KR" sz="1300" b="1" kern="0" spc="0" baseline="-2500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altLang="ko-KR" sz="1300" b="1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ko-KR" altLang="en-US" sz="1300" b="1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집약도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2000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20,000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0.00010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2025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110</a:t>
                          </a: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15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3.3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30,000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0.00007</a:t>
                          </a: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2EB668D-2852-1AB5-33BF-AD59CEBEAD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763259"/>
                  </p:ext>
                </p:extLst>
              </p:nvPr>
            </p:nvGraphicFramePr>
            <p:xfrm>
              <a:off x="1429284" y="2446672"/>
              <a:ext cx="8943703" cy="919115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485890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489046">
                      <a:extLst>
                        <a:ext uri="{9D8B030D-6E8A-4147-A177-3AD203B41FA5}">
                          <a16:colId xmlns:a16="http://schemas.microsoft.com/office/drawing/2014/main" val="2225896652"/>
                        </a:ext>
                      </a:extLst>
                    </a:gridCol>
                    <a:gridCol w="1489046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501629">
                      <a:extLst>
                        <a:ext uri="{9D8B030D-6E8A-4147-A177-3AD203B41FA5}">
                          <a16:colId xmlns:a16="http://schemas.microsoft.com/office/drawing/2014/main" val="1920460401"/>
                        </a:ext>
                      </a:extLst>
                    </a:gridCol>
                    <a:gridCol w="1493241">
                      <a:extLst>
                        <a:ext uri="{9D8B030D-6E8A-4147-A177-3AD203B41FA5}">
                          <a16:colId xmlns:a16="http://schemas.microsoft.com/office/drawing/2014/main" val="294446273"/>
                        </a:ext>
                      </a:extLst>
                    </a:gridCol>
                    <a:gridCol w="1484851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2134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49" t="-7143" r="-507377" b="-1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49" t="-7143" r="-407377" b="-1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224" t="-7143" r="-305714" b="-1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7143" r="-204472" b="-1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3" t="-7143" r="-105306" b="-1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689" t="-7143" r="-5738" b="-1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888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2000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20,000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0.00010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888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2025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110</a:t>
                          </a: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15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3.3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30,000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0.00007</a:t>
                          </a: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9DCBC25B-BF5B-7CC6-EB57-87D3E3FB56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0809866"/>
                  </p:ext>
                </p:extLst>
              </p:nvPr>
            </p:nvGraphicFramePr>
            <p:xfrm>
              <a:off x="1429284" y="3709229"/>
              <a:ext cx="8943703" cy="1176697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4816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505824">
                      <a:extLst>
                        <a:ext uri="{9D8B030D-6E8A-4147-A177-3AD203B41FA5}">
                          <a16:colId xmlns:a16="http://schemas.microsoft.com/office/drawing/2014/main" val="4135818893"/>
                        </a:ext>
                      </a:extLst>
                    </a:gridCol>
                    <a:gridCol w="1484851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493240">
                      <a:extLst>
                        <a:ext uri="{9D8B030D-6E8A-4147-A177-3AD203B41FA5}">
                          <a16:colId xmlns:a16="http://schemas.microsoft.com/office/drawing/2014/main" val="1920460401"/>
                        </a:ext>
                      </a:extLst>
                    </a:gridCol>
                    <a:gridCol w="1489046">
                      <a:extLst>
                        <a:ext uri="{9D8B030D-6E8A-4147-A177-3AD203B41FA5}">
                          <a16:colId xmlns:a16="http://schemas.microsoft.com/office/drawing/2014/main" val="294446273"/>
                        </a:ext>
                      </a:extLst>
                    </a:gridCol>
                    <a:gridCol w="148904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73807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400" b="0" i="1" spc="-5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연도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ko-KR" altLang="en-US" sz="14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ko-KR" altLang="en-US" sz="14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ko-KR" altLang="en-US" sz="14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2000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4.61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1.61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9.90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-9.21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2025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4.70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2.71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1.20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10.31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-9.52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76997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2025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-2020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0.10 (10%)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0.41 (41%)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-0.41 (-41%)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0.41 (41%)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-0.31 (-31%)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9DCBC25B-BF5B-7CC6-EB57-87D3E3FB56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0809866"/>
                  </p:ext>
                </p:extLst>
              </p:nvPr>
            </p:nvGraphicFramePr>
            <p:xfrm>
              <a:off x="1429284" y="3709229"/>
              <a:ext cx="8943703" cy="1176697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481696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505824">
                      <a:extLst>
                        <a:ext uri="{9D8B030D-6E8A-4147-A177-3AD203B41FA5}">
                          <a16:colId xmlns:a16="http://schemas.microsoft.com/office/drawing/2014/main" val="4135818893"/>
                        </a:ext>
                      </a:extLst>
                    </a:gridCol>
                    <a:gridCol w="1484851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493240">
                      <a:extLst>
                        <a:ext uri="{9D8B030D-6E8A-4147-A177-3AD203B41FA5}">
                          <a16:colId xmlns:a16="http://schemas.microsoft.com/office/drawing/2014/main" val="1920460401"/>
                        </a:ext>
                      </a:extLst>
                    </a:gridCol>
                    <a:gridCol w="1489046">
                      <a:extLst>
                        <a:ext uri="{9D8B030D-6E8A-4147-A177-3AD203B41FA5}">
                          <a16:colId xmlns:a16="http://schemas.microsoft.com/office/drawing/2014/main" val="294446273"/>
                        </a:ext>
                      </a:extLst>
                    </a:gridCol>
                    <a:gridCol w="148904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3131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8" t="-7042" r="-509877" b="-1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405" t="-7042" r="-401619" b="-1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869" t="-7042" r="-306557" b="-1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633" t="-7042" r="-205306" b="-1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633" t="-7042" r="-105306" b="-1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689" t="-7042" r="-5738" b="-19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888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2000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4.61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1.61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9.90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-9.21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888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2025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4.70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2.71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1.20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10.31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-9.52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7699758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2025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-2020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0.10 (10%)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0.41 (41%)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-0.41 (-41%)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0.41 (41%)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-0.31 (-31%)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831E3680-3623-132B-3550-75544EAEDDF6}"/>
              </a:ext>
            </a:extLst>
          </p:cNvPr>
          <p:cNvSpPr/>
          <p:nvPr/>
        </p:nvSpPr>
        <p:spPr>
          <a:xfrm>
            <a:off x="5833856" y="2148806"/>
            <a:ext cx="484632" cy="23366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82F41CC1-EFE0-DB0F-30B8-506CB9DD50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097231"/>
                  </p:ext>
                </p:extLst>
              </p:nvPr>
            </p:nvGraphicFramePr>
            <p:xfrm>
              <a:off x="1429285" y="1284793"/>
              <a:ext cx="7450460" cy="7715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49009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490092">
                      <a:extLst>
                        <a:ext uri="{9D8B030D-6E8A-4147-A177-3AD203B41FA5}">
                          <a16:colId xmlns:a16="http://schemas.microsoft.com/office/drawing/2014/main" val="3934806241"/>
                        </a:ext>
                      </a:extLst>
                    </a:gridCol>
                    <a:gridCol w="1490092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490092">
                      <a:extLst>
                        <a:ext uri="{9D8B030D-6E8A-4147-A177-3AD203B41FA5}">
                          <a16:colId xmlns:a16="http://schemas.microsoft.com/office/drawing/2014/main" val="1920460401"/>
                        </a:ext>
                      </a:extLst>
                    </a:gridCol>
                    <a:gridCol w="1490092">
                      <a:extLst>
                        <a:ext uri="{9D8B030D-6E8A-4147-A177-3AD203B41FA5}">
                          <a16:colId xmlns:a16="http://schemas.microsoft.com/office/drawing/2014/main" val="294446273"/>
                        </a:ext>
                      </a:extLst>
                    </a:gridCol>
                  </a:tblGrid>
                  <a:tr h="273807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400" b="0" i="1" spc="-5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연도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배출량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인구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(GDP)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에너지사용량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2000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1,000,000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2025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110</a:t>
                          </a: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15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50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1,500,000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82F41CC1-EFE0-DB0F-30B8-506CB9DD50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097231"/>
                  </p:ext>
                </p:extLst>
              </p:nvPr>
            </p:nvGraphicFramePr>
            <p:xfrm>
              <a:off x="1429285" y="1284793"/>
              <a:ext cx="7450460" cy="7715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49009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490092">
                      <a:extLst>
                        <a:ext uri="{9D8B030D-6E8A-4147-A177-3AD203B41FA5}">
                          <a16:colId xmlns:a16="http://schemas.microsoft.com/office/drawing/2014/main" val="3934806241"/>
                        </a:ext>
                      </a:extLst>
                    </a:gridCol>
                    <a:gridCol w="1490092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490092">
                      <a:extLst>
                        <a:ext uri="{9D8B030D-6E8A-4147-A177-3AD203B41FA5}">
                          <a16:colId xmlns:a16="http://schemas.microsoft.com/office/drawing/2014/main" val="1920460401"/>
                        </a:ext>
                      </a:extLst>
                    </a:gridCol>
                    <a:gridCol w="1490092">
                      <a:extLst>
                        <a:ext uri="{9D8B030D-6E8A-4147-A177-3AD203B41FA5}">
                          <a16:colId xmlns:a16="http://schemas.microsoft.com/office/drawing/2014/main" val="294446273"/>
                        </a:ext>
                      </a:extLst>
                    </a:gridCol>
                  </a:tblGrid>
                  <a:tr h="27380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1" t="-11111" r="-404898" b="-2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459" t="-11111" r="-306557" b="-2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633" t="-11111" r="-205306" b="-2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869" t="-11111" r="-106148" b="-2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224" t="-11111" r="-5714" b="-2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888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2000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1,000,000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888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2025</a:t>
                          </a:r>
                          <a:r>
                            <a:rPr lang="ko-KR" alt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년</a:t>
                          </a:r>
                          <a:endParaRPr lang="en-US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110</a:t>
                          </a:r>
                          <a:endParaRPr lang="en-US" sz="1300" b="0" kern="0" spc="0" baseline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15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50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1,500,000</a:t>
                          </a: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3058B04E-B61E-475D-F102-AA79198E3604}"/>
              </a:ext>
            </a:extLst>
          </p:cNvPr>
          <p:cNvSpPr/>
          <p:nvPr/>
        </p:nvSpPr>
        <p:spPr>
          <a:xfrm>
            <a:off x="5833856" y="3439867"/>
            <a:ext cx="484632" cy="23366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542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839FF-8FEE-5545-18F6-BB112F19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요인분해 분석 </a:t>
            </a:r>
            <a:r>
              <a:rPr lang="en-US" altLang="ko-KR" dirty="0"/>
              <a:t>(LMDI, Logarithmic Mean </a:t>
            </a:r>
            <a:r>
              <a:rPr lang="en-US" altLang="ko-KR" dirty="0" err="1"/>
              <a:t>Divisia</a:t>
            </a:r>
            <a:r>
              <a:rPr lang="en-US" altLang="ko-KR" dirty="0"/>
              <a:t> Index)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CE3E4D-EF90-035F-A50B-AAA2C164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730E4C-CA13-CB7B-0AFA-C5EC7087DB72}"/>
                  </a:ext>
                </a:extLst>
              </p:cNvPr>
              <p:cNvSpPr txBox="1"/>
              <p:nvPr/>
            </p:nvSpPr>
            <p:spPr>
              <a:xfrm>
                <a:off x="798002" y="1617532"/>
                <a:ext cx="11093391" cy="4931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𝐸𝐼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𝐶𝐼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ko-KR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𝐸𝐼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𝐶𝐼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ko-KR" sz="1100" dirty="0"/>
              </a:p>
              <a:p>
                <a:r>
                  <a:rPr lang="en-US" altLang="ko-KR" sz="11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func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func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func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𝐸𝐼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𝐸𝐼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func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𝐶𝐼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𝐶𝐼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endParaRPr lang="en-US" altLang="ko-KR" sz="1100" b="0" dirty="0">
                  <a:latin typeface="맑은 고딕" panose="020B0503020000020004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100" dirty="0"/>
                  <a:t>양변에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100" dirty="0"/>
                  <a:t>의 로그평균인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r>
                  <a:rPr lang="ko-KR" altLang="en-US" sz="1100" dirty="0"/>
                  <a:t> 을 곱하고</a:t>
                </a:r>
                <a:r>
                  <a:rPr lang="en-US" altLang="ko-KR" sz="1100" dirty="0"/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r>
                  <a:rPr lang="ko-KR" altLang="en-US" sz="1100" dirty="0"/>
                  <a:t>을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 dirty="0"/>
                  <a:t> </a:t>
                </a:r>
                <a:r>
                  <a:rPr lang="ko-KR" altLang="en-US" sz="1100" dirty="0"/>
                  <a:t>라고</a:t>
                </a:r>
                <a:r>
                  <a:rPr lang="en-US" altLang="ko-KR" sz="1100" dirty="0"/>
                  <a:t> </a:t>
                </a:r>
                <a:r>
                  <a:rPr lang="ko-KR" altLang="en-US" sz="1100" dirty="0"/>
                  <a:t>치환하자</a:t>
                </a:r>
                <a:r>
                  <a:rPr lang="en-US" altLang="ko-KR" sz="1100" dirty="0"/>
                  <a:t>.</a:t>
                </a:r>
              </a:p>
              <a:p>
                <a:endParaRPr lang="en-US" altLang="ko-K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𝐸𝐼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𝐸𝐼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altLang="ko-KR" sz="1600" dirty="0"/>
              </a:p>
              <a:p>
                <a:endParaRPr lang="en-US" altLang="ko-KR" sz="1600" dirty="0"/>
              </a:p>
              <a:p>
                <a:endParaRPr lang="en-US" altLang="ko-K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최종적으로 아래와 같은 식을 얻을 수 있다</a:t>
                </a:r>
                <a:r>
                  <a:rPr lang="en-US" altLang="ko-KR" sz="1600" dirty="0"/>
                  <a:t>.</a:t>
                </a:r>
              </a:p>
              <a:p>
                <a:endParaRPr lang="en-US" altLang="ko-KR" sz="11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𝐸𝐼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𝐸𝐼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altLang="ko-KR" sz="1100" dirty="0"/>
              </a:p>
              <a:p>
                <a:endParaRPr lang="en-US" altLang="ko-KR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lvl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①: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배출량 변화량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vl="1"/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②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인구증가 효과에 의한 온실가스 배출량 변화량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lvl="1"/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③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1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인당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GDP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증가 효과에 의한 온실가스 배출량 변화량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vl="1"/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④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에너지 집약도 효과에 의한 온실가스 배출량 변화량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lvl="1"/>
                <a:r>
                  <a:rPr lang="ko-KR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⑤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: CO</a:t>
                </a:r>
                <a:r>
                  <a:rPr lang="en-US" altLang="ko-KR" sz="1600" baseline="-25000" dirty="0">
                    <a:latin typeface="맑은 고딕" panose="020B0503020000020004" pitchFamily="50" charset="-127"/>
                  </a:rPr>
                  <a:t>2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 집약도 효과에 의한 온실가스 배출량 변화량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맑은 고딕" panose="020B0503020000020004" pitchFamily="50" charset="-127"/>
                  </a:rPr>
                  <a:t>각 효과에 의한 배출량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(②~</a:t>
                </a:r>
                <a:r>
                  <a:rPr lang="ko-KR" altLang="ko-KR" sz="1600" dirty="0">
                    <a:latin typeface="맑은 고딕" panose="020B0503020000020004" pitchFamily="50" charset="-127"/>
                  </a:rPr>
                  <a:t>⑤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을 모두 더하면 전체 배출량 변화량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 (①)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이 된다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.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730E4C-CA13-CB7B-0AFA-C5EC7087D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02" y="1617532"/>
                <a:ext cx="11093391" cy="4931030"/>
              </a:xfrm>
              <a:prstGeom prst="rect">
                <a:avLst/>
              </a:prstGeom>
              <a:blipFill>
                <a:blip r:embed="rId2"/>
                <a:stretch>
                  <a:fillRect l="-220" b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타원 5">
            <a:extLst>
              <a:ext uri="{FF2B5EF4-FFF2-40B4-BE49-F238E27FC236}">
                <a16:creationId xmlns:a16="http://schemas.microsoft.com/office/drawing/2014/main" id="{AE4C6247-615B-B262-B7E9-9D2C14F09B61}"/>
              </a:ext>
            </a:extLst>
          </p:cNvPr>
          <p:cNvSpPr/>
          <p:nvPr/>
        </p:nvSpPr>
        <p:spPr>
          <a:xfrm>
            <a:off x="1059170" y="4417343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D0F4A20-431B-3270-CF87-40ED21E274B3}"/>
              </a:ext>
            </a:extLst>
          </p:cNvPr>
          <p:cNvSpPr/>
          <p:nvPr/>
        </p:nvSpPr>
        <p:spPr>
          <a:xfrm>
            <a:off x="2612606" y="4417343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E392EDE-3D60-CF82-9C46-5DE662296DA1}"/>
              </a:ext>
            </a:extLst>
          </p:cNvPr>
          <p:cNvSpPr/>
          <p:nvPr/>
        </p:nvSpPr>
        <p:spPr>
          <a:xfrm>
            <a:off x="4941136" y="4417343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40DFC9E-8C2B-DC44-961D-11217A40F262}"/>
              </a:ext>
            </a:extLst>
          </p:cNvPr>
          <p:cNvSpPr/>
          <p:nvPr/>
        </p:nvSpPr>
        <p:spPr>
          <a:xfrm>
            <a:off x="7369749" y="4417343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A0A89E2-3C16-B97A-EB39-4BAF5F89F54F}"/>
              </a:ext>
            </a:extLst>
          </p:cNvPr>
          <p:cNvSpPr/>
          <p:nvPr/>
        </p:nvSpPr>
        <p:spPr>
          <a:xfrm>
            <a:off x="9957752" y="4417343"/>
            <a:ext cx="179080" cy="179080"/>
          </a:xfrm>
          <a:prstGeom prst="ellipse">
            <a:avLst/>
          </a:prstGeom>
          <a:noFill/>
          <a:ln w="6350">
            <a:solidFill>
              <a:srgbClr val="070B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5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B62D72-82B9-3F30-0A45-8910322CBBE7}"/>
              </a:ext>
            </a:extLst>
          </p:cNvPr>
          <p:cNvSpPr txBox="1"/>
          <p:nvPr/>
        </p:nvSpPr>
        <p:spPr>
          <a:xfrm>
            <a:off x="678871" y="958844"/>
            <a:ext cx="11233495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증가율이 아니라 변화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량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으로도 구분을 할 수 있을까</a:t>
            </a:r>
            <a:r>
              <a:rPr lang="en-US" altLang="ko-KR" sz="1600" spc="-50" dirty="0"/>
              <a:t>?  </a:t>
            </a:r>
            <a:r>
              <a:rPr lang="ko-KR" altLang="en-US" sz="1600" spc="-50" dirty="0"/>
              <a:t>아래와 같은 과정을 거치면 변화량으로 구분할 수도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9651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FDD4-4F56-F23E-FD84-58E60652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E13B9-79A4-424D-D1A3-FE8E44D2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요인분해 분석 </a:t>
            </a:r>
            <a:r>
              <a:rPr lang="en-US" altLang="ko-KR" dirty="0"/>
              <a:t>(LMDI, Logarithmic Mean </a:t>
            </a:r>
            <a:r>
              <a:rPr lang="en-US" altLang="ko-KR" dirty="0" err="1"/>
              <a:t>Divisia</a:t>
            </a:r>
            <a:r>
              <a:rPr lang="en-US" altLang="ko-KR" dirty="0"/>
              <a:t> Index)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6DF45F-93A4-F3AA-8DE5-528DB678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7C0E92-0AAE-9B89-570F-65E27C8EA0DD}"/>
                  </a:ext>
                </a:extLst>
              </p:cNvPr>
              <p:cNvSpPr txBox="1"/>
              <p:nvPr/>
            </p:nvSpPr>
            <p:spPr>
              <a:xfrm>
                <a:off x="678871" y="958844"/>
                <a:ext cx="11233495" cy="38164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최종적으로 아래와 같은 식을 얻을 수 있다</a:t>
                </a:r>
                <a:r>
                  <a:rPr lang="en-US" altLang="ko-KR" sz="1600" dirty="0"/>
                  <a:t>.</a:t>
                </a:r>
              </a:p>
              <a:p>
                <a:endParaRPr lang="en-US" altLang="ko-KR" sz="11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   =   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    +     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    +     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 spc="-5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𝐸𝐼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𝐸𝐼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    +     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 spc="-5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200" i="1" spc="-5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𝐶𝐼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altLang="ko-KR" sz="1100" dirty="0"/>
              </a:p>
              <a:p>
                <a:endParaRPr lang="en-US" altLang="ko-KR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해당기간의 총 배출량 변화를 인구변화로 인해 배출량이 변화한 양</a:t>
                </a:r>
                <a:r>
                  <a:rPr lang="en-US" altLang="ko-KR" sz="1600" dirty="0"/>
                  <a:t> + 1</a:t>
                </a:r>
                <a:r>
                  <a:rPr lang="ko-KR" altLang="en-US" sz="1600" dirty="0"/>
                  <a:t>인당 </a:t>
                </a:r>
                <a:r>
                  <a:rPr lang="en-US" altLang="ko-KR" sz="1600" dirty="0"/>
                  <a:t>GDP</a:t>
                </a:r>
                <a:r>
                  <a:rPr lang="ko-KR" altLang="en-US" sz="1600" dirty="0"/>
                  <a:t>변화로 인해 배출량이 변화한 양 </a:t>
                </a:r>
                <a:r>
                  <a:rPr lang="en-US" altLang="ko-KR" sz="1600" dirty="0"/>
                  <a:t>+ </a:t>
                </a:r>
                <a:r>
                  <a:rPr lang="ko-KR" altLang="en-US" sz="1600" dirty="0"/>
                  <a:t>에너지집약도 변화로 인해 배출량이 변화한 양 </a:t>
                </a:r>
                <a:r>
                  <a:rPr lang="en-US" altLang="ko-KR" sz="1600" dirty="0"/>
                  <a:t>+ </a:t>
                </a:r>
                <a:r>
                  <a:rPr lang="ko-KR" altLang="en-US" sz="1600" dirty="0"/>
                  <a:t>배출집약도 변화로 인해 배출량이 변화한 양 으로 분해하여 분석하는 방법이다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7C0E92-0AAE-9B89-570F-65E27C8EA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1" y="958844"/>
                <a:ext cx="11233495" cy="3816429"/>
              </a:xfrm>
              <a:prstGeom prst="rect">
                <a:avLst/>
              </a:prstGeom>
              <a:blipFill>
                <a:blip r:embed="rId2"/>
                <a:stretch>
                  <a:fillRect l="-217" t="-479" b="-11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53DE33E-79AF-7CB3-2E06-AA169CACA750}"/>
              </a:ext>
            </a:extLst>
          </p:cNvPr>
          <p:cNvSpPr/>
          <p:nvPr/>
        </p:nvSpPr>
        <p:spPr>
          <a:xfrm>
            <a:off x="2603518" y="1363211"/>
            <a:ext cx="1087637" cy="290263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E123C692-81CC-C34C-75EC-C11CF4CFE4CC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rot="16200000" flipH="1">
            <a:off x="3547256" y="1253555"/>
            <a:ext cx="1289552" cy="2089390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1522736-0F9C-B7A8-8C0E-B0D1C12ABDB8}"/>
              </a:ext>
            </a:extLst>
          </p:cNvPr>
          <p:cNvSpPr/>
          <p:nvPr/>
        </p:nvSpPr>
        <p:spPr>
          <a:xfrm>
            <a:off x="1723938" y="1363211"/>
            <a:ext cx="744887" cy="290263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CFC473F-3523-F72A-1D9F-67EA7A3AAC4C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 rot="16200000" flipH="1">
            <a:off x="1868950" y="1880905"/>
            <a:ext cx="1289552" cy="834689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5E00798-E2EB-9A9A-EC80-A25F07707E67}"/>
              </a:ext>
            </a:extLst>
          </p:cNvPr>
          <p:cNvGrpSpPr/>
          <p:nvPr/>
        </p:nvGrpSpPr>
        <p:grpSpPr>
          <a:xfrm>
            <a:off x="1529227" y="2943026"/>
            <a:ext cx="4485679" cy="692384"/>
            <a:chOff x="1399198" y="3328920"/>
            <a:chExt cx="2822066" cy="69238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FE00FE-1690-15AB-3E35-C4138F6AFFCA}"/>
                </a:ext>
              </a:extLst>
            </p:cNvPr>
            <p:cNvSpPr txBox="1"/>
            <p:nvPr/>
          </p:nvSpPr>
          <p:spPr>
            <a:xfrm>
              <a:off x="3242115" y="3328920"/>
              <a:ext cx="97914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/>
                <a:t>인구의 변화율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950654-97D2-9914-1C02-EF5F6F42EB7C}"/>
                </a:ext>
              </a:extLst>
            </p:cNvPr>
            <p:cNvSpPr txBox="1"/>
            <p:nvPr/>
          </p:nvSpPr>
          <p:spPr>
            <a:xfrm>
              <a:off x="1399198" y="3328920"/>
              <a:ext cx="17638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/>
                <a:t>해당기간의 로그평균 배출량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61929AD-7148-15E4-7D0B-EF7B37AC09AC}"/>
                </a:ext>
              </a:extLst>
            </p:cNvPr>
            <p:cNvSpPr txBox="1"/>
            <p:nvPr/>
          </p:nvSpPr>
          <p:spPr>
            <a:xfrm>
              <a:off x="3075872" y="3328920"/>
              <a:ext cx="1769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/>
                <a:t>X</a:t>
              </a:r>
              <a:endParaRPr lang="ko-KR" altLang="en-US" sz="1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BFC6B-FAD8-F259-1862-D01121CBF230}"/>
                </a:ext>
              </a:extLst>
            </p:cNvPr>
            <p:cNvSpPr txBox="1"/>
            <p:nvPr/>
          </p:nvSpPr>
          <p:spPr>
            <a:xfrm>
              <a:off x="1399198" y="3682750"/>
              <a:ext cx="243943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/>
                <a:t>= </a:t>
              </a:r>
              <a:r>
                <a:rPr lang="ko-KR" altLang="en-US" sz="1600" dirty="0"/>
                <a:t>인구 변화가 배출량 변화에 기여한 양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A5FF119-BE5B-7790-7FE1-236BB459D8D3}"/>
              </a:ext>
            </a:extLst>
          </p:cNvPr>
          <p:cNvSpPr txBox="1"/>
          <p:nvPr/>
        </p:nvSpPr>
        <p:spPr>
          <a:xfrm>
            <a:off x="312436" y="2238865"/>
            <a:ext cx="17086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배출량의 변화량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2855DE5-1E95-9D58-E239-724BE2844B42}"/>
              </a:ext>
            </a:extLst>
          </p:cNvPr>
          <p:cNvSpPr/>
          <p:nvPr/>
        </p:nvSpPr>
        <p:spPr>
          <a:xfrm>
            <a:off x="684410" y="1363211"/>
            <a:ext cx="744887" cy="290263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E1A91E43-8A3B-DFD0-D708-593B578E6B42}"/>
              </a:ext>
            </a:extLst>
          </p:cNvPr>
          <p:cNvCxnSpPr>
            <a:cxnSpLocks/>
            <a:stCxn id="41" idx="2"/>
            <a:endCxn id="39" idx="0"/>
          </p:cNvCxnSpPr>
          <p:nvPr/>
        </p:nvCxnSpPr>
        <p:spPr>
          <a:xfrm rot="16200000" flipH="1">
            <a:off x="819115" y="1891212"/>
            <a:ext cx="585391" cy="109913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354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FC3D-8D47-A81E-E7F5-F3B8E490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20ADC-A303-43C0-FA22-8B32C0D5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공통사회경제경로 </a:t>
            </a:r>
            <a:r>
              <a:rPr lang="en-US" altLang="ko-KR" dirty="0"/>
              <a:t>(SSP, Shared Socioeconomic Pathway)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12D654-7B63-CE0C-D259-E88D0E10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434F9-4968-8765-850C-5BF3C105B2B6}"/>
              </a:ext>
            </a:extLst>
          </p:cNvPr>
          <p:cNvSpPr txBox="1"/>
          <p:nvPr/>
        </p:nvSpPr>
        <p:spPr>
          <a:xfrm>
            <a:off x="678871" y="958844"/>
            <a:ext cx="11233495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SSP </a:t>
            </a:r>
            <a:r>
              <a:rPr lang="ko-KR" altLang="en-US" sz="1600" spc="-50" dirty="0"/>
              <a:t>시나리오는 기후변화 대응과 영향 평가를 위해 미래의 사회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경제적 발전 경로를 다섯 가지로 설정한 글로벌 기후변화 시나리오 체계이다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보통 </a:t>
            </a:r>
            <a:r>
              <a:rPr lang="en-US" altLang="ko-KR" sz="1600" spc="-50" dirty="0"/>
              <a:t>SSP</a:t>
            </a:r>
            <a:r>
              <a:rPr lang="en-US" altLang="ko-KR" sz="1600" spc="-50" baseline="-25000" dirty="0"/>
              <a:t>x-y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로 표현이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는 미래에 사회경제적 변수들이 어떻게 변할지에 대한 시나리오를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Y</a:t>
            </a:r>
            <a:r>
              <a:rPr lang="ko-KR" altLang="en-US" sz="1600" spc="-50" dirty="0"/>
              <a:t>는 해당 시나리오에서의 </a:t>
            </a:r>
            <a:r>
              <a:rPr lang="en-US" altLang="ko-KR" sz="1600" spc="-50" dirty="0"/>
              <a:t>2100</a:t>
            </a:r>
            <a:r>
              <a:rPr lang="ko-KR" altLang="en-US" sz="1600" spc="-50" dirty="0"/>
              <a:t>년의 </a:t>
            </a:r>
            <a:r>
              <a:rPr lang="ko-KR" altLang="en-US" sz="1600" spc="-50" dirty="0" err="1"/>
              <a:t>복사강제력</a:t>
            </a:r>
            <a:r>
              <a:rPr lang="en-US" altLang="ko-KR" sz="1600" spc="-50" dirty="0"/>
              <a:t>(W/m</a:t>
            </a:r>
            <a:r>
              <a:rPr lang="en-US" altLang="ko-KR" sz="1600" spc="-50" baseline="30000" dirty="0"/>
              <a:t>2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SSP</a:t>
            </a:r>
            <a:r>
              <a:rPr lang="en-US" altLang="ko-KR" sz="1600" spc="-50" baseline="-25000" dirty="0"/>
              <a:t>x-y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의 사회경제적 경로에서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복사강제력을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2100</a:t>
            </a:r>
            <a:r>
              <a:rPr lang="ko-KR" altLang="en-US" sz="1600" spc="-50" dirty="0"/>
              <a:t>년에 달성함을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사회경제적 경로</a:t>
            </a:r>
            <a:r>
              <a:rPr lang="en-US" altLang="ko-KR" sz="1600" spc="-50" dirty="0"/>
              <a:t>(x)</a:t>
            </a:r>
            <a:r>
              <a:rPr lang="ko-KR" altLang="en-US" sz="1600" spc="-50" dirty="0"/>
              <a:t>는 아래와 같이 다섯가지로 나뉜다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3840F93-0F85-2DAF-36D3-F6D11DFA0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79756"/>
              </p:ext>
            </p:extLst>
          </p:nvPr>
        </p:nvGraphicFramePr>
        <p:xfrm>
          <a:off x="1037626" y="3397659"/>
          <a:ext cx="9749045" cy="294341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4484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88378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701582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738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 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시나리오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 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지속가능 경로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낮은 불평등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높은 교육</a:t>
                      </a:r>
                      <a:r>
                        <a:rPr lang="en-US" altLang="ko-KR" sz="1300" spc="-50" dirty="0"/>
                        <a:t>·</a:t>
                      </a:r>
                      <a:r>
                        <a:rPr lang="ko-KR" altLang="en-US" sz="1300" spc="-50" dirty="0"/>
                        <a:t>보건</a:t>
                      </a:r>
                      <a:r>
                        <a:rPr lang="en-US" altLang="ko-KR" sz="1300" spc="-50" dirty="0"/>
                        <a:t>, </a:t>
                      </a:r>
                      <a:r>
                        <a:rPr lang="ko-KR" altLang="en-US" sz="1300" spc="-50" dirty="0"/>
                        <a:t>빠른 기술보급</a:t>
                      </a:r>
                      <a:r>
                        <a:rPr lang="en-US" altLang="ko-KR" sz="1300" spc="-50" dirty="0"/>
                        <a:t>, </a:t>
                      </a:r>
                      <a:r>
                        <a:rPr lang="ko-KR" altLang="en-US" sz="1300" spc="-50" dirty="0"/>
                        <a:t>친환경 에너지 전환을 통해 지속가능한 발전의 조건을 갖춤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 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중간적 경로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인류가 밟아온 기존 경로와 유사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성장이 어느 정도 불균등하고 지속가능성 달성을 위해 노력하나 성과는 크지 않음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 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지역간 경쟁의 경로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국가 간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국제 지역간 경쟁이 심한 경로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인구 증가율이 높고 교육</a:t>
                      </a:r>
                      <a:r>
                        <a:rPr lang="en-US" altLang="ko-KR" sz="1300" spc="-50" dirty="0"/>
                        <a:t>·</a:t>
                      </a:r>
                      <a:r>
                        <a:rPr lang="ko-KR" altLang="en-US" sz="1300" spc="-50" dirty="0"/>
                        <a:t>보건</a:t>
                      </a:r>
                      <a:r>
                        <a:rPr lang="en-US" altLang="ko-KR" sz="1300" spc="-50" dirty="0"/>
                        <a:t>·</a:t>
                      </a:r>
                      <a:r>
                        <a:rPr lang="ko-KR" altLang="en-US" sz="1300" spc="-50" dirty="0"/>
                        <a:t>기술 확산이 매우 느림</a:t>
                      </a:r>
                      <a:r>
                        <a:rPr lang="en-US" altLang="ko-KR" sz="1300" spc="-50" dirty="0"/>
                        <a:t>.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역내의 식량과 에너지 안보에만 치중하며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환경문제의 우선순위가 낮음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 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불평등 경로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선진국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혹은 엘리트계층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신기술</a:t>
                      </a:r>
                      <a:r>
                        <a:rPr lang="en-US" altLang="ko-KR" sz="1300" spc="-50" dirty="0"/>
                        <a:t>·</a:t>
                      </a:r>
                      <a:r>
                        <a:rPr lang="ko-KR" altLang="en-US" sz="1300" spc="-50" dirty="0"/>
                        <a:t>저탄소 인프라를 누리고</a:t>
                      </a:r>
                      <a:r>
                        <a:rPr lang="en-US" altLang="ko-KR" sz="1300" spc="-50" dirty="0"/>
                        <a:t>,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후진국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혹은 대중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</a:t>
                      </a:r>
                      <a:r>
                        <a:rPr lang="ko-KR" altLang="en-US" sz="1300" b="0" kern="0" spc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고탄소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기술에 의존하게 되는 이중구조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인적자본 투자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경제적 기회와 정치적 힘 측면에서 불균형이 심화되는 경로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 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화석연료 중심 발전 경로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글로벌 시장이 통합되고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경쟁과 혁신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사회참여가 강조됨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교육과 건강에 대한 투자도 늘어나며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글로벌 경제가 크게 성장하지만 화석연료에 많이 의존하는 발전경로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786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45D1-7028-1E22-EC24-91FC8160F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F3DCA-F2EF-BE52-4150-39A78A9F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대표농도경로</a:t>
            </a:r>
            <a:r>
              <a:rPr lang="ko-KR" altLang="en-US" dirty="0"/>
              <a:t> </a:t>
            </a:r>
            <a:r>
              <a:rPr lang="en-US" altLang="ko-KR" dirty="0"/>
              <a:t>(RCP, Representative Concentration Pathways)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264B54-2A0D-C2BF-93F7-5F42387E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E76529-9C25-B193-2FF0-8F409A0390BA}"/>
              </a:ext>
            </a:extLst>
          </p:cNvPr>
          <p:cNvSpPr txBox="1"/>
          <p:nvPr/>
        </p:nvSpPr>
        <p:spPr>
          <a:xfrm>
            <a:off x="678871" y="958844"/>
            <a:ext cx="11233495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</a:t>
            </a:r>
            <a:r>
              <a:rPr lang="en-US" altLang="ko-KR" sz="1600" spc="-50" dirty="0"/>
              <a:t>SSP</a:t>
            </a:r>
            <a:r>
              <a:rPr lang="en-US" altLang="ko-KR" sz="1600" spc="-50" baseline="-25000" dirty="0"/>
              <a:t>x-y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표기에서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에 해당하는 시나리오를 </a:t>
            </a:r>
            <a:r>
              <a:rPr lang="en-US" altLang="ko-KR" sz="1600" spc="-50" dirty="0"/>
              <a:t>RCP </a:t>
            </a:r>
            <a:r>
              <a:rPr lang="ko-KR" altLang="en-US" sz="1600" spc="-50" dirty="0"/>
              <a:t>시나리오라고도 부른다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RCP </a:t>
            </a:r>
            <a:r>
              <a:rPr lang="ko-KR" altLang="en-US" sz="1600" spc="-50" dirty="0"/>
              <a:t>시나리오는 미래의 온실가스 농도와 이에 따른 </a:t>
            </a:r>
            <a:r>
              <a:rPr lang="ko-KR" altLang="en-US" sz="1600" spc="-50" dirty="0" err="1"/>
              <a:t>복사강제력</a:t>
            </a:r>
            <a:r>
              <a:rPr lang="ko-KR" altLang="en-US" sz="1600" spc="-50" dirty="0"/>
              <a:t> 경로를 수치로 제시하는 기후변화 시나리오이다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앞선 </a:t>
            </a:r>
            <a:r>
              <a:rPr lang="en-US" altLang="ko-KR" sz="1600" spc="-50" dirty="0"/>
              <a:t>SSP 1~5 </a:t>
            </a:r>
            <a:r>
              <a:rPr lang="ko-KR" altLang="en-US" sz="1600" spc="-50" dirty="0"/>
              <a:t>시나리오의 스토리를 양적지표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인구 및 경제성장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전환한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이로부터 향후의 에너지 소비량과 온실가스 배출량 전망치를 생성한다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다섯가지</a:t>
            </a:r>
            <a:r>
              <a:rPr lang="en-US" altLang="ko-KR" sz="1600" spc="-50" dirty="0"/>
              <a:t> SSP</a:t>
            </a:r>
            <a:r>
              <a:rPr lang="ko-KR" altLang="en-US" sz="1600" spc="-50" dirty="0"/>
              <a:t>시나리오별로 달성하려는 </a:t>
            </a:r>
            <a:r>
              <a:rPr lang="en-US" altLang="ko-KR" sz="1600" spc="-50" dirty="0"/>
              <a:t>2100</a:t>
            </a:r>
            <a:r>
              <a:rPr lang="ko-KR" altLang="en-US" sz="1600" spc="-50" dirty="0"/>
              <a:t>년의 </a:t>
            </a:r>
            <a:r>
              <a:rPr lang="ko-KR" altLang="en-US" sz="1600" spc="-50" dirty="0" err="1"/>
              <a:t>복사강제력</a:t>
            </a:r>
            <a:r>
              <a:rPr lang="ko-KR" altLang="en-US" sz="1600" spc="-50" dirty="0"/>
              <a:t> 수치를 얻을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주로 </a:t>
            </a:r>
            <a:r>
              <a:rPr lang="en-US" altLang="ko-KR" sz="1600" spc="-50" dirty="0"/>
              <a:t>SSP1-2.6, SSP1-2.6, SSP3-7.0, SSP5-8.5 </a:t>
            </a:r>
            <a:r>
              <a:rPr lang="ko-KR" altLang="en-US" sz="1600" spc="-50" dirty="0"/>
              <a:t>의 다섯가지 시나리오를 적용한다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국제사회에서 목표로 하는 </a:t>
            </a:r>
            <a:r>
              <a:rPr lang="en-US" altLang="ko-KR" sz="1600" spc="-50" dirty="0"/>
              <a:t>2100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1.5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혹은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2.0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℃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이하의 기온상승을 위해서는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SSP1-1.9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혹은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SSP1-2.6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의 경로를 취해야 한다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</a:t>
            </a:r>
            <a:endParaRPr lang="en-US" altLang="ko-KR" sz="1600" spc="-5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9B1A50F-36AA-8A73-0767-69B178C67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167321"/>
              </p:ext>
            </p:extLst>
          </p:nvPr>
        </p:nvGraphicFramePr>
        <p:xfrm>
          <a:off x="1037626" y="4538554"/>
          <a:ext cx="9749045" cy="17907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1834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438450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438450">
                  <a:extLst>
                    <a:ext uri="{9D8B030D-6E8A-4147-A177-3AD203B41FA5}">
                      <a16:colId xmlns:a16="http://schemas.microsoft.com/office/drawing/2014/main" val="363251350"/>
                    </a:ext>
                  </a:extLst>
                </a:gridCol>
                <a:gridCol w="143845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  <a:gridCol w="1438450">
                  <a:extLst>
                    <a:ext uri="{9D8B030D-6E8A-4147-A177-3AD203B41FA5}">
                      <a16:colId xmlns:a16="http://schemas.microsoft.com/office/drawing/2014/main" val="1928439584"/>
                    </a:ext>
                  </a:extLst>
                </a:gridCol>
                <a:gridCol w="1438450">
                  <a:extLst>
                    <a:ext uri="{9D8B030D-6E8A-4147-A177-3AD203B41FA5}">
                      <a16:colId xmlns:a16="http://schemas.microsoft.com/office/drawing/2014/main" val="2255201225"/>
                    </a:ext>
                  </a:extLst>
                </a:gridCol>
                <a:gridCol w="1438450">
                  <a:extLst>
                    <a:ext uri="{9D8B030D-6E8A-4147-A177-3AD203B41FA5}">
                      <a16:colId xmlns:a16="http://schemas.microsoft.com/office/drawing/2014/main" val="785876346"/>
                    </a:ext>
                  </a:extLst>
                </a:gridCol>
              </a:tblGrid>
              <a:tr h="2738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SSPx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-y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시나리오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2021-2040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2041-2060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2081-2100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77350"/>
                  </a:ext>
                </a:extLst>
              </a:tr>
              <a:tr h="27380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 추정치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가능 범위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 추정치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가능 범위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 추정치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가능 범위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SSP1-1.9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1.2~1.7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1.2~2.0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1.0~1.8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SSP1-2.6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1.2~1.8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1.3~2.2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1.3~2.4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SSP2-4.5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1.2~1.8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1.6~2.5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2.1~3.5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SSP3-7.0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1.2~1.8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1.7~2.6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3.6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2.8~4.6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SSP5-8.5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1.3~1.9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1.9~3.0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4.4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3.3~5.7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7A43238-80EE-D470-3AC7-E4558506F13D}"/>
              </a:ext>
            </a:extLst>
          </p:cNvPr>
          <p:cNvSpPr txBox="1"/>
          <p:nvPr/>
        </p:nvSpPr>
        <p:spPr>
          <a:xfrm>
            <a:off x="2505163" y="4211242"/>
            <a:ext cx="6134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 1850~1900</a:t>
            </a:r>
            <a:r>
              <a:rPr lang="ko-KR" altLang="en-US" sz="1400" spc="-50" dirty="0"/>
              <a:t>년 대비 기온상승 전망치 </a:t>
            </a:r>
            <a:r>
              <a:rPr lang="en-US" altLang="ko-KR" sz="1400" spc="-50" dirty="0"/>
              <a:t>(</a:t>
            </a:r>
            <a:r>
              <a:rPr lang="ko-KR" altLang="en-US" sz="1400" spc="-50" dirty="0"/>
              <a:t>단위</a:t>
            </a:r>
            <a:r>
              <a:rPr lang="en-US" altLang="ko-KR" sz="1400" spc="-50" dirty="0"/>
              <a:t>: </a:t>
            </a:r>
            <a:r>
              <a:rPr lang="en-US" altLang="ko-KR" sz="14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℃) 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89918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2644-8D96-F5B6-2E98-231173A3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7E6A0-85C5-1721-A54C-A9A273F1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기후시스템 전망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335B3F-A465-E26C-B283-7EB36294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64325-EA5C-B5E2-E967-2609DB9A7BC4}"/>
              </a:ext>
            </a:extLst>
          </p:cNvPr>
          <p:cNvSpPr txBox="1"/>
          <p:nvPr/>
        </p:nvSpPr>
        <p:spPr>
          <a:xfrm>
            <a:off x="678871" y="958844"/>
            <a:ext cx="1123349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IPCC</a:t>
            </a:r>
            <a:r>
              <a:rPr lang="ko-KR" altLang="en-US" sz="1600" spc="-50" dirty="0"/>
              <a:t>는 온실가스 농도 증가가 초래하는 기후시스템 변화를 다수의 </a:t>
            </a:r>
            <a:r>
              <a:rPr lang="en-US" altLang="ko-KR" sz="1600" spc="-50" dirty="0"/>
              <a:t>GCM(Global Climate Model)</a:t>
            </a:r>
            <a:r>
              <a:rPr lang="ko-KR" altLang="en-US" sz="1600" spc="-50" dirty="0"/>
              <a:t>이라는 분석모형을 가동해 도출한다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GCM</a:t>
            </a:r>
            <a:r>
              <a:rPr lang="ko-KR" altLang="en-US" sz="1600" spc="-50" dirty="0"/>
              <a:t>은 지구의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차원 그리드 모형으로서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복사열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바람 이동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구름 형성과 증발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및 강우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해류에 의한 열전달 등을 수리적으로 분석하는 모형이다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4℃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온난화 수준에서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세기 남은 기간의 바닷물 온난화는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1971~2018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년간 변화의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4~8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배에 달하여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바닷물의 산성화가 발생할 것으로 나타난다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산과 극지방의 빙하가 녹고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영구 동토층이 해빙되면서 탄소가 유출되며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그린란드와 남극 빙상이 녹는 현상이 지속될 것으로 나타난다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1850~2019</a:t>
            </a:r>
            <a:r>
              <a:rPr lang="ko-KR" altLang="en-US" sz="1600" spc="-50" dirty="0"/>
              <a:t>년간 인간 활동으로 </a:t>
            </a:r>
            <a:r>
              <a:rPr lang="en-US" altLang="ko-KR" sz="1600" spc="-50" dirty="0"/>
              <a:t>2,390±240 GtCO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 배출되었다고 추정하고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는 오랜 기간 대기에 머물러 있기 때문에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미래의 기온변화에는 이미 과거에 배출된 </a:t>
            </a:r>
            <a:r>
              <a:rPr lang="en-US" altLang="ko-KR" sz="1600" spc="-50" dirty="0"/>
              <a:t>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도 영향을 미치고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미래의 기온 수준을 어느 정도로 묶어두려면 앞으로 어느 정도의 </a:t>
            </a:r>
            <a:r>
              <a:rPr lang="en-US" altLang="ko-KR" sz="1600" spc="-50" dirty="0"/>
              <a:t>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를 배출할 수 있는지를 추정해야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1148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04B9F-A908-5AA2-C3E1-5A78906DD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A930F-0675-A792-7D4B-7ED55BE6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탄소예산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DAF786-A61F-4FCD-FEF6-55016DE5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E193C-FC94-CF28-A251-0DEBCA2BA53F}"/>
              </a:ext>
            </a:extLst>
          </p:cNvPr>
          <p:cNvSpPr txBox="1"/>
          <p:nvPr/>
        </p:nvSpPr>
        <p:spPr>
          <a:xfrm>
            <a:off x="678871" y="958844"/>
            <a:ext cx="11233495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탄소예산은 지구 평균기온 상승을 특정수준 </a:t>
            </a:r>
            <a:r>
              <a:rPr lang="en-US" altLang="ko-KR" sz="1600" spc="-50" dirty="0"/>
              <a:t>(1.5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2.0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 ℃)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이하로 제한하기 위해 앞으로 인류가 배출할 수 있는 이산화탄소의 총량을 의미한다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아래는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IPCC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가 추정하는 탄소예산이다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표의 윗부분</a:t>
            </a:r>
            <a:r>
              <a:rPr lang="en-US" altLang="ko-KR" sz="1600" spc="-50" dirty="0"/>
              <a:t>) 1850~2019</a:t>
            </a:r>
            <a:r>
              <a:rPr lang="ko-KR" altLang="en-US" sz="1600" spc="-50" dirty="0"/>
              <a:t>년간 인간의 활동에 의해 총 </a:t>
            </a:r>
            <a:r>
              <a:rPr lang="en-US" altLang="ko-KR" sz="1600" spc="-50" dirty="0"/>
              <a:t>2,390±240 GtCO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 배출되었고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그로 인해 현재</a:t>
            </a:r>
            <a:r>
              <a:rPr lang="en-US" altLang="ko-KR" sz="1600" spc="-50" dirty="0"/>
              <a:t>(2010~2019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산업혁명 대비 </a:t>
            </a:r>
            <a:r>
              <a:rPr lang="en-US" altLang="ko-KR" sz="1600" spc="-50" dirty="0"/>
              <a:t>(1850~1900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 1.07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℃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상승하였다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표의 아랫부분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예를 들면 </a:t>
            </a:r>
            <a:r>
              <a:rPr lang="en-US" altLang="ko-KR" sz="1600" spc="-50" dirty="0"/>
              <a:t>1.5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℃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온난화를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83%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이상의 확률로 달성하려면 앞으로 남아 있는 배출량은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300</a:t>
            </a:r>
            <a:r>
              <a:rPr lang="en-US" altLang="ko-KR" sz="1600" spc="-50" dirty="0"/>
              <a:t>GtCO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이미 지금까지 배출된 양의 </a:t>
            </a:r>
            <a:r>
              <a:rPr lang="en-US" altLang="ko-KR" sz="1600" spc="-50" dirty="0"/>
              <a:t>1/8 </a:t>
            </a:r>
            <a:r>
              <a:rPr lang="ko-KR" altLang="en-US" sz="1600" spc="-50" dirty="0"/>
              <a:t>정도에 불과하다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E3C9B61-A4B7-1FFA-B8A4-5D0F6D887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16712"/>
              </p:ext>
            </p:extLst>
          </p:nvPr>
        </p:nvGraphicFramePr>
        <p:xfrm>
          <a:off x="941153" y="3766768"/>
          <a:ext cx="9749045" cy="22100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9566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0677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30676">
                  <a:extLst>
                    <a:ext uri="{9D8B030D-6E8A-4147-A177-3AD203B41FA5}">
                      <a16:colId xmlns:a16="http://schemas.microsoft.com/office/drawing/2014/main" val="3378770711"/>
                    </a:ext>
                  </a:extLst>
                </a:gridCol>
                <a:gridCol w="1530677">
                  <a:extLst>
                    <a:ext uri="{9D8B030D-6E8A-4147-A177-3AD203B41FA5}">
                      <a16:colId xmlns:a16="http://schemas.microsoft.com/office/drawing/2014/main" val="3296186459"/>
                    </a:ext>
                  </a:extLst>
                </a:gridCol>
                <a:gridCol w="1530676">
                  <a:extLst>
                    <a:ext uri="{9D8B030D-6E8A-4147-A177-3AD203B41FA5}">
                      <a16:colId xmlns:a16="http://schemas.microsoft.com/office/drawing/2014/main" val="3615886691"/>
                    </a:ext>
                  </a:extLst>
                </a:gridCol>
                <a:gridCol w="1530677">
                  <a:extLst>
                    <a:ext uri="{9D8B030D-6E8A-4147-A177-3AD203B41FA5}">
                      <a16:colId xmlns:a16="http://schemas.microsoft.com/office/drawing/2014/main" val="3362814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2010~2019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온난화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(1850~1990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대비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1850~2019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누적 </a:t>
                      </a:r>
                      <a:r>
                        <a:rPr lang="en-US" altLang="ko-KR" sz="1400" b="0" spc="-50" dirty="0">
                          <a:solidFill>
                            <a:schemeClr val="tx1"/>
                          </a:solidFill>
                        </a:rPr>
                        <a:t>CO</a:t>
                      </a:r>
                      <a:r>
                        <a:rPr lang="en-US" altLang="ko-KR" sz="1400" b="0" spc="-50" baseline="-250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400" b="0" spc="-50" baseline="0" dirty="0">
                          <a:solidFill>
                            <a:schemeClr val="tx1"/>
                          </a:solidFill>
                        </a:rPr>
                        <a:t>배출량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494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1.07℃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dirty="0"/>
                        <a:t>2,390±240 GtCO</a:t>
                      </a:r>
                      <a:r>
                        <a:rPr lang="en-US" altLang="ko-KR" sz="1400" spc="-50" baseline="-25000" dirty="0"/>
                        <a:t>2</a:t>
                      </a:r>
                      <a:r>
                        <a:rPr lang="en-US" altLang="ko-KR" sz="1400" spc="-50" dirty="0"/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목표 온난화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(℃)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기준 남아 있는 탄소 예산 추정치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목표 온난화 달성 가능성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GtCO2)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17%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33%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67%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83%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327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1.5℃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1.7℃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1,450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1,050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2.0℃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2,300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1,700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1,150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5975A35-A783-F4B5-1F87-6942C97C32A5}"/>
              </a:ext>
            </a:extLst>
          </p:cNvPr>
          <p:cNvSpPr txBox="1"/>
          <p:nvPr/>
        </p:nvSpPr>
        <p:spPr>
          <a:xfrm>
            <a:off x="2895251" y="3429000"/>
            <a:ext cx="6134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 </a:t>
            </a:r>
            <a:r>
              <a:rPr lang="ko-KR" altLang="en-US" sz="1400" spc="-50" dirty="0"/>
              <a:t>탄소 예산 </a:t>
            </a:r>
            <a:r>
              <a:rPr lang="en-US" altLang="ko-KR" sz="14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54068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5811A-926D-699F-1B32-0EE5C03D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76F6B4-ABA3-AAEA-7374-BAA2BA6D4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탄소 배출저감 로드맵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4BBDD-E150-46A7-9AB4-9E2A99CC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8BEBD8-1FC6-357B-AB01-7E6467919BD6}"/>
              </a:ext>
            </a:extLst>
          </p:cNvPr>
          <p:cNvSpPr txBox="1"/>
          <p:nvPr/>
        </p:nvSpPr>
        <p:spPr>
          <a:xfrm>
            <a:off x="678871" y="958844"/>
            <a:ext cx="11233495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목표 온난화를 </a:t>
            </a:r>
            <a:r>
              <a:rPr lang="en-US" altLang="ko-KR" sz="1600" spc="-50" dirty="0"/>
              <a:t>2100</a:t>
            </a:r>
            <a:r>
              <a:rPr lang="ko-KR" altLang="en-US" sz="1600" spc="-50" dirty="0"/>
              <a:t>년에 실제로 달성하기 위해서는 아래의 표와 같이 </a:t>
            </a:r>
            <a:r>
              <a:rPr lang="en-US" altLang="ko-KR" sz="1600" spc="-50" dirty="0"/>
              <a:t>2100</a:t>
            </a:r>
            <a:r>
              <a:rPr lang="ko-KR" altLang="en-US" sz="1600" spc="-50" dirty="0"/>
              <a:t>년까지 배출할 </a:t>
            </a:r>
            <a:r>
              <a:rPr lang="en-US" altLang="ko-KR" sz="1600" spc="-50" dirty="0"/>
              <a:t>CO</a:t>
            </a:r>
            <a:r>
              <a:rPr lang="en-US" altLang="ko-KR" sz="1600" spc="-50" baseline="-25000" dirty="0"/>
              <a:t>2</a:t>
            </a:r>
            <a:r>
              <a:rPr lang="ko-KR" altLang="en-US" sz="1600" spc="-50" dirty="0"/>
              <a:t>양을 세부 기간별로 산정하여야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들면 </a:t>
            </a:r>
            <a:r>
              <a:rPr lang="en-US" altLang="ko-KR" sz="1600" spc="-50" dirty="0"/>
              <a:t>2100</a:t>
            </a:r>
            <a:r>
              <a:rPr lang="ko-KR" altLang="en-US" sz="1600" spc="-50" dirty="0"/>
              <a:t>년에 </a:t>
            </a:r>
            <a:r>
              <a:rPr lang="en-US" altLang="ko-KR" sz="1600" spc="-50" dirty="0"/>
              <a:t>1.5℃ </a:t>
            </a:r>
            <a:r>
              <a:rPr lang="ko-KR" altLang="en-US" sz="1600" spc="-50" dirty="0"/>
              <a:t>목표를 안정적으로 달성하려면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확률 </a:t>
            </a:r>
            <a:r>
              <a:rPr lang="en-US" altLang="ko-KR" sz="1600" spc="-50" dirty="0"/>
              <a:t>50%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, 1.3℃ </a:t>
            </a:r>
            <a:r>
              <a:rPr lang="ko-KR" altLang="en-US" sz="1600" spc="-50" dirty="0"/>
              <a:t>상승</a:t>
            </a:r>
            <a:r>
              <a:rPr lang="en-US" altLang="ko-KR" sz="1600" spc="-50" dirty="0"/>
              <a:t>), 2050</a:t>
            </a:r>
            <a:r>
              <a:rPr lang="ko-KR" altLang="en-US" sz="1600" spc="-50" dirty="0"/>
              <a:t>년에 탄소중립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순배출량이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 되도록 하여야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kern="0" dirty="0">
              <a:latin typeface="+mn-ea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EC956D0-D5F0-EAAD-BE30-C9C66842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824751"/>
              </p:ext>
            </p:extLst>
          </p:nvPr>
        </p:nvGraphicFramePr>
        <p:xfrm>
          <a:off x="1037626" y="3548660"/>
          <a:ext cx="9749044" cy="153806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174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31748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331748">
                  <a:extLst>
                    <a:ext uri="{9D8B030D-6E8A-4147-A177-3AD203B41FA5}">
                      <a16:colId xmlns:a16="http://schemas.microsoft.com/office/drawing/2014/main" val="363251350"/>
                    </a:ext>
                  </a:extLst>
                </a:gridCol>
                <a:gridCol w="287690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  <a:gridCol w="2876900">
                  <a:extLst>
                    <a:ext uri="{9D8B030D-6E8A-4147-A177-3AD203B41FA5}">
                      <a16:colId xmlns:a16="http://schemas.microsoft.com/office/drawing/2014/main" val="2255201225"/>
                    </a:ext>
                  </a:extLst>
                </a:gridCol>
              </a:tblGrid>
              <a:tr h="273807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대비 </a:t>
                      </a: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감축률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탄소중립 달성 연도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예상 기온상승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(50%, 1850~1900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대비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77350"/>
                  </a:ext>
                </a:extLst>
              </a:tr>
              <a:tr h="2738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2030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2040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2050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2050~2055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1.3</a:t>
                      </a:r>
                      <a:r>
                        <a:rPr lang="en-US" altLang="ko-KR" sz="1200" spc="-50" dirty="0">
                          <a:latin typeface="맑은 고딕" panose="020B0503020000020004" pitchFamily="50" charset="-127"/>
                          <a:ea typeface="+mn-ea"/>
                        </a:rPr>
                        <a:t>℃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2070~2075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1.6</a:t>
                      </a:r>
                      <a:r>
                        <a:rPr lang="en-US" altLang="ko-KR" sz="1200" spc="-50" dirty="0">
                          <a:latin typeface="맑은 고딕" panose="020B0503020000020004" pitchFamily="50" charset="-127"/>
                          <a:ea typeface="+mn-ea"/>
                        </a:rPr>
                        <a:t>℃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탄소중립 없음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r>
                        <a:rPr lang="en-US" altLang="ko-KR" sz="1200" spc="-50" dirty="0">
                          <a:latin typeface="맑은 고딕" panose="020B0503020000020004" pitchFamily="50" charset="-127"/>
                          <a:ea typeface="+mn-ea"/>
                        </a:rPr>
                        <a:t>℃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-20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-35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-46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탄소중립 없음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r>
                        <a:rPr lang="en-US" altLang="ko-KR" sz="1200" spc="-50" dirty="0">
                          <a:latin typeface="맑은 고딕" panose="020B0503020000020004" pitchFamily="50" charset="-127"/>
                          <a:ea typeface="+mn-ea"/>
                        </a:rPr>
                        <a:t>℃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574D90-B7B5-5A98-E23F-4609D144452E}"/>
              </a:ext>
            </a:extLst>
          </p:cNvPr>
          <p:cNvSpPr txBox="1"/>
          <p:nvPr/>
        </p:nvSpPr>
        <p:spPr>
          <a:xfrm>
            <a:off x="2505163" y="3221348"/>
            <a:ext cx="6134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 1850~1900</a:t>
            </a:r>
            <a:r>
              <a:rPr lang="ko-KR" altLang="en-US" sz="1400" spc="-50" dirty="0"/>
              <a:t>년 대비 기온상승 전망치 </a:t>
            </a:r>
            <a:r>
              <a:rPr lang="en-US" altLang="ko-KR" sz="1400" spc="-50" dirty="0"/>
              <a:t>(</a:t>
            </a:r>
            <a:r>
              <a:rPr lang="ko-KR" altLang="en-US" sz="1400" spc="-50" dirty="0"/>
              <a:t>단위</a:t>
            </a:r>
            <a:r>
              <a:rPr lang="en-US" altLang="ko-KR" sz="1400" spc="-50" dirty="0"/>
              <a:t>: </a:t>
            </a:r>
            <a:r>
              <a:rPr lang="en-US" altLang="ko-KR" sz="14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℃) 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01917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E7697-2C50-7BF3-DA85-7CE687179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1C464F-D2ED-5EBE-A689-B76D949367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8A11A7-BE72-567C-DB43-E42C27E7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0AFF80F-6087-168F-CCE5-EAC2F4C3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기후변화 대응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8081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54A77-6919-40F0-AD98-9FC7FA9E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8EEC2-F135-6946-57C1-70893C17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기후변화 대응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1F73E-0A25-5876-D009-6B63E1C6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19B44-6067-AFB0-C4AA-3B9E0ED20101}"/>
              </a:ext>
            </a:extLst>
          </p:cNvPr>
          <p:cNvSpPr txBox="1"/>
          <p:nvPr/>
        </p:nvSpPr>
        <p:spPr>
          <a:xfrm>
            <a:off x="678871" y="958844"/>
            <a:ext cx="1123349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기후변화에 대한 대응은 온실가스의 배출저감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감축</a:t>
            </a:r>
            <a:r>
              <a:rPr lang="en-US" altLang="ko-KR" sz="1600" spc="-50" dirty="0"/>
              <a:t> (mitigation)</a:t>
            </a:r>
            <a:r>
              <a:rPr lang="ko-KR" altLang="en-US" sz="1600" spc="-50" dirty="0"/>
              <a:t>과 기후위기에 대한 적응</a:t>
            </a:r>
            <a:r>
              <a:rPr lang="en-US" altLang="ko-KR" sz="1600" spc="-50" dirty="0"/>
              <a:t>(adaptation)</a:t>
            </a:r>
            <a:r>
              <a:rPr lang="ko-KR" altLang="en-US" sz="1600" spc="-50" dirty="0"/>
              <a:t>으로 나뉜다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감축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감축은 기후변화를 일으키는 원인 그 자체를 줄이는 것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온실가스 배출을 줄여 지구 온난화를 억제하는 모든 활동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en-US" altLang="ko-KR" sz="1600" spc="-50" dirty="0"/>
              <a:t>26</a:t>
            </a:r>
            <a:r>
              <a:rPr lang="ko-KR" altLang="en-US" sz="1600" spc="-50" dirty="0"/>
              <a:t>쪽 슬라이드에서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온실가스 배출량은 인구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인당 소득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 당 에너지사용량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에너지 집약도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사용한 에너지 단위당 온실가스 배출량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 집약도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이라는 요소들로 분해될 수 있음을 배웠다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인구와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소득을 줄이는 선택은 하기 어렵기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에너지의 효율성을 높이고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단위당 배출량이 적어지도록 에너지 전환과 기술개발이 배출감축의 수단이 되어야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산림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면적을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늘리고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토지이용을 </a:t>
            </a:r>
            <a:r>
              <a:rPr lang="ko-KR" altLang="en-US" sz="1600" spc="-50" dirty="0" err="1"/>
              <a:t>지속가능하게</a:t>
            </a:r>
            <a:r>
              <a:rPr lang="ko-KR" altLang="en-US" sz="1600" spc="-50" dirty="0"/>
              <a:t> 하여 비에너지 부문의 배출감소 혹은 흡수 촉진도 추진해야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감축활동을 추진하는 정책 수단으로서 </a:t>
            </a:r>
            <a:r>
              <a:rPr lang="ko-KR" altLang="en-US" sz="1600" spc="-50" dirty="0" err="1"/>
              <a:t>탄소세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배출권거래제를</a:t>
            </a:r>
            <a:r>
              <a:rPr lang="ko-KR" altLang="en-US" sz="1600" spc="-50" dirty="0"/>
              <a:t> 사용하되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기술개발에 대한 지원과 같은 여러 추가 수단이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감축수단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정책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이미 어느 정도 실행하고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만족스럽지는 못한 수준 이지만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아무런 조치를 취하지 않았을 때에 비해서는 상당량의 배출저감을 이룬 것으로 평가하고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3737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9257-138F-29D4-C340-E9F55D27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8B270-97D5-F00A-82EA-AE6A2C4F1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기후변화 대응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54CF4-10D4-F8AE-4002-03AB5B62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8AD3A-E38D-9BB3-C7A0-0FBF353BFC9A}"/>
              </a:ext>
            </a:extLst>
          </p:cNvPr>
          <p:cNvSpPr txBox="1"/>
          <p:nvPr/>
        </p:nvSpPr>
        <p:spPr>
          <a:xfrm>
            <a:off x="678871" y="958844"/>
            <a:ext cx="1123349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감축활동은 여러 부문으로 나누어 살펴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크게 에너지부문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산업부문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도시부문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수송부문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여타 토지이용 부문 등으로 나누어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에너지부문은 전력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연료를 생산하고 공급하는 과정에서 발생하는 모든 활동을 포함하는 부문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발전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공급 등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에너지시스템을 전기화 </a:t>
            </a:r>
            <a:r>
              <a:rPr lang="ko-KR" altLang="en-US" sz="1600" spc="-50" dirty="0" err="1"/>
              <a:t>해야하며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전기화가 어려운 부문은 </a:t>
            </a:r>
            <a:r>
              <a:rPr lang="ko-KR" altLang="en-US" sz="1600" spc="-50" dirty="0" err="1"/>
              <a:t>바이오연료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수소 연료 등을 사용해야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사용된 화석연료는 </a:t>
            </a:r>
            <a:r>
              <a:rPr lang="en-US" altLang="ko-KR" sz="1600" spc="-50" dirty="0"/>
              <a:t>CCS (Carbon Capture and Storage) </a:t>
            </a:r>
            <a:r>
              <a:rPr lang="ko-KR" altLang="en-US" sz="1600" spc="-50" dirty="0"/>
              <a:t>기술을 적용해 탄소를 회수하고 저장해야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이미 배출된 탄소는 </a:t>
            </a:r>
            <a:r>
              <a:rPr lang="ko-KR" altLang="en-US" sz="1600" spc="-50" dirty="0" err="1"/>
              <a:t>직접공기포집</a:t>
            </a:r>
            <a:r>
              <a:rPr lang="en-US" altLang="ko-KR" sz="1600" spc="-50" dirty="0"/>
              <a:t>(DAC, Direct Air Capture) </a:t>
            </a:r>
            <a:r>
              <a:rPr lang="ko-KR" altLang="en-US" sz="1600" spc="-50" dirty="0"/>
              <a:t>기술을 통해 탄소를 직접 </a:t>
            </a:r>
            <a:r>
              <a:rPr lang="ko-KR" altLang="en-US" sz="1600" spc="-50" dirty="0" err="1"/>
              <a:t>흡수하고나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바이오매스를 활용하여 흡수 </a:t>
            </a:r>
            <a:r>
              <a:rPr lang="en-US" altLang="ko-KR" sz="1600" spc="-50" dirty="0"/>
              <a:t>(BECCS, </a:t>
            </a:r>
            <a:r>
              <a:rPr lang="en-US" altLang="ko-KR" sz="1600" spc="-50" dirty="0" err="1"/>
              <a:t>BioEnergy</a:t>
            </a:r>
            <a:r>
              <a:rPr lang="en-US" altLang="ko-KR" sz="1600" spc="-50" dirty="0"/>
              <a:t> with CCS)</a:t>
            </a:r>
            <a:r>
              <a:rPr lang="ko-KR" altLang="en-US" sz="1600" spc="-50" dirty="0"/>
              <a:t>하는 방식을 택해야 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산업부문은 공정 산업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 생산 등에서 원자재를 가공하거나 제품을 생산하는 활동을 포함하는 부문이다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제조업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원자재의 수요관리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효율성 증대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 순환체계 구축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신공정</a:t>
            </a:r>
            <a:r>
              <a:rPr lang="ko-KR" altLang="en-US" sz="1600" spc="-50" dirty="0"/>
              <a:t> 등의 도입을 통해 온실가스 배출을 줄여야 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건물부문은 주거 및 상업용 건물에서 난방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냉방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가전기기 등 일상적 에너지 소비 활동을 포함하는 부문이다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상가 등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 사용량을 줄이고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친환경적 도시로의 전환이 필요하다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탄소흡수와 저장 능력을 강화해야 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수송부문은 육상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철도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해상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항공에서 사람과 화물 이동을 위한 에너지 소비활동을 포함하는 부문이다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승용차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선박 등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친환경자동차 보급이 가장 큰 </a:t>
            </a:r>
            <a:r>
              <a:rPr lang="ko-KR" altLang="en-US" sz="1600" spc="-50" dirty="0" err="1"/>
              <a:t>저감수단이고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바이오연료의</a:t>
            </a:r>
            <a:r>
              <a:rPr lang="ko-KR" altLang="en-US" sz="1600" spc="-50" dirty="0"/>
              <a:t> 공급확대도 필요하다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토지이용부문은 작물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축산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토지전환 등 인간의 토지관리와 생산활동을 포함하는 부문이다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벌채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복원 등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음</a:t>
            </a:r>
            <a:r>
              <a:rPr lang="en-US" altLang="ko-KR" sz="1600" spc="-50" dirty="0"/>
              <a:t>(-)</a:t>
            </a:r>
            <a:r>
              <a:rPr lang="ko-KR" altLang="en-US" sz="1600" spc="-50" dirty="0"/>
              <a:t>의 배출을 달성하여 탄소중립에 기여하여야 한다</a:t>
            </a:r>
            <a:r>
              <a:rPr lang="en-US" altLang="ko-KR" sz="1600" spc="-50" dirty="0"/>
              <a:t>. </a:t>
            </a:r>
            <a:r>
              <a:rPr lang="ko-KR" altLang="en-US" sz="1600" spc="-50" dirty="0" err="1"/>
              <a:t>탄소흡수력을</a:t>
            </a:r>
            <a:r>
              <a:rPr lang="ko-KR" altLang="en-US" sz="1600" spc="-50" dirty="0"/>
              <a:t> 높이는 것이 필요하다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5152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A39E-4723-E9D3-4F62-094325180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1ADCE-C1C1-18D6-41E1-1665B25FA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기후변화 대응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874A6-C54F-524C-28F9-FB7118E5F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4C7C4-7B90-4F7D-B814-8AFE00151DED}"/>
              </a:ext>
            </a:extLst>
          </p:cNvPr>
          <p:cNvSpPr txBox="1"/>
          <p:nvPr/>
        </p:nvSpPr>
        <p:spPr>
          <a:xfrm>
            <a:off x="678871" y="958844"/>
            <a:ext cx="1123349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적응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적응은 이미 진행중인 기후위기에 대비하여</a:t>
            </a:r>
            <a:r>
              <a:rPr lang="en-US" altLang="ko-KR" sz="1600" dirty="0"/>
              <a:t>, </a:t>
            </a:r>
            <a:r>
              <a:rPr lang="ko-KR" altLang="en-US" sz="1600" dirty="0"/>
              <a:t>사회</a:t>
            </a:r>
            <a:r>
              <a:rPr lang="en-US" altLang="ko-KR" sz="1600" dirty="0"/>
              <a:t>·</a:t>
            </a:r>
            <a:r>
              <a:rPr lang="ko-KR" altLang="en-US" sz="1600" dirty="0"/>
              <a:t>경제</a:t>
            </a:r>
            <a:r>
              <a:rPr lang="en-US" altLang="ko-KR" sz="1600" dirty="0"/>
              <a:t>·</a:t>
            </a:r>
            <a:r>
              <a:rPr lang="ko-KR" altLang="en-US" sz="1600" dirty="0"/>
              <a:t>생태 시스템의 취약성을 줄이고 대응 능력을 높이는 것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기후위기를 유발하는 위해 요인으로는 생명 손실</a:t>
            </a:r>
            <a:r>
              <a:rPr lang="en-US" altLang="ko-KR" sz="1600" dirty="0"/>
              <a:t>, </a:t>
            </a:r>
            <a:r>
              <a:rPr lang="ko-KR" altLang="en-US" sz="1600" dirty="0"/>
              <a:t>부상</a:t>
            </a:r>
            <a:r>
              <a:rPr lang="en-US" altLang="ko-KR" sz="1600" dirty="0"/>
              <a:t>, </a:t>
            </a:r>
            <a:r>
              <a:rPr lang="ko-KR" altLang="en-US" sz="1600" dirty="0"/>
              <a:t>자산 피해</a:t>
            </a:r>
            <a:r>
              <a:rPr lang="en-US" altLang="ko-KR" sz="1600" dirty="0"/>
              <a:t>, </a:t>
            </a:r>
            <a:r>
              <a:rPr lang="ko-KR" altLang="en-US" sz="1600" dirty="0"/>
              <a:t>생산성 손실</a:t>
            </a:r>
            <a:r>
              <a:rPr lang="en-US" altLang="ko-KR" sz="1600" dirty="0"/>
              <a:t>, </a:t>
            </a:r>
            <a:r>
              <a:rPr lang="ko-KR" altLang="en-US" sz="1600" dirty="0"/>
              <a:t>생태계</a:t>
            </a:r>
            <a:r>
              <a:rPr lang="en-US" altLang="ko-KR" sz="1600" dirty="0"/>
              <a:t>, </a:t>
            </a:r>
            <a:r>
              <a:rPr lang="ko-KR" altLang="en-US" sz="1600" dirty="0"/>
              <a:t>환경자원 등에 미치는 물리적은 사건을 들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인류가 기후변화에 적응하기 위해서는 사회</a:t>
            </a:r>
            <a:r>
              <a:rPr lang="en-US" altLang="ko-KR" sz="1600" dirty="0"/>
              <a:t>, </a:t>
            </a:r>
            <a:r>
              <a:rPr lang="ko-KR" altLang="en-US" sz="1600" dirty="0"/>
              <a:t>경제</a:t>
            </a:r>
            <a:r>
              <a:rPr lang="en-US" altLang="ko-KR" sz="1600" dirty="0"/>
              <a:t>, </a:t>
            </a:r>
            <a:r>
              <a:rPr lang="ko-KR" altLang="en-US" sz="1600" dirty="0"/>
              <a:t>생태 시스템이 회복력</a:t>
            </a:r>
            <a:r>
              <a:rPr lang="en-US" altLang="ko-KR" sz="1600" dirty="0"/>
              <a:t>, </a:t>
            </a:r>
            <a:r>
              <a:rPr lang="ko-KR" altLang="en-US" sz="1600" dirty="0"/>
              <a:t>즉 기후위험 요인이 발생하고 증가하는 것에 대응할 수 있는 능력을 갖추도록 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토지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해양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생태계의 전환은 물 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농업용수 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식품의 가용성과 안정성 확보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지속가능한 숲 관리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육지부</a:t>
            </a:r>
            <a:r>
              <a:rPr lang="en-US" altLang="ko-KR" sz="1600" spc="-50" dirty="0"/>
              <a:t>·</a:t>
            </a:r>
            <a:r>
              <a:rPr lang="ko-KR" altLang="en-US" sz="1600" spc="-50" dirty="0" err="1"/>
              <a:t>담수부</a:t>
            </a:r>
            <a:r>
              <a:rPr lang="en-US" altLang="ko-KR" sz="1600" spc="-50" dirty="0"/>
              <a:t> ·</a:t>
            </a:r>
            <a:r>
              <a:rPr lang="ko-KR" altLang="en-US" sz="1600" spc="-50" dirty="0"/>
              <a:t>해양</a:t>
            </a:r>
            <a:r>
              <a:rPr lang="en-US" altLang="ko-KR" sz="1600" spc="-50" dirty="0"/>
              <a:t> ·</a:t>
            </a:r>
            <a:r>
              <a:rPr lang="ko-KR" altLang="en-US" sz="1600" spc="-50" dirty="0"/>
              <a:t>연안의 생태계 보존과 회복 등을 포함한다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홍수방지를 위한 조기경보시스템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및 제방 건설 습지와 하천 회복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농업의 수자원 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용수 저장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토양 습도관리와 관개시설 개선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도시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농촌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기초시설의 전환은 도시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농촌정주와</a:t>
            </a:r>
            <a:r>
              <a:rPr lang="ko-KR" altLang="en-US" sz="1600" spc="-50" dirty="0"/>
              <a:t> 기초시설 설계에 기후위기 문제를 반영해야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이상 모든 시스템의 전환과 함께 보건 시스템의 회복력 제고가 추진되어야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특히 취약계층을 우선 배려하는 방식으로 이루어져야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4609223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19047</TotalTime>
  <Words>5392</Words>
  <Application>Microsoft Office PowerPoint</Application>
  <PresentationFormat>와이드스크린</PresentationFormat>
  <Paragraphs>703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21  전 지구적 차원의 환경문제</vt:lpstr>
      <vt:lpstr>Section 1. 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Section 2. 오존층 파괴</vt:lpstr>
      <vt:lpstr>오존층 파괴의 원인과 피해</vt:lpstr>
      <vt:lpstr>오존층 보존을 위한 노력</vt:lpstr>
      <vt:lpstr>Section 3. 생물다양성</vt:lpstr>
      <vt:lpstr>생물다양성</vt:lpstr>
      <vt:lpstr>생물다양성을 보존하기 위한 조치</vt:lpstr>
      <vt:lpstr>Chapter 22  기후변화의 경제학</vt:lpstr>
      <vt:lpstr>Section 1. 지구온난화 과학</vt:lpstr>
      <vt:lpstr>온실가스와 기온, 기온상승의 영향</vt:lpstr>
      <vt:lpstr>온실효과</vt:lpstr>
      <vt:lpstr>온실효과</vt:lpstr>
      <vt:lpstr>기후변화의 영향</vt:lpstr>
      <vt:lpstr>미래 전망 및 Kaya 항등식</vt:lpstr>
      <vt:lpstr>미래 전망 및 Kaya 항등식</vt:lpstr>
      <vt:lpstr>미래 전망 및 Kaya 항등식</vt:lpstr>
      <vt:lpstr>요인분해 분석 (LMDI, Logarithmic Mean Divisia Index)</vt:lpstr>
      <vt:lpstr>요인분해 분석 (LMDI, Logarithmic Mean Divisia Index)</vt:lpstr>
      <vt:lpstr>공통사회경제경로 (SSP, Shared Socioeconomic Pathway)</vt:lpstr>
      <vt:lpstr>대표농도경로 (RCP, Representative Concentration Pathways)</vt:lpstr>
      <vt:lpstr>기후시스템 전망</vt:lpstr>
      <vt:lpstr>탄소예산</vt:lpstr>
      <vt:lpstr>탄소 배출저감 로드맵</vt:lpstr>
      <vt:lpstr>Section 2. 기후변화 대응</vt:lpstr>
      <vt:lpstr>기후변화 대응</vt:lpstr>
      <vt:lpstr>기후변화 대응</vt:lpstr>
      <vt:lpstr>기후변화 대응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720</cp:revision>
  <dcterms:created xsi:type="dcterms:W3CDTF">2025-07-05T05:15:23Z</dcterms:created>
  <dcterms:modified xsi:type="dcterms:W3CDTF">2025-11-30T22:23:44Z</dcterms:modified>
</cp:coreProperties>
</file>