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2"/>
  </p:notesMasterIdLst>
  <p:sldIdLst>
    <p:sldId id="375" r:id="rId2"/>
    <p:sldId id="399" r:id="rId3"/>
    <p:sldId id="405" r:id="rId4"/>
    <p:sldId id="393" r:id="rId5"/>
    <p:sldId id="408" r:id="rId6"/>
    <p:sldId id="407" r:id="rId7"/>
    <p:sldId id="401" r:id="rId8"/>
    <p:sldId id="394" r:id="rId9"/>
    <p:sldId id="409" r:id="rId10"/>
    <p:sldId id="410" r:id="rId11"/>
    <p:sldId id="413" r:id="rId12"/>
    <p:sldId id="414" r:id="rId13"/>
    <p:sldId id="415" r:id="rId14"/>
    <p:sldId id="416" r:id="rId15"/>
    <p:sldId id="417" r:id="rId16"/>
    <p:sldId id="419" r:id="rId17"/>
    <p:sldId id="432" r:id="rId18"/>
    <p:sldId id="418" r:id="rId19"/>
    <p:sldId id="420" r:id="rId20"/>
    <p:sldId id="422" r:id="rId21"/>
    <p:sldId id="423" r:id="rId22"/>
    <p:sldId id="424" r:id="rId23"/>
    <p:sldId id="425" r:id="rId24"/>
    <p:sldId id="426" r:id="rId25"/>
    <p:sldId id="427" r:id="rId26"/>
    <p:sldId id="428" r:id="rId27"/>
    <p:sldId id="429" r:id="rId28"/>
    <p:sldId id="430" r:id="rId29"/>
    <p:sldId id="431" r:id="rId30"/>
    <p:sldId id="364" r:id="rId3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9E9"/>
    <a:srgbClr val="E15F5F"/>
    <a:srgbClr val="F8F7FC"/>
    <a:srgbClr val="2D72BE"/>
    <a:srgbClr val="070B12"/>
    <a:srgbClr val="0047A0"/>
    <a:srgbClr val="E3605B"/>
    <a:srgbClr val="FFFFFF"/>
    <a:srgbClr val="FFFDFF"/>
    <a:srgbClr val="00AD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70235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9422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환경경제학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83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- 2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2200275" y="5144158"/>
            <a:ext cx="7791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Seungho Jeon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B262F-00A8-BD9A-4B85-FC963A1C1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0DDBCE2-DEA9-2DD4-5A59-4378A23AB1B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F995E1-B852-188D-F471-20EEC71CE0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F7CC3FA7-5A8C-F225-6150-5A49BD0560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800" b="1" i="0" spc="150" dirty="0"/>
              <a:t>Part 2</a:t>
            </a:r>
            <a:br>
              <a:rPr lang="en-US" altLang="ko-KR" sz="4800" b="1" i="0" spc="150" dirty="0"/>
            </a:br>
            <a:br>
              <a:rPr lang="en-US" altLang="ko-KR" sz="4800" b="1" i="0" spc="150" dirty="0"/>
            </a:br>
            <a:r>
              <a:rPr lang="ko-KR" altLang="en-US" sz="4800" b="1" i="0" spc="150" dirty="0"/>
              <a:t>환경문제의 경제적 분석 틀</a:t>
            </a:r>
            <a:endParaRPr lang="ko-KR" altLang="en-US" sz="4400" i="0" spc="150" dirty="0"/>
          </a:p>
        </p:txBody>
      </p:sp>
    </p:spTree>
    <p:extLst>
      <p:ext uri="{BB962C8B-B14F-4D97-AF65-F5344CB8AC3E}">
        <p14:creationId xmlns:p14="http://schemas.microsoft.com/office/powerpoint/2010/main" val="77394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3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수요</a:t>
            </a:r>
            <a:r>
              <a:rPr lang="en-US" altLang="ko-KR" sz="4000" b="1" i="0" spc="150" dirty="0"/>
              <a:t>, </a:t>
            </a:r>
            <a:r>
              <a:rPr lang="ko-KR" altLang="en-US" sz="4000" b="1" i="0" spc="150" dirty="0"/>
              <a:t>공급 및 시장균형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0EDC6-A7C1-936A-85EA-2657159BB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D98ECA-15DE-3B06-4432-AA56B5EAA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한계지불의사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74C9F8-3142-EA32-1471-0CDD93014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B1787F-AB1D-3DFA-462E-C052D4875F30}"/>
              </a:ext>
            </a:extLst>
          </p:cNvPr>
          <p:cNvSpPr txBox="1"/>
          <p:nvPr/>
        </p:nvSpPr>
        <p:spPr>
          <a:xfrm>
            <a:off x="678872" y="958844"/>
            <a:ext cx="10975831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지불의사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소비자가 재화나 서비스를 소비하는 대가로 지불할 의향이 있는 최대 금액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예시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아이스크림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 소비하는데</a:t>
            </a:r>
            <a:r>
              <a:rPr lang="en-US" altLang="ko-KR" sz="1600" spc="-50" dirty="0"/>
              <a:t>, 1,500</a:t>
            </a:r>
            <a:r>
              <a:rPr lang="ko-KR" altLang="en-US" sz="1600" spc="-50" dirty="0"/>
              <a:t>원을 지불할 의향이 있음</a:t>
            </a:r>
            <a:r>
              <a:rPr lang="en-US" altLang="ko-KR" sz="1600" spc="-5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한계지불의사 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수요곡선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)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소비자가 재화나 서비스의 추가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 소비에 지불할 의향이 있는 최대 금액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 번째 아이스크림에는 </a:t>
            </a:r>
            <a:r>
              <a:rPr lang="en-US" altLang="ko-KR" sz="1600" spc="-50" dirty="0"/>
              <a:t>1,000</a:t>
            </a:r>
            <a:r>
              <a:rPr lang="ko-KR" altLang="en-US" sz="1600" spc="-50" dirty="0"/>
              <a:t>원까지 낼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번째 아이스크림에는 </a:t>
            </a:r>
            <a:r>
              <a:rPr lang="en-US" altLang="ko-KR" sz="1600" spc="-50" dirty="0"/>
              <a:t>5,00</a:t>
            </a:r>
            <a:r>
              <a:rPr lang="ko-KR" altLang="en-US" sz="1600" spc="-50" dirty="0"/>
              <a:t>원 까지만 가능</a:t>
            </a:r>
            <a:endParaRPr lang="en-US" altLang="ko-KR" sz="1600" spc="-50" dirty="0"/>
          </a:p>
        </p:txBody>
      </p:sp>
      <p:pic>
        <p:nvPicPr>
          <p:cNvPr id="3" name="그림 2" descr="텍스트, 도표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35A357E-1FB0-B25A-0393-33BE54796B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7021" y="3299219"/>
            <a:ext cx="3071393" cy="3474874"/>
          </a:xfrm>
          <a:prstGeom prst="rect">
            <a:avLst/>
          </a:prstGeom>
        </p:spPr>
      </p:pic>
      <p:pic>
        <p:nvPicPr>
          <p:cNvPr id="9" name="그림 8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F0E407D-B0E8-1E41-267C-A9CB944D6D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254" y="3300093"/>
            <a:ext cx="3070621" cy="347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8034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611E5-1BD8-ECB4-42AF-7CCD7AE23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F90627-BBB4-597F-F85E-B857A59C9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시장수요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0AD2CB-71BD-A990-BA9A-C5CD82C9E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7D3152-979D-24D9-F462-3C9BE8A544BC}"/>
              </a:ext>
            </a:extLst>
          </p:cNvPr>
          <p:cNvSpPr txBox="1"/>
          <p:nvPr/>
        </p:nvSpPr>
        <p:spPr>
          <a:xfrm>
            <a:off x="678872" y="925288"/>
            <a:ext cx="10975831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시장수요 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수요곡선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)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재화나 서비스의 특정 가격 수준에서 시장 전체 소비자가 구매하려는 수량</a:t>
            </a:r>
            <a:endParaRPr lang="en-US" altLang="ko-KR" sz="1600" spc="-50" dirty="0"/>
          </a:p>
        </p:txBody>
      </p:sp>
      <p:pic>
        <p:nvPicPr>
          <p:cNvPr id="10" name="그림 9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A7FDF9E-9F40-B5D3-0114-41C860F91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064" y="1740103"/>
            <a:ext cx="10356209" cy="437032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638EA0E-32E5-5E6F-8D13-5F7F5BB62A3B}"/>
                  </a:ext>
                </a:extLst>
              </p:cNvPr>
              <p:cNvSpPr txBox="1"/>
              <p:nvPr/>
            </p:nvSpPr>
            <p:spPr>
              <a:xfrm>
                <a:off x="1415644" y="6098846"/>
                <a:ext cx="25800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=1000−200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638EA0E-32E5-5E6F-8D13-5F7F5BB62A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5644" y="6098846"/>
                <a:ext cx="2580065" cy="276999"/>
              </a:xfrm>
              <a:prstGeom prst="rect">
                <a:avLst/>
              </a:prstGeom>
              <a:blipFill>
                <a:blip r:embed="rId3"/>
                <a:stretch>
                  <a:fillRect l="-946" b="-3260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0D8A855-F1EA-D530-478D-6F27133211B3}"/>
                  </a:ext>
                </a:extLst>
              </p:cNvPr>
              <p:cNvSpPr txBox="1"/>
              <p:nvPr/>
            </p:nvSpPr>
            <p:spPr>
              <a:xfrm>
                <a:off x="4860662" y="6098846"/>
                <a:ext cx="27009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=1000−100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0D8A855-F1EA-D530-478D-6F27133211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0662" y="6098846"/>
                <a:ext cx="2700996" cy="276999"/>
              </a:xfrm>
              <a:prstGeom prst="rect">
                <a:avLst/>
              </a:prstGeom>
              <a:blipFill>
                <a:blip r:embed="rId4"/>
                <a:stretch>
                  <a:fillRect b="-3260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A949B6F-2398-7C39-E05E-F7A143ABA913}"/>
                  </a:ext>
                </a:extLst>
              </p:cNvPr>
              <p:cNvSpPr txBox="1"/>
              <p:nvPr/>
            </p:nvSpPr>
            <p:spPr>
              <a:xfrm>
                <a:off x="8220453" y="5978043"/>
                <a:ext cx="2862515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=1000−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1000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A949B6F-2398-7C39-E05E-F7A143ABA9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0453" y="5978043"/>
                <a:ext cx="2862515" cy="52046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49540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160B4-29A2-3652-0577-A23DD3ABB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F0F33D-1B4C-1326-DDF8-D96E298B8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편익과 소비자 잉여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8A30C0-5D7B-8599-4E14-A29A5FB00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887413-50C4-703C-4DE0-005BC4E4070D}"/>
              </a:ext>
            </a:extLst>
          </p:cNvPr>
          <p:cNvSpPr txBox="1"/>
          <p:nvPr/>
        </p:nvSpPr>
        <p:spPr>
          <a:xfrm>
            <a:off x="678872" y="1038536"/>
            <a:ext cx="10975831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편익과 소비자 잉여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편익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재화나 서비스를 소비함으로써 얻는 만족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효용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화폐가치로 환산한 것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소비자잉여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소비자의 지불의사와 실제 지불한 금액의 차이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편익</a:t>
            </a:r>
            <a:r>
              <a:rPr lang="en-US" altLang="ko-KR" sz="1600" spc="-50" dirty="0"/>
              <a:t> – </a:t>
            </a:r>
            <a:r>
              <a:rPr lang="ko-KR" altLang="en-US" sz="1600" spc="-50" dirty="0"/>
              <a:t>비용</a:t>
            </a:r>
            <a:r>
              <a:rPr lang="en-US" altLang="ko-KR" sz="1600" spc="-50" dirty="0"/>
              <a:t>)</a:t>
            </a:r>
          </a:p>
        </p:txBody>
      </p:sp>
      <p:pic>
        <p:nvPicPr>
          <p:cNvPr id="14" name="그림 13" descr="텍스트, 라인, 그래프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51CA457-A94D-376F-0218-25DF3D08D8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589" y="2186869"/>
            <a:ext cx="3915074" cy="442938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F4E83D4-0CF3-AE4E-9729-CFC6840843F4}"/>
              </a:ext>
            </a:extLst>
          </p:cNvPr>
          <p:cNvSpPr txBox="1"/>
          <p:nvPr/>
        </p:nvSpPr>
        <p:spPr>
          <a:xfrm>
            <a:off x="1586652" y="5571828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pc="-50" dirty="0"/>
              <a:t>b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061468-B9C1-0685-75FF-110944F1F02F}"/>
              </a:ext>
            </a:extLst>
          </p:cNvPr>
          <p:cNvSpPr txBox="1"/>
          <p:nvPr/>
        </p:nvSpPr>
        <p:spPr>
          <a:xfrm>
            <a:off x="1989323" y="5571828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pc="-50" dirty="0"/>
              <a:t>c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24CC795-8814-68E8-BC0B-35662A60629D}"/>
              </a:ext>
            </a:extLst>
          </p:cNvPr>
          <p:cNvSpPr txBox="1"/>
          <p:nvPr/>
        </p:nvSpPr>
        <p:spPr>
          <a:xfrm>
            <a:off x="1586652" y="4351230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pc="-50" dirty="0"/>
              <a:t>a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0886E55-7326-B11E-F291-8EACE80B9F6A}"/>
              </a:ext>
            </a:extLst>
          </p:cNvPr>
          <p:cNvSpPr txBox="1"/>
          <p:nvPr/>
        </p:nvSpPr>
        <p:spPr>
          <a:xfrm>
            <a:off x="1989323" y="4351230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EFC06F5-7A76-0E2E-A702-29C8D384C45C}"/>
              </a:ext>
            </a:extLst>
          </p:cNvPr>
          <p:cNvSpPr txBox="1"/>
          <p:nvPr/>
        </p:nvSpPr>
        <p:spPr>
          <a:xfrm>
            <a:off x="4992959" y="3194553"/>
            <a:ext cx="1439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18DE0E1-30C3-948C-435D-133574AD814E}"/>
                  </a:ext>
                </a:extLst>
              </p:cNvPr>
              <p:cNvSpPr txBox="1"/>
              <p:nvPr/>
            </p:nvSpPr>
            <p:spPr>
              <a:xfrm>
                <a:off x="4862658" y="3098170"/>
                <a:ext cx="6605180" cy="115268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92075">
                  <a:lnSpc>
                    <a:spcPct val="150000"/>
                  </a:lnSpc>
                </a:pPr>
                <a:r>
                  <a:rPr lang="ko-KR" altLang="en-US" sz="1600" dirty="0"/>
                  <a:t>소비자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의 수요함수가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=1000−100</m:t>
                    </m:r>
                    <m:r>
                      <a:rPr lang="en-US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ko-KR" altLang="en-US" sz="1600" dirty="0"/>
                  <a:t> 일 때</a:t>
                </a:r>
                <a:r>
                  <a:rPr lang="en-US" altLang="ko-KR" sz="1600" dirty="0"/>
                  <a:t>,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소비자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가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단위의 재화를 소비할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얻는 편익과 소비자 잉여는</a:t>
                </a:r>
                <a:r>
                  <a:rPr lang="en-US" altLang="ko-KR" sz="1600" spc="-50" dirty="0"/>
                  <a:t>?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소비자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가 </a:t>
                </a:r>
                <a:r>
                  <a:rPr lang="en-US" altLang="ko-KR" sz="1600" spc="-50" dirty="0"/>
                  <a:t>4</a:t>
                </a:r>
                <a:r>
                  <a:rPr lang="ko-KR" altLang="en-US" sz="1600" spc="-50" dirty="0"/>
                  <a:t>단위의 재화를 소비할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얻는 편익과 소비자 잉여는</a:t>
                </a:r>
                <a:r>
                  <a:rPr lang="en-US" altLang="ko-KR" sz="1600" spc="-50" dirty="0"/>
                  <a:t>?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18DE0E1-30C3-948C-435D-133574AD81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2658" y="3098170"/>
                <a:ext cx="6605180" cy="1152688"/>
              </a:xfrm>
              <a:prstGeom prst="rect">
                <a:avLst/>
              </a:prstGeom>
              <a:blipFill>
                <a:blip r:embed="rId3"/>
                <a:stretch>
                  <a:fillRect b="-582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03157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D0682-B3D6-07F6-8C2C-131A0CB2E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9D7111-D5AC-A640-38F9-7FE3DE73C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비용이란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1D6A22-A934-2192-5506-54E9BABEA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517AE2-04EC-28CA-B2D9-75E553220470}"/>
              </a:ext>
            </a:extLst>
          </p:cNvPr>
          <p:cNvSpPr txBox="1"/>
          <p:nvPr/>
        </p:nvSpPr>
        <p:spPr>
          <a:xfrm>
            <a:off x="678872" y="1038536"/>
            <a:ext cx="10975831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회계비용과 기회비용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회계비용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회계사가 자산과 부채를 평가하여 대차대조표를 만들 때 비용으로 인정하는 항목들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임금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원료비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토지 임대료 등 경제주체가 지불한 직접비용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기회비용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어떤 생산요소가 현재의 용도로 이용되지 않고 다른 용도로 이용되었을 때 얻을 수 있는 최대한의 수익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공장에서 제품 생산 및 판매를 통한 사업수익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공장 임대를 통한 임대수익</a:t>
            </a:r>
            <a:endParaRPr lang="en-US" altLang="ko-KR" sz="1600" spc="-50" dirty="0"/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사적비용과 사회적비용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사적비용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경제행위의 결과로 발생한 비용 가운데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해당 경제주체 행위자에게만 귀속되는 비용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석탄발전 사업자가 부담하는 인건비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연료비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자본비용 등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사회적비용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경제행위에 따른 모든 비용으로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해당 경제주체 뿐 아니라 다른 경제주체에게도 귀속되는 비용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석탄발전 가동으로 인해 주변 주민들이 건강악화로 인해 지불하는 비용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989594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F3B0D-93FF-06EF-34CE-88C5A248C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한계비용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BB5303-A094-198A-BCF4-122D57225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pic>
        <p:nvPicPr>
          <p:cNvPr id="10" name="그림 9" descr="텍스트, 스크린샷, 도표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EEC3AA4-1BEA-3952-6C58-E17C3F61C0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308" y="3220103"/>
            <a:ext cx="3070621" cy="3474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4116BFD-0DDD-1BCF-4DF3-1176E296AE40}"/>
              </a:ext>
            </a:extLst>
          </p:cNvPr>
          <p:cNvSpPr txBox="1"/>
          <p:nvPr/>
        </p:nvSpPr>
        <p:spPr>
          <a:xfrm>
            <a:off x="678872" y="958844"/>
            <a:ext cx="10975831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비용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생산자가 재화나 서비스를 공급하는데 지불하는 비용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예시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아이스크림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 생산하는데</a:t>
            </a:r>
            <a:r>
              <a:rPr lang="en-US" altLang="ko-KR" sz="1600" spc="-50" dirty="0"/>
              <a:t> 150</a:t>
            </a:r>
            <a:r>
              <a:rPr lang="ko-KR" altLang="en-US" sz="1600" spc="-50" dirty="0"/>
              <a:t>원의 비용을 지불해야 함</a:t>
            </a: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한계비용 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공급곡선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)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생산자가 재화나 서비스의 추가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 생산에 대해 지불해야 하는 추가 비용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 번째 아이스크림 생산에는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원을 지불해야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번째 아이스크림은 </a:t>
            </a:r>
            <a:r>
              <a:rPr lang="en-US" altLang="ko-KR" sz="1600" spc="-50" dirty="0"/>
              <a:t>100</a:t>
            </a:r>
            <a:r>
              <a:rPr lang="ko-KR" altLang="en-US" sz="1600" spc="-50" dirty="0"/>
              <a:t>원을 지불해야 생산가능</a:t>
            </a:r>
            <a:endParaRPr lang="en-US" altLang="ko-KR" sz="1600" spc="-50" dirty="0"/>
          </a:p>
        </p:txBody>
      </p:sp>
      <p:pic>
        <p:nvPicPr>
          <p:cNvPr id="17" name="그림 16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7BF3822-974A-2BBF-E5E9-53A67BBC8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5929" y="3220103"/>
            <a:ext cx="3070621" cy="347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7332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70E7F1-C39D-A8FC-E26E-89CD9DC4F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한계비용곡선의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CA9D2A-3C73-2E54-A0F5-EBAE05353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5A8A1F-BA6C-6DC3-A702-87D9EB380F47}"/>
              </a:ext>
            </a:extLst>
          </p:cNvPr>
          <p:cNvSpPr txBox="1"/>
          <p:nvPr/>
        </p:nvSpPr>
        <p:spPr>
          <a:xfrm>
            <a:off x="678872" y="958844"/>
            <a:ext cx="10975831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한계비용곡선의 형태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(a) </a:t>
            </a:r>
            <a:r>
              <a:rPr lang="ko-KR" altLang="en-US" sz="1600" spc="-50" dirty="0"/>
              <a:t>경제학에서 가장 일반적으로 받아들이는 형태의 한계비용곡선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(b)</a:t>
            </a:r>
            <a:r>
              <a:rPr lang="ko-KR" altLang="en-US" sz="1600" spc="-50" dirty="0"/>
              <a:t> 장기 한계비용곡선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(c) </a:t>
            </a:r>
            <a:r>
              <a:rPr lang="ko-KR" altLang="en-US" sz="1600" spc="-50" dirty="0"/>
              <a:t>비연속적인 형태의 한계비용곡선</a:t>
            </a:r>
            <a:endParaRPr lang="en-US" altLang="ko-KR" sz="1600" spc="-50" dirty="0"/>
          </a:p>
        </p:txBody>
      </p:sp>
      <p:pic>
        <p:nvPicPr>
          <p:cNvPr id="8" name="그림 7" descr="텍스트, 도표, 그래프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8E1E46A-4A49-C952-E4FD-68607D2B82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625" y="2656106"/>
            <a:ext cx="10182225" cy="3955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23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2D58C-AA79-E1C7-BAD8-4A3D0F507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6AA93F-F303-9BDF-920C-7107CDBEA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시장공급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0522B6-9FFF-BA47-B690-5E3EC6DFB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F0549A-92AD-773A-8475-34F8498DFC01}"/>
              </a:ext>
            </a:extLst>
          </p:cNvPr>
          <p:cNvSpPr txBox="1"/>
          <p:nvPr/>
        </p:nvSpPr>
        <p:spPr>
          <a:xfrm>
            <a:off x="678872" y="925288"/>
            <a:ext cx="10975831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시장공급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재화나 서비스의 특정 가격 수준에서 시장 전체 생산자가 공급하려는 수량</a:t>
            </a:r>
            <a:endParaRPr lang="en-US" altLang="ko-KR" sz="1600" spc="-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0767988-FE78-0FC6-0BB7-5F89212BCA13}"/>
                  </a:ext>
                </a:extLst>
              </p:cNvPr>
              <p:cNvSpPr txBox="1"/>
              <p:nvPr/>
            </p:nvSpPr>
            <p:spPr>
              <a:xfrm>
                <a:off x="1415644" y="6194096"/>
                <a:ext cx="245182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=200+200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0767988-FE78-0FC6-0BB7-5F89212BCA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5644" y="6194096"/>
                <a:ext cx="2451825" cy="276999"/>
              </a:xfrm>
              <a:prstGeom prst="rect">
                <a:avLst/>
              </a:prstGeom>
              <a:blipFill>
                <a:blip r:embed="rId2"/>
                <a:stretch>
                  <a:fillRect l="-995" b="-3260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4B4EE62-D56C-F16D-B941-32EFC15BB549}"/>
                  </a:ext>
                </a:extLst>
              </p:cNvPr>
              <p:cNvSpPr txBox="1"/>
              <p:nvPr/>
            </p:nvSpPr>
            <p:spPr>
              <a:xfrm>
                <a:off x="4860662" y="6194096"/>
                <a:ext cx="234391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=200+50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4B4EE62-D56C-F16D-B941-32EFC15BB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0662" y="6194096"/>
                <a:ext cx="2343911" cy="276999"/>
              </a:xfrm>
              <a:prstGeom prst="rect">
                <a:avLst/>
              </a:prstGeom>
              <a:blipFill>
                <a:blip r:embed="rId3"/>
                <a:stretch>
                  <a:fillRect l="-1299" b="-3260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9A80626-194A-4CF8-80BC-8C89D00FD3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253" y="1657963"/>
            <a:ext cx="10356398" cy="43704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8CA8D93-0BB9-F3F3-2F81-6EE71E8D4916}"/>
                  </a:ext>
                </a:extLst>
              </p:cNvPr>
              <p:cNvSpPr txBox="1"/>
              <p:nvPr/>
            </p:nvSpPr>
            <p:spPr>
              <a:xfrm>
                <a:off x="8330845" y="6194096"/>
                <a:ext cx="241046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=200+40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8CA8D93-0BB9-F3F3-2F81-6EE71E8D49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0845" y="6194096"/>
                <a:ext cx="2410468" cy="276999"/>
              </a:xfrm>
              <a:prstGeom prst="rect">
                <a:avLst/>
              </a:prstGeom>
              <a:blipFill>
                <a:blip r:embed="rId5"/>
                <a:stretch>
                  <a:fillRect l="-1266" b="-3260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940859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48878-A4D9-986D-1BAF-DE6D27984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 descr="텍스트, 라인, 도표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7E2EBD0-163A-1D86-04B4-CB29F9D3B3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598" y="2176849"/>
            <a:ext cx="3913848" cy="4428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5BF9A76-6926-4D99-9DE3-60B252889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편익과 생산자 잉여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E4ED0D-6E2E-299A-D10D-1C338AF3F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7A8E9-F64D-F683-0C39-FEE4656C1705}"/>
              </a:ext>
            </a:extLst>
          </p:cNvPr>
          <p:cNvSpPr txBox="1"/>
          <p:nvPr/>
        </p:nvSpPr>
        <p:spPr>
          <a:xfrm>
            <a:off x="678872" y="1043616"/>
            <a:ext cx="10975831" cy="11929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생산자 잉여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편익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재화나 서비스를 공급함으로써 얻은 편익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수입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생산자잉여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공급자의 수입과 지불한 비용의 차이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편익</a:t>
            </a:r>
            <a:r>
              <a:rPr lang="en-US" altLang="ko-KR" sz="1600" spc="-50" dirty="0"/>
              <a:t> – </a:t>
            </a:r>
            <a:r>
              <a:rPr lang="ko-KR" altLang="en-US" sz="1600" spc="-50" dirty="0"/>
              <a:t>비용</a:t>
            </a:r>
            <a:r>
              <a:rPr lang="en-US" altLang="ko-KR" sz="1600" spc="-50" dirty="0"/>
              <a:t>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558A20-97AA-3DAA-82A2-F81CD4DBC2C8}"/>
              </a:ext>
            </a:extLst>
          </p:cNvPr>
          <p:cNvSpPr txBox="1"/>
          <p:nvPr/>
        </p:nvSpPr>
        <p:spPr>
          <a:xfrm>
            <a:off x="1671419" y="4192988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pc="-50" dirty="0"/>
              <a:t>b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D58ABF-108D-274B-2715-87DBADEC5DEF}"/>
              </a:ext>
            </a:extLst>
          </p:cNvPr>
          <p:cNvSpPr txBox="1"/>
          <p:nvPr/>
        </p:nvSpPr>
        <p:spPr>
          <a:xfrm>
            <a:off x="1835572" y="5329774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pc="-50" dirty="0"/>
              <a:t>a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A5F5607-BF8F-417A-32AF-88EF64156E3E}"/>
              </a:ext>
            </a:extLst>
          </p:cNvPr>
          <p:cNvSpPr txBox="1"/>
          <p:nvPr/>
        </p:nvSpPr>
        <p:spPr>
          <a:xfrm>
            <a:off x="4992959" y="3194553"/>
            <a:ext cx="1439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309CD4-AE44-ADAD-8A85-1B140EE594C7}"/>
                  </a:ext>
                </a:extLst>
              </p:cNvPr>
              <p:cNvSpPr txBox="1"/>
              <p:nvPr/>
            </p:nvSpPr>
            <p:spPr>
              <a:xfrm>
                <a:off x="4862658" y="3098170"/>
                <a:ext cx="6605180" cy="115268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92075">
                  <a:lnSpc>
                    <a:spcPct val="150000"/>
                  </a:lnSpc>
                </a:pPr>
                <a:r>
                  <a:rPr lang="ko-KR" altLang="en-US" sz="1600" dirty="0"/>
                  <a:t>공급자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의 공급함수가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00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+2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00</m:t>
                    </m:r>
                    <m:r>
                      <a:rPr lang="en-US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 이고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시장가격이 </a:t>
                </a:r>
                <a:r>
                  <a:rPr lang="en-US" altLang="ko-KR" sz="1600" dirty="0"/>
                  <a:t>600</a:t>
                </a:r>
                <a:r>
                  <a:rPr lang="ko-KR" altLang="en-US" sz="1600" dirty="0"/>
                  <a:t>원으로 결정되어 있다고 하자</a:t>
                </a:r>
                <a:r>
                  <a:rPr lang="en-US" altLang="ko-KR" sz="1600" dirty="0"/>
                  <a:t>.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공급자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가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단위의 재화를 공급할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얻는 편익과 공급자 잉여는</a:t>
                </a:r>
                <a:r>
                  <a:rPr lang="en-US" altLang="ko-KR" sz="1600" spc="-50" dirty="0"/>
                  <a:t>?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309CD4-AE44-ADAD-8A85-1B140EE594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2658" y="3098170"/>
                <a:ext cx="6605180" cy="1152688"/>
              </a:xfrm>
              <a:prstGeom prst="rect">
                <a:avLst/>
              </a:prstGeom>
              <a:blipFill>
                <a:blip r:embed="rId3"/>
                <a:stretch>
                  <a:fillRect b="-582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62618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93B287-74C3-E7A1-176A-BE63C2202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시장균형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B310D9-CD30-E4E7-92AE-7A811CD39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pic>
        <p:nvPicPr>
          <p:cNvPr id="13" name="그림 12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D48241-B9E6-68A4-5C9E-A99938C017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504" y="861661"/>
            <a:ext cx="5094334" cy="576356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2DA4F83-7AE1-5F9C-8D4F-AC5FC3682008}"/>
              </a:ext>
            </a:extLst>
          </p:cNvPr>
          <p:cNvSpPr txBox="1"/>
          <p:nvPr/>
        </p:nvSpPr>
        <p:spPr>
          <a:xfrm>
            <a:off x="678872" y="1038536"/>
            <a:ext cx="509433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시장균형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수요량과 공급량이 일치하는 상태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이때의 가격을 균형가격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이때의 수량을 균형거래량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시장 메커니즘이 작동하면서 가격은 자연스럽게 조정되어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 균형점에 수렴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균형가격 이하에서는 초과 수요 발생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균형가격 이상에서는 초과 공급 발생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7867371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9A4AD-02D7-0B9C-E8D1-E4F2D7389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350FDB-0E00-86CB-7E87-99DD816E413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FC8925-BCAF-F2E1-7C39-4436F03A7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774BEC3-6799-368D-5EE6-92EA60B9C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4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자원환경 이용에 있어 시장의 실패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8730311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F2399-5788-E74B-5361-EE2B3FD68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2B01FE-46B7-EA74-DC09-87F917E04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03EA2D-F4A0-4D5F-3A9A-6FA2AC811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F2426D-C31F-AFC8-B56C-C1FC23808E47}"/>
              </a:ext>
            </a:extLst>
          </p:cNvPr>
          <p:cNvSpPr txBox="1"/>
          <p:nvPr/>
        </p:nvSpPr>
        <p:spPr>
          <a:xfrm>
            <a:off x="678872" y="1038536"/>
            <a:ext cx="11259128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완전경쟁시장 메커니즘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재화나 서비스의 자유로운 거래가 가능한 완전경쟁시장에서는 </a:t>
            </a:r>
            <a:r>
              <a:rPr lang="ko-KR" altLang="en-US" sz="1600" spc="-50" dirty="0" err="1"/>
              <a:t>시장메커니즘에</a:t>
            </a:r>
            <a:r>
              <a:rPr lang="ko-KR" altLang="en-US" sz="1600" spc="-50" dirty="0"/>
              <a:t> 의해 자원의 가장 효율적인 배분이 가능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개인들이 자신만의 목적을 달성하기 위해 행동할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 전체의 순편익이 최대가 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사적 편익이 사회적 편익과 일치하고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사적 비용도 사회적 비용과 일치함</a:t>
            </a: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효율적인 자원배분을 위한 조건들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시장이 </a:t>
            </a:r>
            <a:r>
              <a:rPr lang="ko-KR" altLang="en-US" sz="1600" spc="-50" dirty="0" err="1"/>
              <a:t>완전경쟁적이어야</a:t>
            </a:r>
            <a:r>
              <a:rPr lang="ko-KR" altLang="en-US" sz="1600" spc="-50" dirty="0"/>
              <a:t> 함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시장에 대한 완전한 정보가 개인에게 알려져 있어야 함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u="sng" spc="-50" dirty="0"/>
              <a:t>시장에서 거래되는 재화나 서비스의 소유권이 완전하게 설정되어 있어야 함</a:t>
            </a:r>
            <a:r>
              <a:rPr lang="en-US" altLang="ko-KR" sz="1600" b="1" u="sng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C102ED2-1F04-07B7-F755-4FE46A7843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7952595"/>
              </p:ext>
            </p:extLst>
          </p:nvPr>
        </p:nvGraphicFramePr>
        <p:xfrm>
          <a:off x="767772" y="5048467"/>
          <a:ext cx="10394950" cy="1203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8685">
                  <a:extLst>
                    <a:ext uri="{9D8B030D-6E8A-4147-A177-3AD203B41FA5}">
                      <a16:colId xmlns:a16="http://schemas.microsoft.com/office/drawing/2014/main" val="4111635576"/>
                    </a:ext>
                  </a:extLst>
                </a:gridCol>
                <a:gridCol w="6996265">
                  <a:extLst>
                    <a:ext uri="{9D8B030D-6E8A-4147-A177-3AD203B41FA5}">
                      <a16:colId xmlns:a16="http://schemas.microsoft.com/office/drawing/2014/main" val="2160743333"/>
                    </a:ext>
                  </a:extLst>
                </a:gridCol>
              </a:tblGrid>
              <a:tr h="24743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u="sng" kern="1200" dirty="0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소유권의 성질</a:t>
                      </a:r>
                      <a:endParaRPr lang="ko-KR" altLang="en-US" sz="1100" b="1" u="sng" dirty="0"/>
                    </a:p>
                  </a:txBody>
                  <a:tcPr marL="21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spcAft>
                          <a:spcPts val="500"/>
                        </a:spcAft>
                        <a:buFontTx/>
                        <a:buNone/>
                      </a:pPr>
                      <a:r>
                        <a:rPr lang="ko-KR" altLang="en-US" sz="1100" b="1" kern="1200" spc="0" baseline="0" dirty="0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의 미</a:t>
                      </a:r>
                      <a:endParaRPr lang="ko-KR" altLang="en-US" sz="1100" b="1" spc="0" baseline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9749017"/>
                  </a:ext>
                </a:extLst>
              </a:tr>
              <a:tr h="31855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u="sng" kern="1200" dirty="0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배타성</a:t>
                      </a:r>
                      <a:r>
                        <a:rPr lang="en-US" altLang="ko-KR" sz="1100" b="0" u="sng" kern="1200" dirty="0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(Exclusivity)</a:t>
                      </a:r>
                      <a:endParaRPr lang="ko-KR" altLang="en-US" sz="1100" b="0" u="sng" dirty="0"/>
                    </a:p>
                  </a:txBody>
                  <a:tcPr marL="21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5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spc="0" baseline="0" dirty="0"/>
                        <a:t>자원을 소유하고 이용함에 따라 발생하는 모든 편익과 비용은 그 자원의 소유주에게 귀속되고</a:t>
                      </a:r>
                      <a:r>
                        <a:rPr lang="en-US" altLang="ko-KR" sz="1100" b="0" spc="0" baseline="0" dirty="0"/>
                        <a:t>, </a:t>
                      </a:r>
                      <a:r>
                        <a:rPr lang="ko-KR" altLang="en-US" sz="1100" b="0" spc="0" baseline="0" dirty="0"/>
                        <a:t>또한 자원의 소유주만이 그러한 편익을 누리거나 비용을 부담함</a:t>
                      </a:r>
                      <a:endParaRPr lang="en-US" altLang="ko-KR" sz="1100" b="0" spc="0" baseline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350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u="sng" kern="1200" dirty="0" err="1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이전성</a:t>
                      </a:r>
                      <a:r>
                        <a:rPr lang="en-US" altLang="ko-KR" sz="1100" b="0" u="sng" kern="1200" dirty="0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(Transferability)</a:t>
                      </a:r>
                      <a:endParaRPr lang="ko-KR" altLang="en-US" sz="1100" b="0" u="sng" dirty="0"/>
                    </a:p>
                  </a:txBody>
                  <a:tcPr marL="21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5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spc="0" baseline="0" dirty="0"/>
                        <a:t>모든 소유권은 자발전인 거래를 통해 다른 사람에게 이전될 수 있어야 함</a:t>
                      </a:r>
                      <a:endParaRPr lang="en-US" altLang="ko-KR" sz="1100" b="0" spc="0" baseline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7325171"/>
                  </a:ext>
                </a:extLst>
              </a:tr>
              <a:tr h="1955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u="sng" kern="1200" dirty="0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실행가능성</a:t>
                      </a:r>
                      <a:r>
                        <a:rPr lang="en-US" altLang="ko-KR" sz="1100" b="0" u="sng" kern="1200" dirty="0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(Enforceability)</a:t>
                      </a:r>
                      <a:endParaRPr lang="ko-KR" altLang="en-US" sz="1100" b="0" u="sng" dirty="0"/>
                    </a:p>
                  </a:txBody>
                  <a:tcPr marL="21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5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spc="0" baseline="0" dirty="0"/>
                        <a:t>자신이 보유한 소유권은 자신이 원하지 않을 경우 다른 사람에 의해 침해되지 않음</a:t>
                      </a:r>
                      <a:endParaRPr lang="en-US" altLang="ko-KR" sz="1100" b="0" spc="0" baseline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19608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BE41EDC-24EB-75AC-5A5D-BA830CA49812}"/>
              </a:ext>
            </a:extLst>
          </p:cNvPr>
          <p:cNvSpPr txBox="1"/>
          <p:nvPr/>
        </p:nvSpPr>
        <p:spPr>
          <a:xfrm>
            <a:off x="6509442" y="6276330"/>
            <a:ext cx="4659630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600" dirty="0"/>
              <a:t>Source:</a:t>
            </a:r>
            <a:r>
              <a:rPr lang="ko-KR" altLang="en-US" sz="600" dirty="0"/>
              <a:t> </a:t>
            </a:r>
            <a:r>
              <a:rPr lang="en-US" altLang="ko-KR" sz="600" dirty="0" err="1"/>
              <a:t>Tietenberg</a:t>
            </a:r>
            <a:r>
              <a:rPr lang="en-US" altLang="ko-KR" sz="600" dirty="0"/>
              <a:t>, T. (2005) Environmental and Natural Resource Economics, 7th ed., Harper and Collins</a:t>
            </a:r>
            <a:endParaRPr lang="ko-KR" altLang="en-US" sz="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91FF8F-F3BE-FFDC-4033-99191A3E74E4}"/>
              </a:ext>
            </a:extLst>
          </p:cNvPr>
          <p:cNvSpPr txBox="1"/>
          <p:nvPr/>
        </p:nvSpPr>
        <p:spPr>
          <a:xfrm>
            <a:off x="2425700" y="4621846"/>
            <a:ext cx="6134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b="1" spc="-50" dirty="0"/>
              <a:t>&lt; </a:t>
            </a:r>
            <a:r>
              <a:rPr lang="ko-KR" altLang="en-US" sz="1800" b="1" spc="-50" dirty="0"/>
              <a:t>효율적인 소유권 </a:t>
            </a:r>
            <a:r>
              <a:rPr lang="en-US" altLang="ko-KR" sz="1800" b="1" spc="-50" dirty="0"/>
              <a:t>&gt;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156561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F851D-4107-4D0F-CC76-0984B0C3E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328135-DDA2-3657-AFE6-DCDFD241D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재화의 종류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4CD697D-4B53-F1CD-BF75-640761228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E315CAFC-34D0-F0C5-642A-6B9F117AEB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1042850"/>
              </p:ext>
            </p:extLst>
          </p:nvPr>
        </p:nvGraphicFramePr>
        <p:xfrm>
          <a:off x="3076218" y="3563857"/>
          <a:ext cx="6039564" cy="257813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3019782">
                  <a:extLst>
                    <a:ext uri="{9D8B030D-6E8A-4147-A177-3AD203B41FA5}">
                      <a16:colId xmlns:a16="http://schemas.microsoft.com/office/drawing/2014/main" val="4016159992"/>
                    </a:ext>
                  </a:extLst>
                </a:gridCol>
                <a:gridCol w="3019782">
                  <a:extLst>
                    <a:ext uri="{9D8B030D-6E8A-4147-A177-3AD203B41FA5}">
                      <a16:colId xmlns:a16="http://schemas.microsoft.com/office/drawing/2014/main" val="3502439075"/>
                    </a:ext>
                  </a:extLst>
                </a:gridCol>
              </a:tblGrid>
              <a:tr h="104360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kern="1200" spc="-50" dirty="0" err="1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</a:rPr>
                        <a:t>사유재</a:t>
                      </a:r>
                      <a:endParaRPr lang="en-US" altLang="ko-KR" sz="1600" b="1" kern="1200" spc="-50" dirty="0">
                        <a:ln w="3175">
                          <a:noFill/>
                        </a:ln>
                        <a:solidFill>
                          <a:schemeClr val="dk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1" kern="1200" spc="-50" dirty="0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</a:rPr>
                        <a:t>(Private Goods)</a:t>
                      </a:r>
                    </a:p>
                    <a:p>
                      <a:pPr marL="742950" marR="0" lvl="1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400" b="1" spc="-50" dirty="0">
                          <a:ln w="3175">
                            <a:noFill/>
                          </a:ln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latin typeface="+mn-ea"/>
                          <a:ea typeface="+mn-ea"/>
                        </a:rPr>
                        <a:t>아이스크림</a:t>
                      </a:r>
                      <a:endParaRPr lang="en-US" altLang="ko-KR" sz="1400" b="1" spc="-50" dirty="0">
                        <a:ln w="3175">
                          <a:noFill/>
                        </a:ln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latin typeface="+mn-ea"/>
                        <a:ea typeface="+mn-ea"/>
                      </a:endParaRPr>
                    </a:p>
                    <a:p>
                      <a:pPr marL="742950" marR="0" lvl="1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400" b="1" spc="-50" dirty="0">
                          <a:ln w="3175">
                            <a:noFill/>
                          </a:ln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latin typeface="+mn-ea"/>
                          <a:ea typeface="+mn-ea"/>
                        </a:rPr>
                        <a:t>집</a:t>
                      </a:r>
                    </a:p>
                  </a:txBody>
                  <a:tcPr marL="184165" marR="184165" marT="92083" marB="92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spc="-50" dirty="0" err="1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비순수</a:t>
                      </a:r>
                      <a:r>
                        <a:rPr lang="ko-KR" altLang="en-US" sz="1600" b="1" spc="-50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공공재</a:t>
                      </a:r>
                      <a:endParaRPr lang="en-US" altLang="ko-KR" sz="1600" b="1" spc="-50" dirty="0">
                        <a:ln w="3175"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1" spc="-50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(Club goods)</a:t>
                      </a:r>
                    </a:p>
                    <a:p>
                      <a:pPr marL="742950" marR="0" lvl="1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1400" b="1" spc="-50" dirty="0">
                          <a:ln w="3175">
                            <a:noFill/>
                          </a:ln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latin typeface="+mn-ea"/>
                          <a:ea typeface="+mn-ea"/>
                        </a:rPr>
                        <a:t>OTT (</a:t>
                      </a:r>
                      <a:r>
                        <a:rPr lang="ko-KR" altLang="en-US" sz="1400" b="1" spc="-50" dirty="0" err="1">
                          <a:ln w="3175">
                            <a:noFill/>
                          </a:ln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latin typeface="+mn-ea"/>
                          <a:ea typeface="+mn-ea"/>
                        </a:rPr>
                        <a:t>넷플릭스</a:t>
                      </a:r>
                      <a:r>
                        <a:rPr lang="en-US" altLang="ko-KR" sz="1400" b="1" spc="-50" dirty="0">
                          <a:ln w="3175">
                            <a:noFill/>
                          </a:ln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742950" marR="0" lvl="1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400" b="1" spc="-50" dirty="0">
                          <a:ln w="3175">
                            <a:noFill/>
                          </a:ln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latin typeface="+mn-ea"/>
                          <a:ea typeface="+mn-ea"/>
                        </a:rPr>
                        <a:t>한산한 유료 고속도로</a:t>
                      </a:r>
                    </a:p>
                  </a:txBody>
                  <a:tcPr marL="184165" marR="184165" marT="92083" marB="92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555331"/>
                  </a:ext>
                </a:extLst>
              </a:tr>
              <a:tr h="104360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spc="-50" dirty="0" err="1">
                          <a:ln w="3175">
                            <a:noFill/>
                          </a:ln>
                          <a:latin typeface="+mn-ea"/>
                          <a:ea typeface="+mn-ea"/>
                        </a:rPr>
                        <a:t>비순수</a:t>
                      </a:r>
                      <a:r>
                        <a:rPr lang="ko-KR" altLang="en-US" sz="1600" b="1" spc="-50" dirty="0">
                          <a:ln w="3175">
                            <a:noFill/>
                          </a:ln>
                          <a:latin typeface="+mn-ea"/>
                          <a:ea typeface="+mn-ea"/>
                        </a:rPr>
                        <a:t> 공공재 </a:t>
                      </a:r>
                      <a:endParaRPr lang="en-US" altLang="ko-KR" sz="1600" b="1" spc="-50" dirty="0">
                        <a:ln w="3175">
                          <a:noFill/>
                        </a:ln>
                        <a:latin typeface="+mn-ea"/>
                        <a:ea typeface="+mn-ea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1" spc="-50" dirty="0">
                          <a:ln w="3175">
                            <a:noFill/>
                          </a:ln>
                          <a:latin typeface="+mn-ea"/>
                          <a:ea typeface="+mn-ea"/>
                        </a:rPr>
                        <a:t>(Common resources)</a:t>
                      </a:r>
                    </a:p>
                    <a:p>
                      <a:pPr marL="742950" marR="0" lvl="1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400" b="1" spc="-50" dirty="0">
                          <a:ln w="3175">
                            <a:noFill/>
                          </a:ln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latin typeface="+mn-ea"/>
                          <a:ea typeface="+mn-ea"/>
                        </a:rPr>
                        <a:t>바다 속 물고기</a:t>
                      </a:r>
                      <a:endParaRPr lang="en-US" altLang="ko-KR" sz="1400" b="1" spc="-50" dirty="0">
                        <a:ln w="3175">
                          <a:noFill/>
                        </a:ln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latin typeface="+mn-ea"/>
                        <a:ea typeface="+mn-ea"/>
                      </a:endParaRPr>
                    </a:p>
                    <a:p>
                      <a:pPr marL="742950" marR="0" lvl="1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400" b="1" spc="-50" dirty="0">
                          <a:ln w="3175">
                            <a:noFill/>
                          </a:ln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latin typeface="+mn-ea"/>
                          <a:ea typeface="+mn-ea"/>
                        </a:rPr>
                        <a:t>공원</a:t>
                      </a:r>
                    </a:p>
                  </a:txBody>
                  <a:tcPr marL="184165" marR="184165" marT="92083" marB="92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spc="-50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순수 공공재</a:t>
                      </a:r>
                      <a:endParaRPr lang="en-US" altLang="ko-KR" sz="1600" b="1" spc="-50" dirty="0">
                        <a:ln w="3175"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1" spc="-50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(Public goods)</a:t>
                      </a:r>
                    </a:p>
                    <a:p>
                      <a:pPr marL="742950" marR="0" lvl="1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400" b="1" spc="-50" dirty="0">
                          <a:ln w="3175">
                            <a:noFill/>
                          </a:ln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latin typeface="+mn-ea"/>
                          <a:ea typeface="+mn-ea"/>
                        </a:rPr>
                        <a:t>국방</a:t>
                      </a:r>
                      <a:r>
                        <a:rPr lang="en-US" altLang="ko-KR" sz="1400" b="1" spc="-50" dirty="0">
                          <a:ln w="3175">
                            <a:noFill/>
                          </a:ln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400" b="1" spc="-50" dirty="0">
                          <a:ln w="3175">
                            <a:noFill/>
                          </a:ln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latin typeface="+mn-ea"/>
                          <a:ea typeface="+mn-ea"/>
                        </a:rPr>
                        <a:t>및 치안</a:t>
                      </a:r>
                      <a:endParaRPr lang="en-US" altLang="ko-KR" sz="1400" b="1" spc="-50" dirty="0">
                        <a:ln w="3175">
                          <a:noFill/>
                        </a:ln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latin typeface="+mn-ea"/>
                        <a:ea typeface="+mn-ea"/>
                      </a:endParaRPr>
                    </a:p>
                    <a:p>
                      <a:pPr marL="742950" marR="0" lvl="1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400" b="1" spc="-50" dirty="0">
                          <a:ln w="3175">
                            <a:noFill/>
                          </a:ln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latin typeface="+mn-ea"/>
                          <a:ea typeface="+mn-ea"/>
                        </a:rPr>
                        <a:t>재난 경보</a:t>
                      </a:r>
                    </a:p>
                  </a:txBody>
                  <a:tcPr marL="184165" marR="184165" marT="92083" marB="92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107722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B3AD1F91-B25D-1B3E-3CBE-394BECFE1409}"/>
              </a:ext>
            </a:extLst>
          </p:cNvPr>
          <p:cNvSpPr txBox="1"/>
          <p:nvPr/>
        </p:nvSpPr>
        <p:spPr>
          <a:xfrm>
            <a:off x="5310106" y="2828317"/>
            <a:ext cx="15986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 latinLnBrk="1">
              <a:spcAft>
                <a:spcPts val="500"/>
              </a:spcAft>
              <a:buFontTx/>
              <a:buNone/>
            </a:pPr>
            <a:r>
              <a:rPr lang="ko-KR" altLang="en-US" sz="2400" spc="-50" dirty="0" err="1">
                <a:ln w="3175">
                  <a:noFill/>
                </a:ln>
                <a:solidFill>
                  <a:schemeClr val="dk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경합성</a:t>
            </a:r>
            <a:r>
              <a:rPr lang="en-US" altLang="ko-KR" sz="2400" spc="-50" dirty="0">
                <a:ln w="3175">
                  <a:noFill/>
                </a:ln>
                <a:solidFill>
                  <a:schemeClr val="dk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?</a:t>
            </a:r>
            <a:endParaRPr lang="en-US" altLang="ko-KR" sz="2400" b="0" kern="1200" spc="-50" dirty="0">
              <a:ln w="3175">
                <a:noFill/>
              </a:ln>
              <a:solidFill>
                <a:schemeClr val="dk1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41D017-1A9E-7A6D-CC78-2C95708C46F2}"/>
              </a:ext>
            </a:extLst>
          </p:cNvPr>
          <p:cNvSpPr txBox="1"/>
          <p:nvPr/>
        </p:nvSpPr>
        <p:spPr>
          <a:xfrm>
            <a:off x="4093964" y="3165692"/>
            <a:ext cx="101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 latinLnBrk="1">
              <a:spcAft>
                <a:spcPts val="500"/>
              </a:spcAft>
              <a:buFontTx/>
              <a:buNone/>
            </a:pPr>
            <a:r>
              <a:rPr lang="ko-KR" altLang="en-US" spc="-50" dirty="0">
                <a:ln w="3175">
                  <a:noFill/>
                </a:ln>
                <a:solidFill>
                  <a:schemeClr val="dk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있 음</a:t>
            </a:r>
            <a:endParaRPr lang="en-US" altLang="ko-KR" b="0" kern="1200" spc="-50" dirty="0">
              <a:ln w="3175">
                <a:noFill/>
              </a:ln>
              <a:solidFill>
                <a:schemeClr val="dk1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9FF820-E4C8-BEB9-24BA-4C86A7135D05}"/>
              </a:ext>
            </a:extLst>
          </p:cNvPr>
          <p:cNvSpPr txBox="1"/>
          <p:nvPr/>
        </p:nvSpPr>
        <p:spPr>
          <a:xfrm>
            <a:off x="7091164" y="3165692"/>
            <a:ext cx="101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 latinLnBrk="1">
              <a:spcAft>
                <a:spcPts val="500"/>
              </a:spcAft>
              <a:buFontTx/>
              <a:buNone/>
            </a:pPr>
            <a:r>
              <a:rPr lang="ko-KR" altLang="en-US" spc="-50" dirty="0" err="1">
                <a:ln w="3175">
                  <a:noFill/>
                </a:ln>
                <a:solidFill>
                  <a:schemeClr val="dk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없</a:t>
            </a:r>
            <a:r>
              <a:rPr lang="ko-KR" altLang="en-US" spc="-50" dirty="0">
                <a:ln w="3175">
                  <a:noFill/>
                </a:ln>
                <a:solidFill>
                  <a:schemeClr val="dk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 음</a:t>
            </a:r>
            <a:endParaRPr lang="en-US" altLang="ko-KR" b="0" kern="1200" spc="-50" dirty="0">
              <a:ln w="3175">
                <a:noFill/>
              </a:ln>
              <a:solidFill>
                <a:schemeClr val="dk1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7B50BD-9C2B-70FD-38A5-4219993F1796}"/>
              </a:ext>
            </a:extLst>
          </p:cNvPr>
          <p:cNvSpPr txBox="1"/>
          <p:nvPr/>
        </p:nvSpPr>
        <p:spPr>
          <a:xfrm>
            <a:off x="890506" y="4376628"/>
            <a:ext cx="15986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 latinLnBrk="1">
              <a:spcAft>
                <a:spcPts val="500"/>
              </a:spcAft>
              <a:buFontTx/>
              <a:buNone/>
            </a:pPr>
            <a:r>
              <a:rPr lang="ko-KR" altLang="en-US" sz="2400" spc="-50" dirty="0">
                <a:ln w="3175">
                  <a:noFill/>
                </a:ln>
                <a:solidFill>
                  <a:schemeClr val="dk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배제성</a:t>
            </a:r>
            <a:r>
              <a:rPr lang="en-US" altLang="ko-KR" sz="2400" spc="-50" dirty="0">
                <a:ln w="3175">
                  <a:noFill/>
                </a:ln>
                <a:solidFill>
                  <a:schemeClr val="dk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?</a:t>
            </a:r>
            <a:endParaRPr lang="en-US" altLang="ko-KR" sz="2400" b="0" kern="1200" spc="-50" dirty="0">
              <a:ln w="3175">
                <a:noFill/>
              </a:ln>
              <a:solidFill>
                <a:schemeClr val="dk1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15E2270-148F-0B42-23DE-63FA177F65DC}"/>
              </a:ext>
            </a:extLst>
          </p:cNvPr>
          <p:cNvSpPr txBox="1"/>
          <p:nvPr/>
        </p:nvSpPr>
        <p:spPr>
          <a:xfrm>
            <a:off x="2201664" y="3870542"/>
            <a:ext cx="101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 latinLnBrk="1">
              <a:spcAft>
                <a:spcPts val="500"/>
              </a:spcAft>
              <a:buFontTx/>
              <a:buNone/>
            </a:pPr>
            <a:r>
              <a:rPr lang="ko-KR" altLang="en-US" spc="-50" dirty="0">
                <a:ln w="3175">
                  <a:noFill/>
                </a:ln>
                <a:solidFill>
                  <a:schemeClr val="dk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있 음</a:t>
            </a:r>
            <a:endParaRPr lang="en-US" altLang="ko-KR" b="0" kern="1200" spc="-50" dirty="0">
              <a:ln w="3175">
                <a:noFill/>
              </a:ln>
              <a:solidFill>
                <a:schemeClr val="dk1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772FBD-79CB-D109-2848-66AC81763DA2}"/>
              </a:ext>
            </a:extLst>
          </p:cNvPr>
          <p:cNvSpPr txBox="1"/>
          <p:nvPr/>
        </p:nvSpPr>
        <p:spPr>
          <a:xfrm>
            <a:off x="2201664" y="4975047"/>
            <a:ext cx="101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 latinLnBrk="1">
              <a:spcAft>
                <a:spcPts val="500"/>
              </a:spcAft>
              <a:buFontTx/>
              <a:buNone/>
            </a:pPr>
            <a:r>
              <a:rPr lang="ko-KR" altLang="en-US" spc="-50" dirty="0">
                <a:ln w="3175">
                  <a:noFill/>
                </a:ln>
                <a:solidFill>
                  <a:schemeClr val="dk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없 음</a:t>
            </a:r>
            <a:endParaRPr lang="en-US" altLang="ko-KR" b="0" kern="1200" spc="-50" dirty="0">
              <a:ln w="3175">
                <a:noFill/>
              </a:ln>
              <a:solidFill>
                <a:schemeClr val="dk1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0A91B29-F597-C936-FF7C-6B71B3D75B26}"/>
              </a:ext>
            </a:extLst>
          </p:cNvPr>
          <p:cNvSpPr txBox="1"/>
          <p:nvPr/>
        </p:nvSpPr>
        <p:spPr>
          <a:xfrm>
            <a:off x="678872" y="1038536"/>
            <a:ext cx="11259128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경합성과 배제성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재화나 서비스는 경합성과 배제성의 유</a:t>
            </a:r>
            <a:r>
              <a:rPr lang="en-US" altLang="ko-KR" sz="1600" spc="-50" dirty="0"/>
              <a:t>/</a:t>
            </a:r>
            <a:r>
              <a:rPr lang="ko-KR" altLang="en-US" sz="1600" spc="-50" dirty="0"/>
              <a:t>무에 따라 아래와 같이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가지로 분류할 수 있음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배제성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돈을 내지 않거나 조건을 충족하지 못하면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소비하지 못하도록 막을 수 있는 성질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 err="1"/>
              <a:t>경합성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한 사람이 재화나 서비스를 소비하면 다른 사람이 동시에 소비할 수 없게 되는 성질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9374870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66417-FF52-02D4-D5E8-ECF88F324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45D739-BEE1-2398-2C26-216198850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공유자원의 비극 </a:t>
            </a:r>
            <a:r>
              <a:rPr lang="en-US" altLang="ko-KR" dirty="0"/>
              <a:t>(Tragedy of Common resources)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BCB3F7-5A96-BB3F-A729-97DE1E249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BA47094-1C7C-A5BD-0697-54815800052D}"/>
              </a:ext>
            </a:extLst>
          </p:cNvPr>
          <p:cNvSpPr txBox="1"/>
          <p:nvPr/>
        </p:nvSpPr>
        <p:spPr>
          <a:xfrm>
            <a:off x="678872" y="1038536"/>
            <a:ext cx="10243594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공유자원의 비극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개방자원과 유사하지만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소유권이 비교적 적은 수의 구성원으로 이루어진 집단에게 부여되어 있음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개인소유가 아니고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집단 소유이므로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개방자원과 마찬가지로 여전히 남용될 가능성이 높음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해결책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구성원 전체가 동의하는 공식적인 규칙을 만들어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자원을 이용하는 방법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구성원들 사이에 예전부터 존재하는 관습이나 전통을 이용하여 자원을 이용하는 방법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사례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어촌 앞바다에서 양식을 할 수 있는 권리는 </a:t>
            </a:r>
            <a:r>
              <a:rPr lang="ko-KR" altLang="en-US" sz="1600" spc="-50" dirty="0" err="1"/>
              <a:t>어촌계</a:t>
            </a:r>
            <a:r>
              <a:rPr lang="ko-KR" altLang="en-US" sz="1600" spc="-50" dirty="0"/>
              <a:t> 마을에 부여되어 있음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가구별로 양식장으로 활용할 수 있는 면적을 할당하고</a:t>
            </a:r>
            <a:r>
              <a:rPr lang="en-US" altLang="ko-KR" sz="1600" spc="-50" dirty="0"/>
              <a:t>,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상대적으로 유리하거나 불리한 위치가 있을 수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가구별 양식장의 위치를 정해진 기간마다 바꾸어 사용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9761865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E7B0F-39DE-1867-BE3E-DF8517FEA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1AD7A8-7975-1D03-FC28-47E25C367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공유자원의 비효율성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D58A58-3F01-9B97-A095-71BB1E66C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C5D894-699B-FFD3-6F17-77F90AECF696}"/>
              </a:ext>
            </a:extLst>
          </p:cNvPr>
          <p:cNvSpPr txBox="1"/>
          <p:nvPr/>
        </p:nvSpPr>
        <p:spPr>
          <a:xfrm>
            <a:off x="678872" y="1038536"/>
            <a:ext cx="10189066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전세계 바다 참치잡이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공해 수산자원의 소유권은 누구에게도 부여되어 있지 않아 누구든 어업활동을 통해 참치잡이 가능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참치잡이 배의 수입을 아래 표와 같이 </a:t>
            </a:r>
            <a:r>
              <a:rPr lang="ko-KR" altLang="en-US" sz="1600" spc="-50" dirty="0" err="1"/>
              <a:t>나타내보자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배 한 척이 공해에서 어업을 할 경우 총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마리의 참치를 잡는다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배가 추가 되어 두 척이 어업을 할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총 </a:t>
            </a:r>
            <a:r>
              <a:rPr lang="en-US" altLang="ko-KR" sz="1600" spc="-50" dirty="0"/>
              <a:t>18</a:t>
            </a:r>
            <a:r>
              <a:rPr lang="ko-KR" altLang="en-US" sz="1600" spc="-50" dirty="0"/>
              <a:t>마리의 참치를 잡는다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한계생산물 체감</a:t>
            </a:r>
            <a:r>
              <a:rPr lang="en-US" altLang="ko-KR" sz="1600" spc="-50" dirty="0"/>
              <a:t>)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세번째</a:t>
            </a:r>
            <a:r>
              <a:rPr lang="en-US" altLang="ko-KR" sz="1600" spc="-50" dirty="0"/>
              <a:t>.. </a:t>
            </a:r>
            <a:r>
              <a:rPr lang="ko-KR" altLang="en-US" sz="1600" spc="-50" dirty="0"/>
              <a:t>네번째</a:t>
            </a:r>
            <a:r>
              <a:rPr lang="en-US" altLang="ko-KR" sz="1600" spc="-50" dirty="0"/>
              <a:t>.. </a:t>
            </a:r>
            <a:r>
              <a:rPr lang="ko-KR" altLang="en-US" sz="1600" spc="-50" dirty="0"/>
              <a:t>계속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참치 가격은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원으로 동일하다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뒷장 계속</a:t>
            </a:r>
            <a:r>
              <a:rPr lang="en-US" altLang="ko-KR" sz="1600" spc="-50" dirty="0"/>
              <a:t>… </a:t>
            </a:r>
            <a:r>
              <a:rPr lang="ko-KR" altLang="en-US" sz="1600" spc="-50" dirty="0"/>
              <a:t>아래의 표와 뒷장의 그래프는 수치상으로는 맞지 않으나 개념적으로 같음</a:t>
            </a:r>
            <a:r>
              <a:rPr lang="en-US" altLang="ko-KR" sz="1600" spc="-50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표 2">
                <a:extLst>
                  <a:ext uri="{FF2B5EF4-FFF2-40B4-BE49-F238E27FC236}">
                    <a16:creationId xmlns:a16="http://schemas.microsoft.com/office/drawing/2014/main" id="{F3E01919-645D-B0A0-5080-E03301993A5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1511468"/>
                  </p:ext>
                </p:extLst>
              </p:nvPr>
            </p:nvGraphicFramePr>
            <p:xfrm>
              <a:off x="2101750" y="4223586"/>
              <a:ext cx="8174610" cy="2215354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{5C22544A-7EE6-4342-B048-85BDC9FD1C3A}</a:tableStyleId>
                  </a:tblPr>
                  <a:tblGrid>
                    <a:gridCol w="1362435">
                      <a:extLst>
                        <a:ext uri="{9D8B030D-6E8A-4147-A177-3AD203B41FA5}">
                          <a16:colId xmlns:a16="http://schemas.microsoft.com/office/drawing/2014/main" val="2218693278"/>
                        </a:ext>
                      </a:extLst>
                    </a:gridCol>
                    <a:gridCol w="1362435">
                      <a:extLst>
                        <a:ext uri="{9D8B030D-6E8A-4147-A177-3AD203B41FA5}">
                          <a16:colId xmlns:a16="http://schemas.microsoft.com/office/drawing/2014/main" val="3036950207"/>
                        </a:ext>
                      </a:extLst>
                    </a:gridCol>
                    <a:gridCol w="1362435">
                      <a:extLst>
                        <a:ext uri="{9D8B030D-6E8A-4147-A177-3AD203B41FA5}">
                          <a16:colId xmlns:a16="http://schemas.microsoft.com/office/drawing/2014/main" val="3669470522"/>
                        </a:ext>
                      </a:extLst>
                    </a:gridCol>
                    <a:gridCol w="1362435">
                      <a:extLst>
                        <a:ext uri="{9D8B030D-6E8A-4147-A177-3AD203B41FA5}">
                          <a16:colId xmlns:a16="http://schemas.microsoft.com/office/drawing/2014/main" val="2539177328"/>
                        </a:ext>
                      </a:extLst>
                    </a:gridCol>
                    <a:gridCol w="1362435">
                      <a:extLst>
                        <a:ext uri="{9D8B030D-6E8A-4147-A177-3AD203B41FA5}">
                          <a16:colId xmlns:a16="http://schemas.microsoft.com/office/drawing/2014/main" val="1044744277"/>
                        </a:ext>
                      </a:extLst>
                    </a:gridCol>
                    <a:gridCol w="1362435">
                      <a:extLst>
                        <a:ext uri="{9D8B030D-6E8A-4147-A177-3AD203B41FA5}">
                          <a16:colId xmlns:a16="http://schemas.microsoft.com/office/drawing/2014/main" val="3365092879"/>
                        </a:ext>
                      </a:extLst>
                    </a:gridCol>
                  </a:tblGrid>
                  <a:tr h="470954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배의 수 </a:t>
                          </a:r>
                          <a:r>
                            <a:rPr lang="en-US" altLang="ko-KR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300" b="1" i="1" kern="0" spc="0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𝑸</m:t>
                              </m:r>
                            </m:oMath>
                          </a14:m>
                          <a:r>
                            <a:rPr lang="en-US" altLang="ko-KR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)</a:t>
                          </a:r>
                          <a:endParaRPr lang="ko-KR" altLang="en-US" sz="13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잡은 총 참치 수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참치 가격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총 수입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평균수입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한계수입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978346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0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en-US" altLang="ko-KR" sz="1300" b="0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303174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en-US" altLang="ko-KR" sz="1300" b="0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2204439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2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18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18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9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en-US" altLang="ko-KR" sz="1300" b="0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4640014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3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24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24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8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US" altLang="ko-KR" sz="1300" b="0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6001479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4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28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28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7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en-US" altLang="ko-KR" sz="1300" b="0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55894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5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30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30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6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en-US" altLang="ko-KR" sz="1300" b="0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3545333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6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30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30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5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en-US" altLang="ko-KR" sz="1300" b="0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4640723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표 2">
                <a:extLst>
                  <a:ext uri="{FF2B5EF4-FFF2-40B4-BE49-F238E27FC236}">
                    <a16:creationId xmlns:a16="http://schemas.microsoft.com/office/drawing/2014/main" id="{F3E01919-645D-B0A0-5080-E03301993A5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1511468"/>
                  </p:ext>
                </p:extLst>
              </p:nvPr>
            </p:nvGraphicFramePr>
            <p:xfrm>
              <a:off x="2101750" y="4223586"/>
              <a:ext cx="8174610" cy="2215354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{5C22544A-7EE6-4342-B048-85BDC9FD1C3A}</a:tableStyleId>
                  </a:tblPr>
                  <a:tblGrid>
                    <a:gridCol w="1362435">
                      <a:extLst>
                        <a:ext uri="{9D8B030D-6E8A-4147-A177-3AD203B41FA5}">
                          <a16:colId xmlns:a16="http://schemas.microsoft.com/office/drawing/2014/main" val="2218693278"/>
                        </a:ext>
                      </a:extLst>
                    </a:gridCol>
                    <a:gridCol w="1362435">
                      <a:extLst>
                        <a:ext uri="{9D8B030D-6E8A-4147-A177-3AD203B41FA5}">
                          <a16:colId xmlns:a16="http://schemas.microsoft.com/office/drawing/2014/main" val="3036950207"/>
                        </a:ext>
                      </a:extLst>
                    </a:gridCol>
                    <a:gridCol w="1362435">
                      <a:extLst>
                        <a:ext uri="{9D8B030D-6E8A-4147-A177-3AD203B41FA5}">
                          <a16:colId xmlns:a16="http://schemas.microsoft.com/office/drawing/2014/main" val="3669470522"/>
                        </a:ext>
                      </a:extLst>
                    </a:gridCol>
                    <a:gridCol w="1362435">
                      <a:extLst>
                        <a:ext uri="{9D8B030D-6E8A-4147-A177-3AD203B41FA5}">
                          <a16:colId xmlns:a16="http://schemas.microsoft.com/office/drawing/2014/main" val="2539177328"/>
                        </a:ext>
                      </a:extLst>
                    </a:gridCol>
                    <a:gridCol w="1362435">
                      <a:extLst>
                        <a:ext uri="{9D8B030D-6E8A-4147-A177-3AD203B41FA5}">
                          <a16:colId xmlns:a16="http://schemas.microsoft.com/office/drawing/2014/main" val="1044744277"/>
                        </a:ext>
                      </a:extLst>
                    </a:gridCol>
                    <a:gridCol w="1362435">
                      <a:extLst>
                        <a:ext uri="{9D8B030D-6E8A-4147-A177-3AD203B41FA5}">
                          <a16:colId xmlns:a16="http://schemas.microsoft.com/office/drawing/2014/main" val="3365092879"/>
                        </a:ext>
                      </a:extLst>
                    </a:gridCol>
                  </a:tblGrid>
                  <a:tr h="470954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232" t="-6410" r="-505804" b="-3858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잡은 총 참치 수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참치 가격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총 수입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평균수입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한계수입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9783466"/>
                      </a:ext>
                    </a:extLst>
                  </a:tr>
                  <a:tr h="24920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0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en-US" altLang="ko-KR" sz="1300" b="0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3031745"/>
                      </a:ext>
                    </a:extLst>
                  </a:tr>
                  <a:tr h="24920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en-US" altLang="ko-KR" sz="1300" b="0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22044393"/>
                      </a:ext>
                    </a:extLst>
                  </a:tr>
                  <a:tr h="24920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2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18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18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9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en-US" altLang="ko-KR" sz="1300" b="0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46400141"/>
                      </a:ext>
                    </a:extLst>
                  </a:tr>
                  <a:tr h="24920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3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24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24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8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US" altLang="ko-KR" sz="1300" b="0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60014796"/>
                      </a:ext>
                    </a:extLst>
                  </a:tr>
                  <a:tr h="24920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4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28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28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7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en-US" altLang="ko-KR" sz="1300" b="0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558945"/>
                      </a:ext>
                    </a:extLst>
                  </a:tr>
                  <a:tr h="24920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5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30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30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6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en-US" altLang="ko-KR" sz="1300" b="0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35453330"/>
                      </a:ext>
                    </a:extLst>
                  </a:tr>
                  <a:tr h="24920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6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30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30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5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en-US" altLang="ko-KR" sz="1300" b="0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4640723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1B40BFE-284A-9110-8DC0-4FE21EF52C80}"/>
              </a:ext>
            </a:extLst>
          </p:cNvPr>
          <p:cNvSpPr txBox="1"/>
          <p:nvPr/>
        </p:nvSpPr>
        <p:spPr>
          <a:xfrm>
            <a:off x="9421887" y="4752238"/>
            <a:ext cx="426788" cy="292388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300" b="0" kern="0" spc="0" dirty="0">
                <a:solidFill>
                  <a:schemeClr val="tx1"/>
                </a:solidFill>
                <a:effectLst/>
                <a:latin typeface="+mn-ea"/>
                <a:ea typeface="+mn-ea"/>
                <a:cs typeface="+mn-cs"/>
              </a:rPr>
              <a:t>10</a:t>
            </a:r>
            <a:endParaRPr lang="ko-KR" altLang="en-US" sz="13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51B260-0797-D487-83A1-DCBA9871A341}"/>
              </a:ext>
            </a:extLst>
          </p:cNvPr>
          <p:cNvSpPr txBox="1"/>
          <p:nvPr/>
        </p:nvSpPr>
        <p:spPr>
          <a:xfrm>
            <a:off x="9421887" y="5011380"/>
            <a:ext cx="426788" cy="292388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300" b="0" kern="0" spc="0" dirty="0">
                <a:solidFill>
                  <a:schemeClr val="tx1"/>
                </a:solidFill>
                <a:effectLst/>
                <a:latin typeface="+mn-ea"/>
                <a:ea typeface="+mn-ea"/>
                <a:cs typeface="+mn-cs"/>
              </a:rPr>
              <a:t>8</a:t>
            </a:r>
            <a:endParaRPr lang="ko-KR" altLang="en-US" sz="13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CDA7FB-AF56-B33E-AE9D-46660D7803A3}"/>
              </a:ext>
            </a:extLst>
          </p:cNvPr>
          <p:cNvSpPr txBox="1"/>
          <p:nvPr/>
        </p:nvSpPr>
        <p:spPr>
          <a:xfrm>
            <a:off x="9421887" y="5270522"/>
            <a:ext cx="426788" cy="292388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300" b="0" kern="0" spc="0" dirty="0">
                <a:solidFill>
                  <a:schemeClr val="tx1"/>
                </a:solidFill>
                <a:effectLst/>
                <a:latin typeface="+mn-ea"/>
                <a:ea typeface="+mn-ea"/>
                <a:cs typeface="+mn-cs"/>
              </a:rPr>
              <a:t>6</a:t>
            </a:r>
            <a:endParaRPr lang="ko-KR" altLang="en-US" sz="13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E99AF6-7E68-FD9E-F54D-DC8C18AEB9F6}"/>
              </a:ext>
            </a:extLst>
          </p:cNvPr>
          <p:cNvSpPr txBox="1"/>
          <p:nvPr/>
        </p:nvSpPr>
        <p:spPr>
          <a:xfrm>
            <a:off x="9421887" y="5529664"/>
            <a:ext cx="426788" cy="292388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300" b="0" kern="0" spc="0" dirty="0">
                <a:solidFill>
                  <a:schemeClr val="tx1"/>
                </a:solidFill>
                <a:effectLst/>
                <a:latin typeface="+mn-ea"/>
                <a:ea typeface="+mn-ea"/>
                <a:cs typeface="+mn-cs"/>
              </a:rPr>
              <a:t>4</a:t>
            </a:r>
            <a:endParaRPr lang="ko-KR" altLang="en-US" sz="13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151F63-CF27-D4C9-671B-49EBBE54C316}"/>
              </a:ext>
            </a:extLst>
          </p:cNvPr>
          <p:cNvSpPr txBox="1"/>
          <p:nvPr/>
        </p:nvSpPr>
        <p:spPr>
          <a:xfrm>
            <a:off x="9421887" y="5788806"/>
            <a:ext cx="426788" cy="292388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300" b="0" kern="0" spc="0" dirty="0">
                <a:solidFill>
                  <a:schemeClr val="tx1"/>
                </a:solidFill>
                <a:effectLst/>
                <a:latin typeface="+mn-ea"/>
                <a:ea typeface="+mn-ea"/>
                <a:cs typeface="+mn-cs"/>
              </a:rPr>
              <a:t>2</a:t>
            </a:r>
            <a:endParaRPr lang="ko-KR" altLang="en-US" sz="13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D78278-DDEF-9BA4-BDD2-EA9F79EC42E9}"/>
              </a:ext>
            </a:extLst>
          </p:cNvPr>
          <p:cNvSpPr txBox="1"/>
          <p:nvPr/>
        </p:nvSpPr>
        <p:spPr>
          <a:xfrm>
            <a:off x="9421887" y="6047950"/>
            <a:ext cx="426788" cy="292388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300" kern="0" dirty="0">
                <a:latin typeface="+mn-ea"/>
              </a:rPr>
              <a:t>0</a:t>
            </a:r>
            <a:endParaRPr lang="ko-KR" altLang="en-US" sz="1300" dirty="0"/>
          </a:p>
        </p:txBody>
      </p:sp>
    </p:spTree>
    <p:extLst>
      <p:ext uri="{BB962C8B-B14F-4D97-AF65-F5344CB8AC3E}">
        <p14:creationId xmlns:p14="http://schemas.microsoft.com/office/powerpoint/2010/main" val="1548532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AC268-0B17-1D8F-2AEC-BCE7D2C34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D4E5F9-E6D8-D849-7CB6-C9986435F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공유자원의 비효율성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D92CBC-37AA-6A64-8828-A0CA42DDA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76730E-4F57-20B9-F7D5-16A01000C225}"/>
                  </a:ext>
                </a:extLst>
              </p:cNvPr>
              <p:cNvSpPr txBox="1"/>
              <p:nvPr/>
            </p:nvSpPr>
            <p:spPr>
              <a:xfrm>
                <a:off x="678872" y="1038536"/>
                <a:ext cx="5755484" cy="526625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전세계 바다 참치잡이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참치잡이의 비용은 배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척당 소요되는 비용이 일정하여 평균비용 </a:t>
                </a:r>
                <a:r>
                  <a:rPr lang="en-US" altLang="ko-KR" sz="1600" spc="-50" dirty="0"/>
                  <a:t>(AC)</a:t>
                </a:r>
                <a:r>
                  <a:rPr lang="ko-KR" altLang="en-US" sz="1600" spc="-50" dirty="0"/>
                  <a:t>과 한계비용</a:t>
                </a:r>
                <a:r>
                  <a:rPr lang="en-US" altLang="ko-KR" sz="1600" spc="-50" dirty="0"/>
                  <a:t>(MC)</a:t>
                </a:r>
                <a:r>
                  <a:rPr lang="ko-KR" altLang="en-US" sz="1600" spc="-50" dirty="0"/>
                  <a:t>이 동일하여 수평으로 나타남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이제 참치잡이의 수입과 비용을 오른쪽 그래프와 같이 나타낼 수 있음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전세계 참치잡이의 총이윤을 극대화해주는 배의 수보다 더 많은 배가 어업활동을 하게 되는 결과가 초래 됨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Q</a:t>
                </a:r>
                <a:r>
                  <a:rPr lang="en-US" altLang="ko-KR" sz="1600" spc="-50" baseline="30000" dirty="0"/>
                  <a:t>*</a:t>
                </a:r>
                <a:r>
                  <a:rPr lang="en-US" altLang="ko-KR" sz="1600" spc="-50" dirty="0"/>
                  <a:t> :</a:t>
                </a:r>
                <a:r>
                  <a:rPr lang="ko-KR" altLang="en-US" sz="1600" spc="-50" dirty="0"/>
                  <a:t> 총 이윤을 극대화 해주는 배의 수 </a:t>
                </a:r>
                <a:r>
                  <a:rPr lang="en-US" altLang="ko-KR" sz="1600" spc="-50" dirty="0"/>
                  <a:t>(MR=MC)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Q</a:t>
                </a:r>
                <a:r>
                  <a:rPr lang="en-US" altLang="ko-KR" sz="1600" spc="-50" baseline="30000" dirty="0"/>
                  <a:t>** </a:t>
                </a:r>
                <a:r>
                  <a:rPr lang="en-US" altLang="ko-KR" sz="1600" spc="-50" dirty="0"/>
                  <a:t>:</a:t>
                </a:r>
                <a:r>
                  <a:rPr lang="ko-KR" altLang="en-US" sz="1600" spc="-50" dirty="0"/>
                  <a:t> 결과적으로 나타나는 배의 수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Q</a:t>
                </a:r>
                <a:r>
                  <a:rPr lang="en-US" altLang="ko-KR" sz="1600" spc="-50" baseline="30000" dirty="0"/>
                  <a:t>* </a:t>
                </a:r>
                <a:r>
                  <a:rPr lang="ko-KR" altLang="en-US" sz="1600" spc="-50" dirty="0"/>
                  <a:t>에서 참치잡이 배가 평균적으로 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𝑎𝑏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만큼 이윤을 발생시키고 있으므로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현재 포경업을 하지 않고 있는 사람도 포경업에 뛰어들어 이윤을 남기려고 하기 때문에 결국 </a:t>
                </a:r>
                <a:r>
                  <a:rPr lang="en-US" altLang="ko-KR" sz="1600" spc="-50" dirty="0"/>
                  <a:t>Q</a:t>
                </a:r>
                <a:r>
                  <a:rPr lang="en-US" altLang="ko-KR" sz="1600" spc="-50" baseline="30000" dirty="0"/>
                  <a:t>** </a:t>
                </a:r>
                <a:r>
                  <a:rPr lang="ko-KR" altLang="en-US" sz="1600" spc="-50" dirty="0"/>
                  <a:t>만큼의 배가 참치잡이를 하게 되는 결과가 됨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Q</a:t>
                </a:r>
                <a:r>
                  <a:rPr lang="en-US" altLang="ko-KR" sz="1600" spc="-50" baseline="30000" dirty="0"/>
                  <a:t>** </a:t>
                </a:r>
                <a:r>
                  <a:rPr lang="ko-KR" altLang="en-US" sz="1600" spc="-50"/>
                  <a:t>보다 많은 배가 어업을 하면 손실이 발생함</a:t>
                </a:r>
                <a:endParaRPr lang="en-US" altLang="ko-KR" sz="1600" spc="-5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76730E-4F57-20B9-F7D5-16A01000C2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2" y="1038536"/>
                <a:ext cx="5755484" cy="5266250"/>
              </a:xfrm>
              <a:prstGeom prst="rect">
                <a:avLst/>
              </a:prstGeom>
              <a:blipFill>
                <a:blip r:embed="rId2"/>
                <a:stretch>
                  <a:fillRect l="-529" r="-212" b="-4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588AE8F-491E-8ADD-DA9F-81E94D1422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483"/>
          <a:stretch>
            <a:fillRect/>
          </a:stretch>
        </p:blipFill>
        <p:spPr>
          <a:xfrm>
            <a:off x="6601113" y="1161874"/>
            <a:ext cx="5151121" cy="54500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7DA83FB-64A3-2083-EDB9-8BC94A18F716}"/>
              </a:ext>
            </a:extLst>
          </p:cNvPr>
          <p:cNvSpPr txBox="1"/>
          <p:nvPr/>
        </p:nvSpPr>
        <p:spPr>
          <a:xfrm>
            <a:off x="9001027" y="6162857"/>
            <a:ext cx="37645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spc="-50" dirty="0"/>
              <a:t>Q</a:t>
            </a:r>
            <a:r>
              <a:rPr lang="en-US" altLang="ko-KR" sz="1100" spc="-50" baseline="30000" dirty="0"/>
              <a:t>*</a:t>
            </a:r>
            <a:endParaRPr lang="ko-KR" altLang="en-US" sz="1100" baseline="30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757963-86DD-A34F-6326-C55853492346}"/>
              </a:ext>
            </a:extLst>
          </p:cNvPr>
          <p:cNvSpPr txBox="1"/>
          <p:nvPr/>
        </p:nvSpPr>
        <p:spPr>
          <a:xfrm>
            <a:off x="10750130" y="6162857"/>
            <a:ext cx="37645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spc="-50" dirty="0"/>
              <a:t>Q</a:t>
            </a:r>
            <a:r>
              <a:rPr lang="en-US" altLang="ko-KR" sz="1100" spc="-50" baseline="30000" dirty="0"/>
              <a:t>**</a:t>
            </a:r>
            <a:endParaRPr lang="ko-KR" altLang="en-US" sz="1100" baseline="30000" dirty="0"/>
          </a:p>
        </p:txBody>
      </p:sp>
    </p:spTree>
    <p:extLst>
      <p:ext uri="{BB962C8B-B14F-4D97-AF65-F5344CB8AC3E}">
        <p14:creationId xmlns:p14="http://schemas.microsoft.com/office/powerpoint/2010/main" val="23704848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0CDB5-D6AD-1260-9D97-38FEAD7DC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932F20-6A4A-03DA-DA98-228622A2C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공공재시장의 비효율성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6132BA-2FF6-9606-D9E9-33E32BEF7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23333F-7465-DD21-2765-179D3A10CC51}"/>
              </a:ext>
            </a:extLst>
          </p:cNvPr>
          <p:cNvSpPr txBox="1"/>
          <p:nvPr/>
        </p:nvSpPr>
        <p:spPr>
          <a:xfrm>
            <a:off x="328634" y="1267136"/>
            <a:ext cx="6577487" cy="496911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공공재의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소비자가 재화나 서비스를 동시에 소비하므로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공공재 전체 시장의 한계지불의사는 개별 한계지불의사의 수직 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D = d</a:t>
            </a:r>
            <a:r>
              <a:rPr lang="en-US" altLang="ko-KR" sz="1600" spc="-50" baseline="-25000" dirty="0"/>
              <a:t>A</a:t>
            </a:r>
            <a:r>
              <a:rPr lang="en-US" altLang="ko-KR" sz="1600" spc="-50" dirty="0"/>
              <a:t>+d</a:t>
            </a:r>
            <a:r>
              <a:rPr lang="en-US" altLang="ko-KR" sz="1600" spc="-50" baseline="-25000" dirty="0"/>
              <a:t>B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baseline="-250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 전체적으로 가장 바람직한 공공재의 생산 및 소비량은 시장전체 수요</a:t>
            </a:r>
            <a:r>
              <a:rPr lang="en-US" altLang="ko-KR" sz="1600" spc="-50" dirty="0"/>
              <a:t>(D)</a:t>
            </a:r>
            <a:r>
              <a:rPr lang="ko-KR" altLang="en-US" sz="1600" spc="-50" dirty="0"/>
              <a:t>와 한계비용</a:t>
            </a:r>
            <a:r>
              <a:rPr lang="en-US" altLang="ko-KR" sz="1600" spc="-50" dirty="0"/>
              <a:t>(MC)</a:t>
            </a:r>
            <a:r>
              <a:rPr lang="ko-KR" altLang="en-US" sz="1600" spc="-50" dirty="0"/>
              <a:t>이 만나는 지점</a:t>
            </a:r>
            <a:r>
              <a:rPr lang="en-US" altLang="ko-KR" sz="1600" spc="-50" dirty="0"/>
              <a:t>: Q</a:t>
            </a:r>
            <a:r>
              <a:rPr lang="en-US" altLang="ko-KR" sz="1600" spc="-50" baseline="30000" dirty="0"/>
              <a:t>*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baseline="-250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소비자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는 각각의 개별 한계지불의사와 한계비용이 만나는 지점에서 공공재를 소비하고자 함</a:t>
            </a:r>
            <a:r>
              <a:rPr lang="en-US" altLang="ko-KR" sz="1600" spc="-50" dirty="0"/>
              <a:t>: q</a:t>
            </a:r>
            <a:r>
              <a:rPr lang="en-US" altLang="ko-KR" sz="1600" spc="-50" baseline="-2500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q</a:t>
            </a:r>
            <a:r>
              <a:rPr lang="en-US" altLang="ko-KR" sz="1600" spc="-50" baseline="-25000" dirty="0"/>
              <a:t>B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공공재의 특성상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는 소비자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가 이미 </a:t>
            </a:r>
            <a:r>
              <a:rPr lang="en-US" altLang="ko-KR" sz="1600" spc="-50" dirty="0"/>
              <a:t>q</a:t>
            </a:r>
            <a:r>
              <a:rPr lang="en-US" altLang="ko-KR" sz="1600" spc="-50" baseline="-25000" dirty="0"/>
              <a:t>A</a:t>
            </a:r>
            <a:r>
              <a:rPr lang="ko-KR" altLang="en-US" sz="1600" spc="-50" dirty="0"/>
              <a:t>만큼은의 가격을 지불 했으므로</a:t>
            </a:r>
            <a:r>
              <a:rPr lang="en-US" altLang="ko-KR" sz="1600" spc="-50" dirty="0"/>
              <a:t>, (</a:t>
            </a:r>
            <a:r>
              <a:rPr lang="en-US" altLang="ko-KR" sz="1600" spc="-50" dirty="0" err="1"/>
              <a:t>q</a:t>
            </a:r>
            <a:r>
              <a:rPr lang="en-US" altLang="ko-KR" sz="1600" spc="-50" baseline="-25000" dirty="0" err="1"/>
              <a:t>B</a:t>
            </a:r>
            <a:r>
              <a:rPr lang="ko-KR" altLang="en-US" sz="1600" spc="-50" baseline="-25000" dirty="0"/>
              <a:t> </a:t>
            </a:r>
            <a:r>
              <a:rPr lang="en-US" altLang="ko-KR" sz="1600" spc="-50" dirty="0"/>
              <a:t>–</a:t>
            </a:r>
            <a:r>
              <a:rPr lang="ko-KR" altLang="en-US" sz="1600" spc="-50" dirty="0"/>
              <a:t> </a:t>
            </a:r>
            <a:r>
              <a:rPr lang="en-US" altLang="ko-KR" sz="1600" spc="-50" dirty="0" err="1"/>
              <a:t>q</a:t>
            </a:r>
            <a:r>
              <a:rPr lang="en-US" altLang="ko-KR" sz="1600" spc="-50" baseline="-25000" dirty="0" err="1"/>
              <a:t>A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만큼만 지불하고자 할 것</a:t>
            </a:r>
            <a:r>
              <a:rPr lang="en-US" altLang="ko-KR" sz="1600" spc="-50" dirty="0"/>
              <a:t>: </a:t>
            </a:r>
            <a:r>
              <a:rPr lang="ko-KR" altLang="en-US" sz="1600" b="1" u="sng" spc="-50" dirty="0"/>
              <a:t>무임승차</a:t>
            </a:r>
            <a:r>
              <a:rPr lang="ko-KR" altLang="en-US" sz="1600" spc="-50" dirty="0"/>
              <a:t>의 문제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전체 시장에 공급되는 공공재의 총량은 </a:t>
            </a:r>
            <a:r>
              <a:rPr lang="en-US" altLang="ko-KR" sz="1600" spc="-50" dirty="0"/>
              <a:t>Q</a:t>
            </a:r>
            <a:r>
              <a:rPr lang="en-US" altLang="ko-KR" sz="1600" spc="-50" baseline="30000" dirty="0"/>
              <a:t>* </a:t>
            </a:r>
            <a:r>
              <a:rPr lang="ko-KR" altLang="en-US" sz="1600" spc="-50" dirty="0"/>
              <a:t>보다 적은</a:t>
            </a:r>
            <a:r>
              <a:rPr lang="en-US" altLang="ko-KR" sz="1600" spc="-50" dirty="0"/>
              <a:t> q</a:t>
            </a:r>
            <a:r>
              <a:rPr lang="en-US" altLang="ko-KR" sz="1600" spc="-50" baseline="-25000" dirty="0"/>
              <a:t>B</a:t>
            </a:r>
            <a:r>
              <a:rPr lang="ko-KR" altLang="en-US" sz="1600" spc="-50" dirty="0"/>
              <a:t>가 됨</a:t>
            </a:r>
            <a:endParaRPr lang="en-US" altLang="ko-KR" sz="1600" spc="-50" dirty="0"/>
          </a:p>
        </p:txBody>
      </p:sp>
      <p:pic>
        <p:nvPicPr>
          <p:cNvPr id="7" name="그림 6" descr="라인, 텍스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1E96682-302A-CE0E-FC1F-F16935803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3493" y="760917"/>
            <a:ext cx="5079846" cy="5815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09644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65024-6D0D-1C78-8C4A-4B5671BF3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54F41B-ED96-1512-131F-4A241AB62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무임승차를 완화시키는 조건들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8D35FB-0741-C82A-6A99-F47CD67C2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24A7CF-EE40-8759-730F-8E9732024899}"/>
              </a:ext>
            </a:extLst>
          </p:cNvPr>
          <p:cNvSpPr txBox="1"/>
          <p:nvPr/>
        </p:nvSpPr>
        <p:spPr>
          <a:xfrm>
            <a:off x="557239" y="1044886"/>
            <a:ext cx="10430212" cy="509222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수요자 간 선호도의 차이가 매우 큰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의 수요가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에 비해 매우 크다면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가 무임승차자가 되려 한다는 것을 알고 있더라도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자신이 공공재를 구입하는 것이 더 나으므로 대가를 지불하게 될 것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baseline="-250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소비자들이 이타심을 가지는 경우 </a:t>
            </a:r>
            <a:r>
              <a:rPr lang="en-US" altLang="ko-KR" sz="1600" spc="-50" dirty="0"/>
              <a:t>(altruism)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의 공공재 소비로 인해 소비자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의 효용이 증가하는 경우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소비자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의 </a:t>
            </a:r>
            <a:r>
              <a:rPr lang="ko-KR" altLang="en-US" sz="1600" spc="-50" dirty="0" err="1"/>
              <a:t>이타심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소비자들이 </a:t>
            </a:r>
            <a:r>
              <a:rPr lang="ko-KR" altLang="en-US" sz="1600" spc="-50" dirty="0" err="1"/>
              <a:t>유사이타심을</a:t>
            </a:r>
            <a:r>
              <a:rPr lang="ko-KR" altLang="en-US" sz="1600" spc="-50" dirty="0"/>
              <a:t> 가지는 경우 </a:t>
            </a:r>
            <a:r>
              <a:rPr lang="en-US" altLang="ko-KR" sz="1600" spc="-50" dirty="0"/>
              <a:t>(warm-glow effect)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자신이 공공재를 공급하여 공동체에 기여 했다는 사실을 남이 알아주어 효용이 증가하는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한계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위의 조건들은 현실에서 기대하기 힘들 뿐 아니라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무임승차의 일부를 완화시킬 뿐 제거할 수는 없음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보다 근본적인 해결책으로는 국가에서 공공재를 직접 공급하는 것이지만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아래와 같이 어려운 문제가 있음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사회에 공공재를 얼만큼 </a:t>
            </a:r>
            <a:r>
              <a:rPr lang="ko-KR" altLang="en-US" sz="1600" spc="-50" dirty="0" err="1"/>
              <a:t>공급하는게</a:t>
            </a:r>
            <a:r>
              <a:rPr lang="ko-KR" altLang="en-US" sz="1600" spc="-50" dirty="0"/>
              <a:t> 효율적인지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사회를 구성하는 개인들에게 이용대금을 얼마나 어떻게 징수할 것인지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4832466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512F2-1A60-787C-84E5-01391422C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BA9DB7-7DE0-B5D5-4D88-1C88B7E1A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효율적인 공공재 공급을 위한 이론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D4002B-2EAA-7D34-C00A-C18CB910B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A028E7-2B61-1D29-75B8-5018DF35DBF1}"/>
              </a:ext>
            </a:extLst>
          </p:cNvPr>
          <p:cNvSpPr txBox="1"/>
          <p:nvPr/>
        </p:nvSpPr>
        <p:spPr>
          <a:xfrm>
            <a:off x="678872" y="1038536"/>
            <a:ext cx="10243594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 err="1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린달균형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스웨덴 경제학자 에릭 </a:t>
            </a:r>
            <a:r>
              <a:rPr lang="ko-KR" altLang="en-US" sz="1600" spc="-50" dirty="0" err="1"/>
              <a:t>린달</a:t>
            </a:r>
            <a:r>
              <a:rPr lang="en-US" altLang="ko-KR" sz="1600" spc="-50" dirty="0"/>
              <a:t>(Erik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Lindahl)</a:t>
            </a:r>
            <a:r>
              <a:rPr lang="ko-KR" altLang="en-US" sz="1600" spc="-50" dirty="0"/>
              <a:t>에 따르면 사람들이 각자 자기의 한계편익에 맞는 가격을 부담하면 공공재의 효율적 수준을 달성할 수 있음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공공재의 공급 비용을 모든 개인의 세금 부담으로 나눠야 하는데</a:t>
            </a:r>
            <a:r>
              <a:rPr lang="en-US" altLang="ko-KR" sz="1600" spc="-50" dirty="0"/>
              <a:t>,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내가 지불하는 세금의 비율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내가 느끼는 한계편익의 비율이 되도록 분담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즉 개인별로 다른 가격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세금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지불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린달균형이</a:t>
            </a:r>
            <a:r>
              <a:rPr lang="ko-KR" altLang="en-US" sz="1600" spc="-50" dirty="0"/>
              <a:t> 존재한다면 공공재 공급을 가장 효율적으로 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실제로 그 균형을 찾는 것은 </a:t>
            </a:r>
            <a:r>
              <a:rPr lang="ko-KR" altLang="en-US" sz="1600" spc="-50" dirty="0" err="1"/>
              <a:t>힘듬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8376971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80695-8D7C-E71C-08E8-8BFD990F8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D76220-9925-9537-58F2-B25EACE6A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외부효과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790E32-1BE0-623C-19BE-0022E85A5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00F795-3DB2-B0F9-96D6-4595E77BE999}"/>
              </a:ext>
            </a:extLst>
          </p:cNvPr>
          <p:cNvSpPr txBox="1"/>
          <p:nvPr/>
        </p:nvSpPr>
        <p:spPr>
          <a:xfrm>
            <a:off x="678872" y="1038536"/>
            <a:ext cx="10243594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외부효과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어떤 개인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의 후생 수준이 다른 사람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의 의사결정에 의해 직접적인 영향을 받지만</a:t>
            </a:r>
            <a:r>
              <a:rPr lang="en-US" altLang="ko-KR" sz="1600" spc="-50" dirty="0"/>
              <a:t>, B</a:t>
            </a:r>
            <a:r>
              <a:rPr lang="ko-KR" altLang="en-US" sz="1600" spc="-50" dirty="0"/>
              <a:t>는 자신이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의 후생에 미친 영향과 일치하는 만큼의 책임을 지거나 대가를 받지 않을 때 발생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소유권이 배타성을 갖추지 못하여 발생하는 시장실패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인근 공장에서 나온 폐수로 인해 양어장이 피해를 보는 경우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음의 외부효과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과수원의 사과 꽃이 양봉업자의 벌꿀 생산에 이익을 주는 경우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양의 외부효과</a:t>
            </a:r>
            <a:r>
              <a:rPr lang="en-US" altLang="ko-KR" sz="1600" spc="-50" dirty="0"/>
              <a:t>)</a:t>
            </a:r>
          </a:p>
        </p:txBody>
      </p:sp>
      <p:pic>
        <p:nvPicPr>
          <p:cNvPr id="7" name="그림 6" descr="도표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D38E558-53E8-F782-4EC4-5A81756B2A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724" y="3358069"/>
            <a:ext cx="8223889" cy="3194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4981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467FB-A7DD-6820-9337-8858C3F7C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7FE855-E94C-D4D3-F999-57A90E882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시장실패의 해결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300CE1-A939-C6E6-4DD9-57E6BFD8F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CFE9A0-B201-9706-6603-C4DA8C583B0F}"/>
              </a:ext>
            </a:extLst>
          </p:cNvPr>
          <p:cNvSpPr txBox="1"/>
          <p:nvPr/>
        </p:nvSpPr>
        <p:spPr>
          <a:xfrm>
            <a:off x="678872" y="1038536"/>
            <a:ext cx="10788966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사적 교섭을 통한 해결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사적 교섭을 통해 시장의 실패를 해결할 수 있음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가로 축은 공장이 배출하는 폐수의 양을 의미함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공장은 폐수를 </a:t>
            </a:r>
            <a:r>
              <a:rPr lang="ko-KR" altLang="en-US" sz="1600" spc="-50" dirty="0" err="1"/>
              <a:t>수요하며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폐수를 한 단위씩 추가 배출할 때마다 벌어들일 수 있는 수익이 있음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폐수 수요</a:t>
            </a:r>
            <a:r>
              <a:rPr lang="en-US" altLang="ko-KR" sz="1600" spc="-50" dirty="0"/>
              <a:t> (D))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폐수는 양어장의 생산성을 떨어뜨리며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폐수가 한 단위씩 추가될 때마다 피해를 보고 있음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한계피해액 </a:t>
            </a:r>
            <a:r>
              <a:rPr lang="en-US" altLang="ko-KR" sz="1600" spc="-50" dirty="0"/>
              <a:t>(MD))</a:t>
            </a:r>
          </a:p>
        </p:txBody>
      </p:sp>
      <p:pic>
        <p:nvPicPr>
          <p:cNvPr id="6" name="그림 5" descr="도표, 라인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38DE003-1565-ED8D-405E-400698BEBE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87" r="50000"/>
          <a:stretch>
            <a:fillRect/>
          </a:stretch>
        </p:blipFill>
        <p:spPr>
          <a:xfrm>
            <a:off x="6915955" y="2998373"/>
            <a:ext cx="4752170" cy="377447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11D3600-B417-B23F-D207-FB4026516891}"/>
              </a:ext>
            </a:extLst>
          </p:cNvPr>
          <p:cNvSpPr txBox="1"/>
          <p:nvPr/>
        </p:nvSpPr>
        <p:spPr>
          <a:xfrm>
            <a:off x="7743825" y="4058997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2AD90A-06FC-CBA2-7F1F-71EC9B3B018B}"/>
              </a:ext>
            </a:extLst>
          </p:cNvPr>
          <p:cNvSpPr txBox="1"/>
          <p:nvPr/>
        </p:nvSpPr>
        <p:spPr>
          <a:xfrm>
            <a:off x="7743825" y="5119621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47760EA-0D39-FC77-C644-3C0D58C9617F}"/>
              </a:ext>
            </a:extLst>
          </p:cNvPr>
          <p:cNvSpPr txBox="1"/>
          <p:nvPr/>
        </p:nvSpPr>
        <p:spPr>
          <a:xfrm>
            <a:off x="8709025" y="5640321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c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3B9630-7EAE-78C0-6ADD-4D55242573E8}"/>
              </a:ext>
            </a:extLst>
          </p:cNvPr>
          <p:cNvSpPr txBox="1"/>
          <p:nvPr/>
        </p:nvSpPr>
        <p:spPr>
          <a:xfrm>
            <a:off x="9547225" y="5640321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728D3E-36A1-3358-1AFC-8CBF86C694F5}"/>
              </a:ext>
            </a:extLst>
          </p:cNvPr>
          <p:cNvSpPr txBox="1"/>
          <p:nvPr/>
        </p:nvSpPr>
        <p:spPr>
          <a:xfrm>
            <a:off x="10472737" y="5119621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e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6138A6-4B0C-C9B8-C65C-1331DB26B352}"/>
              </a:ext>
            </a:extLst>
          </p:cNvPr>
          <p:cNvSpPr txBox="1"/>
          <p:nvPr/>
        </p:nvSpPr>
        <p:spPr>
          <a:xfrm>
            <a:off x="10472737" y="4054168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f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C3A72A9-7832-8AB3-4802-E2906A373166}"/>
              </a:ext>
            </a:extLst>
          </p:cNvPr>
          <p:cNvSpPr txBox="1"/>
          <p:nvPr/>
        </p:nvSpPr>
        <p:spPr>
          <a:xfrm>
            <a:off x="678872" y="2892736"/>
            <a:ext cx="6033078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오염규제가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교섭도 없으면 공장은 </a:t>
            </a:r>
            <a:r>
              <a:rPr lang="en-US" altLang="ko-KR" sz="1600" spc="-50" dirty="0"/>
              <a:t>e</a:t>
            </a:r>
            <a:r>
              <a:rPr lang="en-US" altLang="ko-KR" sz="1600" spc="-50" baseline="-25000" dirty="0"/>
              <a:t>p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까지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폐수를 배출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양어장 주인이 공장주에게 폐수 배출량을 한 단위 줄일 때마다 </a:t>
            </a:r>
            <a:r>
              <a:rPr lang="en-US" altLang="ko-KR" sz="1600" spc="-50" dirty="0"/>
              <a:t>e</a:t>
            </a:r>
            <a:r>
              <a:rPr lang="en-US" altLang="ko-KR" sz="1600" spc="-50" baseline="30000" dirty="0"/>
              <a:t>*</a:t>
            </a:r>
            <a:r>
              <a:rPr lang="ko-KR" altLang="en-US" sz="1600" spc="-50" dirty="0"/>
              <a:t>에서의 폐수 한계가치와 동일한 </a:t>
            </a:r>
            <a:r>
              <a:rPr lang="en-US" altLang="ko-KR" sz="1600" spc="-50" dirty="0"/>
              <a:t>p</a:t>
            </a:r>
            <a:r>
              <a:rPr lang="en-US" altLang="ko-KR" sz="1600" spc="-50" baseline="30000" dirty="0"/>
              <a:t>*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지불하겠다고 제안하면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공장주는 폐수 한계가치와 단위당 보상액이 일치하는 </a:t>
            </a:r>
            <a:r>
              <a:rPr lang="en-US" altLang="ko-KR" sz="1600" spc="-50" dirty="0"/>
              <a:t>e</a:t>
            </a:r>
            <a:r>
              <a:rPr lang="en-US" altLang="ko-KR" sz="1600" spc="-50" baseline="30000" dirty="0"/>
              <a:t>*</a:t>
            </a:r>
            <a:r>
              <a:rPr lang="ko-KR" altLang="en-US" sz="1600" spc="-50" dirty="0"/>
              <a:t>수준으로 배출량을 줄일 것임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공장주는 </a:t>
            </a:r>
            <a:r>
              <a:rPr lang="en-US" altLang="ko-KR" sz="1600" spc="-50" dirty="0"/>
              <a:t>d </a:t>
            </a:r>
            <a:r>
              <a:rPr lang="ko-KR" altLang="en-US" sz="1600" spc="-50" dirty="0"/>
              <a:t>만큼의 손해를 보지만</a:t>
            </a:r>
            <a:r>
              <a:rPr lang="en-US" altLang="ko-KR" sz="1600" spc="-50" dirty="0"/>
              <a:t>, </a:t>
            </a:r>
            <a:r>
              <a:rPr lang="en-US" altLang="ko-KR" sz="1600" spc="-50" dirty="0" err="1"/>
              <a:t>d+e</a:t>
            </a:r>
            <a:r>
              <a:rPr lang="ko-KR" altLang="en-US" sz="1600" spc="-50" dirty="0"/>
              <a:t>만큼의 보상을 양어장 주인으로부터 받게 됨</a:t>
            </a:r>
            <a:r>
              <a:rPr lang="en-US" altLang="ko-KR" sz="1600" spc="-5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CE17FE-7D31-72BB-2957-C056F857380A}"/>
              </a:ext>
            </a:extLst>
          </p:cNvPr>
          <p:cNvSpPr txBox="1"/>
          <p:nvPr/>
        </p:nvSpPr>
        <p:spPr>
          <a:xfrm>
            <a:off x="5543130" y="6261730"/>
            <a:ext cx="10604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spc="-50" dirty="0"/>
              <a:t>→ 뒷장 계속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68617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EAE52-48A8-7FD7-DD73-766A265CB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B2A463-1BB4-C624-12D9-0E31BC37F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시장실패의 해결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F8B455-4D04-D48B-FAD4-3D0CDB598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pic>
        <p:nvPicPr>
          <p:cNvPr id="6" name="그림 5" descr="도표, 라인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3FE4AC9-8D3C-6815-8BD3-054286BEC6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87" r="50000"/>
          <a:stretch>
            <a:fillRect/>
          </a:stretch>
        </p:blipFill>
        <p:spPr>
          <a:xfrm>
            <a:off x="6915955" y="1169573"/>
            <a:ext cx="4752170" cy="377447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4732E02-83CA-26CA-A117-26EFADF2ADEB}"/>
              </a:ext>
            </a:extLst>
          </p:cNvPr>
          <p:cNvSpPr txBox="1"/>
          <p:nvPr/>
        </p:nvSpPr>
        <p:spPr>
          <a:xfrm>
            <a:off x="7743825" y="2230197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E290CD-998B-C7EC-823A-CCAF7EFD2808}"/>
              </a:ext>
            </a:extLst>
          </p:cNvPr>
          <p:cNvSpPr txBox="1"/>
          <p:nvPr/>
        </p:nvSpPr>
        <p:spPr>
          <a:xfrm>
            <a:off x="7743825" y="3290821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933D49-A940-6A6A-3B4C-7DA1151A1899}"/>
              </a:ext>
            </a:extLst>
          </p:cNvPr>
          <p:cNvSpPr txBox="1"/>
          <p:nvPr/>
        </p:nvSpPr>
        <p:spPr>
          <a:xfrm>
            <a:off x="8709025" y="3811521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c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92477A-82D9-38A4-F48B-4EA930845754}"/>
              </a:ext>
            </a:extLst>
          </p:cNvPr>
          <p:cNvSpPr txBox="1"/>
          <p:nvPr/>
        </p:nvSpPr>
        <p:spPr>
          <a:xfrm>
            <a:off x="9547225" y="3811521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093BEF-0B7C-2DFA-9AA6-E7683A12C4A0}"/>
              </a:ext>
            </a:extLst>
          </p:cNvPr>
          <p:cNvSpPr txBox="1"/>
          <p:nvPr/>
        </p:nvSpPr>
        <p:spPr>
          <a:xfrm>
            <a:off x="10472737" y="3290821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e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6BBF04-D881-C96C-1CA8-F26431D44694}"/>
              </a:ext>
            </a:extLst>
          </p:cNvPr>
          <p:cNvSpPr txBox="1"/>
          <p:nvPr/>
        </p:nvSpPr>
        <p:spPr>
          <a:xfrm>
            <a:off x="10472737" y="2225368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f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788458-9361-17F6-7073-BE7F1A09D918}"/>
              </a:ext>
            </a:extLst>
          </p:cNvPr>
          <p:cNvSpPr txBox="1"/>
          <p:nvPr/>
        </p:nvSpPr>
        <p:spPr>
          <a:xfrm>
            <a:off x="678872" y="1038536"/>
            <a:ext cx="6033078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양어장 주인의 입장에서는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d+e</a:t>
            </a:r>
            <a:r>
              <a:rPr lang="ko-KR" altLang="en-US" sz="1600" spc="-50" dirty="0"/>
              <a:t>만큼을 공장주에게 지불해야 하지만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배출량이 </a:t>
            </a:r>
            <a:r>
              <a:rPr lang="en-US" altLang="ko-KR" sz="1600" spc="-50" dirty="0"/>
              <a:t>e</a:t>
            </a:r>
            <a:r>
              <a:rPr lang="en-US" altLang="ko-KR" sz="1600" spc="-50" baseline="-25000" dirty="0"/>
              <a:t>p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e</a:t>
            </a:r>
            <a:r>
              <a:rPr lang="en-US" altLang="ko-KR" sz="1600" spc="-50" baseline="30000" dirty="0"/>
              <a:t>*</a:t>
            </a:r>
            <a:r>
              <a:rPr lang="ko-KR" altLang="en-US" sz="1600" spc="-50" dirty="0"/>
              <a:t>로 줄어들어 </a:t>
            </a:r>
            <a:r>
              <a:rPr lang="en-US" altLang="ko-KR" sz="1600" spc="-50" dirty="0" err="1"/>
              <a:t>d+e+f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만큼의 피해가 감소함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d+e+f</a:t>
            </a:r>
            <a:r>
              <a:rPr lang="en-US" altLang="ko-KR" sz="1600" spc="-50" dirty="0"/>
              <a:t>)-(</a:t>
            </a:r>
            <a:r>
              <a:rPr lang="en-US" altLang="ko-KR" sz="1600" spc="-50" dirty="0" err="1"/>
              <a:t>d+e</a:t>
            </a:r>
            <a:r>
              <a:rPr lang="en-US" altLang="ko-KR" sz="1600" spc="-50" dirty="0"/>
              <a:t>) = f</a:t>
            </a:r>
            <a:r>
              <a:rPr lang="ko-KR" altLang="en-US" sz="1600" spc="-50" dirty="0"/>
              <a:t>만큼의 이득을 얻게 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교섭이 성사되면 가해자와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피해자 모두 이득을 얻고 사회적으로 효율적인 수준의 폐수가 배출되어 외부효과 문제가 해결됨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 아래와 같은 의문이 발생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왜 피해자가 가해자에게 보상을 </a:t>
            </a:r>
            <a:r>
              <a:rPr lang="ko-KR" altLang="en-US" sz="1600" spc="-50" dirty="0" err="1"/>
              <a:t>해야하는지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사적 협상이 불가능하면 대안이 있는지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6758349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2FBB7-019C-97CB-E6DB-836760C40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504696-EA9E-4F37-AC3D-4FE732319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시장실패의 해결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B47EFD-1922-63D4-4DF9-38DB26FE6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A78AD3-D835-E517-EF44-0C88244970C4}"/>
              </a:ext>
            </a:extLst>
          </p:cNvPr>
          <p:cNvSpPr txBox="1"/>
          <p:nvPr/>
        </p:nvSpPr>
        <p:spPr>
          <a:xfrm>
            <a:off x="678872" y="1038536"/>
            <a:ext cx="10243594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사법적 해결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피해자는 본인의 피해를 줄이기 위해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가해자에게 대가를 지불해야 한다는 사실을 인정하고 싶지 않아 할 가능성이 높음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대안으로 가해자를 법정에 고소하는 방법이 있음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법원의 역할은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외부효과를 유발하는 행위를 할 권리와 외부효과 때문에 피해를 입지 않을 권리 가운데 어느 권리가 우선하는지를 판단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판결을 통해 가해자가 피해자에게 입힌 피해에 대해 보상할 것을 명령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법원은 어느 쪽 권리를 인정해 주어야 할까</a:t>
            </a:r>
            <a:r>
              <a:rPr lang="en-US" altLang="ko-KR" sz="1600" spc="-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1138506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FADAA-351C-E94D-63DC-FF6E0B393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7E61B1-1E12-5904-9153-836D8B1FA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코즈</a:t>
            </a:r>
            <a:r>
              <a:rPr lang="ko-KR" altLang="en-US" dirty="0"/>
              <a:t> 정리 </a:t>
            </a:r>
            <a:r>
              <a:rPr lang="en-US" altLang="ko-KR" dirty="0"/>
              <a:t>(Coase theorem, 1960)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9EA106-995A-4C9D-D870-D0A95E857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55EA0-576D-D736-9898-C9D679C05AE2}"/>
              </a:ext>
            </a:extLst>
          </p:cNvPr>
          <p:cNvSpPr txBox="1"/>
          <p:nvPr/>
        </p:nvSpPr>
        <p:spPr>
          <a:xfrm>
            <a:off x="678872" y="1038536"/>
            <a:ext cx="10243594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코즈정리에</a:t>
            </a:r>
            <a:r>
              <a:rPr lang="ko-KR" altLang="en-US" sz="1600" spc="-50" dirty="0"/>
              <a:t> 따르면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사적 교섭에 관계된 사람의 수가 적고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교섭에 소요되는 비용이 적을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가해자와 피해자 누구의 권리를 인정해 주어도 협상을 통해 사회적으로 효율적인 자원배분이 달성 가능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법원의 결정에 따라 달라지는 것은 가해자와 피해자 사이에 어느 쪽으로 편익이 많이 </a:t>
            </a:r>
            <a:r>
              <a:rPr lang="ko-KR" altLang="en-US" sz="1600" spc="-50" dirty="0" err="1"/>
              <a:t>돌아가는지일</a:t>
            </a:r>
            <a:r>
              <a:rPr lang="ko-KR" altLang="en-US" sz="1600" spc="-50" dirty="0"/>
              <a:t> 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국가는 시장에 개입하지 말고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권리가 누구에게 </a:t>
            </a:r>
            <a:r>
              <a:rPr lang="ko-KR" altLang="en-US" sz="1600" spc="-50" dirty="0" err="1"/>
              <a:t>있는지만을</a:t>
            </a:r>
            <a:r>
              <a:rPr lang="ko-KR" altLang="en-US" sz="1600" spc="-50" dirty="0"/>
              <a:t> 정하기만 하면 된다고 주장</a:t>
            </a:r>
            <a:r>
              <a:rPr lang="en-US" altLang="ko-KR" sz="1600" spc="-5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662588-F75C-1770-4086-DF17BA532B32}"/>
              </a:ext>
            </a:extLst>
          </p:cNvPr>
          <p:cNvSpPr txBox="1"/>
          <p:nvPr/>
        </p:nvSpPr>
        <p:spPr>
          <a:xfrm>
            <a:off x="678872" y="3109867"/>
            <a:ext cx="6033078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전과는 반대로 양어장 주인에게 권리가 있다면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공장주는 </a:t>
            </a:r>
            <a:r>
              <a:rPr lang="en-US" altLang="ko-KR" sz="1600" spc="-50" dirty="0" err="1"/>
              <a:t>b+c</a:t>
            </a:r>
            <a:r>
              <a:rPr lang="ko-KR" altLang="en-US" sz="1600" spc="-50" dirty="0"/>
              <a:t>만큼을 양어장 주인에게 지불해야 하지만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e</a:t>
            </a:r>
            <a:r>
              <a:rPr lang="en-US" altLang="ko-KR" sz="1600" spc="-50" baseline="30000" dirty="0"/>
              <a:t>*</a:t>
            </a:r>
            <a:r>
              <a:rPr lang="ko-KR" altLang="en-US" sz="1600" spc="-50" dirty="0"/>
              <a:t>만큼 폐수를 배출하여 </a:t>
            </a:r>
            <a:r>
              <a:rPr lang="en-US" altLang="ko-KR" sz="1600" spc="-50" dirty="0" err="1"/>
              <a:t>a+b+c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만큼의 편익을 얻음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a+b+c</a:t>
            </a:r>
            <a:r>
              <a:rPr lang="en-US" altLang="ko-KR" sz="1600" spc="-50" dirty="0"/>
              <a:t>) – (</a:t>
            </a:r>
            <a:r>
              <a:rPr lang="en-US" altLang="ko-KR" sz="1600" spc="-50" dirty="0" err="1"/>
              <a:t>b+c</a:t>
            </a:r>
            <a:r>
              <a:rPr lang="en-US" altLang="ko-KR" sz="1600" spc="-50" dirty="0"/>
              <a:t>) = a </a:t>
            </a:r>
            <a:r>
              <a:rPr lang="ko-KR" altLang="en-US" sz="1600" spc="-50" dirty="0"/>
              <a:t>만큼의 이득을 보게 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양어장 주인은 </a:t>
            </a:r>
            <a:r>
              <a:rPr lang="en-US" altLang="ko-KR" sz="1600" spc="-50" dirty="0"/>
              <a:t>e</a:t>
            </a:r>
            <a:r>
              <a:rPr lang="en-US" altLang="ko-KR" sz="1600" spc="-50" baseline="30000" dirty="0"/>
              <a:t>*</a:t>
            </a:r>
            <a:r>
              <a:rPr lang="ko-KR" altLang="en-US" sz="1600" spc="-50" dirty="0"/>
              <a:t>만큼의 폐수 때문에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만큼의 피해를 봄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그 대가로 </a:t>
            </a:r>
            <a:r>
              <a:rPr lang="en-US" altLang="ko-KR" sz="1600" spc="-50" dirty="0" err="1"/>
              <a:t>b+c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만큼의 보상을 받음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b+c</a:t>
            </a:r>
            <a:r>
              <a:rPr lang="en-US" altLang="ko-KR" sz="1600" spc="-50" dirty="0"/>
              <a:t>) – (c) = b </a:t>
            </a:r>
            <a:r>
              <a:rPr lang="ko-KR" altLang="en-US" sz="1600" spc="-50" dirty="0"/>
              <a:t>만큼의 이득을 보게 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7" name="그림 6" descr="도표, 라인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F3D76CE-C02E-99B6-0B7A-CF2EC1C2F1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87" r="50000"/>
          <a:stretch>
            <a:fillRect/>
          </a:stretch>
        </p:blipFill>
        <p:spPr>
          <a:xfrm>
            <a:off x="6863165" y="2837428"/>
            <a:ext cx="4752170" cy="37744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484BFB0-4A80-7931-3ED4-C7811A30841B}"/>
              </a:ext>
            </a:extLst>
          </p:cNvPr>
          <p:cNvSpPr txBox="1"/>
          <p:nvPr/>
        </p:nvSpPr>
        <p:spPr>
          <a:xfrm>
            <a:off x="7691035" y="3898052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443EB4-DCFE-8B95-D527-2F674CBA406B}"/>
              </a:ext>
            </a:extLst>
          </p:cNvPr>
          <p:cNvSpPr txBox="1"/>
          <p:nvPr/>
        </p:nvSpPr>
        <p:spPr>
          <a:xfrm>
            <a:off x="7691035" y="4958676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52E90F-87FC-37DA-076F-EC9EEDDFB208}"/>
              </a:ext>
            </a:extLst>
          </p:cNvPr>
          <p:cNvSpPr txBox="1"/>
          <p:nvPr/>
        </p:nvSpPr>
        <p:spPr>
          <a:xfrm>
            <a:off x="8656235" y="5479376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c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8D9221-1731-D017-338C-2D0BD44BB5E5}"/>
              </a:ext>
            </a:extLst>
          </p:cNvPr>
          <p:cNvSpPr txBox="1"/>
          <p:nvPr/>
        </p:nvSpPr>
        <p:spPr>
          <a:xfrm>
            <a:off x="9494435" y="5479376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07BB08-4B63-078E-1A05-21E15BBAF634}"/>
              </a:ext>
            </a:extLst>
          </p:cNvPr>
          <p:cNvSpPr txBox="1"/>
          <p:nvPr/>
        </p:nvSpPr>
        <p:spPr>
          <a:xfrm>
            <a:off x="10419947" y="4958676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e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6986EE-CA05-8767-0D92-07879B072279}"/>
              </a:ext>
            </a:extLst>
          </p:cNvPr>
          <p:cNvSpPr txBox="1"/>
          <p:nvPr/>
        </p:nvSpPr>
        <p:spPr>
          <a:xfrm>
            <a:off x="10419947" y="3893223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f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03902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280BC-1D17-F901-090B-3561511A8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044F5E-BC11-57D3-7515-59D3DFBCD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코즈</a:t>
            </a:r>
            <a:r>
              <a:rPr lang="ko-KR" altLang="en-US" dirty="0"/>
              <a:t> 정리의 한계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FBE984-888C-860F-9E41-8BA0C4B19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E99F41-A2E3-9D3F-A7F8-050B7172E211}"/>
              </a:ext>
            </a:extLst>
          </p:cNvPr>
          <p:cNvSpPr txBox="1"/>
          <p:nvPr/>
        </p:nvSpPr>
        <p:spPr>
          <a:xfrm>
            <a:off x="678872" y="1038536"/>
            <a:ext cx="10243594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교섭에 관계된 사람 수가 많으면 교섭 자체가 불가능하거나 교섭비용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거래비용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많이 소요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피해자의 피해금액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가해자의 오염행위로 인한 편익을 정확히 산정하기 어려움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피해자는 피해금액을 과대 추정할 우려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가해자는 편익을 과소 추정할 우려가 있음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피해자가 여러 명이면서 이들 피해자의 권리가 인정될 때 발생하는 타협거부 문제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</a:t>
            </a:r>
            <a:r>
              <a:rPr lang="ko-KR" altLang="en-US" sz="1600" spc="-50" dirty="0"/>
              <a:t>개의 양어장 권리가 인정 된다고 했을 때</a:t>
            </a:r>
            <a:r>
              <a:rPr lang="en-US" altLang="ko-KR" sz="1600" spc="-50" dirty="0"/>
              <a:t>, 9</a:t>
            </a:r>
            <a:r>
              <a:rPr lang="ko-KR" altLang="en-US" sz="1600" spc="-50" dirty="0"/>
              <a:t>개의 양어장은 </a:t>
            </a:r>
            <a:r>
              <a:rPr lang="en-US" altLang="ko-KR" sz="1600" spc="-50" dirty="0"/>
              <a:t>100</a:t>
            </a:r>
            <a:r>
              <a:rPr lang="ko-KR" altLang="en-US" sz="1600" spc="-50" dirty="0"/>
              <a:t>만원씩 보상 받기로 합의를 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마지막 양어장은 </a:t>
            </a:r>
            <a:r>
              <a:rPr lang="en-US" altLang="ko-KR" sz="1600" spc="-50" dirty="0"/>
              <a:t>100</a:t>
            </a:r>
            <a:r>
              <a:rPr lang="ko-KR" altLang="en-US" sz="1600" spc="-50" dirty="0"/>
              <a:t>만원 이상의 보상을 원하며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배출 동의를 쉽게 해주지 않는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피해자가 여러 명이지만 가해자의 권리를 인정할 때 발생하는 무임승차 문제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이번에는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개의 양어장이 공장에게 </a:t>
            </a:r>
            <a:r>
              <a:rPr lang="en-US" altLang="ko-KR" sz="1600" spc="-50" dirty="0"/>
              <a:t>100</a:t>
            </a:r>
            <a:r>
              <a:rPr lang="ko-KR" altLang="en-US" sz="1600" spc="-50" dirty="0"/>
              <a:t>만원씩 이미 지불하였고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공장은 폐수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단위를 줄였음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배출량을 </a:t>
            </a:r>
            <a:r>
              <a:rPr lang="ko-KR" altLang="en-US" sz="1600" spc="-50" dirty="0" err="1"/>
              <a:t>줄여나갈수록</a:t>
            </a:r>
            <a:r>
              <a:rPr lang="ko-KR" altLang="en-US" sz="1600" spc="-50" dirty="0"/>
              <a:t> 양어장이 얻는 한계편익이 감소하는 상황이므로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마지막 양어장은 마지막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단위의 배출저감에 대해 </a:t>
            </a:r>
            <a:r>
              <a:rPr lang="en-US" altLang="ko-KR" sz="1600" spc="-50" dirty="0"/>
              <a:t>100</a:t>
            </a:r>
            <a:r>
              <a:rPr lang="ko-KR" altLang="en-US" sz="1600" spc="-50" dirty="0"/>
              <a:t>만원보다 낮은 가치로 평가할 수 있음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8083099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07A5B-4D4F-B3B9-8D7E-E232271D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8D91C9-35A3-C154-1980-193EA5E36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코즈</a:t>
            </a:r>
            <a:r>
              <a:rPr lang="ko-KR" altLang="en-US" dirty="0"/>
              <a:t> 정리의 한계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B35FE4-309F-F584-3D73-51A4FCFF9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AB1B4C-6ABE-6B9D-291D-09C15C59EECC}"/>
              </a:ext>
            </a:extLst>
          </p:cNvPr>
          <p:cNvSpPr txBox="1"/>
          <p:nvPr/>
        </p:nvSpPr>
        <p:spPr>
          <a:xfrm>
            <a:off x="678872" y="1038536"/>
            <a:ext cx="10243594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소득효과를 인정하지 않는다는 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누구의 권리를 인정 </a:t>
            </a:r>
            <a:r>
              <a:rPr lang="ko-KR" altLang="en-US" sz="1600" spc="-50" dirty="0" err="1"/>
              <a:t>해주냐에</a:t>
            </a:r>
            <a:r>
              <a:rPr lang="ko-KR" altLang="en-US" sz="1600" spc="-50" dirty="0"/>
              <a:t> 따라 가해자와 피해자의 소득이 달라지는데</a:t>
            </a:r>
            <a:r>
              <a:rPr lang="en-US" altLang="ko-KR" sz="1600" spc="-50" dirty="0"/>
              <a:t>,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가해자의 오염 배출에 대한 수요곡선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혹은 피해자의 한계피해곡선은 이들의 소득수준에 의해서도 영향을 받음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어느 쪽의 권리를 인정 </a:t>
            </a:r>
            <a:r>
              <a:rPr lang="ko-KR" altLang="en-US" sz="1600" spc="-50" dirty="0" err="1"/>
              <a:t>하느냐에</a:t>
            </a:r>
            <a:r>
              <a:rPr lang="ko-KR" altLang="en-US" sz="1600" spc="-50" dirty="0"/>
              <a:t> 따라 수요곡선 혹은 한계피해곡선의 위치가 달라지기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권리를 인정하는 순간 사적 교섭을 통해 달성되는 최적 오염물질 배출량 역시 달라지게 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법원이 가해자의 권리를 인정해 주어도 사회적으로 효율적인 자원배분이 가능하므로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법원이 가해자의 권리를 인정했다고 가정할 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공장은 일부러 피해자들과 가까이 입지하여 교섭을 통해 배출량을 줄이는 대가로 보상 받아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자체로 수익성 높은 사업으로 인식하게 될 수 있음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5799742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9D12E-D73E-F2B4-EA3F-3AD846EF2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F9042A-10BE-7C5D-0D50-760C21777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제도적 행정적 규제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746F6E-93B0-34A8-607E-1811AD869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0416D1-2B8C-13B9-527C-22AD7F2D6023}"/>
              </a:ext>
            </a:extLst>
          </p:cNvPr>
          <p:cNvSpPr txBox="1"/>
          <p:nvPr/>
        </p:nvSpPr>
        <p:spPr>
          <a:xfrm>
            <a:off x="678872" y="1038536"/>
            <a:ext cx="10243594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소개된 사적 교섭 및 사법적 해결은 거래비용이 매우 적을 경우에만 사용 가능한 방법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다시 말하면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외부효과와 관련된 관계자가 적어야 하고</a:t>
            </a:r>
            <a:r>
              <a:rPr lang="en-US" altLang="ko-KR" sz="1600" spc="-50" dirty="0"/>
              <a:t>,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환경문제의 인과관계가 명확해야 하고</a:t>
            </a:r>
            <a:r>
              <a:rPr lang="en-US" altLang="ko-KR" sz="1600" spc="-50" dirty="0"/>
              <a:t>,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당사자 간의 합의나 법원의 판결을 끌어내는 데 필요한 비용이 매우 적어야 함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제도적 규제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현실에서는 대부분 위의 조건을 만족하기가 어렵고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오히려 모든 환경문제에 대해 일률적으로 적용되는 규칙을 정해 강제로 지키게 하여 시장의 실패를 제거 혹은 완화하는 것이 더 효율적일 수 있음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폐수의 단위당 </a:t>
            </a:r>
            <a:r>
              <a:rPr lang="en-US" altLang="ko-KR" sz="1600" spc="-50" dirty="0"/>
              <a:t>p</a:t>
            </a:r>
            <a:r>
              <a:rPr lang="en-US" altLang="ko-KR" sz="1600" spc="-50" baseline="30000" dirty="0"/>
              <a:t>*</a:t>
            </a:r>
            <a:r>
              <a:rPr lang="ko-KR" altLang="en-US" sz="1600" spc="-50" dirty="0"/>
              <a:t>만큼의 세금을 매기는 정책 </a:t>
            </a:r>
            <a:r>
              <a:rPr lang="en-US" altLang="ko-KR" sz="1600" spc="-50" dirty="0"/>
              <a:t>(27</a:t>
            </a:r>
            <a:r>
              <a:rPr lang="ko-KR" altLang="en-US" sz="1600" spc="-50" dirty="0"/>
              <a:t>번 슬라이드 그림 참고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공장에게 </a:t>
            </a:r>
            <a:r>
              <a:rPr lang="en-US" altLang="ko-KR" sz="1600" spc="-50" dirty="0"/>
              <a:t>e</a:t>
            </a:r>
            <a:r>
              <a:rPr lang="en-US" altLang="ko-KR" sz="1600" spc="-50" baseline="30000" dirty="0"/>
              <a:t>*</a:t>
            </a:r>
            <a:r>
              <a:rPr lang="ko-KR" altLang="en-US" sz="1600" spc="-50" dirty="0"/>
              <a:t>이하의 폐수만을 배출하도록 의무화 하는 정책</a:t>
            </a:r>
            <a:r>
              <a:rPr lang="en-US" altLang="ko-KR" sz="1600" spc="-50" dirty="0"/>
              <a:t>, </a:t>
            </a:r>
            <a:r>
              <a:rPr lang="ko-KR" altLang="en-US" sz="1600" spc="-50"/>
              <a:t>지키지 않을 시 벌금 및 벌칙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9905130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 dirty="0">
                <a:solidFill>
                  <a:schemeClr val="accent2"/>
                </a:solidFill>
              </a:rPr>
              <a:t>T</a:t>
            </a:r>
            <a:r>
              <a:rPr lang="en-US" altLang="ko-KR" sz="5400" i="0" spc="100" dirty="0"/>
              <a:t>hank you</a:t>
            </a:r>
            <a:endParaRPr lang="ko-KR" altLang="en-US" sz="5400" i="0" spc="1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6248</TotalTime>
  <Words>2301</Words>
  <Application>Microsoft Office PowerPoint</Application>
  <PresentationFormat>와이드스크린</PresentationFormat>
  <Paragraphs>364</Paragraphs>
  <Slides>30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7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환경경제학</vt:lpstr>
      <vt:lpstr>Part 2  환경문제의 경제적 분석 틀</vt:lpstr>
      <vt:lpstr>Chapter 3  수요, 공급 및 시장균형</vt:lpstr>
      <vt:lpstr>한계지불의사</vt:lpstr>
      <vt:lpstr>시장수요</vt:lpstr>
      <vt:lpstr>편익과 소비자 잉여</vt:lpstr>
      <vt:lpstr>비용이란?</vt:lpstr>
      <vt:lpstr>한계비용</vt:lpstr>
      <vt:lpstr>한계비용곡선의 형태</vt:lpstr>
      <vt:lpstr>시장공급</vt:lpstr>
      <vt:lpstr>편익과 생산자 잉여</vt:lpstr>
      <vt:lpstr>시장균형</vt:lpstr>
      <vt:lpstr>Chapter 4  자원환경 이용에 있어 시장의 실패</vt:lpstr>
      <vt:lpstr>시장 메커니즘</vt:lpstr>
      <vt:lpstr>재화의 종류</vt:lpstr>
      <vt:lpstr>공유자원의 비극 (Tragedy of Common resources)</vt:lpstr>
      <vt:lpstr>공유자원의 비효율성</vt:lpstr>
      <vt:lpstr>공유자원의 비효율성</vt:lpstr>
      <vt:lpstr>공공재시장의 비효율성</vt:lpstr>
      <vt:lpstr>무임승차를 완화시키는 조건들</vt:lpstr>
      <vt:lpstr>효율적인 공공재 공급을 위한 이론</vt:lpstr>
      <vt:lpstr>외부효과</vt:lpstr>
      <vt:lpstr>시장실패의 해결</vt:lpstr>
      <vt:lpstr>시장실패의 해결</vt:lpstr>
      <vt:lpstr>시장실패의 해결</vt:lpstr>
      <vt:lpstr>코즈 정리 (Coase theorem, 1960)</vt:lpstr>
      <vt:lpstr>코즈 정리의 한계</vt:lpstr>
      <vt:lpstr>코즈 정리의 한계</vt:lpstr>
      <vt:lpstr>제도적 행정적 규제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146</cp:revision>
  <dcterms:created xsi:type="dcterms:W3CDTF">2025-07-05T05:15:23Z</dcterms:created>
  <dcterms:modified xsi:type="dcterms:W3CDTF">2025-09-28T23:31:48Z</dcterms:modified>
</cp:coreProperties>
</file>