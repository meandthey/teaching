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0"/>
  </p:notesMasterIdLst>
  <p:sldIdLst>
    <p:sldId id="375" r:id="rId2"/>
    <p:sldId id="400" r:id="rId3"/>
    <p:sldId id="260" r:id="rId4"/>
    <p:sldId id="377" r:id="rId5"/>
    <p:sldId id="376" r:id="rId6"/>
    <p:sldId id="397" r:id="rId7"/>
    <p:sldId id="396" r:id="rId8"/>
    <p:sldId id="379" r:id="rId9"/>
    <p:sldId id="380" r:id="rId10"/>
    <p:sldId id="381" r:id="rId11"/>
    <p:sldId id="382" r:id="rId12"/>
    <p:sldId id="386" r:id="rId13"/>
    <p:sldId id="387" r:id="rId14"/>
    <p:sldId id="388" r:id="rId15"/>
    <p:sldId id="390" r:id="rId16"/>
    <p:sldId id="391" r:id="rId17"/>
    <p:sldId id="392" r:id="rId18"/>
    <p:sldId id="364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5F5F"/>
    <a:srgbClr val="F8F7FC"/>
    <a:srgbClr val="2D72BE"/>
    <a:srgbClr val="070B12"/>
    <a:srgbClr val="0047A0"/>
    <a:srgbClr val="E3605B"/>
    <a:srgbClr val="FFFFFF"/>
    <a:srgbClr val="FFFDFF"/>
    <a:srgbClr val="00ADD0"/>
    <a:srgbClr val="EEF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80" y="1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환 경   </a:t>
            </a:r>
            <a:r>
              <a:rPr lang="ko-KR" altLang="en-US" sz="6600" b="1" i="0" dirty="0" err="1"/>
              <a:t>경</a:t>
            </a:r>
            <a:r>
              <a:rPr lang="ko-KR" altLang="en-US" sz="6600" b="1" i="0" dirty="0"/>
              <a:t> 제 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Lecture - 1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77C8A-9F0F-FC0C-1D76-A3F32B69E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3A045F-2B00-83E6-B256-8A0B61009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수업개요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EC8D9F-C285-F5E4-1C11-93C8B7EF6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638085-6655-CBDE-0744-0787D69186BA}"/>
              </a:ext>
            </a:extLst>
          </p:cNvPr>
          <p:cNvSpPr txBox="1"/>
          <p:nvPr/>
        </p:nvSpPr>
        <p:spPr>
          <a:xfrm>
            <a:off x="678872" y="1038536"/>
            <a:ext cx="10975831" cy="52615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수업 운영 방식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강의 중심의 수업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수업 중 언제든지 어떤 주제도 질문 가능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취식 가능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냄새만 심하게 안나면</a:t>
            </a:r>
            <a:r>
              <a:rPr lang="en-US" altLang="ko-KR" sz="1600" spc="-50" dirty="0"/>
              <a:t>)</a:t>
            </a: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성적 평가 방법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:</a:t>
            </a:r>
            <a:r>
              <a:rPr lang="en-US" altLang="ko-KR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상대평가</a:t>
            </a:r>
            <a:endParaRPr lang="en-US" altLang="ko-KR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출석</a:t>
            </a:r>
            <a:r>
              <a:rPr lang="en-US" altLang="ko-KR" sz="1600" spc="-50" dirty="0"/>
              <a:t>: 10%, </a:t>
            </a:r>
            <a:r>
              <a:rPr lang="ko-KR" altLang="en-US" sz="1600" spc="-50" dirty="0"/>
              <a:t>중간고사</a:t>
            </a:r>
            <a:r>
              <a:rPr lang="en-US" altLang="ko-KR" sz="1600" spc="-50" dirty="0"/>
              <a:t>: 45%, </a:t>
            </a:r>
            <a:r>
              <a:rPr lang="ko-KR" altLang="en-US" sz="1600" spc="-50" dirty="0"/>
              <a:t>기말고사 </a:t>
            </a:r>
            <a:r>
              <a:rPr lang="en-US" altLang="ko-KR" sz="1600" spc="-50" dirty="0"/>
              <a:t>45%</a:t>
            </a: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문제풀이</a:t>
            </a:r>
            <a:r>
              <a:rPr lang="en-US" altLang="ko-KR" sz="1600" spc="-50" dirty="0"/>
              <a:t> (OX, </a:t>
            </a:r>
            <a:r>
              <a:rPr lang="ko-KR" altLang="en-US" sz="1600" spc="-50" dirty="0"/>
              <a:t>객관식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주관식 포함</a:t>
            </a:r>
            <a:r>
              <a:rPr lang="en-US" altLang="ko-KR" sz="1600" spc="-50" dirty="0"/>
              <a:t>)</a:t>
            </a:r>
          </a:p>
          <a:p>
            <a:pPr marL="92075">
              <a:lnSpc>
                <a:spcPct val="150000"/>
              </a:lnSpc>
            </a:pPr>
            <a:r>
              <a:rPr lang="ko-KR" altLang="en-US" sz="1600" u="sng" spc="-50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　</a:t>
            </a:r>
            <a:endParaRPr lang="en-US" altLang="ko-KR" sz="1600" u="sng" spc="-50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개별 면담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703</a:t>
            </a:r>
            <a:r>
              <a:rPr lang="ko-KR" altLang="en-US" sz="1600" spc="-50" dirty="0"/>
              <a:t>호 노크해서 내가 자리에 있으면 언제든지 환영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미리 이메일 통해서 약속 잡는 것도 환영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면담내용은 어떤 내용도 환영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781482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A3B9D8C-8242-EEE1-56FA-15EBDA1F1EF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6D161C5-DB64-6DD0-C40B-CF7B48678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887848"/>
            <a:ext cx="11007224" cy="1169803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ko-KR" altLang="en-US" b="1" i="0" spc="150" dirty="0"/>
              <a:t>개 요</a:t>
            </a:r>
            <a:endParaRPr lang="ko-KR" altLang="en-US" sz="5400" i="0" spc="15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8F76D0-30A3-FA1B-F97A-0C78EB1E6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7823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CA8D82-0097-C179-A620-3BFDCD2DA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실증경제학</a:t>
            </a:r>
            <a:r>
              <a:rPr lang="en-US" altLang="ko-KR" dirty="0"/>
              <a:t> vs. </a:t>
            </a:r>
            <a:r>
              <a:rPr lang="ko-KR" altLang="en-US" dirty="0"/>
              <a:t>규범경제학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122CC2-A4CB-8C8B-ED93-CAFD82AB5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627800-66DA-3E34-DECC-DF0EA00569DD}"/>
              </a:ext>
            </a:extLst>
          </p:cNvPr>
          <p:cNvSpPr txBox="1"/>
          <p:nvPr/>
        </p:nvSpPr>
        <p:spPr>
          <a:xfrm>
            <a:off x="678872" y="1038536"/>
            <a:ext cx="10975831" cy="49383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실증경제학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92075">
              <a:lnSpc>
                <a:spcPct val="150000"/>
              </a:lnSpc>
            </a:pPr>
            <a:r>
              <a:rPr lang="ko-KR" altLang="en-US" sz="1600" spc="-50" dirty="0"/>
              <a:t>경제현상을 설명하고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예측 분석하는 학문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가치판단 없이 원인과 결과를 규명</a:t>
            </a:r>
            <a:r>
              <a:rPr lang="en-US" altLang="ko-KR" sz="1600" spc="-50" dirty="0"/>
              <a:t>.</a:t>
            </a:r>
          </a:p>
          <a:p>
            <a:pPr marL="92075">
              <a:lnSpc>
                <a:spcPct val="150000"/>
              </a:lnSpc>
            </a:pPr>
            <a:r>
              <a:rPr lang="ko-KR" altLang="en-US" sz="1600" spc="-50" dirty="0"/>
              <a:t>예시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탄소세가 </a:t>
            </a:r>
            <a:r>
              <a:rPr lang="en-US" altLang="ko-KR" sz="1600" spc="-50" dirty="0"/>
              <a:t>10,000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/tCO</a:t>
            </a:r>
            <a:r>
              <a:rPr lang="en-US" altLang="ko-KR" sz="1600" spc="-50" baseline="-25000" dirty="0"/>
              <a:t>2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온실가스는 얼만큼 감축될까</a:t>
            </a:r>
            <a:r>
              <a:rPr lang="en-US" altLang="ko-KR" sz="1600" spc="-50" dirty="0"/>
              <a:t>?</a:t>
            </a:r>
          </a:p>
          <a:p>
            <a:pPr marL="92075">
              <a:lnSpc>
                <a:spcPct val="150000"/>
              </a:lnSpc>
            </a:pPr>
            <a:endParaRPr lang="en-US" altLang="ko-KR" sz="1600" u="sng" spc="-50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규범경제학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92075">
              <a:lnSpc>
                <a:spcPct val="150000"/>
              </a:lnSpc>
            </a:pPr>
            <a:r>
              <a:rPr lang="ko-KR" altLang="en-US" sz="1600" spc="-50" dirty="0"/>
              <a:t>경제정책이나 상황에 대해 무엇이 </a:t>
            </a:r>
            <a:r>
              <a:rPr lang="ko-KR" altLang="en-US" sz="1600" spc="-50" dirty="0" err="1"/>
              <a:t>바람직한지</a:t>
            </a:r>
            <a:r>
              <a:rPr lang="ko-KR" altLang="en-US" sz="1600" spc="-50" dirty="0"/>
              <a:t> 논의하는 학문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가치 판단을 통해 정책방향을 제시</a:t>
            </a:r>
            <a:r>
              <a:rPr lang="en-US" altLang="ko-KR" sz="1600" spc="-50" dirty="0"/>
              <a:t>.</a:t>
            </a:r>
          </a:p>
          <a:p>
            <a:pPr marL="92075">
              <a:lnSpc>
                <a:spcPct val="150000"/>
              </a:lnSpc>
            </a:pPr>
            <a:r>
              <a:rPr lang="ko-KR" altLang="en-US" sz="1600" spc="-50" dirty="0"/>
              <a:t>예시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탄소세를 얼마나 높여야 하는가</a:t>
            </a:r>
            <a:r>
              <a:rPr lang="en-US" altLang="ko-KR" sz="1600" spc="-50" dirty="0"/>
              <a:t>?</a:t>
            </a:r>
          </a:p>
          <a:p>
            <a:pPr marL="92075">
              <a:lnSpc>
                <a:spcPct val="150000"/>
              </a:lnSpc>
            </a:pPr>
            <a:endParaRPr lang="en-US" altLang="ko-KR" sz="1600" spc="-50" dirty="0"/>
          </a:p>
          <a:p>
            <a:pPr marL="92075"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실증 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-&gt;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 규범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실증적 결과가 있어야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가치판단을 통해 건설적인 토론이 가능</a:t>
            </a:r>
            <a:endParaRPr lang="en-US" altLang="ko-KR" sz="1600" spc="-50" dirty="0"/>
          </a:p>
          <a:p>
            <a:pPr marL="92075">
              <a:lnSpc>
                <a:spcPct val="150000"/>
              </a:lnSpc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우리 수업에서는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92075">
              <a:lnSpc>
                <a:spcPct val="150000"/>
              </a:lnSpc>
            </a:pPr>
            <a:r>
              <a:rPr lang="ko-KR" altLang="en-US" sz="1600" spc="-50" dirty="0"/>
              <a:t>우리 수업에서는 실증경제학의 범위 내에서 환경경제학을 배울 예정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58940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8E53AA-7D50-5F4A-320F-293F31547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 경제학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66E9B2-B0DB-FDCD-AA50-636EA4E5B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26B103-0BDB-EFC8-6738-366A56F8477A}"/>
              </a:ext>
            </a:extLst>
          </p:cNvPr>
          <p:cNvSpPr txBox="1"/>
          <p:nvPr/>
        </p:nvSpPr>
        <p:spPr>
          <a:xfrm>
            <a:off x="678872" y="1038536"/>
            <a:ext cx="11087678" cy="52615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미시 경제학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92075">
              <a:lnSpc>
                <a:spcPct val="150000"/>
              </a:lnSpc>
            </a:pPr>
            <a:r>
              <a:rPr lang="ko-KR" altLang="en-US" sz="1600" spc="-50" dirty="0"/>
              <a:t>경제주체가 어떤 동기를 가지고 어떻게 생산행위나 소비행위와 같은 경제적인 의사결정을 하는지 연구하는 학문</a:t>
            </a:r>
            <a:endParaRPr lang="en-US" altLang="ko-KR" sz="1600" spc="-50" dirty="0"/>
          </a:p>
          <a:p>
            <a:pPr marL="92075">
              <a:lnSpc>
                <a:spcPct val="150000"/>
              </a:lnSpc>
            </a:pPr>
            <a:endParaRPr lang="en-US" altLang="ko-KR" sz="1600" u="sng" spc="-50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거시 경제학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92075">
              <a:lnSpc>
                <a:spcPct val="150000"/>
              </a:lnSpc>
            </a:pPr>
            <a:r>
              <a:rPr lang="ko-KR" altLang="en-US" sz="1600" spc="-50" dirty="0"/>
              <a:t>국민총생산액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성장률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실업률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이자율 등 국가 경제의 거시적인 변수들이 형성되고 움직이는 관계를 연구하는 학문</a:t>
            </a:r>
            <a:endParaRPr lang="en-US" altLang="ko-KR" sz="1600" spc="-50" dirty="0"/>
          </a:p>
          <a:p>
            <a:pPr marL="92075">
              <a:lnSpc>
                <a:spcPct val="150000"/>
              </a:lnSpc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환경 경제학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92075">
              <a:lnSpc>
                <a:spcPct val="150000"/>
              </a:lnSpc>
            </a:pPr>
            <a:r>
              <a:rPr lang="ko-KR" altLang="en-US" sz="1600" spc="-50" dirty="0"/>
              <a:t>자연환경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혹은 환경자원을 어떤 방식으로 개발하고 </a:t>
            </a:r>
            <a:r>
              <a:rPr lang="ko-KR" altLang="en-US" sz="1600" spc="-50" dirty="0" err="1"/>
              <a:t>관리할지의</a:t>
            </a:r>
            <a:r>
              <a:rPr lang="ko-KR" altLang="en-US" sz="1600" spc="-50" dirty="0"/>
              <a:t> 문제를 경제학적인 원리를 적용하여 연구하는 학문 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경제주체가 자연환경에 어떤 식으로 영향을 줄까</a:t>
            </a:r>
            <a:r>
              <a:rPr lang="en-US" altLang="ko-KR" sz="1600" spc="-5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인간의 소비 욕구 충족과 자연생태계 보존이 조화를 이루기 위해 정부 정책이나 경제제도가 어떻게 형성되야 할까</a:t>
            </a:r>
            <a:r>
              <a:rPr lang="en-US" altLang="ko-KR" sz="1600" spc="-5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92075">
              <a:lnSpc>
                <a:spcPct val="150000"/>
              </a:lnSpc>
            </a:pPr>
            <a:endParaRPr lang="en-US" altLang="ko-KR" sz="1600" spc="-50" dirty="0"/>
          </a:p>
          <a:p>
            <a:pPr marL="92075">
              <a:lnSpc>
                <a:spcPct val="150000"/>
              </a:lnSpc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52177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45874-0A12-493E-A9C8-38C1437AF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0FAA29-F8FE-86C7-FD10-48C4AAED9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환경경제학에서 다루는 여러가지 주제들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E89583-A4A0-DA9D-4C70-6F0EE66E6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534B9423-B5DC-0506-9A06-5986231E4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92" y="1471205"/>
            <a:ext cx="4945726" cy="609112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D6B2A91B-2FE1-DB34-1A60-2C222B53C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603" y="2393950"/>
            <a:ext cx="3579505" cy="232005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F2617E05-DAC6-6BEE-3EE8-3DBEDF01EB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603" y="3053258"/>
            <a:ext cx="3579505" cy="275437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8EACF95-95D7-C2E4-6450-BA37B97283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4243" y="1471205"/>
            <a:ext cx="3586989" cy="60911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9B04E76-9F8F-8123-92F3-079E558C11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8932" y="2320933"/>
            <a:ext cx="4177610" cy="45371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2D292B5B-5F40-CCD6-3B16-7E2033CC82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2477" y="3053258"/>
            <a:ext cx="3030520" cy="261659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6AE11BB2-E9F0-3F6B-80A1-1C7B0ACA7A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2477" y="5710678"/>
            <a:ext cx="1954942" cy="11981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3875278-A554-CE9C-20F8-143C0D95E4F7}"/>
              </a:ext>
            </a:extLst>
          </p:cNvPr>
          <p:cNvSpPr txBox="1"/>
          <p:nvPr/>
        </p:nvSpPr>
        <p:spPr>
          <a:xfrm>
            <a:off x="6598932" y="5871322"/>
            <a:ext cx="370044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/>
              <a:t>https://www.hkbs.co.kr/news/articleView.html?idxno=804038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DB3B96-68CD-FDF1-D479-81B84E9D4298}"/>
              </a:ext>
            </a:extLst>
          </p:cNvPr>
          <p:cNvSpPr txBox="1"/>
          <p:nvPr/>
        </p:nvSpPr>
        <p:spPr>
          <a:xfrm>
            <a:off x="637492" y="5871323"/>
            <a:ext cx="370044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/>
              <a:t>https://www.hkbs.co.kr/news/articleView.html?idxno=804644</a:t>
            </a:r>
          </a:p>
        </p:txBody>
      </p:sp>
    </p:spTree>
    <p:extLst>
      <p:ext uri="{BB962C8B-B14F-4D97-AF65-F5344CB8AC3E}">
        <p14:creationId xmlns:p14="http://schemas.microsoft.com/office/powerpoint/2010/main" val="633511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929B47-9E1B-F3E3-185D-5263F51E7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환경경제학에서 다루는 여러가지 주제들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C868A8-2336-891D-8F8F-AE72C84AC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D268C5-C989-3549-0B43-DF1B4C75EF8B}"/>
              </a:ext>
            </a:extLst>
          </p:cNvPr>
          <p:cNvSpPr txBox="1"/>
          <p:nvPr/>
        </p:nvSpPr>
        <p:spPr>
          <a:xfrm>
            <a:off x="760154" y="2810425"/>
            <a:ext cx="335328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/>
              <a:t>https://www.hkbs.co.kr/news/articleView.html?idxno=804655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3916BF2E-1455-4C55-8A3B-1182287ED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393" y="1499001"/>
            <a:ext cx="3924000" cy="592529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DECB40D-05B0-AB95-FFCB-6ED6297EF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537" y="2374266"/>
            <a:ext cx="3832106" cy="376010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B6422AC2-748B-D00C-6ADC-53A0347030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9364" y="1458167"/>
            <a:ext cx="5431569" cy="633363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6DCFEB51-EB59-2A33-B48A-62AB199052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9364" y="2290177"/>
            <a:ext cx="4598470" cy="373055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0CAE3199-B49D-3932-B382-F9E8D7D03E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0262" y="3071473"/>
            <a:ext cx="3576673" cy="266029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FB58ADB1-42EC-8C2C-22FB-0B23AC24D216}"/>
              </a:ext>
            </a:extLst>
          </p:cNvPr>
          <p:cNvSpPr txBox="1"/>
          <p:nvPr/>
        </p:nvSpPr>
        <p:spPr>
          <a:xfrm>
            <a:off x="5790063" y="5871323"/>
            <a:ext cx="370044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https://www.hkbs.co.kr/news/articleView.html?idxno=804652</a:t>
            </a:r>
            <a:endParaRPr lang="ko-KR" altLang="en-US" sz="1000" dirty="0"/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F8135016-2B32-1E91-35CB-6421555E87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537" y="3429000"/>
            <a:ext cx="3753956" cy="261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799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50A8A9-B3F6-9EF9-EA26-931E0C929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생활 속의 환경경제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EF89B1-62CE-5B0A-BF11-F8747552B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B20294-E052-C62E-3DBC-73718D3A05CD}"/>
              </a:ext>
            </a:extLst>
          </p:cNvPr>
          <p:cNvSpPr txBox="1"/>
          <p:nvPr/>
        </p:nvSpPr>
        <p:spPr>
          <a:xfrm>
            <a:off x="678872" y="1038536"/>
            <a:ext cx="10975831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쓰레기 종량제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1995</a:t>
            </a:r>
            <a:r>
              <a:rPr lang="ko-KR" altLang="en-US" sz="1600" spc="-50" dirty="0"/>
              <a:t>년 이전에는 건물면적 혹은 재산세 납부액에 비례하여 쓰레기 수거료를 납부하는 방식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쓰레기 배출량을 줄여야할 경제적 유인이 없음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1995</a:t>
            </a:r>
            <a:r>
              <a:rPr lang="ko-KR" altLang="en-US" sz="1600" spc="-50" dirty="0"/>
              <a:t>년 이후로 쓰레기 종량제 도입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일반쓰레기를 배출할 때에는 종량제 봉투를 사용하는 방식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쓰레기 배출량과 처리비용 </a:t>
            </a:r>
            <a:r>
              <a:rPr lang="en-US" altLang="ko-KR" sz="1600" spc="-50" dirty="0"/>
              <a:t>(</a:t>
            </a:r>
            <a:r>
              <a:rPr lang="ko-KR" altLang="en-US" sz="1600" spc="-50" dirty="0" err="1"/>
              <a:t>종량제봉투</a:t>
            </a:r>
            <a:r>
              <a:rPr lang="ko-KR" altLang="en-US" sz="1600" spc="-50" dirty="0"/>
              <a:t> 구매비용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이 비례하므로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쓰레기를 줄여야 하는 경제적 유인이 존재</a:t>
            </a:r>
            <a:r>
              <a:rPr lang="en-US" altLang="ko-KR" sz="1600" spc="-50" dirty="0"/>
              <a:t>.</a:t>
            </a:r>
          </a:p>
          <a:p>
            <a:pPr marL="92075">
              <a:lnSpc>
                <a:spcPct val="150000"/>
              </a:lnSpc>
            </a:pPr>
            <a:endParaRPr lang="en-US" altLang="ko-KR" sz="1600" u="sng" spc="-50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생산자 책임 재활용제도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제품 생산자나 포장재를 이용한 제품의 생산자에게 그 제품이나 포장재의 폐기물에 대하여 일정량의 재활용의무를 부여하여 재활용하게 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이를 이행하지 않을 경우 재활용에 소요되는 비용 이상의 재활용 부과금을 생산자에게 부과하는 제도</a:t>
            </a:r>
            <a:endParaRPr lang="en-US" altLang="ko-KR" sz="1600" spc="-50" dirty="0"/>
          </a:p>
          <a:p>
            <a:pPr>
              <a:lnSpc>
                <a:spcPct val="150000"/>
              </a:lnSpc>
            </a:pP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혼잡통행료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자동차 운행의 증가는 도로 혼잡도를 높여 통행자의 시간 손실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연료 소비를 증가시킴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80588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5E0E3D-A421-11C5-7F28-25444AC1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환경경제학의 주요 주제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96A905-8541-5F7D-742D-17AB197F3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34423E-9AE5-ACFF-6BC7-AACA52353564}"/>
              </a:ext>
            </a:extLst>
          </p:cNvPr>
          <p:cNvSpPr txBox="1"/>
          <p:nvPr/>
        </p:nvSpPr>
        <p:spPr>
          <a:xfrm>
            <a:off x="678872" y="1038536"/>
            <a:ext cx="10975831" cy="4661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시장실패와 외부효과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spc="-50" dirty="0"/>
              <a:t>(</a:t>
            </a:r>
            <a:r>
              <a:rPr lang="ko-KR" altLang="en-US" sz="1600" b="1" spc="-50" dirty="0"/>
              <a:t>공공재</a:t>
            </a:r>
            <a:r>
              <a:rPr lang="en-US" altLang="ko-KR" sz="1600" b="1" spc="-50" dirty="0"/>
              <a:t>)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환경경제학에서 다루는 재화 및 서비스는 </a:t>
            </a:r>
            <a:r>
              <a:rPr lang="ko-KR" altLang="en-US" sz="1600" b="1" spc="-50" dirty="0"/>
              <a:t>공공재</a:t>
            </a:r>
            <a:r>
              <a:rPr lang="ko-KR" altLang="en-US" sz="1600" spc="-50" dirty="0"/>
              <a:t>의 성격이 강함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소유권이 존재하지 않거나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개인이 아닌 집단에게 소유권이 부여된 환경자원이 많음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spc="-50" dirty="0"/>
              <a:t>(</a:t>
            </a:r>
            <a:r>
              <a:rPr lang="ko-KR" altLang="en-US" sz="1600" b="1" spc="-50" dirty="0"/>
              <a:t>외부효과</a:t>
            </a:r>
            <a:r>
              <a:rPr lang="en-US" altLang="ko-KR" sz="1600" b="1" spc="-50" dirty="0"/>
              <a:t>) </a:t>
            </a:r>
            <a:r>
              <a:rPr lang="ko-KR" altLang="en-US" sz="1600" spc="-50" dirty="0"/>
              <a:t>경제주체의 행위가 제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자에게 의도치 않은 이익이나 손해를 주지만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효과가 시장 가격에 반영되지 않음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양봉업자가 키우는 벌들이 인근 과수원에 가서 꽃가루를 옮기며 꽃을 수분 시킴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이는 과수원 과일 생산량을 늘림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공장에서 하천에 </a:t>
            </a:r>
            <a:r>
              <a:rPr lang="ko-KR" altLang="en-US" sz="1600" spc="-50" dirty="0" err="1"/>
              <a:t>오염수를</a:t>
            </a:r>
            <a:r>
              <a:rPr lang="ko-KR" altLang="en-US" sz="1600" spc="-50" dirty="0"/>
              <a:t> 방류해 하류 어업 종사자들이 피해를 입는 경우</a:t>
            </a:r>
            <a:endParaRPr lang="en-US" altLang="ko-KR" sz="1600" spc="-50" dirty="0"/>
          </a:p>
          <a:p>
            <a:pPr marL="92075">
              <a:lnSpc>
                <a:spcPct val="150000"/>
              </a:lnSpc>
            </a:pPr>
            <a:endParaRPr lang="en-US" altLang="ko-KR" sz="1600" u="sng" spc="-50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환경정책의 수립과 집행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환경재</a:t>
            </a:r>
            <a:r>
              <a:rPr lang="ko-KR" altLang="en-US" sz="1600" spc="-50" dirty="0"/>
              <a:t> 이용을 시장기능에 자율적으로 맡기면 환경피해가 커질 우려가 있음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효율적인 </a:t>
            </a:r>
            <a:r>
              <a:rPr lang="ko-KR" altLang="en-US" sz="1600" spc="-50" dirty="0" err="1"/>
              <a:t>환경재</a:t>
            </a:r>
            <a:r>
              <a:rPr lang="ko-KR" altLang="en-US" sz="1600" spc="-50" dirty="0"/>
              <a:t> 이용을 위해 경제적 유인을 어떻게 사용할 수 있을지 검토가 필요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오염물질에 대해 배출부과금을 부과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오염물질 배출량 한도를 부여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003891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1D9EA1-BCB1-13A7-8943-3DBD533D7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환경경제학의 주요 주제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ABEAF0-5630-E526-57CA-C43BD36FF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C4E7F3-EA10-6A47-8781-17F1292D78E5}"/>
              </a:ext>
            </a:extLst>
          </p:cNvPr>
          <p:cNvSpPr txBox="1"/>
          <p:nvPr/>
        </p:nvSpPr>
        <p:spPr>
          <a:xfrm>
            <a:off x="678872" y="1038536"/>
            <a:ext cx="10975831" cy="281468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환경정책의 비용 편익 분석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환경정책을 실행할 때 소요되는 비용과 발생하는 편익을 계산하여 정책입안에 기초자료로 활용</a:t>
            </a:r>
            <a:endParaRPr lang="en-US" altLang="ko-KR" sz="1600" b="1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환경재는 시장에서 거래되는 일반 시장재와 달리 가격이 존재하지 않아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어려운 부분이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경제발전과 환경보존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한때 경제발전과 환경보존은 서로 대립하는 문제라 인식되었으나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경제가 발달한 선진국보다는 저개발국의 환경문제가 더욱 심각하다는 사실이 밝혀짐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70890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39DE9-F124-8AD1-1B3E-7239D5C1C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AF914A4-7E62-6842-6D5E-D0527C9950C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668F2F4-C40F-A357-72D8-F7655A994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2995798"/>
            <a:ext cx="7740651" cy="1169803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ko-KR" altLang="en-US" b="1" i="0" spc="150" dirty="0">
                <a:ea typeface="HY헤드라인M" panose="02030600000101010101"/>
              </a:rPr>
              <a:t>경제와 자연환경</a:t>
            </a:r>
            <a:endParaRPr lang="ko-KR" altLang="en-US" sz="5400" i="0" spc="15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B45A8B-61E2-6F78-56FC-B63048738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4125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68F4D-1980-8CE0-25FC-1DD646F8F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12C4A5-5B6B-B082-486A-791821F2C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경제와 환경의 상호관련성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2310A7-2FCA-3C38-1B5B-B0613F048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F9A69D-97C5-3370-0A90-D0F7D193F1E7}"/>
              </a:ext>
            </a:extLst>
          </p:cNvPr>
          <p:cNvSpPr txBox="1"/>
          <p:nvPr/>
        </p:nvSpPr>
        <p:spPr>
          <a:xfrm>
            <a:off x="678872" y="1038536"/>
            <a:ext cx="10975831" cy="53538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물질균형접근법 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(Kneese et al., 1970)</a:t>
            </a: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가장 일차적으로는 가계가 자연으로부터의 서비스를 직접적으로 소비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아름다운 자연경관으로부터의 즐거움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깨끗한 공기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또한 가계는 지구의 천연자원으로부터 다양한 물질과 에너지를 추출하여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생산요소시장에 공급</a:t>
            </a:r>
            <a:endParaRPr lang="en-US" altLang="ko-KR" sz="1600" b="1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농부가 식품회사와 노동과 토지를 제공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기업은 생산요소시장에서 생산요소를 구매하여 최종생산물의 원료로 사용하고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최종 산출물을 산출물 시장에 공급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식품회사는 노동과 토지를 활용하여 밀가루를 생산하고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밀가루는 다시 가계에 공급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경제 행위 결과로 발생하여 자연으로 배출되는 폐기물이 발생 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자연의 흡수 기능에 의해 흡수되거나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예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음식물 쓰레기 퇴비화</a:t>
            </a:r>
            <a:r>
              <a:rPr lang="en-US" altLang="ko-KR" sz="1600" spc="-50" dirty="0"/>
              <a:t>), </a:t>
            </a:r>
            <a:r>
              <a:rPr lang="ko-KR" altLang="en-US" sz="1600" spc="-50" dirty="0"/>
              <a:t>오염물질의 형태로 자연에 잔류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예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온실가스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자원의 종류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자연이 공급해주는 자원은 두 종류로 구분할 수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재생가능자원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동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식물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태양에너지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풍력에너지 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재생불가능자원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석유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석탄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금속</a:t>
            </a:r>
            <a:endParaRPr lang="en-US" altLang="ko-KR" sz="1600" spc="-50" dirty="0"/>
          </a:p>
          <a:p>
            <a:pPr marL="549275" lvl="1">
              <a:lnSpc>
                <a:spcPct val="150000"/>
              </a:lnSpc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157773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F7351-04D3-BD83-8C9C-844D1DBF2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721744-48B5-8408-A63F-E37C479BA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열역학 법칙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779632-63AD-6204-BA79-3B80C423E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D9939B-ED34-5853-AF08-6694826F8B24}"/>
              </a:ext>
            </a:extLst>
          </p:cNvPr>
          <p:cNvSpPr txBox="1"/>
          <p:nvPr/>
        </p:nvSpPr>
        <p:spPr>
          <a:xfrm>
            <a:off x="678872" y="1038536"/>
            <a:ext cx="10975831" cy="318401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열역학 제 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1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법칙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에너지 보존의 법칙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에너지는 형태를 바꿀 수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총량은 변하지 않는다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자연으로부터 추출된 물질이나 에너지는 재활용이나 재사용을 통해 잠시 지체될 수 있지만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궁극적으로는 동일한 양의 폐기물로 전환되어 자연으로 환원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열역학 제 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법칙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엔트로피 증가의 법칙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엔트로피는 항상 증가하거나 유지 된다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열은 </a:t>
            </a:r>
            <a:r>
              <a:rPr lang="ko-KR" altLang="en-US" sz="1600" spc="-50" dirty="0" err="1"/>
              <a:t>고온에서</a:t>
            </a:r>
            <a:r>
              <a:rPr lang="ko-KR" altLang="en-US" sz="1600" spc="-50" dirty="0"/>
              <a:t> 저온으로 흐름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뜨거운 커피는 저절로 식지만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찬 커피는 저절로 뜨거워지지 않는다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01731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23805B-DC00-C94B-B011-ADCA509EF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환경오염 관련 기초 용어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F0DACC-065D-A587-10FB-3BDBB630E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DA18B9-D750-8952-4398-841872D83DF4}"/>
              </a:ext>
            </a:extLst>
          </p:cNvPr>
          <p:cNvSpPr txBox="1"/>
          <p:nvPr/>
        </p:nvSpPr>
        <p:spPr>
          <a:xfrm>
            <a:off x="678872" y="1038536"/>
            <a:ext cx="10975831" cy="423917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u="sng" dirty="0" err="1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환경질</a:t>
            </a:r>
            <a:r>
              <a:rPr lang="ko-KR" altLang="en-US" sz="11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11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(environmental quality)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spc="-50" dirty="0"/>
              <a:t>자연환경의 질적 상태를 표현</a:t>
            </a:r>
            <a:r>
              <a:rPr lang="en-US" altLang="ko-KR" sz="1050" spc="-50" dirty="0"/>
              <a:t>. </a:t>
            </a:r>
            <a:r>
              <a:rPr lang="ko-KR" altLang="en-US" sz="1050" spc="-50" dirty="0"/>
              <a:t>오염도</a:t>
            </a:r>
            <a:r>
              <a:rPr lang="en-US" altLang="ko-KR" sz="1050" spc="-50" dirty="0"/>
              <a:t>, </a:t>
            </a:r>
            <a:r>
              <a:rPr lang="ko-KR" altLang="en-US" sz="1050" spc="-50" dirty="0"/>
              <a:t>자연경관 등을 포함하는 매우 넓은 개념</a:t>
            </a:r>
            <a:endParaRPr lang="en-US" altLang="ko-KR" sz="105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500" spc="-50" dirty="0"/>
          </a:p>
          <a:p>
            <a:pPr>
              <a:lnSpc>
                <a:spcPct val="150000"/>
              </a:lnSpc>
            </a:pPr>
            <a:r>
              <a:rPr lang="ko-KR" altLang="en-US" sz="11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폐기물 </a:t>
            </a:r>
            <a:r>
              <a:rPr lang="en-US" altLang="ko-KR" sz="11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(residuals)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spc="-50" dirty="0"/>
              <a:t>산출물의 생산 혹은 소비 과정을 거치고 남은 물질</a:t>
            </a:r>
            <a:r>
              <a:rPr lang="en-US" altLang="ko-KR" sz="1050" spc="-50" dirty="0"/>
              <a:t>. (</a:t>
            </a:r>
            <a:r>
              <a:rPr lang="ko-KR" altLang="en-US" sz="1050" spc="-50" dirty="0"/>
              <a:t>산업폐기물</a:t>
            </a:r>
            <a:r>
              <a:rPr lang="en-US" altLang="ko-KR" sz="1050" spc="-50" dirty="0"/>
              <a:t>: </a:t>
            </a:r>
            <a:r>
              <a:rPr lang="ko-KR" altLang="en-US" sz="1050" spc="-50" dirty="0"/>
              <a:t>생산과정에서 남은 물질</a:t>
            </a:r>
            <a:r>
              <a:rPr lang="en-US" altLang="ko-KR" sz="1050" spc="-50" dirty="0"/>
              <a:t>, </a:t>
            </a:r>
            <a:r>
              <a:rPr lang="ko-KR" altLang="en-US" sz="1050" spc="-50" dirty="0"/>
              <a:t>생활폐기물</a:t>
            </a:r>
            <a:r>
              <a:rPr lang="en-US" altLang="ko-KR" sz="1050" spc="-50" dirty="0"/>
              <a:t>: </a:t>
            </a:r>
            <a:r>
              <a:rPr lang="ko-KR" altLang="en-US" sz="1050" spc="-50" dirty="0"/>
              <a:t>소비과정에서 남은 물질</a:t>
            </a:r>
            <a:r>
              <a:rPr lang="en-US" altLang="ko-KR" sz="1050" spc="-50" dirty="0"/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500" spc="-50" dirty="0"/>
          </a:p>
          <a:p>
            <a:pPr>
              <a:lnSpc>
                <a:spcPct val="150000"/>
              </a:lnSpc>
            </a:pPr>
            <a:r>
              <a:rPr lang="ko-KR" altLang="en-US" sz="11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오염물질 </a:t>
            </a:r>
            <a:r>
              <a:rPr lang="en-US" altLang="ko-KR" sz="11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(pollutant)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spc="-50" dirty="0"/>
              <a:t>자연으로 배출되면 환경질을 떨어뜨리는 물질이나 에너지</a:t>
            </a:r>
            <a:endParaRPr lang="en-US" altLang="ko-KR" sz="11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500" spc="-50" dirty="0"/>
          </a:p>
          <a:p>
            <a:pPr>
              <a:lnSpc>
                <a:spcPct val="150000"/>
              </a:lnSpc>
            </a:pPr>
            <a:r>
              <a:rPr lang="ko-KR" altLang="en-US" sz="11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오염물질 배출량 </a:t>
            </a:r>
            <a:r>
              <a:rPr lang="en-US" altLang="ko-KR" sz="11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(emission)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spc="-50" dirty="0"/>
              <a:t>폐기물 중 자연으로 배출된 오염물질의 양</a:t>
            </a:r>
            <a:endParaRPr lang="en-US" altLang="ko-KR" sz="1050" spc="-50" dirty="0"/>
          </a:p>
          <a:p>
            <a:pPr marL="92075">
              <a:lnSpc>
                <a:spcPct val="150000"/>
              </a:lnSpc>
            </a:pPr>
            <a:endParaRPr lang="en-US" altLang="ko-KR" sz="500" spc="-50" dirty="0"/>
          </a:p>
          <a:p>
            <a:pPr>
              <a:lnSpc>
                <a:spcPct val="150000"/>
              </a:lnSpc>
            </a:pPr>
            <a:r>
              <a:rPr lang="ko-KR" altLang="en-US" sz="11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오염원 </a:t>
            </a:r>
            <a:r>
              <a:rPr lang="en-US" altLang="ko-KR" sz="11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(sources)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spc="-50" dirty="0"/>
              <a:t>오염물질이 배출되는 장소 </a:t>
            </a:r>
            <a:r>
              <a:rPr lang="en-US" altLang="ko-KR" sz="1050" spc="-50" dirty="0"/>
              <a:t>(</a:t>
            </a:r>
            <a:r>
              <a:rPr lang="ko-KR" altLang="en-US" sz="1050" spc="-50" dirty="0"/>
              <a:t>예</a:t>
            </a:r>
            <a:r>
              <a:rPr lang="en-US" altLang="ko-KR" sz="1050" spc="-50" dirty="0"/>
              <a:t>: </a:t>
            </a:r>
            <a:r>
              <a:rPr lang="ko-KR" altLang="en-US" sz="1050" spc="-50" dirty="0"/>
              <a:t>공장</a:t>
            </a:r>
            <a:r>
              <a:rPr lang="en-US" altLang="ko-KR" sz="1050" spc="-50" dirty="0"/>
              <a:t>, </a:t>
            </a:r>
            <a:r>
              <a:rPr lang="ko-KR" altLang="en-US" sz="1050" spc="-50" dirty="0"/>
              <a:t>자동차</a:t>
            </a:r>
            <a:r>
              <a:rPr lang="en-US" altLang="ko-KR" sz="1050" spc="-50" dirty="0"/>
              <a:t>, </a:t>
            </a:r>
            <a:r>
              <a:rPr lang="ko-KR" altLang="en-US" sz="1050" spc="-50" dirty="0"/>
              <a:t>쓰레기 매립장</a:t>
            </a:r>
            <a:r>
              <a:rPr lang="en-US" altLang="ko-KR" sz="1050" spc="-50" dirty="0"/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500" spc="-50" dirty="0"/>
          </a:p>
          <a:p>
            <a:pPr>
              <a:lnSpc>
                <a:spcPct val="150000"/>
              </a:lnSpc>
            </a:pPr>
            <a:r>
              <a:rPr lang="ko-KR" altLang="en-US" sz="11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오염피해 </a:t>
            </a:r>
            <a:r>
              <a:rPr lang="en-US" altLang="ko-KR" sz="11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(damages)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spc="-50" dirty="0"/>
              <a:t>환경오염이 사람과 생태계에 미치는 부정적인 영향 </a:t>
            </a:r>
            <a:r>
              <a:rPr lang="en-US" altLang="ko-KR" sz="1050" spc="-50" dirty="0"/>
              <a:t>(</a:t>
            </a:r>
            <a:r>
              <a:rPr lang="ko-KR" altLang="en-US" sz="1050" spc="-50" dirty="0"/>
              <a:t>사람의 건강 악화</a:t>
            </a:r>
            <a:r>
              <a:rPr lang="en-US" altLang="ko-KR" sz="1050" spc="-50" dirty="0"/>
              <a:t>, </a:t>
            </a:r>
            <a:r>
              <a:rPr lang="ko-KR" altLang="en-US" sz="1050" spc="-50" dirty="0"/>
              <a:t>동식물 멸종</a:t>
            </a:r>
            <a:r>
              <a:rPr lang="en-US" altLang="ko-KR" sz="1050" spc="-50" dirty="0"/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500" spc="-50" dirty="0"/>
          </a:p>
          <a:p>
            <a:pPr>
              <a:lnSpc>
                <a:spcPct val="150000"/>
              </a:lnSpc>
            </a:pPr>
            <a:r>
              <a:rPr lang="ko-KR" altLang="en-US" sz="11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환경매체 </a:t>
            </a:r>
            <a:r>
              <a:rPr lang="en-US" altLang="ko-KR" sz="11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(environmental medium)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spc="-50" dirty="0"/>
              <a:t>자연환경을 구성하는 요소 </a:t>
            </a:r>
            <a:r>
              <a:rPr lang="en-US" altLang="ko-KR" sz="1050" spc="-50" dirty="0"/>
              <a:t>(</a:t>
            </a:r>
            <a:r>
              <a:rPr lang="ko-KR" altLang="en-US" sz="1050" spc="-50" dirty="0"/>
              <a:t>예</a:t>
            </a:r>
            <a:r>
              <a:rPr lang="en-US" altLang="ko-KR" sz="1050" spc="-50" dirty="0"/>
              <a:t>: </a:t>
            </a:r>
            <a:r>
              <a:rPr lang="ko-KR" altLang="en-US" sz="1050" spc="-50" dirty="0"/>
              <a:t>토지</a:t>
            </a:r>
            <a:r>
              <a:rPr lang="en-US" altLang="ko-KR" sz="1050" spc="-50" dirty="0"/>
              <a:t>, </a:t>
            </a:r>
            <a:r>
              <a:rPr lang="ko-KR" altLang="en-US" sz="1050" spc="-50" dirty="0"/>
              <a:t>물</a:t>
            </a:r>
            <a:r>
              <a:rPr lang="en-US" altLang="ko-KR" sz="1050" spc="-50" dirty="0"/>
              <a:t>, </a:t>
            </a:r>
            <a:r>
              <a:rPr lang="ko-KR" altLang="en-US" sz="1050" spc="-50" dirty="0"/>
              <a:t>대기</a:t>
            </a:r>
            <a:r>
              <a:rPr lang="en-US" altLang="ko-KR" sz="1050" spc="-50" dirty="0"/>
              <a:t>)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0101319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570D28-66AA-4AA0-273F-3A9360294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오염물질의 종류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6CD377-3BA0-AD10-646A-75B3FB56E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4EE817-E8FC-C59A-4927-87F4ECB3DD48}"/>
              </a:ext>
            </a:extLst>
          </p:cNvPr>
          <p:cNvSpPr txBox="1"/>
          <p:nvPr/>
        </p:nvSpPr>
        <p:spPr>
          <a:xfrm>
            <a:off x="678872" y="1038536"/>
            <a:ext cx="10975831" cy="39226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 err="1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축적성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 오염물질과 비축적성 오염물질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자연으로 배출된 후 오랫동안 머물면서 축적 되는지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아니면 소멸되는지에 따라 분류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축적성</a:t>
            </a:r>
            <a:r>
              <a:rPr lang="ko-KR" altLang="en-US" sz="1600" spc="-50" dirty="0"/>
              <a:t> 오염물질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이산화탄소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메탄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납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중금속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비축적성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오염물질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소음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악취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빛 공해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생태계의 조절능력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자연은 어느 정도의 오염물질을 흡수하여 분해하는 능력을 갖고 있음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생태계의 조절 능력을 벗어나 오염물질이 배출 되는 경우 자연에 오염물질이 축적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탄소배출양이 </a:t>
            </a:r>
            <a:r>
              <a:rPr lang="ko-KR" altLang="en-US" sz="1600" spc="-50" dirty="0" err="1"/>
              <a:t>탄소흡수량을</a:t>
            </a:r>
            <a:r>
              <a:rPr lang="ko-KR" altLang="en-US" sz="1600" spc="-50" dirty="0"/>
              <a:t> 초과하여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지속된 결과 기후변화가 초래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탄소배출양과 </a:t>
            </a:r>
            <a:r>
              <a:rPr lang="ko-KR" altLang="en-US" sz="1600" spc="-50" dirty="0" err="1"/>
              <a:t>탄소흡수량이</a:t>
            </a:r>
            <a:r>
              <a:rPr lang="ko-KR" altLang="en-US" sz="1600" spc="-50" dirty="0"/>
              <a:t> 같아지는 상황을 탄소중립</a:t>
            </a:r>
            <a:endParaRPr lang="en-US" altLang="ko-KR" sz="1600" spc="-5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D6CE495F-2286-670A-CFEA-CF24EE8BAEBE}"/>
              </a:ext>
            </a:extLst>
          </p:cNvPr>
          <p:cNvGrpSpPr/>
          <p:nvPr/>
        </p:nvGrpSpPr>
        <p:grpSpPr>
          <a:xfrm>
            <a:off x="7599899" y="4419328"/>
            <a:ext cx="3867940" cy="2025426"/>
            <a:chOff x="7756362" y="4650976"/>
            <a:chExt cx="4191091" cy="2025426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F4FF946E-8DFE-AAB0-F041-2CB882BFBD10}"/>
                </a:ext>
              </a:extLst>
            </p:cNvPr>
            <p:cNvSpPr/>
            <p:nvPr/>
          </p:nvSpPr>
          <p:spPr>
            <a:xfrm>
              <a:off x="7845573" y="4829175"/>
              <a:ext cx="3969102" cy="1823494"/>
            </a:xfrm>
            <a:prstGeom prst="roundRect">
              <a:avLst>
                <a:gd name="adj" fmla="val 5387"/>
              </a:avLst>
            </a:pr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97AEEE7-F778-3F6E-0D9F-BEDAB574A1B6}"/>
                </a:ext>
              </a:extLst>
            </p:cNvPr>
            <p:cNvSpPr txBox="1"/>
            <p:nvPr/>
          </p:nvSpPr>
          <p:spPr>
            <a:xfrm>
              <a:off x="7756362" y="4650976"/>
              <a:ext cx="4191091" cy="20254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1400" dirty="0">
                  <a:solidFill>
                    <a:schemeClr val="accent2">
                      <a:lumMod val="75000"/>
                    </a:schemeClr>
                  </a:solidFill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생태계 서비스</a:t>
              </a:r>
              <a:endParaRPr lang="en-US" altLang="ko-KR" sz="1400" dirty="0">
                <a:solidFill>
                  <a:schemeClr val="accent2">
                    <a:lumMod val="75000"/>
                  </a:schemeClr>
                </a:solidFill>
                <a:highlight>
                  <a:srgbClr val="FFFFFF"/>
                </a:highlight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 algn="ctr">
                <a:lnSpc>
                  <a:spcPct val="120000"/>
                </a:lnSpc>
              </a:pPr>
              <a:r>
                <a:rPr lang="ko-KR" altLang="en-US" sz="11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인간이 생태계 기능으로부터</a:t>
              </a:r>
              <a:endParaRPr lang="en-US" altLang="ko-KR" sz="1100" dirty="0">
                <a:highlight>
                  <a:srgbClr val="FFFFFF"/>
                </a:highlight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 algn="ctr">
                <a:lnSpc>
                  <a:spcPct val="120000"/>
                </a:lnSpc>
              </a:pPr>
              <a:r>
                <a:rPr lang="ko-KR" altLang="en-US" sz="11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직접 또는 간접적으로 얻는 혜택</a:t>
              </a:r>
              <a:endParaRPr lang="en-US" altLang="ko-KR" sz="1100" dirty="0">
                <a:highlight>
                  <a:srgbClr val="FFFFFF"/>
                </a:highlight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 algn="ctr">
                <a:lnSpc>
                  <a:spcPct val="120000"/>
                </a:lnSpc>
              </a:pPr>
              <a:endParaRPr lang="en-US" altLang="ko-KR" sz="1000" dirty="0">
                <a:highlight>
                  <a:srgbClr val="FFFFFF"/>
                </a:highlight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생태계 서비스는 </a:t>
              </a:r>
              <a:r>
                <a:rPr lang="en-US" altLang="ko-KR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4</a:t>
              </a:r>
              <a:r>
                <a:rPr lang="ko-KR" altLang="en-US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가지 유형으로 분류</a:t>
              </a:r>
              <a:endParaRPr lang="en-US" altLang="ko-KR" sz="1000" dirty="0">
                <a:highlight>
                  <a:srgbClr val="FFFFFF"/>
                </a:highlight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공급서비스 </a:t>
              </a:r>
              <a:r>
                <a:rPr lang="en-US" altLang="ko-KR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(provisioning): </a:t>
              </a:r>
              <a:r>
                <a:rPr lang="ko-KR" altLang="en-US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식량</a:t>
              </a:r>
              <a:r>
                <a:rPr lang="en-US" altLang="ko-KR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, </a:t>
              </a:r>
              <a:r>
                <a:rPr lang="ko-KR" altLang="en-US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식수</a:t>
              </a:r>
              <a:r>
                <a:rPr lang="en-US" altLang="ko-KR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, </a:t>
              </a:r>
              <a:r>
                <a:rPr lang="ko-KR" altLang="en-US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에너지 등을 공급</a:t>
              </a:r>
              <a:endParaRPr lang="en-US" altLang="ko-KR" sz="1000" dirty="0">
                <a:highlight>
                  <a:srgbClr val="FFFFFF"/>
                </a:highlight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조절서비스 </a:t>
              </a:r>
              <a:r>
                <a:rPr lang="en-US" altLang="ko-KR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(regulating]: </a:t>
              </a:r>
              <a:r>
                <a:rPr lang="ko-KR" altLang="en-US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대기</a:t>
              </a:r>
              <a:r>
                <a:rPr lang="en-US" altLang="ko-KR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, </a:t>
              </a:r>
              <a:r>
                <a:rPr lang="ko-KR" altLang="en-US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토양</a:t>
              </a:r>
              <a:r>
                <a:rPr lang="en-US" altLang="ko-KR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, </a:t>
              </a:r>
              <a:r>
                <a:rPr lang="ko-KR" altLang="en-US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기후</a:t>
              </a:r>
              <a:r>
                <a:rPr lang="en-US" altLang="ko-KR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, </a:t>
              </a:r>
              <a:r>
                <a:rPr lang="ko-KR" altLang="en-US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재해 등을 조절</a:t>
              </a:r>
              <a:endParaRPr lang="en-US" altLang="ko-KR" sz="1000" dirty="0">
                <a:highlight>
                  <a:srgbClr val="FFFFFF"/>
                </a:highlight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문화서비스 </a:t>
              </a:r>
              <a:r>
                <a:rPr lang="en-US" altLang="ko-KR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[cultural]: </a:t>
              </a:r>
              <a:r>
                <a:rPr lang="ko-KR" altLang="en-US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교육</a:t>
              </a:r>
              <a:r>
                <a:rPr lang="en-US" altLang="ko-KR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, </a:t>
              </a:r>
              <a:r>
                <a:rPr lang="ko-KR" altLang="en-US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레저</a:t>
              </a:r>
              <a:r>
                <a:rPr lang="en-US" altLang="ko-KR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, </a:t>
              </a:r>
              <a:r>
                <a:rPr lang="ko-KR" altLang="en-US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관광</a:t>
              </a:r>
              <a:r>
                <a:rPr lang="en-US" altLang="ko-KR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, </a:t>
              </a:r>
              <a:r>
                <a:rPr lang="ko-KR" altLang="en-US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휴양 등을 제공</a:t>
              </a:r>
              <a:endParaRPr lang="en-US" altLang="ko-KR" sz="1000" dirty="0">
                <a:highlight>
                  <a:srgbClr val="FFFFFF"/>
                </a:highlight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지지서비스 </a:t>
              </a:r>
              <a:r>
                <a:rPr lang="en-US" altLang="ko-KR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[supporting]: </a:t>
              </a:r>
              <a:r>
                <a:rPr lang="ko-KR" altLang="en-US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생물 다양성</a:t>
              </a:r>
              <a:r>
                <a:rPr lang="en-US" altLang="ko-KR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,</a:t>
              </a:r>
              <a:r>
                <a:rPr lang="ko-KR" altLang="en-US" sz="10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경작지 형성 등을 지지</a:t>
              </a:r>
              <a:endParaRPr lang="en-US" altLang="ko-KR" sz="1000" dirty="0">
                <a:highlight>
                  <a:srgbClr val="FFFFFF"/>
                </a:highlight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 algn="ctr">
                <a:lnSpc>
                  <a:spcPct val="120000"/>
                </a:lnSpc>
              </a:pPr>
              <a:r>
                <a:rPr lang="ko-KR" altLang="en-US" sz="10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참고자료</a:t>
              </a:r>
              <a:r>
                <a:rPr lang="en-US" altLang="ko-KR" sz="10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: http://evis.kei.re.kr/</a:t>
              </a:r>
              <a:endParaRPr lang="en-US" altLang="ko-KR" sz="1000" dirty="0">
                <a:highlight>
                  <a:srgbClr val="FFFFFF"/>
                </a:highlight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397438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D05D5-86F6-2BC9-81AE-42715B648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903F25-3545-8E73-414E-AF7B140E0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오염물질의 종류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338E92-740E-2F85-B555-68FCA2E99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D0EE8B-0BE9-E535-6A5E-0B57AFA761FB}"/>
              </a:ext>
            </a:extLst>
          </p:cNvPr>
          <p:cNvSpPr txBox="1"/>
          <p:nvPr/>
        </p:nvSpPr>
        <p:spPr>
          <a:xfrm>
            <a:off x="678872" y="1038536"/>
            <a:ext cx="10975831" cy="37841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국지적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,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 지역적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월경 오염물질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국지적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특정지역의 근처에만 영향을 주는 오염물질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자동차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난방 보일러에서 나오는 일산화탄소</a:t>
            </a:r>
            <a:r>
              <a:rPr lang="en-US" altLang="ko-KR" sz="1600" spc="-50" dirty="0"/>
              <a:t>(CO)</a:t>
            </a:r>
            <a:r>
              <a:rPr lang="ko-KR" altLang="en-US" sz="1600" spc="-50" dirty="0"/>
              <a:t>가 근처에서만 높은 농도를 보임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지역적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도시권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광역권역에 영향을 주는 오염물질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산성비는 </a:t>
            </a:r>
            <a:r>
              <a:rPr lang="en-US" altLang="ko-KR" sz="1600" spc="-50" dirty="0"/>
              <a:t>SO</a:t>
            </a:r>
            <a:r>
              <a:rPr lang="en-US" altLang="ko-KR" sz="1600" spc="-50" baseline="-25000" dirty="0"/>
              <a:t>2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NOx</a:t>
            </a:r>
            <a:r>
              <a:rPr lang="ko-KR" altLang="en-US" sz="1600" spc="-50" dirty="0"/>
              <a:t> 같은 물질이 주요 원인이며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수백 </a:t>
            </a:r>
            <a:r>
              <a:rPr lang="en-US" altLang="ko-KR" sz="1600" spc="-50" dirty="0"/>
              <a:t>km </a:t>
            </a:r>
            <a:r>
              <a:rPr lang="ko-KR" altLang="en-US" sz="1600" spc="-50" dirty="0"/>
              <a:t>이상을 이동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서울에서 주행하는 차량이 내뿜는 오염물질로 인해 대전에 산성비가 내리는 경우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월경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국경을 넘어 다른 나라에도 영향을 주는 오염물질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황사가 몽골의 고비사막에서 발생하여 한국과 일본에 까지 영향을 주는 경우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온실가스는 지구 전체에 기후변화를 일으키고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2855781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0DC4-8ABB-E8F2-684B-FD38546A4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EE5785-EBE4-CC66-1490-8AD7930E2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오염물질의 종류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3522AC-DFB3-783F-7A72-9C0E6C9E3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E75C60-93FC-E4A6-C452-286E27A8FB46}"/>
              </a:ext>
            </a:extLst>
          </p:cNvPr>
          <p:cNvSpPr txBox="1"/>
          <p:nvPr/>
        </p:nvSpPr>
        <p:spPr>
          <a:xfrm>
            <a:off x="678872" y="1038536"/>
            <a:ext cx="10975831" cy="544617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지상 오염물질과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전 지구적 오염물질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지상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지표면에 축적되어 환경을 파괴하는 오염물질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전 지구적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대기권에 축적되어 지구 전체의 환경을 파괴하는 오염물질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000" spc="-50" dirty="0"/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점원 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(point source)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 오염물질과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u="sng" dirty="0" err="1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비점원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(nonpoint source)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 오염물질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점원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오염물질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하나의 지점을 통해 오염물질이 배출되는 경우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공장 굴뚝에서 나오는 대기오염물질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발전소에서 냉각수 배출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 err="1"/>
              <a:t>비점원</a:t>
            </a:r>
            <a:r>
              <a:rPr lang="ko-KR" altLang="en-US" sz="1600" spc="-50" dirty="0"/>
              <a:t> 오염물질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넓은 지역에서 오염물질이 배출되는 경우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농경지에서 빗물에 씻겨 내려가는 질소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인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비료와 농약의 성분</a:t>
            </a:r>
            <a:r>
              <a:rPr lang="en-US" altLang="ko-KR" sz="1600" spc="-50" dirty="0"/>
              <a:t>)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산림에서의 토사 유출</a:t>
            </a:r>
            <a:endParaRPr lang="en-US" altLang="ko-KR" sz="1600" spc="-50" dirty="0"/>
          </a:p>
          <a:p>
            <a:pPr marL="549275" lvl="1">
              <a:lnSpc>
                <a:spcPct val="150000"/>
              </a:lnSpc>
            </a:pPr>
            <a:endParaRPr lang="en-US" altLang="ko-KR" sz="1000" spc="-50" dirty="0"/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연속적 오염과 간헐적 오염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연속적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꾸준하게 오염물질이 배출되는 경우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발전소 가동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자동차 통행</a:t>
            </a:r>
            <a:r>
              <a:rPr lang="en-US" altLang="ko-KR" sz="1600" spc="-50" dirty="0"/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간헐적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불규칙하게 간헐적으로 오염물질이 배출되는 경우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사고로 인한 방사능 유출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유조선 사고</a:t>
            </a:r>
            <a:r>
              <a:rPr lang="en-US" altLang="ko-KR" sz="1600" spc="-5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529554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4915</TotalTime>
  <Words>1263</Words>
  <Application>Microsoft Office PowerPoint</Application>
  <PresentationFormat>와이드스크린</PresentationFormat>
  <Paragraphs>207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4" baseType="lpstr">
      <vt:lpstr>HY헤드라인M</vt:lpstr>
      <vt:lpstr>KoPub돋움체 Light</vt:lpstr>
      <vt:lpstr>맑은 고딕</vt:lpstr>
      <vt:lpstr>Arial</vt:lpstr>
      <vt:lpstr>Wingdings</vt:lpstr>
      <vt:lpstr>Office 테마</vt:lpstr>
      <vt:lpstr>환 경   경 제 학</vt:lpstr>
      <vt:lpstr>수업개요</vt:lpstr>
      <vt:lpstr>개 요</vt:lpstr>
      <vt:lpstr>실증경제학 vs. 규범경제학</vt:lpstr>
      <vt:lpstr>환경 경제학?</vt:lpstr>
      <vt:lpstr>환경경제학에서 다루는 여러가지 주제들</vt:lpstr>
      <vt:lpstr>환경경제학에서 다루는 여러가지 주제들</vt:lpstr>
      <vt:lpstr>생활 속의 환경경제</vt:lpstr>
      <vt:lpstr>환경경제학의 주요 주제</vt:lpstr>
      <vt:lpstr>환경경제학의 주요 주제</vt:lpstr>
      <vt:lpstr>경제와 자연환경</vt:lpstr>
      <vt:lpstr>경제와 환경의 상호관련성</vt:lpstr>
      <vt:lpstr>열역학 법칙</vt:lpstr>
      <vt:lpstr>환경오염 관련 기초 용어</vt:lpstr>
      <vt:lpstr>오염물질의 종류</vt:lpstr>
      <vt:lpstr>오염물질의 종류</vt:lpstr>
      <vt:lpstr>오염물질의 종류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83</cp:revision>
  <dcterms:created xsi:type="dcterms:W3CDTF">2025-07-05T05:15:23Z</dcterms:created>
  <dcterms:modified xsi:type="dcterms:W3CDTF">2025-09-03T07:36:40Z</dcterms:modified>
</cp:coreProperties>
</file>