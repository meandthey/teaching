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375" r:id="rId2"/>
    <p:sldId id="399" r:id="rId3"/>
    <p:sldId id="405" r:id="rId4"/>
    <p:sldId id="393" r:id="rId5"/>
    <p:sldId id="433" r:id="rId6"/>
    <p:sldId id="434" r:id="rId7"/>
    <p:sldId id="435" r:id="rId8"/>
    <p:sldId id="436" r:id="rId9"/>
    <p:sldId id="437" r:id="rId10"/>
    <p:sldId id="438" r:id="rId11"/>
    <p:sldId id="439" r:id="rId12"/>
    <p:sldId id="441" r:id="rId13"/>
    <p:sldId id="443" r:id="rId14"/>
    <p:sldId id="444" r:id="rId15"/>
    <p:sldId id="445" r:id="rId16"/>
    <p:sldId id="446" r:id="rId17"/>
    <p:sldId id="442" r:id="rId18"/>
    <p:sldId id="447" r:id="rId19"/>
    <p:sldId id="449" r:id="rId20"/>
    <p:sldId id="450" r:id="rId21"/>
    <p:sldId id="451" r:id="rId22"/>
    <p:sldId id="453" r:id="rId23"/>
    <p:sldId id="454" r:id="rId24"/>
    <p:sldId id="456" r:id="rId25"/>
    <p:sldId id="457" r:id="rId26"/>
    <p:sldId id="458" r:id="rId27"/>
    <p:sldId id="459" r:id="rId28"/>
    <p:sldId id="461" r:id="rId29"/>
    <p:sldId id="460" r:id="rId30"/>
    <p:sldId id="463" r:id="rId31"/>
    <p:sldId id="364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12"/>
    <a:srgbClr val="E9E9E9"/>
    <a:srgbClr val="FFFFFF"/>
    <a:srgbClr val="E15F5F"/>
    <a:srgbClr val="F8F7FC"/>
    <a:srgbClr val="2D72BE"/>
    <a:srgbClr val="0047A0"/>
    <a:srgbClr val="E3605B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159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27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ts.krx.co.kr/main/main.j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- 3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262F-00A8-BD9A-4B85-FC963A1C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DBCE2-DEA9-2DD4-5A59-4378A23AB1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F995E1-B852-188D-F471-20EEC71C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CC3FA7-5A8C-F225-6150-5A49BD05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800" b="1" i="0" spc="150" dirty="0"/>
              <a:t>Part 3</a:t>
            </a:r>
            <a:br>
              <a:rPr lang="en-US" altLang="ko-KR" sz="4800" b="1" i="0" spc="150" dirty="0"/>
            </a:br>
            <a:br>
              <a:rPr lang="en-US" altLang="ko-KR" sz="4800" b="1" i="0" spc="150" dirty="0"/>
            </a:br>
            <a:r>
              <a:rPr lang="ko-KR" altLang="en-US" sz="4800" b="1" i="0" spc="150" dirty="0"/>
              <a:t>환경정책의 수립과 집행</a:t>
            </a:r>
            <a:endParaRPr lang="ko-KR" altLang="en-US" sz="4400" i="0" spc="150" dirty="0"/>
          </a:p>
        </p:txBody>
      </p:sp>
    </p:spTree>
    <p:extLst>
      <p:ext uri="{BB962C8B-B14F-4D97-AF65-F5344CB8AC3E}">
        <p14:creationId xmlns:p14="http://schemas.microsoft.com/office/powerpoint/2010/main" val="7739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환경정책의 평가기준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DC6-A7C1-936A-85EA-2657159B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98ECA-15DE-3B06-4432-AA56B5EA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오염피해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74C9F8-3142-EA32-1471-0CDD9301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1787F-AB1D-3DFA-462E-C052D4875F30}"/>
              </a:ext>
            </a:extLst>
          </p:cNvPr>
          <p:cNvSpPr txBox="1"/>
          <p:nvPr/>
        </p:nvSpPr>
        <p:spPr>
          <a:xfrm>
            <a:off x="678872" y="958844"/>
            <a:ext cx="10975831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 피해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사람과 생태계에 미치는 모든 피해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대기오염으로 인한 사람들의 호흡기 질환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산성비로 인한 건물의 부식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피해 함수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유발하는 피해를 화폐단위로 나타내는 것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공통의 단위로 변환되어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다양한 종류의 오염피해를 더하고 빼는 것이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총 피해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유발한 전체 피해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 피해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환경오염이 한 단위 더 늘어나면서 추가로 발생하는 피해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6080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97D8-197E-8242-496F-15088ADF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609CA-47E3-742E-4552-2093A338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한계피해곡선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B7121-D3D3-4C51-4256-64FB3B7C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9" name="그림 8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F054AD-D4DD-41CF-EEEB-3EB0B601B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31" y="2944536"/>
            <a:ext cx="8320949" cy="35530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2E09A-56D5-08AA-1267-DBA86D6FA780}"/>
              </a:ext>
            </a:extLst>
          </p:cNvPr>
          <p:cNvSpPr txBox="1"/>
          <p:nvPr/>
        </p:nvSpPr>
        <p:spPr>
          <a:xfrm>
            <a:off x="678872" y="958844"/>
            <a:ext cx="10975831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 오염피해 곡선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그래프 </a:t>
            </a:r>
            <a:r>
              <a:rPr lang="en-US" altLang="ko-KR" sz="1600" spc="-50" dirty="0"/>
              <a:t>a) </a:t>
            </a:r>
            <a:r>
              <a:rPr lang="ko-KR" altLang="en-US" sz="1600" spc="-50" dirty="0"/>
              <a:t>독성이 약한 오염물질의 경우 배출량이 적을 때에는 오염피해가 없다가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오염피해가 일정수준에 도달하면 급속히 증가하는 형태로 바뀜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그래프 </a:t>
            </a:r>
            <a:r>
              <a:rPr lang="en-US" altLang="ko-KR" sz="1600" spc="-50" dirty="0"/>
              <a:t>b)</a:t>
            </a:r>
            <a:r>
              <a:rPr lang="ko-KR" altLang="en-US" sz="1600" spc="-50" dirty="0"/>
              <a:t> 독성화학물질처럼 소량만으로도 환경피해를 유발하는 경우에는 배출량이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인 수준에서도 한계피해는 양의 값을 가질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2985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37AE-BD12-10AA-1CC2-6342962F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DF811-3471-6358-A056-85246325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 </a:t>
            </a:r>
            <a:r>
              <a:rPr lang="ko-KR" altLang="en-US" dirty="0" err="1"/>
              <a:t>저감량과</a:t>
            </a:r>
            <a:r>
              <a:rPr lang="ko-KR" altLang="en-US" dirty="0"/>
              <a:t> 한계편익곡선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3B390-1D3C-DC62-F1B8-1B9A5503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4699F-30A0-DCA7-49E4-CA828CDDCF3D}"/>
              </a:ext>
            </a:extLst>
          </p:cNvPr>
          <p:cNvSpPr txBox="1"/>
          <p:nvPr/>
        </p:nvSpPr>
        <p:spPr>
          <a:xfrm>
            <a:off x="678872" y="958844"/>
            <a:ext cx="712708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 저감량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혹은 </a:t>
            </a: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감축량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오염피해의 변화를 배출량 혹은 오염도로 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거꾸로 배출의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기준으로 표현 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한계편익곡선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줄어든 배출량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저감량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그로 인해 감소한 오염피해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간의 관계를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(x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오염자가 배출하던 배출량에서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줄어든 배출량을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값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저감량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(y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 배출량이 한 단위 추가로 감소하면서 발생하는 한계편익을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많은 상태에서는 배출량 한 단위를 줄였을 때 한계편익이 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배출량이 적은 상태로 갈수록 한계편익은 감소함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우하향</a:t>
            </a:r>
            <a:r>
              <a:rPr lang="ko-KR" altLang="en-US" sz="1600" spc="-50" dirty="0"/>
              <a:t> 곡선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6" name="그림 5" descr="라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45E0B6-5B30-BDDF-7520-6BD874096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392" y="1065402"/>
            <a:ext cx="4318398" cy="49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6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D9B5-1916-E640-C15E-16DB66533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F1681-F62E-CB89-EC94-99456A84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10422B-6DA7-A844-523B-9FC02E1A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B8E13-3600-A390-773A-474B5C1AFD1B}"/>
              </a:ext>
            </a:extLst>
          </p:cNvPr>
          <p:cNvSpPr txBox="1"/>
          <p:nvPr/>
        </p:nvSpPr>
        <p:spPr>
          <a:xfrm>
            <a:off x="678872" y="958844"/>
            <a:ext cx="11057326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오염원이 배출량을 줄이는데 발생하는 비용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한계저감비용곡선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배출량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</a:t>
            </a:r>
            <a:r>
              <a:rPr lang="ko-KR" altLang="en-US" sz="1600" spc="-50" dirty="0" err="1"/>
              <a:t>저감량과</a:t>
            </a:r>
            <a:r>
              <a:rPr lang="ko-KR" altLang="en-US" sz="1600" spc="-50" dirty="0"/>
              <a:t> 이를 달성하는데 필요한 비용과의 관계를 나타냄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(x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오염원의 배출 저감량 혹은 배출량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(y</a:t>
            </a:r>
            <a:r>
              <a:rPr lang="ko-KR" altLang="en-US" sz="1600" spc="-50" dirty="0"/>
              <a:t>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오염원이 배출량을 한 단위 추가로 저감하는데 발생하는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줄일 때 처음에는 손 쉽고 비용이 적게 드는 방법을 사용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더 많이 줄이기 위해서는 새로운 설비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생산공정 등을 바꾸어야 하므로 비용이 더욱 많이 </a:t>
            </a:r>
            <a:r>
              <a:rPr lang="ko-KR" altLang="en-US" sz="1600" spc="-50" dirty="0" err="1"/>
              <a:t>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저감량 기준 </a:t>
            </a:r>
            <a:r>
              <a:rPr lang="ko-KR" altLang="en-US" sz="1600" spc="-50" dirty="0" err="1"/>
              <a:t>우상향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배출량 기준 </a:t>
            </a:r>
            <a:r>
              <a:rPr lang="ko-KR" altLang="en-US" sz="1600" spc="-50" dirty="0" err="1"/>
              <a:t>우하향</a:t>
            </a:r>
            <a:r>
              <a:rPr lang="ko-KR" altLang="en-US" sz="1600" spc="-50" dirty="0"/>
              <a:t> 곡선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3" name="그림 1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1432A-7E38-4D90-3840-67628D6C1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763" y="3958191"/>
            <a:ext cx="6578368" cy="280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0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0577-3792-4C24-4D4A-ADC60494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0C9B8-0364-2C77-32BB-D844DB8E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 전체의 저감비용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74FCC8-025A-C87B-9D38-C8FFE00F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E3AF8-ACD2-C982-BD8C-8F49F5F5E6DB}"/>
              </a:ext>
            </a:extLst>
          </p:cNvPr>
          <p:cNvSpPr txBox="1"/>
          <p:nvPr/>
        </p:nvSpPr>
        <p:spPr>
          <a:xfrm>
            <a:off x="678872" y="958844"/>
            <a:ext cx="11027965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산업 전체의 한계저감비용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기업의 한계저감비용곡선의 수평 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 공급곡선을 통해 시장 공급곡선을 구할 때와 같은 방식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전체의 </a:t>
            </a:r>
            <a:r>
              <a:rPr lang="ko-KR" altLang="en-US" sz="1600" spc="-50" dirty="0" err="1"/>
              <a:t>저감량은</a:t>
            </a:r>
            <a:r>
              <a:rPr lang="ko-KR" altLang="en-US" sz="1600" spc="-50" dirty="0"/>
              <a:t> 각 기업의 한계저감비용이 동일하도록 각 기업에게 분배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산업의 전체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가장 적은 비용으로 저감할 수 있음을 의미</a:t>
            </a:r>
            <a:endParaRPr lang="en-US" altLang="ko-KR" sz="1600" spc="-50" dirty="0"/>
          </a:p>
        </p:txBody>
      </p:sp>
      <p:pic>
        <p:nvPicPr>
          <p:cNvPr id="11" name="그림 10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96F490-F745-9043-59C9-6ECD599B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4" y="2923564"/>
            <a:ext cx="11743601" cy="334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2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C19D-65AE-D4ED-5B4B-0AA99757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A1961-5DFD-7B28-3B1C-3E32246A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등한계원칙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4DD7D-C184-37B0-6D44-17039EEA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635584-A330-93C8-866D-A99CE741E259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27965" cy="500348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등한계원칙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동일한 종류의 오염물질을 배출하는 다수의 오염원이 존재하는 산업 전체가 목표로 하는 배출량이 있을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전체 배출량을 각 오염원의 한계저감비용이 동일하도록 오염원에게 분배하여야 전체 저감비용이 최소가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⋯,</m:t>
                    </m:r>
                    <m:sSubSup>
                      <m:sSub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오염물질을 배출하고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지역에서 목표로 하는 배출량은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 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오염원은 기존 배출양보다는 더 적은 양을 저감하고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조금이라도 오염물질 배출을 저감한다</a:t>
                </a:r>
                <a:r>
                  <a:rPr lang="en-US" altLang="ko-KR" sz="1600" spc="-50" dirty="0"/>
                  <a:t> (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0&lt;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오염원의 저감비용 함수는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), 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sz="1600" spc="-50" dirty="0"/>
                  <a:t> 라는 제약조건 하에서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ko-KR" altLang="en-US" sz="1600" spc="-50" dirty="0"/>
                  <a:t>를 최소화 </a:t>
                </a:r>
                <a:r>
                  <a:rPr lang="ko-KR" altLang="en-US" sz="1600" spc="-50" dirty="0" err="1"/>
                  <a:t>해야하는</a:t>
                </a:r>
                <a:r>
                  <a:rPr lang="ko-KR" altLang="en-US" sz="1600" spc="-50" dirty="0"/>
                  <a:t> 문제로 귀결되고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활용하는 문제로 바꿀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식을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ko-KR" altLang="en-US" sz="1600" spc="-50" dirty="0"/>
                  <a:t>에 대해 미분을 취한 값이 모두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되도록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식을 풀어보면 아래와 같음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635584-A330-93C8-866D-A99CE741E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27965" cy="5003486"/>
              </a:xfrm>
              <a:prstGeom prst="rect">
                <a:avLst/>
              </a:prstGeom>
              <a:blipFill>
                <a:blip r:embed="rId2"/>
                <a:stretch>
                  <a:fillRect l="-276" r="-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3D4823-4984-64E0-6DAA-23C72D5A7140}"/>
                  </a:ext>
                </a:extLst>
              </p:cNvPr>
              <p:cNvSpPr txBox="1"/>
              <p:nvPr/>
            </p:nvSpPr>
            <p:spPr>
              <a:xfrm>
                <a:off x="3975100" y="4466466"/>
                <a:ext cx="3261277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3D4823-4984-64E0-6DAA-23C72D5A7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00" y="4466466"/>
                <a:ext cx="3261277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91EFC3-100C-32D3-67E3-303FA1E78736}"/>
                  </a:ext>
                </a:extLst>
              </p:cNvPr>
              <p:cNvSpPr txBox="1"/>
              <p:nvPr/>
            </p:nvSpPr>
            <p:spPr>
              <a:xfrm>
                <a:off x="2592916" y="6084900"/>
                <a:ext cx="6134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91EFC3-100C-32D3-67E3-303FA1E78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916" y="6084900"/>
                <a:ext cx="6134100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74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AC9C9-EF59-93EA-5C3C-057981BE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환경의 최적 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F1E5C-1BE3-F6D6-3EE0-96B4F244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E90D1-77C1-4570-1645-F4BBCC061ABD}"/>
              </a:ext>
            </a:extLst>
          </p:cNvPr>
          <p:cNvSpPr txBox="1"/>
          <p:nvPr/>
        </p:nvSpPr>
        <p:spPr>
          <a:xfrm>
            <a:off x="678872" y="958844"/>
            <a:ext cx="11027965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최적 배출량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배출량은 오염물질 배출로 인한 한계오염피해와 오염물질 배출 한 단위 줄이는데 소요되는 한계저감비용이 같게 되는 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한계오염피해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한계저감비용</a:t>
            </a:r>
            <a:r>
              <a:rPr lang="en-US" altLang="ko-KR" sz="1600" spc="-5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최적 저감량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배출량은 오염물질 배출로 인한 한계편익과 한계저감비용이 같게 되는 배출량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한계편익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한계저감비용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0" name="그림 9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CA4308-B8C9-6C6C-3C52-274973E62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544" y="3011900"/>
            <a:ext cx="3144731" cy="3600000"/>
          </a:xfrm>
          <a:prstGeom prst="rect">
            <a:avLst/>
          </a:prstGeom>
        </p:spPr>
      </p:pic>
      <p:pic>
        <p:nvPicPr>
          <p:cNvPr id="16" name="그림 1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14139C-B088-1E2E-8A6D-F0E6A5BC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275" y="3011900"/>
            <a:ext cx="314473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11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2067-CB84-5EE9-41B8-E79BA19A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2B79C-BB54-785F-3449-48FB839F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외부요인에 따른 곡선의 이동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F853A-3ABE-27AF-76F7-463E893D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BA43D-A442-8A94-B41F-0D493EDE6037}"/>
              </a:ext>
            </a:extLst>
          </p:cNvPr>
          <p:cNvSpPr txBox="1"/>
          <p:nvPr/>
        </p:nvSpPr>
        <p:spPr>
          <a:xfrm>
            <a:off x="678872" y="958844"/>
            <a:ext cx="11027965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왼쪽 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지역의 인구 규모에 따라 최적 배출량 수준이 바뀔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(MD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en-US" altLang="ko-KR" sz="1600" spc="-50" dirty="0"/>
              <a:t> MD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인구가 많아지면 같은 배출량 이어도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지역에 미치는 피해는 커짐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오른쪽 그래프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배출 저감기술이 발전함에 따라 최적 배출량 수준이 바뀔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(MAC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→</a:t>
            </a:r>
            <a:r>
              <a:rPr lang="en-US" altLang="ko-KR" sz="1600" spc="-50" dirty="0"/>
              <a:t> MAC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기술이 발전하면 같은 금액으로 적은 양의 배출이 가능함</a:t>
            </a:r>
            <a:endParaRPr lang="en-US" altLang="ko-KR" sz="1600" spc="-50" dirty="0"/>
          </a:p>
        </p:txBody>
      </p:sp>
      <p:pic>
        <p:nvPicPr>
          <p:cNvPr id="15" name="그림 1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519ED1-123E-DA9A-E65A-14F3AC2E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45" y="2457978"/>
            <a:ext cx="3838160" cy="4393819"/>
          </a:xfrm>
          <a:prstGeom prst="rect">
            <a:avLst/>
          </a:prstGeom>
        </p:spPr>
      </p:pic>
      <p:pic>
        <p:nvPicPr>
          <p:cNvPr id="18" name="그림 17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D88DED-91B3-FB20-45FB-8E58C2B3A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440" y="2457979"/>
            <a:ext cx="3838160" cy="43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6773-B047-2CDC-26E4-DF35402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종류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73C1-C28E-84C5-41DD-9DC6930A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1EBBB9CD-EA25-8CE8-FBDA-99C3AD788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657180"/>
              </p:ext>
            </p:extLst>
          </p:nvPr>
        </p:nvGraphicFramePr>
        <p:xfrm>
          <a:off x="1567000" y="2522893"/>
          <a:ext cx="8548506" cy="309065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55833">
                  <a:extLst>
                    <a:ext uri="{9D8B030D-6E8A-4147-A177-3AD203B41FA5}">
                      <a16:colId xmlns:a16="http://schemas.microsoft.com/office/drawing/2014/main" val="1102978182"/>
                    </a:ext>
                  </a:extLst>
                </a:gridCol>
                <a:gridCol w="21693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4152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300806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분류기준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정책명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65492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제도적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경제적 유인이 없는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baseline="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직접규제</a:t>
                      </a:r>
                      <a:endParaRPr lang="en-US" altLang="ko-KR" sz="1300" b="0" kern="0" spc="0" baseline="0" dirty="0">
                        <a:solidFill>
                          <a:schemeClr val="tx2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환경기준을 사용하여 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654925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경제적 유인이 있는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부과금제도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보조금제도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가격변화를 이용해 이용 규제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6549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배출권거래제도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0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수량제한을 통해 오염규제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65492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사법적 규제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피해보상판결을 통해 규제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D836E0-A677-6EE8-5DC0-3B2AB1B4DCC3}"/>
              </a:ext>
            </a:extLst>
          </p:cNvPr>
          <p:cNvSpPr txBox="1"/>
          <p:nvPr/>
        </p:nvSpPr>
        <p:spPr>
          <a:xfrm>
            <a:off x="678872" y="958844"/>
            <a:ext cx="1102796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환경정책에는 많은 종류가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정책이 동일한 오염물질의 배출규제를 위해 결합되어 사용되기도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환경정책은 아래의 표처럼 간단하게 분류해볼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5514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1605-E6BB-175A-DCBA-F5820624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87F4-4800-747E-0784-5C480366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 사례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1AECF-5D3D-C81C-CA1D-77DF38E6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DC3C3-7489-B6AC-76DC-C7AFC088A64F}"/>
              </a:ext>
            </a:extLst>
          </p:cNvPr>
          <p:cNvSpPr txBox="1"/>
          <p:nvPr/>
        </p:nvSpPr>
        <p:spPr>
          <a:xfrm>
            <a:off x="678872" y="958844"/>
            <a:ext cx="1102796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대기환경보전법 제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배출허용기준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대기오염물질배출시설에서 나오는 대기오염물질의 배출허용기준은 환경부령으로 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대기환경보전법 시행규칙 제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배출허용기준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명시된 별표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은 아래와 같음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F43326-C9A7-19E7-DE98-C7B0F535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34" y="2933118"/>
            <a:ext cx="5445701" cy="25626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62116C-FB59-E4F9-E601-9A1BD4383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31" y="3458056"/>
            <a:ext cx="5582799" cy="307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9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C24B-B727-F6D3-1B75-F2BADF98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2895-31D5-E9D7-B834-8AE9352B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배출부과금을 통한 규제 사례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03299-EDED-1677-AE88-16EE5A0C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71624-2761-C427-3112-6A22950EA515}"/>
              </a:ext>
            </a:extLst>
          </p:cNvPr>
          <p:cNvSpPr txBox="1"/>
          <p:nvPr/>
        </p:nvSpPr>
        <p:spPr>
          <a:xfrm>
            <a:off x="678872" y="958844"/>
            <a:ext cx="11027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물환경보전법 제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환경부장관은 </a:t>
            </a:r>
            <a:r>
              <a:rPr lang="en-US" altLang="ko-KR" sz="1600" spc="-50" dirty="0"/>
              <a:t>(…) </a:t>
            </a:r>
            <a:r>
              <a:rPr lang="ko-KR" altLang="en-US" sz="1600" spc="-50" dirty="0"/>
              <a:t>수질오염물질을 배출하는 사업자 </a:t>
            </a:r>
            <a:r>
              <a:rPr lang="en-US" altLang="ko-KR" sz="1600" spc="-50" dirty="0"/>
              <a:t>(…)</a:t>
            </a:r>
            <a:r>
              <a:rPr lang="ko-KR" altLang="en-US" sz="1600" spc="-50" dirty="0"/>
              <a:t>에게 배출부과금을 부과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징수한다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(…)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산정방법과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산정기준등에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관하여 필요한 사항은 대통령령으로 정한다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물환경보전법 시행령 제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기본배출부과금의 산정기준 및 방법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오염물질의 종류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기준이내 배출량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수질오염물질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킬로그램당 부과금액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연도별 부과금산정지수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지역별 부과계수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방류수질기준초과율별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부과계수</a:t>
            </a: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(42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유기물질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부유물질</a:t>
            </a: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>
                <a:latin typeface="맑은 고딕" panose="020B0503020000020004" pitchFamily="50" charset="-127"/>
              </a:rPr>
              <a:t>물환경보전법 시행령 제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45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초과배출부과금의 산정기준 및 산정방법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및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46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대상 오염물질의 종류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</a:rPr>
              <a:t>(45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기준초과 배출량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수질오염물질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킬로그램당 부과금액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연도별 부과금산정지수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지역별 부과계수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X </a:t>
            </a:r>
            <a:r>
              <a:rPr lang="ko-KR" altLang="en-US" sz="1600" spc="-50" dirty="0" err="1">
                <a:latin typeface="맑은 고딕" panose="020B0503020000020004" pitchFamily="50" charset="-127"/>
              </a:rPr>
              <a:t>배출허용기준초과율별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 부과계수</a:t>
            </a: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>
                <a:latin typeface="맑은 고딕" panose="020B0503020000020004" pitchFamily="50" charset="-127"/>
              </a:rPr>
              <a:t>(46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조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유기물질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부유물질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카드뮴 및 그 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시안화합물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……,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아연 및 그 화합물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 질소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,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총 인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이하 총 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19 </a:t>
            </a:r>
            <a:r>
              <a:rPr lang="ko-KR" altLang="en-US" sz="1600" spc="-50" dirty="0">
                <a:latin typeface="맑은 고딕" panose="020B0503020000020004" pitchFamily="50" charset="-127"/>
              </a:rPr>
              <a:t>종류의 오염물질</a:t>
            </a:r>
            <a:r>
              <a:rPr lang="en-US" altLang="ko-KR" sz="1600" spc="-50" dirty="0">
                <a:latin typeface="맑은 고딕" panose="020B0503020000020004" pitchFamily="50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>
              <a:latin typeface="맑은 고딕" panose="020B0503020000020004" pitchFamily="50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5723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E582-6B17-6DA0-32DE-1F5C2FA5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6268-5280-B195-2879-4D02E61A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</a:t>
            </a:r>
            <a:r>
              <a:rPr lang="ko-KR" altLang="en-US" dirty="0"/>
              <a:t> 거래제도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7DFC-F7A9-463C-28B7-7C9737C0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78A32-8428-5C19-5029-D0F9E2C51AAE}"/>
              </a:ext>
            </a:extLst>
          </p:cNvPr>
          <p:cNvSpPr txBox="1"/>
          <p:nvPr/>
        </p:nvSpPr>
        <p:spPr>
          <a:xfrm>
            <a:off x="678872" y="958844"/>
            <a:ext cx="1102796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기후위기 대응을 위한 탄소중립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녹색성장 기본법 제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온실가스 </a:t>
            </a:r>
            <a:r>
              <a:rPr lang="ko-KR" altLang="en-US" sz="1600" spc="-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배출권거래제</a:t>
            </a:r>
            <a:r>
              <a:rPr lang="en-US" altLang="ko-KR" sz="1600" spc="-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</a:t>
            </a:r>
            <a:r>
              <a:rPr lang="ko-KR" altLang="en-US" sz="1600" spc="-50" dirty="0" err="1"/>
              <a:t>중장기감축목표등을</a:t>
            </a:r>
            <a:r>
              <a:rPr lang="ko-KR" altLang="en-US" sz="1600" spc="-50" dirty="0"/>
              <a:t> 효율적으로 달성하기 위하여 온실가스 배출허용총량을 설정하고 시장기능을 활용하여 온실가스 배출권을 거래하는 제도를 운영한다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 배출권의 할당 및 거래에 관한 법률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법률에서 배출권의 할당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검증 등 필요한 세부 규정들을 명시하고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배출권거래제란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2"/>
              </a:rPr>
              <a:t>https://ets.krx.co.kr/main/main.jsp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총량을 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기업별로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이라는 허용량을 배분함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회사</a:t>
            </a:r>
            <a:r>
              <a:rPr lang="en-US" altLang="ko-KR" sz="1600" spc="-50" dirty="0"/>
              <a:t>: 10</a:t>
            </a:r>
            <a:r>
              <a:rPr lang="ko-KR" altLang="en-US" sz="1600" spc="-50" dirty="0" err="1"/>
              <a:t>만톤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회사</a:t>
            </a:r>
            <a:r>
              <a:rPr lang="en-US" altLang="ko-KR" sz="1600" spc="-50" dirty="0"/>
              <a:t>: 20</a:t>
            </a:r>
            <a:r>
              <a:rPr lang="ko-KR" altLang="en-US" sz="1600" spc="-50" dirty="0" err="1"/>
              <a:t>만톤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기업은 배출이 남으면 시장에 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부족하면 시장에서 구입을 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회사가 노력해서 </a:t>
            </a:r>
            <a:r>
              <a:rPr lang="en-US" altLang="ko-KR" sz="1600" spc="-50" dirty="0"/>
              <a:t>8</a:t>
            </a:r>
            <a:r>
              <a:rPr lang="ko-KR" altLang="en-US" sz="1600" spc="-50" dirty="0" err="1"/>
              <a:t>만톤</a:t>
            </a:r>
            <a:r>
              <a:rPr lang="ko-KR" altLang="en-US" sz="1600" spc="-50" dirty="0"/>
              <a:t> 배출하면 </a:t>
            </a:r>
            <a:r>
              <a:rPr lang="en-US" altLang="ko-KR" sz="1600" spc="-50" dirty="0"/>
              <a:t>2</a:t>
            </a:r>
            <a:r>
              <a:rPr lang="ko-KR" altLang="en-US" sz="1600" spc="-50" dirty="0" err="1"/>
              <a:t>만톤은</a:t>
            </a:r>
            <a:r>
              <a:rPr lang="ko-KR" altLang="en-US" sz="1600" spc="-50" dirty="0"/>
              <a:t> 팔 수 있음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한편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회사는 </a:t>
            </a:r>
            <a:r>
              <a:rPr lang="en-US" altLang="ko-KR" sz="1600" spc="-50" dirty="0"/>
              <a:t>22</a:t>
            </a:r>
            <a:r>
              <a:rPr lang="ko-KR" altLang="en-US" sz="1600" spc="-50" dirty="0" err="1"/>
              <a:t>만톤을</a:t>
            </a:r>
            <a:r>
              <a:rPr lang="ko-KR" altLang="en-US" sz="1600" spc="-50" dirty="0"/>
              <a:t> 배출하면</a:t>
            </a:r>
            <a:r>
              <a:rPr lang="en-US" altLang="ko-KR" sz="1600" spc="-50" dirty="0"/>
              <a:t>, 2</a:t>
            </a:r>
            <a:r>
              <a:rPr lang="ko-KR" altLang="en-US" sz="1600" spc="-50" dirty="0" err="1"/>
              <a:t>만톤을</a:t>
            </a:r>
            <a:r>
              <a:rPr lang="ko-KR" altLang="en-US" sz="1600" spc="-50" dirty="0"/>
              <a:t> 시장에서 구입해야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비용 효율성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기업들은 </a:t>
            </a:r>
            <a:r>
              <a:rPr lang="ko-KR" altLang="en-US" sz="1600" spc="-50" dirty="0" err="1"/>
              <a:t>배출권</a:t>
            </a:r>
            <a:r>
              <a:rPr lang="ko-KR" altLang="en-US" sz="1600" spc="-50" dirty="0"/>
              <a:t> 가격과 직접 감축 비용을 비교하여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비용이 적은 옵션을 선택하게 되므로 사회전체적 감축비용이 최소화 될 수 있음</a:t>
            </a:r>
            <a:endParaRPr lang="en-US" altLang="ko-KR" sz="1600" spc="-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66A088-2C09-6924-DDB4-BB11BBE5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983" y="4901948"/>
            <a:ext cx="2694034" cy="1486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44A96E-0E28-3ABA-0A6A-1FF66E057D81}"/>
              </a:ext>
            </a:extLst>
          </p:cNvPr>
          <p:cNvSpPr txBox="1"/>
          <p:nvPr/>
        </p:nvSpPr>
        <p:spPr>
          <a:xfrm>
            <a:off x="4748983" y="6404151"/>
            <a:ext cx="36128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이미지 출처</a:t>
            </a:r>
            <a:r>
              <a:rPr lang="en-US" altLang="ko-KR" sz="700" dirty="0"/>
              <a:t>: </a:t>
            </a:r>
            <a:r>
              <a:rPr lang="ko-KR" altLang="en-US" sz="700" dirty="0"/>
              <a:t>https://www.acrc.go.kr/briefs/289a4cdc5254bab813183d3a5a3785ae4a7529cbb838a960ea750b0509aba6ee/sub_5.html?utm_source=chatgpt.com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112575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4BA-C6BE-7BB1-8827-023669E2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4CAC-21F0-2591-6061-AAFE99CF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사법적 규제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28D9C-887E-F58B-CE5C-4501C64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190BB-1CE6-9152-BE41-3C77E93F468F}"/>
              </a:ext>
            </a:extLst>
          </p:cNvPr>
          <p:cNvSpPr txBox="1"/>
          <p:nvPr/>
        </p:nvSpPr>
        <p:spPr>
          <a:xfrm>
            <a:off x="678872" y="958844"/>
            <a:ext cx="11027965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가습기 살균제 피해 사건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가습기 살균제란 가습용 물에 첨가하여 가습기를 통해 직접 공기 중으로 분무되도록 만들어진 살균제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안전성을 담보할 검증 테스트를 거치지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인체 무해성을 강조하며 제품 판매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2024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월 가습기살균제 피해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국가 배상책임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을 대법원에서 확정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en-US" altLang="ko-KR" sz="1000" spc="-50" dirty="0"/>
              <a:t>https://www.hani.co.kr/arti/society/society_general/1146946.html?utm_source=chatgpt.com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낙동강 페놀 오염 사건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행정안전부 국가기록원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재난방재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사회재난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환경오염</a:t>
            </a:r>
            <a:r>
              <a:rPr lang="en-US" altLang="ko-KR" sz="1600" spc="-50" dirty="0"/>
              <a:t> &gt; </a:t>
            </a:r>
            <a:r>
              <a:rPr lang="ko-KR" altLang="en-US" sz="1600" spc="-50" dirty="0"/>
              <a:t>낙동강 페놀유출사건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페놀오염은 </a:t>
            </a:r>
            <a:r>
              <a:rPr lang="en-US" altLang="ko-KR" sz="1600" spc="-50" dirty="0"/>
              <a:t>1991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일 두산전자 구미공장에서 페놀원액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톤이 파손된 파이프를 통해 낙동강으로 유입된 사건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</a:t>
            </a:r>
            <a:r>
              <a:rPr lang="ko-KR" altLang="en-US" sz="1600" spc="-50" dirty="0"/>
              <a:t>차 페놀오염은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일 부실 보수공사로 인해 페놀탱크 파이프 이음새 부분이 파열되어 페놀원액 약 </a:t>
            </a:r>
            <a:r>
              <a:rPr lang="en-US" altLang="ko-KR" sz="1600" spc="-50" dirty="0"/>
              <a:t>1.3</a:t>
            </a:r>
            <a:r>
              <a:rPr lang="ko-KR" altLang="en-US" sz="1600" spc="-50" dirty="0"/>
              <a:t>톤이 낙동강으로 유입되면서 대구지역에 식수공급이 중단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공무원 및 두산전자 관계자들 징계처분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77118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66A6-307E-CD19-F47F-B1DB3F8E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환경정책의 평가기준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0A7D2-0301-7DB3-FEFA-8B7DAA98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9" name="표 3">
            <a:extLst>
              <a:ext uri="{FF2B5EF4-FFF2-40B4-BE49-F238E27FC236}">
                <a16:creationId xmlns:a16="http://schemas.microsoft.com/office/drawing/2014/main" id="{06DB0B8D-3C64-B30F-58E9-6F524F679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379520"/>
              </p:ext>
            </p:extLst>
          </p:nvPr>
        </p:nvGraphicFramePr>
        <p:xfrm>
          <a:off x="646259" y="1846027"/>
          <a:ext cx="9147888" cy="44005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3231796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5320028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평가 기준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효율성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배출로 인한 한계피해와 배출감소를 위한 한계비용이 일치하는 수준인지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형평성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환경정책의 편익이 사회구성원들에게 얼마나 공평하게 배분되는지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기술개발 촉진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기업이 저감비용 절감을 위해 기술개발에 투자할 유인이 있는지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감시 비용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오염원들이 규정을 준수하도록 유도 혹은 감시하는데 소요되는 비용이 얼마나 되는지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윤리적 기준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윤리적 판단에 따른 기준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오염자부담원칙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vs.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피해자부담원칙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6549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 평가 기준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신축성 조건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오염자가 신축적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탄력적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자율적으로 배출 저감활동이 가능한지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EDAA325-54B9-84C8-423B-4A7247F253C9}"/>
              </a:ext>
            </a:extLst>
          </p:cNvPr>
          <p:cNvSpPr txBox="1"/>
          <p:nvPr/>
        </p:nvSpPr>
        <p:spPr>
          <a:xfrm>
            <a:off x="678872" y="958844"/>
            <a:ext cx="11027965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여러 종류의 환경정책을 평가하는데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다양한 측면에서의 기준이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258126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2F36-C309-1E68-0AD7-9F84AB568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0174-034B-2BFF-E6D6-42E33A18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/>
              <a:t>게임이론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7CBC-6FEA-0007-8CA6-70240DD8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28EFAB0B-136A-2368-4C38-E7E42536E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962413"/>
                  </p:ext>
                </p:extLst>
              </p:nvPr>
            </p:nvGraphicFramePr>
            <p:xfrm>
              <a:off x="2137833" y="4411424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28EFAB0B-136A-2368-4C38-E7E42536E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962413"/>
                  </p:ext>
                </p:extLst>
              </p:nvPr>
            </p:nvGraphicFramePr>
            <p:xfrm>
              <a:off x="2137833" y="4411424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53693CC-0C23-AF4B-C40C-354C302BC675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오염원은 규제를 어겨 이득을 얻으려 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오염원이 위반하지 않기를 원함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오염원이 규제를 위반하면 이득을 보는 양</a:t>
            </a:r>
            <a:r>
              <a:rPr lang="en-US" altLang="ko-KR" sz="1600" spc="-50" dirty="0"/>
              <a:t>: g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규제위반으로 발생하는 사회적 피해</a:t>
            </a:r>
            <a:r>
              <a:rPr lang="en-US" altLang="ko-KR" sz="1600" spc="-50" dirty="0"/>
              <a:t>: d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규제위반이 적발될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납부해야 하는 벌금</a:t>
            </a:r>
            <a:r>
              <a:rPr lang="en-US" altLang="ko-KR" sz="1600" spc="-50" dirty="0"/>
              <a:t>: p  (</a:t>
            </a:r>
            <a:r>
              <a:rPr lang="ko-KR" altLang="en-US" sz="1600" spc="-50" dirty="0"/>
              <a:t>여기서 </a:t>
            </a:r>
            <a:r>
              <a:rPr lang="en-US" altLang="ko-KR" sz="1600" spc="-50" dirty="0"/>
              <a:t>p&gt;g)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오염원을 감시하는데 소요되는 비용</a:t>
            </a:r>
            <a:r>
              <a:rPr lang="en-US" altLang="ko-KR" sz="1600" spc="-50" dirty="0"/>
              <a:t>: 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감시를 하지 않아 발생하는 </a:t>
            </a:r>
            <a:r>
              <a:rPr lang="en-US" altLang="ko-KR" sz="1600" spc="-50" dirty="0"/>
              <a:t>d</a:t>
            </a:r>
            <a:r>
              <a:rPr lang="ko-KR" altLang="en-US" sz="1600" spc="-50" dirty="0"/>
              <a:t>만큼의 오염피해도 정부의 비용임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감시를 통해 불법행위를 중간에 적발하여 줄어드는 오염피해액</a:t>
            </a:r>
            <a:r>
              <a:rPr lang="en-US" altLang="ko-KR" sz="1600" spc="-50" dirty="0"/>
              <a:t>: s  (</a:t>
            </a:r>
            <a:r>
              <a:rPr lang="ko-KR" altLang="en-US" sz="1600" spc="-50" dirty="0"/>
              <a:t>여기서 </a:t>
            </a:r>
            <a:r>
              <a:rPr lang="en-US" altLang="ko-KR" sz="1600" spc="-50" dirty="0"/>
              <a:t>s&gt;c)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5CAC2-29A9-6A43-3ABE-6BBF1EE1D970}"/>
              </a:ext>
            </a:extLst>
          </p:cNvPr>
          <p:cNvSpPr txBox="1"/>
          <p:nvPr/>
        </p:nvSpPr>
        <p:spPr>
          <a:xfrm>
            <a:off x="6766983" y="3909730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3B305D-DB75-FF08-2CEA-BDAD4600E31E}"/>
              </a:ext>
            </a:extLst>
          </p:cNvPr>
          <p:cNvSpPr txBox="1"/>
          <p:nvPr/>
        </p:nvSpPr>
        <p:spPr>
          <a:xfrm>
            <a:off x="974127" y="5365997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553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2EEFA-B130-F53A-0632-9D5A165C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013CF3-8BAB-A75D-D70E-CFD412B3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56741-F36B-5943-77DA-2B7E5DF062E4}"/>
              </a:ext>
            </a:extLst>
          </p:cNvPr>
          <p:cNvSpPr txBox="1"/>
          <p:nvPr/>
        </p:nvSpPr>
        <p:spPr>
          <a:xfrm>
            <a:off x="678872" y="958844"/>
            <a:ext cx="11027965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내쉬균형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게임 참여자들이 상대방의 전략을 주어진 것으로 전제하고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대하여 최선의 전략을 선택하여 형성된 균형상태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상대방이 선택을 바꾸지 않는 상태에서 자신만이 선택을 바꾸어 더 큰 이득을 얻는 것이 불가능한 상태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아무도 먼저 움직일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전략을 바꿀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유인이 없는 상황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E1E75139-4961-040A-E7B2-8FE510230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7581325"/>
                  </p:ext>
                </p:extLst>
              </p:nvPr>
            </p:nvGraphicFramePr>
            <p:xfrm>
              <a:off x="2366433" y="3183706"/>
              <a:ext cx="6485469" cy="78970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61823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156342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137329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5,   5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0,   10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175319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1,  1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E1E75139-4961-040A-E7B2-8FE510230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7581325"/>
                  </p:ext>
                </p:extLst>
              </p:nvPr>
            </p:nvGraphicFramePr>
            <p:xfrm>
              <a:off x="2366433" y="3183706"/>
              <a:ext cx="6485469" cy="78970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161823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161823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247613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27104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자백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104545" r="-103944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104545" r="-3944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27104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묵비권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408" t="-200000" r="-103944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408" t="-200000" r="-3944" b="-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DD662F8-7786-2453-4DB4-B7A307C079FA}"/>
              </a:ext>
            </a:extLst>
          </p:cNvPr>
          <p:cNvSpPr txBox="1"/>
          <p:nvPr/>
        </p:nvSpPr>
        <p:spPr>
          <a:xfrm>
            <a:off x="6192854" y="2845470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죄수 </a:t>
            </a:r>
            <a:r>
              <a:rPr lang="en-US" altLang="ko-KR" sz="1300" b="1" kern="0" dirty="0">
                <a:latin typeface="+mn-ea"/>
              </a:rPr>
              <a:t>B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D95DA-068F-68B2-CB1E-13B1A6F57960}"/>
              </a:ext>
            </a:extLst>
          </p:cNvPr>
          <p:cNvSpPr txBox="1"/>
          <p:nvPr/>
        </p:nvSpPr>
        <p:spPr>
          <a:xfrm>
            <a:off x="1509183" y="3543971"/>
            <a:ext cx="9927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 b="1" kern="0" dirty="0">
                <a:latin typeface="+mn-ea"/>
              </a:rPr>
              <a:t>죄수 </a:t>
            </a:r>
            <a:r>
              <a:rPr lang="en-US" altLang="ko-KR" sz="1300" b="1" kern="0" dirty="0">
                <a:latin typeface="+mn-ea"/>
              </a:rPr>
              <a:t>A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7FB99-1894-8A3D-F4F3-854F35651553}"/>
              </a:ext>
            </a:extLst>
          </p:cNvPr>
          <p:cNvSpPr txBox="1"/>
          <p:nvPr/>
        </p:nvSpPr>
        <p:spPr>
          <a:xfrm>
            <a:off x="678872" y="4220522"/>
            <a:ext cx="11027965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죄수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공범이며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의사소통이 불가능한 채로 조사를 받고 있을 때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어떤 선택을 하게 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죄수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모두 자백을 선택하는 상태가 </a:t>
            </a:r>
            <a:r>
              <a:rPr lang="ko-KR" altLang="en-US" sz="1600" spc="-50" dirty="0" err="1"/>
              <a:t>내쉬</a:t>
            </a:r>
            <a:r>
              <a:rPr lang="ko-KR" altLang="en-US" sz="1600" spc="-50" dirty="0"/>
              <a:t> 균형이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056385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89AA-7012-A3A6-6CBE-5D175F13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B7F7-FB23-965E-4DC7-FD357866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7A6A1-C627-5297-A5AA-9537D294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970EE99C-E32B-6FF9-9134-BCC41608D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291073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3">
                <a:extLst>
                  <a:ext uri="{FF2B5EF4-FFF2-40B4-BE49-F238E27FC236}">
                    <a16:creationId xmlns:a16="http://schemas.microsoft.com/office/drawing/2014/main" id="{970EE99C-E32B-6FF9-9134-BCC41608D8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6291073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7F91F2-F1DD-3C46-D930-CDEA675D8A9A}"/>
              </a:ext>
            </a:extLst>
          </p:cNvPr>
          <p:cNvSpPr txBox="1"/>
          <p:nvPr/>
        </p:nvSpPr>
        <p:spPr>
          <a:xfrm>
            <a:off x="6766983" y="929455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FC2F4-37A5-5103-5F85-0F300F2B7B45}"/>
              </a:ext>
            </a:extLst>
          </p:cNvPr>
          <p:cNvSpPr txBox="1"/>
          <p:nvPr/>
        </p:nvSpPr>
        <p:spPr>
          <a:xfrm>
            <a:off x="974127" y="2385722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983AA7-E6C1-61F4-39AD-FFD1E1480F1E}"/>
                  </a:ext>
                </a:extLst>
              </p:cNvPr>
              <p:cNvSpPr txBox="1"/>
              <p:nvPr/>
            </p:nvSpPr>
            <p:spPr>
              <a:xfrm>
                <a:off x="678872" y="4298312"/>
                <a:ext cx="11027965" cy="115339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주체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오염원 혹은 정부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하나의 전략만 선택하는 게 아니고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여러 전략을 확률적으로 섞어 선택한다면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오염원이 위반할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spc="-50" dirty="0"/>
                  <a:t>    </a:t>
                </a:r>
                <a:r>
                  <a:rPr lang="ko-KR" altLang="en-US" sz="1600" spc="-50" dirty="0"/>
                  <a:t>반대로 위반하지 않을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):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감시할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 :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spc="-50" dirty="0"/>
                  <a:t>      </a:t>
                </a:r>
                <a:r>
                  <a:rPr lang="ko-KR" altLang="en-US" sz="1600" spc="-50" dirty="0"/>
                  <a:t>정부가 감시하지 않을 확률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빈도</a:t>
                </a:r>
                <a:r>
                  <a:rPr lang="en-US" altLang="ko-KR" sz="1600" spc="-50" dirty="0"/>
                  <a:t>) :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983AA7-E6C1-61F4-39AD-FFD1E148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4298312"/>
                <a:ext cx="11027965" cy="1153393"/>
              </a:xfrm>
              <a:prstGeom prst="rect">
                <a:avLst/>
              </a:prstGeom>
              <a:blipFill>
                <a:blip r:embed="rId3"/>
                <a:stretch>
                  <a:fillRect b="-5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BA98E8A-A4B3-2B4D-2CF7-5BB3EDA08B0A}"/>
              </a:ext>
            </a:extLst>
          </p:cNvPr>
          <p:cNvSpPr txBox="1"/>
          <p:nvPr/>
        </p:nvSpPr>
        <p:spPr>
          <a:xfrm>
            <a:off x="678872" y="3254370"/>
            <a:ext cx="11027965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게임은 </a:t>
            </a:r>
            <a:r>
              <a:rPr lang="ko-KR" altLang="en-US" sz="1600" spc="-50" dirty="0" err="1"/>
              <a:t>내쉬균형이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존재하지 않는 게임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상태에 있건 항상 전략을 바꿀 유인이 존재함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067225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B30-5E66-5447-71C8-4C9400B0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2433-9041-3F75-7584-2FF967B2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규제위반과 감시행위</a:t>
            </a:r>
            <a:r>
              <a:rPr lang="en-US" altLang="ko-KR" dirty="0"/>
              <a:t>: </a:t>
            </a:r>
            <a:r>
              <a:rPr lang="ko-KR" altLang="en-US" dirty="0"/>
              <a:t>혼합전략과 </a:t>
            </a:r>
            <a:r>
              <a:rPr lang="ko-KR" altLang="en-US" dirty="0" err="1"/>
              <a:t>내쉬균형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3A203-26C2-D041-594A-5E13FCD7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31110B4-8DE1-4027-4E32-62987DA13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85269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𝒚</m:t>
                              </m:r>
                              <m:r>
                                <a:rPr lang="en-US" altLang="ko-KR" sz="12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감시 안함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𝒚</m:t>
                              </m:r>
                              <m:r>
                                <a:rPr lang="en-US" altLang="ko-KR" sz="14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</a:t>
                          </a:r>
                          <a:r>
                            <a:rPr lang="en-US" altLang="ko-KR" sz="13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  <m:r>
                                <a:rPr lang="en-US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위반 안함</a:t>
                          </a:r>
                          <a:r>
                            <a:rPr lang="en-US" altLang="ko-KR" sz="1300" b="1" kern="0" spc="0" baseline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𝟏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𝒙</m:t>
                              </m:r>
                              <m:r>
                                <a:rPr lang="en-US" altLang="ko-KR" sz="1300" b="1" i="1" kern="0" spc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endParaRPr lang="en-US" altLang="ko-KR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−</m:t>
                                </m:r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300" b="0" i="1" kern="0" spc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0,   0</m:t>
                                </m:r>
                              </m:oMath>
                            </m:oMathPara>
                          </a14:m>
                          <a:endParaRPr lang="en-US" altLang="ko-KR" sz="1300" b="0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31110B4-8DE1-4027-4E32-62987DA139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6885269"/>
                  </p:ext>
                </p:extLst>
              </p:nvPr>
            </p:nvGraphicFramePr>
            <p:xfrm>
              <a:off x="2137833" y="1431149"/>
              <a:ext cx="8177014" cy="1780804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2078422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3049296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470954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13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6494" r="-10279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6494" r="-279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66" t="-75926" r="-297947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75926" r="-102794" b="-1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75926" r="-2794" b="-1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6549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66" t="-175926" r="-297947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062" t="-175926" r="-102794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062" t="-175926" r="-2794" b="-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B43ADD-EB76-F54E-640E-076D8964984C}"/>
              </a:ext>
            </a:extLst>
          </p:cNvPr>
          <p:cNvSpPr txBox="1"/>
          <p:nvPr/>
        </p:nvSpPr>
        <p:spPr>
          <a:xfrm>
            <a:off x="6766983" y="929455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정 부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FB32B-4B04-ED18-4DF4-650425449F8E}"/>
              </a:ext>
            </a:extLst>
          </p:cNvPr>
          <p:cNvSpPr txBox="1"/>
          <p:nvPr/>
        </p:nvSpPr>
        <p:spPr>
          <a:xfrm>
            <a:off x="974127" y="2385722"/>
            <a:ext cx="99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kern="0" dirty="0">
                <a:latin typeface="+mn-ea"/>
              </a:rPr>
              <a:t>오염원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CC38D-EA08-9664-FF05-C793B71AF522}"/>
                  </a:ext>
                </a:extLst>
              </p:cNvPr>
              <p:cNvSpPr txBox="1"/>
              <p:nvPr/>
            </p:nvSpPr>
            <p:spPr>
              <a:xfrm>
                <a:off x="678872" y="3411850"/>
                <a:ext cx="11027965" cy="189205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혼합전략의 균형에서는 각 전략으로부터 기대할 수 있는 편익이 일치해야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각 전략으로부터 기대하는 편익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위반할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altLang="ko-KR" sz="1600" spc="-50" dirty="0"/>
                  <a:t>   </a:t>
                </a: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위반 안 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각 전략으로부터 기대하는 편익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감시할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)+(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)∙(−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  </a:t>
                </a:r>
                <a:r>
                  <a:rPr lang="ko-KR" altLang="en-US" sz="1600" spc="-50" dirty="0"/>
                  <a:t>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감시 안 할 경우</a:t>
                </a:r>
                <a:r>
                  <a:rPr lang="en-US" altLang="ko-KR" sz="1600" spc="-50" dirty="0"/>
                  <a:t>:  </a:t>
                </a:r>
                <a14:m>
                  <m:oMath xmlns:m="http://schemas.openxmlformats.org/officeDocument/2006/math"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600" b="1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)∙</m:t>
                    </m:r>
                    <m:r>
                      <a:rPr lang="en-US" altLang="ko-KR" sz="1600" b="1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BCC38D-EA08-9664-FF05-C793B71AF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3411850"/>
                <a:ext cx="11027965" cy="1892056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526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AB23-3520-83D9-9B8A-8A0A8055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AF482C-792F-7193-B002-B97A617640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007AD-0718-BCEF-35DE-DD7A7B61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460642-5A36-B6FF-D68C-FFE73CCC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직접 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943077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E481-C47E-20EB-6A57-B4F15D3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9685F-233E-F9B9-105F-82F2733E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243F5-A790-03F4-0825-1BE347F5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97516-CBAA-DB3A-21B1-D7518947DB02}"/>
              </a:ext>
            </a:extLst>
          </p:cNvPr>
          <p:cNvSpPr txBox="1"/>
          <p:nvPr/>
        </p:nvSpPr>
        <p:spPr>
          <a:xfrm>
            <a:off x="678872" y="958844"/>
            <a:ext cx="1102796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직접규제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사회적으로 바람직한 수준의 환경질을 달성하기 위해 오염원이 해야 할 행위를 법률로 정하여 오염원에게 이를 지키도록 강제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실행 과정이 비교적 단순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직접적이고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정책목표가 명확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환경기준 위반자를 처벌하므로 도덕적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윤리적 기준과도 부합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가장 많이 사용하고 있는 환경정책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스스로 배출량을 효율적으로 줄이도록 유도하지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정책당국이 많은 재량권과 신축성을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입장에서는 대단히 경직된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효율성 측면에서 많은 문제제기가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정책당국이 지정하는 환경기준에는 </a:t>
            </a:r>
            <a:r>
              <a:rPr lang="en-US" altLang="ko-KR" sz="1600" spc="-50" dirty="0"/>
              <a:t>1. </a:t>
            </a:r>
            <a:r>
              <a:rPr lang="ko-KR" altLang="en-US" sz="1600" spc="-50" dirty="0"/>
              <a:t>배출기준</a:t>
            </a:r>
            <a:r>
              <a:rPr lang="en-US" altLang="ko-KR" sz="1600" spc="-50" dirty="0"/>
              <a:t>, 2. </a:t>
            </a:r>
            <a:r>
              <a:rPr lang="ko-KR" altLang="en-US" sz="1600" spc="-50" dirty="0"/>
              <a:t>오염도기준</a:t>
            </a:r>
            <a:r>
              <a:rPr lang="en-US" altLang="ko-KR" sz="1600" spc="-50" dirty="0"/>
              <a:t>, 3. </a:t>
            </a:r>
            <a:r>
              <a:rPr lang="ko-KR" altLang="en-US" sz="1600" spc="-50" dirty="0"/>
              <a:t>기술기준  세 가지가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740256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C115-527E-7B4C-4D49-5D9AE57A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5113B-2D76-63D2-6749-378BD43C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8A5FC-8EC4-577A-3496-2089A2DA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B01C3-7D68-FB7E-D56B-8E332C8B994D}"/>
              </a:ext>
            </a:extLst>
          </p:cNvPr>
          <p:cNvSpPr txBox="1"/>
          <p:nvPr/>
        </p:nvSpPr>
        <p:spPr>
          <a:xfrm>
            <a:off x="678872" y="958844"/>
            <a:ext cx="11027965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 기준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오염원이 배출할 수 있는 오염물질 배출량의 상한을 의미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감축 방법이나 과정은 문제 삼지 않음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지역의 실제 오염도가 높아도 책임질 필요가 없음</a:t>
            </a:r>
            <a:endParaRPr lang="en-US" altLang="ko-KR" sz="1600" spc="-50" dirty="0"/>
          </a:p>
        </p:txBody>
      </p:sp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D83619AE-4083-6C13-C98C-5E921738E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203010"/>
              </p:ext>
            </p:extLst>
          </p:nvPr>
        </p:nvGraphicFramePr>
        <p:xfrm>
          <a:off x="1160609" y="2885083"/>
          <a:ext cx="10126516" cy="25502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87628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66541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배출기준의 종류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 예시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배출률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톤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폐수단위당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BOD (Biochemical Oxygen Demand,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생화학적 산소 요구량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수준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(ppm)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폐기물 총량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시간당 배출량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총배출시간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원단위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</a:t>
                      </a:r>
                      <a:r>
                        <a:rPr lang="en-US" sz="1300" b="0" kern="0" spc="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전력생산량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투입물의 폐기물 함유량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 석탄의 </a:t>
                      </a:r>
                      <a:r>
                        <a:rPr lang="ko-KR" altLang="en-US" sz="1300" b="0" kern="0" spc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황함유량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제거율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 방류 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x%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오염물질 제거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70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637D-EF29-7D56-B57F-9B9D1D43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DCE8D-6593-8A17-139D-4237182D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DD608-C6A9-82F0-02A5-8E779F72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ACB5-99F5-3F66-F834-BD889A4F723F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 기준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오염원이 경제행위를 하면서 사용하는 생산기술이나 절차에 대해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축산농가로 하여금 폐수처리를 위해 정화시설을 의무적으로 설치도록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자동차에 촉매변환기를 의무적으로 장착하게끔 규제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배출기준에서는 정부가 정한 배출량 상한을 충족할 수 만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어떤 생산기술도 도입할 수 있었음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기술 기준은 오염원이 사용할 수 있는 기술 자체를 정부가 규제하므로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매우 경직된 정책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619857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ACBE-0E86-8E74-6918-57758420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1E964-E403-80ED-7F7F-1F88A7D1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0E1CC-3E9A-7D0E-5771-25EFD798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DB756-E1A0-40CB-17D5-9B4C0A862066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788966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오염도 기준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자연환경에 축적된 </a:t>
                </a:r>
                <a:r>
                  <a:rPr lang="ko-KR" altLang="en-US" sz="1600" spc="-50" dirty="0" err="1"/>
                  <a:t>오염물질량의</a:t>
                </a:r>
                <a:r>
                  <a:rPr lang="ko-KR" altLang="en-US" sz="1600" spc="-50" dirty="0"/>
                  <a:t> 허용된 상한을 의미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기준의 달성 의무를 오염원에게 직접 명령할 수 없고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앞서 설명한 배출기준 혹은 기술기준을 통해 정부가 목표로  하는 오염도를 달성하도록 유도해야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배출기준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기술기준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통해 오염도 기준을 달성하기 위해서는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정부가 각 오염원의 배출량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기술수준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어떤 경로를 통해 오염도 측정지점의 오염도에 영향을 주는지 파악하고 있어야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나타내고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오염도 측정지점에서의 오염도를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나타내자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오염물질을 한 단위 배출했을 때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측정지점에 실제로 축적되는 비중을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전이계수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측정지점에서는 오염원의 배출로 인한 오염물질뿐 아니라 자연적인 요인 혹은 규제지역 밖의 오염원이 배출한 오염물질에 의해서도 축적될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이때 측정지점의 </a:t>
                </a:r>
                <a:r>
                  <a:rPr lang="ko-KR" altLang="en-US" sz="1600" spc="-50" dirty="0" err="1"/>
                  <a:t>오염물질량은</a:t>
                </a:r>
                <a:r>
                  <a:rPr lang="ko-KR" altLang="en-US" sz="1600" spc="-50" dirty="0"/>
                  <a:t> 아래와 같이 표현할 수 있음</a:t>
                </a:r>
                <a:endParaRPr lang="en-US" altLang="ko-KR" sz="1600" spc="-5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DB756-E1A0-40CB-17D5-9B4C0A862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788966" cy="4846007"/>
              </a:xfrm>
              <a:prstGeom prst="rect">
                <a:avLst/>
              </a:prstGeom>
              <a:blipFill>
                <a:blip r:embed="rId2"/>
                <a:stretch>
                  <a:fillRect l="-282" r="-226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C4B110-4732-F7C3-9E11-A0D021A1A2B3}"/>
                  </a:ext>
                </a:extLst>
              </p:cNvPr>
              <p:cNvSpPr txBox="1"/>
              <p:nvPr/>
            </p:nvSpPr>
            <p:spPr>
              <a:xfrm>
                <a:off x="4682912" y="5714490"/>
                <a:ext cx="2106508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C4B110-4732-F7C3-9E11-A0D021A1A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912" y="5714490"/>
                <a:ext cx="2106508" cy="900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58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FB5B-8FFC-49ED-6CDF-EC7233C7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5AD12-0560-66EB-3D57-5FD08FF5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직접규제의 경제적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F0D606-9C40-AB9D-4A18-97F03BF4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FA698-722E-3436-79DA-B5B43FE413BB}"/>
              </a:ext>
            </a:extLst>
          </p:cNvPr>
          <p:cNvSpPr txBox="1"/>
          <p:nvPr/>
        </p:nvSpPr>
        <p:spPr>
          <a:xfrm>
            <a:off x="678873" y="958844"/>
            <a:ext cx="726878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한계피해와 한계저감비용이 일치하는 수준 </a:t>
            </a:r>
            <a:r>
              <a:rPr lang="en-US" altLang="ko-KR" sz="1600" spc="-50" dirty="0"/>
              <a:t>(e*)</a:t>
            </a:r>
            <a:r>
              <a:rPr lang="ko-KR" altLang="en-US" sz="1600" spc="-50" dirty="0"/>
              <a:t>을 배출상한으로 정하는 것이 최선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현실에서는 한계피해곡선과 한계저감비용곡선을 알기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일종의 임계치를 가지는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0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보다 커져야 피해가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급격히 늘어나는 수준이 있는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수준 이상에서는 피해가 급격히 늘어남</a:t>
            </a:r>
            <a:endParaRPr lang="en-US" altLang="ko-KR" sz="1600" spc="-50" dirty="0"/>
          </a:p>
        </p:txBody>
      </p:sp>
      <p:pic>
        <p:nvPicPr>
          <p:cNvPr id="11" name="그림 10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BED745-0D9E-593B-26AD-14F413D4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329" y="1053149"/>
            <a:ext cx="4458671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64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6D01-21D8-B340-18CB-7DF04BDA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0733E-39E6-8C9C-DBAC-C101C9C7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78598-2486-A5C8-7F5D-A4B928FE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C26C7-DE81-0448-86D3-61F185BD29B6}"/>
              </a:ext>
            </a:extLst>
          </p:cNvPr>
          <p:cNvSpPr txBox="1"/>
          <p:nvPr/>
        </p:nvSpPr>
        <p:spPr>
          <a:xfrm>
            <a:off x="678873" y="958844"/>
            <a:ext cx="726878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획일성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오염원별로 환경기준을 달리 적용하면 형평성에 문제가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 혹은 기술기준 또한 모든 오염원에 대해 동일한 기준을 사용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비효율성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 혹은 지역에 대해 획일적인 환경기준을 적용하면 효율성은 떨어질 수 밖에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오염원이나 지역에 대해 획일적인 환경기준을 적용하면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비교적 적은 농촌지역의 한계피해곡선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밀집된 도시지역의 한계피해곡선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농촌지역에서 달성되어야 할 배출량은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도시지역에서 달성되어야 할 배출량은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형평성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정치적인 어려움으로 인해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환경기준을 실제로 시행하기 쉽지 않음</a:t>
            </a:r>
            <a:endParaRPr lang="en-US" altLang="ko-KR" sz="1600" spc="-50" dirty="0"/>
          </a:p>
        </p:txBody>
      </p:sp>
      <p:pic>
        <p:nvPicPr>
          <p:cNvPr id="3" name="그림 2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BA4FCB-9A80-6BE2-FBC1-1D7AF338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11"/>
          <a:stretch>
            <a:fillRect/>
          </a:stretch>
        </p:blipFill>
        <p:spPr>
          <a:xfrm>
            <a:off x="7947660" y="1328981"/>
            <a:ext cx="3838160" cy="420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39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46C3-80EF-B256-5A17-17C329C3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0ECAA08-BBDB-FCC1-3FF9-CC342E003608}"/>
              </a:ext>
            </a:extLst>
          </p:cNvPr>
          <p:cNvSpPr/>
          <p:nvPr/>
        </p:nvSpPr>
        <p:spPr>
          <a:xfrm>
            <a:off x="7338060" y="943604"/>
            <a:ext cx="914400" cy="233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MAC</a:t>
            </a:r>
            <a:r>
              <a:rPr lang="en-US" altLang="ko-KR" baseline="-25000" dirty="0">
                <a:solidFill>
                  <a:schemeClr val="tx1"/>
                </a:solidFill>
              </a:rPr>
              <a:t>1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5E5B0D-F64C-4AA7-9EFF-A9B514A1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74A4B-61DD-59B8-B580-492220FF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52DD80-EFC4-DBE7-8C76-8B083478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06" b="7522"/>
          <a:stretch>
            <a:fillRect/>
          </a:stretch>
        </p:blipFill>
        <p:spPr>
          <a:xfrm>
            <a:off x="8094338" y="746760"/>
            <a:ext cx="3791545" cy="4777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5017C1-9C8F-1DF4-088A-B2FC0C60C84A}"/>
              </a:ext>
            </a:extLst>
          </p:cNvPr>
          <p:cNvSpPr txBox="1"/>
          <p:nvPr/>
        </p:nvSpPr>
        <p:spPr>
          <a:xfrm>
            <a:off x="678873" y="958844"/>
            <a:ext cx="726878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등한계원칙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지역에 두 오염원이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감축목표는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라 하자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좌측을 원점으로 하는 것이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우측을 원점으로 하는 것이 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오염원은 기술수준이 달라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서로 다른 형태의 한계비용곡선을 가짐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등한계원칙을 적용할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오염원의 한계저감비용이 일치하는 수준에서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그림에서는 </a:t>
            </a:r>
            <a:r>
              <a:rPr lang="en-US" altLang="ko-KR" sz="1600" spc="-50" dirty="0"/>
              <a:t>MAC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(a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= MAC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(A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 감축하고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감축하도록 할 때 전체 저감비용이 최소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한계비용이 더 큰 상황이 되므로 비효율적임</a:t>
            </a:r>
            <a:endParaRPr lang="en-US" altLang="ko-KR" sz="1600" spc="-5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C3B4D6-99BF-9EE6-7C20-BE471C33FF26}"/>
              </a:ext>
            </a:extLst>
          </p:cNvPr>
          <p:cNvSpPr/>
          <p:nvPr/>
        </p:nvSpPr>
        <p:spPr>
          <a:xfrm>
            <a:off x="11246539" y="5252303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저감량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EA2E5F-289A-DAD5-00BC-EAB6A8D44805}"/>
              </a:ext>
            </a:extLst>
          </p:cNvPr>
          <p:cNvSpPr/>
          <p:nvPr/>
        </p:nvSpPr>
        <p:spPr>
          <a:xfrm>
            <a:off x="7670847" y="5252303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DD25CE-590F-D1B5-E9D3-B5521BB5527C}"/>
              </a:ext>
            </a:extLst>
          </p:cNvPr>
          <p:cNvSpPr/>
          <p:nvPr/>
        </p:nvSpPr>
        <p:spPr>
          <a:xfrm>
            <a:off x="7693707" y="5927897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저감량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46E02B-DA76-2C0B-3366-C9FEA3F9C258}"/>
              </a:ext>
            </a:extLst>
          </p:cNvPr>
          <p:cNvSpPr/>
          <p:nvPr/>
        </p:nvSpPr>
        <p:spPr>
          <a:xfrm>
            <a:off x="11268082" y="5938429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70EB24-EA1C-DDD8-135B-9A143A2C6708}"/>
              </a:ext>
            </a:extLst>
          </p:cNvPr>
          <p:cNvSpPr/>
          <p:nvPr/>
        </p:nvSpPr>
        <p:spPr>
          <a:xfrm>
            <a:off x="11342370" y="943604"/>
            <a:ext cx="914400" cy="233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MAC</a:t>
            </a:r>
            <a:r>
              <a:rPr lang="en-US" altLang="ko-KR" baseline="-25000" dirty="0">
                <a:solidFill>
                  <a:schemeClr val="tx1"/>
                </a:solidFill>
              </a:rPr>
              <a:t>2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C95168-B938-05ED-26BB-2FBA1CC6FB5C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8642978" y="5589039"/>
            <a:ext cx="2603561" cy="0"/>
          </a:xfrm>
          <a:prstGeom prst="straightConnector1">
            <a:avLst/>
          </a:prstGeom>
          <a:ln w="12700">
            <a:solidFill>
              <a:srgbClr val="070B1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7647F1B-74BB-7B27-6C8A-8AE4E0C6D0DE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8665838" y="6264633"/>
            <a:ext cx="2602244" cy="10532"/>
          </a:xfrm>
          <a:prstGeom prst="straightConnector1">
            <a:avLst/>
          </a:prstGeom>
          <a:ln w="12700">
            <a:solidFill>
              <a:srgbClr val="070B1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914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2C55-8E50-C577-E688-ABBD0460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0CE290-7E81-7022-1683-AC68C91F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68" t="4776"/>
          <a:stretch>
            <a:fillRect/>
          </a:stretch>
        </p:blipFill>
        <p:spPr>
          <a:xfrm>
            <a:off x="7848600" y="928587"/>
            <a:ext cx="4334227" cy="5608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448CE28-2608-3B04-4B69-9FB64340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직접규제와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CCC40-90D0-B94A-0D11-76A596D5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0A222-BA97-B80D-1C8B-3AAC7B8BB0FE}"/>
              </a:ext>
            </a:extLst>
          </p:cNvPr>
          <p:cNvSpPr txBox="1"/>
          <p:nvPr/>
        </p:nvSpPr>
        <p:spPr>
          <a:xfrm>
            <a:off x="678873" y="958844"/>
            <a:ext cx="710932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기술혁신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→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최초 배출목표도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 후에도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으로 유지한다면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총저감비용은 기술혁신으로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로 줄어들고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기술혁신의 이득은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만큼임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기술혁신을 위한 투자비용이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보다 작다면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오염원은 기술개발을 위해 노력할 것임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배출목표가 기술혁신 후에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 </a:t>
            </a:r>
            <a:r>
              <a:rPr lang="ko-KR" altLang="en-US" sz="1600" spc="-50" dirty="0"/>
              <a:t>로 줄일 것으로 예측된다면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 저감비용은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변하게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기술혁신으로 절감되는 저감비용은 </a:t>
            </a:r>
            <a:r>
              <a:rPr lang="en-US" altLang="ko-KR" sz="1600" spc="-50" dirty="0"/>
              <a:t>a-c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기술강제 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필요 이상으로 강한 환경기준을 설정하면 오염원은 기술혁신에 힘쓰게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 아닌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만큼 배출허용을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최초의 기술수준에서는 </a:t>
            </a:r>
            <a:r>
              <a:rPr lang="en-US" altLang="ko-KR" sz="1600" spc="-50" dirty="0" err="1"/>
              <a:t>a+b+c+d+e</a:t>
            </a:r>
            <a:r>
              <a:rPr lang="ko-KR" altLang="en-US" sz="1600" spc="-50" dirty="0"/>
              <a:t>만큼 저감비용이 소요되지만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기술혁신을 하면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비용이 대폭 </a:t>
            </a:r>
            <a:r>
              <a:rPr lang="ko-KR" altLang="en-US" sz="1600" spc="-50" dirty="0" err="1"/>
              <a:t>줄어듬</a:t>
            </a:r>
            <a:endParaRPr lang="en-US" altLang="ko-KR" sz="1600" spc="-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3BBFC-F911-54A6-7C1B-11B414EFC4FC}"/>
              </a:ext>
            </a:extLst>
          </p:cNvPr>
          <p:cNvSpPr txBox="1"/>
          <p:nvPr/>
        </p:nvSpPr>
        <p:spPr>
          <a:xfrm>
            <a:off x="9885969" y="518693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a</a:t>
            </a:r>
            <a:endParaRPr lang="ko-KR" altLang="en-US" sz="1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77EC0-06D1-8DB0-88C3-018C03418597}"/>
              </a:ext>
            </a:extLst>
          </p:cNvPr>
          <p:cNvSpPr txBox="1"/>
          <p:nvPr/>
        </p:nvSpPr>
        <p:spPr>
          <a:xfrm>
            <a:off x="9895494" y="5510054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b</a:t>
            </a:r>
            <a:endParaRPr lang="ko-KR" altLang="en-US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BEC691-BB1D-27AF-9D7B-501FC1A1E8BE}"/>
              </a:ext>
            </a:extLst>
          </p:cNvPr>
          <p:cNvSpPr txBox="1"/>
          <p:nvPr/>
        </p:nvSpPr>
        <p:spPr>
          <a:xfrm>
            <a:off x="9499536" y="543414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c</a:t>
            </a:r>
            <a:endParaRPr lang="ko-KR" altLang="en-US" sz="17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6BEBCF-F804-3969-AB7B-F9C93DB44F88}"/>
              </a:ext>
            </a:extLst>
          </p:cNvPr>
          <p:cNvSpPr txBox="1"/>
          <p:nvPr/>
        </p:nvSpPr>
        <p:spPr>
          <a:xfrm>
            <a:off x="9599281" y="5168110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d</a:t>
            </a:r>
            <a:endParaRPr lang="ko-KR" altLang="en-US" sz="1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E96503-ABF1-B191-17E9-B8919296D51F}"/>
              </a:ext>
            </a:extLst>
          </p:cNvPr>
          <p:cNvSpPr txBox="1"/>
          <p:nvPr/>
        </p:nvSpPr>
        <p:spPr>
          <a:xfrm>
            <a:off x="9475470" y="493972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e</a:t>
            </a: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928037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8201</TotalTime>
  <Words>2551</Words>
  <Application>Microsoft Office PowerPoint</Application>
  <PresentationFormat>와이드스크린</PresentationFormat>
  <Paragraphs>361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Part 3  환경정책의 수립과 집행</vt:lpstr>
      <vt:lpstr>Chapter 5  환경정책의 평가기준</vt:lpstr>
      <vt:lpstr>오염피해</vt:lpstr>
      <vt:lpstr>한계피해곡선</vt:lpstr>
      <vt:lpstr>배출 저감량과 한계편익곡선</vt:lpstr>
      <vt:lpstr>저감비용</vt:lpstr>
      <vt:lpstr>산업 전체의 저감비용</vt:lpstr>
      <vt:lpstr>등한계원칙</vt:lpstr>
      <vt:lpstr>환경의 최적 이용</vt:lpstr>
      <vt:lpstr>외부요인에 따른 곡선의 이동</vt:lpstr>
      <vt:lpstr>환경정책 종류</vt:lpstr>
      <vt:lpstr>직접규제 사례</vt:lpstr>
      <vt:lpstr>배출부과금을 통한 규제 사례</vt:lpstr>
      <vt:lpstr>배출권 거래제도</vt:lpstr>
      <vt:lpstr>사법적 규제</vt:lpstr>
      <vt:lpstr>환경정책의 평가기준</vt:lpstr>
      <vt:lpstr>규제위반과 감시행위: 게임이론</vt:lpstr>
      <vt:lpstr>내쉬균형</vt:lpstr>
      <vt:lpstr>규제위반과 감시행위: 내쉬균형</vt:lpstr>
      <vt:lpstr>규제위반과 감시행위: 혼합전략과 내쉬균형</vt:lpstr>
      <vt:lpstr>Chapter 6  직접 규제</vt:lpstr>
      <vt:lpstr>직접규제</vt:lpstr>
      <vt:lpstr>배출 기준</vt:lpstr>
      <vt:lpstr>기술 기준</vt:lpstr>
      <vt:lpstr>오염도 기준</vt:lpstr>
      <vt:lpstr>직접규제의 경제적 비효율성</vt:lpstr>
      <vt:lpstr>환경기준의 획일성과 비효율성</vt:lpstr>
      <vt:lpstr>환경기준의 획일성과 비효율성</vt:lpstr>
      <vt:lpstr>직접규제와 기술혁신 유인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223</cp:revision>
  <dcterms:created xsi:type="dcterms:W3CDTF">2025-07-05T05:15:23Z</dcterms:created>
  <dcterms:modified xsi:type="dcterms:W3CDTF">2025-09-14T14:04:24Z</dcterms:modified>
</cp:coreProperties>
</file>