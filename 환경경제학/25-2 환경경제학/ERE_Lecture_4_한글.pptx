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8"/>
  </p:notesMasterIdLst>
  <p:sldIdLst>
    <p:sldId id="375" r:id="rId2"/>
    <p:sldId id="405" r:id="rId3"/>
    <p:sldId id="464" r:id="rId4"/>
    <p:sldId id="466" r:id="rId5"/>
    <p:sldId id="467" r:id="rId6"/>
    <p:sldId id="468" r:id="rId7"/>
    <p:sldId id="469" r:id="rId8"/>
    <p:sldId id="470" r:id="rId9"/>
    <p:sldId id="472" r:id="rId10"/>
    <p:sldId id="474" r:id="rId11"/>
    <p:sldId id="475" r:id="rId12"/>
    <p:sldId id="476" r:id="rId13"/>
    <p:sldId id="477" r:id="rId14"/>
    <p:sldId id="479" r:id="rId15"/>
    <p:sldId id="478" r:id="rId16"/>
    <p:sldId id="480" r:id="rId17"/>
    <p:sldId id="481" r:id="rId18"/>
    <p:sldId id="482" r:id="rId19"/>
    <p:sldId id="483" r:id="rId20"/>
    <p:sldId id="484" r:id="rId21"/>
    <p:sldId id="486" r:id="rId22"/>
    <p:sldId id="487" r:id="rId23"/>
    <p:sldId id="488" r:id="rId24"/>
    <p:sldId id="489" r:id="rId25"/>
    <p:sldId id="490" r:id="rId26"/>
    <p:sldId id="364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0B12"/>
    <a:srgbClr val="E9E9E9"/>
    <a:srgbClr val="FFFFFF"/>
    <a:srgbClr val="E15F5F"/>
    <a:srgbClr val="F8F7FC"/>
    <a:srgbClr val="2D72BE"/>
    <a:srgbClr val="0047A0"/>
    <a:srgbClr val="E3605B"/>
    <a:srgbClr val="FF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63F2-45B8-D3B3-C5F6-A52E5FDC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2933EC0-C47B-3CF3-4ED0-CEAF7AC97A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D7E7D7-13F0-01E9-7E3D-73D05EBD8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70F219-616E-A742-92B7-2579280F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3229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183C86-FCDD-4CD4-A668-4DF0BEDE3EB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815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2025-09-22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- 4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7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배출부과금과 보조금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D47B-3CCB-DC76-DEE1-957297C2C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42E4BC-D226-A979-538E-7A6D32E2C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361"/>
          <a:stretch>
            <a:fillRect/>
          </a:stretch>
        </p:blipFill>
        <p:spPr>
          <a:xfrm>
            <a:off x="7731230" y="1255309"/>
            <a:ext cx="4393258" cy="480993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D99B18E-1AF5-7C5D-E8D6-121DAE1B2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기본 원리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361A13-1995-61DA-69E2-756E2866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오염원은 자신이 배출하는 오염물질에 대해 단위당 특정 금액의 부과금을 정부에 납부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자신이 배출량을 스스로 결정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오염물질 배출 혹은 저감을 위해 어떤 방식도 채택이 가능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오염원에게 배출 단위당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600" spc="-50" dirty="0"/>
                  <a:t>만큼의 부과금을 징수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오른쪽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적다면 한계저감비용이 부과금보다 크기 때문에 배출량을 더 늘리려고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오염원의 배출량이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크다면 부과금이 한계저감비용보다 크기 때문에 배출량을 더 줄이려고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3487F5-2E4F-04FC-6D34-286BDA200D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14280" cy="4476675"/>
              </a:xfrm>
              <a:prstGeom prst="rect">
                <a:avLst/>
              </a:prstGeom>
              <a:blipFill>
                <a:blip r:embed="rId3"/>
                <a:stretch>
                  <a:fillRect l="-4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1516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603B7-6D08-6C48-A947-3583E76CF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도표, 텍스트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DB810-82C2-2770-F730-64EC095B8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923" y="1109042"/>
            <a:ext cx="4184338" cy="47901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53C8E76-06F0-57B5-6899-C9156D00F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수준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0456B-89FA-1F2C-2EDF-2A13FB89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최적 배출부과금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한계저감비용과 사회적 한계피해가 일치하는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배출량을 오염원이 선택하도록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배출부과금을 매기는 것이 최적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만큼의 배출부과금이 주어지면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오염원은 두 가지 경로를 통해 비용을 부담해야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배출량을 줄이기 위한 비용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배출하기 위해 지불해야 하는 배출부과금</a:t>
                </a:r>
                <a:r>
                  <a:rPr lang="en-US" altLang="ko-KR" sz="1600" spc="-5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 만큼 배출할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사회적피해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보다 배출부과금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더 많으므로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ko-KR" altLang="en-US" sz="1600" spc="-50" dirty="0"/>
                  <a:t>만큼의 비용을 과잉부담 하고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이단계</a:t>
                </a:r>
                <a:r>
                  <a:rPr lang="ko-KR" altLang="en-US" sz="1600" spc="-50" dirty="0"/>
                  <a:t> 배출부과금제도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까지는 부과금을 징수하지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넘어서면 실제 배출량과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차이만큼의 배출량에 대해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징수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오염원은 여전히 사회 최적 배출량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선택하지만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감소하여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과잉부담 금액도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lang="ko-KR" altLang="en-US" sz="1600" spc="-50" dirty="0"/>
                  <a:t>로 감소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A44A49B-74B0-00DB-5D0B-B632BBAA5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095565" cy="5216043"/>
              </a:xfrm>
              <a:prstGeom prst="rect">
                <a:avLst/>
              </a:prstGeom>
              <a:blipFill>
                <a:blip r:embed="rId3"/>
                <a:stretch>
                  <a:fillRect l="-430" r="-430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E9FF7E33-1559-8F12-A2B3-4250AA6830C7}"/>
              </a:ext>
            </a:extLst>
          </p:cNvPr>
          <p:cNvSpPr txBox="1"/>
          <p:nvPr/>
        </p:nvSpPr>
        <p:spPr>
          <a:xfrm>
            <a:off x="8454030" y="499403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a</a:t>
            </a:r>
            <a:endParaRPr lang="ko-KR" alt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FAAEF3-77D3-D5AA-2278-7D044FEEF302}"/>
              </a:ext>
            </a:extLst>
          </p:cNvPr>
          <p:cNvSpPr txBox="1"/>
          <p:nvPr/>
        </p:nvSpPr>
        <p:spPr>
          <a:xfrm>
            <a:off x="9166046" y="5147927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/>
              <a:t>b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DEB462-27FE-6962-4EF6-441502251544}"/>
              </a:ext>
            </a:extLst>
          </p:cNvPr>
          <p:cNvSpPr txBox="1"/>
          <p:nvPr/>
        </p:nvSpPr>
        <p:spPr>
          <a:xfrm>
            <a:off x="9302718" y="49422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c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F85D64-B82A-039E-B9F1-4A327AD6E761}"/>
              </a:ext>
            </a:extLst>
          </p:cNvPr>
          <p:cNvSpPr txBox="1"/>
          <p:nvPr/>
        </p:nvSpPr>
        <p:spPr>
          <a:xfrm>
            <a:off x="9534810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d</a:t>
            </a:r>
            <a:endParaRPr lang="ko-KR" alt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37312F-129C-C39C-9C72-127D60876007}"/>
              </a:ext>
            </a:extLst>
          </p:cNvPr>
          <p:cNvSpPr txBox="1"/>
          <p:nvPr/>
        </p:nvSpPr>
        <p:spPr>
          <a:xfrm>
            <a:off x="9845637" y="5094658"/>
            <a:ext cx="7120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e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29126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EE487-460A-D467-1F2D-84951DE8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4A109F-48AE-77C4-A66A-1BDA43C74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8" name="그림 7" descr="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10E71E-6FD7-F01C-D980-DF7D09099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165" y="3016061"/>
            <a:ext cx="6308521" cy="3591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동질적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동질적 오염물질을 배출하는 다수의 오염원에게 동일한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적용하면 비용효과성이 저절로 달성이 됨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아래 그래프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최적부과금을 모르는 상태에서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부과금을 두 오염원</a:t>
                </a:r>
                <a:r>
                  <a:rPr lang="en-US" altLang="ko-KR" sz="1600" spc="-50" dirty="0"/>
                  <a:t>(1</a:t>
                </a:r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2)</a:t>
                </a:r>
                <a:r>
                  <a:rPr lang="ko-KR" altLang="en-US" sz="1600" spc="-50" dirty="0"/>
                  <a:t>의 배출량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단위에 획일적으로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오염원은 자신의 한계저감비용과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일치하는 수준의 배출량을 선택</a:t>
                </a:r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각각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어떤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적용해도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오염원은 스스로 한계저감비용과 맞는 수준에서 </a:t>
                </a:r>
                <a:r>
                  <a:rPr lang="ko-KR" altLang="en-US" sz="1600" spc="-50" dirty="0" err="1"/>
                  <a:t>저감량을</a:t>
                </a:r>
                <a:r>
                  <a:rPr lang="ko-KR" altLang="en-US" sz="1600" spc="-50" dirty="0"/>
                  <a:t> 결정하므로 항상 비용효과성이 달성 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C68A4AF-CBE6-19D9-2F13-2F18C53EFE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97079" cy="2264915"/>
              </a:xfrm>
              <a:prstGeom prst="rect">
                <a:avLst/>
              </a:prstGeom>
              <a:blipFill>
                <a:blip r:embed="rId3"/>
                <a:stretch>
                  <a:fillRect l="-267" b="-241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/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정부의 목표 배출량 달성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정부의 목표배출량이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충족이 안되면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</a:t>
                </a:r>
                <a:r>
                  <a:rPr lang="ko-KR" altLang="en-US" sz="1600" spc="-50" dirty="0" err="1"/>
                  <a:t>부과금률을</a:t>
                </a:r>
                <a:r>
                  <a:rPr lang="ko-KR" altLang="en-US" sz="1600" spc="-50" dirty="0"/>
                  <a:t> 순차적으로 변경하여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9BEBDAB-917C-7126-4F9C-915635458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955" y="3754724"/>
                <a:ext cx="4027350" cy="1526252"/>
              </a:xfrm>
              <a:prstGeom prst="rect">
                <a:avLst/>
              </a:prstGeom>
              <a:blipFill>
                <a:blip r:embed="rId4"/>
                <a:stretch>
                  <a:fillRect l="-756" b="-44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6101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9F527-FF94-E3DA-D1E5-DB0020004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509CE-BB58-DA3C-9852-5E7D6CB1B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7004B-7722-CBB9-C1EC-1A6DF3890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각 오염원이 배출한 오염물질이 환경오염에 미치는 정도가 다르다면 앞선 비용효과성의 달성은 충족 하지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직관적으로 혹은 상식적으로 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 배출하는 오염물질 한 단위가 오염원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에 비해 오염도에 두 배의 영향을 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에 대한 </a:t>
                </a:r>
                <a:r>
                  <a:rPr lang="ko-KR" altLang="en-US" sz="1600" spc="-50" dirty="0" err="1"/>
                  <a:t>부과금률은</a:t>
                </a:r>
                <a:r>
                  <a:rPr lang="ko-KR" altLang="en-US" sz="1600" spc="-50" dirty="0"/>
                  <a:t> 오염원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 </a:t>
                </a:r>
                <a:r>
                  <a:rPr lang="ko-KR" altLang="en-US" sz="1600" spc="-50" dirty="0" err="1"/>
                  <a:t>부과금률의</a:t>
                </a:r>
                <a:r>
                  <a:rPr lang="ko-KR" altLang="en-US" sz="1600" spc="-50" dirty="0"/>
                  <a:t> 두 배가 되어야 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이는 아래와 같이 수식으로 도출할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Chapter 6</a:t>
                </a:r>
                <a:r>
                  <a:rPr lang="ko-KR" altLang="en-US" sz="1600" spc="-50" dirty="0"/>
                  <a:t>의 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오염도 기준</a:t>
                </a:r>
                <a:r>
                  <a:rPr lang="en-US" altLang="ko-KR" sz="1600" spc="-50" dirty="0"/>
                  <a:t>’ </a:t>
                </a:r>
                <a:r>
                  <a:rPr lang="ko-KR" altLang="en-US" sz="1600" spc="-50" dirty="0"/>
                  <a:t>내용에서 설명하는 전이계수를 활용하면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특정지역의 오염도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오염원이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ko-KR" altLang="en-US" sz="1600" spc="-50" dirty="0"/>
                  <a:t>개이고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 오염원의 배출량이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규제도입 시 각 오염원이 저감하는 양은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 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전이계수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ko-KR" altLang="en-US" sz="1600" spc="-50" dirty="0"/>
                  <a:t>는 자연적으로 발생하는 오염도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실제 오염도라고 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는 아래와 같이 표기할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DE4F705-F471-1975-1F45-FCCB04E0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3746218"/>
              </a:xfrm>
              <a:prstGeom prst="rect">
                <a:avLst/>
              </a:prstGeom>
              <a:blipFill>
                <a:blip r:embed="rId2"/>
                <a:stretch>
                  <a:fillRect l="-295" r="-649" b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/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5E101E-C0B2-2D91-6FEB-F942D96C74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3124" y="4861921"/>
                <a:ext cx="4114412" cy="8712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CE1F928-764C-424E-6E6D-13EC373B19DA}"/>
              </a:ext>
            </a:extLst>
          </p:cNvPr>
          <p:cNvSpPr txBox="1"/>
          <p:nvPr/>
        </p:nvSpPr>
        <p:spPr>
          <a:xfrm>
            <a:off x="4765996" y="5931984"/>
            <a:ext cx="1974558" cy="44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뒷장에 이어 계속</a:t>
            </a:r>
            <a:endParaRPr lang="en-US" altLang="ko-KR" sz="18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3495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FE5EE-7DFB-2F74-4B4F-6211AA41C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6671A-648F-5B68-C90B-A18E4AE5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0B21EF-CE46-922B-E63A-F34917FF7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배출부과금의 비용효과성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이질적 오염물질의 경우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   (</a:t>
                </a: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뒷장에 이어 계속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목표로 하는 오염도가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ba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spc="-50" dirty="0"/>
                  <a:t>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하자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:r>
                  <a:rPr lang="ko-KR" altLang="en-US" sz="1600" spc="-50" dirty="0" err="1"/>
                  <a:t>비용효과적인</a:t>
                </a:r>
                <a:r>
                  <a:rPr lang="ko-KR" altLang="en-US" sz="1600" spc="-50" dirty="0"/>
                  <a:t> 정책이란 정부 목표를 달성하고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전체 오염원의 저감비용을 최소화 함을 의미함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위와 같은 제약하의 최소화 문제는 아래와 같이 </a:t>
                </a:r>
                <a:r>
                  <a:rPr lang="ko-KR" altLang="en-US" sz="1600" spc="-50" dirty="0" err="1"/>
                  <a:t>라그랑지안</a:t>
                </a:r>
                <a:r>
                  <a:rPr lang="ko-KR" altLang="en-US" sz="1600" spc="-50" dirty="0"/>
                  <a:t> 함수를 사용하여 풀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전체 저감비용이 최소화 되기 위해서는 다음의 조건들이 충족되어야 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549275" lvl="1">
                  <a:lnSpc>
                    <a:spcPct val="150000"/>
                  </a:lnSpc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비용효과성이 충족되기 위해서는 각 오염원의 한계저감비용과 전이계수의 비율</a:t>
                </a:r>
                <a:r>
                  <a:rPr lang="en-US" altLang="ko-KR" sz="1600" dirty="0"/>
                  <a:t>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𝐴𝐶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6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이 동일해야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비율은 피해지역의 오염도를 한 단위 더 줄이는 데 소요되는 전체 저감비용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같아야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7EC0B95-FD17-5A3A-F37C-3B59F1546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0331677" cy="5119543"/>
              </a:xfrm>
              <a:prstGeom prst="rect">
                <a:avLst/>
              </a:prstGeom>
              <a:blipFill>
                <a:blip r:embed="rId2"/>
                <a:stretch>
                  <a:fillRect l="-295" b="-4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/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l-GR" altLang="ko-KR" b="0" i="1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bSup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bar>
                            <m:barPr>
                              <m:pos m:val="to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ba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FD4BB64-9911-56E2-F61B-636A22DA62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455" y="2706860"/>
                <a:ext cx="4626588" cy="8803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/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 ⋯=</m:t>
                      </m:r>
                      <m:f>
                        <m:f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𝐴𝐶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i="1">
                          <a:latin typeface="Cambria Math" panose="02040503050406030204" pitchFamily="18" charset="0"/>
                        </a:rPr>
                        <m:t>λ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DFED006-C170-7728-1105-0A2F4B76B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8054" y="4473568"/>
                <a:ext cx="6134100" cy="6751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0979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29DD8-22B6-25D7-F922-1247B5DCB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9FD24D-14B0-3F72-9795-CA5F46284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배출부과금의 비용효과성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91FAB6-E2C4-EAC1-1632-5D6D550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C462-123D-0562-3EB2-BDF3F432625E}"/>
              </a:ext>
            </a:extLst>
          </p:cNvPr>
          <p:cNvSpPr txBox="1"/>
          <p:nvPr/>
        </p:nvSpPr>
        <p:spPr>
          <a:xfrm>
            <a:off x="678873" y="958844"/>
            <a:ext cx="10331677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구획화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보았듯이 오염물질이 지역에 영향을 미치는 정도가 서로 다르면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오염원별로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적용해야 충족되지만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모든 오염원들의 전이계수를 알 수는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구획배출부과금제는 오염이 발생하는 전체 지역을 몇 개의 구획으로 나눈 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동일한 구획에 포함되는 오염원들에 대해서는 동일한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서로 다른 </a:t>
            </a:r>
            <a:r>
              <a:rPr lang="ko-KR" altLang="en-US" sz="1600" spc="-50" dirty="0" err="1"/>
              <a:t>구획간에는</a:t>
            </a:r>
            <a:r>
              <a:rPr lang="ko-KR" altLang="en-US" sz="1600" spc="-50" dirty="0"/>
              <a:t> 오염에 미치는 영향에 따라 </a:t>
            </a:r>
            <a:r>
              <a:rPr lang="ko-KR" altLang="en-US" sz="1600" spc="-50" dirty="0" err="1"/>
              <a:t>차등화된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구획화 제도는 오염물질이 이질적임에도 불구하고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획일적인 </a:t>
            </a:r>
            <a:r>
              <a:rPr lang="ko-KR" altLang="en-US" sz="1600" spc="-50" dirty="0" err="1"/>
              <a:t>부과금률을</a:t>
            </a:r>
            <a:r>
              <a:rPr lang="ko-KR" altLang="en-US" sz="1600" spc="-50" dirty="0"/>
              <a:t> 적용함으로써 발생하는 비효율성을 완화해줄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88246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D322B-ADF4-2350-4248-49ADC560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배출부과금제의 기술혁신 유인 </a:t>
            </a:r>
            <a:r>
              <a:rPr lang="en-US" altLang="ko-KR" dirty="0"/>
              <a:t>(vs. </a:t>
            </a:r>
            <a:r>
              <a:rPr lang="ko-KR" altLang="en-US" dirty="0"/>
              <a:t>직접규제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028398-7697-3D62-4D65-D8DE313A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6" name="그림 5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699BEB-E638-C837-1C03-50CBAD56D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5388" y="1171157"/>
            <a:ext cx="4537062" cy="536575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A0E323A-57BB-B134-F273-041A0CA95D0B}"/>
              </a:ext>
            </a:extLst>
          </p:cNvPr>
          <p:cNvCxnSpPr>
            <a:cxnSpLocks/>
          </p:cNvCxnSpPr>
          <p:nvPr/>
        </p:nvCxnSpPr>
        <p:spPr>
          <a:xfrm flipH="1">
            <a:off x="8718550" y="3854032"/>
            <a:ext cx="396000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E8742C-0BAF-2826-A6C3-85F7D71FA41A}"/>
              </a:ext>
            </a:extLst>
          </p:cNvPr>
          <p:cNvSpPr txBox="1"/>
          <p:nvPr/>
        </p:nvSpPr>
        <p:spPr>
          <a:xfrm>
            <a:off x="8318500" y="48921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4DE905-F8A3-E331-571A-3BF7E2349949}"/>
              </a:ext>
            </a:extLst>
          </p:cNvPr>
          <p:cNvSpPr txBox="1"/>
          <p:nvPr/>
        </p:nvSpPr>
        <p:spPr>
          <a:xfrm>
            <a:off x="8984375" y="5209659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F10C73-5A81-C442-A680-CFBB7D247010}"/>
              </a:ext>
            </a:extLst>
          </p:cNvPr>
          <p:cNvSpPr txBox="1"/>
          <p:nvPr/>
        </p:nvSpPr>
        <p:spPr>
          <a:xfrm>
            <a:off x="9520075" y="539432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e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02C889-2544-EA61-E1CB-A60EABE25BF6}"/>
              </a:ext>
            </a:extLst>
          </p:cNvPr>
          <p:cNvSpPr txBox="1"/>
          <p:nvPr/>
        </p:nvSpPr>
        <p:spPr>
          <a:xfrm>
            <a:off x="9109075" y="4376486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5072BF-C166-8C4C-F44C-A4692FCA8C81}"/>
              </a:ext>
            </a:extLst>
          </p:cNvPr>
          <p:cNvSpPr txBox="1"/>
          <p:nvPr/>
        </p:nvSpPr>
        <p:spPr>
          <a:xfrm>
            <a:off x="9520075" y="4840327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하면 오염원은 배출량을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→e</a:t>
                </a:r>
                <a:r>
                  <a:rPr lang="en-US" altLang="ko-KR" sz="1600" spc="-50" baseline="-25000" dirty="0"/>
                  <a:t>2</a:t>
                </a:r>
                <a:r>
                  <a:rPr lang="ko-KR" altLang="en-US" sz="1600" spc="-50" dirty="0"/>
                  <a:t>로 줄이게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</a:t>
                </a:r>
                <a:r>
                  <a:rPr lang="en-US" altLang="ko-KR" sz="1600" spc="-50" dirty="0" err="1"/>
                  <a:t>a+b+c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 </a:t>
                </a:r>
                <a:r>
                  <a:rPr lang="en-US" altLang="ko-KR" sz="1600" spc="-50" dirty="0" err="1"/>
                  <a:t>b+e</a:t>
                </a:r>
                <a:r>
                  <a:rPr lang="ko-KR" altLang="en-US" sz="1600" spc="-50" dirty="0"/>
                  <a:t>만큼을 저감비용으로 지불하고</a:t>
                </a:r>
                <a:r>
                  <a:rPr lang="en-US" altLang="ko-KR" sz="1600" spc="-50" dirty="0"/>
                  <a:t>, a</a:t>
                </a:r>
                <a:r>
                  <a:rPr lang="ko-KR" altLang="en-US" sz="1600" spc="-50" dirty="0"/>
                  <a:t>만큼을 배출부과금으로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 err="1"/>
                  <a:t>c+d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직접규제로서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배출기준이 </a:t>
                </a:r>
                <a:r>
                  <a:rPr lang="en-US" altLang="ko-KR" sz="1600" spc="-50" dirty="0"/>
                  <a:t>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 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저감기술이 발전</a:t>
                </a:r>
                <a:r>
                  <a:rPr lang="en-US" altLang="ko-KR" sz="1600" spc="-50" dirty="0"/>
                  <a:t>(MAC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→MAC</a:t>
                </a:r>
                <a:r>
                  <a:rPr lang="en-US" altLang="ko-KR" sz="1600" spc="-50" baseline="-25000" dirty="0"/>
                  <a:t>2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해도 오염원은 배출량을 변화시키지 않음 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ko-KR" altLang="en-US" sz="1600" spc="-50" dirty="0"/>
                  <a:t>그대로 유지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</a:t>
                </a:r>
                <a:r>
                  <a:rPr lang="ko-KR" altLang="en-US" sz="1600" spc="-50" dirty="0" err="1"/>
                  <a:t>없을때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 err="1"/>
                  <a:t>d+e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기술혁신이 생기면</a:t>
                </a:r>
                <a:r>
                  <a:rPr lang="en-US" altLang="ko-KR" sz="1600" spc="-50" dirty="0"/>
                  <a:t>(e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e</a:t>
                </a:r>
                <a:r>
                  <a:rPr lang="ko-KR" altLang="en-US" sz="1600" spc="-50" dirty="0"/>
                  <a:t>만큼을 저감비용으로 지불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기술혁신을 통해 총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만큼의 이득이 생김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배출부과금제도가 기술 혁신 유도에 더 큰 유인을 제공함 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c+d</a:t>
                </a:r>
                <a:r>
                  <a:rPr lang="en-US" altLang="ko-KR" sz="1600" spc="-50"/>
                  <a:t>&gt;d)</a:t>
                </a:r>
                <a:endParaRPr lang="en-US" altLang="ko-KR" sz="1600" spc="-5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29774E-126E-E4F1-A971-32E6BF4F2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972877" cy="4846007"/>
              </a:xfrm>
              <a:prstGeom prst="rect">
                <a:avLst/>
              </a:prstGeom>
              <a:blipFill>
                <a:blip r:embed="rId3"/>
                <a:stretch>
                  <a:fillRect r="-437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8996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2F468-0CAC-7334-DED0-D8693E508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높은 정책 집행비용과 대안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B4BCF0-0175-0EEB-68CE-C8A1AE20B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28C27-4B4B-6EAE-0C26-CAD877D58911}"/>
              </a:ext>
            </a:extLst>
          </p:cNvPr>
          <p:cNvSpPr txBox="1"/>
          <p:nvPr/>
        </p:nvSpPr>
        <p:spPr>
          <a:xfrm>
            <a:off x="678873" y="958844"/>
            <a:ext cx="10331677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높은 정책비용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배출부과금제도는 효율성과 기술혁신 유인 측면에서 직접규제에 비해 우월하지만 현실에서는 직접규제가 더 많이 사용되고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부과금제도의 집행비용이 직접규제의 집행비용보다 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부과금제도를 집행하기 위해서는 오염원의 배출량 및 그에 대한 정보를 파악하고 있어야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특히 비점원오염의 경우 배출 정보를 파악하기 매우 </a:t>
            </a:r>
            <a:r>
              <a:rPr lang="ko-KR" altLang="en-US" sz="1600" spc="-50" dirty="0" err="1"/>
              <a:t>힘듬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정책대안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배출부과금제도의 장점을 가지고 있음과 동시에 집행비용을 절약할 수 있는 정책수단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제품부과금 혹은 </a:t>
            </a:r>
            <a:r>
              <a:rPr lang="ko-KR" altLang="en-US" sz="1600" spc="-50" dirty="0" err="1"/>
              <a:t>상품세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폐기물예치금제도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98798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AA64-8B59-6853-CD6D-5E05A7D7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AB9A58-8177-142B-34A7-D126A6138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842" y="2564934"/>
            <a:ext cx="3341608" cy="382538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458821C-C473-2E1B-EB4E-9FE4E29A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제품부과금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324D01-E31F-44EE-DFD0-46E76154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제품부과금 혹은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상품세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계측하는 대신 기업이 생산하는 제품 단위당 세금을 매기는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그래프는 완전경쟁시장임을 가정하자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기업이 생산량을 변화시켜도 시장가격은 변하지 않으므로 수평의 수요곡선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기업의 </a:t>
                </a:r>
                <a:r>
                  <a:rPr lang="ko-KR" altLang="en-US" sz="1600" spc="-50" dirty="0" err="1"/>
                  <a:t>한계비용곡선이며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생산자는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생산하는데 배출되는 </a:t>
                </a:r>
                <a:r>
                  <a:rPr lang="ko-KR" altLang="en-US" sz="1600" spc="-50" dirty="0" err="1"/>
                  <a:t>오염물질량이</a:t>
                </a:r>
                <a:r>
                  <a:rPr lang="ko-KR" altLang="en-US" sz="1600" spc="-50" dirty="0"/>
                  <a:t> 사회적으로 너무 많다고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제품의 특성상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제품을 한 단위 생산하는데 배출되는 </a:t>
                </a:r>
                <a:r>
                  <a:rPr lang="ko-KR" altLang="en-US" sz="1600" spc="-50" dirty="0" err="1"/>
                  <a:t>오염물질량을</a:t>
                </a:r>
                <a:r>
                  <a:rPr lang="ko-KR" altLang="en-US" sz="1600" spc="-50" dirty="0"/>
                  <a:t> 알고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오염물질 배출로 인해 발생하는 사회적 </a:t>
                </a:r>
                <a:r>
                  <a:rPr lang="ko-KR" altLang="en-US" sz="1600" spc="-50" dirty="0" err="1"/>
                  <a:t>손실량을</a:t>
                </a:r>
                <a:r>
                  <a:rPr lang="ko-KR" altLang="en-US" sz="1600" spc="-50" dirty="0"/>
                  <a:t> 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생산을 유도하기 위하여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제품 단위당 세금의 형태로 부과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기업의 한계비용 곡선은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i="0" spc="-5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상향 평행 이동하여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제품을 생산하게 될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정책비용이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정부는 오염물질 계측 보다는 생산량 파악이 쉬움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환경관련 이유를 제외하고 이미 다양한 세금을 생산량 기반으로 징수하고 있음</a:t>
                </a:r>
                <a:r>
                  <a:rPr lang="en-US" altLang="ko-KR" sz="1600" spc="-50" dirty="0"/>
                  <a:t>. 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효율성 약간 감소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다만 기업은 반드시 생산량을 통해 배출량을 줄여야 하므로 약간의 경직성이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CC93991-F7FB-5914-357C-D1D2104F05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8251767" cy="5584670"/>
              </a:xfrm>
              <a:prstGeom prst="rect">
                <a:avLst/>
              </a:prstGeom>
              <a:blipFill>
                <a:blip r:embed="rId3"/>
                <a:stretch>
                  <a:fillRect l="-369" r="-295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왼쪽 중괄호 9">
            <a:extLst>
              <a:ext uri="{FF2B5EF4-FFF2-40B4-BE49-F238E27FC236}">
                <a16:creationId xmlns:a16="http://schemas.microsoft.com/office/drawing/2014/main" id="{69547743-C357-68C5-03E1-8AA762334512}"/>
              </a:ext>
            </a:extLst>
          </p:cNvPr>
          <p:cNvSpPr/>
          <p:nvPr/>
        </p:nvSpPr>
        <p:spPr>
          <a:xfrm>
            <a:off x="9685090" y="4543831"/>
            <a:ext cx="226503" cy="594908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/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CAA54CE-FFDB-2D9D-1FBD-392C200B2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140" y="4687743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1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9574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B3AD-AAC3-CD28-C6E1-6485489E7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D4C697-F146-D22B-5055-27F6C6CA9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쌀 </a:t>
            </a:r>
            <a:r>
              <a:rPr lang="en-US" altLang="ko-KR" dirty="0"/>
              <a:t>vs. </a:t>
            </a:r>
            <a:r>
              <a:rPr lang="ko-KR" altLang="en-US" dirty="0"/>
              <a:t>논 어디에 보조를 해야 하나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857403-0E58-F676-4946-72C077A1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427719-E560-6D8B-22CD-993C06B86E2C}"/>
              </a:ext>
            </a:extLst>
          </p:cNvPr>
          <p:cNvSpPr txBox="1"/>
          <p:nvPr/>
        </p:nvSpPr>
        <p:spPr>
          <a:xfrm>
            <a:off x="678873" y="958844"/>
            <a:ext cx="10788965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농업의 긍정적 외부효과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농업은 쌀과 같은 시장재를 생산하기도 하지만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홍수조절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아름다운 경관 제공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생태계다양성 지지 등과 같이 긍정적인 외부효과를 주기도 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한국과 같은 일부 농산물 수입국들은 개방화로 인해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위와 같이 긍정적 외부효과를 갖고 있는 자국의 농업이 위축되는 것을 우려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호주와 같은 농산물 수출국들은 위에 설명한 농업의 긍정적 외부효과를 강조하는 것은 무역장벽을 설치하기 위한 변명에 불과하다는 입장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긍정적 외부효과에 대한 정부의 보상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논이 외부효과를 발생시키는 것이지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논에서 생산된 쌀이 외부효과를 발생시키는 것이 아니기 때문에 쌀 생산량과 관계 없이 농지 소유에 대해 보상급을 지급하면 된다는 입장이 있고</a:t>
            </a:r>
            <a:r>
              <a:rPr lang="en-US" altLang="ko-KR" sz="1600" spc="-50" dirty="0"/>
              <a:t>,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반론으로 논이 제공하는 긍정적 외부효과를 측정하고 적절한 대가를 지급하는 데 비용이 많이 들기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농산물가격을 적절히 높여 줌으로써 보상해주는 것이 바람직하다는 주장도 있음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앞서 살펴본 배출부과금 </a:t>
            </a:r>
            <a:r>
              <a:rPr lang="en-US" altLang="ko-KR" sz="1600" spc="-50" dirty="0"/>
              <a:t>vs. </a:t>
            </a:r>
            <a:r>
              <a:rPr lang="ko-KR" altLang="en-US" sz="1600" spc="-50" dirty="0"/>
              <a:t>제품부과금 논쟁과 유사한 맥락임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06800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2A63F-4AF4-B21F-4DC6-D4A84616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1A591-EAEB-02C6-EACA-ED0BA1EE9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폐기물예치금제도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81E31-66EB-86FD-829A-3DF00E66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8" name="그림 7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4017CC-B7A9-9AB6-D340-B35DE5126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84" y="2330667"/>
            <a:ext cx="3674303" cy="42062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/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생산자책임재활용제도로</a:t>
                </a:r>
                <a:r>
                  <a:rPr lang="ko-KR" altLang="en-US" sz="1600" spc="-50" dirty="0"/>
                  <a:t> 불리기도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예를 들면 음료수 생산자가 판매한 음료수의 빈 병을 회수하여 재활용할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미리 예치 </a:t>
                </a:r>
                <a:r>
                  <a:rPr lang="ko-KR" altLang="en-US" sz="1600" spc="-50" dirty="0" err="1"/>
                  <a:t>해놓은</a:t>
                </a:r>
                <a:r>
                  <a:rPr lang="ko-KR" altLang="en-US" sz="1600" spc="-50" dirty="0"/>
                  <a:t> 금액을 되돌려 받거나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회수하지 못한 병에 대해서는 예치한 금액을 포기해야 하는 제도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 그래프에서 기업이 판매한 음료수가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병이라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가로축은 </a:t>
                </a:r>
                <a:r>
                  <a:rPr lang="en-US" altLang="ko-KR" sz="1600" spc="-50" dirty="0"/>
                  <a:t>100</a:t>
                </a:r>
                <a:r>
                  <a:rPr lang="ko-KR" altLang="en-US" sz="1600" spc="-50" dirty="0"/>
                  <a:t>개의 음료 중에 수거가 되지 않은 버려진 병의 수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MB</a:t>
                </a:r>
                <a:r>
                  <a:rPr lang="ko-KR" altLang="en-US" sz="1600" spc="-50" dirty="0"/>
                  <a:t> 곡선은 생산자가 병을 수거하지 않아서 얻는 한계편익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병을 수거하는데 소요되는 노동 및 시간비용을 절감함여 얻는 편익</a:t>
                </a:r>
                <a:r>
                  <a:rPr lang="en-US" altLang="ko-KR" sz="1600" spc="-50" dirty="0"/>
                  <a:t>), </a:t>
                </a:r>
                <a:r>
                  <a:rPr lang="ko-KR" altLang="en-US" sz="1600" spc="-50" dirty="0"/>
                  <a:t>이때 기업은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만큼의 병을 모두 버리고자 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빈 병이 수거되지 않으면 사회적 한계비용이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𝑀𝐶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곡선과 같은 형태로 나타남</a:t>
                </a:r>
                <a:r>
                  <a:rPr lang="en-US" altLang="ko-KR" sz="1600" spc="-50" dirty="0"/>
                  <a:t>. ‘</a:t>
                </a:r>
                <a:r>
                  <a:rPr lang="ko-KR" altLang="en-US" sz="1600" spc="-50" dirty="0"/>
                  <a:t>버려진 빈 병</a:t>
                </a:r>
                <a:r>
                  <a:rPr lang="en-US" altLang="ko-KR" sz="1600" spc="-50" dirty="0"/>
                  <a:t>‘</a:t>
                </a:r>
                <a:r>
                  <a:rPr lang="ko-KR" altLang="en-US" sz="1600" spc="-50" dirty="0"/>
                  <a:t>의 사회적 최적은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sz="1600" spc="-50" dirty="0"/>
                  <a:t>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버려져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기업에게 빈 병 당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만큼의 예치금을 부과하면 버리는 병의 한계비용이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ko-KR" altLang="en-US" sz="1600" spc="-50" dirty="0"/>
                  <a:t>로 상향 평행이동 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MC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이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기업은 </a:t>
                </a:r>
                <a:r>
                  <a:rPr lang="en-US" altLang="ko-KR" sz="1600" spc="-50" dirty="0"/>
                  <a:t>100-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병을 수거하게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962BA76-9F92-24FC-21D5-5D1EDF7439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953" y="958844"/>
                <a:ext cx="8028247" cy="5234318"/>
              </a:xfrm>
              <a:prstGeom prst="rect">
                <a:avLst/>
              </a:prstGeom>
              <a:blipFill>
                <a:blip r:embed="rId3"/>
                <a:stretch>
                  <a:fillRect r="-1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7C0C1A57-685C-64D5-F331-1AA0D4C5E5E7}"/>
              </a:ext>
            </a:extLst>
          </p:cNvPr>
          <p:cNvSpPr/>
          <p:nvPr/>
        </p:nvSpPr>
        <p:spPr>
          <a:xfrm>
            <a:off x="9849330" y="4711787"/>
            <a:ext cx="226503" cy="1342937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/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d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31BE70A-6493-1483-D128-43154317F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4380" y="5181138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1918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A7633-0C6A-8C65-C401-912A1A9DA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0ACFD5-2DED-091B-2D64-43B81D27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55597E-147A-E549-47FD-A859259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5" name="그림 4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DCB0DEB-81C1-3522-F5D7-ADA9A1C45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7771" y="1134532"/>
            <a:ext cx="4784679" cy="54773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저감시설에 대한 보조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오염물질 저감시설 설치를 위해 기업에게 보조금을 지급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축산폐수 정화시설에 대한 보조금 효과를 보여주고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MC</m:t>
                    </m:r>
                  </m:oMath>
                </a14:m>
                <a:r>
                  <a:rPr lang="ko-KR" altLang="en-US" sz="1600" spc="-50" dirty="0"/>
                  <a:t>는 정화시설 생산을 위한 한계비용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축산농가가 정화시설에 대해 갖는 한계가치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질병감소 등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정화시설 설치로 인해 농가 외의 사람들도 편익이 발생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양의 외부효과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한계가치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𝑀𝐵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높이 위치함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보다 작은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설치가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𝑎𝑏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규모당 보조금을 지불하면 정화시설의 단위규모당 실질 구입가격이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되어 사회 최적 규모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오염자의 수익성을 저해하지 않는 정책이긴 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저감시설에 대한 보조정책은 오염원이 취할 수 있는 다양한 저감노력 가운데 한 가지 방법에 대해서만 지원하므로 비교적 경직된 제도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F771FA2-0511-F3E1-A8AB-2B9C2FD3B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5266250"/>
              </a:xfrm>
              <a:prstGeom prst="rect">
                <a:avLst/>
              </a:prstGeom>
              <a:blipFill>
                <a:blip r:embed="rId4"/>
                <a:stretch>
                  <a:fillRect l="-433" r="-173" b="-4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909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8102-D93A-42B6-C71A-F10D6E0F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D21B40-5C28-B520-545E-F4BB6AFFC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보조금 제도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4FC3E3-4EE9-C3AB-F3E2-43EC8CC2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/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저감에 대한 보조금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정부는 오염물질 배출상한을 부여하고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오염원이 그 배출상한보다 적은 양을 배출하면 그 차이에 대해 단위당 오염원에게 보조금을 지급하는 정책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배웠듯이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정부가 배출량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배출부과금을 징수하면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오염원은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수준에서 오염물질을 배출하게 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이번에는 반대로 오염원이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수준보다 적은 양을 배출하면 그 </a:t>
                </a:r>
                <a:r>
                  <a:rPr lang="ko-KR" altLang="en-US" sz="1600" spc="-50" dirty="0" err="1"/>
                  <a:t>저감량에</a:t>
                </a:r>
                <a:r>
                  <a:rPr lang="ko-KR" altLang="en-US" sz="1600" spc="-50" dirty="0"/>
                  <a:t> 대해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spc="-50" dirty="0"/>
                  <a:t>만큼 보조금을 지급한다고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경우에도 오염원은 최적 배출량인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선택하게 될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이상으로 배출을 하게 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 한 단위 줄이면서 얻는 보상이 한계저감비용보다 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또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이하로 배출을 하게 되면 보조금이 한계저감비용보다 작기 때문임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저감에 대한 보조금 제도를 사용해도 배출부과금제도와 마찬가지로 사회적으로 최적인 배출량을 유도할 수 있음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26170FF-EF35-BFD6-9F5F-926B149CE5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39" y="958844"/>
                <a:ext cx="7042727" cy="4846007"/>
              </a:xfrm>
              <a:prstGeom prst="rect">
                <a:avLst/>
              </a:prstGeom>
              <a:blipFill>
                <a:blip r:embed="rId3"/>
                <a:stretch>
                  <a:fillRect l="-433" r="-173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5C08F19-F65E-7BDA-11FD-67F085EB0C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5185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21B8-B65C-70AE-9431-55A4AC6A8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5C685-58E7-180F-C909-C25B204F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88837A-BB99-1E42-8386-2D37BE9B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2645D-6731-FCB0-1ED3-29FEAAC6355B}"/>
              </a:ext>
            </a:extLst>
          </p:cNvPr>
          <p:cNvSpPr txBox="1"/>
          <p:nvPr/>
        </p:nvSpPr>
        <p:spPr>
          <a:xfrm>
            <a:off x="678873" y="958844"/>
            <a:ext cx="11303577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대칭성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배출부과금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저감보조금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본 같은 수준의 배출부과금과 저감보조금은 완전히 동일한 배출량을 유도함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비대칭성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장기적으로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저감 보조금을 기업에 줄 경우에는 기업의 이윤이 늘어나기 때문에 새로운 기업이 산업에 진입하게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산업 전체의 생산량과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배출량 증가를 초래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장기에서의 대칭성 조건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산업 전체에 허용된 배출량을 고정할 필요가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이를 위해 정책이 시행되는 최초 시점에 정부는 그 당시의 기업들이 배출할 수 있는 상한을 정해주되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상한의 합이 변하지 않도록 하여야 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최초 시점의 기업들은 배출상한 대비 </a:t>
            </a:r>
            <a:r>
              <a:rPr lang="ko-KR" altLang="en-US" sz="1600" spc="-50" dirty="0" err="1"/>
              <a:t>저감량에</a:t>
            </a:r>
            <a:r>
              <a:rPr lang="ko-KR" altLang="en-US" sz="1600" spc="-50" dirty="0"/>
              <a:t> 대해서는 보조금을 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초과 배출량에 대해 부과금을 납부하게 됨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새로 진입하는 기업은 배출상한을 부여 받지 못하고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자신의 </a:t>
            </a:r>
            <a:r>
              <a:rPr lang="ko-KR" altLang="en-US" sz="1600" spc="-50" dirty="0" err="1"/>
              <a:t>배출양</a:t>
            </a:r>
            <a:r>
              <a:rPr lang="ko-KR" altLang="en-US" sz="1600" spc="-50" dirty="0"/>
              <a:t> 전체에 대해 부과금을 지불하거나 혹은 최초 시점의 </a:t>
            </a:r>
            <a:r>
              <a:rPr lang="ko-KR" altLang="en-US" sz="1600" spc="-50" dirty="0" err="1"/>
              <a:t>기업들로부터</a:t>
            </a:r>
            <a:r>
              <a:rPr lang="ko-KR" altLang="en-US" sz="1600" spc="-50" dirty="0"/>
              <a:t> 배출상한을 구입하여야 함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13181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D7C63-5F5F-8D38-0E36-4F856EEA3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FBFB38-B56A-61D6-ABA9-685CF40E6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452D74-65B9-4224-F515-B5024E9C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(1)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최초 기업이 부여 받은 배출상한을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저감보조금제도가 시행되는 것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i="0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기업 입장에서는 배출부과금제도가 시행되는 것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기업의 저감에 대한 단위당 보조금이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라 하자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이는 오른쪽 그래프의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bar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처</m:t>
                    </m:r>
                  </m:oMath>
                </a14:m>
                <a:r>
                  <a:rPr lang="ko-KR" altLang="en-US" sz="1600" spc="-50" dirty="0"/>
                  <a:t>럼 최적배출량에서의 한계피해액과 같은 금액이다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기업의 실제 배출량을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라고 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정부로부터 받는 보조금은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새로 진입하는 기업이 배출상한을 구입하면 그 가격은 어떻게 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배출상한을 구매하는 기업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판매하는 기업 입장을 모두 고려하면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될 수 밖에 없음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1B91DA-1818-5D11-4735-4AF516C88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6629977" cy="4150945"/>
              </a:xfrm>
              <a:prstGeom prst="rect">
                <a:avLst/>
              </a:prstGeom>
              <a:blipFill>
                <a:blip r:embed="rId2"/>
                <a:stretch>
                  <a:fillRect l="-460" b="-8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F5859C-0BB6-4FF9-2093-8C8D646AA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466" y="958844"/>
            <a:ext cx="4611318" cy="52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868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5BD14-EAE7-5EDE-5195-49A50F172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1A050-0DBB-212B-6D0E-669A63981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배출부과금과 저감보조금의 대칭성과 비대칭성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87E3D-D008-FBC4-D90A-E3F785A87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장기에서의 대칭성 </a:t>
                </a:r>
                <a:r>
                  <a:rPr lang="en-US" altLang="ko-KR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(2)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배출부과금과 저감보조금이 같다는 사실을 확인해보자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어떤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만큼 배출하고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만큼 생산할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부담하는 생산비가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 기업이 산업을 떠나지 않고 생산함으로 인해 부담하는 총 기회비용은 아래와 같음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92075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d>
                        <m:dPr>
                          <m:ctrlPr>
                            <a:rPr lang="en-US" altLang="ko-KR" sz="2000" b="0" i="1" spc="-5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bar>
                            <m:barPr>
                              <m:pos m:val="top"/>
                              <m:ctrlPr>
                                <a:rPr lang="en-US" altLang="ko-KR" sz="2000" b="0" i="1" spc="-50" smtClean="0">
                                  <a:latin typeface="Cambria Math" panose="02040503050406030204" pitchFamily="18" charset="0"/>
                                </a:rPr>
                              </m:ctrlPr>
                            </m:bar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pc="-50" smtClean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bar>
                          <m: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altLang="ko-KR" sz="2000" b="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spc="-50" dirty="0"/>
                        <m:t>·</m:t>
                      </m:r>
                      <m:bar>
                        <m:barPr>
                          <m:pos m:val="top"/>
                          <m:ctrlPr>
                            <a:rPr lang="en-US" altLang="ko-KR" sz="2000" i="1" spc="-50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bar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c</m:t>
                      </m:r>
                      <m:d>
                        <m:dPr>
                          <m:ctrlPr>
                            <a:rPr lang="en-US" altLang="ko-KR" sz="2000" i="1" spc="-5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altLang="ko-KR" sz="2000" i="0" spc="-5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</m:d>
                      <m:r>
                        <a:rPr lang="en-US" altLang="ko-KR" sz="2000" b="0" i="0" spc="-5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ko-KR" sz="2000" i="0" spc="-50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US" altLang="ko-KR" sz="2000" spc="-50" dirty="0"/>
                        <m:t>·</m:t>
                      </m:r>
                      <m:r>
                        <m:rPr>
                          <m:sty m:val="p"/>
                        </m:rPr>
                        <a:rPr lang="en-US" altLang="ko-KR" sz="2000" b="0" i="0" spc="-50" dirty="0" smtClean="0">
                          <a:latin typeface="Cambria Math" panose="02040503050406030204" pitchFamily="18" charset="0"/>
                        </a:rPr>
                        <m:t>e</m:t>
                      </m:r>
                    </m:oMath>
                  </m:oMathPara>
                </a14:m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생산비용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pos m:val="top"/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 altLang="ko-KR" sz="1600" i="0" spc="-50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e>
                        </m:bar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정부로 받은 보조금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:</a:t>
                </a:r>
                <a:r>
                  <a:rPr lang="ko-KR" altLang="en-US" sz="1600" spc="-50" dirty="0"/>
                  <a:t> 기업이 배출권을 다른 기업에 팔지 않은 기회비용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여기서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i="0" spc="-50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ko-KR" altLang="en-US" sz="1600" spc="-50" dirty="0"/>
                  <a:t>는 최적 </a:t>
                </a:r>
                <a:r>
                  <a:rPr lang="ko-KR" altLang="en-US" sz="1600" spc="-50" dirty="0" err="1"/>
                  <a:t>오염량에서의</a:t>
                </a:r>
                <a:r>
                  <a:rPr lang="ko-KR" altLang="en-US" sz="1600" spc="-50" dirty="0"/>
                  <a:t> 오염의 </a:t>
                </a:r>
                <a:r>
                  <a:rPr lang="ko-KR" altLang="en-US" sz="1600" spc="-50" dirty="0" err="1"/>
                  <a:t>한계피해액이기</a:t>
                </a:r>
                <a:r>
                  <a:rPr lang="ko-KR" altLang="en-US" sz="1600" spc="-50" dirty="0"/>
                  <a:t>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기업이 느끼는 자신의 총 기회비용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이 기업이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e</m:t>
                    </m:r>
                    <m:r>
                      <a:rPr lang="ko-KR" altLang="en-US" sz="1600" spc="-50">
                        <a:latin typeface="Cambria Math" panose="02040503050406030204" pitchFamily="18" charset="0"/>
                      </a:rPr>
                      <m:t>만</m:t>
                    </m:r>
                  </m:oMath>
                </a14:m>
                <a:r>
                  <a:rPr lang="ko-KR" altLang="en-US" sz="1600" spc="-50" dirty="0"/>
                  <a:t>큼의 오염물질을 배출하면서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를 생산할 때 발생하는 사회적 비용과 완전히 동일하다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장기에도 기업의 외부효과는 완전히 </a:t>
                </a:r>
                <a:r>
                  <a:rPr lang="ko-KR" altLang="en-US" sz="1600" spc="-50" dirty="0" err="1"/>
                  <a:t>내부화되어</a:t>
                </a:r>
                <a:r>
                  <a:rPr lang="ko-KR" altLang="en-US" sz="1600" spc="-50" dirty="0"/>
                  <a:t> 기업이 자신이 배출한 오염물질이 유발하는 사회적 피해까지도 인식하게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사회적 최적이 달성된다는 뜻을 담고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또한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altLang="ko-KR" sz="1600" spc="-5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ko-KR" sz="1600" spc="-50" dirty="0"/>
                      <m:t>·</m:t>
                    </m:r>
                    <m:r>
                      <m:rPr>
                        <m:sty m:val="p"/>
                      </m:rPr>
                      <a:rPr lang="en-US" altLang="ko-KR" sz="1600" spc="-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ko-KR" altLang="en-US" sz="1600" spc="-50" dirty="0"/>
                  <a:t>는 최초에 허용된 배출량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의해 영향을 받지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정부가 최초 시점의 기업에게 보조금을 주던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부과금을 징수하던 기업의 의사결정에는 영향을 주지 못함 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AAF4DC7-6BD3-E646-E8D3-59FC02E67A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252777" cy="5684057"/>
              </a:xfrm>
              <a:prstGeom prst="rect">
                <a:avLst/>
              </a:prstGeom>
              <a:blipFill>
                <a:blip r:embed="rId2"/>
                <a:stretch>
                  <a:fillRect l="-271" r="-271" b="-3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1904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165DAF-CF68-F2C1-52EF-29EC47CE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165" y="817926"/>
            <a:ext cx="4887835" cy="559545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A802B2-4291-27D3-E8A2-A82FBFA4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74165-AA22-1C79-4A53-7DF26A4F8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종류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중립세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(lump-sum tax)</a:t>
                </a:r>
                <a:r>
                  <a:rPr lang="ko-KR" altLang="en-US" sz="1600" spc="-50" dirty="0"/>
                  <a:t>는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소비자에게 특정 금액을 세금으로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줄고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변하지 않음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물품세</a:t>
                </a:r>
                <a:r>
                  <a:rPr lang="en-US" altLang="ko-KR" sz="1600" spc="-50" dirty="0"/>
                  <a:t>(excise tax)</a:t>
                </a:r>
                <a:r>
                  <a:rPr lang="ko-KR" altLang="en-US" sz="1600" spc="-50" dirty="0"/>
                  <a:t>는 소비자가 구입하는 상품에 세금을 매김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소득은 변하지 않으나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상품가격은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조세의 초과부담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어떠한 외부효과가 없을 때의 시장균형은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달성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정부가 제품 한 단위에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세금을 부과하면 소비자가격은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가 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Q</m:t>
                        </m:r>
                      </m:e>
                      <m:sub>
                        <m: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으로 줄어들고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생산자가격은 여전히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p>
                        <m:r>
                          <a:rPr lang="en-US" altLang="ko-KR" sz="1600" i="0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예전보다 줄어든 소비자가 더 높은 가격으로 제품을 구입하게 </a:t>
                </a:r>
                <a:r>
                  <a:rPr lang="ko-KR" altLang="en-US" sz="1600" spc="-50" dirty="0" err="1"/>
                  <a:t>되서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A+B</a:t>
                </a:r>
                <a:r>
                  <a:rPr lang="ko-KR" altLang="en-US" sz="1600" spc="-50" dirty="0"/>
                  <a:t>만큼의 소비자 잉여가 감소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생산자잉여는 여전히 </a:t>
                </a:r>
                <a:r>
                  <a:rPr lang="en-US" altLang="ko-KR" sz="1600" spc="-50" dirty="0"/>
                  <a:t>0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정부는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만큼의 조세수입을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만큼의 사회적 손실이 발생하고 이를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조세의 초과부담 이라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84E34EE-7C6E-A3C1-4CDC-33C967AA6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7240867" cy="5584670"/>
              </a:xfrm>
              <a:prstGeom prst="rect">
                <a:avLst/>
              </a:prstGeom>
              <a:blipFill>
                <a:blip r:embed="rId3"/>
                <a:stretch>
                  <a:fillRect l="-421" r="-253"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왼쪽 중괄호 8">
            <a:extLst>
              <a:ext uri="{FF2B5EF4-FFF2-40B4-BE49-F238E27FC236}">
                <a16:creationId xmlns:a16="http://schemas.microsoft.com/office/drawing/2014/main" id="{46E4C31A-A84D-9B90-6266-4B64772AC06B}"/>
              </a:ext>
            </a:extLst>
          </p:cNvPr>
          <p:cNvSpPr/>
          <p:nvPr/>
        </p:nvSpPr>
        <p:spPr>
          <a:xfrm>
            <a:off x="7693237" y="2514688"/>
            <a:ext cx="226503" cy="874626"/>
          </a:xfrm>
          <a:prstGeom prst="leftBrace">
            <a:avLst>
              <a:gd name="adj1" fmla="val 64610"/>
              <a:gd name="adj2" fmla="val 49199"/>
            </a:avLst>
          </a:prstGeom>
          <a:ln>
            <a:solidFill>
              <a:schemeClr val="accent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/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t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12809A-3CFE-0BFE-E2FE-5C0DDE78D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06" y="2723691"/>
                <a:ext cx="234950" cy="374526"/>
              </a:xfrm>
              <a:prstGeom prst="rect">
                <a:avLst/>
              </a:prstGeom>
              <a:blipFill>
                <a:blip r:embed="rId4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700788E0-75D7-5929-F32F-7A82BB51B949}"/>
              </a:ext>
            </a:extLst>
          </p:cNvPr>
          <p:cNvSpPr txBox="1"/>
          <p:nvPr/>
        </p:nvSpPr>
        <p:spPr>
          <a:xfrm>
            <a:off x="8304127" y="2728885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8FB1E9-BE2E-CCC3-2D84-D305BB794BC2}"/>
              </a:ext>
            </a:extLst>
          </p:cNvPr>
          <p:cNvSpPr txBox="1"/>
          <p:nvPr/>
        </p:nvSpPr>
        <p:spPr>
          <a:xfrm>
            <a:off x="9184630" y="2879890"/>
            <a:ext cx="260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3521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B1F28-6CE5-3DFC-ADE7-BA7DCB566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조세의 초과부담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5A6993-EAF6-9D40-B9B6-1DAE09EB2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여러 품목에 대한 상품세가 부과되는 경우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정부가 계획하는 조세수입이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만큼이고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상품이 한 종류라면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spc="-50"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lang="ko-KR" altLang="en-US" sz="1600" spc="-50" dirty="0"/>
                  <a:t>만큼의 상품세를 징수하면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여러 품목에 대해 세금을 부과하는 경우 품목별로 다양한 세율조합을 통해 조세수입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달성할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세율과 수요의 가격탄력성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이전 그래프에서 수요곡선의 기울기가 가파르면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가 작아진다는 것을 알 수 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가격에 대해 둔감한 상품의 경우 조세부과로 인해 시장가격이 왜곡되어도 소비자의 수요량이 잘 안 변함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사회적손실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면적 </a:t>
                </a:r>
                <a:r>
                  <a:rPr lang="en-US" altLang="ko-KR" sz="1600" spc="-50" dirty="0"/>
                  <a:t>B)</a:t>
                </a:r>
                <a:r>
                  <a:rPr lang="ko-KR" altLang="en-US" sz="1600" spc="-50" dirty="0"/>
                  <a:t>를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최소화 하기 위해서는 수요가 잘 안 변하는 상품은 높은 세율을 적용하고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반대로 수요가 민감하게 변하는 상품에 대해서는 낮은 세율을 적용해야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 err="1"/>
                  <a:t>램지</a:t>
                </a:r>
                <a:r>
                  <a:rPr lang="en-US" altLang="ko-KR" sz="1600" spc="-50" dirty="0"/>
                  <a:t>(Ramsey) </a:t>
                </a:r>
                <a:r>
                  <a:rPr lang="ko-KR" altLang="en-US" sz="1600" spc="-50" dirty="0"/>
                  <a:t>규칙에 따르면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최적세의 조건은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ko-KR" altLang="en-US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den>
                    </m:f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skw"/>
                        <m:ctrlPr>
                          <a:rPr lang="ko-KR" altLang="en-US" sz="1600" i="1" spc="-5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 smtClean="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ko-KR" altLang="en-US" sz="1600" i="0" spc="-50">
                                <a:latin typeface="Cambria Math" panose="02040503050406030204" pitchFamily="18" charset="0"/>
                              </a:rPr>
                              <m:t>ε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600" b="0" i="0" spc="-5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x</a:t>
                </a:r>
                <a:r>
                  <a:rPr lang="ko-KR" altLang="en-US" sz="1600" spc="-50" dirty="0"/>
                  <a:t> 상품에 부과된 </a:t>
                </a:r>
                <a:r>
                  <a:rPr lang="ko-KR" altLang="en-US" sz="1600" spc="-50" dirty="0" err="1"/>
                  <a:t>상품세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sz="1600" spc="-50">
                            <a:latin typeface="Cambria Math" panose="02040503050406030204" pitchFamily="18" charset="0"/>
                          </a:rPr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x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는</m:t>
                    </m:r>
                  </m:oMath>
                </a14:m>
                <a:r>
                  <a:rPr lang="en-US" altLang="ko-KR" sz="1600" spc="-50" dirty="0"/>
                  <a:t> x </a:t>
                </a:r>
                <a:r>
                  <a:rPr lang="ko-KR" altLang="en-US" sz="1600" spc="-50" dirty="0"/>
                  <a:t>상품 수요의 가격탄력성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DD0629-59E8-03B5-3D02-273F91403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961999"/>
              </a:xfrm>
              <a:prstGeom prst="rect">
                <a:avLst/>
              </a:prstGeom>
              <a:blipFill>
                <a:blip r:embed="rId2"/>
                <a:stretch>
                  <a:fillRect l="-2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96160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C5C04-6F32-9ECA-4180-EF878694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6D0B09-ADD1-53E0-28F9-9FC847C4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환경세의 이중편익가설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53C0A0-ACA1-A3D3-518F-63AE3FA0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환경세의 이중편익가설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환경세는 외부효과 완화라는 사회적 이득을 얻으면서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추가로 세입도 함께 얻음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추가 세입으로 일반 상품세의 징수액을 줄여주면 일반 상품세가 유발하는 조세의 초과부담이라는 손실까지 줄여줄 수 있음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세가지 상품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있을 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</a:t>
                </a:r>
                <a:r>
                  <a:rPr lang="ko-KR" altLang="en-US" sz="1600" spc="-50" dirty="0" err="1"/>
                  <a:t>청정재이고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오염재라고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대해서는 세금이 없어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대해서는 상품세가 부과되어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&gt;0,  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이라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오로지 정부세입을 위해 징수하고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오로지 외부효과를 제거하기 위해 징수하고 있다고 하자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여기서 문제는 정부세입이 목적이 아니었던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통해 확보한 정부세입을 어떻게 활용할 것인가 이다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가지 방법이 있을 수 있는데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첫째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통한 세입을 소비자들에게 똑같이 환급을 해주거나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둘째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sz="1600" spc="-50" dirty="0"/>
                  <a:t>그 세입만큼 청정재에 대한 세금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줄여줄 수 있다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이중편익 가설은 두번째 방법을 선택했을 때의 사회적 후생이 더 커진다는 주장이다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환경세입이 징수과정에서 초과부담문제를 유발하는 다른 세입을 대체하면 환경개선효과에 더하여 다른 조세 징수과정에서 발생하는 초과부담을 줄이는 추가 편익까지 얻게 된다는 의미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 err="1"/>
                  <a:t>세입재활용효과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6005A1B-845D-5F0B-A8D0-D53C4C5E22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5215338"/>
              </a:xfrm>
              <a:prstGeom prst="rect">
                <a:avLst/>
              </a:prstGeom>
              <a:blipFill>
                <a:blip r:embed="rId2"/>
                <a:stretch>
                  <a:fillRect l="-270" r="-1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02265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811631-2ECB-7517-64FA-7EC7B7085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독점의 사회적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07FEC-43AF-C8FA-F982-8CB72CC90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3B13F15-FA5F-5988-402B-92E8990BE1B1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9" name="그림 8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852E153-0E81-5586-EA34-39321E46EC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305BBC-4414-837E-6060-1AB2F7A47698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429BD7-824C-A463-E389-A9988ECB2BC9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2856BEA-74EC-5B8A-C1AA-85CC21C35A46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B331819-BDB6-9D56-DFA5-505916C374CC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D78934-A8C8-83C4-8CC0-DC60B4F42679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F20D4A6-B67A-6888-E65E-2A6CFDBEDE99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529FCBA-895A-1348-D06C-C3F35029F0CC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82824C9-4F04-FB60-9B32-205D12C0149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B8037E-6A5D-2459-A6EB-3E44700FCD37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509F694-2262-F9A2-2B4A-9D086E07D1B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BC86793-A0E6-A176-28A9-D8EC0B9CE2DA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BC1BA18-A432-1478-A297-A94499573EB9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9E76B64-E5EC-0AF7-8BD0-777F07070B5C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167CEFC-1959-FB19-ADAF-BDEFAD756CC6}"/>
              </a:ext>
            </a:extLst>
          </p:cNvPr>
          <p:cNvSpPr txBox="1"/>
          <p:nvPr/>
        </p:nvSpPr>
        <p:spPr>
          <a:xfrm>
            <a:off x="191193" y="958844"/>
            <a:ext cx="4818677" cy="5461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독점기업의 행동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한계수입과 한계비용이 일치하는 수량</a:t>
            </a:r>
            <a:r>
              <a:rPr lang="en-US" altLang="ko-KR" sz="1600" spc="-50" dirty="0"/>
              <a:t>: Q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소비자 가격</a:t>
            </a:r>
            <a:r>
              <a:rPr lang="en-US" altLang="ko-KR" sz="1600" spc="-50" dirty="0"/>
              <a:t>: P</a:t>
            </a:r>
            <a:r>
              <a:rPr lang="en-US" altLang="ko-KR" sz="1600" spc="-50" baseline="-25000" dirty="0"/>
              <a:t>M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만약 독점기업이 완전경쟁기업처럼 행동한다면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생산량은</a:t>
            </a:r>
            <a:r>
              <a:rPr lang="en-US" altLang="ko-KR" sz="1600" spc="-50" dirty="0"/>
              <a:t> Q</a:t>
            </a:r>
            <a:r>
              <a:rPr lang="en-US" altLang="ko-KR" sz="1600" spc="-50" baseline="-25000" dirty="0"/>
              <a:t>C, </a:t>
            </a:r>
            <a:r>
              <a:rPr lang="ko-KR" altLang="en-US" sz="1600" spc="-50" dirty="0"/>
              <a:t>이 때 가격은</a:t>
            </a:r>
            <a:r>
              <a:rPr lang="en-US" altLang="ko-KR" sz="1600" spc="-50" dirty="0"/>
              <a:t> P</a:t>
            </a:r>
            <a:r>
              <a:rPr lang="en-US" altLang="ko-KR" sz="1600" spc="-50" baseline="-25000" dirty="0"/>
              <a:t>C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baseline="-250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만큼 생산할 수 있음에도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독점기업의 이점을 통해</a:t>
            </a:r>
            <a:r>
              <a:rPr lang="ko-KR" altLang="en-US" sz="1600" spc="-50" baseline="-25000" dirty="0"/>
              <a:t>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C </a:t>
            </a:r>
            <a:r>
              <a:rPr lang="ko-KR" altLang="en-US" sz="1600" spc="-50" dirty="0"/>
              <a:t>보다 적은 </a:t>
            </a:r>
            <a:r>
              <a:rPr lang="en-US" altLang="ko-KR" sz="1600" spc="-50" dirty="0"/>
              <a:t>Q</a:t>
            </a:r>
            <a:r>
              <a:rPr lang="en-US" altLang="ko-KR" sz="1600" spc="-50" baseline="-25000" dirty="0"/>
              <a:t>M </a:t>
            </a:r>
            <a:r>
              <a:rPr lang="ko-KR" altLang="en-US" sz="1600" spc="-50" dirty="0"/>
              <a:t>만을 생산함으로써 </a:t>
            </a:r>
            <a:r>
              <a:rPr lang="en-US" altLang="ko-KR" sz="1600" spc="-50" dirty="0"/>
              <a:t>P</a:t>
            </a:r>
            <a:r>
              <a:rPr lang="en-US" altLang="ko-KR" sz="1600" spc="-50" baseline="-25000" dirty="0"/>
              <a:t>M</a:t>
            </a:r>
            <a:r>
              <a:rPr lang="en-US" altLang="ko-KR" sz="1600" spc="-50" dirty="0"/>
              <a:t>abP</a:t>
            </a:r>
            <a:r>
              <a:rPr lang="en-US" altLang="ko-KR" sz="1600" spc="-50" baseline="-25000" dirty="0"/>
              <a:t>c</a:t>
            </a:r>
            <a:r>
              <a:rPr lang="ko-KR" altLang="en-US" sz="1600" spc="-50" dirty="0"/>
              <a:t>에 해당하는 이윤을 얻고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사회적 비용은 </a:t>
            </a:r>
            <a:r>
              <a:rPr lang="en-US" altLang="ko-KR" sz="1600" spc="-50" dirty="0" err="1"/>
              <a:t>abc</a:t>
            </a:r>
            <a:r>
              <a:rPr lang="ko-KR" altLang="en-US" sz="1600" spc="-50" dirty="0"/>
              <a:t>만큼 발생함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독점기업에 대한 </a:t>
            </a:r>
            <a:r>
              <a:rPr lang="ko-KR" altLang="en-US" sz="1600" spc="-50" dirty="0" err="1"/>
              <a:t>환경세</a:t>
            </a:r>
            <a:r>
              <a:rPr lang="ko-KR" altLang="en-US" sz="1600" spc="-50" dirty="0"/>
              <a:t> 설정은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오염배출량이 생산량에 비례하는 경우와 그렇지 않은 경우로 나누어 생각해볼 수 있음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770641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385B3-4793-A44C-46FF-1C27A342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9C2116-95BF-C79E-09C1-D29224E5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10A9C0A1-1FA3-7606-4636-ECA1313888E0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61B0619-C987-D177-4639-5B8127621A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2AFACD5-1206-E254-31A3-7887EF96B48D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751CB4B-F4EC-2F79-451C-60475067FE63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1FC7AB-6E27-94C0-EA4F-E1EADE1FED1A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399FA6-FAE9-B20E-823A-7B6C6B82B9B6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BE4DA52-B0BA-59E3-0059-DE95B28AC25A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E29EE2B-FFEF-6BE7-91B6-37116E40DF37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9208EB-2C47-685D-1678-AF31CC3BFE1B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5192EE9-30E4-B94E-5974-F05F3EDC60AF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B63944-34A8-B956-8BB1-56A9DEEB384E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2E69F2-2800-2ED1-8CD2-AA11FC35EE50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3CBBDFB-F4FD-D8BC-8DD5-D87FB3AFD714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B863288-B5DE-D7B9-C55E-65236BF1C29D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9A6CE94-E00C-4C2F-BA29-51A5E2194BD0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독점기업에게 최적 환경세는</a:t>
                </a:r>
                <a:r>
                  <a:rPr lang="en-US" altLang="ko-KR" sz="1600" spc="-50" dirty="0"/>
                  <a:t>?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ko-KR" altLang="en-US" sz="1600" b="0" i="1" spc="-5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ko-KR" altLang="en-US" sz="1600" spc="-50" dirty="0"/>
                  <a:t>와 같이 비례한다고 하자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P </a:t>
                </a:r>
                <a:r>
                  <a:rPr lang="ko-KR" altLang="en-US" sz="1600" spc="-50" dirty="0"/>
                  <a:t>에서 단위당 한계피해를 더하여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 </a:t>
                </a:r>
                <a:r>
                  <a:rPr lang="ko-KR" altLang="en-US" sz="1600" spc="-50" dirty="0"/>
                  <a:t>가 된다면 사회적 최적 생산량과 시장가격은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, 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기업 입장에서는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 제품 부과금을 부과하면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기업은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-25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생산량을 줄이고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사회적 최적</a:t>
                </a:r>
                <a:r>
                  <a:rPr lang="en-US" altLang="ko-KR" sz="1600" spc="-50" dirty="0"/>
                  <a:t> (Q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과는 괴리가 더 커짐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동시에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b="0" i="0" spc="-50" smtClean="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 해당하는 보조금을 지급하면</a:t>
                </a:r>
                <a:r>
                  <a:rPr lang="en-US" altLang="ko-KR" sz="1600" spc="-50" dirty="0"/>
                  <a:t>, MR</a:t>
                </a:r>
                <a:r>
                  <a:rPr lang="ko-KR" altLang="en-US" sz="1600" spc="-50" dirty="0"/>
                  <a:t>이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으로 이동하여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-25000" dirty="0"/>
                  <a:t>s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ko-KR" altLang="en-US" sz="1600" spc="-50" dirty="0"/>
                  <a:t>을 충족하는 사회적 최적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가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생산 됨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 때 소비자 가격은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제품 부과금과 보조금 각각을 실행하지 않고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결국 순 효과인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부과금만 적용해도 사회적 최적은 달성 가능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9DC4A8-6A3C-19A2-087B-9B3A6027AC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17546"/>
              </a:xfrm>
              <a:prstGeom prst="rect">
                <a:avLst/>
              </a:prstGeom>
              <a:blipFill>
                <a:blip r:embed="rId3"/>
                <a:stretch>
                  <a:fillRect r="-253" b="-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822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D5FA2-8AEB-CEC1-8E77-F6936B2D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4C64CE-5A13-6C0C-7C0E-15358554E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3EC386-6993-44A4-A1C4-A85BD217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3AEB6E3-9FA9-7F6B-6077-7C893034F0C6}"/>
              </a:ext>
            </a:extLst>
          </p:cNvPr>
          <p:cNvGrpSpPr/>
          <p:nvPr/>
        </p:nvGrpSpPr>
        <p:grpSpPr>
          <a:xfrm>
            <a:off x="5067300" y="1110049"/>
            <a:ext cx="7124700" cy="5282078"/>
            <a:chOff x="4089523" y="661950"/>
            <a:chExt cx="7892927" cy="5949950"/>
          </a:xfrm>
        </p:grpSpPr>
        <p:pic>
          <p:nvPicPr>
            <p:cNvPr id="6" name="그림 5" descr="라인, 텍스트, 도표, 그래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38FC4FE-5D5B-A8E1-6C62-A6A14E3A6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523" y="661950"/>
              <a:ext cx="7657593" cy="594995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A004D5-CE89-0BB9-D3DF-9D5767BF2FB7}"/>
                </a:ext>
              </a:extLst>
            </p:cNvPr>
            <p:cNvSpPr txBox="1"/>
            <p:nvPr/>
          </p:nvSpPr>
          <p:spPr>
            <a:xfrm>
              <a:off x="7035800" y="2398159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a</a:t>
              </a:r>
              <a:endParaRPr lang="ko-KR" alt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3A9DBB8-834E-58D5-8811-0FF782249687}"/>
                </a:ext>
              </a:extLst>
            </p:cNvPr>
            <p:cNvSpPr txBox="1"/>
            <p:nvPr/>
          </p:nvSpPr>
          <p:spPr>
            <a:xfrm>
              <a:off x="703580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b</a:t>
              </a:r>
              <a:endParaRPr lang="ko-KR" altLang="en-US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BBD89D1-33F8-949B-C395-DDD31353CA80}"/>
                </a:ext>
              </a:extLst>
            </p:cNvPr>
            <p:cNvSpPr txBox="1"/>
            <p:nvPr/>
          </p:nvSpPr>
          <p:spPr>
            <a:xfrm>
              <a:off x="8007350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g</a:t>
              </a:r>
              <a:endParaRPr lang="ko-KR" alt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7129AAF-AFF7-66A2-2F72-34068B76E212}"/>
                </a:ext>
              </a:extLst>
            </p:cNvPr>
            <p:cNvSpPr txBox="1"/>
            <p:nvPr/>
          </p:nvSpPr>
          <p:spPr>
            <a:xfrm>
              <a:off x="7035800" y="28636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f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E7960B-08BE-A699-AB3E-D3EE8521F26C}"/>
                </a:ext>
              </a:extLst>
            </p:cNvPr>
            <p:cNvSpPr txBox="1"/>
            <p:nvPr/>
          </p:nvSpPr>
          <p:spPr>
            <a:xfrm>
              <a:off x="8007350" y="286627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</a:t>
              </a:r>
              <a:endParaRPr lang="ko-KR" alt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3AF7F61-68B3-3E59-9266-3A148D8D2CC4}"/>
                </a:ext>
              </a:extLst>
            </p:cNvPr>
            <p:cNvSpPr txBox="1"/>
            <p:nvPr/>
          </p:nvSpPr>
          <p:spPr>
            <a:xfrm>
              <a:off x="9379142" y="35983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c</a:t>
              </a:r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5BA1DAB-4717-42ED-86C3-9523E873EAC9}"/>
                </a:ext>
              </a:extLst>
            </p:cNvPr>
            <p:cNvSpPr txBox="1"/>
            <p:nvPr/>
          </p:nvSpPr>
          <p:spPr>
            <a:xfrm>
              <a:off x="8007350" y="4525410"/>
              <a:ext cx="254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spc="-50" dirty="0"/>
                <a:t>e</a:t>
              </a:r>
              <a:endParaRPr lang="ko-KR" alt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FBE1E7-1E9D-DE9D-8A28-63F6472BE00B}"/>
                </a:ext>
              </a:extLst>
            </p:cNvPr>
            <p:cNvSpPr txBox="1"/>
            <p:nvPr/>
          </p:nvSpPr>
          <p:spPr>
            <a:xfrm>
              <a:off x="11271250" y="296783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s</a:t>
              </a:r>
              <a:endParaRPr lang="ko-KR" altLang="en-US" baseline="-250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A4129BA-0B0A-D095-7B4D-AD824D8DEAD3}"/>
                </a:ext>
              </a:extLst>
            </p:cNvPr>
            <p:cNvSpPr txBox="1"/>
            <p:nvPr/>
          </p:nvSpPr>
          <p:spPr>
            <a:xfrm>
              <a:off x="11271250" y="3690587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-25000" dirty="0"/>
                <a:t>P</a:t>
              </a:r>
              <a:endParaRPr lang="ko-KR" altLang="en-US" baseline="-2500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70064B0-98C5-49A1-9164-34A72E7F60C4}"/>
                </a:ext>
              </a:extLst>
            </p:cNvPr>
            <p:cNvSpPr txBox="1"/>
            <p:nvPr/>
          </p:nvSpPr>
          <p:spPr>
            <a:xfrm>
              <a:off x="11271250" y="471007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MC</a:t>
              </a:r>
              <a:r>
                <a:rPr lang="en-US" altLang="ko-KR" spc="-50" baseline="30000" dirty="0"/>
                <a:t>*</a:t>
              </a:r>
              <a:endParaRPr lang="ko-KR" altLang="en-US" baseline="30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4C693D0-1A36-7BFA-40C0-991DABC64EAC}"/>
                </a:ext>
              </a:extLst>
            </p:cNvPr>
            <p:cNvSpPr txBox="1"/>
            <p:nvPr/>
          </p:nvSpPr>
          <p:spPr>
            <a:xfrm>
              <a:off x="10160000" y="5186326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r>
                <a:rPr lang="en-US" altLang="ko-KR" spc="-50" baseline="30000" dirty="0"/>
                <a:t>1</a:t>
              </a:r>
              <a:endParaRPr lang="ko-KR" altLang="en-US" baseline="30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3B53D7F-8014-ADDB-CF5C-9AA5AF222FB4}"/>
                </a:ext>
              </a:extLst>
            </p:cNvPr>
            <p:cNvSpPr txBox="1"/>
            <p:nvPr/>
          </p:nvSpPr>
          <p:spPr>
            <a:xfrm>
              <a:off x="8502650" y="5095800"/>
              <a:ext cx="7112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MR</a:t>
              </a:r>
              <a:endParaRPr lang="ko-KR" altLang="en-US" baseline="30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43F99B-579B-62D1-17E4-C8204F687B74}"/>
                </a:ext>
              </a:extLst>
            </p:cNvPr>
            <p:cNvSpPr txBox="1"/>
            <p:nvPr/>
          </p:nvSpPr>
          <p:spPr>
            <a:xfrm>
              <a:off x="5587999" y="1620166"/>
              <a:ext cx="915830" cy="416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pc="-50" dirty="0"/>
                <a:t>D=AR</a:t>
              </a:r>
              <a:endParaRPr lang="ko-KR" altLang="en-US" baseline="300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/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보조금을 한계수입을 </a:t>
                </a:r>
                <a:r>
                  <a:rPr lang="en-US" altLang="ko-KR" sz="1600" spc="-50" dirty="0"/>
                  <a:t>MR</a:t>
                </a:r>
                <a:r>
                  <a:rPr lang="en-US" altLang="ko-KR" sz="1600" spc="-50" baseline="30000" dirty="0"/>
                  <a:t>1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로 높인다고 해석할 수도 있지만 생산비를 그만큼 낮춘다고도 해석 가능함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위 해석에 따르면 </a:t>
                </a:r>
                <a:r>
                  <a:rPr lang="en-US" altLang="ko-KR" sz="1600" spc="-50" dirty="0"/>
                  <a:t>(P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en-US" altLang="ko-KR" sz="1600" spc="-50" dirty="0"/>
                  <a:t> )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-</a:t>
                </a:r>
                <a:r>
                  <a:rPr lang="ko-KR" altLang="en-US" sz="1600" spc="-50" dirty="0"/>
                  <a:t>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만큼의 제품 부과금은 </a:t>
                </a:r>
                <a:r>
                  <a:rPr lang="en-US" altLang="ko-KR" sz="1600" spc="-50" dirty="0"/>
                  <a:t>MR</a:t>
                </a:r>
                <a:r>
                  <a:rPr lang="ko-KR" altLang="en-US" sz="1600" spc="-50" dirty="0"/>
                  <a:t>은 불변인 채 한계생산비를 </a:t>
                </a:r>
                <a:r>
                  <a:rPr lang="en-US" altLang="ko-KR" sz="1600" spc="-50" dirty="0"/>
                  <a:t>MC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이동시키고</a:t>
                </a:r>
                <a:r>
                  <a:rPr lang="en-US" altLang="ko-KR" sz="1600" spc="-50" dirty="0"/>
                  <a:t>, MR = MC</a:t>
                </a:r>
                <a:r>
                  <a:rPr lang="en-US" altLang="ko-KR" sz="1600" spc="-50" baseline="30000" dirty="0"/>
                  <a:t>* </a:t>
                </a:r>
                <a:r>
                  <a:rPr lang="ko-KR" altLang="en-US" sz="1600" spc="-50" dirty="0"/>
                  <a:t>인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가 선택되게 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사회적 최적 배출량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𝜃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가 됨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P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- P</a:t>
                </a:r>
                <a:r>
                  <a:rPr lang="en-US" altLang="ko-KR" sz="1600" spc="-50" baseline="-25000" dirty="0"/>
                  <a:t>C</a:t>
                </a:r>
                <a:r>
                  <a:rPr lang="ko-KR" altLang="en-US" sz="1600" spc="-50" dirty="0"/>
                  <a:t>는 사회적 최적생산량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ko-KR" altLang="en-US" sz="1600" spc="-50" dirty="0"/>
                  <a:t>에서의 오염 한계피해액과 같고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altLang="ko-KR" sz="1600" spc="-50">
                            <a:latin typeface="Cambria Math" panose="02040503050406030204" pitchFamily="18" charset="0"/>
                          </a:rPr>
                          <m:t>de</m:t>
                        </m:r>
                      </m:e>
                    </m:bar>
                  </m:oMath>
                </a14:m>
                <a:r>
                  <a:rPr lang="ko-KR" altLang="en-US" sz="1600" spc="-50" dirty="0"/>
                  <a:t>는 사회적 최적 생산량 </a:t>
                </a:r>
                <a:r>
                  <a:rPr lang="en-US" altLang="ko-KR" sz="1600" spc="-50" dirty="0"/>
                  <a:t>Q</a:t>
                </a:r>
                <a:r>
                  <a:rPr lang="en-US" altLang="ko-KR" sz="1600" spc="-50" baseline="30000" dirty="0"/>
                  <a:t>*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평균수입과 한계수입의 격차이기도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최적 제품부과금은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92075" algn="ctr">
                  <a:lnSpc>
                    <a:spcPct val="150000"/>
                  </a:lnSpc>
                </a:pP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ko-KR" sz="1600" i="1" spc="-50">
                        <a:latin typeface="Cambria Math" panose="02040503050406030204" pitchFamily="18" charset="0"/>
                      </a:rPr>
                      <m:t>τ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𝑀𝐷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−[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𝐴𝑅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ko-KR" sz="1600" i="1" spc="-50">
                        <a:latin typeface="Cambria Math" panose="02040503050406030204" pitchFamily="18" charset="0"/>
                      </a:rPr>
                      <m:t>MR</m:t>
                    </m:r>
                    <m:d>
                      <m:d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</m:d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ko-KR" sz="1600" i="1" spc="-50" dirty="0">
                  <a:latin typeface="Cambria Math" panose="02040503050406030204" pitchFamily="18" charset="0"/>
                </a:endParaRPr>
              </a:p>
              <a:p>
                <a:pPr marL="377825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69733FB-6C42-57E1-C5B0-0826534AB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193" y="958844"/>
                <a:ext cx="4818677" cy="5368649"/>
              </a:xfrm>
              <a:prstGeom prst="rect">
                <a:avLst/>
              </a:prstGeom>
              <a:blipFill>
                <a:blip r:embed="rId3"/>
                <a:stretch>
                  <a:fillRect r="-2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54300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D4106-F315-E1F3-E700-2C5802F80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독점기업에 대한 최적 </a:t>
            </a:r>
            <a:r>
              <a:rPr lang="ko-KR" altLang="en-US" dirty="0" err="1"/>
              <a:t>환경세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D2160B-9794-7FD8-643D-9C5BF070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/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sz="1600" u="sng" dirty="0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독점기업에 대한 최적 </a:t>
                </a:r>
                <a:r>
                  <a:rPr lang="ko-KR" altLang="en-US" sz="1600" u="sng" dirty="0" err="1">
                    <a:ln w="3175">
                      <a:noFill/>
                    </a:ln>
                    <a:latin typeface="HY헤드라인M" panose="02030600000101010101" pitchFamily="18" charset="-127"/>
                    <a:ea typeface="HY헤드라인M" panose="02030600000101010101" pitchFamily="18" charset="-127"/>
                  </a:rPr>
                  <a:t>환경세</a:t>
                </a:r>
                <a:endParaRPr lang="en-US" altLang="ko-KR" sz="1600" u="sng" dirty="0">
                  <a:ln w="3175">
                    <a:noFill/>
                  </a:ln>
                  <a:latin typeface="HY헤드라인M" panose="02030600000101010101" pitchFamily="18" charset="-127"/>
                  <a:ea typeface="HY헤드라인M" panose="02030600000101010101" pitchFamily="18" charset="-127"/>
                </a:endParaRP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앞서 보았듯이 오염물질 배출량이 생산량에 비례하는 경우에는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크거나 작을 수도 있는 제품부과금 한 가지만으로 독점과 오염문제를 모두 해결할 수 있었음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이는 산출량과 배출량이 비례하므로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오염문제도 결국 산출량 조절을 통해 해결할 수 있기 때문</a:t>
                </a: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하지만 같은 양을 생산하더라도 저감행위를 할 수 있다면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배출저감은 반드시 산출량감소를 통해 이루어지지 않음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생산자는 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lang="ko-KR" altLang="en-US" sz="1600" spc="-50" dirty="0"/>
                  <a:t>와 배출량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각각 선택하는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차원의 선택문제임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생산자가 사회적 최적 생산량과 최적 배출량을 모두 선택하도록 유도하기 위해서는 정책도 </a:t>
                </a:r>
                <a:r>
                  <a:rPr lang="en-US" altLang="ko-KR" sz="1600" spc="-50" dirty="0"/>
                  <a:t>2</a:t>
                </a:r>
                <a:r>
                  <a:rPr lang="ko-KR" altLang="en-US" sz="1600" spc="-50" dirty="0"/>
                  <a:t>차원이 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정책변수도 두 개가 되어야 함을 의미함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제품부과금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보조금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독점문제를 제거하는 생산량을 선택하도록 제시되어야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배출부과금은 오염의 외부효과를 제거하도록 제시되어야 함</a:t>
                </a:r>
                <a:endParaRPr lang="en-US" altLang="ko-KR" sz="1600" spc="-5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C637808-EB7C-997F-B915-1088CFBF9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3" y="958844"/>
                <a:ext cx="11303577" cy="4107343"/>
              </a:xfrm>
              <a:prstGeom prst="rect">
                <a:avLst/>
              </a:prstGeom>
              <a:blipFill>
                <a:blip r:embed="rId2"/>
                <a:stretch>
                  <a:fillRect l="-270" r="-16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3188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10363</TotalTime>
  <Words>2801</Words>
  <Application>Microsoft Office PowerPoint</Application>
  <PresentationFormat>와이드스크린</PresentationFormat>
  <Paragraphs>315</Paragraphs>
  <Slides>26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7  배출부과금과 보조금</vt:lpstr>
      <vt:lpstr>배출부과금의 기본 원리</vt:lpstr>
      <vt:lpstr>배출부과금의 수준</vt:lpstr>
      <vt:lpstr>배출부과금의 비용효과성</vt:lpstr>
      <vt:lpstr>배출부과금의 비용효과성</vt:lpstr>
      <vt:lpstr>배출부과금의 비용효과성</vt:lpstr>
      <vt:lpstr>배출부과금의 비용효과성</vt:lpstr>
      <vt:lpstr>배출부과금제의 기술혁신 유인 (vs. 직접규제)</vt:lpstr>
      <vt:lpstr>높은 정책 집행비용과 대안</vt:lpstr>
      <vt:lpstr>제품부과금</vt:lpstr>
      <vt:lpstr>쌀 vs. 논 어디에 보조를 해야 하나?</vt:lpstr>
      <vt:lpstr>폐기물예치금제도</vt:lpstr>
      <vt:lpstr>보조금 제도 </vt:lpstr>
      <vt:lpstr>보조금 제도</vt:lpstr>
      <vt:lpstr>배출부과금과 저감보조금의 대칭성과 비대칭성</vt:lpstr>
      <vt:lpstr>배출부과금과 저감보조금의 대칭성과 비대칭성</vt:lpstr>
      <vt:lpstr>배출부과금과 저감보조금의 대칭성과 비대칭성</vt:lpstr>
      <vt:lpstr>조세의 초과부담</vt:lpstr>
      <vt:lpstr>조세의 초과부담</vt:lpstr>
      <vt:lpstr>환경세의 이중편익가설</vt:lpstr>
      <vt:lpstr>독점의 사회적 비용</vt:lpstr>
      <vt:lpstr>독점기업에 대한 최적 환경세</vt:lpstr>
      <vt:lpstr>독점기업에 대한 최적 환경세</vt:lpstr>
      <vt:lpstr>독점기업에 대한 최적 환경세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351</cp:revision>
  <dcterms:created xsi:type="dcterms:W3CDTF">2025-07-05T05:15:23Z</dcterms:created>
  <dcterms:modified xsi:type="dcterms:W3CDTF">2025-09-22T01:00:17Z</dcterms:modified>
</cp:coreProperties>
</file>