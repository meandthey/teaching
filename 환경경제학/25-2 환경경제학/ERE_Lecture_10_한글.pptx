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375" r:id="rId2"/>
    <p:sldId id="405" r:id="rId3"/>
    <p:sldId id="550" r:id="rId4"/>
    <p:sldId id="567" r:id="rId5"/>
    <p:sldId id="569" r:id="rId6"/>
    <p:sldId id="568" r:id="rId7"/>
    <p:sldId id="570" r:id="rId8"/>
    <p:sldId id="571" r:id="rId9"/>
    <p:sldId id="566" r:id="rId10"/>
    <p:sldId id="572" r:id="rId11"/>
    <p:sldId id="573" r:id="rId12"/>
    <p:sldId id="574" r:id="rId13"/>
    <p:sldId id="575" r:id="rId14"/>
    <p:sldId id="576" r:id="rId15"/>
    <p:sldId id="577" r:id="rId16"/>
    <p:sldId id="578" r:id="rId17"/>
    <p:sldId id="579" r:id="rId18"/>
    <p:sldId id="580" r:id="rId19"/>
    <p:sldId id="582" r:id="rId20"/>
    <p:sldId id="581" r:id="rId21"/>
    <p:sldId id="583" r:id="rId22"/>
    <p:sldId id="584" r:id="rId23"/>
    <p:sldId id="585" r:id="rId24"/>
    <p:sldId id="587" r:id="rId25"/>
    <p:sldId id="588" r:id="rId26"/>
    <p:sldId id="589" r:id="rId27"/>
    <p:sldId id="586" r:id="rId28"/>
    <p:sldId id="592" r:id="rId29"/>
    <p:sldId id="591" r:id="rId30"/>
    <p:sldId id="364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2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- 10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10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환경정책의 정치경제학</a:t>
            </a:r>
            <a:r>
              <a:rPr lang="en-US" altLang="ko-KR" sz="4000" b="1" i="0" spc="150" dirty="0"/>
              <a:t>: </a:t>
            </a:r>
            <a:r>
              <a:rPr lang="ko-KR" altLang="en-US" sz="4000" b="1" i="0" spc="150" dirty="0"/>
              <a:t>지방자치와 소득분배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환경정책의 계층별 영향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0EA2-F904-A536-F618-B967B0BD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4DECD-B385-6301-1866-D08542EA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효율성과 형평성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F888C-7908-D0CC-A3FD-1875DD8F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9AF4B-5956-0053-CDC6-4D0ABE999742}"/>
              </a:ext>
            </a:extLst>
          </p:cNvPr>
          <p:cNvSpPr txBox="1"/>
          <p:nvPr/>
        </p:nvSpPr>
        <p:spPr>
          <a:xfrm>
            <a:off x="678872" y="958844"/>
            <a:ext cx="11259128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환경정책이 사회 전체 편익을 극대화하는 효율성 측면만을 두고 선택될 수 없는 이유는 효율적인 자원배분이 반드시 모든 사회 구성원의 만족도를 상승시키는 것은 아니기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현재보다 사회 전체 편익이 많은 방향으로 환경정책을 도입하고자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정책도입을 반대하는 사람도 반드시 생기기 마련이다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MB </a:t>
            </a:r>
            <a:r>
              <a:rPr lang="ko-KR" altLang="en-US" sz="1600" spc="-50" dirty="0"/>
              <a:t>곡선은 오염원이 배출을 통해 얻는 한계편익을 나타내고</a:t>
            </a:r>
            <a:r>
              <a:rPr lang="en-US" altLang="ko-KR" sz="1600" spc="-50" dirty="0"/>
              <a:t>, MD</a:t>
            </a:r>
            <a:r>
              <a:rPr lang="ko-KR" altLang="en-US" sz="1600" spc="-50" dirty="0"/>
              <a:t>곡선은 오염피해자의 한계피해곡선을 나타낸다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B920CC-4D96-4316-DE6F-A353716A54AE}"/>
                  </a:ext>
                </a:extLst>
              </p:cNvPr>
              <p:cNvSpPr txBox="1"/>
              <p:nvPr/>
            </p:nvSpPr>
            <p:spPr>
              <a:xfrm>
                <a:off x="678872" y="2907969"/>
                <a:ext cx="7982528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아무런 정책이 없을 때에 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오염물질을 배출할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오염원의 편익은 </a:t>
                </a:r>
                <a:r>
                  <a:rPr lang="en-US" altLang="ko-KR" sz="1600" spc="-50" dirty="0" err="1"/>
                  <a:t>a+b+c+d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피해자의 피해액은 </a:t>
                </a:r>
                <a:r>
                  <a:rPr lang="en-US" altLang="ko-KR" sz="1600" spc="-50" dirty="0" err="1"/>
                  <a:t>c+d+e+f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사회 전체 순편익은 </a:t>
                </a:r>
                <a:r>
                  <a:rPr lang="en-US" altLang="ko-KR" sz="1600" spc="-50" dirty="0" err="1"/>
                  <a:t>a+b</a:t>
                </a:r>
                <a:r>
                  <a:rPr lang="en-US" altLang="ko-KR" sz="1600" spc="-50" dirty="0"/>
                  <a:t> - (</a:t>
                </a:r>
                <a:r>
                  <a:rPr lang="en-US" altLang="ko-KR" sz="1600" spc="-50" dirty="0" err="1"/>
                  <a:t>e+f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상황에서 정부가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배출상한 정책을 도입한다고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편익은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피해자의 피해액은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사회 전체 순편익은 </a:t>
                </a:r>
                <a:r>
                  <a:rPr lang="en-US" altLang="ko-KR" sz="1600" spc="-50" dirty="0" err="1"/>
                  <a:t>a+b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정책도입으로 인해 사회적 관점에서의 효율성은 달성되었지만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모든 구성원이 만족하지 않는다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후생은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 줄었고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오염피해자의 후생은 </a:t>
                </a:r>
                <a:r>
                  <a:rPr lang="en-US" altLang="ko-KR" sz="1600" spc="-50" dirty="0" err="1"/>
                  <a:t>d+e+f</a:t>
                </a:r>
                <a:r>
                  <a:rPr lang="ko-KR" altLang="en-US" sz="1600" spc="-50" dirty="0"/>
                  <a:t>만큼 늘어났기 때문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B920CC-4D96-4316-DE6F-A353716A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2907969"/>
                <a:ext cx="7982528" cy="3368679"/>
              </a:xfrm>
              <a:prstGeom prst="rect">
                <a:avLst/>
              </a:prstGeom>
              <a:blipFill>
                <a:blip r:embed="rId2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44BB88B8-8368-77D0-8E68-E118ABFC9777}"/>
              </a:ext>
            </a:extLst>
          </p:cNvPr>
          <p:cNvGrpSpPr/>
          <p:nvPr/>
        </p:nvGrpSpPr>
        <p:grpSpPr>
          <a:xfrm>
            <a:off x="8864811" y="2986502"/>
            <a:ext cx="3068956" cy="3600000"/>
            <a:chOff x="8398882" y="3059670"/>
            <a:chExt cx="3068956" cy="3477237"/>
          </a:xfrm>
        </p:grpSpPr>
        <p:pic>
          <p:nvPicPr>
            <p:cNvPr id="7" name="그림 6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F929D32-C56D-5BE4-7F5E-DE2CB0DC0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8882" y="3059670"/>
              <a:ext cx="3068956" cy="347723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1F6289-60CA-6779-CC16-EF6E8B73ACA1}"/>
                </a:ext>
              </a:extLst>
            </p:cNvPr>
            <p:cNvSpPr txBox="1"/>
            <p:nvPr/>
          </p:nvSpPr>
          <p:spPr>
            <a:xfrm>
              <a:off x="9109075" y="4213260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a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89EEA4-6E35-75F1-CCDA-F8E762B89D0B}"/>
                </a:ext>
              </a:extLst>
            </p:cNvPr>
            <p:cNvSpPr txBox="1"/>
            <p:nvPr/>
          </p:nvSpPr>
          <p:spPr>
            <a:xfrm>
              <a:off x="9109075" y="4890593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b</a:t>
              </a:r>
              <a:endParaRPr lang="ko-KR" alt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BE71EC-830A-F0B3-1E74-E09530910593}"/>
                </a:ext>
              </a:extLst>
            </p:cNvPr>
            <p:cNvSpPr txBox="1"/>
            <p:nvPr/>
          </p:nvSpPr>
          <p:spPr>
            <a:xfrm>
              <a:off x="10497608" y="4213260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f</a:t>
              </a:r>
              <a:endParaRPr lang="ko-KR" altLang="en-US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9DFCC6-1DFF-C76C-3062-4C427D65ED61}"/>
                </a:ext>
              </a:extLst>
            </p:cNvPr>
            <p:cNvSpPr txBox="1"/>
            <p:nvPr/>
          </p:nvSpPr>
          <p:spPr>
            <a:xfrm>
              <a:off x="10497608" y="4890593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e</a:t>
              </a:r>
              <a:endParaRPr lang="ko-KR" altLang="en-US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096B79-AF0B-A754-F07F-801B2B7EF894}"/>
                </a:ext>
              </a:extLst>
            </p:cNvPr>
            <p:cNvSpPr txBox="1"/>
            <p:nvPr/>
          </p:nvSpPr>
          <p:spPr>
            <a:xfrm>
              <a:off x="9502775" y="5457859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c</a:t>
              </a:r>
              <a:endParaRPr lang="ko-KR" altLang="en-US" sz="1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08F0CD-2C22-2C6B-E091-0ADEFDD8660B}"/>
                </a:ext>
              </a:extLst>
            </p:cNvPr>
            <p:cNvSpPr txBox="1"/>
            <p:nvPr/>
          </p:nvSpPr>
          <p:spPr>
            <a:xfrm>
              <a:off x="10015009" y="5457859"/>
              <a:ext cx="2603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FBAEB1-B463-D7C2-86CA-876C3BD6E9A2}"/>
                  </a:ext>
                </a:extLst>
              </p:cNvPr>
              <p:cNvSpPr txBox="1"/>
              <p:nvPr/>
            </p:nvSpPr>
            <p:spPr>
              <a:xfrm>
                <a:off x="10896862" y="3264664"/>
                <a:ext cx="3937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FBAEB1-B463-D7C2-86CA-876C3BD6E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6862" y="3264664"/>
                <a:ext cx="393700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6A45F5-16E7-94CE-616B-B2ABA51C95EA}"/>
                  </a:ext>
                </a:extLst>
              </p:cNvPr>
              <p:cNvSpPr txBox="1"/>
              <p:nvPr/>
            </p:nvSpPr>
            <p:spPr>
              <a:xfrm>
                <a:off x="9487137" y="3264664"/>
                <a:ext cx="3937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6A45F5-16E7-94CE-616B-B2ABA51C9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137" y="3264664"/>
                <a:ext cx="393700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5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AEA2-7301-0320-96BB-814E7219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608C9-ED27-6BF5-FC58-19E028D4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효율성과 형평성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B52CEC-E151-1136-66C0-D7D53155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DE0BE3-D5A5-309B-5C8D-DD110E57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213" y="3011900"/>
            <a:ext cx="3177305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A187BD-DD26-A05B-770B-82500FDA08E8}"/>
              </a:ext>
            </a:extLst>
          </p:cNvPr>
          <p:cNvSpPr txBox="1"/>
          <p:nvPr/>
        </p:nvSpPr>
        <p:spPr>
          <a:xfrm>
            <a:off x="678872" y="806447"/>
            <a:ext cx="1125912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환경정책의 순편익이 계층별로 분배되는 형태 중에서도 고소득층과 저소득층에 분배 형태가 많은 주목을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환경정책이 고소득층과 저소득층에 미치는 상대적 영향을 알기 위해서는 양 계층의 </a:t>
            </a: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수요가 어떻게 형성되는지 살펴볼 필요가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환경재는 정상재라고 가정하자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다른 조건이 같을 때 소득이 증가할수록 </a:t>
            </a: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수요가 늘어난다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 계층의 환경재와 </a:t>
            </a:r>
            <a:r>
              <a:rPr lang="ko-KR" altLang="en-US" sz="1600" spc="-50" dirty="0" err="1"/>
              <a:t>기타재화간</a:t>
            </a:r>
            <a:r>
              <a:rPr lang="ko-KR" altLang="en-US" sz="1600" spc="-50" dirty="0"/>
              <a:t> 선호구조는 동일하다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조건에서 양 계층 중에서 어느 계층이 환경재에 대해 높은 수요를 갖게 될지는 환경재의 가격에 따라 결정된다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53BE32-FCE9-F67B-498C-1D685A618A67}"/>
                  </a:ext>
                </a:extLst>
              </p:cNvPr>
              <p:cNvSpPr txBox="1"/>
              <p:nvPr/>
            </p:nvSpPr>
            <p:spPr>
              <a:xfrm>
                <a:off x="678872" y="3013799"/>
                <a:ext cx="7982528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환경재의 가격이 소득수준과 상관없이 모든 계층에 동일하다고 가정해보자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양 계층의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수요는 오른쪽 그림과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축은 환경재를 제외한 모든 재화 및 용역의 소비량</a:t>
                </a:r>
                <a:r>
                  <a:rPr lang="en-US" altLang="ko-KR" sz="1600" spc="-50" dirty="0"/>
                  <a:t>, x</a:t>
                </a:r>
                <a:r>
                  <a:rPr lang="ko-KR" altLang="en-US" sz="1600" spc="-50" dirty="0"/>
                  <a:t>축은 환경재의 소비량을 나타낸다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고소득층의 예산선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저소득층의 예산선이다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소비자가 소득을 모두 지출하여 구매할 수 있는 환경재와 기타재화의 조합을 나타내는 선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고소득층의 무차별곡선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저소득층의 무차별곡선이다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소비자에게 특정 수준의 만족도를 </a:t>
                </a:r>
                <a:r>
                  <a:rPr lang="ko-KR" altLang="en-US" sz="1600" spc="-50" dirty="0" err="1"/>
                  <a:t>가져다주는</a:t>
                </a:r>
                <a:r>
                  <a:rPr lang="ko-KR" altLang="en-US" sz="1600" spc="-50" dirty="0"/>
                  <a:t> 환경재와 기타재화의 조합을 나타내는 선</a:t>
                </a:r>
                <a:r>
                  <a:rPr lang="en-US" altLang="ko-KR" sz="1600" spc="-50" dirty="0"/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53BE32-FCE9-F67B-498C-1D685A618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3013799"/>
                <a:ext cx="7982528" cy="2999347"/>
              </a:xfrm>
              <a:prstGeom prst="rect">
                <a:avLst/>
              </a:prstGeom>
              <a:blipFill>
                <a:blip r:embed="rId3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8AF51E-E88A-3391-9CD7-CAAEE975BAF1}"/>
                  </a:ext>
                </a:extLst>
              </p:cNvPr>
              <p:cNvSpPr txBox="1"/>
              <p:nvPr/>
            </p:nvSpPr>
            <p:spPr>
              <a:xfrm>
                <a:off x="9521458" y="453490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8AF51E-E88A-3391-9CD7-CAAEE975B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458" y="453490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079ACD-9D98-7A66-63FC-014ED425575E}"/>
                  </a:ext>
                </a:extLst>
              </p:cNvPr>
              <p:cNvSpPr txBox="1"/>
              <p:nvPr/>
            </p:nvSpPr>
            <p:spPr>
              <a:xfrm>
                <a:off x="9521458" y="547470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079ACD-9D98-7A66-63FC-014ED4255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458" y="5474701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3A8BC7-136E-2266-AE5A-92CEDA29D293}"/>
                  </a:ext>
                </a:extLst>
              </p:cNvPr>
              <p:cNvSpPr txBox="1"/>
              <p:nvPr/>
            </p:nvSpPr>
            <p:spPr>
              <a:xfrm>
                <a:off x="9589192" y="35240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3A8BC7-136E-2266-AE5A-92CEDA29D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192" y="3524016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4FF7B1-68DF-964B-6C14-145D5B8B7189}"/>
                  </a:ext>
                </a:extLst>
              </p:cNvPr>
              <p:cNvSpPr txBox="1"/>
              <p:nvPr/>
            </p:nvSpPr>
            <p:spPr>
              <a:xfrm>
                <a:off x="9138154" y="3524015"/>
                <a:ext cx="648449" cy="280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4FF7B1-68DF-964B-6C14-145D5B8B7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154" y="3524015"/>
                <a:ext cx="648449" cy="2805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5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F288-7192-9F2B-7F95-8719059D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A144EA-8978-9237-DF8D-896348AE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279" y="1199000"/>
            <a:ext cx="4765958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65BC51-0C41-5092-3629-DFEAB24C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효율성과 형평성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59703-529F-369F-0B65-30BC7345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9943B-08CC-3DAC-664C-D3F879209758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5228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환경재의 가격이 소득수준과 상관없이 모든 계층에 동일하다고 가정해보자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양 계층의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수요는 오른쪽 그림과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축은 환경재를 제외한 모든 재화 및 용역의 소비량</a:t>
                </a:r>
                <a:r>
                  <a:rPr lang="en-US" altLang="ko-KR" sz="1600" spc="-50" dirty="0"/>
                  <a:t>, x</a:t>
                </a:r>
                <a:r>
                  <a:rPr lang="ko-KR" altLang="en-US" sz="1600" spc="-50" dirty="0"/>
                  <a:t>축은 환경재의 소비량을 나타낸다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고소득층의 예산선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는 저소득층의 예산선이다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소비자가 소득을 모두 지출하여 구매할 수 있는 환경재와 기타재화의 조합을 나타내는 선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고소득층의 무차별곡선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저소득층의 무차별곡선이다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소비자에게 특정 수준의 만족도를 </a:t>
                </a:r>
                <a:r>
                  <a:rPr lang="ko-KR" altLang="en-US" sz="1600" spc="-50" dirty="0" err="1"/>
                  <a:t>가져다주는</a:t>
                </a:r>
                <a:r>
                  <a:rPr lang="ko-KR" altLang="en-US" sz="1600" spc="-50" dirty="0"/>
                  <a:t> 환경재와 기타재화의 조합을 나타내는 선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고소득층은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만나는 점의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수준인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을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저소득층은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만나는 점의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수준인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선택하고자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 고소득층의 환경재에 대한 수요가 더 크다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9943B-08CC-3DAC-664C-D3F879209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5228675"/>
              </a:xfrm>
              <a:prstGeom prst="rect">
                <a:avLst/>
              </a:prstGeom>
              <a:blipFill>
                <a:blip r:embed="rId3"/>
                <a:stretch>
                  <a:fillRect b="-4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11EBE-0820-E364-A11E-CA12B2F53922}"/>
                  </a:ext>
                </a:extLst>
              </p:cNvPr>
              <p:cNvSpPr txBox="1"/>
              <p:nvPr/>
            </p:nvSpPr>
            <p:spPr>
              <a:xfrm>
                <a:off x="8337175" y="3464259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11EBE-0820-E364-A11E-CA12B2F53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175" y="3464259"/>
                <a:ext cx="64844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F2DA68-7B40-F924-E5C9-A59C1C212A1A}"/>
                  </a:ext>
                </a:extLst>
              </p:cNvPr>
              <p:cNvSpPr txBox="1"/>
              <p:nvPr/>
            </p:nvSpPr>
            <p:spPr>
              <a:xfrm>
                <a:off x="8337174" y="4926593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F2DA68-7B40-F924-E5C9-A59C1C212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174" y="4926593"/>
                <a:ext cx="64844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BA0388-3103-A1FD-0B5B-EFC43C3255A0}"/>
                  </a:ext>
                </a:extLst>
              </p:cNvPr>
              <p:cNvSpPr txBox="1"/>
              <p:nvPr/>
            </p:nvSpPr>
            <p:spPr>
              <a:xfrm>
                <a:off x="8470829" y="1948197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BA0388-3103-A1FD-0B5B-EFC43C325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829" y="1948197"/>
                <a:ext cx="64844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5192A6-6438-A1C9-570F-31A1B549489D}"/>
                  </a:ext>
                </a:extLst>
              </p:cNvPr>
              <p:cNvSpPr txBox="1"/>
              <p:nvPr/>
            </p:nvSpPr>
            <p:spPr>
              <a:xfrm>
                <a:off x="7798304" y="1948197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5192A6-6438-A1C9-570F-31A1B5494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304" y="1948197"/>
                <a:ext cx="64844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88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3056-7C65-A3C1-D1F8-36FA3D81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B892A8-33E7-BF71-9071-7CADAFE79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022" y="1195532"/>
            <a:ext cx="474487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702B79-DFCA-5A05-A01D-B984C958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효율성과 형평성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06449-418D-376B-7BBE-E5C4590F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020EEBD5-F8D5-A12C-5C43-58150A01CE74}"/>
              </a:ext>
            </a:extLst>
          </p:cNvPr>
          <p:cNvSpPr/>
          <p:nvPr/>
        </p:nvSpPr>
        <p:spPr>
          <a:xfrm rot="10624091">
            <a:off x="8556046" y="2481394"/>
            <a:ext cx="2147844" cy="18952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891D4D90-D2B1-A6C8-DEAE-A48B8E82E8ED}"/>
              </a:ext>
            </a:extLst>
          </p:cNvPr>
          <p:cNvSpPr/>
          <p:nvPr/>
        </p:nvSpPr>
        <p:spPr>
          <a:xfrm rot="10624091">
            <a:off x="9155020" y="3927340"/>
            <a:ext cx="2147844" cy="18952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18D31C-319F-A67B-B0BD-5B45CAFD3D73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5222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살펴 본 예시와는 달리 환경재의 단위당 가격이 고소득층에 더 높게 책정되며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가격차이가 매우 클 경우에는 오히려 저소득층의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수요가 더 클 수도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공급비용을 충당할 때 소득세처럼 고소득자일수록 높은 세율의 세금을 부과하는 누진세를 사용하면 고소득자는 저소득자에 비해 높은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가격을 부담해야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 비해 더 가파른 기울기를 가지고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상황에서는 고소득자의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수요량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은 저소득자의 수요량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 비해 더 작게 된다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누진적인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가격 보다는 동일한 </a:t>
                </a:r>
                <a:r>
                  <a:rPr lang="ko-KR" altLang="en-US" sz="1600" spc="-50" dirty="0" err="1"/>
                  <a:t>환경재</a:t>
                </a:r>
                <a:r>
                  <a:rPr lang="ko-KR" altLang="en-US" sz="1600" spc="-50" dirty="0"/>
                  <a:t> 가격이 조금 더 현실적이다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 가지 예로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저소득층이라해서</a:t>
                </a:r>
                <a:r>
                  <a:rPr lang="ko-KR" altLang="en-US" sz="1600" spc="-50" dirty="0"/>
                  <a:t> 국립공원 입장료를 적게 내지는 않는다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18D31C-319F-A67B-B0BD-5B45CAFD3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5222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54E62E4-10B1-42CA-5D1B-6F1E777FFE21}"/>
              </a:ext>
            </a:extLst>
          </p:cNvPr>
          <p:cNvCxnSpPr>
            <a:cxnSpLocks/>
          </p:cNvCxnSpPr>
          <p:nvPr/>
        </p:nvCxnSpPr>
        <p:spPr>
          <a:xfrm>
            <a:off x="8873693" y="1463995"/>
            <a:ext cx="0" cy="450000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F616A68-7BBD-8ADA-4D9E-B24B56F8B417}"/>
              </a:ext>
            </a:extLst>
          </p:cNvPr>
          <p:cNvCxnSpPr>
            <a:cxnSpLocks/>
          </p:cNvCxnSpPr>
          <p:nvPr/>
        </p:nvCxnSpPr>
        <p:spPr>
          <a:xfrm>
            <a:off x="9578368" y="1463995"/>
            <a:ext cx="0" cy="450000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그림 4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C80C72-8A23-BDC7-237B-44705DEEA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74" t="90363" r="42118" b="6587"/>
          <a:stretch>
            <a:fillRect/>
          </a:stretch>
        </p:blipFill>
        <p:spPr>
          <a:xfrm>
            <a:off x="9428162" y="6288853"/>
            <a:ext cx="522287" cy="164702"/>
          </a:xfrm>
          <a:prstGeom prst="rect">
            <a:avLst/>
          </a:prstGeom>
        </p:spPr>
      </p:pic>
      <p:pic>
        <p:nvPicPr>
          <p:cNvPr id="47" name="그림 46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4C4778-0AD6-91AA-46B8-94DFA9331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" t="90363" r="52071" b="5990"/>
          <a:stretch>
            <a:fillRect/>
          </a:stretch>
        </p:blipFill>
        <p:spPr>
          <a:xfrm>
            <a:off x="8607105" y="6038932"/>
            <a:ext cx="2265028" cy="19695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BDE1808D-A03F-E6CA-76BC-7A4FF655D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078" y="6006009"/>
            <a:ext cx="221547" cy="2628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CF865B0-7243-69F2-64A8-7CCD69A71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302" y="5998894"/>
            <a:ext cx="209549" cy="263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526BE0-502F-A22E-CA62-9AFE08FA418A}"/>
                  </a:ext>
                </a:extLst>
              </p:cNvPr>
              <p:cNvSpPr txBox="1"/>
              <p:nvPr/>
            </p:nvSpPr>
            <p:spPr>
              <a:xfrm>
                <a:off x="7746234" y="3013452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526BE0-502F-A22E-CA62-9AFE08FA4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34" y="3013452"/>
                <a:ext cx="64844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17ECF23-9BF1-8E4E-93B6-FAA4B2E57764}"/>
                  </a:ext>
                </a:extLst>
              </p:cNvPr>
              <p:cNvSpPr txBox="1"/>
              <p:nvPr/>
            </p:nvSpPr>
            <p:spPr>
              <a:xfrm>
                <a:off x="7741329" y="4304613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17ECF23-9BF1-8E4E-93B6-FAA4B2E5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329" y="4304613"/>
                <a:ext cx="64844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51DF1C-9E8D-1156-024A-C672C0AC682B}"/>
                  </a:ext>
                </a:extLst>
              </p:cNvPr>
              <p:cNvSpPr txBox="1"/>
              <p:nvPr/>
            </p:nvSpPr>
            <p:spPr>
              <a:xfrm>
                <a:off x="9506302" y="4214394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51DF1C-9E8D-1156-024A-C672C0AC6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302" y="4214394"/>
                <a:ext cx="64844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3662971-B971-D862-1F24-1606F0499A51}"/>
                  </a:ext>
                </a:extLst>
              </p:cNvPr>
              <p:cNvSpPr txBox="1"/>
              <p:nvPr/>
            </p:nvSpPr>
            <p:spPr>
              <a:xfrm>
                <a:off x="10115184" y="5647411"/>
                <a:ext cx="6484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3662971-B971-D862-1F24-1606F049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184" y="5647411"/>
                <a:ext cx="648449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93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39E5-A1BF-A27F-2F6A-EEFEF2E7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E08A51-3B00-3FAC-0A5C-225001ABC5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DA17D-1F41-2B1C-FC37-510E3A2E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370DD47-7678-1F1B-E70C-09053D46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환경정책의 목표와 수단 선택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7646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D98B1-1F32-DE3C-FDC7-FDEEA4EE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B8035-A6CC-4F3A-6807-0B8EE324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목표와 수단 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07AF0-BBF0-8984-3EE2-43B21464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D7D15-0045-5E55-6615-E1269172439F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환경정책의 영향이 사회계층별로 다를 수 있음을 살펴보았다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이러한 각기 다른 이해관계를 반영하여 실제 환경정책을 선택하는 두 가지 과정이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번째는 다수결 원칙에 의해 표결하여 정책목표와 수단을 선택하는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번째는 각 집단의 압력에 직면한 정부가 정책을 선택하는 것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다양한 이해관계를 고려하여 정책 결정을 할 때 적어도 세 가지 유형의 선택 문제에 직면한다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환경질의 정책목표를 어느 수준으로 정할 것인지에 관한 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살펴보았듯이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오염원이 오염피해자 보다 더 낮은 수준의 환경질을 원할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소득수준에 따라서도 원하는 환경질이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정책수단 선택 문제에 관한 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직접규제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경제적 유인제도를 택해야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경제적 유인 중에서도 가격기반 정책</a:t>
            </a:r>
            <a:r>
              <a:rPr lang="en-US" altLang="ko-KR" sz="1600" spc="-50" dirty="0"/>
              <a:t> vs. </a:t>
            </a:r>
            <a:r>
              <a:rPr lang="ko-KR" altLang="en-US" sz="1600" spc="-50" dirty="0"/>
              <a:t>수량기반 정책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셋째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정부가 정책을 담당할 것인가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기초자치단체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유성구</a:t>
            </a:r>
            <a:r>
              <a:rPr lang="en-US" altLang="ko-KR" sz="1600" spc="-50" dirty="0"/>
              <a:t>) vs. </a:t>
            </a:r>
            <a:r>
              <a:rPr lang="ko-KR" altLang="en-US" sz="1600" spc="-50" dirty="0"/>
              <a:t>광역자치단체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대전광역시</a:t>
            </a:r>
            <a:r>
              <a:rPr lang="en-US" altLang="ko-KR" sz="1600" spc="-50" dirty="0"/>
              <a:t>) vs. </a:t>
            </a:r>
            <a:r>
              <a:rPr lang="ko-KR" altLang="en-US" sz="1600" spc="-50" dirty="0"/>
              <a:t>중앙정부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455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F2CD-A13D-A8DA-12E3-9BF9B179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72958-9D78-184E-889D-014E6FB5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다수결 원칙과 정책선택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744AD-2215-A101-C8B0-69625BD9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E60C6-F5BE-5E93-5410-3B6E7D423B7D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41282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환경정책에 대한 선호도가 다르면 다수결 원칙에 따라 투표를 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사회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구성원 </a:t>
                </a:r>
                <a:r>
                  <a:rPr lang="en-US" altLang="ko-KR" sz="1600" spc="-50" dirty="0"/>
                  <a:t>(A,B,C)</a:t>
                </a:r>
                <a:r>
                  <a:rPr lang="ko-KR" altLang="en-US" sz="1600" spc="-50" dirty="0"/>
                  <a:t>들이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 err="1"/>
                  <a:t>환경재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예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수질개선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로부터 편익을 얻고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정도는 구성원별로 다르다고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오른쪽 그림에서 곡선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는 수질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에서 개인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가 얻는 </a:t>
                </a:r>
                <a:r>
                  <a:rPr lang="ko-KR" altLang="en-US" sz="1600" spc="-50" dirty="0" err="1"/>
                  <a:t>순편익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즉 자신의 편익에서 부담하는 비용을 </a:t>
                </a:r>
                <a:r>
                  <a:rPr lang="ko-KR" altLang="en-US" sz="1600" spc="-50" dirty="0" err="1"/>
                  <a:t>빼준</a:t>
                </a:r>
                <a:r>
                  <a:rPr lang="ko-KR" altLang="en-US" sz="1600" spc="-50" dirty="0"/>
                  <a:t> 것을 나타낸다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수질이 개선되면 모든 구성원의 만족도는 높아지지만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수질 개선을 위한 비용을 </a:t>
                </a:r>
                <a:r>
                  <a:rPr lang="en-US" altLang="ko-KR" sz="1600" spc="-50" dirty="0"/>
                  <a:t>1/3</a:t>
                </a:r>
                <a:r>
                  <a:rPr lang="ko-KR" altLang="en-US" sz="1600" spc="-50" dirty="0"/>
                  <a:t>로 나누어 부담하므로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수질이 무조건 높아지는 것을 원하지는 않는다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구성원별로 각각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수준의 수질을 가장 선호한다</a:t>
                </a:r>
                <a:r>
                  <a:rPr lang="en-US" altLang="ko-KR" sz="1600" spc="-5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비용부담이 동일하더라도 환경에 대한 선호는 각기 다르기 때문에 곡선의 위치가 개인별로 다르다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E60C6-F5BE-5E93-5410-3B6E7D423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4128246"/>
              </a:xfrm>
              <a:prstGeom prst="rect">
                <a:avLst/>
              </a:prstGeom>
              <a:blipFill>
                <a:blip r:embed="rId2"/>
                <a:stretch>
                  <a:fillRect r="-86" b="-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FA2FEA9E-B87F-92F6-F025-4445D748F814}"/>
              </a:ext>
            </a:extLst>
          </p:cNvPr>
          <p:cNvGrpSpPr/>
          <p:nvPr/>
        </p:nvGrpSpPr>
        <p:grpSpPr>
          <a:xfrm>
            <a:off x="7149120" y="1211900"/>
            <a:ext cx="4812080" cy="5400000"/>
            <a:chOff x="7149120" y="1211900"/>
            <a:chExt cx="4812080" cy="5400000"/>
          </a:xfrm>
        </p:grpSpPr>
        <p:pic>
          <p:nvPicPr>
            <p:cNvPr id="8" name="그림 7" descr="텍스트, 도표, 라인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7DFF03-EBBA-3FBA-02F4-3BBBCE612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250"/>
            <a:stretch>
              <a:fillRect/>
            </a:stretch>
          </p:blipFill>
          <p:spPr>
            <a:xfrm>
              <a:off x="7797569" y="1211900"/>
              <a:ext cx="4163631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9DD49C8-6493-6551-C879-5DABBC82B3B1}"/>
                    </a:ext>
                  </a:extLst>
                </p:cNvPr>
                <p:cNvSpPr txBox="1"/>
                <p:nvPr/>
              </p:nvSpPr>
              <p:spPr>
                <a:xfrm>
                  <a:off x="7149120" y="190975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9DD49C8-6493-6551-C879-5DABBC82B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1909758"/>
                  <a:ext cx="648449" cy="311560"/>
                </a:xfrm>
                <a:prstGeom prst="rect">
                  <a:avLst/>
                </a:prstGeom>
                <a:blipFill>
                  <a:blip r:embed="rId4"/>
                  <a:stretch>
                    <a:fillRect r="-1603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12A9D45-0F9D-FFCF-5293-E295EFE554FB}"/>
                    </a:ext>
                  </a:extLst>
                </p:cNvPr>
                <p:cNvSpPr txBox="1"/>
                <p:nvPr/>
              </p:nvSpPr>
              <p:spPr>
                <a:xfrm>
                  <a:off x="7149120" y="4925308"/>
                  <a:ext cx="648449" cy="3128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12A9D45-0F9D-FFCF-5293-E295EFE55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4925308"/>
                  <a:ext cx="648449" cy="312843"/>
                </a:xfrm>
                <a:prstGeom prst="rect">
                  <a:avLst/>
                </a:prstGeom>
                <a:blipFill>
                  <a:blip r:embed="rId5"/>
                  <a:stretch>
                    <a:fillRect r="-14151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C8F4D28-DBF5-1518-CA65-2751AFFE566C}"/>
                    </a:ext>
                  </a:extLst>
                </p:cNvPr>
                <p:cNvSpPr txBox="1"/>
                <p:nvPr/>
              </p:nvSpPr>
              <p:spPr>
                <a:xfrm>
                  <a:off x="7149120" y="5453822"/>
                  <a:ext cx="648449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C8F4D28-DBF5-1518-CA65-2751AFFE5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5453822"/>
                  <a:ext cx="648449" cy="312586"/>
                </a:xfrm>
                <a:prstGeom prst="rect">
                  <a:avLst/>
                </a:prstGeom>
                <a:blipFill>
                  <a:blip r:embed="rId6"/>
                  <a:stretch>
                    <a:fillRect r="-1603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C7D24DE-E488-684C-6EE9-A762887A2AA7}"/>
                    </a:ext>
                  </a:extLst>
                </p:cNvPr>
                <p:cNvSpPr txBox="1"/>
                <p:nvPr/>
              </p:nvSpPr>
              <p:spPr>
                <a:xfrm>
                  <a:off x="8555674" y="206553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C7D24DE-E488-684C-6EE9-A762887A2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5674" y="2065538"/>
                  <a:ext cx="648449" cy="311560"/>
                </a:xfrm>
                <a:prstGeom prst="rect">
                  <a:avLst/>
                </a:prstGeom>
                <a:blipFill>
                  <a:blip r:embed="rId7"/>
                  <a:stretch>
                    <a:fillRect r="-935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0882D2C-D820-CA8F-05B6-F7467024F762}"/>
                    </a:ext>
                  </a:extLst>
                </p:cNvPr>
                <p:cNvSpPr txBox="1"/>
                <p:nvPr/>
              </p:nvSpPr>
              <p:spPr>
                <a:xfrm>
                  <a:off x="9587520" y="175397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0882D2C-D820-CA8F-05B6-F7467024F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7520" y="1753978"/>
                  <a:ext cx="648449" cy="311560"/>
                </a:xfrm>
                <a:prstGeom prst="rect">
                  <a:avLst/>
                </a:prstGeom>
                <a:blipFill>
                  <a:blip r:embed="rId8"/>
                  <a:stretch>
                    <a:fillRect r="-943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CD61AC7-4EC8-6C92-91DF-B693ECF09256}"/>
                    </a:ext>
                  </a:extLst>
                </p:cNvPr>
                <p:cNvSpPr txBox="1"/>
                <p:nvPr/>
              </p:nvSpPr>
              <p:spPr>
                <a:xfrm>
                  <a:off x="10721308" y="1526661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CD61AC7-4EC8-6C92-91DF-B693ECF09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308" y="1526661"/>
                  <a:ext cx="648449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618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B41F-21C1-62A3-438C-CE3FACDC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BA8F6-CAFC-AC13-C1DB-4E223662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다수결 원칙과 정책선택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6FDAE5-CBD3-12BA-25FD-FE30A0CC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F0882A-B2E8-A4B4-1634-3D5E797EAF42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564109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상황에서 다수결 투표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하면 어느 수질이 선택될까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투표를 하게 되면 어떻게 될까</a:t>
                </a:r>
                <a:r>
                  <a:rPr lang="en-US" altLang="ko-KR" sz="1600" spc="-50" dirty="0"/>
                  <a:t>?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선택하겠지만</a:t>
                </a:r>
                <a:r>
                  <a:rPr lang="en-US" altLang="ko-KR" sz="1600" spc="-50" dirty="0"/>
                  <a:t>, B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선택할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투표를 하게 되면 어떻게 될까</a:t>
                </a:r>
                <a:r>
                  <a:rPr lang="en-US" altLang="ko-KR" sz="1600" spc="-50" dirty="0"/>
                  <a:t>?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선택하겠지만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선택할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가운데에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위치한 개인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가장 선호하는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외의 어떤 수질도 다수결 투표를 원칙으로 양자 중 하나를 선택하게 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이길 수 없다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이처럼 공공재의 선호 크기에 따라 개인이나 계층을 나열했을 때 다수결 투표에서 가장 가운데 있는 개인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계층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선호대로 의사결정이 이루어지는 현상을 중위투표자정리 라고 한다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다수결 투표는 합의를 도출할 수 있다고 하여도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투표 결과가 사회적 효율성을 충족한다는 보장은 없다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각 개인의 선호 순위를 반영한 것이며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선호가 갖고 있는 절대적인 수치는 반영하지 못하기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dirty="0"/>
                  <a:t>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최대화 해주는 값이라는 보장 없음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F0882A-B2E8-A4B4-1634-3D5E797EA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5641096"/>
              </a:xfrm>
              <a:prstGeom prst="rect">
                <a:avLst/>
              </a:prstGeom>
              <a:blipFill>
                <a:blip r:embed="rId2"/>
                <a:stretch>
                  <a:fillRect b="-3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97F4587A-11AE-46CF-4F22-1AA8677B99D0}"/>
              </a:ext>
            </a:extLst>
          </p:cNvPr>
          <p:cNvGrpSpPr/>
          <p:nvPr/>
        </p:nvGrpSpPr>
        <p:grpSpPr>
          <a:xfrm>
            <a:off x="7149120" y="1211900"/>
            <a:ext cx="4812080" cy="5400000"/>
            <a:chOff x="7149120" y="1211900"/>
            <a:chExt cx="4812080" cy="5400000"/>
          </a:xfrm>
        </p:grpSpPr>
        <p:pic>
          <p:nvPicPr>
            <p:cNvPr id="20" name="그림 19" descr="텍스트, 도표, 라인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FD1CCC0-FB1A-A14D-0AB5-43D892568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250"/>
            <a:stretch>
              <a:fillRect/>
            </a:stretch>
          </p:blipFill>
          <p:spPr>
            <a:xfrm>
              <a:off x="7797569" y="1211900"/>
              <a:ext cx="4163631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E66531E-D355-0742-5892-960E68BA41C7}"/>
                    </a:ext>
                  </a:extLst>
                </p:cNvPr>
                <p:cNvSpPr txBox="1"/>
                <p:nvPr/>
              </p:nvSpPr>
              <p:spPr>
                <a:xfrm>
                  <a:off x="7149120" y="190975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E66531E-D355-0742-5892-960E68BA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1909758"/>
                  <a:ext cx="648449" cy="311560"/>
                </a:xfrm>
                <a:prstGeom prst="rect">
                  <a:avLst/>
                </a:prstGeom>
                <a:blipFill>
                  <a:blip r:embed="rId4"/>
                  <a:stretch>
                    <a:fillRect r="-1603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111931-9DFB-F398-43F5-54C0262A147D}"/>
                    </a:ext>
                  </a:extLst>
                </p:cNvPr>
                <p:cNvSpPr txBox="1"/>
                <p:nvPr/>
              </p:nvSpPr>
              <p:spPr>
                <a:xfrm>
                  <a:off x="7149120" y="4925308"/>
                  <a:ext cx="648449" cy="3128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111931-9DFB-F398-43F5-54C0262A1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4925308"/>
                  <a:ext cx="648449" cy="312843"/>
                </a:xfrm>
                <a:prstGeom prst="rect">
                  <a:avLst/>
                </a:prstGeom>
                <a:blipFill>
                  <a:blip r:embed="rId5"/>
                  <a:stretch>
                    <a:fillRect r="-14151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C24CD93-3C0B-E380-8DEB-E61312E05502}"/>
                    </a:ext>
                  </a:extLst>
                </p:cNvPr>
                <p:cNvSpPr txBox="1"/>
                <p:nvPr/>
              </p:nvSpPr>
              <p:spPr>
                <a:xfrm>
                  <a:off x="7149120" y="5453822"/>
                  <a:ext cx="648449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C24CD93-3C0B-E380-8DEB-E61312E05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120" y="5453822"/>
                  <a:ext cx="648449" cy="312586"/>
                </a:xfrm>
                <a:prstGeom prst="rect">
                  <a:avLst/>
                </a:prstGeom>
                <a:blipFill>
                  <a:blip r:embed="rId6"/>
                  <a:stretch>
                    <a:fillRect r="-1603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126EB0B-0A6C-7140-AE37-0E3C11583AF0}"/>
                    </a:ext>
                  </a:extLst>
                </p:cNvPr>
                <p:cNvSpPr txBox="1"/>
                <p:nvPr/>
              </p:nvSpPr>
              <p:spPr>
                <a:xfrm>
                  <a:off x="8555674" y="206553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126EB0B-0A6C-7140-AE37-0E3C11583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5674" y="2065538"/>
                  <a:ext cx="648449" cy="311560"/>
                </a:xfrm>
                <a:prstGeom prst="rect">
                  <a:avLst/>
                </a:prstGeom>
                <a:blipFill>
                  <a:blip r:embed="rId7"/>
                  <a:stretch>
                    <a:fillRect r="-935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9CD4FE1-E3A3-1970-ACF4-E12B1D919C72}"/>
                    </a:ext>
                  </a:extLst>
                </p:cNvPr>
                <p:cNvSpPr txBox="1"/>
                <p:nvPr/>
              </p:nvSpPr>
              <p:spPr>
                <a:xfrm>
                  <a:off x="9587520" y="175397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9CD4FE1-E3A3-1970-ACF4-E12B1D919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7520" y="1753978"/>
                  <a:ext cx="648449" cy="311560"/>
                </a:xfrm>
                <a:prstGeom prst="rect">
                  <a:avLst/>
                </a:prstGeom>
                <a:blipFill>
                  <a:blip r:embed="rId8"/>
                  <a:stretch>
                    <a:fillRect r="-943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F6B04A1-3C1D-A482-9C2C-362B65481F28}"/>
                    </a:ext>
                  </a:extLst>
                </p:cNvPr>
                <p:cNvSpPr txBox="1"/>
                <p:nvPr/>
              </p:nvSpPr>
              <p:spPr>
                <a:xfrm>
                  <a:off x="10721308" y="1526661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F6B04A1-3C1D-A482-9C2C-362B65481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308" y="1526661"/>
                  <a:ext cx="648449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534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8601-DD34-D588-F4D8-8CE41D9C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3E874-2B1F-FCD9-FF0E-3CA07587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다수결 원칙과 정책선택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523B0-71EA-81AD-5418-9574EC75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E29BAB-DFB6-A209-E8BB-6B73957DD76D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30254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다수결 투표가 사회적 효율성을 확보할 수 없다는 점은 오른쪽 그래프에서 확인할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살펴본 그래프와 다른 점은 개인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의 </a:t>
                </a:r>
                <a:r>
                  <a:rPr lang="ko-KR" altLang="en-US" sz="1600" spc="-50" dirty="0" err="1"/>
                  <a:t>순편익</a:t>
                </a:r>
                <a:r>
                  <a:rPr lang="ko-KR" altLang="en-US" sz="1600" spc="-50" dirty="0"/>
                  <a:t> 곡선이 오른쪽으로 많이 가 있다는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이로 인해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의 값이 대폭 감소하여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작은 값을 갖고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경우에도 다수결 원칙을 따르면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선택되겠지만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값을 최대화 시키는 수준의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는 앞선 그래프 보다는 오른쪽에 위치해야만 하는 것을 시각적으로 확인할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E29BAB-DFB6-A209-E8BB-6B73957DD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3025444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CE12B42D-D4A0-177A-CC10-793176D6BFA3}"/>
              </a:ext>
            </a:extLst>
          </p:cNvPr>
          <p:cNvGrpSpPr/>
          <p:nvPr/>
        </p:nvGrpSpPr>
        <p:grpSpPr>
          <a:xfrm>
            <a:off x="7103199" y="1211900"/>
            <a:ext cx="4857897" cy="5400000"/>
            <a:chOff x="7103199" y="1211900"/>
            <a:chExt cx="4857897" cy="5400000"/>
          </a:xfrm>
        </p:grpSpPr>
        <p:pic>
          <p:nvPicPr>
            <p:cNvPr id="16" name="그림 15" descr="텍스트, 도표, 라인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F835094-0EF8-E61B-1C88-F35D0CEB0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734"/>
            <a:stretch>
              <a:fillRect/>
            </a:stretch>
          </p:blipFill>
          <p:spPr>
            <a:xfrm>
              <a:off x="7773003" y="1211900"/>
              <a:ext cx="4188093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D9B1FC-04FB-6FAF-EB37-3FFE5EEB1C4A}"/>
                    </a:ext>
                  </a:extLst>
                </p:cNvPr>
                <p:cNvSpPr txBox="1"/>
                <p:nvPr/>
              </p:nvSpPr>
              <p:spPr>
                <a:xfrm>
                  <a:off x="7124555" y="1515102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D9B1FC-04FB-6FAF-EB37-3FFE5EEB1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555" y="1515102"/>
                  <a:ext cx="648449" cy="311560"/>
                </a:xfrm>
                <a:prstGeom prst="rect">
                  <a:avLst/>
                </a:prstGeom>
                <a:blipFill>
                  <a:blip r:embed="rId4"/>
                  <a:stretch>
                    <a:fillRect r="-1603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227A9F-EAB8-2377-1DCA-CEA59996709E}"/>
                    </a:ext>
                  </a:extLst>
                </p:cNvPr>
                <p:cNvSpPr txBox="1"/>
                <p:nvPr/>
              </p:nvSpPr>
              <p:spPr>
                <a:xfrm>
                  <a:off x="7103199" y="5085866"/>
                  <a:ext cx="648449" cy="3128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227A9F-EAB8-2377-1DCA-CEA599967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199" y="5085866"/>
                  <a:ext cx="648449" cy="312843"/>
                </a:xfrm>
                <a:prstGeom prst="rect">
                  <a:avLst/>
                </a:prstGeom>
                <a:blipFill>
                  <a:blip r:embed="rId5"/>
                  <a:stretch>
                    <a:fillRect r="-14019" b="-76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D2E5622-1216-62F5-F9FF-D9FCA743849D}"/>
                    </a:ext>
                  </a:extLst>
                </p:cNvPr>
                <p:cNvSpPr txBox="1"/>
                <p:nvPr/>
              </p:nvSpPr>
              <p:spPr>
                <a:xfrm>
                  <a:off x="7103200" y="2955775"/>
                  <a:ext cx="648449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D2E5622-1216-62F5-F9FF-D9FCA7438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200" y="2955775"/>
                  <a:ext cx="648449" cy="312586"/>
                </a:xfrm>
                <a:prstGeom prst="rect">
                  <a:avLst/>
                </a:prstGeom>
                <a:blipFill>
                  <a:blip r:embed="rId6"/>
                  <a:stretch>
                    <a:fillRect r="-15888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3B1E98-BFD4-A63F-894D-BEB19F590B09}"/>
                    </a:ext>
                  </a:extLst>
                </p:cNvPr>
                <p:cNvSpPr txBox="1"/>
                <p:nvPr/>
              </p:nvSpPr>
              <p:spPr>
                <a:xfrm>
                  <a:off x="8238134" y="1506714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3B1E98-BFD4-A63F-894D-BEB19F590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134" y="1506714"/>
                  <a:ext cx="648449" cy="311560"/>
                </a:xfrm>
                <a:prstGeom prst="rect">
                  <a:avLst/>
                </a:prstGeom>
                <a:blipFill>
                  <a:blip r:embed="rId7"/>
                  <a:stretch>
                    <a:fillRect r="-935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BC5677-D9A6-BFB3-CB55-AC4F04430AEA}"/>
                    </a:ext>
                  </a:extLst>
                </p:cNvPr>
                <p:cNvSpPr txBox="1"/>
                <p:nvPr/>
              </p:nvSpPr>
              <p:spPr>
                <a:xfrm>
                  <a:off x="9114669" y="1432380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BC5677-D9A6-BFB3-CB55-AC4F04430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4669" y="1432380"/>
                  <a:ext cx="648449" cy="311560"/>
                </a:xfrm>
                <a:prstGeom prst="rect">
                  <a:avLst/>
                </a:prstGeom>
                <a:blipFill>
                  <a:blip r:embed="rId8"/>
                  <a:stretch>
                    <a:fillRect r="-935"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4F0F8A1-8B83-F4C6-53DF-7A024E9FE9FE}"/>
                    </a:ext>
                  </a:extLst>
                </p:cNvPr>
                <p:cNvSpPr txBox="1"/>
                <p:nvPr/>
              </p:nvSpPr>
              <p:spPr>
                <a:xfrm>
                  <a:off x="10887500" y="1438048"/>
                  <a:ext cx="648449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4F0F8A1-8B83-F4C6-53DF-7A024E9F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7500" y="1438048"/>
                  <a:ext cx="648449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656B4C8-471B-954F-2F41-200FA851FD27}"/>
                    </a:ext>
                  </a:extLst>
                </p:cNvPr>
                <p:cNvSpPr txBox="1"/>
                <p:nvPr/>
              </p:nvSpPr>
              <p:spPr>
                <a:xfrm>
                  <a:off x="7698640" y="3188724"/>
                  <a:ext cx="12343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656B4C8-471B-954F-2F41-200FA851F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8640" y="3188724"/>
                  <a:ext cx="123432" cy="161583"/>
                </a:xfrm>
                <a:prstGeom prst="rect">
                  <a:avLst/>
                </a:prstGeom>
                <a:blipFill>
                  <a:blip r:embed="rId10"/>
                  <a:stretch>
                    <a:fillRect l="-20000" r="-20000" b="-740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840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5C12-1047-EFAA-2E0E-1D005DD7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0314E-B0B2-DC25-BB25-8476C7D7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이익집단과 정책선택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19CC3-F14B-264C-0E38-07AF4807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0508BC-66B6-3BC6-B824-7090A09F729A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6190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환경정책은 유권자들이 직접 투표를 해서 결정할 수도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현실에서는 대체로 간접적으로 선택된다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 정부가 주도하여 규제의 수준이나 수단을 선택하되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각 계층이 갖고 있는 선호나 그들이 행사하는 압력을 의식하지 않을 수 없다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예컨대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배출부과금을 </a:t>
                </a:r>
                <a:r>
                  <a:rPr lang="en-US" altLang="ko-KR" sz="1600" spc="-50" dirty="0"/>
                  <a:t>t</a:t>
                </a:r>
                <a:r>
                  <a:rPr lang="ko-KR" altLang="en-US" sz="1600" spc="-50" dirty="0"/>
                  <a:t>만큼 부과한다고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이에 따라 모든 사회 구성원들이 얻는 순편익을 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지금까지는 정부가 전체 구성원들의 </a:t>
                </a:r>
                <a:r>
                  <a:rPr lang="ko-KR" altLang="en-US" sz="1600" spc="-50" dirty="0" err="1"/>
                  <a:t>순편익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극대화하는 규제수준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 찾고자 한다는 것을 전제하였다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정부는 전체 구성원들의 </a:t>
                </a:r>
                <a:r>
                  <a:rPr lang="ko-KR" altLang="en-US" sz="1600" spc="-50" dirty="0" err="1"/>
                  <a:t>순편익</a:t>
                </a:r>
                <a:r>
                  <a:rPr lang="ko-KR" altLang="en-US" sz="1600" spc="-50" dirty="0"/>
                  <a:t> 외에도 각종 이익집단의 압력이나 로비도 의식하여 정책을 택한다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정권 획득을 위한 선거에서 금전적 혹은 여타의 지원을 할 수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반정부 여론을 형성할 수도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한 국가에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이익집단이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모든 국민은 각자 하나의 이익집단에 가입되어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600" spc="-50" dirty="0"/>
                  <a:t>번째 이익집단이 정부에게 지원하는 양을 화폐로 환산하면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정부에 대한 이익집단의 지원금액은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어떤 환경정책 수준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 </a:t>
                </a:r>
                <a:r>
                  <a:rPr lang="ko-KR" altLang="en-US" sz="1600" spc="-50" dirty="0" err="1"/>
                  <a:t>택하느냐에</a:t>
                </a:r>
                <a:r>
                  <a:rPr lang="ko-KR" altLang="en-US" sz="1600" spc="-50" dirty="0"/>
                  <a:t> 따라 달라진다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정부의 목적함수는 단순히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와는 다르고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변하게 된다</a:t>
                </a:r>
                <a:r>
                  <a:rPr lang="en-US" altLang="ko-KR" sz="1600" spc="-50" dirty="0"/>
                  <a:t>.</a:t>
                </a:r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</a:t>
                </a:r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ko-KR" altLang="en-US" sz="1600" spc="-50" dirty="0"/>
                  <a:t>는 정부의 목적함수에서 </a:t>
                </a:r>
                <a:r>
                  <a:rPr lang="ko-KR" altLang="en-US" sz="1600" spc="-50" dirty="0" err="1"/>
                  <a:t>사회순편익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 부여되는 가중치인데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정부는 사회 순편익과 더불어 다양한 이익집단들의 영향력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까지 고려하므로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 전체 순편익을 극대화하는 선택을 하지 않을 수도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0508BC-66B6-3BC6-B824-7090A09F7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619039"/>
              </a:xfrm>
              <a:prstGeom prst="rect">
                <a:avLst/>
              </a:prstGeom>
              <a:blipFill>
                <a:blip r:embed="rId2"/>
                <a:stretch>
                  <a:fillRect b="-93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5491E-048B-8589-A1D0-29351FC0801A}"/>
                  </a:ext>
                </a:extLst>
              </p:cNvPr>
              <p:cNvSpPr txBox="1"/>
              <p:nvPr/>
            </p:nvSpPr>
            <p:spPr>
              <a:xfrm>
                <a:off x="3308821" y="5098503"/>
                <a:ext cx="2869671" cy="698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l-GR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5491E-048B-8589-A1D0-29351FC0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821" y="5098503"/>
                <a:ext cx="2869671" cy="698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397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26F28-8435-9FEA-B295-658D0368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285D3-3EA5-4DC1-A290-989677CF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이익집단과 정책선택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73A32-4767-75CB-18C0-6A2F5C22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C18B10-AAC6-2EC0-3051-936CB68526F7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99558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이익집단은 정부에 대한 지원수준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어떻게 결정할 것인지 검토해보자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환경정책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예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배출부과금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수준을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로 선택하면 이익집단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600" spc="-50" dirty="0"/>
                  <a:t>가 얻는 순편익은 정책의 결과로 얻게 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에서 정부에게 지원하는 비용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 를 빼 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이것을 최대화 하는 것이 이익집단의 목적이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이익집단은 정부가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 선택하면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여기에 맞추어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자신의 지원액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 결정한다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그러나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가 결정되면 다른 이익집단의 지원액과 합쳐져서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다시 정부의 선택 변수인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 바꿀 것이기 때문에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를 결정 하는 것은 쉽지 않다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이익집단은 다른 집단의 지원수준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예상되는 정부의 정책변수</a:t>
                </a:r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가 있을 때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자기 집단 구성원의 </a:t>
                </a:r>
                <a:r>
                  <a:rPr lang="ko-KR" altLang="en-US" sz="1600" spc="-50" dirty="0" err="1"/>
                  <a:t>순편익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을 극대화하도록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그러한 각 이익집단의 지원수준을 고려하여 정부의 목적함수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극대화하는 정책변수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선택해야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결국 일종의 게임이론 모형을 이용하여 균형 지원수준인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sSup>
                          <m:sSup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균형 환경변수 값인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찾아낼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C18B10-AAC6-2EC0-3051-936CB6852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995581"/>
              </a:xfrm>
              <a:prstGeom prst="rect">
                <a:avLst/>
              </a:prstGeom>
              <a:blipFill>
                <a:blip r:embed="rId2"/>
                <a:stretch>
                  <a:fillRect r="-156" b="-6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89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F4E1-700F-9E5E-02B3-3225506B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5417A-EC83-1C06-2021-28735356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이익집단과 정책선택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BE4B1-7484-189D-F4A1-7EA27B62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56D382-9124-397B-3CAD-1ED8B296F72D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4417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Grossman and </a:t>
                </a:r>
                <a:r>
                  <a:rPr lang="en-US" altLang="ko-KR" sz="1600" spc="-50" dirty="0" err="1"/>
                  <a:t>Helpman</a:t>
                </a:r>
                <a:r>
                  <a:rPr lang="en-US" altLang="ko-KR" sz="1600" spc="-50" dirty="0"/>
                  <a:t> (1994),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Aidt (1998), Oates </a:t>
                </a:r>
                <a:r>
                  <a:rPr lang="en-US" altLang="ko-KR" sz="1600" spc="-50"/>
                  <a:t>and Portney </a:t>
                </a:r>
                <a:r>
                  <a:rPr lang="en-US" altLang="ko-KR" sz="1600" spc="-50" dirty="0"/>
                  <a:t>(2003)</a:t>
                </a:r>
                <a:r>
                  <a:rPr lang="ko-KR" altLang="en-US" sz="1600" spc="-50" dirty="0"/>
                  <a:t>들의 연구는 이러한 이익집단과 정부의 선택 문제를 분석하였다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이익집단의 선택이 구성원 모두의 이익을 반영하여 이루어질 수 있다면 그 선택은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조건을 충족하도록 이루어진다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다시 말하면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이익집단은 정부로 하여금 정책을 한 단위 더 강화하도록 추가로 지원해야 하는 금액과 정책 수준이 한 단위 변함으로 인해 구성원 전체가 얻는 편익이 늘어나는 정도가 일치하도록 지원액을 선택한다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지금까지의 설명대로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이익집단의 압력이 있어도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국민 모두가 어떤 이익집단에 속해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각 이익집단은 구성원 이익을 반영하려 노력한다면 정부는 사회적 최적을 여전히 선택할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그러나 현실에서는 이익집단 형성 자체가 안되거나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형성 된다 해도 구성원 모두의 이해관계를 반영하지 못할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Olson (1965)</a:t>
                </a:r>
                <a:r>
                  <a:rPr lang="ko-KR" altLang="en-US" sz="1600" spc="-50" dirty="0"/>
                  <a:t>에 따르면 이익집단 형성에는 상당한 정도의 무임승차문제가 개입되기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어떤 계층은 자신들의 이익을 대변할 이익집단을 구성하지 못할 수도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이익집단의 활동은 구성원들의 공통이익을 대변하기 위해 이루어지기 때문에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일종의 공공재이다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이익집단 활동의 성과물은 그 활동을 위한 대가를 직접 부담하지 않은 구성원도 이용할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개인은 이익집단에 가입하지 않거나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가입하여도 비용을 지불하지 않으려는 무임승차문제가 발생한다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56D382-9124-397B-3CAD-1ED8B296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441746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790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3514-963B-2D26-A408-839328C2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2E1D5-52C3-340C-326C-47DD91C8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이익집단과 정책선택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C9576-35CB-775C-972B-A32684E1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15F86-595F-FE34-DFB7-6C569610268F}"/>
              </a:ext>
            </a:extLst>
          </p:cNvPr>
          <p:cNvSpPr txBox="1"/>
          <p:nvPr/>
        </p:nvSpPr>
        <p:spPr>
          <a:xfrm>
            <a:off x="288790" y="958844"/>
            <a:ext cx="11693660" cy="66926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무임승차문제를 확인하기 위해 </a:t>
            </a:r>
            <a:r>
              <a:rPr lang="en-US" altLang="ko-KR" sz="1600" spc="-50" dirty="0"/>
              <a:t>A, B, C </a:t>
            </a:r>
            <a:r>
              <a:rPr lang="ko-KR" altLang="en-US" sz="1600" spc="-50" dirty="0"/>
              <a:t>세 개의 환경운동단체가 자동차 연비 규제를 보다 강하게 도입하도록 정부에 압력을 넣으려고 한다고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각 환경단체의 의견을 받아들여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규제를 강화할 때 각 환경단체가 얻는 편익과 비용은 아래와 같다고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환경단체 </a:t>
            </a:r>
            <a:r>
              <a:rPr lang="en-US" altLang="ko-KR" sz="1600" spc="-50" dirty="0"/>
              <a:t>A: 100,   </a:t>
            </a:r>
            <a:r>
              <a:rPr lang="ko-KR" altLang="en-US" sz="1600" spc="-50" dirty="0"/>
              <a:t>환경단체 </a:t>
            </a:r>
            <a:r>
              <a:rPr lang="en-US" altLang="ko-KR" sz="1600" spc="-50" dirty="0"/>
              <a:t>B: 60,   </a:t>
            </a:r>
            <a:r>
              <a:rPr lang="ko-KR" altLang="en-US" sz="1600" spc="-50" dirty="0"/>
              <a:t>환경단체 </a:t>
            </a:r>
            <a:r>
              <a:rPr lang="en-US" altLang="ko-KR" sz="1600" spc="-50" dirty="0"/>
              <a:t>C: 30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모든 단체는 로비나 각종 활동을 위해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을 지불해야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확률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정부는 환경단체들의 활동에 따라 연비규제를 강화할 확률이 아래와 같이 달라진다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하나의 단체만 활동하면 정부는 규제를 강화할 확률이 </a:t>
            </a:r>
            <a:r>
              <a:rPr lang="en-US" altLang="ko-KR" sz="1600" spc="-50" dirty="0"/>
              <a:t>25%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두개의 단체만 활동하면 정부는 규제를 강화할 확률이 </a:t>
            </a:r>
            <a:r>
              <a:rPr lang="en-US" altLang="ko-KR" sz="1600" spc="-50" dirty="0"/>
              <a:t>60%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세개의 단체 모두 활동하면 정부는 규제를 강화할 확률이 </a:t>
            </a:r>
            <a:r>
              <a:rPr lang="en-US" altLang="ko-KR" sz="1600" spc="-50" dirty="0"/>
              <a:t>80%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는 자신만 움직이더라도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얻을 수 있는 편익이 비용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보다 크기 때문에 활동을 시작한다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(A</a:t>
            </a:r>
            <a:r>
              <a:rPr lang="ko-KR" altLang="en-US" sz="1600" spc="-50" dirty="0"/>
              <a:t>의 편익과 비용</a:t>
            </a:r>
            <a:r>
              <a:rPr lang="en-US" altLang="ko-KR" sz="1600" spc="-50" dirty="0"/>
              <a:t>) 100 x 0.25 = 25 &gt; 20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는 자신만 움직일 때는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얻을 수 있는 편익이 비용보다 작기 때문에 활동을 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(B</a:t>
            </a:r>
            <a:r>
              <a:rPr lang="ko-KR" altLang="en-US" sz="1600" spc="-50" dirty="0"/>
              <a:t>의 편익과 비용</a:t>
            </a:r>
            <a:r>
              <a:rPr lang="en-US" altLang="ko-KR" sz="1600" spc="-50" dirty="0"/>
              <a:t>) 60 x 0.25 = 15 &lt; 20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(C</a:t>
            </a:r>
            <a:r>
              <a:rPr lang="ko-KR" altLang="en-US" sz="1600" spc="-50" dirty="0"/>
              <a:t>의 편익과 비용</a:t>
            </a:r>
            <a:r>
              <a:rPr lang="en-US" altLang="ko-KR" sz="1600" spc="-50" dirty="0"/>
              <a:t>) 30 x 0.25 = 7.5 &lt; 20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916880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AA89-85EB-D546-E31C-AD43B61C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0EDF9-0A2F-77F5-AAAC-E2A7725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이익집단과 정책선택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B83D60-4BA6-2EDD-BBC7-A365719A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26999-0F39-B9E2-9970-0C1EB8A8158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환경단체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먼저 활동하고 있는 상태에서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는 자신도 활동을 하면 정부가 규제를 강화할 확률이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60%</a:t>
            </a:r>
            <a:r>
              <a:rPr lang="ko-KR" altLang="en-US" sz="1600" spc="-50" dirty="0"/>
              <a:t>로 올라간다는 것을 안다</a:t>
            </a:r>
            <a:r>
              <a:rPr lang="en-US" altLang="ko-KR" sz="1600" spc="-50" dirty="0"/>
              <a:t>. (35%p </a:t>
            </a:r>
            <a:r>
              <a:rPr lang="ko-KR" altLang="en-US" sz="1600" spc="-50" dirty="0"/>
              <a:t>증가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자신도 활동을 하면 편익 </a:t>
            </a:r>
            <a:r>
              <a:rPr lang="en-US" altLang="ko-KR" sz="1600" spc="-50" dirty="0"/>
              <a:t>(60 x 0.35 = 21)</a:t>
            </a:r>
            <a:r>
              <a:rPr lang="ko-KR" altLang="en-US" sz="1600" spc="-50" dirty="0"/>
              <a:t>이 비용</a:t>
            </a:r>
            <a:r>
              <a:rPr lang="en-US" altLang="ko-KR" sz="1600" spc="-50" dirty="0"/>
              <a:t>(20)</a:t>
            </a:r>
            <a:r>
              <a:rPr lang="ko-KR" altLang="en-US" sz="1600" spc="-50" dirty="0"/>
              <a:t>보다 크기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환경단체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도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함께 활동을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C</a:t>
            </a:r>
            <a:r>
              <a:rPr lang="ko-KR" altLang="en-US" sz="1600" spc="-50" dirty="0"/>
              <a:t>는 자신도 활동을 하면 편익</a:t>
            </a:r>
            <a:r>
              <a:rPr lang="en-US" altLang="ko-KR" sz="1600" spc="-50" dirty="0"/>
              <a:t> (30 x 0.35 = 10.5)</a:t>
            </a:r>
            <a:r>
              <a:rPr lang="ko-KR" altLang="en-US" sz="1600" spc="-50" dirty="0"/>
              <a:t>이 비용</a:t>
            </a:r>
            <a:r>
              <a:rPr lang="en-US" altLang="ko-KR" sz="1600" spc="-50" dirty="0"/>
              <a:t>(20)</a:t>
            </a:r>
            <a:r>
              <a:rPr lang="ko-KR" altLang="en-US" sz="1600" spc="-50" dirty="0"/>
              <a:t>보다 여전히 작기 때문에 활동을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환경단체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활동하고 있는 상태에서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는 자신도 활동을 하면 정부가 규제를 강화할 확률이 </a:t>
            </a:r>
            <a:r>
              <a:rPr lang="en-US" altLang="ko-KR" sz="1600" spc="-50" dirty="0"/>
              <a:t>60%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80%</a:t>
            </a:r>
            <a:r>
              <a:rPr lang="ko-KR" altLang="en-US" sz="1600" spc="-50" dirty="0"/>
              <a:t>로 올라간다는 것을 안다</a:t>
            </a:r>
            <a:r>
              <a:rPr lang="en-US" altLang="ko-KR" sz="1600" spc="-50" dirty="0"/>
              <a:t>. (20%p </a:t>
            </a:r>
            <a:r>
              <a:rPr lang="ko-KR" altLang="en-US" sz="1600" spc="-50" dirty="0"/>
              <a:t>증가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이제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는 자신도 활동을 하면 편익 </a:t>
            </a:r>
            <a:r>
              <a:rPr lang="en-US" altLang="ko-KR" sz="1600" spc="-50" dirty="0"/>
              <a:t>(30 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0.2 = 6)</a:t>
            </a:r>
            <a:r>
              <a:rPr lang="ko-KR" altLang="en-US" sz="1600" spc="-50" dirty="0"/>
              <a:t>이 비용</a:t>
            </a:r>
            <a:r>
              <a:rPr lang="en-US" altLang="ko-KR" sz="1600" spc="-50" dirty="0"/>
              <a:t>(20)</a:t>
            </a:r>
            <a:r>
              <a:rPr lang="ko-KR" altLang="en-US" sz="1600" spc="-50" dirty="0"/>
              <a:t>보다 크기 때문에 활동을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환경단체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만 활동을 시작하고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결과로 연비규제가 강화될 확률은 </a:t>
            </a:r>
            <a:r>
              <a:rPr lang="en-US" altLang="ko-KR" sz="1600" spc="-50" dirty="0"/>
              <a:t>60%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사실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환경단체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모두의 입장을 고려했다면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도 활동을 </a:t>
            </a:r>
            <a:r>
              <a:rPr lang="ko-KR" altLang="en-US" sz="1600" spc="-50" dirty="0" err="1"/>
              <a:t>시작했어야</a:t>
            </a:r>
            <a:r>
              <a:rPr lang="ko-KR" altLang="en-US" sz="1600" spc="-50" dirty="0"/>
              <a:t>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</a:t>
            </a:r>
            <a:r>
              <a:rPr lang="ko-KR" altLang="en-US" sz="1600" spc="-50" dirty="0"/>
              <a:t>가 활동을 하면 규제 강화 확률이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증가하고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편익 </a:t>
            </a:r>
            <a:r>
              <a:rPr lang="en-US" altLang="ko-KR" sz="1600" spc="-50" dirty="0"/>
              <a:t>(100 x 0.2 = 20), B</a:t>
            </a:r>
            <a:r>
              <a:rPr lang="ko-KR" altLang="en-US" sz="1600" spc="-50" dirty="0"/>
              <a:t>의 편익 </a:t>
            </a:r>
            <a:r>
              <a:rPr lang="en-US" altLang="ko-KR" sz="1600" spc="-50" dirty="0"/>
              <a:t>(60 x 0.2 = 12), C</a:t>
            </a:r>
            <a:r>
              <a:rPr lang="ko-KR" altLang="en-US" sz="1600" spc="-50" dirty="0"/>
              <a:t>의 편익 </a:t>
            </a:r>
            <a:r>
              <a:rPr lang="en-US" altLang="ko-KR" sz="1600" spc="-50" dirty="0"/>
              <a:t>(30 x 0.2 = 6)</a:t>
            </a:r>
            <a:r>
              <a:rPr lang="ko-KR" altLang="en-US" sz="1600" spc="-50" dirty="0"/>
              <a:t>을 합치면 </a:t>
            </a:r>
            <a:r>
              <a:rPr lang="en-US" altLang="ko-KR" sz="1600" spc="-50" dirty="0"/>
              <a:t>38</a:t>
            </a:r>
            <a:r>
              <a:rPr lang="ko-KR" altLang="en-US" sz="1600" spc="-50" dirty="0"/>
              <a:t>이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</a:t>
            </a:r>
            <a:r>
              <a:rPr lang="ko-KR" altLang="en-US" sz="1600" spc="-50" dirty="0" err="1"/>
              <a:t>지불해야하는</a:t>
            </a:r>
            <a:r>
              <a:rPr lang="ko-KR" altLang="en-US" sz="1600" spc="-50" dirty="0"/>
              <a:t> 비용</a:t>
            </a:r>
            <a:r>
              <a:rPr lang="en-US" altLang="ko-KR" sz="1600" spc="-50" dirty="0"/>
              <a:t>(20)</a:t>
            </a:r>
            <a:r>
              <a:rPr lang="ko-KR" altLang="en-US" sz="1600" spc="-50" dirty="0"/>
              <a:t>보다 크다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규제의 수준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주체 등의 선택에 있어 환경단체뿐 아니라 기업이나 소비자 등 경제 내 다양한 이익집단이 정부 선택에 영향을 미치게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 최종 선택은 각 이익집단이 구성원의 전체 이익을 얼마나 잘 반영하고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그에 대한 정부의 반응에 달려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2591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886E-A6AD-0DC2-6A10-1886DCF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1D8F1B-0CC8-F220-FE8E-1A262CFDE9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ABDBCE-C342-06D5-B00A-25677FFC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112AAED-F881-B6C3-5330-728D1B55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8" y="3765550"/>
            <a:ext cx="11621607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중앙정부와 지방자치단체의 환경정책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65006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B2F2-C244-8540-97B3-E0418765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D270F-BB4B-F8B0-CB27-A19264DA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중앙정부와 지방정부의 환경정책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0D4F0-2CF4-709F-22DC-2FF06214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671AD-C9D9-046B-B153-0608E75BB351}"/>
              </a:ext>
            </a:extLst>
          </p:cNvPr>
          <p:cNvSpPr txBox="1"/>
          <p:nvPr/>
        </p:nvSpPr>
        <p:spPr>
          <a:xfrm>
            <a:off x="288790" y="958844"/>
            <a:ext cx="11267045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환경정책은 중앙정부 혹은 지방정부에 의해 시행될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90" dirty="0"/>
              <a:t>중앙정부가 주도하면</a:t>
            </a:r>
            <a:r>
              <a:rPr lang="en-US" altLang="ko-KR" sz="1600" spc="-90" dirty="0"/>
              <a:t>, </a:t>
            </a:r>
            <a:r>
              <a:rPr lang="ko-KR" altLang="en-US" sz="1600" spc="-90" dirty="0"/>
              <a:t>전국 모든 지역에서 동시에 달성해야 할 환경목표를 정하고</a:t>
            </a:r>
            <a:r>
              <a:rPr lang="en-US" altLang="ko-KR" sz="1600" spc="-90" dirty="0"/>
              <a:t>, </a:t>
            </a:r>
            <a:r>
              <a:rPr lang="ko-KR" altLang="en-US" sz="1600" spc="-90" dirty="0"/>
              <a:t>목표달성을 위한 정책수단을 마련한다</a:t>
            </a:r>
            <a:r>
              <a:rPr lang="en-US" altLang="ko-KR" sz="1600" spc="-9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지방정부가 주도하면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 특성을 감안하여 환경목표를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목표달성을 위한 정책수단을 마련하게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 위의 두 형태를 혼합하여 환경정책을 실행하고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중앙정부와 지방정부 간의 환경정책에 대한 장단점을 평가하기 위해서는 아래와 같은 질문에 답할 수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중앙정부가 전국적으로 획일화된 오염도기준을 정하는 것에 비해 지방정부가 독자적으로 오염도 기준을 설정하는 것이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효율성 측면에서 더 나은가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지방정부가 자기 지역주민의 만족도를 극대화하는 수준의 환경질을 달성하고자 노력할 것인가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4443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31B0-5E81-1CD6-0CA9-99C77AF5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62E15-6AAA-5A12-44A6-7114ACE4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지역단위의 오염도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DBCE6E-59C7-F7DF-FB84-933D9334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0A888A-210A-5E5F-F301-1069A25A4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968" y="1136907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621EE5-A7F8-D64B-31CF-86603747412A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521662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지방정부가 중앙정부보다 환경정책에서 갖는 상대적 우위는 오염물질이 지역적인지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광범위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혹은 국지적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협소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인지에 따라 달라진다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지역적 오염물질의 경우 앞서 배웠듯이 외부효과를 내재화 하기 위해서는 양자 간의 교섭이 필요하다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국지적 오염물질의 경우 중앙정부보다는 지방정부가 지역주민 후생을 고려해 독자적으로 오염도 기준을 결정하는 것이 더 효율적이다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오른편 그림에는 두개의 지역</a:t>
                </a:r>
                <a:r>
                  <a:rPr lang="en-US" altLang="ko-KR" sz="1600" spc="-50" dirty="0"/>
                  <a:t>(1,2)</a:t>
                </a:r>
                <a:r>
                  <a:rPr lang="ko-KR" altLang="en-US" sz="1600" spc="-50" dirty="0"/>
                  <a:t>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각각의 한계저감비용곡선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𝑀𝐴𝐶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한계피해곡선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이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지방정부는 각자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환경정책 목표로 택할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그에 따라 사회 전체 순편익은 극대화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반면 중앙정부가 두 지역의 차이를 무시하고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배출상한을 정하면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중간 정도인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선택하여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지역에 일괄 적용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어느 지역에서도 한계저감비용과 한계피해가 일치 하지 않음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결과적으로 색칠한 부분만큼 사회적 손실이 발생한다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621EE5-A7F8-D64B-31CF-866037474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5216621"/>
              </a:xfrm>
              <a:prstGeom prst="rect">
                <a:avLst/>
              </a:prstGeom>
              <a:blipFill>
                <a:blip r:embed="rId3"/>
                <a:stretch>
                  <a:fillRect r="-345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B3506-5E21-F4B3-2FAC-48893FAA2DAC}"/>
                  </a:ext>
                </a:extLst>
              </p:cNvPr>
              <p:cNvSpPr txBox="1"/>
              <p:nvPr/>
            </p:nvSpPr>
            <p:spPr>
              <a:xfrm>
                <a:off x="9959307" y="1528764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b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B3506-5E21-F4B3-2FAC-48893FAA2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307" y="1528764"/>
                <a:ext cx="52745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11750-80DE-E0CB-6962-297446DB78C5}"/>
                  </a:ext>
                </a:extLst>
              </p:cNvPr>
              <p:cNvSpPr txBox="1"/>
              <p:nvPr/>
            </p:nvSpPr>
            <p:spPr>
              <a:xfrm>
                <a:off x="8394234" y="4310418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11750-80DE-E0CB-6962-297446DB7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234" y="4310418"/>
                <a:ext cx="527457" cy="307777"/>
              </a:xfrm>
              <a:prstGeom prst="rect">
                <a:avLst/>
              </a:prstGeom>
              <a:blipFill>
                <a:blip r:embed="rId5"/>
                <a:stretch>
                  <a:fillRect r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D22192-4B07-437F-31AB-ED69C58F6FCF}"/>
                  </a:ext>
                </a:extLst>
              </p:cNvPr>
              <p:cNvSpPr txBox="1"/>
              <p:nvPr/>
            </p:nvSpPr>
            <p:spPr>
              <a:xfrm>
                <a:off x="8394235" y="2016029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D22192-4B07-437F-31AB-ED69C58F6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235" y="2016029"/>
                <a:ext cx="527457" cy="307777"/>
              </a:xfrm>
              <a:prstGeom prst="rect">
                <a:avLst/>
              </a:prstGeom>
              <a:blipFill>
                <a:blip r:embed="rId6"/>
                <a:stretch>
                  <a:fillRect r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0FE5A4-03B8-28DC-C19D-5873C2FA6777}"/>
                  </a:ext>
                </a:extLst>
              </p:cNvPr>
              <p:cNvSpPr txBox="1"/>
              <p:nvPr/>
            </p:nvSpPr>
            <p:spPr>
              <a:xfrm>
                <a:off x="9959307" y="4156529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b>
                          <m:r>
                            <a:rPr lang="en-US" altLang="ko-KR" sz="14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0FE5A4-03B8-28DC-C19D-5873C2FA6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307" y="4156529"/>
                <a:ext cx="52745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4B48A-3BA5-1994-2C00-5595E092A668}"/>
              </a:ext>
            </a:extLst>
          </p:cNvPr>
          <p:cNvSpPr/>
          <p:nvPr/>
        </p:nvSpPr>
        <p:spPr>
          <a:xfrm>
            <a:off x="8154099" y="2437002"/>
            <a:ext cx="1258349" cy="2248249"/>
          </a:xfrm>
          <a:custGeom>
            <a:avLst/>
            <a:gdLst>
              <a:gd name="connsiteX0" fmla="*/ 1258349 w 1258349"/>
              <a:gd name="connsiteY0" fmla="*/ 0 h 2248249"/>
              <a:gd name="connsiteX1" fmla="*/ 1245765 w 1258349"/>
              <a:gd name="connsiteY1" fmla="*/ 2248249 h 2248249"/>
              <a:gd name="connsiteX2" fmla="*/ 0 w 1258349"/>
              <a:gd name="connsiteY2" fmla="*/ 1505824 h 2248249"/>
              <a:gd name="connsiteX3" fmla="*/ 1258349 w 1258349"/>
              <a:gd name="connsiteY3" fmla="*/ 0 h 224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8349" h="2248249">
                <a:moveTo>
                  <a:pt x="1258349" y="0"/>
                </a:moveTo>
                <a:cubicBezTo>
                  <a:pt x="1254154" y="749416"/>
                  <a:pt x="1249960" y="1498833"/>
                  <a:pt x="1245765" y="2248249"/>
                </a:cubicBezTo>
                <a:lnTo>
                  <a:pt x="0" y="1505824"/>
                </a:lnTo>
                <a:lnTo>
                  <a:pt x="1258349" y="0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4CF2EEC-7280-39BF-AAA7-586876FA19AF}"/>
              </a:ext>
            </a:extLst>
          </p:cNvPr>
          <p:cNvSpPr/>
          <p:nvPr/>
        </p:nvSpPr>
        <p:spPr>
          <a:xfrm>
            <a:off x="9408253" y="2428613"/>
            <a:ext cx="1409351" cy="2365695"/>
          </a:xfrm>
          <a:custGeom>
            <a:avLst/>
            <a:gdLst>
              <a:gd name="connsiteX0" fmla="*/ 4195 w 1409351"/>
              <a:gd name="connsiteY0" fmla="*/ 0 h 2365695"/>
              <a:gd name="connsiteX1" fmla="*/ 0 w 1409351"/>
              <a:gd name="connsiteY1" fmla="*/ 2265027 h 2365695"/>
              <a:gd name="connsiteX2" fmla="*/ 163586 w 1409351"/>
              <a:gd name="connsiteY2" fmla="*/ 2365695 h 2365695"/>
              <a:gd name="connsiteX3" fmla="*/ 1409351 w 1409351"/>
              <a:gd name="connsiteY3" fmla="*/ 847288 h 2365695"/>
              <a:gd name="connsiteX4" fmla="*/ 4195 w 1409351"/>
              <a:gd name="connsiteY4" fmla="*/ 0 h 236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351" h="2365695">
                <a:moveTo>
                  <a:pt x="4195" y="0"/>
                </a:moveTo>
                <a:cubicBezTo>
                  <a:pt x="2797" y="755009"/>
                  <a:pt x="1398" y="1510018"/>
                  <a:pt x="0" y="2265027"/>
                </a:cubicBezTo>
                <a:lnTo>
                  <a:pt x="163586" y="2365695"/>
                </a:lnTo>
                <a:lnTo>
                  <a:pt x="1409351" y="847288"/>
                </a:lnTo>
                <a:lnTo>
                  <a:pt x="4195" y="0"/>
                </a:lnTo>
                <a:close/>
              </a:path>
            </a:pathLst>
          </a:cu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55045E0A-8D09-FEA2-9AA0-7A32CE44E3B6}"/>
              </a:ext>
            </a:extLst>
          </p:cNvPr>
          <p:cNvSpPr/>
          <p:nvPr/>
        </p:nvSpPr>
        <p:spPr>
          <a:xfrm>
            <a:off x="9408253" y="4697835"/>
            <a:ext cx="142613" cy="272642"/>
          </a:xfrm>
          <a:custGeom>
            <a:avLst/>
            <a:gdLst>
              <a:gd name="connsiteX0" fmla="*/ 0 w 142613"/>
              <a:gd name="connsiteY0" fmla="*/ 0 h 272642"/>
              <a:gd name="connsiteX1" fmla="*/ 4195 w 142613"/>
              <a:gd name="connsiteY1" fmla="*/ 272642 h 272642"/>
              <a:gd name="connsiteX2" fmla="*/ 142613 w 142613"/>
              <a:gd name="connsiteY2" fmla="*/ 96473 h 272642"/>
              <a:gd name="connsiteX3" fmla="*/ 0 w 142613"/>
              <a:gd name="connsiteY3" fmla="*/ 0 h 27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613" h="272642">
                <a:moveTo>
                  <a:pt x="0" y="0"/>
                </a:moveTo>
                <a:cubicBezTo>
                  <a:pt x="1398" y="90881"/>
                  <a:pt x="2797" y="181761"/>
                  <a:pt x="4195" y="272642"/>
                </a:cubicBezTo>
                <a:lnTo>
                  <a:pt x="142613" y="964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09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A0FB-5C90-E348-456D-4A58A516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8425C-10E1-1074-7110-BA4B3339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지방자치단체 오염도기준의 적합성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2361C8-096F-D59D-CA9B-C989A815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FA8AB-933F-101C-9EEE-E9876C1EC1CB}"/>
              </a:ext>
            </a:extLst>
          </p:cNvPr>
          <p:cNvSpPr txBox="1"/>
          <p:nvPr/>
        </p:nvSpPr>
        <p:spPr>
          <a:xfrm>
            <a:off x="288790" y="958844"/>
            <a:ext cx="1126704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지방정부는 환경정책 목표를 지역주민의 만족도를 극대화하는 수준에서 설정할까</a:t>
            </a:r>
            <a:r>
              <a:rPr lang="en-US" altLang="ko-KR" sz="160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아래와 같은 이유로 </a:t>
            </a:r>
            <a:r>
              <a:rPr lang="en-US" altLang="ko-KR" sz="1600" dirty="0"/>
              <a:t>‘</a:t>
            </a:r>
            <a:r>
              <a:rPr lang="ko-KR" altLang="en-US" sz="1600" dirty="0"/>
              <a:t>그렇지 못한</a:t>
            </a:r>
            <a:r>
              <a:rPr lang="en-US" altLang="ko-KR" sz="1600" dirty="0"/>
              <a:t> </a:t>
            </a:r>
            <a:r>
              <a:rPr lang="ko-KR" altLang="en-US" sz="1600" dirty="0"/>
              <a:t>경우</a:t>
            </a:r>
            <a:r>
              <a:rPr lang="en-US" altLang="ko-KR" sz="1600" dirty="0"/>
              <a:t>’</a:t>
            </a:r>
            <a:r>
              <a:rPr lang="ko-KR" altLang="en-US" sz="1600" dirty="0"/>
              <a:t>가 존재한다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자본이나 산업시설의 유치와 관련하여</a:t>
            </a:r>
            <a:r>
              <a:rPr lang="en-US" altLang="ko-KR" sz="1600" dirty="0"/>
              <a:t>, </a:t>
            </a:r>
            <a:r>
              <a:rPr lang="ko-KR" altLang="en-US" sz="1600" dirty="0"/>
              <a:t>지방정부 간에 경쟁이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각 지방정부는 독자적인 정책을 시행할 권리를 가지므로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경제정책</a:t>
            </a:r>
            <a:r>
              <a:rPr lang="en-US" altLang="ko-KR" sz="1600" dirty="0"/>
              <a:t> </a:t>
            </a:r>
            <a:r>
              <a:rPr lang="ko-KR" altLang="en-US" sz="1600" dirty="0"/>
              <a:t>및 조세정책을 각자 도입하게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때</a:t>
            </a:r>
            <a:r>
              <a:rPr lang="en-US" altLang="ko-KR" sz="1600" dirty="0"/>
              <a:t> </a:t>
            </a:r>
            <a:r>
              <a:rPr lang="ko-KR" altLang="en-US" sz="1600" dirty="0"/>
              <a:t>기업은 지역의 입지 특성과 각종 규제를 살펴보고 유리한 지역에 입지하게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지방정부 입장에서는 자연환경 보존도 중요하지만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자본과 산업시설 유치를 통해 지역경제 활성화 및 조세를 거두는 것도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지방정부는 기업의 유치를 둘러싸고 일종의 경쟁을 하게 되어</a:t>
            </a:r>
            <a:r>
              <a:rPr lang="en-US" altLang="ko-KR" sz="1600" dirty="0"/>
              <a:t>, </a:t>
            </a:r>
            <a:r>
              <a:rPr lang="ko-KR" altLang="en-US" sz="1600" dirty="0"/>
              <a:t>약한 오염규제를 사용할 유인이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Oates and Schwab (1988)</a:t>
            </a:r>
            <a:r>
              <a:rPr lang="ko-KR" altLang="en-US" sz="1600" dirty="0"/>
              <a:t>은 앞서 설명한 조세경쟁에도 불구하고 지방정부 역시 효율적인 경제 및 환경정책을 시행할 수 있음을 설명하였다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특정 조건을 만족하면</a:t>
            </a:r>
            <a:r>
              <a:rPr lang="en-US" altLang="ko-KR" sz="1600" dirty="0"/>
              <a:t>, </a:t>
            </a:r>
            <a:r>
              <a:rPr lang="ko-KR" altLang="en-US" sz="1600" dirty="0"/>
              <a:t>지방정부는 지역주민에게 돌아가는 경제활동의 이득과 환경오염으로 인한 피해를 모두 고려하지 않을 이유가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따라서 국가 전체 순편익과 배치되는 행동을 할 유인이 없음을 밝혀 내었다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2168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9064-418C-46D9-752A-7DDD606A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63C92-4A93-5670-FD14-01B8F327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지방자치단체 오염도기준의 적합성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1EAA15-56A3-92A3-85D1-1B9CB56D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26A91-36EC-3A8E-9745-D68F1E240743}"/>
              </a:ext>
            </a:extLst>
          </p:cNvPr>
          <p:cNvSpPr txBox="1"/>
          <p:nvPr/>
        </p:nvSpPr>
        <p:spPr>
          <a:xfrm>
            <a:off x="288790" y="958844"/>
            <a:ext cx="1126704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하지만 위의 </a:t>
            </a:r>
            <a:r>
              <a:rPr lang="en-US" altLang="ko-KR" sz="1600" dirty="0"/>
              <a:t>Oates and Schwab (1988)</a:t>
            </a:r>
            <a:r>
              <a:rPr lang="ko-KR" altLang="en-US" sz="1600" dirty="0"/>
              <a:t>의 결론은 매우 강한 몇가지 조건 하에서만 달성하는데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그 조건이 위배되는 경우는 아래와 같다</a:t>
            </a:r>
            <a:r>
              <a:rPr lang="en-US" altLang="ko-KR" sz="1600" dirty="0"/>
              <a:t>. </a:t>
            </a:r>
            <a:r>
              <a:rPr lang="ko-KR" altLang="en-US" sz="1600" dirty="0"/>
              <a:t>따라서 아래와 같은 경우에 해당한다면 </a:t>
            </a:r>
            <a:r>
              <a:rPr lang="en-US" altLang="ko-KR" sz="1600" dirty="0"/>
              <a:t>Oates and Schwab (1988)</a:t>
            </a:r>
            <a:r>
              <a:rPr lang="ko-KR" altLang="en-US" sz="1600" dirty="0"/>
              <a:t>의 논리조차 성립하지 않는다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지역주민의 일부는 임금 소득자라서 지역 자본이 늘어날수록 소득이 높아지는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나머지 주민은 연금 생활자여서 이들의 소득은 자본 유입량과 상관성이 없는 경우이다</a:t>
            </a:r>
            <a:r>
              <a:rPr lang="en-US" altLang="ko-KR" sz="1600" dirty="0"/>
              <a:t>. </a:t>
            </a:r>
            <a:r>
              <a:rPr lang="ko-KR" altLang="en-US" sz="1600" dirty="0"/>
              <a:t>후자의 주민은 단지 지역의 환경오염에만 관심을 갖게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지방정부가 선택할 수 있는 정책 수단에 제한이 있는 경우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지방정부 간 규모의 차이가 커서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지방정부가 마치 독점기업과 같은 영향력을 행사하는 경우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환경오염의 영향력이 지역 내에 머무르지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다른 지역에도 영향을 주어 외부효과가 생기는 경우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지방정부가 어떤 이유로 인해 사회적 최적 수준보다 더 많은 조세를 거두어들이고자 하는 경우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이상의 논의를 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지방정부가 지역적 특성에 따라 </a:t>
            </a:r>
            <a:r>
              <a:rPr lang="ko-KR" altLang="en-US" sz="1600" dirty="0" err="1"/>
              <a:t>차등화된</a:t>
            </a:r>
            <a:r>
              <a:rPr lang="ko-KR" altLang="en-US" sz="1600" dirty="0"/>
              <a:t> 오염규제를 독자적으로 시행하는 것이 중앙정부가 전국적으로 획일화된 규제를 적용하는 것보다 더 효율적이다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이러한 주장은 전체 지역주민의 선호를 정확히 반영하는 정책을 시행할 경우에만 타당하다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47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8185-81E2-86DC-BD05-90F04515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11AAF7-467F-F2D6-268C-361FE7A7E7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D59B7-E994-D549-4CBB-B6D4A2A8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B8756B7-032E-EEEF-52A6-B88F68EC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환경정책의 소득분배 효과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55519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05DC-3770-B9CA-E4BD-F14A59E3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F7EB6-3058-2460-CCFC-45D9BF33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소득분배 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9A0263-748B-277C-4C7C-47604915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14CD5-16A8-A712-1957-2E57848CC2FA}"/>
              </a:ext>
            </a:extLst>
          </p:cNvPr>
          <p:cNvSpPr txBox="1"/>
          <p:nvPr/>
        </p:nvSpPr>
        <p:spPr>
          <a:xfrm>
            <a:off x="288790" y="958844"/>
            <a:ext cx="1126704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지금까지 환경정책에 대한 논의는 정책의 효율성에 초점을 맞추어 왔으나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순편익이 계층 간에 배분되는 형태가 많은 주목을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환경정책을 통해 얻는 순편익이 계층 간 불평등을 심화 시킨다면 정책이 도입되기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여기서 계층이란 지역별</a:t>
            </a:r>
            <a:r>
              <a:rPr lang="en-US" altLang="ko-KR" sz="1600" dirty="0"/>
              <a:t>, </a:t>
            </a:r>
            <a:r>
              <a:rPr lang="ko-KR" altLang="en-US" sz="1600" dirty="0"/>
              <a:t>소득별</a:t>
            </a:r>
            <a:r>
              <a:rPr lang="en-US" altLang="ko-KR" sz="1600" dirty="0"/>
              <a:t>, </a:t>
            </a:r>
            <a:r>
              <a:rPr lang="ko-KR" altLang="en-US" sz="1600" dirty="0"/>
              <a:t>산업별 등 다양한 측면을 검토해보는 것이 바람직하지만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가장 중요한 계층 구분은 소득에 따른 구분이다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 편익의 분배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환경정책의 편익은 대체로 고소득층에게 더 많은 혜택을 주고 있는 경향이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많은 종류의 환경정책이 오염산업이 위치할 수 있는 지역을 한정하므로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깨끗한 곳은 더 깨끗하게</a:t>
            </a:r>
            <a:r>
              <a:rPr lang="en-US" altLang="ko-KR" sz="1600" spc="-50" dirty="0"/>
              <a:t>‘, ‘</a:t>
            </a:r>
            <a:r>
              <a:rPr lang="ko-KR" altLang="en-US" sz="1600" spc="-50" dirty="0"/>
              <a:t>오염된 곳은 더 오염되게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만드는 경향이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상대적으로 좋은 환경에 거주하는 고소득층의 편익을 더 높여주는 경향이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</a:t>
            </a:r>
            <a:r>
              <a:rPr lang="en-US" altLang="ko-KR" sz="1600" spc="-50" dirty="0"/>
              <a:t>(Section1) </a:t>
            </a:r>
            <a:r>
              <a:rPr lang="ko-KR" altLang="en-US" sz="1600" spc="-50" dirty="0"/>
              <a:t>살펴보았듯이 고소득층일수록 환경재를 원하는 정도가 더 크기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정책의 결과가 고소득층의 만족도를 더 높여줄 가능성이 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환경정책의 비용이 소득 계층별로 어떻게 할당되는지 관심을 기울일 필요가 있다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31102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087B-DF2D-FAA7-B0A5-8D810A60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F8B91-6BC0-117A-6F98-0507D707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편익의 분배 </a:t>
            </a:r>
            <a:r>
              <a:rPr lang="en-US" altLang="ko-KR" dirty="0"/>
              <a:t>(</a:t>
            </a:r>
            <a:r>
              <a:rPr lang="ko-KR" altLang="en-US" dirty="0"/>
              <a:t>전기차 보조금 효과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08640-1A61-0ACA-1732-D570B1BE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A135B0-0FC3-62E0-F2B5-ED3FC2AC3AB9}"/>
              </a:ext>
            </a:extLst>
          </p:cNvPr>
          <p:cNvGrpSpPr/>
          <p:nvPr/>
        </p:nvGrpSpPr>
        <p:grpSpPr>
          <a:xfrm>
            <a:off x="5774086" y="3069296"/>
            <a:ext cx="2882234" cy="3503366"/>
            <a:chOff x="9007235" y="2929226"/>
            <a:chExt cx="2961735" cy="3600000"/>
          </a:xfrm>
        </p:grpSpPr>
        <p:pic>
          <p:nvPicPr>
            <p:cNvPr id="6" name="그림 5" descr="지도, 세계, 지구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F8C5FB0-32CB-C1E1-631E-B3AA45BE9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268"/>
            <a:stretch>
              <a:fillRect/>
            </a:stretch>
          </p:blipFill>
          <p:spPr>
            <a:xfrm>
              <a:off x="9007235" y="2929226"/>
              <a:ext cx="2961735" cy="36000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55DFFD0-810F-C7A8-4E7C-EAA49466E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69817" y="5119798"/>
              <a:ext cx="599153" cy="1136263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61990E4-7D2D-3152-967B-01C7E0A8659F}"/>
              </a:ext>
            </a:extLst>
          </p:cNvPr>
          <p:cNvGrpSpPr/>
          <p:nvPr/>
        </p:nvGrpSpPr>
        <p:grpSpPr>
          <a:xfrm>
            <a:off x="2915528" y="3069297"/>
            <a:ext cx="2711378" cy="3503364"/>
            <a:chOff x="6151033" y="2929226"/>
            <a:chExt cx="2786168" cy="3600000"/>
          </a:xfrm>
        </p:grpSpPr>
        <p:pic>
          <p:nvPicPr>
            <p:cNvPr id="5" name="그림 4" descr="지구, 우주, 세계, 스크린샷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D5D9493-38E8-6F6B-580F-09DFE474A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13290"/>
            <a:stretch>
              <a:fillRect/>
            </a:stretch>
          </p:blipFill>
          <p:spPr>
            <a:xfrm>
              <a:off x="6151033" y="2929226"/>
              <a:ext cx="2716133" cy="360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9F879E3A-80BA-428F-87BD-E1E4433FD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64777" y="4978372"/>
              <a:ext cx="381616" cy="1277689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6A66F-E229-CEA7-C55C-36CD66780847}"/>
                </a:ext>
              </a:extLst>
            </p:cNvPr>
            <p:cNvSpPr/>
            <p:nvPr/>
          </p:nvSpPr>
          <p:spPr>
            <a:xfrm>
              <a:off x="8022801" y="6339840"/>
              <a:ext cx="914400" cy="185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199BB26-0893-7B28-8240-735EFA4820BE}"/>
              </a:ext>
            </a:extLst>
          </p:cNvPr>
          <p:cNvSpPr txBox="1"/>
          <p:nvPr/>
        </p:nvSpPr>
        <p:spPr>
          <a:xfrm>
            <a:off x="288790" y="775964"/>
            <a:ext cx="1126704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전기자동차의 보급 편익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전기차는 내연기관차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비해 오염물질 배출량이 적어 많은 국가에서 구매 보조금을 주고 전기요금과 충전시설을 지원하고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전기차는 전기 소비를 늘려 추가 오염을 유발하기도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오염물질로 보면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배출은 상대적으로 적지만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전력발전 과정에서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PM2.5 </a:t>
            </a:r>
            <a:r>
              <a:rPr lang="ko-KR" altLang="en-US" sz="1600" spc="-50" dirty="0"/>
              <a:t>배출이 많은 것으로 알려져 있다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중요한 차이는 내연기관차는 자동차가 운행되는 도시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인구 밀집 지역의 오염도를 높인다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충전을 위해 돌아가는 발전시설은 대부분 도시에서 멀리 떨어진 곳에 위치해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705FF-0669-5BFB-CD61-52C4E69BB7D7}"/>
              </a:ext>
            </a:extLst>
          </p:cNvPr>
          <p:cNvSpPr txBox="1"/>
          <p:nvPr/>
        </p:nvSpPr>
        <p:spPr>
          <a:xfrm>
            <a:off x="3758976" y="3490360"/>
            <a:ext cx="955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발전현황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FC9777-D67C-361E-FA05-484491CAECB5}"/>
              </a:ext>
            </a:extLst>
          </p:cNvPr>
          <p:cNvSpPr txBox="1"/>
          <p:nvPr/>
        </p:nvSpPr>
        <p:spPr>
          <a:xfrm>
            <a:off x="6237596" y="3490360"/>
            <a:ext cx="21545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전기차의 전력수요 현황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B5138-5CCB-B39C-9161-E0325F806BAE}"/>
              </a:ext>
            </a:extLst>
          </p:cNvPr>
          <p:cNvSpPr txBox="1"/>
          <p:nvPr/>
        </p:nvSpPr>
        <p:spPr>
          <a:xfrm>
            <a:off x="7314878" y="6301247"/>
            <a:ext cx="1077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/>
              <a:t>Jeon et al. (2025)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1955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D6F8-D0E0-20D1-8C22-357F37CF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0A50A-6C7F-A737-E88A-F0C53EC6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비용과 소득분배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D4C30-2AFC-D6BE-EEEB-1FF79C3B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06E3-551F-71F3-BDD9-921487092A68}"/>
              </a:ext>
            </a:extLst>
          </p:cNvPr>
          <p:cNvSpPr txBox="1"/>
          <p:nvPr/>
        </p:nvSpPr>
        <p:spPr>
          <a:xfrm>
            <a:off x="288790" y="775964"/>
            <a:ext cx="1126704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비용 분배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환경정책의 비용은 이행비용</a:t>
            </a:r>
            <a:r>
              <a:rPr lang="en-US" altLang="ko-KR" sz="1600" spc="-50" dirty="0"/>
              <a:t>(transitional costs)</a:t>
            </a:r>
            <a:r>
              <a:rPr lang="ko-KR" altLang="en-US" sz="1600" spc="-50" dirty="0"/>
              <a:t>와 지속비용</a:t>
            </a:r>
            <a:r>
              <a:rPr lang="en-US" altLang="ko-KR" sz="1600" spc="-50" dirty="0"/>
              <a:t>(continuing costs)</a:t>
            </a:r>
            <a:r>
              <a:rPr lang="ko-KR" altLang="en-US" sz="1600" spc="-50" dirty="0"/>
              <a:t>으로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이행비용은 현재 환경질에서 다른 수준의 환경질로 변화시키는 과정에서 소요되는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오염물질 배출이 많은 산업일수록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산업이 밀집된 지역일수록 높은 이행비용을 지불해야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고소득층과 저소득층이 어떤 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어떤 지역에 연관되어 있느냐에 의해 소득계층별 환경정책의 영향이 달라진다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개인의 이행비용은 실업률과 관련이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개인이 고용되어 있는 기업이 환경정책 때문에 생산규모를 줄이고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실직하게 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개인이 환경정책 비용을 부담하게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통상적으로 기업은 생산규모를 줄일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일차적으로 비정규직 종업원 수를 먼저 줄이고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전문직 종사자들은 산업별 혹은 지역별로 이동성이 상대적으로 높아 산업구조 조정에 신축적으로 대응이 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지속비용은 목표 수준의 환경질을 달성한 후 이를 계속 유지하기 위해 지출해야 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주로 소비재의 상대가격 변화에 의해 발생한다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정부가 부과금 정책을 사용하면 기업 생산비가 상승하고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소비자가격도 높아진다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결국 그 비용은 소비자에게 전가된다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어느 계층이 주로 사용하는 상품의 가격이 상대적으로 더 </a:t>
            </a:r>
            <a:r>
              <a:rPr lang="ko-KR" altLang="en-US" sz="1600" spc="-50" dirty="0" err="1"/>
              <a:t>상승하느냐에</a:t>
            </a:r>
            <a:r>
              <a:rPr lang="ko-KR" altLang="en-US" sz="1600" spc="-50" dirty="0"/>
              <a:t> 따라 환경정책의 영향이 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468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177A-CF4B-13C8-A1C4-6FA6954A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9910C-1487-3331-D24A-2C40E36D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비용과 소득분배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F13B80-BAC5-17B9-FF96-7148A49D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E9C-4253-80A1-AEBB-2E0A959D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76" y="1204019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9B6D7E-D195-F1B8-926A-1AC22C61D120}"/>
                  </a:ext>
                </a:extLst>
              </p:cNvPr>
              <p:cNvSpPr txBox="1"/>
              <p:nvPr/>
            </p:nvSpPr>
            <p:spPr>
              <a:xfrm>
                <a:off x="11116988" y="3429000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9B6D7E-D195-F1B8-926A-1AC22C61D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988" y="3429000"/>
                <a:ext cx="52745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4E34A0-28F0-46C4-E024-77E475B586FF}"/>
                  </a:ext>
                </a:extLst>
              </p:cNvPr>
              <p:cNvSpPr txBox="1"/>
              <p:nvPr/>
            </p:nvSpPr>
            <p:spPr>
              <a:xfrm>
                <a:off x="11116988" y="4527958"/>
                <a:ext cx="527457" cy="334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pc="-5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b="0" i="0" spc="-5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4E34A0-28F0-46C4-E024-77E475B58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988" y="4527958"/>
                <a:ext cx="527457" cy="334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2A2B44-1B63-A059-73FA-EC362E7A57B7}"/>
              </a:ext>
            </a:extLst>
          </p:cNvPr>
          <p:cNvSpPr txBox="1"/>
          <p:nvPr/>
        </p:nvSpPr>
        <p:spPr>
          <a:xfrm>
            <a:off x="8241154" y="308605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6CAAF-8749-C5E1-AF80-C2F76ED08C2B}"/>
              </a:ext>
            </a:extLst>
          </p:cNvPr>
          <p:cNvSpPr txBox="1"/>
          <p:nvPr/>
        </p:nvSpPr>
        <p:spPr>
          <a:xfrm>
            <a:off x="9109075" y="3285611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7EA7CF-5E3A-80EC-C234-7BC3D8FF909A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45655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예를 들어 오른쪽 그림처럼 제품부과금을 부과하는 경우를 생각해보자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오염을 유발하는 상품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ko-KR" altLang="en-US" sz="1600" spc="-50" dirty="0"/>
                  <a:t>에 대해 제품부과금이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징수되면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부과금이 징수되지 않을 때에 비해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로 상승하게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번째 소득계층의 수요함수가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600" spc="-50" dirty="0"/>
                  <a:t>와 같다면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위와 같이 가격상승 때문에 이 계층 소비량은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에서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로 줄어든다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는 가격이 상승해도 소비자가 여전히 구입하는 양인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에 대한 지불금액이 제품부과금 때문에 상승하여 부담해야 하는 금액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가격상승으로 인해 소비량이 줄어 부담해야 하는 금액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 err="1"/>
                  <a:t>a+b</a:t>
                </a:r>
                <a:r>
                  <a:rPr lang="ko-KR" altLang="en-US" sz="1600" spc="-50" dirty="0"/>
                  <a:t>만큼의 소비자잉여 손실이 발생한다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크기는 소득계층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의 수요의 가격탄력성에 따라 달라짐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만약 제품부과금에도 불구하고 가격이 소폭 상승하거나 수요가 </a:t>
                </a:r>
                <a:r>
                  <a:rPr lang="ko-KR" altLang="en-US" sz="1600" spc="-50" dirty="0" err="1"/>
                  <a:t>비탄력적이면</a:t>
                </a:r>
                <a:r>
                  <a:rPr lang="ko-KR" altLang="en-US" sz="1600" spc="-50" dirty="0"/>
                  <a:t> 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크지 않다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7EA7CF-5E3A-80EC-C234-7BC3D8FF9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4565545"/>
              </a:xfrm>
              <a:prstGeom prst="rect">
                <a:avLst/>
              </a:prstGeom>
              <a:blipFill>
                <a:blip r:embed="rId5"/>
                <a:stretch>
                  <a:fillRect b="-6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48F23EDB-8946-4AF8-6AAF-7ED280A31894}"/>
              </a:ext>
            </a:extLst>
          </p:cNvPr>
          <p:cNvSpPr/>
          <p:nvPr/>
        </p:nvSpPr>
        <p:spPr>
          <a:xfrm>
            <a:off x="10251440" y="2834640"/>
            <a:ext cx="260350" cy="863600"/>
          </a:xfrm>
          <a:prstGeom prst="rightBrac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2B161-360B-F5B5-AA07-18F4675ED2DE}"/>
                  </a:ext>
                </a:extLst>
              </p:cNvPr>
              <p:cNvSpPr txBox="1"/>
              <p:nvPr/>
            </p:nvSpPr>
            <p:spPr>
              <a:xfrm>
                <a:off x="10511790" y="3059668"/>
                <a:ext cx="397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0" b="0" i="0" spc="-5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b="0" i="0" spc="-5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2B161-360B-F5B5-AA07-18F4675ED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790" y="3059668"/>
                <a:ext cx="39751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753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D87AB-6C12-105B-91A1-FF1D17BD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A7158-4A14-F1F1-2BB0-2E38ACDC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비용과 소득분배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8F56B-AB1E-C6BD-1260-B00DF0C0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6E0F30-98ED-CFAB-59F6-B6AB502E1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76" y="1204019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4AC44-D311-09A9-18E5-6998542E4FC1}"/>
                  </a:ext>
                </a:extLst>
              </p:cNvPr>
              <p:cNvSpPr txBox="1"/>
              <p:nvPr/>
            </p:nvSpPr>
            <p:spPr>
              <a:xfrm>
                <a:off x="11116988" y="3429000"/>
                <a:ext cx="5274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4AC44-D311-09A9-18E5-6998542E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988" y="3429000"/>
                <a:ext cx="52745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F0D56-305B-C42B-1FAE-A295469CD9FE}"/>
                  </a:ext>
                </a:extLst>
              </p:cNvPr>
              <p:cNvSpPr txBox="1"/>
              <p:nvPr/>
            </p:nvSpPr>
            <p:spPr>
              <a:xfrm>
                <a:off x="11116988" y="4527958"/>
                <a:ext cx="527457" cy="334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pc="-5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pc="-5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b="0" i="0" spc="-5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F0D56-305B-C42B-1FAE-A295469CD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988" y="4527958"/>
                <a:ext cx="527457" cy="334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5BA2F10-C512-F449-353A-97766A88F3F4}"/>
              </a:ext>
            </a:extLst>
          </p:cNvPr>
          <p:cNvSpPr txBox="1"/>
          <p:nvPr/>
        </p:nvSpPr>
        <p:spPr>
          <a:xfrm>
            <a:off x="8241154" y="308605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F8AED-D8EF-7240-C96F-E33F8E1E4106}"/>
              </a:ext>
            </a:extLst>
          </p:cNvPr>
          <p:cNvSpPr txBox="1"/>
          <p:nvPr/>
        </p:nvSpPr>
        <p:spPr>
          <a:xfrm>
            <a:off x="9109075" y="3285611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F80C82-EBD4-27A1-6FB3-658163B766E0}"/>
                  </a:ext>
                </a:extLst>
              </p:cNvPr>
              <p:cNvSpPr txBox="1"/>
              <p:nvPr/>
            </p:nvSpPr>
            <p:spPr>
              <a:xfrm>
                <a:off x="200704" y="782884"/>
                <a:ext cx="7072551" cy="587378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크기가 무시할 만큼 작다면 계층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가 부담해야 하는 비용은 면적 </a:t>
                </a:r>
                <a:r>
                  <a:rPr lang="en-US" altLang="ko-KR" sz="1600" spc="-50" dirty="0"/>
                  <a:t>a,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와 같다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계층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의 소득이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소득에서 차지하는 이 재화에 지출하는 금액의 비중은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  <m:sup>
                            <m: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600" spc="-50" dirty="0"/>
                  <a:t>번째 계층의 소득에서 부과금이 부과되는 상품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ko-KR" altLang="en-US" sz="1600" spc="-50" dirty="0"/>
                  <a:t>에 대한 지출액이 차지하는 비중을 나타낸다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제품부과금이 부과되는 상품에 대한 지출비중이 어느 계층에서 더 높은지에 따라 정책비용의 계층별 부담률이 결정된다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환경정책 도입으로 인한 소득계층별 영향은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정책으로 인해 상품의 가격 상승이 클수록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영향이 크다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소득에서 상품에 지출하는 금액의 비중이 클수록 영향이 크다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가격변화에 민감한 상품일수록 영향이 크다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F80C82-EBD4-27A1-6FB3-658163B76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4" y="782884"/>
                <a:ext cx="7072551" cy="5873787"/>
              </a:xfrm>
              <a:prstGeom prst="rect">
                <a:avLst/>
              </a:prstGeom>
              <a:blipFill>
                <a:blip r:embed="rId5"/>
                <a:stretch>
                  <a:fillRect b="-3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D7ABD5C6-8632-40EC-32F2-5B2C8A4F2538}"/>
              </a:ext>
            </a:extLst>
          </p:cNvPr>
          <p:cNvSpPr/>
          <p:nvPr/>
        </p:nvSpPr>
        <p:spPr>
          <a:xfrm>
            <a:off x="10251440" y="2834640"/>
            <a:ext cx="260350" cy="863600"/>
          </a:xfrm>
          <a:prstGeom prst="rightBrac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F35096-1A6A-1D36-6297-F2A262DE9541}"/>
                  </a:ext>
                </a:extLst>
              </p:cNvPr>
              <p:cNvSpPr txBox="1"/>
              <p:nvPr/>
            </p:nvSpPr>
            <p:spPr>
              <a:xfrm>
                <a:off x="10511790" y="3059668"/>
                <a:ext cx="397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0" b="0" i="0" spc="-5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b="0" i="0" spc="-5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F35096-1A6A-1D36-6297-F2A262DE9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790" y="3059668"/>
                <a:ext cx="39751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9E00BA-D97E-A5FD-E90A-EAF341E9D06C}"/>
                  </a:ext>
                </a:extLst>
              </p:cNvPr>
              <p:cNvSpPr txBox="1"/>
              <p:nvPr/>
            </p:nvSpPr>
            <p:spPr>
              <a:xfrm>
                <a:off x="2333969" y="2438098"/>
                <a:ext cx="2891111" cy="63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  <m:sup>
                                  <m: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9E00BA-D97E-A5FD-E90A-EAF341E9D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69" y="2438098"/>
                <a:ext cx="2891111" cy="6365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481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E13C-66EF-97DF-214B-71275CD8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EA856-CDC7-0554-8B02-47829845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비용과 소득분배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0B5B3-D46D-B26C-6CC5-35B8F52C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F40DA4-FAC9-0F63-CE66-DA319EA883E5}"/>
              </a:ext>
            </a:extLst>
          </p:cNvPr>
          <p:cNvSpPr txBox="1"/>
          <p:nvPr/>
        </p:nvSpPr>
        <p:spPr>
          <a:xfrm>
            <a:off x="288790" y="872434"/>
            <a:ext cx="1126704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정부세입의 활용문제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논의에 추가하여 정부가 얻게 되는 세입을 어떻게 활용하는지도 소득별로 다른 영향을 미칠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배출부과금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제품부과금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배출권의 유상경매 등의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 수입이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이중편익 </a:t>
            </a:r>
            <a:r>
              <a:rPr lang="en-US" altLang="ko-KR" sz="1600" spc="-50" dirty="0"/>
              <a:t>(Ch.7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가설에 따라 여타 상품의 조세를 삭감하면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조세삭감의 효과가 소득계층별로 어떻게 돌아가는지도 파악해야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세입을 소득계층별로 차등하여 배분할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탄소세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)  </a:t>
            </a:r>
            <a:r>
              <a:rPr lang="ko-KR" altLang="en-US" sz="1600" spc="-50" dirty="0"/>
              <a:t>탄소세는 정부 수입이 발생하지만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무상할당의 경우 정부 수입이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무상할당을 전제로 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탄소세보다는 정책 수용성이 높은 것이 사실이다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탄소세의 경우 정부 수입을 국민에게 되돌려주되 저소득층에게 더 많이 돌려주거나 복지정책에 활용하면 소득분배 개선에 기여할 수 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4545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13160</TotalTime>
  <Words>3679</Words>
  <Application>Microsoft Office PowerPoint</Application>
  <PresentationFormat>와이드스크린</PresentationFormat>
  <Paragraphs>327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10  환경정책의 정치경제학: 지방자치와 소득분배</vt:lpstr>
      <vt:lpstr>Section 1. 환경정책의 계층별 영향</vt:lpstr>
      <vt:lpstr>환경정책의 효율성과 형평성</vt:lpstr>
      <vt:lpstr>환경정책의 효율성과 형평성</vt:lpstr>
      <vt:lpstr>환경정책의 효율성과 형평성</vt:lpstr>
      <vt:lpstr>환경정책의 효율성과 형평성</vt:lpstr>
      <vt:lpstr>Section 2. 환경정책의 목표와 수단 선택</vt:lpstr>
      <vt:lpstr>환경정책의 목표와 수단 선택</vt:lpstr>
      <vt:lpstr>다수결 원칙과 정책선택</vt:lpstr>
      <vt:lpstr>다수결 원칙과 정책선택</vt:lpstr>
      <vt:lpstr>다수결 원칙과 정책선택</vt:lpstr>
      <vt:lpstr>이익집단과 정책선택</vt:lpstr>
      <vt:lpstr>이익집단과 정책선택</vt:lpstr>
      <vt:lpstr>이익집단과 정책선택</vt:lpstr>
      <vt:lpstr>이익집단과 정책선택</vt:lpstr>
      <vt:lpstr>이익집단과 정책선택</vt:lpstr>
      <vt:lpstr>Section 3. 중앙정부와 지방자치단체의 환경정책</vt:lpstr>
      <vt:lpstr>중앙정부와 지방정부의 환경정책</vt:lpstr>
      <vt:lpstr>지역단위의 오염도 설정</vt:lpstr>
      <vt:lpstr>지방자치단체 오염도기준의 적합성</vt:lpstr>
      <vt:lpstr>지방자치단체 오염도기준의 적합성</vt:lpstr>
      <vt:lpstr>Section 4. 환경정책의 소득분배 효과</vt:lpstr>
      <vt:lpstr>환경정책의 소득분배 효과</vt:lpstr>
      <vt:lpstr>환경정책 편익의 분배 (전기차 보조금 효과)</vt:lpstr>
      <vt:lpstr>환경정책 비용과 소득분배</vt:lpstr>
      <vt:lpstr>환경정책 비용과 소득분배</vt:lpstr>
      <vt:lpstr>환경정책 비용과 소득분배</vt:lpstr>
      <vt:lpstr>환경정책 비용과 소득분배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479</cp:revision>
  <dcterms:created xsi:type="dcterms:W3CDTF">2025-07-05T05:15:23Z</dcterms:created>
  <dcterms:modified xsi:type="dcterms:W3CDTF">2025-11-09T21:33:31Z</dcterms:modified>
</cp:coreProperties>
</file>