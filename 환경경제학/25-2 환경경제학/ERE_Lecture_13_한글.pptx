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4"/>
  </p:notesMasterIdLst>
  <p:sldIdLst>
    <p:sldId id="375" r:id="rId2"/>
    <p:sldId id="405" r:id="rId3"/>
    <p:sldId id="550" r:id="rId4"/>
    <p:sldId id="654" r:id="rId5"/>
    <p:sldId id="655" r:id="rId6"/>
    <p:sldId id="657" r:id="rId7"/>
    <p:sldId id="656" r:id="rId8"/>
    <p:sldId id="658" r:id="rId9"/>
    <p:sldId id="659" r:id="rId10"/>
    <p:sldId id="660" r:id="rId11"/>
    <p:sldId id="661" r:id="rId12"/>
    <p:sldId id="662" r:id="rId13"/>
    <p:sldId id="663" r:id="rId14"/>
    <p:sldId id="664" r:id="rId15"/>
    <p:sldId id="665" r:id="rId16"/>
    <p:sldId id="666" r:id="rId17"/>
    <p:sldId id="667" r:id="rId18"/>
    <p:sldId id="668" r:id="rId19"/>
    <p:sldId id="669" r:id="rId20"/>
    <p:sldId id="670" r:id="rId21"/>
    <p:sldId id="671" r:id="rId22"/>
    <p:sldId id="364" r:id="rId2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02FF"/>
    <a:srgbClr val="0000FF"/>
    <a:srgbClr val="070B12"/>
    <a:srgbClr val="E9E9E9"/>
    <a:srgbClr val="FFFFFF"/>
    <a:srgbClr val="E15F5F"/>
    <a:srgbClr val="F8F7FC"/>
    <a:srgbClr val="2D72BE"/>
    <a:srgbClr val="0047A0"/>
    <a:srgbClr val="E360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59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8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E00EF-AEA4-43E2-9451-8F9C59A39471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83C86-FCDD-4CD4-A668-4DF0BEDE3E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83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B1E38-39C7-48C4-086A-B6EF68CA5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913856-496C-B1A2-D9C8-F0B2113C5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845EA-812B-B94C-5F91-4538C5B0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2C56F-BD27-4999-9E6D-D4EACE3DA9F4}" type="datetime1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27CC3D-4E75-B1F8-2261-C9EEA1AA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1B240-7572-2884-ADF8-CC4D01D4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6E21D-82E6-C9AF-A630-9F90B754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94455-1CD5-40DD-A267-639381E29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68D34-B903-2F96-71AD-0A335A08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B83F9E-22C9-45CA-9E85-070F1D3EF530}" type="datetime1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36989-7205-0872-8F94-F68B3387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0E82D4-4058-837B-0186-DF1F17F3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3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35CB0-2E64-7E17-7F11-3E336F1A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D50A24-08A9-B9E0-2E86-A56A1D9E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B33A9-AC09-8991-549A-226E174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278F45-FB3C-4C4D-B89A-7BC3F5F229F6}" type="datetime1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77B79-B6C6-4181-A645-4655A0A5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EF39A-AD25-8789-D43C-8EA119BB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5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B2B1356-24BE-84BC-4DC7-3DE366037E84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930236-B5C8-D9A4-EA14-40915FCDBA70}"/>
              </a:ext>
            </a:extLst>
          </p:cNvPr>
          <p:cNvSpPr/>
          <p:nvPr userDrawn="1"/>
        </p:nvSpPr>
        <p:spPr>
          <a:xfrm>
            <a:off x="1037626" y="520066"/>
            <a:ext cx="635786" cy="157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74F9DA-878E-E86E-075B-62CFB99F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DAC3C-35A6-415C-9F03-738A6AC328B1}" type="datetime1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EE000A-EE22-ABA9-FA89-DA9EA0B9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EA1F0-774A-3104-2C40-09158642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F494D8-0B43-4288-8718-B3CEFA70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65ECDD4-C7AB-0780-5C56-AF0432547CDE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D730A23-15D1-AC6C-BF3C-193DD65B5ED2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A8DF95E-63D4-C269-1A9E-58D5FB253590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92BD15F-E509-254C-B07E-B9BE6F1576B5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" name="Freeform 9">
            <a:extLst>
              <a:ext uri="{FF2B5EF4-FFF2-40B4-BE49-F238E27FC236}">
                <a16:creationId xmlns:a16="http://schemas.microsoft.com/office/drawing/2014/main" id="{47220B64-BDC8-944A-0E1A-C71EB0647CDA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제목 개체 틀 1">
            <a:extLst>
              <a:ext uri="{FF2B5EF4-FFF2-40B4-BE49-F238E27FC236}">
                <a16:creationId xmlns:a16="http://schemas.microsoft.com/office/drawing/2014/main" id="{8C980597-6F00-BBCB-9829-8C1C97B2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4099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EA165-3F0A-880B-9371-6CA4FC66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F3832-D575-B192-C9E5-3F5F5AF82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A0875B-5012-C4D4-34DD-64942B1E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E6234D-EC06-5E2E-B205-92424C15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7A0DF1-AEE6-4B0D-89D2-351E7B3EF65C}" type="datetime1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6D4A64-BD06-1C65-8FEE-8AB7FC5A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EC033B-08C1-51C2-514D-21FE02EF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9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C80B3-2773-0186-7384-F0AD5CD4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10DF1-53D0-7068-0730-1D1CCBC68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A78ACE-35BC-CE88-0216-E9051C73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81F8D8-0F51-47D0-BB1F-D8D9CC14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14E3C8-8748-5265-4FD0-09D275710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C317E0-79A6-DDA2-6311-F5CA96E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93B8C9-630F-4D57-944D-04FD37CECCD3}" type="datetime1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4B9B9B-DE29-812B-D879-30570E55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1069FA-9B24-53DC-4E72-47AB792B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18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BEAC6-B210-057A-EDB2-6820333F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77D0B3-A47C-9147-4B3A-92CAB4BE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86165A-AC43-4902-9541-874ECD310BA3}" type="datetime1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131659-D086-7B2B-7BDA-2B7B4CA5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A19E18-62FF-7A30-2F06-02E7580C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50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71917-1F20-572F-E94C-A526C068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D9E8E-1032-5491-08E1-2F612B3E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900DF7-AD67-D88E-48D9-88D790EC2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CD9FBF-F3FA-7658-7936-0D1A2FF0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6EE6D-2B0E-43A9-87A2-7354CDB998F4}" type="datetime1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A39D0C-3288-26C9-1E44-0431F489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CA71F-AE7D-1B55-21A0-1A87DCD4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9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D7F17-3594-D182-A5C0-437C03D8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4DF7D6-CE8D-00BB-75E2-3478943B7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C66BC9-C6B7-805A-D64F-129BC2727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1EE813-70EE-6511-B077-F5126220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C5944E-0BC8-4FAA-9F94-6B4B05834E10}" type="datetime1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1B9F22-5574-7ED4-D06B-C97AF0BD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FEAF6C-BEDB-9F84-DFBC-95DABECC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0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EE7C2-4CFD-C1E6-3632-13EC3CAC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9B1155-E241-263B-AF79-491CBDDA3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A664C-62FC-AE91-4AEB-8FAEB493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F4A19C-72C8-45CA-8E3F-68A7FA345D6C}" type="datetime1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205B3-A98D-6C78-D6F4-825DDC6B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3C234-845E-B13B-0C99-9B2EEA17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62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451ECF-85EC-C955-3B84-54453192B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7F4FAD-DE4B-C65A-B284-2FC60889F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65CBDD-200F-9431-F587-79B0E472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A175B2-010B-4341-954C-5F8F5C70B124}" type="datetime1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0C0058-AB3B-AC27-3514-3ABE595D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3A7CF-BE0B-8336-2308-D2D59240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47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4470C-5E69-55C1-270F-9A78C936D5E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6D54C95-5DE1-BB83-7600-92BCFDA2E6BA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D9701EA-CA45-03D3-8629-CACB976B13C7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1659905-6BB4-F77A-C4B2-CD01EE50E9A3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6276BA2-601C-3FB1-B544-5F1FB3A4C59F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E75D259-5225-4C37-ABC2-39DA372499A1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6514361D-8169-AF24-F568-2B5FC5AD42A2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AD4066BA-D2BC-37E9-976A-8204B8EF9F62}"/>
              </a:ext>
            </a:extLst>
          </p:cNvPr>
          <p:cNvSpPr/>
          <p:nvPr userDrawn="1"/>
        </p:nvSpPr>
        <p:spPr>
          <a:xfrm>
            <a:off x="1235851" y="667970"/>
            <a:ext cx="211949" cy="182715"/>
          </a:xfrm>
          <a:prstGeom prst="triangle">
            <a:avLst/>
          </a:prstGeom>
          <a:solidFill>
            <a:schemeClr val="bg1"/>
          </a:solidFill>
          <a:ln w="47625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1DE6459-0E1B-62B4-B07B-EB5555E53206}"/>
              </a:ext>
            </a:extLst>
          </p:cNvPr>
          <p:cNvSpPr/>
          <p:nvPr userDrawn="1"/>
        </p:nvSpPr>
        <p:spPr>
          <a:xfrm>
            <a:off x="209550" y="778044"/>
            <a:ext cx="11756306" cy="5832862"/>
          </a:xfrm>
          <a:prstGeom prst="roundRect">
            <a:avLst>
              <a:gd name="adj" fmla="val 1861"/>
            </a:avLst>
          </a:prstGeom>
          <a:solidFill>
            <a:schemeClr val="bg1"/>
          </a:solidFill>
          <a:ln w="92075" cap="rnd">
            <a:noFill/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68F272-B293-6379-50B0-01D6BCAC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75170-525C-B88C-2549-1515AC8C0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559" y="1193822"/>
            <a:ext cx="10754289" cy="5001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6C6AE6-3A65-C287-7112-FF1BCC98D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250" y="6611900"/>
            <a:ext cx="2743200" cy="239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109C872D-39A9-4065-8BF3-6A613116E2A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87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200" i="1" kern="1200">
          <a:solidFill>
            <a:schemeClr val="tx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59EC3-FDAD-5008-2635-A7E4EDD28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EE82B6-2F0F-6FB8-F71F-495B423AB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950" y="942279"/>
            <a:ext cx="10452100" cy="2912171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ko-KR" altLang="en-US" sz="6600" b="1" i="0" dirty="0"/>
              <a:t>환경경제학</a:t>
            </a:r>
            <a:endParaRPr lang="ko-KR" altLang="en-US" i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3B6547-3B8C-6CD4-91B3-9723EB5A4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83665"/>
            <a:ext cx="9144000" cy="935960"/>
          </a:xfrm>
        </p:spPr>
        <p:txBody>
          <a:bodyPr>
            <a:normAutofit/>
          </a:bodyPr>
          <a:lstStyle/>
          <a:p>
            <a:endParaRPr lang="en-US" altLang="ko-KR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 sz="2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Lecture - 13</a:t>
            </a:r>
            <a:endParaRPr lang="ko-KR" altLang="en-US" sz="17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5F631-FC1F-A584-173C-4EA4C43A874E}"/>
              </a:ext>
            </a:extLst>
          </p:cNvPr>
          <p:cNvSpPr txBox="1"/>
          <p:nvPr/>
        </p:nvSpPr>
        <p:spPr>
          <a:xfrm>
            <a:off x="2200275" y="5144158"/>
            <a:ext cx="7791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Seungho Jeon</a:t>
            </a:r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pic>
        <p:nvPicPr>
          <p:cNvPr id="7" name="그림 6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66D5C0-E865-7613-63AD-5D846835D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325" y="6408811"/>
            <a:ext cx="1461138" cy="31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0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D0659-CAFD-F53E-5E96-AE42A73FE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C3F3A0-36ED-43FB-2D13-6CAA30B083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D19C74-D6C9-BA18-D11B-15A0CD9AF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B58D8A77-45B6-C35A-AFD8-829E4435C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78940"/>
            <a:ext cx="11007224" cy="193942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Chapter 18</a:t>
            </a:r>
            <a:br>
              <a:rPr lang="en-US" altLang="ko-KR" sz="4000" b="1" i="0" spc="150" dirty="0"/>
            </a:br>
            <a:br>
              <a:rPr lang="en-US" altLang="ko-KR" sz="4000" b="1" i="0" spc="150" dirty="0"/>
            </a:br>
            <a:r>
              <a:rPr lang="ko-KR" altLang="en-US" sz="4000" b="1" i="0" spc="150" dirty="0"/>
              <a:t>비용분석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655123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5B55B-4FE0-4C0D-6AE9-E8B03A536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468326-0C4F-70CF-91C2-93E0C5D03BA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9E45BD-0D56-9ECF-89E6-4AF42F45B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28B965C-181E-543B-9F2C-6FEAEBB87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1. </a:t>
            </a:r>
            <a:r>
              <a:rPr lang="ko-KR" altLang="en-US" sz="4000" b="1" i="0" spc="150" dirty="0"/>
              <a:t>환경정책비용의 종류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957073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FF56B9-FEC2-FADD-BA53-2332117D4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환경정책 비용의 종류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88FECB-D813-180C-990B-E3DD90626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EA1B2F-893D-543E-DBA0-90281BE368CF}"/>
              </a:ext>
            </a:extLst>
          </p:cNvPr>
          <p:cNvSpPr txBox="1"/>
          <p:nvPr/>
        </p:nvSpPr>
        <p:spPr>
          <a:xfrm>
            <a:off x="678872" y="958844"/>
            <a:ext cx="11095077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총비용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직접비용과 간접비용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Ch.3 </a:t>
            </a:r>
            <a:r>
              <a:rPr lang="ko-KR" altLang="en-US" sz="1600" spc="-50" dirty="0"/>
              <a:t>에서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배웠듯이 경제학에서 비용은 기회비용을 의미하고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환경정책의 비용 또한 마찬가지로 기회비용 측면에서 접근해야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환경정책이 시행되면서 오염원이 지불하는 저감비용이나 정부의 감시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감독비용과 같은 직접비용 뿐 아니라 환경정책이 유발한 기타 경제적 효과로 인해 발생하는 모든 간접비용까지도 환경정책의 비용에 포함되어야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정부가 대기오염물질 배출량을 줄이기 위해 화력발전소 탈황시설 설치를 요구한다고 해보자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직접비용으로는 발전소가 지출하는 설비 설치비와 운영비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그리고 정부가 발전소를 감시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감독하기 위해 지출하는 비용이 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간접비용으로는 탈황시설 설치를 위해 비용을 지불했으므로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다른 용도의 설비에 투자할 여력이 감소하고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그로 인해 발전소의 생산성이 떨어질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반면 탈황시설 설치가 의무화되면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 설비를 생산하는 산업이 커지고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국민경제의 성장으로 이어질 수도 있다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이러한 부</a:t>
            </a:r>
            <a:r>
              <a:rPr lang="en-US" altLang="ko-KR" sz="1600" spc="-50" dirty="0"/>
              <a:t>(-)</a:t>
            </a:r>
            <a:r>
              <a:rPr lang="ko-KR" altLang="en-US" sz="1600" spc="-50" dirty="0"/>
              <a:t>의 간접비용 역시 비용평가에 포함되어야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환경정책비용 중 특히 간접비용을 적절히 반영하는 것은 굉장히 어려운 일이다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23569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13E9B-C978-39D6-6468-FBA884FFB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5D3973-E930-7ACC-8B26-5ECA81011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환경정책 비용의 종류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58D028-CCDE-E48D-6EEB-E4788BE46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B46D7A-E551-69B3-738F-390A7AFA5A44}"/>
              </a:ext>
            </a:extLst>
          </p:cNvPr>
          <p:cNvSpPr txBox="1"/>
          <p:nvPr/>
        </p:nvSpPr>
        <p:spPr>
          <a:xfrm>
            <a:off x="678872" y="958844"/>
            <a:ext cx="11095077" cy="26300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직접비용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설치비와 운영비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직접비용은 몇가지 기준을 통해 </a:t>
            </a:r>
            <a:r>
              <a:rPr lang="ko-KR" altLang="en-US" sz="1600" spc="-50" dirty="0" err="1"/>
              <a:t>재분류하는데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우선 설치비와 운영비로 나눌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설치비는 오염물질 저감을 위해 설치되는 공장이나 설비와 같은 자본재에 대해 지출하는 비용이다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일종의 고정비용으로서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단기적으로는 고정되어 있어서 기업의 생산량이나 오염물질 배출량이 변하여도 설치비 자체는 변하지 않는다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운영비는 이미 설치된 오염저감시설을 작동하고 유지하는 비용이다</a:t>
            </a:r>
            <a:r>
              <a:rPr lang="en-US" altLang="ko-KR" sz="1600" spc="-50" dirty="0"/>
              <a:t>. 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운영비는 가변비용으로서 생산량이나 </a:t>
            </a:r>
            <a:r>
              <a:rPr lang="ko-KR" altLang="en-US" sz="1600" spc="-50" dirty="0" err="1"/>
              <a:t>저감량에</a:t>
            </a:r>
            <a:r>
              <a:rPr lang="ko-KR" altLang="en-US" sz="1600" spc="-50" dirty="0"/>
              <a:t> 따라 달라진다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622283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4FBBA-37CB-3E10-3F24-13723BAA6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6C16279-24D7-CC46-5B7D-27AEFB5B1FA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A38738-AF9D-1E61-44B8-358A97AC4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E60737C-5F79-9F8E-442F-F6E9FC75A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2. </a:t>
            </a:r>
            <a:r>
              <a:rPr lang="ko-KR" altLang="en-US" sz="4000" b="1" i="0" spc="150" dirty="0"/>
              <a:t>직접비용의 계측방법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3483550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7827F94-FD58-3006-83F0-105C55C3461A}"/>
              </a:ext>
            </a:extLst>
          </p:cNvPr>
          <p:cNvSpPr txBox="1"/>
          <p:nvPr/>
        </p:nvSpPr>
        <p:spPr>
          <a:xfrm>
            <a:off x="678872" y="958844"/>
            <a:ext cx="11095077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환경규제의 직접비용을 계측하는 방법은 공학적 방법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설문조사법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생산경제학 모형 등 으로 나눌 수 있다</a:t>
            </a:r>
            <a:r>
              <a:rPr lang="en-US" altLang="ko-KR" sz="1600" spc="-50" dirty="0"/>
              <a:t>.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공학적 방법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환경규제의 비용 계산을 위해 흔히 사용되는 방법으로서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환경기술관련 전문가들의 지식에 의존하는 방법이다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정부가의 목표수준을 달성하기 위해 사용할 수 있는 여러 방법을 실행하는 데 필요한 모든 장비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노동력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투입물의 사용량을 계산한다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목표수준을 달성할 수 있는 투입물들의 조합을 선택하여 소요되는 설치비와 운영비를 계산한다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목표수준의 달성을 위한 설치비와 운영비의 합이 가장 적은 조합을 찾아내고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각 오염원의 최소 저감비용을 모두 더하여 전체 저감비용을 계산한다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위와 같이 공학적 방법은 빈번히 사용되는 방법이기는 하나 몇 가지 문제점이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미래의 </a:t>
            </a:r>
            <a:r>
              <a:rPr lang="ko-KR" altLang="en-US" sz="1600" spc="-50" dirty="0" err="1"/>
              <a:t>투입물</a:t>
            </a:r>
            <a:r>
              <a:rPr lang="ko-KR" altLang="en-US" sz="1600" spc="-50" dirty="0"/>
              <a:t> 가격의 변동이나 기타 경제적 변수들을 고려하지 않고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현 시점에서 검토하므로 미래에 발생할 예기치 못할 변화를 고려하기 힘들다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현실에는 매우 다양한 기술과 시장 여건에 놓여 있으므로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공학적 방법을 적용하기 위해서는 각기 다른 특성을 갖는 오염원들의 최소 저감비용을 모두 분석해야 한다</a:t>
            </a:r>
            <a:r>
              <a:rPr lang="en-US" altLang="ko-KR" sz="1600" spc="-5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전문가들은 오염원들이 실제로 자신의 저감비용을 최소화한다고 전제한다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하지만 오염원들은 공학자가 예상하는 저감기술을 선택하지 않을 수 있다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비용을 과소평가할 위험 존재</a:t>
            </a:r>
            <a:r>
              <a:rPr lang="en-US" altLang="ko-KR" sz="1600" spc="-50" dirty="0"/>
              <a:t>)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19D39D3-B51E-2CEE-18BC-D99C88D64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직접비용 측정방법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5EBA55-7DA0-0113-9A86-69100047E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8639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70722-3138-23AB-4423-D004488B6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4131930-7476-0778-4304-EC1FF751595C}"/>
              </a:ext>
            </a:extLst>
          </p:cNvPr>
          <p:cNvSpPr txBox="1"/>
          <p:nvPr/>
        </p:nvSpPr>
        <p:spPr>
          <a:xfrm>
            <a:off x="678872" y="958844"/>
            <a:ext cx="11095077" cy="33686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설문조사법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정부는 오염원을 대상으로 설문조사를 실행하여 규제를 준수하기 위해 지불해야 하는 비용을 물어본다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오염원을 대상으로 하는 보다 직접적인 비용조사법으로서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광범위한 오염원들의 저감비용에 대한 공학적 분석이 힘들 경우에 유용할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설문조사법 또한 문제점이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오염원이 환경규제를 준수하는데 자신이 필요한 비용을 정확히 알고 있다는 전제가 필요하다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Ch.9</a:t>
            </a:r>
            <a:r>
              <a:rPr lang="ko-KR" altLang="en-US" sz="1600" spc="-50" dirty="0"/>
              <a:t>에서 </a:t>
            </a:r>
            <a:r>
              <a:rPr lang="ko-KR" altLang="en-US" sz="1600" spc="-50" dirty="0" err="1"/>
              <a:t>배운대로</a:t>
            </a:r>
            <a:r>
              <a:rPr lang="ko-KR" altLang="en-US" sz="1600" spc="-50" dirty="0"/>
              <a:t> 정보가 </a:t>
            </a:r>
            <a:r>
              <a:rPr lang="ko-KR" altLang="en-US" sz="1600" spc="-50" dirty="0" err="1"/>
              <a:t>비대칭적인</a:t>
            </a:r>
            <a:r>
              <a:rPr lang="ko-KR" altLang="en-US" sz="1600" spc="-50" dirty="0"/>
              <a:t> 상황에서는 오염원들은 전략적으로 행동하려는 동기를 가지기 때문에 설문조사에 임할 때 의도적으로 저감비용을 축소하거나 부풀릴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150BA5E-8E04-1917-6E9B-E2C154208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직접비용 측정방법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7634B6-1BB6-A504-B12F-DB32FE3EC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26892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C1B37-4EE5-2450-93DD-81FF51D72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B98CA0E-37C2-83F8-DABB-0CECB5AEF99B}"/>
                  </a:ext>
                </a:extLst>
              </p:cNvPr>
              <p:cNvSpPr txBox="1"/>
              <p:nvPr/>
            </p:nvSpPr>
            <p:spPr>
              <a:xfrm>
                <a:off x="678872" y="958844"/>
                <a:ext cx="11095077" cy="427674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생산경제학 모형</a:t>
                </a:r>
                <a:endParaRPr lang="en-US" altLang="ko-KR" sz="16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오염원이 실제로 선택하고 있는 생산기술과 각종 </a:t>
                </a:r>
                <a:r>
                  <a:rPr lang="ko-KR" altLang="en-US" sz="1600" spc="-50" dirty="0" err="1"/>
                  <a:t>투입물</a:t>
                </a:r>
                <a:r>
                  <a:rPr lang="ko-KR" altLang="en-US" sz="1600" spc="-50" dirty="0"/>
                  <a:t> 사용 형태를 분석하여 저감비용을 추정하는 방법이다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예를 들어 정부가 배출상한을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ko-KR" altLang="en-US" sz="1600" spc="-50" dirty="0"/>
                  <a:t>로 정하였고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ko-KR" altLang="en-US" sz="1600" spc="-50" dirty="0"/>
                  <a:t>은 오염원별로 혹은 시점별로 서로 다를 수 있다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오염원이 사용하는 각종 투입물의 시장가격을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이라 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오염원이 규제수준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ko-KR" altLang="en-US" sz="1600" spc="-50" dirty="0"/>
                  <a:t>에서 특정 수준의 제품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ko-KR" altLang="en-US" sz="1600" spc="-50" dirty="0"/>
                  <a:t>를 생산하는데 소요되는 비용을 최소화하는 </a:t>
                </a:r>
                <a:r>
                  <a:rPr lang="ko-KR" altLang="en-US" sz="1600" spc="-50" dirty="0" err="1"/>
                  <a:t>투입물</a:t>
                </a:r>
                <a:r>
                  <a:rPr lang="ko-KR" altLang="en-US" sz="1600" spc="-50" dirty="0"/>
                  <a:t> 결합 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을 선택할 것이다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이렇게 오염원들이 </a:t>
                </a:r>
                <a:r>
                  <a:rPr lang="ko-KR" altLang="en-US" sz="1600" spc="-50" dirty="0" err="1"/>
                  <a:t>비용최소화를</a:t>
                </a:r>
                <a:r>
                  <a:rPr lang="ko-KR" altLang="en-US" sz="1600" spc="-50" dirty="0"/>
                  <a:t> 위해 노력할 때 달성되는 최소의 비용을 투입물의 시장가격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규제 수준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생산량의 함수로 나타내는 것을 비용함수라고 부른다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오염원들이 선택한 </a:t>
                </a:r>
                <a:r>
                  <a:rPr lang="ko-KR" altLang="en-US" sz="1600" spc="-50" dirty="0" err="1"/>
                  <a:t>투입물</a:t>
                </a:r>
                <a:r>
                  <a:rPr lang="ko-KR" altLang="en-US" sz="1600" spc="-50" dirty="0"/>
                  <a:t> 결합에 대한 정보를 알 수 있다면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그 자료를 이용하여 비용함수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600" spc="-50" dirty="0"/>
                  <a:t>을 통계적으로 추정할 수 있다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배출규제가 강화될 수록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그로 인해 오염원의 비용은 </a:t>
                </a:r>
                <a14:m>
                  <m:oMath xmlns:m="http://schemas.openxmlformats.org/officeDocument/2006/math">
                    <m:r>
                      <a:rPr lang="en-US" altLang="ko-KR" sz="1600" spc="-50">
                        <a:latin typeface="Cambria Math" panose="02040503050406030204" pitchFamily="18" charset="0"/>
                      </a:rPr>
                      <m:t>|</m:t>
                    </m:r>
                    <m:f>
                      <m:f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l-GR" altLang="ko-KR" sz="1600" i="1" spc="-5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l-GR" altLang="ko-KR" sz="1600" i="1" spc="-5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den>
                    </m:f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ko-KR" altLang="en-US" sz="1600" spc="-50" dirty="0"/>
                  <a:t> 만큼 늘어날 것이고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이것이 바로 오염원의 한계저감비용이다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B98CA0E-37C2-83F8-DABB-0CECB5AEF9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2" y="958844"/>
                <a:ext cx="11095077" cy="4276748"/>
              </a:xfrm>
              <a:prstGeom prst="rect">
                <a:avLst/>
              </a:prstGeom>
              <a:blipFill>
                <a:blip r:embed="rId2"/>
                <a:stretch>
                  <a:fillRect l="-275" r="-110" b="-85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제목 1">
            <a:extLst>
              <a:ext uri="{FF2B5EF4-FFF2-40B4-BE49-F238E27FC236}">
                <a16:creationId xmlns:a16="http://schemas.microsoft.com/office/drawing/2014/main" id="{D2090A34-BC89-CFAA-44BF-7B9045680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직접비용 측정방법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D4DB03-4459-99CD-BB58-3A21AB44A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82853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549AB-4824-3CD7-D888-CB42BE8EC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E5B0F01-0903-0AC5-45C5-721D30F94287}"/>
                  </a:ext>
                </a:extLst>
              </p:cNvPr>
              <p:cNvSpPr txBox="1"/>
              <p:nvPr/>
            </p:nvSpPr>
            <p:spPr>
              <a:xfrm>
                <a:off x="678872" y="958844"/>
                <a:ext cx="11095077" cy="3738011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생산경제학모형은 앞서 설명한 두 가지 방법과는 달리 생산자가 실제로 사용하는 생산기술 및 </a:t>
                </a:r>
                <a:r>
                  <a:rPr lang="ko-KR" altLang="en-US" sz="1600" spc="-50" dirty="0" err="1"/>
                  <a:t>투입물</a:t>
                </a:r>
                <a:r>
                  <a:rPr lang="ko-KR" altLang="en-US" sz="1600" spc="-50" dirty="0"/>
                  <a:t> 조합을 분석하여 한계저감비용을 구하고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생산자의 </a:t>
                </a:r>
                <a:r>
                  <a:rPr lang="ko-KR" altLang="en-US" sz="1600" spc="-50" dirty="0" err="1"/>
                  <a:t>비용최소화</a:t>
                </a:r>
                <a:r>
                  <a:rPr lang="ko-KR" altLang="en-US" sz="1600" spc="-50" dirty="0"/>
                  <a:t> 행위와 </a:t>
                </a:r>
                <a:r>
                  <a:rPr lang="ko-KR" altLang="en-US" sz="1600" spc="-50" dirty="0" err="1"/>
                  <a:t>부함되는</a:t>
                </a:r>
                <a:r>
                  <a:rPr lang="ko-KR" altLang="en-US" sz="1600" spc="-50" dirty="0"/>
                  <a:t> 모형을 구축하여 분석한다는 점에서 바람직하다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그러나 생산경제학모형 방법에도 단점이 존재한다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 방법은 위의 비용함수에서의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ko-KR" altLang="en-US" sz="1600" spc="-50" dirty="0"/>
                  <a:t>과 같이 정부에 의해 외생적으로 결정되어 있는 규제 수준이 있고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이를 오염원이 정확히 준수한다는 가정하에서만 사용할 수 있는 방법이다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생산경제학모형은 규제가 큰 폭으로 강해질 때는 정확한 저감비용계산을 위해 사용되기 힘들다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비용함수를 추정하여 한계저감비용곡선을 구한 뒤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원래 배출규제와 새로운 배출규제 사이에 형성되는 곡선 아래의 면적을 계산하여야 한다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새로 도입되는 규제가 원래의 규제보다 훨씬 강할 경우에는 오염원이 이를 달성하기 위해 기존과는 전혀 다른 생산기술을 도입해야 할 때가 있다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E5B0F01-0903-0AC5-45C5-721D30F942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2" y="958844"/>
                <a:ext cx="11095077" cy="3738011"/>
              </a:xfrm>
              <a:prstGeom prst="rect">
                <a:avLst/>
              </a:prstGeom>
              <a:blipFill>
                <a:blip r:embed="rId2"/>
                <a:stretch>
                  <a:fillRect b="-114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제목 1">
            <a:extLst>
              <a:ext uri="{FF2B5EF4-FFF2-40B4-BE49-F238E27FC236}">
                <a16:creationId xmlns:a16="http://schemas.microsoft.com/office/drawing/2014/main" id="{F662B75A-907C-8A30-36D3-6C90A624B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직접비용 측정방법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408AED2-B257-03F4-2703-C60951A57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46883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3B3F3-2E55-ADC3-3DF7-7A0BCE537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A7C9E3-9ADB-9CB7-4D17-5F6502823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직접비용 측정방법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5A3A34-5F99-BA91-7957-FE9AC2A83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11</a:t>
            </a:fld>
            <a:endParaRPr lang="ko-KR" altLang="en-US"/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20CF90D4-28C1-0220-A01E-F5426705C20D}"/>
              </a:ext>
            </a:extLst>
          </p:cNvPr>
          <p:cNvGrpSpPr/>
          <p:nvPr/>
        </p:nvGrpSpPr>
        <p:grpSpPr>
          <a:xfrm>
            <a:off x="7416542" y="3218190"/>
            <a:ext cx="4565908" cy="3791545"/>
            <a:chOff x="7416542" y="3167390"/>
            <a:chExt cx="4565908" cy="3791545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2F6A39F0-ED37-553F-E4E5-2ABEAD42C0A1}"/>
                </a:ext>
              </a:extLst>
            </p:cNvPr>
            <p:cNvSpPr/>
            <p:nvPr/>
          </p:nvSpPr>
          <p:spPr>
            <a:xfrm>
              <a:off x="8223885" y="3429000"/>
              <a:ext cx="3384550" cy="2833496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5311719A-0703-9C01-0887-EA129BAE33F3}"/>
                    </a:ext>
                  </a:extLst>
                </p:cNvPr>
                <p:cNvSpPr txBox="1"/>
                <p:nvPr/>
              </p:nvSpPr>
              <p:spPr>
                <a:xfrm>
                  <a:off x="9781281" y="6281336"/>
                  <a:ext cx="364621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1400" i="1" spc="-5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400" b="0" i="1" spc="-50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US" altLang="ko-KR" sz="1400" b="0" i="1" spc="-5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5311719A-0703-9C01-0887-EA129BAE33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81281" y="6281336"/>
                  <a:ext cx="364621" cy="30777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2CD4344-0E18-1923-472E-31CCC9586C3E}"/>
                </a:ext>
              </a:extLst>
            </p:cNvPr>
            <p:cNvSpPr txBox="1"/>
            <p:nvPr/>
          </p:nvSpPr>
          <p:spPr>
            <a:xfrm>
              <a:off x="11234419" y="6281336"/>
              <a:ext cx="748031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100" spc="-50"/>
                <a:t>배출상한</a:t>
              </a:r>
              <a:endParaRPr lang="ko-KR" altLang="en-US" sz="1100" dirty="0"/>
            </a:p>
          </p:txBody>
        </p:sp>
        <p:sp>
          <p:nvSpPr>
            <p:cNvPr id="41" name="원호 40">
              <a:extLst>
                <a:ext uri="{FF2B5EF4-FFF2-40B4-BE49-F238E27FC236}">
                  <a16:creationId xmlns:a16="http://schemas.microsoft.com/office/drawing/2014/main" id="{B2CB7219-9008-02DB-7790-DDB6C546308D}"/>
                </a:ext>
              </a:extLst>
            </p:cNvPr>
            <p:cNvSpPr/>
            <p:nvPr/>
          </p:nvSpPr>
          <p:spPr>
            <a:xfrm rot="21250242">
              <a:off x="7416542" y="3793615"/>
              <a:ext cx="2585720" cy="2026166"/>
            </a:xfrm>
            <a:prstGeom prst="arc">
              <a:avLst>
                <a:gd name="adj1" fmla="val 17039476"/>
                <a:gd name="adj2" fmla="val 20868312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원호 42">
              <a:extLst>
                <a:ext uri="{FF2B5EF4-FFF2-40B4-BE49-F238E27FC236}">
                  <a16:creationId xmlns:a16="http://schemas.microsoft.com/office/drawing/2014/main" id="{32B42868-F479-64B5-01B7-A84C399F40EC}"/>
                </a:ext>
              </a:extLst>
            </p:cNvPr>
            <p:cNvSpPr/>
            <p:nvPr/>
          </p:nvSpPr>
          <p:spPr>
            <a:xfrm rot="21250242">
              <a:off x="8488421" y="4932769"/>
              <a:ext cx="2585720" cy="2026166"/>
            </a:xfrm>
            <a:prstGeom prst="arc">
              <a:avLst>
                <a:gd name="adj1" fmla="val 17039476"/>
                <a:gd name="adj2" fmla="val 20868312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4FC2EB9-BDE7-2347-987A-C24267B2FB9D}"/>
                </a:ext>
              </a:extLst>
            </p:cNvPr>
            <p:cNvSpPr txBox="1"/>
            <p:nvPr/>
          </p:nvSpPr>
          <p:spPr>
            <a:xfrm>
              <a:off x="7694981" y="3167390"/>
              <a:ext cx="103817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100" spc="-50" dirty="0"/>
                <a:t>한계저감비용</a:t>
              </a:r>
              <a:endParaRPr lang="ko-KR" altLang="en-US" sz="1100" dirty="0"/>
            </a:p>
          </p:txBody>
        </p: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41C3FA53-600A-1A1C-F871-E8C527144BF4}"/>
                </a:ext>
              </a:extLst>
            </p:cNvPr>
            <p:cNvCxnSpPr>
              <a:cxnSpLocks/>
            </p:cNvCxnSpPr>
            <p:nvPr/>
          </p:nvCxnSpPr>
          <p:spPr>
            <a:xfrm>
              <a:off x="9916160" y="4414456"/>
              <a:ext cx="0" cy="1836000"/>
            </a:xfrm>
            <a:prstGeom prst="line">
              <a:avLst/>
            </a:prstGeom>
            <a:ln w="6350">
              <a:solidFill>
                <a:srgbClr val="070B12"/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729986A1-5397-25DD-BFB4-C652DB58931A}"/>
                    </a:ext>
                  </a:extLst>
                </p:cNvPr>
                <p:cNvSpPr txBox="1"/>
                <p:nvPr/>
              </p:nvSpPr>
              <p:spPr>
                <a:xfrm>
                  <a:off x="10837763" y="6281336"/>
                  <a:ext cx="364621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1400" i="1" spc="-5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400" b="0" i="1" spc="-50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US" altLang="ko-KR" sz="1400" b="0" i="1" spc="-5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729986A1-5397-25DD-BFB4-C652DB5893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37763" y="6281336"/>
                  <a:ext cx="364621" cy="30777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BDC03AFF-1BBE-EB09-415F-C6E74D296E07}"/>
                    </a:ext>
                  </a:extLst>
                </p:cNvPr>
                <p:cNvSpPr txBox="1"/>
                <p:nvPr/>
              </p:nvSpPr>
              <p:spPr>
                <a:xfrm>
                  <a:off x="8846403" y="6281336"/>
                  <a:ext cx="364621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1400" i="1" spc="-5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400" b="0" i="1" spc="-50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US" altLang="ko-KR" sz="1400" b="0" i="1" spc="-5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BDC03AFF-1BBE-EB09-415F-C6E74D296E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46403" y="6281336"/>
                  <a:ext cx="364621" cy="30777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DEC640B6-4F3F-786A-F072-C6E39F9FF94A}"/>
                  </a:ext>
                </a:extLst>
              </p:cNvPr>
              <p:cNvSpPr txBox="1"/>
              <p:nvPr/>
            </p:nvSpPr>
            <p:spPr>
              <a:xfrm>
                <a:off x="678872" y="908044"/>
                <a:ext cx="11095077" cy="226138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예를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들어 발전소의 배출상한이 조금 줄어든다면 에너지사용량이나 에너지원별 결합비율을 변화시켜 새로운 배출기준을 달성할 수 있지만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배출상한이 많이 줄어든다면 에너지 사용형태만 바꾸어서는 배출기준을 달성할 수 없고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설비나 공정까지 바꾸는 선택을 해야 할 것이다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위와 같은 상황은 아래의 그림을 통해 알 수 있다</a:t>
                </a:r>
                <a:r>
                  <a:rPr lang="en-US" altLang="ko-KR" sz="1600" spc="-50" dirty="0"/>
                  <a:t>. </a:t>
                </a:r>
                <a:r>
                  <a:rPr lang="ko-KR" altLang="en-US" sz="1600" spc="-50" dirty="0"/>
                  <a:t>그림에서 최초의 아황산가스 배출상한은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였고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이것이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으로 줄어들었다고 해보자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배출상한이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 이상일 경우에는 에너지사용량만 바꾸어 배출량을 줄일 수 있다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DEC640B6-4F3F-786A-F072-C6E39F9FF9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2" y="908044"/>
                <a:ext cx="11095077" cy="2261388"/>
              </a:xfrm>
              <a:prstGeom prst="rect">
                <a:avLst/>
              </a:prstGeom>
              <a:blipFill>
                <a:blip r:embed="rId5"/>
                <a:stretch>
                  <a:fillRect b="-24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BE5CCA6F-7882-40AB-5944-74E785158577}"/>
                  </a:ext>
                </a:extLst>
              </p:cNvPr>
              <p:cNvSpPr txBox="1"/>
              <p:nvPr/>
            </p:nvSpPr>
            <p:spPr>
              <a:xfrm>
                <a:off x="678872" y="3194680"/>
                <a:ext cx="7016109" cy="3368679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배출상한이</a:t>
                </a:r>
                <a:r>
                  <a:rPr lang="en-US" altLang="ko-KR" sz="1600" spc="-5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 이하가 되면 비용이 많이 드는 새로운 공정을 도입해야 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따라서 규제가 강해지면서 실제 한계저감비용은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에서 크게 상향 이동할 것이다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새로운 공정을 도입하지 않았던 원래의 생산기술로부터 얻어진 자료에 의존하여 도출된 한계저감비용은 오른쪽 그림과 같이 불연속적으로 변하는 한계저감비용을 나타낼 수 없다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이러한 경우에는 앞서 설명한 공학적 방법 혹은 설문조사법이 더 현실적일 수 있다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BE5CCA6F-7882-40AB-5944-74E7851585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2" y="3194680"/>
                <a:ext cx="7016109" cy="3368679"/>
              </a:xfrm>
              <a:prstGeom prst="rect">
                <a:avLst/>
              </a:prstGeom>
              <a:blipFill>
                <a:blip r:embed="rId6"/>
                <a:stretch>
                  <a:fillRect b="-126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94900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37BAA-9479-63BD-A21A-723236FED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C45A1CC-AA41-A4FF-09CC-C486CDED6A3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E306BC-97FE-4DBD-3AE7-FF658FD44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ECE498BA-23F0-9E1A-F541-43E708289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3. </a:t>
            </a:r>
            <a:r>
              <a:rPr lang="ko-KR" altLang="en-US" sz="4000" b="1" i="0" spc="150" dirty="0"/>
              <a:t>간접비용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17647294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4CFF2-C8F7-21BD-EBF0-71B56ACA7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C6DC46-497F-22F9-C0B1-543B9D81F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간접비용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6D968E-82C9-0011-5DC2-01818C4EB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751D6E-1DD1-4B3B-67B7-A15E61322C7D}"/>
              </a:ext>
            </a:extLst>
          </p:cNvPr>
          <p:cNvSpPr txBox="1"/>
          <p:nvPr/>
        </p:nvSpPr>
        <p:spPr>
          <a:xfrm>
            <a:off x="678872" y="958844"/>
            <a:ext cx="11095077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저감비용 및 정책실행 비용과 같이 직접비용 뿐 아니라 정책의 여러 파급효과가 유발하는 간접비용도 고려해야 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92075"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자원 이용의 효율성 증대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환경정책은 현재보다 자원을 더욱 효율적으로 사용하도록 함으로써 오히려 국가 전체에 이익이 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 경우 환경정책은 음의 간접비용을 유발하기 때문에 직접비용만을 계산할 경우 정책비용을 과대평가 할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에너지 사용과 관련된 규제에서 예시를 흔히 찾아 볼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자동차로부터 배출되는 대기오염물질 배출량을 줄이기 위해 배출가스의 연소를 촉진하는 장치를 부착하거나 오염물질을 적게 배출하는 연료로 대체하도록 규제하면 그로 인해 에너지 효율 자체가 상승하여 에너지 소비량이 줄어들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배출량을 줄이고자 하였지만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에너지 소비까지 줄어들어서 자원 이용의 효율성이 증가한 경우이다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또 다른 예로는 실업자들을 동원하여 환경정화사업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산림관리사업을 실시하는 경우이다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실업자들에게 임금을 지급하면 정부의 실업수당 지출을 줄일 수 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동시에 환경개선효과를 누릴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환경정책의 비용인 인건비가 단순 비용인 줄 알았지만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정부의 실업수당 지출을 줄이는 효과가 생긴 경우이다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773477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12195-A583-B17E-7909-C0E041E01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347BD8-5FD0-565D-D882-10E81C26E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간접비용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00AA33-1EDF-8795-AE9B-5734B9923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FE5321-A37A-5CF4-F7C5-152330B18CB3}"/>
              </a:ext>
            </a:extLst>
          </p:cNvPr>
          <p:cNvSpPr txBox="1"/>
          <p:nvPr/>
        </p:nvSpPr>
        <p:spPr>
          <a:xfrm>
            <a:off x="678872" y="958844"/>
            <a:ext cx="11095077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2075"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생산성 변화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생산성 변화는 투입요소 사용량 증대에 비해 산출량 증대가 어느 정도로 빨리 이루어 </a:t>
            </a:r>
            <a:r>
              <a:rPr lang="ko-KR" altLang="en-US" sz="1600" spc="-50" dirty="0" err="1"/>
              <a:t>지느냐를</a:t>
            </a:r>
            <a:r>
              <a:rPr lang="ko-KR" altLang="en-US" sz="1600" spc="-50" dirty="0"/>
              <a:t> 나타내는 지표로서 장기적인 경제성장 가능성을 가늠하는 척도라고 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오염규제가 기업 생산성 변화에 미치는 영향에 관해서는 많은 논쟁이 있어 왔다</a:t>
            </a:r>
            <a:r>
              <a:rPr lang="en-US" altLang="ko-KR" sz="1600" spc="-50" dirty="0"/>
              <a:t>.</a:t>
            </a:r>
            <a:r>
              <a:rPr lang="ko-KR" altLang="en-US" sz="1600" spc="-50" dirty="0"/>
              <a:t> 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오염규제가 기업의 생산성을 저해한다는 주장은 다음의 </a:t>
            </a:r>
            <a:r>
              <a:rPr lang="en-US" altLang="ko-KR" sz="1600" spc="-50" dirty="0"/>
              <a:t>3</a:t>
            </a:r>
            <a:r>
              <a:rPr lang="ko-KR" altLang="en-US" sz="1600" spc="-50" dirty="0"/>
              <a:t>가지 논리를 근거로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오염규제가 강화되면 기업이 이를 따르기 위해 지출해야 하는 비용이 늘어나고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 비용만큼 생산성 향상을 위해 필요한 다른 투자액이 감소한다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오염규제가 강화되면 주로 에너지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원료 물질의 가격이 상승하고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그로 인해 에너지와 원료물질을 투입요소로 사용하는 기타 다른 산업의 생산비가 연쇄적으로 상승하게 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오염규제가 강화되면 기업은 많은 정부 간섭과 규제 하에 놓이게 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규제준수와 관련된 추가 업무가 늘어나 기업의 활동이 전반적으로 위축된다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321056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2EA3A-5DF0-F528-EE2F-60F2217B7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50A6CF-FAA4-36A0-A8C0-08DC13E22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간접비용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AB29F5-1EBD-5482-830C-74596695D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0B8995-C1E4-2B05-DB78-09D757038CC1}"/>
              </a:ext>
            </a:extLst>
          </p:cNvPr>
          <p:cNvSpPr txBox="1"/>
          <p:nvPr/>
        </p:nvSpPr>
        <p:spPr>
          <a:xfrm>
            <a:off x="678872" y="958844"/>
            <a:ext cx="11095077" cy="22606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한편 오염규제가 기업의 생산성을 높인다는 주장도 존재한다</a:t>
            </a:r>
            <a:r>
              <a:rPr lang="en-US" altLang="ko-KR" sz="1600" spc="-50" dirty="0"/>
              <a:t>. Porter (1991)</a:t>
            </a:r>
            <a:r>
              <a:rPr lang="ko-KR" altLang="en-US" sz="1600" spc="-50" dirty="0"/>
              <a:t>에서 언급하였기 때문에 포터가설이라 불리며</a:t>
            </a:r>
            <a:r>
              <a:rPr lang="en-US" altLang="ko-KR" sz="1600" spc="-50" dirty="0"/>
              <a:t>, Ch.6</a:t>
            </a:r>
            <a:r>
              <a:rPr lang="ko-KR" altLang="en-US" sz="1600" spc="-50" dirty="0"/>
              <a:t>에서 언급한 기술강제원칙의 근거이기도 하다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오염규제가 강력할수록 기업이 새로운 기술을 개발하려는 동기가 커지고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따라서 오염규제가 강한 국가나 지역에 위치한 기업일수록 높은 생산성과 경쟁력을 가지게 된다고 주장한다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대표적인 예로는 오염물질 저감용 장치를 생산하여 판매하는 기업이 오염규제가 강해져 수익성이 높아지고 경우를 들 수 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308633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9B202B-CCE9-72BC-332F-7C77B5146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환경정책이 실업률에 미치는 영향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B1A2FE-C6D8-2CEC-7AB1-3500E0AB8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6B9162-5E3A-090E-1962-86B95CE3209C}"/>
              </a:ext>
            </a:extLst>
          </p:cNvPr>
          <p:cNvSpPr txBox="1"/>
          <p:nvPr/>
        </p:nvSpPr>
        <p:spPr>
          <a:xfrm>
            <a:off x="678872" y="958844"/>
            <a:ext cx="11095077" cy="33686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2075"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환경정책이 실업률에 미치는 영향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환경정책은 경제 내 실업률에도 영향을 미칠 수 있는데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부정적인 영향을 미치는 경우는 아래의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가지 정도이다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오염규제가 강화되면 기업의 경제 활동이 위축 되어 실업률이 높아진다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선진국의 경우 자국 내 오염규제가 강화되면 자국 기업이 생산설비를 규제 정도가 약한 외국으로 이전하고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그로 인해 자국의 실업이 증가하게 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한편 오염규제의 강화는 장기적인 측면에서 볼 때 오히려 고용을 증가시켜 실업률을 줄여줄 수도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폐기물의 수거 및 재활용 업무와 같이 규제정책을 실행하기 위해 필요한 새로운 일자리를 창출하거나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환경기술산업과 같은 새로운 산업을 형성하여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새로운 일자리를 창출할 수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이는 오염규제가 장기적으로 생산성을 높인다는 포터가설과 맥락을 같이 한다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606669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D11719-A2FE-6BE3-EA8A-ACA9ED0E8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환경정책이 실업률에 미치는 영향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827235-52DA-A25A-B734-BC263EFEB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0EE16C-4C5F-93FE-B49C-027FBA46603C}"/>
              </a:ext>
            </a:extLst>
          </p:cNvPr>
          <p:cNvSpPr txBox="1"/>
          <p:nvPr/>
        </p:nvSpPr>
        <p:spPr>
          <a:xfrm>
            <a:off x="678872" y="958844"/>
            <a:ext cx="11095077" cy="37380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2075"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오염피난처 가설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이와 관련하여 오염피난처가설 이 있는데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이는 어떤 국가가 다른 국가에 비해 더 강한 오염규제를 도입하면 자국의 생산시설이 규제가 약한 외국으로 이전되거나 아니면 오염 유발 상품의 자국 내 생산량이 줄어드는 대신 외국으로부터의 수입은 늘어나게 된다는 주장이다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이 가설은 아래와 같은 시사점을 제공한다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개발도상국이 느슨한 오염규제만 실행하는 것을 정당화할 수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모든 국가는 경제성장과 환경오염 감소를 동시에 추구해야 하는데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 가설이 유효하다면 경제성장이 시급한 개발도상국은 외국으로부터 자본을 유치하기 위해 느슨한 규제 정책을 사용해야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자국 내 오염규제가 비교적 강한 선진국이 개발도상국과의 교역에서 무역적자를 기록하고 있는 것은 개발도상국들이 약한 오염규제를 통해 가격경쟁력을 갖기 때문이라는 주장이 제기된다</a:t>
            </a: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따라서 오염규제가 매우 약한 나라로부터의 수입품은 규제해야 한다는 주장이 대두된 바 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166777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AF3F9-E6D6-8B2A-CE9D-60A2FAAAD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97296A-D640-5C40-C06C-4692677DD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오염규제와 독점화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250F55-812F-4FE4-5E85-D292018D4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3B7658-C1E7-85A3-D84B-F740EA3D7F8E}"/>
              </a:ext>
            </a:extLst>
          </p:cNvPr>
          <p:cNvSpPr txBox="1"/>
          <p:nvPr/>
        </p:nvSpPr>
        <p:spPr>
          <a:xfrm>
            <a:off x="678872" y="958844"/>
            <a:ext cx="11095077" cy="18913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정부가 오염규제를 강화하면 기업의 고정비용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배출저감시설 설치비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환경관련 기술자 </a:t>
            </a:r>
            <a:r>
              <a:rPr lang="ko-KR" altLang="en-US" sz="1600" spc="-50" dirty="0" err="1"/>
              <a:t>고용비</a:t>
            </a:r>
            <a:r>
              <a:rPr lang="ko-KR" altLang="en-US" sz="1600" spc="-50" dirty="0"/>
              <a:t> 등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이 크게 늘어날 가능성이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규모가 작은 중소기업의 생산비를 상대적으로 상승시켜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산업에서 퇴출되면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산업의 독점화를 유발할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Ch.7</a:t>
            </a:r>
            <a:r>
              <a:rPr lang="ko-KR" altLang="en-US" sz="1600" spc="-50" dirty="0"/>
              <a:t>에서 </a:t>
            </a:r>
            <a:r>
              <a:rPr lang="ko-KR" altLang="en-US" sz="1600" spc="-50" dirty="0" err="1"/>
              <a:t>배운대로</a:t>
            </a:r>
            <a:r>
              <a:rPr lang="ko-KR" altLang="en-US" sz="1600" spc="-50" dirty="0"/>
              <a:t> 독점기업은 적은 양의 상품을 생산하여 높은 시장가격을 수취하려고 하므로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독점화는 사회적 비용을 초래한다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이는 환경정책의 간접비용에 포함이 될 수 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042144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8C06A-3A1D-639C-8A9F-AEF8BDE93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484AF49-6DA9-75E0-9EC2-86E68A82F2E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503991-430B-2461-D1EF-3189A7D0D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49191294-35B2-EF80-61BE-B1F91B180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ko-KR" altLang="en-US" sz="4000" b="1" i="0" spc="150" dirty="0"/>
              <a:t>탄소국경제도</a:t>
            </a:r>
            <a:br>
              <a:rPr lang="en-US" altLang="ko-KR" sz="4000" b="1" i="0" spc="150" dirty="0"/>
            </a:br>
            <a:r>
              <a:rPr lang="en-US" altLang="ko-KR" sz="3200" b="1" i="0" spc="150" dirty="0"/>
              <a:t>(Carbon Border Adjustment Mechanism, CBAM)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3339181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6043D-9C7B-6B69-5821-129D474D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F57861-B2C5-B1F3-E779-5D9961763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탄소국경제도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753D6-AF76-2B85-6B39-9F2691FA3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DBF393-B1C8-9C3C-3E80-8CEDB7D618D7}"/>
              </a:ext>
            </a:extLst>
          </p:cNvPr>
          <p:cNvSpPr txBox="1"/>
          <p:nvPr/>
        </p:nvSpPr>
        <p:spPr>
          <a:xfrm>
            <a:off x="678872" y="958844"/>
            <a:ext cx="11095077" cy="37380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2075"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배경 및 목적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탄소배출량 감축규제가 강한 국가에서 상대적으로 규제가 약한 국가로 탄소배출이 이전되는 탄소누출</a:t>
            </a:r>
            <a:r>
              <a:rPr lang="en-US" altLang="ko-KR" sz="2400" spc="-50" baseline="30000" dirty="0"/>
              <a:t>*</a:t>
            </a:r>
            <a:r>
              <a:rPr lang="ko-KR" altLang="en-US" sz="1600" spc="-50" dirty="0"/>
              <a:t> 문제를 해결하기 위해 생겨난 제도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EU</a:t>
            </a:r>
            <a:r>
              <a:rPr lang="ko-KR" altLang="en-US" sz="1600" spc="-50" dirty="0"/>
              <a:t>에서 처음 도입하였으며</a:t>
            </a:r>
            <a:r>
              <a:rPr lang="en-US" altLang="ko-KR" sz="1600" spc="-50" dirty="0"/>
              <a:t>, EU</a:t>
            </a:r>
            <a:r>
              <a:rPr lang="ko-KR" altLang="en-US" sz="1600" spc="-50" dirty="0"/>
              <a:t>의 역내 환경규제를 강화할수록 생산공장이 규제가 낮은 지역으로 이전되거나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저탄소 제품 생산을 위한 투자로 생산 원가가 상승하여 역외국 대비 자국 제조업이 불공정한 상황에 노출된다는 문제 의식에서 출발하였다</a:t>
            </a:r>
            <a:r>
              <a:rPr lang="en-US" altLang="ko-KR" sz="1600" spc="-50" dirty="0"/>
              <a:t>.</a:t>
            </a:r>
          </a:p>
          <a:p>
            <a:pPr marL="92075"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개념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EU CBAM</a:t>
            </a:r>
            <a:r>
              <a:rPr lang="ko-KR" altLang="en-US" sz="1600" spc="-50" dirty="0"/>
              <a:t>은 </a:t>
            </a:r>
            <a:r>
              <a:rPr lang="en-US" altLang="ko-KR" sz="1600" spc="-50" dirty="0"/>
              <a:t>EU </a:t>
            </a:r>
            <a:r>
              <a:rPr lang="ko-KR" altLang="en-US" sz="1600" spc="-50" dirty="0"/>
              <a:t>역내로 수입되는 역외 생산 제품에 대하여 </a:t>
            </a:r>
            <a:r>
              <a:rPr lang="en-US" altLang="ko-KR" sz="1600" spc="-50" dirty="0"/>
              <a:t>EU </a:t>
            </a:r>
            <a:r>
              <a:rPr lang="ko-KR" altLang="en-US" sz="1600" spc="-50" dirty="0"/>
              <a:t>내에서 생산될 때 지불하는 탄소 비용과 동등하도록 추가적인 탄소 가격을 부과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징수하는 제도이다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0AD2229C-B92C-2A43-C2CB-E6C77A4CDF88}"/>
              </a:ext>
            </a:extLst>
          </p:cNvPr>
          <p:cNvGrpSpPr/>
          <p:nvPr/>
        </p:nvGrpSpPr>
        <p:grpSpPr>
          <a:xfrm>
            <a:off x="7931745" y="4742609"/>
            <a:ext cx="3663067" cy="1586886"/>
            <a:chOff x="7845573" y="4650976"/>
            <a:chExt cx="3969102" cy="2117579"/>
          </a:xfrm>
        </p:grpSpPr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BB57E61E-143D-92C4-3E3E-768A1254E5ED}"/>
                </a:ext>
              </a:extLst>
            </p:cNvPr>
            <p:cNvSpPr/>
            <p:nvPr/>
          </p:nvSpPr>
          <p:spPr>
            <a:xfrm>
              <a:off x="7845573" y="4829175"/>
              <a:ext cx="3969102" cy="1939380"/>
            </a:xfrm>
            <a:prstGeom prst="roundRect">
              <a:avLst>
                <a:gd name="adj" fmla="val 5387"/>
              </a:avLst>
            </a:prstGeom>
            <a:noFill/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56CFCED-4EC4-EC17-690D-DD5C80280951}"/>
                </a:ext>
              </a:extLst>
            </p:cNvPr>
            <p:cNvSpPr txBox="1"/>
            <p:nvPr/>
          </p:nvSpPr>
          <p:spPr>
            <a:xfrm>
              <a:off x="7889140" y="4650976"/>
              <a:ext cx="3925535" cy="20407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ko-KR" altLang="en-US" sz="1400" dirty="0">
                  <a:highlight>
                    <a:srgbClr val="FFFFFF"/>
                  </a:highlight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탄소누출</a:t>
              </a:r>
              <a:endParaRPr lang="en-US" altLang="ko-KR" sz="1400" dirty="0">
                <a:highlight>
                  <a:srgbClr val="FFFFFF"/>
                </a:highlight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  <a:p>
              <a:pPr>
                <a:lnSpc>
                  <a:spcPct val="120000"/>
                </a:lnSpc>
              </a:pPr>
              <a:endParaRPr lang="en-US" altLang="ko-KR" sz="500" dirty="0"/>
            </a:p>
            <a:p>
              <a:pPr>
                <a:lnSpc>
                  <a:spcPct val="120000"/>
                </a:lnSpc>
              </a:pPr>
              <a:r>
                <a:rPr lang="ko-KR" altLang="en-US" sz="1200" dirty="0"/>
                <a:t>한 국가에서의 기후정책으로 인한 비용상승 때문에 기업들이 온실가스 관련 규제가 약한 국가로 생산시설을 이전하거나 온실가스 배출량 원단위가 높은 수입제품이 증가하여 궁극적으로 지구 </a:t>
              </a:r>
              <a:r>
                <a:rPr lang="ko-KR" altLang="en-US" sz="1200" dirty="0" err="1"/>
                <a:t>온실가스량이</a:t>
              </a:r>
              <a:r>
                <a:rPr lang="ko-KR" altLang="en-US" sz="1200" dirty="0"/>
                <a:t> 증가하는 현상을 의미한다</a:t>
              </a:r>
              <a:r>
                <a:rPr lang="en-US" altLang="ko-KR" sz="1200" dirty="0"/>
                <a:t>.</a:t>
              </a:r>
              <a:endParaRPr lang="en-US" altLang="ko-KR" sz="1200" b="1" baseline="30000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ACA9DF85-7C36-4B22-114E-113EB6C54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0975" y="4570505"/>
            <a:ext cx="4650739" cy="1966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8219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EC0F6-7B0B-6E00-B5A3-71B9F412B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8EB4AA-0C0C-8CA3-4F7C-1852F51AA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탄소국경제도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ACAAF9-30D7-A032-762F-3A427064A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6A67AF-D7BC-E59E-1A0A-65E1DBD074AA}"/>
              </a:ext>
            </a:extLst>
          </p:cNvPr>
          <p:cNvSpPr txBox="1"/>
          <p:nvPr/>
        </p:nvSpPr>
        <p:spPr>
          <a:xfrm>
            <a:off x="678872" y="958844"/>
            <a:ext cx="11095077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2075"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운영방식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전환기간에는 수출기업이 제품 생산 과정에서 발생한 탄소 배출량을 산정하여 그 결과를 분기별로 </a:t>
            </a:r>
            <a:r>
              <a:rPr lang="en-US" altLang="ko-KR" sz="1600" spc="-50" dirty="0"/>
              <a:t>EU </a:t>
            </a:r>
            <a:r>
              <a:rPr lang="ko-KR" altLang="en-US" sz="1600" spc="-50" dirty="0"/>
              <a:t>수입업자에게 제공하고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수입업자는 배출량을 포함한 </a:t>
            </a:r>
            <a:r>
              <a:rPr lang="en-US" altLang="ko-KR" sz="1600" spc="-50" dirty="0"/>
              <a:t>CBAM </a:t>
            </a:r>
            <a:r>
              <a:rPr lang="ko-KR" altLang="en-US" sz="1600" spc="-50" dirty="0"/>
              <a:t>보고서를 </a:t>
            </a:r>
            <a:r>
              <a:rPr lang="en-US" altLang="ko-KR" sz="1600" spc="-50" dirty="0"/>
              <a:t>EU </a:t>
            </a:r>
            <a:r>
              <a:rPr lang="ko-KR" altLang="en-US" sz="1600" spc="-50" dirty="0"/>
              <a:t>집행위원회에게 제출한다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확정기간에는 연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회 배출량 보고 의무와 함께 인증서 제출 의무가 부여된다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이때 인증서를 구매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제출하는 주체는 </a:t>
            </a:r>
            <a:r>
              <a:rPr lang="en-US" altLang="ko-KR" sz="1600" spc="-50" dirty="0"/>
              <a:t>EU</a:t>
            </a:r>
            <a:r>
              <a:rPr lang="ko-KR" altLang="en-US" sz="1600" spc="-50" dirty="0"/>
              <a:t> 수입업자이다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만약 제품 생산 과정에서 이미 탄소 가격을 지불했다면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기지불한 탄소 가격만큼 인증서 구매비용에서 차감된다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92075">
              <a:lnSpc>
                <a:spcPct val="150000"/>
              </a:lnSpc>
            </a:pPr>
            <a:r>
              <a:rPr lang="ko-KR" altLang="en-US" sz="1600" u="sng" spc="-50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적용대상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EU CBAM</a:t>
            </a:r>
            <a:r>
              <a:rPr lang="ko-KR" altLang="en-US" sz="1600" spc="-50" dirty="0"/>
              <a:t>은 철강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시멘트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비료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알루미늄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전력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수소 부문에 대하여 적용된다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E58ACD5-4A62-DA82-E7D3-2405CDF53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7579" y="3349775"/>
            <a:ext cx="3447495" cy="18794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B92AF5B-746F-B50F-C2A7-EEE0B5F4CE32}"/>
              </a:ext>
            </a:extLst>
          </p:cNvPr>
          <p:cNvSpPr txBox="1"/>
          <p:nvPr/>
        </p:nvSpPr>
        <p:spPr>
          <a:xfrm>
            <a:off x="3767228" y="3048302"/>
            <a:ext cx="404384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spc="-50" dirty="0"/>
              <a:t>&lt;EU CBAM </a:t>
            </a:r>
            <a:r>
              <a:rPr lang="ko-KR" altLang="en-US" sz="1100" spc="-50" dirty="0"/>
              <a:t>전환기간과 확정기간의 주요 차이점</a:t>
            </a:r>
            <a:r>
              <a:rPr lang="en-US" altLang="ko-KR" sz="1100" spc="-50" dirty="0"/>
              <a:t>&gt;</a:t>
            </a:r>
            <a:endParaRPr lang="ko-KR" altLang="en-US" sz="11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BCEA4FA6-FB5B-7CBA-D9AB-0D88A8DD56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1520" y="5589998"/>
            <a:ext cx="2453529" cy="535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8857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8B0EB-74B1-B51C-A4E6-7DD41C0B0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24993C-D1C3-8436-D8C1-21698BE6D1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51A9577-CCBA-F474-5E82-99100C452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134292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en-US" altLang="ko-KR" b="1" i="0" spc="150" dirty="0">
                <a:solidFill>
                  <a:schemeClr val="accent2"/>
                </a:solidFill>
              </a:rPr>
              <a:t>T</a:t>
            </a:r>
            <a:r>
              <a:rPr lang="en-US" altLang="ko-KR" sz="5400" i="0" spc="100" dirty="0"/>
              <a:t>hank you</a:t>
            </a:r>
            <a:endParaRPr lang="ko-KR" altLang="en-US" sz="5400" i="0" spc="1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4898E0-926C-D8DA-8874-21A66F64B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404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6">
      <a:dk1>
        <a:srgbClr val="262626"/>
      </a:dk1>
      <a:lt1>
        <a:sysClr val="window" lastClr="FFFFFF"/>
      </a:lt1>
      <a:dk2>
        <a:srgbClr val="262626"/>
      </a:dk2>
      <a:lt2>
        <a:srgbClr val="EFEFEF"/>
      </a:lt2>
      <a:accent1>
        <a:srgbClr val="2D72BE"/>
      </a:accent1>
      <a:accent2>
        <a:srgbClr val="E15F5F"/>
      </a:accent2>
      <a:accent3>
        <a:srgbClr val="DA9D6D"/>
      </a:accent3>
      <a:accent4>
        <a:srgbClr val="009AB7"/>
      </a:accent4>
      <a:accent5>
        <a:srgbClr val="FF660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16743</TotalTime>
  <Words>1729</Words>
  <Application>Microsoft Office PowerPoint</Application>
  <PresentationFormat>와이드스크린</PresentationFormat>
  <Paragraphs>160</Paragraphs>
  <Slides>22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9" baseType="lpstr">
      <vt:lpstr>HY헤드라인M</vt:lpstr>
      <vt:lpstr>KoPub돋움체 Light</vt:lpstr>
      <vt:lpstr>맑은 고딕</vt:lpstr>
      <vt:lpstr>Arial</vt:lpstr>
      <vt:lpstr>Cambria Math</vt:lpstr>
      <vt:lpstr>Wingdings</vt:lpstr>
      <vt:lpstr>Office 테마</vt:lpstr>
      <vt:lpstr>환경경제학</vt:lpstr>
      <vt:lpstr>Chapter 18  비용분석</vt:lpstr>
      <vt:lpstr>Section 1. 환경정책비용의 종류</vt:lpstr>
      <vt:lpstr>환경정책 비용의 종류</vt:lpstr>
      <vt:lpstr>환경정책 비용의 종류</vt:lpstr>
      <vt:lpstr>Section 2. 직접비용의 계측방법</vt:lpstr>
      <vt:lpstr>직접비용 측정방법</vt:lpstr>
      <vt:lpstr>직접비용 측정방법</vt:lpstr>
      <vt:lpstr>직접비용 측정방법</vt:lpstr>
      <vt:lpstr>직접비용 측정방법</vt:lpstr>
      <vt:lpstr>직접비용 측정방법</vt:lpstr>
      <vt:lpstr>Section 3. 간접비용</vt:lpstr>
      <vt:lpstr>간접비용</vt:lpstr>
      <vt:lpstr>간접비용</vt:lpstr>
      <vt:lpstr>간접비용</vt:lpstr>
      <vt:lpstr>환경정책이 실업률에 미치는 영향</vt:lpstr>
      <vt:lpstr>환경정책이 실업률에 미치는 영향</vt:lpstr>
      <vt:lpstr>오염규제와 독점화</vt:lpstr>
      <vt:lpstr>탄소국경제도 (Carbon Border Adjustment Mechanism, CBAM)</vt:lpstr>
      <vt:lpstr>탄소국경제도</vt:lpstr>
      <vt:lpstr>탄소국경제도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Minyoung Roh</dc:creator>
  <cp:lastModifiedBy>Seungho Jeon</cp:lastModifiedBy>
  <cp:revision>652</cp:revision>
  <dcterms:created xsi:type="dcterms:W3CDTF">2025-07-05T05:15:23Z</dcterms:created>
  <dcterms:modified xsi:type="dcterms:W3CDTF">2025-11-18T01:52:46Z</dcterms:modified>
</cp:coreProperties>
</file>