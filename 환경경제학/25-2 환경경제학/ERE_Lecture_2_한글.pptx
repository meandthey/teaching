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sldIdLst>
    <p:sldId id="375" r:id="rId2"/>
    <p:sldId id="399" r:id="rId3"/>
    <p:sldId id="405" r:id="rId4"/>
    <p:sldId id="393" r:id="rId5"/>
    <p:sldId id="408" r:id="rId6"/>
    <p:sldId id="407" r:id="rId7"/>
    <p:sldId id="401" r:id="rId8"/>
    <p:sldId id="394" r:id="rId9"/>
    <p:sldId id="409" r:id="rId10"/>
    <p:sldId id="410" r:id="rId11"/>
    <p:sldId id="413" r:id="rId12"/>
    <p:sldId id="414" r:id="rId13"/>
    <p:sldId id="415" r:id="rId14"/>
    <p:sldId id="416" r:id="rId15"/>
    <p:sldId id="417" r:id="rId16"/>
    <p:sldId id="419" r:id="rId17"/>
    <p:sldId id="418" r:id="rId18"/>
    <p:sldId id="420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36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02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2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환경문제의 경제적 분석 틀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수요</a:t>
            </a:r>
            <a:r>
              <a:rPr lang="en-US" altLang="ko-KR" sz="4000" b="1" i="0" spc="150" dirty="0"/>
              <a:t>, </a:t>
            </a:r>
            <a:r>
              <a:rPr lang="ko-KR" altLang="en-US" sz="4000" b="1" i="0" spc="150" dirty="0"/>
              <a:t>공급 및 시장균형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DC6-A7C1-936A-85EA-2657159B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8ECA-15DE-3B06-4432-AA56B5EA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4C9F8-3142-EA32-1471-0CDD9301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1787F-AB1D-3DFA-462E-C052D4875F3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지불의사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서비스를 소비하는 대가로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소비하는데</a:t>
            </a:r>
            <a:r>
              <a:rPr lang="en-US" altLang="ko-KR" sz="1600" spc="-50" dirty="0"/>
              <a:t>, 1,500</a:t>
            </a:r>
            <a:r>
              <a:rPr lang="ko-KR" altLang="en-US" sz="1600" spc="-50" dirty="0"/>
              <a:t>원을 지불할 의향이 있음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한계지불의사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소비에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아이스크림에는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원까지 낼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아이스크림에는 </a:t>
            </a:r>
            <a:r>
              <a:rPr lang="en-US" altLang="ko-KR" sz="1600" spc="-50" dirty="0"/>
              <a:t>5,00</a:t>
            </a:r>
            <a:r>
              <a:rPr lang="ko-KR" altLang="en-US" sz="1600" spc="-50" dirty="0"/>
              <a:t>원 까지만 가능</a:t>
            </a:r>
            <a:endParaRPr lang="en-US" altLang="ko-KR" sz="1600" spc="-50" dirty="0"/>
          </a:p>
        </p:txBody>
      </p:sp>
      <p:pic>
        <p:nvPicPr>
          <p:cNvPr id="3" name="그림 2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5A357E-1FB0-B25A-0393-33BE5479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21" y="3299219"/>
            <a:ext cx="3071393" cy="3474874"/>
          </a:xfrm>
          <a:prstGeom prst="rect">
            <a:avLst/>
          </a:prstGeom>
        </p:spPr>
      </p:pic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0E407D-B0E8-1E41-267C-A9CB944D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254" y="330009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11E5-1BD8-ECB4-42AF-7CCD7AE23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90627-BBB4-597F-F85E-B857A59C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AD2CB-71BD-A990-BA9A-C5CD82C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3152-979D-24D9-F462-3C9BE8A544BC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시장수요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소비자가 구매하려는 수량</a:t>
            </a:r>
            <a:endParaRPr lang="en-US" altLang="ko-KR" sz="1600" spc="-50" dirty="0"/>
          </a:p>
        </p:txBody>
      </p:sp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DF9E-9F40-B5D3-0114-41C860F91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4" y="1740103"/>
            <a:ext cx="10356209" cy="437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/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blipFill>
                <a:blip r:embed="rId3"/>
                <a:stretch>
                  <a:fillRect l="-94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/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=1000−100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blipFill>
                <a:blip r:embed="rId4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/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95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60B4-29A2-3652-0577-A23DD3A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F33D-1B4C-1326-DDF8-D96E298B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소비자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A30C0-5D7B-8599-4E14-A29A5FB0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87413-50C4-703C-4DE0-005BC4E4070D}"/>
              </a:ext>
            </a:extLst>
          </p:cNvPr>
          <p:cNvSpPr txBox="1"/>
          <p:nvPr/>
        </p:nvSpPr>
        <p:spPr>
          <a:xfrm>
            <a:off x="678872" y="1038536"/>
            <a:ext cx="10975831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편익과 소비자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소비함으로써 얻는 만족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효용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화폐가치로 환산한 것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소비자잉여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소비자의 지불의사와 실제 지불한 금액의 차이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4" name="그림 13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1CA457-A94D-376F-0218-25DF3D08D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89" y="2186869"/>
            <a:ext cx="3915074" cy="44293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4E83D4-0CF3-AE4E-9729-CFC6840843F4}"/>
              </a:ext>
            </a:extLst>
          </p:cNvPr>
          <p:cNvSpPr txBox="1"/>
          <p:nvPr/>
        </p:nvSpPr>
        <p:spPr>
          <a:xfrm>
            <a:off x="1586652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061468-B9C1-0685-75FF-110944F1F02F}"/>
              </a:ext>
            </a:extLst>
          </p:cNvPr>
          <p:cNvSpPr txBox="1"/>
          <p:nvPr/>
        </p:nvSpPr>
        <p:spPr>
          <a:xfrm>
            <a:off x="1989323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c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CC795-8814-68E8-BC0B-35662A60629D}"/>
              </a:ext>
            </a:extLst>
          </p:cNvPr>
          <p:cNvSpPr txBox="1"/>
          <p:nvPr/>
        </p:nvSpPr>
        <p:spPr>
          <a:xfrm>
            <a:off x="1586652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886E55-7326-B11E-F291-8EACE80B9F6A}"/>
              </a:ext>
            </a:extLst>
          </p:cNvPr>
          <p:cNvSpPr txBox="1"/>
          <p:nvPr/>
        </p:nvSpPr>
        <p:spPr>
          <a:xfrm>
            <a:off x="1989323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FC06F5-7A76-0E2E-A702-29C8D384C45C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소비자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의 수요함수가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=1000−100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dirty="0"/>
                  <a:t> 일 때</a:t>
                </a:r>
                <a:r>
                  <a:rPr lang="en-US" altLang="ko-KR" sz="1600" dirty="0"/>
                  <a:t>,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4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15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0682-B3D6-07F6-8C2C-131A0CB2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D7111-D5AC-A640-38F9-7FE3DE73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D6A22-A934-2192-5506-54E9BABE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17AE2-04EC-28CA-B2D9-75E553220470}"/>
              </a:ext>
            </a:extLst>
          </p:cNvPr>
          <p:cNvSpPr txBox="1"/>
          <p:nvPr/>
        </p:nvSpPr>
        <p:spPr>
          <a:xfrm>
            <a:off x="678872" y="1038536"/>
            <a:ext cx="10975831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회계비용과 기회비용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회계비용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회계사가 자산과 부채를 평가하여 대차대조표를 만들 때 비용으로 인정하는 항목들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임금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 임대료 등 경제주체가 지불한 직접비용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기회비용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어떤 생산요소가 현재의 용도로 이용되지 않고 다른 용도로 이용되었을 때 얻을 수 있는 최대한의 수익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제품 생산 및 판매를 통한 사업수익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공장 임대를 통한 임대수익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사적비용과 사회적비용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경제행위의 결과로 발생한 비용 가운데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행위자에게만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사업자가 부담하는 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자본비용 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사회적비용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경제행위에 따른 모든 비용으로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뿐 아니라 다른 경제주체에게도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가동으로 인해 주변 주민들이 건강악화로 인해 지불하는 비용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9895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F3B0D-93FF-06EF-34CE-88C5A248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B5303-A094-198A-BCF4-122D5722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그림 9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EC3AA4-1BEA-3952-6C58-E17C3F61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08" y="3220103"/>
            <a:ext cx="3070621" cy="347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116BFD-0DDD-1BCF-4DF3-1176E296AE4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서비스를 공급하는데 지불하는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생산하는데</a:t>
            </a:r>
            <a:r>
              <a:rPr lang="en-US" altLang="ko-KR" sz="1600" spc="-50" dirty="0"/>
              <a:t> 150</a:t>
            </a:r>
            <a:r>
              <a:rPr lang="ko-KR" altLang="en-US" sz="1600" spc="-50" dirty="0"/>
              <a:t>원의 비용을 지불해야 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공급곡선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생산에 대해 지불해야 하는 추가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 생산에는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원을 지불해야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원을 지불해야 생산가능</a:t>
            </a:r>
            <a:endParaRPr lang="en-US" altLang="ko-KR" sz="1600" spc="-50" dirty="0"/>
          </a:p>
        </p:txBody>
      </p:sp>
      <p:pic>
        <p:nvPicPr>
          <p:cNvPr id="17" name="그림 1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F3822-974A-2BBF-E5E9-53A67BBC8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29" y="322010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3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E7F1-C39D-A8FC-E26E-89CD9DC4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A9D2A-3C73-2E54-A0F5-EBAE0535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A8A1F-BA6C-6DC3-A702-87D9EB380F47}"/>
              </a:ext>
            </a:extLst>
          </p:cNvPr>
          <p:cNvSpPr txBox="1"/>
          <p:nvPr/>
        </p:nvSpPr>
        <p:spPr>
          <a:xfrm>
            <a:off x="678872" y="958844"/>
            <a:ext cx="10975831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한계비용곡선의 형태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(a) </a:t>
            </a:r>
            <a:r>
              <a:rPr lang="ko-KR" altLang="en-US" sz="1600" spc="-50" dirty="0"/>
              <a:t>경제학에서 가장 일반적으로 받아들이는 형태의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(b)</a:t>
            </a:r>
            <a:r>
              <a:rPr lang="ko-KR" altLang="en-US" sz="1600" spc="-50" dirty="0"/>
              <a:t> 장기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(c) </a:t>
            </a:r>
            <a:r>
              <a:rPr lang="ko-KR" altLang="en-US" sz="1600" spc="-50" dirty="0"/>
              <a:t>비연속적인 형태의 한계비용곡선</a:t>
            </a:r>
            <a:endParaRPr lang="en-US" altLang="ko-KR" sz="1600" spc="-50" dirty="0"/>
          </a:p>
        </p:txBody>
      </p:sp>
      <p:pic>
        <p:nvPicPr>
          <p:cNvPr id="8" name="그림 7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E1E46A-4A49-C952-E4FD-68607D2B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56106"/>
            <a:ext cx="10182225" cy="39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D58C-AA79-E1C7-BAD8-4A3D0F50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AA93F-F303-9BDF-920C-7107CDBE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522B6-9FFF-BA47-B690-5E3EC6DF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0549A-92AD-773A-8475-34F8498DFC01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시장공급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생산자가 공급하려는 수량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/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blipFill>
                <a:blip r:embed="rId2"/>
                <a:stretch>
                  <a:fillRect l="-995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/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=200+50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blipFill>
                <a:blip r:embed="rId3"/>
                <a:stretch>
                  <a:fillRect l="-1299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A80626-194A-4CF8-80BC-8C89D00FD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3" y="1657963"/>
            <a:ext cx="10356398" cy="437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/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=200+40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blipFill>
                <a:blip r:embed="rId5"/>
                <a:stretch>
                  <a:fillRect l="-126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08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8878-A4D9-986D-1BAF-DE6D2798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E2EBD0-163A-1D86-04B4-CB29F9D3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98" y="2176849"/>
            <a:ext cx="3913848" cy="442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BF9A76-6926-4D99-9DE3-60B25288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생산자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4ED0D-6E2E-299A-D10D-1C338AF3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7A8E9-F64D-F683-0C39-FEE4656C1705}"/>
              </a:ext>
            </a:extLst>
          </p:cNvPr>
          <p:cNvSpPr txBox="1"/>
          <p:nvPr/>
        </p:nvSpPr>
        <p:spPr>
          <a:xfrm>
            <a:off x="678872" y="1043616"/>
            <a:ext cx="10975831" cy="119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공급함으로써 얻은 편익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수입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공급자의 수입과 지불한 비용의 차이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58A20-97AA-3DAA-82A2-F81CD4DBC2C8}"/>
              </a:ext>
            </a:extLst>
          </p:cNvPr>
          <p:cNvSpPr txBox="1"/>
          <p:nvPr/>
        </p:nvSpPr>
        <p:spPr>
          <a:xfrm>
            <a:off x="1671419" y="419298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58ABF-108D-274B-2715-87DBADEC5DEF}"/>
              </a:ext>
            </a:extLst>
          </p:cNvPr>
          <p:cNvSpPr txBox="1"/>
          <p:nvPr/>
        </p:nvSpPr>
        <p:spPr>
          <a:xfrm>
            <a:off x="1835572" y="532977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F5607-BF8F-417A-32AF-88EF64156E3E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공급자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공급함수가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 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시장가격이 </a:t>
                </a:r>
                <a:r>
                  <a:rPr lang="en-US" altLang="ko-KR" sz="1600" dirty="0"/>
                  <a:t>600</a:t>
                </a:r>
                <a:r>
                  <a:rPr lang="ko-KR" altLang="en-US" sz="1600" dirty="0"/>
                  <a:t>원으로 결정되어 있다고 하자</a:t>
                </a:r>
                <a:r>
                  <a:rPr lang="en-US" altLang="ko-KR" sz="1600" dirty="0"/>
                  <a:t>.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공급자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공급할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공급자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26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B287-74C3-E7A1-176A-BE63C220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310D9-CD30-E4E7-92AE-7A811CD3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3" name="그림 1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48241-B9E6-68A4-5C9E-A99938C0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504" y="861661"/>
            <a:ext cx="5094334" cy="57635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DA4F83-7AE1-5F9C-8D4F-AC5FC3682008}"/>
              </a:ext>
            </a:extLst>
          </p:cNvPr>
          <p:cNvSpPr txBox="1"/>
          <p:nvPr/>
        </p:nvSpPr>
        <p:spPr>
          <a:xfrm>
            <a:off x="678872" y="1038536"/>
            <a:ext cx="509433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수요량과 공급량이 일치하는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가격을 균형가격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수량을 균형거래량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 메커니즘이 작동하면서 가격은 자연스럽게 조정되어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균형점에 수렴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이하에서는 초과 수요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이상에서는 초과 공급 발생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8673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A4AD-02D7-0B9C-E8D1-E4F2D73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350FDB-0E00-86CB-7E87-99DD816E41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C8925-BCAF-F2E1-7C39-4436F03A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774BEC3-6799-368D-5EE6-92EA60B9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자원환경 이용에 있어 시장의 실패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7303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2399-5788-E74B-5361-EE2B3FD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01FE-46B7-EA74-DC09-87F917E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3EA2D-F4A0-4D5F-3A9A-6FA2AC8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2426D-C31F-AFC8-B56C-C1FC23808E47}"/>
              </a:ext>
            </a:extLst>
          </p:cNvPr>
          <p:cNvSpPr txBox="1"/>
          <p:nvPr/>
        </p:nvSpPr>
        <p:spPr>
          <a:xfrm>
            <a:off x="678872" y="1038536"/>
            <a:ext cx="1125912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 메커니즘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자유로운 거래가 가능한 완전경쟁시장에서는 </a:t>
            </a:r>
            <a:r>
              <a:rPr lang="ko-KR" altLang="en-US" sz="1600" spc="-50" dirty="0" err="1"/>
              <a:t>시장메커니즘에</a:t>
            </a:r>
            <a:r>
              <a:rPr lang="ko-KR" altLang="en-US" sz="1600" spc="-50" dirty="0"/>
              <a:t> 의해 자원의 가장 효율적인 배분이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개인들이 자신만의 목적을 달성하기 위해 행동할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전체의 순편익이 최대가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편익이 사회적 편익과 일치하고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사적 비용도 사회적 비용과 일치함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효율적인 자원배분을 위한 조건들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시장이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 대한 완전한 정보가 개인에게 알려져 있어야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u="sng" spc="-50" dirty="0"/>
              <a:t>시장에서 거래되는 재화나 서비스의 소유권이 완전하게 설정되어 있어야 함</a:t>
            </a:r>
            <a:r>
              <a:rPr lang="en-US" altLang="ko-KR" sz="1600" b="1" u="sng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102ED2-1F04-07B7-F755-4FE46A78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52595"/>
              </p:ext>
            </p:extLst>
          </p:nvPr>
        </p:nvGraphicFramePr>
        <p:xfrm>
          <a:off x="767772" y="5048467"/>
          <a:ext cx="1039495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685">
                  <a:extLst>
                    <a:ext uri="{9D8B030D-6E8A-4147-A177-3AD203B41FA5}">
                      <a16:colId xmlns:a16="http://schemas.microsoft.com/office/drawing/2014/main" val="4111635576"/>
                    </a:ext>
                  </a:extLst>
                </a:gridCol>
                <a:gridCol w="6996265">
                  <a:extLst>
                    <a:ext uri="{9D8B030D-6E8A-4147-A177-3AD203B41FA5}">
                      <a16:colId xmlns:a16="http://schemas.microsoft.com/office/drawing/2014/main" val="2160743333"/>
                    </a:ext>
                  </a:extLst>
                </a:gridCol>
              </a:tblGrid>
              <a:tr h="24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소유권의 성질</a:t>
                      </a:r>
                      <a:endParaRPr lang="ko-KR" altLang="en-US" sz="1100" b="1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500"/>
                        </a:spcAft>
                        <a:buFontTx/>
                        <a:buNone/>
                      </a:pPr>
                      <a:r>
                        <a:rPr lang="ko-KR" altLang="en-US" sz="1100" b="1" kern="1200" spc="0" baseline="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미</a:t>
                      </a:r>
                      <a:endParaRPr lang="ko-KR" altLang="en-US" sz="1100" b="1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749017"/>
                  </a:ext>
                </a:extLst>
              </a:tr>
              <a:tr h="318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배타성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(Exclusivity)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자원을 소유하고 이용함에 따라 발생하는 모든 편익과 비용은 그 자원의 소유주에게 귀속되고</a:t>
                      </a:r>
                      <a:r>
                        <a:rPr lang="en-US" altLang="ko-KR" sz="1100" b="0" spc="0" baseline="0" dirty="0"/>
                        <a:t>, </a:t>
                      </a:r>
                      <a:r>
                        <a:rPr lang="ko-KR" altLang="en-US" sz="1100" b="0" spc="0" baseline="0" dirty="0"/>
                        <a:t>또한 자원의 소유주만이 그러한 편익을 누리거나 비용을 부담함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5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이전성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(Transferability)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모든 소유권은 자발전인 거래를 통해 다른 사람에게 이전될 수 있어야 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517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실행가능성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(Enforceability)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자신이 보유한 소유권은 자신이 원하지 않을 경우 다른 사람에 의해 침해되지 않음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960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E41EDC-24EB-75AC-5A5D-BA830CA49812}"/>
              </a:ext>
            </a:extLst>
          </p:cNvPr>
          <p:cNvSpPr txBox="1"/>
          <p:nvPr/>
        </p:nvSpPr>
        <p:spPr>
          <a:xfrm>
            <a:off x="6509442" y="6276330"/>
            <a:ext cx="465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/>
              <a:t>Source:</a:t>
            </a:r>
            <a:r>
              <a:rPr lang="ko-KR" altLang="en-US" sz="600" dirty="0"/>
              <a:t> </a:t>
            </a:r>
            <a:r>
              <a:rPr lang="en-US" altLang="ko-KR" sz="600" dirty="0" err="1"/>
              <a:t>Tietenberg</a:t>
            </a:r>
            <a:r>
              <a:rPr lang="en-US" altLang="ko-KR" sz="600" dirty="0"/>
              <a:t>, T. (2005) Environmental and Natural Resource Economics, 7th ed., Harper and Collins</a:t>
            </a:r>
            <a:endParaRPr lang="ko-KR" altLang="en-US" sz="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1FF8F-F3BE-FFDC-4033-99191A3E74E4}"/>
              </a:ext>
            </a:extLst>
          </p:cNvPr>
          <p:cNvSpPr txBox="1"/>
          <p:nvPr/>
        </p:nvSpPr>
        <p:spPr>
          <a:xfrm>
            <a:off x="2425700" y="4621846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spc="-50" dirty="0"/>
              <a:t>&lt; </a:t>
            </a:r>
            <a:r>
              <a:rPr lang="ko-KR" altLang="en-US" sz="1800" b="1" spc="-50" dirty="0"/>
              <a:t>효율적인 소유권 </a:t>
            </a:r>
            <a:r>
              <a:rPr lang="en-US" altLang="ko-KR" sz="1800" b="1" spc="-5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5656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851D-4107-4D0F-CC76-0984B0C3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28135-DDA2-3657-AFE6-DCDFD241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재화의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D697D-4B53-F1CD-BF75-64076122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315CAFC-34D0-F0C5-642A-6B9F117AE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42850"/>
              </p:ext>
            </p:extLst>
          </p:nvPr>
        </p:nvGraphicFramePr>
        <p:xfrm>
          <a:off x="3076218" y="3563857"/>
          <a:ext cx="6039564" cy="25781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9782">
                  <a:extLst>
                    <a:ext uri="{9D8B030D-6E8A-4147-A177-3AD203B41FA5}">
                      <a16:colId xmlns:a16="http://schemas.microsoft.com/office/drawing/2014/main" val="4016159992"/>
                    </a:ext>
                  </a:extLst>
                </a:gridCol>
                <a:gridCol w="3019782">
                  <a:extLst>
                    <a:ext uri="{9D8B030D-6E8A-4147-A177-3AD203B41FA5}">
                      <a16:colId xmlns:a16="http://schemas.microsoft.com/office/drawing/2014/main" val="3502439075"/>
                    </a:ext>
                  </a:extLst>
                </a:gridCol>
              </a:tblGrid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-5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사유재</a:t>
                      </a:r>
                      <a:endParaRPr lang="en-US" altLang="ko-KR" sz="1600" b="1" kern="1200" spc="-50" dirty="0">
                        <a:ln w="3175">
                          <a:noFill/>
                        </a:ln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5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(Private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아이스크림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집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(Club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OTT (</a:t>
                      </a:r>
                      <a:r>
                        <a:rPr lang="ko-KR" altLang="en-US" sz="1400" b="1" spc="-50" dirty="0" err="1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넷플릭스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한산한 유료 고속도로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55331"/>
                  </a:ext>
                </a:extLst>
              </a:tr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 공공재 </a:t>
                      </a:r>
                      <a:endParaRPr lang="en-US" altLang="ko-KR" sz="1600" b="1" spc="-50" dirty="0">
                        <a:ln w="3175">
                          <a:noFill/>
                        </a:ln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(Common resources)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바다 속 물고기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공원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순수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(Public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국방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및 치안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재난 경보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077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AD1F91-B25D-1B3E-3CBE-394BECFE1409}"/>
              </a:ext>
            </a:extLst>
          </p:cNvPr>
          <p:cNvSpPr txBox="1"/>
          <p:nvPr/>
        </p:nvSpPr>
        <p:spPr>
          <a:xfrm>
            <a:off x="5310106" y="2828317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1D017-1A9E-7A6D-CC78-2C95708C46F2}"/>
              </a:ext>
            </a:extLst>
          </p:cNvPr>
          <p:cNvSpPr txBox="1"/>
          <p:nvPr/>
        </p:nvSpPr>
        <p:spPr>
          <a:xfrm>
            <a:off x="40939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FF820-E4C8-BEB9-24BA-4C86A7135D05}"/>
              </a:ext>
            </a:extLst>
          </p:cNvPr>
          <p:cNvSpPr txBox="1"/>
          <p:nvPr/>
        </p:nvSpPr>
        <p:spPr>
          <a:xfrm>
            <a:off x="70911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</a:t>
            </a: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B50BD-9C2B-70FD-38A5-4219993F1796}"/>
              </a:ext>
            </a:extLst>
          </p:cNvPr>
          <p:cNvSpPr txBox="1"/>
          <p:nvPr/>
        </p:nvSpPr>
        <p:spPr>
          <a:xfrm>
            <a:off x="890506" y="4376628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배제성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5E2270-148F-0B42-23DE-63FA177F65DC}"/>
              </a:ext>
            </a:extLst>
          </p:cNvPr>
          <p:cNvSpPr txBox="1"/>
          <p:nvPr/>
        </p:nvSpPr>
        <p:spPr>
          <a:xfrm>
            <a:off x="2201664" y="387054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772FBD-79CB-D109-2848-66AC81763DA2}"/>
              </a:ext>
            </a:extLst>
          </p:cNvPr>
          <p:cNvSpPr txBox="1"/>
          <p:nvPr/>
        </p:nvSpPr>
        <p:spPr>
          <a:xfrm>
            <a:off x="2201664" y="4975047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A91B29-F597-C936-FF7C-6B71B3D75B26}"/>
              </a:ext>
            </a:extLst>
          </p:cNvPr>
          <p:cNvSpPr txBox="1"/>
          <p:nvPr/>
        </p:nvSpPr>
        <p:spPr>
          <a:xfrm>
            <a:off x="678872" y="1038536"/>
            <a:ext cx="1125912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경합성과 배제성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서비스는 경합성과 배제성의 유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무에 따라 아래와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가지로 분류할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배제성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돈을 내지 않거나 조건을 충족하지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소비하지 못하도록 막을 수 있는 성질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경합성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사람이 재화나 서비스를 소비하면 다른 사람이 동시에 소비할 수 없게 되는 성질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3748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6417-FF52-02D4-D5E8-ECF88F32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5D739-BEE1-2398-2C26-21619885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비극 </a:t>
            </a:r>
            <a:r>
              <a:rPr lang="en-US" altLang="ko-KR" dirty="0"/>
              <a:t>(Tragedy of Common resources)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CB3F7-5A96-BB3F-A729-97DE1E24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A47094-1C7C-A5BD-0697-54815800052D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공유자원의 비극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개방자원과 유사하지만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소유권이 비교적 적은 수의 구성원으로 이루어진 집단에게 부여되어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개인소유가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 소유이므로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개방자원과 마찬가지로 여전히 남용될 가능성이 높음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해결책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전체가 동의하는 공식적인 규칙을 만들어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구성원들 사이에 예전부터 존재하는 관습이나 전통을 이용하여 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어촌 앞바다에서 양식을 할 수 있는 권리는 </a:t>
            </a:r>
            <a:r>
              <a:rPr lang="ko-KR" altLang="en-US" sz="1600" spc="-50" dirty="0" err="1"/>
              <a:t>어촌계</a:t>
            </a:r>
            <a:r>
              <a:rPr lang="ko-KR" altLang="en-US" sz="1600" spc="-50" dirty="0"/>
              <a:t> 마을에 부여되어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가구별로 양식장으로 활용할 수 있는 면적을 할당하고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상대적으로 유리하거나 불리한 위치가 있을 수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가구별 양식장의 위치를 정해진 기간마다 바꾸어 사용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76186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C268-0B17-1D8F-2AEC-BCE7D2C3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4E5F9-E6D8-D849-7CB6-C9986435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92CBC-37AA-6A64-8828-A0CA42DD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6730E-4F57-20B9-F7D5-16A01000C225}"/>
              </a:ext>
            </a:extLst>
          </p:cNvPr>
          <p:cNvSpPr txBox="1"/>
          <p:nvPr/>
        </p:nvSpPr>
        <p:spPr>
          <a:xfrm>
            <a:off x="678872" y="1038536"/>
            <a:ext cx="575548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전세계 바다 참치잡이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공해 수산자원의 소유권은 누구에게도 부여되어 있지 않음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누구든 어업활동을 통해 자원 이용이 가능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그림은 공유자원 이용의 비효율성을 보여주고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세로축은 참치잡이 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척당 </a:t>
            </a:r>
            <a:r>
              <a:rPr lang="ko-KR" altLang="en-US" sz="1600" spc="-50" dirty="0" err="1"/>
              <a:t>지불해야하는</a:t>
            </a:r>
            <a:r>
              <a:rPr lang="ko-KR" altLang="en-US" sz="1600" spc="-50" dirty="0"/>
              <a:t> 비용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벌어들이는 수입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가로축은 참치잡이 배의 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전세계 참치잡이의 총이윤을 극대화해주는 배의 수보다 더 많은 배가 어업활동을 하게 되는 결과가 초래 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:</a:t>
            </a:r>
            <a:r>
              <a:rPr lang="ko-KR" altLang="en-US" sz="1600" spc="-50" dirty="0"/>
              <a:t> 총 이윤을 극대화 해주는 배의 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** 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결과적으로 나타나는 배의 수</a:t>
            </a:r>
            <a:endParaRPr lang="en-US" altLang="ko-KR" sz="1600" spc="-50" dirty="0"/>
          </a:p>
        </p:txBody>
      </p:sp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8AE8F-491E-8ADD-DA9F-81E94D14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83"/>
          <a:stretch>
            <a:fillRect/>
          </a:stretch>
        </p:blipFill>
        <p:spPr>
          <a:xfrm>
            <a:off x="6601113" y="1161874"/>
            <a:ext cx="5151121" cy="545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A83FB-64A3-2083-EDB9-8BC94A18F716}"/>
              </a:ext>
            </a:extLst>
          </p:cNvPr>
          <p:cNvSpPr txBox="1"/>
          <p:nvPr/>
        </p:nvSpPr>
        <p:spPr>
          <a:xfrm>
            <a:off x="9001027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</a:t>
            </a:r>
            <a:endParaRPr lang="ko-KR" altLang="en-US" sz="1100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57963-86DD-A34F-6326-C55853492346}"/>
              </a:ext>
            </a:extLst>
          </p:cNvPr>
          <p:cNvSpPr txBox="1"/>
          <p:nvPr/>
        </p:nvSpPr>
        <p:spPr>
          <a:xfrm>
            <a:off x="10750130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**</a:t>
            </a:r>
            <a:endParaRPr lang="ko-KR" altLang="en-US" sz="1100" baseline="30000" dirty="0"/>
          </a:p>
        </p:txBody>
      </p:sp>
    </p:spTree>
    <p:extLst>
      <p:ext uri="{BB962C8B-B14F-4D97-AF65-F5344CB8AC3E}">
        <p14:creationId xmlns:p14="http://schemas.microsoft.com/office/powerpoint/2010/main" val="2370484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CDB5-D6AD-1260-9D97-38FEAD7D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2F20-6A4A-03DA-DA98-228622A2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공공재시장의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132BA-2FF6-9606-D9E9-33E32BEF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23333F-7465-DD21-2765-179D3A10CC51}"/>
              </a:ext>
            </a:extLst>
          </p:cNvPr>
          <p:cNvSpPr txBox="1"/>
          <p:nvPr/>
        </p:nvSpPr>
        <p:spPr>
          <a:xfrm>
            <a:off x="328634" y="1267136"/>
            <a:ext cx="6577487" cy="49691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재화나 서비스를 동시에 소비하므로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공공재 전체 시장의 한계지불의사는 개별 한계지불의사의 수직 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D = d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+d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 전체적으로 가장 바람직한 공공재의 생산 및 소비량은 시장전체 수요</a:t>
            </a:r>
            <a:r>
              <a:rPr lang="en-US" altLang="ko-KR" sz="1600" spc="-50" dirty="0"/>
              <a:t>(D)</a:t>
            </a:r>
            <a:r>
              <a:rPr lang="ko-KR" altLang="en-US" sz="1600" spc="-50" dirty="0"/>
              <a:t>와 한계비용</a:t>
            </a:r>
            <a:r>
              <a:rPr lang="en-US" altLang="ko-KR" sz="1600" spc="-50" dirty="0"/>
              <a:t>(MC)</a:t>
            </a:r>
            <a:r>
              <a:rPr lang="ko-KR" altLang="en-US" sz="1600" spc="-50" dirty="0"/>
              <a:t>이 만나는 지점</a:t>
            </a:r>
            <a:r>
              <a:rPr lang="en-US" altLang="ko-KR" sz="1600" spc="-50" dirty="0"/>
              <a:t>: Q</a:t>
            </a:r>
            <a:r>
              <a:rPr lang="en-US" altLang="ko-KR" sz="1600" spc="-50" baseline="30000" dirty="0"/>
              <a:t>*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각각의 개별 한계지불의사와 한계비용이 만나는 지점에서 공공재를 소비하고자 함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특성상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이미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만큼은의 가격을 지불 했으므로</a:t>
            </a:r>
            <a:r>
              <a:rPr lang="en-US" altLang="ko-KR" sz="1600" spc="-50" dirty="0"/>
              <a:t>, (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–</a:t>
            </a:r>
            <a:r>
              <a:rPr lang="ko-KR" altLang="en-US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만큼만 지불하고자 할 것</a:t>
            </a:r>
            <a:r>
              <a:rPr lang="en-US" altLang="ko-KR" sz="1600" spc="-50" dirty="0"/>
              <a:t>: </a:t>
            </a:r>
            <a:r>
              <a:rPr lang="ko-KR" altLang="en-US" sz="1600" b="1" u="sng" spc="-50" dirty="0"/>
              <a:t>무임승차</a:t>
            </a:r>
            <a:r>
              <a:rPr lang="ko-KR" altLang="en-US" sz="1600" spc="-50" dirty="0"/>
              <a:t>의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전체 시장에 공급되는 공공재의 총량은 </a:t>
            </a: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 </a:t>
            </a:r>
            <a:r>
              <a:rPr lang="ko-KR" altLang="en-US" sz="1600" spc="-50" dirty="0"/>
              <a:t>보다 적은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B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</p:txBody>
      </p:sp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96682-302A-CE0E-FC1F-F1693580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93" y="760917"/>
            <a:ext cx="5079846" cy="58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4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5024-6D0D-1C78-8C4A-4B5671BF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4F41B-ED96-1512-131F-4A241AB6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무임승차를 완화시키는 조건들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D35FB-0741-C82A-6A99-F47CD67C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4A7CF-EE40-8759-730F-8E9732024899}"/>
              </a:ext>
            </a:extLst>
          </p:cNvPr>
          <p:cNvSpPr txBox="1"/>
          <p:nvPr/>
        </p:nvSpPr>
        <p:spPr>
          <a:xfrm>
            <a:off x="557239" y="1044886"/>
            <a:ext cx="10430212" cy="50922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수요자 간 선호도의 차이가 매우 큰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수요가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에 비해 매우 크다면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무임승차자가 되려 한다는 것을 알고 있더라도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공공재를 구입하는 것이 더 나으므로 대가를 지불하게 될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이타심을 가지는 경우 </a:t>
            </a:r>
            <a:r>
              <a:rPr lang="en-US" altLang="ko-KR" sz="1600" spc="-50" dirty="0"/>
              <a:t>(altruism)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공공재 소비로 인해 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효용이 증가하는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이타심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</a:t>
            </a:r>
            <a:r>
              <a:rPr lang="ko-KR" altLang="en-US" sz="1600" spc="-50" dirty="0" err="1"/>
              <a:t>유사이타심을</a:t>
            </a:r>
            <a:r>
              <a:rPr lang="ko-KR" altLang="en-US" sz="1600" spc="-50" dirty="0"/>
              <a:t> 가지는 경우 </a:t>
            </a:r>
            <a:r>
              <a:rPr lang="en-US" altLang="ko-KR" sz="1600" spc="-50" dirty="0"/>
              <a:t>(warm-glow effect)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자신이 공공재를 공급하여 공동체에 기여 했다는 사실을 남이 알아주어 효용이 증가하는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위의 조건들은 현실에서 기대하기 힘들 뿐 아니라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무임승차의 일부를 완화시킬 뿐 제거할 수는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보다 근본적인 해결책으로는 국가에서 공공재를 직접 공급하는 것이지만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어려운 문제가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사회에 공공재를 얼만큼 </a:t>
            </a:r>
            <a:r>
              <a:rPr lang="ko-KR" altLang="en-US" sz="1600" spc="-50" dirty="0" err="1"/>
              <a:t>공급하는게</a:t>
            </a:r>
            <a:r>
              <a:rPr lang="ko-KR" altLang="en-US" sz="1600" spc="-50" dirty="0"/>
              <a:t> 효율적인지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사회를 구성하는 개인들에게 이용대금을 얼마나 어떻게 징수할 것인지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83246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12F2-1A60-787C-84E5-01391422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A9DB7-7DE0-B5D5-4D88-1C88B7E1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효율적인 공공재 공급을 위한 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002B-2EAA-7D34-C00A-C18CB910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028E7-2B61-1D29-75B8-5018DF35DBF1}"/>
              </a:ext>
            </a:extLst>
          </p:cNvPr>
          <p:cNvSpPr txBox="1"/>
          <p:nvPr/>
        </p:nvSpPr>
        <p:spPr>
          <a:xfrm>
            <a:off x="678872" y="1038536"/>
            <a:ext cx="10243594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린달균형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스웨덴 경제학자 에릭 </a:t>
            </a:r>
            <a:r>
              <a:rPr lang="ko-KR" altLang="en-US" sz="1600" spc="-50" dirty="0" err="1"/>
              <a:t>린달</a:t>
            </a:r>
            <a:r>
              <a:rPr lang="en-US" altLang="ko-KR" sz="1600" spc="-50" dirty="0"/>
              <a:t>(Erik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Lindahl)</a:t>
            </a:r>
            <a:r>
              <a:rPr lang="ko-KR" altLang="en-US" sz="1600" spc="-50" dirty="0"/>
              <a:t>에 따르면 사람들이 각자 자기의 한계편익에 맞는 가격을 부담하면 공공재의 효율적 수준을 달성할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공급 비용을 모든 개인의 세금 부담으로 나눠야 하는데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내가 지불하는 세금의 비율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내가 느끼는 한계편익의 비율이 되도록 분담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개인별로 다른 가격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세금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린달균형이</a:t>
            </a:r>
            <a:r>
              <a:rPr lang="ko-KR" altLang="en-US" sz="1600" spc="-50" dirty="0"/>
              <a:t> 존재한다면 공공재 공급을 가장 효율적으로 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그 균형을 찾는 것은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837697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0695-8D7C-E71C-08E8-8BFD990F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76220-9925-9537-58F2-B25EACE6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790E32-1BE0-623C-19BE-0022E85A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0F795-3DB2-B0F9-96D6-4595E77BE999}"/>
              </a:ext>
            </a:extLst>
          </p:cNvPr>
          <p:cNvSpPr txBox="1"/>
          <p:nvPr/>
        </p:nvSpPr>
        <p:spPr>
          <a:xfrm>
            <a:off x="678872" y="1038536"/>
            <a:ext cx="10243594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개인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 수준이 다른 사람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의사결정에 의해 직접적인 영향을 받지만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자신이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후생에 미친 영향과 일치하는 만큼의 책임을 지거나 대가를 받지 않을 때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배타성을 갖추지 못하여 발생하는 시장실패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인근 공장에서 나온 폐수로 인해 양어장이 피해를 보는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음의 외부효과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과수원의 사과 꽃이 양봉업자의 벌꿀 생산에 이익을 주는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양의 외부효과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7" name="그림 6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8E558-53E8-F782-4EC4-5A81756B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24" y="3358069"/>
            <a:ext cx="8223889" cy="31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8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67FB-A7DD-6820-9337-8858C3F7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FE855-E94C-D4D3-F999-57A90E88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00CE1-A939-C6E6-4DD9-57E6BFD8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FE9A0-B201-9706-6603-C4DA8C583B0F}"/>
              </a:ext>
            </a:extLst>
          </p:cNvPr>
          <p:cNvSpPr txBox="1"/>
          <p:nvPr/>
        </p:nvSpPr>
        <p:spPr>
          <a:xfrm>
            <a:off x="678872" y="1038536"/>
            <a:ext cx="10788966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 교섭을 통한 해결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사적 교섭을 통해 시장의 실패를 해결할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 축은 공장이 배출하는 폐수의 양을 의미함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폐수를 </a:t>
            </a:r>
            <a:r>
              <a:rPr lang="ko-KR" altLang="en-US" sz="1600" spc="-50" dirty="0" err="1"/>
              <a:t>수요하며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폐수를 한 단위씩 추가 배출할 때마다 벌어들일 수 있는 수익이 있음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폐수 수요</a:t>
            </a:r>
            <a:r>
              <a:rPr lang="en-US" altLang="ko-KR" sz="1600" spc="-50" dirty="0"/>
              <a:t> (D))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폐수는 양어장의 생산성을 떨어뜨리며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폐수가 한 단위씩 추가될 때마다 피해를 보고 있음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한계피해액 </a:t>
            </a:r>
            <a:r>
              <a:rPr lang="en-US" altLang="ko-KR" sz="1600" spc="-50" dirty="0"/>
              <a:t>(MD))</a:t>
            </a:r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DE003-1565-ED8D-405E-400698BE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915955" y="29983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D3600-B417-B23F-D207-FB4026516891}"/>
              </a:ext>
            </a:extLst>
          </p:cNvPr>
          <p:cNvSpPr txBox="1"/>
          <p:nvPr/>
        </p:nvSpPr>
        <p:spPr>
          <a:xfrm>
            <a:off x="7743825" y="40589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AD90A-06FC-CBA2-7F1F-71EC9B3B018B}"/>
              </a:ext>
            </a:extLst>
          </p:cNvPr>
          <p:cNvSpPr txBox="1"/>
          <p:nvPr/>
        </p:nvSpPr>
        <p:spPr>
          <a:xfrm>
            <a:off x="7743825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760EA-0D39-FC77-C644-3C0D58C9617F}"/>
              </a:ext>
            </a:extLst>
          </p:cNvPr>
          <p:cNvSpPr txBox="1"/>
          <p:nvPr/>
        </p:nvSpPr>
        <p:spPr>
          <a:xfrm>
            <a:off x="87090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B9630-7EAE-78C0-6ADD-4D55242573E8}"/>
              </a:ext>
            </a:extLst>
          </p:cNvPr>
          <p:cNvSpPr txBox="1"/>
          <p:nvPr/>
        </p:nvSpPr>
        <p:spPr>
          <a:xfrm>
            <a:off x="95472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28D3E-36A1-3358-1AFC-8CBF86C694F5}"/>
              </a:ext>
            </a:extLst>
          </p:cNvPr>
          <p:cNvSpPr txBox="1"/>
          <p:nvPr/>
        </p:nvSpPr>
        <p:spPr>
          <a:xfrm>
            <a:off x="10472737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138A6-4B0C-C9B8-C65C-1331DB26B352}"/>
              </a:ext>
            </a:extLst>
          </p:cNvPr>
          <p:cNvSpPr txBox="1"/>
          <p:nvPr/>
        </p:nvSpPr>
        <p:spPr>
          <a:xfrm>
            <a:off x="10472737" y="40541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A72A9-7832-8AB3-4802-E2906A373166}"/>
              </a:ext>
            </a:extLst>
          </p:cNvPr>
          <p:cNvSpPr txBox="1"/>
          <p:nvPr/>
        </p:nvSpPr>
        <p:spPr>
          <a:xfrm>
            <a:off x="678872" y="2892736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오염규제가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교섭도 없으면 공장은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폐수를 배출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주인이 공장주에게 폐수 배출량을 한 단위 줄일 때마다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에서의 폐수 한계가치와 동일한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지불하겠다고 제안하면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폐수 한계가치와 단위당 보상액이 일치하는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수준으로 배출량을 줄일 것임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/>
              <a:t>d </a:t>
            </a:r>
            <a:r>
              <a:rPr lang="ko-KR" altLang="en-US" sz="1600" spc="-50" dirty="0"/>
              <a:t>만큼의 손해를 보지만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만큼의 보상을 양어장 주인으로부터 받게 됨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E17FE-7D31-72BB-2957-C056F857380A}"/>
              </a:ext>
            </a:extLst>
          </p:cNvPr>
          <p:cNvSpPr txBox="1"/>
          <p:nvPr/>
        </p:nvSpPr>
        <p:spPr>
          <a:xfrm>
            <a:off x="5543130" y="6261730"/>
            <a:ext cx="1060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→ 뒷장 계속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6861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AE52-48A8-7FD7-DD73-766A265C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A463-1BB4-C624-12D9-0E31BC37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8B455-4D04-D48B-FAD4-3D0CDB59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FE4AC9-8D3C-6815-8BD3-054286BE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7" r="50000"/>
          <a:stretch>
            <a:fillRect/>
          </a:stretch>
        </p:blipFill>
        <p:spPr>
          <a:xfrm>
            <a:off x="6915955" y="11695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732E02-83CA-26CA-A117-26EFADF2ADEB}"/>
              </a:ext>
            </a:extLst>
          </p:cNvPr>
          <p:cNvSpPr txBox="1"/>
          <p:nvPr/>
        </p:nvSpPr>
        <p:spPr>
          <a:xfrm>
            <a:off x="7743825" y="22301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290CD-998B-C7EC-823A-CCAF7EFD2808}"/>
              </a:ext>
            </a:extLst>
          </p:cNvPr>
          <p:cNvSpPr txBox="1"/>
          <p:nvPr/>
        </p:nvSpPr>
        <p:spPr>
          <a:xfrm>
            <a:off x="7743825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33D49-A940-6A6A-3B4C-7DA1151A1899}"/>
              </a:ext>
            </a:extLst>
          </p:cNvPr>
          <p:cNvSpPr txBox="1"/>
          <p:nvPr/>
        </p:nvSpPr>
        <p:spPr>
          <a:xfrm>
            <a:off x="87090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2477A-82D9-38A4-F48B-4EA930845754}"/>
              </a:ext>
            </a:extLst>
          </p:cNvPr>
          <p:cNvSpPr txBox="1"/>
          <p:nvPr/>
        </p:nvSpPr>
        <p:spPr>
          <a:xfrm>
            <a:off x="95472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93BEF-0B7C-2DFA-9AA6-E7683A12C4A0}"/>
              </a:ext>
            </a:extLst>
          </p:cNvPr>
          <p:cNvSpPr txBox="1"/>
          <p:nvPr/>
        </p:nvSpPr>
        <p:spPr>
          <a:xfrm>
            <a:off x="10472737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BBF04-D881-C96C-1CA8-F26431D44694}"/>
              </a:ext>
            </a:extLst>
          </p:cNvPr>
          <p:cNvSpPr txBox="1"/>
          <p:nvPr/>
        </p:nvSpPr>
        <p:spPr>
          <a:xfrm>
            <a:off x="10472737" y="22253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88458-9361-17F6-7073-BE7F1A09D918}"/>
              </a:ext>
            </a:extLst>
          </p:cNvPr>
          <p:cNvSpPr txBox="1"/>
          <p:nvPr/>
        </p:nvSpPr>
        <p:spPr>
          <a:xfrm>
            <a:off x="678872" y="1038536"/>
            <a:ext cx="603307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양어장 주인의 입장에서는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만큼을 공장주에게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로 줄어들어 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피해가 감소함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)-(</a:t>
            </a:r>
            <a:r>
              <a:rPr lang="en-US" altLang="ko-KR" sz="1600" spc="-50" dirty="0" err="1"/>
              <a:t>d+e</a:t>
            </a:r>
            <a:r>
              <a:rPr lang="en-US" altLang="ko-KR" sz="1600" spc="-50" dirty="0"/>
              <a:t>) = f</a:t>
            </a:r>
            <a:r>
              <a:rPr lang="ko-KR" altLang="en-US" sz="1600" spc="-50" dirty="0"/>
              <a:t>만큼의 이득을 얻게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교섭이 성사되면 가해자와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피해자 모두 이득을 얻고 사회적으로 효율적인 수준의 폐수가 배출되어 외부효과 문제가 해결됨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아래와 같은 의문이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 피해자가 가해자에게 보상을 </a:t>
            </a:r>
            <a:r>
              <a:rPr lang="ko-KR" altLang="en-US" sz="1600" spc="-50" dirty="0" err="1"/>
              <a:t>해야하는지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협상이 불가능하면 대안이 있는지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675834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2FBB7-019C-97CB-E6DB-836760C4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04696-EA9E-4F37-AC3D-4FE73231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47EFD-1922-63D4-4DF9-38DB26FE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AD3-D835-E517-EF44-0C88244970C4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사법적 해결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피해자는 본인의 피해를 줄이기 위해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가해자에게 대가를 지불해야 한다는 사실을 인정하고 싶지 않아 할 가능성이 높음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대안으로 가해자를 법정에 고소하는 방법이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법원의 역할은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외부효과를 유발하는 행위를 할 권리와 외부효과 때문에 피해를 입지 않을 권리 가운데 어느 권리가 우선하는지를 판단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판결을 통해 가해자가 피해자에게 입힌 피해에 대해 보상할 것을 명령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법원은 어느 쪽 권리를 인정해 주어야 할까</a:t>
            </a:r>
            <a:r>
              <a:rPr lang="en-US" altLang="ko-KR" sz="1600" spc="-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3850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ADAA-351C-E94D-63DC-FF6E0B39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E61B1-1E12-5904-9153-836D8B1F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 </a:t>
            </a:r>
            <a:r>
              <a:rPr lang="en-US" altLang="ko-KR" dirty="0"/>
              <a:t>(Coase theorem, 1960)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EA106-995A-4C9D-D870-D0A95E85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55EA0-576D-D736-9898-C9D679C05AE2}"/>
              </a:ext>
            </a:extLst>
          </p:cNvPr>
          <p:cNvSpPr txBox="1"/>
          <p:nvPr/>
        </p:nvSpPr>
        <p:spPr>
          <a:xfrm>
            <a:off x="678872" y="1038536"/>
            <a:ext cx="10243594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코즈정리에</a:t>
            </a:r>
            <a:r>
              <a:rPr lang="ko-KR" altLang="en-US" sz="1600" spc="-50" dirty="0"/>
              <a:t>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 교섭에 관계된 사람의 수가 적고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교섭에 소요되는 비용이 적을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가해자와 피해자 누구의 권리를 인정해 주어도 협상을 통해 사회적으로 효율적인 자원배분이 달성 가능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법원의 결정에 따라 달라지는 것은 가해자와 피해자 사이에 어느 쪽으로 편익이 많이 </a:t>
            </a:r>
            <a:r>
              <a:rPr lang="ko-KR" altLang="en-US" sz="1600" spc="-50" dirty="0" err="1"/>
              <a:t>돌아가는지일</a:t>
            </a:r>
            <a:r>
              <a:rPr lang="ko-KR" altLang="en-US" sz="1600" spc="-50" dirty="0"/>
              <a:t> 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국가는 시장에 개입하지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권리가 누구에게 </a:t>
            </a:r>
            <a:r>
              <a:rPr lang="ko-KR" altLang="en-US" sz="1600" spc="-50" dirty="0" err="1"/>
              <a:t>있는지만을</a:t>
            </a:r>
            <a:r>
              <a:rPr lang="ko-KR" altLang="en-US" sz="1600" spc="-50" dirty="0"/>
              <a:t> 정하기만 하면 된다고 주장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62588-F75C-1770-4086-DF17BA532B32}"/>
              </a:ext>
            </a:extLst>
          </p:cNvPr>
          <p:cNvSpPr txBox="1"/>
          <p:nvPr/>
        </p:nvSpPr>
        <p:spPr>
          <a:xfrm>
            <a:off x="678872" y="3109867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전과는 반대로 양어장 주인에게 권리가 있다면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만큼을 양어장 주인에게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폐수를 배출하여 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편익을 얻음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a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주인은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폐수 때문에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만큼의 피해를 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그 대가로 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보상을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– (c) = b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3D76CE-C02E-99B6-0B7A-CF2EC1C2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863165" y="2837428"/>
            <a:ext cx="4752170" cy="3774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84BFB0-4A80-7931-3ED4-C7811A30841B}"/>
              </a:ext>
            </a:extLst>
          </p:cNvPr>
          <p:cNvSpPr txBox="1"/>
          <p:nvPr/>
        </p:nvSpPr>
        <p:spPr>
          <a:xfrm>
            <a:off x="7691035" y="3898052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43EB4-DCFE-8B95-D527-2F674CBA406B}"/>
              </a:ext>
            </a:extLst>
          </p:cNvPr>
          <p:cNvSpPr txBox="1"/>
          <p:nvPr/>
        </p:nvSpPr>
        <p:spPr>
          <a:xfrm>
            <a:off x="7691035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2E90F-87FC-37DA-076F-EC9EEDDFB208}"/>
              </a:ext>
            </a:extLst>
          </p:cNvPr>
          <p:cNvSpPr txBox="1"/>
          <p:nvPr/>
        </p:nvSpPr>
        <p:spPr>
          <a:xfrm>
            <a:off x="86562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D9221-1731-D017-338C-2D0BD44BB5E5}"/>
              </a:ext>
            </a:extLst>
          </p:cNvPr>
          <p:cNvSpPr txBox="1"/>
          <p:nvPr/>
        </p:nvSpPr>
        <p:spPr>
          <a:xfrm>
            <a:off x="94944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7BB08-4B63-078E-1A05-21E15BBAF634}"/>
              </a:ext>
            </a:extLst>
          </p:cNvPr>
          <p:cNvSpPr txBox="1"/>
          <p:nvPr/>
        </p:nvSpPr>
        <p:spPr>
          <a:xfrm>
            <a:off x="10419947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986EE-CA05-8767-0D92-07879B072279}"/>
              </a:ext>
            </a:extLst>
          </p:cNvPr>
          <p:cNvSpPr txBox="1"/>
          <p:nvPr/>
        </p:nvSpPr>
        <p:spPr>
          <a:xfrm>
            <a:off x="10419947" y="3893223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90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80BC-1D17-F901-090B-3561511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44F5E-BC11-57D3-7515-59D3DFBC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BE984-888C-860F-9E41-8BA0C4B1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99F41-A2E3-9D3F-A7F8-050B7172E211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교섭에 관계된 사람 수가 많으면 교섭 자체가 불가능하거나 교섭비용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거래비용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많이 소요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피해자의 피해금액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가해자의 오염행위로 인한 편익을 정확히 산정하기 어려움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피해자는 피해금액을 과대 추정할 우려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가해자는 편익을 과소 추정할 우려가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명이면서 이들 피해자의 권리가 인정될 때 발생하는 타협거부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</a:t>
            </a:r>
            <a:r>
              <a:rPr lang="ko-KR" altLang="en-US" sz="1600" spc="-50" dirty="0"/>
              <a:t>개의 양어장 권리가 인정 된다고 했을 때</a:t>
            </a:r>
            <a:r>
              <a:rPr lang="en-US" altLang="ko-KR" sz="1600" spc="-50" dirty="0"/>
              <a:t>, 9</a:t>
            </a:r>
            <a:r>
              <a:rPr lang="ko-KR" altLang="en-US" sz="1600" spc="-50" dirty="0"/>
              <a:t>개의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보상 받기로 합의를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마지막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 이상의 보상을 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 동의를 쉽게 해주지 않는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명이지만 가해자의 권리를 인정할 때 발생하는 무임승차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개의 양어장이 공장에게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이미 지불하였고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공장은 폐수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단위를 줄였음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</a:t>
            </a:r>
            <a:r>
              <a:rPr lang="ko-KR" altLang="en-US" sz="1600" spc="-50" dirty="0" err="1"/>
              <a:t>줄여나갈수록</a:t>
            </a:r>
            <a:r>
              <a:rPr lang="ko-KR" altLang="en-US" sz="1600" spc="-50" dirty="0"/>
              <a:t> 양어장이 얻는 한계편익이 감소하는 상황이므로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마지막 양어장은 마지막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단위의 배출저감에 대해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만원보다 낮은 가치로 평가할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8309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7A5B-4D4F-B3B9-8D7E-E232271D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D91C9-35A3-C154-1980-193EA5E3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B35FE4-309F-F584-3D73-51A4FCFF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B1B4C-6ABE-6B9D-291D-09C15C59EECC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소득효과를 인정하지 않는다는 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누구의 권리를 인정 </a:t>
            </a:r>
            <a:r>
              <a:rPr lang="ko-KR" altLang="en-US" sz="1600" spc="-50" dirty="0" err="1"/>
              <a:t>해주냐에</a:t>
            </a:r>
            <a:r>
              <a:rPr lang="ko-KR" altLang="en-US" sz="1600" spc="-50" dirty="0"/>
              <a:t> 따라 가해자와 피해자의 소득이 달라지는데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가해자의 오염 배출에 대한 수요곡선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피해자의 한계피해곡선은 이들의 소득수준에 의해서도 영향을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어느 쪽의 권리를 인정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따라 수요곡선 혹은 한계피해곡선의 위치가 달라지기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권리를 인정하는 순간 사적 교섭을 통해 달성되는 최적 오염물질 배출량 역시 달라지게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법원이 가해자의 권리를 인정해 주어도 사회적으로 효율적인 자원배분이 가능하므로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법원이 가해자의 권리를 인정했다고 가정할 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일부러 피해자들과 가까이 입지하여 교섭을 통해 배출량을 줄이는 대가로 보상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자체로 수익성 높은 사업으로 인식하게 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9974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D12E-D73E-F2B4-EA3F-3AD846EF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9042A-10BE-7C5D-0D50-760C2177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제도적 행정적 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46F6E-93B0-34A8-607E-1811AD86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416D1-2B8C-13B9-527C-22AD7F2D6023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소개된 사적 교섭 및 사법적 해결은 거래비용이 매우 적을 경우에만 사용 가능한 방법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다시 말하면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외부효과와 관련된 관계자가 적어야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환경문제의 인과관계가 명확해야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당사자 간의 합의나 법원의 판결을 끌어내는 데 필요한 비용이 매우 적어야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제도적 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현실에서는 대부분 위의 조건을 만족하기가 어렵고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모든 환경문제에 대해 일률적으로 적용되는 규칙을 정해 강제로 지키게 하여 시장의 실패를 제거 혹은 완화하는 것이 더 효율적일 수 있음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폐수의 단위당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세금을 매기는 정책 </a:t>
            </a:r>
            <a:r>
              <a:rPr lang="en-US" altLang="ko-KR" sz="1600" spc="-50" dirty="0"/>
              <a:t>(27</a:t>
            </a:r>
            <a:r>
              <a:rPr lang="ko-KR" altLang="en-US" sz="1600" spc="-50" dirty="0"/>
              <a:t>번 슬라이드 그림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공장에게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이하의 폐수만을 배출하도록 의무화 하는 정책</a:t>
            </a:r>
            <a:r>
              <a:rPr lang="en-US" altLang="ko-KR" sz="1600" spc="-50" dirty="0"/>
              <a:t>, </a:t>
            </a:r>
            <a:r>
              <a:rPr lang="ko-KR" altLang="en-US" sz="1600" spc="-50"/>
              <a:t>지키지 않을 시 벌금 및 벌칙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90513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6179</TotalTime>
  <Words>2119</Words>
  <Application>Microsoft Office PowerPoint</Application>
  <PresentationFormat>와이드스크린</PresentationFormat>
  <Paragraphs>310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Part 2  환경문제의 경제적 분석 틀</vt:lpstr>
      <vt:lpstr>Chapter 3  수요, 공급 및 시장균형</vt:lpstr>
      <vt:lpstr>한계지불의사</vt:lpstr>
      <vt:lpstr>시장수요</vt:lpstr>
      <vt:lpstr>편익과 소비자 잉여</vt:lpstr>
      <vt:lpstr>비용이란?</vt:lpstr>
      <vt:lpstr>한계비용</vt:lpstr>
      <vt:lpstr>한계비용곡선의 형태</vt:lpstr>
      <vt:lpstr>시장공급</vt:lpstr>
      <vt:lpstr>편익과 생산자 잉여</vt:lpstr>
      <vt:lpstr>시장균형</vt:lpstr>
      <vt:lpstr>Chapter 4  자원환경 이용에 있어 시장의 실패</vt:lpstr>
      <vt:lpstr>시장 메커니즘</vt:lpstr>
      <vt:lpstr>재화의 종류</vt:lpstr>
      <vt:lpstr>공유자원의 비극 (Tragedy of Common resources)</vt:lpstr>
      <vt:lpstr>공유자원의 비효율성</vt:lpstr>
      <vt:lpstr>공공재시장의 비효율성</vt:lpstr>
      <vt:lpstr>무임승차를 완화시키는 조건들</vt:lpstr>
      <vt:lpstr>효율적인 공공재 공급을 위한 이론</vt:lpstr>
      <vt:lpstr>외부효과</vt:lpstr>
      <vt:lpstr>시장실패의 해결</vt:lpstr>
      <vt:lpstr>시장실패의 해결</vt:lpstr>
      <vt:lpstr>시장실패의 해결</vt:lpstr>
      <vt:lpstr>코즈 정리 (Coase theorem, 1960)</vt:lpstr>
      <vt:lpstr>코즈 정리의 한계</vt:lpstr>
      <vt:lpstr>코즈 정리의 한계</vt:lpstr>
      <vt:lpstr>제도적 행정적 규제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141</cp:revision>
  <dcterms:created xsi:type="dcterms:W3CDTF">2025-07-05T05:15:23Z</dcterms:created>
  <dcterms:modified xsi:type="dcterms:W3CDTF">2025-09-07T23:15:07Z</dcterms:modified>
</cp:coreProperties>
</file>