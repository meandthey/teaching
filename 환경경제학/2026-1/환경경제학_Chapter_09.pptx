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86" r:id="rId2"/>
    <p:sldId id="405" r:id="rId3"/>
    <p:sldId id="550" r:id="rId4"/>
    <p:sldId id="492" r:id="rId5"/>
    <p:sldId id="552" r:id="rId6"/>
    <p:sldId id="554" r:id="rId7"/>
    <p:sldId id="555" r:id="rId8"/>
    <p:sldId id="556" r:id="rId9"/>
    <p:sldId id="557" r:id="rId10"/>
    <p:sldId id="558" r:id="rId11"/>
    <p:sldId id="559" r:id="rId12"/>
    <p:sldId id="560" r:id="rId13"/>
    <p:sldId id="561" r:id="rId14"/>
    <p:sldId id="562" r:id="rId15"/>
    <p:sldId id="563" r:id="rId16"/>
    <p:sldId id="564" r:id="rId17"/>
    <p:sldId id="567" r:id="rId18"/>
    <p:sldId id="565" r:id="rId19"/>
    <p:sldId id="568" r:id="rId20"/>
    <p:sldId id="569" r:id="rId21"/>
    <p:sldId id="570" r:id="rId22"/>
    <p:sldId id="571" r:id="rId23"/>
    <p:sldId id="572" r:id="rId24"/>
    <p:sldId id="573" r:id="rId25"/>
    <p:sldId id="574" r:id="rId26"/>
    <p:sldId id="575" r:id="rId27"/>
    <p:sldId id="583" r:id="rId28"/>
    <p:sldId id="584" r:id="rId29"/>
    <p:sldId id="585" r:id="rId30"/>
    <p:sldId id="577" r:id="rId31"/>
    <p:sldId id="576" r:id="rId32"/>
    <p:sldId id="578" r:id="rId33"/>
    <p:sldId id="579" r:id="rId34"/>
    <p:sldId id="580" r:id="rId35"/>
    <p:sldId id="581" r:id="rId36"/>
    <p:sldId id="582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70B12"/>
    <a:srgbClr val="E9E9E9"/>
    <a:srgbClr val="FFFFFF"/>
    <a:srgbClr val="E15F5F"/>
    <a:srgbClr val="F8F7FC"/>
    <a:srgbClr val="2D72BE"/>
    <a:srgbClr val="0047A0"/>
    <a:srgbClr val="E3605B"/>
    <a:srgbClr val="FF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3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39.png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불확실성 및 정보 비대칭성과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불확실한 정보와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𝑀𝐴𝐶</m:t>
                    </m:r>
                  </m:oMath>
                </a14:m>
                <a:r>
                  <a:rPr lang="ko-KR" altLang="en-US" sz="1600" spc="-50" dirty="0"/>
                  <a:t>는 한계저감비용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배출저감으로 인한 한계편익을 나타내고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정확히 알지 못하여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저감의 편익을 과소평가하여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한계편익으로 인지하고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저감의 편익을 정확히 알고 있었다면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오염원의 원래 배출량에서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빼 준 만큼을 배출권으로 부여하는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시행해야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정부는 저감의 편익을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오해하고 있기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기준으로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결과 두 정책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모두에 있어 사회적 최적인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아닌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배출감소가 이루어질 것이다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623DA1-0E9B-A69B-FEA8-FD362F8962BA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7D4BA9-5E48-D502-9E4D-213272837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24CF1A-3DED-BE7A-F847-B76C508FD99B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667B48-D85C-DFB6-3E82-11A36B421EB4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AEBD6D-D346-28A8-9257-1C36F7D4918F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68C3DE9-6170-EA15-87CE-D688DF6966E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59FF0FB-9A31-5CF9-14B5-A13DCF25B831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05980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92832-84EC-5D6A-21C8-ABCFC95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5AEFB-FAA9-4DE6-5D2E-1C61E6CCE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460F2A-2DF6-987B-B164-CC4043458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6AD08-4B1E-0DA1-74B6-8A837673E2B0}"/>
              </a:ext>
            </a:extLst>
          </p:cNvPr>
          <p:cNvSpPr txBox="1"/>
          <p:nvPr/>
        </p:nvSpPr>
        <p:spPr>
          <a:xfrm>
            <a:off x="251044" y="782682"/>
            <a:ext cx="7080934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배출저감으로 인한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정보에서의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a </a:t>
            </a:r>
            <a:r>
              <a:rPr lang="ko-KR" altLang="en-US" sz="1600" spc="-50" dirty="0"/>
              <a:t>으로 편익이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배출저감을 위한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정보에서는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으로 비용 또한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왜곡된 정보로 인해 저감으로 인한 편익과 비용 모두 감소하게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결과적으로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줄어들게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정부가 저감편익에 대한 잘못된 정보를 가지고 정책을 집행하여 발생한 사회적 </a:t>
            </a:r>
            <a:r>
              <a:rPr lang="ko-KR" altLang="en-US" sz="1600" spc="-50" dirty="0" err="1"/>
              <a:t>순손실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최적일때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왜곡된 정보일때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d0ba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순편익의 감소분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abc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이야기의 전개는 가격정책인 배출부과금제와 수량정책인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동일하게 적용된다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동일한 수준의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달성하기 때문이다</a:t>
            </a:r>
            <a:endParaRPr lang="en-US" altLang="ko-KR" sz="1600" spc="-5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3D97E8A-0D29-5F1B-63AD-8413640C2FD4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89E7150-6A1F-A210-3999-6FFEAE50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87F89A-BDD5-349A-4CE6-280A4F86F93E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6073BE-4D86-8451-8775-9056177F2C1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438E458-F77A-222C-4DB4-19A744754E3A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49D853-C0B2-E370-E012-2427B5BB56FC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8AA590-9D43-9EB5-D00E-FDF204E6495E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</p:grp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E3974C1-1853-35BA-BC8B-1D0526DD5140}"/>
              </a:ext>
            </a:extLst>
          </p:cNvPr>
          <p:cNvSpPr/>
          <p:nvPr/>
        </p:nvSpPr>
        <p:spPr>
          <a:xfrm>
            <a:off x="9156583" y="2860646"/>
            <a:ext cx="654342" cy="1371600"/>
          </a:xfrm>
          <a:custGeom>
            <a:avLst/>
            <a:gdLst>
              <a:gd name="connsiteX0" fmla="*/ 4195 w 654342"/>
              <a:gd name="connsiteY0" fmla="*/ 0 h 1371600"/>
              <a:gd name="connsiteX1" fmla="*/ 0 w 654342"/>
              <a:gd name="connsiteY1" fmla="*/ 1371600 h 1371600"/>
              <a:gd name="connsiteX2" fmla="*/ 654342 w 654342"/>
              <a:gd name="connsiteY2" fmla="*/ 570451 h 1371600"/>
              <a:gd name="connsiteX3" fmla="*/ 4195 w 654342"/>
              <a:gd name="connsiteY3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342" h="1371600">
                <a:moveTo>
                  <a:pt x="4195" y="0"/>
                </a:moveTo>
                <a:cubicBezTo>
                  <a:pt x="2797" y="457200"/>
                  <a:pt x="1398" y="914400"/>
                  <a:pt x="0" y="1371600"/>
                </a:cubicBezTo>
                <a:lnTo>
                  <a:pt x="654342" y="570451"/>
                </a:lnTo>
                <a:lnTo>
                  <a:pt x="4195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01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A94-D3B0-485D-D09C-2066D909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D6EF23-B785-6842-A2E9-715F95730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F7575-D0DA-D141-B8B9-7FCD8C802B6F}"/>
              </a:ext>
            </a:extLst>
          </p:cNvPr>
          <p:cNvSpPr txBox="1"/>
          <p:nvPr/>
        </p:nvSpPr>
        <p:spPr>
          <a:xfrm>
            <a:off x="678873" y="958844"/>
            <a:ext cx="11397079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한계피해가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앞서는 정부가 사회적 한계피해 혹은 한계편익에 관해 잘못된 정보를 가지고 정책 결정을 하면 가격정책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 수량정책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발생하는 사회적 손실이 동일함을 보았다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정책효과의 대칭성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저감비용이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저감비용이 불확실한 경우에는 사회적 한계피해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곡선의 기울기와 한계저감비용곡선의 기울기의 상대적 크기에 따라 양 정책의 효율성이 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918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C076A-96C7-A9D6-0A90-622048D0A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DCE999-4772-6611-FC17-8FCE76840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FB9F21-B746-9FAA-B4B6-DC69393F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A2E161-D04A-B579-FBE4-56DFA515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한계저감비용곡선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의 기울기가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정확히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3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D452933-B11E-095C-33E3-28F5E34E98D5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D778C2-AD7A-F384-42E5-32DACAD0EC30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226E1-2735-9C6F-3448-830D813CDB6C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8CF1EB-6433-FE44-4CF0-5536374AC03C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0F0AD63-A2B2-C315-E2FF-47690B7F4B8A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8517BD-E9AF-8B83-8C2C-32808C04480A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962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DCCC-BA8E-6CB2-B5C4-7B3A08DB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73C537-0C12-6859-26CD-52DC8325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8E78220-AAB6-61DF-8EED-02CB3A4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44443E-7128-5012-4078-AD5DE559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한계저감비용곡선이 한계편익곡선보다 상대적으로 가파른 상태에서는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3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59E557F-1EE9-5017-596D-A5F1FD8B748C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0EEE96-8502-3153-5E85-15060DB811E4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91544E-671E-DDEF-570E-816DC0C621CB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E0EEB3-A77F-31FF-8F1C-AC33503F3128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D9FD8D90-3D74-C268-F7E9-8F0FBCE548C7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EDA293-7CE0-ED7B-992F-B3BC61E5C812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1FC74CF-5AB1-6180-1D3F-26B292C7981A}"/>
              </a:ext>
            </a:extLst>
          </p:cNvPr>
          <p:cNvSpPr/>
          <p:nvPr/>
        </p:nvSpPr>
        <p:spPr>
          <a:xfrm>
            <a:off x="9026525" y="3268663"/>
            <a:ext cx="265113" cy="373062"/>
          </a:xfrm>
          <a:custGeom>
            <a:avLst/>
            <a:gdLst>
              <a:gd name="connsiteX0" fmla="*/ 0 w 265113"/>
              <a:gd name="connsiteY0" fmla="*/ 0 h 373062"/>
              <a:gd name="connsiteX1" fmla="*/ 3175 w 265113"/>
              <a:gd name="connsiteY1" fmla="*/ 373062 h 373062"/>
              <a:gd name="connsiteX2" fmla="*/ 265113 w 265113"/>
              <a:gd name="connsiteY2" fmla="*/ 95250 h 373062"/>
              <a:gd name="connsiteX3" fmla="*/ 0 w 265113"/>
              <a:gd name="connsiteY3" fmla="*/ 0 h 373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5113" h="373062">
                <a:moveTo>
                  <a:pt x="0" y="0"/>
                </a:moveTo>
                <a:cubicBezTo>
                  <a:pt x="1058" y="124354"/>
                  <a:pt x="2117" y="248708"/>
                  <a:pt x="3175" y="373062"/>
                </a:cubicBezTo>
                <a:lnTo>
                  <a:pt x="265113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77FEA48B-AEBB-63AD-2849-C1B889511F8A}"/>
              </a:ext>
            </a:extLst>
          </p:cNvPr>
          <p:cNvSpPr/>
          <p:nvPr/>
        </p:nvSpPr>
        <p:spPr>
          <a:xfrm>
            <a:off x="9293225" y="2393950"/>
            <a:ext cx="862013" cy="1255713"/>
          </a:xfrm>
          <a:custGeom>
            <a:avLst/>
            <a:gdLst>
              <a:gd name="connsiteX0" fmla="*/ 0 w 862013"/>
              <a:gd name="connsiteY0" fmla="*/ 965200 h 1255713"/>
              <a:gd name="connsiteX1" fmla="*/ 860425 w 862013"/>
              <a:gd name="connsiteY1" fmla="*/ 0 h 1255713"/>
              <a:gd name="connsiteX2" fmla="*/ 862013 w 862013"/>
              <a:gd name="connsiteY2" fmla="*/ 1255713 h 1255713"/>
              <a:gd name="connsiteX3" fmla="*/ 0 w 862013"/>
              <a:gd name="connsiteY3" fmla="*/ 965200 h 125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013" h="1255713">
                <a:moveTo>
                  <a:pt x="0" y="965200"/>
                </a:moveTo>
                <a:lnTo>
                  <a:pt x="860425" y="0"/>
                </a:lnTo>
                <a:cubicBezTo>
                  <a:pt x="860954" y="418571"/>
                  <a:pt x="861484" y="837142"/>
                  <a:pt x="862013" y="1255713"/>
                </a:cubicBezTo>
                <a:lnTo>
                  <a:pt x="0" y="96520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64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261D6-5304-87EA-0E8E-86FAC3AE8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621125-CB29-9095-14F8-31EA5478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6317B17-787B-BDA1-A19A-D85819AD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5BBCA-DEF6-F42D-39B6-46C8FE7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8A4CB5-2C8E-EC6B-00B1-7EA8E8BA2132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52325C-82C6-02F6-21C5-1E745F2EF683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02133C-4E14-4DA6-99E6-F37C62CC7797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68D2F5-267E-AC5E-3A6A-EFBD4F27BE76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6D9C6E7-1226-DA17-6FA9-4184112BD275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F2B70-F783-2CB0-7C35-F04E419ABB82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기울기가 한계저감비용곡선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6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169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9DE0-9D1F-7926-ABF1-3E13992F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4B50D8-12CF-073F-4F85-78E75D8C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D9BA99-9E46-E24E-2D01-90F065060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6CF57E-63F0-E3CA-3BC2-73F2AC41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5F1CED-A3BE-A0C4-0938-BE3B1758F2E4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874D73-E7AB-9475-DDEE-FDB07AA2629F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354290-F8BE-8C49-5044-68BCAA6CCC2B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5B78E-D309-A61D-C164-B1459AEB5EAC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FA319FD-3962-CEAB-53A8-DD018C7BAB28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42E027-61DE-296A-B259-27EBB4A596AE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1F124D0-7D21-CF1D-99E7-11C959D3A253}"/>
              </a:ext>
            </a:extLst>
          </p:cNvPr>
          <p:cNvSpPr/>
          <p:nvPr/>
        </p:nvSpPr>
        <p:spPr>
          <a:xfrm>
            <a:off x="8782050" y="1733550"/>
            <a:ext cx="1123950" cy="2520950"/>
          </a:xfrm>
          <a:custGeom>
            <a:avLst/>
            <a:gdLst>
              <a:gd name="connsiteX0" fmla="*/ 0 w 1123950"/>
              <a:gd name="connsiteY0" fmla="*/ 0 h 2520950"/>
              <a:gd name="connsiteX1" fmla="*/ 0 w 1123950"/>
              <a:gd name="connsiteY1" fmla="*/ 2520950 h 2520950"/>
              <a:gd name="connsiteX2" fmla="*/ 1123950 w 1123950"/>
              <a:gd name="connsiteY2" fmla="*/ 1889125 h 2520950"/>
              <a:gd name="connsiteX3" fmla="*/ 0 w 1123950"/>
              <a:gd name="connsiteY3" fmla="*/ 0 h 252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520950">
                <a:moveTo>
                  <a:pt x="0" y="0"/>
                </a:moveTo>
                <a:lnTo>
                  <a:pt x="0" y="2520950"/>
                </a:lnTo>
                <a:lnTo>
                  <a:pt x="1123950" y="1889125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D2F070D-8B99-3F2C-B683-16A711C8E1FD}"/>
              </a:ext>
            </a:extLst>
          </p:cNvPr>
          <p:cNvSpPr/>
          <p:nvPr/>
        </p:nvSpPr>
        <p:spPr>
          <a:xfrm>
            <a:off x="9911593" y="3418514"/>
            <a:ext cx="381699" cy="834704"/>
          </a:xfrm>
          <a:custGeom>
            <a:avLst/>
            <a:gdLst>
              <a:gd name="connsiteX0" fmla="*/ 0 w 381699"/>
              <a:gd name="connsiteY0" fmla="*/ 205530 h 834704"/>
              <a:gd name="connsiteX1" fmla="*/ 373310 w 381699"/>
              <a:gd name="connsiteY1" fmla="*/ 834704 h 834704"/>
              <a:gd name="connsiteX2" fmla="*/ 381699 w 381699"/>
              <a:gd name="connsiteY2" fmla="*/ 0 h 834704"/>
              <a:gd name="connsiteX3" fmla="*/ 0 w 381699"/>
              <a:gd name="connsiteY3" fmla="*/ 205530 h 834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99" h="834704">
                <a:moveTo>
                  <a:pt x="0" y="205530"/>
                </a:moveTo>
                <a:lnTo>
                  <a:pt x="373310" y="834704"/>
                </a:lnTo>
                <a:cubicBezTo>
                  <a:pt x="376106" y="556469"/>
                  <a:pt x="378903" y="278235"/>
                  <a:pt x="381699" y="0"/>
                </a:cubicBezTo>
                <a:lnTo>
                  <a:pt x="0" y="20553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한계편익곡선이 한계저감비용곡선보다 상대적으로 가파른 상태에서는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6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34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BF6E1-7CB5-9A93-66F1-6FE605D3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03F62-13A6-8074-287B-0C650982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7D4EE-0870-796B-1B20-A24BB80BE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AC8BD-FC30-BF7F-289C-6CE76DD6E98E}"/>
              </a:ext>
            </a:extLst>
          </p:cNvPr>
          <p:cNvSpPr txBox="1"/>
          <p:nvPr/>
        </p:nvSpPr>
        <p:spPr>
          <a:xfrm>
            <a:off x="678874" y="958844"/>
            <a:ext cx="1112863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대로 한계저감비용이 불확실할 경우 한계저감비용과 한계편익곡선의 기울기가 동일하지 않는 한 수량제한정책과 가격정책은 효율성 측면에서 동일하지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곡선의 상대적 기울기에 따라 어느 한 정책이 효율성 측면에서 우수한 결과를 만들었다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한계저감비용곡선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한계편익 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가격정책이 수량제한정책보다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한계편익곡선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한계저감비용곡선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수량제한 정책이 가격정책보다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소음과 같은 공해는 다른 독성 오염물질에 비해 상대적으로 어느정도 까지는 감수할만하므로 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완만하다고 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가격정책이 수량제한정책보다 효율적으로 작동할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독성이 매우 높은 치명적인 오염물질의 경우 배출량이 늘어나면서 오염의 피해가 급속히 증가하는 경향이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가파른 경향이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수량제한정책이 가격정책보다 효율적으로 작동할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252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D7A48-602A-759C-B3B6-DD51519F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0C61F-4E14-7752-AF37-1BD2C50EE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/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Roberts and Spence (1976)</a:t>
                </a:r>
                <a:r>
                  <a:rPr lang="ko-KR" altLang="en-US" sz="1600" spc="-50" dirty="0"/>
                  <a:t>에 따르면 가격을 통제하는 배출부과금과 수량을 통제하는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적절히 혼합하여 사용하면 어느 한 가지 정책만 사용할 때에 비해 사회적 손실이 줄어든다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오염원의 한계저감비용이 높을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낮을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임을 알고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또 두개의 평균한계저감비용은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 것도 알고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가운데 어느 것이 실제 한계저감비용인지 모르고 정책을 </a:t>
                </a:r>
                <a:r>
                  <a:rPr lang="ko-KR" altLang="en-US" sz="1600" spc="-50" dirty="0" err="1"/>
                  <a:t>선택해야하고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자신의 한계저감비용을 정확히 알고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평균한계저감비용에 맞추어 배출부과금제를 시행하면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부과금을 부여할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시행한다면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기준으로 배출권을 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중 하나이기 때문에 필연적으로 두 정책 모두 사회적 손실을 초래하게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blipFill>
                <a:blip r:embed="rId2"/>
                <a:stretch>
                  <a:fillRect b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E58719-8B8A-3C9F-CFE4-A965E309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94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F234-1BBB-DC72-939C-DD3755E3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9D0C-F4E9-2664-2629-F9F80DBF1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A38BB5-28AA-DF6C-33C6-314188BEE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/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혼합정책으로서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징수하면서 동시에 배출보조금을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또한 </a:t>
                </a:r>
                <a:r>
                  <a:rPr lang="ko-KR" altLang="en-US" sz="1600" spc="-50" dirty="0" err="1"/>
                  <a:t>배출권거래제도</a:t>
                </a:r>
                <a:r>
                  <a:rPr lang="ko-KR" altLang="en-US" sz="1600" spc="-50" dirty="0"/>
                  <a:t> 함께 사용한다고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평균한계저감비용곡선과</a:t>
                </a:r>
                <a:r>
                  <a:rPr lang="ko-KR" altLang="en-US" sz="1600" spc="-50" dirty="0"/>
                  <a:t> 한계편익곡선이 만나는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 맞추어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배출권이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거래되면서 거래가격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가 시장에서 형성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높은 한계저감비용곡선이 한계편익곡선과 만나는 수준인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배출부과금을 설정하며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이상을 배출하고자 하면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부과금을 납부해야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낮은 한계저감비용곡선이 한계편익곡선과 만나는 수준인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일부를 사용하지 않으면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 정부로부터 보상을 받는다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D0F326-CDA2-6615-65E3-AA6F31EA5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9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4691-3022-CA82-E3FA-E5DF241C6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9C8D3D-1881-240E-570C-C22E2252E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3B66E-84FB-9846-760E-78002870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/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이러한 혼합정책을 사용할 때 정부가 얼만큼의 배출권을 발행하더라도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정의상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 관계는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라면 오염원은 배출권을 구입한 뒤 이를 하나도 사용하지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보조금을 받아가면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 라면 오염원은 배출권을 하나도 구입하지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납부하게 되면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4258FB-DA0F-5255-D02C-031EE485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061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11C1-A558-E8D4-3ECE-91928376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F18B8-6116-0D0B-12AD-4FE96250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04121-0ACA-D9E0-B7CE-8CA9DAD3C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DF6ED9-D5F9-547C-7E9D-E243217D6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/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 입장에서는 </a:t>
                </a:r>
                <a:r>
                  <a:rPr lang="ko-KR" altLang="en-US" sz="1600" spc="-50" dirty="0" err="1"/>
                  <a:t>의사결정할때</a:t>
                </a:r>
                <a:r>
                  <a:rPr lang="ko-KR" altLang="en-US" sz="1600" spc="-50" dirty="0"/>
                  <a:t> 감안해야 할 것은 자신의 한계저감비용과 더불어 오른쪽 그래프에서 굵은 검은 선으로 표시된 계단모양의 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</a:t>
                </a: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이상으로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줄어들면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비용을 오염원이 부담해야 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반대로 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이하로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늘어나면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 받는다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 혹은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수평선이나 수직선을 하나 긋게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선이 한계저감비용과 만나는 점에서 배출량이나 </a:t>
                </a:r>
                <a:r>
                  <a:rPr lang="ko-KR" altLang="en-US" sz="1600" spc="-50" dirty="0" err="1"/>
                  <a:t>배출권가격이</a:t>
                </a:r>
                <a:r>
                  <a:rPr lang="ko-KR" altLang="en-US" sz="1600" spc="-50" dirty="0"/>
                  <a:t> 형성된다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혼합정책의 경우 계단모양의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의사결정선이 도출되고 이 선과 실제한계저감비용이 만나는 수준에서 오염원의 배출량이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혼합정책은 정보가 불확실한 상황에서 더 높은 사회적 편익을 가져다 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blipFill>
                <a:blip r:embed="rId7"/>
                <a:stretch>
                  <a:fillRect r="-17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3AD523BC-E807-1896-8648-6A7B051946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0561" y="1506750"/>
            <a:ext cx="395060" cy="15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B3480-BFD9-1D65-F239-C98DFC54C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12641-315E-259D-8896-88368BA4C70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A839ED-2AAF-C712-BD83-638449E2A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35E51D5-2B70-47E1-3C16-768EE7C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불확실한 저감비용과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오염원의 전략적 행위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26585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BBFA-64B1-381B-BD3B-FF4B5A0B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F6231-9181-2C35-040D-CB2FBADA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불확실한 저감비용과 오염원의 전략적 행위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009473-C31B-C223-0332-DE5214E6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7CEE47-5E7C-15E7-2D3C-D3D5D143995B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대로 정부가 오염원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저감비용에 대해 정확히 모르는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 나름대로 추정한 한계저감비용에 기초하여 환경정책을 입안할 수도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저감비용을 오염원에게 직접 물어볼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오염원에게 저감비용에 관한 정보를 보고하도록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저감비용을 정직하게 정부에게 보고한다면 저감비용의 불확실성으로 인한 문제는 발생하지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오염원 입장에서는 잘못된 저감비용 정보를 의도적으로 정부에게 보고하고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이득을 얻으려는 전략적 행위를 할 가능성이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오염원은 정부가 선택한 정책에 따라 저감비용을 과장해서 보고하는 것이 유리할 수도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저감비용을 축소해서 보고하는 것이 유리한 경우도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263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167A-6AFA-EB02-D647-1B0B4911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79376B-3E24-A21D-B36A-C8436609B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097319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/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/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/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D7D9E20-E3C0-D60B-54CD-ECAB34426161}"/>
              </a:ext>
            </a:extLst>
          </p:cNvPr>
          <p:cNvSpPr txBox="1"/>
          <p:nvPr/>
        </p:nvSpPr>
        <p:spPr>
          <a:xfrm>
            <a:off x="9078265" y="520734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71872B-B006-E4C9-AD2E-92DCA592516C}"/>
              </a:ext>
            </a:extLst>
          </p:cNvPr>
          <p:cNvSpPr txBox="1"/>
          <p:nvPr/>
        </p:nvSpPr>
        <p:spPr>
          <a:xfrm>
            <a:off x="9093164" y="5591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69546-93AB-64B2-77CD-767699CF17F5}"/>
              </a:ext>
            </a:extLst>
          </p:cNvPr>
          <p:cNvSpPr txBox="1"/>
          <p:nvPr/>
        </p:nvSpPr>
        <p:spPr>
          <a:xfrm>
            <a:off x="9530637" y="562218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54C652-7F96-9230-0FD0-75D7DF5BFAC9}"/>
              </a:ext>
            </a:extLst>
          </p:cNvPr>
          <p:cNvSpPr txBox="1"/>
          <p:nvPr/>
        </p:nvSpPr>
        <p:spPr>
          <a:xfrm>
            <a:off x="8412117" y="555357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6A6319-FCCC-64E9-829E-B704985B1BE2}"/>
              </a:ext>
            </a:extLst>
          </p:cNvPr>
          <p:cNvSpPr txBox="1"/>
          <p:nvPr/>
        </p:nvSpPr>
        <p:spPr>
          <a:xfrm>
            <a:off x="7814149" y="55184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40A87-8271-3A5C-19B5-7527EA7DA406}"/>
              </a:ext>
            </a:extLst>
          </p:cNvPr>
          <p:cNvSpPr txBox="1"/>
          <p:nvPr/>
        </p:nvSpPr>
        <p:spPr>
          <a:xfrm>
            <a:off x="8057422" y="499960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16D5CA-C3C6-1F32-7D7A-BC984446B391}"/>
              </a:ext>
            </a:extLst>
          </p:cNvPr>
          <p:cNvSpPr txBox="1"/>
          <p:nvPr/>
        </p:nvSpPr>
        <p:spPr>
          <a:xfrm>
            <a:off x="8612537" y="521138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C7FDBE-CD0F-AB0B-7357-6F7E5038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배출권거래제와</a:t>
            </a:r>
            <a:r>
              <a:rPr lang="ko-KR" altLang="en-US" dirty="0"/>
              <a:t>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과대보고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43A73-72E4-F88E-48E2-AF72425F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과장된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해당하는 배출권을 분배할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실제 한계저감비용을 바탕으로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시장에서 거래를 할 것이므로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하락하게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a+b+c+d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b+c+f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r="-84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41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A40E8-1DFC-46A0-8BBE-D656BB8A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6F2BA5-2999-AFBC-F579-637A682F0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87" y="1094453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5BD186A-6B8A-2834-C33E-4E88B9958D86}"/>
              </a:ext>
            </a:extLst>
          </p:cNvPr>
          <p:cNvSpPr txBox="1"/>
          <p:nvPr/>
        </p:nvSpPr>
        <p:spPr>
          <a:xfrm>
            <a:off x="927839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EB77D3-51CC-BB9A-CEA2-02DD3F5D72E6}"/>
              </a:ext>
            </a:extLst>
          </p:cNvPr>
          <p:cNvSpPr txBox="1"/>
          <p:nvPr/>
        </p:nvSpPr>
        <p:spPr>
          <a:xfrm>
            <a:off x="9290977" y="493357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C95EC-38C5-2B68-6435-A5473059B5AC}"/>
              </a:ext>
            </a:extLst>
          </p:cNvPr>
          <p:cNvSpPr txBox="1"/>
          <p:nvPr/>
        </p:nvSpPr>
        <p:spPr>
          <a:xfrm>
            <a:off x="9537205" y="56250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D86D6-4D02-2060-68D8-E868988F8EBC}"/>
              </a:ext>
            </a:extLst>
          </p:cNvPr>
          <p:cNvSpPr txBox="1"/>
          <p:nvPr/>
        </p:nvSpPr>
        <p:spPr>
          <a:xfrm>
            <a:off x="8810014" y="544306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E07F43-A865-7568-7BEF-5461CD7B06F5}"/>
              </a:ext>
            </a:extLst>
          </p:cNvPr>
          <p:cNvSpPr txBox="1"/>
          <p:nvPr/>
        </p:nvSpPr>
        <p:spPr>
          <a:xfrm>
            <a:off x="8123516" y="499015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E7A22D-E2A1-7231-9627-5EFC4FDCA7D9}"/>
              </a:ext>
            </a:extLst>
          </p:cNvPr>
          <p:cNvSpPr txBox="1"/>
          <p:nvPr/>
        </p:nvSpPr>
        <p:spPr>
          <a:xfrm>
            <a:off x="8123516" y="445032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3295CC-7541-170E-1010-6AF93357B8BD}"/>
              </a:ext>
            </a:extLst>
          </p:cNvPr>
          <p:cNvSpPr txBox="1"/>
          <p:nvPr/>
        </p:nvSpPr>
        <p:spPr>
          <a:xfrm>
            <a:off x="8810014" y="439168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AA5671-33BA-45FB-9D97-3E03BACA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배출부과금제와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과소보고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527BA-6FC8-1E3D-29CD-955B3796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776D8-3B74-C827-F6C2-E99476561D13}"/>
              </a:ext>
            </a:extLst>
          </p:cNvPr>
          <p:cNvSpPr txBox="1"/>
          <p:nvPr/>
        </p:nvSpPr>
        <p:spPr>
          <a:xfrm>
            <a:off x="964176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BAC33-A30B-6412-E0CB-0B0DF243900A}"/>
              </a:ext>
            </a:extLst>
          </p:cNvPr>
          <p:cNvSpPr txBox="1"/>
          <p:nvPr/>
        </p:nvSpPr>
        <p:spPr>
          <a:xfrm>
            <a:off x="9667380" y="51508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D85B9-8DE8-F638-6202-182C992F454B}"/>
              </a:ext>
            </a:extLst>
          </p:cNvPr>
          <p:cNvSpPr txBox="1"/>
          <p:nvPr/>
        </p:nvSpPr>
        <p:spPr>
          <a:xfrm>
            <a:off x="10124579" y="533957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축소된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배출부과금을 결정할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g+h+i+j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a+b+c+d+e+f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a+b+c+d+e+f+g+h+i+j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b+c+f+g+h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b+c+f+g+h+j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a+d+e+i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499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25D15-B250-721D-B760-67E6F8212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29C460-9F29-1635-EDED-3E024917A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ACD7F3B-1E90-92E9-3A7A-12CF7959AF1E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5C29B-0CBA-981B-94C0-9EAE3AC794D9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8F10FB-A56C-39A2-4E39-ED354E65ED69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D5F3-EE26-8E83-B3FA-87A07C9276CE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C9ECB-DC32-AC81-EDD8-37FAE71B655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81622-AC97-6B31-B31B-8B5F2A9C3490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9D0D9B-9143-4EE6-BB11-44F2A46BE15F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7F4738-4039-BFDB-E3E2-C9034A592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/>
              <a:t> 메커니즘</a:t>
            </a:r>
            <a:endParaRPr lang="ko-KR" altLang="en-US" sz="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34F7E-0C53-2834-34E2-852D7984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CB36B1-829F-E58F-FC6B-2572E5C7847C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33AC9-7ED2-0256-6D7C-C47A8D11043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D60CB-305F-A108-B59F-37633274A81D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/>
              <p:nvPr/>
            </p:nvSpPr>
            <p:spPr>
              <a:xfrm>
                <a:off x="255234" y="958844"/>
                <a:ext cx="7051499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살펴보았듯이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정부의 수량 혹은 가격정책에 따라 과대보고 혹은 과소보고 할 유인이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(1977)</a:t>
                </a:r>
                <a:r>
                  <a:rPr lang="ko-KR" altLang="en-US" sz="1600" spc="-50" dirty="0"/>
                  <a:t>에 따르면 정부는 수량정책과 가격정책을 혼합하여 시행하면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한계저감비용을 거짓으로 보고하려는 유인을 완전히 없앨 수 있음을 보였다</a:t>
                </a:r>
                <a:r>
                  <a:rPr lang="en-US" altLang="ko-KR" sz="1600" spc="-50" dirty="0"/>
                  <a:t>. </a:t>
                </a: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메커니즘은 아래와 같이 진행된다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</a:t>
                </a:r>
                <a:r>
                  <a:rPr lang="ko-KR" altLang="en-US" sz="1600" dirty="0"/>
                  <a:t>충족하는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사용되지 않은 것에 대해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단위당 보조금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발행한 배출권에서의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와 일치는 수준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958844"/>
                <a:ext cx="7051499" cy="4846007"/>
              </a:xfrm>
              <a:prstGeom prst="rect">
                <a:avLst/>
              </a:prstGeom>
              <a:blipFill>
                <a:blip r:embed="rId6"/>
                <a:stretch>
                  <a:fillRect r="-17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044F26D-C2B3-6BFA-1591-757CF7174CE5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21586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4BB5F-0497-9455-56B9-AF49CADB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E3BC3F-DE21-534F-1CC8-25393A7E6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310BA06-413E-41A8-12AA-5C0B4E59E8CC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5792F-1682-46C9-7635-BCCF947DE396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AECE9E-F60D-1694-ED28-19AE6611E775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ED0387-A027-2CCD-8783-B1773105C792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906413-0FE5-1680-AF86-A4D822ED57E3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DC5C12-CF7C-C66B-3793-3341AD397291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B4A3F-6F92-22E5-7922-E43F5C8B161A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335941-7136-D915-CE06-19862223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DA15F-1E77-2300-44D9-22C3BC4F4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68138-927A-5258-2AE8-9DAF87A4C007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AE47C-1A77-674D-1529-448E6ADEF03B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060B3-0CE8-3FB3-62E5-D31AFD83B04E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410804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오염원이 과장해서 알린 저감비용에 기초하여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발행하게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동시에 오염원의 실제 배출량이 오염원이 보유한 배출권보다 적으면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차이에 대해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만큼의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에서의 한계피해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보조금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하는 역할은 과장보고로 인해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발행량이</a:t>
                </a:r>
                <a:r>
                  <a:rPr lang="ko-KR" altLang="en-US" sz="1600" spc="-50" dirty="0"/>
                  <a:t> 지나치게 </a:t>
                </a:r>
                <a:r>
                  <a:rPr lang="ko-KR" altLang="en-US" sz="1600" spc="-50" dirty="0" err="1"/>
                  <a:t>많아졌음에도</a:t>
                </a:r>
                <a:r>
                  <a:rPr lang="ko-KR" altLang="en-US" sz="1600" spc="-50" dirty="0"/>
                  <a:t> 불구하고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하락하지 않도록 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보다 낮으면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배출권을 추가로 산 뒤 배출량을 늘리지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늘어난 배출권에 대해서 보조금을 받아 이윤을 얻을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필연적으로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 묶여 있게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4108048"/>
              </a:xfrm>
              <a:prstGeom prst="rect">
                <a:avLst/>
              </a:prstGeom>
              <a:blipFill>
                <a:blip r:embed="rId6"/>
                <a:stretch>
                  <a:fillRect r="-432"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4BDF5F4-0BA4-FEB0-1563-0657BF9537B7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244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EA616-AAF4-E6FA-DC9C-EBA74AFF3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FAC099-35C8-A1B6-C5C3-BC142C6E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E9658F4-B425-56D6-E058-B1AB866F3B9F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9C235E-9CB7-A223-AF77-72296FD33CE2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9E4AFC-0946-96E1-9D43-CB436E7A250B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987D2D-7722-FFA5-B1C2-04DA7D5CE48B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EE42BC-4875-E6DD-B663-173CF011C87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4596B7-8AFE-7B6C-B100-9527F81B554D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C9083-1664-115F-1C0A-E59F9A4EF506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455DC3-8C0E-5C26-F85F-6EE36E35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D742A-A4F9-B225-40A9-4F91BC33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1FA4A-0FC9-C619-C04F-4F5F3E19BDA3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4929D-6774-972B-46A0-360C65BFF46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0FECD-5EBC-B569-7EF8-6252B8DE2126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이런 상황에서 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가지고 있으나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보다도 더 많은 오염물질을 배출하면 실제 한계저감비용이 정부의 보조금보다도 낮고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배출 대신 저감을 하여 보조금을 받는 것이 더 유리하기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결과적으로 오염원은 저감비용을 과장하게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최적보다도 오히려 더 적은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배출하고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만큼에 대해 보조금을 받는다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한계저감비용을 보고하면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b+c+e+f+i+j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         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b+c+e+f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a+b+c+d+e+f+i+j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d+e+f+i+j</a:t>
                </a:r>
                <a:r>
                  <a:rPr lang="en-US" altLang="ko-KR" sz="1600" spc="-50" dirty="0"/>
                  <a:t>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a+b+c</a:t>
                </a:r>
                <a:r>
                  <a:rPr lang="en-US" altLang="ko-KR" sz="1600" spc="-50" dirty="0"/>
                  <a:t>+(</a:t>
                </a:r>
                <a:r>
                  <a:rPr lang="en-US" altLang="ko-KR" sz="1600" spc="-50" dirty="0" err="1"/>
                  <a:t>d+e+f+g+h+i</a:t>
                </a:r>
                <a:r>
                  <a:rPr lang="en-US" altLang="ko-KR" sz="1600" spc="-50" dirty="0"/>
                  <a:t>)</a:t>
                </a:r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                                   </a:t>
                </a:r>
                <a:r>
                  <a:rPr lang="ko-KR" altLang="en-US" sz="1600" spc="-50" dirty="0"/>
                  <a:t>정부 보조금</a:t>
                </a:r>
                <a:r>
                  <a:rPr lang="en-US" altLang="ko-KR" sz="1600" spc="-50" dirty="0"/>
                  <a:t>: (</a:t>
                </a:r>
                <a:r>
                  <a:rPr lang="en-US" altLang="ko-KR" sz="1600" spc="-50" dirty="0" err="1"/>
                  <a:t>d+e+f+g+h+i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거짓된 보고를 하면 총비용이 </a:t>
                </a:r>
                <a:r>
                  <a:rPr lang="en-US" altLang="ko-KR" sz="1600" spc="-50" dirty="0" err="1"/>
                  <a:t>a+d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증가하게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실제 한계저감비용을 보고할 유인이 생기게 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081A91-CBFB-6B55-AF45-1702166F9301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9886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2F1B6-04F9-5256-47B7-F3BBC9DC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5622A0-31BC-56B1-3A8A-C4DAF5A35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AAA644B0-5420-867E-F3E9-DD2D2F86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CF439A-17AC-D050-FA53-BE540905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/>
              <p:nvPr/>
            </p:nvSpPr>
            <p:spPr>
              <a:xfrm>
                <a:off x="94368" y="958844"/>
                <a:ext cx="7254388" cy="55853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Montero (2008)</a:t>
                </a:r>
                <a:r>
                  <a:rPr lang="ko-KR" altLang="en-US" sz="1600" dirty="0"/>
                  <a:t>은 오염원이 한계저감비용 정보를 드러나게끔 하는 또 다른 방법을 소개하고 있다</a:t>
                </a:r>
                <a:r>
                  <a:rPr lang="en-US" altLang="ko-KR" sz="1600" dirty="0"/>
                  <a:t>. Montero </a:t>
                </a:r>
                <a:r>
                  <a:rPr lang="ko-KR" altLang="en-US" sz="1600" dirty="0"/>
                  <a:t>메커니즘은 아래와 같이 진행된다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한계저감비용을 과소보고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하고 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를  </a:t>
                </a:r>
                <a:r>
                  <a:rPr lang="ko-KR" altLang="en-US" sz="1600" dirty="0"/>
                  <a:t>충족하는 양의 배출권을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 금액에 오염원에게 판매한다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판매액 중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의 비율을 오염원에게 돌려준다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 오염원은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금액 만큼을 되돌려 받는다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같이 정책이 실행되면 오염원은 자신에게 가장 유리한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제출한다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오염원의 행위를 염두에 두고 최적의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를 정해 거짓된 보고 유인을 아예 없애려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이때 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같아야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오염의 총피해액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평균피해액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한계피해액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8" y="958844"/>
                <a:ext cx="7254388" cy="5585375"/>
              </a:xfrm>
              <a:prstGeom prst="rect">
                <a:avLst/>
              </a:prstGeom>
              <a:blipFill>
                <a:blip r:embed="rId5"/>
                <a:stretch>
                  <a:fillRect r="-84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/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9527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33EC-0CE4-E26B-EAED-FCA08BBC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E78862-6481-4424-F357-688C1066F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73FE2A01-28E4-392B-547A-5F943915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BDEDE-9E1B-8173-D6A3-FA4A6BE89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/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한계피해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가 커질 때 계속 증가하면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새로 한 단위 배출되는 오염물질이 유발하는 피해가 이미 배출된 오염물질이 단위당 유발했던 피해보다 크기 때문에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의 관계가 성립한다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r>
                      <a:rPr lang="el-GR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</a:t>
                </a:r>
                <a:r>
                  <a:rPr lang="en-US" altLang="ko-KR" sz="1600" dirty="0"/>
                  <a:t> 0</a:t>
                </a:r>
                <a:r>
                  <a:rPr lang="ko-KR" altLang="en-US" sz="1600" dirty="0"/>
                  <a:t>과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사이의 어떤 값이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dirty="0"/>
                  <a:t> 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정부가 반환율인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으로 선택하게 되면 기업은 과소보고를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하게 되고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로 선택하게 되면 기업은 과대보고를 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blipFill>
                <a:blip r:embed="rId5"/>
                <a:stretch>
                  <a:fillRect r="-11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/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445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7E19-E8E2-ED23-CDAD-C8A1836FE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E8113E-C267-6776-24C2-152CC603E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EC1C088-5CA7-7928-82D4-9523E0367F6E}"/>
              </a:ext>
            </a:extLst>
          </p:cNvPr>
          <p:cNvSpPr txBox="1"/>
          <p:nvPr/>
        </p:nvSpPr>
        <p:spPr>
          <a:xfrm>
            <a:off x="9188786" y="37133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D2A1EC-F6EB-9205-9F8E-12D9257227E5}"/>
              </a:ext>
            </a:extLst>
          </p:cNvPr>
          <p:cNvSpPr txBox="1"/>
          <p:nvPr/>
        </p:nvSpPr>
        <p:spPr>
          <a:xfrm>
            <a:off x="9209335" y="41645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f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636BFE-AC6C-1C24-1C29-7031C67C268F}"/>
              </a:ext>
            </a:extLst>
          </p:cNvPr>
          <p:cNvSpPr txBox="1"/>
          <p:nvPr/>
        </p:nvSpPr>
        <p:spPr>
          <a:xfrm>
            <a:off x="9415272" y="4516235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g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6A9989-2B1D-8663-C9C6-CB0519D36922}"/>
              </a:ext>
            </a:extLst>
          </p:cNvPr>
          <p:cNvSpPr txBox="1"/>
          <p:nvPr/>
        </p:nvSpPr>
        <p:spPr>
          <a:xfrm>
            <a:off x="8621880" y="53519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A9AA2A-79EA-C041-1573-EFD74D5279C9}"/>
              </a:ext>
            </a:extLst>
          </p:cNvPr>
          <p:cNvSpPr txBox="1"/>
          <p:nvPr/>
        </p:nvSpPr>
        <p:spPr>
          <a:xfrm>
            <a:off x="8222085" y="49019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EB8CB-FF2E-4F4F-6567-3624FBBF4357}"/>
              </a:ext>
            </a:extLst>
          </p:cNvPr>
          <p:cNvSpPr txBox="1"/>
          <p:nvPr/>
        </p:nvSpPr>
        <p:spPr>
          <a:xfrm>
            <a:off x="8222085" y="421981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5938B-3CFF-13BA-BBE4-CCC69671472F}"/>
              </a:ext>
            </a:extLst>
          </p:cNvPr>
          <p:cNvSpPr txBox="1"/>
          <p:nvPr/>
        </p:nvSpPr>
        <p:spPr>
          <a:xfrm>
            <a:off x="8845885" y="413371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B7EBC3C-D6FA-F351-2877-B265B7FC9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C2800-C1EE-CAE7-BFA0-441EC542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3CC02-A58D-0DB9-892C-F84AAF4CEE7E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i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93DF3-DFC0-53BB-8073-A2C1EF70793D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4F4A80-6F8E-AAF3-1E59-FAD2762052CB}"/>
              </a:ext>
            </a:extLst>
          </p:cNvPr>
          <p:cNvSpPr txBox="1"/>
          <p:nvPr/>
        </p:nvSpPr>
        <p:spPr>
          <a:xfrm>
            <a:off x="9946405" y="453182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과소보고를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a+b+c+d+f+g+h</a:t>
                </a:r>
                <a:r>
                  <a:rPr lang="ko-KR" altLang="en-US" sz="1600" spc="-50" dirty="0"/>
                  <a:t> 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a+b+c+d+f+g+h+i+j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축소하여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b+c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b+c+e+f+g+h+i+j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축소하여 제출하면 </a:t>
                </a:r>
                <a:r>
                  <a:rPr lang="en-US" altLang="ko-KR" sz="1600" spc="-50" dirty="0" err="1"/>
                  <a:t>a+d-e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Bulckaen</a:t>
                </a:r>
                <a:r>
                  <a:rPr lang="en-US" altLang="ko-KR" sz="1600" spc="-50" dirty="0"/>
                  <a:t> (1997)</a:t>
                </a:r>
                <a:r>
                  <a:rPr lang="ko-KR" altLang="en-US" sz="1600" spc="-50" dirty="0"/>
                  <a:t>에 따르면 사회적 최적인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에서는 면적 </a:t>
                </a:r>
                <a:r>
                  <a:rPr lang="en-US" altLang="ko-KR" sz="1600" spc="-50" dirty="0" err="1"/>
                  <a:t>a+d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보다 큼을 확인하였다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blipFill>
                <a:blip r:embed="rId6"/>
                <a:stretch>
                  <a:fillRect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209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6703C-AD8D-6A53-7703-F94B0EF6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596256-ACB4-286F-1D17-B20685DE3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033" y="1099161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747837-CBA9-F401-9F24-1A12A1425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BC658-5721-CB40-5E2F-76C3053D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과대보고를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a+b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과장하여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과장하여 제출하면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종합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설정하면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한계저감비용을 과소보고 혹은 과대보고 하게 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사이의 값으로 정하여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거짓보고 유인을 없앨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94A2D22-3690-0BF6-70E6-6ADD64047EA8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9B503-D303-8979-5132-5575922AA8DA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6702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B9709-A658-15D4-4515-2A7159E0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38869-53F3-7CB0-2737-8B52908A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몬테로 메커니즘 하에서 기업의 총 </a:t>
                </a:r>
                <a:r>
                  <a:rPr lang="ko-KR" altLang="en-US" sz="1600" b="0" spc="-50" dirty="0"/>
                  <a:t>비용은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기업의 실제 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환급액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제출된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일치되는 배출권을 배포하고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가격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이때의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로 정한다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기업의 총비용은 아래와 같이 다시 정리할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기업은 총비용을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에 대해 미분한 것을 다음처럼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되게 하는 것이 기업의 최적 배출량이다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배출을 많이 할수록 저감비용은 줄어들기 때문에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실제 한계저감비용이다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한계피해가 일치하는 사회적 최적을 원한다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위에서 살펴본 기업 최적 행위조건에 정부가 원하는 사회적 최적 조건을 적용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대입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하여 정리해보자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기업이 사회적으로도 최적인 배출을 유도하기 위한 조건이 도출된다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/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31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622CE-1439-7A4D-E52A-A43408E0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02CA9A-E66E-A313-BCDC-7CCF4852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b="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１＋</m:t>
                          </m:r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𝑀𝐷</m:t>
                                  </m:r>
                                </m:e>
                                <m:sup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/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정부가 </a:t>
                </a:r>
                <a14:m>
                  <m:oMath xmlns:m="http://schemas.openxmlformats.org/officeDocument/2006/math">
                    <m:r>
                      <a:rPr lang="en-US" altLang="ko-KR" sz="12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를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로 정한다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blipFill>
                <a:blip r:embed="rId3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직사각형 9">
            <a:extLst>
              <a:ext uri="{FF2B5EF4-FFF2-40B4-BE49-F238E27FC236}">
                <a16:creationId xmlns:a16="http://schemas.microsoft.com/office/drawing/2014/main" id="{11F149F5-4F06-F558-3327-5AB32DB8B6C2}"/>
              </a:ext>
            </a:extLst>
          </p:cNvPr>
          <p:cNvSpPr/>
          <p:nvPr/>
        </p:nvSpPr>
        <p:spPr>
          <a:xfrm>
            <a:off x="3998407" y="109895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D532BC-ECCD-C5BD-839A-42773FD5ED4E}"/>
              </a:ext>
            </a:extLst>
          </p:cNvPr>
          <p:cNvSpPr/>
          <p:nvPr/>
        </p:nvSpPr>
        <p:spPr>
          <a:xfrm>
            <a:off x="3998407" y="146557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AF854A4-F998-B5B1-0E3C-FC584C44EE5A}"/>
              </a:ext>
            </a:extLst>
          </p:cNvPr>
          <p:cNvCxnSpPr>
            <a:cxnSpLocks/>
            <a:stCxn id="10" idx="3"/>
            <a:endCxn id="11" idx="3"/>
          </p:cNvCxnSpPr>
          <p:nvPr/>
        </p:nvCxnSpPr>
        <p:spPr>
          <a:xfrm>
            <a:off x="4207082" y="121221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/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가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와 일치하기를 원한다</a:t>
                </a:r>
                <a:r>
                  <a:rPr lang="en-US" altLang="ko-KR" sz="1200" dirty="0"/>
                  <a:t>.</a:t>
                </a:r>
              </a:p>
              <a:p>
                <a:r>
                  <a:rPr lang="ko-KR" altLang="en-US" sz="1200" dirty="0"/>
                  <a:t>다시 말해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200" i="1" spc="-5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1200" dirty="0"/>
                  <a:t> 한계저감비용</a:t>
                </a:r>
                <a:r>
                  <a:rPr lang="en-US" altLang="ko-KR" sz="12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</m:oMath>
                </a14:m>
                <a:r>
                  <a:rPr lang="en-US" altLang="ko-KR" sz="1200" dirty="0"/>
                  <a:t>)</a:t>
                </a:r>
                <a:r>
                  <a:rPr lang="ko-KR" altLang="en-US" sz="1200" dirty="0"/>
                  <a:t>이고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정부는 한계저감비용과 사회적한계피해가 일치하기를 바란다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blipFill>
                <a:blip r:embed="rId4"/>
                <a:stretch>
                  <a:fillRect l="-193" t="-725" b="-260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직사각형 15">
            <a:extLst>
              <a:ext uri="{FF2B5EF4-FFF2-40B4-BE49-F238E27FC236}">
                <a16:creationId xmlns:a16="http://schemas.microsoft.com/office/drawing/2014/main" id="{240540FF-6379-884F-2921-0730B59DA87D}"/>
              </a:ext>
            </a:extLst>
          </p:cNvPr>
          <p:cNvSpPr/>
          <p:nvPr/>
        </p:nvSpPr>
        <p:spPr>
          <a:xfrm>
            <a:off x="8213875" y="217274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F71F0-3572-B839-20F1-FF9D5A804AD8}"/>
              </a:ext>
            </a:extLst>
          </p:cNvPr>
          <p:cNvSpPr/>
          <p:nvPr/>
        </p:nvSpPr>
        <p:spPr>
          <a:xfrm>
            <a:off x="8213875" y="253936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9D1C8998-55EC-F6EE-0361-165CE2505A83}"/>
              </a:ext>
            </a:extLst>
          </p:cNvPr>
          <p:cNvCxnSpPr>
            <a:cxnSpLocks/>
            <a:stCxn id="16" idx="3"/>
            <a:endCxn id="17" idx="3"/>
          </p:cNvCxnSpPr>
          <p:nvPr/>
        </p:nvCxnSpPr>
        <p:spPr>
          <a:xfrm>
            <a:off x="8422550" y="228600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72AE0E5-0105-DD04-0969-0FC8312448E6}"/>
              </a:ext>
            </a:extLst>
          </p:cNvPr>
          <p:cNvSpPr txBox="1"/>
          <p:nvPr/>
        </p:nvSpPr>
        <p:spPr>
          <a:xfrm>
            <a:off x="7093415" y="2994609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74EA32-BEE3-1B78-F7D6-7C5976E05AC5}"/>
              </a:ext>
            </a:extLst>
          </p:cNvPr>
          <p:cNvSpPr/>
          <p:nvPr/>
        </p:nvSpPr>
        <p:spPr>
          <a:xfrm>
            <a:off x="7093415" y="2645923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A0D418-0791-856F-5B8D-58A37EED1DF1}"/>
              </a:ext>
            </a:extLst>
          </p:cNvPr>
          <p:cNvSpPr/>
          <p:nvPr/>
        </p:nvSpPr>
        <p:spPr>
          <a:xfrm>
            <a:off x="6542483" y="300354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266FBF17-BBF5-92F1-6C35-61D3A73A808D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 rot="5400000">
            <a:off x="6852273" y="2771312"/>
            <a:ext cx="244367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F6455F-7988-50A2-B216-A78CEC78AD35}"/>
              </a:ext>
            </a:extLst>
          </p:cNvPr>
          <p:cNvSpPr/>
          <p:nvPr/>
        </p:nvSpPr>
        <p:spPr>
          <a:xfrm>
            <a:off x="5918956" y="300955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159310-5CB3-0C03-1BC8-25D7610B3384}"/>
              </a:ext>
            </a:extLst>
          </p:cNvPr>
          <p:cNvSpPr/>
          <p:nvPr/>
        </p:nvSpPr>
        <p:spPr>
          <a:xfrm>
            <a:off x="5368024" y="367336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45671B7C-84F8-9F62-DED5-6ADDF30340F6}"/>
              </a:ext>
            </a:extLst>
          </p:cNvPr>
          <p:cNvCxnSpPr>
            <a:cxnSpLocks/>
            <a:stCxn id="31" idx="2"/>
            <a:endCxn id="32" idx="3"/>
          </p:cNvCxnSpPr>
          <p:nvPr/>
        </p:nvCxnSpPr>
        <p:spPr>
          <a:xfrm rot="5400000">
            <a:off x="5524718" y="3288041"/>
            <a:ext cx="550559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5A2D5D-8DC3-9E30-6A1E-95CD573C32DA}"/>
              </a:ext>
            </a:extLst>
          </p:cNvPr>
          <p:cNvSpPr txBox="1"/>
          <p:nvPr/>
        </p:nvSpPr>
        <p:spPr>
          <a:xfrm>
            <a:off x="5870020" y="3487308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67AB6E-A715-DC62-1F12-D22F294A0C34}"/>
              </a:ext>
            </a:extLst>
          </p:cNvPr>
          <p:cNvSpPr/>
          <p:nvPr/>
        </p:nvSpPr>
        <p:spPr>
          <a:xfrm>
            <a:off x="5249065" y="380436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BDFE6B5-0875-5C0C-107E-D521CC033635}"/>
              </a:ext>
            </a:extLst>
          </p:cNvPr>
          <p:cNvSpPr/>
          <p:nvPr/>
        </p:nvSpPr>
        <p:spPr>
          <a:xfrm>
            <a:off x="4973278" y="426898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274768F-B960-1070-F52A-3259B225EED8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>
          <a:xfrm rot="5400000">
            <a:off x="5091996" y="4120829"/>
            <a:ext cx="351364" cy="1714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/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 err="1"/>
                  <a:t>양변을</a:t>
                </a:r>
                <a:r>
                  <a:rPr lang="ko-KR" altLang="en-US" sz="12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𝑀𝐷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200" dirty="0"/>
                  <a:t> 로 나눔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blipFill>
                <a:blip r:embed="rId5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C486DBBF-441C-AEB3-0FE8-D4AE7BECFBC5}"/>
              </a:ext>
            </a:extLst>
          </p:cNvPr>
          <p:cNvSpPr/>
          <p:nvPr/>
        </p:nvSpPr>
        <p:spPr>
          <a:xfrm>
            <a:off x="4648024" y="456414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26D04C4-0309-E36D-15F5-7FFD8415475F}"/>
              </a:ext>
            </a:extLst>
          </p:cNvPr>
          <p:cNvSpPr/>
          <p:nvPr/>
        </p:nvSpPr>
        <p:spPr>
          <a:xfrm>
            <a:off x="4097092" y="504537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7DABCB5B-BE7D-328D-879B-2600BB52C70D}"/>
              </a:ext>
            </a:extLst>
          </p:cNvPr>
          <p:cNvCxnSpPr>
            <a:cxnSpLocks/>
            <a:stCxn id="41" idx="2"/>
            <a:endCxn id="42" idx="3"/>
          </p:cNvCxnSpPr>
          <p:nvPr/>
        </p:nvCxnSpPr>
        <p:spPr>
          <a:xfrm rot="5400000">
            <a:off x="4345079" y="4751341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0F6863F-36C1-CC75-BCE1-5459E412E498}"/>
              </a:ext>
            </a:extLst>
          </p:cNvPr>
          <p:cNvSpPr txBox="1"/>
          <p:nvPr/>
        </p:nvSpPr>
        <p:spPr>
          <a:xfrm>
            <a:off x="4648024" y="493825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BDACC45-CB86-04B2-00B8-4D5A771CADDE}"/>
              </a:ext>
            </a:extLst>
          </p:cNvPr>
          <p:cNvSpPr/>
          <p:nvPr/>
        </p:nvSpPr>
        <p:spPr>
          <a:xfrm>
            <a:off x="3801028" y="538655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4C55855-5DC1-ECBA-CF8E-CECECD2ABEE4}"/>
              </a:ext>
            </a:extLst>
          </p:cNvPr>
          <p:cNvSpPr/>
          <p:nvPr/>
        </p:nvSpPr>
        <p:spPr>
          <a:xfrm>
            <a:off x="3250096" y="586777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연결선: 구부러짐 47">
            <a:extLst>
              <a:ext uri="{FF2B5EF4-FFF2-40B4-BE49-F238E27FC236}">
                <a16:creationId xmlns:a16="http://schemas.microsoft.com/office/drawing/2014/main" id="{F5E9F7CC-EA7F-A9F5-55B1-EA1B3D3AA75E}"/>
              </a:ext>
            </a:extLst>
          </p:cNvPr>
          <p:cNvCxnSpPr>
            <a:cxnSpLocks/>
            <a:stCxn id="46" idx="2"/>
            <a:endCxn id="47" idx="3"/>
          </p:cNvCxnSpPr>
          <p:nvPr/>
        </p:nvCxnSpPr>
        <p:spPr>
          <a:xfrm rot="5400000">
            <a:off x="3498083" y="5573746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/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ko-KR" altLang="en-US" sz="1200" dirty="0"/>
                  <a:t> 이라는 가정과 함께</a:t>
                </a:r>
                <a:r>
                  <a:rPr lang="en-US" altLang="ko-KR" sz="1200" dirty="0"/>
                  <a:t> </a:t>
                </a:r>
                <a:r>
                  <a:rPr lang="ko-KR" altLang="en-US" sz="1200" dirty="0"/>
                  <a:t>단순 식 정리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blipFill>
                <a:blip r:embed="rId6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9336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E11C-7424-73EC-6EE8-E74004051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201DC-8D5D-42B4-4127-1415BDA15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C47967-BD83-973C-1082-1BA8B6B22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 smtClean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직사각형 4">
            <a:extLst>
              <a:ext uri="{FF2B5EF4-FFF2-40B4-BE49-F238E27FC236}">
                <a16:creationId xmlns:a16="http://schemas.microsoft.com/office/drawing/2014/main" id="{4AE8F06C-FFAE-CA78-0FDF-D0F28E81916C}"/>
              </a:ext>
            </a:extLst>
          </p:cNvPr>
          <p:cNvSpPr/>
          <p:nvPr/>
        </p:nvSpPr>
        <p:spPr>
          <a:xfrm>
            <a:off x="4107226" y="89340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D6CF22-CB84-79F6-37D6-0DC5378CA0EA}"/>
              </a:ext>
            </a:extLst>
          </p:cNvPr>
          <p:cNvSpPr/>
          <p:nvPr/>
        </p:nvSpPr>
        <p:spPr>
          <a:xfrm>
            <a:off x="3556294" y="137463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AC043E2-785B-564D-C3E2-6D934FFFD9CC}"/>
              </a:ext>
            </a:extLst>
          </p:cNvPr>
          <p:cNvCxnSpPr>
            <a:cxnSpLocks/>
            <a:stCxn id="5" idx="2"/>
            <a:endCxn id="6" idx="3"/>
          </p:cNvCxnSpPr>
          <p:nvPr/>
        </p:nvCxnSpPr>
        <p:spPr>
          <a:xfrm rot="5400000">
            <a:off x="3804281" y="1080600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/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2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2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200" dirty="0">
                    <a:solidFill>
                      <a:srgbClr val="FF0000"/>
                    </a:solidFill>
                  </a:rPr>
                  <a:t> </a:t>
                </a:r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blipFill>
                <a:blip r:embed="rId3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058C2A32-0156-72FE-39CE-7824160A6D6B}"/>
              </a:ext>
            </a:extLst>
          </p:cNvPr>
          <p:cNvSpPr/>
          <p:nvPr/>
        </p:nvSpPr>
        <p:spPr>
          <a:xfrm>
            <a:off x="3623084" y="151610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96DB2-DED9-61C1-F44E-90FF6B0FF78B}"/>
              </a:ext>
            </a:extLst>
          </p:cNvPr>
          <p:cNvSpPr/>
          <p:nvPr/>
        </p:nvSpPr>
        <p:spPr>
          <a:xfrm>
            <a:off x="3811866" y="231112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0B159421-C64C-7355-9F41-5518C0095E7F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 rot="16200000" flipH="1">
            <a:off x="3533096" y="1936929"/>
            <a:ext cx="681770" cy="293119"/>
          </a:xfrm>
          <a:prstGeom prst="curvedConnector4">
            <a:avLst>
              <a:gd name="adj1" fmla="val 473"/>
              <a:gd name="adj2" fmla="val 177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302BC8-B71E-EC92-A093-DD5BD310F81D}"/>
              </a:ext>
            </a:extLst>
          </p:cNvPr>
          <p:cNvSpPr txBox="1"/>
          <p:nvPr/>
        </p:nvSpPr>
        <p:spPr>
          <a:xfrm>
            <a:off x="4362798" y="220400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58D1BBD-0C14-2FF0-78FE-B36F12D7CF13}"/>
              </a:ext>
            </a:extLst>
          </p:cNvPr>
          <p:cNvSpPr/>
          <p:nvPr/>
        </p:nvSpPr>
        <p:spPr>
          <a:xfrm>
            <a:off x="3556294" y="253728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C5C6A4-161E-ECA9-95C5-35E92941DA6B}"/>
              </a:ext>
            </a:extLst>
          </p:cNvPr>
          <p:cNvSpPr/>
          <p:nvPr/>
        </p:nvSpPr>
        <p:spPr>
          <a:xfrm>
            <a:off x="3005362" y="3018510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80FDB06D-BD36-5A21-03AC-74B7787F05A2}"/>
              </a:ext>
            </a:extLst>
          </p:cNvPr>
          <p:cNvCxnSpPr>
            <a:cxnSpLocks/>
            <a:stCxn id="19" idx="2"/>
            <a:endCxn id="20" idx="3"/>
          </p:cNvCxnSpPr>
          <p:nvPr/>
        </p:nvCxnSpPr>
        <p:spPr>
          <a:xfrm rot="5400000">
            <a:off x="3253349" y="2724479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BD25389-1590-2301-9CD1-8FF62712D756}"/>
              </a:ext>
            </a:extLst>
          </p:cNvPr>
          <p:cNvSpPr txBox="1"/>
          <p:nvPr/>
        </p:nvSpPr>
        <p:spPr>
          <a:xfrm>
            <a:off x="3576154" y="2963392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/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blipFill>
                <a:blip r:embed="rId4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3201CC-1E1E-E1D9-CB16-979E47FDCC72}"/>
              </a:ext>
            </a:extLst>
          </p:cNvPr>
          <p:cNvSpPr/>
          <p:nvPr/>
        </p:nvSpPr>
        <p:spPr>
          <a:xfrm>
            <a:off x="3549007" y="382023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104DEEB4-036B-FE28-95CF-6B98F3B55A05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3757682" y="3933487"/>
            <a:ext cx="262859" cy="62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FF81C59-F354-E222-0A36-A20629BE35BE}"/>
              </a:ext>
            </a:extLst>
          </p:cNvPr>
          <p:cNvSpPr/>
          <p:nvPr/>
        </p:nvSpPr>
        <p:spPr>
          <a:xfrm>
            <a:off x="7344558" y="946807"/>
            <a:ext cx="4373732" cy="5610060"/>
          </a:xfrm>
          <a:prstGeom prst="roundRect">
            <a:avLst>
              <a:gd name="adj" fmla="val 5387"/>
            </a:avLst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/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우선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 </a:t>
                </a:r>
                <a14:m>
                  <m:oMath xmlns:m="http://schemas.openxmlformats.org/officeDocument/2006/math">
                    <m:r>
                      <a:rPr lang="en-US" altLang="ko-KR" sz="1000" i="1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000" b="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b="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라는 함수를 생각해보자</a:t>
                </a:r>
                <a:endParaRPr lang="en-US" altLang="ko-KR" sz="1000" b="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fPr>
                        <m:num>
                          <m: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(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)</m:t>
                          </m:r>
                        </m:num>
                        <m:den>
                          <m:r>
                            <a:rPr lang="ko-KR" altLang="en-US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den>
                      </m:f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+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−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mtClean="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             </m:t>
                      </m:r>
                      <m:r>
                        <a:rPr lang="en-US" altLang="ko-KR" sz="1000" i="1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좌변은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100" b="0" i="1" spc="-50" smtClean="0">
                        <a:solidFill>
                          <a:schemeClr val="tx1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𝑑𝑒</m:t>
                            </m:r>
                          </m:den>
                        </m:f>
                      </m:num>
                      <m:den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den>
                        </m:f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1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우변은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8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위에서 정리한 빨간색 식의 좌변과 우변을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 </a:t>
                </a:r>
                <a:r>
                  <a:rPr lang="en-US" altLang="ko-KR" sz="1000" i="1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)=</m:t>
                        </m:r>
                      </m:e>
                    </m:func>
                    <m:func>
                      <m:funcPr>
                        <m:ctrl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bar>
                      <m:barPr>
                        <m:pos m:val="top"/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)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spc="-50" dirty="0">
                  <a:highlight>
                    <a:srgbClr val="FFFFFF"/>
                  </a:highlight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spc="-50" dirty="0">
                    <a:highlight>
                      <a:srgbClr val="FFFFFF"/>
                    </a:highlight>
                  </a:rPr>
                  <a:t>위에서 </a:t>
                </a:r>
                <a14:m>
                  <m:oMath xmlns:m="http://schemas.openxmlformats.org/officeDocument/2006/math"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라고 하였으므로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b="0" i="1" spc="-5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)=</m:t>
                      </m:r>
                      <m:bar>
                        <m:barPr>
                          <m:pos m:val="top"/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bar>
                      <m:d>
                        <m:dPr>
                          <m:begChr m:val="{"/>
                          <m:endChr m:val="}"/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altLang="ko-KR" sz="100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따라서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ba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이므로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결국 아래의 식이 성립함을 알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000" i="1" spc="-5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altLang="ko-KR" sz="1000" i="1" dirty="0">
                  <a:solidFill>
                    <a:schemeClr val="tx1"/>
                  </a:solidFill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blipFill>
                <a:blip r:embed="rId5"/>
                <a:stretch>
                  <a:fillRect r="-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/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4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400" dirty="0">
                    <a:solidFill>
                      <a:srgbClr val="FF0000"/>
                    </a:solidFill>
                  </a:rPr>
                  <a:t> </a:t>
                </a:r>
                <a:endParaRPr lang="ko-KR" altLang="en-US" sz="1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7732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D3DA4-0184-DE23-BEDD-72DE7660C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B08CC5-4C23-DEC5-B6EA-522FC8C749A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1BA04D-F9FD-6532-3829-E182197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CEFD279-1188-17CA-B374-38E1859B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배출량에 대한 감시가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불가능할 경우의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072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265A6-EB06-3453-197C-CAFB6394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D5915-EB2B-E69F-8E98-17313F86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감시의 불가능성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1D0C-CBCD-868E-2633-A09269DE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8B0C3B-D8E5-F88F-70C4-10FD6EF185F3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Section 1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에서는 정부가 오염원이 실제로 어느 정도의 오염물질을 배출하는지는 정확히 감시할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알지 못할 때 발생하는 문제를 살펴보았다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정보경제학에서는 이를 숨겨진 정보가 있는 상황이라고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비점원오염의 경우 오염원의 배출량 자체를 정확히 계측할 수가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정부가 배출상한을 정하여도 오염원들이 실제 지키는지 확인할 수가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과잉배출이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정보경제학에서는 이처럼 오염원에 대한 정보의 부재 </a:t>
            </a:r>
            <a:r>
              <a:rPr lang="ko-KR" altLang="en-US" sz="1600" dirty="0" err="1"/>
              <a:t>때문이라기보다는</a:t>
            </a:r>
            <a:r>
              <a:rPr lang="ko-KR" altLang="en-US" sz="1600" dirty="0"/>
              <a:t> 오염원이 행하는 행위를 관측할 수 없기 때문에 오염원이 전략적으로 행동하여 발생하는 문제를 숨겨진 행위로 인한 문제 혹은 도덕적 해이라고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80470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C93BB-D1F8-95E3-B4B0-C27EFF152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2D2F8-0A22-B760-FA91-AF7F2288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오염도와 배출량 간의 관계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F56A3E-F7FE-9E25-A8BD-EEC27581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1EF87C-AFEF-F67C-B565-C70BA6B6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07"/>
          <a:stretch>
            <a:fillRect/>
          </a:stretch>
        </p:blipFill>
        <p:spPr>
          <a:xfrm>
            <a:off x="8505147" y="4009549"/>
            <a:ext cx="3431619" cy="17843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46EAC-8AB5-FF53-79DC-7BEB52F22C5B}"/>
              </a:ext>
            </a:extLst>
          </p:cNvPr>
          <p:cNvSpPr txBox="1"/>
          <p:nvPr/>
        </p:nvSpPr>
        <p:spPr>
          <a:xfrm>
            <a:off x="255234" y="958844"/>
            <a:ext cx="113652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수질오염에 영향을 주는 어떤 비점원오염이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오염물질의 배출량을 파악하는 것이 불가능하다고 하자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배출량 기준의 대안으로 오염도 기준의 정책을 시행하고자 하여도</a:t>
            </a:r>
            <a:r>
              <a:rPr lang="en-US" altLang="ko-KR" sz="1600" dirty="0"/>
              <a:t>, </a:t>
            </a:r>
            <a:r>
              <a:rPr lang="ko-KR" altLang="en-US" sz="1600" dirty="0"/>
              <a:t>오염도는 오염원의 배출량과 함께 자연조건에 의해서도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정부가 오염도를 계측하여도 오염원의 배출량을 정확히 파악하는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자연조건이 동일하다면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오염원의 배출량이 적을 경우 오염도가 적게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오른쪽 그림</a:t>
            </a:r>
            <a:r>
              <a:rPr lang="en-US" altLang="ko-KR" sz="1600" dirty="0"/>
              <a:t>) </a:t>
            </a:r>
            <a:r>
              <a:rPr lang="ko-KR" altLang="en-US" sz="1600" dirty="0"/>
              <a:t>좌측 그래프는 오염원이 저감행위를 할 경우의 오염도 발생 확률이고</a:t>
            </a:r>
            <a:r>
              <a:rPr lang="en-US" altLang="ko-KR" sz="1600" dirty="0"/>
              <a:t>, </a:t>
            </a:r>
            <a:r>
              <a:rPr lang="ko-KR" altLang="en-US" sz="1600" dirty="0"/>
              <a:t>우측 그래프는 저감행위를 하지 않을 경우의 오염도 발생 확률이다</a:t>
            </a:r>
            <a:r>
              <a:rPr lang="en-US" altLang="ko-KR" sz="16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/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오염도는 자연조건의 영향을 받는 일종의 확률변수이다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오염원이 저감행위를 하면 높은 수준의 오염도가 발생할 확률은 상대적으로 작아진다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정부는 최소한 달성 되어야 할 오염도 기준이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라고 생각한다고 하자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실제 오염도가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 </a:t>
                </a:r>
                <a:r>
                  <a:rPr lang="ko-KR" altLang="en-US" sz="1600" spc="-100" dirty="0"/>
                  <a:t>수준을 넘어서면 저감행위를 하지 않은 것으로 간주하여 오염원을 제재한다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자연 조건 악화로 오염도가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보다 심해서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오염원이 억울하게 </a:t>
                </a:r>
                <a:r>
                  <a:rPr lang="ko-KR" altLang="en-US" sz="1600" spc="-100" dirty="0" err="1"/>
                  <a:t>제재받을</a:t>
                </a:r>
                <a:r>
                  <a:rPr lang="ko-KR" altLang="en-US" sz="1600" spc="-100" dirty="0"/>
                  <a:t> 수도 있다</a:t>
                </a:r>
                <a:r>
                  <a:rPr lang="en-US" altLang="ko-KR" sz="1600" spc="-1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하지만 오염원에게 정부가 원하는 수준의 저감노력을 기울이도록 유도할 수 있다</a:t>
                </a:r>
                <a:r>
                  <a:rPr lang="en-US" altLang="ko-KR" sz="1600" spc="-1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blipFill>
                <a:blip r:embed="rId3"/>
                <a:stretch>
                  <a:fillRect r="-222"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/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120B9DC-AA7E-97A9-B9D6-B91EC0C68862}"/>
              </a:ext>
            </a:extLst>
          </p:cNvPr>
          <p:cNvSpPr txBox="1"/>
          <p:nvPr/>
        </p:nvSpPr>
        <p:spPr>
          <a:xfrm>
            <a:off x="11293753" y="5810484"/>
            <a:ext cx="6237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spc="-50"/>
              <a:t>오염도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853279-DF3D-1F3A-7D25-2DB08B155951}"/>
              </a:ext>
            </a:extLst>
          </p:cNvPr>
          <p:cNvSpPr txBox="1"/>
          <p:nvPr/>
        </p:nvSpPr>
        <p:spPr>
          <a:xfrm>
            <a:off x="8725543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D3705D-658F-1453-9A85-0B5265D2E6FF}"/>
              </a:ext>
            </a:extLst>
          </p:cNvPr>
          <p:cNvSpPr txBox="1"/>
          <p:nvPr/>
        </p:nvSpPr>
        <p:spPr>
          <a:xfrm>
            <a:off x="10353010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안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</p:spTree>
    <p:extLst>
      <p:ext uri="{BB962C8B-B14F-4D97-AF65-F5344CB8AC3E}">
        <p14:creationId xmlns:p14="http://schemas.microsoft.com/office/powerpoint/2010/main" val="1139220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9A24-A7C2-9780-5014-E0BD6005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A8A9C-AEC8-292B-AB77-00098E00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027ED-3E0E-F608-5F2D-C6785CB8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AB0F94-380F-D88E-16B8-0C0A09121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074180"/>
              </p:ext>
            </p:extLst>
          </p:nvPr>
        </p:nvGraphicFramePr>
        <p:xfrm>
          <a:off x="2075010" y="31632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66616A8-8CD7-A378-3EA8-BA00503A4A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14919"/>
              </p:ext>
            </p:extLst>
          </p:nvPr>
        </p:nvGraphicFramePr>
        <p:xfrm>
          <a:off x="2075010" y="50936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6614DE4-7F21-2957-5D87-6C03943D661A}"/>
              </a:ext>
            </a:extLst>
          </p:cNvPr>
          <p:cNvSpPr txBox="1"/>
          <p:nvPr/>
        </p:nvSpPr>
        <p:spPr>
          <a:xfrm>
            <a:off x="678873" y="958844"/>
            <a:ext cx="108727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오염원은 저감행위를 전혀 하지 않는 경우와 특정 수준의 저감행위를 하는 경우 둘 중 하나를 선택한다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저감비용은 </a:t>
            </a:r>
            <a:r>
              <a:rPr lang="en-US" altLang="ko-KR" sz="1600" dirty="0"/>
              <a:t>50</a:t>
            </a:r>
            <a:r>
              <a:rPr lang="ko-KR" altLang="en-US" sz="1600" dirty="0"/>
              <a:t>만원이 소요된다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기상조건은 </a:t>
            </a:r>
            <a:r>
              <a:rPr lang="en-US" altLang="ko-KR" sz="1600" dirty="0"/>
              <a:t>50%</a:t>
            </a:r>
            <a:r>
              <a:rPr lang="ko-KR" altLang="en-US" sz="1600" dirty="0"/>
              <a:t>의 확률로 좋을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나쁠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하지 않을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1.0ppm,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2.0ppm 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할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0.5ppm,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1.0ppm </a:t>
            </a:r>
            <a:r>
              <a:rPr lang="ko-KR" altLang="en-US" sz="1600" dirty="0"/>
              <a:t>이 된다</a:t>
            </a:r>
            <a:endParaRPr lang="en-US" altLang="ko-KR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BCE2AE-2AA8-AE39-2365-666754A41F0E}"/>
              </a:ext>
            </a:extLst>
          </p:cNvPr>
          <p:cNvSpPr txBox="1"/>
          <p:nvPr/>
        </p:nvSpPr>
        <p:spPr>
          <a:xfrm>
            <a:off x="678873" y="4476923"/>
            <a:ext cx="1087276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오염도에 따라 사회적 편익은 아래와 같다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2495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2AC0-19FB-3E13-C40D-49F6F9A5A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50F8B-BEED-CD6E-DAE4-C738FF3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41048-B683-351B-5C8B-E3068F87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D49F4-1270-ED6A-DE47-737F1BF7277D}"/>
              </a:ext>
            </a:extLst>
          </p:cNvPr>
          <p:cNvSpPr txBox="1"/>
          <p:nvPr/>
        </p:nvSpPr>
        <p:spPr>
          <a:xfrm>
            <a:off x="678873" y="1936744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 상황에서 각각의 경우에 대해 사회 전체에서 발생하는 순편익의 </a:t>
            </a:r>
            <a:r>
              <a:rPr lang="ko-KR" altLang="en-US" sz="1600" dirty="0" err="1"/>
              <a:t>기댓값을</a:t>
            </a:r>
            <a:r>
              <a:rPr lang="ko-KR" altLang="en-US" sz="1600" dirty="0"/>
              <a:t> 구해보자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D4B8BD-C717-ED73-4312-BCCCB7AF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7D12D1B-31C7-04C6-BD4F-AB30325D4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EDA6B54-3CFB-95C5-0AE6-056F1B78E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234843"/>
              </p:ext>
            </p:extLst>
          </p:nvPr>
        </p:nvGraphicFramePr>
        <p:xfrm>
          <a:off x="1433660" y="2972769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 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사회적 편익의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기대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순편익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0.5*100+0.5*0 = 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0.5*150+0.5*100 = 125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1575FD-D144-1C3B-8526-A32251A79131}"/>
              </a:ext>
            </a:extLst>
          </p:cNvPr>
          <p:cNvSpPr txBox="1"/>
          <p:nvPr/>
        </p:nvSpPr>
        <p:spPr>
          <a:xfrm>
            <a:off x="678873" y="4137901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오염원이 저감행위를 할 때의 사회적 순편익이 더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오염원이 저감행위를 하기를 원한다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 정부가 오염원의 배출량을 확인할 수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배출상한 및 배출부과금제는 의미가 없다</a:t>
            </a:r>
            <a:r>
              <a:rPr lang="en-US" altLang="ko-KR" sz="16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F8B52-C111-9196-4B66-F4FE2A20C8AC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1143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A8D3F-049F-E945-04BC-3BF1377C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1D526-B34C-4FE1-0945-6DF806C9C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/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최소한 달성되어야 할 오염도가 </a:t>
                </a:r>
                <a:r>
                  <a:rPr lang="en-US" altLang="ko-KR" sz="1600" dirty="0"/>
                  <a:t>1.0ppm(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이라 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실제 오염도가 이 수준보다 더 심하면 오염원이 저감행위를 하지 않은 것으로 간주하여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만원의 벌금을 부과한다고 해보자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오염도 </a:t>
                </a:r>
                <a:r>
                  <a:rPr lang="ko-KR" altLang="en-US" sz="1600" dirty="0">
                    <a:latin typeface="맑은 고딕" panose="020B0503020000020004" pitchFamily="50" charset="-127"/>
                  </a:rPr>
                  <a:t>≤</a:t>
                </a:r>
                <a:r>
                  <a:rPr lang="en-US" altLang="ko-KR" sz="1600" dirty="0"/>
                  <a:t> 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벌금은 없고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오염도 </a:t>
                </a:r>
                <a:r>
                  <a:rPr lang="en-US" altLang="ko-KR" sz="1600" dirty="0"/>
                  <a:t>&gt;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만원을 부과한다고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같은 정책이 시행되면 오염원의 기대비용은 아래와 같이 계산된다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저감행위를 할 경우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기대비용이 더 적으므로 저감행위를 하고자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정부는 수질 오염도를 </a:t>
                </a:r>
                <a:r>
                  <a:rPr lang="en-US" altLang="ko-KR" sz="1600" dirty="0"/>
                  <a:t>1.0ppm </a:t>
                </a:r>
                <a:r>
                  <a:rPr lang="ko-KR" altLang="en-US" sz="1600" dirty="0"/>
                  <a:t>이하로 유지할 수 있게 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blipFill>
                <a:blip r:embed="rId2"/>
                <a:stretch>
                  <a:fillRect b="-10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BB9B856-7380-7B40-8D64-5F366A1F2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747642"/>
              </p:ext>
            </p:extLst>
          </p:nvPr>
        </p:nvGraphicFramePr>
        <p:xfrm>
          <a:off x="1433660" y="4298223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벌금의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 기대비용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0.5*125+0.5*0 = 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0.5*0+0.5*0 = 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4F4A0050-3F78-F567-CB95-B812079D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932DA38-36AD-D2A3-68ED-37CBD08BF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660EE61-BA97-1E71-B1E3-E5D4871D374A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6252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BC247-77FE-5DD4-D2C3-C427191D3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B0632-BBD0-F703-395C-6AB801E0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7E86C7-9F07-7BA4-B230-6F8D90DB6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1270E-367D-8E55-6231-A9D0223C0B19}"/>
              </a:ext>
            </a:extLst>
          </p:cNvPr>
          <p:cNvSpPr txBox="1"/>
          <p:nvPr/>
        </p:nvSpPr>
        <p:spPr>
          <a:xfrm>
            <a:off x="678873" y="958844"/>
            <a:ext cx="108727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오염원의 배출량을 정확히 계측할 수 없는 상황에서도 사용할 수 있는 정책수단을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훨씬 상황이 복잡하므로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정책수단 또한 더욱 복잡해질 수 밖에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이보다 복잡한 현실을 반영한 하나의 예로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오염원이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오염원들의 배출량을 계측할 수 없는 상황을 가정해보자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오염원이 있음에도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오염도와 연계한 정책을 시행하여 지역 전체의 벌금을 결정했다고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오염원 가운데 누가 더 많이 배출했는지 알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벌금액을 오염원의 수대로 일률적으로 부과한다고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개별 오염원 입장에서는 자신이 배출량을 늘려도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벌금액의 일부만을 내면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모든 오염원은 무임승차의 유인이 생긴다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다수의 오염원이 개입되면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무임승차욕구를 없애기 위해서는 벌금이 훨씬 커져야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3708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13886</TotalTime>
  <Words>4395</Words>
  <Application>Microsoft Office PowerPoint</Application>
  <PresentationFormat>와이드스크린</PresentationFormat>
  <Paragraphs>579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9  불확실성 및 정보 비대칭성과 오염규제</vt:lpstr>
      <vt:lpstr>Section 1. 불확실한 정보와 환경정책</vt:lpstr>
      <vt:lpstr>사회적 한계피해 혹은 한계편익이 불확실한 경우</vt:lpstr>
      <vt:lpstr>사회적 한계피해 혹은 한계편익이 불확실한 경우</vt:lpstr>
      <vt:lpstr>저감비용이 불확실한 경우</vt:lpstr>
      <vt:lpstr>저감비용이 불확실한 경우 (한계저감비용곡선의 기울기가 가파를 때)</vt:lpstr>
      <vt:lpstr>저감비용이 불확실한 경우 (한계저감비용곡선의 기울기가 가파를 때)</vt:lpstr>
      <vt:lpstr>저감비용이 불확실한 경우 (한계편익곡선의 기울기가 가파를 때)</vt:lpstr>
      <vt:lpstr>저감비용이 불확실한 경우 (한계편익곡선의 기울기가 가파를 때)</vt:lpstr>
      <vt:lpstr>저감비용이 불확실한 경우</vt:lpstr>
      <vt:lpstr>혼합정책을 사용하는 경우</vt:lpstr>
      <vt:lpstr>혼합정책을 사용하는 경우</vt:lpstr>
      <vt:lpstr>혼합정책을 사용하는 경우</vt:lpstr>
      <vt:lpstr>혼합정책을 사용하는 경우</vt:lpstr>
      <vt:lpstr>Section 2. 불확실한 저감비용과                 오염원의 전략적 행위</vt:lpstr>
      <vt:lpstr>불확실한 저감비용과 오염원의 전략적 행위</vt:lpstr>
      <vt:lpstr>배출권거래제와 오염원의 전략적 행위: 저감비용의 과대보고</vt:lpstr>
      <vt:lpstr>배출부과금제와 오염원의 전략적 행위: 저감비용의 과소보고</vt:lpstr>
      <vt:lpstr>거짓보고 유인의 완전 제거: 퀴렐 메커니즘</vt:lpstr>
      <vt:lpstr>거짓보고 유인의 완전 제거: 퀴렐 메커니즘</vt:lpstr>
      <vt:lpstr>거짓보고 유인의 완전 제거: 퀴렐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몬테로 메커니즘 수식 풀이</vt:lpstr>
      <vt:lpstr>몬테로 메커니즘 수식 풀이</vt:lpstr>
      <vt:lpstr>Section 3. 배출량에 대한 감시가                 불가능할 경우의 오염규제</vt:lpstr>
      <vt:lpstr>배출량에 대한 감시의 불가능성</vt:lpstr>
      <vt:lpstr>오염도와 배출량 간의 관계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468</cp:revision>
  <dcterms:created xsi:type="dcterms:W3CDTF">2025-07-05T05:15:23Z</dcterms:created>
  <dcterms:modified xsi:type="dcterms:W3CDTF">2026-10-29T03:47:49Z</dcterms:modified>
</cp:coreProperties>
</file>