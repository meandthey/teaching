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375" r:id="rId2"/>
    <p:sldId id="405" r:id="rId3"/>
    <p:sldId id="550" r:id="rId4"/>
    <p:sldId id="464" r:id="rId5"/>
    <p:sldId id="466" r:id="rId6"/>
    <p:sldId id="467" r:id="rId7"/>
    <p:sldId id="468" r:id="rId8"/>
    <p:sldId id="469" r:id="rId9"/>
    <p:sldId id="470" r:id="rId10"/>
    <p:sldId id="472" r:id="rId11"/>
    <p:sldId id="474" r:id="rId12"/>
    <p:sldId id="475" r:id="rId13"/>
    <p:sldId id="476" r:id="rId14"/>
    <p:sldId id="477" r:id="rId15"/>
    <p:sldId id="632" r:id="rId16"/>
    <p:sldId id="479" r:id="rId17"/>
    <p:sldId id="478" r:id="rId18"/>
    <p:sldId id="480" r:id="rId19"/>
    <p:sldId id="481" r:id="rId20"/>
    <p:sldId id="482" r:id="rId21"/>
    <p:sldId id="483" r:id="rId22"/>
    <p:sldId id="484" r:id="rId23"/>
    <p:sldId id="486" r:id="rId24"/>
    <p:sldId id="487" r:id="rId25"/>
    <p:sldId id="488" r:id="rId26"/>
    <p:sldId id="489" r:id="rId27"/>
    <p:sldId id="490" r:id="rId28"/>
    <p:sldId id="63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배출부과금제도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배출부과금은 오염원으로 하여금 스스로 오염물질 배출량을 줄이도록 정책당국이 제공하는 경제적 유인의 한 형태이다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5" descr="Cap 2014-06-19 09-42-56-297.png">
            <a:extLst>
              <a:ext uri="{FF2B5EF4-FFF2-40B4-BE49-F238E27FC236}">
                <a16:creationId xmlns:a16="http://schemas.microsoft.com/office/drawing/2014/main" id="{249EBDDF-4762-9191-16AD-EF6FAB4AC6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6" t="13541" r="16667" b="2144"/>
          <a:stretch>
            <a:fillRect/>
          </a:stretch>
        </p:blipFill>
        <p:spPr bwMode="auto">
          <a:xfrm>
            <a:off x="7483732" y="2338075"/>
            <a:ext cx="4344474" cy="294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78BBBB-DCCB-6164-00E7-9054D852E5D3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효과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단계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blipFill>
                <a:blip r:embed="rId2"/>
                <a:stretch>
                  <a:fillRect l="-515" r="-344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6" descr="Cap 2014-06-19 09-43-05-739.png">
            <a:extLst>
              <a:ext uri="{FF2B5EF4-FFF2-40B4-BE49-F238E27FC236}">
                <a16:creationId xmlns:a16="http://schemas.microsoft.com/office/drawing/2014/main" id="{D6780E6F-3E61-1B6E-BB0D-E3C1DBBA59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5" t="14036" r="15686"/>
          <a:stretch>
            <a:fillRect/>
          </a:stretch>
        </p:blipFill>
        <p:spPr bwMode="auto">
          <a:xfrm>
            <a:off x="7591188" y="2330449"/>
            <a:ext cx="4326340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B1DB0A-3C17-3778-657C-CB1EC9283F78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 배출부과금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17-447.png">
            <a:extLst>
              <a:ext uri="{FF2B5EF4-FFF2-40B4-BE49-F238E27FC236}">
                <a16:creationId xmlns:a16="http://schemas.microsoft.com/office/drawing/2014/main" id="{BB5951D8-4090-884F-7E0A-B064C192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" t="12969" r="4280" b="1679"/>
          <a:stretch>
            <a:fillRect/>
          </a:stretch>
        </p:blipFill>
        <p:spPr bwMode="auto">
          <a:xfrm>
            <a:off x="6400800" y="3754724"/>
            <a:ext cx="5016500" cy="258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부과하면</a:t>
                </a:r>
                <a:r>
                  <a:rPr lang="en-US" altLang="ko-KR" sz="1600" spc="-50" dirty="0"/>
                  <a:t>,         </a:t>
                </a: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선택한다</a:t>
                </a:r>
                <a:r>
                  <a:rPr lang="en-US" altLang="ko-KR" sz="1600" spc="-50" dirty="0"/>
                  <a:t>.: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321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개별 오염원의 한계저감비용을 모르는 상태에서 </a:t>
                </a:r>
                <a:r>
                  <a:rPr lang="ko-KR" altLang="en-US" sz="1600" spc="-50" dirty="0" err="1"/>
                  <a:t>목표로하는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배출감소량을</a:t>
                </a:r>
                <a:r>
                  <a:rPr lang="ko-KR" altLang="en-US" sz="1600" spc="-50" dirty="0"/>
                  <a:t> 달성하기 위해서는 순차적으로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변경할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 목표와 부합하는지 확인을 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blipFill>
                <a:blip r:embed="rId4"/>
                <a:stretch>
                  <a:fillRect l="-405" r="-162" b="-32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5BC118-23FD-05BB-0BB7-8807DE46470D}"/>
              </a:ext>
            </a:extLst>
          </p:cNvPr>
          <p:cNvSpPr txBox="1"/>
          <p:nvPr/>
        </p:nvSpPr>
        <p:spPr>
          <a:xfrm>
            <a:off x="7133848" y="3201926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비용효과성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동질적 오염물질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blipFill>
                <a:blip r:embed="rId2"/>
                <a:stretch>
                  <a:fillRect l="-288" r="-288" b="-1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7" descr="Cap 2014-06-19 09-43-33-187.png">
            <a:extLst>
              <a:ext uri="{FF2B5EF4-FFF2-40B4-BE49-F238E27FC236}">
                <a16:creationId xmlns:a16="http://schemas.microsoft.com/office/drawing/2014/main" id="{D566B19B-A20B-DC07-4F41-3F6DF951F8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4" t="17548" r="17284" b="3372"/>
          <a:stretch>
            <a:fillRect/>
          </a:stretch>
        </p:blipFill>
        <p:spPr bwMode="auto">
          <a:xfrm>
            <a:off x="3784599" y="4648200"/>
            <a:ext cx="3333751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DBE93-D763-4774-2354-E63BB2C71B28}"/>
              </a:ext>
            </a:extLst>
          </p:cNvPr>
          <p:cNvSpPr txBox="1"/>
          <p:nvPr/>
        </p:nvSpPr>
        <p:spPr>
          <a:xfrm>
            <a:off x="3784599" y="4362410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구획배출부과금제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c+d</a:t>
                </a:r>
                <a:r>
                  <a:rPr lang="en-US" altLang="ko-KR" sz="1600" spc="-50" dirty="0"/>
                  <a:t> &gt; 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D14624FA-537E-EC0C-77CE-E0ADEFF8D7A8}"/>
              </a:ext>
            </a:extLst>
          </p:cNvPr>
          <p:cNvGrpSpPr/>
          <p:nvPr/>
        </p:nvGrpSpPr>
        <p:grpSpPr>
          <a:xfrm>
            <a:off x="7734300" y="2616202"/>
            <a:ext cx="3886644" cy="2955783"/>
            <a:chOff x="7734300" y="2616202"/>
            <a:chExt cx="3886644" cy="2955783"/>
          </a:xfrm>
        </p:grpSpPr>
        <p:pic>
          <p:nvPicPr>
            <p:cNvPr id="5" name="그림 7" descr="Cap 2014-06-19 09-43-43-296.png">
              <a:extLst>
                <a:ext uri="{FF2B5EF4-FFF2-40B4-BE49-F238E27FC236}">
                  <a16:creationId xmlns:a16="http://schemas.microsoft.com/office/drawing/2014/main" id="{41A6ABDE-7664-D5B3-933A-86C894F10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15" t="12925" r="32082" b="2290"/>
            <a:stretch>
              <a:fillRect/>
            </a:stretch>
          </p:blipFill>
          <p:spPr bwMode="auto">
            <a:xfrm>
              <a:off x="7734300" y="2616202"/>
              <a:ext cx="3625850" cy="2926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그림 7" descr="Cap 2014-06-19 09-43-43-296.png">
              <a:extLst>
                <a:ext uri="{FF2B5EF4-FFF2-40B4-BE49-F238E27FC236}">
                  <a16:creationId xmlns:a16="http://schemas.microsoft.com/office/drawing/2014/main" id="{866D2CF1-4290-F927-86DE-94CD4A7F7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668" t="91822" r="13376" b="2290"/>
            <a:stretch>
              <a:fillRect/>
            </a:stretch>
          </p:blipFill>
          <p:spPr bwMode="auto">
            <a:xfrm>
              <a:off x="11099356" y="5368785"/>
              <a:ext cx="521588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6DABE6E-8550-9F71-2B20-48222DCD9BB0}"/>
              </a:ext>
            </a:extLst>
          </p:cNvPr>
          <p:cNvSpPr txBox="1"/>
          <p:nvPr/>
        </p:nvSpPr>
        <p:spPr>
          <a:xfrm>
            <a:off x="8271075" y="2309538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배출부과금제의 기술혁신 유인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정책은 배출부과금제도의 장점을 가지고 있음과 동시에 집행비용을 절약할 수 있는 정책수단이다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53-940.png">
            <a:extLst>
              <a:ext uri="{FF2B5EF4-FFF2-40B4-BE49-F238E27FC236}">
                <a16:creationId xmlns:a16="http://schemas.microsoft.com/office/drawing/2014/main" id="{E7F52CA3-D4F2-242D-E175-82F3F34B5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3" t="13039" r="11905"/>
          <a:stretch>
            <a:fillRect/>
          </a:stretch>
        </p:blipFill>
        <p:spPr bwMode="auto">
          <a:xfrm>
            <a:off x="8439325" y="2927349"/>
            <a:ext cx="3441525" cy="2064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 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ko-KR" altLang="en-US" dirty="0" err="1"/>
              <a:t>상품세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제품부과금은 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정부는 이미 환경관련 이유를 제외하고도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다양한 세금을 생산량 기반으로 징수하고 있음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r="-296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161CAF-4FF2-D5AE-FCF1-508C98F1F49B}"/>
              </a:ext>
            </a:extLst>
          </p:cNvPr>
          <p:cNvSpPr txBox="1"/>
          <p:nvPr/>
        </p:nvSpPr>
        <p:spPr>
          <a:xfrm>
            <a:off x="8667750" y="252313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오염저감을 유도하기 위한 </a:t>
            </a:r>
            <a:r>
              <a:rPr lang="ko-KR" altLang="en-US" sz="1200" spc="-50" dirty="0" err="1"/>
              <a:t>상품세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맥락으로 볼 수 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blipFill>
                <a:blip r:embed="rId2"/>
                <a:stretch>
                  <a:fillRect r="-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C48402B-7807-EBDA-31D7-FF3E20B1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34" t="13375" r="25807" b="2834"/>
          <a:stretch>
            <a:fillRect/>
          </a:stretch>
        </p:blipFill>
        <p:spPr>
          <a:xfrm>
            <a:off x="7791188" y="2641600"/>
            <a:ext cx="4146812" cy="2978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18C33-A274-7A38-E2AE-0EDC1A7C397D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폐기물예치금제도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CC8C9-7209-EA67-EF50-75A0C47B3504}"/>
              </a:ext>
            </a:extLst>
          </p:cNvPr>
          <p:cNvSpPr txBox="1"/>
          <p:nvPr/>
        </p:nvSpPr>
        <p:spPr>
          <a:xfrm>
            <a:off x="10448548" y="5619750"/>
            <a:ext cx="14894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Q: </a:t>
            </a:r>
            <a:r>
              <a:rPr lang="ko-KR" altLang="en-US" sz="1050" dirty="0"/>
              <a:t>버려지는 병의 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5D994-84F5-D4B8-0230-692F1D30B127}"/>
              </a:ext>
            </a:extLst>
          </p:cNvPr>
          <p:cNvSpPr txBox="1"/>
          <p:nvPr/>
        </p:nvSpPr>
        <p:spPr>
          <a:xfrm>
            <a:off x="7577575" y="2295351"/>
            <a:ext cx="42722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/>
              <a:t>금액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5206-7150-F61C-2782-5137795A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6FD6E-5FFC-3199-D145-DF36B8EE42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BC8D2-F06D-34DC-6817-9085DECF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E786078-B638-C5A0-0F4A-E9828185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</a:t>
            </a:r>
            <a:r>
              <a:rPr lang="en-US" altLang="ko-KR" sz="4000" b="1" i="0" spc="150"/>
              <a:t>. </a:t>
            </a:r>
            <a:r>
              <a:rPr lang="ko-KR" altLang="en-US" sz="4000" b="1" i="0" spc="150"/>
              <a:t>보조금제도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3175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7" descr="Cap 2014-06-19 09-44-15-042.png">
            <a:extLst>
              <a:ext uri="{FF2B5EF4-FFF2-40B4-BE49-F238E27FC236}">
                <a16:creationId xmlns:a16="http://schemas.microsoft.com/office/drawing/2014/main" id="{FAFE12DB-6B11-83A2-90D3-E17D0128F8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t="11638" r="7717" b="1758"/>
          <a:stretch>
            <a:fillRect/>
          </a:stretch>
        </p:blipFill>
        <p:spPr bwMode="auto">
          <a:xfrm>
            <a:off x="7478553" y="2787416"/>
            <a:ext cx="4301306" cy="2417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B22B5F-08A4-9CF5-8809-1787DA1B3147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저감시설에 대한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4-24-368.png">
            <a:extLst>
              <a:ext uri="{FF2B5EF4-FFF2-40B4-BE49-F238E27FC236}">
                <a16:creationId xmlns:a16="http://schemas.microsoft.com/office/drawing/2014/main" id="{4570CD8F-A3E5-67E2-4BA7-D5165CC89E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4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BC15EA9-029C-CA93-4AC2-C95972E03782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7" descr="Cap 2014-06-19 09-44-24-368.png">
            <a:extLst>
              <a:ext uri="{FF2B5EF4-FFF2-40B4-BE49-F238E27FC236}">
                <a16:creationId xmlns:a16="http://schemas.microsoft.com/office/drawing/2014/main" id="{41855237-564D-1255-DBC2-74FBF4097F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3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F537349-A1FD-428B-E31D-D4186B55A02F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6984698-044C-5DCA-BCCB-96EB4969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8" t="1949" r="10754" b="6828"/>
          <a:stretch>
            <a:fillRect/>
          </a:stretch>
        </p:blipFill>
        <p:spPr>
          <a:xfrm>
            <a:off x="7045179" y="1086843"/>
            <a:ext cx="4721558" cy="29566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8219D4E-4BC4-C60D-F286-90D0966878FC}"/>
              </a:ext>
            </a:extLst>
          </p:cNvPr>
          <p:cNvSpPr txBox="1"/>
          <p:nvPr/>
        </p:nvSpPr>
        <p:spPr>
          <a:xfrm>
            <a:off x="8631573" y="1086843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조세의 초과부담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8DA210-6D1D-28AF-111D-5314070F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5A5E8-57E5-6C91-615D-917F96E4954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blipFill>
                <a:blip r:embed="rId3"/>
                <a:stretch>
                  <a:fillRect r="-253" b="-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F464BC1D-A54E-1F53-2454-748E0E86F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4DE5B4-84B3-80A4-C598-EE05A731F52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4AB3CBB2-78AF-C221-C50E-76BFDEE484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9C89AA9-A11D-7CBB-3401-2E0F47F4341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6270</TotalTime>
  <Words>2862</Words>
  <Application>Microsoft Office PowerPoint</Application>
  <PresentationFormat>와이드스크린</PresentationFormat>
  <Paragraphs>280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7  배출부과금과 보조금</vt:lpstr>
      <vt:lpstr>Section 1. 배출부과금제도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 (혹은 상품세)</vt:lpstr>
      <vt:lpstr>쌀 vs. 논 어디에 보조를 해야 하나?</vt:lpstr>
      <vt:lpstr>폐기물예치금제도</vt:lpstr>
      <vt:lpstr>Section 2. 보조금제도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207</cp:revision>
  <dcterms:created xsi:type="dcterms:W3CDTF">2025-07-05T05:15:23Z</dcterms:created>
  <dcterms:modified xsi:type="dcterms:W3CDTF">2026-10-07T23:13:42Z</dcterms:modified>
</cp:coreProperties>
</file>