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556" r:id="rId2"/>
    <p:sldId id="514" r:id="rId3"/>
    <p:sldId id="550" r:id="rId4"/>
    <p:sldId id="515" r:id="rId5"/>
    <p:sldId id="522" r:id="rId6"/>
    <p:sldId id="521" r:id="rId7"/>
    <p:sldId id="523" r:id="rId8"/>
    <p:sldId id="527" r:id="rId9"/>
    <p:sldId id="528" r:id="rId10"/>
    <p:sldId id="529" r:id="rId11"/>
    <p:sldId id="555" r:id="rId12"/>
    <p:sldId id="530" r:id="rId13"/>
    <p:sldId id="531" r:id="rId14"/>
    <p:sldId id="551" r:id="rId15"/>
    <p:sldId id="532" r:id="rId16"/>
    <p:sldId id="534" r:id="rId17"/>
    <p:sldId id="533" r:id="rId18"/>
    <p:sldId id="535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05" r:id="rId33"/>
    <p:sldId id="549" r:id="rId34"/>
    <p:sldId id="552" r:id="rId35"/>
    <p:sldId id="553" r:id="rId36"/>
    <p:sldId id="554" r:id="rId37"/>
    <p:sldId id="364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4EF"/>
    <a:srgbClr val="070B12"/>
    <a:srgbClr val="0000FF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0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- 08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3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8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 err="1"/>
              <a:t>배출권거래제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1371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 err="1"/>
              <a:t>배출권거래제의</a:t>
            </a:r>
            <a:r>
              <a:rPr lang="ko-KR" altLang="en-US" sz="4000" b="1" i="0" spc="150" dirty="0"/>
              <a:t> 실행원리와 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487F5-2E4F-04FC-6D34-286BDA200DB3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배출권거래제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 전체의 목표배출량을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오염원들에게 배출할 수 있는 상한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배출권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결정해준다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각 오염원은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통해 자신이 소유한 배출권을 서로 사고 팔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배출할 수 있는 기간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오염물질의 종류는 명시되어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다만 그 배출권의 가격은 </a:t>
            </a:r>
            <a:r>
              <a:rPr lang="ko-KR" altLang="en-US" sz="1600" spc="-50" dirty="0" err="1"/>
              <a:t>배출권시장에서</a:t>
            </a:r>
            <a:r>
              <a:rPr lang="ko-KR" altLang="en-US" sz="1600" spc="-50" dirty="0"/>
              <a:t> 결정된다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오염원은 자신이 원하는 만큼의 오염물질을 배출하려면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배출량만큼의 배출권을 소유하고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 소유한 배출권리가 현재 원하는 배출량보다 적으면 배출권을 구매해야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 소유한 배출권리가 현재 원하는 배출량보다 많으면 배출권을 매도할 수 있다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배출권거래제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직접규제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배출기준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오염원들에게 목표배출량을 정해준다는 측면에서 </a:t>
            </a:r>
            <a:r>
              <a:rPr lang="en-US" altLang="ko-KR" sz="1600" spc="-50" dirty="0"/>
              <a:t>Ch.6</a:t>
            </a:r>
            <a:r>
              <a:rPr lang="ko-KR" altLang="en-US" sz="1600" spc="-50" dirty="0"/>
              <a:t>에서 배운 배출 기준을 활용한 직접규제와 동일하다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근본적인 차이는 각 오염원이 자신이 소유한 배출권리를 서로 사고 팔 수 있다는 점에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배출권거래제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배운 배출부과금제는 조세라는 가격변수를 변화시켜 배출량을 조절하는데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배출량을 직접 조절하는 정책이다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150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7EF10-14A4-FE4C-5E72-6D8C605E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AB230-E1AC-1E79-E415-A5CC9503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동질적 오염</a:t>
            </a:r>
            <a:r>
              <a:rPr lang="en-US" altLang="ko-KR" dirty="0"/>
              <a:t>) </a:t>
            </a:r>
            <a:r>
              <a:rPr lang="ko-KR" altLang="en-US" dirty="0"/>
              <a:t>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DB4D2-03F4-D801-46DD-33FBCA1E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3B03B-D111-7B32-D5A8-3EE90637079C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동질적 오염물질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오염물질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배출부과금의 비용효과성을 달성하기 위해서는 오염물질이 동질적인지 혹은 이질적인지에 따라 배출부과금제도의 시행방식이 달라져야 한다는 것을 배웠다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마찬가지로 </a:t>
            </a:r>
            <a:r>
              <a:rPr lang="ko-KR" altLang="en-US" sz="1600" spc="-50" dirty="0" err="1"/>
              <a:t>배출권거래제에서도</a:t>
            </a:r>
            <a:r>
              <a:rPr lang="ko-KR" altLang="en-US" sz="1600" spc="-50" dirty="0"/>
              <a:t> 동질적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이질적 오염물질을 구분하여 정책을 시행하는 것이 필요하다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배출권기준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동질적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오염원이 참여하는 시장이 단 하나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오염원이 갖고 있는 모든 배출권은 동일한 가격으로 </a:t>
            </a:r>
            <a:r>
              <a:rPr lang="en-US" altLang="ko-KR" sz="1600" spc="-50" dirty="0"/>
              <a:t>1:1</a:t>
            </a:r>
            <a:r>
              <a:rPr lang="ko-KR" altLang="en-US" sz="1600" spc="-50" dirty="0"/>
              <a:t>로 거래가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라는 오염원이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라는 오염원이 가지고 있는 이산화탄소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톤에 대한 배출권을 구입하였다면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톤의 이산화탄소를 추가로 더 배출할 수 있고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반대로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톤의 배출을 줄여야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사이의 거래가격인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만원</a:t>
            </a:r>
            <a:r>
              <a:rPr lang="en-US" altLang="ko-KR" sz="1600" spc="-50" dirty="0"/>
              <a:t>/10</a:t>
            </a:r>
            <a:r>
              <a:rPr lang="ko-KR" altLang="en-US" sz="1600" spc="-50" dirty="0"/>
              <a:t>톤은 </a:t>
            </a:r>
            <a:r>
              <a:rPr lang="ko-KR" altLang="en-US" sz="1600" spc="-50" dirty="0" err="1"/>
              <a:t>배출권시장에</a:t>
            </a:r>
            <a:r>
              <a:rPr lang="ko-KR" altLang="en-US" sz="1600" spc="-50" dirty="0"/>
              <a:t> 참여하는 다른 모든 거래에서도 동일하게 형성될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왜냐하면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보다 더 낮은 가격을 제시하는 오염원이 있으면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그 오염원으로부터 구입할 것이기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이 제도를 시행하기 위해서 개별 오염원에 관한 많은 정보를 필요로 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정부의 목표 </a:t>
            </a:r>
            <a:r>
              <a:rPr lang="ko-KR" altLang="en-US" sz="1600" spc="-50" dirty="0" err="1"/>
              <a:t>저감량이</a:t>
            </a:r>
            <a:r>
              <a:rPr lang="ko-KR" altLang="en-US" sz="1600" spc="-50" dirty="0"/>
              <a:t> 있으면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현재의 전체 배출량에서 목표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만큼의 배출권을 오염원에게 무상이나 경매 등을 통해 분배하면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배출권의 시장가격은 오염원 간의 거래에 의해 결정되고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비용효과성을 충족시킨다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059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8ABF-6266-542E-F9E2-C8969E91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E9C6B1E9-4AC2-D123-6419-D0C0DB597932}"/>
              </a:ext>
            </a:extLst>
          </p:cNvPr>
          <p:cNvGrpSpPr/>
          <p:nvPr/>
        </p:nvGrpSpPr>
        <p:grpSpPr>
          <a:xfrm>
            <a:off x="6864679" y="826186"/>
            <a:ext cx="5196642" cy="5822059"/>
            <a:chOff x="6864679" y="826186"/>
            <a:chExt cx="5196642" cy="5822059"/>
          </a:xfrm>
        </p:grpSpPr>
        <p:pic>
          <p:nvPicPr>
            <p:cNvPr id="6" name="그림 5" descr="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5DD7773-B5A1-FC72-F85D-87C4C33CE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4679" y="851157"/>
              <a:ext cx="5031570" cy="5760000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D63533D-B1D1-CDE4-AD47-76D1B0B0214C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899025"/>
              <a:ext cx="1836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EB01C1C-2370-4793-80E7-BA3875BC5672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048125"/>
              <a:ext cx="1260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384E120-91C8-EAC3-1252-DFDDF5BAF7FC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5305425"/>
              <a:ext cx="122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889976C-0358-7C52-121E-A573110582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27575" y="4995950"/>
              <a:ext cx="1908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B46508-C1DC-249D-8043-6F7F227847E9}"/>
                    </a:ext>
                  </a:extLst>
                </p:cNvPr>
                <p:cNvSpPr txBox="1"/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B46508-C1DC-249D-8043-6F7F22784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611416-367E-128B-C622-D0BD79B776C6}"/>
                    </a:ext>
                  </a:extLst>
                </p:cNvPr>
                <p:cNvSpPr txBox="1"/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611416-367E-128B-C622-D0BD79B77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5CBD826-9561-F12B-394B-8CBA628DC560}"/>
                    </a:ext>
                  </a:extLst>
                </p:cNvPr>
                <p:cNvSpPr txBox="1"/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5CBD826-9561-F12B-394B-8CBA628DC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32C019C-9981-EF56-DC13-3330B7EEE7C6}"/>
                    </a:ext>
                  </a:extLst>
                </p:cNvPr>
                <p:cNvSpPr txBox="1"/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32C019C-9981-EF56-DC13-3330B7EEE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A6748F7-E94C-09D4-7CCE-BCB2224B7C75}"/>
                    </a:ext>
                  </a:extLst>
                </p:cNvPr>
                <p:cNvSpPr txBox="1"/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A6748F7-E94C-09D4-7CCE-BCB2224B7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9CCF14-A8B5-1AC2-E28B-4864DF40D9B5}"/>
                    </a:ext>
                  </a:extLst>
                </p:cNvPr>
                <p:cNvSpPr txBox="1"/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B9CCF14-A8B5-1AC2-E28B-4864DF40D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715317A-9014-6EB4-D113-061489A21A8D}"/>
                    </a:ext>
                  </a:extLst>
                </p:cNvPr>
                <p:cNvSpPr txBox="1"/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715317A-9014-6EB4-D113-061489A2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9953495-25A0-59D1-347B-660CDE5ED1A2}"/>
                    </a:ext>
                  </a:extLst>
                </p:cNvPr>
                <p:cNvSpPr txBox="1"/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9953495-25A0-59D1-347B-660CDE5ED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6CE32FD-96FA-8259-5D95-5977761D39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62826" y="5427950"/>
              <a:ext cx="104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D46471-D281-3B68-3204-7FFCBEB7097A}"/>
                    </a:ext>
                  </a:extLst>
                </p:cNvPr>
                <p:cNvSpPr txBox="1"/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D46471-D281-3B68-3204-7FFCBEB70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blipFill>
                  <a:blip r:embed="rId10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C6B5512-C49B-85D9-CAB1-C2B4B5844B2A}"/>
                    </a:ext>
                  </a:extLst>
                </p:cNvPr>
                <p:cNvSpPr txBox="1"/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C6B5512-C49B-85D9-CAB1-C2B4B5844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blipFill>
                  <a:blip r:embed="rId11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B13F3D-CF8E-BB94-DDA8-E9AAEF4622E3}"/>
                    </a:ext>
                  </a:extLst>
                </p:cNvPr>
                <p:cNvSpPr txBox="1"/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B13F3D-CF8E-BB94-DDA8-E9AAEF462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blipFill>
                  <a:blip r:embed="rId12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BB370CC-A178-08F1-7AFB-033B33217E0A}"/>
                    </a:ext>
                  </a:extLst>
                </p:cNvPr>
                <p:cNvSpPr txBox="1"/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BB370CC-A178-08F1-7AFB-033B33217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blipFill>
                  <a:blip r:embed="rId13"/>
                  <a:stretch>
                    <a:fillRect r="-19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29B9F3-241E-5801-FAFA-9C73956014F8}"/>
                </a:ext>
              </a:extLst>
            </p:cNvPr>
            <p:cNvSpPr txBox="1"/>
            <p:nvPr/>
          </p:nvSpPr>
          <p:spPr>
            <a:xfrm>
              <a:off x="7641590" y="5965774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962F3B-8353-510A-5CEB-A03AAD2A383F}"/>
                </a:ext>
              </a:extLst>
            </p:cNvPr>
            <p:cNvSpPr txBox="1"/>
            <p:nvPr/>
          </p:nvSpPr>
          <p:spPr>
            <a:xfrm flipV="1">
              <a:off x="11403965" y="6340468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C14F72-C641-7216-9F7A-D9327EDC9347}"/>
                    </a:ext>
                  </a:extLst>
                </p:cNvPr>
                <p:cNvSpPr txBox="1"/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C14F72-C641-7216-9F7A-D9327EDC9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11905" b="-1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DB39F2-8C92-6D58-E233-F9794D8AF49A}"/>
                    </a:ext>
                  </a:extLst>
                </p:cNvPr>
                <p:cNvSpPr txBox="1"/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7DB39F2-8C92-6D58-E233-F9794D8AF4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3C709F-53BE-BB70-8195-C72E4CD5E375}"/>
                    </a:ext>
                  </a:extLst>
                </p:cNvPr>
                <p:cNvSpPr txBox="1"/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3C709F-53BE-BB70-8195-C72E4CD5E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AEE62DF-4B60-F72A-6B18-ECAB3794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동질적 오염</a:t>
            </a:r>
            <a:r>
              <a:rPr lang="en-US" altLang="ko-KR" dirty="0"/>
              <a:t>) </a:t>
            </a:r>
            <a:r>
              <a:rPr lang="ko-KR" altLang="en-US" dirty="0"/>
              <a:t>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1F0BE-00F4-81B0-024E-2A293CC2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44BB5F-E32C-3C19-DC66-1F7976339EAE}"/>
                  </a:ext>
                </a:extLst>
              </p:cNvPr>
              <p:cNvSpPr txBox="1"/>
              <p:nvPr/>
            </p:nvSpPr>
            <p:spPr>
              <a:xfrm>
                <a:off x="272472" y="958844"/>
                <a:ext cx="6953286" cy="486793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배출권기준 거래제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: 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오염에 대한 적용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오른쪽은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과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의 한계저감비용 곡선을 나타내고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1) </a:t>
                </a:r>
                <a:r>
                  <a:rPr lang="ko-KR" altLang="en-US" sz="1600" spc="-50" dirty="0"/>
                  <a:t>좌하단을 원점으로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저감량이</a:t>
                </a:r>
                <a:r>
                  <a:rPr lang="ko-KR" altLang="en-US" sz="1600" spc="-50" dirty="0"/>
                  <a:t> 오른쪽으로 증가하고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값은 왼쪽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축에 대응한다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2) </a:t>
                </a:r>
                <a:r>
                  <a:rPr lang="ko-KR" altLang="en-US" sz="1600" spc="-50" dirty="0" err="1"/>
                  <a:t>우하단을</a:t>
                </a:r>
                <a:r>
                  <a:rPr lang="ko-KR" altLang="en-US" sz="1600" spc="-50" dirty="0"/>
                  <a:t> 원점으로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저감량이</a:t>
                </a:r>
                <a:r>
                  <a:rPr lang="ko-KR" altLang="en-US" sz="1600" spc="-50" dirty="0"/>
                  <a:t> 왼쪽으로 증가하고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값은 오른쪽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축에 대응한다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환경정책이 도입되기 전의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의 배출이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이 지역에서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만큼의 오염물질을 저감하고자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정부는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만큼의 오염물질이 이 지역에서 배출되어야 한다고 생각한다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나름의 기준을 토대로 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에게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배출권을 분배했다고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44BB5F-E32C-3C19-DC66-1F7976339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2" y="958844"/>
                <a:ext cx="6953286" cy="4867936"/>
              </a:xfrm>
              <a:prstGeom prst="rect">
                <a:avLst/>
              </a:prstGeom>
              <a:blipFill>
                <a:blip r:embed="rId17"/>
                <a:stretch>
                  <a:fillRect l="-526" b="-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B943E3B-C53D-1E06-E10D-5A8240057750}"/>
              </a:ext>
            </a:extLst>
          </p:cNvPr>
          <p:cNvSpPr txBox="1"/>
          <p:nvPr/>
        </p:nvSpPr>
        <p:spPr>
          <a:xfrm>
            <a:off x="1037626" y="6009400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818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34B48-04D8-D702-7630-D9A21862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9438CBC0-846B-F3DA-E535-CB479360B52A}"/>
              </a:ext>
            </a:extLst>
          </p:cNvPr>
          <p:cNvGrpSpPr/>
          <p:nvPr/>
        </p:nvGrpSpPr>
        <p:grpSpPr>
          <a:xfrm>
            <a:off x="6864679" y="826186"/>
            <a:ext cx="5196642" cy="5822059"/>
            <a:chOff x="6864679" y="826186"/>
            <a:chExt cx="5196642" cy="5822059"/>
          </a:xfrm>
        </p:grpSpPr>
        <p:pic>
          <p:nvPicPr>
            <p:cNvPr id="6" name="그림 5" descr="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14051C2-6D9E-0583-13CC-F3F5219DE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4679" y="851157"/>
              <a:ext cx="5031570" cy="5760000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DBD2302B-21A1-2227-6A3D-850198DE799B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899025"/>
              <a:ext cx="1836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2244DCC-E46A-E4F7-5301-D0453A767200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4048125"/>
              <a:ext cx="1260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FCACEC1-A682-FB44-F74A-CF20245743DE}"/>
                </a:ext>
              </a:extLst>
            </p:cNvPr>
            <p:cNvCxnSpPr>
              <a:cxnSpLocks/>
            </p:cNvCxnSpPr>
            <p:nvPr/>
          </p:nvCxnSpPr>
          <p:spPr>
            <a:xfrm>
              <a:off x="7521575" y="5305425"/>
              <a:ext cx="122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6F718B0-CC61-5214-10CE-0ADBF22E06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27575" y="4995950"/>
              <a:ext cx="1908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A994F25-C764-F3C2-0C43-29514A4F976C}"/>
                    </a:ext>
                  </a:extLst>
                </p:cNvPr>
                <p:cNvSpPr txBox="1"/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A994F25-C764-F3C2-0C43-29514A4F9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989" y="2551553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453393B-7C55-C3D5-F48F-DEA5219ECA59}"/>
                    </a:ext>
                  </a:extLst>
                </p:cNvPr>
                <p:cNvSpPr txBox="1"/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453393B-7C55-C3D5-F48F-DEA5219EC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8669" y="2551553"/>
                  <a:ext cx="74829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181362-9B2D-6144-42A9-909530923E8C}"/>
                    </a:ext>
                  </a:extLst>
                </p:cNvPr>
                <p:cNvSpPr txBox="1"/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5181362-9B2D-6144-42A9-909530923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429" y="826186"/>
                  <a:ext cx="748292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AD9F623-D90A-9935-A533-F12F8883DE96}"/>
                    </a:ext>
                  </a:extLst>
                </p:cNvPr>
                <p:cNvSpPr txBox="1"/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𝑀𝐴𝐶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AD9F623-D90A-9935-A533-F12F8883D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3029" y="826186"/>
                  <a:ext cx="74829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62EC6BC-2899-1BB0-0267-AFB49034E146}"/>
                    </a:ext>
                  </a:extLst>
                </p:cNvPr>
                <p:cNvSpPr txBox="1"/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62EC6BC-2899-1BB0-0267-AFB49034E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5965774"/>
                  <a:ext cx="254131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B9D2C7B-A50B-85B0-022F-477F2C3E80EC}"/>
                    </a:ext>
                  </a:extLst>
                </p:cNvPr>
                <p:cNvSpPr txBox="1"/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B9D2C7B-A50B-85B0-022F-477F2C3E8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5965774"/>
                  <a:ext cx="25413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D3859C-25EE-83F6-320B-9F69D6519CE1}"/>
                    </a:ext>
                  </a:extLst>
                </p:cNvPr>
                <p:cNvSpPr txBox="1"/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D3859C-25EE-83F6-320B-9F69D6519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7509" y="6315068"/>
                  <a:ext cx="25413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ED0EAC-E76F-72C0-D875-005FA4D400B7}"/>
                    </a:ext>
                  </a:extLst>
                </p:cNvPr>
                <p:cNvSpPr txBox="1"/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AED0EAC-E76F-72C0-D875-005FA4D40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9" y="6315068"/>
                  <a:ext cx="25413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BEA39F93-6AC2-72C5-CDE7-061DABB2CE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62826" y="5427950"/>
              <a:ext cx="10440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D88932-452F-2B45-265D-F3CFB6FDFFC5}"/>
                    </a:ext>
                  </a:extLst>
                </p:cNvPr>
                <p:cNvSpPr txBox="1"/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FD88932-452F-2B45-265D-F3CFB6FDF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5965774"/>
                  <a:ext cx="254131" cy="311496"/>
                </a:xfrm>
                <a:prstGeom prst="rect">
                  <a:avLst/>
                </a:prstGeom>
                <a:blipFill>
                  <a:blip r:embed="rId10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63EEBA7-B159-94C5-EEE0-740306AF3C2E}"/>
                    </a:ext>
                  </a:extLst>
                </p:cNvPr>
                <p:cNvSpPr txBox="1"/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63EEBA7-B159-94C5-EEE0-740306AF3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5965774"/>
                  <a:ext cx="254131" cy="312521"/>
                </a:xfrm>
                <a:prstGeom prst="rect">
                  <a:avLst/>
                </a:prstGeom>
                <a:blipFill>
                  <a:blip r:embed="rId11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BD45116-2D80-D9A0-D63D-962AD524F70A}"/>
                    </a:ext>
                  </a:extLst>
                </p:cNvPr>
                <p:cNvSpPr txBox="1"/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BD45116-2D80-D9A0-D63D-962AD524F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178" y="6315068"/>
                  <a:ext cx="254131" cy="311496"/>
                </a:xfrm>
                <a:prstGeom prst="rect">
                  <a:avLst/>
                </a:prstGeom>
                <a:blipFill>
                  <a:blip r:embed="rId12"/>
                  <a:stretch>
                    <a:fillRect r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7E8B74-30FC-63AF-7766-86B88E844AC3}"/>
                    </a:ext>
                  </a:extLst>
                </p:cNvPr>
                <p:cNvSpPr txBox="1"/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7E8B74-30FC-63AF-7766-86B88E844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764" y="6315068"/>
                  <a:ext cx="254131" cy="312521"/>
                </a:xfrm>
                <a:prstGeom prst="rect">
                  <a:avLst/>
                </a:prstGeom>
                <a:blipFill>
                  <a:blip r:embed="rId13"/>
                  <a:stretch>
                    <a:fillRect r="-19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1F774C-9F5F-3ED2-B988-AC9E5DACB709}"/>
                </a:ext>
              </a:extLst>
            </p:cNvPr>
            <p:cNvSpPr txBox="1"/>
            <p:nvPr/>
          </p:nvSpPr>
          <p:spPr>
            <a:xfrm>
              <a:off x="7641590" y="5965774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74E13C-E301-CF3A-7ABD-B3D86CD09866}"/>
                </a:ext>
              </a:extLst>
            </p:cNvPr>
            <p:cNvSpPr txBox="1"/>
            <p:nvPr/>
          </p:nvSpPr>
          <p:spPr>
            <a:xfrm flipV="1">
              <a:off x="11403965" y="6340468"/>
              <a:ext cx="2541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</a:t>
              </a:r>
              <a:endParaRPr lang="ko-KR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13B59C-E3F6-80E2-A0B2-8FAD0BBAF29B}"/>
                    </a:ext>
                  </a:extLst>
                </p:cNvPr>
                <p:cNvSpPr txBox="1"/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13B59C-E3F6-80E2-A0B2-8FAD0BBAF2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3875359"/>
                  <a:ext cx="254131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11905" b="-1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5441640-CF53-653C-FDDD-ADDFD0956848}"/>
                    </a:ext>
                  </a:extLst>
                </p:cNvPr>
                <p:cNvSpPr txBox="1"/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5441640-CF53-653C-FDDD-ADDFD0956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4721401"/>
                  <a:ext cx="254131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213A30-784A-064B-25A8-5F8139CCAC87}"/>
                    </a:ext>
                  </a:extLst>
                </p:cNvPr>
                <p:cNvSpPr txBox="1"/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213A30-784A-064B-25A8-5F8139CCA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243" y="5134022"/>
                  <a:ext cx="254131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E4D6ECC-D9C5-3349-E17B-3EF35531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동질적 오염</a:t>
            </a:r>
            <a:r>
              <a:rPr lang="en-US" altLang="ko-KR" dirty="0"/>
              <a:t>) </a:t>
            </a:r>
            <a:r>
              <a:rPr lang="ko-KR" altLang="en-US" dirty="0"/>
              <a:t>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D18650-E3C6-1EA7-995C-1703AE6B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DCD1CF-B1FE-E493-976B-4EB39CC6D708}"/>
                  </a:ext>
                </a:extLst>
              </p:cNvPr>
              <p:cNvSpPr txBox="1"/>
              <p:nvPr/>
            </p:nvSpPr>
            <p:spPr>
              <a:xfrm>
                <a:off x="272472" y="774694"/>
                <a:ext cx="6953286" cy="59829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배출권기준 거래제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: 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오염에 대한 적용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그러면 두 오염원의 거래제 시행 시점의 </a:t>
                </a:r>
                <a:r>
                  <a:rPr lang="ko-KR" altLang="en-US" sz="1600" spc="-50" dirty="0" err="1"/>
                  <a:t>저감량은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(=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(=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가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의 한계저감비용이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의 한계저감비용보다 크다는 것을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상태에서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시장이 형성되고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가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사이의 가격으로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로부터 배출권을 구입할 것을 제안했다고 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은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구입을 위해 제시한 가격이 자신의 한계저감비용인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보다 작기 때문에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는 이득을 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배출권을 구입해서 배출을 더 늘려 이득을 본다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은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가 제시한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가격이 자신의 한계저감비용인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 sz="1600" spc="-50" dirty="0"/>
                  <a:t>보다 높기 때문에 오염원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도 이득을 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배출권을 판매하고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배출을 직접 줄여 이득을 본다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거래는 두 오염원의 한계저감비용이 일치하는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될 때까지 거래가 이루어진다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결국 두 오염원의 한계저감비용은 배출권의 시장가격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600" spc="-50" dirty="0"/>
                  <a:t>과 같아진다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DCD1CF-B1FE-E493-976B-4EB39CC6D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2" y="774694"/>
                <a:ext cx="6953286" cy="5982920"/>
              </a:xfrm>
              <a:prstGeom prst="rect">
                <a:avLst/>
              </a:prstGeom>
              <a:blipFill>
                <a:blip r:embed="rId17"/>
                <a:stretch>
                  <a:fillRect l="-526" r="-88" b="-3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02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A4A5-79B8-AFD1-DF6D-4BB2E3CE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DCDC7-0E4F-86EC-15E5-5948AD35A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이질적 오염</a:t>
            </a:r>
            <a:r>
              <a:rPr lang="en-US" altLang="ko-KR" dirty="0"/>
              <a:t>) </a:t>
            </a:r>
            <a:r>
              <a:rPr lang="ko-KR" altLang="en-US" dirty="0"/>
              <a:t>오염도기준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B1F812-B78E-8F05-6518-6124829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67443-2745-C50F-6FE4-54E67B71BA47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오염도기준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오염원들이 배출하는 오염물질이 이질적이라면 효율적인 배출부과금은 오염원별로 달라야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오염원의 배출량이 피해지역에 유발하는 오염도를 </a:t>
            </a:r>
            <a:r>
              <a:rPr lang="ko-KR" altLang="en-US" sz="1600" spc="-50" dirty="0" err="1"/>
              <a:t>반영해야함을</a:t>
            </a:r>
            <a:r>
              <a:rPr lang="ko-KR" altLang="en-US" sz="1600" spc="-50" dirty="0"/>
              <a:t> 배웠다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이는 </a:t>
            </a:r>
            <a:r>
              <a:rPr lang="ko-KR" altLang="en-US" sz="1600" spc="-50" dirty="0" err="1"/>
              <a:t>배출권거래제에서도</a:t>
            </a:r>
            <a:r>
              <a:rPr lang="ko-KR" altLang="en-US" sz="1600" spc="-50" dirty="0"/>
              <a:t>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오염원이 보유한 배출권의 </a:t>
            </a:r>
            <a:r>
              <a:rPr lang="en-US" altLang="ko-KR" sz="1600" spc="-50" dirty="0"/>
              <a:t>1:1 </a:t>
            </a:r>
            <a:r>
              <a:rPr lang="ko-KR" altLang="en-US" sz="1600" spc="-50" dirty="0"/>
              <a:t>거래를 허용하면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비용효과성을 충족할 수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오염원이 피해지역 오염도에 영향을 미치고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 비해 멀리 떨어져 있어 같은 양의 오염물질을 배출하여도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 비해 피해를 유발하는 정도가 작다고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상황에서 정부가 목표 오염도를 정한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달성하는 전체 배출량을 산정해 오염원별로 나누어 주고 배출량기준 거래제를 시행한다고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로부터 배출권을 구입하게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배출량은 여전히 정부가 배포한 양과 같겠지만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가운데 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차지하는 비중이 더 커진다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피해지역의 오염도는 정부가 당초 목표했던 오염도를 넘어서게 되어 정책목표를 달성할 수 없다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60479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865B-1335-038D-2DDF-98532D4B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DAE67-E8B6-877F-E3B0-813DA457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이질적 오염</a:t>
            </a:r>
            <a:r>
              <a:rPr lang="en-US" altLang="ko-KR" dirty="0"/>
              <a:t>) </a:t>
            </a:r>
            <a:r>
              <a:rPr lang="ko-KR" altLang="en-US" dirty="0"/>
              <a:t>오염도기준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CFC8F-7763-7CFD-40B1-574F3E18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7B31E-3354-5A7B-4FEF-C6CC9674C9F5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오염도기준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오염물질이 이질적일 때에도 목표 오염도를 최소 비용으로 달성하기 위해서는 정책구조가 달라져야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이때 적용될 수 있는 정책이 오염도기준 거래제 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오염도 기준 거래제는 각 오염원의 배출권을 배출량이 아닌 각 오염원이 유발하는 오염도에 기초하여 부여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배출권은 오염물질의 배출량 자체가 아니라 각 오염원이 피해지역에 축적할 수 있는 오염물질의 양을 기준으로 설정된다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배출권이 오염도를 기준으로 설정되면 피해지역에 축적되는 오염물질의 양이 일정하게 고정되므로 배출량기준 </a:t>
            </a:r>
            <a:r>
              <a:rPr lang="ko-KR" altLang="en-US" sz="1600" spc="-50" dirty="0" err="1"/>
              <a:t>거래제에서처럼</a:t>
            </a:r>
            <a:r>
              <a:rPr lang="ko-KR" altLang="en-US" sz="1600" spc="-50" dirty="0"/>
              <a:t> 오염도가 배출권이 거래될 때마다 달라지는 문제가 발생하지 않는다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전이계수는 </a:t>
            </a:r>
            <a:r>
              <a:rPr lang="en-US" altLang="ko-KR" sz="1600" spc="-50" dirty="0"/>
              <a:t>0.5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배출량의 절반만이 피해지역에 축적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 2</a:t>
            </a:r>
            <a:r>
              <a:rPr lang="ko-KR" altLang="en-US" sz="1600" spc="-50" dirty="0"/>
              <a:t>의 전이계수는 </a:t>
            </a:r>
            <a:r>
              <a:rPr lang="en-US" altLang="ko-KR" sz="1600" spc="-50" dirty="0"/>
              <a:t>1 (</a:t>
            </a:r>
            <a:r>
              <a:rPr lang="ko-KR" altLang="en-US" sz="1600" spc="-50" dirty="0"/>
              <a:t>배출량 전체가 피해지역에 축적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이라고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로부터 배출권을 한 단위 구입하면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는 자신의 배출량을 한 단위 늘릴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반대로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이 오염원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배출권을 한 단위 구입하면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배출량을 두 단위 늘릴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이런 식으로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오염도를 기준으로 배출권을 부여하면 오염도를 기준으로 한 배출권의 가격은 모든 오염원에게 동일하지만 배출량 측면에서 볼 때는 한 단위의 배출량을 늘리기 위해 지불해야 되는 비용이 각 오염원의 전이계수와 비례하게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효율성조건이 충족되게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042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4694A-67B3-7199-8112-F97C7313B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2DCDA-882C-6593-5000-9E8DBB71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이질적 오염</a:t>
            </a:r>
            <a:r>
              <a:rPr lang="en-US" altLang="ko-KR" dirty="0"/>
              <a:t>) </a:t>
            </a:r>
            <a:r>
              <a:rPr lang="ko-KR" altLang="en-US" dirty="0"/>
              <a:t>오염도기준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D842CF-3E77-89C1-1CC4-A09CD6B5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630AE-4C58-AF40-9A37-7111B17F4731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오염도기준 거래제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이질적 오염에 대한 적용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앞선 </a:t>
            </a:r>
            <a:r>
              <a:rPr lang="ko-KR" altLang="en-US" sz="1600" spc="-50" dirty="0" err="1"/>
              <a:t>예에서와</a:t>
            </a:r>
            <a:r>
              <a:rPr lang="ko-KR" altLang="en-US" sz="1600" spc="-50" dirty="0"/>
              <a:t> 같이 오염도기준 거래제도 비용효과성을 달성할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현실에서는 완전한 의미의 오염도기준 거래제를 실행하는 것은 불가능하다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실제로도 모든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배출량기준 거래제 형식을 취하고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오염도기준 거래제를 실행하기 위해서는 각 오염원의 전이계수를 알고 있어야 하나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매우 어려운 일이다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오염원들이 여러 지역에 오염피해를 주는 경우 문제가 </a:t>
            </a:r>
            <a:r>
              <a:rPr lang="ko-KR" altLang="en-US" sz="1600" spc="-50" dirty="0" err="1"/>
              <a:t>복잡해진다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표와 같이 두 오염원이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피해가 발생하는 지역도 두 군데일 경우의 문제를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피해지역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을 기준으로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오염원의 전이계수 비율은 </a:t>
            </a:r>
            <a:r>
              <a:rPr lang="en-US" altLang="ko-KR" sz="1600" spc="-50" dirty="0"/>
              <a:t>0.5:1 </a:t>
            </a:r>
            <a:r>
              <a:rPr lang="ko-KR" altLang="en-US" sz="1600" spc="-50" dirty="0"/>
              <a:t>이지만 피해지역 </a:t>
            </a:r>
            <a:r>
              <a:rPr lang="en-US" altLang="ko-KR" sz="1600" spc="-50" dirty="0"/>
              <a:t>2 </a:t>
            </a:r>
            <a:r>
              <a:rPr lang="ko-KR" altLang="en-US" sz="1600" spc="-50" dirty="0"/>
              <a:t>기준으로는 </a:t>
            </a:r>
            <a:r>
              <a:rPr lang="en-US" altLang="ko-KR" sz="1600" spc="-50" dirty="0"/>
              <a:t>0.1:0.5</a:t>
            </a:r>
            <a:r>
              <a:rPr lang="ko-KR" altLang="en-US" sz="1600" spc="-50" dirty="0"/>
              <a:t>가 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피해지역별로 개별적으로 독립된 오염도기준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설립하여야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 배출량을 한 단위 늘리려고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피해지역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배출권시장에서</a:t>
            </a:r>
            <a:r>
              <a:rPr lang="ko-KR" altLang="en-US" sz="1600" spc="-50" dirty="0"/>
              <a:t>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로부터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오염도기준 배출권을 구입해야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피해지역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시장에서는 </a:t>
            </a:r>
            <a:r>
              <a:rPr lang="en-US" altLang="ko-KR" sz="1600" spc="-50" dirty="0"/>
              <a:t>0.5</a:t>
            </a:r>
            <a:r>
              <a:rPr lang="ko-KR" altLang="en-US" sz="1600" spc="-50" dirty="0"/>
              <a:t>단위의 오염도기준 배출권을 구입해야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이렇게 피해지역 수만큼의 </a:t>
            </a:r>
            <a:r>
              <a:rPr lang="ko-KR" altLang="en-US" sz="1600" spc="-50" dirty="0" err="1"/>
              <a:t>배출권시장이</a:t>
            </a:r>
            <a:r>
              <a:rPr lang="ko-KR" altLang="en-US" sz="1600" spc="-50" dirty="0"/>
              <a:t> 형성되면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피해지역의 목표 오염도는 정부가 원하는 수준에서 유지할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실질적으로 수많은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운영하기 위해서는 엄청난 거래비용을 부담하여야 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C21D1E-7A59-CE43-D561-2A89942CF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574226"/>
              </p:ext>
            </p:extLst>
          </p:nvPr>
        </p:nvGraphicFramePr>
        <p:xfrm>
          <a:off x="3371130" y="5531989"/>
          <a:ext cx="5449740" cy="983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658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1658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lvl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피해지역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피해지역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590F75-A5A6-7A17-50CE-118FEC712F72}"/>
              </a:ext>
            </a:extLst>
          </p:cNvPr>
          <p:cNvSpPr txBox="1"/>
          <p:nvPr/>
        </p:nvSpPr>
        <p:spPr>
          <a:xfrm>
            <a:off x="1115438" y="5896751"/>
            <a:ext cx="2176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</a:t>
            </a:r>
            <a:r>
              <a:rPr lang="ko-KR" altLang="en-US" sz="1200" spc="-50" dirty="0"/>
              <a:t>두 피해지역 간의 전이계수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8564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8F9DC-8E92-E064-4937-EF95EC21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온실가스의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B8F25-B0B9-B82A-412D-BE53AA0E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0C027D-A83A-82A2-9850-BEE5A848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81340"/>
              </p:ext>
            </p:extLst>
          </p:nvPr>
        </p:nvGraphicFramePr>
        <p:xfrm>
          <a:off x="762244" y="4072106"/>
          <a:ext cx="9315206" cy="2214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9840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5027654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1408823843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온실가스의 종류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GWP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체류기간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이산화탄소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(CO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가장 대표적인 온실가스로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화석연료의 연소에서 대량으로 배출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수백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수천년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(CH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가축의 소화과정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쓰레기 매립지 등에서 배출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대략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아산화질소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농업용 비료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가축 배설물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폐수처리 등에서 발생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대략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수소불화탄소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(HFCs)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냉장고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에어컨의 냉매에서 사용되는 인공가스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~1,430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5~250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과불화탄소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(PFCs)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전자산업 및 반도체 생산에 사용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~12,400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육불화황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(SF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 절연가스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변압기에 사용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23,500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대략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질소삼불화물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(NF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반도체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디스플레이 제조과정에서 발생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17,400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대략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A13D3F-E0C3-67A9-CACA-CD09A9191F82}"/>
              </a:ext>
            </a:extLst>
          </p:cNvPr>
          <p:cNvSpPr txBox="1"/>
          <p:nvPr/>
        </p:nvSpPr>
        <p:spPr>
          <a:xfrm>
            <a:off x="678872" y="958844"/>
            <a:ext cx="1113212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온실효과를 발생시키는 여러 가스 종류를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온실가스별로 동일한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톤 배출이라도 지구온난화에 미치는 영향 및 특성이 모두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메탄은 대기에 체류하는 기간은 짧지만 </a:t>
            </a:r>
            <a:r>
              <a:rPr lang="ko-KR" altLang="en-US" sz="1600" spc="-50" dirty="0" err="1"/>
              <a:t>복사강제력이</a:t>
            </a:r>
            <a:r>
              <a:rPr lang="ko-KR" altLang="en-US" sz="1600" spc="-50" dirty="0"/>
              <a:t> 매우 강하다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육불화황은</a:t>
            </a:r>
            <a:r>
              <a:rPr lang="ko-KR" altLang="en-US" sz="1600" spc="-50" dirty="0"/>
              <a:t> 수천 년 동안 분해되지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복사강제력</a:t>
            </a:r>
            <a:r>
              <a:rPr lang="ko-KR" altLang="en-US" sz="1600" spc="-50" dirty="0"/>
              <a:t> 또한 매우 강하다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GWP (Global Warming Potential)</a:t>
            </a:r>
            <a:r>
              <a:rPr lang="ko-KR" altLang="en-US" sz="1600" spc="-50" dirty="0"/>
              <a:t>라는 계수를 만들어서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온실가스를 하나의 단위로 환산하여 </a:t>
            </a:r>
            <a:r>
              <a:rPr lang="ko-KR" altLang="en-US" sz="1600" spc="-50" dirty="0" err="1"/>
              <a:t>탄소세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배출부과금의 일종</a:t>
            </a:r>
            <a:r>
              <a:rPr lang="en-US" altLang="ko-KR" sz="1600" spc="-50" dirty="0"/>
              <a:t>),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거래제 등에서 동질적 오염물질로 다룰 수 있도록 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이질적 오염물질을 인위적으로 </a:t>
            </a:r>
            <a:r>
              <a:rPr lang="ko-KR" altLang="en-US" sz="1600" spc="-50" dirty="0" err="1"/>
              <a:t>동질화한</a:t>
            </a:r>
            <a:r>
              <a:rPr lang="ko-KR" altLang="en-US" sz="1600" spc="-50" dirty="0"/>
              <a:t> 특수한 오염도기준 거래제라고 할 수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35143-0D3B-C60B-6989-FF5E34BAC7E0}"/>
              </a:ext>
            </a:extLst>
          </p:cNvPr>
          <p:cNvSpPr txBox="1"/>
          <p:nvPr/>
        </p:nvSpPr>
        <p:spPr>
          <a:xfrm>
            <a:off x="4176408" y="3795107"/>
            <a:ext cx="2176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</a:t>
            </a:r>
            <a:r>
              <a:rPr lang="ko-KR" altLang="en-US" sz="1200" spc="-50" dirty="0"/>
              <a:t>온실가스의 종류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4291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91AD-B9DA-4B1D-36AB-2F0CEA30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B7AD92-9391-7170-0DA0-85197DC8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80" y="851900"/>
            <a:ext cx="5031569" cy="57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208D20-59E9-0FD8-6646-86F28753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배출권거래제의</a:t>
            </a:r>
            <a:r>
              <a:rPr lang="ko-KR" altLang="en-US" dirty="0"/>
              <a:t>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DCE46E-0FD4-525D-85A6-3E80D4FA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680D85-7012-138D-4CF8-1413E21C9CE6}"/>
                  </a:ext>
                </a:extLst>
              </p:cNvPr>
              <p:cNvSpPr txBox="1"/>
              <p:nvPr/>
            </p:nvSpPr>
            <p:spPr>
              <a:xfrm>
                <a:off x="247073" y="958844"/>
                <a:ext cx="6712528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Ch.7</a:t>
                </a:r>
                <a:r>
                  <a:rPr lang="ko-KR" altLang="en-US" sz="1600" spc="-50" dirty="0"/>
                  <a:t>에서 배출부과금제는 직접규제에 비해 더 큰 기술혁신 유인을 제공한다고 배웠다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마찬가지로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또한 배출부과금제와 동일한 정도의 기술혁신 유인을 제공한다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그림에서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시장가격은 </a:t>
                </a:r>
                <a:r>
                  <a:rPr lang="en-US" altLang="ko-KR" sz="1600" spc="-50" dirty="0"/>
                  <a:t>P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시장가격과 한계저감 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일치하는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배출량을 선택하고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이때 저감비용은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 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구입비용이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총 비용은 </a:t>
                </a:r>
                <a:r>
                  <a:rPr lang="en-US" altLang="ko-KR" sz="1600" spc="-50" dirty="0" err="1"/>
                  <a:t>a+b+c+d+e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기술혁신으로 인해 저감비용이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하락하였고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배출권시장이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완전경쟁적이어서</a:t>
                </a:r>
                <a:r>
                  <a:rPr lang="ko-KR" altLang="en-US" sz="1600" spc="-50" dirty="0"/>
                  <a:t> 배출권의 시장가격은 변하지 않는다고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 후에는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배출량을 선택하고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저감비용은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한편 배출량을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줄인 덕분에 불필요해진 배출권을 시장에 팔아 </a:t>
                </a:r>
                <a:r>
                  <a:rPr lang="en-US" altLang="ko-KR" sz="1600" spc="-50" dirty="0" err="1"/>
                  <a:t>b+c</a:t>
                </a:r>
                <a:r>
                  <a:rPr lang="ko-KR" altLang="en-US" sz="1600" spc="-50" dirty="0"/>
                  <a:t>만큼의 수입이 생긴다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다시 말하면 저감비용의 변화는 </a:t>
                </a:r>
                <a:r>
                  <a:rPr lang="en-US" altLang="ko-KR" sz="1600" spc="-50" dirty="0"/>
                  <a:t>d-b, </a:t>
                </a:r>
                <a:r>
                  <a:rPr lang="ko-KR" altLang="en-US" sz="1600" spc="-50" dirty="0" err="1"/>
                  <a:t>배출권구입비용의</a:t>
                </a:r>
                <a:r>
                  <a:rPr lang="ko-KR" altLang="en-US" sz="1600" spc="-50" dirty="0"/>
                  <a:t> 변화는 </a:t>
                </a:r>
                <a:r>
                  <a:rPr lang="en-US" altLang="ko-KR" sz="1600" spc="-50" dirty="0" err="1"/>
                  <a:t>b+c</a:t>
                </a:r>
                <a:r>
                  <a:rPr lang="ko-KR" altLang="en-US" sz="1600" spc="-50" dirty="0"/>
                  <a:t>이므로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 변화는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기술혁신 이득이 생긴다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680D85-7012-138D-4CF8-1413E21C9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73" y="958844"/>
                <a:ext cx="6712528" cy="5584670"/>
              </a:xfrm>
              <a:prstGeom prst="rect">
                <a:avLst/>
              </a:prstGeom>
              <a:blipFill>
                <a:blip r:embed="rId3"/>
                <a:stretch>
                  <a:fillRect r="-182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19B0488-D764-8E71-1D4F-E822B162E618}"/>
              </a:ext>
            </a:extLst>
          </p:cNvPr>
          <p:cNvCxnSpPr>
            <a:cxnSpLocks/>
          </p:cNvCxnSpPr>
          <p:nvPr/>
        </p:nvCxnSpPr>
        <p:spPr>
          <a:xfrm flipH="1">
            <a:off x="8261350" y="377148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5EAA56-5C54-E93C-3FF6-F9E8BEC5205D}"/>
              </a:ext>
            </a:extLst>
          </p:cNvPr>
          <p:cNvSpPr txBox="1"/>
          <p:nvPr/>
        </p:nvSpPr>
        <p:spPr>
          <a:xfrm>
            <a:off x="7820025" y="498740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068623-660B-EA08-3327-ECEC9912C925}"/>
              </a:ext>
            </a:extLst>
          </p:cNvPr>
          <p:cNvSpPr txBox="1"/>
          <p:nvPr/>
        </p:nvSpPr>
        <p:spPr>
          <a:xfrm>
            <a:off x="8558925" y="52477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9F86C-E224-52FB-9C25-B4BE1DAF8FB7}"/>
              </a:ext>
            </a:extLst>
          </p:cNvPr>
          <p:cNvSpPr txBox="1"/>
          <p:nvPr/>
        </p:nvSpPr>
        <p:spPr>
          <a:xfrm>
            <a:off x="9109075" y="548957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783A2-DD94-B786-9864-E7E84F7F1183}"/>
              </a:ext>
            </a:extLst>
          </p:cNvPr>
          <p:cNvSpPr txBox="1"/>
          <p:nvPr/>
        </p:nvSpPr>
        <p:spPr>
          <a:xfrm>
            <a:off x="8657350" y="436725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2E5E4-C765-049A-E709-1B6D72CEE3EE}"/>
              </a:ext>
            </a:extLst>
          </p:cNvPr>
          <p:cNvSpPr txBox="1"/>
          <p:nvPr/>
        </p:nvSpPr>
        <p:spPr>
          <a:xfrm>
            <a:off x="9109075" y="4849852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889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8CFD-44F2-54B9-08F3-635F68AA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CEB99E-947E-81C8-89F2-44EB357A7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80" y="851900"/>
            <a:ext cx="5031569" cy="57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D2A186-6A77-A56A-E86C-C0079843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배출권거래제의</a:t>
            </a:r>
            <a:r>
              <a:rPr lang="ko-KR" altLang="en-US" dirty="0"/>
              <a:t>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7061F-1F93-E6F1-375E-F4F08533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0F8EB-C67D-5381-C1AE-D6140E96E232}"/>
              </a:ext>
            </a:extLst>
          </p:cNvPr>
          <p:cNvSpPr txBox="1"/>
          <p:nvPr/>
        </p:nvSpPr>
        <p:spPr>
          <a:xfrm>
            <a:off x="247072" y="958844"/>
            <a:ext cx="69919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비용은 </a:t>
            </a:r>
            <a:r>
              <a:rPr lang="en-US" altLang="ko-KR" sz="1600" spc="-50" dirty="0"/>
              <a:t>1)</a:t>
            </a:r>
            <a:r>
              <a:rPr lang="ko-KR" altLang="en-US" sz="1600" spc="-50" dirty="0"/>
              <a:t>저감비용과 </a:t>
            </a:r>
            <a:r>
              <a:rPr lang="en-US" altLang="ko-KR" sz="1600" spc="-50" dirty="0"/>
              <a:t>2)</a:t>
            </a:r>
            <a:r>
              <a:rPr lang="ko-KR" altLang="en-US" sz="1600" spc="-50" dirty="0" err="1"/>
              <a:t>배출권구입</a:t>
            </a:r>
            <a:r>
              <a:rPr lang="ko-KR" altLang="en-US" sz="1600" spc="-50" dirty="0"/>
              <a:t> 비용의 합이다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사실을 토대로 기술혁신 유인의 이득을 계산하는 방법은 두 가지가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AutoNum type="arabicParenBoth"/>
            </a:pPr>
            <a:r>
              <a:rPr lang="ko-KR" altLang="en-US" sz="1600" spc="-50" dirty="0"/>
              <a:t>기술혁신 유인의 이득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기술혁신 없을 때 비용 </a:t>
            </a:r>
            <a:r>
              <a:rPr lang="en-US" altLang="ko-KR" sz="1600" spc="-50" dirty="0"/>
              <a:t>– </a:t>
            </a:r>
            <a:r>
              <a:rPr lang="ko-KR" altLang="en-US" sz="1600" spc="-50" dirty="0"/>
              <a:t>기술혁신 있을 때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없을 때 저감비용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d+e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없을 때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구입비용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a+b+c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있을 때 저감비용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b+e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 있을 때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구입비용</a:t>
            </a:r>
            <a:r>
              <a:rPr lang="en-US" altLang="ko-KR" sz="1600" spc="-50" dirty="0"/>
              <a:t>: 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 유인의 이득은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b+e+a</a:t>
            </a:r>
            <a:r>
              <a:rPr lang="en-US" altLang="ko-KR" sz="1600" spc="-50" dirty="0"/>
              <a:t>) =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이므로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(2) </a:t>
            </a:r>
            <a:r>
              <a:rPr lang="ko-KR" altLang="en-US" sz="1600" spc="-50" dirty="0"/>
              <a:t>기술혁신 유인의 이득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저감비용의 변화 </a:t>
            </a:r>
            <a:r>
              <a:rPr lang="en-US" altLang="ko-KR" sz="1600" spc="-50" dirty="0"/>
              <a:t>+ </a:t>
            </a:r>
            <a:r>
              <a:rPr lang="ko-KR" altLang="en-US" sz="1600" spc="-50" dirty="0" err="1"/>
              <a:t>배출권구입</a:t>
            </a:r>
            <a:r>
              <a:rPr lang="ko-KR" altLang="en-US" sz="1600" spc="-50" dirty="0"/>
              <a:t> 비용의 변화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저감비용은 기술혁신이 생김으로 인해 </a:t>
            </a:r>
            <a:r>
              <a:rPr lang="en-US" altLang="ko-KR" sz="1600" spc="-50" dirty="0"/>
              <a:t>d-b</a:t>
            </a:r>
            <a:r>
              <a:rPr lang="ko-KR" altLang="en-US" sz="1600" spc="-50" dirty="0"/>
              <a:t>만큼 감소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구입비용은 기술혁신이 생김으로 인해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 감소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 유인의 이득은 </a:t>
            </a:r>
            <a:r>
              <a:rPr lang="en-US" altLang="ko-KR" sz="1600" spc="-50" dirty="0"/>
              <a:t>(d-b)+(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이므로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와 같다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0C84706-D8CC-6AAA-24F0-A77A5A1710C1}"/>
              </a:ext>
            </a:extLst>
          </p:cNvPr>
          <p:cNvCxnSpPr>
            <a:cxnSpLocks/>
          </p:cNvCxnSpPr>
          <p:nvPr/>
        </p:nvCxnSpPr>
        <p:spPr>
          <a:xfrm flipH="1">
            <a:off x="8261350" y="377148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C12A25-2ED7-C9BD-F609-CE85F74BC4A1}"/>
              </a:ext>
            </a:extLst>
          </p:cNvPr>
          <p:cNvSpPr txBox="1"/>
          <p:nvPr/>
        </p:nvSpPr>
        <p:spPr>
          <a:xfrm>
            <a:off x="7820025" y="498740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8048F1-CACE-32EF-6FA3-3C434EA31815}"/>
              </a:ext>
            </a:extLst>
          </p:cNvPr>
          <p:cNvSpPr txBox="1"/>
          <p:nvPr/>
        </p:nvSpPr>
        <p:spPr>
          <a:xfrm>
            <a:off x="8558925" y="52477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3DB5EE-B2B9-52C5-B3F2-32C0F17DC88B}"/>
              </a:ext>
            </a:extLst>
          </p:cNvPr>
          <p:cNvSpPr txBox="1"/>
          <p:nvPr/>
        </p:nvSpPr>
        <p:spPr>
          <a:xfrm>
            <a:off x="9109075" y="548957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CCEED-FCFE-A897-5829-84C108049197}"/>
              </a:ext>
            </a:extLst>
          </p:cNvPr>
          <p:cNvSpPr txBox="1"/>
          <p:nvPr/>
        </p:nvSpPr>
        <p:spPr>
          <a:xfrm>
            <a:off x="8657350" y="436725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51F00-E999-43EF-F7A9-F70B91EBA27E}"/>
              </a:ext>
            </a:extLst>
          </p:cNvPr>
          <p:cNvSpPr txBox="1"/>
          <p:nvPr/>
        </p:nvSpPr>
        <p:spPr>
          <a:xfrm>
            <a:off x="9109075" y="4849852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3461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465D-2559-BB81-B1F3-C13AC96F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6DB8B3-4646-7291-AB5D-912E4E099F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D1EBF-E472-78B1-89E8-7561B61D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DA065F4-F525-E835-2026-038BFA63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 err="1"/>
              <a:t>배출권거래제의</a:t>
            </a:r>
            <a:r>
              <a:rPr lang="ko-KR" altLang="en-US" sz="4000" b="1" i="0" spc="150" dirty="0"/>
              <a:t> 구체적 실행 방안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52022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0FD6-C9EE-C502-C2BC-D646E6A6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EAB13-49C9-FAB5-CCA1-80F00B09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배출권거래제의</a:t>
            </a:r>
            <a:r>
              <a:rPr lang="ko-KR" altLang="en-US" dirty="0"/>
              <a:t> 구체적 실행 방안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8CD124-6034-89A2-B632-E5AE96E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B0E02-910B-A772-F4B7-2890BFD2804F}"/>
              </a:ext>
            </a:extLst>
          </p:cNvPr>
          <p:cNvSpPr txBox="1"/>
          <p:nvPr/>
        </p:nvSpPr>
        <p:spPr>
          <a:xfrm>
            <a:off x="678872" y="958844"/>
            <a:ext cx="1113212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이론적으로 단기적인 비용효과성과 장기적인 기술혁신 유인을 모두 가지고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동시에 규제당국과 오염원이 자주 접촉할 필요도 없는 규제제도이다</a:t>
            </a:r>
            <a:r>
              <a:rPr lang="en-US" altLang="ko-KR" sz="1600" spc="-50" dirty="0"/>
              <a:t>.</a:t>
            </a:r>
            <a:endParaRPr lang="en-US" altLang="ko-KR" sz="5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이 제도는 </a:t>
            </a:r>
            <a:r>
              <a:rPr lang="ko-KR" altLang="en-US" sz="1600" spc="-50" dirty="0" err="1"/>
              <a:t>배출권시장이라는</a:t>
            </a:r>
            <a:r>
              <a:rPr lang="ko-KR" altLang="en-US" sz="1600" spc="-50" dirty="0"/>
              <a:t> 새로운 시장을 만들고 운영하기 때문에 다른 제도에는 나타나지 않는 장애 요인이 존재한다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오염물질의 이질성으로 인한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배출권거래의</a:t>
            </a:r>
            <a:r>
              <a:rPr lang="ko-KR" altLang="en-US" sz="1600" spc="-50" dirty="0"/>
              <a:t> 동태적 측면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최초배출권의 분배문제와 정책수용성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배출권시장의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경쟁성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감시 및 감독비용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343364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1C36-DD42-A610-0916-D99E7B5F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F6E25-59B3-6FF0-8B78-6FCFB01E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이질성으로 인한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D4DB7-F3C8-043D-C7DD-4C8D4ABE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9AE2F-8BC9-0E20-CF04-A3C68CAC9898}"/>
              </a:ext>
            </a:extLst>
          </p:cNvPr>
          <p:cNvSpPr txBox="1"/>
          <p:nvPr/>
        </p:nvSpPr>
        <p:spPr>
          <a:xfrm>
            <a:off x="678872" y="958844"/>
            <a:ext cx="11132127" cy="2408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살펴보았듯이 오염물질이 이질적인 경우에는 오염도기준 거래제가 실행되어야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하지만 실제로 시행되기에는 현실적인 어려움이 있어 아래와 같이 몇 가지 대안이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이질적 오염물질에 대해 적용되는 배출량기준 거래제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구획배출권거래제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단일 오염도기준 </a:t>
            </a:r>
            <a:r>
              <a:rPr lang="ko-KR" altLang="en-US" sz="1600" spc="-50" dirty="0" err="1"/>
              <a:t>배출권시장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</p:txBody>
      </p:sp>
    </p:spTree>
    <p:extLst>
      <p:ext uri="{BB962C8B-B14F-4D97-AF65-F5344CB8AC3E}">
        <p14:creationId xmlns:p14="http://schemas.microsoft.com/office/powerpoint/2010/main" val="3889999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9A0F-36A2-9833-4B7A-11EA81A9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69F58-F1F2-DDBF-FC51-2C370BF2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이질적 오염물질에 대해 적용되는 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E2B23-45A9-98EF-B8EF-69779820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6ADDC-35A7-4701-40CC-9E84F7D04856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오염물질의 이질성을 감안한 정책을 시행하기 위해서는 수많은 </a:t>
            </a:r>
            <a:r>
              <a:rPr lang="ko-KR" altLang="en-US" sz="1600" spc="-50" dirty="0" err="1"/>
              <a:t>배출권시장을</a:t>
            </a:r>
            <a:r>
              <a:rPr lang="ko-KR" altLang="en-US" sz="1600" spc="-50" dirty="0"/>
              <a:t> 운영해야 하는 현실적인 어려움이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대한 가장 손쉬운 대안으로는 이 문제를 무시하는 것이다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오염물질이 이질적임에도 불구하고 오염도기준 거래제가 아닌 배출량기준 거래제를 사용하는 방안을 검토하는 것이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배출량기준 거래제를 사용함으로 인해 발생하는 사회적 비용이 오염도기준 거래제를 무리하게 사용함에 따라 발생하는 각종 거래비용이나 행정비용보다 더 적다면 배출량기준 거래제는 효과적인 대안이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다음장의 표는 미국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칠레 등에 있어 특정 지역의 목표 오염도를 달성하기 위해 아래의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제도를 사용함에 따라 발생하는 배출저감비용을 비교하여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직접규제를 사용하는 방법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오염물질의 이질성에도 불구하고 배출량기준 거래제를 대신 사용하는 방법</a:t>
            </a:r>
            <a:r>
              <a:rPr lang="en-US" altLang="ko-KR" sz="1600" spc="-50" dirty="0"/>
              <a:t>(EPS, Emission Permit System)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오염도기준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사용하는 방법 </a:t>
            </a:r>
            <a:r>
              <a:rPr lang="en-US" altLang="ko-KR" sz="1600" spc="-50" dirty="0"/>
              <a:t>(APS, Ambient Permit System)</a:t>
            </a:r>
          </a:p>
        </p:txBody>
      </p:sp>
    </p:spTree>
    <p:extLst>
      <p:ext uri="{BB962C8B-B14F-4D97-AF65-F5344CB8AC3E}">
        <p14:creationId xmlns:p14="http://schemas.microsoft.com/office/powerpoint/2010/main" val="769313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591D4-45D0-529E-3C82-237F72EF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이질적 오염물질에 대해 적용되는 배출량기준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DFC2B-BB2D-6402-EF43-ACBDC5BE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2306C69-B59E-8F2E-2272-89FE33B90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97617"/>
              </p:ext>
            </p:extLst>
          </p:nvPr>
        </p:nvGraphicFramePr>
        <p:xfrm>
          <a:off x="1465824" y="1244601"/>
          <a:ext cx="8584108" cy="2962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737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9388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적용지역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/EPS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/APS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세인트루이스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1.33~6.00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1.67~4.51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유타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콜로라도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아리조나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뉴멕시코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접경지역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1.70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로스엔젤레스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오하이오주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1.40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1.88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8.64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시카고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530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7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1.97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산티아고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칠레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2CDCBB-3A22-B0E1-1252-79AEE4F90D30}"/>
              </a:ext>
            </a:extLst>
          </p:cNvPr>
          <p:cNvSpPr txBox="1"/>
          <p:nvPr/>
        </p:nvSpPr>
        <p:spPr>
          <a:xfrm>
            <a:off x="686668" y="4595111"/>
            <a:ext cx="1113212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(EPS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/APS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오염물질이 이질적임에도 불구하고 오염도기준 거래제가 아닌 배출량기준 거래제를 사용하면 전체 저감비용이 </a:t>
            </a:r>
            <a:r>
              <a:rPr lang="en-US" altLang="ko-KR" sz="1600" spc="-50" dirty="0"/>
              <a:t>7%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3,290%</a:t>
            </a:r>
            <a:r>
              <a:rPr lang="ko-KR" altLang="en-US" sz="1600" spc="-50" dirty="0"/>
              <a:t>까지 더 소요된다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대체가능 여부는 대상오염물질이나 지역별로 크게 다르다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직접규제비용</a:t>
            </a:r>
            <a:r>
              <a:rPr lang="en-US" altLang="ko-KR" sz="1600" spc="-50" dirty="0"/>
              <a:t>/EPS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대부분의 경우 직접규제보다는 오염물질의 이질성을 무시하더라도 배출량기준 거래제를 사용할 경우에 저감비용이 더 적게 소요된다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다만 네 경우에 대해서는 오히려 직접규제가 더 적은 비용을 필요로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7FC56-F535-CFD1-7F9D-031923A9A440}"/>
              </a:ext>
            </a:extLst>
          </p:cNvPr>
          <p:cNvSpPr txBox="1"/>
          <p:nvPr/>
        </p:nvSpPr>
        <p:spPr>
          <a:xfrm>
            <a:off x="3942324" y="952213"/>
            <a:ext cx="33062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b="1" kern="0" dirty="0">
                <a:latin typeface="+mn-ea"/>
              </a:rPr>
              <a:t>&lt;</a:t>
            </a:r>
            <a:r>
              <a:rPr lang="ko-KR" altLang="en-US" sz="1300" b="1" kern="0" dirty="0">
                <a:latin typeface="+mn-ea"/>
              </a:rPr>
              <a:t>이질적 오염물질의 배출저감 비용 비교</a:t>
            </a:r>
            <a:r>
              <a:rPr lang="en-US" altLang="ko-KR" sz="1300" b="1" kern="0" dirty="0">
                <a:latin typeface="+mn-ea"/>
              </a:rPr>
              <a:t>&gt;</a:t>
            </a:r>
            <a:endParaRPr lang="ko-KR" altLang="en-US" sz="1300" b="1" kern="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97477-B55E-D558-BDA1-2E8E56DB799F}"/>
              </a:ext>
            </a:extLst>
          </p:cNvPr>
          <p:cNvSpPr txBox="1"/>
          <p:nvPr/>
        </p:nvSpPr>
        <p:spPr>
          <a:xfrm>
            <a:off x="1416050" y="4231901"/>
            <a:ext cx="599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 err="1"/>
              <a:t>Tietenberg</a:t>
            </a:r>
            <a:r>
              <a:rPr lang="en-US" altLang="ko-KR" sz="1050" spc="-50" dirty="0"/>
              <a:t>, T. H. (2006), Emissions Trading: Principles and Practice, 2</a:t>
            </a:r>
            <a:r>
              <a:rPr lang="en-US" altLang="ko-KR" sz="1050" spc="-50" baseline="30000" dirty="0"/>
              <a:t>nd</a:t>
            </a:r>
            <a:r>
              <a:rPr lang="en-US" altLang="ko-KR" sz="1050" spc="-50" dirty="0"/>
              <a:t> ed., Resources for the Future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71969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B4DC8-9509-ACFB-A8E6-5FC59CB0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구획배출권 거래제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EF0DC-A3CF-5EE1-1D9F-379E9A9F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CABCC-779A-1EA7-1D05-4DE0C91239CC}"/>
              </a:ext>
            </a:extLst>
          </p:cNvPr>
          <p:cNvSpPr txBox="1"/>
          <p:nvPr/>
        </p:nvSpPr>
        <p:spPr>
          <a:xfrm>
            <a:off x="678872" y="958844"/>
            <a:ext cx="1113212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구획배출권거래제는</a:t>
            </a:r>
            <a:r>
              <a:rPr lang="ko-KR" altLang="en-US" sz="1600" spc="-50" dirty="0"/>
              <a:t> 전체 관리지역을 몇 개의 구획으로 분리한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구획 내의 모든 오염원은 배출량기준 거래제에 의해 배출권을 </a:t>
            </a:r>
            <a:r>
              <a:rPr lang="en-US" altLang="ko-KR" sz="1600" spc="-50" dirty="0"/>
              <a:t>1:1</a:t>
            </a:r>
            <a:r>
              <a:rPr lang="ko-KR" altLang="en-US" sz="1600" spc="-50" dirty="0"/>
              <a:t>로 거래하게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서로 다른 구획 간의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거래는 원칙적으로 금지한다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배웠듯이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이질적 오염물질을 배출부과금제도를 이용해 규제할 때 전체 지역을 몇 개의 구획으로 나누어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부과금을 부과하는 것과 마찬가지로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역시 구획화 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구획화를 하면 구획 내 오염물질의 동질성이 향상되기 때문에 오염물질의 이질성이 야기하는 문제를 많이 줄일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구획 간의 거래를 금지하게 되면 오염원들이 서로 간의 거래를 통해 효율성을 추구할 수 있는 기회를 제한하게 되므로 이로 인한 비용이 추가로 발생하게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구획화는 아래와 같이 동시에 해결할 수 없는 두 가지 문제를 고려해야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오염물질의 동질성 확보를 위해 구획을 가능한 작게 설정해야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거래의 효율성 확보를 위해 구획을 가능한 크게 설정해야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절충안으로서 서로 다른 구획 간의 거래를 제한된 형태로 나마 허용하는 방안이 있을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구획 간 거래 비율은 </a:t>
            </a:r>
            <a:r>
              <a:rPr lang="en-US" altLang="ko-KR" sz="1600" spc="-50" dirty="0"/>
              <a:t>1:1</a:t>
            </a:r>
            <a:r>
              <a:rPr lang="ko-KR" altLang="en-US" sz="1600" spc="-50" dirty="0"/>
              <a:t>이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교환 비율을 정해주어야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예로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남캘리포니아의</a:t>
            </a:r>
            <a:r>
              <a:rPr lang="ko-KR" altLang="en-US" sz="1600" spc="-50" dirty="0"/>
              <a:t> 대기오염 관리제도는 대상 지역을 해안지역과 내륙지역으로 구분하고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내륙지역에 위치한 오염원이 해안지역의 </a:t>
            </a:r>
            <a:r>
              <a:rPr lang="ko-KR" altLang="en-US" sz="1600" spc="-50" dirty="0" err="1"/>
              <a:t>배출권시장에서</a:t>
            </a:r>
            <a:r>
              <a:rPr lang="ko-KR" altLang="en-US" sz="1600" spc="-50" dirty="0"/>
              <a:t> 배출권을 구매하는 것은 허용하지만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반대의 경우는 허용하지 않음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지형 여건상 해안의 오염물질은 내륙으로 쉽게 이동하지만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내륙에서 해안으로는 이동하지 않기 때문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2746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32C98-E828-E51B-87E8-12466AF8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80852-9A8F-2172-3B9C-7A48F1A4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단일 오염도기준 </a:t>
            </a:r>
            <a:r>
              <a:rPr lang="ko-KR" altLang="en-US" dirty="0" err="1"/>
              <a:t>배출권시장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DE82A-4450-598F-C89D-83965257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251E4-98ED-11E2-77D0-1239E7A2395F}"/>
              </a:ext>
            </a:extLst>
          </p:cNvPr>
          <p:cNvSpPr txBox="1"/>
          <p:nvPr/>
        </p:nvSpPr>
        <p:spPr>
          <a:xfrm>
            <a:off x="678872" y="958844"/>
            <a:ext cx="1113212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단일 오염도기준 </a:t>
            </a:r>
            <a:r>
              <a:rPr lang="ko-KR" altLang="en-US" sz="1600" spc="-50" dirty="0" err="1"/>
              <a:t>배출권시장에서는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특히 오염이 심한 지점을 기준으로 각 오염원의 전이계수를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따라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교환비율을 정해준다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기준이 되는 지점에 가까운 오염원이 배출권을 줄이면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보다 멀리 떨어진 오염원은 대신 보다 많은 배출을 늘릴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기준 지점의 오염이 개선되면서 환경개선효과를 누릴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시간이 지날수록 제도의 장점이 사라지는 문제를 동반한다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오염이 심한 기준 지점만을 반영하여 교환비율이 결정되면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새로운 오염시설은 모두 이 기준 지점으로부터 멀리 위치하여 보다 싼 가격에 배출을 하려고 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 시간이 지날수록 기준 지점 외의 오염이 심해질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612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306E-7CBC-51C5-8907-505C9864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5386C-FCA7-6CC6-22D7-A579410B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배출권거래의</a:t>
            </a:r>
            <a:r>
              <a:rPr lang="ko-KR" altLang="en-US" dirty="0"/>
              <a:t> 동태적 측면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CD1E3-7611-8C10-48CB-B1E19170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83AB9-AE48-E458-8B66-C1DE4C8C71E9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실제로 실행할 때에는 공간적문제뿐 아니라 시간적 문제까지 고려해야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오염도가 시간이 지나면서 변하는 데에는 여러 이유가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생산 행위가 시간에 따라 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 등에 따른 자연적 요인에 의해서 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오염물질의 경우 자연의 흡수능력보다 빠르게 축적되는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정부는 시간변수를 도입하여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설계하는 것이 필요하다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배출권의 예치와 차용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계절별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운용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 오존은 온도가 높을 때 농도가 높아지므로 여름과 여타 계절로 분리하여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운용할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여름에는 매월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톤의 오존 생성가스를 배출하고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여타 계절에는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톤의 가스를 배출 할 수 있는 방식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155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E45D-6497-EBCF-FB8A-C279169C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FEE7E-E821-402D-0C5F-19CBD0B2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배출권의 예치와 차용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FF4AA-9DAD-8599-90E5-AA7FBAE3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27EFC-9743-E68A-6CFF-AC1E5945A472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배출권의 예치는 이번 해에 배출할 수 있는 권리보다도 더 적은 양을 배출한 후 그 차이를 내년으로 이월하는 행위를 의미하고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배출권의 차용은 내년도에 갖게 될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중 일부를 금년도에 미리 사용하는 행위를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배출권의 이월과 차용을 허용하면 오염원은 저감 설비 투자 </a:t>
            </a:r>
            <a:r>
              <a:rPr lang="ko-KR" altLang="en-US" sz="1600" spc="-50"/>
              <a:t>시점을 선택할 때 </a:t>
            </a:r>
            <a:r>
              <a:rPr lang="ko-KR" altLang="en-US" sz="1600" spc="-50" dirty="0"/>
              <a:t>재량권을 갖게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저감비용을 줄일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오염원은 배출권의 시장수요가 높을 때를 대비해 배출권을 절약할 수 있어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 안정화에도 도움이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저감활동을 위한 비용지출을 뒤로 미룰수록 최소한 이자율에 해당하는 이득을 얻을 수 있기 때문에 오염원은 저감설비 투자나 가동을 미루고 배출권을 </a:t>
            </a:r>
            <a:r>
              <a:rPr lang="ko-KR" altLang="en-US" sz="1600" spc="-50" dirty="0" err="1"/>
              <a:t>차용하려하는</a:t>
            </a:r>
            <a:r>
              <a:rPr lang="ko-KR" altLang="en-US" sz="1600" spc="-50" dirty="0"/>
              <a:t> 문제가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오염피해는 초기에 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후기에 작아지는 경향이 생기는데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전체로 보면 오염피해 또한 초기보다 나중에 발생하는 것이 이득이다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배출권의 시점 간 거래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예치와 차용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허용하려면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적용하는 이자율을 경제 전체의 통상적인 이자율보다 </a:t>
            </a:r>
            <a:r>
              <a:rPr lang="ko-KR" altLang="en-US" sz="1600" spc="-50" dirty="0" err="1"/>
              <a:t>높게할</a:t>
            </a:r>
            <a:r>
              <a:rPr lang="ko-KR" altLang="en-US" sz="1600" spc="-50" dirty="0"/>
              <a:t> 필요는 있다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472341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D89E-A5D8-5D06-3126-799BD188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77B0A-FFFD-E296-8090-9490EA62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최초배출권의 분배문제와 정책 수용성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061AF-77D0-0DE9-1E1C-D746AC4E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ED6DA-BD50-4042-DF07-4B4A2EB4517B}"/>
              </a:ext>
            </a:extLst>
          </p:cNvPr>
          <p:cNvSpPr txBox="1"/>
          <p:nvPr/>
        </p:nvSpPr>
        <p:spPr>
          <a:xfrm>
            <a:off x="678872" y="958844"/>
            <a:ext cx="1113212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도입하면 </a:t>
            </a:r>
            <a:r>
              <a:rPr lang="ko-KR" altLang="en-US" sz="1600" spc="-50" dirty="0" err="1"/>
              <a:t>오염원간의</a:t>
            </a:r>
            <a:r>
              <a:rPr lang="ko-KR" altLang="en-US" sz="1600" spc="-50" dirty="0"/>
              <a:t> 자발적인 거래에 의해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가격이 결정된다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장기적으로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이론적으로 보면 정부가 최초에 배출권을 어떻게 분배하느냐 하는 것은 궁극적인 비용효과성에 영향을 미치지 않아야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최초에 어떤 상태에 있던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오염원들의 자발적 거래에 의해 각 오염원의 한계저감비용과 일치하는 수준에서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시장가격이 최종적으로 형성되고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시장가격과 일치하는 수준에서 배출량 혹은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선택하게 되기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현실에서는 많은 요인이 </a:t>
            </a:r>
            <a:r>
              <a:rPr lang="ko-KR" altLang="en-US" sz="1600" spc="-50" dirty="0" err="1"/>
              <a:t>배출권시장에</a:t>
            </a:r>
            <a:r>
              <a:rPr lang="ko-KR" altLang="en-US" sz="1600" spc="-50" dirty="0"/>
              <a:t> 영향을 미치기 때문에 최초의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배분방식에 따라 시장의 균형 자체가 달라질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간의 형평성 문제에도 영향을 미치기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이해 당사자들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오염원들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정책을 수용하려 </a:t>
            </a:r>
            <a:r>
              <a:rPr lang="ko-KR" altLang="en-US" sz="1600" spc="-50" dirty="0" err="1"/>
              <a:t>하는지에도</a:t>
            </a:r>
            <a:r>
              <a:rPr lang="ko-KR" altLang="en-US" sz="1600" spc="-50" dirty="0"/>
              <a:t> 영향을 미치게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배출권을 오염원에게 분배하는 방법은 여러가지가 있지만 아래의 두가지 방법이 많이 사용되고 또 논란이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그랜드파더링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(grandfathering)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경매제도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02640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52E3D-B87E-8DE6-E19C-A30CA779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그랜드파더링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80005-363A-ADC6-41EE-600D97F1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ADDB0-5019-DB79-F539-5F54DCDCA896}"/>
              </a:ext>
            </a:extLst>
          </p:cNvPr>
          <p:cNvSpPr txBox="1"/>
          <p:nvPr/>
        </p:nvSpPr>
        <p:spPr>
          <a:xfrm>
            <a:off x="678872" y="958844"/>
            <a:ext cx="1113212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그랜드파더링은</a:t>
            </a:r>
            <a:r>
              <a:rPr lang="ko-KR" altLang="en-US" sz="1600" spc="-50" dirty="0"/>
              <a:t> 각 오염원이 과거에 배출하던 배출량에 비례하여 배출권을 분배하는 방식을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 저감을 위해 많은 노력을 이미 기울인 기업에게는 불합리한 방법이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오염원들이 정부가 이 방식을 택할 것이라는 사실을 안다면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시행 시점에 맞추어 배출량을 의도적으로 늘릴 가능성 또한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</a:t>
            </a:r>
            <a:r>
              <a:rPr lang="ko-KR" altLang="en-US" sz="1600" spc="-50" dirty="0" err="1"/>
              <a:t>그랜드파더링이</a:t>
            </a:r>
            <a:r>
              <a:rPr lang="ko-KR" altLang="en-US" sz="1600" spc="-50" dirty="0"/>
              <a:t> 시행된 예시는 지구온난화 방지를 위한 교토의정서</a:t>
            </a:r>
            <a:r>
              <a:rPr lang="en-US" altLang="ko-KR" sz="1600" spc="-50" dirty="0"/>
              <a:t>(1997) </a:t>
            </a:r>
            <a:r>
              <a:rPr lang="ko-KR" altLang="en-US" sz="1600" spc="-50" dirty="0"/>
              <a:t>합의문에서 찾아볼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선진국들의 온실가스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결정할 때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배출량을 기준으로 하여 특정 비율만큼 줄이도록 배출권을 분배하되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구체적인 수준은 협상을 통해 정하도록 하였다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5661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BCC0B-88BB-27A6-4E60-865564D6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교토의정서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F4447-C713-1A12-E653-446D642E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29D5B2-0913-DDF6-689C-A977E76A4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12" y="1018131"/>
            <a:ext cx="9523840" cy="54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F4B370-FEE5-7BF8-7076-F612DEDCA76A}"/>
              </a:ext>
            </a:extLst>
          </p:cNvPr>
          <p:cNvSpPr txBox="1"/>
          <p:nvPr/>
        </p:nvSpPr>
        <p:spPr>
          <a:xfrm>
            <a:off x="8685306" y="6287326"/>
            <a:ext cx="3297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https://www.khnp.co.kr/main/contents.do?key=247</a:t>
            </a:r>
          </a:p>
        </p:txBody>
      </p:sp>
    </p:spTree>
    <p:extLst>
      <p:ext uri="{BB962C8B-B14F-4D97-AF65-F5344CB8AC3E}">
        <p14:creationId xmlns:p14="http://schemas.microsoft.com/office/powerpoint/2010/main" val="353684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FAEA6-4358-2503-33C7-ACDAD9F7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교토의정서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59FB27-43E6-64FB-3E29-A386E417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B1E5D9-2461-670F-1148-BB5658326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85" y="1006969"/>
            <a:ext cx="10287153" cy="54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9DBD4E-14BB-222D-ED39-B03AA7E56E8D}"/>
              </a:ext>
            </a:extLst>
          </p:cNvPr>
          <p:cNvSpPr txBox="1"/>
          <p:nvPr/>
        </p:nvSpPr>
        <p:spPr>
          <a:xfrm>
            <a:off x="8685306" y="6287326"/>
            <a:ext cx="3297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https://www.khnp.co.kr/main/contents.do?key=247</a:t>
            </a:r>
          </a:p>
        </p:txBody>
      </p:sp>
    </p:spTree>
    <p:extLst>
      <p:ext uri="{BB962C8B-B14F-4D97-AF65-F5344CB8AC3E}">
        <p14:creationId xmlns:p14="http://schemas.microsoft.com/office/powerpoint/2010/main" val="271813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4D87A-0C38-D34A-F550-4A8A99C5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경매제도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E7CBD-8FDC-E3BD-0D6B-385E6247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A4387-7DE1-03B3-CC38-7FDB88872831}"/>
              </a:ext>
            </a:extLst>
          </p:cNvPr>
          <p:cNvSpPr txBox="1"/>
          <p:nvPr/>
        </p:nvSpPr>
        <p:spPr>
          <a:xfrm>
            <a:off x="678872" y="958844"/>
            <a:ext cx="1113212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경매에서는 가장 높은 지불의사를 표시한 오염원이 배출권을 가져간다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큰 특징 중 하나가 경매로 인해 정부 수입이 발생하고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대신 오염원들은 그만큼의 비용 부담이 늘어난다는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정부수입을 통해 다른 조세를 대체하는 것이 가능하기 때문에 추가적인 편익이 발생할 수 있다</a:t>
            </a:r>
            <a:r>
              <a:rPr lang="en-US" altLang="ko-KR" sz="1600" spc="-50" dirty="0"/>
              <a:t>. (Ch.7</a:t>
            </a:r>
            <a:r>
              <a:rPr lang="ko-KR" altLang="en-US" sz="1600" spc="-50" dirty="0"/>
              <a:t>에서 배운 환경세의 이중편익가설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입장에서는 직접규제에서는 정부의 기준만 준수하면 비용을 지불하지 않아도 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제도는 기업에게 부담이 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이러한 기업의 입장을 고려하면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경매 수입을 다시 오염원에게 돌려주는 방법도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경매제도를 도입하면 오염원은 배출저감을 위해 저감비용을 지출하고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추가로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구매비도 지출해야 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두 비용의 합이 직접규제로 인한 저감비용과 비교하여 어느 것이 더 많은지에 따라 정책수용성이 결정된다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다음장의 표는 </a:t>
            </a:r>
            <a:r>
              <a:rPr lang="ko-KR" altLang="en-US" sz="1600" spc="-50" dirty="0" err="1"/>
              <a:t>배출권거래제에서의</a:t>
            </a:r>
            <a:r>
              <a:rPr lang="ko-KR" altLang="en-US" sz="1600" spc="-50" dirty="0"/>
              <a:t> 저감비용과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구매비용의 합을 직접규제에서의 저감비용과 비교하고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7022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11993-4E06-8D54-5EF0-C214AA89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경매제도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92D34-EF06-82EE-966E-616FAD24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868849-8392-AA48-B8E2-30D14BC95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123991"/>
              </p:ext>
            </p:extLst>
          </p:nvPr>
        </p:nvGraphicFramePr>
        <p:xfrm>
          <a:off x="1370574" y="1262046"/>
          <a:ext cx="8584108" cy="2214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737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9388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적용지역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EPS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비용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유타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콜로라도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아리조나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뉴멕시코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접경지역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로스엔젤레스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볼티모어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질소산화물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시카고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7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아황산가스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2.39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먼지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델라웨어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6E0F2B-448C-3D0C-D627-37D544919CF5}"/>
              </a:ext>
            </a:extLst>
          </p:cNvPr>
          <p:cNvSpPr txBox="1"/>
          <p:nvPr/>
        </p:nvSpPr>
        <p:spPr>
          <a:xfrm>
            <a:off x="3847074" y="969658"/>
            <a:ext cx="36332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b="1" kern="0" dirty="0">
                <a:latin typeface="+mn-ea"/>
              </a:rPr>
              <a:t>&lt;</a:t>
            </a:r>
            <a:r>
              <a:rPr lang="ko-KR" altLang="en-US" sz="1300" b="1" kern="0" dirty="0" err="1">
                <a:latin typeface="+mn-ea"/>
              </a:rPr>
              <a:t>배출권거래제하의</a:t>
            </a:r>
            <a:r>
              <a:rPr lang="ko-KR" altLang="en-US" sz="1300" b="1" kern="0" dirty="0">
                <a:latin typeface="+mn-ea"/>
              </a:rPr>
              <a:t> 오염원의 총비용부담</a:t>
            </a:r>
            <a:r>
              <a:rPr lang="en-US" altLang="ko-KR" sz="1300" b="1" kern="0" dirty="0">
                <a:latin typeface="+mn-ea"/>
              </a:rPr>
              <a:t>&gt;</a:t>
            </a:r>
            <a:endParaRPr lang="ko-KR" altLang="en-US" sz="1300" b="1" kern="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15C7C-F34B-98C3-74FA-AAAF392D5AD0}"/>
              </a:ext>
            </a:extLst>
          </p:cNvPr>
          <p:cNvSpPr txBox="1"/>
          <p:nvPr/>
        </p:nvSpPr>
        <p:spPr>
          <a:xfrm>
            <a:off x="4273550" y="3448050"/>
            <a:ext cx="56811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 err="1"/>
              <a:t>Tietenberg</a:t>
            </a:r>
            <a:r>
              <a:rPr lang="en-US" altLang="ko-KR" sz="1050" spc="-50" dirty="0"/>
              <a:t>, T. H. (2006), Emissions Trading: Principles and Practice, 2</a:t>
            </a:r>
            <a:r>
              <a:rPr lang="en-US" altLang="ko-KR" sz="1050" spc="-50" baseline="30000" dirty="0"/>
              <a:t>nd</a:t>
            </a:r>
            <a:r>
              <a:rPr lang="en-US" altLang="ko-KR" sz="1050" spc="-50" dirty="0"/>
              <a:t> ed., Resources for the Future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59100-A68B-D894-4B51-FECBCEB70B38}"/>
              </a:ext>
            </a:extLst>
          </p:cNvPr>
          <p:cNvSpPr txBox="1"/>
          <p:nvPr/>
        </p:nvSpPr>
        <p:spPr>
          <a:xfrm>
            <a:off x="678872" y="4025894"/>
            <a:ext cx="1113212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(APS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직접규제비용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오염물질의 이질성을 적절히 반영하는 오염도기준 거래제가 시행되면 경매에서의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구매비용을 감안해도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오염원 비용이 직접규제의 저감비용보다 작다는 것을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직접규제와 달리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비용효과성을 달성해 저감비용을 크게 줄여주기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(EPS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직접규제비용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그러나 오염물질이 이질적임에도 불구하고 배출량기준 거래제를 사용하게 되면 저감비용 측면의 정책 효율성이 줄어들어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상대적 장점이 많이 사라진다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9437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0EE5B-BD4D-9FBB-C56B-742D76C0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배출권시장의</a:t>
            </a:r>
            <a:r>
              <a:rPr lang="ko-KR" altLang="en-US" dirty="0"/>
              <a:t> </a:t>
            </a:r>
            <a:r>
              <a:rPr lang="ko-KR" altLang="en-US" dirty="0" err="1"/>
              <a:t>경쟁성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A46BB-66EC-B3F5-8024-A3745DE4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1CBC0-F5A1-4A86-7688-3BACD280232E}"/>
              </a:ext>
            </a:extLst>
          </p:cNvPr>
          <p:cNvSpPr txBox="1"/>
          <p:nvPr/>
        </p:nvSpPr>
        <p:spPr>
          <a:xfrm>
            <a:off x="678872" y="958844"/>
            <a:ext cx="1113212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 재화와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시장도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사회적 효율성이 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전제조건으로 </a:t>
            </a:r>
            <a:r>
              <a:rPr lang="ko-KR" altLang="en-US" sz="1600" spc="-50" dirty="0" err="1"/>
              <a:t>배출권시장에</a:t>
            </a:r>
            <a:r>
              <a:rPr lang="ko-KR" altLang="en-US" sz="1600" spc="-50" dirty="0"/>
              <a:t> 많은 수의 거래자가 참여하여 한 거래자의 행위로 인해 시장 전체의 가격이 영향을 받지 않아야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많은 양의 배출권을 보유하여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시장가격에 영향을 미칠 수 있는 오염원이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오염원이 배출권을 판매할 때는 공급독점자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구매할 때는 수요독점자가 될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</a:t>
            </a:r>
            <a:r>
              <a:rPr lang="ko-KR" altLang="en-US" sz="1600" spc="-50" dirty="0" err="1"/>
              <a:t>배출권시장의</a:t>
            </a:r>
            <a:r>
              <a:rPr lang="ko-KR" altLang="en-US" sz="1600" spc="-50" dirty="0"/>
              <a:t> 효율성을 감소시킬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시장에 영향력을 가진 거래자가 배출권을 판매하려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시장가격은 하락하게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판매자 입장에서는 완전경쟁시장에서는 발생하지 않던 추가 비용이다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이렇게 배출권을 판매하면 그 가치가 떨어지는 것을 비용으로 인식하게 되면 판매자는 완전경쟁일 경우에 비해 더 적은 양의 </a:t>
            </a:r>
            <a:r>
              <a:rPr lang="ko-KR" altLang="en-US" sz="1600" spc="-50" dirty="0" err="1"/>
              <a:t>배출권만을</a:t>
            </a:r>
            <a:r>
              <a:rPr lang="ko-KR" altLang="en-US" sz="1600" spc="-50" dirty="0"/>
              <a:t> 판매하려고 할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2030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6F94E-5FBD-C4D0-9684-0BA3DC25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감시 및 감독비용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E3743-8161-B59A-EB89-56427E88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64025-9ED9-F348-9A4E-A82400542543}"/>
              </a:ext>
            </a:extLst>
          </p:cNvPr>
          <p:cNvSpPr txBox="1"/>
          <p:nvPr/>
        </p:nvSpPr>
        <p:spPr>
          <a:xfrm>
            <a:off x="678872" y="958844"/>
            <a:ext cx="1113212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배출부과금제에 비해서는 정부와 오염원이 직접 접촉할 필요성을 </a:t>
            </a:r>
            <a:r>
              <a:rPr lang="ko-KR" altLang="en-US" sz="1600" spc="-50" dirty="0" err="1"/>
              <a:t>주여주는</a:t>
            </a:r>
            <a:r>
              <a:rPr lang="ko-KR" altLang="en-US" sz="1600" spc="-50" dirty="0"/>
              <a:t> 정책이기는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제도 역시 오염원의 행위를 감시하고 감독하는 비용을 필요로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무엇보다도 정부는 각 오염원이 소유한 배출권보다 더 많은 양의 배출을 하지 않도록 감시할 의무가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과정에서 감시 및 감독비용이 소요된다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직접규제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배출부과금제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세 가지 제도 모두 공통적으로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규제당국은 오염원의 배출량이 </a:t>
            </a:r>
            <a:r>
              <a:rPr lang="ko-KR" altLang="en-US" sz="1600" spc="-50" dirty="0" err="1"/>
              <a:t>어느정도인지를</a:t>
            </a:r>
            <a:r>
              <a:rPr lang="ko-KR" altLang="en-US" sz="1600" spc="-50" dirty="0"/>
              <a:t> 정확히 알 필요가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다만 아래와 같이 세부적인 차이가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배출부과금제와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비교하면 </a:t>
            </a: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경우에서 정부는 감시 의무가 더 적다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배출권거래제의</a:t>
            </a:r>
            <a:r>
              <a:rPr lang="ko-KR" altLang="en-US" sz="1600" spc="-50" dirty="0"/>
              <a:t> 경우 서로의 행동을 감시할 가능성이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부과금제도에서는 어떤 오염원이 신고한 그 이상을 배출하더라도 다른 오염원의 이윤에 영향을 끼치지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배출권거래제에서는</a:t>
            </a:r>
            <a:r>
              <a:rPr lang="ko-KR" altLang="en-US" sz="1600" spc="-50" dirty="0"/>
              <a:t> 어떤 오염원이 초과 배출을 하면 그로 인해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시장 수요가 줄어들어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배출권의 시장가격이 정상적인 경우보다 낮아지게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다른 오염원의 부정 배출을 인지하면 고발하고자 할 것이며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이런 식의 오염원 간 상호감시가 이루어지면 정부의 감시 및 감독 필요성은 줄어든다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842364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1C64-DC12-76A2-419D-F5EDB892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08867-077E-4E92-3B36-D8B64D2E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감시 및 감독비용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93E490-DC38-CE24-4028-2B1699EE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907BE-10E8-D4C6-0B73-7E485EB5EA0B}"/>
              </a:ext>
            </a:extLst>
          </p:cNvPr>
          <p:cNvSpPr txBox="1"/>
          <p:nvPr/>
        </p:nvSpPr>
        <p:spPr>
          <a:xfrm>
            <a:off x="678872" y="958844"/>
            <a:ext cx="1113212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직접규제와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비교하면 어느 쪽의 감시 비용이 클지 단정하기는 어렵다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상호감시 유인 덕분에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더 적은 감시 비용이 든다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</a:t>
            </a:r>
            <a:r>
              <a:rPr lang="ko-KR" altLang="en-US" sz="1600" spc="-50" dirty="0" err="1"/>
              <a:t>배출권거래제가</a:t>
            </a:r>
            <a:r>
              <a:rPr lang="ko-KR" altLang="en-US" sz="1600" spc="-50" dirty="0"/>
              <a:t> 직접규제보다 더 많은 감시 비용이 들 수도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직접규제는 많은 경우 배출량보다는 농도를 규제하고 따라서 오염원을 상시 감시할 필요성은 적다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한편 </a:t>
            </a:r>
            <a:r>
              <a:rPr lang="ko-KR" altLang="en-US" sz="1600" spc="-50" dirty="0" err="1"/>
              <a:t>배출권거래제에서는</a:t>
            </a:r>
            <a:r>
              <a:rPr lang="ko-KR" altLang="en-US" sz="1600" spc="-50" dirty="0"/>
              <a:t> 오염원의 실제 배출량과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보유량이 일치하는지를 확인할 수 있어야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거래를 통한 권리이전 현황까지 계속해서 자료로 확보하여야 하므로 이를 위한 비용이 소모된다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0129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875E-1F13-3EA7-2904-69E05BBD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C0C284-5A70-48F9-F583-22DF08FC7D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FBD06-2AA1-D6C2-4B76-7374B34B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FA097A-4048-18BB-11B0-DDDD4271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871855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배출권거래제</a:t>
            </a:r>
            <a:r>
              <a:rPr lang="ko-KR" altLang="en-US" sz="4000" b="1" i="0" spc="150" dirty="0"/>
              <a:t> 실행 사례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25639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8B57C-C146-376B-15F8-DDFB3C65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옵셋정책</a:t>
            </a:r>
            <a:r>
              <a:rPr lang="en-US" altLang="ko-KR" dirty="0"/>
              <a:t>: </a:t>
            </a:r>
            <a:r>
              <a:rPr lang="ko-KR" altLang="en-US" dirty="0"/>
              <a:t>최초의 </a:t>
            </a:r>
            <a:r>
              <a:rPr lang="ko-KR" altLang="en-US" dirty="0" err="1"/>
              <a:t>배출권거래</a:t>
            </a:r>
            <a:r>
              <a:rPr lang="ko-KR" altLang="en-US" dirty="0"/>
              <a:t> 적용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9AFA71-73C7-0952-4172-25C05D06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CCFC5-3773-B8F4-21E0-86D4CDAEDF7E}"/>
              </a:ext>
            </a:extLst>
          </p:cNvPr>
          <p:cNvSpPr txBox="1"/>
          <p:nvPr/>
        </p:nvSpPr>
        <p:spPr>
          <a:xfrm>
            <a:off x="678872" y="958844"/>
            <a:ext cx="1113212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미국정부가 대기오염관리의 필요성을 느껴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관한 최초의 법률을 입안한 것은 </a:t>
            </a:r>
            <a:r>
              <a:rPr lang="en-US" altLang="ko-KR" sz="1600" spc="-50" dirty="0"/>
              <a:t>1955</a:t>
            </a:r>
            <a:r>
              <a:rPr lang="ko-KR" altLang="en-US" sz="1600" spc="-50" dirty="0"/>
              <a:t>년이지만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산업활동 위축을 우려하여 각 주정부의 미온적 태도로 정책실행이 부진하였다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1970</a:t>
            </a:r>
            <a:r>
              <a:rPr lang="ko-KR" altLang="en-US" sz="1600" spc="-50" dirty="0"/>
              <a:t>년에 대기관리법 수정안이 통과되면서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 환경처</a:t>
            </a:r>
            <a:r>
              <a:rPr lang="en-US" altLang="ko-KR" sz="1600" spc="-50" dirty="0"/>
              <a:t>(EPA)</a:t>
            </a:r>
            <a:r>
              <a:rPr lang="ko-KR" altLang="en-US" sz="1600" spc="-50" dirty="0"/>
              <a:t>는 미국 전역의 대기 오염도기준을 설정하고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달성을 위한 책임은 각 주정부에게 돌렸다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주정부는 </a:t>
            </a:r>
            <a:r>
              <a:rPr lang="en-US" altLang="ko-KR" sz="1600" spc="-50" dirty="0"/>
              <a:t>EPA</a:t>
            </a:r>
            <a:r>
              <a:rPr lang="ko-KR" altLang="en-US" sz="1600" spc="-50" dirty="0"/>
              <a:t>의 오염도기준 달성을 위한 주정부 실행계획</a:t>
            </a:r>
            <a:r>
              <a:rPr lang="en-US" altLang="ko-KR" sz="1600" spc="-50" dirty="0"/>
              <a:t>(SIP)</a:t>
            </a:r>
            <a:r>
              <a:rPr lang="ko-KR" altLang="en-US" sz="1600" spc="-50" dirty="0"/>
              <a:t>을 시행하였고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주로 기술기준 혹은 배출기준과 같은 직접규제의 형식을 취하고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직접규제에 기초한 정책이 대기오염을 줄이는데 어느정도 성과는 있었지만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획일성에 따른 비효율성이 계속 지적되고 있었다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특히 </a:t>
            </a:r>
            <a:r>
              <a:rPr lang="en-US" altLang="ko-KR" sz="1600" spc="-50" dirty="0"/>
              <a:t>EPA</a:t>
            </a:r>
            <a:r>
              <a:rPr lang="ko-KR" altLang="en-US" sz="1600" spc="-50" dirty="0"/>
              <a:t>가 정한 오염도기준 이상의 오염이 발생한 지역에는 새로운 공장이 건설되지 못하였다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해당 지방정부는 환경규제로 경제성장이 저해 되는 것을 크게 우려하고 있었다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925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372EA-E01D-C284-48A3-5938B6B3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DA22B-0BDD-22D3-FC1E-F00F2B26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옵셋정책</a:t>
            </a:r>
            <a:r>
              <a:rPr lang="en-US" altLang="ko-KR" dirty="0"/>
              <a:t>: </a:t>
            </a:r>
            <a:r>
              <a:rPr lang="ko-KR" altLang="en-US" dirty="0"/>
              <a:t>최초의 </a:t>
            </a:r>
            <a:r>
              <a:rPr lang="ko-KR" altLang="en-US" dirty="0" err="1"/>
              <a:t>배출권거래</a:t>
            </a:r>
            <a:r>
              <a:rPr lang="ko-KR" altLang="en-US" dirty="0"/>
              <a:t> 적용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FB24C-1FB5-1CC0-B462-EAE5A7C1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EE50B-65DA-003A-060F-5C24FBD09DFF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상황에서 </a:t>
            </a:r>
            <a:r>
              <a:rPr lang="en-US" altLang="ko-KR" sz="1600" spc="-50" dirty="0"/>
              <a:t>1976</a:t>
            </a:r>
            <a:r>
              <a:rPr lang="ko-KR" altLang="en-US" sz="1600" spc="-50" dirty="0"/>
              <a:t>년에 도입된 것이 바로 옵셋정책</a:t>
            </a:r>
            <a:r>
              <a:rPr lang="en-US" altLang="ko-KR" sz="1600" spc="-50" dirty="0"/>
              <a:t>(offset policy)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EPA</a:t>
            </a:r>
            <a:r>
              <a:rPr lang="ko-KR" altLang="en-US" sz="1600" spc="-50" dirty="0"/>
              <a:t>의 오염도 기준을 달성하지 못한 지역에 있는 어떤 오염원이 배출량을 줄이면 </a:t>
            </a:r>
            <a:r>
              <a:rPr lang="en-US" altLang="ko-KR" sz="1600" spc="-50" dirty="0"/>
              <a:t>EPA</a:t>
            </a:r>
            <a:r>
              <a:rPr lang="ko-KR" altLang="en-US" sz="1600" spc="-50" dirty="0"/>
              <a:t>는 </a:t>
            </a:r>
            <a:r>
              <a:rPr lang="ko-KR" altLang="en-US" sz="1600" spc="-50" dirty="0" err="1"/>
              <a:t>크레딧을</a:t>
            </a:r>
            <a:r>
              <a:rPr lang="ko-KR" altLang="en-US" sz="1600" spc="-50" dirty="0"/>
              <a:t> 인정하고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</a:t>
            </a:r>
            <a:r>
              <a:rPr lang="ko-KR" altLang="en-US" sz="1600" spc="-50" dirty="0" err="1"/>
              <a:t>크레딧은</a:t>
            </a:r>
            <a:r>
              <a:rPr lang="ko-KR" altLang="en-US" sz="1600" spc="-50" dirty="0"/>
              <a:t> 이 지역에 새로운 기업이 진입할 수 있도록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오염도기준이 달성되지 못하는 지역에 새로이 진입하는 기업이 해당 지역 내의 기존 기업으로부터 충분한 양의 </a:t>
            </a:r>
            <a:r>
              <a:rPr lang="ko-KR" altLang="en-US" sz="1600" spc="-50" dirty="0" err="1"/>
              <a:t>크레딧을</a:t>
            </a:r>
            <a:r>
              <a:rPr lang="ko-KR" altLang="en-US" sz="1600" spc="-50" dirty="0"/>
              <a:t> 구입하고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이 기업이 진입함에도 불구하고 지역 전체 오염물질 배출량이 늘어나지 않을 경우 진입이 허용되었다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통상적으로 새로운 오염원은 자신이 필요로 하는 배출량보다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정도 더 많은 양의 </a:t>
            </a:r>
            <a:r>
              <a:rPr lang="ko-KR" altLang="en-US" sz="1600" spc="-50" dirty="0" err="1"/>
              <a:t>크레딧을</a:t>
            </a:r>
            <a:r>
              <a:rPr lang="ko-KR" altLang="en-US" sz="1600" spc="-50" dirty="0"/>
              <a:t> 구입토록 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의 초과 배출권은 행사되지 못하게 하여 오염도 개선효과를 꾀하였다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이후에 옵셋정책은 신규 진입자가 아닌 기존 오염원이 배출권을 획득하게 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기존 오염원이 설비 규모를 확장할 수 있도록 하는 조치를 포함하고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예치를 허용하는 식으로 확장되어 </a:t>
            </a:r>
            <a:r>
              <a:rPr lang="ko-KR" altLang="en-US" sz="1600" spc="-50" dirty="0" err="1"/>
              <a:t>배출권거래</a:t>
            </a:r>
            <a:r>
              <a:rPr lang="ko-KR" altLang="en-US" sz="1600" spc="-50" dirty="0"/>
              <a:t> 프로그램 </a:t>
            </a:r>
            <a:r>
              <a:rPr lang="en-US" altLang="ko-KR" sz="1600" spc="-50" dirty="0"/>
              <a:t>(Emissions Trading Program, ETP)</a:t>
            </a:r>
            <a:r>
              <a:rPr lang="ko-KR" altLang="en-US" sz="1600" spc="-50" dirty="0"/>
              <a:t>으로 불리게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60447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8987B-D3FC-9839-E73B-32719E09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황배출권 프로그램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88CE4-1D9F-D1F0-0957-A5D0B869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2AA75-683D-8962-35D7-E6D7997619FE}"/>
              </a:ext>
            </a:extLst>
          </p:cNvPr>
          <p:cNvSpPr txBox="1"/>
          <p:nvPr/>
        </p:nvSpPr>
        <p:spPr>
          <a:xfrm>
            <a:off x="678872" y="958844"/>
            <a:ext cx="1113212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1980</a:t>
            </a:r>
            <a:r>
              <a:rPr lang="ko-KR" altLang="en-US" sz="1600" spc="-50" dirty="0"/>
              <a:t>년대 미국에서는 석탄화력발전소에서 배출되는 이산화황</a:t>
            </a:r>
            <a:r>
              <a:rPr lang="en-US" altLang="ko-KR" sz="1600" spc="-50" dirty="0"/>
              <a:t>(SO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때문에 산성비 문제가 심각했다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산성비의 주요 원인은 화석 연료의 연소 과정에서 발생하는 이산화황</a:t>
            </a:r>
            <a:r>
              <a:rPr lang="en-US" altLang="ko-KR" sz="1600" spc="-50" dirty="0"/>
              <a:t>(SO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 질소산화물</a:t>
            </a:r>
            <a:r>
              <a:rPr lang="en-US" altLang="ko-KR" sz="1600" spc="-50" dirty="0"/>
              <a:t>(NO</a:t>
            </a:r>
            <a:r>
              <a:rPr lang="en-US" altLang="ko-KR" sz="1600" spc="-50" baseline="-25000" dirty="0"/>
              <a:t>x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물질들이 대기 중에서 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산소 등과 반응하여 각각 황산과 질산이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산성 물질들이 빗물에 섞여 내리면서 산성비가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산성비는 토양의 산성화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식물피해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건축물 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호수 산성화 등의 피해를 끼침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설명한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형태로서는 최초로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미국에서 도입된 </a:t>
            </a:r>
            <a:r>
              <a:rPr lang="ko-KR" altLang="en-US" sz="1600" spc="-50" dirty="0" err="1"/>
              <a:t>배출권거래</a:t>
            </a:r>
            <a:r>
              <a:rPr lang="ko-KR" altLang="en-US" sz="1600" spc="-50" dirty="0"/>
              <a:t> 제도이다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전의 제도들과는 다른 큰 특징은 조직화된 시장에서 거래되었다는 점이다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거래를 정부가 승인하는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시카고의 거래소에서 누구든지 배출권을 구입할 수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환경보호단체 등에서 배출권을 구매한 후 이를 폐기하여 실제 배출량을 줄이는 것도 가능하였다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황배출권 프로그램은 매우 성공적이었다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1990~2004</a:t>
            </a:r>
            <a:r>
              <a:rPr lang="ko-KR" altLang="en-US" sz="1600" spc="-50" dirty="0"/>
              <a:t>년 사이 석탄발전소 발전량이 </a:t>
            </a:r>
            <a:r>
              <a:rPr lang="en-US" altLang="ko-KR" sz="1600" spc="-50" dirty="0"/>
              <a:t>25% </a:t>
            </a:r>
            <a:r>
              <a:rPr lang="ko-KR" altLang="en-US" sz="1600" spc="-50" dirty="0"/>
              <a:t>증가했음에도 전력부문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36% </a:t>
            </a:r>
            <a:r>
              <a:rPr lang="ko-KR" altLang="en-US" sz="1600" spc="-50" dirty="0"/>
              <a:t>감소하였다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배출저감 성과를 얻는데 소요된 비용도 직접규제와 같은 다른 환경정책에 비해서는 훨씬 싸서 최소한 </a:t>
            </a:r>
            <a:r>
              <a:rPr lang="en-US" altLang="ko-KR" sz="1600" spc="-50" dirty="0"/>
              <a:t>15%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90%</a:t>
            </a:r>
            <a:r>
              <a:rPr lang="ko-KR" altLang="en-US" sz="1600" spc="-50" dirty="0"/>
              <a:t> 정도의 비용절감이 있었던 것으로 추정됨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66976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9A860-26AC-8F7B-DDBE-460A509B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유럽연합의 </a:t>
            </a:r>
            <a:r>
              <a:rPr lang="ko-KR" altLang="en-US" dirty="0" err="1"/>
              <a:t>배출권거래제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43545-5746-B7B7-6AA6-4F42EADF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43C93-4B08-133E-E8F4-AA62065DA07C}"/>
              </a:ext>
            </a:extLst>
          </p:cNvPr>
          <p:cNvSpPr txBox="1"/>
          <p:nvPr/>
        </p:nvSpPr>
        <p:spPr>
          <a:xfrm>
            <a:off x="678872" y="958844"/>
            <a:ext cx="1113212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 세계적으로 가장 활성화된 </a:t>
            </a:r>
            <a:r>
              <a:rPr lang="ko-KR" altLang="en-US" sz="1600" spc="-50" dirty="0" err="1"/>
              <a:t>배출권거래제는</a:t>
            </a:r>
            <a:r>
              <a:rPr lang="ko-KR" altLang="en-US" sz="1600" spc="-50" dirty="0"/>
              <a:t> 유럽 국가들이 </a:t>
            </a:r>
            <a:r>
              <a:rPr lang="en-US" altLang="ko-KR" sz="1600" spc="-50" dirty="0"/>
              <a:t>2005</a:t>
            </a:r>
            <a:r>
              <a:rPr lang="ko-KR" altLang="en-US" sz="1600" spc="-50" dirty="0"/>
              <a:t>년에 설치하여 운영하고 있는 유럽연합 </a:t>
            </a:r>
            <a:r>
              <a:rPr lang="ko-KR" altLang="en-US" sz="1600" spc="-50" dirty="0" err="1"/>
              <a:t>배출권거래제도</a:t>
            </a:r>
            <a:r>
              <a:rPr lang="en-US" altLang="ko-KR" sz="1600" spc="-50" dirty="0"/>
              <a:t>(EU-ETS, EU Emissions Trading Scheme)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1997</a:t>
            </a:r>
            <a:r>
              <a:rPr lang="ko-KR" altLang="en-US" sz="1600" spc="-50" dirty="0"/>
              <a:t>년 교토의정서에 합의한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감축의무가 있는 </a:t>
            </a:r>
            <a:r>
              <a:rPr lang="en-US" altLang="ko-KR" sz="1600" spc="-50" dirty="0"/>
              <a:t>EU</a:t>
            </a:r>
            <a:r>
              <a:rPr lang="ko-KR" altLang="en-US" sz="1600" spc="-50" dirty="0"/>
              <a:t>가 의무 달성은 물론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효과적인 감축을 위해 </a:t>
            </a:r>
            <a:r>
              <a:rPr lang="en-US" altLang="ko-KR" sz="1600" spc="-50" dirty="0"/>
              <a:t>EU-ETS</a:t>
            </a:r>
            <a:r>
              <a:rPr lang="ko-KR" altLang="en-US" sz="1600" spc="-50" dirty="0"/>
              <a:t>를 도입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</a:t>
            </a:r>
            <a:r>
              <a:rPr lang="en-US" altLang="ko-KR" sz="1600" spc="-50" dirty="0"/>
              <a:t>EU</a:t>
            </a:r>
            <a:r>
              <a:rPr lang="ko-KR" altLang="en-US" sz="1600" spc="-50" dirty="0"/>
              <a:t>회원국과 아이슬란드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리히텐슈타인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노르웨이가 참여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북아일랜드의 경우 전력부문만 참여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10,000</a:t>
            </a:r>
            <a:r>
              <a:rPr lang="ko-KR" altLang="en-US" sz="1600" spc="-50" dirty="0"/>
              <a:t>여 개의 에너지 및 제조업 시설과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역내의 항공노선</a:t>
            </a:r>
            <a:r>
              <a:rPr lang="en-US" altLang="ko-KR" sz="1600" spc="-50" dirty="0"/>
              <a:t>, 2024</a:t>
            </a:r>
            <a:r>
              <a:rPr lang="ko-KR" altLang="en-US" sz="1600" spc="-50" dirty="0"/>
              <a:t>년부터는 해운 운송도 적용 대상이다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대상 온실가스는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), N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O (</a:t>
            </a:r>
            <a:r>
              <a:rPr lang="ko-KR" altLang="en-US" sz="1600" spc="-50" dirty="0" err="1"/>
              <a:t>아산화질소</a:t>
            </a:r>
            <a:r>
              <a:rPr lang="en-US" altLang="ko-KR" sz="1600" spc="-50" dirty="0"/>
              <a:t>), PFCs (</a:t>
            </a:r>
            <a:r>
              <a:rPr lang="ko-KR" altLang="en-US" sz="1600" spc="-50" dirty="0" err="1"/>
              <a:t>과불화탄소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초기에는 주로 무상 배분이었으나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갈수록 유상경매를 통한 배분 비중이 커지고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각국에 배분되는 경매수입은 대부분 기후변화 및 에너지 분야를 위해 사용하게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무상 배분은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탄소누출</a:t>
            </a:r>
            <a:r>
              <a:rPr lang="en-US" altLang="ko-KR" sz="1600" spc="-50" dirty="0"/>
              <a:t>(carbon leakage)’</a:t>
            </a:r>
            <a:r>
              <a:rPr lang="ko-KR" altLang="en-US" sz="1600" spc="-50" dirty="0"/>
              <a:t>를 고려해서 이루어지기도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탄소누출은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내 기업이 역외의 기업과 경쟁 관계를 형성하고 있는데</a:t>
            </a:r>
            <a:r>
              <a:rPr lang="en-US" altLang="ko-KR" sz="1600" spc="-50" dirty="0"/>
              <a:t>, EU </a:t>
            </a:r>
            <a:r>
              <a:rPr lang="ko-KR" altLang="en-US" sz="1600" spc="-50" dirty="0"/>
              <a:t>내의 강화된 정책으로 인해 역내 기업의 생산비가 상승하고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때문에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내 기업의 배출량은 줄어들지만 대신 역외 기업의 시장점유율이 높아져 결국은 지구 전체 탄소 배출량이 다시 늘어날 위험성을 의미한다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286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14347</TotalTime>
  <Words>4228</Words>
  <Application>Microsoft Office PowerPoint</Application>
  <PresentationFormat>와이드스크린</PresentationFormat>
  <Paragraphs>458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8  배출권거래제</vt:lpstr>
      <vt:lpstr>Section 1. 배출권거래제의 실행원리와 효율성</vt:lpstr>
      <vt:lpstr>배출권거래제</vt:lpstr>
      <vt:lpstr>(동질적 오염) 배출량기준 거래제</vt:lpstr>
      <vt:lpstr>(동질적 오염) 배출량기준 거래제</vt:lpstr>
      <vt:lpstr>(동질적 오염) 배출량기준 거래제</vt:lpstr>
      <vt:lpstr>(이질적 오염) 오염도기준 거래제</vt:lpstr>
      <vt:lpstr>(이질적 오염) 오염도기준 거래제</vt:lpstr>
      <vt:lpstr>(이질적 오염) 오염도기준 거래제</vt:lpstr>
      <vt:lpstr>온실가스의 종류</vt:lpstr>
      <vt:lpstr>배출권거래제의 기술혁신 유인</vt:lpstr>
      <vt:lpstr>배출권거래제의 기술혁신 유인</vt:lpstr>
      <vt:lpstr>Section 2. 배출권거래제의 구체적 실행 방안</vt:lpstr>
      <vt:lpstr>배출권거래제의 구체적 실행 방안</vt:lpstr>
      <vt:lpstr>오염물질의 이질성으로 인한 문제</vt:lpstr>
      <vt:lpstr>이질적 오염물질에 대해 적용되는 배출량기준 거래제</vt:lpstr>
      <vt:lpstr>이질적 오염물질에 대해 적용되는 배출량기준 거래제</vt:lpstr>
      <vt:lpstr>구획배출권 거래제</vt:lpstr>
      <vt:lpstr>단일 오염도기준 배출권시장</vt:lpstr>
      <vt:lpstr>배출권거래의 동태적 측면</vt:lpstr>
      <vt:lpstr>배출권의 예치와 차용</vt:lpstr>
      <vt:lpstr>최초배출권의 분배문제와 정책 수용성</vt:lpstr>
      <vt:lpstr>그랜드파더링</vt:lpstr>
      <vt:lpstr>교토의정서</vt:lpstr>
      <vt:lpstr>교토의정서</vt:lpstr>
      <vt:lpstr>경매제도</vt:lpstr>
      <vt:lpstr>경매제도</vt:lpstr>
      <vt:lpstr>배출권시장의 경쟁성</vt:lpstr>
      <vt:lpstr>감시 및 감독비용</vt:lpstr>
      <vt:lpstr>감시 및 감독비용</vt:lpstr>
      <vt:lpstr>Section 3. 배출권거래제 실행 사례</vt:lpstr>
      <vt:lpstr>옵셋정책: 최초의 배출권거래 적용 사례</vt:lpstr>
      <vt:lpstr>옵셋정책: 최초의 배출권거래 적용 사례</vt:lpstr>
      <vt:lpstr>황배출권 프로그램</vt:lpstr>
      <vt:lpstr>유럽연합의 배출권거래제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449</cp:revision>
  <dcterms:created xsi:type="dcterms:W3CDTF">2025-07-05T05:15:23Z</dcterms:created>
  <dcterms:modified xsi:type="dcterms:W3CDTF">2026-10-14T11:24:35Z</dcterms:modified>
</cp:coreProperties>
</file>