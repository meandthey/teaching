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9"/>
  </p:notesMasterIdLst>
  <p:sldIdLst>
    <p:sldId id="556" r:id="rId2"/>
    <p:sldId id="514" r:id="rId3"/>
    <p:sldId id="550" r:id="rId4"/>
    <p:sldId id="515" r:id="rId5"/>
    <p:sldId id="522" r:id="rId6"/>
    <p:sldId id="521" r:id="rId7"/>
    <p:sldId id="523" r:id="rId8"/>
    <p:sldId id="527" r:id="rId9"/>
    <p:sldId id="528" r:id="rId10"/>
    <p:sldId id="529" r:id="rId11"/>
    <p:sldId id="555" r:id="rId12"/>
    <p:sldId id="530" r:id="rId13"/>
    <p:sldId id="531" r:id="rId14"/>
    <p:sldId id="551" r:id="rId15"/>
    <p:sldId id="532" r:id="rId16"/>
    <p:sldId id="534" r:id="rId17"/>
    <p:sldId id="533" r:id="rId18"/>
    <p:sldId id="535" r:id="rId19"/>
    <p:sldId id="536" r:id="rId20"/>
    <p:sldId id="537" r:id="rId21"/>
    <p:sldId id="538" r:id="rId22"/>
    <p:sldId id="539" r:id="rId23"/>
    <p:sldId id="540" r:id="rId24"/>
    <p:sldId id="541" r:id="rId25"/>
    <p:sldId id="542" r:id="rId26"/>
    <p:sldId id="543" r:id="rId27"/>
    <p:sldId id="544" r:id="rId28"/>
    <p:sldId id="545" r:id="rId29"/>
    <p:sldId id="546" r:id="rId30"/>
    <p:sldId id="547" r:id="rId31"/>
    <p:sldId id="548" r:id="rId32"/>
    <p:sldId id="505" r:id="rId33"/>
    <p:sldId id="549" r:id="rId34"/>
    <p:sldId id="552" r:id="rId35"/>
    <p:sldId id="553" r:id="rId36"/>
    <p:sldId id="554" r:id="rId37"/>
    <p:sldId id="364" r:id="rId3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CD4EF"/>
    <a:srgbClr val="070B12"/>
    <a:srgbClr val="0000FF"/>
    <a:srgbClr val="E9E9E9"/>
    <a:srgbClr val="FFFFFF"/>
    <a:srgbClr val="E15F5F"/>
    <a:srgbClr val="F8F7FC"/>
    <a:srgbClr val="2D72BE"/>
    <a:srgbClr val="0047A0"/>
    <a:srgbClr val="E360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3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17" Type="http://schemas.openxmlformats.org/officeDocument/2006/relationships/image" Target="../media/image19.png"/><Relationship Id="rId2" Type="http://schemas.openxmlformats.org/officeDocument/2006/relationships/image" Target="../media/image4.png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17" Type="http://schemas.openxmlformats.org/officeDocument/2006/relationships/image" Target="../media/image20.png"/><Relationship Id="rId2" Type="http://schemas.openxmlformats.org/officeDocument/2006/relationships/image" Target="../media/image4.png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환경 경제학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- 08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634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8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 err="1"/>
              <a:t>배출권거래제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8137170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 err="1"/>
              <a:t>배출권거래제의</a:t>
            </a:r>
            <a:r>
              <a:rPr lang="ko-KR" altLang="en-US" sz="4000" b="1" i="0" spc="150" dirty="0"/>
              <a:t> 실행원리와 효율성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3D47B-3CCB-DC76-DEE1-957297C2C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99B18E-1AF5-7C5D-E8D6-121DAE1B2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배출권거래제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361A13-1995-61DA-69E2-756E28663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3487F5-2E4F-04FC-6D34-286BDA200DB3}"/>
              </a:ext>
            </a:extLst>
          </p:cNvPr>
          <p:cNvSpPr txBox="1"/>
          <p:nvPr/>
        </p:nvSpPr>
        <p:spPr>
          <a:xfrm>
            <a:off x="678872" y="958844"/>
            <a:ext cx="1113212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 err="1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배출권거래제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오염원 전체의 목표배출량을 정하고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오염원들에게 배출할 수 있는 상한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배출권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결정해준다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각 오염원은 </a:t>
            </a:r>
            <a:r>
              <a:rPr lang="ko-KR" altLang="en-US" sz="1600" spc="-50" dirty="0" err="1"/>
              <a:t>배출권시장을</a:t>
            </a:r>
            <a:r>
              <a:rPr lang="ko-KR" altLang="en-US" sz="1600" spc="-50" dirty="0"/>
              <a:t> 통해 자신이 소유한 배출권을 서로 사고 팔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배출할 수 있는 기간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배출량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오염물질의 종류는 명시되어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다만 그 배출권의 가격은 </a:t>
            </a:r>
            <a:r>
              <a:rPr lang="ko-KR" altLang="en-US" sz="1600" spc="-50" dirty="0" err="1"/>
              <a:t>배출권시장에서</a:t>
            </a:r>
            <a:r>
              <a:rPr lang="ko-KR" altLang="en-US" sz="1600" spc="-50" dirty="0"/>
              <a:t> 결정된다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개별 오염원은 자신이 원하는 만큼의 오염물질을 배출하려면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배출량만큼의 배출권을 소유하고 있어야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현재 소유한 배출권리가 현재 원하는 배출량보다 적으면 배출권을 구매해야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현재 소유한 배출권리가 현재 원하는 배출량보다 많으면 배출권을 매도할 수 있다</a:t>
            </a:r>
            <a:r>
              <a:rPr lang="en-US" altLang="ko-KR" sz="1600" spc="-50" dirty="0"/>
              <a:t>.</a:t>
            </a:r>
          </a:p>
          <a:p>
            <a:pPr>
              <a:lnSpc>
                <a:spcPct val="150000"/>
              </a:lnSpc>
            </a:pP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600" u="sng" dirty="0" err="1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배출권거래제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vs. 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직접규제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배출기준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오염원들에게 목표배출량을 정해준다는 측면에서 </a:t>
            </a:r>
            <a:r>
              <a:rPr lang="en-US" altLang="ko-KR" sz="1600" spc="-50" dirty="0"/>
              <a:t>Ch.6</a:t>
            </a:r>
            <a:r>
              <a:rPr lang="ko-KR" altLang="en-US" sz="1600" spc="-50" dirty="0"/>
              <a:t>에서 배운 배출 기준을 활용한 직접규제와 동일하다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하지만 근본적인 차이는 각 오염원이 자신이 소유한 배출권리를 서로 사고 팔 수 있다는 점에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u="sng" dirty="0" err="1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배출권거래제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vs. 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배출부과금제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Ch.7</a:t>
            </a:r>
            <a:r>
              <a:rPr lang="ko-KR" altLang="en-US" sz="1600" spc="-50" dirty="0"/>
              <a:t>에서 배운 배출부과금제는 조세라는 가격변수를 변화시켜 배출량을 조절하는데 반해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배출권거래제는</a:t>
            </a:r>
            <a:r>
              <a:rPr lang="ko-KR" altLang="en-US" sz="1600" spc="-50" dirty="0"/>
              <a:t> 배출량을 직접 조절하는 정책이다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115076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7EF10-14A4-FE4C-5E72-6D8C605E8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BAB230-E1AC-1E79-E415-A5CC9503B3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(</a:t>
            </a:r>
            <a:r>
              <a:rPr lang="ko-KR" altLang="en-US" dirty="0"/>
              <a:t>동질적 오염</a:t>
            </a:r>
            <a:r>
              <a:rPr lang="en-US" altLang="ko-KR" dirty="0"/>
              <a:t>) </a:t>
            </a:r>
            <a:r>
              <a:rPr lang="ko-KR" altLang="en-US" dirty="0"/>
              <a:t>배출량기준 거래제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FDB4D2-03F4-D801-46DD-33FBCA1E7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13B03B-D111-7B32-D5A8-3EE90637079C}"/>
              </a:ext>
            </a:extLst>
          </p:cNvPr>
          <p:cNvSpPr txBox="1"/>
          <p:nvPr/>
        </p:nvSpPr>
        <p:spPr>
          <a:xfrm>
            <a:off x="678872" y="958844"/>
            <a:ext cx="1113212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동질적 오염물질 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vs. 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이질적 오염물질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Ch.7</a:t>
            </a:r>
            <a:r>
              <a:rPr lang="ko-KR" altLang="en-US" sz="1600" spc="-50" dirty="0"/>
              <a:t>에서 배출부과금의 비용효과성을 달성하기 위해서는 오염물질이 동질적인지 혹은 이질적인지에 따라 배출부과금제도의 시행방식이 달라져야 한다는 것을 배웠다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마찬가지로 </a:t>
            </a:r>
            <a:r>
              <a:rPr lang="ko-KR" altLang="en-US" sz="1600" spc="-50" dirty="0" err="1"/>
              <a:t>배출권거래제에서도</a:t>
            </a:r>
            <a:r>
              <a:rPr lang="ko-KR" altLang="en-US" sz="1600" spc="-50" dirty="0"/>
              <a:t> 동질적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이질적 오염물질을 구분하여 정책을 시행하는 것이 필요하다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600" u="sng" dirty="0" err="1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배출권기준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거래제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: 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동질적 오염에 대한 적용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오염원이 참여하는 시장이 단 하나 존재하고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오염원이 갖고 있는 모든 배출권은 동일한 가격으로 </a:t>
            </a:r>
            <a:r>
              <a:rPr lang="en-US" altLang="ko-KR" sz="1600" spc="-50" dirty="0"/>
              <a:t>1:1</a:t>
            </a:r>
            <a:r>
              <a:rPr lang="ko-KR" altLang="en-US" sz="1600" spc="-50" dirty="0"/>
              <a:t>로 거래가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</a:t>
            </a:r>
            <a:r>
              <a:rPr lang="en-US" altLang="ko-KR" sz="1600" spc="-50" dirty="0"/>
              <a:t> A</a:t>
            </a:r>
            <a:r>
              <a:rPr lang="ko-KR" altLang="en-US" sz="1600" spc="-50" dirty="0"/>
              <a:t>라는 오염원이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라는 오염원이 가지고 있는 이산화탄소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톤에 대한 배출권을 구입하였다면</a:t>
            </a:r>
            <a:r>
              <a:rPr lang="en-US" altLang="ko-KR" sz="1600" spc="-50" dirty="0"/>
              <a:t>, A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톤의 이산화탄소를 추가로 더 배출할 수 있고</a:t>
            </a:r>
            <a:r>
              <a:rPr lang="en-US" altLang="ko-KR" sz="1600" spc="-50" dirty="0"/>
              <a:t>, B</a:t>
            </a:r>
            <a:r>
              <a:rPr lang="ko-KR" altLang="en-US" sz="1600" spc="-50" dirty="0"/>
              <a:t>는 반대로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톤의 배출을 줄여야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사이의 거래가격인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만원</a:t>
            </a:r>
            <a:r>
              <a:rPr lang="en-US" altLang="ko-KR" sz="1600" spc="-50" dirty="0"/>
              <a:t>/10</a:t>
            </a:r>
            <a:r>
              <a:rPr lang="ko-KR" altLang="en-US" sz="1600" spc="-50" dirty="0"/>
              <a:t>톤은 </a:t>
            </a:r>
            <a:r>
              <a:rPr lang="ko-KR" altLang="en-US" sz="1600" spc="-50" dirty="0" err="1"/>
              <a:t>배출권시장에</a:t>
            </a:r>
            <a:r>
              <a:rPr lang="ko-KR" altLang="en-US" sz="1600" spc="-50" dirty="0"/>
              <a:t> 참여하는 다른 모든 거래에서도 동일하게 형성될 것이다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왜냐하면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보다 더 낮은 가격을 제시하는 오염원이 있으면</a:t>
            </a:r>
            <a:r>
              <a:rPr lang="en-US" altLang="ko-KR" sz="1600" spc="-50" dirty="0"/>
              <a:t>, A</a:t>
            </a:r>
            <a:r>
              <a:rPr lang="ko-KR" altLang="en-US" sz="1600" spc="-50" dirty="0"/>
              <a:t>는 그 오염원으로부터 구입할 것이기 때문이다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정부는 이 제도를 시행하기 위해서 개별 오염원에 관한 많은 정보를 필요로 하지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정부의 목표 </a:t>
            </a:r>
            <a:r>
              <a:rPr lang="ko-KR" altLang="en-US" sz="1600" spc="-50" dirty="0" err="1"/>
              <a:t>저감량이</a:t>
            </a:r>
            <a:r>
              <a:rPr lang="ko-KR" altLang="en-US" sz="1600" spc="-50" dirty="0"/>
              <a:t> 있으면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정부는 현재의 전체 배출량에서 목표 </a:t>
            </a:r>
            <a:r>
              <a:rPr lang="ko-KR" altLang="en-US" sz="1600" spc="-50" dirty="0" err="1"/>
              <a:t>저감량을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빼준</a:t>
            </a:r>
            <a:r>
              <a:rPr lang="ko-KR" altLang="en-US" sz="1600" spc="-50" dirty="0"/>
              <a:t> 만큼의 배출권을 오염원에게 무상이나 경매 등을 통해 분배하면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배출권의 시장가격은 오염원 간의 거래에 의해 결정되고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비용효과성을 충족시킨다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705997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88ABF-6266-542E-F9E2-C8969E917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그룹 33">
            <a:extLst>
              <a:ext uri="{FF2B5EF4-FFF2-40B4-BE49-F238E27FC236}">
                <a16:creationId xmlns:a16="http://schemas.microsoft.com/office/drawing/2014/main" id="{E9C6B1E9-4AC2-D123-6419-D0C0DB597932}"/>
              </a:ext>
            </a:extLst>
          </p:cNvPr>
          <p:cNvGrpSpPr/>
          <p:nvPr/>
        </p:nvGrpSpPr>
        <p:grpSpPr>
          <a:xfrm>
            <a:off x="6864679" y="826186"/>
            <a:ext cx="5196642" cy="5822059"/>
            <a:chOff x="6864679" y="826186"/>
            <a:chExt cx="5196642" cy="5822059"/>
          </a:xfrm>
        </p:grpSpPr>
        <p:pic>
          <p:nvPicPr>
            <p:cNvPr id="6" name="그림 5" descr="라인, 도표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65DD7773-B5A1-FC72-F85D-87C4C33CE48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864679" y="851157"/>
              <a:ext cx="5031570" cy="5760000"/>
            </a:xfrm>
            <a:prstGeom prst="rect">
              <a:avLst/>
            </a:prstGeom>
          </p:spPr>
        </p:pic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CD63533D-B1D1-CDE4-AD47-76D1B0B0214C}"/>
                </a:ext>
              </a:extLst>
            </p:cNvPr>
            <p:cNvCxnSpPr>
              <a:cxnSpLocks/>
            </p:cNvCxnSpPr>
            <p:nvPr/>
          </p:nvCxnSpPr>
          <p:spPr>
            <a:xfrm>
              <a:off x="7521575" y="4899025"/>
              <a:ext cx="1836000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DEB01C1C-2370-4793-80E7-BA3875BC5672}"/>
                </a:ext>
              </a:extLst>
            </p:cNvPr>
            <p:cNvCxnSpPr>
              <a:cxnSpLocks/>
            </p:cNvCxnSpPr>
            <p:nvPr/>
          </p:nvCxnSpPr>
          <p:spPr>
            <a:xfrm>
              <a:off x="7521575" y="4048125"/>
              <a:ext cx="1260000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연결선 10">
              <a:extLst>
                <a:ext uri="{FF2B5EF4-FFF2-40B4-BE49-F238E27FC236}">
                  <a16:creationId xmlns:a16="http://schemas.microsoft.com/office/drawing/2014/main" id="{5384E120-91C8-EAC3-1252-DFDDF5BAF7FC}"/>
                </a:ext>
              </a:extLst>
            </p:cNvPr>
            <p:cNvCxnSpPr>
              <a:cxnSpLocks/>
            </p:cNvCxnSpPr>
            <p:nvPr/>
          </p:nvCxnSpPr>
          <p:spPr>
            <a:xfrm>
              <a:off x="7521575" y="5305425"/>
              <a:ext cx="1224000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7889976C-0358-7C52-121E-A5731105822A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7827575" y="4995950"/>
              <a:ext cx="1908000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93B46508-C1DC-249D-8043-6F7F227847E9}"/>
                    </a:ext>
                  </a:extLst>
                </p:cNvPr>
                <p:cNvSpPr txBox="1"/>
                <p:nvPr/>
              </p:nvSpPr>
              <p:spPr>
                <a:xfrm>
                  <a:off x="8222989" y="2551553"/>
                  <a:ext cx="748292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𝑀𝐴𝐶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93B46508-C1DC-249D-8043-6F7F227847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22989" y="2551553"/>
                  <a:ext cx="748292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5611416-367E-128B-C622-D0BD79B776C6}"/>
                    </a:ext>
                  </a:extLst>
                </p:cNvPr>
                <p:cNvSpPr txBox="1"/>
                <p:nvPr/>
              </p:nvSpPr>
              <p:spPr>
                <a:xfrm>
                  <a:off x="10488669" y="2551553"/>
                  <a:ext cx="748292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𝑀𝐴𝐶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5611416-367E-128B-C622-D0BD79B776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88669" y="2551553"/>
                  <a:ext cx="748292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5CBD826-9561-F12B-394B-8CBA628DC560}"/>
                    </a:ext>
                  </a:extLst>
                </p:cNvPr>
                <p:cNvSpPr txBox="1"/>
                <p:nvPr/>
              </p:nvSpPr>
              <p:spPr>
                <a:xfrm>
                  <a:off x="7147429" y="826186"/>
                  <a:ext cx="748292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𝑀𝐴𝐶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5CBD826-9561-F12B-394B-8CBA628DC5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7429" y="826186"/>
                  <a:ext cx="748292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E32C019C-9981-EF56-DC13-3330B7EEE7C6}"/>
                    </a:ext>
                  </a:extLst>
                </p:cNvPr>
                <p:cNvSpPr txBox="1"/>
                <p:nvPr/>
              </p:nvSpPr>
              <p:spPr>
                <a:xfrm>
                  <a:off x="11313029" y="826186"/>
                  <a:ext cx="748292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𝑀𝐴𝐶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E32C019C-9981-EF56-DC13-3330B7EEE7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13029" y="826186"/>
                  <a:ext cx="748292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CA6748F7-E94C-09D4-7CCE-BCB2224B7C75}"/>
                    </a:ext>
                  </a:extLst>
                </p:cNvPr>
                <p:cNvSpPr txBox="1"/>
                <p:nvPr/>
              </p:nvSpPr>
              <p:spPr>
                <a:xfrm>
                  <a:off x="11597509" y="5965774"/>
                  <a:ext cx="25413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CA6748F7-E94C-09D4-7CCE-BCB2224B7C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97509" y="5965774"/>
                  <a:ext cx="254131" cy="307777"/>
                </a:xfrm>
                <a:prstGeom prst="rect">
                  <a:avLst/>
                </a:prstGeom>
                <a:blipFill>
                  <a:blip r:embed="rId6"/>
                  <a:stretch>
                    <a:fillRect r="-2381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6B9CCF14-A8B5-1AC2-E28B-4864DF40D9B5}"/>
                    </a:ext>
                  </a:extLst>
                </p:cNvPr>
                <p:cNvSpPr txBox="1"/>
                <p:nvPr/>
              </p:nvSpPr>
              <p:spPr>
                <a:xfrm>
                  <a:off x="7394509" y="5965774"/>
                  <a:ext cx="25413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6B9CCF14-A8B5-1AC2-E28B-4864DF40D9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4509" y="5965774"/>
                  <a:ext cx="254131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715317A-9014-6EB4-D113-061489A21A8D}"/>
                    </a:ext>
                  </a:extLst>
                </p:cNvPr>
                <p:cNvSpPr txBox="1"/>
                <p:nvPr/>
              </p:nvSpPr>
              <p:spPr>
                <a:xfrm>
                  <a:off x="11597509" y="6315068"/>
                  <a:ext cx="25413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715317A-9014-6EB4-D113-061489A21A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97509" y="6315068"/>
                  <a:ext cx="254131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99953495-25A0-59D1-347B-660CDE5ED1A2}"/>
                    </a:ext>
                  </a:extLst>
                </p:cNvPr>
                <p:cNvSpPr txBox="1"/>
                <p:nvPr/>
              </p:nvSpPr>
              <p:spPr>
                <a:xfrm>
                  <a:off x="7394509" y="6315068"/>
                  <a:ext cx="25413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99953495-25A0-59D1-347B-660CDE5ED1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4509" y="6315068"/>
                  <a:ext cx="254131" cy="307777"/>
                </a:xfrm>
                <a:prstGeom prst="rect">
                  <a:avLst/>
                </a:prstGeom>
                <a:blipFill>
                  <a:blip r:embed="rId9"/>
                  <a:stretch>
                    <a:fillRect r="-2381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56CE32FD-96FA-8259-5D95-5977761D39D3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8862826" y="5427950"/>
              <a:ext cx="1044000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36D46471-D281-3B68-3204-7FFCBEB7097A}"/>
                    </a:ext>
                  </a:extLst>
                </p:cNvPr>
                <p:cNvSpPr txBox="1"/>
                <p:nvPr/>
              </p:nvSpPr>
              <p:spPr>
                <a:xfrm>
                  <a:off x="8622178" y="5965774"/>
                  <a:ext cx="254131" cy="31149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Sup>
                          <m:sSubSup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bSup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36D46471-D281-3B68-3204-7FFCBEB709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22178" y="5965774"/>
                  <a:ext cx="254131" cy="311496"/>
                </a:xfrm>
                <a:prstGeom prst="rect">
                  <a:avLst/>
                </a:prstGeom>
                <a:blipFill>
                  <a:blip r:embed="rId10"/>
                  <a:stretch>
                    <a:fillRect r="-2142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C6B5512-C49B-85D9-CAB1-C2B4B5844B2A}"/>
                    </a:ext>
                  </a:extLst>
                </p:cNvPr>
                <p:cNvSpPr txBox="1"/>
                <p:nvPr/>
              </p:nvSpPr>
              <p:spPr>
                <a:xfrm>
                  <a:off x="9223764" y="5965774"/>
                  <a:ext cx="254131" cy="3125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Sup>
                          <m:sSubSup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C6B5512-C49B-85D9-CAB1-C2B4B5844B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23764" y="5965774"/>
                  <a:ext cx="254131" cy="312521"/>
                </a:xfrm>
                <a:prstGeom prst="rect">
                  <a:avLst/>
                </a:prstGeom>
                <a:blipFill>
                  <a:blip r:embed="rId11"/>
                  <a:stretch>
                    <a:fillRect r="-1666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48B13F3D-CF8E-BB94-DDA8-E9AAEF4622E3}"/>
                    </a:ext>
                  </a:extLst>
                </p:cNvPr>
                <p:cNvSpPr txBox="1"/>
                <p:nvPr/>
              </p:nvSpPr>
              <p:spPr>
                <a:xfrm>
                  <a:off x="8622178" y="6315068"/>
                  <a:ext cx="254131" cy="31149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Sup>
                          <m:sSubSup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bSup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48B13F3D-CF8E-BB94-DDA8-E9AAEF4622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22178" y="6315068"/>
                  <a:ext cx="254131" cy="311496"/>
                </a:xfrm>
                <a:prstGeom prst="rect">
                  <a:avLst/>
                </a:prstGeom>
                <a:blipFill>
                  <a:blip r:embed="rId12"/>
                  <a:stretch>
                    <a:fillRect r="-2142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BB370CC-A178-08F1-7AFB-033B33217E0A}"/>
                    </a:ext>
                  </a:extLst>
                </p:cNvPr>
                <p:cNvSpPr txBox="1"/>
                <p:nvPr/>
              </p:nvSpPr>
              <p:spPr>
                <a:xfrm>
                  <a:off x="9223764" y="6315068"/>
                  <a:ext cx="254131" cy="3125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Sup>
                          <m:sSubSup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BB370CC-A178-08F1-7AFB-033B33217E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23764" y="6315068"/>
                  <a:ext cx="254131" cy="312521"/>
                </a:xfrm>
                <a:prstGeom prst="rect">
                  <a:avLst/>
                </a:prstGeom>
                <a:blipFill>
                  <a:blip r:embed="rId13"/>
                  <a:stretch>
                    <a:fillRect r="-19048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929B9F3-241E-5801-FAFA-9C73956014F8}"/>
                </a:ext>
              </a:extLst>
            </p:cNvPr>
            <p:cNvSpPr txBox="1"/>
            <p:nvPr/>
          </p:nvSpPr>
          <p:spPr>
            <a:xfrm>
              <a:off x="7641590" y="5965774"/>
              <a:ext cx="254131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→</a:t>
              </a:r>
              <a:endParaRPr lang="ko-KR" altLang="en-US" sz="1400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8962F3B-8353-510A-5CEB-A03AAD2A383F}"/>
                </a:ext>
              </a:extLst>
            </p:cNvPr>
            <p:cNvSpPr txBox="1"/>
            <p:nvPr/>
          </p:nvSpPr>
          <p:spPr>
            <a:xfrm flipV="1">
              <a:off x="11403965" y="6340468"/>
              <a:ext cx="254131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→</a:t>
              </a:r>
              <a:endParaRPr lang="ko-KR" alt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2CC14F72-C641-7216-9F7A-D9327EDC9347}"/>
                    </a:ext>
                  </a:extLst>
                </p:cNvPr>
                <p:cNvSpPr txBox="1"/>
                <p:nvPr/>
              </p:nvSpPr>
              <p:spPr>
                <a:xfrm>
                  <a:off x="7181243" y="3875359"/>
                  <a:ext cx="25413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ko-KR" altLang="en-US" sz="1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2CC14F72-C641-7216-9F7A-D9327EDC93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81243" y="3875359"/>
                  <a:ext cx="254131" cy="307777"/>
                </a:xfrm>
                <a:prstGeom prst="rect">
                  <a:avLst/>
                </a:prstGeom>
                <a:blipFill>
                  <a:blip r:embed="rId14"/>
                  <a:stretch>
                    <a:fillRect r="-11905" b="-12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77DB39F2-8C92-6D58-E233-F9794D8AF49A}"/>
                    </a:ext>
                  </a:extLst>
                </p:cNvPr>
                <p:cNvSpPr txBox="1"/>
                <p:nvPr/>
              </p:nvSpPr>
              <p:spPr>
                <a:xfrm>
                  <a:off x="7181243" y="4721401"/>
                  <a:ext cx="25413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ko-KR" altLang="en-US" sz="14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77DB39F2-8C92-6D58-E233-F9794D8AF4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81243" y="4721401"/>
                  <a:ext cx="254131" cy="307777"/>
                </a:xfrm>
                <a:prstGeom prst="rect">
                  <a:avLst/>
                </a:prstGeom>
                <a:blipFill>
                  <a:blip r:embed="rId15"/>
                  <a:stretch>
                    <a:fillRect b="-6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EE3C709F-53BE-BB70-8195-C72E4CD5E375}"/>
                    </a:ext>
                  </a:extLst>
                </p:cNvPr>
                <p:cNvSpPr txBox="1"/>
                <p:nvPr/>
              </p:nvSpPr>
              <p:spPr>
                <a:xfrm>
                  <a:off x="7181243" y="5134022"/>
                  <a:ext cx="25413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ko-KR" altLang="en-US" sz="1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EE3C709F-53BE-BB70-8195-C72E4CD5E3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81243" y="5134022"/>
                  <a:ext cx="254131" cy="307777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8AEE62DF-4B60-F72A-6B18-ECAB37948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(</a:t>
            </a:r>
            <a:r>
              <a:rPr lang="ko-KR" altLang="en-US" dirty="0"/>
              <a:t>동질적 오염</a:t>
            </a:r>
            <a:r>
              <a:rPr lang="en-US" altLang="ko-KR" dirty="0"/>
              <a:t>) </a:t>
            </a:r>
            <a:r>
              <a:rPr lang="ko-KR" altLang="en-US" dirty="0"/>
              <a:t>배출량기준 거래제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D1F0BE-00F4-81B0-024E-2A293CC24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544BB5F-E32C-3C19-DC66-1F7976339EAE}"/>
                  </a:ext>
                </a:extLst>
              </p:cNvPr>
              <p:cNvSpPr txBox="1"/>
              <p:nvPr/>
            </p:nvSpPr>
            <p:spPr>
              <a:xfrm>
                <a:off x="272472" y="958844"/>
                <a:ext cx="6953286" cy="4867936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배출권기준 거래제</a:t>
                </a:r>
                <a:r>
                  <a:rPr lang="en-US" altLang="ko-KR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: </a:t>
                </a: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동질적 오염에 대한 적용</a:t>
                </a:r>
                <a:endParaRPr lang="en-US" altLang="ko-KR" sz="16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오른쪽은 오염원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과 오염원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의 한계저감비용 곡선을 나타내고 있다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오염원</a:t>
                </a:r>
                <a:r>
                  <a:rPr lang="en-US" altLang="ko-KR" sz="1600" spc="-50" dirty="0"/>
                  <a:t>1) </a:t>
                </a:r>
                <a:r>
                  <a:rPr lang="ko-KR" altLang="en-US" sz="1600" spc="-50" dirty="0"/>
                  <a:t>좌하단을 원점으로 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저감량이</a:t>
                </a:r>
                <a:r>
                  <a:rPr lang="ko-KR" altLang="en-US" sz="1600" spc="-50" dirty="0"/>
                  <a:t> 오른쪽으로 증가하고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한계저감비용곡선은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dirty="0"/>
                  <a:t>이고</a:t>
                </a:r>
                <a:r>
                  <a:rPr lang="en-US" altLang="ko-KR" sz="1600" dirty="0"/>
                  <a:t>,</a:t>
                </a:r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값은 왼쪽 </a:t>
                </a:r>
                <a:r>
                  <a:rPr lang="en-US" altLang="ko-KR" sz="1600" spc="-50" dirty="0"/>
                  <a:t>y</a:t>
                </a:r>
                <a:r>
                  <a:rPr lang="ko-KR" altLang="en-US" sz="1600" spc="-50" dirty="0"/>
                  <a:t>축에 대응한다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오염원</a:t>
                </a:r>
                <a:r>
                  <a:rPr lang="en-US" altLang="ko-KR" sz="1600" spc="-50" dirty="0"/>
                  <a:t>2) </a:t>
                </a:r>
                <a:r>
                  <a:rPr lang="ko-KR" altLang="en-US" sz="1600" spc="-50" dirty="0" err="1"/>
                  <a:t>우하단을</a:t>
                </a:r>
                <a:r>
                  <a:rPr lang="ko-KR" altLang="en-US" sz="1600" spc="-50" dirty="0"/>
                  <a:t> 원점으로 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저감량이</a:t>
                </a:r>
                <a:r>
                  <a:rPr lang="ko-KR" altLang="en-US" sz="1600" spc="-50" dirty="0"/>
                  <a:t> 왼쪽으로 증가하고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한계저감비용곡선은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dirty="0"/>
                  <a:t>이고</a:t>
                </a:r>
                <a:r>
                  <a:rPr lang="en-US" altLang="ko-KR" sz="1600" dirty="0"/>
                  <a:t>,</a:t>
                </a:r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값은 오른쪽 </a:t>
                </a:r>
                <a:r>
                  <a:rPr lang="en-US" altLang="ko-KR" sz="1600" spc="-50" dirty="0"/>
                  <a:t>y</a:t>
                </a:r>
                <a:r>
                  <a:rPr lang="ko-KR" altLang="en-US" sz="1600" spc="-50" dirty="0"/>
                  <a:t>축에 대응한다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환경정책이 도입되기 전의 오염원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과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의 배출이 각각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</m:oMath>
                </a14:m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</m:oMath>
                </a14:m>
                <a:r>
                  <a:rPr lang="ko-KR" altLang="en-US" sz="1600" spc="-50" dirty="0"/>
                  <a:t>라 하자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정부는 이 지역에서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1600" spc="-50" dirty="0"/>
                  <a:t>만큼의 오염물질을 저감하고자 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즉 정부는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1600" spc="-50" dirty="0"/>
                  <a:t>만큼의 오염물질이 이 지역에서 배출되어야 한다고 생각한다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정부가 나름의 기준을 토대로 오염원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과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에게 각각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</m:oMath>
                </a14:m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만큼의 배출권을 분배했다고 하자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즉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544BB5F-E32C-3C19-DC66-1F7976339E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472" y="958844"/>
                <a:ext cx="6953286" cy="4867936"/>
              </a:xfrm>
              <a:prstGeom prst="rect">
                <a:avLst/>
              </a:prstGeom>
              <a:blipFill>
                <a:blip r:embed="rId17"/>
                <a:stretch>
                  <a:fillRect l="-526" b="-6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9B943E3B-C53D-1E06-E10D-5A8240057750}"/>
              </a:ext>
            </a:extLst>
          </p:cNvPr>
          <p:cNvSpPr txBox="1"/>
          <p:nvPr/>
        </p:nvSpPr>
        <p:spPr>
          <a:xfrm>
            <a:off x="1037626" y="6009400"/>
            <a:ext cx="1974558" cy="4431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뒷장에 이어 계속</a:t>
            </a:r>
            <a:endParaRPr lang="en-US" altLang="ko-KR" sz="18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781873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34B48-04D8-D702-7630-D9A21862D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그룹 33">
            <a:extLst>
              <a:ext uri="{FF2B5EF4-FFF2-40B4-BE49-F238E27FC236}">
                <a16:creationId xmlns:a16="http://schemas.microsoft.com/office/drawing/2014/main" id="{9438CBC0-846B-F3DA-E535-CB479360B52A}"/>
              </a:ext>
            </a:extLst>
          </p:cNvPr>
          <p:cNvGrpSpPr/>
          <p:nvPr/>
        </p:nvGrpSpPr>
        <p:grpSpPr>
          <a:xfrm>
            <a:off x="6864679" y="826186"/>
            <a:ext cx="5196642" cy="5822059"/>
            <a:chOff x="6864679" y="826186"/>
            <a:chExt cx="5196642" cy="5822059"/>
          </a:xfrm>
        </p:grpSpPr>
        <p:pic>
          <p:nvPicPr>
            <p:cNvPr id="6" name="그림 5" descr="라인, 도표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14051C2-6D9E-0583-13CC-F3F5219DEDA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864679" y="851157"/>
              <a:ext cx="5031570" cy="5760000"/>
            </a:xfrm>
            <a:prstGeom prst="rect">
              <a:avLst/>
            </a:prstGeom>
          </p:spPr>
        </p:pic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DBD2302B-21A1-2227-6A3D-850198DE799B}"/>
                </a:ext>
              </a:extLst>
            </p:cNvPr>
            <p:cNvCxnSpPr>
              <a:cxnSpLocks/>
            </p:cNvCxnSpPr>
            <p:nvPr/>
          </p:nvCxnSpPr>
          <p:spPr>
            <a:xfrm>
              <a:off x="7521575" y="4899025"/>
              <a:ext cx="1836000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82244DCC-E46A-E4F7-5301-D0453A767200}"/>
                </a:ext>
              </a:extLst>
            </p:cNvPr>
            <p:cNvCxnSpPr>
              <a:cxnSpLocks/>
            </p:cNvCxnSpPr>
            <p:nvPr/>
          </p:nvCxnSpPr>
          <p:spPr>
            <a:xfrm>
              <a:off x="7521575" y="4048125"/>
              <a:ext cx="1260000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연결선 10">
              <a:extLst>
                <a:ext uri="{FF2B5EF4-FFF2-40B4-BE49-F238E27FC236}">
                  <a16:creationId xmlns:a16="http://schemas.microsoft.com/office/drawing/2014/main" id="{0FCACEC1-A682-FB44-F74A-CF20245743DE}"/>
                </a:ext>
              </a:extLst>
            </p:cNvPr>
            <p:cNvCxnSpPr>
              <a:cxnSpLocks/>
            </p:cNvCxnSpPr>
            <p:nvPr/>
          </p:nvCxnSpPr>
          <p:spPr>
            <a:xfrm>
              <a:off x="7521575" y="5305425"/>
              <a:ext cx="1224000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C6F718B0-CC61-5214-10CE-0ADBF22E06F4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7827575" y="4995950"/>
              <a:ext cx="1908000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AA994F25-C764-F3C2-0C43-29514A4F976C}"/>
                    </a:ext>
                  </a:extLst>
                </p:cNvPr>
                <p:cNvSpPr txBox="1"/>
                <p:nvPr/>
              </p:nvSpPr>
              <p:spPr>
                <a:xfrm>
                  <a:off x="8222989" y="2551553"/>
                  <a:ext cx="748292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𝑀𝐴𝐶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AA994F25-C764-F3C2-0C43-29514A4F97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22989" y="2551553"/>
                  <a:ext cx="748292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B453393B-7C55-C3D5-F48F-DEA5219ECA59}"/>
                    </a:ext>
                  </a:extLst>
                </p:cNvPr>
                <p:cNvSpPr txBox="1"/>
                <p:nvPr/>
              </p:nvSpPr>
              <p:spPr>
                <a:xfrm>
                  <a:off x="10488669" y="2551553"/>
                  <a:ext cx="748292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𝑀𝐴𝐶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B453393B-7C55-C3D5-F48F-DEA5219ECA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88669" y="2551553"/>
                  <a:ext cx="748292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5181362-9B2D-6144-42A9-909530923E8C}"/>
                    </a:ext>
                  </a:extLst>
                </p:cNvPr>
                <p:cNvSpPr txBox="1"/>
                <p:nvPr/>
              </p:nvSpPr>
              <p:spPr>
                <a:xfrm>
                  <a:off x="7147429" y="826186"/>
                  <a:ext cx="748292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𝑀𝐴𝐶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5181362-9B2D-6144-42A9-909530923E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7429" y="826186"/>
                  <a:ext cx="748292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EAD9F623-D90A-9935-A533-F12F8883DE96}"/>
                    </a:ext>
                  </a:extLst>
                </p:cNvPr>
                <p:cNvSpPr txBox="1"/>
                <p:nvPr/>
              </p:nvSpPr>
              <p:spPr>
                <a:xfrm>
                  <a:off x="11313029" y="826186"/>
                  <a:ext cx="748292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𝑀𝐴𝐶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EAD9F623-D90A-9935-A533-F12F8883DE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13029" y="826186"/>
                  <a:ext cx="748292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62EC6BC-2899-1BB0-0267-AFB49034E146}"/>
                    </a:ext>
                  </a:extLst>
                </p:cNvPr>
                <p:cNvSpPr txBox="1"/>
                <p:nvPr/>
              </p:nvSpPr>
              <p:spPr>
                <a:xfrm>
                  <a:off x="11597509" y="5965774"/>
                  <a:ext cx="25413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62EC6BC-2899-1BB0-0267-AFB49034E1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97509" y="5965774"/>
                  <a:ext cx="254131" cy="307777"/>
                </a:xfrm>
                <a:prstGeom prst="rect">
                  <a:avLst/>
                </a:prstGeom>
                <a:blipFill>
                  <a:blip r:embed="rId6"/>
                  <a:stretch>
                    <a:fillRect r="-2381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B9D2C7B-A50B-85B0-022F-477F2C3E80EC}"/>
                    </a:ext>
                  </a:extLst>
                </p:cNvPr>
                <p:cNvSpPr txBox="1"/>
                <p:nvPr/>
              </p:nvSpPr>
              <p:spPr>
                <a:xfrm>
                  <a:off x="7394509" y="5965774"/>
                  <a:ext cx="25413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B9D2C7B-A50B-85B0-022F-477F2C3E80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4509" y="5965774"/>
                  <a:ext cx="254131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45D3859C-25EE-83F6-320B-9F69D6519CE1}"/>
                    </a:ext>
                  </a:extLst>
                </p:cNvPr>
                <p:cNvSpPr txBox="1"/>
                <p:nvPr/>
              </p:nvSpPr>
              <p:spPr>
                <a:xfrm>
                  <a:off x="11597509" y="6315068"/>
                  <a:ext cx="25413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45D3859C-25EE-83F6-320B-9F69D6519C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97509" y="6315068"/>
                  <a:ext cx="254131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5AED0EAC-E76F-72C0-D875-005FA4D400B7}"/>
                    </a:ext>
                  </a:extLst>
                </p:cNvPr>
                <p:cNvSpPr txBox="1"/>
                <p:nvPr/>
              </p:nvSpPr>
              <p:spPr>
                <a:xfrm>
                  <a:off x="7394509" y="6315068"/>
                  <a:ext cx="25413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5AED0EAC-E76F-72C0-D875-005FA4D400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4509" y="6315068"/>
                  <a:ext cx="254131" cy="307777"/>
                </a:xfrm>
                <a:prstGeom prst="rect">
                  <a:avLst/>
                </a:prstGeom>
                <a:blipFill>
                  <a:blip r:embed="rId9"/>
                  <a:stretch>
                    <a:fillRect r="-2381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BEA39F93-6AC2-72C5-CDE7-061DABB2CE58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8862826" y="5427950"/>
              <a:ext cx="1044000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CFD88932-452F-2B45-265D-F3CFB6FDFFC5}"/>
                    </a:ext>
                  </a:extLst>
                </p:cNvPr>
                <p:cNvSpPr txBox="1"/>
                <p:nvPr/>
              </p:nvSpPr>
              <p:spPr>
                <a:xfrm>
                  <a:off x="8622178" y="5965774"/>
                  <a:ext cx="254131" cy="31149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Sup>
                          <m:sSubSup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bSup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CFD88932-452F-2B45-265D-F3CFB6FDFF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22178" y="5965774"/>
                  <a:ext cx="254131" cy="311496"/>
                </a:xfrm>
                <a:prstGeom prst="rect">
                  <a:avLst/>
                </a:prstGeom>
                <a:blipFill>
                  <a:blip r:embed="rId10"/>
                  <a:stretch>
                    <a:fillRect r="-2142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C63EEBA7-B159-94C5-EEE0-740306AF3C2E}"/>
                    </a:ext>
                  </a:extLst>
                </p:cNvPr>
                <p:cNvSpPr txBox="1"/>
                <p:nvPr/>
              </p:nvSpPr>
              <p:spPr>
                <a:xfrm>
                  <a:off x="9223764" y="5965774"/>
                  <a:ext cx="254131" cy="3125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Sup>
                          <m:sSubSup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C63EEBA7-B159-94C5-EEE0-740306AF3C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23764" y="5965774"/>
                  <a:ext cx="254131" cy="312521"/>
                </a:xfrm>
                <a:prstGeom prst="rect">
                  <a:avLst/>
                </a:prstGeom>
                <a:blipFill>
                  <a:blip r:embed="rId11"/>
                  <a:stretch>
                    <a:fillRect r="-1666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BD45116-2D80-D9A0-D63D-962AD524F70A}"/>
                    </a:ext>
                  </a:extLst>
                </p:cNvPr>
                <p:cNvSpPr txBox="1"/>
                <p:nvPr/>
              </p:nvSpPr>
              <p:spPr>
                <a:xfrm>
                  <a:off x="8622178" y="6315068"/>
                  <a:ext cx="254131" cy="31149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Sup>
                          <m:sSubSup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bSup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BD45116-2D80-D9A0-D63D-962AD524F7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22178" y="6315068"/>
                  <a:ext cx="254131" cy="311496"/>
                </a:xfrm>
                <a:prstGeom prst="rect">
                  <a:avLst/>
                </a:prstGeom>
                <a:blipFill>
                  <a:blip r:embed="rId12"/>
                  <a:stretch>
                    <a:fillRect r="-2142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677E8B74-30FC-63AF-7766-86B88E844AC3}"/>
                    </a:ext>
                  </a:extLst>
                </p:cNvPr>
                <p:cNvSpPr txBox="1"/>
                <p:nvPr/>
              </p:nvSpPr>
              <p:spPr>
                <a:xfrm>
                  <a:off x="9223764" y="6315068"/>
                  <a:ext cx="254131" cy="3125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Sup>
                          <m:sSubSup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677E8B74-30FC-63AF-7766-86B88E844A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23764" y="6315068"/>
                  <a:ext cx="254131" cy="312521"/>
                </a:xfrm>
                <a:prstGeom prst="rect">
                  <a:avLst/>
                </a:prstGeom>
                <a:blipFill>
                  <a:blip r:embed="rId13"/>
                  <a:stretch>
                    <a:fillRect r="-19048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21F774C-9F5F-3ED2-B988-AC9E5DACB709}"/>
                </a:ext>
              </a:extLst>
            </p:cNvPr>
            <p:cNvSpPr txBox="1"/>
            <p:nvPr/>
          </p:nvSpPr>
          <p:spPr>
            <a:xfrm>
              <a:off x="7641590" y="5965774"/>
              <a:ext cx="254131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→</a:t>
              </a:r>
              <a:endParaRPr lang="ko-KR" altLang="en-US" sz="1400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F74E13C-E301-CF3A-7ABD-B3D86CD09866}"/>
                </a:ext>
              </a:extLst>
            </p:cNvPr>
            <p:cNvSpPr txBox="1"/>
            <p:nvPr/>
          </p:nvSpPr>
          <p:spPr>
            <a:xfrm flipV="1">
              <a:off x="11403965" y="6340468"/>
              <a:ext cx="254131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→</a:t>
              </a:r>
              <a:endParaRPr lang="ko-KR" alt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B13B59C-E3F6-80E2-A0B2-8FAD0BBAF29B}"/>
                    </a:ext>
                  </a:extLst>
                </p:cNvPr>
                <p:cNvSpPr txBox="1"/>
                <p:nvPr/>
              </p:nvSpPr>
              <p:spPr>
                <a:xfrm>
                  <a:off x="7181243" y="3875359"/>
                  <a:ext cx="25413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ko-KR" altLang="en-US" sz="1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B13B59C-E3F6-80E2-A0B2-8FAD0BBAF2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81243" y="3875359"/>
                  <a:ext cx="254131" cy="307777"/>
                </a:xfrm>
                <a:prstGeom prst="rect">
                  <a:avLst/>
                </a:prstGeom>
                <a:blipFill>
                  <a:blip r:embed="rId14"/>
                  <a:stretch>
                    <a:fillRect r="-11905" b="-12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45441640-CF53-653C-FDDD-ADDFD0956848}"/>
                    </a:ext>
                  </a:extLst>
                </p:cNvPr>
                <p:cNvSpPr txBox="1"/>
                <p:nvPr/>
              </p:nvSpPr>
              <p:spPr>
                <a:xfrm>
                  <a:off x="7181243" y="4721401"/>
                  <a:ext cx="25413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ko-KR" altLang="en-US" sz="14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45441640-CF53-653C-FDDD-ADDFD09568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81243" y="4721401"/>
                  <a:ext cx="254131" cy="307777"/>
                </a:xfrm>
                <a:prstGeom prst="rect">
                  <a:avLst/>
                </a:prstGeom>
                <a:blipFill>
                  <a:blip r:embed="rId15"/>
                  <a:stretch>
                    <a:fillRect b="-6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22213A30-784A-064B-25A8-5F8139CCAC87}"/>
                    </a:ext>
                  </a:extLst>
                </p:cNvPr>
                <p:cNvSpPr txBox="1"/>
                <p:nvPr/>
              </p:nvSpPr>
              <p:spPr>
                <a:xfrm>
                  <a:off x="7181243" y="5134022"/>
                  <a:ext cx="25413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ko-KR" altLang="en-US" sz="1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22213A30-784A-064B-25A8-5F8139CCAC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81243" y="5134022"/>
                  <a:ext cx="254131" cy="307777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4E4D6ECC-D9C5-3349-E17B-3EF35531E1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(</a:t>
            </a:r>
            <a:r>
              <a:rPr lang="ko-KR" altLang="en-US" dirty="0"/>
              <a:t>동질적 오염</a:t>
            </a:r>
            <a:r>
              <a:rPr lang="en-US" altLang="ko-KR" dirty="0"/>
              <a:t>) </a:t>
            </a:r>
            <a:r>
              <a:rPr lang="ko-KR" altLang="en-US" dirty="0"/>
              <a:t>배출량기준 거래제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D18650-E3C6-1EA7-995C-1703AE6BA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2DCD1CF-B1FE-E493-976B-4EB39CC6D708}"/>
                  </a:ext>
                </a:extLst>
              </p:cNvPr>
              <p:cNvSpPr txBox="1"/>
              <p:nvPr/>
            </p:nvSpPr>
            <p:spPr>
              <a:xfrm>
                <a:off x="272472" y="774694"/>
                <a:ext cx="6953286" cy="598292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배출권기준 거래제</a:t>
                </a:r>
                <a:r>
                  <a:rPr lang="en-US" altLang="ko-KR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: </a:t>
                </a: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동질적 오염에 대한 적용</a:t>
                </a:r>
                <a:endParaRPr lang="en-US" altLang="ko-KR" sz="16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그러면 두 오염원의 거래제 시행 시점의 </a:t>
                </a:r>
                <a:r>
                  <a:rPr lang="ko-KR" altLang="en-US" sz="1600" spc="-50" dirty="0" err="1"/>
                  <a:t>저감량은</a:t>
                </a:r>
                <a:r>
                  <a:rPr lang="ko-KR" altLang="en-US" sz="1600" spc="-50" dirty="0"/>
                  <a:t> 각각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(=</m:t>
                    </m:r>
                    <m:sSubSup>
                      <m:sSub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spc="-50" dirty="0"/>
                  <a:t>와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(=</m:t>
                    </m:r>
                    <m:sSubSup>
                      <m:sSub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 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bSup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bSup>
                      </m:e>
                    </m:d>
                    <m:r>
                      <a:rPr lang="en-US" altLang="ko-KR" sz="1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ko-KR" altLang="en-US" sz="1600" spc="-50" dirty="0"/>
                  <a:t>가 되어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의 한계저감비용이 오염원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의 한계저감비용보다 크다는 것을 알 수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 상태에서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시장이 형성되고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가 </a:t>
                </a:r>
                <a14:m>
                  <m:oMath xmlns:m="http://schemas.openxmlformats.org/officeDocument/2006/math"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ko-KR" altLang="en-US" sz="1600" spc="-50" dirty="0"/>
                  <a:t>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altLang="ko-KR" sz="1600" i="1" spc="-5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α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사이의 가격으로 오염원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로부터 배출권을 구입할 것을 제안했다고 해보자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은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구입을 위해 제시한 가격이 자신의 한계저감비용인 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ko-KR" altLang="en-US" sz="1600" spc="-50" dirty="0"/>
                  <a:t>보다 작기 때문에 오염원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는 이득을 본다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배출권을 구입해서 배출을 더 늘려 이득을 본다</a:t>
                </a:r>
                <a:r>
                  <a:rPr lang="en-US" altLang="ko-KR" sz="1600" spc="-5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은 오염원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가 제시한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가격이 자신의 한계저감비용인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altLang="ko-KR" sz="1600" i="1" spc="-5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α</m:t>
                    </m:r>
                  </m:oMath>
                </a14:m>
                <a:r>
                  <a:rPr lang="ko-KR" altLang="en-US" sz="1600" spc="-50" dirty="0"/>
                  <a:t>보다 높기 때문에 오염원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도 이득을 본다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배출권을 판매하고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배출을 직접 줄여 이득을 본다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 거래는 두 오염원의 한계저감비용이 일치하는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ko-KR" altLang="en-US" sz="1600" spc="-50" dirty="0"/>
                  <a:t>와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(=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)</m:t>
                    </m:r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가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될 때까지 거래가 이루어진다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결국 두 오염원의 한계저감비용은 배출권의 시장가격 </a:t>
                </a:r>
                <a14:m>
                  <m:oMath xmlns:m="http://schemas.openxmlformats.org/officeDocument/2006/math"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ko-KR" altLang="en-US" sz="1600" spc="-50" dirty="0"/>
                  <a:t>과 같아진다</a:t>
                </a: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2DCD1CF-B1FE-E493-976B-4EB39CC6D7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472" y="774694"/>
                <a:ext cx="6953286" cy="5982920"/>
              </a:xfrm>
              <a:prstGeom prst="rect">
                <a:avLst/>
              </a:prstGeom>
              <a:blipFill>
                <a:blip r:embed="rId17"/>
                <a:stretch>
                  <a:fillRect l="-526" r="-88" b="-3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50275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7A4A5-79B8-AFD1-DF6D-4BB2E3CEA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CDCDC7-0E4F-86EC-15E5-5948AD35A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(</a:t>
            </a:r>
            <a:r>
              <a:rPr lang="ko-KR" altLang="en-US" dirty="0"/>
              <a:t>이질적 오염</a:t>
            </a:r>
            <a:r>
              <a:rPr lang="en-US" altLang="ko-KR" dirty="0"/>
              <a:t>) </a:t>
            </a:r>
            <a:r>
              <a:rPr lang="ko-KR" altLang="en-US" dirty="0"/>
              <a:t>오염도기준 거래제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B1F812-B78E-8F05-6518-612482917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967443-2745-C50F-6FE4-54E67B71BA47}"/>
              </a:ext>
            </a:extLst>
          </p:cNvPr>
          <p:cNvSpPr txBox="1"/>
          <p:nvPr/>
        </p:nvSpPr>
        <p:spPr>
          <a:xfrm>
            <a:off x="678872" y="958844"/>
            <a:ext cx="1113212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오염도기준 거래제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: 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이질적 오염에 대한 적용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Ch.7</a:t>
            </a:r>
            <a:r>
              <a:rPr lang="ko-KR" altLang="en-US" sz="1600" spc="-50" dirty="0"/>
              <a:t>에서는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오염원들이 배출하는 오염물질이 이질적이라면 효율적인 배출부과금은 오염원별로 달라야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오염원의 배출량이 피해지역에 유발하는 오염도를 </a:t>
            </a:r>
            <a:r>
              <a:rPr lang="ko-KR" altLang="en-US" sz="1600" spc="-50" dirty="0" err="1"/>
              <a:t>반영해야함을</a:t>
            </a:r>
            <a:r>
              <a:rPr lang="ko-KR" altLang="en-US" sz="1600" spc="-50" dirty="0"/>
              <a:t> 배웠다</a:t>
            </a:r>
            <a:r>
              <a:rPr lang="en-US" altLang="ko-KR" sz="1600" spc="-5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이는 </a:t>
            </a:r>
            <a:r>
              <a:rPr lang="ko-KR" altLang="en-US" sz="1600" spc="-50" dirty="0" err="1"/>
              <a:t>배출권거래제에서도</a:t>
            </a:r>
            <a:r>
              <a:rPr lang="ko-KR" altLang="en-US" sz="1600" spc="-50" dirty="0"/>
              <a:t> 마찬가지로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오염원이 보유한 배출권의 </a:t>
            </a:r>
            <a:r>
              <a:rPr lang="en-US" altLang="ko-KR" sz="1600" spc="-50" dirty="0"/>
              <a:t>1:1 </a:t>
            </a:r>
            <a:r>
              <a:rPr lang="ko-KR" altLang="en-US" sz="1600" spc="-50" dirty="0"/>
              <a:t>거래를 허용하면 </a:t>
            </a:r>
            <a:r>
              <a:rPr lang="ko-KR" altLang="en-US" sz="1600" spc="-50" dirty="0" err="1"/>
              <a:t>배출권거래제는</a:t>
            </a:r>
            <a:r>
              <a:rPr lang="ko-KR" altLang="en-US" sz="1600" spc="-50" dirty="0"/>
              <a:t> 비용효과성을 충족할 수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 오염원이 피해지역 오염도에 영향을 미치고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오염원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은 오염원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에 비해 멀리 떨어져 있어 같은 양의 오염물질을 배출하여도 오염원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에 비해 피해를 유발하는 정도가 작다고 하자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상황에서 정부가 목표 오염도를 정한 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달성하는 전체 배출량을 산정해 오염원별로 나누어 주고 배출량기준 거래제를 시행한다고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만약 오염원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가 오염원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로부터 배출권을 구입하게 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전체 배출량은 여전히 정부가 배포한 양과 같겠지만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가운데 오염원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가 차지하는 비중이 더 커진다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피해지역의 오염도는 정부가 당초 목표했던 오염도를 넘어서게 되어 정책목표를 달성할 수 없다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6047913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8865B-1335-038D-2DDF-98532D4BA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8DAE67-E8B6-877F-E3B0-813DA457A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(</a:t>
            </a:r>
            <a:r>
              <a:rPr lang="ko-KR" altLang="en-US" dirty="0"/>
              <a:t>이질적 오염</a:t>
            </a:r>
            <a:r>
              <a:rPr lang="en-US" altLang="ko-KR" dirty="0"/>
              <a:t>) </a:t>
            </a:r>
            <a:r>
              <a:rPr lang="ko-KR" altLang="en-US" dirty="0"/>
              <a:t>오염도기준 거래제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9CFC8F-7763-7CFD-40B1-574F3E184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27B31E-3354-5A7B-4FEF-C6CC9674C9F5}"/>
              </a:ext>
            </a:extLst>
          </p:cNvPr>
          <p:cNvSpPr txBox="1"/>
          <p:nvPr/>
        </p:nvSpPr>
        <p:spPr>
          <a:xfrm>
            <a:off x="678872" y="958844"/>
            <a:ext cx="1113212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오염도기준 거래제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: 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이질적 오염에 대한 적용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오염물질이 이질적일 때에도 목표 오염도를 최소 비용으로 달성하기 위해서는 정책구조가 달라져야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이때 적용될 수 있는 정책이 오염도기준 거래제 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오염도 기준 거래제는 각 오염원의 배출권을 배출량이 아닌 각 오염원이 유발하는 오염도에 기초하여 부여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배출권은 오염물질의 배출량 자체가 아니라 각 오염원이 피해지역에 축적할 수 있는 오염물질의 양을 기준으로 설정된다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배출권이 오염도를 기준으로 설정되면 피해지역에 축적되는 오염물질의 양이 일정하게 고정되므로 배출량기준 거래제에서 </a:t>
            </a:r>
            <a:r>
              <a:rPr lang="ko-KR" altLang="en-US" sz="1600" spc="-50" dirty="0" err="1"/>
              <a:t>처럼</a:t>
            </a:r>
            <a:r>
              <a:rPr lang="ko-KR" altLang="en-US" sz="1600" spc="-50" dirty="0"/>
              <a:t> 오염도가 배출권이 거래될 때마다 달라지는 문제가 발생하지 않는다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예를 들어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오염원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의 전이계수는 </a:t>
            </a:r>
            <a:r>
              <a:rPr lang="en-US" altLang="ko-KR" sz="1600" spc="-50" dirty="0"/>
              <a:t>0.5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배출량의 절반만이 피해지역에 축적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오염원</a:t>
            </a:r>
            <a:r>
              <a:rPr lang="en-US" altLang="ko-KR" sz="1600" spc="-50" dirty="0"/>
              <a:t> 2</a:t>
            </a:r>
            <a:r>
              <a:rPr lang="ko-KR" altLang="en-US" sz="1600" spc="-50" dirty="0"/>
              <a:t>의 전이계수는 </a:t>
            </a:r>
            <a:r>
              <a:rPr lang="en-US" altLang="ko-KR" sz="1600" spc="-50" dirty="0"/>
              <a:t>1 (</a:t>
            </a:r>
            <a:r>
              <a:rPr lang="ko-KR" altLang="en-US" sz="1600" spc="-50" dirty="0"/>
              <a:t>배출량 전체가 피해지역에 축적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이라고 하자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오염원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가 오염원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로부터 배출권을 한 단위 구입하면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오염원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는 자신의 배출량을 한 단위 늘릴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반대로 오염원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이 오염원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의 배출권을 한 단위 구입하면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오염원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은 배출량을 두 단위 늘릴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이런 식으로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오염도를 기준으로 배출권을 부여하면 오염도를 기준으로 한 배출권의 가격은 모든 오염원에게 동일하지만 배출량 측면에서 볼 때는 한 단위의 배출량을 늘리기 위해 지불해야 되는 비용이 각 오염원의 전이계수와 비례하게 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따라서 효율성조건이 충족되게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704231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4694A-67B3-7199-8112-F97C7313B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C2DCDA-882C-6593-5000-9E8DBB711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(</a:t>
            </a:r>
            <a:r>
              <a:rPr lang="ko-KR" altLang="en-US" dirty="0"/>
              <a:t>이질적 오염</a:t>
            </a:r>
            <a:r>
              <a:rPr lang="en-US" altLang="ko-KR" dirty="0"/>
              <a:t>) </a:t>
            </a:r>
            <a:r>
              <a:rPr lang="ko-KR" altLang="en-US" dirty="0"/>
              <a:t>오염도기준 거래제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D842CF-3E77-89C1-1CC4-A09CD6B54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8630AE-4C58-AF40-9A37-7111B17F4731}"/>
              </a:ext>
            </a:extLst>
          </p:cNvPr>
          <p:cNvSpPr txBox="1"/>
          <p:nvPr/>
        </p:nvSpPr>
        <p:spPr>
          <a:xfrm>
            <a:off x="678872" y="958844"/>
            <a:ext cx="1113212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오염도기준 거래제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: 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이질적 오염에 대한 적용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앞선 </a:t>
            </a:r>
            <a:r>
              <a:rPr lang="ko-KR" altLang="en-US" sz="1600" spc="-50" dirty="0" err="1"/>
              <a:t>예에서와</a:t>
            </a:r>
            <a:r>
              <a:rPr lang="ko-KR" altLang="en-US" sz="1600" spc="-50" dirty="0"/>
              <a:t> 같이 오염도기준 거래제도 비용효과성을 달성할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현실에서는 완전한 의미의 오염도기준 거래제를 실행하는 것은 불가능하다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실제로도 모든 </a:t>
            </a:r>
            <a:r>
              <a:rPr lang="ko-KR" altLang="en-US" sz="1600" spc="-50" dirty="0" err="1"/>
              <a:t>배출권거래제는</a:t>
            </a:r>
            <a:r>
              <a:rPr lang="ko-KR" altLang="en-US" sz="1600" spc="-50" dirty="0"/>
              <a:t> 배출량기준 거래제 형식을 취하고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오염도기준 거래제를 실행하기 위해서는 각 오염원의 전이계수를 알고 있어야 하나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매우 어려운 일이다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오염원들이 여러 지역에 오염피해를 주는 경우 문제가 </a:t>
            </a:r>
            <a:r>
              <a:rPr lang="ko-KR" altLang="en-US" sz="1600" spc="-50" dirty="0" err="1"/>
              <a:t>복잡해진다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표와 같이 두 오염원이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피해가 발생하는 지역도 두 군데일 경우의 문제를 살펴보자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피해지역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을 기준으로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오염원의 전이계수 비율은 </a:t>
            </a:r>
            <a:r>
              <a:rPr lang="en-US" altLang="ko-KR" sz="1600" spc="-50" dirty="0"/>
              <a:t>0.5:1 </a:t>
            </a:r>
            <a:r>
              <a:rPr lang="ko-KR" altLang="en-US" sz="1600" spc="-50" dirty="0"/>
              <a:t>이지만 피해지역 </a:t>
            </a:r>
            <a:r>
              <a:rPr lang="en-US" altLang="ko-KR" sz="1600" spc="-50" dirty="0"/>
              <a:t>2 </a:t>
            </a:r>
            <a:r>
              <a:rPr lang="ko-KR" altLang="en-US" sz="1600" spc="-50" dirty="0"/>
              <a:t>기준으로는 </a:t>
            </a:r>
            <a:r>
              <a:rPr lang="en-US" altLang="ko-KR" sz="1600" spc="-50" dirty="0"/>
              <a:t>0.1:0.5</a:t>
            </a:r>
            <a:r>
              <a:rPr lang="ko-KR" altLang="en-US" sz="1600" spc="-50" dirty="0"/>
              <a:t>가 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정부는 피해지역별로 개별적으로 독립된 오염도기준 </a:t>
            </a:r>
            <a:r>
              <a:rPr lang="ko-KR" altLang="en-US" sz="1600" spc="-50" dirty="0" err="1"/>
              <a:t>배출권시장을</a:t>
            </a:r>
            <a:r>
              <a:rPr lang="ko-KR" altLang="en-US" sz="1600" spc="-50" dirty="0"/>
              <a:t> 설립하여야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오염원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가 배출량을 한 단위 늘리려고 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피해지역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의 </a:t>
            </a:r>
            <a:r>
              <a:rPr lang="ko-KR" altLang="en-US" sz="1600" spc="-50" dirty="0" err="1"/>
              <a:t>배출권시장에서</a:t>
            </a:r>
            <a:r>
              <a:rPr lang="ko-KR" altLang="en-US" sz="1600" spc="-50" dirty="0"/>
              <a:t> 오염원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로부터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단위 오염도기준 배출권을 구입해야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피해지역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의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시장에서는 </a:t>
            </a:r>
            <a:r>
              <a:rPr lang="en-US" altLang="ko-KR" sz="1600" spc="-50" dirty="0"/>
              <a:t>0.5</a:t>
            </a:r>
            <a:r>
              <a:rPr lang="ko-KR" altLang="en-US" sz="1600" spc="-50" dirty="0"/>
              <a:t>단위의 오염도기준 배출권을 구입해야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이렇게 피해지역 수만큼의 </a:t>
            </a:r>
            <a:r>
              <a:rPr lang="ko-KR" altLang="en-US" sz="1600" spc="-50" dirty="0" err="1"/>
              <a:t>배출권시장이</a:t>
            </a:r>
            <a:r>
              <a:rPr lang="ko-KR" altLang="en-US" sz="1600" spc="-50" dirty="0"/>
              <a:t> 형성되면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피해지역의 목표 오염도는 정부가 원하는 수준에서 유지할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하지만 실질적으로 수많은 </a:t>
            </a:r>
            <a:r>
              <a:rPr lang="ko-KR" altLang="en-US" sz="1600" spc="-50" dirty="0" err="1"/>
              <a:t>배출권시장을</a:t>
            </a:r>
            <a:r>
              <a:rPr lang="ko-KR" altLang="en-US" sz="1600" spc="-50" dirty="0"/>
              <a:t> 운영하기 위해서는 엄청난 거래비용을 부담하여야 한다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A0C21D1E-7A59-CE43-D561-2A89942CFD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6111731"/>
              </p:ext>
            </p:extLst>
          </p:nvPr>
        </p:nvGraphicFramePr>
        <p:xfrm>
          <a:off x="2906860" y="5502183"/>
          <a:ext cx="5449740" cy="98344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816580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816580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81658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470954">
                <a:tc>
                  <a:txBody>
                    <a:bodyPr/>
                    <a:lstStyle/>
                    <a:p>
                      <a:pPr marL="0" marR="0" lvl="0" indent="0" algn="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피해지역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오염원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피해지역 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endParaRPr lang="ko-KR" altLang="en-US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피해지역 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endParaRPr lang="ko-KR" altLang="en-US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오염원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오염원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856472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08F9DC-8E92-E064-4937-EF95EC21D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온실가스의 종류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8B8F25-B0B9-B82A-412D-BE53AA0E3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7F0C027D-A83A-82A2-9850-BEE5A8487D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2575055"/>
              </p:ext>
            </p:extLst>
          </p:nvPr>
        </p:nvGraphicFramePr>
        <p:xfrm>
          <a:off x="762244" y="3987801"/>
          <a:ext cx="9315206" cy="221472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198402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5027654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  <a:gridCol w="1225550">
                  <a:extLst>
                    <a:ext uri="{9D8B030D-6E8A-4147-A177-3AD203B41FA5}">
                      <a16:colId xmlns:a16="http://schemas.microsoft.com/office/drawing/2014/main" val="1408823843"/>
                    </a:ext>
                  </a:extLst>
                </a:gridCol>
              </a:tblGrid>
              <a:tr h="47095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온실가스의 종류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설명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GWP</a:t>
                      </a:r>
                      <a:endParaRPr lang="ko-KR" altLang="en-US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체류기간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이산화탄소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(CO</a:t>
                      </a:r>
                      <a:r>
                        <a:rPr lang="en-US" altLang="ko-KR" sz="1300" b="0" kern="0" spc="0" baseline="-2500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가장 대표적인 온실가스로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화석연료의 연소에서 대량으로 배출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수백</a:t>
                      </a: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~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수천년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메탄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(CH</a:t>
                      </a:r>
                      <a:r>
                        <a:rPr lang="en-US" altLang="ko-KR" sz="1300" b="0" kern="0" spc="0" baseline="-2500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가축의 소화과정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쓰레기 매립지 등에서 배출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대략 </a:t>
                      </a: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12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아산화질소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(N</a:t>
                      </a:r>
                      <a:r>
                        <a:rPr lang="en-US" altLang="ko-KR" sz="1300" b="0" kern="0" spc="0" baseline="-2500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O)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농업용 비료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가축 배설물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폐수처리 등에서 발생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273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대략 </a:t>
                      </a: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수소불화탄소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(HFCs)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냉장고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에어컨의 냉매에서 사용되는 인공가스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~1,430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5~250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과불화탄소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(PFCs)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전자산업 및 반도체 생산에 사용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~12,400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</a:t>
                      </a: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~5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만년</a:t>
                      </a:r>
                      <a:endParaRPr lang="en-US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육불화황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(SF</a:t>
                      </a:r>
                      <a:r>
                        <a:rPr lang="en-US" altLang="ko-KR" sz="1300" b="0" kern="0" spc="0" baseline="-2500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전력 절연가스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변압기에 사용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23,500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대략 </a:t>
                      </a: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1000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20717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질소삼불화물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(NF</a:t>
                      </a:r>
                      <a:r>
                        <a:rPr lang="en-US" altLang="ko-KR" sz="1300" b="0" kern="0" spc="0" baseline="-2500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반도체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디스플레이 제조과정에서 발생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17,400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대략 </a:t>
                      </a: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560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2A13D3F-E0C3-67A9-CACA-CD09A9191F82}"/>
              </a:ext>
            </a:extLst>
          </p:cNvPr>
          <p:cNvSpPr txBox="1"/>
          <p:nvPr/>
        </p:nvSpPr>
        <p:spPr>
          <a:xfrm>
            <a:off x="678872" y="958844"/>
            <a:ext cx="11132127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온실가스는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온실효과를 발생시키는 여러 가스 종류를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온실가스별로 동일한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톤 배출이라도 지구온난화에 미치는 영향 및 특성이 모두 다르다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메탄은 대기에 체류하는 기간은 짧지만 </a:t>
            </a:r>
            <a:r>
              <a:rPr lang="ko-KR" altLang="en-US" sz="1600" spc="-50" dirty="0" err="1"/>
              <a:t>복사강제력이</a:t>
            </a:r>
            <a:r>
              <a:rPr lang="ko-KR" altLang="en-US" sz="1600" spc="-50" dirty="0"/>
              <a:t> 매우 강하다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육불화황은</a:t>
            </a:r>
            <a:r>
              <a:rPr lang="ko-KR" altLang="en-US" sz="1600" spc="-50" dirty="0"/>
              <a:t> 수천 년 동안 분해되지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복사강제력</a:t>
            </a:r>
            <a:r>
              <a:rPr lang="ko-KR" altLang="en-US" sz="1600" spc="-50" dirty="0"/>
              <a:t> 또한 매우 강하다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GWP (Global Warming Potential)</a:t>
            </a:r>
            <a:r>
              <a:rPr lang="ko-KR" altLang="en-US" sz="1600" spc="-50" dirty="0"/>
              <a:t>라는 계수를 만들어서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서로 다른 온실가스를 하나의 단위로 환산하여 </a:t>
            </a:r>
            <a:r>
              <a:rPr lang="ko-KR" altLang="en-US" sz="1600" spc="-50" dirty="0" err="1"/>
              <a:t>탄소세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배출부과금의 일종</a:t>
            </a:r>
            <a:r>
              <a:rPr lang="en-US" altLang="ko-KR" sz="1600" spc="-50" dirty="0"/>
              <a:t>),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거래제 등에서 동질적 오염물질로 다룰 수 있도록 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이질적 오염물질을 인위적으로 </a:t>
            </a:r>
            <a:r>
              <a:rPr lang="ko-KR" altLang="en-US" sz="1600" spc="-50" dirty="0" err="1"/>
              <a:t>동질화한</a:t>
            </a:r>
            <a:r>
              <a:rPr lang="ko-KR" altLang="en-US" sz="1600" spc="-50" dirty="0"/>
              <a:t> 특수한 오염도기준 거래제라고 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429127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391AD-B9DA-4B1D-36AB-2F0CEA301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라인, 도표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5B7AD92-9391-7170-0DA0-85197DC862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7380" y="851900"/>
            <a:ext cx="5031569" cy="576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C208D20-59E9-0FD8-6646-86F287538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배출권거래제의</a:t>
            </a:r>
            <a:r>
              <a:rPr lang="ko-KR" altLang="en-US" dirty="0"/>
              <a:t> 기술혁신 유인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DCE46E-0FD4-525D-85A6-3E80D4FAC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8680D85-7012-138D-4CF8-1413E21C9CE6}"/>
                  </a:ext>
                </a:extLst>
              </p:cNvPr>
              <p:cNvSpPr txBox="1"/>
              <p:nvPr/>
            </p:nvSpPr>
            <p:spPr>
              <a:xfrm>
                <a:off x="247073" y="958844"/>
                <a:ext cx="6712528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/>
                  <a:t>Ch.7</a:t>
                </a:r>
                <a:r>
                  <a:rPr lang="ko-KR" altLang="en-US" sz="1600" spc="-50" dirty="0"/>
                  <a:t>에서 배출부과금제는 직접규제에 비해 더 큰 기술혁신 유인을 제공한다고 배웠다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마찬가지로 </a:t>
                </a:r>
                <a:r>
                  <a:rPr lang="ko-KR" altLang="en-US" sz="1600" spc="-50" dirty="0" err="1"/>
                  <a:t>배출권거래제</a:t>
                </a:r>
                <a:r>
                  <a:rPr lang="ko-KR" altLang="en-US" sz="1600" spc="-50" dirty="0"/>
                  <a:t> 또한 배출부과금제와 동일한 정도의 기술혁신 유인을 제공한다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오른쪽 그림에서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시장가격은 </a:t>
                </a:r>
                <a:r>
                  <a:rPr lang="en-US" altLang="ko-KR" sz="1600" spc="-50" dirty="0"/>
                  <a:t>P 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오염원은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시장가격과 한계저감 비용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이 일치하는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배출량을 선택하고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이때 저감비용은 </a:t>
                </a:r>
                <a:r>
                  <a:rPr lang="en-US" altLang="ko-KR" sz="1600" spc="-50" dirty="0" err="1"/>
                  <a:t>d+e</a:t>
                </a:r>
                <a:r>
                  <a:rPr lang="ko-KR" altLang="en-US" sz="1600" spc="-50" dirty="0"/>
                  <a:t> 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구입비용이 </a:t>
                </a:r>
                <a:r>
                  <a:rPr lang="en-US" altLang="ko-KR" sz="1600" spc="-50" dirty="0" err="1"/>
                  <a:t>a+b+c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따라서 총 비용은 </a:t>
                </a:r>
                <a:r>
                  <a:rPr lang="en-US" altLang="ko-KR" sz="1600" spc="-50" dirty="0" err="1"/>
                  <a:t>a+b+c+d+e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기술혁신으로 인해 저감비용이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로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하락하였고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배출권시장이</a:t>
                </a:r>
                <a:r>
                  <a:rPr lang="ko-KR" altLang="en-US" sz="1600" spc="-50" dirty="0"/>
                  <a:t> </a:t>
                </a:r>
                <a:r>
                  <a:rPr lang="ko-KR" altLang="en-US" sz="1600" spc="-50" dirty="0" err="1"/>
                  <a:t>완전경쟁적이어서</a:t>
                </a:r>
                <a:r>
                  <a:rPr lang="ko-KR" altLang="en-US" sz="1600" spc="-50" dirty="0"/>
                  <a:t> 배출권의 시장가격은 변하지 않는다고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기술혁신 후에는 오염원이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배출량을 선택하고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저감비용은 </a:t>
                </a:r>
                <a:r>
                  <a:rPr lang="en-US" altLang="ko-KR" sz="1600" spc="-50" dirty="0" err="1"/>
                  <a:t>b+e</a:t>
                </a:r>
                <a:r>
                  <a:rPr lang="ko-KR" altLang="en-US" sz="1600" spc="-50" dirty="0"/>
                  <a:t>이 된다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한편 배출량을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줄인 덕분에 불필요해진 배출권을 시장에 팔아 </a:t>
                </a:r>
                <a:r>
                  <a:rPr lang="en-US" altLang="ko-KR" sz="1600" spc="-50" dirty="0" err="1"/>
                  <a:t>b+c</a:t>
                </a:r>
                <a:r>
                  <a:rPr lang="ko-KR" altLang="en-US" sz="1600" spc="-50" dirty="0"/>
                  <a:t>만큼의 수입이 생긴다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다시 말하면 저감비용의 변화는 </a:t>
                </a:r>
                <a:r>
                  <a:rPr lang="en-US" altLang="ko-KR" sz="1600" spc="-50" dirty="0"/>
                  <a:t>d-b, </a:t>
                </a:r>
                <a:r>
                  <a:rPr lang="ko-KR" altLang="en-US" sz="1600" spc="-50" dirty="0" err="1"/>
                  <a:t>배출권구입비용의</a:t>
                </a:r>
                <a:r>
                  <a:rPr lang="ko-KR" altLang="en-US" sz="1600" spc="-50" dirty="0"/>
                  <a:t> 변화는 </a:t>
                </a:r>
                <a:r>
                  <a:rPr lang="en-US" altLang="ko-KR" sz="1600" spc="-50" dirty="0" err="1"/>
                  <a:t>b+c</a:t>
                </a:r>
                <a:r>
                  <a:rPr lang="ko-KR" altLang="en-US" sz="1600" spc="-50" dirty="0"/>
                  <a:t>이므로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총 변화는 </a:t>
                </a:r>
                <a:r>
                  <a:rPr lang="en-US" altLang="ko-KR" sz="1600" spc="-50" dirty="0" err="1"/>
                  <a:t>c+d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따라서 </a:t>
                </a:r>
                <a:r>
                  <a:rPr lang="en-US" altLang="ko-KR" sz="1600" spc="-50" dirty="0" err="1"/>
                  <a:t>c+d</a:t>
                </a:r>
                <a:r>
                  <a:rPr lang="ko-KR" altLang="en-US" sz="1600" spc="-50" dirty="0"/>
                  <a:t>만큼의 기술혁신 이득이 생긴다</a:t>
                </a:r>
                <a:endParaRPr lang="en-US" altLang="ko-KR" sz="1600" spc="-5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8680D85-7012-138D-4CF8-1413E21C9C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073" y="958844"/>
                <a:ext cx="6712528" cy="5584670"/>
              </a:xfrm>
              <a:prstGeom prst="rect">
                <a:avLst/>
              </a:prstGeom>
              <a:blipFill>
                <a:blip r:embed="rId3"/>
                <a:stretch>
                  <a:fillRect r="-182"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D19B0488-D764-8E71-1D4F-E822B162E618}"/>
              </a:ext>
            </a:extLst>
          </p:cNvPr>
          <p:cNvCxnSpPr>
            <a:cxnSpLocks/>
          </p:cNvCxnSpPr>
          <p:nvPr/>
        </p:nvCxnSpPr>
        <p:spPr>
          <a:xfrm flipH="1">
            <a:off x="8261350" y="3771482"/>
            <a:ext cx="396000" cy="0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25EAA56-5C54-E93C-3FF6-F9E8BEC5205D}"/>
              </a:ext>
            </a:extLst>
          </p:cNvPr>
          <p:cNvSpPr txBox="1"/>
          <p:nvPr/>
        </p:nvSpPr>
        <p:spPr>
          <a:xfrm>
            <a:off x="7820025" y="4987409"/>
            <a:ext cx="260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B068623-660B-EA08-3327-ECEC9912C925}"/>
              </a:ext>
            </a:extLst>
          </p:cNvPr>
          <p:cNvSpPr txBox="1"/>
          <p:nvPr/>
        </p:nvSpPr>
        <p:spPr>
          <a:xfrm>
            <a:off x="8558925" y="5247759"/>
            <a:ext cx="260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69F86C-E224-52FB-9C25-B4BE1DAF8FB7}"/>
              </a:ext>
            </a:extLst>
          </p:cNvPr>
          <p:cNvSpPr txBox="1"/>
          <p:nvPr/>
        </p:nvSpPr>
        <p:spPr>
          <a:xfrm>
            <a:off x="9109075" y="5489575"/>
            <a:ext cx="260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e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3783A2-DD94-B786-9864-E7E84F7F1183}"/>
              </a:ext>
            </a:extLst>
          </p:cNvPr>
          <p:cNvSpPr txBox="1"/>
          <p:nvPr/>
        </p:nvSpPr>
        <p:spPr>
          <a:xfrm>
            <a:off x="8657350" y="4367250"/>
            <a:ext cx="260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c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B2E5E4-C765-049A-E709-1B6D72CEE3EE}"/>
              </a:ext>
            </a:extLst>
          </p:cNvPr>
          <p:cNvSpPr txBox="1"/>
          <p:nvPr/>
        </p:nvSpPr>
        <p:spPr>
          <a:xfrm>
            <a:off x="9109075" y="4849852"/>
            <a:ext cx="260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d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438894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F8CFD-44F2-54B9-08F3-635F68AA1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라인, 도표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DCEB99E-947E-81C8-89F2-44EB357A7B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7380" y="851900"/>
            <a:ext cx="5031569" cy="576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6D2A186-6A77-A56A-E86C-C00798439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배출권거래제의</a:t>
            </a:r>
            <a:r>
              <a:rPr lang="ko-KR" altLang="en-US" dirty="0"/>
              <a:t> 기술혁신 유인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77061F-1F93-E6F1-375E-F4F085337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20F8EB-C67D-5381-C1AE-D6140E96E232}"/>
              </a:ext>
            </a:extLst>
          </p:cNvPr>
          <p:cNvSpPr txBox="1"/>
          <p:nvPr/>
        </p:nvSpPr>
        <p:spPr>
          <a:xfrm>
            <a:off x="247072" y="958844"/>
            <a:ext cx="699192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배출권거래제의</a:t>
            </a:r>
            <a:r>
              <a:rPr lang="ko-KR" altLang="en-US" sz="1600" spc="-50" dirty="0"/>
              <a:t> 비용은 </a:t>
            </a:r>
            <a:r>
              <a:rPr lang="en-US" altLang="ko-KR" sz="1600" spc="-50" dirty="0"/>
              <a:t>1)</a:t>
            </a:r>
            <a:r>
              <a:rPr lang="ko-KR" altLang="en-US" sz="1600" spc="-50" dirty="0"/>
              <a:t>저감비용과 </a:t>
            </a:r>
            <a:r>
              <a:rPr lang="en-US" altLang="ko-KR" sz="1600" spc="-50" dirty="0"/>
              <a:t>2)</a:t>
            </a:r>
            <a:r>
              <a:rPr lang="ko-KR" altLang="en-US" sz="1600" spc="-50" dirty="0" err="1"/>
              <a:t>배출권구입</a:t>
            </a:r>
            <a:r>
              <a:rPr lang="ko-KR" altLang="en-US" sz="1600" spc="-50" dirty="0"/>
              <a:t> 비용의 합이다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 사실을 토대로 기술혁신 유인의 이득을 계산하는 방법은 두 가지가 있다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AutoNum type="arabicParenBoth"/>
            </a:pPr>
            <a:r>
              <a:rPr lang="ko-KR" altLang="en-US" sz="1600" spc="-50" dirty="0"/>
              <a:t>기술혁신 유인의 이득</a:t>
            </a:r>
            <a:r>
              <a:rPr lang="en-US" altLang="ko-KR" sz="1600" spc="-50" dirty="0"/>
              <a:t>= </a:t>
            </a:r>
            <a:r>
              <a:rPr lang="ko-KR" altLang="en-US" sz="1600" spc="-50" dirty="0"/>
              <a:t>기술혁신 없을 때 비용 </a:t>
            </a:r>
            <a:r>
              <a:rPr lang="en-US" altLang="ko-KR" sz="1600" spc="-50" dirty="0"/>
              <a:t>– </a:t>
            </a:r>
            <a:r>
              <a:rPr lang="ko-KR" altLang="en-US" sz="1600" spc="-50" dirty="0"/>
              <a:t>기술혁신 있을 때 비용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기술혁신 없을 때 저감비용</a:t>
            </a:r>
            <a:r>
              <a:rPr lang="en-US" altLang="ko-KR" sz="1600" spc="-50" dirty="0"/>
              <a:t>: </a:t>
            </a:r>
            <a:r>
              <a:rPr lang="en-US" altLang="ko-KR" sz="1600" spc="-50" dirty="0" err="1"/>
              <a:t>d+e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기술혁신 없을 때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구입비용</a:t>
            </a:r>
            <a:r>
              <a:rPr lang="en-US" altLang="ko-KR" sz="1600" spc="-50" dirty="0"/>
              <a:t>: </a:t>
            </a:r>
            <a:r>
              <a:rPr lang="en-US" altLang="ko-KR" sz="1600" spc="-50" dirty="0" err="1"/>
              <a:t>a+b+c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기술혁신 있을 때 저감비용</a:t>
            </a:r>
            <a:r>
              <a:rPr lang="en-US" altLang="ko-KR" sz="1600" spc="-50" dirty="0"/>
              <a:t>: </a:t>
            </a:r>
            <a:r>
              <a:rPr lang="en-US" altLang="ko-KR" sz="1600" spc="-50" dirty="0" err="1"/>
              <a:t>b+e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기술혁신 있을 때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구입비용</a:t>
            </a:r>
            <a:r>
              <a:rPr lang="en-US" altLang="ko-KR" sz="1600" spc="-50" dirty="0"/>
              <a:t>: a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기술혁신 유인의 이득은 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d+e+a+b+c</a:t>
            </a:r>
            <a:r>
              <a:rPr lang="en-US" altLang="ko-KR" sz="1600" spc="-50" dirty="0"/>
              <a:t>) – (</a:t>
            </a:r>
            <a:r>
              <a:rPr lang="en-US" altLang="ko-KR" sz="1600" spc="-50" dirty="0" err="1"/>
              <a:t>b+e+a</a:t>
            </a:r>
            <a:r>
              <a:rPr lang="en-US" altLang="ko-KR" sz="1600" spc="-50" dirty="0"/>
              <a:t>) = </a:t>
            </a:r>
            <a:r>
              <a:rPr lang="en-US" altLang="ko-KR" sz="1600" spc="-50" dirty="0" err="1"/>
              <a:t>c+d</a:t>
            </a:r>
            <a:r>
              <a:rPr lang="ko-KR" altLang="en-US" sz="1600" spc="-50" dirty="0"/>
              <a:t>이므로 </a:t>
            </a:r>
            <a:r>
              <a:rPr lang="en-US" altLang="ko-KR" sz="1600" spc="-50" dirty="0" err="1"/>
              <a:t>c+d</a:t>
            </a:r>
            <a:r>
              <a:rPr lang="ko-KR" altLang="en-US" sz="1600" spc="-50" dirty="0"/>
              <a:t>와 같다</a:t>
            </a:r>
            <a:r>
              <a:rPr lang="en-US" altLang="ko-KR" sz="1600" spc="-50" dirty="0"/>
              <a:t>.</a:t>
            </a:r>
          </a:p>
          <a:p>
            <a:pPr marL="92075">
              <a:lnSpc>
                <a:spcPct val="150000"/>
              </a:lnSpc>
            </a:pPr>
            <a:r>
              <a:rPr lang="en-US" altLang="ko-KR" sz="1600" spc="-50" dirty="0"/>
              <a:t>(2) </a:t>
            </a:r>
            <a:r>
              <a:rPr lang="ko-KR" altLang="en-US" sz="1600" spc="-50" dirty="0"/>
              <a:t>기술혁신 유인의 이득</a:t>
            </a:r>
            <a:r>
              <a:rPr lang="en-US" altLang="ko-KR" sz="1600" spc="-50" dirty="0"/>
              <a:t>= </a:t>
            </a:r>
            <a:r>
              <a:rPr lang="ko-KR" altLang="en-US" sz="1600" spc="-50" dirty="0"/>
              <a:t>저감비용의 변화 </a:t>
            </a:r>
            <a:r>
              <a:rPr lang="en-US" altLang="ko-KR" sz="1600" spc="-50" dirty="0"/>
              <a:t>+ </a:t>
            </a:r>
            <a:r>
              <a:rPr lang="ko-KR" altLang="en-US" sz="1600" spc="-50" dirty="0" err="1"/>
              <a:t>배출권구입</a:t>
            </a:r>
            <a:r>
              <a:rPr lang="ko-KR" altLang="en-US" sz="1600" spc="-50" dirty="0"/>
              <a:t> 비용의 변화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저감비용은 기술혁신이 생김으로 인해 </a:t>
            </a:r>
            <a:r>
              <a:rPr lang="en-US" altLang="ko-KR" sz="1600" spc="-50" dirty="0"/>
              <a:t>d-b</a:t>
            </a:r>
            <a:r>
              <a:rPr lang="ko-KR" altLang="en-US" sz="1600" spc="-50" dirty="0"/>
              <a:t>만큼 감소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구입비용은 기술혁신이 생김으로 인해 </a:t>
            </a:r>
            <a:r>
              <a:rPr lang="en-US" altLang="ko-KR" sz="1600" spc="-50" dirty="0" err="1"/>
              <a:t>b+c</a:t>
            </a:r>
            <a:r>
              <a:rPr lang="ko-KR" altLang="en-US" sz="1600" spc="-50" dirty="0"/>
              <a:t>만큼 감소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기술혁신 유인의 이득은 </a:t>
            </a:r>
            <a:r>
              <a:rPr lang="en-US" altLang="ko-KR" sz="1600" spc="-50" dirty="0"/>
              <a:t>(d-b)+(</a:t>
            </a:r>
            <a:r>
              <a:rPr lang="en-US" altLang="ko-KR" sz="1600" spc="-50" dirty="0" err="1"/>
              <a:t>b+c</a:t>
            </a:r>
            <a:r>
              <a:rPr lang="en-US" altLang="ko-KR" sz="1600" spc="-50" dirty="0"/>
              <a:t>) = </a:t>
            </a:r>
            <a:r>
              <a:rPr lang="en-US" altLang="ko-KR" sz="1600" spc="-50" dirty="0" err="1"/>
              <a:t>c+d</a:t>
            </a:r>
            <a:r>
              <a:rPr lang="ko-KR" altLang="en-US" sz="1600" spc="-50" dirty="0"/>
              <a:t>이므로 </a:t>
            </a:r>
            <a:r>
              <a:rPr lang="en-US" altLang="ko-KR" sz="1600" spc="-50" dirty="0" err="1"/>
              <a:t>c+d</a:t>
            </a:r>
            <a:r>
              <a:rPr lang="ko-KR" altLang="en-US" sz="1600" spc="-50" dirty="0"/>
              <a:t>와 같다</a:t>
            </a:r>
            <a:r>
              <a:rPr lang="en-US" altLang="ko-KR" sz="1600" spc="-50"/>
              <a:t>.</a:t>
            </a:r>
            <a:endParaRPr lang="en-US" altLang="ko-KR" sz="1600" spc="-50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0C84706-D8CC-6AAA-24F0-A77A5A1710C1}"/>
              </a:ext>
            </a:extLst>
          </p:cNvPr>
          <p:cNvCxnSpPr>
            <a:cxnSpLocks/>
          </p:cNvCxnSpPr>
          <p:nvPr/>
        </p:nvCxnSpPr>
        <p:spPr>
          <a:xfrm flipH="1">
            <a:off x="8261350" y="3771482"/>
            <a:ext cx="396000" cy="0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9C12A25-2ED7-C9BD-F609-CE85F74BC4A1}"/>
              </a:ext>
            </a:extLst>
          </p:cNvPr>
          <p:cNvSpPr txBox="1"/>
          <p:nvPr/>
        </p:nvSpPr>
        <p:spPr>
          <a:xfrm>
            <a:off x="7820025" y="4987409"/>
            <a:ext cx="260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8048F1-CACE-32EF-6FA3-3C434EA31815}"/>
              </a:ext>
            </a:extLst>
          </p:cNvPr>
          <p:cNvSpPr txBox="1"/>
          <p:nvPr/>
        </p:nvSpPr>
        <p:spPr>
          <a:xfrm>
            <a:off x="8558925" y="5247759"/>
            <a:ext cx="260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3DB5EE-B2B9-52C5-B3F2-32C0F17DC88B}"/>
              </a:ext>
            </a:extLst>
          </p:cNvPr>
          <p:cNvSpPr txBox="1"/>
          <p:nvPr/>
        </p:nvSpPr>
        <p:spPr>
          <a:xfrm>
            <a:off x="9109075" y="5489575"/>
            <a:ext cx="260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e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6CCEED-FCFE-A897-5829-84C108049197}"/>
              </a:ext>
            </a:extLst>
          </p:cNvPr>
          <p:cNvSpPr txBox="1"/>
          <p:nvPr/>
        </p:nvSpPr>
        <p:spPr>
          <a:xfrm>
            <a:off x="8657350" y="4367250"/>
            <a:ext cx="260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c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0351F00-E999-43EF-F7A9-F70B91EBA27E}"/>
              </a:ext>
            </a:extLst>
          </p:cNvPr>
          <p:cNvSpPr txBox="1"/>
          <p:nvPr/>
        </p:nvSpPr>
        <p:spPr>
          <a:xfrm>
            <a:off x="9109075" y="4849852"/>
            <a:ext cx="260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d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134610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2465D-2559-BB81-B1F3-C13AC96F6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86DB8B3-4646-7291-AB5D-912E4E099FD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ED1EBF-E472-78B1-89E8-7561B61D7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DA065F4-F525-E835-2026-038BFA63F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 err="1"/>
              <a:t>배출권거래제의</a:t>
            </a:r>
            <a:r>
              <a:rPr lang="ko-KR" altLang="en-US" sz="4000" b="1" i="0" spc="150" dirty="0"/>
              <a:t> 구체적 실행 방안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1520226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F0FD6-C9EE-C502-C2BC-D646E6A62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9EAB13-49C9-FAB5-CCA1-80F00B092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배출권거래제의</a:t>
            </a:r>
            <a:r>
              <a:rPr lang="ko-KR" altLang="en-US" dirty="0"/>
              <a:t> 구체적 실행 방안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8CD124-6034-89A2-B632-E5AE96EE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AB0E02-910B-A772-F4B7-2890BFD2804F}"/>
              </a:ext>
            </a:extLst>
          </p:cNvPr>
          <p:cNvSpPr txBox="1"/>
          <p:nvPr/>
        </p:nvSpPr>
        <p:spPr>
          <a:xfrm>
            <a:off x="678872" y="958844"/>
            <a:ext cx="1113212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배출권거래제는</a:t>
            </a:r>
            <a:r>
              <a:rPr lang="ko-KR" altLang="en-US" sz="1600" spc="-50" dirty="0"/>
              <a:t> 이론적으로 단기적인 비용효과성과 장기적인 기술혁신 유인을 모두 가지고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동시에 규제당국과 오염원이 자주 접촉할 필요도 없는 규제제도이다</a:t>
            </a:r>
            <a:r>
              <a:rPr lang="en-US" altLang="ko-KR" sz="1600" spc="-50" dirty="0"/>
              <a:t>.</a:t>
            </a:r>
            <a:endParaRPr lang="en-US" altLang="ko-KR" sz="5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이 제도는 </a:t>
            </a:r>
            <a:r>
              <a:rPr lang="ko-KR" altLang="en-US" sz="1600" spc="-50" dirty="0" err="1"/>
              <a:t>배출권시장이라는</a:t>
            </a:r>
            <a:r>
              <a:rPr lang="ko-KR" altLang="en-US" sz="1600" spc="-50" dirty="0"/>
              <a:t> 새로운 시장을 만들고 운영하기 때문에 다른 제도에는 나타나지 않는 장애 요인이 존재한다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오염물질의 이질성으로 인한 문제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배출권거래의</a:t>
            </a:r>
            <a:r>
              <a:rPr lang="ko-KR" altLang="en-US" sz="1600" spc="-50" dirty="0"/>
              <a:t> 동태적 측면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최초배출권의 분배문제와 정책수용성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배출권시장의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경쟁성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감시 및 감독비용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3433641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1C36-DD42-A610-0916-D99E7B5F5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BF6E25-59B3-6FF0-8B78-6FCFB01E1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오염물질의 이질성으로 인한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9D4DB7-F3C8-043D-C7DD-4C8D4ABE2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79AE2F-8BC9-0E20-CF04-A3C68CAC9898}"/>
              </a:ext>
            </a:extLst>
          </p:cNvPr>
          <p:cNvSpPr txBox="1"/>
          <p:nvPr/>
        </p:nvSpPr>
        <p:spPr>
          <a:xfrm>
            <a:off x="678872" y="958844"/>
            <a:ext cx="11132127" cy="24088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살펴보았듯이 오염물질이 이질적인 경우에는 오염도기준 거래제가 실행되어야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하지만 실제로 시행되기에는 현실적인 어려움이 있어 아래와 같이 몇 가지 대안이 있을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이질적 오염물질에 대해 적용되는 배출량기준 거래제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구획배출권거래제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단일 오염도기준 </a:t>
            </a:r>
            <a:r>
              <a:rPr lang="ko-KR" altLang="en-US" sz="1600" spc="-50" dirty="0" err="1"/>
              <a:t>배출권시장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500" spc="-50" dirty="0"/>
          </a:p>
        </p:txBody>
      </p:sp>
    </p:spTree>
    <p:extLst>
      <p:ext uri="{BB962C8B-B14F-4D97-AF65-F5344CB8AC3E}">
        <p14:creationId xmlns:p14="http://schemas.microsoft.com/office/powerpoint/2010/main" val="38899998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F9A0F-36A2-9833-4B7A-11EA81A9A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769F58-F1F2-DDBF-FC51-2C370BF29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이질적 오염물질에 대해 적용되는 배출량기준 거래제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DE2B23-45A9-98EF-B8EF-697798202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86ADDC-35A7-4701-40CC-9E84F7D04856}"/>
              </a:ext>
            </a:extLst>
          </p:cNvPr>
          <p:cNvSpPr txBox="1"/>
          <p:nvPr/>
        </p:nvSpPr>
        <p:spPr>
          <a:xfrm>
            <a:off x="678872" y="958844"/>
            <a:ext cx="1113212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오염물질의 이질성을 감안한 정책을 시행하기 위해서는 수많은 </a:t>
            </a:r>
            <a:r>
              <a:rPr lang="ko-KR" altLang="en-US" sz="1600" spc="-50" dirty="0" err="1"/>
              <a:t>배출권시장을</a:t>
            </a:r>
            <a:r>
              <a:rPr lang="ko-KR" altLang="en-US" sz="1600" spc="-50" dirty="0"/>
              <a:t> 운영해야 하는 현실적인 어려움이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대한 가장 손쉬운 대안으로는 이 문제를 무시하는 것이다</a:t>
            </a:r>
            <a:r>
              <a:rPr lang="en-US" altLang="ko-KR" sz="1600" spc="-5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즉 오염물질이 이질적임에도 불구하고 오염도기준 거래제가 아닌 배출량기준 거래제를 사용하는 방안을 검토하는 것이 필요하다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배출량기준 거래제를 사용함으로 인해 발생하는 사회적 비용이 오염도기준 거래제를 무리하게 사용함에 따라 발생하는 각종 거래비용이나 행정비용보다 더 적다면 배출량기준 거래제는 효과적인 대안이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다음장의 표는 미국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칠레 등에 있어 특정 지역의 목표 오염도를 달성하기 위해 아래의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제도를 사용함에 따라 발생하는 배출저감비용을 비교하여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직접규제를 사용하는 방법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직접규제 대신 오염도기준 </a:t>
            </a:r>
            <a:r>
              <a:rPr lang="ko-KR" altLang="en-US" sz="1600" spc="-50" dirty="0" err="1"/>
              <a:t>배출권거래제를</a:t>
            </a:r>
            <a:r>
              <a:rPr lang="ko-KR" altLang="en-US" sz="1600" spc="-50" dirty="0"/>
              <a:t> 사용하는 방법 </a:t>
            </a:r>
            <a:r>
              <a:rPr lang="en-US" altLang="ko-KR" sz="1600" spc="-50" dirty="0"/>
              <a:t>(APS, Ambient Permit System)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오염물질의 이질성에도 불구하고 배출량기준 거래제를 대신 사용하는 방법</a:t>
            </a:r>
            <a:r>
              <a:rPr lang="en-US" altLang="ko-KR" sz="1600" spc="-50" dirty="0"/>
              <a:t>(EPS, Emission Permit System)</a:t>
            </a:r>
          </a:p>
        </p:txBody>
      </p:sp>
    </p:spTree>
    <p:extLst>
      <p:ext uri="{BB962C8B-B14F-4D97-AF65-F5344CB8AC3E}">
        <p14:creationId xmlns:p14="http://schemas.microsoft.com/office/powerpoint/2010/main" val="7693134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F591D4-45D0-529E-3C82-237F72EF6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이질적 오염물질에 대해 적용되는 배출량기준 거래제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2DFC2B-BB2D-6402-EF43-ACBDC5BE8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2306C69-B59E-8F2E-2272-89FE33B906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4097617"/>
              </p:ext>
            </p:extLst>
          </p:nvPr>
        </p:nvGraphicFramePr>
        <p:xfrm>
          <a:off x="1465824" y="1244601"/>
          <a:ext cx="8584108" cy="296232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277376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862667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193886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47095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오염물질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적용지역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직접규제비용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/EPS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비용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EPS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비용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/APS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비용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먼지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세인트루이스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1.33~6.00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1.67~4.51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아황산가스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유타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콜로라도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아리조나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뉴멕시코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접경지역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1.70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2.50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황산화물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로스엔젤레스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1.05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1.07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아황산가스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오하이오주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0.91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1.40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먼지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볼티모어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2.50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1.88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질소산화물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볼티모어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0.69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8.64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질소산화물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시카고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0.42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33.9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95305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아황산가스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델라웨어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0.83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21.3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44752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먼지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델라웨어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11.10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1.97</a:t>
                      </a:r>
                      <a:endParaRPr lang="en-US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20717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먼지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산티아고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칠레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1.25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8.00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72CDCBB-3A22-B0E1-1252-79AEE4F90D30}"/>
              </a:ext>
            </a:extLst>
          </p:cNvPr>
          <p:cNvSpPr txBox="1"/>
          <p:nvPr/>
        </p:nvSpPr>
        <p:spPr>
          <a:xfrm>
            <a:off x="686668" y="4595111"/>
            <a:ext cx="1113212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(EPS</a:t>
            </a:r>
            <a:r>
              <a:rPr lang="ko-KR" altLang="en-US" sz="1600" spc="-50" dirty="0"/>
              <a:t>비용</a:t>
            </a:r>
            <a:r>
              <a:rPr lang="en-US" altLang="ko-KR" sz="1600" spc="-50" dirty="0"/>
              <a:t>/APS</a:t>
            </a:r>
            <a:r>
              <a:rPr lang="ko-KR" altLang="en-US" sz="1600" spc="-50" dirty="0"/>
              <a:t>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오염물질이 이질적임에도 불구하고 오염도기준 거래제가 아닌 배출량기준 거래제를 사용하면 전체 저감비용이 </a:t>
            </a:r>
            <a:r>
              <a:rPr lang="en-US" altLang="ko-KR" sz="1600" spc="-50" dirty="0"/>
              <a:t>7%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3,290%</a:t>
            </a:r>
            <a:r>
              <a:rPr lang="ko-KR" altLang="en-US" sz="1600" spc="-50" dirty="0"/>
              <a:t>까지 더 소요된다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대체가능 여부는 대상오염물질이나 지역별로 크게 다르다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직접규제비용</a:t>
            </a:r>
            <a:r>
              <a:rPr lang="en-US" altLang="ko-KR" sz="1600" spc="-50" dirty="0"/>
              <a:t>/EPS</a:t>
            </a:r>
            <a:r>
              <a:rPr lang="ko-KR" altLang="en-US" sz="1600" spc="-50" dirty="0"/>
              <a:t>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대부분의 경우 직접규제보다는 오염물질의 이질성을 무시하더라도 배출량기준 거래제를 사용할 경우에 저감비용이 더 적게 소요된다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다만 네 경우에 대해서는 오히려 직접규제가 더 적은 비용을 필요로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A57FC56-F535-CFD1-7F9D-031923A9A440}"/>
              </a:ext>
            </a:extLst>
          </p:cNvPr>
          <p:cNvSpPr txBox="1"/>
          <p:nvPr/>
        </p:nvSpPr>
        <p:spPr>
          <a:xfrm>
            <a:off x="3942324" y="952213"/>
            <a:ext cx="330620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00" b="1" kern="0" dirty="0">
                <a:latin typeface="+mn-ea"/>
              </a:rPr>
              <a:t>&lt;</a:t>
            </a:r>
            <a:r>
              <a:rPr lang="ko-KR" altLang="en-US" sz="1300" b="1" kern="0" dirty="0">
                <a:latin typeface="+mn-ea"/>
              </a:rPr>
              <a:t>이질적 오염물질의 배출저감 비용 비교</a:t>
            </a:r>
            <a:r>
              <a:rPr lang="en-US" altLang="ko-KR" sz="1300" b="1" kern="0" dirty="0">
                <a:latin typeface="+mn-ea"/>
              </a:rPr>
              <a:t>&gt;</a:t>
            </a:r>
            <a:endParaRPr lang="ko-KR" altLang="en-US" sz="1300" b="1" kern="0" dirty="0">
              <a:latin typeface="+mn-ea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297477-B55E-D558-BDA1-2E8E56DB799F}"/>
              </a:ext>
            </a:extLst>
          </p:cNvPr>
          <p:cNvSpPr txBox="1"/>
          <p:nvPr/>
        </p:nvSpPr>
        <p:spPr>
          <a:xfrm>
            <a:off x="1416050" y="4231901"/>
            <a:ext cx="59944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spc="-50" dirty="0" err="1"/>
              <a:t>Tietenberg</a:t>
            </a:r>
            <a:r>
              <a:rPr lang="en-US" altLang="ko-KR" sz="1050" spc="-50" dirty="0"/>
              <a:t>, T. H. (2006), Emissions Trading: Principles and Practice, 2</a:t>
            </a:r>
            <a:r>
              <a:rPr lang="en-US" altLang="ko-KR" sz="1050" spc="-50" baseline="30000" dirty="0"/>
              <a:t>nd</a:t>
            </a:r>
            <a:r>
              <a:rPr lang="en-US" altLang="ko-KR" sz="1050" spc="-50" dirty="0"/>
              <a:t> ed., Resources for the Future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40719699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CB4DC8-9509-ACFB-A8E6-5FC59CB0F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구획배출권 거래제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CEF0DC-A3CF-5EE1-1D9F-379E9A9F06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1CABCC-779A-1EA7-1D05-4DE0C91239CC}"/>
              </a:ext>
            </a:extLst>
          </p:cNvPr>
          <p:cNvSpPr txBox="1"/>
          <p:nvPr/>
        </p:nvSpPr>
        <p:spPr>
          <a:xfrm>
            <a:off x="678872" y="958844"/>
            <a:ext cx="1113212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구획배출권거래제는</a:t>
            </a:r>
            <a:r>
              <a:rPr lang="ko-KR" altLang="en-US" sz="1600" spc="-50" dirty="0"/>
              <a:t> 전체 관리지역을 몇 개의 구획으로 분리한 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구획 내의 모든 오염원은 배출량기준 거래제에 의해 배출권을 </a:t>
            </a:r>
            <a:r>
              <a:rPr lang="en-US" altLang="ko-KR" sz="1600" spc="-50" dirty="0"/>
              <a:t>1:1</a:t>
            </a:r>
            <a:r>
              <a:rPr lang="ko-KR" altLang="en-US" sz="1600" spc="-50" dirty="0"/>
              <a:t>로 거래하게 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서로 다른 구획 간의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거래는 원칙적으로 금지한다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Ch.7</a:t>
            </a:r>
            <a:r>
              <a:rPr lang="ko-KR" altLang="en-US" sz="1600" spc="-50" dirty="0"/>
              <a:t>에서 배웠듯이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이질적 오염물질을 배출부과금제도를 이용해 규제할 때 전체 지역을 몇 개의 구획으로 나누어 </a:t>
            </a:r>
            <a:r>
              <a:rPr lang="ko-KR" altLang="en-US" sz="1600" spc="-50" dirty="0" err="1"/>
              <a:t>차등화된</a:t>
            </a:r>
            <a:r>
              <a:rPr lang="ko-KR" altLang="en-US" sz="1600" spc="-50" dirty="0"/>
              <a:t> 부과금을 부과하는 것과 마찬가지로 </a:t>
            </a:r>
            <a:r>
              <a:rPr lang="ko-KR" altLang="en-US" sz="1600" spc="-50" dirty="0" err="1"/>
              <a:t>배출권거래제</a:t>
            </a:r>
            <a:r>
              <a:rPr lang="ko-KR" altLang="en-US" sz="1600" spc="-50" dirty="0"/>
              <a:t> 역시 구획화 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구획화를 하면 구획 내 오염물질의 동질성이 향상되기 때문에 오염물질의 이질성이 야기하는 문제를 많이 줄일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서로 다른 구획 간의 거래를 금지하게 되면 오염원들이 서로 간의 거래를 통해 효율성을 추구할 수 있는 기회를 제한하게 되므로 이로 인한 비용이 추가로 발생하게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즉 구획화는 아래와 같이 동시에 해결할 수 없는 두 가지 문제를 고려해야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오염물질의 동질성 확보를 위해 구획을 가능한 작게 설정해야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거래의 효율성 확보를 위해 구획을 가능한 크게 설정해야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절충안으로서 서로 다른 구획 간의 거래를 제한된 형태로 나마 허용하는 방안이 있을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구획 간 거래 비율은 </a:t>
            </a:r>
            <a:r>
              <a:rPr lang="en-US" altLang="ko-KR" sz="1600" spc="-50" dirty="0"/>
              <a:t>1:1</a:t>
            </a:r>
            <a:r>
              <a:rPr lang="ko-KR" altLang="en-US" sz="1600" spc="-50" dirty="0"/>
              <a:t>이 아니고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교환 비율을 정해주어야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 예로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남캘리포니아의</a:t>
            </a:r>
            <a:r>
              <a:rPr lang="ko-KR" altLang="en-US" sz="1600" spc="-50" dirty="0"/>
              <a:t> 대기오염 관리제도는 대상 지역을 해안지역과 내륙지역으로 구분하고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내륙지역에 위치한 오염원이 해안지역의 </a:t>
            </a:r>
            <a:r>
              <a:rPr lang="ko-KR" altLang="en-US" sz="1600" spc="-50" dirty="0" err="1"/>
              <a:t>배출권시장에서</a:t>
            </a:r>
            <a:r>
              <a:rPr lang="ko-KR" altLang="en-US" sz="1600" spc="-50" dirty="0"/>
              <a:t> 배출권을 구매하는 것은 허용하지만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반대의 경우는 허용하지 않음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지형 여건상 해안의 오염물질은 내륙으로 쉽게 이동하지만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내륙에서 해안으로는 이동하지 않기 때문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327465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32C98-E828-E51B-87E8-12466AF85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B80852-9A8F-2172-3B9C-7A48F1A4EA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단일 오염도기준 </a:t>
            </a:r>
            <a:r>
              <a:rPr lang="ko-KR" altLang="en-US" dirty="0" err="1"/>
              <a:t>배출권시장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7DE82A-4450-598F-C89D-839652571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D251E4-98ED-11E2-77D0-1239E7A2395F}"/>
              </a:ext>
            </a:extLst>
          </p:cNvPr>
          <p:cNvSpPr txBox="1"/>
          <p:nvPr/>
        </p:nvSpPr>
        <p:spPr>
          <a:xfrm>
            <a:off x="678872" y="958844"/>
            <a:ext cx="1113212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단일 오염도기준 </a:t>
            </a:r>
            <a:r>
              <a:rPr lang="ko-KR" altLang="en-US" sz="1600" spc="-50" dirty="0" err="1"/>
              <a:t>배출권시장에서는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특히 오염이 심한 지점을 기준으로 각 오염원의 전이계수를 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따라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교환비율을 정해준다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기준이 되는 지점에 가까운 오염원이 배출권을 줄이면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보다 멀리 떨어진 오염원은 대신 보다 많은 배출을 늘릴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기준 지점의 오염이 개선되면서 환경개선효과를 누릴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하지만 시간이 지날수록 제도의 장점이 사라지는 문제를 동반한다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오염이 심한 기준 지점만을 반영하여 교환비율이 결정되면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새로운 오염시설은 모두 이 기준 지점으로부터 멀리 위치하여 보다 싼 가격에 배출을 하려고 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결과 시간이 지날수록 기준 지점 외의 오염이 심해질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216120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1306E-7CBC-51C5-8907-505C98645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55386C-FCA7-6CC6-22D7-A579410B7D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배출권거래의</a:t>
            </a:r>
            <a:r>
              <a:rPr lang="ko-KR" altLang="en-US" dirty="0"/>
              <a:t> 동태적 측면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4CD1E3-7611-8C10-48CB-B1E191704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B83AB9-AE48-E458-8B66-C1DE4C8C71E9}"/>
              </a:ext>
            </a:extLst>
          </p:cNvPr>
          <p:cNvSpPr txBox="1"/>
          <p:nvPr/>
        </p:nvSpPr>
        <p:spPr>
          <a:xfrm>
            <a:off x="678872" y="958844"/>
            <a:ext cx="1113212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배출권거래제를</a:t>
            </a:r>
            <a:r>
              <a:rPr lang="ko-KR" altLang="en-US" sz="1600" spc="-50" dirty="0"/>
              <a:t> 실제로 실행할 때에는 공간적문제뿐 아니라 시간적 문제까지 고려해야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오염도가 시간이 지나면서 변하는 데에는 여러 이유가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오염원의 생산 행위가 시간에 따라 변하는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강수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풍향 등에 따른 자연적 요인에 의해서 변하는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축적성</a:t>
            </a:r>
            <a:r>
              <a:rPr lang="ko-KR" altLang="en-US" sz="1600" spc="-50" dirty="0"/>
              <a:t> 오염물질의 경우 자연의 흡수능력보다 빠르게 축적되는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정부는 시간변수를 도입하여 </a:t>
            </a:r>
            <a:r>
              <a:rPr lang="ko-KR" altLang="en-US" sz="1600" spc="-50" dirty="0" err="1"/>
              <a:t>배출권거래제를</a:t>
            </a:r>
            <a:r>
              <a:rPr lang="ko-KR" altLang="en-US" sz="1600" spc="-50" dirty="0"/>
              <a:t> 설계하는 것이 필요하다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배출권의 예치와 차용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계절별 </a:t>
            </a:r>
            <a:r>
              <a:rPr lang="ko-KR" altLang="en-US" sz="1600" spc="-50" dirty="0" err="1"/>
              <a:t>배출권거래제의</a:t>
            </a:r>
            <a:r>
              <a:rPr lang="ko-KR" altLang="en-US" sz="1600" spc="-50" dirty="0"/>
              <a:t> 운용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들어 오존은 온도가 높을 때 농도가 높아지므로 여름과 여타 계절로 분리하여 </a:t>
            </a:r>
            <a:r>
              <a:rPr lang="ko-KR" altLang="en-US" sz="1600" spc="-50" dirty="0" err="1"/>
              <a:t>배출권거래제를</a:t>
            </a:r>
            <a:r>
              <a:rPr lang="ko-KR" altLang="en-US" sz="1600" spc="-50" dirty="0"/>
              <a:t> 운용할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여름에는 매월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톤의 오존 생성가스를 배출하고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여타 계절에는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톤의 가스를 배출 할 수 있는 방식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715599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AE45D-6497-EBCF-FB8A-C279169CD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0FEE7E-E821-402D-0C5F-19CBD0B2F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배출권의 예치와 차용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2FF4AA-9DAD-8599-90E5-AA7FBAE30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E27EFC-9743-E68A-6CFF-AC1E5945A472}"/>
              </a:ext>
            </a:extLst>
          </p:cNvPr>
          <p:cNvSpPr txBox="1"/>
          <p:nvPr/>
        </p:nvSpPr>
        <p:spPr>
          <a:xfrm>
            <a:off x="678872" y="958844"/>
            <a:ext cx="1113212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배출권의 예치는 이번 해에 배출할 수 있는 권리보다도 더 적은 양을 배출한 후 그 차이를 내년으로 이월하는 행위를 의미하고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배출권의 차용은 내년도에 갖게 될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중 일부를 금년도에 미리 사용하는 행위를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배출권의 이월과 차용을 허용하면 오염원은 저감 설비 투자 </a:t>
            </a:r>
            <a:r>
              <a:rPr lang="ko-KR" altLang="en-US" sz="1600" spc="-50"/>
              <a:t>시점을 선택할 때 </a:t>
            </a:r>
            <a:r>
              <a:rPr lang="ko-KR" altLang="en-US" sz="1600" spc="-50" dirty="0"/>
              <a:t>재량권을 갖게 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저감비용을 줄일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오염원은 배출권의 시장수요가 높을 때를 대비해 배출권을 절약할 수 있어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시장가격 안정화에도 도움이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 저감활동을 위한 비용지출을 뒤로 미룰수록 최소한 이자율에 해당하는 이득을 얻을 수 있기 때문에 오염원은 저감설비 투자나 가동을 미루고 배출권을 </a:t>
            </a:r>
            <a:r>
              <a:rPr lang="ko-KR" altLang="en-US" sz="1600" spc="-50" dirty="0" err="1"/>
              <a:t>차용하려하는</a:t>
            </a:r>
            <a:r>
              <a:rPr lang="ko-KR" altLang="en-US" sz="1600" spc="-50" dirty="0"/>
              <a:t> 문제가 발생한다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오염피해는 초기에 크고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후기에 작아지는 경향이 생기는데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 전체로 보면 오염피해 또한 초기보다 나중에 발생하는 것이 이득이다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배출권의 시점 간 거래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예치와 차용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허용하려면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적용하는 이자율을 경제 전체의 통상적인 이자율보다 </a:t>
            </a:r>
            <a:r>
              <a:rPr lang="ko-KR" altLang="en-US" sz="1600" spc="-50" dirty="0" err="1"/>
              <a:t>높게할</a:t>
            </a:r>
            <a:r>
              <a:rPr lang="ko-KR" altLang="en-US" sz="1600" spc="-50" dirty="0"/>
              <a:t> 필요는 있다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4723416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8D89E-A5D8-5D06-3126-799BD1881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877B0A-FFFD-E296-8090-9490EA628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최초배출권의 분배문제와 정책 수용성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9061AF-77D0-0DE9-1E1C-D746AC4E9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7ED6DA-BD50-4042-DF07-4B4A2EB4517B}"/>
              </a:ext>
            </a:extLst>
          </p:cNvPr>
          <p:cNvSpPr txBox="1"/>
          <p:nvPr/>
        </p:nvSpPr>
        <p:spPr>
          <a:xfrm>
            <a:off x="678872" y="958844"/>
            <a:ext cx="11132127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</a:t>
            </a:r>
            <a:r>
              <a:rPr lang="ko-KR" altLang="en-US" sz="1600" spc="-50" dirty="0" err="1"/>
              <a:t>배출권거래제를</a:t>
            </a:r>
            <a:r>
              <a:rPr lang="ko-KR" altLang="en-US" sz="1600" spc="-50" dirty="0"/>
              <a:t> 도입하면 </a:t>
            </a:r>
            <a:r>
              <a:rPr lang="ko-KR" altLang="en-US" sz="1600" spc="-50" dirty="0" err="1"/>
              <a:t>오염원간의</a:t>
            </a:r>
            <a:r>
              <a:rPr lang="ko-KR" altLang="en-US" sz="1600" spc="-50" dirty="0"/>
              <a:t> 자발적인 거래에 의해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가격이 결정된다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장기적으로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혹은 이론적으로 보면 정부가 최초에 배출권을 어떻게 분배하느냐 하는 것은 궁극적인 비용효과성에 영향을 미치지 않아야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최초에 어떤 상태에 있던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오염원들의 자발적 거래에 의해 각 오염원의 한계저감비용과 일치하는 수준에서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시장가격이 최종적으로 형성되고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시장가격과 일치하는 수준에서 배출량 혹은 </a:t>
            </a:r>
            <a:r>
              <a:rPr lang="ko-KR" altLang="en-US" sz="1600" spc="-50" dirty="0" err="1"/>
              <a:t>저감량을</a:t>
            </a:r>
            <a:r>
              <a:rPr lang="ko-KR" altLang="en-US" sz="1600" spc="-50" dirty="0"/>
              <a:t> 선택하게 되기 때문이다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하지만 현실에서는 많은 요인이 </a:t>
            </a:r>
            <a:r>
              <a:rPr lang="ko-KR" altLang="en-US" sz="1600" spc="-50" dirty="0" err="1"/>
              <a:t>배출권시장에</a:t>
            </a:r>
            <a:r>
              <a:rPr lang="ko-KR" altLang="en-US" sz="1600" spc="-50" dirty="0"/>
              <a:t> 영향을 미치기 때문에 최초의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배분방식에 따라 시장의 균형 자체가 달라질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오염원 간의 형평성 문제에도 영향을 미치기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이해 당사자들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오염원들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정책을 수용하려 </a:t>
            </a:r>
            <a:r>
              <a:rPr lang="ko-KR" altLang="en-US" sz="1600" spc="-50" dirty="0" err="1"/>
              <a:t>하는지에도</a:t>
            </a:r>
            <a:r>
              <a:rPr lang="ko-KR" altLang="en-US" sz="1600" spc="-50" dirty="0"/>
              <a:t> 영향을 미치게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배출권을 오염원에게 분배하는 방법은 여러가지가 있지만 아래의 두가지 방법이 많이 사용되고 또 논란이 많다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그랜드파더링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(grandfathering)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경매제도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9026402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552E3D-B87E-8DE6-E19C-A30CA7794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그랜드파더링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A80005-363A-ADC6-41EE-600D97F18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0ADDB0-5019-DB79-F539-5F54DCDCA896}"/>
              </a:ext>
            </a:extLst>
          </p:cNvPr>
          <p:cNvSpPr txBox="1"/>
          <p:nvPr/>
        </p:nvSpPr>
        <p:spPr>
          <a:xfrm>
            <a:off x="678872" y="958844"/>
            <a:ext cx="11132127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그랜드파더링은</a:t>
            </a:r>
            <a:r>
              <a:rPr lang="ko-KR" altLang="en-US" sz="1600" spc="-50" dirty="0"/>
              <a:t> 각 오염원이 과거에 배출하던 배출량에 비례하여 배출권을 분배하는 방식을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오염물질 저감을 위해 많은 노력을 이미 기울인 기업에게는 불합리한 방법이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오염원들이 정부가 이 방식을 택할 것이라는 사실을 안다면 </a:t>
            </a:r>
            <a:r>
              <a:rPr lang="ko-KR" altLang="en-US" sz="1600" spc="-50" dirty="0" err="1"/>
              <a:t>배출권거래제</a:t>
            </a:r>
            <a:r>
              <a:rPr lang="ko-KR" altLang="en-US" sz="1600" spc="-50" dirty="0"/>
              <a:t> 시행 시점에 맞추어 배출량을 의도적으로 늘릴 가능성 또한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실제로 </a:t>
            </a:r>
            <a:r>
              <a:rPr lang="ko-KR" altLang="en-US" sz="1600" spc="-50" dirty="0" err="1"/>
              <a:t>그랜드파더링이</a:t>
            </a:r>
            <a:r>
              <a:rPr lang="ko-KR" altLang="en-US" sz="1600" spc="-50" dirty="0"/>
              <a:t> 시행된 예시는 지구온난화 방지를 위한 교토의정서</a:t>
            </a:r>
            <a:r>
              <a:rPr lang="en-US" altLang="ko-KR" sz="1600" spc="-50" dirty="0"/>
              <a:t>(1997) </a:t>
            </a:r>
            <a:r>
              <a:rPr lang="ko-KR" altLang="en-US" sz="1600" spc="-50" dirty="0"/>
              <a:t>합의문에서 찾아볼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선진국들의 온실가스 </a:t>
            </a:r>
            <a:r>
              <a:rPr lang="ko-KR" altLang="en-US" sz="1600" spc="-50" dirty="0" err="1"/>
              <a:t>저감량을</a:t>
            </a:r>
            <a:r>
              <a:rPr lang="ko-KR" altLang="en-US" sz="1600" spc="-50" dirty="0"/>
              <a:t> 결정할 때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 배출량을 기준으로 하여 특정 비율만큼 줄이도록 배출권을 분배하되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구체적인 수준은 협상을 통해 정하도록 하였다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756613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9BCC0B-88BB-27A6-4E60-865564D63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교토의정서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F4447-C713-1A12-E653-446D642E7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B29D5B2-0913-DDF6-689C-A977E76A4B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8512" y="1018131"/>
            <a:ext cx="9523840" cy="540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EF4B370-FEE5-7BF8-7076-F612DEDCA76A}"/>
              </a:ext>
            </a:extLst>
          </p:cNvPr>
          <p:cNvSpPr txBox="1"/>
          <p:nvPr/>
        </p:nvSpPr>
        <p:spPr>
          <a:xfrm>
            <a:off x="8685306" y="6287326"/>
            <a:ext cx="329714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dirty="0"/>
              <a:t>https://www.khnp.co.kr/main/contents.do?key=247</a:t>
            </a:r>
          </a:p>
        </p:txBody>
      </p:sp>
    </p:spTree>
    <p:extLst>
      <p:ext uri="{BB962C8B-B14F-4D97-AF65-F5344CB8AC3E}">
        <p14:creationId xmlns:p14="http://schemas.microsoft.com/office/powerpoint/2010/main" val="35368443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3FAEA6-4358-2503-33C7-ACDAD9F7B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교토의정서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59FB27-43E6-64FB-3E29-A386E4178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6B1E5D9-2461-670F-1148-BB56583261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0685" y="1006969"/>
            <a:ext cx="10287153" cy="540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39DBD4E-14BB-222D-ED39-B03AA7E56E8D}"/>
              </a:ext>
            </a:extLst>
          </p:cNvPr>
          <p:cNvSpPr txBox="1"/>
          <p:nvPr/>
        </p:nvSpPr>
        <p:spPr>
          <a:xfrm>
            <a:off x="8685306" y="6287326"/>
            <a:ext cx="329714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dirty="0"/>
              <a:t>https://www.khnp.co.kr/main/contents.do?key=247</a:t>
            </a:r>
          </a:p>
        </p:txBody>
      </p:sp>
    </p:spTree>
    <p:extLst>
      <p:ext uri="{BB962C8B-B14F-4D97-AF65-F5344CB8AC3E}">
        <p14:creationId xmlns:p14="http://schemas.microsoft.com/office/powerpoint/2010/main" val="27181346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E4D87A-0C38-D34A-F550-4A8A99C52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경매제도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CE7CBD-8FDC-E3BD-0D6B-385E6247B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EA4387-7DE1-03B3-CC38-7FDB88872831}"/>
              </a:ext>
            </a:extLst>
          </p:cNvPr>
          <p:cNvSpPr txBox="1"/>
          <p:nvPr/>
        </p:nvSpPr>
        <p:spPr>
          <a:xfrm>
            <a:off x="678872" y="958844"/>
            <a:ext cx="1113212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경매에서는 가장 높은 지불의사를 표시한 오염원이 배출권을 가져간다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큰 특징 중 하나가 경매로 인해 정부 수입이 발생하고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대신 오염원들은 그만큼의 비용 부담이 늘어난다는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정부수입을 통해 다른 조세를 대체하는 것이 가능하기 때문에 추가적인 편익이 발생할 수 있다</a:t>
            </a:r>
            <a:r>
              <a:rPr lang="en-US" altLang="ko-KR" sz="1600" spc="-50" dirty="0"/>
              <a:t>. (Ch.7</a:t>
            </a:r>
            <a:r>
              <a:rPr lang="ko-KR" altLang="en-US" sz="1600" spc="-50" dirty="0"/>
              <a:t>에서 배운 환경세의 이중편익가설 참고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오염원 입장에서는 직접규제에서는 정부의 기준만 준수하면 비용을 지불하지 않아도 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제도는 기업에게 부담이 될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이러한 기업의 입장을 고려하면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경매 수입을 다시 오염원에게 돌려주는 방법도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경매제도를 도입하면 오염원은 배출저감을 위해 저감비용을 지출하고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추가로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구매비도 지출해야 한다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두 비용의 합이 직접규제로 인한 저감비용과 비교하여 어느 것이 더 많은지에 따라 정책수용성이 결정된다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다음장의 표는 </a:t>
            </a:r>
            <a:r>
              <a:rPr lang="ko-KR" altLang="en-US" sz="1600" spc="-50" dirty="0" err="1"/>
              <a:t>배출권거래제에서의</a:t>
            </a:r>
            <a:r>
              <a:rPr lang="ko-KR" altLang="en-US" sz="1600" spc="-50" dirty="0"/>
              <a:t> 저감비용과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구매비용의 합을 직접규제에서의 저감비용과 비교하고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270222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711993-4E06-8D54-5EF0-C214AA898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경매제도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C92D34-EF06-82EE-966E-616FAD241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53868849-8392-AA48-B8E2-30D14BC957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0123991"/>
              </p:ext>
            </p:extLst>
          </p:nvPr>
        </p:nvGraphicFramePr>
        <p:xfrm>
          <a:off x="1370574" y="1262046"/>
          <a:ext cx="8584108" cy="221472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277376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862667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193886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47095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오염물질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적용지역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APS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비용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직접규제비용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EPS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비용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직접규제비용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아황산가스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유타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콜로라도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아리조나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뉴멕시코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접경지역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n/a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0.59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황산화물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로스엔젤레스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n/a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1.09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먼지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볼티모어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0.66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n/a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질소산화물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볼티모어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n/a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4.36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질소산화물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시카고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0.10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6.08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44752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아황산가스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델라웨어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n/a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2.39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20717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먼지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델라웨어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n/a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0.35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46E0F2B-448C-3D0C-D627-37D544919CF5}"/>
              </a:ext>
            </a:extLst>
          </p:cNvPr>
          <p:cNvSpPr txBox="1"/>
          <p:nvPr/>
        </p:nvSpPr>
        <p:spPr>
          <a:xfrm>
            <a:off x="3847074" y="969658"/>
            <a:ext cx="363322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300" b="1" kern="0" dirty="0">
                <a:latin typeface="+mn-ea"/>
              </a:rPr>
              <a:t>&lt;</a:t>
            </a:r>
            <a:r>
              <a:rPr lang="ko-KR" altLang="en-US" sz="1300" b="1" kern="0" dirty="0" err="1">
                <a:latin typeface="+mn-ea"/>
              </a:rPr>
              <a:t>배출권거래제하의</a:t>
            </a:r>
            <a:r>
              <a:rPr lang="ko-KR" altLang="en-US" sz="1300" b="1" kern="0" dirty="0">
                <a:latin typeface="+mn-ea"/>
              </a:rPr>
              <a:t> 오염원의 총비용부담</a:t>
            </a:r>
            <a:r>
              <a:rPr lang="en-US" altLang="ko-KR" sz="1300" b="1" kern="0" dirty="0">
                <a:latin typeface="+mn-ea"/>
              </a:rPr>
              <a:t>&gt;</a:t>
            </a:r>
            <a:endParaRPr lang="ko-KR" altLang="en-US" sz="1300" b="1" kern="0" dirty="0">
              <a:latin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615C7C-F34B-98C3-74FA-AAAF392D5AD0}"/>
              </a:ext>
            </a:extLst>
          </p:cNvPr>
          <p:cNvSpPr txBox="1"/>
          <p:nvPr/>
        </p:nvSpPr>
        <p:spPr>
          <a:xfrm>
            <a:off x="4273550" y="3448050"/>
            <a:ext cx="568113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spc="-50" dirty="0" err="1"/>
              <a:t>Tietenberg</a:t>
            </a:r>
            <a:r>
              <a:rPr lang="en-US" altLang="ko-KR" sz="1050" spc="-50" dirty="0"/>
              <a:t>, T. H. (2006), Emissions Trading: Principles and Practice, 2</a:t>
            </a:r>
            <a:r>
              <a:rPr lang="en-US" altLang="ko-KR" sz="1050" spc="-50" baseline="30000" dirty="0"/>
              <a:t>nd</a:t>
            </a:r>
            <a:r>
              <a:rPr lang="en-US" altLang="ko-KR" sz="1050" spc="-50" dirty="0"/>
              <a:t> ed., Resources for the Future</a:t>
            </a:r>
            <a:endParaRPr lang="ko-KR" altLang="en-US" sz="10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A959100-A68B-D894-4B51-FECBCEB70B38}"/>
              </a:ext>
            </a:extLst>
          </p:cNvPr>
          <p:cNvSpPr txBox="1"/>
          <p:nvPr/>
        </p:nvSpPr>
        <p:spPr>
          <a:xfrm>
            <a:off x="678872" y="4025894"/>
            <a:ext cx="1113212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(APS</a:t>
            </a:r>
            <a:r>
              <a:rPr lang="ko-KR" altLang="en-US" sz="1600" spc="-50" dirty="0"/>
              <a:t>비용</a:t>
            </a:r>
            <a:r>
              <a:rPr lang="en-US" altLang="ko-KR" sz="1600" spc="-50" dirty="0"/>
              <a:t>/</a:t>
            </a:r>
            <a:r>
              <a:rPr lang="ko-KR" altLang="en-US" sz="1600" spc="-50" dirty="0"/>
              <a:t>직접규제비용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오염물질의 이질성을 적절히 반영하는 오염도기준 거래제가 시행되면 경매에서의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구매비용을 감안해도 </a:t>
            </a:r>
            <a:r>
              <a:rPr lang="ko-KR" altLang="en-US" sz="1600" spc="-50" dirty="0" err="1"/>
              <a:t>배출권거래제의</a:t>
            </a:r>
            <a:r>
              <a:rPr lang="ko-KR" altLang="en-US" sz="1600" spc="-50" dirty="0"/>
              <a:t> 오염원 비용이 직접규제의 저감비용보다 작다는 것을 알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직접규제와 달리 </a:t>
            </a:r>
            <a:r>
              <a:rPr lang="ko-KR" altLang="en-US" sz="1600" spc="-50" dirty="0" err="1"/>
              <a:t>배출권거래제는</a:t>
            </a:r>
            <a:r>
              <a:rPr lang="ko-KR" altLang="en-US" sz="1600" spc="-50" dirty="0"/>
              <a:t> 비용효과성을 달성해 저감비용을 크게 줄여주기 때문이다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(EPS</a:t>
            </a:r>
            <a:r>
              <a:rPr lang="ko-KR" altLang="en-US" sz="1600" spc="-50" dirty="0"/>
              <a:t>비용</a:t>
            </a:r>
            <a:r>
              <a:rPr lang="en-US" altLang="ko-KR" sz="1600" spc="-50" dirty="0"/>
              <a:t>/</a:t>
            </a:r>
            <a:r>
              <a:rPr lang="ko-KR" altLang="en-US" sz="1600" spc="-50" dirty="0"/>
              <a:t>직접규제비용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그러나 오염물질이 이질적임에도 불구하고 배출량기준 거래제를 사용하게 되면 저감비용 측면의 정책 효율성이 줄어들어 </a:t>
            </a:r>
            <a:r>
              <a:rPr lang="ko-KR" altLang="en-US" sz="1600" spc="-50" dirty="0" err="1"/>
              <a:t>배출권거래제의</a:t>
            </a:r>
            <a:r>
              <a:rPr lang="ko-KR" altLang="en-US" sz="1600" spc="-50" dirty="0"/>
              <a:t> 상대적 장점이 많이 사라진다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094370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B0EE5B-BD4D-9FBB-C56B-742D76C09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배출권시장의</a:t>
            </a:r>
            <a:r>
              <a:rPr lang="ko-KR" altLang="en-US" dirty="0"/>
              <a:t> </a:t>
            </a:r>
            <a:r>
              <a:rPr lang="ko-KR" altLang="en-US" dirty="0" err="1"/>
              <a:t>경쟁성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2A46BB-66EC-B3F5-8024-A3745DE48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21CBC0-F5A1-4A86-7688-3BACD280232E}"/>
              </a:ext>
            </a:extLst>
          </p:cNvPr>
          <p:cNvSpPr txBox="1"/>
          <p:nvPr/>
        </p:nvSpPr>
        <p:spPr>
          <a:xfrm>
            <a:off x="678872" y="958844"/>
            <a:ext cx="1113212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 재화와 마찬가지로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시장도 </a:t>
            </a:r>
            <a:r>
              <a:rPr lang="ko-KR" altLang="en-US" sz="1600" spc="-50" dirty="0" err="1"/>
              <a:t>완전경쟁적이어야</a:t>
            </a:r>
            <a:r>
              <a:rPr lang="ko-KR" altLang="en-US" sz="1600" spc="-50" dirty="0"/>
              <a:t> 사회적 효율성이 달성된다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전제조건으로 </a:t>
            </a:r>
            <a:r>
              <a:rPr lang="ko-KR" altLang="en-US" sz="1600" spc="-50" dirty="0" err="1"/>
              <a:t>배출권시장에</a:t>
            </a:r>
            <a:r>
              <a:rPr lang="ko-KR" altLang="en-US" sz="1600" spc="-50" dirty="0"/>
              <a:t> 많은 수의 거래자가 참여하여 한 거래자의 행위로 인해 시장 전체의 가격이 영향을 받지 않아야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만약 많은 양의 배출권을 보유하여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시장가격에 영향을 미칠 수 있는 오염원이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오염원이 배출권을 판매할 때는 공급독점자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구매할 때는 수요독점자가 될 것이다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이는 </a:t>
            </a:r>
            <a:r>
              <a:rPr lang="ko-KR" altLang="en-US" sz="1600" spc="-50" dirty="0" err="1"/>
              <a:t>배출권시장의</a:t>
            </a:r>
            <a:r>
              <a:rPr lang="ko-KR" altLang="en-US" sz="1600" spc="-50" dirty="0"/>
              <a:t> 효율성을 감소시킬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시장에 영향력을 가진 거래자가 배출권을 판매하려 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시장가격은 하락하게 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판매자 입장에서는 완전경쟁시장에서는 발생하지 않던 추가 비용이다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이렇게 배출권을 판매하면 그 가치가 떨어지는 것을 비용으로 인식하게 되면 판매자는 완전경쟁일 경우에 비해 더 적은 양의 </a:t>
            </a:r>
            <a:r>
              <a:rPr lang="ko-KR" altLang="en-US" sz="1600" spc="-50" dirty="0" err="1"/>
              <a:t>배출권만을</a:t>
            </a:r>
            <a:r>
              <a:rPr lang="ko-KR" altLang="en-US" sz="1600" spc="-50" dirty="0"/>
              <a:t> 판매하려고 할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220304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26F94E-5FBD-C4D0-9684-0BA3DC25C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감시 및 감독비용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2E3743-8161-B59A-EB89-56427E885F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F64025-9ED9-F348-9A4E-A82400542543}"/>
              </a:ext>
            </a:extLst>
          </p:cNvPr>
          <p:cNvSpPr txBox="1"/>
          <p:nvPr/>
        </p:nvSpPr>
        <p:spPr>
          <a:xfrm>
            <a:off x="678872" y="958844"/>
            <a:ext cx="11132127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배출권거래제는</a:t>
            </a:r>
            <a:r>
              <a:rPr lang="ko-KR" altLang="en-US" sz="1600" spc="-50" dirty="0"/>
              <a:t> 배출부과금제에 비해서는 정부와 오염원이 직접 접촉할 필요성을 </a:t>
            </a:r>
            <a:r>
              <a:rPr lang="ko-KR" altLang="en-US" sz="1600" spc="-50" dirty="0" err="1"/>
              <a:t>주여주는</a:t>
            </a:r>
            <a:r>
              <a:rPr lang="ko-KR" altLang="en-US" sz="1600" spc="-50" dirty="0"/>
              <a:t> 정책이기는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제도 역시 오염원의 행위를 감시하고 감독하는 비용을 필요로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무엇보다도 정부는 각 오염원이 소유한 배출권보다 더 많은 양의 배출을 하지 않도록 감시할 의무가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과정에서 감시 및 감독비용이 소요된다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직접규제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배출부과금제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배출권거래제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세 가지 제도 모두 공통적으로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규제당국은 오염원의 배출량이 </a:t>
            </a:r>
            <a:r>
              <a:rPr lang="ko-KR" altLang="en-US" sz="1600" spc="-50" dirty="0" err="1"/>
              <a:t>어느정도인지를</a:t>
            </a:r>
            <a:r>
              <a:rPr lang="ko-KR" altLang="en-US" sz="1600" spc="-50" dirty="0"/>
              <a:t> 정확히 알 필요가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다만 아래와 같이 세부적인 차이가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배출부과금제와 </a:t>
            </a:r>
            <a:r>
              <a:rPr lang="ko-KR" altLang="en-US" sz="1600" spc="-50" dirty="0" err="1"/>
              <a:t>배출권거래제를</a:t>
            </a:r>
            <a:r>
              <a:rPr lang="ko-KR" altLang="en-US" sz="1600" spc="-50" dirty="0"/>
              <a:t> 비교하면 </a:t>
            </a:r>
            <a:r>
              <a:rPr lang="ko-KR" altLang="en-US" sz="1600" spc="-50" dirty="0" err="1"/>
              <a:t>배출권거래제의</a:t>
            </a:r>
            <a:r>
              <a:rPr lang="ko-KR" altLang="en-US" sz="1600" spc="-50" dirty="0"/>
              <a:t> 경우에서 정부는 감시 의무가 더 적다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배출권거래제의</a:t>
            </a:r>
            <a:r>
              <a:rPr lang="ko-KR" altLang="en-US" sz="1600" spc="-50" dirty="0"/>
              <a:t> 경우 서로의 행동을 감시할 가능성이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부과금제도에서는 어떤 오염원이 신고한 그 이상을 배출하더라도 다른 오염원의 이윤에 영향을 끼치지 않는다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배출권거래제에서는</a:t>
            </a:r>
            <a:r>
              <a:rPr lang="ko-KR" altLang="en-US" sz="1600" spc="-50" dirty="0"/>
              <a:t> 어떤 오염원이 초과 배출을 하면 그로 인해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시장 수요가 줄어들어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배출권의 시장가격이 정상적인 경우보다 낮아지게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다른 오염원의 부정 배출을 인지하면 고발하고자 할 것이며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이런 식의 오염원 간 상호감시가 이루어지면 정부의 감시 및 감독 필요성은 줄어든다</a:t>
            </a:r>
            <a:endParaRPr lang="en-US" altLang="ko-KR" sz="1600" spc="-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C792F5-FCB5-AB61-62F9-B5B194677DE9}"/>
              </a:ext>
            </a:extLst>
          </p:cNvPr>
          <p:cNvSpPr txBox="1"/>
          <p:nvPr/>
        </p:nvSpPr>
        <p:spPr>
          <a:xfrm>
            <a:off x="4765996" y="5931984"/>
            <a:ext cx="1974558" cy="4431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뒷장에 이어 계속</a:t>
            </a:r>
            <a:endParaRPr lang="en-US" altLang="ko-KR" sz="18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423642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51C64-DC12-76A2-419D-F5EDB892B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508867-077E-4E92-3B36-D8B64D2E3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감시 및 감독비용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93E490-DC38-CE24-4028-2B1699EEF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0907BE-10E8-D4C6-0B73-7E485EB5EA0B}"/>
              </a:ext>
            </a:extLst>
          </p:cNvPr>
          <p:cNvSpPr txBox="1"/>
          <p:nvPr/>
        </p:nvSpPr>
        <p:spPr>
          <a:xfrm>
            <a:off x="678872" y="958844"/>
            <a:ext cx="11132127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직접규제와 </a:t>
            </a:r>
            <a:r>
              <a:rPr lang="ko-KR" altLang="en-US" sz="1600" spc="-50" dirty="0" err="1"/>
              <a:t>배출권거래제를</a:t>
            </a:r>
            <a:r>
              <a:rPr lang="ko-KR" altLang="en-US" sz="1600" spc="-50" dirty="0"/>
              <a:t> 비교하면 어느 쪽의 감시 비용이 클지 단정하기는 어렵다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설명한 상호감시 유인 덕분에 </a:t>
            </a:r>
            <a:r>
              <a:rPr lang="ko-KR" altLang="en-US" sz="1600" spc="-50" dirty="0" err="1"/>
              <a:t>배출권거래제는</a:t>
            </a:r>
            <a:r>
              <a:rPr lang="ko-KR" altLang="en-US" sz="1600" spc="-50" dirty="0"/>
              <a:t> 더 적은 감시 비용이 든다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반대로 </a:t>
            </a:r>
            <a:r>
              <a:rPr lang="ko-KR" altLang="en-US" sz="1600" spc="-50" dirty="0" err="1"/>
              <a:t>배출권거래제가</a:t>
            </a:r>
            <a:r>
              <a:rPr lang="ko-KR" altLang="en-US" sz="1600" spc="-50" dirty="0"/>
              <a:t> 직접규제보다 더 많은 감시 비용이 들 수도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직접규제는 많은 경우 배출량보다는 농도를 규제하고 따라서 오염원을 상시 감시할 필요성은 적다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한편 </a:t>
            </a:r>
            <a:r>
              <a:rPr lang="ko-KR" altLang="en-US" sz="1600" spc="-50" dirty="0" err="1"/>
              <a:t>배출권거래제에서는</a:t>
            </a:r>
            <a:r>
              <a:rPr lang="ko-KR" altLang="en-US" sz="1600" spc="-50" dirty="0"/>
              <a:t> 오염원의 실제 배출량과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보유량이 일치하는지를 확인할 수 있어야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거래를 통한 권리이전 현황까지 계속해서 자료로 확보하여야 하므로 이를 위한 비용이 소모된다</a:t>
            </a:r>
            <a:r>
              <a:rPr lang="en-US" altLang="ko-KR" sz="1600" spc="-5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6301291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85875E-1F13-3EA7-2904-69E05BBD9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0C0C284-5A70-48F9-F583-22DF08FC7DC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8FBD06-2AA1-D6C2-4B76-7374B34BA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DFA097A-4048-18BB-11B0-DDDD4271B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871855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 err="1"/>
              <a:t>배출권거래제</a:t>
            </a:r>
            <a:r>
              <a:rPr lang="ko-KR" altLang="en-US" sz="4000" b="1" i="0" spc="150" dirty="0"/>
              <a:t> 실행 사례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1256398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58B57C-C146-376B-15F8-DDFB3C659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옵셋정책</a:t>
            </a:r>
            <a:r>
              <a:rPr lang="en-US" altLang="ko-KR" dirty="0"/>
              <a:t>: </a:t>
            </a:r>
            <a:r>
              <a:rPr lang="ko-KR" altLang="en-US" dirty="0"/>
              <a:t>최초의 </a:t>
            </a:r>
            <a:r>
              <a:rPr lang="ko-KR" altLang="en-US" dirty="0" err="1"/>
              <a:t>배출권거래</a:t>
            </a:r>
            <a:r>
              <a:rPr lang="ko-KR" altLang="en-US" dirty="0"/>
              <a:t> 적용 사례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9AFA71-73C7-0952-4172-25C05D064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7CCFC5-3773-B8F4-21E0-86D4CDAEDF7E}"/>
              </a:ext>
            </a:extLst>
          </p:cNvPr>
          <p:cNvSpPr txBox="1"/>
          <p:nvPr/>
        </p:nvSpPr>
        <p:spPr>
          <a:xfrm>
            <a:off x="678872" y="958844"/>
            <a:ext cx="1113212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미국정부가 대기오염관리의 필요성을 느껴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관한 최초의 법률을 입안한 것은 </a:t>
            </a:r>
            <a:r>
              <a:rPr lang="en-US" altLang="ko-KR" sz="1600" spc="-50" dirty="0"/>
              <a:t>1955</a:t>
            </a:r>
            <a:r>
              <a:rPr lang="ko-KR" altLang="en-US" sz="1600" spc="-50" dirty="0"/>
              <a:t>년이지만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산업활동 위축을 우려하여 각 주정부의 미온적 태도로 정책실행이 부진하였다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1970</a:t>
            </a:r>
            <a:r>
              <a:rPr lang="ko-KR" altLang="en-US" sz="1600" spc="-50" dirty="0"/>
              <a:t>년에 대기관리법 수정안이 통과되면서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 환경처</a:t>
            </a:r>
            <a:r>
              <a:rPr lang="en-US" altLang="ko-KR" sz="1600" spc="-50" dirty="0"/>
              <a:t>(EPA)</a:t>
            </a:r>
            <a:r>
              <a:rPr lang="ko-KR" altLang="en-US" sz="1600" spc="-50" dirty="0"/>
              <a:t>는 미국 전역의 대기 오염도기준을 설정하고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달성을 위한 책임은 각 주정부에게 돌렸다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이에 주정부는 </a:t>
            </a:r>
            <a:r>
              <a:rPr lang="en-US" altLang="ko-KR" sz="1600" spc="-50" dirty="0"/>
              <a:t>EPA</a:t>
            </a:r>
            <a:r>
              <a:rPr lang="ko-KR" altLang="en-US" sz="1600" spc="-50" dirty="0"/>
              <a:t>의 오염도기준 달성을 위한 주정부 실행계획</a:t>
            </a:r>
            <a:r>
              <a:rPr lang="en-US" altLang="ko-KR" sz="1600" spc="-50" dirty="0"/>
              <a:t>(SIP)</a:t>
            </a:r>
            <a:r>
              <a:rPr lang="ko-KR" altLang="en-US" sz="1600" spc="-50" dirty="0"/>
              <a:t>을 시행하였고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주로 기술기준 혹은 배출기준과 같은 직접규제의 형식을 취하고 있었다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직접규제에 기초한 정책이 대기오염을 줄이는데 어느정도 성과는 있었지만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획일성에 따른 비효율성이 계속 지적되고 있었다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특히 </a:t>
            </a:r>
            <a:r>
              <a:rPr lang="en-US" altLang="ko-KR" sz="1600" spc="-50" dirty="0"/>
              <a:t>EPA</a:t>
            </a:r>
            <a:r>
              <a:rPr lang="ko-KR" altLang="en-US" sz="1600" spc="-50" dirty="0"/>
              <a:t>가 정한 오염도기준 이상의 오염이 발생한 지역에는 새로운 공장이 건설되지 못하였다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해당 지방정부는 환경규제로 경제성장이 저해 되는 것을 크게 우려하고 있었다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749254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372EA-E01D-C284-48A3-5938B6B3E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9DA22B-0BDD-22D3-FC1E-F00F2B261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옵셋정책</a:t>
            </a:r>
            <a:r>
              <a:rPr lang="en-US" altLang="ko-KR" dirty="0"/>
              <a:t>: </a:t>
            </a:r>
            <a:r>
              <a:rPr lang="ko-KR" altLang="en-US" dirty="0"/>
              <a:t>최초의 </a:t>
            </a:r>
            <a:r>
              <a:rPr lang="ko-KR" altLang="en-US" dirty="0" err="1"/>
              <a:t>배출권거래</a:t>
            </a:r>
            <a:r>
              <a:rPr lang="ko-KR" altLang="en-US" dirty="0"/>
              <a:t> 적용 사례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EFB24C-1FB5-1CC0-B462-EAE5A7C15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6EE50B-65DA-003A-060F-5C24FBD09DFF}"/>
              </a:ext>
            </a:extLst>
          </p:cNvPr>
          <p:cNvSpPr txBox="1"/>
          <p:nvPr/>
        </p:nvSpPr>
        <p:spPr>
          <a:xfrm>
            <a:off x="678872" y="958844"/>
            <a:ext cx="1113212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상황에서 </a:t>
            </a:r>
            <a:r>
              <a:rPr lang="en-US" altLang="ko-KR" sz="1600" spc="-50" dirty="0"/>
              <a:t>1976</a:t>
            </a:r>
            <a:r>
              <a:rPr lang="ko-KR" altLang="en-US" sz="1600" spc="-50" dirty="0"/>
              <a:t>년에 도입된 것이 바로 옵셋정책</a:t>
            </a:r>
            <a:r>
              <a:rPr lang="en-US" altLang="ko-KR" sz="1600" spc="-50" dirty="0"/>
              <a:t>(offset policy)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EPA</a:t>
            </a:r>
            <a:r>
              <a:rPr lang="ko-KR" altLang="en-US" sz="1600" spc="-50" dirty="0"/>
              <a:t>의 오염도 기준을 달성하지 못한 지역에 있는 어떤 오염원이 배출량을 줄이면 </a:t>
            </a:r>
            <a:r>
              <a:rPr lang="en-US" altLang="ko-KR" sz="1600" spc="-50" dirty="0"/>
              <a:t>EPA</a:t>
            </a:r>
            <a:r>
              <a:rPr lang="ko-KR" altLang="en-US" sz="1600" spc="-50" dirty="0"/>
              <a:t>는 </a:t>
            </a:r>
            <a:r>
              <a:rPr lang="ko-KR" altLang="en-US" sz="1600" spc="-50" dirty="0" err="1"/>
              <a:t>크레딧을</a:t>
            </a:r>
            <a:r>
              <a:rPr lang="ko-KR" altLang="en-US" sz="1600" spc="-50" dirty="0"/>
              <a:t> 인정하고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</a:t>
            </a:r>
            <a:r>
              <a:rPr lang="ko-KR" altLang="en-US" sz="1600" spc="-50" dirty="0" err="1"/>
              <a:t>크레딧은</a:t>
            </a:r>
            <a:r>
              <a:rPr lang="ko-KR" altLang="en-US" sz="1600" spc="-50" dirty="0"/>
              <a:t> 이 지역에 새로운 기업이 진입할 수 있도록 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오염도기준이 달성되지 못하는 지역에 새로이 진입하는 기업이 해당 지역 내의 기존 기업으로부터 충분한 양의 </a:t>
            </a:r>
            <a:r>
              <a:rPr lang="ko-KR" altLang="en-US" sz="1600" spc="-50" dirty="0" err="1"/>
              <a:t>크레딧을</a:t>
            </a:r>
            <a:r>
              <a:rPr lang="ko-KR" altLang="en-US" sz="1600" spc="-50" dirty="0"/>
              <a:t> 구입하고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이 기업이 진입함에도 불구하고 지역 전체 오염물질 배출량이 늘어나지 않을 경우 진입이 허용되었다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통상적으로 새로운 오염원은 자신이 필요로 하는 배출량보다 </a:t>
            </a:r>
            <a:r>
              <a:rPr lang="en-US" altLang="ko-KR" sz="1600" spc="-50" dirty="0"/>
              <a:t>20% </a:t>
            </a:r>
            <a:r>
              <a:rPr lang="ko-KR" altLang="en-US" sz="1600" spc="-50" dirty="0"/>
              <a:t>정도 더 많은 양의 </a:t>
            </a:r>
            <a:r>
              <a:rPr lang="ko-KR" altLang="en-US" sz="1600" spc="-50" dirty="0" err="1"/>
              <a:t>크레딧을</a:t>
            </a:r>
            <a:r>
              <a:rPr lang="ko-KR" altLang="en-US" sz="1600" spc="-50" dirty="0"/>
              <a:t> 구입토록 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</a:t>
            </a:r>
            <a:r>
              <a:rPr lang="en-US" altLang="ko-KR" sz="1600" spc="-50" dirty="0"/>
              <a:t>20%</a:t>
            </a:r>
            <a:r>
              <a:rPr lang="ko-KR" altLang="en-US" sz="1600" spc="-50" dirty="0"/>
              <a:t>의 초과 배출권은 행사되지 못하게 하여 오염도 개선효과를 꾀하였다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이후에 옵셋정책은 신규 진입자가 아닌 기존 오염원이 배출권을 획득하게 하거나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기존 오염원이 설비 규모를 확장할 수 있도록 하는 조치를 포함하고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예치를 허용하는 식으로 확장되어 </a:t>
            </a:r>
            <a:r>
              <a:rPr lang="ko-KR" altLang="en-US" sz="1600" spc="-50" dirty="0" err="1"/>
              <a:t>배출권거래</a:t>
            </a:r>
            <a:r>
              <a:rPr lang="ko-KR" altLang="en-US" sz="1600" spc="-50" dirty="0"/>
              <a:t> 프로그램 </a:t>
            </a:r>
            <a:r>
              <a:rPr lang="en-US" altLang="ko-KR" sz="1600" spc="-50" dirty="0"/>
              <a:t>(Emissions Trading Program, ETP)</a:t>
            </a:r>
            <a:r>
              <a:rPr lang="ko-KR" altLang="en-US" sz="1600" spc="-50" dirty="0"/>
              <a:t>으로 불리게 되었다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46044704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58987B-D3FC-9839-E73B-32719E092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황배출권 프로그램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688CE4-1D9F-D1F0-0957-A5D0B8698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92AA75-683D-8962-35D7-E6D7997619FE}"/>
              </a:ext>
            </a:extLst>
          </p:cNvPr>
          <p:cNvSpPr txBox="1"/>
          <p:nvPr/>
        </p:nvSpPr>
        <p:spPr>
          <a:xfrm>
            <a:off x="678872" y="958844"/>
            <a:ext cx="11132127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1980</a:t>
            </a:r>
            <a:r>
              <a:rPr lang="ko-KR" altLang="en-US" sz="1600" spc="-50" dirty="0"/>
              <a:t>년대 미국에서는 석탄화력발전소에서 배출되는 이산화황</a:t>
            </a:r>
            <a:r>
              <a:rPr lang="en-US" altLang="ko-KR" sz="1600" spc="-50" dirty="0"/>
              <a:t>(SO</a:t>
            </a:r>
            <a:r>
              <a:rPr lang="en-US" altLang="ko-KR" sz="1600" spc="-50" baseline="-25000" dirty="0"/>
              <a:t>2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때문에 산성비 문제가 심각했다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산성비의 주요 원인은 화석 연료의 연소 과정에서 발생하는 이산화황</a:t>
            </a:r>
            <a:r>
              <a:rPr lang="en-US" altLang="ko-KR" sz="1600" spc="-50" dirty="0"/>
              <a:t>(SO</a:t>
            </a:r>
            <a:r>
              <a:rPr lang="en-US" altLang="ko-KR" sz="1600" spc="-50" baseline="-25000" dirty="0"/>
              <a:t>2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과 질소산화물</a:t>
            </a:r>
            <a:r>
              <a:rPr lang="en-US" altLang="ko-KR" sz="1600" spc="-50" dirty="0"/>
              <a:t>(NO</a:t>
            </a:r>
            <a:r>
              <a:rPr lang="en-US" altLang="ko-KR" sz="1600" spc="-50" baseline="-25000" dirty="0"/>
              <a:t>x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물질들이 대기 중에서 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산소 등과 반응하여 각각 황산과 질산이 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산성 물질들이 빗물에 섞여 내리면서 산성비가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산성비는 토양의 산성화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식물피해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건축물 부식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호수 산성화 등의 피해를 끼침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설명한 </a:t>
            </a:r>
            <a:r>
              <a:rPr lang="ko-KR" altLang="en-US" sz="1600" spc="-50" dirty="0" err="1"/>
              <a:t>배출권거래제</a:t>
            </a:r>
            <a:r>
              <a:rPr lang="ko-KR" altLang="en-US" sz="1600" spc="-50" dirty="0"/>
              <a:t> 형태로서는 최초로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 미국에서 도입된 </a:t>
            </a:r>
            <a:r>
              <a:rPr lang="ko-KR" altLang="en-US" sz="1600" spc="-50" dirty="0" err="1"/>
              <a:t>배출권거래</a:t>
            </a:r>
            <a:r>
              <a:rPr lang="ko-KR" altLang="en-US" sz="1600" spc="-50" dirty="0"/>
              <a:t> 제도이다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전의 제도들과는 다른 큰 특징은 조직화된 시장에서 거래되었다는 점이다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개별 거래를 정부가 승인하는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시카고의 거래소에서 누구든지 배출권을 구입할 수 있었다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환경보호단체 등에서 배출권을 구매한 후 이를 폐기하여 실제 배출량을 줄이는 것도 가능하였다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황배출권 프로그램은 매우 성공적이었다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1990~2004</a:t>
            </a:r>
            <a:r>
              <a:rPr lang="ko-KR" altLang="en-US" sz="1600" spc="-50" dirty="0"/>
              <a:t>년 사이 석탄발전소 발전량이 </a:t>
            </a:r>
            <a:r>
              <a:rPr lang="en-US" altLang="ko-KR" sz="1600" spc="-50" dirty="0"/>
              <a:t>25% </a:t>
            </a:r>
            <a:r>
              <a:rPr lang="ko-KR" altLang="en-US" sz="1600" spc="-50" dirty="0"/>
              <a:t>증가했음에도 전력부문 </a:t>
            </a:r>
            <a:r>
              <a:rPr lang="en-US" altLang="ko-KR" sz="1600" spc="-50" dirty="0"/>
              <a:t>SO</a:t>
            </a:r>
            <a:r>
              <a:rPr lang="en-US" altLang="ko-KR" sz="1600" spc="-50" baseline="-25000" dirty="0"/>
              <a:t>2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배출량이 </a:t>
            </a:r>
            <a:r>
              <a:rPr lang="en-US" altLang="ko-KR" sz="1600" spc="-50" dirty="0"/>
              <a:t>36% </a:t>
            </a:r>
            <a:r>
              <a:rPr lang="ko-KR" altLang="en-US" sz="1600" spc="-50" dirty="0"/>
              <a:t>감소하였다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배출저감 성과를 얻는데 소요된 비용도 직접규제와 같은 다른 환경정책에 비해서는 훨씬 싸서 최소한 </a:t>
            </a:r>
            <a:r>
              <a:rPr lang="en-US" altLang="ko-KR" sz="1600" spc="-50" dirty="0"/>
              <a:t>15%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90%</a:t>
            </a:r>
            <a:r>
              <a:rPr lang="ko-KR" altLang="en-US" sz="1600" spc="-50" dirty="0"/>
              <a:t> 정도의 비용절감이 있었던 것으로 추정됨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7669763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99A860-26AC-8F7B-DDBE-460A509BA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유럽연합의 </a:t>
            </a:r>
            <a:r>
              <a:rPr lang="ko-KR" altLang="en-US" dirty="0" err="1"/>
              <a:t>배출권거래제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E43545-5746-B7B7-6AA6-4F42EADF9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543C93-4B08-133E-E8F4-AA62065DA07C}"/>
              </a:ext>
            </a:extLst>
          </p:cNvPr>
          <p:cNvSpPr txBox="1"/>
          <p:nvPr/>
        </p:nvSpPr>
        <p:spPr>
          <a:xfrm>
            <a:off x="678872" y="958844"/>
            <a:ext cx="1113212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 세계적으로 가장 활성화된 </a:t>
            </a:r>
            <a:r>
              <a:rPr lang="ko-KR" altLang="en-US" sz="1600" spc="-50" dirty="0" err="1"/>
              <a:t>배출권거래제는</a:t>
            </a:r>
            <a:r>
              <a:rPr lang="ko-KR" altLang="en-US" sz="1600" spc="-50" dirty="0"/>
              <a:t> 유럽 국가들이 </a:t>
            </a:r>
            <a:r>
              <a:rPr lang="en-US" altLang="ko-KR" sz="1600" spc="-50" dirty="0"/>
              <a:t>2005</a:t>
            </a:r>
            <a:r>
              <a:rPr lang="ko-KR" altLang="en-US" sz="1600" spc="-50" dirty="0"/>
              <a:t>년에 설치하여 운영하고 있는 유럽연합 </a:t>
            </a:r>
            <a:r>
              <a:rPr lang="ko-KR" altLang="en-US" sz="1600" spc="-50" dirty="0" err="1"/>
              <a:t>배출권거래제도</a:t>
            </a:r>
            <a:r>
              <a:rPr lang="en-US" altLang="ko-KR" sz="1600" spc="-50" dirty="0"/>
              <a:t>(EU-ETS, EU Emissions Trading Scheme)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1997</a:t>
            </a:r>
            <a:r>
              <a:rPr lang="ko-KR" altLang="en-US" sz="1600" spc="-50" dirty="0"/>
              <a:t>년 교토의정서에 합의한 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감축의무가 있는 </a:t>
            </a:r>
            <a:r>
              <a:rPr lang="en-US" altLang="ko-KR" sz="1600" spc="-50" dirty="0"/>
              <a:t>EU</a:t>
            </a:r>
            <a:r>
              <a:rPr lang="ko-KR" altLang="en-US" sz="1600" spc="-50" dirty="0"/>
              <a:t>가 의무 달성은 물론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효과적인 감축을 위해 </a:t>
            </a:r>
            <a:r>
              <a:rPr lang="en-US" altLang="ko-KR" sz="1600" spc="-50" dirty="0"/>
              <a:t>EU-ETS</a:t>
            </a:r>
            <a:r>
              <a:rPr lang="ko-KR" altLang="en-US" sz="1600" spc="-50" dirty="0"/>
              <a:t>를 도입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</a:t>
            </a:r>
            <a:r>
              <a:rPr lang="en-US" altLang="ko-KR" sz="1600" spc="-50" dirty="0"/>
              <a:t>EU</a:t>
            </a:r>
            <a:r>
              <a:rPr lang="ko-KR" altLang="en-US" sz="1600" spc="-50" dirty="0"/>
              <a:t>회원국과 아이슬란드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리히텐슈타인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노르웨이가 참여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북아일랜드의 경우 전력부문만 참여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10,000</a:t>
            </a:r>
            <a:r>
              <a:rPr lang="ko-KR" altLang="en-US" sz="1600" spc="-50" dirty="0"/>
              <a:t>여 개의 에너지 및 제조업 시설과 </a:t>
            </a:r>
            <a:r>
              <a:rPr lang="en-US" altLang="ko-KR" sz="1600" spc="-50" dirty="0"/>
              <a:t>EU </a:t>
            </a:r>
            <a:r>
              <a:rPr lang="ko-KR" altLang="en-US" sz="1600" spc="-50" dirty="0"/>
              <a:t>역내의 항공노선</a:t>
            </a:r>
            <a:r>
              <a:rPr lang="en-US" altLang="ko-KR" sz="1600" spc="-50" dirty="0"/>
              <a:t>, 2024</a:t>
            </a:r>
            <a:r>
              <a:rPr lang="ko-KR" altLang="en-US" sz="1600" spc="-50" dirty="0"/>
              <a:t>년부터는 해운 운송도 적용 대상이다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대상 온실가스는 </a:t>
            </a:r>
            <a:r>
              <a:rPr lang="en-US" altLang="ko-KR" sz="1600" spc="-50" dirty="0"/>
              <a:t>CO</a:t>
            </a:r>
            <a:r>
              <a:rPr lang="en-US" altLang="ko-KR" sz="1600" spc="-50" baseline="-25000" dirty="0"/>
              <a:t>2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이산화탄소</a:t>
            </a:r>
            <a:r>
              <a:rPr lang="en-US" altLang="ko-KR" sz="1600" spc="-50" dirty="0"/>
              <a:t>), N</a:t>
            </a:r>
            <a:r>
              <a:rPr lang="en-US" altLang="ko-KR" sz="1600" spc="-50" baseline="-25000" dirty="0"/>
              <a:t>2</a:t>
            </a:r>
            <a:r>
              <a:rPr lang="en-US" altLang="ko-KR" sz="1600" spc="-50" dirty="0"/>
              <a:t>O (</a:t>
            </a:r>
            <a:r>
              <a:rPr lang="ko-KR" altLang="en-US" sz="1600" spc="-50" dirty="0" err="1"/>
              <a:t>아산화질소</a:t>
            </a:r>
            <a:r>
              <a:rPr lang="en-US" altLang="ko-KR" sz="1600" spc="-50" dirty="0"/>
              <a:t>), PFCs (</a:t>
            </a:r>
            <a:r>
              <a:rPr lang="ko-KR" altLang="en-US" sz="1600" spc="-50" dirty="0" err="1"/>
              <a:t>과불화탄소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초기에는 주로 무상 배분이었으나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갈수록 유상경매를 통한 배분 비중이 커지고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각국에 배분되는 경매수입은 대부분 기후변화 및 에너지 분야를 위해 사용하게 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무상 배분은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탄소누출</a:t>
            </a:r>
            <a:r>
              <a:rPr lang="en-US" altLang="ko-KR" sz="1600" spc="-50" dirty="0"/>
              <a:t>(carbon leakage)’</a:t>
            </a:r>
            <a:r>
              <a:rPr lang="ko-KR" altLang="en-US" sz="1600" spc="-50" dirty="0"/>
              <a:t>를 고려해서 이루어지기도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탄소누출은 </a:t>
            </a:r>
            <a:r>
              <a:rPr lang="en-US" altLang="ko-KR" sz="1600" spc="-50" dirty="0"/>
              <a:t>EU </a:t>
            </a:r>
            <a:r>
              <a:rPr lang="ko-KR" altLang="en-US" sz="1600" spc="-50" dirty="0"/>
              <a:t>내 기업이 역외의 기업과 경쟁 관계를 형성하고 있는데</a:t>
            </a:r>
            <a:r>
              <a:rPr lang="en-US" altLang="ko-KR" sz="1600" spc="-50" dirty="0"/>
              <a:t>, EU </a:t>
            </a:r>
            <a:r>
              <a:rPr lang="ko-KR" altLang="en-US" sz="1600" spc="-50" dirty="0"/>
              <a:t>내의 강화된 정책으로 인해 역내 기업의 생산비가 상승하고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때문에 </a:t>
            </a:r>
            <a:r>
              <a:rPr lang="en-US" altLang="ko-KR" sz="1600" spc="-50" dirty="0"/>
              <a:t>EU </a:t>
            </a:r>
            <a:r>
              <a:rPr lang="ko-KR" altLang="en-US" sz="1600" spc="-50" dirty="0"/>
              <a:t>내 기업의 배출량은 줄어들지만 대신 역외 기업의 시장점유율이 높아져 결국은 지구 전체 탄소 배출량이 다시 늘어날 위험성을 의미한다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572868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 dirty="0">
                <a:solidFill>
                  <a:schemeClr val="accent2"/>
                </a:solidFill>
              </a:rPr>
              <a:t>T</a:t>
            </a:r>
            <a:r>
              <a:rPr lang="en-US" altLang="ko-KR" sz="5400" i="0" spc="100" dirty="0"/>
              <a:t>hank you</a:t>
            </a:r>
            <a:endParaRPr lang="ko-KR" altLang="en-US" sz="5400" i="0" spc="1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13917</TotalTime>
  <Words>4222</Words>
  <Application>Microsoft Office PowerPoint</Application>
  <PresentationFormat>와이드스크린</PresentationFormat>
  <Paragraphs>457</Paragraphs>
  <Slides>37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4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환경 경제학</vt:lpstr>
      <vt:lpstr>Chapter 8  배출권거래제</vt:lpstr>
      <vt:lpstr>Section 1. 배출권거래제의 실행원리와 효율성</vt:lpstr>
      <vt:lpstr>배출권거래제</vt:lpstr>
      <vt:lpstr>(동질적 오염) 배출량기준 거래제</vt:lpstr>
      <vt:lpstr>(동질적 오염) 배출량기준 거래제</vt:lpstr>
      <vt:lpstr>(동질적 오염) 배출량기준 거래제</vt:lpstr>
      <vt:lpstr>(이질적 오염) 오염도기준 거래제</vt:lpstr>
      <vt:lpstr>(이질적 오염) 오염도기준 거래제</vt:lpstr>
      <vt:lpstr>(이질적 오염) 오염도기준 거래제</vt:lpstr>
      <vt:lpstr>온실가스의 종류</vt:lpstr>
      <vt:lpstr>배출권거래제의 기술혁신 유인</vt:lpstr>
      <vt:lpstr>배출권거래제의 기술혁신 유인</vt:lpstr>
      <vt:lpstr>Section 2. 배출권거래제의 구체적 실행 방안</vt:lpstr>
      <vt:lpstr>배출권거래제의 구체적 실행 방안</vt:lpstr>
      <vt:lpstr>오염물질의 이질성으로 인한 문제</vt:lpstr>
      <vt:lpstr>이질적 오염물질에 대해 적용되는 배출량기준 거래제</vt:lpstr>
      <vt:lpstr>이질적 오염물질에 대해 적용되는 배출량기준 거래제</vt:lpstr>
      <vt:lpstr>구획배출권 거래제</vt:lpstr>
      <vt:lpstr>단일 오염도기준 배출권시장</vt:lpstr>
      <vt:lpstr>배출권거래의 동태적 측면</vt:lpstr>
      <vt:lpstr>배출권의 예치와 차용</vt:lpstr>
      <vt:lpstr>최초배출권의 분배문제와 정책 수용성</vt:lpstr>
      <vt:lpstr>그랜드파더링</vt:lpstr>
      <vt:lpstr>교토의정서</vt:lpstr>
      <vt:lpstr>교토의정서</vt:lpstr>
      <vt:lpstr>경매제도</vt:lpstr>
      <vt:lpstr>경매제도</vt:lpstr>
      <vt:lpstr>배출권시장의 경쟁성</vt:lpstr>
      <vt:lpstr>감시 및 감독비용</vt:lpstr>
      <vt:lpstr>감시 및 감독비용</vt:lpstr>
      <vt:lpstr>Section 3. 배출권거래제 실행 사례</vt:lpstr>
      <vt:lpstr>옵셋정책: 최초의 배출권거래 적용 사례</vt:lpstr>
      <vt:lpstr>옵셋정책: 최초의 배출권거래 적용 사례</vt:lpstr>
      <vt:lpstr>황배출권 프로그램</vt:lpstr>
      <vt:lpstr>유럽연합의 배출권거래제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442</cp:revision>
  <dcterms:created xsi:type="dcterms:W3CDTF">2025-07-05T05:15:23Z</dcterms:created>
  <dcterms:modified xsi:type="dcterms:W3CDTF">2026-10-08T00:39:11Z</dcterms:modified>
</cp:coreProperties>
</file>