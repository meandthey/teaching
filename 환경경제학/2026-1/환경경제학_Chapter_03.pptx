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375" r:id="rId2"/>
    <p:sldId id="405" r:id="rId3"/>
    <p:sldId id="550" r:id="rId4"/>
    <p:sldId id="557" r:id="rId5"/>
    <p:sldId id="579" r:id="rId6"/>
    <p:sldId id="581" r:id="rId7"/>
    <p:sldId id="582" r:id="rId8"/>
    <p:sldId id="583" r:id="rId9"/>
    <p:sldId id="584" r:id="rId10"/>
    <p:sldId id="580" r:id="rId11"/>
    <p:sldId id="587" r:id="rId12"/>
    <p:sldId id="588" r:id="rId13"/>
    <p:sldId id="589" r:id="rId14"/>
    <p:sldId id="590" r:id="rId15"/>
    <p:sldId id="596" r:id="rId16"/>
    <p:sldId id="592" r:id="rId17"/>
    <p:sldId id="593" r:id="rId18"/>
    <p:sldId id="594" r:id="rId19"/>
    <p:sldId id="595" r:id="rId20"/>
    <p:sldId id="597" r:id="rId21"/>
    <p:sldId id="598" r:id="rId22"/>
    <p:sldId id="599" r:id="rId23"/>
    <p:sldId id="364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48F"/>
    <a:srgbClr val="E15F5F"/>
    <a:srgbClr val="F8F7FC"/>
    <a:srgbClr val="2D72BE"/>
    <a:srgbClr val="070B12"/>
    <a:srgbClr val="0047A0"/>
    <a:srgbClr val="E3605B"/>
    <a:srgbClr val="FFFFFF"/>
    <a:srgbClr val="FFFDFF"/>
    <a:srgbClr val="00A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- 03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3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수요</a:t>
            </a:r>
            <a:r>
              <a:rPr lang="en-US" altLang="ko-KR" sz="4000" b="1" i="0" spc="150" dirty="0"/>
              <a:t>, </a:t>
            </a:r>
            <a:r>
              <a:rPr lang="ko-KR" altLang="en-US" sz="4000" b="1" i="0" spc="150" dirty="0"/>
              <a:t>공급 및 시장균형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수요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지불의사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787394"/>
            <a:ext cx="10707658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소비자는 재화나 서비스에 대해 자기 나름의 선호를 갖고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소비행위에 이를 반영한다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재화나 서비스에 대한 </a:t>
            </a:r>
            <a:r>
              <a:rPr lang="ko-KR" altLang="en-US" sz="1600" spc="-50" dirty="0" err="1"/>
              <a:t>선호란</a:t>
            </a:r>
            <a:r>
              <a:rPr lang="ko-KR" altLang="en-US" sz="1600" spc="-50" dirty="0"/>
              <a:t> 그 재화나 서비스를 소비자가 원하는 정도를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현대 경제학에서는 소비자가 자기 소득 가운데 소비를 위해 희생하고자 하는 부분을 선호의 크기라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지불의사 라고 부른다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지불의사는 소비자가 재화나 서비스를 소비하는 대가로 지불할 의향이 있는 최대의 금액이다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어떤 소비자가 </a:t>
            </a:r>
            <a:r>
              <a:rPr lang="en-US" altLang="ko-KR" sz="1600" spc="-50" dirty="0"/>
              <a:t>1,000</a:t>
            </a:r>
            <a:r>
              <a:rPr lang="ko-KR" altLang="en-US" sz="1600" spc="-50" dirty="0"/>
              <a:t>원을 지불하고</a:t>
            </a:r>
            <a:r>
              <a:rPr lang="en-US" altLang="ko-KR" sz="1600" spc="-50" dirty="0"/>
              <a:t>, 1</a:t>
            </a:r>
            <a:r>
              <a:rPr lang="ko-KR" altLang="en-US" sz="1600" spc="-50" dirty="0"/>
              <a:t>개의 아이스크림을 소비하는 것이 아이스크림을 소비하지 않는 것보다 낫다고 생각하면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소비자의 아이스크림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개에 대한 지불의사는 </a:t>
            </a:r>
            <a:r>
              <a:rPr lang="en-US" altLang="ko-KR" sz="1600" spc="-50" dirty="0"/>
              <a:t>1,000</a:t>
            </a:r>
            <a:r>
              <a:rPr lang="ko-KR" altLang="en-US" sz="1600" spc="-50" dirty="0"/>
              <a:t>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이제 소비자가 아이스크림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개를 소비한 상태에서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개를 더 소비하기 위해서는 추가로 얼마를 더 지불할 의사가 있는지 물어보았을 때</a:t>
            </a:r>
            <a:r>
              <a:rPr lang="en-US" altLang="ko-KR" sz="1600" spc="-50" dirty="0"/>
              <a:t>, 500</a:t>
            </a:r>
            <a:r>
              <a:rPr lang="ko-KR" altLang="en-US" sz="1600" spc="-50" dirty="0"/>
              <a:t>원이라고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마찬가지로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번째 아이스크림에 대해서는 </a:t>
            </a:r>
            <a:r>
              <a:rPr lang="en-US" altLang="ko-KR" sz="1600" spc="-50" dirty="0"/>
              <a:t>200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4</a:t>
            </a:r>
            <a:r>
              <a:rPr lang="ko-KR" altLang="en-US" sz="1600" spc="-50" dirty="0"/>
              <a:t>번째 아이스크림에 대해서는 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원 등으로 소비량이 많아지면서 추가로 소비하는 아이스크림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개에 대해서는 더 낮은 지불의사를 가지게 될 것이다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D807F-F036-DAF7-D094-784554ED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5051B2-5E05-83F9-7CC6-407C35614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지불의사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C4A8B3-8A17-1C54-038F-353A438C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47C13-86BD-4066-A722-E014950F0206}"/>
              </a:ext>
            </a:extLst>
          </p:cNvPr>
          <p:cNvSpPr txBox="1"/>
          <p:nvPr/>
        </p:nvSpPr>
        <p:spPr>
          <a:xfrm>
            <a:off x="288790" y="787394"/>
            <a:ext cx="10707658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관계를 그래프로 나타내면 아래와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소비자에게 아이스크림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개 모두 소비하기 위해 얼마를 지불할 것인지 물으면 </a:t>
            </a:r>
            <a:r>
              <a:rPr lang="en-US" altLang="ko-KR" sz="1600" spc="-50" dirty="0"/>
              <a:t>1,750</a:t>
            </a:r>
            <a:r>
              <a:rPr lang="ko-KR" altLang="en-US" sz="1600" spc="-50" dirty="0"/>
              <a:t>원이라 할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이처럼 특정 수량의 재화를 소비하기 위해 소비자가 지불하는 전체 금액을 총지불의사라고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소비자가 현재 소비하고 있는 양에서 추가로 한 단위를 소비하기 위해 지불하려는 금액을 </a:t>
            </a:r>
            <a:r>
              <a:rPr lang="ko-KR" altLang="en-US" sz="1600" b="1" spc="-50" dirty="0"/>
              <a:t>한계지불의사 </a:t>
            </a:r>
            <a:r>
              <a:rPr lang="ko-KR" altLang="en-US" sz="1600" spc="-50" dirty="0"/>
              <a:t>라고 부른다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 </a:t>
            </a:r>
            <a:r>
              <a:rPr lang="ko-KR" altLang="en-US" sz="1600" spc="-50" dirty="0"/>
              <a:t>우리의 예에서는 첫번째 아이스크림은 </a:t>
            </a:r>
            <a:r>
              <a:rPr lang="en-US" altLang="ko-KR" sz="1600" spc="-50" dirty="0"/>
              <a:t>1,000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두번째는 </a:t>
            </a:r>
            <a:r>
              <a:rPr lang="en-US" altLang="ko-KR" sz="1600" spc="-50" dirty="0"/>
              <a:t>500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세번째는 </a:t>
            </a:r>
            <a:r>
              <a:rPr lang="en-US" altLang="ko-KR" sz="1600" spc="-50" dirty="0"/>
              <a:t>200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네 번째는 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원이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  <p:pic>
        <p:nvPicPr>
          <p:cNvPr id="6" name="그림 5" descr="텍스트, 도표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9F9240-2FF7-C394-76CA-558AE3BF4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345" y="3201387"/>
            <a:ext cx="3014505" cy="341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40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00451-950B-12CC-11AE-43ABCD5EE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DE81A-ABAC-2B16-4D8A-3D4545157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지불의사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484228-0291-12E0-D19D-85FD4774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D1500B-116B-1DDB-21F5-62C9207A19BE}"/>
              </a:ext>
            </a:extLst>
          </p:cNvPr>
          <p:cNvSpPr txBox="1"/>
          <p:nvPr/>
        </p:nvSpPr>
        <p:spPr>
          <a:xfrm>
            <a:off x="288790" y="787394"/>
            <a:ext cx="10707658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아이스크림 </a:t>
            </a:r>
            <a:r>
              <a:rPr lang="ko-KR" altLang="en-US" sz="1600" spc="-50" dirty="0" err="1"/>
              <a:t>처럼</a:t>
            </a:r>
            <a:r>
              <a:rPr lang="ko-KR" altLang="en-US" sz="1600" spc="-50" dirty="0"/>
              <a:t> 소비 상품이 정수 단위</a:t>
            </a:r>
            <a:r>
              <a:rPr lang="en-US" altLang="ko-KR" sz="1600" spc="-50" dirty="0"/>
              <a:t>(1,2,3…)</a:t>
            </a:r>
            <a:r>
              <a:rPr lang="ko-KR" altLang="en-US" sz="1600" spc="-50" dirty="0"/>
              <a:t>로 분리되는 것이 아니라 매우 작은 단위로 분리될 수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소비자의 한계지불의사는 아래의 그림처럼 연속적인 부드러운 곡선으로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곡선 위의 각 값은 주어진 소비량에서의 한계지불의사를 나타낸다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어떤 재화나 서비스에 대한 지불의사는 개인의 선호에 따라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소득에 따라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지역에 따라 서로 다를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소비자의 </a:t>
            </a:r>
            <a:r>
              <a:rPr lang="ko-KR" altLang="en-US" sz="1600" spc="-50" dirty="0" err="1"/>
              <a:t>한계지불의곡선을</a:t>
            </a:r>
            <a:r>
              <a:rPr lang="ko-KR" altLang="en-US" sz="1600" spc="-50" dirty="0"/>
              <a:t> 알면 주어진 시장가격이 있을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소비자가 몇 개의 상품을 구매할지 알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50" dirty="0"/>
              <a:t>따라서 한계지불의사곡선은 결국 수요곡선이다</a:t>
            </a:r>
            <a:r>
              <a:rPr lang="en-US" altLang="ko-KR" sz="1600" b="1" spc="-50" dirty="0"/>
              <a:t>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8DDE74-399C-9A8D-DADA-792375B345F9}"/>
              </a:ext>
            </a:extLst>
          </p:cNvPr>
          <p:cNvGrpSpPr/>
          <p:nvPr/>
        </p:nvGrpSpPr>
        <p:grpSpPr>
          <a:xfrm>
            <a:off x="4513654" y="2019301"/>
            <a:ext cx="2503859" cy="2832784"/>
            <a:chOff x="4513654" y="2019301"/>
            <a:chExt cx="2503859" cy="2832784"/>
          </a:xfrm>
        </p:grpSpPr>
        <p:pic>
          <p:nvPicPr>
            <p:cNvPr id="7" name="그림 6" descr="텍스트, 라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D2464AA-B11F-D295-C887-6D05396D2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828"/>
            <a:stretch>
              <a:fillRect/>
            </a:stretch>
          </p:blipFill>
          <p:spPr>
            <a:xfrm>
              <a:off x="4513654" y="2184400"/>
              <a:ext cx="2503859" cy="2667685"/>
            </a:xfrm>
            <a:prstGeom prst="rect">
              <a:avLst/>
            </a:prstGeom>
          </p:spPr>
        </p:pic>
        <p:pic>
          <p:nvPicPr>
            <p:cNvPr id="8" name="그림 7" descr="텍스트, 라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C42EFC7-4025-67D1-ACEC-09B579443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6518" r="44158" b="92603"/>
            <a:stretch>
              <a:fillRect/>
            </a:stretch>
          </p:blipFill>
          <p:spPr>
            <a:xfrm>
              <a:off x="5171281" y="2019301"/>
              <a:ext cx="734220" cy="20955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8BE8C8C-6354-6CD8-9F06-BF0F4F9D3ADD}"/>
                </a:ext>
              </a:extLst>
            </p:cNvPr>
            <p:cNvSpPr/>
            <p:nvPr/>
          </p:nvSpPr>
          <p:spPr>
            <a:xfrm>
              <a:off x="5918201" y="2019301"/>
              <a:ext cx="914400" cy="209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2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B5779-DC10-A02A-561D-CC87F0A2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CBEDA-DA93-2787-5E54-18AE85DF1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 수요곡선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7662F3-1DDB-7DAF-CB7F-AD36AC8D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62854-9575-2EC5-91BE-ECE6D0D1BCD3}"/>
              </a:ext>
            </a:extLst>
          </p:cNvPr>
          <p:cNvSpPr txBox="1"/>
          <p:nvPr/>
        </p:nvSpPr>
        <p:spPr>
          <a:xfrm>
            <a:off x="288790" y="787394"/>
            <a:ext cx="10707658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개별 소비자의 수요보다는 소비자 집단이나 시장 전체의 수요를 </a:t>
            </a:r>
            <a:r>
              <a:rPr lang="ko-KR" altLang="en-US" sz="1600" spc="-50" dirty="0" err="1"/>
              <a:t>분석해야하는</a:t>
            </a:r>
            <a:r>
              <a:rPr lang="ko-KR" altLang="en-US" sz="1600" spc="-50" dirty="0"/>
              <a:t> 경우가 많다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시장수요란 특정 가격수준에서 시장의 전체 소비자가 소비하고자 하는 상품의 양이다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시장수요는 통상적인 경우 수요곡선에서 개별 소비자의 수요량이 수평으로 합해져서 형성된다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아이스크림 시장이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두 명의 소비자로 구성되어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소비자의 수요곡선이 아래와 같다고 하자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만약 시장가격이 </a:t>
            </a:r>
            <a:r>
              <a:rPr lang="en-US" altLang="ko-KR" sz="1600" spc="-50" dirty="0"/>
              <a:t>200</a:t>
            </a:r>
            <a:r>
              <a:rPr lang="ko-KR" altLang="en-US" sz="1600" spc="-50" dirty="0"/>
              <a:t>원이라면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</a:t>
            </a:r>
            <a:r>
              <a:rPr lang="en-US" altLang="ko-KR" sz="1600" spc="-50" dirty="0"/>
              <a:t> A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개의 아이스크림을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개의 아이스크림을 사먹고자 할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결국 </a:t>
            </a:r>
            <a:r>
              <a:rPr lang="ko-KR" altLang="en-US" sz="1600" spc="-50" dirty="0" err="1"/>
              <a:t>시장수요량은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12</a:t>
            </a:r>
            <a:r>
              <a:rPr lang="ko-KR" altLang="en-US" sz="1600" spc="-50" dirty="0"/>
              <a:t>개가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이처럼 시장 전체의 수요량은 그 가격에서의 개별 소비자 수요량의 수평 합이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이렇게 형성된 </a:t>
            </a:r>
            <a:r>
              <a:rPr lang="ko-KR" altLang="en-US" sz="1600" spc="-50" dirty="0" err="1"/>
              <a:t>시장수요량과</a:t>
            </a:r>
            <a:r>
              <a:rPr lang="ko-KR" altLang="en-US" sz="1600" spc="-50" dirty="0"/>
              <a:t> 시장가격과의 관계를 나타낸 것이 아래의 가장 우측에 있는 그림으로 표현된다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8C73A2-F1DD-EBD1-BAE5-287EE24B3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551" y="3744893"/>
            <a:ext cx="5862234" cy="24738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617FD0-5B7E-E71E-1BB7-150F08436B1B}"/>
                  </a:ext>
                </a:extLst>
              </p:cNvPr>
              <p:cNvSpPr txBox="1"/>
              <p:nvPr/>
            </p:nvSpPr>
            <p:spPr>
              <a:xfrm>
                <a:off x="3132122" y="6286402"/>
                <a:ext cx="1429750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=1000−200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617FD0-5B7E-E71E-1BB7-150F08436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122" y="6286402"/>
                <a:ext cx="1429750" cy="153888"/>
              </a:xfrm>
              <a:prstGeom prst="rect">
                <a:avLst/>
              </a:prstGeom>
              <a:blipFill>
                <a:blip r:embed="rId3"/>
                <a:stretch>
                  <a:fillRect l="-1282" b="-3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72A4E1-B3D1-584B-AB0D-31839C1A63C4}"/>
                  </a:ext>
                </a:extLst>
              </p:cNvPr>
              <p:cNvSpPr txBox="1"/>
              <p:nvPr/>
            </p:nvSpPr>
            <p:spPr>
              <a:xfrm>
                <a:off x="5091547" y="6286402"/>
                <a:ext cx="144257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=1000−100</m:t>
                      </m:r>
                      <m:r>
                        <a:rPr lang="en-US" altLang="ko-K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72A4E1-B3D1-584B-AB0D-31839C1A6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547" y="6286402"/>
                <a:ext cx="1442574" cy="153888"/>
              </a:xfrm>
              <a:prstGeom prst="rect">
                <a:avLst/>
              </a:prstGeom>
              <a:blipFill>
                <a:blip r:embed="rId4"/>
                <a:stretch>
                  <a:fillRect l="-844" b="-3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50F476-155C-E800-3D53-A706DEC50E68}"/>
                  </a:ext>
                </a:extLst>
              </p:cNvPr>
              <p:cNvSpPr txBox="1"/>
              <p:nvPr/>
            </p:nvSpPr>
            <p:spPr>
              <a:xfrm>
                <a:off x="6952458" y="6218755"/>
                <a:ext cx="1547988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sz="1000" b="0" i="1" smtClean="0">
                          <a:latin typeface="Cambria Math" panose="02040503050406030204" pitchFamily="18" charset="0"/>
                        </a:rPr>
                        <m:t>=1000−</m:t>
                      </m:r>
                      <m:f>
                        <m:f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num>
                        <m:den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altLang="ko-K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50F476-155C-E800-3D53-A706DEC50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458" y="6218755"/>
                <a:ext cx="1547988" cy="289182"/>
              </a:xfrm>
              <a:prstGeom prst="rect">
                <a:avLst/>
              </a:prstGeom>
              <a:blipFill>
                <a:blip r:embed="rId5"/>
                <a:stretch>
                  <a:fillRect l="-787" t="-2083" b="-145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7801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87CEA-5E43-A55C-CDD9-105FE02BA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35EF2-DBCB-B04F-594C-3A0FA0469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편익과 소비자 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6CB8CA-2CEE-C816-0845-4862904AA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87ACA-A056-DDF6-AF6C-1A15C46C7AF5}"/>
              </a:ext>
            </a:extLst>
          </p:cNvPr>
          <p:cNvSpPr txBox="1"/>
          <p:nvPr/>
        </p:nvSpPr>
        <p:spPr>
          <a:xfrm>
            <a:off x="288790" y="787394"/>
            <a:ext cx="10707658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편익은 경제상황의 변화로 인해 소비자의 만족도나 후생이 변하는 정도를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환경정책에 대한 평가나 규범적 판단을 하는데 중요하게 사용되는 개념이다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7" name="그림 6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7247C8-713B-AC4E-FF6E-F584CC9E0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174" y="1541163"/>
            <a:ext cx="3915074" cy="44293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466C48-3082-B4A7-2B8D-D2BE351B3E29}"/>
              </a:ext>
            </a:extLst>
          </p:cNvPr>
          <p:cNvSpPr txBox="1"/>
          <p:nvPr/>
        </p:nvSpPr>
        <p:spPr>
          <a:xfrm>
            <a:off x="8801237" y="4926122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b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4A4CB8-9A05-93BB-671B-6BEF41D24CD3}"/>
              </a:ext>
            </a:extLst>
          </p:cNvPr>
          <p:cNvSpPr txBox="1"/>
          <p:nvPr/>
        </p:nvSpPr>
        <p:spPr>
          <a:xfrm>
            <a:off x="9203908" y="4926122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c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A5251A-BDA1-4E68-528C-DE18A52BEC8D}"/>
              </a:ext>
            </a:extLst>
          </p:cNvPr>
          <p:cNvSpPr txBox="1"/>
          <p:nvPr/>
        </p:nvSpPr>
        <p:spPr>
          <a:xfrm>
            <a:off x="8801237" y="3705524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a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3F97E2-4954-C385-6609-E17CF24A9883}"/>
              </a:ext>
            </a:extLst>
          </p:cNvPr>
          <p:cNvSpPr txBox="1"/>
          <p:nvPr/>
        </p:nvSpPr>
        <p:spPr>
          <a:xfrm>
            <a:off x="9203908" y="3705524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24281E-CD54-1C16-D672-7C9B72B5F1B3}"/>
              </a:ext>
            </a:extLst>
          </p:cNvPr>
          <p:cNvSpPr txBox="1"/>
          <p:nvPr/>
        </p:nvSpPr>
        <p:spPr>
          <a:xfrm>
            <a:off x="288790" y="1709543"/>
            <a:ext cx="79979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어떤 환경재에 대한 소비자의 수요가 아래 그래프와 같다고 하자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소비자는 물을 쓰지 못할 경우와 달리</a:t>
            </a:r>
            <a:r>
              <a:rPr lang="en-US" altLang="ko-KR" sz="1600" spc="-50" dirty="0"/>
              <a:t>, 2</a:t>
            </a:r>
            <a:r>
              <a:rPr lang="ko-KR" altLang="en-US" sz="1600" spc="-50" dirty="0"/>
              <a:t>단위의 물을 사용함으로써 어느 정도의 후생이 증가한다고 느낄까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만약 정부가 환경정책을 통해 쓸 수 있는 물을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단위로 증가시키면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어느 정도의 편익을 얻을까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위의 물음에 쉽게 답할 수 있는 측정 단위는 화폐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소득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소비자가 깨끗한 물을 공짜로 사용할 수 있다고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소비자가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단위의 물에 대해 갖는 총지불의사는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사이의 수요곡선 아래쪽 면적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a+b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소비자는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단위의 물을 소비하고자 </a:t>
            </a:r>
            <a:r>
              <a:rPr lang="en-US" altLang="ko-KR" sz="1600" spc="-50" dirty="0" err="1"/>
              <a:t>a+b</a:t>
            </a:r>
            <a:r>
              <a:rPr lang="ko-KR" altLang="en-US" sz="1600" spc="-50" dirty="0"/>
              <a:t>만큼을 지불할 의사가 있었지만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아무런 대가를 지불하지 않고 물을 소비함으로써 </a:t>
            </a:r>
            <a:r>
              <a:rPr lang="en-US" altLang="ko-KR" sz="1600" spc="-50" dirty="0" err="1"/>
              <a:t>a+b</a:t>
            </a:r>
            <a:r>
              <a:rPr lang="ko-KR" altLang="en-US" sz="1600" spc="-50" dirty="0"/>
              <a:t>만큼 편익을 얻을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8116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031D-7B75-6D24-0D39-F64E92F1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CE661-4CA1-657D-F531-A1BFDBFEC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편익과 소비자 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ACFF6E-B40F-8D6F-C57F-F2EABB57E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4434F-38FB-B92C-7DCC-E0D4BD156BB7}"/>
              </a:ext>
            </a:extLst>
          </p:cNvPr>
          <p:cNvSpPr txBox="1"/>
          <p:nvPr/>
        </p:nvSpPr>
        <p:spPr>
          <a:xfrm>
            <a:off x="288790" y="787394"/>
            <a:ext cx="79725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마찬가지로 이 소비자는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단위의 물을 소비하기 위해서는 </a:t>
            </a:r>
            <a:r>
              <a:rPr lang="en-US" altLang="ko-KR" sz="1600" spc="-50" dirty="0" err="1"/>
              <a:t>a+b+c+d</a:t>
            </a:r>
            <a:r>
              <a:rPr lang="ko-KR" altLang="en-US" sz="1600" spc="-50" dirty="0"/>
              <a:t>의 금액을 지불할 의사가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깨끗한 물이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단위에서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단위로 증가하는 것에 대해 </a:t>
            </a:r>
            <a:r>
              <a:rPr lang="en-US" altLang="ko-KR" sz="1600" spc="-50" dirty="0" err="1"/>
              <a:t>c+d</a:t>
            </a:r>
            <a:r>
              <a:rPr lang="ko-KR" altLang="en-US" sz="1600" spc="-50" dirty="0"/>
              <a:t>만큼의 금액을 추가로 지불할 의사를 가진다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실제로는 아무 대가를 지불하지 않았으므로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소비자의 편익은 </a:t>
            </a:r>
            <a:r>
              <a:rPr lang="en-US" altLang="ko-KR" sz="1600" spc="-50" dirty="0" err="1"/>
              <a:t>c+d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이제 상황을 바꾸어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소비자가 물을 공짜로 쓰는 게 아니고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단위당 </a:t>
            </a:r>
            <a:r>
              <a:rPr lang="en-US" altLang="ko-KR" sz="1600" spc="-50" dirty="0"/>
              <a:t>200</a:t>
            </a:r>
            <a:r>
              <a:rPr lang="ko-KR" altLang="en-US" sz="1600" spc="-50" dirty="0"/>
              <a:t>원을 지불해야 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편익은 편익에서 비용을 뺀 순편익을 이용해서 후생변화를 측정해야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소비자가 지불할 의사가 있는 총금액에서 소비자가 실제로 지불하는 금액을 빼 준 값을 </a:t>
            </a:r>
            <a:r>
              <a:rPr lang="ko-KR" altLang="en-US" sz="1600" b="1" spc="-50" dirty="0"/>
              <a:t>소비자잉여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</a:t>
            </a:r>
            <a:r>
              <a:rPr lang="ko-KR" altLang="en-US" sz="1600" spc="-50" dirty="0" err="1"/>
              <a:t>순편익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라고 부른다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소비자가 물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단위를 소비하여 얻는 소비자잉여는 편익</a:t>
            </a:r>
            <a:r>
              <a:rPr lang="en-US" altLang="ko-KR" sz="1600" spc="-50" dirty="0"/>
              <a:t> (</a:t>
            </a:r>
            <a:r>
              <a:rPr lang="en-US" altLang="ko-KR" sz="1600" spc="-50" dirty="0" err="1"/>
              <a:t>a+b+c+d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에서 지불금액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</a:t>
            </a:r>
            <a:r>
              <a:rPr lang="ko-KR" altLang="en-US" sz="1600" spc="-50" dirty="0" err="1"/>
              <a:t>빼준</a:t>
            </a:r>
            <a:r>
              <a:rPr lang="ko-KR" altLang="en-US" sz="1600" spc="-50" dirty="0"/>
              <a:t> </a:t>
            </a:r>
            <a:r>
              <a:rPr lang="en-US" altLang="ko-KR" sz="1600" spc="-50" dirty="0" err="1"/>
              <a:t>a+d</a:t>
            </a:r>
            <a:r>
              <a:rPr lang="ko-KR" altLang="en-US" sz="1600" spc="-50" dirty="0"/>
              <a:t>만큼이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물 소비를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단위에서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단위로 늘어나면서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소비자가 얻는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순편익은 </a:t>
            </a:r>
            <a:r>
              <a:rPr lang="en-US" altLang="ko-KR" sz="1600" spc="-50" dirty="0"/>
              <a:t>d </a:t>
            </a:r>
            <a:r>
              <a:rPr lang="ko-KR" altLang="en-US" sz="1600" spc="-50" dirty="0"/>
              <a:t>가 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228B2D-55F6-E442-60E7-FFA13A9F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274" y="1524290"/>
            <a:ext cx="3915074" cy="44293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01FC8B-A9F0-D075-D85A-C9F189938770}"/>
              </a:ext>
            </a:extLst>
          </p:cNvPr>
          <p:cNvSpPr txBox="1"/>
          <p:nvPr/>
        </p:nvSpPr>
        <p:spPr>
          <a:xfrm>
            <a:off x="8959987" y="4926122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b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EE46AF-5D50-A45C-189F-839D782DD3B7}"/>
              </a:ext>
            </a:extLst>
          </p:cNvPr>
          <p:cNvSpPr txBox="1"/>
          <p:nvPr/>
        </p:nvSpPr>
        <p:spPr>
          <a:xfrm>
            <a:off x="9362658" y="4926122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c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C4C173-E711-5F2D-381E-932E2D9141EC}"/>
              </a:ext>
            </a:extLst>
          </p:cNvPr>
          <p:cNvSpPr txBox="1"/>
          <p:nvPr/>
        </p:nvSpPr>
        <p:spPr>
          <a:xfrm>
            <a:off x="8959987" y="3705524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pc="-50" dirty="0"/>
              <a:t>a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772EF5-F8DB-1B4A-610C-AD9BF4223F03}"/>
              </a:ext>
            </a:extLst>
          </p:cNvPr>
          <p:cNvSpPr txBox="1"/>
          <p:nvPr/>
        </p:nvSpPr>
        <p:spPr>
          <a:xfrm>
            <a:off x="9362658" y="3705524"/>
            <a:ext cx="328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9025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66EA8-6979-F713-A314-97C179EB0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785402-2E25-7B47-CD10-47ABAA09C1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B1251-89BC-D02E-5CED-021E8DA4B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595B15D-1C38-9CFD-DBA4-75F0CFEA7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공급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949683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EE604-36A0-B714-5B51-3C24DCB52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B9DC1-7965-39FC-F8EE-AED39346E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2CE838-2999-7F20-E3AF-6A1FCBDB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815EC-36A2-5B82-4FD7-1F13393CF023}"/>
              </a:ext>
            </a:extLst>
          </p:cNvPr>
          <p:cNvSpPr txBox="1"/>
          <p:nvPr/>
        </p:nvSpPr>
        <p:spPr>
          <a:xfrm>
            <a:off x="288790" y="787394"/>
            <a:ext cx="10707658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생산자는 재화나 서비스를 생산하여 시장에 공급하기 위해서는 생산요소를 투입해야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아이스크림 공급자는 원료인 우유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설탕 등과 함께 노동력 및 공장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기계와 같은 자본재 등을 사용한다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생산요소는 모두 시장에서 돈을 주고 구입해야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생산요소의 가격이 주어져 있을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 단위의 아이스크림을 생산하기 위해 소요되는 생산비는 아이스크림 공급자의 기술조건에 따라 영향을 받는다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경제학에서의 생산비는 기회비용과 회계비용으로 나눌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회계비용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회계사가 자산과 부채를 평가하여 대차대조표를 만들 때 비용으로 인정하는 항목들 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임금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원료비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토지 임대료 등 경제주체가 지불한 직접비용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기회비용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생산요소가 현재의 용도로 이용되지 않고 다른 용도로 이용되었을 때 얻을 수 있는 최대한의 수익 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공장에서 제품 생산 및 판매를 통한 사업수익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공장 운영을 직접 하지 않고 임대를 통한 임대수익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205532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5BE88-35DC-77F9-5BE9-80C56F9D4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8D1490-1A76-3503-FC61-27BE59FF1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29D8EF-0CF8-BF4F-3886-6ED4278BA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4306E-E47F-D69A-6A1D-DE0CA76BA883}"/>
              </a:ext>
            </a:extLst>
          </p:cNvPr>
          <p:cNvSpPr txBox="1"/>
          <p:nvPr/>
        </p:nvSpPr>
        <p:spPr>
          <a:xfrm>
            <a:off x="288790" y="787394"/>
            <a:ext cx="10707658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 경제학에서의 생산비는 사적비용과 사회적비용으로도 나눌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사적비용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경제행위의 결과로 발생한 비용 가운데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경제주체 행위자에게만 귀속되는 비용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석탄발전 사업자가 부담하는 인건비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자본비용 등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사회적비용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경제행위에 따른 모든 비용으로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경제주체 뿐 아니라 다른 경제주체에게도 귀속되는 비용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석탄발전 가동으로 인해 주변 주민들이 건강악화로 인해 지불하는 비용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환경경제학에서는 사적비용과 사회적비용을 구분하는 것이 특히 중요하다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244907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FE10D-EF60-A76D-45ED-81F91B0B3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28F9B-7F88-E7B4-4334-3CC2FF891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비용곡선과 공급곡선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C05F71-6A01-803B-D0E8-51B1CA53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4CC14-D635-8D37-7A2F-B97528C58C54}"/>
              </a:ext>
            </a:extLst>
          </p:cNvPr>
          <p:cNvSpPr txBox="1"/>
          <p:nvPr/>
        </p:nvSpPr>
        <p:spPr>
          <a:xfrm>
            <a:off x="288790" y="787394"/>
            <a:ext cx="10707658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왼쪽 그림은 아이스크림 생산자가 지불하는 비용을 나타내는 비용곡선이다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생산자는 첫 번째 아이스크림을 생산하기 위해서는 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원의 비용을 지불해야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생산자가 아이스크림을 추가로 하나 더 생산하고자 한다면</a:t>
            </a:r>
            <a:r>
              <a:rPr lang="en-US" altLang="ko-KR" sz="1600" spc="-50" dirty="0"/>
              <a:t>, 100</a:t>
            </a:r>
            <a:r>
              <a:rPr lang="ko-KR" altLang="en-US" sz="1600" spc="-50" dirty="0"/>
              <a:t>원을 추가로 지불해야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즉 생산자가 지불해야 하는 한계비용을 나타낸다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생산자가 아이스크림을 무한히 작은 단위로 나눌 수 있다면 한계비용곡선은 아래 오른쪽 그림처럼 연속적인 실선으로 나타날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아이스크림의 시장 가격이 </a:t>
            </a:r>
            <a:r>
              <a:rPr lang="en-US" altLang="ko-KR" sz="1600" spc="-50" dirty="0"/>
              <a:t>150</a:t>
            </a:r>
            <a:r>
              <a:rPr lang="ko-KR" altLang="en-US" sz="1600" spc="-50" dirty="0"/>
              <a:t>원이라면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아이스크림 생산자는 세 개의 아이스크림을 공급하고자 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50" dirty="0"/>
              <a:t>따라서 한계비용곡선은 결국 공급곡선이다</a:t>
            </a:r>
            <a:r>
              <a:rPr lang="en-US" altLang="ko-KR" sz="1600" b="1" spc="-50" dirty="0"/>
              <a:t>.</a:t>
            </a:r>
            <a:endParaRPr lang="en-US" altLang="ko-KR" sz="1600" spc="-50" dirty="0"/>
          </a:p>
        </p:txBody>
      </p:sp>
      <p:pic>
        <p:nvPicPr>
          <p:cNvPr id="9" name="그림 8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78564E-E42D-7183-7E2E-67244AB4A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764" y="2835654"/>
            <a:ext cx="2374971" cy="2686964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B693B7AA-61EB-2DF0-303C-F3D1C87F9833}"/>
              </a:ext>
            </a:extLst>
          </p:cNvPr>
          <p:cNvGrpSpPr/>
          <p:nvPr/>
        </p:nvGrpSpPr>
        <p:grpSpPr>
          <a:xfrm>
            <a:off x="2707240" y="2833393"/>
            <a:ext cx="2566678" cy="2670176"/>
            <a:chOff x="2218858" y="3139107"/>
            <a:chExt cx="3070621" cy="3474000"/>
          </a:xfrm>
        </p:grpSpPr>
        <p:pic>
          <p:nvPicPr>
            <p:cNvPr id="11" name="그림 10" descr="텍스트, 스크린샷, 도표, 직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EF49643-E602-1C80-BE80-2EF582067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8858" y="3139107"/>
              <a:ext cx="3070621" cy="3474000"/>
            </a:xfrm>
            <a:prstGeom prst="rect">
              <a:avLst/>
            </a:prstGeom>
          </p:spPr>
        </p:pic>
        <p:pic>
          <p:nvPicPr>
            <p:cNvPr id="12" name="그림 11" descr="텍스트, 라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C834C0E-A260-AE44-29D5-EAEBE89A7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8906" t="2496" r="39923" b="92935"/>
            <a:stretch>
              <a:fillRect/>
            </a:stretch>
          </p:blipFill>
          <p:spPr>
            <a:xfrm>
              <a:off x="3309144" y="3218590"/>
              <a:ext cx="650082" cy="15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896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97BA7-87C5-7F91-278E-DC9846FD8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89398-2987-CD0B-DE8E-29310AF4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한계비용곡선의 형태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2AC6CB-322A-3D77-5A7C-8CB27BCF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BC7C6-7E62-30B4-63AC-3C546FC9A18D}"/>
              </a:ext>
            </a:extLst>
          </p:cNvPr>
          <p:cNvSpPr txBox="1"/>
          <p:nvPr/>
        </p:nvSpPr>
        <p:spPr>
          <a:xfrm>
            <a:off x="288790" y="787394"/>
            <a:ext cx="10707658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한계비용곡선의 형태는 여러가지 변수에 의해 영향을 받는다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다른 조건이 동일할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기술력이 높은 기업일수록 한계비용곡선은 낮은 쪽에 위치하게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다른 조건이 동일할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생산요소 가격이 높을수록 한계비용곡선은 높은 쪽에 위치하게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</a:t>
            </a:r>
            <a:r>
              <a:rPr lang="en-US" altLang="ko-KR" sz="1600" spc="-50" dirty="0"/>
              <a:t>(a) </a:t>
            </a:r>
            <a:r>
              <a:rPr lang="ko-KR" altLang="en-US" sz="1600" spc="-50" dirty="0"/>
              <a:t>그래프는 경제학에서 가장 일반적으로 받아들여지는 형태의 한계비용곡선이다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생산량이 적을 경우에는 생산이 늘어날수록 한계비용이 감소하다가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어느정도 수준이상이 되면 생산량이 늘어날수록 한계비용이 증가한다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5" name="그림 14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AA6210-5C28-95F5-C791-CC7FD29B02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865"/>
          <a:stretch>
            <a:fillRect/>
          </a:stretch>
        </p:blipFill>
        <p:spPr>
          <a:xfrm>
            <a:off x="9383492" y="3429000"/>
            <a:ext cx="2378893" cy="2789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2FD872D-FECD-36AD-0BDB-0F9CA8B4C240}"/>
              </a:ext>
            </a:extLst>
          </p:cNvPr>
          <p:cNvSpPr txBox="1"/>
          <p:nvPr/>
        </p:nvSpPr>
        <p:spPr>
          <a:xfrm>
            <a:off x="288790" y="2984494"/>
            <a:ext cx="909651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한계비용곡선이 이와 같은 형태를 가지는 가장 큰 이유는 고정투입요소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생산요소 가운데 원료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노동량은 경제 상황 변화에 따라 쉽게 바꿀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하지만 설비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고정투입요소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규모는 단기간에 변화시킬 수 없기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고정생산비는 생산량과 관계없이 일정하므로 한계생산비에는 포함되지 않는다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설비규모가 고정되어 있을 때 노동력과 같은 가변투입요소 사용량이 매우 적을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추가로 노동력을 고용하면 생산의 분업화로 인해 생산성이 급격히 높아지고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따라서 추가생산을 위한 한계비용은 감소한다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하지만 생산량이 충분히 많을 때에는 추가로 투입되는 노동력이 더 낮은 생산성을 가지기 마련이다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한계생산비가 증가하는 것으로 바뀐다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2787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BE27A-6D96-4343-C0EA-305A3D991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한계비용곡선의 형태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54D330-7ACF-8E64-446D-1A7A90074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66B24A-33CD-F1CF-1139-152D684D0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" y="906574"/>
            <a:ext cx="8464550" cy="564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69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9A57-F519-18C3-27C6-5ED45B6C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12365D-81C9-89DB-17BA-748541CEF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한계비용곡선의 형태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8D7978-5013-5DCC-0F74-6B327312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242529-F708-6525-849D-4B3D0558647B}"/>
              </a:ext>
            </a:extLst>
          </p:cNvPr>
          <p:cNvSpPr txBox="1"/>
          <p:nvPr/>
        </p:nvSpPr>
        <p:spPr>
          <a:xfrm>
            <a:off x="288790" y="787394"/>
            <a:ext cx="10707658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우리가 고려하는 기간이 장기일수록 기업은 설비와 같은 고정된 투입요소의 규모를 바꾸기 쉬워진다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장기로 갈수록 기업의 한계비용곡선은 아래 그림 </a:t>
            </a:r>
            <a:r>
              <a:rPr lang="en-US" altLang="ko-KR" sz="1600" spc="-50" dirty="0"/>
              <a:t>(b)</a:t>
            </a:r>
            <a:r>
              <a:rPr lang="ko-KR" altLang="en-US" sz="1600" spc="-50" dirty="0"/>
              <a:t>와 같이 완만한 형태를 가지며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극단적으로는 수평선이 되어 한계비용이 생산량과 관계없이 일정하게 결정될 수도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0DBB57-74AA-CF0B-C0EB-6BD5248A5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43" r="33519"/>
          <a:stretch>
            <a:fillRect/>
          </a:stretch>
        </p:blipFill>
        <p:spPr>
          <a:xfrm>
            <a:off x="3999204" y="2714343"/>
            <a:ext cx="2880000" cy="334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2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E774-4B8D-078A-71BD-C1F4CC0D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56ABB-B8AD-D4B9-EEDE-E82DC84A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한계비용곡선의 형태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7715BA-0025-9D13-19D5-00400E0E0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85E1A-A551-4755-9E45-056C41440CC2}"/>
              </a:ext>
            </a:extLst>
          </p:cNvPr>
          <p:cNvSpPr txBox="1"/>
          <p:nvPr/>
        </p:nvSpPr>
        <p:spPr>
          <a:xfrm>
            <a:off x="288790" y="787394"/>
            <a:ext cx="10707658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한편 기업의 한계비용곡선이 아래 그림</a:t>
            </a:r>
            <a:r>
              <a:rPr lang="en-US" altLang="ko-KR" sz="1600" spc="-50" dirty="0"/>
              <a:t>(c)</a:t>
            </a:r>
            <a:r>
              <a:rPr lang="ko-KR" altLang="en-US" sz="1600" spc="-50" dirty="0"/>
              <a:t>와 같이 비연속적인 형태를 가질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발전소의 경우</a:t>
            </a:r>
            <a:r>
              <a:rPr lang="en-US" altLang="ko-KR" sz="1600" spc="-50" dirty="0"/>
              <a:t>, 6</a:t>
            </a:r>
            <a:r>
              <a:rPr lang="ko-KR" altLang="en-US" sz="1600" spc="-50" dirty="0"/>
              <a:t>단위까지는 첫번째 발전소의 가동률을 높여가며 생산할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6</a:t>
            </a:r>
            <a:r>
              <a:rPr lang="ko-KR" altLang="en-US" sz="1600" spc="-50" dirty="0"/>
              <a:t>단위를 초과하는 전력은 추가적인 발전소를 필요로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경우 새 발전소 건설비용도 한계비용의 일부가 되므로 한계비용곡선은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단위에서 크게 상향이동하고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다시 하락하는 형태를 가질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7" name="그림 6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1FAF7F-102A-86C4-9A34-CE4DAF9656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207"/>
          <a:stretch>
            <a:fillRect/>
          </a:stretch>
        </p:blipFill>
        <p:spPr>
          <a:xfrm>
            <a:off x="3935674" y="2697240"/>
            <a:ext cx="2880000" cy="331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853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BF83F-432C-FD4A-153B-610C8120A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71AFB3-3E0B-8E4D-97F0-98F75A0E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시장공급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140DAD-B3B4-74A3-05A6-94D2B6D9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9E99B-F5B3-0561-3897-E8F18F242298}"/>
              </a:ext>
            </a:extLst>
          </p:cNvPr>
          <p:cNvSpPr txBox="1"/>
          <p:nvPr/>
        </p:nvSpPr>
        <p:spPr>
          <a:xfrm>
            <a:off x="288790" y="787394"/>
            <a:ext cx="10707658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수요이론에서 배운 것처럼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개별 공급자의 공급곡선으로부터 시장 전체 공급량을 도출할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그림에서는 두 공급자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재화의 시장가격이 </a:t>
            </a:r>
            <a:r>
              <a:rPr lang="en-US" altLang="ko-KR" sz="1600" spc="-50" dirty="0"/>
              <a:t>600</a:t>
            </a:r>
            <a:r>
              <a:rPr lang="ko-KR" altLang="en-US" sz="1600" spc="-50" dirty="0"/>
              <a:t>원으로 결정되어 있다고 하자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공급자</a:t>
            </a:r>
            <a:r>
              <a:rPr lang="en-US" altLang="ko-KR" sz="1600" spc="-50" dirty="0"/>
              <a:t> A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단위를 공급하고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단위를 공급하려고 해서 시장 전체의 공급량은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단위가 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E484FD-8B23-5DE7-CA53-E76A6951B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053" y="2248030"/>
            <a:ext cx="8185472" cy="34542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1C7DC7-1237-08B4-8E5F-CF3D7D1EEE9D}"/>
                  </a:ext>
                </a:extLst>
              </p:cNvPr>
              <p:cNvSpPr txBox="1"/>
              <p:nvPr/>
            </p:nvSpPr>
            <p:spPr>
              <a:xfrm>
                <a:off x="2304644" y="5855162"/>
                <a:ext cx="190391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=200+200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1C7DC7-1237-08B4-8E5F-CF3D7D1EE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644" y="5855162"/>
                <a:ext cx="1903918" cy="215444"/>
              </a:xfrm>
              <a:prstGeom prst="rect">
                <a:avLst/>
              </a:prstGeom>
              <a:blipFill>
                <a:blip r:embed="rId3"/>
                <a:stretch>
                  <a:fillRect l="-962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8D78B51-3CAA-56C9-C258-A5440632D96A}"/>
                  </a:ext>
                </a:extLst>
              </p:cNvPr>
              <p:cNvSpPr txBox="1"/>
              <p:nvPr/>
            </p:nvSpPr>
            <p:spPr>
              <a:xfrm>
                <a:off x="5133712" y="5855162"/>
                <a:ext cx="182114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=200+50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8D78B51-3CAA-56C9-C258-A5440632D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712" y="5855162"/>
                <a:ext cx="1821140" cy="215444"/>
              </a:xfrm>
              <a:prstGeom prst="rect">
                <a:avLst/>
              </a:prstGeom>
              <a:blipFill>
                <a:blip r:embed="rId4"/>
                <a:stretch>
                  <a:fillRect l="-1003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A4A133-8B54-3741-5DF5-533A09642F00}"/>
                  </a:ext>
                </a:extLst>
              </p:cNvPr>
              <p:cNvSpPr txBox="1"/>
              <p:nvPr/>
            </p:nvSpPr>
            <p:spPr>
              <a:xfrm>
                <a:off x="7803795" y="5855162"/>
                <a:ext cx="187500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=200+40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A4A133-8B54-3741-5DF5-533A09642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795" y="5855162"/>
                <a:ext cx="1875000" cy="215444"/>
              </a:xfrm>
              <a:prstGeom prst="rect">
                <a:avLst/>
              </a:prstGeom>
              <a:blipFill>
                <a:blip r:embed="rId5"/>
                <a:stretch>
                  <a:fillRect l="-974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785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3BD6-605E-536B-F1D5-60B0E5D1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B7FC13-4A8F-6638-9501-A6DB8485E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편익과 생산자잉여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C5C882-84BC-DA1E-45E3-942AE64F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A09D3-8241-BB0E-ACB8-D43107B99E07}"/>
              </a:ext>
            </a:extLst>
          </p:cNvPr>
          <p:cNvSpPr txBox="1"/>
          <p:nvPr/>
        </p:nvSpPr>
        <p:spPr>
          <a:xfrm>
            <a:off x="288790" y="787394"/>
            <a:ext cx="1070765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생산자의 경우도 상품을 생산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판매할 경우 이로부터 일종의 편익을 얻을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이러한 편익을 생산자잉여 라고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그림에서 생산자의 한계비용곡선이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시장가격은 </a:t>
            </a:r>
            <a:r>
              <a:rPr lang="en-US" altLang="ko-KR" sz="1600" spc="-50" dirty="0"/>
              <a:t>600</a:t>
            </a:r>
            <a:r>
              <a:rPr lang="ko-KR" altLang="en-US" sz="1600" spc="-50" dirty="0"/>
              <a:t>원으로 주어져 있다고 하자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생산자는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단위의 재화를 공급하고자 할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생산자는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단위의 재화를 공급하기 위해 최소한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만큼을 지불 받고자 할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그러나 생산자가 시장에서 실제로 수취하는 금액은 면적 </a:t>
            </a:r>
            <a:r>
              <a:rPr lang="en-US" altLang="ko-KR" sz="1600" spc="-50" dirty="0" err="1"/>
              <a:t>a+b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생산자는 </a:t>
            </a:r>
            <a:r>
              <a:rPr lang="ko-KR" altLang="en-US" sz="1600" spc="-50" dirty="0" err="1"/>
              <a:t>지불받고자</a:t>
            </a:r>
            <a:r>
              <a:rPr lang="ko-KR" altLang="en-US" sz="1600" spc="-50" dirty="0"/>
              <a:t> 했던 금액보다 더 많은 금액을 수취할 수 있는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바로 초과 </a:t>
            </a:r>
            <a:r>
              <a:rPr lang="ko-KR" altLang="en-US" sz="1600" spc="-50" dirty="0" err="1"/>
              <a:t>수취분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생산자잉여이다</a:t>
            </a:r>
            <a:r>
              <a:rPr lang="en-US" altLang="ko-KR" sz="1600" spc="-50" dirty="0"/>
              <a:t>.</a:t>
            </a:r>
          </a:p>
          <a:p>
            <a:pPr marL="1006475" lvl="2">
              <a:lnSpc>
                <a:spcPct val="150000"/>
              </a:lnSpc>
            </a:pPr>
            <a:endParaRPr lang="en-US" altLang="ko-KR" sz="1600" spc="-5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2EBB7C9-063F-B131-8D99-B0107990E74E}"/>
              </a:ext>
            </a:extLst>
          </p:cNvPr>
          <p:cNvGrpSpPr/>
          <p:nvPr/>
        </p:nvGrpSpPr>
        <p:grpSpPr>
          <a:xfrm>
            <a:off x="5162899" y="3605728"/>
            <a:ext cx="2393602" cy="2827670"/>
            <a:chOff x="4019898" y="3187699"/>
            <a:chExt cx="2908117" cy="3290149"/>
          </a:xfrm>
        </p:grpSpPr>
        <p:pic>
          <p:nvPicPr>
            <p:cNvPr id="7" name="그림 6" descr="텍스트, 라인, 도표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54B9DCC-FE10-D120-61C0-5DEED6ED6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19898" y="3187699"/>
              <a:ext cx="2908117" cy="329014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910A6C-F88B-2B13-1189-49AF74D2EFAE}"/>
                </a:ext>
              </a:extLst>
            </p:cNvPr>
            <p:cNvSpPr txBox="1"/>
            <p:nvPr/>
          </p:nvSpPr>
          <p:spPr>
            <a:xfrm>
              <a:off x="4598769" y="4656538"/>
              <a:ext cx="328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b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49807DD-2642-ECC9-FAF0-CB83EBFEBCA1}"/>
                </a:ext>
              </a:extLst>
            </p:cNvPr>
            <p:cNvSpPr txBox="1"/>
            <p:nvPr/>
          </p:nvSpPr>
          <p:spPr>
            <a:xfrm>
              <a:off x="4762922" y="5431374"/>
              <a:ext cx="328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a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7902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2EE14-88DE-19EF-8024-F57DB042B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0A6D11-B5BC-00EB-45B1-DE548C2E01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0D4222-A669-44F8-96E2-8BD3B2AE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075F3D6-5C53-287B-79C1-6D9497C28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시장균형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560623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21CB1-5690-FC54-3D40-03D9A842F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AB20A-6AC2-D1CF-EA7E-BDA4750BF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시장균형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FE41E-9C44-0E25-37B2-7A10CDAF2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EC1B2-5493-FDF9-041F-26E157C7ED8B}"/>
              </a:ext>
            </a:extLst>
          </p:cNvPr>
          <p:cNvSpPr txBox="1"/>
          <p:nvPr/>
        </p:nvSpPr>
        <p:spPr>
          <a:xfrm>
            <a:off x="288790" y="787394"/>
            <a:ext cx="1070765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수요곡선과 공급곡선을 각각 주어진 시장가격에서 소비자가 소비하려는 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생산자가 공급하려는 양이라고 정의하였다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시장가격은 외부로부터 주어지는 것이 아니고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수요와 공급의 상호작용에 의해 내생적으로 결정된다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그림에서 수요곡선과 공급곡선이 만나는 점의 생산량은 </a:t>
            </a:r>
            <a:r>
              <a:rPr lang="en-US" altLang="ko-KR" sz="1600" spc="-50" dirty="0"/>
              <a:t>7.5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때의 가격은 </a:t>
            </a:r>
            <a:r>
              <a:rPr lang="en-US" altLang="ko-KR" sz="1600" spc="-50" dirty="0"/>
              <a:t>500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시장가격이 </a:t>
            </a:r>
            <a:r>
              <a:rPr lang="en-US" altLang="ko-KR" sz="1600" spc="-50" dirty="0"/>
              <a:t>500</a:t>
            </a:r>
            <a:r>
              <a:rPr lang="ko-KR" altLang="en-US" sz="1600" spc="-50" dirty="0"/>
              <a:t>원보다 높으면 소비자는 </a:t>
            </a:r>
            <a:r>
              <a:rPr lang="en-US" altLang="ko-KR" sz="1600" spc="-50" dirty="0"/>
              <a:t>7.5</a:t>
            </a:r>
            <a:r>
              <a:rPr lang="ko-KR" altLang="en-US" sz="1600" spc="-50" dirty="0"/>
              <a:t>보다 적게 소비하고자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공급자는 </a:t>
            </a:r>
            <a:r>
              <a:rPr lang="en-US" altLang="ko-KR" sz="1600" spc="-50" dirty="0"/>
              <a:t>7.5</a:t>
            </a:r>
            <a:r>
              <a:rPr lang="ko-KR" altLang="en-US" sz="1600" spc="-50" dirty="0"/>
              <a:t>보다 많이 공급하고자 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초과공급이 발생한다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초과공급이 없어지기 위해서는 시장가격이 하락해야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28E75F-DB5A-4789-3945-CA630C536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504" y="3010452"/>
            <a:ext cx="3064153" cy="34666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12FDD1-F61F-47E8-52D4-D364D2E03195}"/>
              </a:ext>
            </a:extLst>
          </p:cNvPr>
          <p:cNvSpPr txBox="1"/>
          <p:nvPr/>
        </p:nvSpPr>
        <p:spPr>
          <a:xfrm>
            <a:off x="288790" y="3809994"/>
            <a:ext cx="8243714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시장가격이 </a:t>
            </a:r>
            <a:r>
              <a:rPr lang="en-US" altLang="ko-KR" sz="1600" spc="-50" dirty="0"/>
              <a:t>500</a:t>
            </a:r>
            <a:r>
              <a:rPr lang="ko-KR" altLang="en-US" sz="1600" spc="-50" dirty="0"/>
              <a:t>원보다 낮으면 소비자는 </a:t>
            </a:r>
            <a:r>
              <a:rPr lang="en-US" altLang="ko-KR" sz="1600" spc="-50" dirty="0"/>
              <a:t>7.5</a:t>
            </a:r>
            <a:r>
              <a:rPr lang="ko-KR" altLang="en-US" sz="1600" spc="-50" dirty="0"/>
              <a:t>보다 많이 소비하고자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공급자는 </a:t>
            </a:r>
            <a:r>
              <a:rPr lang="en-US" altLang="ko-KR" sz="1600" spc="-50" dirty="0"/>
              <a:t>7.5</a:t>
            </a:r>
            <a:r>
              <a:rPr lang="ko-KR" altLang="en-US" sz="1600" spc="-50" dirty="0"/>
              <a:t>보다 적게 공급하고자 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초과수요가 발생한다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초과수요가 없어지기 위해서는 시장가격이 상승해야 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위의 과정이 수요와 공급이 균형을 이루 때까지 시장가격이 변하여 시장이 청산되는데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</a:t>
            </a:r>
            <a:r>
              <a:rPr lang="ko-KR" altLang="en-US" sz="1600" spc="-50" dirty="0" err="1"/>
              <a:t>시장메커니즘이라</a:t>
            </a:r>
            <a:r>
              <a:rPr lang="ko-KR" altLang="en-US" sz="1600" spc="-50" dirty="0"/>
              <a:t> 부른다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3888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B9D77-05B5-7290-2E29-57F265244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01D70-18CA-FDFE-9023-1D88397AE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시장메커니즘의</a:t>
            </a:r>
            <a:r>
              <a:rPr lang="ko-KR" altLang="en-US" dirty="0"/>
              <a:t> 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D8778E-0702-80AB-46B9-09FF2780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A18D02-8502-8C9B-8BE7-73EB741C8D0E}"/>
              </a:ext>
            </a:extLst>
          </p:cNvPr>
          <p:cNvSpPr txBox="1"/>
          <p:nvPr/>
        </p:nvSpPr>
        <p:spPr>
          <a:xfrm>
            <a:off x="288790" y="787394"/>
            <a:ext cx="1140791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7.5</a:t>
            </a:r>
            <a:r>
              <a:rPr lang="ko-KR" altLang="en-US" sz="1600" spc="-50" dirty="0"/>
              <a:t>단위의 상품을 소비하여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소비자들이 얻는 사회적 총편익은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과 </a:t>
            </a:r>
            <a:r>
              <a:rPr lang="en-US" altLang="ko-KR" sz="1600" spc="-50" dirty="0"/>
              <a:t>7.5 </a:t>
            </a:r>
            <a:r>
              <a:rPr lang="ko-KR" altLang="en-US" sz="1600" spc="-50" dirty="0"/>
              <a:t>사이에 형성되는 시장수요곡선 아래의 면적이다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반면 </a:t>
            </a:r>
            <a:r>
              <a:rPr lang="en-US" altLang="ko-KR" sz="1600" spc="-50" dirty="0"/>
              <a:t>7.5</a:t>
            </a:r>
            <a:r>
              <a:rPr lang="ko-KR" altLang="en-US" sz="1600" spc="-50" dirty="0"/>
              <a:t>단위를 생산하기 위하여 사회전체가 지불하는 비용은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과 </a:t>
            </a:r>
            <a:r>
              <a:rPr lang="en-US" altLang="ko-KR" sz="1600" spc="-50" dirty="0"/>
              <a:t>7.5 </a:t>
            </a:r>
            <a:r>
              <a:rPr lang="ko-KR" altLang="en-US" sz="1600" spc="-50" dirty="0"/>
              <a:t>사이에 형성되는 시장공급곡선의 아래 면적이 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특정 상품을 생산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소비함에 따라 사회 전체가 얻는 순편익은 사회 전체가 그만큼을 소비하여 얻는 편익에서 생산하기 위해 지불하는 비용을 </a:t>
            </a:r>
            <a:r>
              <a:rPr lang="ko-KR" altLang="en-US" sz="1600" spc="-50" dirty="0" err="1"/>
              <a:t>빼준</a:t>
            </a:r>
            <a:r>
              <a:rPr lang="ko-KR" altLang="en-US" sz="1600" spc="-50" dirty="0"/>
              <a:t> 것이어야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 전체의 순편익이 극대가 되는 그와 같은 상태를 경제의 가장 효율적인 상태라 규정하고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효율성이 자유경쟁시장에 의해 달성된다는 것을 확인할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3C08B8-3541-E55E-31B5-B3842F3BE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504" y="3010452"/>
            <a:ext cx="3064153" cy="34666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6140D0-9220-9D4A-4F90-64CC63110C78}"/>
              </a:ext>
            </a:extLst>
          </p:cNvPr>
          <p:cNvSpPr txBox="1"/>
          <p:nvPr/>
        </p:nvSpPr>
        <p:spPr>
          <a:xfrm>
            <a:off x="288790" y="3476619"/>
            <a:ext cx="8243714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자유경쟁시장 메커니즘에 의해 경제 효율성이 달성되는 이유는 시장균형에서는 한계지불의사와 한계비용이 동일하기 때문이다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만약 경제 전체가 </a:t>
            </a:r>
            <a:r>
              <a:rPr lang="en-US" altLang="ko-KR" sz="1600" spc="-50" dirty="0"/>
              <a:t>7.5</a:t>
            </a:r>
            <a:r>
              <a:rPr lang="ko-KR" altLang="en-US" sz="1600" spc="-50" dirty="0"/>
              <a:t>보다 많은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단위를 소비와 생산을 하고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상품 한 단위의 한계지불의사는 한계생산비용보다 작다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때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단위에서 소비를 줄이면 편익이 줄어드는 정도보다 비용이 감소하는 정도가 더 크다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사회 전체의 순편익이 증가한다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만약 경제 전체가 </a:t>
            </a:r>
            <a:r>
              <a:rPr lang="en-US" altLang="ko-KR" sz="1600" spc="-50" dirty="0"/>
              <a:t>7.5</a:t>
            </a:r>
            <a:r>
              <a:rPr lang="ko-KR" altLang="en-US" sz="1600" spc="-50" dirty="0"/>
              <a:t>보다 적은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단위를 소비와 생산하고 있는 경우를 생각해보면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이때는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단위에서 소비를 더 늘리면 순편익이 증가하게 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5116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5410</TotalTime>
  <Words>1775</Words>
  <Application>Microsoft Office PowerPoint</Application>
  <PresentationFormat>와이드스크린</PresentationFormat>
  <Paragraphs>189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HY헤드라인M</vt:lpstr>
      <vt:lpstr>KoPub돋움체 Light</vt:lpstr>
      <vt:lpstr>Arial</vt:lpstr>
      <vt:lpstr>Cambria Math</vt:lpstr>
      <vt:lpstr>Wingdings</vt:lpstr>
      <vt:lpstr>맑은 고딕</vt:lpstr>
      <vt:lpstr>Office 테마</vt:lpstr>
      <vt:lpstr>환경 경제학</vt:lpstr>
      <vt:lpstr>Chapter 3  수요, 공급 및 시장균형</vt:lpstr>
      <vt:lpstr>Section 1. 수요</vt:lpstr>
      <vt:lpstr>지불의사</vt:lpstr>
      <vt:lpstr>지불의사</vt:lpstr>
      <vt:lpstr>지불의사</vt:lpstr>
      <vt:lpstr>시장 수요곡선</vt:lpstr>
      <vt:lpstr>편익과 소비자 잉여</vt:lpstr>
      <vt:lpstr>편익과 소비자 잉여</vt:lpstr>
      <vt:lpstr>Section 2. 공급</vt:lpstr>
      <vt:lpstr>비용</vt:lpstr>
      <vt:lpstr>비용</vt:lpstr>
      <vt:lpstr>비용곡선과 공급곡선</vt:lpstr>
      <vt:lpstr>한계비용곡선의 형태</vt:lpstr>
      <vt:lpstr>한계비용곡선의 형태</vt:lpstr>
      <vt:lpstr>한계비용곡선의 형태</vt:lpstr>
      <vt:lpstr>한계비용곡선의 형태</vt:lpstr>
      <vt:lpstr>시장공급</vt:lpstr>
      <vt:lpstr>편익과 생산자잉여</vt:lpstr>
      <vt:lpstr>Section 3. 시장균형</vt:lpstr>
      <vt:lpstr>시장균형</vt:lpstr>
      <vt:lpstr>시장메커니즘의 효율성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159</cp:revision>
  <dcterms:created xsi:type="dcterms:W3CDTF">2025-07-05T05:15:23Z</dcterms:created>
  <dcterms:modified xsi:type="dcterms:W3CDTF">2026-09-10T00:24:48Z</dcterms:modified>
</cp:coreProperties>
</file>