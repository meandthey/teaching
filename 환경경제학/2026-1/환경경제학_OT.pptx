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375" r:id="rId2"/>
    <p:sldId id="400" r:id="rId3"/>
    <p:sldId id="571" r:id="rId4"/>
    <p:sldId id="570" r:id="rId5"/>
    <p:sldId id="405" r:id="rId6"/>
    <p:sldId id="575" r:id="rId7"/>
    <p:sldId id="573" r:id="rId8"/>
    <p:sldId id="377" r:id="rId9"/>
    <p:sldId id="376" r:id="rId10"/>
    <p:sldId id="574" r:id="rId11"/>
    <p:sldId id="397" r:id="rId12"/>
    <p:sldId id="572" r:id="rId13"/>
    <p:sldId id="550" r:id="rId14"/>
    <p:sldId id="577" r:id="rId15"/>
    <p:sldId id="379" r:id="rId16"/>
    <p:sldId id="578" r:id="rId17"/>
    <p:sldId id="579" r:id="rId18"/>
    <p:sldId id="380" r:id="rId19"/>
    <p:sldId id="381" r:id="rId20"/>
    <p:sldId id="364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OT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7C8A-9F0F-FC0C-1D76-A3F32B69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A045F-2B00-83E6-B256-8A0B6100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C8D9F-C285-F5E4-1C11-93C8B7EF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F846B-90A2-D78F-645B-FB97CEC2A5AC}"/>
              </a:ext>
            </a:extLst>
          </p:cNvPr>
          <p:cNvSpPr txBox="1"/>
          <p:nvPr/>
        </p:nvSpPr>
        <p:spPr>
          <a:xfrm>
            <a:off x="678872" y="879786"/>
            <a:ext cx="10975831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수업 운영 방식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 중심의 수업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수업 중 언제든지 어떤 주제도 질문 가능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취식 가능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냄새만 심하게 안나면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성적 평가 방법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  <a:r>
              <a:rPr lang="en-US" altLang="ko-KR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상대평가</a:t>
            </a:r>
            <a:endParaRPr lang="en-US" altLang="ko-KR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출석</a:t>
            </a:r>
            <a:r>
              <a:rPr lang="en-US" altLang="ko-KR" sz="1600" spc="-50" dirty="0"/>
              <a:t>: 10%, </a:t>
            </a:r>
            <a:r>
              <a:rPr lang="ko-KR" altLang="en-US" sz="1600" spc="-50" dirty="0"/>
              <a:t>중간고사</a:t>
            </a:r>
            <a:r>
              <a:rPr lang="en-US" altLang="ko-KR" sz="1600" spc="-50" dirty="0"/>
              <a:t>: 45%, </a:t>
            </a:r>
            <a:r>
              <a:rPr lang="ko-KR" altLang="en-US" sz="1600" spc="-50" dirty="0"/>
              <a:t>기말고사 </a:t>
            </a:r>
            <a:r>
              <a:rPr lang="en-US" altLang="ko-KR" sz="1600" spc="-50" dirty="0"/>
              <a:t>45%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형식</a:t>
            </a:r>
            <a:r>
              <a:rPr lang="en-US" altLang="ko-KR" sz="1600" spc="-50" dirty="0"/>
              <a:t>: OX, </a:t>
            </a:r>
            <a:r>
              <a:rPr lang="ko-KR" altLang="en-US" sz="1600" spc="-50" dirty="0"/>
              <a:t>객관식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주관식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계산형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서술형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그래프 그리기</a:t>
            </a:r>
            <a:r>
              <a:rPr lang="en-US" altLang="ko-KR" sz="1600" spc="-50" dirty="0"/>
              <a:t>)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　</a:t>
            </a: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개별 면담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705</a:t>
            </a:r>
            <a:r>
              <a:rPr lang="ko-KR" altLang="en-US" sz="1600" spc="-50" dirty="0"/>
              <a:t>호 노크해서 내가 자리에 있으면 언제든지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미리 이메일 통해서 약속 잡는 것도 환영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면담내용은 어떤 내용도 환영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8148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C2E-9805-3FDA-3B62-DFF22299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F29E0-1A5C-A721-6CB1-311BDD2E7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6110A-555C-B598-0791-EA80770A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86532-68D4-694C-BFA5-E28D02EB8E76}"/>
              </a:ext>
            </a:extLst>
          </p:cNvPr>
          <p:cNvSpPr txBox="1"/>
          <p:nvPr/>
        </p:nvSpPr>
        <p:spPr>
          <a:xfrm>
            <a:off x="678872" y="1038536"/>
            <a:ext cx="10975831" cy="46613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교과서 및 강의자료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환경경제학</a:t>
            </a:r>
            <a:r>
              <a:rPr lang="en-US" altLang="ko-KR" sz="1600" spc="-50" dirty="0"/>
              <a:t> 5</a:t>
            </a:r>
            <a:r>
              <a:rPr lang="ko-KR" altLang="en-US" sz="1600" spc="-50" dirty="0"/>
              <a:t>판</a:t>
            </a:r>
            <a:r>
              <a:rPr lang="en-US" altLang="ko-KR" sz="1600" spc="-50" dirty="0"/>
              <a:t>, (</a:t>
            </a:r>
            <a:r>
              <a:rPr lang="ko-KR" altLang="en-US" sz="1600" spc="-50" dirty="0"/>
              <a:t>출판사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박영사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저자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권오상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교과서를 토대로 </a:t>
            </a:r>
            <a:r>
              <a:rPr lang="en-US" altLang="ko-KR" sz="1600" spc="-50" dirty="0"/>
              <a:t>PPT</a:t>
            </a:r>
            <a:r>
              <a:rPr lang="ko-KR" altLang="en-US" sz="1600" spc="-50" dirty="0"/>
              <a:t>자료 제작 후 </a:t>
            </a:r>
            <a:r>
              <a:rPr lang="en-US" altLang="ko-KR" sz="1600" spc="-50" dirty="0"/>
              <a:t>PDF</a:t>
            </a:r>
            <a:r>
              <a:rPr lang="ko-KR" altLang="en-US" sz="1600" spc="-50" dirty="0"/>
              <a:t>로 제공할 예정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진도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예정이므로 바뀔 수 있음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중간고사</a:t>
            </a:r>
            <a:endParaRPr lang="en-US" altLang="ko-KR" sz="1600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>
                <a:ln w="3175">
                  <a:noFill/>
                </a:ln>
                <a:latin typeface="+mn-ea"/>
              </a:rPr>
              <a:t>Chapter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 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1~7 :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>
                <a:ln w="3175">
                  <a:noFill/>
                </a:ln>
                <a:latin typeface="+mn-ea"/>
              </a:rPr>
              <a:t>경제와 자연환경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수요공급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(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미시경제 기본 복습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),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시장실패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환경정책 평가 기준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직접규제</a:t>
            </a:r>
            <a:r>
              <a:rPr lang="en-US" altLang="ko-KR" sz="1600" spc="-50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spc="-50" dirty="0">
                <a:ln w="3175">
                  <a:noFill/>
                </a:ln>
                <a:latin typeface="+mn-ea"/>
              </a:rPr>
              <a:t>배출부과금과 보조금</a:t>
            </a:r>
            <a:endParaRPr lang="en-US" altLang="ko-KR" sz="1600" spc="-50" dirty="0">
              <a:ln w="3175">
                <a:noFill/>
              </a:ln>
              <a:latin typeface="+mn-ea"/>
            </a:endParaRP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기말고사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Chapter 8~10, 13, 14, 18, 21, 22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배출권거래제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불확실성 및 정보비대칭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환경정책의 정치경제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편익분석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지구의 환경문제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기후변화 경제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5767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B801-E456-B9B0-B3C7-110048238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6A298-2743-DDF9-70D5-4A59D6E1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F859BE-9347-3CE7-8FCC-8559C556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DF4594-DBE1-FF47-7F8D-719EA4706714}"/>
              </a:ext>
            </a:extLst>
          </p:cNvPr>
          <p:cNvSpPr txBox="1"/>
          <p:nvPr/>
        </p:nvSpPr>
        <p:spPr>
          <a:xfrm>
            <a:off x="678872" y="1038536"/>
            <a:ext cx="11100378" cy="11988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보강 운영 계획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9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추석연휴로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대면 수업은 없음</a:t>
            </a:r>
            <a:r>
              <a:rPr lang="en-US" altLang="ko-KR" sz="1600" spc="-50" dirty="0"/>
              <a:t>. &gt;&gt; </a:t>
            </a:r>
            <a:r>
              <a:rPr lang="ko-KR" altLang="en-US" sz="1600" spc="-50" dirty="0"/>
              <a:t>온라인 동영상을 업로드할 예정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중간고사 범위 연습문제 풀이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11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학회 참석으로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대면 수업은 없음</a:t>
            </a:r>
            <a:r>
              <a:rPr lang="en-US" altLang="ko-KR" sz="1600" spc="-50" dirty="0"/>
              <a:t>. &gt;&gt; </a:t>
            </a:r>
            <a:r>
              <a:rPr lang="ko-KR" altLang="en-US" sz="1600" spc="-50" dirty="0"/>
              <a:t>온라인 동영상을 업로드할 예정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기말고사 </a:t>
            </a:r>
            <a:r>
              <a:rPr lang="ko-KR" altLang="en-US" sz="1600" spc="-50"/>
              <a:t>범위 연습문제 </a:t>
            </a:r>
            <a:r>
              <a:rPr lang="ko-KR" altLang="en-US" sz="1600" spc="-50" dirty="0"/>
              <a:t>풀이</a:t>
            </a:r>
            <a:r>
              <a:rPr lang="en-US" altLang="ko-KR" sz="1600" spc="-5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26C1AB-D255-BF2A-AC70-39866A21F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90" y="2474796"/>
            <a:ext cx="6306831" cy="394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6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 err="1"/>
              <a:t>환경경제학이란</a:t>
            </a:r>
            <a:r>
              <a:rPr lang="ko-KR" altLang="en-US" sz="4000" b="1" i="0" spc="150" dirty="0"/>
              <a:t> 어떤 학문인가</a:t>
            </a:r>
            <a:r>
              <a:rPr lang="en-US" altLang="ko-KR" sz="4000" b="1" i="0" spc="150" dirty="0"/>
              <a:t>?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환경경제학의 정의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38788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5269-3054-795E-8403-ADCF56B8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9B65F-2C27-59BC-1F46-4732FAAF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환경문제를 다루는 여러 학문들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A79D88-D135-109C-4247-75103F79C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CE4EB-8090-B304-EE3B-D713A9EE8A1A}"/>
              </a:ext>
            </a:extLst>
          </p:cNvPr>
          <p:cNvSpPr txBox="1"/>
          <p:nvPr/>
        </p:nvSpPr>
        <p:spPr>
          <a:xfrm>
            <a:off x="288790" y="958844"/>
            <a:ext cx="10707658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산업사회가 초래한 환경오염에 관하여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인류학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윤리학 등 다양한 학문에서 인간 행위와 환경오염의 문제를 다루고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환경경제학이 다른 학문 분야와 차별화가 되는 것은 주로 경제적 유인이 자연환경 이용과 관련된 인간 행위에 미치는 영향을 분석한다는 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공장주인이 폐수를 방류하는 것은 경제적으로 자신에게 이롭기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경제학이 경제적 유인을 분석하여 경제와 자연생태계의 조화로운 발전을 추구하는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윤리학 등은 개인의 도덕심 차원에서 환경문제에 접근한다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환경오염은 비윤리적인 행위로 인해 발생하는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자연환경 보존이 갖는 도덕적 가치를 중요시 여긴다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환경경제학은 개인의 도덕적 선택에만 의존해서는 환경문제를 효율적으로 해결하기 어렵다고 여긴다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개인의 윤리의식보다는 환경 이용 행위를 통제하는 적절한 수단이나 경제적 유인이 있는지 관심을 가진다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50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실증경제학</a:t>
            </a:r>
            <a:r>
              <a:rPr lang="en-US" altLang="ko-KR" dirty="0"/>
              <a:t> vs. </a:t>
            </a:r>
            <a:r>
              <a:rPr lang="ko-KR" altLang="en-US" dirty="0"/>
              <a:t>규범경제학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493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경제현상을 설명하고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예측 분석하는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가치판단 없이 원인과 결과를 규명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탄소세가 </a:t>
            </a:r>
            <a:r>
              <a:rPr lang="en-US" altLang="ko-KR" sz="1600" spc="-50" dirty="0"/>
              <a:t>10,000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온실가스는 얼만큼 감축될까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규범경제학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경제정책이나 상황에 대해 무엇이 </a:t>
            </a:r>
            <a:r>
              <a:rPr lang="ko-KR" altLang="en-US" sz="1600" spc="-50" dirty="0" err="1"/>
              <a:t>바람직한지</a:t>
            </a:r>
            <a:r>
              <a:rPr lang="ko-KR" altLang="en-US" sz="1600" spc="-50" dirty="0"/>
              <a:t> 논의하는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 판단을 통해 정책방향을 제시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탄소세를 얼마나 높여야 하는가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-&gt;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규범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실증적 결과가 있어야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가치판단을 통해 건설적인 토론이 가능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우리 수업에서는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우리 수업에서는 실증경제학의 범위 내에서 환경경제학을 배울 예정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경제학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6B103-0BDB-EFC8-6738-366A56F8477A}"/>
              </a:ext>
            </a:extLst>
          </p:cNvPr>
          <p:cNvSpPr txBox="1"/>
          <p:nvPr/>
        </p:nvSpPr>
        <p:spPr>
          <a:xfrm>
            <a:off x="678872" y="1038536"/>
            <a:ext cx="11087678" cy="48921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미시 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경제주체가 어떤 동기를 가지고 어떻게 생산행위나 소비행위와 같은 경제적인 의사결정을 하는지 연구하는 학문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거시 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국민총생산액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성장률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실업률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이자율 등 국가 경제의 거시적인 변수들이 형성되고 움직이는 관계를 연구하는 학문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 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자연환경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환경자원을 어떤 방식으로 개발하고 </a:t>
            </a:r>
            <a:r>
              <a:rPr lang="ko-KR" altLang="en-US" sz="1600" spc="-50" dirty="0" err="1"/>
              <a:t>관리할지의</a:t>
            </a:r>
            <a:r>
              <a:rPr lang="ko-KR" altLang="en-US" sz="1600" spc="-50" dirty="0"/>
              <a:t> 문제를 경제학적인 원리를 적용하여 연구하는 학문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경제주체가 자연환경에 어떤 식으로 영향을 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인간의 소비 욕구 충족과 자연생태계 보존이 조화를 이루기 위해 정부 정책이나 경제제도가 어떻게 형성되야 할까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미시경제학적인 분석 수단을 많이 이용하는 학문이긴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환경정책이 경제성장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실업률 등에 어떤 영향을 미치는지에 관한 문제의 해답 역시 찾고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7AB4-6555-FD5D-FE85-160E3743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A763C-A587-C97B-8C61-854F5E6C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경제학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50ADBF-700C-DB7D-1492-345360C8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C5269-FAF6-ED17-405F-7D365B2FAA8F}"/>
              </a:ext>
            </a:extLst>
          </p:cNvPr>
          <p:cNvSpPr txBox="1"/>
          <p:nvPr/>
        </p:nvSpPr>
        <p:spPr>
          <a:xfrm>
            <a:off x="288790" y="958844"/>
            <a:ext cx="10707658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환경경제학에서 다루는 </a:t>
            </a:r>
            <a:r>
              <a:rPr lang="ko-KR" altLang="en-US" sz="1600" spc="-50" dirty="0" err="1"/>
              <a:t>환경재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공기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물과 같은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그 소유권이 명확히 설정되어 있지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그렇다고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오염을 유발한 경제주체가 오염에 따른 손실을 모두 부담하는 것도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경제주체가 자유롭게 환경재를 이용하도록 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자신이 유발한 오염이 다른 경제주체의 만족도를 떨어뜨리는 정도를 감안하지 않기 때문에 환경의 과도한 이용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훼손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초래한다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경제행위에 따라 환경이 어느정도 훼손이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경제주체의 경제활동을 어떤 수준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방식으로 유도해야 바람직한 수준의 오염을 유지할 수 있는지 연구할 필요가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 보존을 위해 정부는 여러 정책과 사업을 시행하고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사업의 편익과 비용을 알 필요가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맑은 공기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물과 같은 환경재는 여타 재화나 서비스와 달리 시장에서 거래가 되지 않으므로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시장가격이라는 것이 존재하지 않는다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그 가치를 적절히 반영하는 것은 매우 어렵다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888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5874-0A12-493E-A9C8-38C1437A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FAA29-F8FE-86C7-FD10-48C4AAED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환경경제학에서 다루는 여러가지 주제들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E89583-A4A0-DA9D-4C70-6F0EE66E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875278-A554-CE9C-20F8-143C0D95E4F7}"/>
              </a:ext>
            </a:extLst>
          </p:cNvPr>
          <p:cNvSpPr txBox="1"/>
          <p:nvPr/>
        </p:nvSpPr>
        <p:spPr>
          <a:xfrm>
            <a:off x="4266683" y="5000957"/>
            <a:ext cx="279949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https://www.hkbs.co.kr/news/articleView.html?idxno=831556</a:t>
            </a:r>
            <a:endParaRPr lang="ko-KR" altLang="en-US" sz="7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56A3A2C-A0E3-EA48-C876-F539C1079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480330"/>
            <a:ext cx="3925039" cy="46253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6F21471-82ED-41BA-B57B-0AA01FCA7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772" y="2233436"/>
            <a:ext cx="2541427" cy="27354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8A1458-9C11-267B-03CA-2D20621FF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151" y="2672593"/>
            <a:ext cx="2897585" cy="19935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8E5B14D-5B2D-0CAD-F926-5F97BC2B7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73" y="4707901"/>
            <a:ext cx="2897585" cy="1860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DDB3B96-68CD-FDF1-D479-81B84E9D4298}"/>
              </a:ext>
            </a:extLst>
          </p:cNvPr>
          <p:cNvSpPr txBox="1"/>
          <p:nvPr/>
        </p:nvSpPr>
        <p:spPr>
          <a:xfrm>
            <a:off x="442819" y="5000957"/>
            <a:ext cx="279949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https://www.hkbs.co.kr/news/articleView.html?idxno=832206</a:t>
            </a:r>
            <a:endParaRPr lang="ko-KR" altLang="en-US" sz="7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81A454-6BFC-4A29-0DE2-38A1CF5F8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97" y="1430594"/>
            <a:ext cx="2478972" cy="5122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E1BB6A5-B15E-643C-C1C7-24B5E088E4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777" y="2659999"/>
            <a:ext cx="1913907" cy="19935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2C69F21-007E-70B2-5664-7A89022773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48" y="2210410"/>
            <a:ext cx="1611020" cy="34382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3AB2BD1-1C99-7740-D86A-7B1D4068A8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483" y="4698046"/>
            <a:ext cx="2872917" cy="20888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2C6F72C-F00C-BA90-CB1E-D3AD6DE9E623}"/>
              </a:ext>
            </a:extLst>
          </p:cNvPr>
          <p:cNvSpPr txBox="1"/>
          <p:nvPr/>
        </p:nvSpPr>
        <p:spPr>
          <a:xfrm>
            <a:off x="8271876" y="5002157"/>
            <a:ext cx="262858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/>
              <a:t>https://www.hkbs.co.kr/news/articleView.html?idxno=830713</a:t>
            </a:r>
            <a:endParaRPr lang="ko-KR" altLang="en-US" sz="7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8B609F86-B49F-7489-0B8C-043C2D10A9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153" y="1430594"/>
            <a:ext cx="3636786" cy="49237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79518D2A-E3B4-B1A6-8CBE-80E1B100B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357" y="2101440"/>
            <a:ext cx="2320433" cy="16909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453F48C-6E70-A194-46D8-DE04D49AC4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7357" y="2374386"/>
            <a:ext cx="2573105" cy="246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1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FD7AA-D579-EF6C-D173-094EDE8AA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환경경제학에서 다루는 여러가지 주제들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9987F-73C5-76EA-274D-87F708C5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B34175-0275-3F2C-58FE-E6F284A9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71" y="1788190"/>
            <a:ext cx="4724762" cy="17099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3BE82C-2197-4123-F819-F005E11BE1AF}"/>
              </a:ext>
            </a:extLst>
          </p:cNvPr>
          <p:cNvSpPr txBox="1"/>
          <p:nvPr/>
        </p:nvSpPr>
        <p:spPr>
          <a:xfrm>
            <a:off x="589790" y="6171151"/>
            <a:ext cx="33532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Jeon (2026) submitted</a:t>
            </a:r>
            <a:endParaRPr lang="ko-KR" alt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1871B0-2D3F-943C-B9BD-4F8B2FB11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93" y="3890395"/>
            <a:ext cx="4226577" cy="26063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D6B3AE2-2C55-84CC-023D-F0DE580AC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81812"/>
            <a:ext cx="5436775" cy="35209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9A528A-D7E6-FD01-B7E4-77283F93967E}"/>
              </a:ext>
            </a:extLst>
          </p:cNvPr>
          <p:cNvSpPr txBox="1"/>
          <p:nvPr/>
        </p:nvSpPr>
        <p:spPr>
          <a:xfrm>
            <a:off x="402723" y="934287"/>
            <a:ext cx="11287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기온에 대한 전력수요 반응의 지역간 이질성</a:t>
            </a:r>
            <a:endParaRPr lang="en-US" altLang="ko-KR" sz="1200" b="1" dirty="0"/>
          </a:p>
          <a:p>
            <a:pPr algn="ctr"/>
            <a:r>
              <a:rPr lang="en-US" altLang="ko-KR" sz="1200" dirty="0"/>
              <a:t>(</a:t>
            </a:r>
            <a:r>
              <a:rPr lang="ko-KR" altLang="ko-KR" sz="1200" dirty="0" err="1"/>
              <a:t>Municipality-level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heterogeneity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electricity-demand</a:t>
            </a:r>
            <a:r>
              <a:rPr lang="ko-KR" altLang="ko-KR" sz="1200" dirty="0"/>
              <a:t> </a:t>
            </a:r>
            <a:r>
              <a:rPr lang="ko-KR" altLang="ko-KR" sz="1200" dirty="0" err="1"/>
              <a:t>responses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to</a:t>
            </a:r>
            <a:r>
              <a:rPr lang="ko-KR" altLang="ko-KR" sz="1200" dirty="0"/>
              <a:t> </a:t>
            </a:r>
            <a:r>
              <a:rPr lang="ko-KR" altLang="ko-KR" sz="1200" dirty="0" err="1"/>
              <a:t>temperature</a:t>
            </a:r>
            <a:r>
              <a:rPr lang="ko-KR" altLang="ko-KR" sz="1200" dirty="0"/>
              <a:t>: </a:t>
            </a:r>
            <a:r>
              <a:rPr lang="ko-KR" altLang="ko-KR" sz="1200" dirty="0" err="1"/>
              <a:t>Functional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patterns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spatial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structure</a:t>
            </a:r>
            <a:r>
              <a:rPr lang="ko-KR" altLang="ko-KR" sz="1200" dirty="0"/>
              <a:t>, and </a:t>
            </a:r>
            <a:r>
              <a:rPr lang="ko-KR" altLang="ko-KR" sz="1200" dirty="0" err="1"/>
              <a:t>regional</a:t>
            </a:r>
            <a:r>
              <a:rPr lang="ko-KR" altLang="ko-KR" sz="1200" dirty="0"/>
              <a:t> </a:t>
            </a:r>
            <a:r>
              <a:rPr lang="ko-KR" altLang="ko-KR" sz="1200" dirty="0" err="1"/>
              <a:t>correlates</a:t>
            </a:r>
            <a:r>
              <a:rPr lang="ko-KR" altLang="ko-KR" sz="1200" dirty="0"/>
              <a:t> </a:t>
            </a:r>
            <a:r>
              <a:rPr lang="ko-KR" altLang="ko-KR" sz="1200" dirty="0" err="1"/>
              <a:t>in</a:t>
            </a:r>
            <a:r>
              <a:rPr lang="ko-KR" altLang="ko-KR" sz="1200" dirty="0"/>
              <a:t> </a:t>
            </a:r>
            <a:r>
              <a:rPr lang="ko-KR" altLang="ko-KR" sz="1200" dirty="0" err="1"/>
              <a:t>South</a:t>
            </a:r>
            <a:r>
              <a:rPr lang="ko-KR" altLang="ko-KR" sz="1200" dirty="0"/>
              <a:t> </a:t>
            </a:r>
            <a:r>
              <a:rPr lang="ko-KR" altLang="ko-KR" sz="1200" dirty="0" err="1"/>
              <a:t>Korea</a:t>
            </a:r>
            <a:r>
              <a:rPr lang="en-US" altLang="ko-KR" sz="1200" dirty="0"/>
              <a:t>)</a:t>
            </a:r>
            <a:endParaRPr lang="ko-KR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13272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경제적 유인과 환경문제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72B7-4BB9-6288-CA14-8F2DDCF1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071D8-C8BA-6578-56E0-EDE6C3F4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환경경제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7E300C-0B05-BB23-1E89-91CDB973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2F980-6994-1314-1D9F-E96027527DF8}"/>
              </a:ext>
            </a:extLst>
          </p:cNvPr>
          <p:cNvSpPr txBox="1"/>
          <p:nvPr/>
        </p:nvSpPr>
        <p:spPr>
          <a:xfrm>
            <a:off x="678872" y="1038536"/>
            <a:ext cx="10975831" cy="23893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쓰레기 종량제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1995</a:t>
            </a:r>
            <a:r>
              <a:rPr lang="ko-KR" altLang="en-US" sz="1600" spc="-50" dirty="0"/>
              <a:t>년 이전에는 건물면적 혹은 재산세 납부액에 비례하여 쓰레기 수거료를 납부하는 방식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쓰레기 배출량을 줄여야할 경제적 유인이 없음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1995</a:t>
            </a:r>
            <a:r>
              <a:rPr lang="ko-KR" altLang="en-US" sz="1600" spc="-50" dirty="0"/>
              <a:t>년 이후로 쓰레기 종량제 도입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일반쓰레기를 배출할 때에는 종량제 봉투를 사용하는 방식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쓰레기 배출량과 처리비용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종량제봉투</a:t>
            </a:r>
            <a:r>
              <a:rPr lang="ko-KR" altLang="en-US" sz="1600" spc="-50" dirty="0"/>
              <a:t> 구매비용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비례하므로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쓰레기를 줄여야 하는 경제적 유인이 존재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A1392C-FCA8-8DC7-9338-2E3ECA992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231" y="3502176"/>
            <a:ext cx="3835597" cy="3035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6C5331-5B5B-8DC3-BA63-020B1990AFF5}"/>
              </a:ext>
            </a:extLst>
          </p:cNvPr>
          <p:cNvSpPr txBox="1"/>
          <p:nvPr/>
        </p:nvSpPr>
        <p:spPr>
          <a:xfrm>
            <a:off x="678873" y="3471336"/>
            <a:ext cx="5843568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쓰는 종량제 봉투에는 일반용 쓰레기봉투가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재사용 </a:t>
            </a:r>
            <a:r>
              <a:rPr lang="ko-KR" altLang="en-US" sz="1600" spc="-50" dirty="0" err="1"/>
              <a:t>종량제봉투가</a:t>
            </a:r>
            <a:r>
              <a:rPr lang="ko-KR" altLang="en-US" sz="1600" spc="-50" dirty="0"/>
              <a:t>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재사용 </a:t>
            </a:r>
            <a:r>
              <a:rPr lang="ko-KR" altLang="en-US" sz="1600" spc="-50" dirty="0" err="1"/>
              <a:t>종량제봉투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시민들이 마트를 이용할 때</a:t>
            </a:r>
            <a:r>
              <a:rPr lang="en-US" altLang="ko-KR" sz="1600" spc="-50" dirty="0"/>
              <a:t>, 1</a:t>
            </a:r>
            <a:r>
              <a:rPr lang="ko-KR" altLang="en-US" sz="1600" spc="-50" dirty="0"/>
              <a:t>회용 봉투대용으로 구입하여 자원낭비를 막고자 하는 것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 모두 똑같은 </a:t>
            </a:r>
            <a:r>
              <a:rPr lang="ko-KR" altLang="en-US" sz="1600" spc="-50" dirty="0" err="1"/>
              <a:t>쓰레기봉투이지만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 가지 차이점은 재사용 </a:t>
            </a:r>
            <a:r>
              <a:rPr lang="ko-KR" altLang="en-US" sz="1600" spc="-50" dirty="0" err="1"/>
              <a:t>종량제봉투에는</a:t>
            </a:r>
            <a:r>
              <a:rPr lang="ko-KR" altLang="en-US" sz="1600" spc="-50" dirty="0"/>
              <a:t> 손잡이가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0182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A8A9-B3F6-9EF9-EA26-931E0C92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환경경제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F89B1-62CE-5B0A-BF11-F8747552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20294-E052-C62E-3DBC-73718D3A05CD}"/>
              </a:ext>
            </a:extLst>
          </p:cNvPr>
          <p:cNvSpPr txBox="1"/>
          <p:nvPr/>
        </p:nvSpPr>
        <p:spPr>
          <a:xfrm>
            <a:off x="678872" y="1038536"/>
            <a:ext cx="10975831" cy="30455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생산자 책임 재활용제도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종이팩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유리병 </a:t>
            </a:r>
            <a:r>
              <a:rPr lang="ko-KR" altLang="en-US" sz="1600" spc="-50" dirty="0" err="1"/>
              <a:t>금속캔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전지류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형광등 등은 사용한 후 재활용을 거쳐 다시 사용할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 생산자가 폐용기를 회수 및 재활용하도록 유도하고자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폐기물예치금제도</a:t>
            </a:r>
            <a:r>
              <a:rPr lang="en-US" altLang="ko-KR" sz="1600" spc="-50" dirty="0"/>
              <a:t>(1992)</a:t>
            </a:r>
            <a:r>
              <a:rPr lang="ko-KR" altLang="en-US" sz="1600" spc="-50" dirty="0"/>
              <a:t>를 시행하였다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생산자는 제품을 판매할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 금액의 예치금을 정부에 납부하고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사용된 폐용기를 회수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재활용하는 경우 예치금을 돌려 받게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이후 정부는 폐기물예치금제도를 보완하여 </a:t>
            </a:r>
            <a:r>
              <a:rPr lang="en-US" altLang="ko-KR" sz="1600" spc="-50" dirty="0"/>
              <a:t>2003</a:t>
            </a:r>
            <a:r>
              <a:rPr lang="ko-KR" altLang="en-US" sz="1600" spc="-50" dirty="0"/>
              <a:t>년에는 </a:t>
            </a:r>
            <a:r>
              <a:rPr lang="ko-KR" altLang="en-US" sz="1600" spc="-50" dirty="0" err="1"/>
              <a:t>생산자책임재활용제도를</a:t>
            </a:r>
            <a:r>
              <a:rPr lang="ko-KR" altLang="en-US" sz="1600" spc="-50" dirty="0"/>
              <a:t> 도입하였다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생산자에게 판매한 상품의 폐기물에 대하여 일정량의 재활용의무를 부여하여 재활용하게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이를 이행하지 않는 경우 재활용에 소요되는 비용 이상의 재활용 부과금을 생산자에게 부과한다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0588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A21FF-E527-D743-FD40-0CDA032A1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A0823-20F9-502F-01F7-424379A1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환경경제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EF5596-6C13-2D94-9D58-4C4A4E3C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53B874-3008-537B-DCF9-C4CEDED577F6}"/>
              </a:ext>
            </a:extLst>
          </p:cNvPr>
          <p:cNvSpPr txBox="1"/>
          <p:nvPr/>
        </p:nvSpPr>
        <p:spPr>
          <a:xfrm>
            <a:off x="678873" y="1038536"/>
            <a:ext cx="10583348" cy="23068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혼잡통행료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수의 급격한 증가는 현재 가장 큰 대기오염원 가운데 하나이다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더불어 자동차 운행의 증가는 도로를 혼잡하게 하여 통행자의 시간 손실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엔진 공회전에 따른 연료소비도 증가시킨다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자동차 운행으로 인한 오염과 혼잡도를 감소시키기 위해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혼잡통행료를 징수하기도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서울시는 남산을 </a:t>
            </a:r>
            <a:r>
              <a:rPr lang="ko-KR" altLang="en-US" sz="1600" spc="-50" dirty="0" err="1"/>
              <a:t>지날때</a:t>
            </a:r>
            <a:r>
              <a:rPr lang="ko-KR" altLang="en-US" sz="1600" spc="-50" dirty="0"/>
              <a:t> 혼잡통행료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도심방향지날때만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받고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849DD3-DEFC-7827-E370-F4D94DA37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393" y="3829297"/>
            <a:ext cx="4401441" cy="2551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C98146-5921-CBFF-6E1A-8FB2E88DFBA3}"/>
              </a:ext>
            </a:extLst>
          </p:cNvPr>
          <p:cNvSpPr txBox="1"/>
          <p:nvPr/>
        </p:nvSpPr>
        <p:spPr>
          <a:xfrm>
            <a:off x="5046329" y="6380977"/>
            <a:ext cx="194589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https://biz.sbs.co.kr/article/20000151429</a:t>
            </a:r>
          </a:p>
        </p:txBody>
      </p:sp>
    </p:spTree>
    <p:extLst>
      <p:ext uri="{BB962C8B-B14F-4D97-AF65-F5344CB8AC3E}">
        <p14:creationId xmlns:p14="http://schemas.microsoft.com/office/powerpoint/2010/main" val="2544398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0FF7A-81C9-531B-3F4D-108F9B91A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9A6EF8-2FDD-BBB1-3668-86573C51C7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4B4C9E-B330-F707-00D5-2B765ABE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4184C81-27B8-D208-61C8-5825B879A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환경경제학의 주요 주제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919123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E0E3D-A421-11C5-7F28-25444AC1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환경경제학의 주요 주제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96A905-8541-5F7D-742D-17AB197F3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34423E-9AE5-ACFF-6BC7-AACA52353564}"/>
              </a:ext>
            </a:extLst>
          </p:cNvPr>
          <p:cNvSpPr txBox="1"/>
          <p:nvPr/>
        </p:nvSpPr>
        <p:spPr>
          <a:xfrm>
            <a:off x="678872" y="1038536"/>
            <a:ext cx="10975831" cy="50306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시장실패와 외부효과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공공재</a:t>
            </a:r>
            <a:r>
              <a:rPr lang="en-US" altLang="ko-KR" sz="1600" b="1" spc="-50" dirty="0"/>
              <a:t>)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환경경제학에서 다루는 재화 및 서비스는 </a:t>
            </a:r>
            <a:r>
              <a:rPr lang="ko-KR" altLang="en-US" sz="1600" b="1" spc="-50" dirty="0"/>
              <a:t>공공재</a:t>
            </a:r>
            <a:r>
              <a:rPr lang="ko-KR" altLang="en-US" sz="1600" spc="-50" dirty="0"/>
              <a:t>의 성격이 강함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소유권이 존재하지 않거나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개인이 아닌 집단에게 소유권이 부여된 환경자원이 많음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온실가스 배출로 인한 기후변화가 일어나고 있는 경우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대기는 소유권이 없다</a:t>
            </a:r>
            <a:r>
              <a:rPr lang="en-US" altLang="ko-KR" sz="1600" spc="-50" dirty="0"/>
              <a:t>.)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외부효과</a:t>
            </a:r>
            <a:r>
              <a:rPr lang="en-US" altLang="ko-KR" sz="1600" b="1" spc="-50" dirty="0"/>
              <a:t>) </a:t>
            </a:r>
            <a:r>
              <a:rPr lang="ko-KR" altLang="en-US" sz="1600" spc="-50" dirty="0"/>
              <a:t>경제주체의 행위가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자에게 의도치 않은 이익이나 손해를 주지만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효과가 시장 가격에 반영되지 않음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양봉업자가 키우는 벌들이 인근 과수원에 가서 꽃가루를 옮기며 꽃을 수분 시킴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과수원 과일 생산량을 늘림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공장에서 하천에 </a:t>
            </a:r>
            <a:r>
              <a:rPr lang="ko-KR" altLang="en-US" sz="1600" spc="-50" dirty="0" err="1"/>
              <a:t>오염수를</a:t>
            </a:r>
            <a:r>
              <a:rPr lang="ko-KR" altLang="en-US" sz="1600" spc="-50" dirty="0"/>
              <a:t> 방류해 하류 어업 종사자들이 피해를 입는 경우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수립과 집행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이용을 시장기능에 자율적으로 맡기면 환경피해가 커질 우려가 있음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효율적인 </a:t>
            </a:r>
            <a:r>
              <a:rPr lang="ko-KR" altLang="en-US" sz="1600" spc="-50" dirty="0" err="1"/>
              <a:t>환경재</a:t>
            </a:r>
            <a:r>
              <a:rPr lang="ko-KR" altLang="en-US" sz="1600" spc="-50" dirty="0"/>
              <a:t> 이용을 위해 경제적 유인을 어떻게 사용할 수 있을지 검토가 필요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오염물질에 대해 배출부과금을 부과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오염물질 배출량 한도를 부여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03891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D9EA1-BCB1-13A7-8943-3DBD533D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환경경제학의 주요 주제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ABEAF0-5630-E526-57CA-C43BD36F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4E7F3-EA10-6A47-8781-17F1292D78E5}"/>
              </a:ext>
            </a:extLst>
          </p:cNvPr>
          <p:cNvSpPr txBox="1"/>
          <p:nvPr/>
        </p:nvSpPr>
        <p:spPr>
          <a:xfrm>
            <a:off x="678872" y="1038536"/>
            <a:ext cx="10975831" cy="28146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환경정책의 비용 편익 분석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환경정책을 실행할 때 소요되는 비용과 발생하는 편익을 계산하여 정책입안에 기초자료로 활용</a:t>
            </a:r>
            <a:endParaRPr lang="en-US" altLang="ko-KR" sz="1600" b="1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환경재는 시장에서 거래되는 일반 시장재와 달리 가격이 존재하지 않아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어려운 부분이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경제발전과 환경보존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한때 경제발전과 환경보존은 서로 대립하는 문제라 인식되었으나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경제가 발달한 선진국보다는 저개발국의 환경문제가 더욱 심각하다는 사실이 밝혀짐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0890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5507</TotalTime>
  <Words>1235</Words>
  <Application>Microsoft Office PowerPoint</Application>
  <PresentationFormat>와이드스크린</PresentationFormat>
  <Paragraphs>169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HY헤드라인M</vt:lpstr>
      <vt:lpstr>KoPub돋움체 Light</vt:lpstr>
      <vt:lpstr>맑은 고딕</vt:lpstr>
      <vt:lpstr>Arial</vt:lpstr>
      <vt:lpstr>Wingdings</vt:lpstr>
      <vt:lpstr>Office 테마</vt:lpstr>
      <vt:lpstr>환경 경제학</vt:lpstr>
      <vt:lpstr>수업개요</vt:lpstr>
      <vt:lpstr>수업개요</vt:lpstr>
      <vt:lpstr>수업개요</vt:lpstr>
      <vt:lpstr>Chapter 1  환경경제학이란 어떤 학문인가?</vt:lpstr>
      <vt:lpstr>Section 1. 환경경제학의 정의</vt:lpstr>
      <vt:lpstr>환경문제를 다루는 여러 학문들</vt:lpstr>
      <vt:lpstr>실증경제학 vs. 규범경제학</vt:lpstr>
      <vt:lpstr>환경 경제학?</vt:lpstr>
      <vt:lpstr>환경 경제학?</vt:lpstr>
      <vt:lpstr>환경경제학에서 다루는 여러가지 주제들</vt:lpstr>
      <vt:lpstr>환경경제학에서 다루는 여러가지 주제들</vt:lpstr>
      <vt:lpstr>Section 2. 경제적 유인과 환경문제</vt:lpstr>
      <vt:lpstr>생활 속의 환경경제</vt:lpstr>
      <vt:lpstr>생활 속의 환경경제</vt:lpstr>
      <vt:lpstr>생활 속의 환경경제</vt:lpstr>
      <vt:lpstr>Section 3. 환경경제학의 주요 주제</vt:lpstr>
      <vt:lpstr>환경경제학의 주요 주제</vt:lpstr>
      <vt:lpstr>환경경제학의 주요 주제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104</cp:revision>
  <dcterms:created xsi:type="dcterms:W3CDTF">2025-07-05T05:15:23Z</dcterms:created>
  <dcterms:modified xsi:type="dcterms:W3CDTF">2026-09-03T00:25:30Z</dcterms:modified>
</cp:coreProperties>
</file>