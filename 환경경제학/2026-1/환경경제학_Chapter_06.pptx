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375" r:id="rId2"/>
    <p:sldId id="453" r:id="rId3"/>
    <p:sldId id="454" r:id="rId4"/>
    <p:sldId id="550" r:id="rId5"/>
    <p:sldId id="456" r:id="rId6"/>
    <p:sldId id="458" r:id="rId7"/>
    <p:sldId id="632" r:id="rId8"/>
    <p:sldId id="457" r:id="rId9"/>
    <p:sldId id="633" r:id="rId10"/>
    <p:sldId id="459" r:id="rId11"/>
    <p:sldId id="461" r:id="rId12"/>
    <p:sldId id="460" r:id="rId13"/>
    <p:sldId id="463" r:id="rId14"/>
    <p:sldId id="635" r:id="rId15"/>
    <p:sldId id="634" r:id="rId16"/>
    <p:sldId id="63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- 06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AB23-3520-83D9-9B8A-8A0A8055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F482C-792F-7193-B002-B97A6176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007AD-0718-BCEF-35DE-DD7A7B61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460642-5A36-B6FF-D68C-FFE73CCC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직접 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4307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E481-C47E-20EB-6A57-B4F15D3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685F-233E-F9B9-105F-82F2733E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243F5-A790-03F4-0825-1BE347F5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97516-CBAA-DB3A-21B1-D7518947DB02}"/>
              </a:ext>
            </a:extLst>
          </p:cNvPr>
          <p:cNvSpPr txBox="1"/>
          <p:nvPr/>
        </p:nvSpPr>
        <p:spPr>
          <a:xfrm>
            <a:off x="678872" y="958844"/>
            <a:ext cx="1102796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직접규제는 사회적으로 바람직한 수준의 환경질을 달성하기 위해 오염원이 해야 할 행위를 법률로 정하여 오염원에게 이를 지키도록 하는 환경정책을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실행 과정이 비교적 단순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정책목표가 명확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환경기준 위반자를 처벌하므로 도덕적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윤리적 기준과도 부합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가장 많이 사용하고 있는 환경정책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스스로 배출량을 효율적으로 줄이도록 유도하지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정책당국이 많은 재량권과 신축성을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입장에서는 대단히 경직된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효율성 측면에서 많은 문제제기가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정책당국이 지정하는 환경기준에는 </a:t>
            </a:r>
            <a:r>
              <a:rPr lang="en-US" altLang="ko-KR" sz="1600" spc="-50" dirty="0"/>
              <a:t>1. </a:t>
            </a:r>
            <a:r>
              <a:rPr lang="ko-KR" altLang="en-US" sz="1600" spc="-50" dirty="0"/>
              <a:t>배출기준</a:t>
            </a:r>
            <a:r>
              <a:rPr lang="en-US" altLang="ko-KR" sz="1600" spc="-50" dirty="0"/>
              <a:t>, 2. </a:t>
            </a:r>
            <a:r>
              <a:rPr lang="ko-KR" altLang="en-US" sz="1600" spc="-50" dirty="0"/>
              <a:t>오염도기준</a:t>
            </a:r>
            <a:r>
              <a:rPr lang="en-US" altLang="ko-KR" sz="1600" spc="-50" dirty="0"/>
              <a:t>, 3. </a:t>
            </a:r>
            <a:r>
              <a:rPr lang="ko-KR" altLang="en-US" sz="1600" spc="-50" dirty="0"/>
              <a:t>기술기준  세 가지가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2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C115-527E-7B4C-4D49-5D9AE57A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5113B-2D76-63D2-6749-378BD43C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A5FC-8EC4-577A-3496-2089A2DA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B01C3-7D68-FB7E-D56B-8E332C8B994D}"/>
              </a:ext>
            </a:extLst>
          </p:cNvPr>
          <p:cNvSpPr txBox="1"/>
          <p:nvPr/>
        </p:nvSpPr>
        <p:spPr>
          <a:xfrm>
            <a:off x="678872" y="958844"/>
            <a:ext cx="1102796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배출기준이란</a:t>
            </a:r>
            <a:r>
              <a:rPr lang="ko-KR" altLang="en-US" sz="1600" spc="-50" dirty="0"/>
              <a:t> 각 오염원이 배출할 수 있는 오염물질 배출량의 상한을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 방법이나 과정은 문제 삼지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지역의 실제 오염도가 높아도 책임질 필요가 없다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D83619AE-4083-6C13-C98C-5E921738E84F}"/>
              </a:ext>
            </a:extLst>
          </p:cNvPr>
          <p:cNvGraphicFramePr>
            <a:graphicFrameLocks noGrp="1"/>
          </p:cNvGraphicFramePr>
          <p:nvPr/>
        </p:nvGraphicFramePr>
        <p:xfrm>
          <a:off x="1160609" y="2885083"/>
          <a:ext cx="10126516" cy="25502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87628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66541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배출기준의 종류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 예시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배출률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폐수단위당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BOD (Biochemical Oxygen Demand,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생화학적 산소 요구량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수준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(ppm)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폐기물 총량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배출량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총배출시간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원단위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</a:t>
                      </a:r>
                      <a:r>
                        <a:rPr lang="en-US" sz="1300" b="0" kern="0" spc="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전력생산량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투입물의 폐기물 함유량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 석탄의 </a:t>
                      </a:r>
                      <a:r>
                        <a:rPr lang="ko-KR" altLang="en-US" sz="1300" b="0" kern="0" spc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황함유량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제거율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 방류 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x%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오염물질 제거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70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ACBE-0E86-8E74-6918-57758420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1E964-E403-80ED-7F7F-1F88A7D1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0E1CC-3E9A-7D0E-5771-25EFD798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DB756-E1A0-40CB-17D5-9B4C0A862066}"/>
              </a:ext>
            </a:extLst>
          </p:cNvPr>
          <p:cNvSpPr txBox="1"/>
          <p:nvPr/>
        </p:nvSpPr>
        <p:spPr>
          <a:xfrm>
            <a:off x="678872" y="958844"/>
            <a:ext cx="1117022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오염도기준이란</a:t>
            </a:r>
            <a:r>
              <a:rPr lang="ko-KR" altLang="en-US" sz="1600" spc="-50" dirty="0"/>
              <a:t> 자연환경에 축적된 </a:t>
            </a:r>
            <a:r>
              <a:rPr lang="ko-KR" altLang="en-US" sz="1600" spc="-50" dirty="0" err="1"/>
              <a:t>오염물질량의</a:t>
            </a:r>
            <a:r>
              <a:rPr lang="ko-KR" altLang="en-US" sz="1600" spc="-50" dirty="0"/>
              <a:t> 허용된 상한을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기준의 달성 의무를 오염원에게 직접 명령할 수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앞서 설명한 배출기준 혹은 기술기준을 통해 정부가 목표로  하는 오염도를 달성하도록 유도해야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배출기준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기술기준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통해 오염도 기준을 달성하기 위해서는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정부가 각 오염원의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기술수준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어떤 경로를 통해 오염도 측정지점의 오염도에 영향을 주는지 파악하고 있어야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배출기준을 매개로 하여 오염도 기준을 실행하는 과정을 이해하기 위해 아래의 그림을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왼쪽에서 오른쪽으로 흐르고 있는 강물에서 수질오염이 발생하고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오염도 기준이 설정된 오염도 측정지점은 그림의 </a:t>
            </a:r>
            <a:r>
              <a:rPr lang="en-US" altLang="ko-KR" sz="1600" i="1" spc="-50" dirty="0"/>
              <a:t>R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i="1" spc="-50" dirty="0"/>
              <a:t>R </a:t>
            </a:r>
            <a:r>
              <a:rPr lang="ko-KR" altLang="en-US" sz="1600" spc="-50" dirty="0"/>
              <a:t>지점의 수질 오염도는 </a:t>
            </a:r>
            <a:r>
              <a:rPr lang="en-US" altLang="ko-KR" sz="1600" i="1" spc="-50" dirty="0"/>
              <a:t>S</a:t>
            </a:r>
            <a:r>
              <a:rPr lang="en-US" altLang="ko-KR" sz="1600" i="1" spc="-50" baseline="-25000" dirty="0"/>
              <a:t>1</a:t>
            </a:r>
            <a:r>
              <a:rPr lang="ko-KR" altLang="en-US" sz="1600" spc="-50" dirty="0"/>
              <a:t>에서 </a:t>
            </a:r>
            <a:r>
              <a:rPr lang="en-US" altLang="ko-KR" sz="1600" i="1" spc="-50" dirty="0"/>
              <a:t>S</a:t>
            </a:r>
            <a:r>
              <a:rPr lang="en-US" altLang="ko-KR" sz="1600" i="1" spc="-50" baseline="-25000" dirty="0"/>
              <a:t>5</a:t>
            </a:r>
            <a:r>
              <a:rPr lang="ko-KR" altLang="en-US" sz="1600" spc="-50" dirty="0"/>
              <a:t>에 이르는 상류의 오염원이 배출하는 오염물질 배출량에 의해 영향을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</a:t>
            </a:r>
            <a:r>
              <a:rPr lang="en-US" altLang="ko-KR" sz="1600" spc="-50" dirty="0"/>
              <a:t>R</a:t>
            </a:r>
            <a:r>
              <a:rPr lang="ko-KR" altLang="en-US" sz="1600" spc="-50" dirty="0"/>
              <a:t>지점에서의 목표오염도를 달성하기 위해서는 각 오염원이 줄여야 할 배출량을 배출기준을 통해 정해주어야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정부는 각 오염원의 실제 배출량이 </a:t>
            </a:r>
            <a:r>
              <a:rPr lang="en-US" altLang="ko-KR" sz="1600" spc="-50" dirty="0"/>
              <a:t>R</a:t>
            </a:r>
            <a:r>
              <a:rPr lang="ko-KR" altLang="en-US" sz="1600" spc="-50" dirty="0"/>
              <a:t>에서의 오염도에 어떤 영향을 주게 되는지 파악해야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568E3E-8214-235C-4433-B7E37043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7" t="13268" r="12211" b="6354"/>
          <a:stretch>
            <a:fillRect/>
          </a:stretch>
        </p:blipFill>
        <p:spPr>
          <a:xfrm>
            <a:off x="3164133" y="5080001"/>
            <a:ext cx="2931867" cy="1542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4A856C-533C-F2FC-CB05-583B520FDE0C}"/>
              </a:ext>
            </a:extLst>
          </p:cNvPr>
          <p:cNvSpPr txBox="1"/>
          <p:nvPr/>
        </p:nvSpPr>
        <p:spPr>
          <a:xfrm>
            <a:off x="5848350" y="5959422"/>
            <a:ext cx="2343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배출량과 오염도의 관계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195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65DA-E59C-7273-7DB1-4A66F561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BDB4C-0614-4605-E360-50982E3F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C78E72-9BC8-0A1E-2215-9EC8429E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595DD-3CC2-9D21-3589-40756DD42357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7889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배출량이 오염도에 미치는 영향은 아래와 같이 간단한 수식을 통해 표현이 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나타내고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오염도 측정지점에서의 오염도를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나타내자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오염물질을 한 단위 배출했을 때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측정지점에 실제로 축적되는 비중을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i="1" spc="-5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전이계수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측정지점에서는 오염원의 배출로 인한 오염물질뿐 아니라 자연적인 요인 혹은 규제지역 밖의 오염원이 배출한 오염물질에 의해서도 축적될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측정지점의 </a:t>
                </a:r>
                <a:r>
                  <a:rPr lang="ko-KR" altLang="en-US" sz="1600" spc="-50" dirty="0" err="1"/>
                  <a:t>오염물질량은</a:t>
                </a:r>
                <a:r>
                  <a:rPr lang="ko-KR" altLang="en-US" sz="1600" spc="-50" dirty="0"/>
                  <a:t> 아래와 같이 표현할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600" spc="-50" dirty="0"/>
                  <a:t>번째 오염원이 오염물질을 한 단위 배출했을 때 그 중 측정지점에 실제로 축적되는 양을 의미하며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전이계수라고 부른다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오염물질이 자연에 배출되면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자연의 자정능력에 따라 오염 농도가 약해지므로 오염원들의 배출농도가 서로 같다고 하더라도 측정지점에서 멀리 떨어진 오염원의 전이계수는 가까운 오염원의 전이계수보다 더 작은 값을 갖는다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0595DD-3CC2-9D21-3589-40756DD42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788966" cy="5584670"/>
              </a:xfrm>
              <a:prstGeom prst="rect">
                <a:avLst/>
              </a:prstGeom>
              <a:blipFill>
                <a:blip r:embed="rId2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279C60-2620-D3F5-4B05-8AB02D8FDE88}"/>
                  </a:ext>
                </a:extLst>
              </p:cNvPr>
              <p:cNvSpPr txBox="1"/>
              <p:nvPr/>
            </p:nvSpPr>
            <p:spPr>
              <a:xfrm>
                <a:off x="4378112" y="3720590"/>
                <a:ext cx="2106508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279C60-2620-D3F5-4B05-8AB02D8FD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112" y="3720590"/>
                <a:ext cx="2106508" cy="900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03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637D-EF29-7D56-B57F-9B9D1D43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DCE8D-6593-8A17-139D-4237182D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DD608-C6A9-82F0-02A5-8E779F72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ACB5-99F5-3F66-F834-BD889A4F723F}"/>
              </a:ext>
            </a:extLst>
          </p:cNvPr>
          <p:cNvSpPr txBox="1"/>
          <p:nvPr/>
        </p:nvSpPr>
        <p:spPr>
          <a:xfrm>
            <a:off x="678872" y="958844"/>
            <a:ext cx="11027965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기술기준은 각 오염원이 경제행위를 하면서 사용하는 생산기술이나 절차에 대해 규제하는 정책이다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축산농가로 하여금 폐수처리를 위해 정화시설을 의무적으로 설치도록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자동차에 촉매변환기를 의무적으로 장착하게끔 규제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배출기준에서는 정부가 정한 배출량 상한을 충족할 수 만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어떤 생산기술도 도입할 수 있었으나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 기준은 오염원이 사용할 수 있는 기술 자체를 정부가 규제하므로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매우 경직된 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1985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69087-6894-903B-AE74-4D6D54F4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343FC-E751-73F4-1411-2B65F2DE13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DE6B0-3F9E-D2EA-2CF2-4444A3CF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1A20449-7A20-D091-44BA-AAC670A9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직접규제의 경제적 비효율성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2696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FB5B-8FFC-49ED-6CDF-EC7233C7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AD12-0560-66EB-3D57-5FD08FF5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직접규제의 경제적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0D606-9C40-AB9D-4A18-97F03BF4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FA698-722E-3436-79DA-B5B43FE413BB}"/>
              </a:ext>
            </a:extLst>
          </p:cNvPr>
          <p:cNvSpPr txBox="1"/>
          <p:nvPr/>
        </p:nvSpPr>
        <p:spPr>
          <a:xfrm>
            <a:off x="678873" y="958844"/>
            <a:ext cx="726878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오염기준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사회적 한계피해와 한계저감비용이 일치하는 수준 </a:t>
            </a:r>
            <a:r>
              <a:rPr lang="en-US" altLang="ko-KR" sz="1600" spc="-50" dirty="0"/>
              <a:t>(e*)</a:t>
            </a:r>
            <a:r>
              <a:rPr lang="ko-KR" altLang="en-US" sz="1600" spc="-50" dirty="0"/>
              <a:t>을 배출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오염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상한으로 정하는 것이 최선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현실에서는 한계피해곡선과 한계저감비용곡선을 알기 힘들다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일종의 임계치를 가지는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보다 커져야 피해가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급격히 늘어나는 수준이 있는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수준 이상에서는 피해가 급격히 늘어남</a:t>
            </a: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A89C9C-7D5A-91FC-F831-A62F5C1B0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07" t="12538" r="20607" b="1284"/>
          <a:stretch>
            <a:fillRect/>
          </a:stretch>
        </p:blipFill>
        <p:spPr>
          <a:xfrm>
            <a:off x="7467600" y="2156648"/>
            <a:ext cx="4245552" cy="331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A5303-40BB-C0F5-844D-1F641C71E3CD}"/>
              </a:ext>
            </a:extLst>
          </p:cNvPr>
          <p:cNvSpPr txBox="1"/>
          <p:nvPr/>
        </p:nvSpPr>
        <p:spPr>
          <a:xfrm>
            <a:off x="8431024" y="1752429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최적 배출기준 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3146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6D01-21D8-B340-18CB-7DF04BDA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0733E-39E6-8C9C-DBAC-C101C9C7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78598-2486-A5C8-7F5D-A4B928FE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C26C7-DE81-0448-86D3-61F185BD29B6}"/>
              </a:ext>
            </a:extLst>
          </p:cNvPr>
          <p:cNvSpPr txBox="1"/>
          <p:nvPr/>
        </p:nvSpPr>
        <p:spPr>
          <a:xfrm>
            <a:off x="678873" y="958844"/>
            <a:ext cx="726878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획일성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오염원별로 환경기준을 달리 적용하면 형평성에 문제가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행정당국은 배출기준 혹은 기술기준을 전국 모든 오염원에 대해 동일한 기준을 사용할 필요가 생긴다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비효율성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 혹은 지역에 대해 획일적인 환경기준을 적용하면 효율성은 떨어질 수 밖에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오염원이나 지역에 대해 획일적인 환경기준을 적용하면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R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비교적 적은 농촌지역의 한계피해곡선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U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밀집된 도시지역의 한계피해곡선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농촌지역에서 달성되어야 할 오염도는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R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도시지역에서 달성되어야 할 배출량은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U</a:t>
            </a:r>
            <a:r>
              <a:rPr lang="en-US" altLang="ko-KR" sz="1600" spc="-50" baseline="-25000" dirty="0"/>
              <a:t>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형평성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정치적인 어려움으로 인해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환경기준을 실제로 시행하기 쉽지 않다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5145D-FD4F-4082-E5B7-E673DC2815EA}"/>
              </a:ext>
            </a:extLst>
          </p:cNvPr>
          <p:cNvSpPr txBox="1"/>
          <p:nvPr/>
        </p:nvSpPr>
        <p:spPr>
          <a:xfrm>
            <a:off x="8663568" y="1880906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획일적인 오염도 기준의 비효율성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  <p:pic>
        <p:nvPicPr>
          <p:cNvPr id="9" name="그림 7" descr="Cap 2014-06-19 09-41-56-077.png">
            <a:extLst>
              <a:ext uri="{FF2B5EF4-FFF2-40B4-BE49-F238E27FC236}">
                <a16:creationId xmlns:a16="http://schemas.microsoft.com/office/drawing/2014/main" id="{62F71CF7-A1BF-BF8E-8E29-6C17252E66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5" t="13348" r="20453"/>
          <a:stretch>
            <a:fillRect/>
          </a:stretch>
        </p:blipFill>
        <p:spPr bwMode="auto">
          <a:xfrm>
            <a:off x="7947660" y="2285125"/>
            <a:ext cx="3768090" cy="289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139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6C3-80EF-B256-5A17-17C329C3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22CBD54-FF72-6937-FCDD-7A6C1CC2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35" t="12938" r="11414" b="2872"/>
          <a:stretch>
            <a:fillRect/>
          </a:stretch>
        </p:blipFill>
        <p:spPr>
          <a:xfrm>
            <a:off x="7510463" y="2301240"/>
            <a:ext cx="4395787" cy="27203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5E5B0D-F64C-4AA7-9EFF-A9B514A1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74A4B-61DD-59B8-B580-492220F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017C1-9C8F-1DF4-088A-B2FC0C60C84A}"/>
              </a:ext>
            </a:extLst>
          </p:cNvPr>
          <p:cNvSpPr txBox="1"/>
          <p:nvPr/>
        </p:nvSpPr>
        <p:spPr>
          <a:xfrm>
            <a:off x="459798" y="958844"/>
            <a:ext cx="726878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등한계원칙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지역에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감축목표는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라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좌측을 원점으로 하는 것이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우측을 원점으로 하는 것이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오염원은 기술수준이 달라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서로 다른 형태의 한계비용곡선을 가짐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등한계원칙을 적용할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한계저감비용이 일치하는 수준에서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그림에서는 </a:t>
            </a:r>
            <a:r>
              <a:rPr lang="en-US" altLang="ko-KR" sz="1600" spc="-50" dirty="0"/>
              <a:t>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(a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=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(A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 감축하고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감축하도록 할 때 전체 저감비용이 최소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최소화된 전체 저감비용은 색칠한 면적에 해당한다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한계비용이 더 큰 상황이 되므로 비효율적이다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11C85-5C34-FBAC-F740-7E431E1A77AE}"/>
              </a:ext>
            </a:extLst>
          </p:cNvPr>
          <p:cNvSpPr txBox="1"/>
          <p:nvPr/>
        </p:nvSpPr>
        <p:spPr>
          <a:xfrm>
            <a:off x="8362444" y="189702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획일적인 배출기준의 비효율성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21914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2C55-8E50-C577-E688-ABBD0460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8" descr="Cap 2014-06-19 09-42-27-776.png">
            <a:extLst>
              <a:ext uri="{FF2B5EF4-FFF2-40B4-BE49-F238E27FC236}">
                <a16:creationId xmlns:a16="http://schemas.microsoft.com/office/drawing/2014/main" id="{57805406-3184-B931-012A-072C992EBB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" t="12618" r="9597" b="2438"/>
          <a:stretch>
            <a:fillRect/>
          </a:stretch>
        </p:blipFill>
        <p:spPr bwMode="auto">
          <a:xfrm>
            <a:off x="7555849" y="2303102"/>
            <a:ext cx="4323731" cy="2604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48CE28-2608-3B04-4B69-9FB64340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직접규제와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CCC40-90D0-B94A-0D11-76A596D5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0A222-BA97-B80D-1C8B-3AAC7B8BB0FE}"/>
              </a:ext>
            </a:extLst>
          </p:cNvPr>
          <p:cNvSpPr txBox="1"/>
          <p:nvPr/>
        </p:nvSpPr>
        <p:spPr>
          <a:xfrm>
            <a:off x="678873" y="958844"/>
            <a:ext cx="710932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기술혁신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→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최초 배출목표도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 후에도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으로 유지한다면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총저감비용은 기술혁신으로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로 줄어들고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기술혁신의 이득은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만큼임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기술혁신을 위한 투자비용이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보다 작다면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오염원은 기술개발을 위해 노력할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배출목표가 기술혁신 후에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 </a:t>
            </a:r>
            <a:r>
              <a:rPr lang="ko-KR" altLang="en-US" sz="1600" spc="-50" dirty="0"/>
              <a:t>로 줄일 것으로 예측된다면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 저감비용은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기술혁신으로 절감되는 저감비용은 </a:t>
            </a:r>
            <a:r>
              <a:rPr lang="en-US" altLang="ko-KR" sz="1600" spc="-50" dirty="0"/>
              <a:t>a-c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경우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비교할 필요가 생기며</a:t>
            </a:r>
            <a:r>
              <a:rPr lang="en-US" altLang="ko-KR" sz="1600" spc="-50" dirty="0"/>
              <a:t>, c</a:t>
            </a:r>
            <a:r>
              <a:rPr lang="ko-KR" altLang="en-US" sz="1600" spc="-50" dirty="0"/>
              <a:t>가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보다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크다면 기술혁신의 유인이 사라질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35746-0F15-46BA-3004-9B07D0113761}"/>
              </a:ext>
            </a:extLst>
          </p:cNvPr>
          <p:cNvSpPr txBox="1"/>
          <p:nvPr/>
        </p:nvSpPr>
        <p:spPr>
          <a:xfrm>
            <a:off x="8362444" y="189702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획일적인 배출기준의 비효율성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28037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B284-0F9E-07B6-A3F6-F3472DEA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8" descr="Cap 2014-06-19 09-42-27-776.png">
            <a:extLst>
              <a:ext uri="{FF2B5EF4-FFF2-40B4-BE49-F238E27FC236}">
                <a16:creationId xmlns:a16="http://schemas.microsoft.com/office/drawing/2014/main" id="{031BFAA1-851C-2844-CECB-69E15820E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" t="12618" r="9597" b="2438"/>
          <a:stretch>
            <a:fillRect/>
          </a:stretch>
        </p:blipFill>
        <p:spPr bwMode="auto">
          <a:xfrm>
            <a:off x="7555849" y="2303102"/>
            <a:ext cx="4323731" cy="2604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1C514D-3F0A-B290-E593-58DA3E44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직접규제와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F3359A-D1E2-C3A4-68E5-9D6EFB9D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6474A-E651-6BFB-6CDA-5FEA8749C496}"/>
              </a:ext>
            </a:extLst>
          </p:cNvPr>
          <p:cNvSpPr txBox="1"/>
          <p:nvPr/>
        </p:nvSpPr>
        <p:spPr>
          <a:xfrm>
            <a:off x="678873" y="958844"/>
            <a:ext cx="7109325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기술강제 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/>
              <a:t>정부가 보다 </a:t>
            </a:r>
            <a:r>
              <a:rPr lang="ko-KR" altLang="en-US" sz="1600" spc="-50" dirty="0"/>
              <a:t>강한 환경기준을 설정하면 오염원은 기술혁신에 힘쓰게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 아닌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만큼 배출허용을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최초의 기술수준에서는 </a:t>
            </a:r>
            <a:r>
              <a:rPr lang="en-US" altLang="ko-KR" sz="1600" spc="-50" dirty="0" err="1"/>
              <a:t>a+b+c+d+e</a:t>
            </a:r>
            <a:r>
              <a:rPr lang="ko-KR" altLang="en-US" sz="1600" spc="-50" dirty="0"/>
              <a:t>만큼 저감비용이 소요되지만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기술혁신을 하면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비용이 대폭 </a:t>
            </a:r>
            <a:r>
              <a:rPr lang="ko-KR" altLang="en-US" sz="1600" spc="-50" dirty="0" err="1"/>
              <a:t>줄어듬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경우 기술혁신의 비용절감 효과가 </a:t>
            </a:r>
            <a:r>
              <a:rPr lang="en-US" altLang="ko-KR" sz="1600" spc="-50" dirty="0" err="1"/>
              <a:t>a+d+e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 유인이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기술강제원칙은 부작용도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너무 원칙이 강하면 오염원은 정책의 도입을 저지하거나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완화시키고자 할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과정에서 사회적 손실이 발생할 수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15EDF-790B-1527-700C-F7A9994704FE}"/>
              </a:ext>
            </a:extLst>
          </p:cNvPr>
          <p:cNvSpPr txBox="1"/>
          <p:nvPr/>
        </p:nvSpPr>
        <p:spPr>
          <a:xfrm>
            <a:off x="8362444" y="1897021"/>
            <a:ext cx="2578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획일적인 배출기준의 비효율성</a:t>
            </a:r>
            <a:r>
              <a:rPr lang="en-US" altLang="ko-KR" sz="1200" spc="-50" dirty="0"/>
              <a:t>&gt;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B035F-ACCE-53B7-CF01-88714D1A069A}"/>
              </a:ext>
            </a:extLst>
          </p:cNvPr>
          <p:cNvSpPr txBox="1"/>
          <p:nvPr/>
        </p:nvSpPr>
        <p:spPr>
          <a:xfrm>
            <a:off x="678873" y="5210804"/>
            <a:ext cx="11200707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저감기술 개발은 오염원 자신이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저감기술을 개발하여 공급하는 환경기술기업에 의해 이루어질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기술기준규제를 사용하면 환경기술기업이 기술 개발을 해도 오염원들은 신기술을 구입할 이유가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배출기준규제를 사용하면 오염원들은 환경기술기업의 신기술에 대한 수요가 커진다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045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7863-F2C0-7D90-735F-B101C0FF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E29C-B9DB-18D7-6D0D-B3AB78EA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정책집행의 용이성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D7239B-831B-353A-A631-7275A420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FF8F6-77C3-66D9-0166-C4644625A6B0}"/>
              </a:ext>
            </a:extLst>
          </p:cNvPr>
          <p:cNvSpPr txBox="1"/>
          <p:nvPr/>
        </p:nvSpPr>
        <p:spPr>
          <a:xfrm>
            <a:off x="678872" y="958844"/>
            <a:ext cx="1102796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 </a:t>
            </a:r>
            <a:r>
              <a:rPr lang="ko-KR" altLang="en-US" sz="1600" spc="-50" dirty="0" err="1"/>
              <a:t>본대로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직접규제는 효율성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신축성</a:t>
            </a:r>
            <a:r>
              <a:rPr lang="en-US" altLang="ko-KR" sz="1600" spc="-50"/>
              <a:t>, </a:t>
            </a:r>
            <a:r>
              <a:rPr lang="ko-KR" altLang="en-US" sz="1600" spc="-50"/>
              <a:t>기술혁신</a:t>
            </a:r>
            <a:r>
              <a:rPr lang="en-US" altLang="ko-KR" sz="1600" spc="-50"/>
              <a:t> </a:t>
            </a:r>
            <a:r>
              <a:rPr lang="ko-KR" altLang="en-US" sz="1600" spc="-50" dirty="0"/>
              <a:t>측면에서 많은 단점을 지니고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추후 살펴볼 경제적 유인을 이용한 제도에 비해 가지는 장점도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규제를 실제로 집행하는 데 소요되는 비용이 적다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 환경정책의 비용이란 오염원의 저감비용뿐만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감시 및 감독비용처럼 정책당국이 정책집행을 위해 지불하는 행정비용을 모두 합한 것이어야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직접규제가 오염원의 저감비용 측면에서는 여타 정책보다 불리하더라도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정책집행비용을 절감하는 장점이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직접규제가 보다 우월한 정책이 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행정당국에 많은 재량이 부여된다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정책당국이 많은 재량권을 가지므로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환경기준을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일률적으로 모든 오염원에 대해 적용할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추후에 살펴볼 경제적 유인제도는 업무가 다소 복잡하지만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직접규제의 경우 오염원의 행위를 감시하는 것이 주 업무로 보다 단순하다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56207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6423</TotalTime>
  <Words>1263</Words>
  <Application>Microsoft Office PowerPoint</Application>
  <PresentationFormat>와이드스크린</PresentationFormat>
  <Paragraphs>158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6  직접 규제</vt:lpstr>
      <vt:lpstr>직접규제</vt:lpstr>
      <vt:lpstr>Section 1. 환경기준</vt:lpstr>
      <vt:lpstr>배출 기준</vt:lpstr>
      <vt:lpstr>오염도 기준</vt:lpstr>
      <vt:lpstr>오염도 기준</vt:lpstr>
      <vt:lpstr>기술 기준</vt:lpstr>
      <vt:lpstr>Section 2. 직접규제의 경제적 비효율성</vt:lpstr>
      <vt:lpstr>직접규제의 경제적 비효율성</vt:lpstr>
      <vt:lpstr>환경기준의 획일성과 비효율성</vt:lpstr>
      <vt:lpstr>환경기준의 획일성과 비효율성</vt:lpstr>
      <vt:lpstr>직접규제와 기술혁신 유인</vt:lpstr>
      <vt:lpstr>직접규제와 기술혁신 유인</vt:lpstr>
      <vt:lpstr>정책집행의 용이성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209</cp:revision>
  <dcterms:created xsi:type="dcterms:W3CDTF">2025-07-05T05:15:23Z</dcterms:created>
  <dcterms:modified xsi:type="dcterms:W3CDTF">2026-09-30T23:57:12Z</dcterms:modified>
</cp:coreProperties>
</file>