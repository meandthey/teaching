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8"/>
  </p:notesMasterIdLst>
  <p:sldIdLst>
    <p:sldId id="375" r:id="rId2"/>
    <p:sldId id="453" r:id="rId3"/>
    <p:sldId id="454" r:id="rId4"/>
    <p:sldId id="550" r:id="rId5"/>
    <p:sldId id="456" r:id="rId6"/>
    <p:sldId id="458" r:id="rId7"/>
    <p:sldId id="632" r:id="rId8"/>
    <p:sldId id="457" r:id="rId9"/>
    <p:sldId id="633" r:id="rId10"/>
    <p:sldId id="459" r:id="rId11"/>
    <p:sldId id="461" r:id="rId12"/>
    <p:sldId id="460" r:id="rId13"/>
    <p:sldId id="463" r:id="rId14"/>
    <p:sldId id="635" r:id="rId15"/>
    <p:sldId id="634" r:id="rId16"/>
    <p:sldId id="631" r:id="rId1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8618B"/>
    <a:srgbClr val="EFEEFD"/>
    <a:srgbClr val="EDE48F"/>
    <a:srgbClr val="E15F5F"/>
    <a:srgbClr val="F8F7FC"/>
    <a:srgbClr val="2D72BE"/>
    <a:srgbClr val="070B12"/>
    <a:srgbClr val="0047A0"/>
    <a:srgbClr val="E3605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2026-09-30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환경 경제학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Chapter </a:t>
            </a:r>
            <a:r>
              <a:rPr lang="en-US" altLang="ko-KR" sz="2800">
                <a:latin typeface="HY헤드라인M" panose="02030600000101010101" pitchFamily="18" charset="-127"/>
                <a:ea typeface="HY헤드라인M" panose="02030600000101010101" pitchFamily="18" charset="-127"/>
              </a:rPr>
              <a:t>- 06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5AB23-3520-83D9-9B8A-8A0A8055C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AF482C-792F-7193-B002-B97A6176405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FB007AD-0718-BCEF-35DE-DD7A7B617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2B460642-5A36-B6FF-D68C-FFE73CCC69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478940"/>
            <a:ext cx="11007224" cy="193942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Chapter 6</a:t>
            </a:r>
            <a:br>
              <a:rPr lang="en-US" altLang="ko-KR" sz="4000" b="1" i="0" spc="150" dirty="0"/>
            </a:br>
            <a:br>
              <a:rPr lang="en-US" altLang="ko-KR" sz="4000" b="1" i="0" spc="150" dirty="0"/>
            </a:br>
            <a:r>
              <a:rPr lang="ko-KR" altLang="en-US" sz="4000" b="1" i="0" spc="150" dirty="0"/>
              <a:t>직접 규제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9430773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00E481-C47E-20EB-6A57-B4F15D38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839685F-233E-F9B9-105F-82F2733E7D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직접규제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E3243F5-A790-03F4-0825-1BE347F58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697516-CBAA-DB3A-21B1-D7518947DB02}"/>
              </a:ext>
            </a:extLst>
          </p:cNvPr>
          <p:cNvSpPr txBox="1"/>
          <p:nvPr/>
        </p:nvSpPr>
        <p:spPr>
          <a:xfrm>
            <a:off x="678872" y="958844"/>
            <a:ext cx="11027965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직접규제는 사회적으로 바람직한 수준의 환경질을 달성하기 위해 오염원이 해야 할 행위를 법률로 정하여 오염원에게 이를 지키도록 하는 환경정책을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장점으로는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실행 과정이 비교적 단순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직접적이고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정책목표가 명확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환경기준 위반자를 처벌하므로 도덕적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윤리적 기준과도 부합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가장 많이 사용하고 있는 환경정책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단점으로는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 스스로 배출량을 효율적으로 줄이도록 유도하지 못함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정책당국이 많은 재량권과 신축성을 갖고 있으며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 입장에서는 대단히 경직된 제도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효율성 측면에서 많은 문제제기가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정책당국이 지정하는 환경기준에는 </a:t>
            </a:r>
            <a:r>
              <a:rPr lang="en-US" altLang="ko-KR" sz="1600" spc="-50" dirty="0"/>
              <a:t>1. </a:t>
            </a:r>
            <a:r>
              <a:rPr lang="ko-KR" altLang="en-US" sz="1600" spc="-50" dirty="0"/>
              <a:t>배출기준</a:t>
            </a:r>
            <a:r>
              <a:rPr lang="en-US" altLang="ko-KR" sz="1600" spc="-50" dirty="0"/>
              <a:t>, 2. </a:t>
            </a:r>
            <a:r>
              <a:rPr lang="ko-KR" altLang="en-US" sz="1600" spc="-50" dirty="0"/>
              <a:t>오염도기준</a:t>
            </a:r>
            <a:r>
              <a:rPr lang="en-US" altLang="ko-KR" sz="1600" spc="-50" dirty="0"/>
              <a:t>, 3. </a:t>
            </a:r>
            <a:r>
              <a:rPr lang="ko-KR" altLang="en-US" sz="1600" spc="-50" dirty="0"/>
              <a:t>기술기준  세 가지가 있다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402565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5B55B-4FE0-4C0D-6AE9-E8B03A536F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4468326-0C4F-70CF-91C2-93E0C5D03BA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69E45BD-0D56-9ECF-89E6-4AF42F45BF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728B965C-181E-543B-9F2C-6FEAEBB87B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환경기준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9570730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1C115-527E-7B4C-4D49-5D9AE57AA5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05113B-2D76-63D2-6749-378BD43C4A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배출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F8A5FC-8EC4-577A-3496-2089A2DA2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0B01C3-7D68-FB7E-D56B-8E332C8B994D}"/>
              </a:ext>
            </a:extLst>
          </p:cNvPr>
          <p:cNvSpPr txBox="1"/>
          <p:nvPr/>
        </p:nvSpPr>
        <p:spPr>
          <a:xfrm>
            <a:off x="678872" y="958844"/>
            <a:ext cx="11027965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배출기준이란</a:t>
            </a:r>
            <a:r>
              <a:rPr lang="ko-KR" altLang="en-US" sz="1600" spc="-50" dirty="0"/>
              <a:t> 각 오염원이 배출할 수 있는 오염물질 배출량의 상한을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배출상한을 준수하면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감축 방법이나 과정은 문제 삼지 않는다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배출상한을 준수하면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해당 지역의 실제 오염도가 높아도 책임질 필요가 없다</a:t>
            </a:r>
            <a:r>
              <a:rPr lang="en-US" altLang="ko-KR" sz="1600" spc="-50" dirty="0"/>
              <a:t>.</a:t>
            </a:r>
          </a:p>
        </p:txBody>
      </p:sp>
      <p:graphicFrame>
        <p:nvGraphicFramePr>
          <p:cNvPr id="6" name="표 3">
            <a:extLst>
              <a:ext uri="{FF2B5EF4-FFF2-40B4-BE49-F238E27FC236}">
                <a16:creationId xmlns:a16="http://schemas.microsoft.com/office/drawing/2014/main" id="{D83619AE-4083-6C13-C98C-5E921738E84F}"/>
              </a:ext>
            </a:extLst>
          </p:cNvPr>
          <p:cNvGraphicFramePr>
            <a:graphicFrameLocks noGrp="1"/>
          </p:cNvGraphicFramePr>
          <p:nvPr/>
        </p:nvGraphicFramePr>
        <p:xfrm>
          <a:off x="1160609" y="2885083"/>
          <a:ext cx="10126516" cy="2550236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596064">
                  <a:extLst>
                    <a:ext uri="{9D8B030D-6E8A-4147-A177-3AD203B41FA5}">
                      <a16:colId xmlns:a16="http://schemas.microsoft.com/office/drawing/2014/main" val="2218693278"/>
                    </a:ext>
                  </a:extLst>
                </a:gridCol>
                <a:gridCol w="2876287">
                  <a:extLst>
                    <a:ext uri="{9D8B030D-6E8A-4147-A177-3AD203B41FA5}">
                      <a16:colId xmlns:a16="http://schemas.microsoft.com/office/drawing/2014/main" val="605825270"/>
                    </a:ext>
                  </a:extLst>
                </a:gridCol>
                <a:gridCol w="6654165">
                  <a:extLst>
                    <a:ext uri="{9D8B030D-6E8A-4147-A177-3AD203B41FA5}">
                      <a16:colId xmlns:a16="http://schemas.microsoft.com/office/drawing/2014/main" val="4050302428"/>
                    </a:ext>
                  </a:extLst>
                </a:gridCol>
              </a:tblGrid>
              <a:tr h="470954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altLang="ko-KR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No</a:t>
                      </a:r>
                      <a:endParaRPr lang="ko-KR" altLang="en-US" sz="13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배출기준의 종류</a:t>
                      </a:r>
                      <a:endParaRPr lang="ko-KR" altLang="en-US" sz="1200" b="1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1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적용 예시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10000"/>
                        <a:lumOff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783466"/>
                  </a:ext>
                </a:extLst>
              </a:tr>
              <a:tr h="34654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배출률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톤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3031745"/>
                  </a:ext>
                </a:extLst>
              </a:tr>
              <a:tr h="34654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2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배출농도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폐수단위당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BOD (Biochemical Oxygen Demand,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생화학적 산소 요구량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)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수준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(ppm)</a:t>
                      </a: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2044393"/>
                  </a:ext>
                </a:extLst>
              </a:tr>
              <a:tr h="34654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폐기물 총량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시간당 배출량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X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배출농도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X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총배출시간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6400141"/>
                  </a:ext>
                </a:extLst>
              </a:tr>
              <a:tr h="34654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4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원단위</a:t>
                      </a:r>
                      <a:endParaRPr lang="en-US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SO</a:t>
                      </a:r>
                      <a:r>
                        <a:rPr lang="en-US" sz="1300" b="0" kern="0" spc="0" baseline="-250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2</a:t>
                      </a:r>
                      <a:r>
                        <a:rPr 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배출량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전력생산량</a:t>
                      </a:r>
                      <a:endParaRPr lang="en-US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0014796"/>
                  </a:ext>
                </a:extLst>
              </a:tr>
              <a:tr h="34654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투입물의 폐기물 함유량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발전용 석탄의 </a:t>
                      </a:r>
                      <a:r>
                        <a:rPr lang="ko-KR" altLang="en-US" sz="1300" b="0" kern="0" spc="0" baseline="0" dirty="0" err="1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황함유량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558945"/>
                  </a:ext>
                </a:extLst>
              </a:tr>
              <a:tr h="346547"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300" b="0" kern="0" spc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</a:p>
                  </a:txBody>
                  <a:tcPr marL="60223" marR="60223" marT="16650" marB="166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오염물질 제거율</a:t>
                      </a:r>
                      <a:endParaRPr lang="en-US" altLang="ko-KR" sz="1300" b="0" kern="0" spc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폐수 방류 전 </a:t>
                      </a:r>
                      <a:r>
                        <a:rPr lang="en-US" altLang="ko-KR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x%</a:t>
                      </a:r>
                      <a:r>
                        <a:rPr lang="ko-KR" altLang="en-US" sz="1300" b="0" kern="0" spc="0" baseline="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의 오염물질 제거</a:t>
                      </a:r>
                      <a:endParaRPr lang="en-US" altLang="ko-KR" sz="1300" b="0" kern="0" spc="0" baseline="0" dirty="0"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+mn-cs"/>
                      </a:endParaRPr>
                    </a:p>
                  </a:txBody>
                  <a:tcPr marL="60223" marR="60223" marT="16650" marB="16650"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12745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7010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1ACBE-0E86-8E74-6918-577584201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31E964-E403-80ED-7F7F-1F88A7D1F8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오염도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D00E1CC-3E9A-7D0E-5771-25EFD79868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90DB756-E1A0-40CB-17D5-9B4C0A862066}"/>
              </a:ext>
            </a:extLst>
          </p:cNvPr>
          <p:cNvSpPr txBox="1"/>
          <p:nvPr/>
        </p:nvSpPr>
        <p:spPr>
          <a:xfrm>
            <a:off x="678872" y="958844"/>
            <a:ext cx="1117022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오염도기준이란</a:t>
            </a:r>
            <a:r>
              <a:rPr lang="ko-KR" altLang="en-US" sz="1600" spc="-50" dirty="0"/>
              <a:t> 자연환경에 축적된 </a:t>
            </a:r>
            <a:r>
              <a:rPr lang="ko-KR" altLang="en-US" sz="1600" spc="-50" dirty="0" err="1"/>
              <a:t>오염물질량의</a:t>
            </a:r>
            <a:r>
              <a:rPr lang="ko-KR" altLang="en-US" sz="1600" spc="-50" dirty="0"/>
              <a:t> 허용된 상한을 의미한다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기준의 달성 의무를 오염원에게 직접 명령할 수 없고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앞서 설명한 배출기준 혹은 기술기준을 통해 정부가 목표로  하는 오염도를 달성하도록 유도해야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배출기준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기술기준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오염도 기준을 달성하기 위해서는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정부가 각 오염원의 배출량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기술수준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이 어떤 경로를 통해 오염도 측정지점의 오염도에 영향을 주는지 파악하고 있어야 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배출기준을 매개로 하여 오염도 기준을 실행하는 과정을 이해하기 위해 아래의 그림을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왼쪽에서 오른쪽으로 흐르고 있는 강물에서 수질오염이 발생하고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오염도 기준이 설정된 오염도 측정지점은 그림의 </a:t>
            </a:r>
            <a:r>
              <a:rPr lang="en-US" altLang="ko-KR" sz="1600" i="1" spc="-50" dirty="0"/>
              <a:t>R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지점이다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i="1" spc="-50" dirty="0"/>
              <a:t>R </a:t>
            </a:r>
            <a:r>
              <a:rPr lang="ko-KR" altLang="en-US" sz="1600" spc="-50" dirty="0"/>
              <a:t>지점의 수질 오염도는 </a:t>
            </a:r>
            <a:r>
              <a:rPr lang="en-US" altLang="ko-KR" sz="1600" i="1" spc="-50" dirty="0"/>
              <a:t>S</a:t>
            </a:r>
            <a:r>
              <a:rPr lang="en-US" altLang="ko-KR" sz="1600" i="1" spc="-50" baseline="-25000" dirty="0"/>
              <a:t>1</a:t>
            </a:r>
            <a:r>
              <a:rPr lang="ko-KR" altLang="en-US" sz="1600" spc="-50" dirty="0"/>
              <a:t>에서 </a:t>
            </a:r>
            <a:r>
              <a:rPr lang="en-US" altLang="ko-KR" sz="1600" i="1" spc="-50" dirty="0"/>
              <a:t>S</a:t>
            </a:r>
            <a:r>
              <a:rPr lang="en-US" altLang="ko-KR" sz="1600" i="1" spc="-50" baseline="-25000" dirty="0"/>
              <a:t>5</a:t>
            </a:r>
            <a:r>
              <a:rPr lang="ko-KR" altLang="en-US" sz="1600" spc="-50" dirty="0"/>
              <a:t>에 이르는 상류의 오염원이 배출하는 오염물질 배출량에 의해 영향을 받는다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 </a:t>
            </a:r>
            <a:r>
              <a:rPr lang="en-US" altLang="ko-KR" sz="1600" spc="-50" dirty="0"/>
              <a:t>R</a:t>
            </a:r>
            <a:r>
              <a:rPr lang="ko-KR" altLang="en-US" sz="1600" spc="-50" dirty="0"/>
              <a:t>지점에서의 목표오염도를 달성하기 위해서는 각 오염원이 줄여야 할 배출량을 배출기준을 통해 정해주어야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위해 정부는 각 오염원의 실제 배출량이 </a:t>
            </a:r>
            <a:r>
              <a:rPr lang="en-US" altLang="ko-KR" sz="1600" spc="-50" dirty="0"/>
              <a:t>R</a:t>
            </a:r>
            <a:r>
              <a:rPr lang="ko-KR" altLang="en-US" sz="1600" spc="-50" dirty="0"/>
              <a:t>에서의 오염도에 어떤 영향을 주게 되는지 파악해야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B568E3E-8214-235C-4433-B7E37043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337" t="13268" r="12211" b="6354"/>
          <a:stretch>
            <a:fillRect/>
          </a:stretch>
        </p:blipFill>
        <p:spPr>
          <a:xfrm>
            <a:off x="3164133" y="5080001"/>
            <a:ext cx="2931867" cy="154239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F4A856C-533C-F2FC-CB05-583B520FDE0C}"/>
              </a:ext>
            </a:extLst>
          </p:cNvPr>
          <p:cNvSpPr txBox="1"/>
          <p:nvPr/>
        </p:nvSpPr>
        <p:spPr>
          <a:xfrm>
            <a:off x="5848350" y="5959422"/>
            <a:ext cx="234315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배출량과 오염도의 관계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41958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1B65DA-E59C-7273-7DB1-4A66F5610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9BDB4C-0614-4605-E360-50982E3FC3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오염도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C78E72-9BC8-0A1E-2215-9EC8429EF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0595DD-3CC2-9D21-3589-40756DD42357}"/>
                  </a:ext>
                </a:extLst>
              </p:cNvPr>
              <p:cNvSpPr txBox="1"/>
              <p:nvPr/>
            </p:nvSpPr>
            <p:spPr>
              <a:xfrm>
                <a:off x="678873" y="958844"/>
                <a:ext cx="10788966" cy="5584670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lstStyle/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배출량이 오염도에 미치는 영향은 아래와 같이 간단한 수식을 통해 표현이 가능하다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어떤 지역에 </a:t>
                </a:r>
                <a14:m>
                  <m:oMath xmlns:m="http://schemas.openxmlformats.org/officeDocument/2006/math"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ko-KR" altLang="en-US" sz="1600" spc="-50" dirty="0"/>
                  <a:t>개의 오염원이 있고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각 오염원의 배출량을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  <m:r>
                      <a:rPr lang="en-US" altLang="ko-KR" sz="1600" i="1" spc="-50">
                        <a:latin typeface="Cambria Math" panose="02040503050406030204" pitchFamily="18" charset="0"/>
                      </a:rPr>
                      <m:t> ,</m:t>
                    </m:r>
                    <m:sSub>
                      <m:sSubPr>
                        <m:ctrlPr>
                          <a:rPr lang="en-US" altLang="ko-KR" sz="1600" i="1" spc="-5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altLang="ko-KR" sz="1600" i="1" spc="-50"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으로 나타내고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오염도 측정지점에서의 오염도를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 dirty="0">
                        <a:latin typeface="Cambria Math" panose="02040503050406030204" pitchFamily="18" charset="0"/>
                      </a:rPr>
                      <m:t>Q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로 나타내자</a:t>
                </a:r>
                <a:r>
                  <a:rPr lang="en-US" altLang="ko-KR" sz="1600" spc="-50" dirty="0"/>
                  <a:t>. </a:t>
                </a:r>
                <a:r>
                  <a:rPr lang="ko-KR" altLang="en-US" sz="1600" spc="-50" dirty="0"/>
                  <a:t>또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오염원이 오염물질을 한 단위 배출했을 때</a:t>
                </a:r>
                <a:r>
                  <a:rPr lang="en-US" altLang="ko-KR" sz="1600" spc="-50" dirty="0"/>
                  <a:t>,</a:t>
                </a:r>
                <a:r>
                  <a:rPr lang="ko-KR" altLang="en-US" sz="1600" spc="-50" dirty="0"/>
                  <a:t> 측정지점에 실제로 축적되는 비중을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 spc="-50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 spc="-50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 spc="-50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altLang="ko-KR" sz="1600" spc="-50" dirty="0"/>
                  <a:t> (</a:t>
                </a:r>
                <a:r>
                  <a:rPr lang="ko-KR" altLang="en-US" sz="1600" spc="-50" dirty="0"/>
                  <a:t>전이계수</a:t>
                </a:r>
                <a:r>
                  <a:rPr lang="en-US" altLang="ko-KR" sz="1600" spc="-50" dirty="0"/>
                  <a:t>)</a:t>
                </a:r>
                <a:r>
                  <a:rPr lang="ko-KR" altLang="en-US" sz="1600" spc="-50" dirty="0"/>
                  <a:t>라고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측정지점에서는 오염원의 배출로 인한 오염물질뿐 아니라 자연적인 요인 혹은 규제지역 밖의 오염원이 배출한 오염물질에 의해서도 축적될 수 있으므로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이를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ko-KR" sz="1600" spc="-50" dirty="0">
                        <a:latin typeface="Cambria Math" panose="02040503050406030204" pitchFamily="18" charset="0"/>
                      </a:rPr>
                      <m:t>B</m:t>
                    </m:r>
                  </m:oMath>
                </a14:m>
                <a:r>
                  <a:rPr lang="en-US" altLang="ko-KR" sz="1600" spc="-50" dirty="0"/>
                  <a:t> </a:t>
                </a:r>
                <a:r>
                  <a:rPr lang="ko-KR" altLang="en-US" sz="1600" spc="-50" dirty="0"/>
                  <a:t>라고 하자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이때 측정지점의 </a:t>
                </a:r>
                <a:r>
                  <a:rPr lang="ko-KR" altLang="en-US" sz="1600" spc="-50" dirty="0" err="1"/>
                  <a:t>오염물질량은</a:t>
                </a:r>
                <a:r>
                  <a:rPr lang="ko-KR" altLang="en-US" sz="1600" spc="-50" dirty="0"/>
                  <a:t> 아래와 같이 표현할 수 있다</a:t>
                </a:r>
                <a:r>
                  <a:rPr lang="en-US" altLang="ko-KR" sz="1600" spc="-50" dirty="0"/>
                  <a:t>.</a:t>
                </a:r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endParaRPr lang="en-US" altLang="ko-KR" sz="1600" spc="-50" dirty="0"/>
              </a:p>
              <a:p>
                <a:pPr marL="377825" indent="-28575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ko-KR" altLang="en-US" sz="1600" spc="-50" dirty="0"/>
                  <a:t>위 식에서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ko-KR" sz="16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altLang="ko-KR" sz="16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ko-KR" altLang="en-US" sz="1600" spc="-50" dirty="0"/>
                  <a:t>는</a:t>
                </a:r>
                <a:r>
                  <a:rPr lang="en-US" altLang="ko-KR" sz="1600" spc="-50" dirty="0"/>
                  <a:t> </a:t>
                </a:r>
                <a14:m>
                  <m:oMath xmlns:m="http://schemas.openxmlformats.org/officeDocument/2006/math">
                    <m:r>
                      <a:rPr lang="en-US" altLang="ko-KR" sz="1600" b="0" i="1" spc="-50" dirty="0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ko-KR" altLang="en-US" sz="1600" spc="-50" dirty="0"/>
                  <a:t>번째 오염원이 오염물질을 한 단위 배출했을 때 그 중 측정지점에 실제로 축적되는 양을 의미하며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전이계수라고 부른다</a:t>
                </a:r>
                <a:r>
                  <a:rPr lang="en-US" altLang="ko-KR" sz="1600" spc="-50" dirty="0"/>
                  <a:t>.</a:t>
                </a:r>
              </a:p>
              <a:p>
                <a:pPr marL="835025" lvl="1" indent="-285750">
                  <a:lnSpc>
                    <a:spcPct val="150000"/>
                  </a:lnSpc>
                  <a:buFont typeface="Wingdings" panose="05000000000000000000" pitchFamily="2" charset="2"/>
                  <a:buChar char="ü"/>
                </a:pPr>
                <a:r>
                  <a:rPr lang="ko-KR" altLang="en-US" sz="1600" spc="-50" dirty="0"/>
                  <a:t>오염물질이 자연에 배출되면</a:t>
                </a:r>
                <a:r>
                  <a:rPr lang="en-US" altLang="ko-KR" sz="1600" spc="-50" dirty="0"/>
                  <a:t>, </a:t>
                </a:r>
                <a:r>
                  <a:rPr lang="ko-KR" altLang="en-US" sz="1600" spc="-50" dirty="0"/>
                  <a:t>자연의 자정능력에 따라 오염 농도가 약해지므로 오염원들의 배출농도가 서로 같다고 하더라도 측정지점에서 멀리 떨어진 오염원의 전이계수는 가까운 오염원의 전이계수보다 더 작은 값을 갖는다</a:t>
                </a:r>
                <a:r>
                  <a:rPr lang="en-US" altLang="ko-KR" sz="1600" spc="-50" dirty="0"/>
                  <a:t>.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50595DD-3CC2-9D21-3589-40756DD423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873" y="958844"/>
                <a:ext cx="10788966" cy="5584670"/>
              </a:xfrm>
              <a:prstGeom prst="rect">
                <a:avLst/>
              </a:prstGeom>
              <a:blipFill>
                <a:blip r:embed="rId2"/>
                <a:stretch>
                  <a:fillRect b="-43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279C60-2620-D3F5-4B05-8AB02D8FDE88}"/>
                  </a:ext>
                </a:extLst>
              </p:cNvPr>
              <p:cNvSpPr txBox="1"/>
              <p:nvPr/>
            </p:nvSpPr>
            <p:spPr>
              <a:xfrm>
                <a:off x="4378112" y="3720590"/>
                <a:ext cx="2106508" cy="90037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ctrl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altLang="ko-KR" sz="18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altLang="ko-KR" sz="18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ko-KR" sz="1800" b="0" i="1" smtClean="0">
                          <a:latin typeface="Cambria Math" panose="02040503050406030204" pitchFamily="18" charset="0"/>
                        </a:rPr>
                        <m:t>𝐵</m:t>
                      </m:r>
                    </m:oMath>
                  </m:oMathPara>
                </a14:m>
                <a:endParaRPr lang="ko-KR" alt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E279C60-2620-D3F5-4B05-8AB02D8FDE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8112" y="3720590"/>
                <a:ext cx="2106508" cy="90037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50353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6637D-EF29-7D56-B57F-9B9D1D435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4DCE8D-6593-8A17-139D-4237182D0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기술 기준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CDD608-C6A9-82F0-02A5-8E779F726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DEACB5-99F5-3F66-F834-BD889A4F723F}"/>
              </a:ext>
            </a:extLst>
          </p:cNvPr>
          <p:cNvSpPr txBox="1"/>
          <p:nvPr/>
        </p:nvSpPr>
        <p:spPr>
          <a:xfrm>
            <a:off x="678872" y="958844"/>
            <a:ext cx="11027965" cy="226068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기술기준은 각 오염원이 경제행위를 하면서 사용하는 생산기술이나 절차에 대해 규제하는 정책이다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축산농가로 하여금 폐수처리를 위해 정화시설을 의무적으로 설치도록 규제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예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자동차에 촉매변환기를 의무적으로 장착하게끔 규제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배출기준에서는 정부가 정한 배출량 상한을 충족할 수 만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 어떤 생산기술도 도입할 수 있었으나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 기준은 오염원이 사용할 수 있는 기술 자체를 정부가 규제하므로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매우 경직된 정책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16198577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69087-6894-903B-AE74-4D6D54F41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E9343FC-E751-73F4-1411-2B65F2DE13C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DE6B0-3F9E-D2EA-2CF2-4444A3CF3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1A20449-7A20-D091-44BA-AAC670A9B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직접규제의 경제적 비효율성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2269611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4FB5B-8FFC-49ED-6CDF-EC7233C7D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465AD12-0560-66EB-3D57-5FD08FF5F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직접규제의 경제적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F0D606-9C40-AB9D-4A18-97F03BF43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FFA698-722E-3436-79DA-B5B43FE413BB}"/>
              </a:ext>
            </a:extLst>
          </p:cNvPr>
          <p:cNvSpPr txBox="1"/>
          <p:nvPr/>
        </p:nvSpPr>
        <p:spPr>
          <a:xfrm>
            <a:off x="678873" y="958844"/>
            <a:ext cx="7268787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정부의 기준 설정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최선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배출기준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오염기준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으로 사회적 한계피해와 한계저감비용이 일치하는 수준 </a:t>
            </a:r>
            <a:r>
              <a:rPr lang="en-US" altLang="ko-KR" sz="1600" spc="-50" dirty="0"/>
              <a:t>(e*)</a:t>
            </a:r>
            <a:r>
              <a:rPr lang="ko-KR" altLang="en-US" sz="1600" spc="-50" dirty="0"/>
              <a:t>을 배출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혹은 오염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상한으로 정하는 것이 최선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현실에서는 한계피해곡선과 한계저감비용곡선을 알기 힘들다</a:t>
            </a:r>
            <a:r>
              <a:rPr lang="en-US" altLang="ko-KR" sz="1600" spc="-50" dirty="0"/>
              <a:t>.</a:t>
            </a:r>
          </a:p>
          <a:p>
            <a:pPr marL="92075">
              <a:lnSpc>
                <a:spcPct val="150000"/>
              </a:lnSpc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정부의 기준 설정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대안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오염물질이 일종의 임계치를 가지는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임계치 값으로 설정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배출량이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0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보다 커져야 피해가 생김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오염물질이 급격히 늘어나는 수준이 있는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임계치 값으로 설정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배출량이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1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수준 이상에서는 피해가 급격히 늘어남</a:t>
            </a: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9A89C9C-7D5A-91FC-F831-A62F5C1B01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607" t="12538" r="20607" b="1284"/>
          <a:stretch>
            <a:fillRect/>
          </a:stretch>
        </p:blipFill>
        <p:spPr>
          <a:xfrm>
            <a:off x="7467600" y="2156648"/>
            <a:ext cx="4245552" cy="33137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4EA5303-40BB-C0F5-844D-1F641C71E3CD}"/>
              </a:ext>
            </a:extLst>
          </p:cNvPr>
          <p:cNvSpPr txBox="1"/>
          <p:nvPr/>
        </p:nvSpPr>
        <p:spPr>
          <a:xfrm>
            <a:off x="8431024" y="1752429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 </a:t>
            </a:r>
            <a:r>
              <a:rPr lang="ko-KR" altLang="en-US" sz="1200" spc="-50" dirty="0"/>
              <a:t>최적 배출기준 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231464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86D01-21D8-B340-18CB-7DF04BDAF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C0733E-39E6-8C9C-DBAC-C101C9C7B3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환경기준의 획일성과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E878598-2486-A5C8-7F5D-A4B928FE4A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7C26C7-DE81-0448-86D3-61F185BD29B6}"/>
              </a:ext>
            </a:extLst>
          </p:cNvPr>
          <p:cNvSpPr txBox="1"/>
          <p:nvPr/>
        </p:nvSpPr>
        <p:spPr>
          <a:xfrm>
            <a:off x="678873" y="958844"/>
            <a:ext cx="7268787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환경기준의 획일성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오염원별로 환경기준을 달리 적용하면 형평성에 문제가 생긴다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행정당국은 배출기준 혹은 기술기준을 전국 모든 오염원에 대해 동일한 기준을 사용할 필요가 생긴다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환경기준의 비효율성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오염원 혹은 지역에 대해 획일적인 환경기준을 적용하면 효율성은 떨어질 수 밖에 없다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모든 오염원이나 지역에 대해 획일적인 환경기준을 적용하면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MD</a:t>
            </a:r>
            <a:r>
              <a:rPr lang="en-US" altLang="ko-KR" sz="1600" spc="-50" baseline="-25000" dirty="0"/>
              <a:t>R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은 인구가 비교적 적은 농촌지역의 한계피해곡선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MD</a:t>
            </a:r>
            <a:r>
              <a:rPr lang="en-US" altLang="ko-KR" sz="1600" spc="-50" baseline="-25000" dirty="0"/>
              <a:t>U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은 인구가 밀집된 도시지역의 한계피해곡선</a:t>
            </a: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농촌지역에서 달성되어야 할 오염도는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R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도시지역에서 달성되어야 할 배출량은</a:t>
            </a:r>
            <a:r>
              <a:rPr lang="en-US" altLang="ko-KR" sz="1600" spc="-50" dirty="0"/>
              <a:t> </a:t>
            </a:r>
            <a:r>
              <a:rPr lang="en-US" altLang="ko-KR" sz="1600" spc="-50" dirty="0" err="1"/>
              <a:t>q</a:t>
            </a:r>
            <a:r>
              <a:rPr lang="en-US" altLang="ko-KR" sz="1600" spc="-50" baseline="-25000" dirty="0" err="1"/>
              <a:t>U</a:t>
            </a:r>
            <a:r>
              <a:rPr lang="en-US" altLang="ko-KR" sz="1600" spc="-50" baseline="-25000" dirty="0"/>
              <a:t> </a:t>
            </a:r>
            <a:r>
              <a:rPr lang="ko-KR" altLang="en-US" sz="1600" spc="-50" dirty="0"/>
              <a:t>이지만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형평성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혹은 정치적인 어려움으로 인해 </a:t>
            </a:r>
            <a:r>
              <a:rPr lang="ko-KR" altLang="en-US" sz="1600" spc="-50" dirty="0" err="1"/>
              <a:t>차등화된</a:t>
            </a:r>
            <a:r>
              <a:rPr lang="ko-KR" altLang="en-US" sz="1600" spc="-50" dirty="0"/>
              <a:t> 환경기준을 실제로 시행하기 쉽지 않다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35145D-FD4F-4082-E5B7-E673DC2815EA}"/>
              </a:ext>
            </a:extLst>
          </p:cNvPr>
          <p:cNvSpPr txBox="1"/>
          <p:nvPr/>
        </p:nvSpPr>
        <p:spPr>
          <a:xfrm>
            <a:off x="8663568" y="1880906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획일적인 오염도 기준의 비효율성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  <p:pic>
        <p:nvPicPr>
          <p:cNvPr id="9" name="그림 7" descr="Cap 2014-06-19 09-41-56-077.png">
            <a:extLst>
              <a:ext uri="{FF2B5EF4-FFF2-40B4-BE49-F238E27FC236}">
                <a16:creationId xmlns:a16="http://schemas.microsoft.com/office/drawing/2014/main" id="{62F71CF7-A1BF-BF8E-8E29-6C17252E665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55" t="13348" r="20453"/>
          <a:stretch>
            <a:fillRect/>
          </a:stretch>
        </p:blipFill>
        <p:spPr bwMode="auto">
          <a:xfrm>
            <a:off x="7947660" y="2285125"/>
            <a:ext cx="3768090" cy="289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321391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0446C3-80EF-B256-5A17-17C329C3A9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그림 17">
            <a:extLst>
              <a:ext uri="{FF2B5EF4-FFF2-40B4-BE49-F238E27FC236}">
                <a16:creationId xmlns:a16="http://schemas.microsoft.com/office/drawing/2014/main" id="{B22CBD54-FF72-6937-FCDD-7A6C1CC2EEE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635" t="12938" r="11414" b="2872"/>
          <a:stretch>
            <a:fillRect/>
          </a:stretch>
        </p:blipFill>
        <p:spPr>
          <a:xfrm>
            <a:off x="7510463" y="2301240"/>
            <a:ext cx="4395787" cy="272034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F5E5B0D-F64C-4AA7-9EFF-A9B514A1B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환경기준의 획일성과 비효율성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774A4B-61DD-59B8-B580-492220FF6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5017C1-9C8F-1DF4-088A-B2FC0C60C84A}"/>
              </a:ext>
            </a:extLst>
          </p:cNvPr>
          <p:cNvSpPr txBox="1"/>
          <p:nvPr/>
        </p:nvSpPr>
        <p:spPr>
          <a:xfrm>
            <a:off x="459798" y="958844"/>
            <a:ext cx="7268787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등한계원칙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어떤 지역에 두 오염원이 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감축목표는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라 하자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그림의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축 가장 좌측을 원점으로 하는 것이 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의 저감량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그림의 </a:t>
            </a:r>
            <a:r>
              <a:rPr lang="en-US" altLang="ko-KR" sz="1600" spc="-50" dirty="0"/>
              <a:t>x</a:t>
            </a:r>
            <a:r>
              <a:rPr lang="ko-KR" altLang="en-US" sz="1600" spc="-50" dirty="0"/>
              <a:t>축 가장 우측을 원점으로 하는 것이 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의 저감량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두 오염원은 기술수준이 달라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서로 다른 형태의 한계비용곡선을 가짐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등한계원칙을 적용할 경우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두 오염원의 한계저감비용이 일치하는 수준에서 </a:t>
            </a:r>
            <a:r>
              <a:rPr lang="ko-KR" altLang="en-US" sz="1600" spc="-50" dirty="0" err="1"/>
              <a:t>저감량을</a:t>
            </a:r>
            <a:r>
              <a:rPr lang="ko-KR" altLang="en-US" sz="1600" spc="-50" dirty="0"/>
              <a:t> 결정해야 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그림에서는 </a:t>
            </a:r>
            <a:r>
              <a:rPr lang="en-US" altLang="ko-KR" sz="1600" spc="-50" dirty="0"/>
              <a:t>MAC</a:t>
            </a:r>
            <a:r>
              <a:rPr lang="en-US" altLang="ko-KR" sz="1600" spc="-50" baseline="-25000" dirty="0"/>
              <a:t>1</a:t>
            </a:r>
            <a:r>
              <a:rPr lang="en-US" altLang="ko-KR" sz="1600" spc="-50" dirty="0"/>
              <a:t> (a</a:t>
            </a:r>
            <a:r>
              <a:rPr lang="en-US" altLang="ko-KR" sz="1600" spc="-50" baseline="-25000" dirty="0"/>
              <a:t>1</a:t>
            </a:r>
            <a:r>
              <a:rPr lang="en-US" altLang="ko-KR" sz="1600" spc="-50" baseline="30000" dirty="0"/>
              <a:t>*</a:t>
            </a:r>
            <a:r>
              <a:rPr lang="en-US" altLang="ko-KR" sz="1600" spc="-50" dirty="0"/>
              <a:t>) = MAC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 (A - a</a:t>
            </a:r>
            <a:r>
              <a:rPr lang="en-US" altLang="ko-KR" sz="1600" spc="-50" baseline="-25000" dirty="0"/>
              <a:t>1</a:t>
            </a:r>
            <a:r>
              <a:rPr lang="en-US" altLang="ko-KR" sz="1600" spc="-50" baseline="30000" dirty="0"/>
              <a:t>*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이므로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은 </a:t>
            </a:r>
            <a:r>
              <a:rPr lang="en-US" altLang="ko-KR" sz="1600" spc="-50" dirty="0"/>
              <a:t> a</a:t>
            </a:r>
            <a:r>
              <a:rPr lang="en-US" altLang="ko-KR" sz="1600" spc="-50" baseline="-25000" dirty="0"/>
              <a:t>1</a:t>
            </a:r>
            <a:r>
              <a:rPr lang="en-US" altLang="ko-KR" sz="1600" spc="-50" baseline="30000" dirty="0"/>
              <a:t>*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 감축하고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A - a</a:t>
            </a:r>
            <a:r>
              <a:rPr lang="en-US" altLang="ko-KR" sz="1600" spc="-50" baseline="-25000" dirty="0"/>
              <a:t>1</a:t>
            </a:r>
            <a:r>
              <a:rPr lang="en-US" altLang="ko-KR" sz="1600" spc="-50" baseline="30000" dirty="0"/>
              <a:t>*</a:t>
            </a:r>
            <a:r>
              <a:rPr lang="ko-KR" altLang="en-US" sz="1600" spc="-50" dirty="0"/>
              <a:t>만큼 감축하도록 할 때 전체 저감비용이 최소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최소화된 전체 저감비용은 색칠한 면적에 해당한다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오염원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에게 </a:t>
            </a:r>
            <a:r>
              <a:rPr lang="en-US" altLang="ko-KR" sz="1600" spc="-50" dirty="0"/>
              <a:t>a</a:t>
            </a:r>
            <a:r>
              <a:rPr lang="en-US" altLang="ko-KR" sz="1600" spc="-50" baseline="-25000" dirty="0"/>
              <a:t>1</a:t>
            </a:r>
            <a:r>
              <a:rPr lang="en-US" altLang="ko-KR" sz="1600" spc="-50" baseline="30000" dirty="0"/>
              <a:t>1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만큼을 저감하도록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에게 </a:t>
            </a:r>
            <a:r>
              <a:rPr lang="en-US" altLang="ko-KR" sz="1600" spc="-50" dirty="0"/>
              <a:t>A - a</a:t>
            </a:r>
            <a:r>
              <a:rPr lang="en-US" altLang="ko-KR" sz="1600" spc="-50" baseline="-25000" dirty="0"/>
              <a:t>1</a:t>
            </a:r>
            <a:r>
              <a:rPr lang="en-US" altLang="ko-KR" sz="1600" spc="-50" baseline="30000" dirty="0"/>
              <a:t>1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만큼을 저감하도록 하면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의 한계비용이 더 큰 상황이 되므로 비효율적이다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511C85-5C34-FBAC-F740-7E431E1A77AE}"/>
              </a:ext>
            </a:extLst>
          </p:cNvPr>
          <p:cNvSpPr txBox="1"/>
          <p:nvPr/>
        </p:nvSpPr>
        <p:spPr>
          <a:xfrm>
            <a:off x="8362444" y="1897021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획일적인 배출기준의 비효율성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221914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592C55-8E50-C577-E688-ABBD0460ED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8" descr="Cap 2014-06-19 09-42-27-776.png">
            <a:extLst>
              <a:ext uri="{FF2B5EF4-FFF2-40B4-BE49-F238E27FC236}">
                <a16:creationId xmlns:a16="http://schemas.microsoft.com/office/drawing/2014/main" id="{57805406-3184-B931-012A-072C992EBB69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67" t="12618" r="9597" b="2438"/>
          <a:stretch>
            <a:fillRect/>
          </a:stretch>
        </p:blipFill>
        <p:spPr bwMode="auto">
          <a:xfrm>
            <a:off x="7555849" y="2303102"/>
            <a:ext cx="4323731" cy="2604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E448CE28-2608-3B04-4B69-9FB643404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직접규제와 기술혁신 유인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FCCC40-90D0-B94A-0D11-76A596D50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C50A222-BA97-B80D-1C8B-3AAC7B8BB0FE}"/>
              </a:ext>
            </a:extLst>
          </p:cNvPr>
          <p:cNvSpPr txBox="1"/>
          <p:nvPr/>
        </p:nvSpPr>
        <p:spPr>
          <a:xfrm>
            <a:off x="678873" y="958844"/>
            <a:ext cx="7109325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기술혁신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[MAC</a:t>
            </a:r>
            <a:r>
              <a:rPr lang="en-US" altLang="ko-KR" sz="1600" u="sng" baseline="-25000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1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→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MAC</a:t>
            </a:r>
            <a:r>
              <a:rPr lang="en-US" altLang="ko-KR" sz="1600" u="sng" baseline="-25000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2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]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최초 배출목표도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1</a:t>
            </a:r>
            <a:r>
              <a:rPr lang="ko-KR" altLang="en-US" sz="1600" spc="-50" baseline="-25000" dirty="0"/>
              <a:t> </a:t>
            </a:r>
            <a:r>
              <a:rPr lang="ko-KR" altLang="en-US" sz="1600" spc="-50" dirty="0"/>
              <a:t>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 후에도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1</a:t>
            </a:r>
            <a:r>
              <a:rPr lang="ko-KR" altLang="en-US" sz="1600" spc="-50" baseline="-25000" dirty="0"/>
              <a:t> </a:t>
            </a:r>
            <a:r>
              <a:rPr lang="ko-KR" altLang="en-US" sz="1600" spc="-50" dirty="0"/>
              <a:t>으로 유지한다면 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총저감비용은 기술혁신으로 면적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b</a:t>
            </a:r>
            <a:r>
              <a:rPr lang="ko-KR" altLang="en-US" sz="1600" spc="-50" dirty="0"/>
              <a:t>로 줄어들고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기술혁신의 이득은 면적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만큼임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기술혁신을 위한 투자비용이 면적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보다 작다면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오염원은 기술개발을 위해 노력할 것임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정부의 배출목표가 기술혁신 후에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1</a:t>
            </a:r>
            <a:r>
              <a:rPr lang="ko-KR" altLang="en-US" sz="1600" spc="-50" baseline="-25000" dirty="0"/>
              <a:t> </a:t>
            </a:r>
            <a:r>
              <a:rPr lang="ko-KR" altLang="en-US" sz="1600" spc="-50" dirty="0"/>
              <a:t>에서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2 </a:t>
            </a:r>
            <a:r>
              <a:rPr lang="ko-KR" altLang="en-US" sz="1600" spc="-50" dirty="0"/>
              <a:t>로 줄일 것으로 예측된다면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오염원의 총 저감비용은 면적 </a:t>
            </a:r>
            <a:r>
              <a:rPr lang="en-US" altLang="ko-KR" sz="1600" spc="-50" dirty="0" err="1"/>
              <a:t>a+b</a:t>
            </a:r>
            <a:r>
              <a:rPr lang="ko-KR" altLang="en-US" sz="1600" spc="-50" dirty="0"/>
              <a:t>에서 </a:t>
            </a:r>
            <a:r>
              <a:rPr lang="en-US" altLang="ko-KR" sz="1600" spc="-50" dirty="0" err="1"/>
              <a:t>b+c</a:t>
            </a:r>
            <a:r>
              <a:rPr lang="ko-KR" altLang="en-US" sz="1600" spc="-50" dirty="0"/>
              <a:t>로 변하게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기술혁신으로 절감되는 저감비용은 </a:t>
            </a:r>
            <a:r>
              <a:rPr lang="en-US" altLang="ko-KR" sz="1600" spc="-50" dirty="0"/>
              <a:t>a-c</a:t>
            </a:r>
            <a:r>
              <a:rPr lang="ko-KR" altLang="en-US" sz="1600" spc="-50" dirty="0"/>
              <a:t>가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경우 </a:t>
            </a:r>
            <a:r>
              <a:rPr lang="en-US" altLang="ko-KR" sz="1600" spc="-50" dirty="0"/>
              <a:t>a</a:t>
            </a:r>
            <a:r>
              <a:rPr lang="ko-KR" altLang="en-US" sz="1600" spc="-50" dirty="0"/>
              <a:t>와 </a:t>
            </a:r>
            <a:r>
              <a:rPr lang="en-US" altLang="ko-KR" sz="1600" spc="-50" dirty="0"/>
              <a:t>c</a:t>
            </a:r>
            <a:r>
              <a:rPr lang="ko-KR" altLang="en-US" sz="1600" spc="-50" dirty="0"/>
              <a:t>를 비교할 필요가 생기며</a:t>
            </a:r>
            <a:r>
              <a:rPr lang="en-US" altLang="ko-KR" sz="1600" spc="-50" dirty="0"/>
              <a:t>, c</a:t>
            </a:r>
            <a:r>
              <a:rPr lang="ko-KR" altLang="en-US" sz="1600" spc="-50" dirty="0"/>
              <a:t>가</a:t>
            </a:r>
            <a:r>
              <a:rPr lang="en-US" altLang="ko-KR" sz="1600" spc="-50" dirty="0"/>
              <a:t> a</a:t>
            </a:r>
            <a:r>
              <a:rPr lang="ko-KR" altLang="en-US" sz="1600" spc="-50" dirty="0"/>
              <a:t>보다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크다면 기술혁신의 유인이 사라질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A35746-0F15-46BA-3004-9B07D0113761}"/>
              </a:ext>
            </a:extLst>
          </p:cNvPr>
          <p:cNvSpPr txBox="1"/>
          <p:nvPr/>
        </p:nvSpPr>
        <p:spPr>
          <a:xfrm>
            <a:off x="8362444" y="1897021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획일적인 배출기준의 비효율성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280377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EB284-0F9E-07B6-A3F6-F3472DEA1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8" descr="Cap 2014-06-19 09-42-27-776.png">
            <a:extLst>
              <a:ext uri="{FF2B5EF4-FFF2-40B4-BE49-F238E27FC236}">
                <a16:creationId xmlns:a16="http://schemas.microsoft.com/office/drawing/2014/main" id="{031BFAA1-851C-2844-CECB-69E15820EBC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67" t="12618" r="9597" b="2438"/>
          <a:stretch>
            <a:fillRect/>
          </a:stretch>
        </p:blipFill>
        <p:spPr bwMode="auto">
          <a:xfrm>
            <a:off x="7555849" y="2303102"/>
            <a:ext cx="4323731" cy="2604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511C514D-3F0A-B290-E593-58DA3E44BF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직접규제와 기술혁신 유인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7F3359A-D1E2-C3A4-68E5-9D6EFB9D9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956474A-E651-6BFB-6CDA-5FEA8749C496}"/>
              </a:ext>
            </a:extLst>
          </p:cNvPr>
          <p:cNvSpPr txBox="1"/>
          <p:nvPr/>
        </p:nvSpPr>
        <p:spPr>
          <a:xfrm>
            <a:off x="678873" y="958844"/>
            <a:ext cx="7109325" cy="410734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기술강제 원칙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정부가 필요 이상으로 강한 환경기준을 설정하면 오염원은 기술혁신에 힘쓰게 됨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정부가</a:t>
            </a:r>
            <a:r>
              <a:rPr lang="en-US" altLang="ko-KR" sz="1600" spc="-50" dirty="0"/>
              <a:t> e</a:t>
            </a:r>
            <a:r>
              <a:rPr lang="en-US" altLang="ko-KR" sz="1600" spc="-50" baseline="-25000" dirty="0"/>
              <a:t>1</a:t>
            </a:r>
            <a:r>
              <a:rPr lang="ko-KR" altLang="en-US" sz="1600" spc="-50" baseline="-25000" dirty="0"/>
              <a:t> </a:t>
            </a:r>
            <a:r>
              <a:rPr lang="ko-KR" altLang="en-US" sz="1600" spc="-50" dirty="0"/>
              <a:t>이 아닌 </a:t>
            </a:r>
            <a:r>
              <a:rPr lang="en-US" altLang="ko-KR" sz="1600" spc="-50" dirty="0"/>
              <a:t>e</a:t>
            </a:r>
            <a:r>
              <a:rPr lang="en-US" altLang="ko-KR" sz="1600" spc="-50" baseline="-25000" dirty="0"/>
              <a:t>2</a:t>
            </a:r>
            <a:r>
              <a:rPr lang="ko-KR" altLang="en-US" sz="1600" spc="-50" baseline="-25000" dirty="0"/>
              <a:t> </a:t>
            </a:r>
            <a:r>
              <a:rPr lang="ko-KR" altLang="en-US" sz="1600" spc="-50" dirty="0"/>
              <a:t>만큼 배출허용을 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최초의 기술수준에서는 </a:t>
            </a:r>
            <a:r>
              <a:rPr lang="en-US" altLang="ko-KR" sz="1600" spc="-50" dirty="0" err="1"/>
              <a:t>a+b+c+d+e</a:t>
            </a:r>
            <a:r>
              <a:rPr lang="ko-KR" altLang="en-US" sz="1600" spc="-50" dirty="0"/>
              <a:t>만큼 저감비용이 소요되지만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기술혁신을 하면 </a:t>
            </a:r>
            <a:r>
              <a:rPr lang="en-US" altLang="ko-KR" sz="1600" spc="-50" dirty="0" err="1"/>
              <a:t>b+c</a:t>
            </a:r>
            <a:r>
              <a:rPr lang="ko-KR" altLang="en-US" sz="1600" spc="-50" dirty="0"/>
              <a:t>로 비용이 대폭 </a:t>
            </a:r>
            <a:r>
              <a:rPr lang="ko-KR" altLang="en-US" sz="1600" spc="-50" dirty="0" err="1"/>
              <a:t>줄어듬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 경우 기술혁신의 비용절감 효과가 </a:t>
            </a:r>
            <a:r>
              <a:rPr lang="en-US" altLang="ko-KR" sz="1600" spc="-50" dirty="0" err="1"/>
              <a:t>a+d+e</a:t>
            </a:r>
            <a:r>
              <a:rPr lang="ko-KR" altLang="en-US" sz="1600" spc="-50" dirty="0"/>
              <a:t>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기술혁신 유인이 크다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기술강제원칙은 부작용도 있는데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너무 원칙이 강하면 오염원은 정책의 도입을 저지하거나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완화시키고자 할 것이고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 과정에서 사회적 손실이 발생할 수 있다</a:t>
            </a:r>
            <a:r>
              <a:rPr lang="en-US" altLang="ko-KR" sz="1600" spc="-5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B15EDF-790B-1527-700C-F7A9994704FE}"/>
              </a:ext>
            </a:extLst>
          </p:cNvPr>
          <p:cNvSpPr txBox="1"/>
          <p:nvPr/>
        </p:nvSpPr>
        <p:spPr>
          <a:xfrm>
            <a:off x="8362444" y="1897021"/>
            <a:ext cx="25781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200" spc="-50" dirty="0"/>
              <a:t>&lt;</a:t>
            </a:r>
            <a:r>
              <a:rPr lang="ko-KR" altLang="en-US" sz="1200" spc="-50" dirty="0"/>
              <a:t>획일적인 배출기준의 비효율성</a:t>
            </a:r>
            <a:r>
              <a:rPr lang="en-US" altLang="ko-KR" sz="1200" spc="-50" dirty="0"/>
              <a:t>&gt;</a:t>
            </a:r>
            <a:endParaRPr lang="ko-KR" altLang="en-US" sz="14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CB035F-ACCE-53B7-CF01-88714D1A069A}"/>
              </a:ext>
            </a:extLst>
          </p:cNvPr>
          <p:cNvSpPr txBox="1"/>
          <p:nvPr/>
        </p:nvSpPr>
        <p:spPr>
          <a:xfrm>
            <a:off x="678873" y="5210804"/>
            <a:ext cx="11200707" cy="115268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저감기술 개발은 오염원 자신이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저감기술을 개발하여 공급하는 환경기술기업에 의해 이루어질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기술기준규제를 사용하면 환경기술기업이 기술 개발을 해도 오염원들은 신기술을 구입할 이유가 없다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배출기준규제를 사용하면 오염원들은 환경기술기업의 신기술에 대한 수요가 커진다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004526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197863-F2C0-7D90-735F-B101C0FF7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B7DE29C-B9DB-18D7-6D0D-B3AB78EA8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정책집행의 용이성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4D7239B-831B-353A-A631-7275A4206A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CEFF8F6-77C3-66D9-0166-C4644625A6B0}"/>
              </a:ext>
            </a:extLst>
          </p:cNvPr>
          <p:cNvSpPr txBox="1"/>
          <p:nvPr/>
        </p:nvSpPr>
        <p:spPr>
          <a:xfrm>
            <a:off x="678872" y="958844"/>
            <a:ext cx="11027965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지금까지 살펴 </a:t>
            </a:r>
            <a:r>
              <a:rPr lang="ko-KR" altLang="en-US" sz="1600" spc="-50" dirty="0" err="1"/>
              <a:t>본대로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직접규제는 효율성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신축성</a:t>
            </a:r>
            <a:r>
              <a:rPr lang="en-US" altLang="ko-KR" sz="1600" spc="-50"/>
              <a:t>, </a:t>
            </a:r>
            <a:r>
              <a:rPr lang="ko-KR" altLang="en-US" sz="1600" spc="-50"/>
              <a:t>기술혁신</a:t>
            </a:r>
            <a:r>
              <a:rPr lang="en-US" altLang="ko-KR" sz="1600" spc="-50"/>
              <a:t> </a:t>
            </a:r>
            <a:r>
              <a:rPr lang="ko-KR" altLang="en-US" sz="1600" spc="-50" dirty="0"/>
              <a:t>측면에서 많은 단점을 지니고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그러나 추후 살펴볼 경제적 유인을 이용한 제도에 비해 가지는 장점도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규제를 실제로 집행하는 데 소요되는 비용이 적다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환경정책의 비용이란 오염원의 저감비용뿐만 아니라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정부의 감시 및 감독비용처럼 정책당국이 정책집행을 위해 지불하는 행정비용을 모두 합한 것이어야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직접규제가 오염원의 저감비용 측면에서는 여타 정책보다 불리하더라도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정책집행비용을 절감하는 장점이 있다면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직접규제가 보다 우월한 정책이 될 수도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행정당국에 많은 재량이 부여된다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정책당국이 많은 재량권을 가지므로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환경기준을 정하고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이를 일률적으로 모든 오염원에 대해 적용할 수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추후에 살펴볼 경제적 유인제도는 업무가 다소 복잡하지만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직접규제의 경우 오염원의 행위를 감시하는 것이 주 업무로 보다 단순하다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55620718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 dirty="0">
                <a:solidFill>
                  <a:schemeClr val="accent2"/>
                </a:solidFill>
              </a:rPr>
              <a:t>T</a:t>
            </a:r>
            <a:r>
              <a:rPr lang="en-US" altLang="ko-KR" sz="5400" i="0" spc="100" dirty="0"/>
              <a:t>hank you</a:t>
            </a:r>
            <a:endParaRPr lang="ko-KR" altLang="en-US" sz="5400" i="0" spc="100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16013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6417</TotalTime>
  <Words>1263</Words>
  <Application>Microsoft Office PowerPoint</Application>
  <PresentationFormat>와이드스크린</PresentationFormat>
  <Paragraphs>158</Paragraphs>
  <Slides>16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3" baseType="lpstr">
      <vt:lpstr>HY헤드라인M</vt:lpstr>
      <vt:lpstr>KoPub돋움체 Light</vt:lpstr>
      <vt:lpstr>맑은 고딕</vt:lpstr>
      <vt:lpstr>Arial</vt:lpstr>
      <vt:lpstr>Cambria Math</vt:lpstr>
      <vt:lpstr>Wingdings</vt:lpstr>
      <vt:lpstr>Office 테마</vt:lpstr>
      <vt:lpstr>환경 경제학</vt:lpstr>
      <vt:lpstr>Chapter 6  직접 규제</vt:lpstr>
      <vt:lpstr>직접규제</vt:lpstr>
      <vt:lpstr>Section 1. 환경기준</vt:lpstr>
      <vt:lpstr>배출 기준</vt:lpstr>
      <vt:lpstr>오염도 기준</vt:lpstr>
      <vt:lpstr>오염도 기준</vt:lpstr>
      <vt:lpstr>기술 기준</vt:lpstr>
      <vt:lpstr>Section 2. 직접규제의 경제적 비효율성</vt:lpstr>
      <vt:lpstr>직접규제의 경제적 비효율성</vt:lpstr>
      <vt:lpstr>환경기준의 획일성과 비효율성</vt:lpstr>
      <vt:lpstr>환경기준의 획일성과 비효율성</vt:lpstr>
      <vt:lpstr>직접규제와 기술혁신 유인</vt:lpstr>
      <vt:lpstr>직접규제와 기술혁신 유인</vt:lpstr>
      <vt:lpstr>정책집행의 용이성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전승호</cp:lastModifiedBy>
  <cp:revision>207</cp:revision>
  <dcterms:created xsi:type="dcterms:W3CDTF">2025-07-05T05:15:23Z</dcterms:created>
  <dcterms:modified xsi:type="dcterms:W3CDTF">2026-09-30T08:22:45Z</dcterms:modified>
</cp:coreProperties>
</file>