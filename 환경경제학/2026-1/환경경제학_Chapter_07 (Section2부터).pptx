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0"/>
  </p:notesMasterIdLst>
  <p:sldIdLst>
    <p:sldId id="375" r:id="rId2"/>
    <p:sldId id="405" r:id="rId3"/>
    <p:sldId id="550" r:id="rId4"/>
    <p:sldId id="464" r:id="rId5"/>
    <p:sldId id="466" r:id="rId6"/>
    <p:sldId id="467" r:id="rId7"/>
    <p:sldId id="468" r:id="rId8"/>
    <p:sldId id="469" r:id="rId9"/>
    <p:sldId id="470" r:id="rId10"/>
    <p:sldId id="472" r:id="rId11"/>
    <p:sldId id="474" r:id="rId12"/>
    <p:sldId id="475" r:id="rId13"/>
    <p:sldId id="476" r:id="rId14"/>
    <p:sldId id="477" r:id="rId15"/>
    <p:sldId id="632" r:id="rId16"/>
    <p:sldId id="479" r:id="rId17"/>
    <p:sldId id="478" r:id="rId18"/>
    <p:sldId id="480" r:id="rId19"/>
    <p:sldId id="481" r:id="rId20"/>
    <p:sldId id="482" r:id="rId21"/>
    <p:sldId id="483" r:id="rId22"/>
    <p:sldId id="484" r:id="rId23"/>
    <p:sldId id="486" r:id="rId24"/>
    <p:sldId id="487" r:id="rId25"/>
    <p:sldId id="488" r:id="rId26"/>
    <p:sldId id="489" r:id="rId27"/>
    <p:sldId id="490" r:id="rId28"/>
    <p:sldId id="631" r:id="rId2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8618B"/>
    <a:srgbClr val="EFEEFD"/>
    <a:srgbClr val="EDE48F"/>
    <a:srgbClr val="E15F5F"/>
    <a:srgbClr val="F8F7FC"/>
    <a:srgbClr val="2D72BE"/>
    <a:srgbClr val="070B12"/>
    <a:srgbClr val="0047A0"/>
    <a:srgbClr val="E3605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66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2026-10-07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863F2-45B8-D3B3-C5F6-A52E5FDC6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933EC0-C47B-3CF3-4ED0-CEAF7AC97A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D7E7D7-13F0-01E9-7E3D-73D05EBD82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70F219-616E-A742-92B7-2579280FFC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43229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0815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2026-10-07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2026-10-07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2026-10-07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2026-10-07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2026-10-07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2026-10-07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2026-10-07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2026-10-07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2026-10-07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2026-10-07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2026-10-07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환경 경제학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</a:t>
            </a:r>
            <a:r>
              <a:rPr lang="en-US" altLang="ko-KR" sz="2800">
                <a:latin typeface="HY헤드라인M" panose="02030600000101010101" pitchFamily="18" charset="-127"/>
                <a:ea typeface="HY헤드라인M" panose="02030600000101010101" pitchFamily="18" charset="-127"/>
              </a:rPr>
              <a:t>- 07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7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배출부과금과 보조금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배출부과금제도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3D47B-3CCB-DC76-DEE1-957297C2C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99B18E-1AF5-7C5D-E8D6-121DAE1B2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배출부과금의 기본 원리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361A13-1995-61DA-69E2-756E28663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3487F5-2E4F-04FC-6D34-286BDA200DB3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7214280" cy="410734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배출부과금은 오염원으로 하여금 스스로 오염물질 배출량을 줄이도록 정책당국이 제공하는 경제적 유인의 한 형태이다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자신이 배출량을 스스로 결정할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오염물질 배출 혹은 저감을 위해 어떤 방식도 채택이 가능하다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정부가 오염원에게 배출 단위당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1600" spc="-50" dirty="0"/>
                  <a:t>만큼의 부과금을 징수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오른쪽 그래프</a:t>
                </a:r>
                <a:r>
                  <a:rPr lang="en-US" altLang="ko-KR" sz="1600" spc="-50" dirty="0"/>
                  <a:t>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배출량이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보다 적다면 한계저감비용이 부과금보다 크기 때문에 배출량을 더 늘리려고 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배출량이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보다 크다면 부과금이 한계저감비용보다 크기 때문에 배출량을 더 줄이려고 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3487F5-2E4F-04FC-6D34-286BDA200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7214280" cy="410734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5" descr="Cap 2014-06-19 09-42-56-297.png">
            <a:extLst>
              <a:ext uri="{FF2B5EF4-FFF2-40B4-BE49-F238E27FC236}">
                <a16:creationId xmlns:a16="http://schemas.microsoft.com/office/drawing/2014/main" id="{249EBDDF-4762-9191-16AD-EF6FAB4AC6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26" t="13541" r="16667" b="2144"/>
          <a:stretch>
            <a:fillRect/>
          </a:stretch>
        </p:blipFill>
        <p:spPr bwMode="auto">
          <a:xfrm>
            <a:off x="7483732" y="2338075"/>
            <a:ext cx="4344474" cy="29406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F78BBBB-DCCB-6164-00E7-9054D852E5D3}"/>
              </a:ext>
            </a:extLst>
          </p:cNvPr>
          <p:cNvSpPr txBox="1"/>
          <p:nvPr/>
        </p:nvSpPr>
        <p:spPr>
          <a:xfrm>
            <a:off x="8545324" y="1880906"/>
            <a:ext cx="25781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배출부과금의 효과</a:t>
            </a:r>
            <a:r>
              <a:rPr lang="en-US" altLang="ko-KR" sz="12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5015167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603B7-6D08-6C48-A947-3583E76CF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3C8E76-06F0-57B5-6899-C9156D00F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배출부과금의 수준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A0456B-89FA-1F2C-2EDF-2A13FB899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44A49B-74B0-00DB-5D0B-B632BBAA57DB}"/>
                  </a:ext>
                </a:extLst>
              </p:cNvPr>
              <p:cNvSpPr txBox="1"/>
              <p:nvPr/>
            </p:nvSpPr>
            <p:spPr>
              <a:xfrm>
                <a:off x="577273" y="958844"/>
                <a:ext cx="7095565" cy="521604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최적 배출부과금</a:t>
                </a:r>
                <a:endParaRPr lang="en-US" altLang="ko-KR" sz="16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한계저감비용과 사회적 한계피해가 일치하는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만큼의 배출량을 오염원이 선택하도록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만큼의 배출부과금을 매기는 것이 최적이다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0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만큼의 배출부과금이 주어지면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오염원은 두 가지 경로를 통해 비용을 부담해야 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배출량을 줄이기 위한 비용</a:t>
                </a:r>
                <a:r>
                  <a:rPr lang="en-US" altLang="ko-KR" sz="1600" spc="-5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 배출하기 위해 지불해야 하는 배출부과금</a:t>
                </a:r>
                <a:r>
                  <a:rPr lang="en-US" altLang="ko-KR" sz="1600" spc="-5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 만큼 배출할 경우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사회적피해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보다 배출부과금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dirty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ko-KR" sz="1600" b="0" i="0" spc="-50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altLang="ko-KR" sz="1600" b="0" i="0" spc="-50" dirty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altLang="ko-KR" sz="1600" b="0" i="0" spc="-50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altLang="ko-KR" sz="1600" b="0" i="0" spc="-50" dirty="0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altLang="ko-KR" sz="1600" b="0" i="0" spc="-50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altLang="ko-KR" sz="1600" b="0" i="0" spc="-50" dirty="0" smtClean="0"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이 더 많으므로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dirty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ko-KR" sz="1600" b="0" i="0" spc="-50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altLang="ko-KR" sz="1600" b="0" i="0" spc="-50" dirty="0" smtClean="0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ko-KR" altLang="en-US" sz="1600" spc="-50" dirty="0"/>
                  <a:t>만큼의 비용을 과잉부담 하고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단계 배출부과금제도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까지는 부과금을 징수하지 않고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을 넘어서면 실제 배출량과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차이만큼의 배출량에 대해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0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의 부과금을 징수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오염원은 여전히 사회 최적 배출량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0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을 선택하지만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배출부과금은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altLang="ko-KR" sz="1600" spc="-5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로 감소하여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과잉부담 금액도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lang="ko-KR" altLang="en-US" sz="1600" spc="-50" dirty="0"/>
                  <a:t>로 감소</a:t>
                </a: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44A49B-74B0-00DB-5D0B-B632BBAA57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273" y="958844"/>
                <a:ext cx="7095565" cy="5216043"/>
              </a:xfrm>
              <a:prstGeom prst="rect">
                <a:avLst/>
              </a:prstGeom>
              <a:blipFill>
                <a:blip r:embed="rId2"/>
                <a:stretch>
                  <a:fillRect l="-515" r="-344" b="-4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6" descr="Cap 2014-06-19 09-43-05-739.png">
            <a:extLst>
              <a:ext uri="{FF2B5EF4-FFF2-40B4-BE49-F238E27FC236}">
                <a16:creationId xmlns:a16="http://schemas.microsoft.com/office/drawing/2014/main" id="{D6780E6F-3E61-1B6E-BB0D-E3C1DBBA59B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55" t="14036" r="15686"/>
          <a:stretch>
            <a:fillRect/>
          </a:stretch>
        </p:blipFill>
        <p:spPr bwMode="auto">
          <a:xfrm>
            <a:off x="7591188" y="2330449"/>
            <a:ext cx="4326340" cy="2887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DB1DB0A-3C17-3778-657C-CB1EC9283F78}"/>
              </a:ext>
            </a:extLst>
          </p:cNvPr>
          <p:cNvSpPr txBox="1"/>
          <p:nvPr/>
        </p:nvSpPr>
        <p:spPr>
          <a:xfrm>
            <a:off x="8545324" y="1880906"/>
            <a:ext cx="25781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최적 배출부과금</a:t>
            </a:r>
            <a:r>
              <a:rPr lang="en-US" altLang="ko-KR" sz="12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1291262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7" descr="Cap 2014-06-19 09-43-17-447.png">
            <a:extLst>
              <a:ext uri="{FF2B5EF4-FFF2-40B4-BE49-F238E27FC236}">
                <a16:creationId xmlns:a16="http://schemas.microsoft.com/office/drawing/2014/main" id="{BB5951D8-4090-884F-7E0A-B064C1924BE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7" t="12969" r="4280" b="1679"/>
          <a:stretch>
            <a:fillRect/>
          </a:stretch>
        </p:blipFill>
        <p:spPr bwMode="auto">
          <a:xfrm>
            <a:off x="6400800" y="3754724"/>
            <a:ext cx="5016500" cy="25825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06EE487-460A-D467-1F2D-84951DE8D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배출부과금의 비용효과성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4A109F-48AE-77C4-A66A-1BDA43C74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C68A4AF-CBE6-19D9-2F13-2F18C53EFE1A}"/>
                  </a:ext>
                </a:extLst>
              </p:cNvPr>
              <p:cNvSpPr txBox="1"/>
              <p:nvPr/>
            </p:nvSpPr>
            <p:spPr>
              <a:xfrm>
                <a:off x="596323" y="958844"/>
                <a:ext cx="11397079" cy="226491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배출부과금의 비용효과성 </a:t>
                </a:r>
                <a:r>
                  <a:rPr lang="en-US" altLang="ko-KR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(</a:t>
                </a: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동질적 오염물질의 경우</a:t>
                </a:r>
                <a:r>
                  <a:rPr lang="en-US" altLang="ko-KR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동질적 오염물질을 배출하는 다수의 오염원에게 동일한 </a:t>
                </a:r>
                <a:r>
                  <a:rPr lang="ko-KR" altLang="en-US" sz="1600" spc="-50" dirty="0" err="1"/>
                  <a:t>부과금률을</a:t>
                </a:r>
                <a:r>
                  <a:rPr lang="ko-KR" altLang="en-US" sz="1600" spc="-50" dirty="0"/>
                  <a:t> 적용하면 비용효과성이 저절로 달성이 됨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아래 그래프</a:t>
                </a:r>
                <a:r>
                  <a:rPr lang="en-US" altLang="ko-KR" sz="1600" spc="-50" dirty="0"/>
                  <a:t>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정부가 최적부과금을 모르는 상태에서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0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의 부과금을 두 오염원</a:t>
                </a:r>
                <a:r>
                  <a:rPr lang="en-US" altLang="ko-KR" sz="1600" spc="-50" dirty="0"/>
                  <a:t>(1</a:t>
                </a:r>
                <a:r>
                  <a:rPr lang="ko-KR" altLang="en-US" sz="1600" spc="-50" dirty="0"/>
                  <a:t>과</a:t>
                </a:r>
                <a:r>
                  <a:rPr lang="en-US" altLang="ko-KR" sz="1600" spc="-50" dirty="0"/>
                  <a:t> 2)</a:t>
                </a:r>
                <a:r>
                  <a:rPr lang="ko-KR" altLang="en-US" sz="1600" spc="-50" dirty="0"/>
                  <a:t>의 배출량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단위에 획일적으로 부과하면</a:t>
                </a:r>
                <a:r>
                  <a:rPr lang="en-US" altLang="ko-KR" sz="1600" spc="-50" dirty="0"/>
                  <a:t>,         </a:t>
                </a:r>
                <a:r>
                  <a:rPr lang="ko-KR" altLang="en-US" sz="1600" spc="-50" dirty="0"/>
                  <a:t>두 오염원은 자신의 한계저감비용과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en-US" altLang="ko-KR" sz="1600" spc="-5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이 일치하는 수준의 배출량을 선택한다</a:t>
                </a:r>
                <a:r>
                  <a:rPr lang="en-US" altLang="ko-KR" sz="1600" spc="-50" dirty="0"/>
                  <a:t>.:</a:t>
                </a:r>
                <a:r>
                  <a:rPr lang="ko-KR" altLang="en-US" sz="1600" spc="-50" dirty="0"/>
                  <a:t> 각각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en-US" altLang="ko-KR" sz="1600" spc="-50" dirty="0"/>
                  <a:t>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어떤 </a:t>
                </a:r>
                <a:r>
                  <a:rPr lang="ko-KR" altLang="en-US" sz="1600" spc="-50" dirty="0" err="1"/>
                  <a:t>부과금률을</a:t>
                </a:r>
                <a:r>
                  <a:rPr lang="ko-KR" altLang="en-US" sz="1600" spc="-50" dirty="0"/>
                  <a:t> 적용해도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각 오염원은 스스로 한계저감비용과 맞는 수준에서 </a:t>
                </a:r>
                <a:r>
                  <a:rPr lang="ko-KR" altLang="en-US" sz="1600" spc="-50" dirty="0" err="1"/>
                  <a:t>저감량을</a:t>
                </a:r>
                <a:r>
                  <a:rPr lang="ko-KR" altLang="en-US" sz="1600" spc="-50" dirty="0"/>
                  <a:t> 결정하므로 항상 비용효과성이 달성 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C68A4AF-CBE6-19D9-2F13-2F18C53EFE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323" y="958844"/>
                <a:ext cx="11397079" cy="2264915"/>
              </a:xfrm>
              <a:prstGeom prst="rect">
                <a:avLst/>
              </a:prstGeom>
              <a:blipFill>
                <a:blip r:embed="rId3"/>
                <a:stretch>
                  <a:fillRect l="-321" b="-241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9BEBDAB-917C-7126-4F9C-9156354585D5}"/>
                  </a:ext>
                </a:extLst>
              </p:cNvPr>
              <p:cNvSpPr txBox="1"/>
              <p:nvPr/>
            </p:nvSpPr>
            <p:spPr>
              <a:xfrm>
                <a:off x="464954" y="3754724"/>
                <a:ext cx="7529696" cy="189558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정부의 목표 배출량 달성</a:t>
                </a:r>
                <a:endParaRPr lang="en-US" altLang="ko-KR" sz="16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개별 오염원의 한계저감비용을 모르는 상태에서 </a:t>
                </a:r>
                <a:r>
                  <a:rPr lang="ko-KR" altLang="en-US" sz="1600" spc="-50" dirty="0" err="1"/>
                  <a:t>목표로하는</a:t>
                </a:r>
                <a:r>
                  <a:rPr lang="ko-KR" altLang="en-US" sz="1600" spc="-50" dirty="0"/>
                  <a:t> </a:t>
                </a:r>
                <a:r>
                  <a:rPr lang="ko-KR" altLang="en-US" sz="1600" spc="-50" dirty="0" err="1"/>
                  <a:t>배출감소량을</a:t>
                </a:r>
                <a:r>
                  <a:rPr lang="ko-KR" altLang="en-US" sz="1600" spc="-50" dirty="0"/>
                  <a:t> 달성하기 위해서는 순차적으로 </a:t>
                </a:r>
                <a:r>
                  <a:rPr lang="ko-KR" altLang="en-US" sz="1600" spc="-50" dirty="0" err="1"/>
                  <a:t>부과금률을</a:t>
                </a:r>
                <a:r>
                  <a:rPr lang="ko-KR" altLang="en-US" sz="1600" spc="-50" dirty="0"/>
                  <a:t> 변경할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정부의 목표배출량이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으로 충족이 안되면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</a:t>
                </a:r>
                <a:r>
                  <a:rPr lang="ko-KR" altLang="en-US" sz="1600" spc="-50" dirty="0" err="1"/>
                  <a:t>부과금률을</a:t>
                </a:r>
                <a:r>
                  <a:rPr lang="ko-KR" altLang="en-US" sz="1600" spc="-50" dirty="0"/>
                  <a:t> 순차적으로 변경하여 유도하여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정부 목표와 부합하는지 확인을 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9BEBDAB-917C-7126-4F9C-9156354585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954" y="3754724"/>
                <a:ext cx="7529696" cy="1895584"/>
              </a:xfrm>
              <a:prstGeom prst="rect">
                <a:avLst/>
              </a:prstGeom>
              <a:blipFill>
                <a:blip r:embed="rId4"/>
                <a:stretch>
                  <a:fillRect l="-405" r="-162" b="-32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AA5BC118-23FD-05BB-0BB7-8807DE46470D}"/>
              </a:ext>
            </a:extLst>
          </p:cNvPr>
          <p:cNvSpPr txBox="1"/>
          <p:nvPr/>
        </p:nvSpPr>
        <p:spPr>
          <a:xfrm>
            <a:off x="7133848" y="3201926"/>
            <a:ext cx="32420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배출부과금의 비용효과성 </a:t>
            </a:r>
            <a:r>
              <a:rPr lang="en-US" altLang="ko-KR" sz="1200" spc="-50" dirty="0"/>
              <a:t>(</a:t>
            </a:r>
            <a:r>
              <a:rPr lang="ko-KR" altLang="en-US" sz="1200" spc="-50" dirty="0"/>
              <a:t>동질적 오염물질</a:t>
            </a:r>
            <a:r>
              <a:rPr lang="en-US" altLang="ko-KR" sz="12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261012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9F527-FF94-E3DA-D1E5-DB0020004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E509CE-BB58-DA3C-9852-5E7D6CB1B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배출부과금의 비용효과성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77004B-7722-CBB9-C1EC-1A6DF3890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DE4F705-F471-1975-1F45-FCCB04E087D5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10586027" cy="3376886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배출부과금의 비용효과성 </a:t>
                </a:r>
                <a:r>
                  <a:rPr lang="en-US" altLang="ko-KR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(</a:t>
                </a: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이질적 오염물질의 경우</a:t>
                </a:r>
                <a:r>
                  <a:rPr lang="en-US" altLang="ko-KR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각 오염원이 배출한 오염물질이 환경오염에 미치는 정도가 다르다면 앞선 비용효과성의 달성은 충족 하지 않음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이 배출하는 오염물질 한 단위가 오염원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에 비해 오염도에 두 배의 영향을 주면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에 대한 </a:t>
                </a:r>
                <a:r>
                  <a:rPr lang="ko-KR" altLang="en-US" sz="1600" spc="-50" dirty="0" err="1"/>
                  <a:t>부과금률은</a:t>
                </a:r>
                <a:r>
                  <a:rPr lang="ko-KR" altLang="en-US" sz="1600" spc="-50" dirty="0"/>
                  <a:t> 오염원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 </a:t>
                </a:r>
                <a:r>
                  <a:rPr lang="ko-KR" altLang="en-US" sz="1600" spc="-50" dirty="0" err="1"/>
                  <a:t>부과금률의</a:t>
                </a:r>
                <a:r>
                  <a:rPr lang="ko-KR" altLang="en-US" sz="1600" spc="-50" dirty="0"/>
                  <a:t> 두 배가 되어야 한다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Chapter 6</a:t>
                </a:r>
                <a:r>
                  <a:rPr lang="ko-KR" altLang="en-US" sz="1600" spc="-50" dirty="0"/>
                  <a:t>의 </a:t>
                </a:r>
                <a:r>
                  <a:rPr lang="en-US" altLang="ko-KR" sz="1600" spc="-50" dirty="0"/>
                  <a:t>‘</a:t>
                </a:r>
                <a:r>
                  <a:rPr lang="ko-KR" altLang="en-US" sz="1600" spc="-50" dirty="0"/>
                  <a:t>오염도 기준</a:t>
                </a:r>
                <a:r>
                  <a:rPr lang="en-US" altLang="ko-KR" sz="1600" spc="-50" dirty="0"/>
                  <a:t>’ </a:t>
                </a:r>
                <a:r>
                  <a:rPr lang="ko-KR" altLang="en-US" sz="1600" spc="-50" dirty="0"/>
                  <a:t>내용에서 설명하는 전이계수를 활용하면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특정지역의 오염도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ko-KR" altLang="en-US" sz="1600" spc="-50" dirty="0"/>
                  <a:t>는 아래와 같이 표기할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ko-KR" altLang="en-US" sz="1600" spc="-50" dirty="0"/>
                  <a:t>개이고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각 오염원의 배출량이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 ,</m:t>
                    </m:r>
                    <m:sSubSup>
                      <m:sSub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규제도입 시 각 오염원이 저감하는 양은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 ,</m:t>
                    </m:r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이고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전이계수</a:t>
                </a:r>
                <a:r>
                  <a:rPr lang="en-US" altLang="ko-KR" sz="1600" spc="-50" dirty="0"/>
                  <a:t>,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ko-KR" altLang="en-US" sz="1600" spc="-50" dirty="0"/>
                  <a:t>는 자연적으로 발생하는 오염도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ko-KR" altLang="en-US" sz="1600" spc="-50" dirty="0"/>
                  <a:t>는 실제 오염도라고 할 때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ko-KR" altLang="en-US" sz="1600" spc="-50" dirty="0"/>
                  <a:t>는 아래와 같이 표기할 수 있음</a:t>
                </a:r>
                <a:endParaRPr lang="en-US" altLang="ko-KR" sz="1600" spc="-5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DE4F705-F471-1975-1F45-FCCB04E087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10586027" cy="3376886"/>
              </a:xfrm>
              <a:prstGeom prst="rect">
                <a:avLst/>
              </a:prstGeom>
              <a:blipFill>
                <a:blip r:embed="rId2"/>
                <a:stretch>
                  <a:fillRect l="-288" r="-288" b="-126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95E101E-C0B2-2D91-6FEB-F942D96C744A}"/>
                  </a:ext>
                </a:extLst>
              </p:cNvPr>
              <p:cNvSpPr txBox="1"/>
              <p:nvPr/>
            </p:nvSpPr>
            <p:spPr>
              <a:xfrm>
                <a:off x="3553124" y="4861921"/>
                <a:ext cx="4114412" cy="8712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∑"/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p>
                          </m:sSubSup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95E101E-C0B2-2D91-6FEB-F942D96C74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3124" y="4861921"/>
                <a:ext cx="4114412" cy="8712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0CE1F928-764C-424E-6E6D-13EC373B19DA}"/>
              </a:ext>
            </a:extLst>
          </p:cNvPr>
          <p:cNvSpPr txBox="1"/>
          <p:nvPr/>
        </p:nvSpPr>
        <p:spPr>
          <a:xfrm>
            <a:off x="4765996" y="5931984"/>
            <a:ext cx="1974558" cy="443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뒷장에 이어 계속</a:t>
            </a:r>
            <a:endParaRPr lang="en-US" altLang="ko-KR" sz="18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434959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FE5EE-7DFB-2F74-4B4F-6211AA41C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D6671A-648F-5B68-C90B-A18E4AE56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배출부과금의 비용효과성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0B21EF-CE46-922B-E63A-F34917FF7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EC0B95-FD17-5A3A-F37C-3B59F1546979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10331677" cy="511954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배출부과금의 비용효과성 </a:t>
                </a:r>
                <a:r>
                  <a:rPr lang="en-US" altLang="ko-KR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(</a:t>
                </a: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이질적 오염물질의 경우</a:t>
                </a:r>
                <a:r>
                  <a:rPr lang="en-US" altLang="ko-KR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정부가 목표로 하는 오염도가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ba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spc="-50" dirty="0"/>
                  <a:t>라 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전체 오염원의 저감비용을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𝐴𝐶</m:t>
                            </m:r>
                          </m:e>
                          <m:sub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라고 하자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여기서 </a:t>
                </a:r>
                <a:r>
                  <a:rPr lang="ko-KR" altLang="en-US" sz="1600" spc="-50" dirty="0" err="1"/>
                  <a:t>비용효과적인</a:t>
                </a:r>
                <a:r>
                  <a:rPr lang="ko-KR" altLang="en-US" sz="1600" spc="-50" dirty="0"/>
                  <a:t> 정책이란 정부 목표를 달성하고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전체 오염원의 저감비용을 최소화 함을 의미한다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위와 같은 제약하의 최소화 문제는 아래와 같이 </a:t>
                </a:r>
                <a:r>
                  <a:rPr lang="ko-KR" altLang="en-US" sz="1600" spc="-50" dirty="0" err="1"/>
                  <a:t>라그랑지안</a:t>
                </a:r>
                <a:r>
                  <a:rPr lang="ko-KR" altLang="en-US" sz="1600" spc="-50" dirty="0"/>
                  <a:t> 함수를 사용하여 풀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549275" lvl="1">
                  <a:lnSpc>
                    <a:spcPct val="150000"/>
                  </a:lnSpc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전체 저감비용이 최소화 되기 위해서는 다음의 조건들이 충족되어야 함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549275" lvl="1">
                  <a:lnSpc>
                    <a:spcPct val="150000"/>
                  </a:lnSpc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비용효과성이 충족되기 위해서는 각 오염원의 한계저감비용과 전이계수의 비율</a:t>
                </a:r>
                <a:r>
                  <a:rPr lang="en-US" altLang="ko-KR" sz="1600" dirty="0"/>
                  <a:t>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𝐴𝐶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ko-KR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6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이 동일해야 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비율은 피해지역의 오염도를 한 단위 더 줄이는 데 소요되는 전체 저감비용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altLang="ko-KR" sz="1600" i="1">
                        <a:latin typeface="Cambria Math" panose="02040503050406030204" pitchFamily="18" charset="0"/>
                      </a:rPr>
                      <m:t>λ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과 같아야 함</a:t>
                </a:r>
                <a:endParaRPr lang="en-US" altLang="ko-KR" sz="1600" spc="-5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EC0B95-FD17-5A3A-F37C-3B59F15469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10331677" cy="5119543"/>
              </a:xfrm>
              <a:prstGeom prst="rect">
                <a:avLst/>
              </a:prstGeom>
              <a:blipFill>
                <a:blip r:embed="rId2"/>
                <a:stretch>
                  <a:fillRect l="-295" b="-47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FD4BB64-9911-56E2-F61B-636A22DA623B}"/>
                  </a:ext>
                </a:extLst>
              </p:cNvPr>
              <p:cNvSpPr txBox="1"/>
              <p:nvPr/>
            </p:nvSpPr>
            <p:spPr>
              <a:xfrm>
                <a:off x="2991455" y="2706860"/>
                <a:ext cx="4626588" cy="8803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𝐴𝐶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l-GR" altLang="ko-KR" b="0" i="1" smtClean="0">
                          <a:latin typeface="Cambria Math" panose="02040503050406030204" pitchFamily="18" charset="0"/>
                        </a:rPr>
                        <m:t>λ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Sup>
                                <m:sSubSup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p>
                              </m:sSub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bar>
                            <m:barPr>
                              <m:pos m:val="top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</m:bar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FD4BB64-9911-56E2-F61B-636A22DA62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1455" y="2706860"/>
                <a:ext cx="4626588" cy="88036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DFED006-C170-7728-1105-0A2F4B76B24A}"/>
                  </a:ext>
                </a:extLst>
              </p:cNvPr>
              <p:cNvSpPr txBox="1"/>
              <p:nvPr/>
            </p:nvSpPr>
            <p:spPr>
              <a:xfrm>
                <a:off x="2488054" y="4473568"/>
                <a:ext cx="6134100" cy="6751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𝐴𝐶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𝐴𝐶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 ⋯=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𝐴𝐶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altLang="ko-KR" i="1">
                          <a:latin typeface="Cambria Math" panose="02040503050406030204" pitchFamily="18" charset="0"/>
                        </a:rPr>
                        <m:t>λ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DFED006-C170-7728-1105-0A2F4B76B2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8054" y="4473568"/>
                <a:ext cx="6134100" cy="6751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09796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29DD8-22B6-25D7-F922-1247B5DCB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9FD24D-14B0-3F72-9795-CA5F46284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배출부과금의 비용효과성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91FAB6-E2C4-EAC1-1632-5D6D550BC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DAC462-123D-0562-3EB2-BDF3F432625E}"/>
              </a:ext>
            </a:extLst>
          </p:cNvPr>
          <p:cNvSpPr txBox="1"/>
          <p:nvPr/>
        </p:nvSpPr>
        <p:spPr>
          <a:xfrm>
            <a:off x="678873" y="958844"/>
            <a:ext cx="1033167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구획화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보았듯이 오염물질이 지역에 영향을 미치는 정도가 서로 다르면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오염원별로 </a:t>
            </a:r>
            <a:r>
              <a:rPr lang="ko-KR" altLang="en-US" sz="1600" spc="-50" dirty="0" err="1"/>
              <a:t>차등화된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부과금률을</a:t>
            </a:r>
            <a:r>
              <a:rPr lang="ko-KR" altLang="en-US" sz="1600" spc="-50" dirty="0"/>
              <a:t> 적용해야 충족되지만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모든 오염원들의 전이계수를 알 수는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구획배출부과금제는 오염이 발생하는 전체 지역을 몇 개의 구획으로 나눈 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동일한 구획에 포함되는 오염원들에 대해서는 동일한 </a:t>
            </a:r>
            <a:r>
              <a:rPr lang="ko-KR" altLang="en-US" sz="1600" spc="-50" dirty="0" err="1"/>
              <a:t>부과금률을</a:t>
            </a:r>
            <a:r>
              <a:rPr lang="ko-KR" altLang="en-US" sz="1600" spc="-50" dirty="0"/>
              <a:t> 적용하고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서로 다른 </a:t>
            </a:r>
            <a:r>
              <a:rPr lang="ko-KR" altLang="en-US" sz="1600" spc="-50" dirty="0" err="1"/>
              <a:t>구획간에는</a:t>
            </a:r>
            <a:r>
              <a:rPr lang="ko-KR" altLang="en-US" sz="1600" spc="-50" dirty="0"/>
              <a:t> 오염에 미치는 영향에 따라 </a:t>
            </a:r>
            <a:r>
              <a:rPr lang="ko-KR" altLang="en-US" sz="1600" spc="-50" dirty="0" err="1"/>
              <a:t>차등화된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부과금률을</a:t>
            </a:r>
            <a:r>
              <a:rPr lang="ko-KR" altLang="en-US" sz="1600" spc="-50" dirty="0"/>
              <a:t> 적용한다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구획화 제도는 오염물질이 이질적임에도 불구하고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획일적인 </a:t>
            </a:r>
            <a:r>
              <a:rPr lang="ko-KR" altLang="en-US" sz="1600" spc="-50" dirty="0" err="1"/>
              <a:t>부과금률을</a:t>
            </a:r>
            <a:r>
              <a:rPr lang="ko-KR" altLang="en-US" sz="1600" spc="-50" dirty="0"/>
              <a:t> 적용함으로써 발생하는 비효율성을 완화해줄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7" descr="Cap 2014-06-19 09-43-33-187.png">
            <a:extLst>
              <a:ext uri="{FF2B5EF4-FFF2-40B4-BE49-F238E27FC236}">
                <a16:creationId xmlns:a16="http://schemas.microsoft.com/office/drawing/2014/main" id="{D566B19B-A20B-DC07-4F41-3F6DF951F8F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44" t="17548" r="17284" b="3372"/>
          <a:stretch>
            <a:fillRect/>
          </a:stretch>
        </p:blipFill>
        <p:spPr bwMode="auto">
          <a:xfrm>
            <a:off x="3784599" y="4648200"/>
            <a:ext cx="3333751" cy="163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A6DBE93-D763-4774-2354-E63BB2C71B28}"/>
              </a:ext>
            </a:extLst>
          </p:cNvPr>
          <p:cNvSpPr txBox="1"/>
          <p:nvPr/>
        </p:nvSpPr>
        <p:spPr>
          <a:xfrm>
            <a:off x="3784599" y="4362410"/>
            <a:ext cx="32420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구획배출부과금제</a:t>
            </a:r>
            <a:r>
              <a:rPr lang="en-US" altLang="ko-KR" sz="12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8824614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3D322B-ADF4-2350-4248-49ADC560A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배출부과금제의 기술혁신 유인 </a:t>
            </a:r>
            <a:r>
              <a:rPr lang="en-US" altLang="ko-KR" dirty="0"/>
              <a:t>(vs. </a:t>
            </a:r>
            <a:r>
              <a:rPr lang="ko-KR" altLang="en-US" dirty="0"/>
              <a:t>직접규제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028398-7697-3D62-4D65-D8DE313A9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A29774E-126E-E4F1-A971-32E6BF4F219C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6972877" cy="52153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배출부과금이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일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저감기술이 발전</a:t>
                </a:r>
                <a:r>
                  <a:rPr lang="en-US" altLang="ko-KR" sz="1600" spc="-50" dirty="0"/>
                  <a:t>(MAC</a:t>
                </a:r>
                <a:r>
                  <a:rPr lang="en-US" altLang="ko-KR" sz="1600" spc="-50" baseline="-25000" dirty="0"/>
                  <a:t>1</a:t>
                </a:r>
                <a:r>
                  <a:rPr lang="en-US" altLang="ko-KR" sz="1600" spc="-50" dirty="0"/>
                  <a:t>→MAC</a:t>
                </a:r>
                <a:r>
                  <a:rPr lang="en-US" altLang="ko-KR" sz="1600" spc="-50" baseline="-25000" dirty="0"/>
                  <a:t>2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하면 오염원은 배출량을 </a:t>
                </a:r>
                <a:r>
                  <a:rPr lang="en-US" altLang="ko-KR" sz="1600" spc="-50" dirty="0"/>
                  <a:t>e</a:t>
                </a:r>
                <a:r>
                  <a:rPr lang="en-US" altLang="ko-KR" sz="1600" spc="-50" baseline="-25000" dirty="0"/>
                  <a:t>1</a:t>
                </a:r>
                <a:r>
                  <a:rPr lang="en-US" altLang="ko-KR" sz="1600" spc="-50" dirty="0"/>
                  <a:t>→e</a:t>
                </a:r>
                <a:r>
                  <a:rPr lang="en-US" altLang="ko-KR" sz="1600" spc="-50" baseline="-25000" dirty="0"/>
                  <a:t>2</a:t>
                </a:r>
                <a:r>
                  <a:rPr lang="ko-KR" altLang="en-US" sz="1600" spc="-50" dirty="0"/>
                  <a:t>로 줄이게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기술혁신이 </a:t>
                </a:r>
                <a:r>
                  <a:rPr lang="ko-KR" altLang="en-US" sz="1600" spc="-50" dirty="0" err="1"/>
                  <a:t>없을때</a:t>
                </a:r>
                <a:r>
                  <a:rPr lang="en-US" altLang="ko-KR" sz="1600" spc="-50" dirty="0"/>
                  <a:t>(e</a:t>
                </a:r>
                <a:r>
                  <a:rPr lang="en-US" altLang="ko-KR" sz="1600" spc="-50" baseline="-25000" dirty="0"/>
                  <a:t>1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는 </a:t>
                </a:r>
                <a:r>
                  <a:rPr lang="en-US" altLang="ko-KR" sz="1600" spc="-50" dirty="0" err="1"/>
                  <a:t>d+e</a:t>
                </a:r>
                <a:r>
                  <a:rPr lang="ko-KR" altLang="en-US" sz="1600" spc="-50" dirty="0"/>
                  <a:t>만큼을 저감비용으로 지불하고</a:t>
                </a:r>
                <a:r>
                  <a:rPr lang="en-US" altLang="ko-KR" sz="1600" spc="-50" dirty="0"/>
                  <a:t>, </a:t>
                </a:r>
                <a:r>
                  <a:rPr lang="en-US" altLang="ko-KR" sz="1600" spc="-50" dirty="0" err="1"/>
                  <a:t>a+b+c</a:t>
                </a:r>
                <a:r>
                  <a:rPr lang="ko-KR" altLang="en-US" sz="1600" spc="-50" dirty="0"/>
                  <a:t>만큼을 배출부과금으로 지불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기술혁신이 생기면</a:t>
                </a:r>
                <a:r>
                  <a:rPr lang="en-US" altLang="ko-KR" sz="1600" spc="-50" dirty="0"/>
                  <a:t>(e</a:t>
                </a:r>
                <a:r>
                  <a:rPr lang="en-US" altLang="ko-KR" sz="1600" spc="-50" baseline="-25000" dirty="0"/>
                  <a:t>2</a:t>
                </a:r>
                <a:r>
                  <a:rPr lang="en-US" altLang="ko-KR" sz="1600" spc="-50" dirty="0"/>
                  <a:t>) </a:t>
                </a:r>
                <a:r>
                  <a:rPr lang="en-US" altLang="ko-KR" sz="1600" spc="-50" dirty="0" err="1"/>
                  <a:t>b+e</a:t>
                </a:r>
                <a:r>
                  <a:rPr lang="ko-KR" altLang="en-US" sz="1600" spc="-50" dirty="0"/>
                  <a:t>만큼을 저감비용으로 지불하고</a:t>
                </a:r>
                <a:r>
                  <a:rPr lang="en-US" altLang="ko-KR" sz="1600" spc="-50" dirty="0"/>
                  <a:t>, a</a:t>
                </a:r>
                <a:r>
                  <a:rPr lang="ko-KR" altLang="en-US" sz="1600" spc="-50" dirty="0"/>
                  <a:t>만큼을 배출부과금으로 지불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기술혁신을 통해 총 </a:t>
                </a:r>
                <a:r>
                  <a:rPr lang="en-US" altLang="ko-KR" sz="1600" spc="-50" dirty="0" err="1"/>
                  <a:t>c+d</a:t>
                </a:r>
                <a:r>
                  <a:rPr lang="ko-KR" altLang="en-US" sz="1600" spc="-50" dirty="0"/>
                  <a:t>만큼의 이득이 생김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직접규제로서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배출기준이 </a:t>
                </a:r>
                <a:r>
                  <a:rPr lang="en-US" altLang="ko-KR" sz="1600" spc="-50" dirty="0"/>
                  <a:t>e</a:t>
                </a:r>
                <a:r>
                  <a:rPr lang="en-US" altLang="ko-KR" sz="1600" spc="-50" baseline="-25000" dirty="0"/>
                  <a:t>1</a:t>
                </a:r>
                <a:r>
                  <a:rPr lang="ko-KR" altLang="en-US" sz="1600" spc="-50" dirty="0"/>
                  <a:t> 일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저감기술이 발전</a:t>
                </a:r>
                <a:r>
                  <a:rPr lang="en-US" altLang="ko-KR" sz="1600" spc="-50" dirty="0"/>
                  <a:t>(MAC</a:t>
                </a:r>
                <a:r>
                  <a:rPr lang="en-US" altLang="ko-KR" sz="1600" spc="-50" baseline="-25000" dirty="0"/>
                  <a:t>1</a:t>
                </a:r>
                <a:r>
                  <a:rPr lang="en-US" altLang="ko-KR" sz="1600" spc="-50" dirty="0"/>
                  <a:t>→MAC</a:t>
                </a:r>
                <a:r>
                  <a:rPr lang="en-US" altLang="ko-KR" sz="1600" spc="-50" baseline="-25000" dirty="0"/>
                  <a:t>2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해도 오염원은 배출량을 변화시키지 않음 </a:t>
                </a:r>
                <a:r>
                  <a:rPr lang="en-US" altLang="ko-KR" sz="1600" spc="-50" dirty="0"/>
                  <a:t>(e</a:t>
                </a:r>
                <a:r>
                  <a:rPr lang="en-US" altLang="ko-KR" sz="1600" spc="-50" baseline="-25000" dirty="0"/>
                  <a:t>1</a:t>
                </a:r>
                <a:r>
                  <a:rPr lang="ko-KR" altLang="en-US" sz="1600" spc="-50" dirty="0"/>
                  <a:t>그대로 유지</a:t>
                </a:r>
                <a:r>
                  <a:rPr lang="en-US" altLang="ko-KR" sz="1600" spc="-50" dirty="0"/>
                  <a:t>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기술혁신이 </a:t>
                </a:r>
                <a:r>
                  <a:rPr lang="ko-KR" altLang="en-US" sz="1600" spc="-50" dirty="0" err="1"/>
                  <a:t>없을때</a:t>
                </a:r>
                <a:r>
                  <a:rPr lang="en-US" altLang="ko-KR" sz="1600" spc="-50" dirty="0"/>
                  <a:t>(e</a:t>
                </a:r>
                <a:r>
                  <a:rPr lang="en-US" altLang="ko-KR" sz="1600" spc="-50" baseline="-25000" dirty="0"/>
                  <a:t>1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는 </a:t>
                </a:r>
                <a:r>
                  <a:rPr lang="en-US" altLang="ko-KR" sz="1600" spc="-50" dirty="0" err="1"/>
                  <a:t>d+e</a:t>
                </a:r>
                <a:r>
                  <a:rPr lang="ko-KR" altLang="en-US" sz="1600" spc="-50" dirty="0"/>
                  <a:t>만큼을 저감비용으로 지불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기술혁신이 생기면</a:t>
                </a:r>
                <a:r>
                  <a:rPr lang="en-US" altLang="ko-KR" sz="1600" spc="-50" dirty="0"/>
                  <a:t>(e</a:t>
                </a:r>
                <a:r>
                  <a:rPr lang="en-US" altLang="ko-KR" sz="1600" spc="-50" baseline="-25000" dirty="0"/>
                  <a:t>1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e</a:t>
                </a:r>
                <a:r>
                  <a:rPr lang="ko-KR" altLang="en-US" sz="1600" spc="-50" dirty="0"/>
                  <a:t>만큼을 저감비용으로 지불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기술혁신을 통해 총 </a:t>
                </a:r>
                <a:r>
                  <a:rPr lang="en-US" altLang="ko-KR" sz="1600" spc="-50" dirty="0"/>
                  <a:t>d</a:t>
                </a:r>
                <a:r>
                  <a:rPr lang="ko-KR" altLang="en-US" sz="1600" spc="-50" dirty="0"/>
                  <a:t>만큼의 이득이 생김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배출부과금제도가 기술 혁신 유도에 더 큰 유인을 제공함 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 err="1"/>
                  <a:t>c+d</a:t>
                </a:r>
                <a:r>
                  <a:rPr lang="en-US" altLang="ko-KR" sz="1600" spc="-50" dirty="0"/>
                  <a:t> &gt; d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A29774E-126E-E4F1-A971-32E6BF4F21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6972877" cy="5215338"/>
              </a:xfrm>
              <a:prstGeom prst="rect">
                <a:avLst/>
              </a:prstGeom>
              <a:blipFill>
                <a:blip r:embed="rId2"/>
                <a:stretch>
                  <a:fillRect b="-4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그룹 8">
            <a:extLst>
              <a:ext uri="{FF2B5EF4-FFF2-40B4-BE49-F238E27FC236}">
                <a16:creationId xmlns:a16="http://schemas.microsoft.com/office/drawing/2014/main" id="{D14624FA-537E-EC0C-77CE-E0ADEFF8D7A8}"/>
              </a:ext>
            </a:extLst>
          </p:cNvPr>
          <p:cNvGrpSpPr/>
          <p:nvPr/>
        </p:nvGrpSpPr>
        <p:grpSpPr>
          <a:xfrm>
            <a:off x="7734300" y="2616202"/>
            <a:ext cx="3886644" cy="2955783"/>
            <a:chOff x="7734300" y="2616202"/>
            <a:chExt cx="3886644" cy="2955783"/>
          </a:xfrm>
        </p:grpSpPr>
        <p:pic>
          <p:nvPicPr>
            <p:cNvPr id="5" name="그림 7" descr="Cap 2014-06-19 09-43-43-296.png">
              <a:extLst>
                <a:ext uri="{FF2B5EF4-FFF2-40B4-BE49-F238E27FC236}">
                  <a16:creationId xmlns:a16="http://schemas.microsoft.com/office/drawing/2014/main" id="{41A6ABDE-7664-D5B3-933A-86C894F10F4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15" t="12925" r="32082" b="2290"/>
            <a:stretch>
              <a:fillRect/>
            </a:stretch>
          </p:blipFill>
          <p:spPr bwMode="auto">
            <a:xfrm>
              <a:off x="7734300" y="2616202"/>
              <a:ext cx="3625850" cy="29261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7" name="그림 7" descr="Cap 2014-06-19 09-43-43-296.png">
              <a:extLst>
                <a:ext uri="{FF2B5EF4-FFF2-40B4-BE49-F238E27FC236}">
                  <a16:creationId xmlns:a16="http://schemas.microsoft.com/office/drawing/2014/main" id="{866D2CF1-4290-F927-86DE-94CD4A7F75A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668" t="91822" r="13376" b="2290"/>
            <a:stretch>
              <a:fillRect/>
            </a:stretch>
          </p:blipFill>
          <p:spPr bwMode="auto">
            <a:xfrm>
              <a:off x="11099356" y="5368785"/>
              <a:ext cx="521588" cy="203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F6DABE6E-8550-9F71-2B20-48222DCD9BB0}"/>
              </a:ext>
            </a:extLst>
          </p:cNvPr>
          <p:cNvSpPr txBox="1"/>
          <p:nvPr/>
        </p:nvSpPr>
        <p:spPr>
          <a:xfrm>
            <a:off x="8271075" y="2309538"/>
            <a:ext cx="32420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배출부과금제의 기술혁신 유인</a:t>
            </a:r>
            <a:r>
              <a:rPr lang="en-US" altLang="ko-KR" sz="12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2889962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2F468-0CAC-7334-DED0-D8693E508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높은 정책 집행비용과 대안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B4BCF0-0175-0EEB-68CE-C8A1AE20B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628C27-4B4B-6EAE-0C26-CAD877D58911}"/>
              </a:ext>
            </a:extLst>
          </p:cNvPr>
          <p:cNvSpPr txBox="1"/>
          <p:nvPr/>
        </p:nvSpPr>
        <p:spPr>
          <a:xfrm>
            <a:off x="678873" y="958844"/>
            <a:ext cx="10331677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높은 정책비용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배출부과금제도는 효율성과 기술혁신 유인 측면에서 직접규제에 비해 우월하지만 현실에서는 직접규제가 더 많이 사용되고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부과금제도의 집행비용이 직접규제의 집행비용보다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정부가 부과금제도를 집행하기 위해서는 오염원의 배출량 및 그에 대한 정보를 파악하고 있어야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비점원오염의 경우 배출 정보를 파악하기 매우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정책대안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아래의 정책은 배출부과금제도의 장점을 가지고 있음과 동시에 집행비용을 절약할 수 있는 정책수단이다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제품부과금 혹은 </a:t>
            </a:r>
            <a:r>
              <a:rPr lang="ko-KR" altLang="en-US" sz="1600" spc="-50" dirty="0" err="1"/>
              <a:t>상품세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폐기물예치금제도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98798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EAA64-8B59-6853-CD6D-5E05A7D7D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7" descr="Cap 2014-06-19 09-43-53-940.png">
            <a:extLst>
              <a:ext uri="{FF2B5EF4-FFF2-40B4-BE49-F238E27FC236}">
                <a16:creationId xmlns:a16="http://schemas.microsoft.com/office/drawing/2014/main" id="{E7F52CA3-D4F2-242D-E175-82F3F34B571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793" t="13039" r="11905"/>
          <a:stretch>
            <a:fillRect/>
          </a:stretch>
        </p:blipFill>
        <p:spPr bwMode="auto">
          <a:xfrm>
            <a:off x="8439325" y="2927349"/>
            <a:ext cx="3441525" cy="20644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458821C-C473-2E1B-EB4E-9FE4E29A5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제품부과금 </a:t>
            </a:r>
            <a:r>
              <a:rPr lang="en-US" altLang="ko-KR" dirty="0"/>
              <a:t>(</a:t>
            </a:r>
            <a:r>
              <a:rPr lang="ko-KR" altLang="en-US" dirty="0"/>
              <a:t>혹은 </a:t>
            </a:r>
            <a:r>
              <a:rPr lang="ko-KR" altLang="en-US" dirty="0" err="1"/>
              <a:t>상품세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324D01-E31F-44EE-DFD0-46E76154F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CC93991-F7FB-5914-357C-D1D2104F051F}"/>
                  </a:ext>
                </a:extLst>
              </p:cNvPr>
              <p:cNvSpPr txBox="1"/>
              <p:nvPr/>
            </p:nvSpPr>
            <p:spPr>
              <a:xfrm>
                <a:off x="351708" y="958844"/>
                <a:ext cx="8251767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제품부과금은 정부가 </a:t>
                </a:r>
                <a:r>
                  <a:rPr lang="ko-KR" altLang="en-US" sz="1600" spc="-50" dirty="0" err="1"/>
                  <a:t>오염물질량을</a:t>
                </a:r>
                <a:r>
                  <a:rPr lang="ko-KR" altLang="en-US" sz="1600" spc="-50" dirty="0"/>
                  <a:t> 계측하는 대신 기업이 생산하는 제품 단위당 세금을 매기는 제도이다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그래프는 완전경쟁시장임을 가정하자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기업이 생산량을 변화시켜도 시장가격은 변하지 않으므로 수평의 수요곡선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MC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기업의 </a:t>
                </a:r>
                <a:r>
                  <a:rPr lang="ko-KR" altLang="en-US" sz="1600" spc="-50" dirty="0" err="1"/>
                  <a:t>한계비용곡선이며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따라서 생산자는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제품을 생산할 것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제품을 생산하는데 배출되는 </a:t>
                </a:r>
                <a:r>
                  <a:rPr lang="ko-KR" altLang="en-US" sz="1600" spc="-50" dirty="0" err="1"/>
                  <a:t>오염물질량이</a:t>
                </a:r>
                <a:r>
                  <a:rPr lang="ko-KR" altLang="en-US" sz="1600" spc="-50" dirty="0"/>
                  <a:t> 사회적으로 너무 많다고 하자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또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정부가 제품의 특성상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제품을 한 단위 생산하는데 배출되는 </a:t>
                </a:r>
                <a:r>
                  <a:rPr lang="ko-KR" altLang="en-US" sz="1600" spc="-50" dirty="0" err="1"/>
                  <a:t>오염물질량을</a:t>
                </a:r>
                <a:r>
                  <a:rPr lang="ko-KR" altLang="en-US" sz="1600" spc="-50" dirty="0"/>
                  <a:t> 알고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오염물질 배출로 인해 발생하는 사회적 </a:t>
                </a:r>
                <a:r>
                  <a:rPr lang="ko-KR" altLang="en-US" sz="1600" spc="-50" dirty="0" err="1"/>
                  <a:t>손실량을</a:t>
                </a:r>
                <a:r>
                  <a:rPr lang="ko-KR" altLang="en-US" sz="1600" spc="-50" dirty="0"/>
                  <a:t> 안다고 하자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생산을 유도하기 위하여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를 제품 단위당 세금의 형태로 부과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기업의 한계비용 곡선은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MC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MC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로 상향 평행 이동하여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결국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제품을 생산하게 될 것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정책비용이 약간 감소</a:t>
                </a:r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정부는 오염물질 계측 보다는 생산량 파악이 쉬움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정부는 이미 환경관련 이유를 제외하고도</a:t>
                </a:r>
                <a:r>
                  <a:rPr lang="en-US" altLang="ko-KR" sz="1600" spc="-50" dirty="0"/>
                  <a:t>,</a:t>
                </a:r>
                <a:r>
                  <a:rPr lang="ko-KR" altLang="en-US" sz="1600" spc="-50" dirty="0"/>
                  <a:t> 다양한 세금을 생산량 기반으로 징수하고 있음</a:t>
                </a:r>
                <a:r>
                  <a:rPr lang="en-US" altLang="ko-KR" sz="1600" spc="-50" dirty="0"/>
                  <a:t>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효율성 약간 감소</a:t>
                </a:r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다만 기업은 반드시 생산량을 통해 배출량을 줄여야 하므로 약간의 경직성이 있음</a:t>
                </a:r>
                <a:endParaRPr lang="en-US" altLang="ko-KR" sz="1600" spc="-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CC93991-F7FB-5914-357C-D1D2104F05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708" y="958844"/>
                <a:ext cx="8251767" cy="5584670"/>
              </a:xfrm>
              <a:prstGeom prst="rect">
                <a:avLst/>
              </a:prstGeom>
              <a:blipFill>
                <a:blip r:embed="rId3"/>
                <a:stretch>
                  <a:fillRect r="-296"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C161CAF-4FF2-D5AE-FCF1-508C98F1F49B}"/>
              </a:ext>
            </a:extLst>
          </p:cNvPr>
          <p:cNvSpPr txBox="1"/>
          <p:nvPr/>
        </p:nvSpPr>
        <p:spPr>
          <a:xfrm>
            <a:off x="8667750" y="2523131"/>
            <a:ext cx="32420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오염저감을 유도하기 위한 </a:t>
            </a:r>
            <a:r>
              <a:rPr lang="ko-KR" altLang="en-US" sz="1200" spc="-50" dirty="0" err="1"/>
              <a:t>상품세</a:t>
            </a:r>
            <a:r>
              <a:rPr lang="en-US" altLang="ko-KR" sz="12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8495740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1B3AD-AAC3-CD28-C6E1-6485489E7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D4C697-F146-D22B-5055-27F6C6CA9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쌀 </a:t>
            </a:r>
            <a:r>
              <a:rPr lang="en-US" altLang="ko-KR" dirty="0"/>
              <a:t>vs. </a:t>
            </a:r>
            <a:r>
              <a:rPr lang="ko-KR" altLang="en-US" dirty="0"/>
              <a:t>논 어디에 보조를 해야 하나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857403-0E58-F676-4946-72C077A1C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427719-E560-6D8B-22CD-993C06B86E2C}"/>
              </a:ext>
            </a:extLst>
          </p:cNvPr>
          <p:cNvSpPr txBox="1"/>
          <p:nvPr/>
        </p:nvSpPr>
        <p:spPr>
          <a:xfrm>
            <a:off x="678873" y="958844"/>
            <a:ext cx="10788965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농업의 긍정적 외부효과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농업은 쌀과 같은 시장재를 생산하기도 하지만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홍수조절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아름다운 경관 제공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생태계다양성 지지 등과 같이 긍정적인 외부효과를 주기도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한국과 같은 일부 농산물 수입국들은 개방화로 인해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위와 같이 긍정적 외부효과를 갖고 있는 자국의 농업이 위축되는 것을 우려하고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반면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호주와 같은 농산물 수출국들은 위에 설명한 농업의 긍정적 외부효과를 강조하는 것은 무역장벽을 설치하기 위한 변명에 불과하다는 입장이다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긍정적 외부효과에 대한 정부의 보상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논이 외부효과를 발생시키는 것이지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논에서 생산된 쌀이 외부효과를 발생시키는 것이 아니기 때문에 쌀 생산량과 관계 없이 농지 소유에 대해 보상급을 지급하면 된다는 입장이 있고</a:t>
            </a:r>
            <a:r>
              <a:rPr lang="en-US" altLang="ko-KR" sz="1600" spc="-50" dirty="0"/>
              <a:t>,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반론으로 논이 제공하는 긍정적 외부효과를 측정하고 적절한 대가를 지급하는 데 비용이 많이 들기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농산물가격을 적절히 높여 줌으로써 보상해주는 것이 바람직하다는 주장도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살펴본 배출부과금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제품부과금 논쟁과 유사한 맥락으로 볼 수 있다</a:t>
            </a:r>
            <a:r>
              <a:rPr lang="en-US" altLang="ko-KR" sz="1600" spc="-50"/>
              <a:t>.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1068004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2A63F-4AF4-B21F-4DC6-D4A846167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31A591-EAEB-02C6-EACA-ED0BA1EE9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폐기물예치금제도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381E31-66EB-86FD-829A-3DF00E660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962BA76-9F92-24FC-21D5-5D1EDF7439B9}"/>
                  </a:ext>
                </a:extLst>
              </p:cNvPr>
              <p:cNvSpPr txBox="1"/>
              <p:nvPr/>
            </p:nvSpPr>
            <p:spPr>
              <a:xfrm>
                <a:off x="302953" y="958844"/>
                <a:ext cx="7532947" cy="560365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생산자책임재활용제도로</a:t>
                </a:r>
                <a:r>
                  <a:rPr lang="ko-KR" altLang="en-US" sz="1600" spc="-50" dirty="0"/>
                  <a:t> 불리기도 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예를 들면 음료수 생산자가 판매한 음료수의 빈 병을 회수하여 재활용할 경우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미리 예치 </a:t>
                </a:r>
                <a:r>
                  <a:rPr lang="ko-KR" altLang="en-US" sz="1600" spc="-50" dirty="0" err="1"/>
                  <a:t>해놓은</a:t>
                </a:r>
                <a:r>
                  <a:rPr lang="ko-KR" altLang="en-US" sz="1600" spc="-50" dirty="0"/>
                  <a:t> 금액을 되돌려 받거나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회수하지 못한 병에 대해서는 예치한 금액을 포기해야 하는 제도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그래프에서 기업이 판매한 음료수가 </a:t>
                </a:r>
                <a:r>
                  <a:rPr lang="en-US" altLang="ko-KR" sz="1600" spc="-50" dirty="0"/>
                  <a:t>100</a:t>
                </a:r>
                <a:r>
                  <a:rPr lang="ko-KR" altLang="en-US" sz="1600" spc="-50" dirty="0"/>
                  <a:t>병이라 하자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가로축은 </a:t>
                </a:r>
                <a:r>
                  <a:rPr lang="en-US" altLang="ko-KR" sz="1600" spc="-50" dirty="0"/>
                  <a:t>100</a:t>
                </a:r>
                <a:r>
                  <a:rPr lang="ko-KR" altLang="en-US" sz="1600" spc="-50" dirty="0"/>
                  <a:t>개의 음료 중에 수거가 되지 않은 버려진 병의 수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MB</a:t>
                </a:r>
                <a:r>
                  <a:rPr lang="ko-KR" altLang="en-US" sz="1600" spc="-50" dirty="0"/>
                  <a:t> 곡선은 생산자가 병을 수거하지 않아서 얻는 한계편익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병을 수거하는데 소요되는 노동 및 시간비용을 절감함여 얻는 편익</a:t>
                </a:r>
                <a:r>
                  <a:rPr lang="en-US" altLang="ko-KR" sz="1600" spc="-50" dirty="0"/>
                  <a:t>), </a:t>
                </a:r>
                <a:r>
                  <a:rPr lang="ko-KR" altLang="en-US" sz="1600" spc="-50" dirty="0"/>
                  <a:t>이때 기업은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병을 모두 버리고자 할 것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하지만 빈 병이 수거되지 않으면 사회적 한계비용이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𝑀𝐶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곡선과 같은 형태로 나타남</a:t>
                </a:r>
                <a:r>
                  <a:rPr lang="en-US" altLang="ko-KR" sz="1600" spc="-50" dirty="0"/>
                  <a:t>. ‘</a:t>
                </a:r>
                <a:r>
                  <a:rPr lang="ko-KR" altLang="en-US" sz="1600" spc="-50" dirty="0"/>
                  <a:t>버려진 빈 병</a:t>
                </a:r>
                <a:r>
                  <a:rPr lang="en-US" altLang="ko-KR" sz="1600" spc="-50" dirty="0"/>
                  <a:t>‘</a:t>
                </a:r>
                <a:r>
                  <a:rPr lang="ko-KR" altLang="en-US" sz="1600" spc="-50" dirty="0"/>
                  <a:t>의 사회적 최적은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이</m:t>
                    </m:r>
                  </m:oMath>
                </a14:m>
                <a:r>
                  <a:rPr lang="ko-KR" altLang="en-US" sz="1600" spc="-50" dirty="0"/>
                  <a:t>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실제로는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 버려져 있음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정부는 기업에게 빈 병 당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lang="ko-KR" altLang="en-US" sz="1600" spc="-50" dirty="0"/>
                  <a:t>만큼의 예치금을 부과하면 버리는 병의 한계비용이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lang="ko-KR" altLang="en-US" sz="1600" spc="-50" dirty="0"/>
                  <a:t>로 상향 평행이동 하여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MC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  <m:sup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ko-KR" altLang="en-US" sz="1600" spc="-50" dirty="0"/>
                  <a:t> 이 되어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결국 기업은 </a:t>
                </a:r>
                <a:r>
                  <a:rPr lang="en-US" altLang="ko-KR" sz="1600" spc="-50" dirty="0"/>
                  <a:t>100-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만</m:t>
                    </m:r>
                  </m:oMath>
                </a14:m>
                <a:r>
                  <a:rPr lang="ko-KR" altLang="en-US" sz="1600" spc="-50" dirty="0"/>
                  <a:t>큼의 병을 수거하게 됨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962BA76-9F92-24FC-21D5-5D1EDF7439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953" y="958844"/>
                <a:ext cx="7532947" cy="5603650"/>
              </a:xfrm>
              <a:prstGeom prst="rect">
                <a:avLst/>
              </a:prstGeom>
              <a:blipFill>
                <a:blip r:embed="rId2"/>
                <a:stretch>
                  <a:fillRect r="-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1C48402B-7807-EBDA-31D7-FF3E20B16F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134" t="13375" r="25807" b="2834"/>
          <a:stretch>
            <a:fillRect/>
          </a:stretch>
        </p:blipFill>
        <p:spPr>
          <a:xfrm>
            <a:off x="7791188" y="2641600"/>
            <a:ext cx="4146812" cy="297815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8518C33-A274-7A38-E2AE-0EDC1A7C397D}"/>
              </a:ext>
            </a:extLst>
          </p:cNvPr>
          <p:cNvSpPr txBox="1"/>
          <p:nvPr/>
        </p:nvSpPr>
        <p:spPr>
          <a:xfrm>
            <a:off x="8153400" y="2364601"/>
            <a:ext cx="32420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폐기물예치금제도</a:t>
            </a:r>
            <a:r>
              <a:rPr lang="en-US" altLang="ko-KR" sz="1200" spc="-50" dirty="0"/>
              <a:t>&gt;</a:t>
            </a:r>
            <a:endParaRPr lang="ko-KR" alt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DCC8C9-7209-EA67-EF50-75A0C47B3504}"/>
              </a:ext>
            </a:extLst>
          </p:cNvPr>
          <p:cNvSpPr txBox="1"/>
          <p:nvPr/>
        </p:nvSpPr>
        <p:spPr>
          <a:xfrm>
            <a:off x="10448548" y="5619750"/>
            <a:ext cx="14894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dirty="0"/>
              <a:t>Q: </a:t>
            </a:r>
            <a:r>
              <a:rPr lang="ko-KR" altLang="en-US" sz="1050" dirty="0"/>
              <a:t>버려지는 병의 수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D5D994-84F5-D4B8-0230-692F1D30B127}"/>
              </a:ext>
            </a:extLst>
          </p:cNvPr>
          <p:cNvSpPr txBox="1"/>
          <p:nvPr/>
        </p:nvSpPr>
        <p:spPr>
          <a:xfrm>
            <a:off x="7577575" y="2295351"/>
            <a:ext cx="427226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50"/>
              <a:t>금액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5219180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C5206-7150-F61C-2782-5137795A5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36FD6E-5FFC-3199-D145-DF36B8EE42F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7BC8D2-F06D-34DC-6817-9085DECF2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E786078-B638-C5A0-0F4A-E98281852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</a:t>
            </a:r>
            <a:r>
              <a:rPr lang="en-US" altLang="ko-KR" sz="4000" b="1" i="0" spc="150"/>
              <a:t>. </a:t>
            </a:r>
            <a:r>
              <a:rPr lang="ko-KR" altLang="en-US" sz="4000" b="1" i="0" spc="150"/>
              <a:t>보조금제도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4317519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A7633-0C6A-8C65-C401-912A1A9DA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7" descr="Cap 2014-06-19 09-44-15-042.png">
            <a:extLst>
              <a:ext uri="{FF2B5EF4-FFF2-40B4-BE49-F238E27FC236}">
                <a16:creationId xmlns:a16="http://schemas.microsoft.com/office/drawing/2014/main" id="{FAFE12DB-6B11-83A2-90D3-E17D0128F8D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58" t="11638" r="7717" b="1758"/>
          <a:stretch>
            <a:fillRect/>
          </a:stretch>
        </p:blipFill>
        <p:spPr bwMode="auto">
          <a:xfrm>
            <a:off x="7208574" y="2775626"/>
            <a:ext cx="4741451" cy="26653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80ACFD5-2DED-091B-2D64-43B81D27D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보조금 제도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55597E-147A-E549-47FD-A859259E8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F771FA2-0511-F3E1-A8AB-2B9C2FD3BD4D}"/>
                  </a:ext>
                </a:extLst>
              </p:cNvPr>
              <p:cNvSpPr txBox="1"/>
              <p:nvPr/>
            </p:nvSpPr>
            <p:spPr>
              <a:xfrm>
                <a:off x="331739" y="958844"/>
                <a:ext cx="7042727" cy="526625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저감시설에 대한 보조</a:t>
                </a:r>
                <a:endParaRPr lang="en-US" altLang="ko-KR" sz="16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정부가 오염물질 저감시설 설치를 위해 기업에게 보조금을 지급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오른쪽 그래프는 축산폐수 정화시설에 대한 보조금 효과를 보여주고 있음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MC</m:t>
                    </m:r>
                  </m:oMath>
                </a14:m>
                <a:r>
                  <a:rPr lang="ko-KR" altLang="en-US" sz="1600" spc="-50" dirty="0"/>
                  <a:t>는 정화시설 생산을 위한 한계비용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축산농가가 정화시설에 대해 갖는 한계가치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질병감소 등</a:t>
                </a:r>
                <a:r>
                  <a:rPr lang="en-US" altLang="ko-KR" sz="1600" spc="-50" dirty="0"/>
                  <a:t>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정화시설 설치로 인해 농가 외의 사람들도 편익이 발생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양의 외부효과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하므로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사회적 한계가치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보다 높이 위치함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사회적 최적 규모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보다 작은 규모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로 설치가 됨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𝑎𝑏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만큼의 규모당 보조금을 지불하면 정화시설의 단위규모당 실질 구입가격이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이 되어 사회 최적 규모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를 달성할 수 있음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오염자의 수익성을 저해하지 않는 정책이긴 하지만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저감시설에 대한 보조정책은 오염원이 취할 수 있는 다양한 저감노력 가운데 한 가지 방법에 대해서만 지원하므로 비교적 경직된 제도</a:t>
                </a:r>
                <a:endParaRPr lang="en-US" altLang="ko-KR" sz="1600" spc="-5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F771FA2-0511-F3E1-A8AB-2B9C2FD3BD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739" y="958844"/>
                <a:ext cx="7042727" cy="5266250"/>
              </a:xfrm>
              <a:prstGeom prst="rect">
                <a:avLst/>
              </a:prstGeom>
              <a:blipFill>
                <a:blip r:embed="rId4"/>
                <a:stretch>
                  <a:fillRect l="-433" r="-173" b="-4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0B22B5F-08A4-9CF5-8809-1787DA1B3147}"/>
              </a:ext>
            </a:extLst>
          </p:cNvPr>
          <p:cNvSpPr txBox="1"/>
          <p:nvPr/>
        </p:nvSpPr>
        <p:spPr>
          <a:xfrm>
            <a:off x="8153400" y="2364601"/>
            <a:ext cx="32420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저감시설에 대한 보조금</a:t>
            </a:r>
            <a:r>
              <a:rPr lang="en-US" altLang="ko-KR" sz="12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4090997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B8102-D93A-42B6-C71A-F10D6E0F4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7" descr="Cap 2014-06-19 09-44-24-368.png">
            <a:extLst>
              <a:ext uri="{FF2B5EF4-FFF2-40B4-BE49-F238E27FC236}">
                <a16:creationId xmlns:a16="http://schemas.microsoft.com/office/drawing/2014/main" id="{4570CD8F-A3E5-67E2-4BA7-D5165CC89E2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33" t="13569" r="13828"/>
          <a:stretch>
            <a:fillRect/>
          </a:stretch>
        </p:blipFill>
        <p:spPr bwMode="auto">
          <a:xfrm>
            <a:off x="7098896" y="2467995"/>
            <a:ext cx="4834444" cy="30176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BD21B40-5C28-B520-545E-F4BB6AFFC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보조금 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4FC3E3-4EE9-C3AB-F3E2-43EC8CC2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26170FF-EF35-BFD6-9F5F-926B149CE5B3}"/>
                  </a:ext>
                </a:extLst>
              </p:cNvPr>
              <p:cNvSpPr txBox="1"/>
              <p:nvPr/>
            </p:nvSpPr>
            <p:spPr>
              <a:xfrm>
                <a:off x="331739" y="958844"/>
                <a:ext cx="7042727" cy="484600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저감에 대한 보조금</a:t>
                </a:r>
                <a:endParaRPr lang="en-US" altLang="ko-KR" sz="16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오염물질 배출상한을 부여하고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오염원이 그 배출상한보다 적은 양을 배출하면 그 차이에 대해 단위당 오염원에게 보조금을 지급하는 정책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앞서 배웠듯이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정부가 배출량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ko-KR" altLang="en-US" sz="1600" spc="-50" dirty="0"/>
                  <a:t>만큼 배출부과금을 징수하면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수준에서 오염물질을 배출하게 됨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이번에는 반대로 오염원이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수준보다 적은 양을 배출하면 그 </a:t>
                </a:r>
                <a:r>
                  <a:rPr lang="ko-KR" altLang="en-US" sz="1600" spc="-50" dirty="0" err="1"/>
                  <a:t>저감량에</a:t>
                </a:r>
                <a:r>
                  <a:rPr lang="ko-KR" altLang="en-US" sz="1600" spc="-50" dirty="0"/>
                  <a:t> 대해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ko-KR" altLang="en-US" sz="1600" spc="-50" dirty="0"/>
                  <a:t>만큼 보조금을 지급한다고 하자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 경우에도 오염원은 최적 배출량인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를 선택하게 될 것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이상으로 배출을 하게 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배출 한 단위 줄이면서 얻는 보상이 한계저감비용보다 크고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또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이하로 배출을 하게 되면 보조금이 한계저감비용보다 작기 때문에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배출을 늘리려는 유인이 생긴다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저감에 대한 보조금 제도를 사용해도 배출부과금제도와 마찬가지로 사회적으로 최적인 배출량을 유도할 수 있음</a:t>
                </a:r>
                <a:endParaRPr lang="en-US" altLang="ko-KR" sz="1600" spc="-5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26170FF-EF35-BFD6-9F5F-926B149CE5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739" y="958844"/>
                <a:ext cx="7042727" cy="4846007"/>
              </a:xfrm>
              <a:prstGeom prst="rect">
                <a:avLst/>
              </a:prstGeom>
              <a:blipFill>
                <a:blip r:embed="rId4"/>
                <a:stretch>
                  <a:fillRect l="-433" r="-173" b="-6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6BC15EA9-029C-CA93-4AC2-C95972E03782}"/>
              </a:ext>
            </a:extLst>
          </p:cNvPr>
          <p:cNvSpPr txBox="1"/>
          <p:nvPr/>
        </p:nvSpPr>
        <p:spPr>
          <a:xfrm>
            <a:off x="8153400" y="2364601"/>
            <a:ext cx="221119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/>
              <a:t>&lt;</a:t>
            </a:r>
            <a:r>
              <a:rPr lang="ko-KR" altLang="en-US" sz="1200" spc="-50" dirty="0"/>
              <a:t>저감 보조금</a:t>
            </a:r>
            <a:r>
              <a:rPr lang="en-US" altLang="ko-KR" sz="12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9765185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B21B8-B65C-70AE-9431-55A4AC6A8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F5C685-58E7-180F-C909-C25B204FA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배출부과금과 저감보조금의 대칭성과 비대칭성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88837A-BB99-1E42-8386-2D37BE9BD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82645D-6731-FCB0-1ED3-29FEAAC6355B}"/>
              </a:ext>
            </a:extLst>
          </p:cNvPr>
          <p:cNvSpPr txBox="1"/>
          <p:nvPr/>
        </p:nvSpPr>
        <p:spPr>
          <a:xfrm>
            <a:off x="678873" y="958844"/>
            <a:ext cx="1130357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대칭성 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배출부과금 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vs. 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저감보조금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본 같은 수준의 배출부과금과 저감보조금은 완전히 동일한 배출량을 유도함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장기에서의 비대칭성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장기적으로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저감 보조금을 기업에 줄 경우에는 기업의 이윤이 늘어나기 때문에 새로운 기업이 산업에 진입하게 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이는 산업 전체의 생산량과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배출량 증가를 초래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그렇다면 기업의 진입과 탈퇴가 자유로운 장기에 있어서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저감보조금과 배출부과금 사이의 대칭성은 성립하지 않나</a:t>
            </a:r>
            <a:r>
              <a:rPr lang="en-US" altLang="ko-KR" sz="1600" spc="-50" dirty="0"/>
              <a:t>?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아래의 조건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장기에서의 대칭성 조건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들이 만족되면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대칭성은 성립한다</a:t>
            </a:r>
            <a:r>
              <a:rPr lang="en-US" altLang="ko-KR" sz="1600" spc="-5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장기에서의 대칭성 조건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산업 전체에 허용된 배출량을 고정할 필요가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위해 정책이 시행되는 최초 시점에 정부는 그 당시의 기업들이 배출할 수 있는 상한을 정해주되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상한의 합이 변하지 않도록 하여야 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최초 시점의 기업들은 배출상한 대비 </a:t>
            </a:r>
            <a:r>
              <a:rPr lang="ko-KR" altLang="en-US" sz="1600" spc="-50" dirty="0" err="1"/>
              <a:t>저감량에</a:t>
            </a:r>
            <a:r>
              <a:rPr lang="ko-KR" altLang="en-US" sz="1600" spc="-50" dirty="0"/>
              <a:t> 대해서는 보조금을 받고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초과 배출량에 대해 부과금을 납부하게 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새로 진입하는 기업은 배출상한을 부여 받지 못하고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자신의 </a:t>
            </a:r>
            <a:r>
              <a:rPr lang="ko-KR" altLang="en-US" sz="1600" spc="-50" dirty="0" err="1"/>
              <a:t>배출양</a:t>
            </a:r>
            <a:r>
              <a:rPr lang="ko-KR" altLang="en-US" sz="1600" spc="-50" dirty="0"/>
              <a:t> 전체에 대해 부과금을 지불하거나 혹은 최초 시점의 </a:t>
            </a:r>
            <a:r>
              <a:rPr lang="ko-KR" altLang="en-US" sz="1600" spc="-50" dirty="0" err="1"/>
              <a:t>기업들로부터</a:t>
            </a:r>
            <a:r>
              <a:rPr lang="ko-KR" altLang="en-US" sz="1600" spc="-50" dirty="0"/>
              <a:t> 배출상한을 구입하여야 함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42131817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D7C63-5F5F-8D38-0E36-4F856EEA3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7" descr="Cap 2014-06-19 09-44-24-368.png">
            <a:extLst>
              <a:ext uri="{FF2B5EF4-FFF2-40B4-BE49-F238E27FC236}">
                <a16:creationId xmlns:a16="http://schemas.microsoft.com/office/drawing/2014/main" id="{41855237-564D-1255-DBC2-74FBF4097F2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33" t="13569" r="13828"/>
          <a:stretch>
            <a:fillRect/>
          </a:stretch>
        </p:blipFill>
        <p:spPr bwMode="auto">
          <a:xfrm>
            <a:off x="7098896" y="2467995"/>
            <a:ext cx="4834444" cy="30176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3FBFB38-B56A-61D6-ABA9-685CF40E6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배출부과금과 저감보조금의 대칭성과 비대칭성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452D74-65B9-4224-F515-B5024E9CD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D1B91DA-1818-5D11-4735-4AF516C889DF}"/>
                  </a:ext>
                </a:extLst>
              </p:cNvPr>
              <p:cNvSpPr txBox="1"/>
              <p:nvPr/>
            </p:nvSpPr>
            <p:spPr>
              <a:xfrm>
                <a:off x="393531" y="958844"/>
                <a:ext cx="6804937" cy="563449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장기에서의 대칭성 </a:t>
                </a:r>
                <a:r>
                  <a:rPr lang="en-US" altLang="ko-KR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(1)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최초 기업이 부여 받은 배출상한을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라 하자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</m:bar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이면</a:t>
                </a:r>
                <a:r>
                  <a:rPr lang="en-US" altLang="ko-KR" sz="1600" spc="-50" dirty="0"/>
                  <a:t>,</a:t>
                </a:r>
                <a:r>
                  <a:rPr lang="ko-KR" altLang="en-US" sz="1600" spc="-50" dirty="0"/>
                  <a:t> 기업 입장에서는 저감보조금제도가 시행되는 것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</m:bar>
                    <m:r>
                      <a:rPr lang="en-US" altLang="ko-KR" sz="1600" i="0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이면</a:t>
                </a:r>
                <a:r>
                  <a:rPr lang="en-US" altLang="ko-KR" sz="1600" spc="-50" dirty="0"/>
                  <a:t>,</a:t>
                </a:r>
                <a:r>
                  <a:rPr lang="ko-KR" altLang="en-US" sz="1600" spc="-50" dirty="0"/>
                  <a:t> 기업 입장에서는 배출부과금제도가 시행되는 것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기업의 저감에 대한 단위당 보조금이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라 하자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그리고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는 오른쪽 그래프의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bar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처</m:t>
                    </m:r>
                  </m:oMath>
                </a14:m>
                <a:r>
                  <a:rPr lang="ko-KR" altLang="en-US" sz="1600" spc="-50" dirty="0"/>
                  <a:t>럼 최적배출량에서의 한계피해액과 같은 금액이다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이때 기업의 실제 배출량을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ko-KR" altLang="en-US" sz="1600" spc="-50" dirty="0"/>
                  <a:t>라고 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정부로부터 받는 보조금은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(</m:t>
                    </m:r>
                    <m:bar>
                      <m:barPr>
                        <m:pos m:val="top"/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</m:ba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임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새로 진입하는 기업이 배출상한을 구입하면 그 가격은 어떻게 될까</a:t>
                </a:r>
                <a:r>
                  <a:rPr lang="en-US" altLang="ko-KR" sz="1600" spc="-50" dirty="0"/>
                  <a:t>?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배출상한을 구매하는 기업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그리고 판매하는 기업 입장을 모두 고려하면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될 수 밖에 없음</a:t>
                </a:r>
                <a:endParaRPr lang="en-US" altLang="ko-KR" sz="1600" spc="-5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배출상한을 구매하는 기업은 단위당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이상의 가격을 지불할 이유가 없다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정부에 단위당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를 납부하는 편이 낫다</a:t>
                </a:r>
                <a:r>
                  <a:rPr lang="en-US" altLang="ko-KR" sz="1600" spc="-50" dirty="0"/>
                  <a:t>.)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배출상한을 판매하는 기업도 단위당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이하의 가격을 받을 이유가 없다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정부로부터 단위당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보조금을 받는 게 낫다</a:t>
                </a:r>
                <a:r>
                  <a:rPr lang="en-US" altLang="ko-KR" sz="1600" spc="-50" dirty="0"/>
                  <a:t>)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D1B91DA-1818-5D11-4735-4AF516C889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531" y="958844"/>
                <a:ext cx="6804937" cy="5634491"/>
              </a:xfrm>
              <a:prstGeom prst="rect">
                <a:avLst/>
              </a:prstGeom>
              <a:blipFill>
                <a:blip r:embed="rId3"/>
                <a:stretch>
                  <a:fillRect l="-538" r="-358" b="-3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CF537349-A1FD-428B-E31D-D4186B55A02F}"/>
              </a:ext>
            </a:extLst>
          </p:cNvPr>
          <p:cNvSpPr txBox="1"/>
          <p:nvPr/>
        </p:nvSpPr>
        <p:spPr>
          <a:xfrm>
            <a:off x="8153400" y="2364601"/>
            <a:ext cx="221119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/>
              <a:t>&lt;</a:t>
            </a:r>
            <a:r>
              <a:rPr lang="ko-KR" altLang="en-US" sz="1200" spc="-50" dirty="0"/>
              <a:t>저감 보조금</a:t>
            </a:r>
            <a:r>
              <a:rPr lang="en-US" altLang="ko-KR" sz="12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708868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5BD14-EAE7-5EDE-5195-49A50F172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81A050-0DBB-212B-6D0E-669A63981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배출부과금과 저감보조금의 대칭성과 비대칭성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E87E3D-D008-FBC4-D90A-E3F785A87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AAF4DC7-6BD3-E646-E8D3-59FC02E67A9B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11252777" cy="531472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장기에서의 대칭성 </a:t>
                </a:r>
                <a:r>
                  <a:rPr lang="en-US" altLang="ko-KR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(2)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이와 같은 상황에서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기업의 진입이 자유로운 장기에서도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배출부과금과 저감보조금이 유도하는 배출량은 같다는 사실을 확인해보자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어떤 기업이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ko-KR" altLang="en-US" sz="1600" spc="-50" dirty="0"/>
                  <a:t>만큼 배출하고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Q</m:t>
                    </m:r>
                  </m:oMath>
                </a14:m>
                <a:r>
                  <a:rPr lang="ko-KR" altLang="en-US" sz="1600" spc="-50" dirty="0"/>
                  <a:t>만큼 생산할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부담하는 생산비가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Q</m:t>
                    </m:r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라면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기업이 산업을 떠나지 않고 생산함으로 인해 부담하는 총 기회비용은 아래와 같음</a:t>
                </a:r>
                <a:endParaRPr lang="en-US" altLang="ko-KR" sz="1600" spc="-50" dirty="0"/>
              </a:p>
              <a:p>
                <a:pPr marL="92075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ko-KR" sz="2000" b="0" i="0" spc="-50" smtClean="0">
                          <a:latin typeface="Cambria Math" panose="02040503050406030204" pitchFamily="18" charset="0"/>
                        </a:rPr>
                        <m:t>c</m:t>
                      </m:r>
                      <m:d>
                        <m:dPr>
                          <m:ctrlPr>
                            <a:rPr lang="en-US" altLang="ko-KR" sz="2000" b="0" i="0" spc="-5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ko-KR" sz="2000" b="0" i="0" spc="-50" smtClean="0">
                              <a:latin typeface="Cambria Math" panose="02040503050406030204" pitchFamily="18" charset="0"/>
                            </a:rPr>
                            <m:t>Q</m:t>
                          </m:r>
                          <m:r>
                            <a:rPr lang="en-US" altLang="ko-KR" sz="2000" b="0" i="0" spc="-5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ko-KR" sz="2000" b="0" i="0" spc="-50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</m:d>
                      <m:r>
                        <a:rPr lang="en-US" altLang="ko-KR" sz="2000" b="0" i="0" spc="-5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ko-KR" sz="2000" b="0" i="0" spc="-50" smtClean="0">
                          <a:latin typeface="Cambria Math" panose="02040503050406030204" pitchFamily="18" charset="0"/>
                        </a:rPr>
                        <m:t>s</m:t>
                      </m:r>
                      <m:d>
                        <m:dPr>
                          <m:ctrlPr>
                            <a:rPr lang="en-US" altLang="ko-KR" sz="2000" b="0" i="1" spc="-5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pos m:val="top"/>
                              <m:ctrlPr>
                                <a:rPr lang="en-US" altLang="ko-KR" sz="2000" b="0" i="0" spc="-50" smtClean="0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m:rPr>
                                  <m:sty m:val="p"/>
                                </m:rPr>
                                <a:rPr lang="en-US" altLang="ko-KR" sz="2000" b="0" i="0" spc="-50" smtClean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</m:bar>
                          <m:r>
                            <a:rPr lang="en-US" altLang="ko-KR" sz="2000" b="0" i="0" spc="-5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altLang="ko-KR" sz="2000" b="0" i="0" spc="-50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</m:d>
                      <m:r>
                        <a:rPr lang="en-US" altLang="ko-KR" sz="2000" b="0" i="0" spc="-5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ko-KR" sz="2000" b="0" i="0" spc="-50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altLang="ko-KR" sz="2000" i="0" spc="-50" dirty="0"/>
                        <m:t>·</m:t>
                      </m:r>
                      <m:bar>
                        <m:barPr>
                          <m:pos m:val="top"/>
                          <m:ctrlPr>
                            <a:rPr lang="en-US" altLang="ko-KR" sz="2000" i="0" spc="-50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m:rPr>
                              <m:sty m:val="p"/>
                            </m:rPr>
                            <a:rPr lang="en-US" altLang="ko-KR" sz="2000" i="0" spc="-50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</m:bar>
                      <m:r>
                        <a:rPr lang="en-US" altLang="ko-KR" sz="2000" b="0" i="0" spc="-5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2000" i="0" spc="-50" smtClean="0">
                          <a:latin typeface="Cambria Math" panose="02040503050406030204" pitchFamily="18" charset="0"/>
                        </a:rPr>
                        <m:t>c</m:t>
                      </m:r>
                      <m:d>
                        <m:dPr>
                          <m:ctrlPr>
                            <a:rPr lang="en-US" altLang="ko-KR" sz="2000" i="0" spc="-5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ko-KR" sz="2000" i="0" spc="-50" smtClean="0">
                              <a:latin typeface="Cambria Math" panose="02040503050406030204" pitchFamily="18" charset="0"/>
                            </a:rPr>
                            <m:t>Q</m:t>
                          </m:r>
                          <m:r>
                            <a:rPr lang="en-US" altLang="ko-KR" sz="2000" i="0" spc="-5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ko-KR" sz="2000" i="0" spc="-50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</m:d>
                      <m:r>
                        <a:rPr lang="en-US" altLang="ko-KR" sz="2000" b="0" i="0" spc="-5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ko-KR" sz="2000" i="0" spc="-50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altLang="ko-KR" sz="2000" i="0" spc="-50" dirty="0"/>
                        <m:t>·</m:t>
                      </m:r>
                      <m:r>
                        <m:rPr>
                          <m:sty m:val="p"/>
                        </m:rPr>
                        <a:rPr lang="en-US" altLang="ko-KR" sz="2000" b="0" i="0" spc="-50" dirty="0" smtClean="0">
                          <a:latin typeface="Cambria Math" panose="02040503050406030204" pitchFamily="18" charset="0"/>
                        </a:rPr>
                        <m:t>e</m:t>
                      </m:r>
                    </m:oMath>
                  </m:oMathPara>
                </a14:m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i="0" spc="-50" smtClean="0">
                        <a:latin typeface="Cambria Math" panose="02040503050406030204" pitchFamily="18" charset="0"/>
                      </a:rPr>
                      <m:t>c</m:t>
                    </m:r>
                    <m:d>
                      <m:dPr>
                        <m:ctrlP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  <m:t>Q</m:t>
                        </m:r>
                        <m: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</m:d>
                  </m:oMath>
                </a14:m>
                <a:r>
                  <a:rPr lang="en-US" altLang="ko-KR" sz="1600" spc="-50" dirty="0"/>
                  <a:t>:</a:t>
                </a:r>
                <a:r>
                  <a:rPr lang="ko-KR" altLang="en-US" sz="1600" spc="-50" dirty="0"/>
                  <a:t> 생산비용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i="0" spc="-50" smtClean="0">
                        <a:latin typeface="Cambria Math" panose="02040503050406030204" pitchFamily="18" charset="0"/>
                      </a:rPr>
                      <m:t>s</m:t>
                    </m:r>
                    <m:d>
                      <m:d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bar>
                          <m:barPr>
                            <m:pos m:val="top"/>
                            <m:ctrlPr>
                              <a:rPr lang="en-US" altLang="ko-KR" sz="1600" i="0" spc="-50" smtClean="0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m:rPr>
                                <m:sty m:val="p"/>
                              </m:rPr>
                              <a:rPr lang="en-US" altLang="ko-KR" sz="1600" i="0" spc="-50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</m:e>
                        </m:bar>
                        <m: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</m:d>
                  </m:oMath>
                </a14:m>
                <a:r>
                  <a:rPr lang="en-US" altLang="ko-KR" sz="1600" spc="-50" dirty="0"/>
                  <a:t>:</a:t>
                </a:r>
                <a:r>
                  <a:rPr lang="ko-KR" altLang="en-US" sz="1600" spc="-50" dirty="0"/>
                  <a:t> 기업이 정부로 받은 보조금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i="0" spc="-50" smtClean="0">
                        <a:latin typeface="Cambria Math" panose="02040503050406030204" pitchFamily="18" charset="0"/>
                      </a:rPr>
                      <m:t>s</m:t>
                    </m:r>
                    <m:r>
                      <m:rPr>
                        <m:nor/>
                      </m:rPr>
                      <a:rPr lang="en-US" altLang="ko-KR" sz="1600" i="0" spc="-50" dirty="0"/>
                      <m:t>·</m:t>
                    </m:r>
                    <m:bar>
                      <m:barPr>
                        <m:pos m:val="top"/>
                        <m:ctrlP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:</a:t>
                </a:r>
                <a:r>
                  <a:rPr lang="ko-KR" altLang="en-US" sz="1600" spc="-50" dirty="0"/>
                  <a:t> 기업이 배출권을 다른 기업에 팔지 않은 기회비용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여기서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i="0" spc="-5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는 최적 </a:t>
                </a:r>
                <a:r>
                  <a:rPr lang="ko-KR" altLang="en-US" sz="1600" spc="-50" dirty="0" err="1"/>
                  <a:t>오염량에서의</a:t>
                </a:r>
                <a:r>
                  <a:rPr lang="ko-KR" altLang="en-US" sz="1600" spc="-50" dirty="0"/>
                  <a:t> 오염의 </a:t>
                </a:r>
                <a:r>
                  <a:rPr lang="ko-KR" altLang="en-US" sz="1600" spc="-50" dirty="0" err="1"/>
                  <a:t>한계피해액이기</a:t>
                </a:r>
                <a:r>
                  <a:rPr lang="ko-KR" altLang="en-US" sz="1600" spc="-50" dirty="0"/>
                  <a:t> 때문에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기업이 느끼는 자신의 총 기회비용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c</m:t>
                    </m:r>
                    <m:d>
                      <m:d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Q</m:t>
                        </m:r>
                        <m:r>
                          <a:rPr lang="en-US" altLang="ko-KR" sz="1600" spc="-5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</m:d>
                    <m:r>
                      <a:rPr lang="en-US" altLang="ko-KR" sz="1600" spc="-5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  <m:r>
                      <m:rPr>
                        <m:nor/>
                      </m:rPr>
                      <a:rPr lang="en-US" altLang="ko-KR" sz="1600" i="0" spc="-50" dirty="0"/>
                      <m:t>·</m:t>
                    </m:r>
                    <m:r>
                      <m:rPr>
                        <m:sty m:val="p"/>
                      </m:rPr>
                      <a:rPr lang="en-US" altLang="ko-KR" sz="1600" spc="-50" dirty="0"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ko-KR" altLang="en-US" sz="1600" spc="-50" dirty="0"/>
                  <a:t>는 이 기업이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e</m:t>
                    </m:r>
                    <m:r>
                      <a:rPr lang="ko-KR" altLang="en-US" sz="1600" spc="-50">
                        <a:latin typeface="Cambria Math" panose="02040503050406030204" pitchFamily="18" charset="0"/>
                      </a:rPr>
                      <m:t>만</m:t>
                    </m:r>
                  </m:oMath>
                </a14:m>
                <a:r>
                  <a:rPr lang="ko-KR" altLang="en-US" sz="1600" spc="-50" dirty="0"/>
                  <a:t>큼의 오염물질을 배출하면서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Q</m:t>
                    </m:r>
                  </m:oMath>
                </a14:m>
                <a:r>
                  <a:rPr lang="ko-KR" altLang="en-US" sz="1600" spc="-50" dirty="0"/>
                  <a:t>를 생산할 때 발생하는 사회적 비용과 완전히 동일하다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장기에도 기업의 외부효과는 완전히 </a:t>
                </a:r>
                <a:r>
                  <a:rPr lang="ko-KR" altLang="en-US" sz="1600" spc="-50" dirty="0" err="1"/>
                  <a:t>내부화되어</a:t>
                </a:r>
                <a:r>
                  <a:rPr lang="ko-KR" altLang="en-US" sz="1600" spc="-50" dirty="0"/>
                  <a:t> 기업이 자신이 배출한 오염물질이 유발하는 사회적 피해까지도 인식하게 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그로 인해 사회적 최적이 달성된다는 뜻을 담고 있음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또한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c</m:t>
                    </m:r>
                    <m:d>
                      <m:d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Q</m:t>
                        </m:r>
                        <m:r>
                          <a:rPr lang="en-US" altLang="ko-KR" sz="1600" spc="-5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</m:d>
                    <m:r>
                      <a:rPr lang="en-US" altLang="ko-KR" sz="1600" spc="-5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  <m:r>
                      <m:rPr>
                        <m:nor/>
                      </m:rPr>
                      <a:rPr lang="en-US" altLang="ko-KR" sz="1600" i="0" spc="-50" dirty="0"/>
                      <m:t>·</m:t>
                    </m:r>
                    <m:r>
                      <m:rPr>
                        <m:sty m:val="p"/>
                      </m:rPr>
                      <a:rPr lang="en-US" altLang="ko-KR" sz="1600" spc="-50" dirty="0"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ko-KR" altLang="en-US" sz="1600" spc="-50" dirty="0"/>
                  <a:t>는 최초에 허용된 배출량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에 의해 영향을 받지 않음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정부가 최초 시점의 기업에게 보조금을 주던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부과금을 징수하던 기업의 의사결정에는 영향을 주지 못함 </a:t>
                </a:r>
                <a:endParaRPr lang="en-US" altLang="ko-KR" sz="1600" spc="-5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AAF4DC7-6BD3-E646-E8D3-59FC02E67A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11252777" cy="5314725"/>
              </a:xfrm>
              <a:prstGeom prst="rect">
                <a:avLst/>
              </a:prstGeom>
              <a:blipFill>
                <a:blip r:embed="rId2"/>
                <a:stretch>
                  <a:fillRect l="-271" r="-271" b="-45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19046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>
            <a:extLst>
              <a:ext uri="{FF2B5EF4-FFF2-40B4-BE49-F238E27FC236}">
                <a16:creationId xmlns:a16="http://schemas.microsoft.com/office/drawing/2014/main" id="{C6984698-044C-5DCA-BCCB-96EB496993A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468" t="1949" r="10754" b="6828"/>
          <a:stretch>
            <a:fillRect/>
          </a:stretch>
        </p:blipFill>
        <p:spPr>
          <a:xfrm>
            <a:off x="7045179" y="1086843"/>
            <a:ext cx="4721558" cy="29566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3A802B2-4291-27D3-E8A2-A82FBFA4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조세의 초과부담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174165-AA22-1C79-4A53-7DF26A4F8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84E34EE-7C6E-A3C1-4CDC-33C967AA687C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7240867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조세의 종류</a:t>
                </a:r>
                <a:endParaRPr lang="en-US" altLang="ko-KR" sz="16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중립세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(lump-sum tax)</a:t>
                </a:r>
                <a:r>
                  <a:rPr lang="ko-KR" altLang="en-US" sz="1600" spc="-50" dirty="0"/>
                  <a:t>는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소비자에게 특정 금액을 세금으로 매김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소비자의 소득은 줄고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상품가격은 변하지 않음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예</a:t>
                </a:r>
                <a:r>
                  <a:rPr lang="en-US" altLang="ko-KR" sz="1600" spc="-50" dirty="0"/>
                  <a:t>: </a:t>
                </a:r>
                <a:r>
                  <a:rPr lang="ko-KR" altLang="en-US" sz="1600" spc="-50" dirty="0"/>
                  <a:t>주민세</a:t>
                </a:r>
                <a:r>
                  <a:rPr lang="en-US" altLang="ko-KR" sz="1600" spc="-50" dirty="0"/>
                  <a:t>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물품세</a:t>
                </a:r>
                <a:r>
                  <a:rPr lang="en-US" altLang="ko-KR" sz="1600" spc="-50" dirty="0"/>
                  <a:t>(excise tax)</a:t>
                </a:r>
                <a:r>
                  <a:rPr lang="ko-KR" altLang="en-US" sz="1600" spc="-50" dirty="0"/>
                  <a:t>는 소비자가 구입하는 상품에 세금을 매김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소비자의 소득은 변하지 않으나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상품가격은 변함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예</a:t>
                </a:r>
                <a:r>
                  <a:rPr lang="en-US" altLang="ko-KR" sz="1600" spc="-50" dirty="0"/>
                  <a:t>: </a:t>
                </a:r>
                <a:r>
                  <a:rPr lang="ko-KR" altLang="en-US" sz="1600" spc="-50" dirty="0" err="1"/>
                  <a:t>유류세</a:t>
                </a:r>
                <a:r>
                  <a:rPr lang="en-US" altLang="ko-KR" sz="1600" spc="-50"/>
                  <a:t>)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조세의 초과부담</a:t>
                </a:r>
                <a:endParaRPr lang="en-US" altLang="ko-KR" sz="16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어떠한 외부효과가 없을 때의 시장균형은 </a:t>
                </a:r>
                <a14:m>
                  <m:oMath xmlns:m="http://schemas.openxmlformats.org/officeDocument/2006/math"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p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p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에서 달성 됨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정부가 제품 한 단위에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만큼의 세금을 부과하면 소비자가격은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D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소비는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으로 줄어들고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생산자가격은 여전히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p>
                        <m: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임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예전보다 줄어든 소비자가 더 높은 가격으로 제품을 구입하게 </a:t>
                </a:r>
                <a:r>
                  <a:rPr lang="ko-KR" altLang="en-US" sz="1600" spc="-50" dirty="0" err="1"/>
                  <a:t>되서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A+B</a:t>
                </a:r>
                <a:r>
                  <a:rPr lang="ko-KR" altLang="en-US" sz="1600" spc="-50" dirty="0"/>
                  <a:t>만큼의 소비자 잉여가 감소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생산자잉여는 여전히 </a:t>
                </a:r>
                <a:r>
                  <a:rPr lang="en-US" altLang="ko-KR" sz="1600" spc="-50" dirty="0"/>
                  <a:t>0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정부는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만큼의 조세수입을 얻음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만큼의 사회적 손실이 발생하고 이를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조세의 초과부담 이라 함</a:t>
                </a:r>
                <a:endParaRPr lang="en-US" altLang="ko-KR" sz="1600" spc="-5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84E34EE-7C6E-A3C1-4CDC-33C967AA68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7240867" cy="5584670"/>
              </a:xfrm>
              <a:prstGeom prst="rect">
                <a:avLst/>
              </a:prstGeom>
              <a:blipFill>
                <a:blip r:embed="rId3"/>
                <a:stretch>
                  <a:fillRect l="-421" r="-253"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D8219D4E-4BC4-C60D-F286-90D0966878FC}"/>
              </a:ext>
            </a:extLst>
          </p:cNvPr>
          <p:cNvSpPr txBox="1"/>
          <p:nvPr/>
        </p:nvSpPr>
        <p:spPr>
          <a:xfrm>
            <a:off x="8631573" y="1086843"/>
            <a:ext cx="221119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조세의 초과부담</a:t>
            </a:r>
            <a:r>
              <a:rPr lang="en-US" altLang="ko-KR" sz="12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0235213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7B1F28-6CE5-3DFC-ADE7-BA7DCB566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조세의 초과부담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5A6993-EAF6-9D40-B9B6-1DAE09EB2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FDD0629-59E8-03B5-3D02-273F9140393F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11303577" cy="496199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여러 품목에 대한 상품세가 부과되는 경우</a:t>
                </a:r>
                <a:endParaRPr lang="en-US" altLang="ko-KR" sz="16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이전 그래프에서 정부가 계획하는 조세수입이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만큼이고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상품이 한 종류라면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만큼의 상품세를 징수하면 됨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하지만 여러 품목에 대해 세금을 부과하는 경우 품목별로 다양한 세율조합을 통해 조세수입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를 달성할 수 있음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세율과 수요의 가격탄력성</a:t>
                </a:r>
                <a:endParaRPr lang="en-US" altLang="ko-KR" sz="16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이전 그래프에서 수요곡선의 기울기가 가파르면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면적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가 작아진다는 것을 알 수 있음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가격에 대해 둔감한 상품의 경우 조세부과로 인해 시장가격이 왜곡되어도 소비자의 수요량이 잘 안 변함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사회적손실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면적 </a:t>
                </a:r>
                <a:r>
                  <a:rPr lang="en-US" altLang="ko-KR" sz="1600" spc="-50" dirty="0"/>
                  <a:t>B)</a:t>
                </a:r>
                <a:r>
                  <a:rPr lang="ko-KR" altLang="en-US" sz="1600" spc="-50" dirty="0"/>
                  <a:t>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최소화 하기 위해서는 수요가 잘 안 변하는 상품은 높은 세율을 적용하고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반대로 수요가 민감하게 변하는 상품에 대해서는 낮은 세율을 적용해야 함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램지</a:t>
                </a:r>
                <a:r>
                  <a:rPr lang="en-US" altLang="ko-KR" sz="1600" spc="-50" dirty="0"/>
                  <a:t>(Ramsey) </a:t>
                </a:r>
                <a:r>
                  <a:rPr lang="ko-KR" altLang="en-US" sz="1600" spc="-50" dirty="0"/>
                  <a:t>규칙에 따르면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최적세의 조건은 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600" b="0" i="0" spc="-5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600" b="0" i="0" spc="-5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600" b="0" i="0" spc="-5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600" b="0" i="0" spc="-5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600" b="0" i="0" spc="-5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600" b="0" i="0" spc="-5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sub>
                        </m:sSub>
                      </m:den>
                    </m:f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skw"/>
                        <m:ctrlPr>
                          <a:rPr lang="ko-KR" altLang="en-US" sz="1600" i="1" spc="-5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ko-KR" altLang="en-US" sz="1600" i="0" spc="-5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ko-KR" altLang="en-US" sz="1600" i="0" spc="-50" smtClean="0">
                                <a:latin typeface="Cambria Math" panose="02040503050406030204" pitchFamily="18" charset="0"/>
                              </a:rPr>
                              <m:t>ε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600" b="0" i="0" spc="-5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ko-KR" altLang="en-US" sz="1600" i="0" spc="-5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ko-KR" altLang="en-US" sz="1600" i="0" spc="-50">
                                <a:latin typeface="Cambria Math" panose="02040503050406030204" pitchFamily="18" charset="0"/>
                              </a:rPr>
                              <m:t>ε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600" b="0" i="0" spc="-5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임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x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x</a:t>
                </a:r>
                <a:r>
                  <a:rPr lang="ko-KR" altLang="en-US" sz="1600" spc="-50" dirty="0"/>
                  <a:t> 상품에 부과된 </a:t>
                </a:r>
                <a:r>
                  <a:rPr lang="ko-KR" altLang="en-US" sz="1600" spc="-50" dirty="0" err="1"/>
                  <a:t>상품세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ko-KR" altLang="en-US" sz="1600" spc="-5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x</m:t>
                        </m:r>
                      </m:sub>
                    </m:sSub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는</m:t>
                    </m:r>
                  </m:oMath>
                </a14:m>
                <a:r>
                  <a:rPr lang="en-US" altLang="ko-KR" sz="1600" spc="-50" dirty="0"/>
                  <a:t> x </a:t>
                </a:r>
                <a:r>
                  <a:rPr lang="ko-KR" altLang="en-US" sz="1600" spc="-50" dirty="0"/>
                  <a:t>상품 수요의 가격탄력성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FDD0629-59E8-03B5-3D02-273F914039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11303577" cy="4961999"/>
              </a:xfrm>
              <a:prstGeom prst="rect">
                <a:avLst/>
              </a:prstGeom>
              <a:blipFill>
                <a:blip r:embed="rId2"/>
                <a:stretch>
                  <a:fillRect l="-2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96160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C5C04-6F32-9ECA-4180-EF8786949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6D0B09-ADD1-53E0-28F9-9FC847C49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환경세의 이중편익가설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53C0A0-ACA1-A3D3-518F-63AE3FA05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005A1B-845D-5F0B-A8D0-D53C4C5E2275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11303577" cy="52153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환경세의 이중편익가설</a:t>
                </a:r>
                <a:endParaRPr lang="en-US" altLang="ko-KR" sz="16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환경세는 외부효과 완화라는 사회적 이득을 얻으면서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추가로 세입도 함께 얻음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추가 세입으로 일반 상품세의 징수액을 줄여주면 일반 상품세가 유발하는 조세의 초과부담이라는 손실까지 줄여줄 수 있음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세가지 상품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이 있을 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</a:t>
                </a:r>
                <a:r>
                  <a:rPr lang="ko-KR" altLang="en-US" sz="1600" spc="-50" dirty="0" err="1"/>
                  <a:t>청정재이고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오염재라고 하자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대해서는 세금이 없어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이고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 대해서는 상품세가 부과되어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&gt;0,  </m:t>
                    </m:r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이라 하자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은 오로지 정부세입을 위해 징수하고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오로지 외부효과를 제거하기 위해 징수하고 있다고 하자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여기서 문제는 정부세입이 목적이 아니었던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통해 확보한 정부세입을 어떻게 활용할 것인가 이다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두 가지 방법이 있을 수 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첫째</a:t>
                </a:r>
                <a:r>
                  <a:rPr lang="en-US" altLang="ko-KR" sz="1600" spc="-50" dirty="0"/>
                  <a:t>,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통한 세입을 소비자들에게 똑같이 환급을 해주거나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둘째</a:t>
                </a:r>
                <a:r>
                  <a:rPr lang="en-US" altLang="ko-KR" sz="1600" spc="-50" dirty="0"/>
                  <a:t>,</a:t>
                </a:r>
                <a:r>
                  <a:rPr lang="ko-KR" altLang="en-US" sz="1600" spc="-5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600" spc="-50" dirty="0"/>
                  <a:t>그 세입만큼 청정재에 대한 세금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을 줄여줄 수 있다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이중편익 가설은 두번째 방법을 선택했을 때의 사회적 후생이 더 커진다는 주장이다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즉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환경세입이 징수과정에서 초과부담문제를 유발하는 다른 세입을 대체하면 환경개선효과에 더하여 다른 조세 징수과정에서 발생하는 초과부담을 줄이는 추가 편익까지 얻게 된다는 의미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세입재활용효과</a:t>
                </a:r>
                <a:r>
                  <a:rPr lang="en-US" altLang="ko-KR" sz="1600" spc="-50" dirty="0"/>
                  <a:t>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005A1B-845D-5F0B-A8D0-D53C4C5E22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11303577" cy="5215338"/>
              </a:xfrm>
              <a:prstGeom prst="rect">
                <a:avLst/>
              </a:prstGeom>
              <a:blipFill>
                <a:blip r:embed="rId2"/>
                <a:stretch>
                  <a:fillRect l="-270" r="-1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802265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811631-2ECB-7517-64FA-7EC7B7085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독점의 사회적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07FEC-43AF-C8FA-F982-8CB72CC90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167CEFC-1959-FB19-ADAF-BDEFAD756CC6}"/>
              </a:ext>
            </a:extLst>
          </p:cNvPr>
          <p:cNvSpPr txBox="1"/>
          <p:nvPr/>
        </p:nvSpPr>
        <p:spPr>
          <a:xfrm>
            <a:off x="191193" y="958844"/>
            <a:ext cx="4818677" cy="54615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독점기업의 행동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한계수입과 한계비용이 일치하는 수량</a:t>
            </a:r>
            <a:r>
              <a:rPr lang="en-US" altLang="ko-KR" sz="1600" spc="-50" dirty="0"/>
              <a:t>: Q</a:t>
            </a:r>
            <a:r>
              <a:rPr lang="en-US" altLang="ko-KR" sz="1600" spc="-50" baseline="-25000" dirty="0"/>
              <a:t>M</a:t>
            </a: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 가격</a:t>
            </a:r>
            <a:r>
              <a:rPr lang="en-US" altLang="ko-KR" sz="1600" spc="-50" dirty="0"/>
              <a:t>: P</a:t>
            </a:r>
            <a:r>
              <a:rPr lang="en-US" altLang="ko-KR" sz="1600" spc="-50" baseline="-25000" dirty="0"/>
              <a:t>M</a:t>
            </a:r>
          </a:p>
          <a:p>
            <a:pPr marL="92075">
              <a:lnSpc>
                <a:spcPct val="150000"/>
              </a:lnSpc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만약 독점기업이 완전경쟁기업처럼 행동한다면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생산량은</a:t>
            </a:r>
            <a:r>
              <a:rPr lang="en-US" altLang="ko-KR" sz="1600" spc="-50" dirty="0"/>
              <a:t> Q</a:t>
            </a:r>
            <a:r>
              <a:rPr lang="en-US" altLang="ko-KR" sz="1600" spc="-50" baseline="-25000" dirty="0"/>
              <a:t>C, </a:t>
            </a:r>
            <a:r>
              <a:rPr lang="ko-KR" altLang="en-US" sz="1600" spc="-50" dirty="0"/>
              <a:t>이 때 가격은</a:t>
            </a:r>
            <a:r>
              <a:rPr lang="en-US" altLang="ko-KR" sz="1600" spc="-50" dirty="0"/>
              <a:t> P</a:t>
            </a:r>
            <a:r>
              <a:rPr lang="en-US" altLang="ko-KR" sz="1600" spc="-50" baseline="-25000" dirty="0"/>
              <a:t>C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baseline="-250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독점기업은 </a:t>
            </a:r>
            <a:r>
              <a:rPr lang="en-US" altLang="ko-KR" sz="1600" spc="-50" dirty="0"/>
              <a:t>Q</a:t>
            </a:r>
            <a:r>
              <a:rPr lang="en-US" altLang="ko-KR" sz="1600" spc="-50" baseline="-25000" dirty="0"/>
              <a:t>C </a:t>
            </a:r>
            <a:r>
              <a:rPr lang="ko-KR" altLang="en-US" sz="1600" spc="-50" dirty="0"/>
              <a:t>만큼 생산할 수 있음에도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독점기업의 이점을 통해</a:t>
            </a:r>
            <a:r>
              <a:rPr lang="ko-KR" altLang="en-US" sz="1600" spc="-50" baseline="-25000" dirty="0"/>
              <a:t> </a:t>
            </a:r>
            <a:r>
              <a:rPr lang="en-US" altLang="ko-KR" sz="1600" spc="-50" dirty="0"/>
              <a:t>Q</a:t>
            </a:r>
            <a:r>
              <a:rPr lang="en-US" altLang="ko-KR" sz="1600" spc="-50" baseline="-25000" dirty="0"/>
              <a:t>C </a:t>
            </a:r>
            <a:r>
              <a:rPr lang="ko-KR" altLang="en-US" sz="1600" spc="-50" dirty="0"/>
              <a:t>보다 적은 </a:t>
            </a:r>
            <a:r>
              <a:rPr lang="en-US" altLang="ko-KR" sz="1600" spc="-50" dirty="0"/>
              <a:t>Q</a:t>
            </a:r>
            <a:r>
              <a:rPr lang="en-US" altLang="ko-KR" sz="1600" spc="-50" baseline="-25000" dirty="0"/>
              <a:t>M </a:t>
            </a:r>
            <a:r>
              <a:rPr lang="ko-KR" altLang="en-US" sz="1600" spc="-50" dirty="0"/>
              <a:t>만을 생산함으로써 </a:t>
            </a:r>
            <a:r>
              <a:rPr lang="en-US" altLang="ko-KR" sz="1600" spc="-50" dirty="0"/>
              <a:t>P</a:t>
            </a:r>
            <a:r>
              <a:rPr lang="en-US" altLang="ko-KR" sz="1600" spc="-50" baseline="-25000" dirty="0"/>
              <a:t>M</a:t>
            </a:r>
            <a:r>
              <a:rPr lang="en-US" altLang="ko-KR" sz="1600" spc="-50" dirty="0"/>
              <a:t>abP</a:t>
            </a:r>
            <a:r>
              <a:rPr lang="en-US" altLang="ko-KR" sz="1600" spc="-50" baseline="-25000" dirty="0"/>
              <a:t>c</a:t>
            </a:r>
            <a:r>
              <a:rPr lang="ko-KR" altLang="en-US" sz="1600" spc="-50" dirty="0"/>
              <a:t>에 해당하는 이윤을 얻고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비용은 </a:t>
            </a:r>
            <a:r>
              <a:rPr lang="en-US" altLang="ko-KR" sz="1600" spc="-50" dirty="0" err="1"/>
              <a:t>abc</a:t>
            </a:r>
            <a:r>
              <a:rPr lang="ko-KR" altLang="en-US" sz="1600" spc="-50" dirty="0"/>
              <a:t>만큼 발생함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독점기업에 대한 </a:t>
            </a:r>
            <a:r>
              <a:rPr lang="ko-KR" altLang="en-US" sz="1600" spc="-50" dirty="0" err="1"/>
              <a:t>환경세</a:t>
            </a:r>
            <a:r>
              <a:rPr lang="ko-KR" altLang="en-US" sz="1600" spc="-50" dirty="0"/>
              <a:t> 설정은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오염배출량이 생산량에 비례하는 경우와 그렇지 않은 경우로 나누어 생각해볼 수 있음</a:t>
            </a:r>
            <a:endParaRPr lang="en-US" altLang="ko-KR" sz="1600" spc="-5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B8DA210-6D1D-28AF-111D-5314070F76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756" t="12652" r="3511" b="1603"/>
          <a:stretch>
            <a:fillRect/>
          </a:stretch>
        </p:blipFill>
        <p:spPr>
          <a:xfrm>
            <a:off x="5144782" y="1765417"/>
            <a:ext cx="6465974" cy="448438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A55A5E8-57E5-6C91-615D-917F96E4954B}"/>
              </a:ext>
            </a:extLst>
          </p:cNvPr>
          <p:cNvSpPr txBox="1"/>
          <p:nvPr/>
        </p:nvSpPr>
        <p:spPr>
          <a:xfrm>
            <a:off x="7880758" y="1488418"/>
            <a:ext cx="221119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독점기업의 오염규제</a:t>
            </a:r>
            <a:r>
              <a:rPr lang="en-US" altLang="ko-KR" sz="12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5770641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E385B3-4793-A44C-46FF-1C27A342B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독점기업에 대한 최적 </a:t>
            </a:r>
            <a:r>
              <a:rPr lang="ko-KR" altLang="en-US" dirty="0" err="1"/>
              <a:t>환경세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9C2116-95BF-C79E-09C1-D29224E58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49DC4A8-6A3C-19A2-087B-9B3A6027AC72}"/>
                  </a:ext>
                </a:extLst>
              </p:cNvPr>
              <p:cNvSpPr txBox="1"/>
              <p:nvPr/>
            </p:nvSpPr>
            <p:spPr>
              <a:xfrm>
                <a:off x="191193" y="958844"/>
                <a:ext cx="4818677" cy="5317546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독점기업에게 최적 환경세는</a:t>
                </a:r>
                <a:r>
                  <a:rPr lang="en-US" altLang="ko-KR" sz="1600" spc="-50" dirty="0"/>
                  <a:t>? </a:t>
                </a:r>
              </a:p>
              <a:p>
                <a:pPr marL="377825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ko-KR" altLang="en-US" sz="1600" b="0" i="1" spc="-5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ko-KR" altLang="en-US" sz="1600" spc="-50" dirty="0"/>
                  <a:t>와 같이 비례한다고 하자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MC</a:t>
                </a:r>
                <a:r>
                  <a:rPr lang="en-US" altLang="ko-KR" sz="1600" spc="-50" baseline="-25000" dirty="0"/>
                  <a:t>P </a:t>
                </a:r>
                <a:r>
                  <a:rPr lang="ko-KR" altLang="en-US" sz="1600" spc="-50" dirty="0"/>
                  <a:t>에서 단위당 한계피해를 더하여 </a:t>
                </a:r>
                <a:r>
                  <a:rPr lang="en-US" altLang="ko-KR" sz="1600" spc="-50" dirty="0"/>
                  <a:t>MC</a:t>
                </a:r>
                <a:r>
                  <a:rPr lang="en-US" altLang="ko-KR" sz="1600" spc="-50" baseline="-25000" dirty="0"/>
                  <a:t>S </a:t>
                </a:r>
                <a:r>
                  <a:rPr lang="ko-KR" altLang="en-US" sz="1600" spc="-50" dirty="0"/>
                  <a:t>가 된다면 사회적 최적 생산량과 시장가격은 </a:t>
                </a:r>
                <a:r>
                  <a:rPr lang="en-US" altLang="ko-KR" sz="1600" spc="-50" dirty="0"/>
                  <a:t>Q</a:t>
                </a:r>
                <a:r>
                  <a:rPr lang="en-US" altLang="ko-KR" sz="1600" spc="-50" baseline="30000" dirty="0"/>
                  <a:t>*</a:t>
                </a:r>
                <a:r>
                  <a:rPr lang="en-US" altLang="ko-KR" sz="1600" spc="-50" dirty="0"/>
                  <a:t>, P</a:t>
                </a:r>
                <a:r>
                  <a:rPr lang="en-US" altLang="ko-KR" sz="1600" spc="-50" baseline="30000" dirty="0"/>
                  <a:t>*</a:t>
                </a:r>
                <a:r>
                  <a:rPr lang="en-US" altLang="ko-KR" sz="1600" spc="-50" dirty="0"/>
                  <a:t> </a:t>
                </a:r>
              </a:p>
              <a:p>
                <a:pPr marL="377825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기업 입장에서는 </a:t>
                </a:r>
                <a:r>
                  <a:rPr lang="en-US" altLang="ko-KR" sz="1600" spc="-50" dirty="0"/>
                  <a:t>P</a:t>
                </a:r>
                <a:r>
                  <a:rPr lang="en-US" altLang="ko-KR" sz="1600" spc="-50" baseline="30000" dirty="0"/>
                  <a:t>*</a:t>
                </a:r>
                <a:r>
                  <a:rPr lang="en-US" altLang="ko-KR" sz="1600" spc="-50" dirty="0"/>
                  <a:t> - P</a:t>
                </a:r>
                <a:r>
                  <a:rPr lang="en-US" altLang="ko-KR" sz="1600" spc="-50" baseline="-25000" dirty="0"/>
                  <a:t>C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 제품 부과금을 부과하면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기업은 </a:t>
                </a:r>
                <a:r>
                  <a:rPr lang="en-US" altLang="ko-KR" sz="1600" spc="-50" dirty="0"/>
                  <a:t>Q</a:t>
                </a:r>
                <a:r>
                  <a:rPr lang="en-US" altLang="ko-KR" sz="1600" spc="-50" baseline="-25000" dirty="0"/>
                  <a:t>1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으로 생산량을 줄이고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사회적 최적</a:t>
                </a:r>
                <a:r>
                  <a:rPr lang="en-US" altLang="ko-KR" sz="1600" spc="-50" dirty="0"/>
                  <a:t> (Q</a:t>
                </a:r>
                <a:r>
                  <a:rPr lang="en-US" altLang="ko-KR" sz="1600" spc="-50" baseline="30000" dirty="0"/>
                  <a:t>*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과는 괴리가 더 커짐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이때 동시에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de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에 해당하는 보조금을 지급하면</a:t>
                </a:r>
                <a:r>
                  <a:rPr lang="en-US" altLang="ko-KR" sz="1600" spc="-50" dirty="0"/>
                  <a:t>, MR</a:t>
                </a:r>
                <a:r>
                  <a:rPr lang="ko-KR" altLang="en-US" sz="1600" spc="-50" dirty="0"/>
                  <a:t>이 </a:t>
                </a:r>
                <a:r>
                  <a:rPr lang="en-US" altLang="ko-KR" sz="1600" spc="-50" dirty="0"/>
                  <a:t>MR</a:t>
                </a:r>
                <a:r>
                  <a:rPr lang="en-US" altLang="ko-KR" sz="1600" spc="-50" baseline="30000" dirty="0"/>
                  <a:t>1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으로 이동하여 </a:t>
                </a:r>
                <a:r>
                  <a:rPr lang="en-US" altLang="ko-KR" sz="1600" spc="-50" dirty="0"/>
                  <a:t>MC</a:t>
                </a:r>
                <a:r>
                  <a:rPr lang="en-US" altLang="ko-KR" sz="1600" spc="-50" baseline="-25000" dirty="0"/>
                  <a:t>s</a:t>
                </a:r>
                <a:r>
                  <a:rPr lang="ko-KR" altLang="en-US" sz="1600" spc="-50" dirty="0"/>
                  <a:t>와 </a:t>
                </a:r>
                <a:r>
                  <a:rPr lang="en-US" altLang="ko-KR" sz="1600" spc="-50" dirty="0"/>
                  <a:t>MR</a:t>
                </a:r>
                <a:r>
                  <a:rPr lang="en-US" altLang="ko-KR" sz="1600" spc="-50" baseline="30000" dirty="0"/>
                  <a:t>1</a:t>
                </a:r>
                <a:r>
                  <a:rPr lang="ko-KR" altLang="en-US" sz="1600" spc="-50" dirty="0"/>
                  <a:t>을 충족하는 사회적 최적 </a:t>
                </a:r>
                <a:r>
                  <a:rPr lang="en-US" altLang="ko-KR" sz="1600" spc="-50" dirty="0"/>
                  <a:t>Q</a:t>
                </a:r>
                <a:r>
                  <a:rPr lang="en-US" altLang="ko-KR" sz="1600" spc="-50" baseline="30000" dirty="0"/>
                  <a:t>*</a:t>
                </a:r>
                <a:r>
                  <a:rPr lang="ko-KR" altLang="en-US" sz="1600" spc="-50" dirty="0"/>
                  <a:t>가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생산 됨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이 때 소비자 가격은 </a:t>
                </a:r>
                <a:r>
                  <a:rPr lang="en-US" altLang="ko-KR" sz="1600" spc="-50" dirty="0"/>
                  <a:t>P</a:t>
                </a:r>
                <a:r>
                  <a:rPr lang="en-US" altLang="ko-KR" sz="1600" spc="-50" baseline="30000" dirty="0"/>
                  <a:t>*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제품 부과금과 보조금 각각을 실행하지 않고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결국 순 효과인 </a:t>
                </a:r>
                <a:r>
                  <a:rPr lang="en-US" altLang="ko-KR" sz="1600" spc="-50" dirty="0"/>
                  <a:t>(P</a:t>
                </a:r>
                <a:r>
                  <a:rPr lang="en-US" altLang="ko-KR" sz="1600" spc="-50" baseline="30000" dirty="0"/>
                  <a:t>*</a:t>
                </a:r>
                <a:r>
                  <a:rPr lang="en-US" altLang="ko-KR" sz="1600" spc="-50" dirty="0"/>
                  <a:t> - P</a:t>
                </a:r>
                <a:r>
                  <a:rPr lang="en-US" altLang="ko-KR" sz="1600" spc="-50" baseline="-25000" dirty="0"/>
                  <a:t>C</a:t>
                </a:r>
                <a:r>
                  <a:rPr lang="en-US" altLang="ko-KR" sz="1600" spc="-50" dirty="0"/>
                  <a:t> )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-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de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만큼의 제품 부과금만 적용해도 사회적 최적은 달성 가능</a:t>
                </a:r>
                <a:endParaRPr lang="en-US" altLang="ko-KR" sz="1600" spc="-5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49DC4A8-6A3C-19A2-087B-9B3A6027AC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193" y="958844"/>
                <a:ext cx="4818677" cy="5317546"/>
              </a:xfrm>
              <a:prstGeom prst="rect">
                <a:avLst/>
              </a:prstGeom>
              <a:blipFill>
                <a:blip r:embed="rId3"/>
                <a:stretch>
                  <a:fillRect r="-253" b="-4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" name="그림 20">
            <a:extLst>
              <a:ext uri="{FF2B5EF4-FFF2-40B4-BE49-F238E27FC236}">
                <a16:creationId xmlns:a16="http://schemas.microsoft.com/office/drawing/2014/main" id="{F464BC1D-A54E-1F53-2454-748E0E86FF1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756" t="12652" r="3511" b="1603"/>
          <a:stretch>
            <a:fillRect/>
          </a:stretch>
        </p:blipFill>
        <p:spPr>
          <a:xfrm>
            <a:off x="5144782" y="1765417"/>
            <a:ext cx="6465974" cy="4484382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AB4DE5B4-84B3-80A4-C598-EE05A731F52B}"/>
              </a:ext>
            </a:extLst>
          </p:cNvPr>
          <p:cNvSpPr txBox="1"/>
          <p:nvPr/>
        </p:nvSpPr>
        <p:spPr>
          <a:xfrm>
            <a:off x="7880758" y="1488418"/>
            <a:ext cx="221119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독점기업의 오염규제</a:t>
            </a:r>
            <a:r>
              <a:rPr lang="en-US" altLang="ko-KR" sz="12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88220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D5FA2-8AEB-CEC1-8E77-F6936B2D4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4C64CE-5A13-6C0C-7C0E-15358554E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독점기업에 대한 최적 </a:t>
            </a:r>
            <a:r>
              <a:rPr lang="ko-KR" altLang="en-US" dirty="0" err="1"/>
              <a:t>환경세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3EC386-6993-44A4-A1C4-A85BD2177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9733FB-6C42-57E1-C5B0-0826534ABE02}"/>
                  </a:ext>
                </a:extLst>
              </p:cNvPr>
              <p:cNvSpPr txBox="1"/>
              <p:nvPr/>
            </p:nvSpPr>
            <p:spPr>
              <a:xfrm>
                <a:off x="191193" y="958844"/>
                <a:ext cx="4818677" cy="536864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de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의 보조금을 한계수입을 </a:t>
                </a:r>
                <a:r>
                  <a:rPr lang="en-US" altLang="ko-KR" sz="1600" spc="-50" dirty="0"/>
                  <a:t>MR</a:t>
                </a:r>
                <a:r>
                  <a:rPr lang="en-US" altLang="ko-KR" sz="1600" spc="-50" baseline="30000" dirty="0"/>
                  <a:t>1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로 높인다고 해석할 수도 있지만 생산비를 그만큼 낮춘다고도 해석 가능함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위 해석에 따르면 </a:t>
                </a:r>
                <a:r>
                  <a:rPr lang="en-US" altLang="ko-KR" sz="1600" spc="-50" dirty="0"/>
                  <a:t>(P</a:t>
                </a:r>
                <a:r>
                  <a:rPr lang="en-US" altLang="ko-KR" sz="1600" spc="-50" baseline="30000" dirty="0"/>
                  <a:t>*</a:t>
                </a:r>
                <a:r>
                  <a:rPr lang="en-US" altLang="ko-KR" sz="1600" spc="-50" dirty="0"/>
                  <a:t> - P</a:t>
                </a:r>
                <a:r>
                  <a:rPr lang="en-US" altLang="ko-KR" sz="1600" spc="-50" baseline="-25000" dirty="0"/>
                  <a:t>C</a:t>
                </a:r>
                <a:r>
                  <a:rPr lang="en-US" altLang="ko-KR" sz="1600" spc="-50" dirty="0"/>
                  <a:t> )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-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de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만큼의 제품 부과금은 </a:t>
                </a:r>
                <a:r>
                  <a:rPr lang="en-US" altLang="ko-KR" sz="1600" spc="-50" dirty="0"/>
                  <a:t>MR</a:t>
                </a:r>
                <a:r>
                  <a:rPr lang="ko-KR" altLang="en-US" sz="1600" spc="-50" dirty="0"/>
                  <a:t>은 불변인 채 한계생산비를 </a:t>
                </a:r>
                <a:r>
                  <a:rPr lang="en-US" altLang="ko-KR" sz="1600" spc="-50" dirty="0"/>
                  <a:t>MC</a:t>
                </a:r>
                <a:r>
                  <a:rPr lang="en-US" altLang="ko-KR" sz="1600" spc="-50" baseline="30000" dirty="0"/>
                  <a:t>*</a:t>
                </a:r>
                <a:r>
                  <a:rPr lang="ko-KR" altLang="en-US" sz="1600" spc="-50" dirty="0"/>
                  <a:t>로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이동시키고</a:t>
                </a:r>
                <a:r>
                  <a:rPr lang="en-US" altLang="ko-KR" sz="1600" spc="-50" dirty="0"/>
                  <a:t>, MR = MC</a:t>
                </a:r>
                <a:r>
                  <a:rPr lang="en-US" altLang="ko-KR" sz="1600" spc="-50" baseline="30000" dirty="0"/>
                  <a:t>* </a:t>
                </a:r>
                <a:r>
                  <a:rPr lang="ko-KR" altLang="en-US" sz="1600" spc="-50" dirty="0"/>
                  <a:t>인 </a:t>
                </a:r>
                <a:r>
                  <a:rPr lang="en-US" altLang="ko-KR" sz="1600" spc="-50" dirty="0"/>
                  <a:t>Q</a:t>
                </a:r>
                <a:r>
                  <a:rPr lang="en-US" altLang="ko-KR" sz="1600" spc="-50" baseline="30000" dirty="0"/>
                  <a:t>*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선택되게 함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이때 사회적 최적 배출량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은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𝜃</m:t>
                    </m:r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가 됨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그리고 </a:t>
                </a:r>
                <a:r>
                  <a:rPr lang="en-US" altLang="ko-KR" sz="1600" spc="-50" dirty="0"/>
                  <a:t>P</a:t>
                </a:r>
                <a:r>
                  <a:rPr lang="en-US" altLang="ko-KR" sz="1600" spc="-50" baseline="30000" dirty="0"/>
                  <a:t>*</a:t>
                </a:r>
                <a:r>
                  <a:rPr lang="en-US" altLang="ko-KR" sz="1600" spc="-50" dirty="0"/>
                  <a:t> - P</a:t>
                </a:r>
                <a:r>
                  <a:rPr lang="en-US" altLang="ko-KR" sz="1600" spc="-50" baseline="-25000" dirty="0"/>
                  <a:t>C</a:t>
                </a:r>
                <a:r>
                  <a:rPr lang="ko-KR" altLang="en-US" sz="1600" spc="-50" dirty="0"/>
                  <a:t>는 사회적 최적생산량 </a:t>
                </a:r>
                <a:r>
                  <a:rPr lang="en-US" altLang="ko-KR" sz="1600" spc="-50" dirty="0"/>
                  <a:t>Q</a:t>
                </a:r>
                <a:r>
                  <a:rPr lang="en-US" altLang="ko-KR" sz="1600" spc="-50" baseline="30000" dirty="0"/>
                  <a:t>*</a:t>
                </a:r>
                <a:r>
                  <a:rPr lang="ko-KR" altLang="en-US" sz="1600" spc="-50" dirty="0"/>
                  <a:t>에서의 오염 한계피해액과 같고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de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는 사회적 최적 생산량 </a:t>
                </a:r>
                <a:r>
                  <a:rPr lang="en-US" altLang="ko-KR" sz="1600" spc="-50" dirty="0"/>
                  <a:t>Q</a:t>
                </a:r>
                <a:r>
                  <a:rPr lang="en-US" altLang="ko-KR" sz="1600" spc="-50" baseline="30000" dirty="0"/>
                  <a:t>*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에서 평균수입과 한계수입의 격차이기도 하므로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최적 제품부과금은 아래와 같이 나타낼 수 있다</a:t>
                </a:r>
                <a:r>
                  <a:rPr lang="en-US" altLang="ko-KR" sz="1600" spc="-50" dirty="0"/>
                  <a:t>.</a:t>
                </a:r>
              </a:p>
              <a:p>
                <a:pPr marL="92075" algn="ctr">
                  <a:lnSpc>
                    <a:spcPct val="150000"/>
                  </a:lnSpc>
                </a:pP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altLang="ko-KR" sz="1600" i="1" spc="-50"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−[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𝐴𝑅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altLang="ko-KR" sz="1600" i="1" spc="-50">
                        <a:latin typeface="Cambria Math" panose="02040503050406030204" pitchFamily="18" charset="0"/>
                      </a:rPr>
                      <m:t>MR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altLang="ko-KR" sz="1600" i="1" spc="-50" dirty="0">
                  <a:latin typeface="Cambria Math" panose="02040503050406030204" pitchFamily="18" charset="0"/>
                </a:endParaRPr>
              </a:p>
              <a:p>
                <a:pPr marL="377825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9733FB-6C42-57E1-C5B0-0826534ABE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193" y="958844"/>
                <a:ext cx="4818677" cy="5368649"/>
              </a:xfrm>
              <a:prstGeom prst="rect">
                <a:avLst/>
              </a:prstGeom>
              <a:blipFill>
                <a:blip r:embed="rId3"/>
                <a:stretch>
                  <a:fillRect r="-2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" name="그림 20">
            <a:extLst>
              <a:ext uri="{FF2B5EF4-FFF2-40B4-BE49-F238E27FC236}">
                <a16:creationId xmlns:a16="http://schemas.microsoft.com/office/drawing/2014/main" id="{4AB3CBB2-78AF-C221-C50E-76BFDEE484C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756" t="12652" r="3511" b="1603"/>
          <a:stretch>
            <a:fillRect/>
          </a:stretch>
        </p:blipFill>
        <p:spPr>
          <a:xfrm>
            <a:off x="5144782" y="1765417"/>
            <a:ext cx="6465974" cy="4484382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9C89AA9-A11D-7CBB-3401-2E0F47F4341B}"/>
              </a:ext>
            </a:extLst>
          </p:cNvPr>
          <p:cNvSpPr txBox="1"/>
          <p:nvPr/>
        </p:nvSpPr>
        <p:spPr>
          <a:xfrm>
            <a:off x="7880758" y="1488418"/>
            <a:ext cx="221119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독점기업의 오염규제</a:t>
            </a:r>
            <a:r>
              <a:rPr lang="en-US" altLang="ko-KR" sz="12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9054300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0D4106-F315-E1F3-E700-2C5802F80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독점기업에 대한 최적 </a:t>
            </a:r>
            <a:r>
              <a:rPr lang="ko-KR" altLang="en-US" dirty="0" err="1"/>
              <a:t>환경세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D2160B-9794-7FD8-643D-9C5BF0701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C637808-EB7C-997F-B915-1088CFBF966A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11303577" cy="410734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독점기업에 대한 최적 </a:t>
                </a:r>
                <a:r>
                  <a:rPr lang="ko-KR" altLang="en-US" sz="1600" u="sng" dirty="0" err="1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환경세</a:t>
                </a:r>
                <a:endParaRPr lang="en-US" altLang="ko-KR" sz="16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보았듯이 오염물질 배출량이 생산량에 비례하는 경우에는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보다 크거나 작을 수도 있는 제품부과금 한 가지만으로 독점과 오염문제를 모두 해결할 수 있었음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이는 산출량과 배출량이 비례하므로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오염문제도 결국 산출량 조절을 통해 해결할 수 있기 때문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하지만 같은 양을 생산하더라도 저감행위를 할 수 있다면</a:t>
                </a:r>
                <a:r>
                  <a:rPr lang="en-US" altLang="ko-KR" sz="1600" spc="-50" dirty="0"/>
                  <a:t>,</a:t>
                </a:r>
                <a:r>
                  <a:rPr lang="ko-KR" altLang="en-US" sz="1600" spc="-50" dirty="0"/>
                  <a:t> 배출저감은 반드시 산출량감소를 통해 이루어지지 않음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 경우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생산자는 산출량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Q</m:t>
                    </m:r>
                  </m:oMath>
                </a14:m>
                <a:r>
                  <a:rPr lang="ko-KR" altLang="en-US" sz="1600" spc="-50" dirty="0"/>
                  <a:t>와 배출량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를 각각 선택하는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차원의 선택문제임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생산자가 사회적 최적 생산량과 최적 배출량을 모두 선택하도록 유도하기 위해서는 정책도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차원이 되어야 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정책변수도 두 개가 되어야 함을 의미함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즉 제품부과금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혹은 보조금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은 독점문제를 제거하는 생산량을 선택하도록 제시되어야 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배출부과금은 오염의 외부효과를 제거하도록 제시되어야 함</a:t>
                </a:r>
                <a:endParaRPr lang="en-US" altLang="ko-KR" sz="1600" spc="-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C637808-EB7C-997F-B915-1088CFBF96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11303577" cy="4107343"/>
              </a:xfrm>
              <a:prstGeom prst="rect">
                <a:avLst/>
              </a:prstGeom>
              <a:blipFill>
                <a:blip r:embed="rId2"/>
                <a:stretch>
                  <a:fillRect l="-270" r="-162" b="-8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31889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 dirty="0">
                <a:solidFill>
                  <a:schemeClr val="accent2"/>
                </a:solidFill>
              </a:rPr>
              <a:t>T</a:t>
            </a:r>
            <a:r>
              <a:rPr lang="en-US" altLang="ko-KR" sz="5400" i="0" spc="100" dirty="0"/>
              <a:t>hank you</a:t>
            </a:r>
            <a:endParaRPr lang="ko-KR" altLang="en-US" sz="5400" i="0" spc="1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16013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6371</TotalTime>
  <Words>2959</Words>
  <Application>Microsoft Office PowerPoint</Application>
  <PresentationFormat>와이드스크린</PresentationFormat>
  <Paragraphs>281</Paragraphs>
  <Slides>28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5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환경 경제학</vt:lpstr>
      <vt:lpstr>Chapter 7  배출부과금과 보조금</vt:lpstr>
      <vt:lpstr>Section 1. 배출부과금제도</vt:lpstr>
      <vt:lpstr>배출부과금의 기본 원리</vt:lpstr>
      <vt:lpstr>배출부과금의 수준</vt:lpstr>
      <vt:lpstr>배출부과금의 비용효과성</vt:lpstr>
      <vt:lpstr>배출부과금의 비용효과성</vt:lpstr>
      <vt:lpstr>배출부과금의 비용효과성</vt:lpstr>
      <vt:lpstr>배출부과금의 비용효과성</vt:lpstr>
      <vt:lpstr>배출부과금제의 기술혁신 유인 (vs. 직접규제)</vt:lpstr>
      <vt:lpstr>높은 정책 집행비용과 대안</vt:lpstr>
      <vt:lpstr>제품부과금 (혹은 상품세)</vt:lpstr>
      <vt:lpstr>쌀 vs. 논 어디에 보조를 해야 하나?</vt:lpstr>
      <vt:lpstr>폐기물예치금제도</vt:lpstr>
      <vt:lpstr>Section 2. 보조금제도</vt:lpstr>
      <vt:lpstr>보조금 제도 </vt:lpstr>
      <vt:lpstr>보조금 제도</vt:lpstr>
      <vt:lpstr>배출부과금과 저감보조금의 대칭성과 비대칭성</vt:lpstr>
      <vt:lpstr>배출부과금과 저감보조금의 대칭성과 비대칭성</vt:lpstr>
      <vt:lpstr>배출부과금과 저감보조금의 대칭성과 비대칭성</vt:lpstr>
      <vt:lpstr>조세의 초과부담</vt:lpstr>
      <vt:lpstr>조세의 초과부담</vt:lpstr>
      <vt:lpstr>환경세의 이중편익가설</vt:lpstr>
      <vt:lpstr>독점의 사회적 비용</vt:lpstr>
      <vt:lpstr>독점기업에 대한 최적 환경세</vt:lpstr>
      <vt:lpstr>독점기업에 대한 최적 환경세</vt:lpstr>
      <vt:lpstr>독점기업에 대한 최적 환경세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217</cp:revision>
  <dcterms:created xsi:type="dcterms:W3CDTF">2025-07-05T05:15:23Z</dcterms:created>
  <dcterms:modified xsi:type="dcterms:W3CDTF">2026-10-07T12:13:24Z</dcterms:modified>
</cp:coreProperties>
</file>