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375" r:id="rId2"/>
    <p:sldId id="405" r:id="rId3"/>
    <p:sldId id="550" r:id="rId4"/>
    <p:sldId id="416" r:id="rId5"/>
    <p:sldId id="600" r:id="rId6"/>
    <p:sldId id="557" r:id="rId7"/>
    <p:sldId id="602" r:id="rId8"/>
    <p:sldId id="601" r:id="rId9"/>
    <p:sldId id="579" r:id="rId10"/>
    <p:sldId id="581" r:id="rId11"/>
    <p:sldId id="582" r:id="rId12"/>
    <p:sldId id="583" r:id="rId13"/>
    <p:sldId id="584" r:id="rId14"/>
    <p:sldId id="580" r:id="rId15"/>
    <p:sldId id="586" r:id="rId16"/>
    <p:sldId id="587" r:id="rId17"/>
    <p:sldId id="588" r:id="rId18"/>
    <p:sldId id="589" r:id="rId19"/>
    <p:sldId id="590" r:id="rId20"/>
    <p:sldId id="596" r:id="rId21"/>
    <p:sldId id="592" r:id="rId22"/>
    <p:sldId id="593" r:id="rId23"/>
    <p:sldId id="594" r:id="rId24"/>
    <p:sldId id="595" r:id="rId25"/>
    <p:sldId id="597" r:id="rId26"/>
    <p:sldId id="598" r:id="rId27"/>
    <p:sldId id="599" r:id="rId28"/>
    <p:sldId id="364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자원환경 이용에 있어 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소유권과 </a:t>
            </a:r>
            <a:r>
              <a:rPr lang="ko-KR" altLang="en-US" sz="4000" b="1" i="0" spc="150" dirty="0" err="1"/>
              <a:t>시장메커니즘의</a:t>
            </a:r>
            <a:r>
              <a:rPr lang="ko-KR" altLang="en-US" sz="4000" b="1" i="0" spc="150" dirty="0"/>
              <a:t>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2399-5788-E74B-5361-EE2B3FD6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01FE-46B7-EA74-DC09-87F917E0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03EA2D-F4A0-4D5F-3A9A-6FA2AC81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F2426D-C31F-AFC8-B56C-C1FC23808E47}"/>
              </a:ext>
            </a:extLst>
          </p:cNvPr>
          <p:cNvSpPr txBox="1"/>
          <p:nvPr/>
        </p:nvSpPr>
        <p:spPr>
          <a:xfrm>
            <a:off x="678872" y="1038536"/>
            <a:ext cx="112591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완전경쟁시장 메커니즘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서비스의 자유로운 거래가 가능한 완전경쟁시장에서는 </a:t>
            </a:r>
            <a:r>
              <a:rPr lang="ko-KR" altLang="en-US" sz="1600" spc="-50" dirty="0" err="1"/>
              <a:t>시장메커니즘에</a:t>
            </a:r>
            <a:r>
              <a:rPr lang="ko-KR" altLang="en-US" sz="1600" spc="-50" dirty="0"/>
              <a:t> 의해 자원의 가장 효율적인 배분이 가능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개인들이 자신만의 목적을 달성하기 위해 행동할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순편익이 최대가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사적 편익이 사회적 편익과 일치하고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사적 비용도 사회적 비용과 일치함</a:t>
            </a: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효율적인 자원배분을 위한 조건들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</a:t>
            </a:r>
            <a:r>
              <a:rPr lang="ko-KR" altLang="en-US" sz="1600" spc="-50" dirty="0" err="1"/>
              <a:t>완전경쟁적이어야</a:t>
            </a:r>
            <a:r>
              <a:rPr lang="ko-KR" altLang="en-US" sz="1600" spc="-50" dirty="0"/>
              <a:t>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 대한 완전한 정보가 개인에게 알려져 있어야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u="sng" spc="-50" dirty="0"/>
              <a:t>시장에서 거래되는 재화나 서비스의 소유권이 완전하게 설정되어 있어야 함</a:t>
            </a:r>
            <a:r>
              <a:rPr lang="en-US" altLang="ko-KR" sz="1600" b="1" u="sng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C102ED2-1F04-07B7-F755-4FE46A784312}"/>
              </a:ext>
            </a:extLst>
          </p:cNvPr>
          <p:cNvGraphicFramePr>
            <a:graphicFrameLocks noGrp="1"/>
          </p:cNvGraphicFramePr>
          <p:nvPr/>
        </p:nvGraphicFramePr>
        <p:xfrm>
          <a:off x="767772" y="5048467"/>
          <a:ext cx="10394950" cy="120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685">
                  <a:extLst>
                    <a:ext uri="{9D8B030D-6E8A-4147-A177-3AD203B41FA5}">
                      <a16:colId xmlns:a16="http://schemas.microsoft.com/office/drawing/2014/main" val="4111635576"/>
                    </a:ext>
                  </a:extLst>
                </a:gridCol>
                <a:gridCol w="6996265">
                  <a:extLst>
                    <a:ext uri="{9D8B030D-6E8A-4147-A177-3AD203B41FA5}">
                      <a16:colId xmlns:a16="http://schemas.microsoft.com/office/drawing/2014/main" val="2160743333"/>
                    </a:ext>
                  </a:extLst>
                </a:gridCol>
              </a:tblGrid>
              <a:tr h="24743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소유권의 성질</a:t>
                      </a:r>
                      <a:endParaRPr lang="ko-KR" altLang="en-US" sz="1100" b="1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Aft>
                          <a:spcPts val="500"/>
                        </a:spcAft>
                        <a:buFontTx/>
                        <a:buNone/>
                      </a:pPr>
                      <a:r>
                        <a:rPr lang="ko-KR" altLang="en-US" sz="1100" b="1" kern="1200" spc="0" baseline="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의 미</a:t>
                      </a:r>
                      <a:endParaRPr lang="ko-KR" altLang="en-US" sz="1100" b="1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749017"/>
                  </a:ext>
                </a:extLst>
              </a:tr>
              <a:tr h="3185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배타성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(Exclusivity)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자원을 소유하고 이용함에 따라 발생하는 모든 편익과 비용은 그 자원의 소유주에게 귀속되고</a:t>
                      </a:r>
                      <a:r>
                        <a:rPr lang="en-US" altLang="ko-KR" sz="1100" b="0" spc="0" baseline="0" dirty="0"/>
                        <a:t>, </a:t>
                      </a:r>
                      <a:r>
                        <a:rPr lang="ko-KR" altLang="en-US" sz="1100" b="0" spc="0" baseline="0" dirty="0"/>
                        <a:t>또한 자원의 소유주만이 그러한 편익을 누리거나 비용을 부담함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50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 err="1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이전성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(Transferability)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모든 소유권은 자발전인 거래를 통해 다른 사람에게 이전될 수 있어야 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5171"/>
                  </a:ext>
                </a:extLst>
              </a:tr>
              <a:tr h="1955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실행가능성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(Enforceability)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자신이 보유한 소유권은 자신이 원하지 않을 경우 다른 사람에 의해 침해되지 않음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19608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E41EDC-24EB-75AC-5A5D-BA830CA49812}"/>
              </a:ext>
            </a:extLst>
          </p:cNvPr>
          <p:cNvSpPr txBox="1"/>
          <p:nvPr/>
        </p:nvSpPr>
        <p:spPr>
          <a:xfrm>
            <a:off x="6509442" y="6276330"/>
            <a:ext cx="465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600" dirty="0"/>
              <a:t>Source:</a:t>
            </a:r>
            <a:r>
              <a:rPr lang="ko-KR" altLang="en-US" sz="600" dirty="0"/>
              <a:t> </a:t>
            </a:r>
            <a:r>
              <a:rPr lang="en-US" altLang="ko-KR" sz="600" dirty="0" err="1"/>
              <a:t>Tietenberg</a:t>
            </a:r>
            <a:r>
              <a:rPr lang="en-US" altLang="ko-KR" sz="600" dirty="0"/>
              <a:t>, T. (2005) Environmental and Natural Resource Economics, 7th ed., Harper and Collins</a:t>
            </a:r>
            <a:endParaRPr lang="ko-KR" altLang="en-US" sz="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91FF8F-F3BE-FFDC-4033-99191A3E74E4}"/>
              </a:ext>
            </a:extLst>
          </p:cNvPr>
          <p:cNvSpPr txBox="1"/>
          <p:nvPr/>
        </p:nvSpPr>
        <p:spPr>
          <a:xfrm>
            <a:off x="2425700" y="4621846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spc="-50" dirty="0"/>
              <a:t>&lt; </a:t>
            </a:r>
            <a:r>
              <a:rPr lang="ko-KR" altLang="en-US" sz="1800" b="1" spc="-50" dirty="0"/>
              <a:t>효율적인 소유권 </a:t>
            </a:r>
            <a:r>
              <a:rPr lang="en-US" altLang="ko-KR" sz="1800" b="1" spc="-5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5656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2FE7-4FEE-5BC5-8CBC-6FB686E1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8E4A78-6EE9-92EC-2582-1B400E9F3D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1D16B7-83FD-C3C4-3B91-378CF7DF7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7572B8B-D6FA-DC8E-2AA7-74AF1B6D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개방자원시장과 공유자원시장의 비효율성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83722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78739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언급한대로 대부분의 환경재는 그 소유권이 시장의 효율성을 보장할 정도로 완전하게 설정되어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각국의 영해나 경제수역을 제외한 공해에서의 수산자원처럼 소유권 자체가 아예 설정되지 않는 개방자원을 들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대기권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국가에 속하지 않는 극지방지역의 자원 등등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자원은 지구상 누구에게나 개방되어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우리나라의 연근해라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내국인에 한해서 개방자원이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23F489-5440-462F-1F3F-2C23665FF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A5EF48-5518-80B6-876A-870BFA5D7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339BCA-F5CF-1E34-99E5-4D4B5B9F5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699" y="1203227"/>
            <a:ext cx="4324105" cy="209877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FC4FAA0-783F-5FA3-17EB-652BCAB7D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84" y="1203227"/>
            <a:ext cx="4252766" cy="436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101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E0B7A-6D19-CA45-9046-87475153B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87B712-AA74-B1D6-9847-9BDBA1710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공해 참치잡이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0E0EF4-FBD0-6674-C00A-3FB72E6C1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표 7">
                <a:extLst>
                  <a:ext uri="{FF2B5EF4-FFF2-40B4-BE49-F238E27FC236}">
                    <a16:creationId xmlns:a16="http://schemas.microsoft.com/office/drawing/2014/main" id="{A41ACEE1-547F-8E57-3396-1DC6A3AC8E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654072"/>
                  </p:ext>
                </p:extLst>
              </p:nvPr>
            </p:nvGraphicFramePr>
            <p:xfrm>
              <a:off x="419000" y="978736"/>
              <a:ext cx="5499198" cy="221535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91653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배의 수 </a:t>
                          </a:r>
                          <a:r>
                            <a:rPr lang="en-US" altLang="ko-KR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300" b="1" i="1" kern="0" spc="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𝑸</m:t>
                              </m:r>
                            </m:oMath>
                          </a14:m>
                          <a:r>
                            <a:rPr lang="en-US" altLang="ko-KR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)</a:t>
                          </a: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</a:t>
                          </a:r>
                          <a:endParaRPr lang="en-US" altLang="ko-KR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2745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표 7">
                <a:extLst>
                  <a:ext uri="{FF2B5EF4-FFF2-40B4-BE49-F238E27FC236}">
                    <a16:creationId xmlns:a16="http://schemas.microsoft.com/office/drawing/2014/main" id="{A41ACEE1-547F-8E57-3396-1DC6A3AC8E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654072"/>
                  </p:ext>
                </p:extLst>
              </p:nvPr>
            </p:nvGraphicFramePr>
            <p:xfrm>
              <a:off x="419000" y="978736"/>
              <a:ext cx="5499198" cy="221535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91653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03695020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669470522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2539177328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1044744277"/>
                        </a:ext>
                      </a:extLst>
                    </a:gridCol>
                    <a:gridCol w="916533">
                      <a:extLst>
                        <a:ext uri="{9D8B030D-6E8A-4147-A177-3AD203B41FA5}">
                          <a16:colId xmlns:a16="http://schemas.microsoft.com/office/drawing/2014/main" val="3365092879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311" t="-6494" r="-507947" b="-392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잡은 총 </a:t>
                          </a:r>
                          <a:endParaRPr lang="en-US" altLang="ko-KR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수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참치 가격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총 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평균수입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한계수입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0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en-US" altLang="ko-KR" sz="1300" b="0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7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274593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2044393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6400141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16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4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0014796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5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15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5"/>
                      </a:ext>
                    </a:extLst>
                  </a:tr>
                  <a:tr h="249200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6</a:t>
                          </a: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12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2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300" b="0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-3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40723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43DA105B-4646-5769-10F5-D9391548C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1098550"/>
            <a:ext cx="5033865" cy="515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853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D807F-F036-DAF7-D094-784554ED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51B2-5E05-83F9-7CC6-407C3561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4A8B3-8A17-1C54-038F-353A438C4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47C13-86BD-4066-A722-E014950F0206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관계를 그래프로 나타내면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소비자에게 아이스크림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 모두 소비하기 위해 얼마를 지불할 것인지 물으면 </a:t>
            </a:r>
            <a:r>
              <a:rPr lang="en-US" altLang="ko-KR" sz="1600" spc="-50" dirty="0"/>
              <a:t>1,750</a:t>
            </a:r>
            <a:r>
              <a:rPr lang="ko-KR" altLang="en-US" sz="1600" spc="-50" dirty="0"/>
              <a:t>원이라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특정 수량의 재화를 소비하기 위해 소비자가 지불하는 전체 금액을 총지불의사라고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현재 소비하고 있는 양에서 추가로 한 단위를 소비하기 위해 지불하려는 금액을 </a:t>
            </a:r>
            <a:r>
              <a:rPr lang="ko-KR" altLang="en-US" sz="1600" b="1" spc="-50" dirty="0"/>
              <a:t>한계지불의사 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</a:t>
            </a:r>
            <a:r>
              <a:rPr lang="ko-KR" altLang="en-US" sz="1600" spc="-50" dirty="0"/>
              <a:t>우리의 예에서는 첫번째 아이스크림은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두번째는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세번째는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 번째는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9F9240-2FF7-C394-76CA-558AE3BF4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345" y="3201387"/>
            <a:ext cx="3014505" cy="34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4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0451-950B-12CC-11AE-43ABCD5E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EDE81A-ABAC-2B16-4D8A-3D4545157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484228-0291-12E0-D19D-85FD4774A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1500B-116B-1DDB-21F5-62C9207A19BE}"/>
              </a:ext>
            </a:extLst>
          </p:cNvPr>
          <p:cNvSpPr txBox="1"/>
          <p:nvPr/>
        </p:nvSpPr>
        <p:spPr>
          <a:xfrm>
            <a:off x="288790" y="78739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소비 상품이 정수 단위</a:t>
            </a:r>
            <a:r>
              <a:rPr lang="en-US" altLang="ko-KR" sz="1600" spc="-50" dirty="0"/>
              <a:t>(1,2,3…)</a:t>
            </a:r>
            <a:r>
              <a:rPr lang="ko-KR" altLang="en-US" sz="1600" spc="-50" dirty="0"/>
              <a:t>로 분리되는 것이 아니라 매우 작은 단위로 분리될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한계지불의사는 아래의 그림처럼 연속적인 부드러운 곡선으로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곡선 위의 각 값은 주어진 소비량에서의 한계지불의사를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서비스에 대한 지불의사는 개인의 선호에 따라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소득에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지역에 따라 서로 다를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소비자의 </a:t>
            </a:r>
            <a:r>
              <a:rPr lang="ko-KR" altLang="en-US" sz="1600" spc="-50" dirty="0" err="1"/>
              <a:t>한계지불의곡선을</a:t>
            </a:r>
            <a:r>
              <a:rPr lang="ko-KR" altLang="en-US" sz="1600" spc="-50" dirty="0"/>
              <a:t> 알면 주어진 시장가격이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소비자가 몇 개의 상품을 구매할지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한계지불의사곡선은 결국 수요곡선이다</a:t>
            </a:r>
            <a:r>
              <a:rPr lang="en-US" altLang="ko-KR" sz="1600" b="1" spc="-50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08DDE74-399C-9A8D-DADA-792375B345F9}"/>
              </a:ext>
            </a:extLst>
          </p:cNvPr>
          <p:cNvGrpSpPr/>
          <p:nvPr/>
        </p:nvGrpSpPr>
        <p:grpSpPr>
          <a:xfrm>
            <a:off x="4513654" y="2019301"/>
            <a:ext cx="2503859" cy="2832784"/>
            <a:chOff x="4513654" y="2019301"/>
            <a:chExt cx="2503859" cy="2832784"/>
          </a:xfrm>
        </p:grpSpPr>
        <p:pic>
          <p:nvPicPr>
            <p:cNvPr id="7" name="그림 6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D2464AA-B11F-D295-C887-6D05396D2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828"/>
            <a:stretch>
              <a:fillRect/>
            </a:stretch>
          </p:blipFill>
          <p:spPr>
            <a:xfrm>
              <a:off x="4513654" y="2184400"/>
              <a:ext cx="2503859" cy="2667685"/>
            </a:xfrm>
            <a:prstGeom prst="rect">
              <a:avLst/>
            </a:prstGeom>
          </p:spPr>
        </p:pic>
        <p:pic>
          <p:nvPicPr>
            <p:cNvPr id="8" name="그림 7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C42EFC7-4025-67D1-ACEC-09B5794433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6518" r="44158" b="92603"/>
            <a:stretch>
              <a:fillRect/>
            </a:stretch>
          </p:blipFill>
          <p:spPr>
            <a:xfrm>
              <a:off x="5183981" y="2019301"/>
              <a:ext cx="734220" cy="20955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8BE8C8C-6354-6CD8-9F06-BF0F4F9D3ADD}"/>
                </a:ext>
              </a:extLst>
            </p:cNvPr>
            <p:cNvSpPr/>
            <p:nvPr/>
          </p:nvSpPr>
          <p:spPr>
            <a:xfrm>
              <a:off x="5918201" y="2019301"/>
              <a:ext cx="914400" cy="209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82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5779-DC10-A02A-561D-CC87F0A2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CBEDA-DA93-2787-5E54-18AE85DF1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수요곡선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62F3-1DDB-7DAF-CB7F-AD36AC8D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62854-9575-2EC5-91BE-ECE6D0D1BCD3}"/>
              </a:ext>
            </a:extLst>
          </p:cNvPr>
          <p:cNvSpPr txBox="1"/>
          <p:nvPr/>
        </p:nvSpPr>
        <p:spPr>
          <a:xfrm>
            <a:off x="288790" y="787394"/>
            <a:ext cx="1070765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소비자의 수요보다는 소비자 집단이나 시장 전체의 수요를 </a:t>
            </a:r>
            <a:r>
              <a:rPr lang="ko-KR" altLang="en-US" sz="1600" spc="-50" dirty="0" err="1"/>
              <a:t>분석해야하는</a:t>
            </a:r>
            <a:r>
              <a:rPr lang="ko-KR" altLang="en-US" sz="1600" spc="-50" dirty="0"/>
              <a:t>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시장수요란 특정 가격수준에서 시장의 전체 소비자가 소비하고자 하는 상품의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시장수요는 통상적인 경우 수요곡선에서 개별 소비자의 수요량이 수평으로 합해져서 형성된다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시장이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명의 소비자로 구성되어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소비자의 수요곡선이 아래와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시장가격이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개의 아이스크림을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개의 아이스크림을 사먹고자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결국 </a:t>
            </a:r>
            <a:r>
              <a:rPr lang="ko-KR" altLang="en-US" sz="1600" spc="-50" dirty="0" err="1"/>
              <a:t>시장수요량은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시장 전체의 수요량은 그 가격에서의 개별 소비자 수요량의 수평 합이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이렇게 형성된 </a:t>
            </a:r>
            <a:r>
              <a:rPr lang="ko-KR" altLang="en-US" sz="1600" spc="-50" dirty="0" err="1"/>
              <a:t>시장수요량과</a:t>
            </a:r>
            <a:r>
              <a:rPr lang="ko-KR" altLang="en-US" sz="1600" spc="-50" dirty="0"/>
              <a:t> 시장가격과의 관계를 나타낸 것이 아래의 가장 우측에 있는 그림으로 표현된다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8C73A2-F1DD-EBD1-BAE5-287EE24B3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551" y="3744893"/>
            <a:ext cx="5862234" cy="24738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/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=1000−200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blipFill>
                <a:blip r:embed="rId3"/>
                <a:stretch>
                  <a:fillRect l="-1282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/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=1000−100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blipFill>
                <a:blip r:embed="rId4"/>
                <a:stretch>
                  <a:fillRect l="-844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/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</m:t>
                      </m:r>
                      <m:f>
                        <m:f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num>
                        <m:den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blipFill>
                <a:blip r:embed="rId5"/>
                <a:stretch>
                  <a:fillRect l="-787" t="-2083" b="-145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801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7CEA-5E43-A55C-CDD9-105FE02BA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35EF2-DBCB-B04F-594C-3A0FA046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6CB8CA-2CEE-C816-0845-4862904AA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87ACA-A056-DDF6-AF6C-1A15C46C7AF5}"/>
              </a:ext>
            </a:extLst>
          </p:cNvPr>
          <p:cNvSpPr txBox="1"/>
          <p:nvPr/>
        </p:nvSpPr>
        <p:spPr>
          <a:xfrm>
            <a:off x="288790" y="78739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편익은 경제상황의 변화로 인해 소비자의 만족도나 후생이 변하는 정도를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 대한 평가나 규범적 판단을 하는데 중요하게 사용되는 개념이다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7247C8-713B-AC4E-FF6E-F584CC9E0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466C48-3082-B4A7-2B8D-D2BE351B3E29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A4CB8-9A05-93BB-671B-6BEF41D24CD3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A5251A-BDA1-4E68-528C-DE18A52BEC8D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F97E2-4954-C385-6609-E17CF24A988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24281E-CD54-1C16-D672-7C9B72B5F1B3}"/>
              </a:ext>
            </a:extLst>
          </p:cNvPr>
          <p:cNvSpPr txBox="1"/>
          <p:nvPr/>
        </p:nvSpPr>
        <p:spPr>
          <a:xfrm>
            <a:off x="288790" y="1709543"/>
            <a:ext cx="79979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환경재에 대한 소비자의 수요가 아래 그래프와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소비자가 쓸 수 있는 깨끗한 물의 양은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단위로 정해져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소비자는 물을 쓰지 못할 경우와 달리</a:t>
            </a:r>
            <a:r>
              <a:rPr lang="en-US" altLang="ko-KR" sz="1600" spc="-50" dirty="0"/>
              <a:t>, 2</a:t>
            </a:r>
            <a:r>
              <a:rPr lang="ko-KR" altLang="en-US" sz="1600" spc="-50" dirty="0"/>
              <a:t>단위의 물을 사용함으로써 어느 정도의 후생이 증가한다고 느낄까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정부가 환경정책을 통해 쓸 수 있는 물을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편익을 얻을까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위의 물음에 쉽게 답할 수 있는 측정 단위는 화폐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물에 대해 갖는 총지불의사는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사이의 수요곡선 아래쪽 면적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a+b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물을 소비하고자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만큼을 지불할 의사가 있었지만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대가를 지불하지 않고 물을 소비함으로써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 편익을 얻을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8116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031D-7B75-6D24-0D39-F64E92F1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5CE661-4CA1-657D-F531-A1BFDBFE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CFF6E-B40F-8D6F-C57F-F2EABB57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A4434F-38FB-B92C-7DCC-E0D4BD156BB7}"/>
              </a:ext>
            </a:extLst>
          </p:cNvPr>
          <p:cNvSpPr txBox="1"/>
          <p:nvPr/>
        </p:nvSpPr>
        <p:spPr>
          <a:xfrm>
            <a:off x="288790" y="787394"/>
            <a:ext cx="78519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 이 소비자는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단위의 물을 소비하기 위해서는 </a:t>
            </a:r>
            <a:r>
              <a:rPr lang="en-US" altLang="ko-KR" sz="1600" spc="-50" dirty="0" err="1"/>
              <a:t>a+b+c+d</a:t>
            </a:r>
            <a:r>
              <a:rPr lang="ko-KR" altLang="en-US" sz="1600" spc="-50" dirty="0"/>
              <a:t>의 금액을 지불할 의사가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깨끗한 물이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증가하는 것에 대해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만큼의 금액을 추가로 지불할 의사를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실제로는 아무 대가를 지불하지 않았으므로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편익은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소비자가 물을 공짜로 쓰는 게 아니고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단위당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원을 지불해야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편익은 편익에서 비용을 뺀 순편익을 이용해서 후생변화를 측정해야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지불할 의사가 있는 총금액에서 소비자가 실제로 지불하는 금액을 빼 준 값을 소비자잉여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소비자가 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단위를 소비하여 얻는 소비자잉여는 편익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a+b+c+d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지불금액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</a:t>
            </a:r>
            <a:r>
              <a:rPr lang="en-US" altLang="ko-KR" sz="1600" spc="-50" dirty="0" err="1"/>
              <a:t>a+d</a:t>
            </a:r>
            <a:r>
              <a:rPr lang="ko-KR" altLang="en-US" sz="1600" spc="-50" dirty="0"/>
              <a:t>만큼이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 소비를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늘어나면서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얻는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순편익은 </a:t>
            </a:r>
            <a:r>
              <a:rPr lang="en-US" altLang="ko-KR" sz="1600" spc="-50" dirty="0"/>
              <a:t>d 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228B2D-55F6-E442-60E7-FFA13A9F3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01FC8B-A9F0-D075-D85A-C9F189938770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E46AF-5D50-A45C-189F-839D782DD3B7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C4C173-E711-5F2D-381E-932E2D9141EC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772EF5-F8DB-1B4A-610C-AD9BF4223F0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25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66EA8-6979-F713-A314-97C179EB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785402-2E25-7B47-CD10-47ABAA09C1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1251-89BC-D02E-5CED-021E8DA4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595B15D-1C38-9CFD-DBA4-75F0CFEA7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공급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49683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0A72-462C-9868-E335-388AC2E78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5CD025-50A1-E2CE-5EFE-E0BCFDA3F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82598A-BDD3-C634-040C-C74B5728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8C154-64D0-E562-F964-C19A6D640A5F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305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EE604-36A0-B714-5B51-3C24DCB52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B9DC1-7965-39FC-F8EE-AED39346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2CE838-2999-7F20-E3AF-6A1FCBDBE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815EC-36A2-5B82-4FD7-1F13393CF023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055322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5BE88-35DC-77F9-5BE9-80C56F9D4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8D1490-1A76-3503-FC61-27BE59FF1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29D8EF-0CF8-BF4F-3886-6ED4278BA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4306E-E47F-D69A-6A1D-DE0CA76BA883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경제학에서의 생산비는 사적비용과 사회적비용으로도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경제행위의 결과로 발생한 비용 가운데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행위자에게만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사업자가 부담하는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자본비용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사회적비용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경제행위에 따른 모든 비용으로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뿐 아니라 다른 경제주체에게도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가동으로 인해 주변 주민들이 건강악화로 인해 지불하는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환경경제학에서는 사적비용과 사회적비용을 구분하는 것이 특히 중요하다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449078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E10D-EF60-A76D-45ED-81F91B0B3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28F9B-7F88-E7B4-4334-3CC2FF891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비용곡선과 공급곡선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C05F71-6A01-803B-D0E8-51B1CA53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4CC14-D635-8D37-7A2F-B97528C58C54}"/>
              </a:ext>
            </a:extLst>
          </p:cNvPr>
          <p:cNvSpPr txBox="1"/>
          <p:nvPr/>
        </p:nvSpPr>
        <p:spPr>
          <a:xfrm>
            <a:off x="288790" y="78739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왼쪽 그림은 아이스크림 생산자가 지불하는 비용을 나타내는 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첫 번째 아이스크림을 생산하기 위해서는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원의 비용을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생산자가 아이스크림을 추가로 하나 더 생산하고자 한다면</a:t>
            </a:r>
            <a:r>
              <a:rPr lang="en-US" altLang="ko-KR" sz="1600" spc="-50" dirty="0"/>
              <a:t>, 100</a:t>
            </a:r>
            <a:r>
              <a:rPr lang="ko-KR" altLang="en-US" sz="1600" spc="-50" dirty="0"/>
              <a:t>원을 추가로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생산자가 지불해야 하는 한계비용을 나타낸다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생산자가 아이스크림을 무한히 작은 단위로 나눌 수 있다면 한계비용곡선은 아래 오른쪽 그림처럼 연속적인 실선으로 나타날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아이스크림의 시장 가격이 </a:t>
            </a:r>
            <a:r>
              <a:rPr lang="en-US" altLang="ko-KR" sz="1600" spc="-50" dirty="0"/>
              <a:t>150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아이스크림 생산자는 세 개의 아이스크림을 공급하고자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한계비용곡선은 결국 공급곡선이다</a:t>
            </a:r>
            <a:r>
              <a:rPr lang="en-US" altLang="ko-KR" sz="1600" b="1" spc="-50" dirty="0"/>
              <a:t>.</a:t>
            </a:r>
            <a:endParaRPr lang="en-US" altLang="ko-KR" sz="1600" spc="-50" dirty="0"/>
          </a:p>
        </p:txBody>
      </p:sp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78564E-E42D-7183-7E2E-67244AB4A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64" y="2835654"/>
            <a:ext cx="2374971" cy="2686964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693B7AA-61EB-2DF0-303C-F3D1C87F9833}"/>
              </a:ext>
            </a:extLst>
          </p:cNvPr>
          <p:cNvGrpSpPr/>
          <p:nvPr/>
        </p:nvGrpSpPr>
        <p:grpSpPr>
          <a:xfrm>
            <a:off x="2707240" y="2833393"/>
            <a:ext cx="2566678" cy="2670176"/>
            <a:chOff x="2218858" y="3139107"/>
            <a:chExt cx="3070621" cy="3474000"/>
          </a:xfrm>
        </p:grpSpPr>
        <p:pic>
          <p:nvPicPr>
            <p:cNvPr id="11" name="그림 10" descr="텍스트, 스크린샷, 도표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EF49643-E602-1C80-BE80-2EF582067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18858" y="3139107"/>
              <a:ext cx="3070621" cy="3474000"/>
            </a:xfrm>
            <a:prstGeom prst="rect">
              <a:avLst/>
            </a:prstGeom>
          </p:spPr>
        </p:pic>
        <p:pic>
          <p:nvPicPr>
            <p:cNvPr id="12" name="그림 11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834C0E-A260-AE44-29D5-EAEBE89A7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906" t="2496" r="39923" b="92935"/>
            <a:stretch>
              <a:fillRect/>
            </a:stretch>
          </p:blipFill>
          <p:spPr>
            <a:xfrm>
              <a:off x="3309144" y="3218590"/>
              <a:ext cx="650082" cy="15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7896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7BA7-87C5-7F91-278E-DC9846FD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989398-2987-CD0B-DE8E-29310AF4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2AC6CB-322A-3D77-5A7C-8CB27BCF4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BC7C6-7E62-30B4-63AC-3C546FC9A18D}"/>
              </a:ext>
            </a:extLst>
          </p:cNvPr>
          <p:cNvSpPr txBox="1"/>
          <p:nvPr/>
        </p:nvSpPr>
        <p:spPr>
          <a:xfrm>
            <a:off x="288790" y="78739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한계비용곡선의 형태는 여러가지 변수에 의해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기술력이 높은 기업일수록 한계비용곡선은 낮은 쪽에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생산요소 가격이 높을수록 한계비용곡선은 높은 쪽에 위치하게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</a:t>
            </a:r>
            <a:r>
              <a:rPr lang="en-US" altLang="ko-KR" sz="1600" spc="-50" dirty="0"/>
              <a:t>(a) </a:t>
            </a:r>
            <a:r>
              <a:rPr lang="ko-KR" altLang="en-US" sz="1600" spc="-50" dirty="0"/>
              <a:t>그래프는 경제학에서 가장 일반적으로 받아들여지는 형태의 한계비용곡선이다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생산량이 적을 경우에는 생산이 늘어날수록 한계비용이 감소하다가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어느정도 수준이상이 되면 생산량이 늘어날수록 한계비용이 증가한다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A6210-5C28-95F5-C791-CC7FD29B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865"/>
          <a:stretch>
            <a:fillRect/>
          </a:stretch>
        </p:blipFill>
        <p:spPr>
          <a:xfrm>
            <a:off x="9383492" y="3429000"/>
            <a:ext cx="2378893" cy="27892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2FD872D-FECD-36AD-0BDB-0F9CA8B4C240}"/>
              </a:ext>
            </a:extLst>
          </p:cNvPr>
          <p:cNvSpPr txBox="1"/>
          <p:nvPr/>
        </p:nvSpPr>
        <p:spPr>
          <a:xfrm>
            <a:off x="288790" y="2984494"/>
            <a:ext cx="909651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한계비용곡선이 이와 같은 형태를 가지는 가장 큰 이유는 고정투입요소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 가운데 원료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노동량은 경제 상황 변화에 따라 쉽게 바꿀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설비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고정투입요소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규모는 단기간에 변화시킬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고정생산비는 생산량과 관계없이 일정하므로 한계생산비에는 포함되지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설비규모가 고정되어 있을 때 노동력과 같은 가변투입요소 사용량이 매우 적을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추가로 노동력을 고용하면 생산의 분업화로 인해 생산성이 급격히 높아지고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추가생산을 위한 한계비용은 감소한다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생산량이 충분히 많을 때에는 추가로 투입되는 노동력이 더 낮은 생산성을 가지기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한계생산비가 증가하는 것으로 바뀐다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2787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BE27A-6D96-4343-C0EA-305A3D99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54D330-7ACF-8E64-446D-1A7A90074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66B24A-33CD-F1CF-1139-152D684D0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906574"/>
            <a:ext cx="8464550" cy="56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693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9A57-F519-18C3-27C6-5ED45B6CF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2365D-81C9-89DB-17BA-748541CEF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D7978-5013-5DCC-0F74-6B327312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242529-F708-6525-849D-4B3D0558647B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고려하는 기간이 장기일수록 기업은 설비와 같은 고정된 투입요소의 규모를 바꾸기 쉬워진다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장기로 갈수록 기업의 한계비용곡선은 아래 그림 </a:t>
            </a:r>
            <a:r>
              <a:rPr lang="en-US" altLang="ko-KR" sz="1600" spc="-50" dirty="0"/>
              <a:t>(b)</a:t>
            </a:r>
            <a:r>
              <a:rPr lang="ko-KR" altLang="en-US" sz="1600" spc="-50" dirty="0"/>
              <a:t>와 같이 완만한 형태를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극단적으로는 수평선이 되어 한계비용이 생산량과 관계없이 일정하게 결정될 수도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DBB57-74AA-CF0B-C0EB-6BD5248A59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43" r="33519"/>
          <a:stretch>
            <a:fillRect/>
          </a:stretch>
        </p:blipFill>
        <p:spPr>
          <a:xfrm>
            <a:off x="3999204" y="2714343"/>
            <a:ext cx="2880000" cy="334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127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1E774-4B8D-078A-71BD-C1F4CC0D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56ABB-B8AD-D4B9-EEDE-E82DC84A2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715BA-0025-9D13-19D5-00400E0E0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85E1A-A551-4755-9E45-056C41440CC2}"/>
              </a:ext>
            </a:extLst>
          </p:cNvPr>
          <p:cNvSpPr txBox="1"/>
          <p:nvPr/>
        </p:nvSpPr>
        <p:spPr>
          <a:xfrm>
            <a:off x="288790" y="787394"/>
            <a:ext cx="1070765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기업의 한계비용곡선이 아래 그림</a:t>
            </a:r>
            <a:r>
              <a:rPr lang="en-US" altLang="ko-KR" sz="1600" spc="-50" dirty="0"/>
              <a:t>(c)</a:t>
            </a:r>
            <a:r>
              <a:rPr lang="ko-KR" altLang="en-US" sz="1600" spc="-50" dirty="0"/>
              <a:t>와 같이 비연속적인 형태를 가질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발전소의 경우</a:t>
            </a:r>
            <a:r>
              <a:rPr lang="en-US" altLang="ko-KR" sz="1600" spc="-50" dirty="0"/>
              <a:t>, 6</a:t>
            </a:r>
            <a:r>
              <a:rPr lang="ko-KR" altLang="en-US" sz="1600" spc="-50" dirty="0"/>
              <a:t>단위까지는 첫번째 발전소의 가동률을 높여가며 생산할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6</a:t>
            </a:r>
            <a:r>
              <a:rPr lang="ko-KR" altLang="en-US" sz="1600" spc="-50" dirty="0"/>
              <a:t>단위를 초과하는 전력은 추가적인 발전소를 필요로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새 발전소 건설비용도 한계비용의 일부가 되므로 한계비용곡선은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크게 상향이동하고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하락하는 형태를 가질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1FAF7F-102A-86C4-9A34-CE4DAF965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07"/>
          <a:stretch>
            <a:fillRect/>
          </a:stretch>
        </p:blipFill>
        <p:spPr>
          <a:xfrm>
            <a:off x="3935674" y="2697240"/>
            <a:ext cx="2880000" cy="331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53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BF83F-432C-FD4A-153B-610C8120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71AFB3-3E0B-8E4D-97F0-98F75A0E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140DAD-B3B4-74A3-05A6-94D2B6D9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69E99B-F5B3-0561-3897-E8F18F242298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수요이론에서 배운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 공급자의 공급곡선으로부터 시장 전체 공급량을 도출할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그림에서는 두 공급자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재화의 시장가격이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결정되어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공급자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단위를 공급하고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단위를 공급하려고 해서 시장 전체의 공급량은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E484FD-8B23-5DE7-CA53-E76A6951B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53" y="2248030"/>
            <a:ext cx="8185472" cy="34542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/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=200+200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blipFill>
                <a:blip r:embed="rId3"/>
                <a:stretch>
                  <a:fillRect l="-962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/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=200+50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blipFill>
                <a:blip r:embed="rId4"/>
                <a:stretch>
                  <a:fillRect l="-1003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/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=200+40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blipFill>
                <a:blip r:embed="rId5"/>
                <a:stretch>
                  <a:fillRect l="-974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78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33BD6-605E-536B-F1D5-60B0E5D1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B7FC13-4A8F-6638-9501-A6DB8485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생산자잉여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5C882-84BC-DA1E-45E3-942AE64F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1A09D3-8241-BB0E-ACB8-D43107B99E07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생산자의 경우도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판매할 경우 이로부터 일종의 편익을 얻을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이러한 편익을 생산자잉여 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생산자의 한계비용곡선이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주어져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공급하기 위해 최소한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만큼을 지불 받고자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생산자가 시장에서 실제로 수취하는 금액은 면적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생산자는 </a:t>
            </a:r>
            <a:r>
              <a:rPr lang="ko-KR" altLang="en-US" sz="1600" spc="-50" dirty="0" err="1"/>
              <a:t>지불받고자</a:t>
            </a:r>
            <a:r>
              <a:rPr lang="ko-KR" altLang="en-US" sz="1600" spc="-50" dirty="0"/>
              <a:t> 했던 금액보다 더 많은 금액을 수취할 수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바로 초과 </a:t>
            </a:r>
            <a:r>
              <a:rPr lang="ko-KR" altLang="en-US" sz="1600" spc="-50" dirty="0" err="1"/>
              <a:t>수취분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생산자잉여이다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2EBB7C9-063F-B131-8D99-B0107990E74E}"/>
              </a:ext>
            </a:extLst>
          </p:cNvPr>
          <p:cNvGrpSpPr/>
          <p:nvPr/>
        </p:nvGrpSpPr>
        <p:grpSpPr>
          <a:xfrm>
            <a:off x="5162899" y="3605728"/>
            <a:ext cx="2393602" cy="2827670"/>
            <a:chOff x="4019898" y="3187699"/>
            <a:chExt cx="2908117" cy="3290149"/>
          </a:xfrm>
        </p:grpSpPr>
        <p:pic>
          <p:nvPicPr>
            <p:cNvPr id="7" name="그림 6" descr="텍스트, 라인, 도표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54B9DCC-FE10-D120-61C0-5DEED6ED6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19898" y="3187699"/>
              <a:ext cx="2908117" cy="329014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910A6C-F88B-2B13-1189-49AF74D2EFAE}"/>
                </a:ext>
              </a:extLst>
            </p:cNvPr>
            <p:cNvSpPr txBox="1"/>
            <p:nvPr/>
          </p:nvSpPr>
          <p:spPr>
            <a:xfrm>
              <a:off x="4598769" y="4656538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b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9807DD-2642-ECC9-FAF0-CB83EBFEBCA1}"/>
                </a:ext>
              </a:extLst>
            </p:cNvPr>
            <p:cNvSpPr txBox="1"/>
            <p:nvPr/>
          </p:nvSpPr>
          <p:spPr>
            <a:xfrm>
              <a:off x="4762922" y="5431374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a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7902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2EE14-88DE-19EF-8024-F57DB042B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0A6D11-B5BC-00EB-45B1-DE548C2E017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0D4222-A669-44F8-96E2-8BD3B2AE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075F3D6-5C53-287B-79C1-6D9497C28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시장균형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606235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21CB1-5690-FC54-3D40-03D9A842F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AB20A-6AC2-D1CF-EA7E-BDA4750B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시장균형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FE41E-9C44-0E25-37B2-7A10CDAF2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4EC1B2-5493-FDF9-041F-26E157C7ED8B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수요곡선과 공급곡선을 각각 주어진 시장가격에서 소비자가 소비하려는 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생산자가 공급하려는 양이라고 정의하였다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시장가격은 외부로부터 주어지는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수요와 공급의 상호작용에 의해 내생적으로 결정된다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수요곡선과 공급곡선이 만나는 점의 생산량은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때의 가격은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시장가격이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원보다 높으면 소비자는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적게 소비하고자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많이 공급하고자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초과공급이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초과공급이 없어지기 위해서는 시장가격이 하락해야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28E75F-DB5A-4789-3945-CA630C536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504" y="3010452"/>
            <a:ext cx="3064153" cy="3466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12FDD1-F61F-47E8-52D4-D364D2E03195}"/>
              </a:ext>
            </a:extLst>
          </p:cNvPr>
          <p:cNvSpPr txBox="1"/>
          <p:nvPr/>
        </p:nvSpPr>
        <p:spPr>
          <a:xfrm>
            <a:off x="288790" y="3809994"/>
            <a:ext cx="8243714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시장가격이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원보다 낮으면 소비자는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많이 소비하고자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공급자는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적게 공급하고자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초과수요가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초과수요가 없어지기 위해서는 시장가격이 상승해야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과정이 수요와 공급이 균형을 이루 때까지 시장가격이 변하여 시장이 청산되는데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spc="-50" dirty="0" err="1"/>
              <a:t>시장메커니즘이라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3888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B9D77-05B5-7290-2E29-57F265244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01D70-18CA-FDFE-9023-1D88397A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시장메커니즘의</a:t>
            </a:r>
            <a:r>
              <a:rPr lang="ko-KR" altLang="en-US" dirty="0"/>
              <a:t>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D8778E-0702-80AB-46B9-09FF2780F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A18D02-8502-8C9B-8BE7-73EB741C8D0E}"/>
              </a:ext>
            </a:extLst>
          </p:cNvPr>
          <p:cNvSpPr txBox="1"/>
          <p:nvPr/>
        </p:nvSpPr>
        <p:spPr>
          <a:xfrm>
            <a:off x="288790" y="787394"/>
            <a:ext cx="1140791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7.5</a:t>
            </a:r>
            <a:r>
              <a:rPr lang="ko-KR" altLang="en-US" sz="1600" spc="-50" dirty="0"/>
              <a:t>단위의 상품을 소비하여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소비자들이 얻는 사회적 총편익은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사이에 형성되는 시장수요곡선 아래의 면적이다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단위를 생산하기 위하여 사회전체가 지불하는 비용은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7.5 </a:t>
            </a:r>
            <a:r>
              <a:rPr lang="ko-KR" altLang="en-US" sz="1600" spc="-50" dirty="0"/>
              <a:t>사이에 형성되는 시장공급곡선의 아래 면적이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특정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소비함에 따라 사회 전체가 얻는 순편익은 사회 전체가 그만큼을 소비하여 얻는 편익에서 생산하기 위해 지불하는 비용을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것이어야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전체의 순편익이 극대가 되는 그와 같은 상태를 경제의 가장 효율적인 상태라 규정하고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효율성이 자유경쟁시장에 의해 달성된다는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3C08B8-3541-E55E-31B5-B3842F3BE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504" y="3010452"/>
            <a:ext cx="3064153" cy="3466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6140D0-9220-9D4A-4F90-64CC63110C78}"/>
              </a:ext>
            </a:extLst>
          </p:cNvPr>
          <p:cNvSpPr txBox="1"/>
          <p:nvPr/>
        </p:nvSpPr>
        <p:spPr>
          <a:xfrm>
            <a:off x="288790" y="3476619"/>
            <a:ext cx="8243714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자유경쟁시장 메커니즘에 의해 경제 효율성이 달성되는 이유는 시장균형에서는 한계지불의사와 한계비용이 동일하기 때문이다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경제 전체가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많은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단위를 소비와 생산을 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상품 한 단위의 한계지불의사는 한계생산비용보다 작다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단위에서 소비를 줄이면 편익이 줄어드는 정도보다 비용이 감소하는 정도가 더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사회 전체의 순편익이 증가한다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경제 전체가 </a:t>
            </a:r>
            <a:r>
              <a:rPr lang="en-US" altLang="ko-KR" sz="1600" spc="-50" dirty="0"/>
              <a:t>7.5</a:t>
            </a:r>
            <a:r>
              <a:rPr lang="ko-KR" altLang="en-US" sz="1600" spc="-50" dirty="0"/>
              <a:t>보다 적은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단위를 소비와 생산하고 있는 경우를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이때는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소비를 더 늘리면 순편익이 증가하게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1160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5442</TotalTime>
  <Words>2049</Words>
  <Application>Microsoft Office PowerPoint</Application>
  <PresentationFormat>와이드스크린</PresentationFormat>
  <Paragraphs>270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4  자원환경 이용에 있어 시장의 실패</vt:lpstr>
      <vt:lpstr>Section 1. 소유권과 시장메커니즘의 효율성</vt:lpstr>
      <vt:lpstr>시장 메커니즘</vt:lpstr>
      <vt:lpstr>Section 2. 개방자원시장과 공유자원시장의 비효율성</vt:lpstr>
      <vt:lpstr>개방자원</vt:lpstr>
      <vt:lpstr>PowerPoint 프레젠테이션</vt:lpstr>
      <vt:lpstr>공해 참치잡이</vt:lpstr>
      <vt:lpstr>지불의사</vt:lpstr>
      <vt:lpstr>지불의사</vt:lpstr>
      <vt:lpstr>시장 수요곡선</vt:lpstr>
      <vt:lpstr>편익과 소비자 잉여</vt:lpstr>
      <vt:lpstr>편익과 소비자 잉여</vt:lpstr>
      <vt:lpstr>Section 2. 공급</vt:lpstr>
      <vt:lpstr>비용</vt:lpstr>
      <vt:lpstr>비용</vt:lpstr>
      <vt:lpstr>비용</vt:lpstr>
      <vt:lpstr>비용곡선과 공급곡선</vt:lpstr>
      <vt:lpstr>한계비용곡선의 형태</vt:lpstr>
      <vt:lpstr>한계비용곡선의 형태</vt:lpstr>
      <vt:lpstr>한계비용곡선의 형태</vt:lpstr>
      <vt:lpstr>한계비용곡선의 형태</vt:lpstr>
      <vt:lpstr>시장공급</vt:lpstr>
      <vt:lpstr>편익과 생산자잉여</vt:lpstr>
      <vt:lpstr>Section 3. 시장균형</vt:lpstr>
      <vt:lpstr>시장균형</vt:lpstr>
      <vt:lpstr>시장메커니즘의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156</cp:revision>
  <dcterms:created xsi:type="dcterms:W3CDTF">2025-07-05T05:15:23Z</dcterms:created>
  <dcterms:modified xsi:type="dcterms:W3CDTF">2026-09-04T01:51:56Z</dcterms:modified>
</cp:coreProperties>
</file>