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sldIdLst>
    <p:sldId id="375" r:id="rId2"/>
    <p:sldId id="405" r:id="rId3"/>
    <p:sldId id="550" r:id="rId4"/>
    <p:sldId id="416" r:id="rId5"/>
    <p:sldId id="600" r:id="rId6"/>
    <p:sldId id="557" r:id="rId7"/>
    <p:sldId id="603" r:id="rId8"/>
    <p:sldId id="604" r:id="rId9"/>
    <p:sldId id="606" r:id="rId10"/>
    <p:sldId id="605" r:id="rId11"/>
    <p:sldId id="607" r:id="rId12"/>
    <p:sldId id="611" r:id="rId13"/>
    <p:sldId id="608" r:id="rId14"/>
    <p:sldId id="609" r:id="rId15"/>
    <p:sldId id="610" r:id="rId16"/>
    <p:sldId id="612" r:id="rId17"/>
    <p:sldId id="613" r:id="rId18"/>
    <p:sldId id="614" r:id="rId19"/>
    <p:sldId id="615" r:id="rId20"/>
    <p:sldId id="616" r:id="rId21"/>
    <p:sldId id="617" r:id="rId22"/>
    <p:sldId id="618" r:id="rId23"/>
    <p:sldId id="619" r:id="rId24"/>
    <p:sldId id="620" r:id="rId25"/>
    <p:sldId id="621" r:id="rId26"/>
    <p:sldId id="622" r:id="rId27"/>
    <p:sldId id="36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8B"/>
    <a:srgbClr val="EFEEFD"/>
    <a:srgbClr val="EDE48F"/>
    <a:srgbClr val="E15F5F"/>
    <a:srgbClr val="F8F7FC"/>
    <a:srgbClr val="2D72BE"/>
    <a:srgbClr val="070B12"/>
    <a:srgbClr val="0047A0"/>
    <a:srgbClr val="E360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- 04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4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자원환경 이용에 있어 시장의 실패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소유권과 </a:t>
            </a:r>
            <a:r>
              <a:rPr lang="ko-KR" altLang="en-US" sz="4000" b="1" i="0" spc="150" dirty="0" err="1"/>
              <a:t>시장메커니즘의</a:t>
            </a:r>
            <a:r>
              <a:rPr lang="ko-KR" altLang="en-US" sz="4000" b="1" i="0" spc="150" dirty="0"/>
              <a:t> 효율성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2399-5788-E74B-5361-EE2B3FD6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B01FE-46B7-EA74-DC09-87F917E0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 메커니즘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03EA2D-F4A0-4D5F-3A9A-6FA2AC81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2426D-C31F-AFC8-B56C-C1FC23808E47}"/>
              </a:ext>
            </a:extLst>
          </p:cNvPr>
          <p:cNvSpPr txBox="1"/>
          <p:nvPr/>
        </p:nvSpPr>
        <p:spPr>
          <a:xfrm>
            <a:off x="678872" y="1038536"/>
            <a:ext cx="11259128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완전경쟁시장 메커니즘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서비스의 자유로운 거래가 가능한 완전경쟁시장에서는 </a:t>
            </a:r>
            <a:r>
              <a:rPr lang="ko-KR" altLang="en-US" sz="1600" spc="-50" dirty="0" err="1"/>
              <a:t>시장메커니즘에</a:t>
            </a:r>
            <a:r>
              <a:rPr lang="ko-KR" altLang="en-US" sz="1600" spc="-50" dirty="0"/>
              <a:t> 의해 자원의 가장 효율적인 배분이 가능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개인들이 자신만의 목적을 달성하기 위해 행동할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전체의 순편익이 최대가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편익이 사회적 편익과 일치하고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사적 비용도 사회적 비용과 일치함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효율적인 자원배분을 위한 조건들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시장이 </a:t>
            </a:r>
            <a:r>
              <a:rPr lang="ko-KR" altLang="en-US" sz="1600" spc="-50" dirty="0" err="1"/>
              <a:t>완전경쟁적이어야</a:t>
            </a:r>
            <a:r>
              <a:rPr lang="ko-KR" altLang="en-US" sz="1600" spc="-50" dirty="0"/>
              <a:t>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시장에 대한 완전한 정보가 개인에게 알려져 있어야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u="sng" spc="-50" dirty="0"/>
              <a:t>시장에서 거래되는 재화나 서비스의 소유권이 완전하게 설정되어 있어야 함</a:t>
            </a:r>
            <a:r>
              <a:rPr lang="en-US" altLang="ko-KR" sz="1600" b="1" u="sng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C102ED2-1F04-07B7-F755-4FE46A784312}"/>
              </a:ext>
            </a:extLst>
          </p:cNvPr>
          <p:cNvGraphicFramePr>
            <a:graphicFrameLocks noGrp="1"/>
          </p:cNvGraphicFramePr>
          <p:nvPr/>
        </p:nvGraphicFramePr>
        <p:xfrm>
          <a:off x="767772" y="5048467"/>
          <a:ext cx="10394950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8685">
                  <a:extLst>
                    <a:ext uri="{9D8B030D-6E8A-4147-A177-3AD203B41FA5}">
                      <a16:colId xmlns:a16="http://schemas.microsoft.com/office/drawing/2014/main" val="4111635576"/>
                    </a:ext>
                  </a:extLst>
                </a:gridCol>
                <a:gridCol w="6996265">
                  <a:extLst>
                    <a:ext uri="{9D8B030D-6E8A-4147-A177-3AD203B41FA5}">
                      <a16:colId xmlns:a16="http://schemas.microsoft.com/office/drawing/2014/main" val="2160743333"/>
                    </a:ext>
                  </a:extLst>
                </a:gridCol>
              </a:tblGrid>
              <a:tr h="2474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소유권의 성질</a:t>
                      </a:r>
                      <a:endParaRPr lang="ko-KR" altLang="en-US" sz="1100" b="1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spcAft>
                          <a:spcPts val="500"/>
                        </a:spcAft>
                        <a:buFontTx/>
                        <a:buNone/>
                      </a:pPr>
                      <a:r>
                        <a:rPr lang="ko-KR" altLang="en-US" sz="1100" b="1" kern="1200" spc="0" baseline="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미</a:t>
                      </a:r>
                      <a:endParaRPr lang="ko-KR" altLang="en-US" sz="1100" b="1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749017"/>
                  </a:ext>
                </a:extLst>
              </a:tr>
              <a:tr h="318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배타성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(Exclusivity)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자원을 소유하고 이용함에 따라 발생하는 모든 편익과 비용은 그 자원의 소유주에게 귀속되고</a:t>
                      </a:r>
                      <a:r>
                        <a:rPr lang="en-US" altLang="ko-KR" sz="1100" b="0" spc="0" baseline="0" dirty="0"/>
                        <a:t>, </a:t>
                      </a:r>
                      <a:r>
                        <a:rPr lang="ko-KR" altLang="en-US" sz="1100" b="0" spc="0" baseline="0" dirty="0"/>
                        <a:t>또한 자원의 소유주만이 그러한 편익을 누리거나 비용을 부담함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35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이전성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(Transferability)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모든 소유권은 자발전인 거래를 통해 다른 사람에게 이전될 수 있어야 함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2517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실행가능성</a:t>
                      </a:r>
                      <a:r>
                        <a:rPr lang="en-US" altLang="ko-KR" sz="1100" b="0" u="sng" kern="120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(Enforceability)</a:t>
                      </a:r>
                      <a:endParaRPr lang="ko-KR" altLang="en-US" sz="1100" b="0" u="sng" dirty="0"/>
                    </a:p>
                  </a:txBody>
                  <a:tcPr marL="21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5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spc="0" baseline="0" dirty="0"/>
                        <a:t>자신이 보유한 소유권은 자신이 원하지 않을 경우 다른 사람에 의해 침해되지 않음</a:t>
                      </a:r>
                      <a:endParaRPr lang="en-US" altLang="ko-KR" sz="1100" b="0" spc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1960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E41EDC-24EB-75AC-5A5D-BA830CA49812}"/>
              </a:ext>
            </a:extLst>
          </p:cNvPr>
          <p:cNvSpPr txBox="1"/>
          <p:nvPr/>
        </p:nvSpPr>
        <p:spPr>
          <a:xfrm>
            <a:off x="6509442" y="6276330"/>
            <a:ext cx="465963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600" dirty="0"/>
              <a:t>Source:</a:t>
            </a:r>
            <a:r>
              <a:rPr lang="ko-KR" altLang="en-US" sz="600" dirty="0"/>
              <a:t> </a:t>
            </a:r>
            <a:r>
              <a:rPr lang="en-US" altLang="ko-KR" sz="600" dirty="0" err="1"/>
              <a:t>Tietenberg</a:t>
            </a:r>
            <a:r>
              <a:rPr lang="en-US" altLang="ko-KR" sz="600" dirty="0"/>
              <a:t>, T. (2005) Environmental and Natural Resource Economics, 7th ed., Harper and Collins</a:t>
            </a:r>
            <a:endParaRPr lang="ko-KR" altLang="en-US" sz="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1FF8F-F3BE-FFDC-4033-99191A3E74E4}"/>
              </a:ext>
            </a:extLst>
          </p:cNvPr>
          <p:cNvSpPr txBox="1"/>
          <p:nvPr/>
        </p:nvSpPr>
        <p:spPr>
          <a:xfrm>
            <a:off x="2425700" y="4621846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spc="-50" dirty="0"/>
              <a:t>&lt; </a:t>
            </a:r>
            <a:r>
              <a:rPr lang="ko-KR" altLang="en-US" sz="1800" b="1" spc="-50" dirty="0"/>
              <a:t>효율적인 소유권 </a:t>
            </a:r>
            <a:r>
              <a:rPr lang="en-US" altLang="ko-KR" sz="1800" b="1" spc="-50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5656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02FE7-4FEE-5BC5-8CBC-6FB686E1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8E4A78-6EE9-92EC-2582-1B400E9F3D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1D16B7-83FD-C3C4-3B91-378CF7DF7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7572B8B-D6FA-DC8E-2AA7-74AF1B6D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개방자원시장과 공유자원시장의 비효율성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8372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개방자원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787394"/>
            <a:ext cx="1070765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언급한대로 대부분의 환경재는 그 소유권이 시장의 효율성을 보장할 정도로 완전하게 설정되어 있지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예로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각국의 영해나 경제수역을 제외한 공해에서의 수산자원처럼 소유권 자체가 아예 설정되지 않는 개방자원을 들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대기권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 국가에 속하지 않는 극지방 지역의 자원 등등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자원은 지구상 누구에게나 개방되어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우리나라의 연근해라 하더라도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내국인에 한해서는 개방자원이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812D8-429C-165A-5C23-9D5B36096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개방자원의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206CA6-7617-B7CD-B33F-2C68F285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B1B35D-20BD-CFDD-D6F9-E58866933E0D}"/>
              </a:ext>
            </a:extLst>
          </p:cNvPr>
          <p:cNvSpPr txBox="1"/>
          <p:nvPr/>
        </p:nvSpPr>
        <p:spPr>
          <a:xfrm>
            <a:off x="288790" y="787394"/>
            <a:ext cx="10707658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개방자원의 비효율성을 이해하기 위해 아래와 같은 상황을 가정해보자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태평양 한 가운데 공해에서의 수산자원에 대한 소유권은 누구에게도 부여되어 있지 않아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마을 어민 누구나 어업활동을 통해 참치를 잡을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첫번째 배 한 척이 공해에서 어업을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마리의 참치를 잡는다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두번째 배가 추가되어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척이 어업을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 </a:t>
            </a:r>
            <a:r>
              <a:rPr lang="en-US" altLang="ko-KR" sz="1600" spc="-50" dirty="0"/>
              <a:t>14</a:t>
            </a:r>
            <a:r>
              <a:rPr lang="ko-KR" altLang="en-US" sz="1600" spc="-50" dirty="0"/>
              <a:t>마리의 참치를 잡는다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세번째 배가 추가되어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 척이 어업을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 </a:t>
            </a:r>
            <a:r>
              <a:rPr lang="en-US" altLang="ko-KR" sz="1600" spc="-50" dirty="0"/>
              <a:t>18</a:t>
            </a:r>
            <a:r>
              <a:rPr lang="ko-KR" altLang="en-US" sz="1600" spc="-50" dirty="0"/>
              <a:t>마리의 참치를 잡는다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계속해서 배가 추가 될 수록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배들의 한계생산물은 체감한다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다음 슬라이드의 표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어부가 참치잡이 배를 운영하려면 항상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원의 비용이 든다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인력 등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배를 몇 척을 사든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배의 한계비용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평균비용은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원으로 고정되어 있다는 말과 같다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잡은 참치는 시장에 가면 언제나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원에 팔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뒷장 계속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2781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9810C-B0F9-0423-7593-3668BBEC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개방자원의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44B80B-E9B6-DA51-AA9A-1C57D015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99832D2-A859-4DD4-4BBA-CA0827BAB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795947"/>
              </p:ext>
            </p:extLst>
          </p:nvPr>
        </p:nvGraphicFramePr>
        <p:xfrm>
          <a:off x="8166683" y="831911"/>
          <a:ext cx="3703504" cy="186642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5618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654341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494951">
                  <a:extLst>
                    <a:ext uri="{9D8B030D-6E8A-4147-A177-3AD203B41FA5}">
                      <a16:colId xmlns:a16="http://schemas.microsoft.com/office/drawing/2014/main" val="3669470522"/>
                    </a:ext>
                  </a:extLst>
                </a:gridCol>
                <a:gridCol w="671118">
                  <a:extLst>
                    <a:ext uri="{9D8B030D-6E8A-4147-A177-3AD203B41FA5}">
                      <a16:colId xmlns:a16="http://schemas.microsoft.com/office/drawing/2014/main" val="2539177328"/>
                    </a:ext>
                  </a:extLst>
                </a:gridCol>
                <a:gridCol w="633369">
                  <a:extLst>
                    <a:ext uri="{9D8B030D-6E8A-4147-A177-3AD203B41FA5}">
                      <a16:colId xmlns:a16="http://schemas.microsoft.com/office/drawing/2014/main" val="1044744277"/>
                    </a:ext>
                  </a:extLst>
                </a:gridCol>
                <a:gridCol w="654107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배의 수 </a:t>
                      </a:r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(Q)</a:t>
                      </a: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잡은 총 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참치 수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참치 가격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 수입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(TR)</a:t>
                      </a: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평균수입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(AR)</a:t>
                      </a: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한계수입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0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(MR)</a:t>
                      </a:r>
                      <a:endParaRPr lang="ko-KR" altLang="en-US" sz="10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274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endParaRPr lang="en-US" altLang="ko-KR" sz="10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4072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630FFB-4C32-453E-9D47-8B150E4C5BFA}"/>
                  </a:ext>
                </a:extLst>
              </p:cNvPr>
              <p:cNvSpPr txBox="1"/>
              <p:nvPr/>
            </p:nvSpPr>
            <p:spPr>
              <a:xfrm>
                <a:off x="288790" y="787394"/>
                <a:ext cx="7825593" cy="609410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앞선 상황을 정리해보자면 아래 표와 그림과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 지구적 관점에서 가장 이득이 되는 배의 수는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척이다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배가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척일 때의 한계수입이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한계비용도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원이기 때문이다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개인의 관점에서 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배는 </a:t>
                </a:r>
                <a:r>
                  <a:rPr lang="en-US" altLang="ko-KR" sz="1600" spc="-50" dirty="0"/>
                  <a:t>6</a:t>
                </a:r>
                <a:r>
                  <a:rPr lang="ko-KR" altLang="en-US" sz="1600" spc="-50" dirty="0"/>
                  <a:t>척까지 늘어난다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배가 </a:t>
                </a:r>
                <a:r>
                  <a:rPr lang="en-US" altLang="ko-KR" sz="1600" spc="-50" dirty="0"/>
                  <a:t>6</a:t>
                </a:r>
                <a:r>
                  <a:rPr lang="ko-KR" altLang="en-US" sz="1600" spc="-50" dirty="0"/>
                  <a:t>척이어도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</a:t>
                </a:r>
                <a:r>
                  <a:rPr lang="en-US" altLang="ko-KR" sz="1600" spc="-50" dirty="0"/>
                  <a:t> 1</a:t>
                </a:r>
                <a:r>
                  <a:rPr lang="ko-KR" altLang="en-US" sz="1600" spc="-50" dirty="0"/>
                  <a:t>척당 평균수입은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평균비용도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원이기 때문이다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태평양에 배가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척만 참치잡이를 하면 전 지구적으로 가장 이득이지만</a:t>
                </a:r>
                <a:r>
                  <a:rPr lang="en-US" altLang="ko-KR" sz="1600" spc="-50" dirty="0"/>
                  <a:t>, 3</a:t>
                </a:r>
                <a:r>
                  <a:rPr lang="ko-KR" altLang="en-US" sz="1600" spc="-50" dirty="0"/>
                  <a:t>척만 배가 운영하고 있으면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배들이 평균적으로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만큼 이윤을 남기고 있으니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현재 참치잡이를 하지 않는 어민들도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참치잡이에 뛰어들어 이윤을 남기려 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결국에는 배가 </a:t>
                </a:r>
                <a:r>
                  <a:rPr lang="en-US" altLang="ko-KR" sz="1600" spc="-50" dirty="0"/>
                  <a:t>6</a:t>
                </a:r>
                <a:r>
                  <a:rPr lang="ko-KR" altLang="en-US" sz="1600" spc="-50" dirty="0"/>
                  <a:t>척까지 늘어나게 되는 결과가 발생한다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그래프에 표시된 </a:t>
                </a:r>
                <a:r>
                  <a:rPr lang="en-US" altLang="ko-KR" sz="1600" spc="-50" dirty="0"/>
                  <a:t>AR</a:t>
                </a:r>
                <a:r>
                  <a:rPr lang="ko-KR" altLang="en-US" sz="1600" spc="-50" dirty="0"/>
                  <a:t>과 </a:t>
                </a:r>
                <a:r>
                  <a:rPr lang="en-US" altLang="ko-KR" sz="1600" spc="-50" dirty="0"/>
                  <a:t>MR</a:t>
                </a:r>
                <a:r>
                  <a:rPr lang="ko-KR" altLang="en-US" sz="1600" spc="-50" dirty="0"/>
                  <a:t> 곡선은 아래의 수식을 표현 한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𝐴𝑅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=9 −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=9 −2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AR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=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TR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/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Q</a:t>
                </a:r>
                <a:r>
                  <a:rPr lang="ko-KR" altLang="en-US" sz="1600" spc="-50" dirty="0"/>
                  <a:t> 의 관계이므로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=9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 </a:t>
                </a:r>
                <a:r>
                  <a:rPr lang="ko-KR" altLang="en-US" sz="1600" spc="-50" dirty="0"/>
                  <a:t>임을 알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630FFB-4C32-453E-9D47-8B150E4C5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787394"/>
                <a:ext cx="7825593" cy="6094104"/>
              </a:xfrm>
              <a:prstGeom prst="rect">
                <a:avLst/>
              </a:prstGeom>
              <a:blipFill>
                <a:blip r:embed="rId2"/>
                <a:stretch>
                  <a:fillRect r="-7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07E1862-1653-8708-2905-17AA8815C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383" y="2778385"/>
            <a:ext cx="3066176" cy="38335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EDD936-D3C3-9EDE-EB41-B2E30EAFBEE9}"/>
              </a:ext>
            </a:extLst>
          </p:cNvPr>
          <p:cNvSpPr txBox="1"/>
          <p:nvPr/>
        </p:nvSpPr>
        <p:spPr>
          <a:xfrm>
            <a:off x="11430010" y="1378969"/>
            <a:ext cx="239085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b="0" kern="0" spc="0" dirty="0">
                <a:solidFill>
                  <a:srgbClr val="000000"/>
                </a:solidFill>
                <a:effectLst/>
                <a:latin typeface="+mn-ea"/>
                <a:ea typeface="+mn-ea"/>
                <a:cs typeface="+mn-cs"/>
              </a:rPr>
              <a:t>8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27C21A-89D8-A3A4-EE69-0F40F6E82186}"/>
              </a:ext>
            </a:extLst>
          </p:cNvPr>
          <p:cNvSpPr txBox="1"/>
          <p:nvPr/>
        </p:nvSpPr>
        <p:spPr>
          <a:xfrm>
            <a:off x="11430010" y="1582128"/>
            <a:ext cx="239085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6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F6C002-047E-7ECC-DD7E-BE58A550BC81}"/>
              </a:ext>
            </a:extLst>
          </p:cNvPr>
          <p:cNvSpPr txBox="1"/>
          <p:nvPr/>
        </p:nvSpPr>
        <p:spPr>
          <a:xfrm>
            <a:off x="11430010" y="1779365"/>
            <a:ext cx="239085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4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3939C0-82F5-E4C9-554F-94BA135D693A}"/>
              </a:ext>
            </a:extLst>
          </p:cNvPr>
          <p:cNvSpPr txBox="1"/>
          <p:nvPr/>
        </p:nvSpPr>
        <p:spPr>
          <a:xfrm>
            <a:off x="11430010" y="1774749"/>
            <a:ext cx="239085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4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19E6F9-0295-1C9E-B4AC-FBAE110E3FBC}"/>
              </a:ext>
            </a:extLst>
          </p:cNvPr>
          <p:cNvSpPr txBox="1"/>
          <p:nvPr/>
        </p:nvSpPr>
        <p:spPr>
          <a:xfrm>
            <a:off x="11430010" y="1972578"/>
            <a:ext cx="239085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b="0" kern="0" spc="0" dirty="0">
                <a:solidFill>
                  <a:srgbClr val="000000"/>
                </a:solidFill>
                <a:effectLst/>
                <a:latin typeface="+mn-ea"/>
                <a:ea typeface="+mn-ea"/>
                <a:cs typeface="+mn-cs"/>
              </a:rPr>
              <a:t>2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2A8F11-38F7-4C96-7A73-C6E5D414792C}"/>
              </a:ext>
            </a:extLst>
          </p:cNvPr>
          <p:cNvSpPr txBox="1"/>
          <p:nvPr/>
        </p:nvSpPr>
        <p:spPr>
          <a:xfrm>
            <a:off x="11430010" y="2175737"/>
            <a:ext cx="239085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0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70A7BB-12F3-7257-52E7-BFA68CDEB383}"/>
              </a:ext>
            </a:extLst>
          </p:cNvPr>
          <p:cNvSpPr txBox="1"/>
          <p:nvPr/>
        </p:nvSpPr>
        <p:spPr>
          <a:xfrm>
            <a:off x="11390755" y="2372974"/>
            <a:ext cx="317596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kern="0" dirty="0">
                <a:solidFill>
                  <a:srgbClr val="000000"/>
                </a:solidFill>
                <a:latin typeface="+mn-ea"/>
              </a:rPr>
              <a:t>-2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5054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2C31-8E57-EC83-2223-7AD9D719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C66C9-B204-4FBD-50FF-1A3043297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공유자원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5FB5E7-3734-AECD-6601-3CB15E409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3817F-6DA0-C7C9-45E8-8EBF098A5F44}"/>
              </a:ext>
            </a:extLst>
          </p:cNvPr>
          <p:cNvSpPr txBox="1"/>
          <p:nvPr/>
        </p:nvSpPr>
        <p:spPr>
          <a:xfrm>
            <a:off x="288790" y="787394"/>
            <a:ext cx="10707658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공유자원은 개방자원과 유사하면서도 소유권 측면에서 조금 다른 특징을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개방자원이 소유권 자체가 아예 설정되지 않은 자원임에 비해 공유자원은 개인이 아니라 마을과 같이 비교적 적은 수의 구성원으로 이루어진 집단에게 소유권이 부여되는 자원이다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스위스 어느 마을의 소나 양을 방목하는 알프스산맥 초지는 마을이 공동으로 소유하고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공유자원 역시 개방자원과 마찬가지로</a:t>
            </a:r>
            <a:r>
              <a:rPr lang="en-US" altLang="ko-KR" sz="1600" dirty="0"/>
              <a:t>, </a:t>
            </a:r>
            <a:r>
              <a:rPr lang="ko-KR" altLang="en-US" sz="1600" dirty="0"/>
              <a:t>소유권이 개인에게 부여된 것이 아니기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남용될 가능성이 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저개발국일수록 초지나 수자원과 같은 천연자원을 마을이나 부족이 공동으로 소유하는 경우가 많기 때문에 공유자원의 적절한 관리는 생존의 문제가 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한국에 있는 공유자원의 한 예로 서남해의 양식어장을 들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어촌계는 나름대로 공식적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비공식적 수단을 동원해 자기 관할의 양식장을 효율적으로 사용하려 노력한다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가구별로 양식장에서 차지할 수 있는 면적을 할당 한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상대적으로 유리하거나 불리한 위치가 있을 수 있기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순서를 정해 양식장 내에서 각 가구가 차지하는 위치를 바꾸어 주는 방법이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95479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22DF9-223D-48D2-005B-2706CA6ED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969994-8D97-DFDB-E262-520AA928DAA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0A51C9-0E4B-9219-D2DC-D6E22329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F772056-B54B-E625-4DAA-4C5E4578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공공재시장의 비효율성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67232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5983F-8929-5AC2-3BF1-9AF6151C4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E7D73-4C94-93E1-CE82-2D3AD0FE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D3044-91D9-BD6D-B46E-2D0DEF13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9546D-813C-6CB7-0C96-D3466F65A2BC}"/>
              </a:ext>
            </a:extLst>
          </p:cNvPr>
          <p:cNvSpPr txBox="1"/>
          <p:nvPr/>
        </p:nvSpPr>
        <p:spPr>
          <a:xfrm>
            <a:off x="288790" y="787394"/>
            <a:ext cx="10707658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앞서 슬라이드 </a:t>
            </a:r>
            <a:r>
              <a:rPr lang="en-US" altLang="ko-KR" sz="1600" dirty="0"/>
              <a:t>4</a:t>
            </a:r>
            <a:r>
              <a:rPr lang="ko-KR" altLang="en-US" sz="1600" dirty="0"/>
              <a:t>에서 배운 완전한 소유권에 비해 공공재에 대한 소유권은 두 가지 특징을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비배타성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nonexcludability</a:t>
            </a:r>
            <a:r>
              <a:rPr lang="en-US" altLang="ko-KR" sz="1600" spc="-50" dirty="0"/>
              <a:t>): </a:t>
            </a:r>
            <a:r>
              <a:rPr lang="ko-KR" altLang="en-US" sz="1600" spc="-50" dirty="0"/>
              <a:t>일단 공급이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그에 대한 대가를 지불하지 않은 사람도 소비할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이들의 소비를 막을 방법도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비경합성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nonrivalness</a:t>
            </a:r>
            <a:r>
              <a:rPr lang="en-US" altLang="ko-KR" sz="1600" spc="-50" dirty="0"/>
              <a:t>): </a:t>
            </a:r>
            <a:r>
              <a:rPr lang="ko-KR" altLang="en-US" sz="1600" spc="-50" dirty="0"/>
              <a:t>어떤 사람이 특정 공공재를 소비한다고 해서 나머지 사람들이 소비할 수 있는 양이 줄어들지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아름다운 자연경관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맑은 공기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깨끗한 하천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생물다양성 등과 같은 많은 환경재가 위와 같은 공공재 성격을 가진다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환경재를 제외하고 공공재를 찾아보자면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해안가의 등대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국토방위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가로등 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351740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59A69-64F3-4957-D395-B5518A295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F4376-BA0F-2C63-F33F-3B81519E3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경합성과 배제성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1B01FB-DF55-07D4-582D-40EB0A3F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91326-F1E7-E5BF-4B4B-A71467E9A546}"/>
              </a:ext>
            </a:extLst>
          </p:cNvPr>
          <p:cNvSpPr txBox="1"/>
          <p:nvPr/>
        </p:nvSpPr>
        <p:spPr>
          <a:xfrm>
            <a:off x="288790" y="787394"/>
            <a:ext cx="10707658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재화나 서비스는 경합성과 배제성의 유</a:t>
            </a:r>
            <a:r>
              <a:rPr lang="en-US" altLang="ko-KR" sz="1600" spc="-50" dirty="0"/>
              <a:t>/</a:t>
            </a:r>
            <a:r>
              <a:rPr lang="ko-KR" altLang="en-US" sz="1600" spc="-50" dirty="0"/>
              <a:t>무에 따라 아래와 같이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가지로 분류할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배제성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돈을 내지 않거나 조건을 충족하지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소비하지 못하도록 막을 수 있는 성질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 err="1"/>
              <a:t>경합성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한 사람이 재화나 서비스를 소비하면 다른 사람이 동시에 소비할 수 없게 되는 성질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76E1A6E-5A1A-20DA-D074-24EF16517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13968"/>
              </p:ext>
            </p:extLst>
          </p:nvPr>
        </p:nvGraphicFramePr>
        <p:xfrm>
          <a:off x="3076218" y="3563857"/>
          <a:ext cx="6039564" cy="257813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019782">
                  <a:extLst>
                    <a:ext uri="{9D8B030D-6E8A-4147-A177-3AD203B41FA5}">
                      <a16:colId xmlns:a16="http://schemas.microsoft.com/office/drawing/2014/main" val="4016159992"/>
                    </a:ext>
                  </a:extLst>
                </a:gridCol>
                <a:gridCol w="3019782">
                  <a:extLst>
                    <a:ext uri="{9D8B030D-6E8A-4147-A177-3AD203B41FA5}">
                      <a16:colId xmlns:a16="http://schemas.microsoft.com/office/drawing/2014/main" val="3502439075"/>
                    </a:ext>
                  </a:extLst>
                </a:gridCol>
              </a:tblGrid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kern="1200" spc="-50" dirty="0" err="1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사유재</a:t>
                      </a:r>
                      <a:endParaRPr lang="en-US" altLang="ko-KR" sz="1600" b="1" kern="1200" spc="-50" dirty="0">
                        <a:ln w="3175">
                          <a:noFill/>
                        </a:ln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spc="-50" dirty="0">
                          <a:ln w="3175">
                            <a:noFill/>
                          </a:ln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(Private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아이스크림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집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(Club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OTT (</a:t>
                      </a:r>
                      <a:r>
                        <a:rPr lang="ko-KR" altLang="en-US" sz="1400" b="1" spc="-50" dirty="0" err="1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넷플릭스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한산한 유료 고속도로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555331"/>
                  </a:ext>
                </a:extLst>
              </a:tr>
              <a:tr h="10436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 err="1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비순수</a:t>
                      </a:r>
                      <a:r>
                        <a:rPr lang="ko-KR" altLang="en-US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 공공재 </a:t>
                      </a:r>
                      <a:endParaRPr lang="en-US" altLang="ko-KR" sz="1600" b="1" spc="-50" dirty="0">
                        <a:ln w="3175">
                          <a:noFill/>
                        </a:ln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latin typeface="+mn-ea"/>
                          <a:ea typeface="+mn-ea"/>
                        </a:rPr>
                        <a:t>(Common resources)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바다 속 물고기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공원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순수 공공재</a:t>
                      </a:r>
                      <a:endParaRPr lang="en-US" altLang="ko-KR" sz="1600" b="1" spc="-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spc="-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(Public goods)</a:t>
                      </a: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국방</a:t>
                      </a:r>
                      <a:r>
                        <a:rPr lang="en-US" altLang="ko-KR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및 치안</a:t>
                      </a:r>
                      <a:endParaRPr lang="en-US" altLang="ko-KR" sz="1400" b="1" spc="-50" dirty="0">
                        <a:ln w="3175">
                          <a:noFill/>
                        </a:ln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742950" marR="0" lvl="1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400" b="1" spc="-50" dirty="0">
                          <a:ln w="3175">
                            <a:noFill/>
                          </a:ln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재난 경보</a:t>
                      </a:r>
                    </a:p>
                  </a:txBody>
                  <a:tcPr marL="184165" marR="184165" marT="92083" marB="920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1077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F61582F-271A-1158-491D-2B79AA3B9CBF}"/>
              </a:ext>
            </a:extLst>
          </p:cNvPr>
          <p:cNvSpPr txBox="1"/>
          <p:nvPr/>
        </p:nvSpPr>
        <p:spPr>
          <a:xfrm>
            <a:off x="5310106" y="2828317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경합성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44866-6E78-31EF-C4B1-B0EEAA207321}"/>
              </a:ext>
            </a:extLst>
          </p:cNvPr>
          <p:cNvSpPr txBox="1"/>
          <p:nvPr/>
        </p:nvSpPr>
        <p:spPr>
          <a:xfrm>
            <a:off x="40939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43A04-4DAB-0F48-3B90-25F56798A7D8}"/>
              </a:ext>
            </a:extLst>
          </p:cNvPr>
          <p:cNvSpPr txBox="1"/>
          <p:nvPr/>
        </p:nvSpPr>
        <p:spPr>
          <a:xfrm>
            <a:off x="7091164" y="316569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 err="1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</a:t>
            </a: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6E7F0-EE59-E4F0-CC49-8ED888BB4102}"/>
              </a:ext>
            </a:extLst>
          </p:cNvPr>
          <p:cNvSpPr txBox="1"/>
          <p:nvPr/>
        </p:nvSpPr>
        <p:spPr>
          <a:xfrm>
            <a:off x="890506" y="4376628"/>
            <a:ext cx="1598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배제성</a:t>
            </a:r>
            <a:r>
              <a:rPr lang="en-US" altLang="ko-KR" sz="2400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2400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E393EC-92B3-A4D6-7B66-22DEA5A2C7B0}"/>
              </a:ext>
            </a:extLst>
          </p:cNvPr>
          <p:cNvSpPr txBox="1"/>
          <p:nvPr/>
        </p:nvSpPr>
        <p:spPr>
          <a:xfrm>
            <a:off x="2201664" y="3870542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있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FB02B7-2A3A-F32D-0C78-FDB55F181BCE}"/>
              </a:ext>
            </a:extLst>
          </p:cNvPr>
          <p:cNvSpPr txBox="1"/>
          <p:nvPr/>
        </p:nvSpPr>
        <p:spPr>
          <a:xfrm>
            <a:off x="2201664" y="4975047"/>
            <a:ext cx="1011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1">
              <a:spcAft>
                <a:spcPts val="500"/>
              </a:spcAft>
              <a:buFontTx/>
              <a:buNone/>
            </a:pPr>
            <a:r>
              <a:rPr lang="ko-KR" altLang="en-US" spc="-50" dirty="0">
                <a:ln w="3175">
                  <a:noFill/>
                </a:ln>
                <a:solidFill>
                  <a:schemeClr val="dk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없 음</a:t>
            </a:r>
            <a:endParaRPr lang="en-US" altLang="ko-KR" b="0" kern="1200" spc="-50" dirty="0">
              <a:ln w="3175">
                <a:noFill/>
              </a:ln>
              <a:solidFill>
                <a:schemeClr val="dk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7722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3EB3D-EB4B-02C0-FAAC-D73FE8FE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071F5-B825-326A-7218-98324DA9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공공재의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F587EE-992E-9A1F-F481-A1385FA7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86D87-0BAF-840E-52A4-B2EA5F26462F}"/>
              </a:ext>
            </a:extLst>
          </p:cNvPr>
          <p:cNvSpPr txBox="1"/>
          <p:nvPr/>
        </p:nvSpPr>
        <p:spPr>
          <a:xfrm>
            <a:off x="288790" y="787394"/>
            <a:ext cx="11693660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그림에는 어떤 공공재에 대한 두 명의 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수요곡선은 각각 </a:t>
            </a:r>
            <a:r>
              <a:rPr lang="en-US" altLang="ko-KR" sz="1600" spc="-50" dirty="0" err="1"/>
              <a:t>d</a:t>
            </a:r>
            <a:r>
              <a:rPr lang="en-US" altLang="ko-KR" sz="1600" spc="-50" baseline="-25000" dirty="0" err="1"/>
              <a:t>A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d</a:t>
            </a:r>
            <a:r>
              <a:rPr lang="en-US" altLang="ko-KR" sz="1600" spc="-50" baseline="-25000" dirty="0"/>
              <a:t>B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로 표시 되어 있다</a:t>
            </a:r>
            <a:r>
              <a:rPr lang="en-US" altLang="ko-KR" sz="1600" spc="-50" dirty="0"/>
              <a:t>.  (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에 비해 공공재에 대한 선호가 상대적으로 크다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공공재가 일반 시장재화와 다른 큰 차이는 시장수요곡선이 개별 수요의 수평 합이 아니라 수직 합으로 결정된다는 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공공재의 경우 </a:t>
            </a:r>
            <a:r>
              <a:rPr lang="ko-KR" altLang="en-US" sz="1600" spc="-50" dirty="0" err="1"/>
              <a:t>비배타성과</a:t>
            </a:r>
            <a:r>
              <a:rPr lang="ko-KR" altLang="en-US" sz="1600" spc="-50" dirty="0"/>
              <a:t> 비경합성으로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일단 공급된 전체 </a:t>
            </a:r>
            <a:r>
              <a:rPr lang="ko-KR" altLang="en-US" sz="1600" spc="-50" dirty="0" err="1"/>
              <a:t>양만큼을</a:t>
            </a:r>
            <a:r>
              <a:rPr lang="ko-KR" altLang="en-US" sz="1600" spc="-50" dirty="0"/>
              <a:t> 모든 소비자가 동시에 소비하게 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9E86B2-7069-B442-E1BD-F33974B96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534" y="2340633"/>
            <a:ext cx="3731106" cy="42712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A2267B-88E8-4C48-565D-2D41271D0DBC}"/>
              </a:ext>
            </a:extLst>
          </p:cNvPr>
          <p:cNvSpPr txBox="1"/>
          <p:nvPr/>
        </p:nvSpPr>
        <p:spPr>
          <a:xfrm>
            <a:off x="288790" y="2529840"/>
            <a:ext cx="816941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 소비자의 수요곡선은 공공재에 대해 각각 소비자가 가지는 </a:t>
            </a:r>
            <a:r>
              <a:rPr lang="ko-KR" altLang="en-US" sz="1600" spc="-50" dirty="0" err="1"/>
              <a:t>한계지불의사이고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소비자는 공급된 공공재를 동시에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동일하게 소비하기 때문에 공공재 시장 전체의 한계지불의사는 이들 한계지불의사를 수직으로 합하여 도출한다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마을에 공원을 조성할 계획이라고 해보자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공원의 규모가 </a:t>
            </a:r>
            <a:r>
              <a:rPr lang="en-US" altLang="ko-KR" sz="1600" spc="-50" dirty="0"/>
              <a:t>1000</a:t>
            </a:r>
            <a:r>
              <a:rPr lang="ko-KR" altLang="en-US" sz="1600" spc="-50" dirty="0"/>
              <a:t>평이 라면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 </a:t>
            </a:r>
            <a:r>
              <a:rPr lang="ko-KR" altLang="en-US" sz="1600" spc="-50" dirty="0"/>
              <a:t>모두 동일한 </a:t>
            </a:r>
            <a:r>
              <a:rPr lang="en-US" altLang="ko-KR" sz="1600" spc="-50" dirty="0"/>
              <a:t>1000</a:t>
            </a:r>
            <a:r>
              <a:rPr lang="ko-KR" altLang="en-US" sz="1600" spc="-50" dirty="0"/>
              <a:t>평의 공원을 이용한다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하지만 같은 공원이라도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는 공원에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만원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만원까지 지불할 의사가 있을 수 있다</a:t>
            </a:r>
            <a:r>
              <a:rPr lang="en-US" altLang="ko-KR" sz="1600" spc="-50" dirty="0"/>
              <a:t>. (B</a:t>
            </a:r>
            <a:r>
              <a:rPr lang="ko-KR" altLang="en-US" sz="1600" spc="-50" dirty="0"/>
              <a:t>가 공원을 더 좋아한다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사회 전체가 공원 </a:t>
            </a:r>
            <a:r>
              <a:rPr lang="en-US" altLang="ko-KR" sz="1600" spc="-50" dirty="0"/>
              <a:t>1ha</a:t>
            </a:r>
            <a:r>
              <a:rPr lang="ko-KR" altLang="en-US" sz="1600" spc="-50" dirty="0"/>
              <a:t>를 추가로 확보하는 데 대한 한계지불의사는  총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만원 </a:t>
            </a:r>
            <a:r>
              <a:rPr lang="en-US" altLang="ko-KR" sz="1600" spc="-50" dirty="0"/>
              <a:t>(2</a:t>
            </a:r>
            <a:r>
              <a:rPr lang="ko-KR" altLang="en-US" sz="1600" spc="-50" dirty="0"/>
              <a:t>만원 </a:t>
            </a:r>
            <a:r>
              <a:rPr lang="en-US" altLang="ko-KR" sz="1600" spc="-50" dirty="0"/>
              <a:t>+ 4</a:t>
            </a:r>
            <a:r>
              <a:rPr lang="ko-KR" altLang="en-US" sz="1600" spc="-50" dirty="0"/>
              <a:t>만원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6236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5443E-9799-D76F-AE62-8A4736CD1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라인, 텍스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4C96A5-FDE9-B595-29F9-8B7A0E17C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048" y="959481"/>
            <a:ext cx="4937592" cy="565241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1C76657-CF3E-5311-071C-B2AE69F5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공공재의 비효율성</a:t>
            </a:r>
            <a:r>
              <a:rPr lang="en-US" altLang="ko-KR" dirty="0"/>
              <a:t>: </a:t>
            </a:r>
            <a:r>
              <a:rPr lang="ko-KR" altLang="en-US" dirty="0"/>
              <a:t>무임승차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8EA1C5-B013-B547-A6F8-5F0CCC72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DB432-BE5B-C08A-E9FB-A35C71BA0B28}"/>
              </a:ext>
            </a:extLst>
          </p:cNvPr>
          <p:cNvSpPr txBox="1"/>
          <p:nvPr/>
        </p:nvSpPr>
        <p:spPr>
          <a:xfrm>
            <a:off x="288790" y="787394"/>
            <a:ext cx="720167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 전체적으로 가장 바람직한 공공재의 생산 및 소비량은 시장전체 수요</a:t>
            </a:r>
            <a:r>
              <a:rPr lang="en-US" altLang="ko-KR" sz="1600" spc="-50" dirty="0"/>
              <a:t>(D)</a:t>
            </a:r>
            <a:r>
              <a:rPr lang="ko-KR" altLang="en-US" sz="1600" spc="-50" dirty="0"/>
              <a:t>와 한계비용</a:t>
            </a:r>
            <a:r>
              <a:rPr lang="en-US" altLang="ko-KR" sz="1600" spc="-50" dirty="0"/>
              <a:t>(MC)</a:t>
            </a:r>
            <a:r>
              <a:rPr lang="ko-KR" altLang="en-US" sz="1600" spc="-50" dirty="0"/>
              <a:t>이 만나는 지점은</a:t>
            </a:r>
            <a:r>
              <a:rPr lang="en-US" altLang="ko-KR" sz="1600" spc="-50" dirty="0"/>
              <a:t> Q</a:t>
            </a:r>
            <a:r>
              <a:rPr lang="en-US" altLang="ko-KR" sz="1600" spc="-50" baseline="30000" dirty="0"/>
              <a:t>* 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각각의 개별 한계지불의사와 한계비용이 만나는 지점에서 공공재를 소비하고자 함</a:t>
            </a:r>
            <a:r>
              <a:rPr lang="en-US" altLang="ko-KR" sz="1600" spc="-50" dirty="0"/>
              <a:t>: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A</a:t>
            </a:r>
            <a:r>
              <a:rPr lang="ko-KR" altLang="en-US" sz="1600" spc="-50" dirty="0"/>
              <a:t>와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B</a:t>
            </a:r>
            <a:endParaRPr lang="en-US" altLang="ko-KR" sz="1600" spc="-50" baseline="-250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특성상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이미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A</a:t>
            </a:r>
            <a:r>
              <a:rPr lang="ko-KR" altLang="en-US" sz="1600" spc="-50" dirty="0"/>
              <a:t>만큼은의 가격을 지불 했으므로</a:t>
            </a:r>
            <a:r>
              <a:rPr lang="en-US" altLang="ko-KR" sz="1600" spc="-50" dirty="0"/>
              <a:t>, (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B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–</a:t>
            </a:r>
            <a:r>
              <a:rPr lang="ko-KR" altLang="en-US" sz="1600" spc="-50" dirty="0"/>
              <a:t>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A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만큼만 지불하고자 할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A</a:t>
            </a:r>
            <a:r>
              <a:rPr lang="ko-KR" altLang="en-US" sz="1600" spc="-50" dirty="0"/>
              <a:t>만큼에 대해 무임승차를 시도한다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A </a:t>
            </a:r>
            <a:r>
              <a:rPr lang="ko-KR" altLang="en-US" sz="1600" spc="-50" dirty="0"/>
              <a:t>또한 역시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가 먼저 공공재를 구입하기를 기다린다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전체 시장에 공급되는 공공재의 총량은 </a:t>
            </a:r>
            <a:r>
              <a:rPr lang="en-US" altLang="ko-KR" sz="1600" spc="-50" dirty="0"/>
              <a:t>Q</a:t>
            </a:r>
            <a:r>
              <a:rPr lang="en-US" altLang="ko-KR" sz="1600" spc="-50" baseline="30000" dirty="0"/>
              <a:t>* </a:t>
            </a:r>
            <a:r>
              <a:rPr lang="ko-KR" altLang="en-US" sz="1600" spc="-50" dirty="0"/>
              <a:t>보다 적은</a:t>
            </a:r>
            <a:r>
              <a:rPr lang="en-US" altLang="ko-KR" sz="1600" spc="-50" dirty="0"/>
              <a:t> </a:t>
            </a:r>
            <a:r>
              <a:rPr lang="en-US" altLang="ko-KR" sz="1600" spc="-50" dirty="0" err="1"/>
              <a:t>q</a:t>
            </a:r>
            <a:r>
              <a:rPr lang="en-US" altLang="ko-KR" sz="1600" spc="-50" baseline="-25000" dirty="0" err="1"/>
              <a:t>B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결국 공원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아름다운 경관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맑은 공기 와 같은 공공재의 양은 사회적인 최적 수준보다도 더 적게 공급이 되는 일이 발생한다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909613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0D66-58EF-00A3-B79C-702518A4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2BDA6-D74F-B394-FC7B-F8ABDFEC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무임승차를 완화시키는 조건들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45583E-208C-375E-24B3-9CB714DA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66D6E0-4B2D-31B4-7274-8BF72E302907}"/>
              </a:ext>
            </a:extLst>
          </p:cNvPr>
          <p:cNvSpPr txBox="1"/>
          <p:nvPr/>
        </p:nvSpPr>
        <p:spPr>
          <a:xfrm>
            <a:off x="288790" y="787394"/>
            <a:ext cx="10707658" cy="50922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수요자 간 선호도의 차이가 매우 큰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수요가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에 비해 매우 크다면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가 무임승차자가 되려 한다는 것을 알고 있더라도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자신이 공공재를 구입하는 것이 더 나으므로 대가를 지불하게 될 것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이타심을 가지는 경우 </a:t>
            </a:r>
            <a:r>
              <a:rPr lang="en-US" altLang="ko-KR" sz="1600" spc="-50" dirty="0"/>
              <a:t>(altruism)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공공재 소비로 인해 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효용이 증가하는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소비자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</a:t>
            </a:r>
            <a:r>
              <a:rPr lang="ko-KR" altLang="en-US" sz="1600" spc="-50" dirty="0" err="1"/>
              <a:t>이타심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소비자들이 </a:t>
            </a:r>
            <a:r>
              <a:rPr lang="ko-KR" altLang="en-US" sz="1600" spc="-50" dirty="0" err="1"/>
              <a:t>유사이타심을</a:t>
            </a:r>
            <a:r>
              <a:rPr lang="ko-KR" altLang="en-US" sz="1600" spc="-50" dirty="0"/>
              <a:t> 가지는 경우 </a:t>
            </a:r>
            <a:r>
              <a:rPr lang="en-US" altLang="ko-KR" sz="1600" spc="-50" dirty="0"/>
              <a:t>(warm-glow effect)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자신이 공공재를 공급하여 공동체에 기여 했다는 사실을 남이 알아주어 효용이 증가하는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한계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위의 조건들은 현실에서 기대하기 힘들 뿐 아니라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무임승차의 일부를 완화시킬 뿐 제거할 수는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보다 근본적인 해결책으로는 국가에서 공공재를 직접 공급하는 것이지만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아래와 같이 어려운 문제가 있음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사회에 공공재를 얼만큼 </a:t>
            </a:r>
            <a:r>
              <a:rPr lang="ko-KR" altLang="en-US" sz="1600" spc="-50" dirty="0" err="1"/>
              <a:t>공급하는게</a:t>
            </a:r>
            <a:r>
              <a:rPr lang="ko-KR" altLang="en-US" sz="1600" spc="-50" dirty="0"/>
              <a:t> 효율적인지</a:t>
            </a: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사회를 구성하는 개인들에게 이용대금을 얼마나 어떻게 징수할 것인지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33185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79CD0-A6A9-1EB0-92C6-27D2B2D2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2EA49B-7EB6-26EC-2AF0-3E95C5EE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무임승차를 완화시키는 조건들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0B001-6C44-ED43-9A28-56D2F7D5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15E04-BD7C-CF2A-F6E2-93BCF9F966F6}"/>
              </a:ext>
            </a:extLst>
          </p:cNvPr>
          <p:cNvSpPr txBox="1"/>
          <p:nvPr/>
        </p:nvSpPr>
        <p:spPr>
          <a:xfrm>
            <a:off x="288790" y="787394"/>
            <a:ext cx="10707658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린달균형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스웨덴 경제학자 에릭 </a:t>
            </a:r>
            <a:r>
              <a:rPr lang="ko-KR" altLang="en-US" sz="1600" spc="-50" dirty="0" err="1"/>
              <a:t>린달</a:t>
            </a:r>
            <a:r>
              <a:rPr lang="en-US" altLang="ko-KR" sz="1600" spc="-50" dirty="0"/>
              <a:t>(Erik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Lindahl)</a:t>
            </a:r>
            <a:r>
              <a:rPr lang="ko-KR" altLang="en-US" sz="1600" spc="-50" dirty="0"/>
              <a:t>에 따르면 사람들이 각자 자기의 한계편익에 맞는 가격을 부담하면 공공재의 효율적 수준을 달성할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공급 비용을 모든 개인의 세금 부담으로 나눠야 하는데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내가 지불하는 세금의 비율 </a:t>
            </a:r>
            <a:r>
              <a:rPr lang="en-US" altLang="ko-KR" sz="1600" spc="-50" dirty="0"/>
              <a:t>= </a:t>
            </a:r>
            <a:r>
              <a:rPr lang="ko-KR" altLang="en-US" sz="1600" spc="-50" dirty="0"/>
              <a:t>내가 느끼는 한계편익의 비율이 되도록 분담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 개인별로 다른 가격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세금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지불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린달균형이</a:t>
            </a:r>
            <a:r>
              <a:rPr lang="ko-KR" altLang="en-US" sz="1600" spc="-50" dirty="0"/>
              <a:t> 존재한다면 공공재 공급을 가장 효율적으로 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그 균형을 찾는 것은 힘들다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4205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1719-ADC9-495A-03B9-914889BD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30C516-E9E3-2441-086F-B8E80A1E7D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A282B2-E818-E2B7-7913-4F84605A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DEA6EC0-8AF1-202D-DCB9-AA949045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외부효과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546093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7BEF0-B221-B8D1-A3AE-2B175CE1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62265-8E56-1286-ED6C-922F2E69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외부효과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1AAC6C-B356-F1D2-B844-C878DFA7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EAA15-309E-0BB0-6DDA-DEC1464300BC}"/>
              </a:ext>
            </a:extLst>
          </p:cNvPr>
          <p:cNvSpPr txBox="1"/>
          <p:nvPr/>
        </p:nvSpPr>
        <p:spPr>
          <a:xfrm>
            <a:off x="288790" y="787394"/>
            <a:ext cx="10707658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외부효과는 어떤 개인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 수준이 다른 사람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의 의사결정에 의해 직접적인 영향을 받지만</a:t>
            </a:r>
            <a:r>
              <a:rPr lang="en-US" altLang="ko-KR" sz="1600" spc="-50" dirty="0"/>
              <a:t>, B</a:t>
            </a:r>
            <a:r>
              <a:rPr lang="ko-KR" altLang="en-US" sz="1600" spc="-50" dirty="0"/>
              <a:t>는 자신이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의 후생에 미친 영향과 일치하는 만큼의 책임을 지거나 대가를 받지 않을 때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소유권이 배타성을 갖추지 못하여 발생하는 시장실패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인근 공장에서 나온 폐수로 인해 양어장이 피해를 보는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음의 외부효과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내가 내 집 앞의 정원을 아름답게 가꾸면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 뿐 아니라 이웃들도 아름다운 경관을 즐기는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양의 외부효과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5" name="그림 4" descr="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BEE7E1-1CFF-66B5-2F78-A0170354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26" y="2832859"/>
            <a:ext cx="9331771" cy="362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15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4A56-9FBD-AE6F-7120-9A3AC9FD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E7A28-E79A-60E9-AF67-08F096D5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2D039F-49D2-FD0A-0ABF-EB454350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0210C8E-A365-A68A-3D02-E33423417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시장실패의 해결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511085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CFDEF-F682-5832-96EE-085DD833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FA23D-CB5B-9729-5BC4-27FB1B13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사적 교섭을 통한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A85282-7EBB-1480-6CA3-88078745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C53E46-5301-DED2-4FA0-25E90C94FFC6}"/>
              </a:ext>
            </a:extLst>
          </p:cNvPr>
          <p:cNvSpPr txBox="1"/>
          <p:nvPr/>
        </p:nvSpPr>
        <p:spPr>
          <a:xfrm>
            <a:off x="288790" y="787394"/>
            <a:ext cx="10707658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사적 교섭을 통해 시장의 실패를 해결할 수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가로 축은 공장이 배출하는 폐수의 양을 의미함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폐수를 </a:t>
            </a:r>
            <a:r>
              <a:rPr lang="ko-KR" altLang="en-US" sz="1600" spc="-50" dirty="0" err="1"/>
              <a:t>수요하며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폐수를 한 단위씩 추가 배출할 때마다 벌어들일 수 있는 수익이 있음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폐수 수요</a:t>
            </a:r>
            <a:r>
              <a:rPr lang="en-US" altLang="ko-KR" sz="1600" spc="-50" dirty="0"/>
              <a:t> (D))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폐수는 양어장의 생산성을 떨어뜨리며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폐수가 한 단위씩 추가될 때마다 피해를 보고 있음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한계피해액 </a:t>
            </a:r>
            <a:r>
              <a:rPr lang="en-US" altLang="ko-KR" sz="1600" spc="-50" dirty="0"/>
              <a:t>(MD))</a:t>
            </a:r>
          </a:p>
        </p:txBody>
      </p:sp>
      <p:pic>
        <p:nvPicPr>
          <p:cNvPr id="5" name="그림 4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6C4FF6-E59B-75A5-3DF8-39D6686D6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863165" y="2573421"/>
            <a:ext cx="4752170" cy="3774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F9B927-6CAE-171D-0F22-2AD568EF8D25}"/>
              </a:ext>
            </a:extLst>
          </p:cNvPr>
          <p:cNvSpPr txBox="1"/>
          <p:nvPr/>
        </p:nvSpPr>
        <p:spPr>
          <a:xfrm>
            <a:off x="288790" y="2729990"/>
            <a:ext cx="640157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오염규제가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교섭도 없으면 공장은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까지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폐수를 배출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주인이 공장주에게 폐수 배출량을 한 단위 줄일 때마다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에서의 폐수 한계가치와 동일한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지불하겠다고 제안하면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폐수 한계가치와 단위당 보상액이 일치하는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수준으로 배출량을 줄일 것임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/>
              <a:t>d </a:t>
            </a:r>
            <a:r>
              <a:rPr lang="ko-KR" altLang="en-US" sz="1600" spc="-50" dirty="0"/>
              <a:t>만큼의 손해를 보지만</a:t>
            </a:r>
            <a:r>
              <a:rPr lang="en-US" altLang="ko-KR" sz="1600" spc="-50" dirty="0"/>
              <a:t>, </a:t>
            </a: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만큼의 보상을 양어장 주인으로부터 받게 됨</a:t>
            </a:r>
            <a:r>
              <a:rPr lang="en-US" altLang="ko-KR" sz="1600" spc="-5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55887-CD9A-ADB1-F4D9-9394FA75335D}"/>
              </a:ext>
            </a:extLst>
          </p:cNvPr>
          <p:cNvSpPr txBox="1"/>
          <p:nvPr/>
        </p:nvSpPr>
        <p:spPr>
          <a:xfrm>
            <a:off x="7743825" y="363227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D1C181-55B5-4766-2C84-0688DCD41C8E}"/>
              </a:ext>
            </a:extLst>
          </p:cNvPr>
          <p:cNvSpPr txBox="1"/>
          <p:nvPr/>
        </p:nvSpPr>
        <p:spPr>
          <a:xfrm>
            <a:off x="7743825" y="469290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A7C75B-5D8E-3D7E-071A-1B00D2463026}"/>
              </a:ext>
            </a:extLst>
          </p:cNvPr>
          <p:cNvSpPr txBox="1"/>
          <p:nvPr/>
        </p:nvSpPr>
        <p:spPr>
          <a:xfrm>
            <a:off x="8709025" y="521360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94EBE4-8027-DE1E-415D-2083D6755AA9}"/>
              </a:ext>
            </a:extLst>
          </p:cNvPr>
          <p:cNvSpPr txBox="1"/>
          <p:nvPr/>
        </p:nvSpPr>
        <p:spPr>
          <a:xfrm>
            <a:off x="9547225" y="521360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2E99AB-4407-FE29-23EB-D119FAE54B35}"/>
              </a:ext>
            </a:extLst>
          </p:cNvPr>
          <p:cNvSpPr txBox="1"/>
          <p:nvPr/>
        </p:nvSpPr>
        <p:spPr>
          <a:xfrm>
            <a:off x="10472737" y="469290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CF0EF2-1FA4-F526-5954-A6E0FC9A975A}"/>
              </a:ext>
            </a:extLst>
          </p:cNvPr>
          <p:cNvSpPr txBox="1"/>
          <p:nvPr/>
        </p:nvSpPr>
        <p:spPr>
          <a:xfrm>
            <a:off x="10472737" y="362744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705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E23D-3BE3-FA9E-46C0-A29F3C44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D5D22-9B2A-F27A-35A5-49E30DF8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사적 교섭을 통한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E867C4-4227-AE5C-0CED-7EB605E4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1C732-F463-EBC1-0ED4-46BFF4B9B5C6}"/>
              </a:ext>
            </a:extLst>
          </p:cNvPr>
          <p:cNvSpPr txBox="1"/>
          <p:nvPr/>
        </p:nvSpPr>
        <p:spPr>
          <a:xfrm>
            <a:off x="288789" y="787394"/>
            <a:ext cx="646427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양어장 주인의 입장에서는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d+e</a:t>
            </a:r>
            <a:r>
              <a:rPr lang="ko-KR" altLang="en-US" sz="1600" spc="-50" dirty="0"/>
              <a:t>만큼을 공장주에게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p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로 줄어들어 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피해가 감소함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d+e+f</a:t>
            </a:r>
            <a:r>
              <a:rPr lang="en-US" altLang="ko-KR" sz="1600" spc="-50" dirty="0"/>
              <a:t>)-(</a:t>
            </a:r>
            <a:r>
              <a:rPr lang="en-US" altLang="ko-KR" sz="1600" spc="-50" dirty="0" err="1"/>
              <a:t>d+e</a:t>
            </a:r>
            <a:r>
              <a:rPr lang="en-US" altLang="ko-KR" sz="1600" spc="-50" dirty="0"/>
              <a:t>) = f</a:t>
            </a:r>
            <a:r>
              <a:rPr lang="ko-KR" altLang="en-US" sz="1600" spc="-50" dirty="0"/>
              <a:t>만큼의 이득을 얻게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교섭이 성사되면 가해자와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피해자 모두 이득을 얻고 사회적으로 효율적인 수준의 폐수가 배출되어 외부효과 문제가 해결됨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아래와 같은 의문이 발생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왜 피해자가 가해자에게 보상을 </a:t>
            </a:r>
            <a:r>
              <a:rPr lang="ko-KR" altLang="en-US" sz="1600" spc="-50" dirty="0" err="1"/>
              <a:t>해야하는지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사적 협상이 불가능하면 대안이 있는지</a:t>
            </a:r>
            <a:endParaRPr lang="en-US" altLang="ko-KR" sz="1600" spc="-50" dirty="0"/>
          </a:p>
        </p:txBody>
      </p:sp>
      <p:pic>
        <p:nvPicPr>
          <p:cNvPr id="8" name="그림 7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26C254-4FA6-8CA0-49DB-0BC3AC1C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6863165" y="2573421"/>
            <a:ext cx="4752170" cy="37744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4F25CE-531E-9C42-642B-802030374FAA}"/>
              </a:ext>
            </a:extLst>
          </p:cNvPr>
          <p:cNvSpPr txBox="1"/>
          <p:nvPr/>
        </p:nvSpPr>
        <p:spPr>
          <a:xfrm>
            <a:off x="7743825" y="3632277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6052C7-0989-D46F-99CA-886AD5CCB6D4}"/>
              </a:ext>
            </a:extLst>
          </p:cNvPr>
          <p:cNvSpPr txBox="1"/>
          <p:nvPr/>
        </p:nvSpPr>
        <p:spPr>
          <a:xfrm>
            <a:off x="7743825" y="469290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4DFA14-5B9E-F79C-E608-EF02D85EA40F}"/>
              </a:ext>
            </a:extLst>
          </p:cNvPr>
          <p:cNvSpPr txBox="1"/>
          <p:nvPr/>
        </p:nvSpPr>
        <p:spPr>
          <a:xfrm>
            <a:off x="8709025" y="521360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81DBF9-B891-36CC-7341-0C6A65891FED}"/>
              </a:ext>
            </a:extLst>
          </p:cNvPr>
          <p:cNvSpPr txBox="1"/>
          <p:nvPr/>
        </p:nvSpPr>
        <p:spPr>
          <a:xfrm>
            <a:off x="9547225" y="521360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C01FF-DEBD-7221-8CC7-917822FB2BD7}"/>
              </a:ext>
            </a:extLst>
          </p:cNvPr>
          <p:cNvSpPr txBox="1"/>
          <p:nvPr/>
        </p:nvSpPr>
        <p:spPr>
          <a:xfrm>
            <a:off x="10472737" y="4692901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15207E-FD31-1C82-2F3E-795CEFD08192}"/>
              </a:ext>
            </a:extLst>
          </p:cNvPr>
          <p:cNvSpPr txBox="1"/>
          <p:nvPr/>
        </p:nvSpPr>
        <p:spPr>
          <a:xfrm>
            <a:off x="10472737" y="3627448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0515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08CD-D28F-2B87-8FBC-E589FD73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288C0-3C9B-8458-453A-8681BAFC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사법적 해결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7BE45C-C0F1-E032-5987-32C20C15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CB02F-BC22-CBC3-E376-DA88D82AD444}"/>
              </a:ext>
            </a:extLst>
          </p:cNvPr>
          <p:cNvSpPr txBox="1"/>
          <p:nvPr/>
        </p:nvSpPr>
        <p:spPr>
          <a:xfrm>
            <a:off x="288790" y="787394"/>
            <a:ext cx="1117904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피해자는 본인의 피해를 줄이기 위해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가해자에게 대가를 지불해야 한다는 사실을 인정하고 싶지 않아 할 가능성이 높다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대안으로 가해자를 법정에 고소하는 방법이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법원의 역할은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외부효과를 유발하는 행위를 할 권리와 외부효과 때문에 피해를 입지 않을 권리 가운데 어느 권리가 우선하는지를 판단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판결을 통해 가해자가 피해자에게 입힌 피해에 대해 보상할 것을 명령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법원은 어느 쪽 권리를 인정해 주어야 할까</a:t>
            </a:r>
            <a:r>
              <a:rPr lang="en-US" altLang="ko-KR" sz="1600" spc="-5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9808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4CD80-B4CC-12E1-2422-1398C65C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16B93-AABA-7B89-A29B-18AB4946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 </a:t>
            </a:r>
            <a:r>
              <a:rPr lang="en-US" altLang="ko-KR" dirty="0"/>
              <a:t>(Coase theorem, 1960)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29E6E-B63E-3A23-434E-49A2EA60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C7DEE-607C-5C36-B1AA-42D0445A35BB}"/>
              </a:ext>
            </a:extLst>
          </p:cNvPr>
          <p:cNvSpPr txBox="1"/>
          <p:nvPr/>
        </p:nvSpPr>
        <p:spPr>
          <a:xfrm>
            <a:off x="288790" y="787394"/>
            <a:ext cx="11179048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코즈정리에</a:t>
            </a:r>
            <a:r>
              <a:rPr lang="ko-KR" altLang="en-US" sz="1600" spc="-50" dirty="0"/>
              <a:t> 따르면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사적 교섭에 관계된 사람의 수가 적고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교섭에 소요되는 비용이 적을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가해자와 피해자 누구의 권리를 인정해 주어도 협상을 통해 사회적으로 효율적인 자원배분이 달성 가능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법원의 결정에 따라 달라지는 것은 가해자와 피해자 사이에 어느 쪽으로 편익이 많이 </a:t>
            </a:r>
            <a:r>
              <a:rPr lang="ko-KR" altLang="en-US" sz="1600" spc="-50" dirty="0" err="1"/>
              <a:t>돌아가는지일</a:t>
            </a:r>
            <a:r>
              <a:rPr lang="ko-KR" altLang="en-US" sz="1600" spc="-50" dirty="0"/>
              <a:t> 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국가는 시장에 개입하지 말고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권리가 누구에게 </a:t>
            </a:r>
            <a:r>
              <a:rPr lang="ko-KR" altLang="en-US" sz="1600" spc="-50" dirty="0" err="1"/>
              <a:t>있는지만을</a:t>
            </a:r>
            <a:r>
              <a:rPr lang="ko-KR" altLang="en-US" sz="1600" spc="-50" dirty="0"/>
              <a:t> 정하기만 하면 된다고 주장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5" name="그림 4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AD4BD7-7228-975E-5987-F0E9B51F4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7" r="50000"/>
          <a:stretch>
            <a:fillRect/>
          </a:stretch>
        </p:blipFill>
        <p:spPr>
          <a:xfrm>
            <a:off x="7046045" y="2573421"/>
            <a:ext cx="4752170" cy="3774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4F04AA-7E31-EBB8-7FF3-386B50E0C05A}"/>
              </a:ext>
            </a:extLst>
          </p:cNvPr>
          <p:cNvSpPr txBox="1"/>
          <p:nvPr/>
        </p:nvSpPr>
        <p:spPr>
          <a:xfrm>
            <a:off x="7873915" y="3634045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22DCA-BF99-2B57-3713-32494E0EABFF}"/>
              </a:ext>
            </a:extLst>
          </p:cNvPr>
          <p:cNvSpPr txBox="1"/>
          <p:nvPr/>
        </p:nvSpPr>
        <p:spPr>
          <a:xfrm>
            <a:off x="7873915" y="4694669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6BCBA-2EF9-474F-0E13-CACD801BE252}"/>
              </a:ext>
            </a:extLst>
          </p:cNvPr>
          <p:cNvSpPr txBox="1"/>
          <p:nvPr/>
        </p:nvSpPr>
        <p:spPr>
          <a:xfrm>
            <a:off x="8839115" y="5215369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B974D5-D196-73E7-4E12-FEB3F7B43933}"/>
              </a:ext>
            </a:extLst>
          </p:cNvPr>
          <p:cNvSpPr txBox="1"/>
          <p:nvPr/>
        </p:nvSpPr>
        <p:spPr>
          <a:xfrm>
            <a:off x="9677315" y="5215369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A4D44C-2F54-3F8D-EE65-E2BE63DE2C49}"/>
              </a:ext>
            </a:extLst>
          </p:cNvPr>
          <p:cNvSpPr txBox="1"/>
          <p:nvPr/>
        </p:nvSpPr>
        <p:spPr>
          <a:xfrm>
            <a:off x="10602827" y="4694669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308628-CC86-7DFC-529B-B1DA037D3250}"/>
              </a:ext>
            </a:extLst>
          </p:cNvPr>
          <p:cNvSpPr txBox="1"/>
          <p:nvPr/>
        </p:nvSpPr>
        <p:spPr>
          <a:xfrm>
            <a:off x="10602827" y="3629216"/>
            <a:ext cx="276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FA6A53-AF78-CC46-F321-BDC56A32A498}"/>
              </a:ext>
            </a:extLst>
          </p:cNvPr>
          <p:cNvSpPr txBox="1"/>
          <p:nvPr/>
        </p:nvSpPr>
        <p:spPr>
          <a:xfrm>
            <a:off x="288790" y="2683951"/>
            <a:ext cx="647015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전과는 반대로 양어장 주인에게 권리가 있다면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공장주는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만큼을 양어장 주인에게 지불해야 하지만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 폐수를 배출하여 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편익을 얻음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a+b+c</a:t>
            </a:r>
            <a:r>
              <a:rPr lang="en-US" altLang="ko-KR" sz="1600" spc="-50" dirty="0"/>
              <a:t>) – 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= a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양어장 주인은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폐수 때문에 </a:t>
            </a:r>
            <a:r>
              <a:rPr lang="en-US" altLang="ko-KR" sz="1600" spc="-50" dirty="0"/>
              <a:t>c</a:t>
            </a:r>
            <a:r>
              <a:rPr lang="ko-KR" altLang="en-US" sz="1600" spc="-50" dirty="0"/>
              <a:t>만큼의 피해를 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그 대가로 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만큼의 보상을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b+c</a:t>
            </a:r>
            <a:r>
              <a:rPr lang="en-US" altLang="ko-KR" sz="1600" spc="-50" dirty="0"/>
              <a:t>) – (c) = b </a:t>
            </a:r>
            <a:r>
              <a:rPr lang="ko-KR" altLang="en-US" sz="1600" spc="-50" dirty="0"/>
              <a:t>만큼의 이득을 보게 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6221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C191E-AD1C-5AA1-4C70-0C67CA0E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57ECD-9E02-660B-22FE-B0359F69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51F63C-9E35-30FC-015D-E7764FAB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90D777-BD01-014A-FD2D-A3B8BF1716BF}"/>
              </a:ext>
            </a:extLst>
          </p:cNvPr>
          <p:cNvSpPr txBox="1"/>
          <p:nvPr/>
        </p:nvSpPr>
        <p:spPr>
          <a:xfrm>
            <a:off x="288790" y="787394"/>
            <a:ext cx="11179048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교섭에 관계된 사람 수가 많으면 교섭 자체가 불가능하거나 교섭비용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거래비용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많이 소요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피해자의 피해금액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가해자의 오염행위로 인한 편익을 정확히 산정하기 어려움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피해자는 피해금액을 과대 추정할 우려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가해자는 편익을 과소 추정할 우려가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명이면서 이들 피해자의 권리가 인정될 때 발생하는 타협거부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</a:t>
            </a:r>
            <a:r>
              <a:rPr lang="ko-KR" altLang="en-US" sz="1600" spc="-50" dirty="0"/>
              <a:t>개의 양어장 권리가 인정 된다고 했을 때</a:t>
            </a:r>
            <a:r>
              <a:rPr lang="en-US" altLang="ko-KR" sz="1600" spc="-50" dirty="0"/>
              <a:t>, 9</a:t>
            </a:r>
            <a:r>
              <a:rPr lang="ko-KR" altLang="en-US" sz="1600" spc="-50" dirty="0"/>
              <a:t>개의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보상 받기로 합의를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마지막 양어장은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 이상의 보상을 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배출 동의를 쉽게 해주지 않는 경우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피해자가 여러 명이지만 가해자의 권리를 인정할 때 발생하는 무임승차 문제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이번에는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개의 양어장이 공장에게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만원씩 이미 지불하였고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공장은 폐수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단위를 줄였음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배출량을 </a:t>
            </a:r>
            <a:r>
              <a:rPr lang="ko-KR" altLang="en-US" sz="1600" spc="-50" dirty="0" err="1"/>
              <a:t>줄여나갈수록</a:t>
            </a:r>
            <a:r>
              <a:rPr lang="ko-KR" altLang="en-US" sz="1600" spc="-50" dirty="0"/>
              <a:t> 양어장이 얻는 한계편익이 감소하는 상황이므로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마지막 양어장은 마지막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단위의 배출저감에 대해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만원보다 낮은 가치로 평가할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87293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6EF15-846B-B1A9-3D42-18993BFD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048D7-74BC-F9A2-BD11-4DE864D23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코즈</a:t>
            </a:r>
            <a:r>
              <a:rPr lang="ko-KR" altLang="en-US" dirty="0"/>
              <a:t> 정리의 한계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40103C-82A6-A6B3-109A-DC1BDB171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DD43A-B8AF-114A-7123-44EACE9D050C}"/>
              </a:ext>
            </a:extLst>
          </p:cNvPr>
          <p:cNvSpPr txBox="1"/>
          <p:nvPr/>
        </p:nvSpPr>
        <p:spPr>
          <a:xfrm>
            <a:off x="288790" y="787394"/>
            <a:ext cx="11179048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소득효과를 인정하지 않는다는 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누구의 권리를 인정 </a:t>
            </a:r>
            <a:r>
              <a:rPr lang="ko-KR" altLang="en-US" sz="1600" spc="-50" dirty="0" err="1"/>
              <a:t>해주냐에</a:t>
            </a:r>
            <a:r>
              <a:rPr lang="ko-KR" altLang="en-US" sz="1600" spc="-50" dirty="0"/>
              <a:t> 따라 가해자와 피해자의 소득이 달라지는데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가해자의 오염 배출에 대한 수요곡선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피해자의 한계피해곡선은 이들의 소득수준에 의해서도 영향을 받음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어느 쪽의 권리를 인정 </a:t>
            </a:r>
            <a:r>
              <a:rPr lang="ko-KR" altLang="en-US" sz="1600" spc="-50" dirty="0" err="1"/>
              <a:t>하느냐에</a:t>
            </a:r>
            <a:r>
              <a:rPr lang="ko-KR" altLang="en-US" sz="1600" spc="-50" dirty="0"/>
              <a:t> 따라 수요곡선 혹은 한계피해곡선의 위치가 달라지기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권리를 인정하는 순간 사적 교섭을 통해 달성되는 최적 오염물질 배출량 역시 달라지게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법원이 가해자의 권리를 인정해 주어도 사회적으로 효율적인 자원배분이 가능하므로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법원이 가해자의 권리를 인정했다고 가정할 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공장은 일부러 피해자들과 가까이 입지하여 교섭을 통해 배출량을 줄이는 대가로 보상 받아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자체로 수익성 높은 사업으로 인식하게 될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8943007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5881-051E-FD78-7FB2-37B39DB3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5D825-296A-2054-5AAA-ECE69E36C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제도적 행정적 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F46CD0-3AF4-1B19-FBBD-88123E72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B8905-66F0-E974-EA5A-1F2238891CCB}"/>
              </a:ext>
            </a:extLst>
          </p:cNvPr>
          <p:cNvSpPr txBox="1"/>
          <p:nvPr/>
        </p:nvSpPr>
        <p:spPr>
          <a:xfrm>
            <a:off x="288790" y="787394"/>
            <a:ext cx="11179048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소개된 사적 교섭 및 사법적 해결은 거래비용이 매우 적을 경우에만 사용 가능한 방법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다시 말하면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외부효과와 관련된 관계자가 적어야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환경문제의 인과관계가 명확해야 하고</a:t>
            </a:r>
            <a:r>
              <a:rPr lang="en-US" altLang="ko-KR" sz="1600" spc="-50" dirty="0"/>
              <a:t>,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당사자 간의 합의나 법원의 판결을 끌어내는 데 필요한 비용이 매우 적어야 함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제도적 규제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현실에서는 대부분 위의 조건을 만족하기가 어렵고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오히려 모든 환경문제에 대해 일률적으로 적용되는 규칙을 정해 강제로 지키게 하여 시장의 실패를 제거 혹은 완화하는 것이 더 효율적일 수도 있음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폐수의 단위당 </a:t>
            </a:r>
            <a:r>
              <a:rPr lang="en-US" altLang="ko-KR" sz="1600" spc="-50" dirty="0"/>
              <a:t>p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만큼의 세금을 매기는 정책 </a:t>
            </a:r>
            <a:r>
              <a:rPr lang="en-US" altLang="ko-KR" sz="1600" spc="-50"/>
              <a:t>(23</a:t>
            </a:r>
            <a:r>
              <a:rPr lang="ko-KR" altLang="en-US" sz="1600" spc="-50"/>
              <a:t>번 </a:t>
            </a:r>
            <a:r>
              <a:rPr lang="ko-KR" altLang="en-US" sz="1600" spc="-50" dirty="0"/>
              <a:t>슬라이드 그림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공장에게 </a:t>
            </a:r>
            <a:r>
              <a:rPr lang="en-US" altLang="ko-KR" sz="1600" spc="-50" dirty="0"/>
              <a:t>e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이하의 폐수만을 배출하도록 의무화 하는 정책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지키지 않을 시 벌금 및 벌칙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5164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6016</TotalTime>
  <Words>2334</Words>
  <Application>Microsoft Office PowerPoint</Application>
  <PresentationFormat>와이드스크린</PresentationFormat>
  <Paragraphs>318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Chapter 4  자원환경 이용에 있어 시장의 실패</vt:lpstr>
      <vt:lpstr>Section 1. 소유권과 시장메커니즘의 효율성</vt:lpstr>
      <vt:lpstr>시장 메커니즘</vt:lpstr>
      <vt:lpstr>Section 2. 개방자원시장과 공유자원시장의 비효율성</vt:lpstr>
      <vt:lpstr>개방자원</vt:lpstr>
      <vt:lpstr>개방자원의 비효율성</vt:lpstr>
      <vt:lpstr>개방자원의 비효율성</vt:lpstr>
      <vt:lpstr>공유자원</vt:lpstr>
      <vt:lpstr>Section 3. 공공재시장의 비효율성</vt:lpstr>
      <vt:lpstr>공공재</vt:lpstr>
      <vt:lpstr>경합성과 배제성</vt:lpstr>
      <vt:lpstr>공공재의 비효율성</vt:lpstr>
      <vt:lpstr>공공재의 비효율성: 무임승차</vt:lpstr>
      <vt:lpstr>무임승차를 완화시키는 조건들</vt:lpstr>
      <vt:lpstr>무임승차를 완화시키는 조건들</vt:lpstr>
      <vt:lpstr>Section 4. 외부효과</vt:lpstr>
      <vt:lpstr>외부효과</vt:lpstr>
      <vt:lpstr>Section 5. 시장실패의 해결</vt:lpstr>
      <vt:lpstr>사적 교섭을 통한 해결</vt:lpstr>
      <vt:lpstr>사적 교섭을 통한 해결</vt:lpstr>
      <vt:lpstr>사법적 해결</vt:lpstr>
      <vt:lpstr>코즈 정리 (Coase theorem, 1960)</vt:lpstr>
      <vt:lpstr>코즈 정리의 한계</vt:lpstr>
      <vt:lpstr>코즈 정리의 한계</vt:lpstr>
      <vt:lpstr>제도적 행정적 규제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177</cp:revision>
  <dcterms:created xsi:type="dcterms:W3CDTF">2025-07-05T05:15:23Z</dcterms:created>
  <dcterms:modified xsi:type="dcterms:W3CDTF">2026-09-17T00:47:19Z</dcterms:modified>
</cp:coreProperties>
</file>