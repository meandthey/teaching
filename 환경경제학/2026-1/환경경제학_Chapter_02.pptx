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375" r:id="rId2"/>
    <p:sldId id="405" r:id="rId3"/>
    <p:sldId id="550" r:id="rId4"/>
    <p:sldId id="557" r:id="rId5"/>
    <p:sldId id="559" r:id="rId6"/>
    <p:sldId id="560" r:id="rId7"/>
    <p:sldId id="561" r:id="rId8"/>
    <p:sldId id="562" r:id="rId9"/>
    <p:sldId id="563" r:id="rId10"/>
    <p:sldId id="565" r:id="rId11"/>
    <p:sldId id="566" r:id="rId12"/>
    <p:sldId id="569" r:id="rId13"/>
    <p:sldId id="570" r:id="rId14"/>
    <p:sldId id="572" r:id="rId15"/>
    <p:sldId id="571" r:id="rId16"/>
    <p:sldId id="573" r:id="rId17"/>
    <p:sldId id="574" r:id="rId18"/>
    <p:sldId id="575" r:id="rId19"/>
    <p:sldId id="576" r:id="rId20"/>
    <p:sldId id="577" r:id="rId21"/>
    <p:sldId id="578" r:id="rId22"/>
    <p:sldId id="36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48F"/>
    <a:srgbClr val="E15F5F"/>
    <a:srgbClr val="F8F7FC"/>
    <a:srgbClr val="2D72BE"/>
    <a:srgbClr val="070B12"/>
    <a:srgbClr val="0047A0"/>
    <a:srgbClr val="E3605B"/>
    <a:srgbClr val="FFFFFF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- 02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경제와 자연환경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경제와 자연환경의 상호관련성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경제와 자연환경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0707658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경제활동이란 생활에 필요한 재화와 서비스를 얻기 위해 생산하고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분배하고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소비하는 활동을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경제주체의 행위는 크게 생산과 소비로 양분된다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생산은 재화와 서비스를 만들어내기 위한 모든 활동을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소비는 생산된 재화와 서비스가 경제 내의 개인이나 집단으로 배분되는 모든 방식을 의미한다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생산과 소비활동이 이루어지는 경제는 자연환경 내에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자연환경과 상호교류하고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자연환경은 경제 내의 생산행위에 필요한 원료와 에너지를 공급하고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서비스를 제공하기도 한다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우리가 입는 옷은 석유제품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폴리에스터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나일론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혹은 가죽을 원료로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등산을 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자연으로부터 아름다운 경관을 누린다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인간의 생산과 소비활동은 폐기물을 생성하고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다시 자연으로 돌려보내며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인간이 적절히 처리하지 못하면 환경오염으로 나타난다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우리가 쓰던 재화들이 버려지면 폐기물이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재사용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소각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매립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59B8C-B65C-031E-C2CB-70674216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D9E545-0E46-43DE-DD6D-DD8537F7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경제와 자연환경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61392-0515-9937-0111-0E8B8387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67A96-C1F5-DA64-62D4-D70F72163A44}"/>
              </a:ext>
            </a:extLst>
          </p:cNvPr>
          <p:cNvSpPr txBox="1"/>
          <p:nvPr/>
        </p:nvSpPr>
        <p:spPr>
          <a:xfrm>
            <a:off x="288790" y="958844"/>
            <a:ext cx="1070765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경제와 자연환경의 상호관계에 대한 관점은 경제 혹은 경제학의 발전에 따라 다르게 나타났다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고전학파 경제학자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맬서스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리카르도 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들은 당시의 사회경제적 발전수준이 토지로 대표되는 천연자원의 중요성을 인정하였다</a:t>
            </a:r>
            <a:r>
              <a:rPr lang="en-US" altLang="ko-KR" sz="1600" spc="-50" dirty="0"/>
              <a:t>. (18</a:t>
            </a:r>
            <a:r>
              <a:rPr lang="ko-KR" altLang="en-US" sz="1600" spc="-50" dirty="0"/>
              <a:t>세기말</a:t>
            </a:r>
            <a:r>
              <a:rPr lang="en-US" altLang="ko-KR" sz="1600" spc="-50" dirty="0"/>
              <a:t>~19</a:t>
            </a:r>
            <a:r>
              <a:rPr lang="ko-KR" altLang="en-US" sz="1600" spc="-50" dirty="0"/>
              <a:t>세기 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토지의 가격 결정원리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제한된 토지의 효율적 활용을 통한 경제성장이 </a:t>
            </a:r>
            <a:r>
              <a:rPr lang="ko-KR" altLang="en-US" sz="1600" spc="-50" dirty="0" err="1"/>
              <a:t>연구주제였다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경제행위의 결과로 발생하는 환경오염 문제는 상대적으로 주목받지 못하였다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신고전학파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경제학자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마샬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토지와 같은 천연자원과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인간이 만들어내는 자본재 사이의 본질적인 차이를 인정하지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둘 모두 자본재라는 하나의 생산요소로 간주하였다</a:t>
            </a:r>
            <a:r>
              <a:rPr lang="en-US" altLang="ko-KR" sz="1600" spc="-50" dirty="0"/>
              <a:t>. (19</a:t>
            </a:r>
            <a:r>
              <a:rPr lang="ko-KR" altLang="en-US" sz="1600" spc="-50" dirty="0"/>
              <a:t>세기 후반</a:t>
            </a:r>
            <a:r>
              <a:rPr lang="en-US" altLang="ko-KR" sz="1600" spc="-50" dirty="0"/>
              <a:t>~20</a:t>
            </a:r>
            <a:r>
              <a:rPr lang="ko-KR" altLang="en-US" sz="1600" spc="-50" dirty="0"/>
              <a:t>세기 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새로운 천연자원을 발견하고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근대 산업화가 진행되고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경제가 성장하면서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자연적인 생산요소는 인간이 만들어내는 자본재에 의해 대체되는 상황이 나타나고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신고전학파는 경제행위가 노동과 자본이라는 두 가지 생산요소를 활용하여 이루어진다고 보았다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고전학파에서 신고전학파로 넘어오면서 천연자원이 인간의 경제행위에 미치는 중요성에 대한 인식은 점차 약해진 경향이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195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8D19-BCCE-3C69-2D46-E124682A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F4332-D17B-FBAF-FEAD-F055D1DE2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경제와 자연환경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7A4A94-7BD0-AF0B-0130-686056FC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153F0-2A4B-E4B6-11CD-7967FA369DA0}"/>
              </a:ext>
            </a:extLst>
          </p:cNvPr>
          <p:cNvSpPr txBox="1"/>
          <p:nvPr/>
        </p:nvSpPr>
        <p:spPr>
          <a:xfrm>
            <a:off x="288790" y="958844"/>
            <a:ext cx="10707658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</a:t>
            </a:r>
            <a:r>
              <a:rPr lang="ko-KR" altLang="en-US" sz="1600" spc="-50" dirty="0"/>
              <a:t>세기 후반기에 들어와 슐츠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루카스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로머와</a:t>
            </a:r>
            <a:r>
              <a:rPr lang="ko-KR" altLang="en-US" sz="1600" spc="-50" dirty="0"/>
              <a:t> 같은 학자들은 경제성장에 있어 인간자본의 역할을 강조하며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천연자원이나 자연환경이 경제성장에 미치는 영향은 더욱 낮게 평가하였다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경제성장론에</a:t>
            </a:r>
            <a:r>
              <a:rPr lang="ko-KR" altLang="en-US" sz="1600" spc="-50" dirty="0"/>
              <a:t> 의하면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농업에 있어서도 토지는 생산성을 결정하는 중요한 요소가 아니며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노동 또한 교육과 훈련 투자에 의해 결정되는 일종의 자본재로 간주한다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 경제성장론은 성장 동인을 물적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인적 자본의 축적에서 찾고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자연환경이 경제행위를 구속하는 요인이 되지 못한다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경제학이 발전하면서 천연자원의 희소성에 대한 중요성은 점차 낮아져 온 경향이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경제성장 과정에서 이류가 극심한 환경오염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천연자원 감소로 인해 경제와 자연환경과의 관계를 재검토하려는 시도 또한 나타나게 되었다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 중 하나가 경제학자 니스</a:t>
            </a:r>
            <a:r>
              <a:rPr lang="en-US" altLang="ko-KR" sz="1600" spc="-50" dirty="0"/>
              <a:t>(Kneese)</a:t>
            </a:r>
            <a:r>
              <a:rPr lang="ko-KR" altLang="en-US" sz="1600" spc="-50" dirty="0"/>
              <a:t>가 개발한 </a:t>
            </a:r>
            <a:r>
              <a:rPr lang="ko-KR" altLang="en-US" sz="1600" spc="-50" dirty="0" err="1"/>
              <a:t>물질균형접근법이며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 및 자원 문제를 이해하는데 중요한 틀이 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549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856CB-7D4B-A326-DE83-F0ACD2E9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E9E46-4E61-0B7F-F9B2-0994A8ED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물질균형접근법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923B2-ED03-7086-904F-361C49DC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A7A2E-2B35-4604-80C1-D7F27F75E76D}"/>
              </a:ext>
            </a:extLst>
          </p:cNvPr>
          <p:cNvSpPr txBox="1"/>
          <p:nvPr/>
        </p:nvSpPr>
        <p:spPr>
          <a:xfrm>
            <a:off x="288790" y="958844"/>
            <a:ext cx="10707658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물질균형접근법은 아래의 그림으로 </a:t>
            </a:r>
            <a:r>
              <a:rPr lang="ko-KR" altLang="en-US" sz="1600" spc="-50" dirty="0" err="1"/>
              <a:t>요악</a:t>
            </a:r>
            <a:r>
              <a:rPr lang="ko-KR" altLang="en-US" sz="1600" spc="-50" dirty="0"/>
              <a:t>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경로는 자연으로부터 경제행위로 향하는 경로로서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천연자원의 흐름을 나타낸다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경로는 천연자원과는 반대로 폐기물의 흐름을 의미한다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8" descr="Cap 2014-06-19 09-30-00-067.png">
            <a:extLst>
              <a:ext uri="{FF2B5EF4-FFF2-40B4-BE49-F238E27FC236}">
                <a16:creationId xmlns:a16="http://schemas.microsoft.com/office/drawing/2014/main" id="{94FB9CDF-88EA-7497-AF99-925268B573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6"/>
          <a:stretch>
            <a:fillRect/>
          </a:stretch>
        </p:blipFill>
        <p:spPr bwMode="auto">
          <a:xfrm>
            <a:off x="2265746" y="2372215"/>
            <a:ext cx="6271282" cy="416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D83C92-FB96-03D0-2339-94016BD1F682}"/>
              </a:ext>
            </a:extLst>
          </p:cNvPr>
          <p:cNvSpPr txBox="1"/>
          <p:nvPr/>
        </p:nvSpPr>
        <p:spPr>
          <a:xfrm>
            <a:off x="950119" y="4053938"/>
            <a:ext cx="1944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물질균형접근법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76075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11E2-92C9-ADA9-4BF2-E6FE3046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3F651-2D8C-E42F-8F34-0257299ED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물질균형접근법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A1690-22D4-0E4B-AC10-7BC82FB5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1C46D-F8B4-087E-41D4-388CBEA7AFFA}"/>
              </a:ext>
            </a:extLst>
          </p:cNvPr>
          <p:cNvSpPr txBox="1"/>
          <p:nvPr/>
        </p:nvSpPr>
        <p:spPr>
          <a:xfrm>
            <a:off x="288790" y="958844"/>
            <a:ext cx="1070765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첫번째 경로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자연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경제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 모든 천연 자원이 경제주체 중에서도 가계에 의해 소유된다고 가정해보자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가계는 지구가 저장하고 있는 토양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광물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등의 천연자원으로부터 다양한 물질과 에너지를 추출하여 생산요소시장에 공급한다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자연환경으로부터 경제로 공급되는 천연자원은 재생가능자원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재생불가능자원으로</a:t>
            </a:r>
            <a:r>
              <a:rPr lang="ko-KR" altLang="en-US" sz="1600" spc="-50" dirty="0"/>
              <a:t>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기업은 요소시장으로부터 다양한 물질과 에너지를 구매하여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최종생산물의 원료로 사용한다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기업이 만들어낸 최종생산물은 산출물시장에 공급하고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가계는 최종생산물을 소비한다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천연자원이 경제행위로 흘러 들어가는 과정을 연구하는 학문을 자원경제학이라 부른다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두번째 경로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경제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자연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 이 흐름은 경제행위 결과로 발생하여 자연으로 배출되는 부산물 혹은 폐기물의 흐름이며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자연이나 환경에 방출되는 오염물질의 흐름을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오염물질로는 화석연료 연소로 발생하는 이산화탄소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생활 및 공장하수 등을 예로 들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자연에 의해 흡수 및 정화되기도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상당부분이 오염물질의 형태로 자연에 잔류하게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오염물질은 생산행위 및 소비행위 모두로부터 발생하며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경제로부터 자연으로의 오염물질 흐름을 연구하는 분야가 환경경제학이다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350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3105A-7446-399D-F1FD-96A63194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97C33-5B18-CF2E-E0F7-199448E5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물질균형접근법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572AA-EBCB-2961-BBE6-7E6F8B9C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1C3B45-986C-E33E-C024-074C18581FF8}"/>
              </a:ext>
            </a:extLst>
          </p:cNvPr>
          <p:cNvSpPr txBox="1"/>
          <p:nvPr/>
        </p:nvSpPr>
        <p:spPr>
          <a:xfrm>
            <a:off x="288790" y="958844"/>
            <a:ext cx="1070765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두번째 경로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경제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자연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 이 흐름은 경제행위 결과로 발생하여 자연으로 배출되는 부산물 혹은 폐기물의 흐름이며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자연이나 환경에 방출되는 오염물질의 흐름을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오염물질로는 화석연료 연소로 발생하는 이산화탄소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생활 및 공장하수 등을 예로 들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자연에 의해 흡수 및 정화되기도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상당부분이 오염물질의 형태로 자연에 잔류하게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오염물질은 생산행위 및 소비행위 모두로부터 발생하며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경제로부터 자연으로의 오염물질 흐름을 연구하는 분야가 환경경제학이다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1377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BFDE-9DC0-BBE8-141A-E57D71DD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A5E96-0359-D726-9024-BEFE514A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물질균형접근법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C104D6-2F2F-5339-D56E-F422C911D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697DF-1709-FFC3-EFC4-B485F99139B6}"/>
              </a:ext>
            </a:extLst>
          </p:cNvPr>
          <p:cNvSpPr txBox="1"/>
          <p:nvPr/>
        </p:nvSpPr>
        <p:spPr>
          <a:xfrm>
            <a:off x="288790" y="958844"/>
            <a:ext cx="10707658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물질균형접근법은 자연과학의 연구 성과를 근거하여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자연으로부터 경제로의 천연자원의 흐름과 경제로부터 자연으로의 폐기물의 흐름은 일종의 균형을 이룬다고 설명한다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열역학 제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법칙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에너지는 형태를 바꿀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총량은 변하지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자연으로부터 추출된 물질이나 에너지는 재활용이나 재사용을 통해 잠시 지체될 수 있지만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궁극적으로는 동일한 양의 폐기물로 전환되어 자연으로 환원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열역학 제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법칙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엔트로피는 항상 증가하거나 유지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열은 </a:t>
            </a:r>
            <a:r>
              <a:rPr lang="ko-KR" altLang="en-US" sz="1600" spc="-50" dirty="0" err="1"/>
              <a:t>고온에서</a:t>
            </a:r>
            <a:r>
              <a:rPr lang="ko-KR" altLang="en-US" sz="1600" spc="-50" dirty="0"/>
              <a:t> 저온으로 흐름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뜨거운 커피는 저절로 식지만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찬 커피는 저절로 뜨거워지지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물질이나 에너지의 형태가 전환되는 과정이 거듭될수록 사용할 수 없는 에너지의 양은 점차 증가한다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자연과 폐기물 간의 순환관계가 반복되면 결국은 천연자원이 모두 고갈되고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인류의 생존 자체도 불가능하게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물질균형접근법은 크게 두 가지 함의를 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천연자원을 이용하는 경제행위는 환경오염을 유발할 폐기물을 반드시 유출한다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천연자원을 다른 형태의 물질이나 에너지로 전환할 수 있는 능력은 제한되어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700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E54CB-A919-2849-C884-EF6D003F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813B44-62A5-A997-37AE-DB051892DB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963907-0F8A-0230-D2D3-F67F1AA4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6B0623D-8665-C22D-28BE-D07B7122F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오염의 경로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15827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A8112-5858-ACE6-EA22-929BE5AC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A7DE3-7CC8-7E14-7555-AC5B332C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오염의 경로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2BF50-11DA-6D36-FC7E-CC892402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846F9-972D-F8D9-D39C-C5CF92584949}"/>
              </a:ext>
            </a:extLst>
          </p:cNvPr>
          <p:cNvSpPr txBox="1"/>
          <p:nvPr/>
        </p:nvSpPr>
        <p:spPr>
          <a:xfrm>
            <a:off x="288790" y="958844"/>
            <a:ext cx="10707658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오염원으로부터 배출되어 최종적으로 사람과 환경에 피해를 입히는 경로를 파악하기 위해서는 다음의 기초 용어들을 이해할 필요가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환경질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자연환경의 질적 상태를 표현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오염도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자연경관 등을 포함하는 매우 넓은 개념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산출물의 생산 혹은 소비 과정을 거치고 남은 물질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산업폐기물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생산과정에서 남은 물질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생활폐기물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소비과정에서 남은 물질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자연으로 배출되면 환경질을 떨어뜨리는 물질이나 에너지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 배출량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폐기물 중 자연으로 배출된 오염물질의 양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오염물질이 배출되는 장소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쓰레기 매립장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오염피해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환경오염이 사람과 생태계에 미치는 부정적인 영향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사람의 건강 악화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동식물 멸종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환경매체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자연환경을 구성하는 요소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대기</a:t>
            </a:r>
            <a:r>
              <a:rPr lang="en-US" altLang="ko-KR" sz="1600" spc="-50" dirty="0"/>
              <a:t>)</a:t>
            </a:r>
            <a:endParaRPr lang="en-US" altLang="ko-KR" sz="28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30645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0058-CBE4-19C5-5145-74078B48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B956E-A2B8-DB49-847F-7D3AE71F8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오염의 경로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2B24E-FADC-6FCA-D16B-06EBD71D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31884-1DBB-2A2F-EB1B-FDEB7BFA3FF2}"/>
              </a:ext>
            </a:extLst>
          </p:cNvPr>
          <p:cNvSpPr txBox="1"/>
          <p:nvPr/>
        </p:nvSpPr>
        <p:spPr>
          <a:xfrm>
            <a:off x="288790" y="958844"/>
            <a:ext cx="10707658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용어들을 토대로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오염물질이 오염원으로부터 배출되어 최종적으로 사람과 환경에 피해를 입히는 경로를 아래와 같이 개념화할 수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Cap 2014-06-19 09-30-23-006.png">
            <a:extLst>
              <a:ext uri="{FF2B5EF4-FFF2-40B4-BE49-F238E27FC236}">
                <a16:creationId xmlns:a16="http://schemas.microsoft.com/office/drawing/2014/main" id="{49D7313B-CB46-4FE3-0B65-987F230300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4"/>
          <a:stretch>
            <a:fillRect/>
          </a:stretch>
        </p:blipFill>
        <p:spPr bwMode="auto">
          <a:xfrm>
            <a:off x="4089548" y="1598797"/>
            <a:ext cx="4537985" cy="478011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BCCE71-7EA6-09CC-D660-B762517682DB}"/>
              </a:ext>
            </a:extLst>
          </p:cNvPr>
          <p:cNvSpPr txBox="1"/>
          <p:nvPr/>
        </p:nvSpPr>
        <p:spPr>
          <a:xfrm>
            <a:off x="2440252" y="3429000"/>
            <a:ext cx="1944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/>
              <a:t>&lt;</a:t>
            </a:r>
            <a:r>
              <a:rPr lang="ko-KR" altLang="en-US" sz="1400" spc="-50" dirty="0"/>
              <a:t>오염의 경로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7128C44-742F-BA65-0786-07892554DB40}"/>
              </a:ext>
            </a:extLst>
          </p:cNvPr>
          <p:cNvSpPr/>
          <p:nvPr/>
        </p:nvSpPr>
        <p:spPr>
          <a:xfrm>
            <a:off x="4270646" y="1450793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B37C927-9FDB-6D5E-2979-8B134EE754D8}"/>
              </a:ext>
            </a:extLst>
          </p:cNvPr>
          <p:cNvSpPr/>
          <p:nvPr/>
        </p:nvSpPr>
        <p:spPr>
          <a:xfrm>
            <a:off x="4270646" y="2140294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74BCFD5-5B97-A6CB-B0E2-B9731E1547F3}"/>
              </a:ext>
            </a:extLst>
          </p:cNvPr>
          <p:cNvSpPr/>
          <p:nvPr/>
        </p:nvSpPr>
        <p:spPr>
          <a:xfrm>
            <a:off x="4270646" y="3070496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5655858-E95E-9501-0C7D-CE38B7EB7FE1}"/>
              </a:ext>
            </a:extLst>
          </p:cNvPr>
          <p:cNvSpPr/>
          <p:nvPr/>
        </p:nvSpPr>
        <p:spPr>
          <a:xfrm>
            <a:off x="4270646" y="3743148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D144BAA-E155-2869-0609-DEE9083ACC0F}"/>
              </a:ext>
            </a:extLst>
          </p:cNvPr>
          <p:cNvSpPr/>
          <p:nvPr/>
        </p:nvSpPr>
        <p:spPr>
          <a:xfrm>
            <a:off x="4270646" y="4377611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6222709-656B-7F53-5CC6-F3A8F7089164}"/>
              </a:ext>
            </a:extLst>
          </p:cNvPr>
          <p:cNvSpPr/>
          <p:nvPr/>
        </p:nvSpPr>
        <p:spPr>
          <a:xfrm>
            <a:off x="4270646" y="4933940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6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71602A8-0F64-6B97-E9AE-813ABB43BC4A}"/>
              </a:ext>
            </a:extLst>
          </p:cNvPr>
          <p:cNvSpPr/>
          <p:nvPr/>
        </p:nvSpPr>
        <p:spPr>
          <a:xfrm>
            <a:off x="4270646" y="5715526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4097A9B-E776-3C5D-EF32-6CF19DDDEEA6}"/>
              </a:ext>
            </a:extLst>
          </p:cNvPr>
          <p:cNvCxnSpPr>
            <a:cxnSpLocks/>
          </p:cNvCxnSpPr>
          <p:nvPr/>
        </p:nvCxnSpPr>
        <p:spPr>
          <a:xfrm>
            <a:off x="4555941" y="1734059"/>
            <a:ext cx="3708000" cy="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2D1D074-0E75-7019-72C2-AD0223F0075D}"/>
              </a:ext>
            </a:extLst>
          </p:cNvPr>
          <p:cNvCxnSpPr>
            <a:cxnSpLocks/>
          </p:cNvCxnSpPr>
          <p:nvPr/>
        </p:nvCxnSpPr>
        <p:spPr>
          <a:xfrm>
            <a:off x="4555941" y="2766991"/>
            <a:ext cx="3708000" cy="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70A92C2-75E1-E44E-84EC-882C93C12BC1}"/>
              </a:ext>
            </a:extLst>
          </p:cNvPr>
          <p:cNvCxnSpPr>
            <a:cxnSpLocks/>
          </p:cNvCxnSpPr>
          <p:nvPr/>
        </p:nvCxnSpPr>
        <p:spPr>
          <a:xfrm>
            <a:off x="4555941" y="3626357"/>
            <a:ext cx="3708000" cy="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24253E7-1BB2-7090-2487-9F5790EA5C5D}"/>
              </a:ext>
            </a:extLst>
          </p:cNvPr>
          <p:cNvCxnSpPr>
            <a:cxnSpLocks/>
          </p:cNvCxnSpPr>
          <p:nvPr/>
        </p:nvCxnSpPr>
        <p:spPr>
          <a:xfrm>
            <a:off x="4555941" y="4108957"/>
            <a:ext cx="3708000" cy="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7A4F0D6-90DD-400B-5EFF-5C79D97C218C}"/>
              </a:ext>
            </a:extLst>
          </p:cNvPr>
          <p:cNvCxnSpPr>
            <a:cxnSpLocks/>
          </p:cNvCxnSpPr>
          <p:nvPr/>
        </p:nvCxnSpPr>
        <p:spPr>
          <a:xfrm>
            <a:off x="4555941" y="5366257"/>
            <a:ext cx="3708000" cy="0"/>
          </a:xfrm>
          <a:prstGeom prst="line">
            <a:avLst/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5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4B57-01CB-EDD9-170F-04022903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720F9-908F-48AA-B94B-9797E494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오염의 경로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A367D0-2DCC-1FFD-BA24-02CEADA1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9235F-9271-1DCE-CDFD-B580DAC80B14}"/>
              </a:ext>
            </a:extLst>
          </p:cNvPr>
          <p:cNvSpPr txBox="1"/>
          <p:nvPr/>
        </p:nvSpPr>
        <p:spPr>
          <a:xfrm>
            <a:off x="288790" y="958844"/>
            <a:ext cx="10707658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경제에 </a:t>
            </a:r>
            <a:r>
              <a:rPr lang="en-US" altLang="ko-KR" sz="1600" spc="-50" dirty="0"/>
              <a:t>N</a:t>
            </a:r>
            <a:r>
              <a:rPr lang="ko-KR" altLang="en-US" sz="1600" spc="-50" dirty="0"/>
              <a:t>개의 오염원이 있다고 하자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오염원은 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농장 같은 생산체가 될 수도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가정이 될 수도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오염원이 경제행위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생산 혹은 소비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폐기물이 발생한다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폐기물은 최종적으로 오염물질 배출량으로 전환이 될 텐데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과정은 폐기물이 어떻게 처리되는지에 따라 결정적으로 영향을 받는다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폐기물을 희석하여 그 농도를 낮추거나 저장하면 오염물질로 배출되는 양이 줄거나 지연될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폐기물은 희석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재활용 등의 과정을 거쳐도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일부는 결국 오염물질로 배출된다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배출된 오염물질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아황산가스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대기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 등과 같은 환경매체의 일부나 전부를 반드시 거치게 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679F4CF-966B-B399-E8B4-153D5C816FE6}"/>
              </a:ext>
            </a:extLst>
          </p:cNvPr>
          <p:cNvSpPr/>
          <p:nvPr/>
        </p:nvSpPr>
        <p:spPr>
          <a:xfrm>
            <a:off x="561100" y="872434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8DDC078-621F-ACAE-894C-E00A8A7D893C}"/>
              </a:ext>
            </a:extLst>
          </p:cNvPr>
          <p:cNvSpPr/>
          <p:nvPr/>
        </p:nvSpPr>
        <p:spPr>
          <a:xfrm>
            <a:off x="561100" y="1645290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F883C17-48DC-5DDB-8BA9-A489F0ECEC0C}"/>
              </a:ext>
            </a:extLst>
          </p:cNvPr>
          <p:cNvSpPr/>
          <p:nvPr/>
        </p:nvSpPr>
        <p:spPr>
          <a:xfrm>
            <a:off x="561100" y="2332775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84FC1EE-92D7-0E82-ED7E-7128C9A84388}"/>
              </a:ext>
            </a:extLst>
          </p:cNvPr>
          <p:cNvSpPr/>
          <p:nvPr/>
        </p:nvSpPr>
        <p:spPr>
          <a:xfrm>
            <a:off x="561100" y="3805975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760EDF0-560D-1373-EAF1-FBDDA8AE018F}"/>
              </a:ext>
            </a:extLst>
          </p:cNvPr>
          <p:cNvSpPr/>
          <p:nvPr/>
        </p:nvSpPr>
        <p:spPr>
          <a:xfrm>
            <a:off x="561100" y="4546808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268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D8F7-F5C8-FE77-4A4D-8BFF20A2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B3513-38D4-1D47-E821-C11A81A0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오염의 경로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7F514-E59A-411F-52D4-BED0A2FB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B8CB-EDA5-0E59-F0CC-A92C5CB2BD14}"/>
              </a:ext>
            </a:extLst>
          </p:cNvPr>
          <p:cNvSpPr txBox="1"/>
          <p:nvPr/>
        </p:nvSpPr>
        <p:spPr>
          <a:xfrm>
            <a:off x="288790" y="958844"/>
            <a:ext cx="10707658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 오염원으로부터 배출된 오염물질은 환경매체를 통과하는 과정에서 서로 합쳐지지만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과정은 단순하지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어떤 농가는 수원지 바로 옆에 위치하고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한 농가는 </a:t>
            </a:r>
            <a:r>
              <a:rPr lang="en-US" altLang="ko-KR" sz="1600" spc="-50" dirty="0"/>
              <a:t>100km</a:t>
            </a:r>
            <a:r>
              <a:rPr lang="ko-KR" altLang="en-US" sz="1600" spc="-50" dirty="0"/>
              <a:t>이상 떨어져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오염원들의 오염물질 배출량을 단순히 합산하는 것은 무의미할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물리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화학적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수문학적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기상학적 과정을 통해 최종적으로 환경질에 영향을 미치게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바람의 방향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강수 정도 등의 자연적 요인과 결합하여 환경질에 영향을 미친다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최종적으로 배출된 </a:t>
            </a:r>
            <a:r>
              <a:rPr lang="ko-KR" altLang="en-US" sz="1600" spc="-50" dirty="0" err="1"/>
              <a:t>오염물질량과</a:t>
            </a:r>
            <a:r>
              <a:rPr lang="ko-KR" altLang="en-US" sz="1600" spc="-50" dirty="0"/>
              <a:t> 여러 자연적 요인에 의해 결정되는 오염도 혹은 환경질은 인간과 생태계에 피해를 입히게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인간이나 생태계가 환경오염으로부터 입는 피해는 오염물질에 얼마나 노출 </a:t>
            </a:r>
            <a:r>
              <a:rPr lang="ko-KR" altLang="en-US" sz="1600" spc="-50" dirty="0" err="1"/>
              <a:t>되느냐에</a:t>
            </a:r>
            <a:r>
              <a:rPr lang="ko-KR" altLang="en-US" sz="1600" spc="-50" dirty="0"/>
              <a:t> 의해 결정되고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정도의 오염도가 발생하더라도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인간이 어떤 행위를 </a:t>
            </a:r>
            <a:r>
              <a:rPr lang="ko-KR" altLang="en-US" sz="1600" spc="-50" dirty="0" err="1"/>
              <a:t>하느냐에</a:t>
            </a:r>
            <a:r>
              <a:rPr lang="ko-KR" altLang="en-US" sz="1600" spc="-50" dirty="0"/>
              <a:t> 따라 피해정도는 달라진다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식수원이 오염되어도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물을 정수하거나 끓이면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피해가 줄어들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대기오염도가 높아도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주민들은 그 지역으로부터 벗어난 지역에 모여 살고 있다면 피해가 줄어들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인간이 환경오염으로부터 입는 피해는 인간이 어디서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어떻게 살고 있느냐에 따라서도 영향을 받는다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B14816F-32AF-9BB5-3F9E-F0B2A73C4F10}"/>
              </a:ext>
            </a:extLst>
          </p:cNvPr>
          <p:cNvSpPr/>
          <p:nvPr/>
        </p:nvSpPr>
        <p:spPr>
          <a:xfrm>
            <a:off x="561100" y="859574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6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DECDB1-57D2-0F43-BBE6-43A99819D915}"/>
              </a:ext>
            </a:extLst>
          </p:cNvPr>
          <p:cNvSpPr/>
          <p:nvPr/>
        </p:nvSpPr>
        <p:spPr>
          <a:xfrm>
            <a:off x="561100" y="3098581"/>
            <a:ext cx="283266" cy="283266"/>
          </a:xfrm>
          <a:prstGeom prst="ellipse">
            <a:avLst/>
          </a:prstGeom>
          <a:solidFill>
            <a:srgbClr val="FFFF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654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5CF2-6ACC-22EF-A9A1-905EA4649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13AC40-F2DB-3FB9-3513-44F5015DE0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43C3E-984D-C95E-A0B8-B243C519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051DA01-B593-CEAB-3C5E-880E39D7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오염물질의 종류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563210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670E-7CE7-90E6-EDC5-B81C8CF14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B4C3304-D5A1-DB98-8577-21FE3F844966}"/>
              </a:ext>
            </a:extLst>
          </p:cNvPr>
          <p:cNvSpPr txBox="1"/>
          <p:nvPr/>
        </p:nvSpPr>
        <p:spPr>
          <a:xfrm>
            <a:off x="288790" y="958844"/>
            <a:ext cx="10707658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축적성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비축적성 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자연으로 배출된 후 오랫동안 머물면서 축적 되는지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아니면 소멸되는지에 따라 분류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축적성</a:t>
            </a:r>
            <a:r>
              <a:rPr lang="ko-KR" altLang="en-US" sz="1600" spc="-50" dirty="0"/>
              <a:t>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이산화탄소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중금속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비축적성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소음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악취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빛 공해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축적성을 기준으로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대부분의 오염물질은 소음과 같은 극단적인 비축적성 오염물질과 핵폐기물 같은 극단적인 </a:t>
            </a:r>
            <a:r>
              <a:rPr lang="ko-KR" altLang="en-US" sz="1600" spc="-50" dirty="0" err="1"/>
              <a:t>축적성</a:t>
            </a:r>
            <a:r>
              <a:rPr lang="ko-KR" altLang="en-US" sz="1600" spc="-50" dirty="0"/>
              <a:t> 오염물질 사이에 위치하게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오염물질의 축적성인지 평가하는 방법은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오염물질 배출량이 자연의 흡수능력을 초과하는지에 달렸다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자연은 어느 정도의 오염물질을 흡수하여 분해하는 능력을 갖고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생태계의 조절 능력을 벗어나 오염물질이 배출 되는 경우 자연에 오염물질이 축적 됨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탄소배출양이 </a:t>
            </a:r>
            <a:r>
              <a:rPr lang="ko-KR" altLang="en-US" sz="1600" spc="-50" dirty="0" err="1"/>
              <a:t>탄소흡수량을</a:t>
            </a:r>
            <a:r>
              <a:rPr lang="ko-KR" altLang="en-US" sz="1600" spc="-50" dirty="0"/>
              <a:t> 초과하여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지속된 결과 기후변화가 초래 됨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탄소배출양과 </a:t>
            </a:r>
            <a:r>
              <a:rPr lang="ko-KR" altLang="en-US" sz="1600" spc="-50" dirty="0" err="1"/>
              <a:t>탄소흡수량이</a:t>
            </a:r>
            <a:r>
              <a:rPr lang="ko-KR" altLang="en-US" sz="1600" spc="-50" dirty="0"/>
              <a:t> 같아지는 상황을 탄소중립</a:t>
            </a:r>
            <a:endParaRPr lang="en-US" altLang="ko-KR" sz="1600" spc="-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96223C-7B69-74DB-A2C1-25885AA6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819003-C7CB-ADC1-BFDB-2CBF1164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18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A9CD-3C93-FF65-2D69-9A9C6AD1E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CB8CD7D-3D99-FD60-532A-46935F9957F7}"/>
              </a:ext>
            </a:extLst>
          </p:cNvPr>
          <p:cNvSpPr txBox="1"/>
          <p:nvPr/>
        </p:nvSpPr>
        <p:spPr>
          <a:xfrm>
            <a:off x="288790" y="958844"/>
            <a:ext cx="10707658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국지적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지역적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월경 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오염물질이 영향을 미치는 수평적 범위에 따라 분류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국지적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특정지역의 근처에만 영향을 주는 오염물질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난방 보일러에서 나오는 일산화탄소</a:t>
            </a:r>
            <a:r>
              <a:rPr lang="en-US" altLang="ko-KR" sz="1600" spc="-50" dirty="0"/>
              <a:t>(CO)</a:t>
            </a:r>
            <a:r>
              <a:rPr lang="ko-KR" altLang="en-US" sz="1600" spc="-50" dirty="0"/>
              <a:t>가 근처에서만 높은 농도를 보임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지역적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도시권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광역권역에 영향을 주는 오염물질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산성비는 </a:t>
            </a:r>
            <a:r>
              <a:rPr lang="en-US" altLang="ko-KR" sz="1600" spc="-50" dirty="0"/>
              <a:t>SO</a:t>
            </a:r>
            <a:r>
              <a:rPr lang="en-US" altLang="ko-KR" sz="1600" spc="-50" baseline="-25000" dirty="0"/>
              <a:t>2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Nox</a:t>
            </a:r>
            <a:r>
              <a:rPr lang="ko-KR" altLang="en-US" sz="1600" spc="-50" dirty="0"/>
              <a:t> 같은 물질이 주요 원인이며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수백 </a:t>
            </a:r>
            <a:r>
              <a:rPr lang="en-US" altLang="ko-KR" sz="1600" spc="-50" dirty="0"/>
              <a:t>km </a:t>
            </a:r>
            <a:r>
              <a:rPr lang="ko-KR" altLang="en-US" sz="1600" spc="-50" dirty="0"/>
              <a:t>이상을 이동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서울에서 주행하는 차량이 내뿜는 오염물질로 인해 대전에 산성비가 내리는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월경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국경을 넘어 다른 나라에도 영향을 주는 오염물질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중국의 산업활동에 의한 미세먼지가 한국이나 일본에 피해를 주는 경우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러시아의 산업활동에 의해 독일이나 핀란드가 산성비 피해를 입는 경우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온실가스는 지구 전체에 기후변화를 일으키고 있음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통상적으로 국지적 오염물질에 비해 지역적 혹은 월경오염물질을 관리하는 것이 훨씬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지역적 혹은 월경 오염물질은 행정구역간 혹은 </a:t>
            </a:r>
            <a:r>
              <a:rPr lang="ko-KR" altLang="en-US" sz="1600" spc="-50" dirty="0" err="1"/>
              <a:t>국가간의</a:t>
            </a:r>
            <a:r>
              <a:rPr lang="ko-KR" altLang="en-US" sz="1600" spc="-50" dirty="0"/>
              <a:t> 이해 조절이 필요하다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E0F598-54C8-6C56-632F-D8E4AA5F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3C9E1-6AC8-2703-ED0D-C7C772615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720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D430-0B27-B73F-7B30-71E4F85A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C56EFD-DF99-28F3-CCC3-2818A6B44FD4}"/>
              </a:ext>
            </a:extLst>
          </p:cNvPr>
          <p:cNvSpPr txBox="1"/>
          <p:nvPr/>
        </p:nvSpPr>
        <p:spPr>
          <a:xfrm>
            <a:off x="288790" y="958844"/>
            <a:ext cx="10707658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지상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전지구적 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오염물질이 영향을 미치는 수직적 범위에 따라 분류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지상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지표면에 축적되어 환경을 파괴하는 오염물질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모든 종류의 수질 및 토양 오염물질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대기오염물질은 지상오염을 유발할 수도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 지구적 차원의 오염을 유발할 수도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전지구적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대기권에 축적되어 지구 전체의 환경을 파괴하는 오염물질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온실가스와 오존층을 파괴하는 </a:t>
            </a:r>
            <a:r>
              <a:rPr lang="en-US" altLang="ko-KR" sz="1600" spc="-50" dirty="0"/>
              <a:t>CFC</a:t>
            </a:r>
            <a:r>
              <a:rPr lang="ko-KR" altLang="en-US" sz="1600" spc="-50" dirty="0"/>
              <a:t>가스가 대표적인 예이다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 지구적 오염물질을 관리하기 위해서는 기후변화협약과 같은 지구 전체 국가 간의 협력이 필요하다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CDCEDC2-BB18-93B1-228C-22280ED7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4C8B98-CDF0-F9C9-CACF-E01D7F84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20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6E06-0C10-EC94-898B-D287ADCFC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A1BBB4-E0F1-8168-8B6D-A8C1479776E8}"/>
              </a:ext>
            </a:extLst>
          </p:cNvPr>
          <p:cNvSpPr txBox="1"/>
          <p:nvPr/>
        </p:nvSpPr>
        <p:spPr>
          <a:xfrm>
            <a:off x="288790" y="958844"/>
            <a:ext cx="1070765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점원 </a:t>
            </a:r>
            <a:r>
              <a:rPr lang="en-US" altLang="ko-KR" sz="1600" spc="-50" dirty="0"/>
              <a:t>vs. </a:t>
            </a:r>
            <a:r>
              <a:rPr lang="ko-KR" altLang="en-US" sz="1600" spc="-50" dirty="0" err="1"/>
              <a:t>비점원</a:t>
            </a:r>
            <a:r>
              <a:rPr lang="ko-KR" altLang="en-US" sz="1600" spc="-50" dirty="0"/>
              <a:t> 오염물질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오염물질이 영향을 미치는 수직적 범위에 따라 분류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점원 오염물질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하나의 지점을 통해 오염물질이 배출되는 경우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점원 오염물질은 오염원으로부터 얼마나 배출되는지 정확히 알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공장의 굴뚝이나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폐수처리장이 점원의 대표적인 예이다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비점원</a:t>
            </a:r>
            <a:r>
              <a:rPr lang="ko-KR" altLang="en-US" sz="1600" spc="-50" dirty="0"/>
              <a:t>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넓은 지역에서 오염물질이 배출되는 경우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비점원</a:t>
            </a:r>
            <a:r>
              <a:rPr lang="ko-KR" altLang="en-US" sz="1600" spc="-50" dirty="0"/>
              <a:t> 오염물질은 비교적 넓은 지역의 환경을 불분명한 경로를 거쳐 오염시킨다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농경지의 농약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비료에 의한 수질오염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건설 현장 폐자재로 인한 오염 등이 대표적인 예이다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점원오염은 오염원이나 오염경로를 정확히 파악할 수 있기 </a:t>
            </a:r>
            <a:r>
              <a:rPr lang="ko-KR" altLang="en-US" sz="1600" spc="-50" dirty="0" err="1"/>
              <a:t>떄문에</a:t>
            </a:r>
            <a:r>
              <a:rPr lang="ko-KR" altLang="en-US" sz="1600" spc="-50" dirty="0"/>
              <a:t> 관리가 상대적으로 쉽다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C3627F6-B75C-160F-D323-A1CAD77F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오염물질의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0C19D3-8921-4E64-BDE9-97C785D3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032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C89C-35E3-9400-B571-5B8C8B91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576368-CC23-63CE-9B08-80FA7BA36500}"/>
              </a:ext>
            </a:extLst>
          </p:cNvPr>
          <p:cNvSpPr txBox="1"/>
          <p:nvPr/>
        </p:nvSpPr>
        <p:spPr>
          <a:xfrm>
            <a:off x="288790" y="958844"/>
            <a:ext cx="10707658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연속적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간헐적 오염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오염물질이 배출되는 시간적 범위에 따라 분류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연속적 오염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연속적으로 배출되는 오염물질에 의한 환경오염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공장은 가동되는 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오염물질을 계속해서 배출한다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단위 기간당 오염물질 배출량을 관리하는 것이 필요하다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간헐적 오염물질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불규칙하게 간헐적으로 배출되는 오염물질에 의한 환경오염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핵발전소의 방사능 유출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유조선 좌초에 따른 기름 유출은 간헐적으로 발생한다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어떤 수준의 확률을 가지고 발생하므로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종류의 오염이 어느 정도의 발생 확률을 갖는지 확인을 하고 관리하는 것이 필요하다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DC5ACEE-C006-DEB7-9C4E-6DAA19183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CA59F-327A-D9B9-5F47-A74A91F8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81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5123</TotalTime>
  <Words>1765</Words>
  <Application>Microsoft Office PowerPoint</Application>
  <PresentationFormat>와이드스크린</PresentationFormat>
  <Paragraphs>197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HY헤드라인M</vt:lpstr>
      <vt:lpstr>KoPub돋움체 Light</vt:lpstr>
      <vt:lpstr>맑은 고딕</vt:lpstr>
      <vt:lpstr>Arial</vt:lpstr>
      <vt:lpstr>Wingdings</vt:lpstr>
      <vt:lpstr>Office 테마</vt:lpstr>
      <vt:lpstr>환경 경제학</vt:lpstr>
      <vt:lpstr>Chapter 2  경제와 자연환경</vt:lpstr>
      <vt:lpstr>Section 1. 경제와 자연환경의 상호관련성</vt:lpstr>
      <vt:lpstr>경제와 자연환경</vt:lpstr>
      <vt:lpstr>경제와 자연환경</vt:lpstr>
      <vt:lpstr>경제와 자연환경</vt:lpstr>
      <vt:lpstr>물질균형접근법</vt:lpstr>
      <vt:lpstr>물질균형접근법</vt:lpstr>
      <vt:lpstr>물질균형접근법</vt:lpstr>
      <vt:lpstr>물질균형접근법</vt:lpstr>
      <vt:lpstr>Section 2. 오염의 경로</vt:lpstr>
      <vt:lpstr>오염의 경로</vt:lpstr>
      <vt:lpstr>오염의 경로</vt:lpstr>
      <vt:lpstr>오염의 경로</vt:lpstr>
      <vt:lpstr>오염의 경로</vt:lpstr>
      <vt:lpstr>Section 3. 오염물질의 종류</vt:lpstr>
      <vt:lpstr>오염물질의 종류</vt:lpstr>
      <vt:lpstr>오염물질의 종류</vt:lpstr>
      <vt:lpstr>오염물질의 종류</vt:lpstr>
      <vt:lpstr>오염물질의 종류</vt:lpstr>
      <vt:lpstr>오염의 종류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133</cp:revision>
  <dcterms:created xsi:type="dcterms:W3CDTF">2025-07-05T05:15:23Z</dcterms:created>
  <dcterms:modified xsi:type="dcterms:W3CDTF">2026-09-09T08:39:13Z</dcterms:modified>
</cp:coreProperties>
</file>