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375" r:id="rId2"/>
    <p:sldId id="399" r:id="rId3"/>
    <p:sldId id="405" r:id="rId4"/>
    <p:sldId id="550" r:id="rId5"/>
    <p:sldId id="416" r:id="rId6"/>
    <p:sldId id="623" r:id="rId7"/>
    <p:sldId id="624" r:id="rId8"/>
    <p:sldId id="625" r:id="rId9"/>
    <p:sldId id="626" r:id="rId10"/>
    <p:sldId id="627" r:id="rId11"/>
    <p:sldId id="629" r:id="rId12"/>
    <p:sldId id="630" r:id="rId13"/>
    <p:sldId id="628" r:id="rId14"/>
    <p:sldId id="600" r:id="rId15"/>
    <p:sldId id="441" r:id="rId16"/>
    <p:sldId id="443" r:id="rId17"/>
    <p:sldId id="444" r:id="rId18"/>
    <p:sldId id="445" r:id="rId19"/>
    <p:sldId id="446" r:id="rId20"/>
    <p:sldId id="442" r:id="rId21"/>
    <p:sldId id="447" r:id="rId22"/>
    <p:sldId id="449" r:id="rId23"/>
    <p:sldId id="450" r:id="rId24"/>
    <p:sldId id="451" r:id="rId25"/>
    <p:sldId id="3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27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ts.krx.co.kr/main/main.js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ni.co.kr/arti/society/society_general/1146946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- 05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3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환경정책의 수립과 집행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환경정책의 평가 기준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오염피해와 저감비용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2399-5788-E74B-5361-EE2B3FD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01FE-46B7-EA74-DC09-87F917E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오염피해와 저감비용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3EA2D-F4A0-4D5F-3A9A-6FA2AC8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4AD4C-B53B-5381-47CB-CF22DF46A454}"/>
              </a:ext>
            </a:extLst>
          </p:cNvPr>
          <p:cNvSpPr txBox="1"/>
          <p:nvPr/>
        </p:nvSpPr>
        <p:spPr>
          <a:xfrm>
            <a:off x="288790" y="787394"/>
            <a:ext cx="114142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시장의 실패로 인해 발생하는 지나친 환경오염을 막기 위해서 정부가 사용하는 환경정책은 사회 전체의 후생을 증가 시키는 측면과 감소시키는 측면을 동시에 가진다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환경정책을 시행하면 환경오염이 줄고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오염으로 인한 피해가 감소한다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오염자는 자신의 생산행위를 축소하고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가지고 있는 생산자원 중 일부를 오염을 줄이는 행위에 사용하여야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환경정책의 평가를 위해서는 환경정책이 야기하는 오염의 피해와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비용의 증가를 분석해야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spc="-50" dirty="0"/>
              <a:t>오염피해</a:t>
            </a:r>
            <a:r>
              <a:rPr lang="ko-KR" altLang="en-US" sz="1600" spc="-50" dirty="0"/>
              <a:t>란 환경오염이 사람과 생태계에 미치는 모든 피해를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대기오염으로 인한 사람들의 호흡기 질환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산성비로 인한 건물의 부식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spc="-50" dirty="0"/>
              <a:t>피해함수</a:t>
            </a:r>
            <a:r>
              <a:rPr lang="ko-KR" altLang="en-US" sz="1600" spc="-50" dirty="0"/>
              <a:t>란 환경이 오염된 정도와 그로 인해 발생한 피해의 관계를 나타낸 것이다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보통 오염은 여러 종류의 피해를 복합적으로 유발하기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 피해를 모두 더할 수 있기 위해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종류의 피해에 적용되는 공통 단위가 필요하다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우리는 피해함수를 환경오염이 유발하는 피해를 화폐단위로 나타내는 것이라 정의할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11565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F684-7389-E7AD-842A-E08D0381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B9379-93BF-413D-8D90-B7600ED4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한계오염 피해곡선 </a:t>
            </a:r>
            <a:r>
              <a:rPr lang="en-US" altLang="ko-KR" dirty="0"/>
              <a:t>(</a:t>
            </a:r>
            <a:r>
              <a:rPr lang="ko-KR" altLang="en-US" dirty="0"/>
              <a:t>배출량기준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32A11-D561-4AEE-31FF-60611D28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98E3C-EDFB-FDD1-E62C-5055FBDBDB25}"/>
              </a:ext>
            </a:extLst>
          </p:cNvPr>
          <p:cNvSpPr txBox="1"/>
          <p:nvPr/>
        </p:nvSpPr>
        <p:spPr>
          <a:xfrm>
            <a:off x="288790" y="787394"/>
            <a:ext cx="114142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오염피해는 </a:t>
            </a:r>
            <a:r>
              <a:rPr lang="ko-KR" altLang="en-US" sz="1600" b="1" spc="-50" dirty="0"/>
              <a:t>한계피해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(marginal damage)</a:t>
            </a:r>
            <a:r>
              <a:rPr lang="ko-KR" altLang="en-US" sz="1600" spc="-50" dirty="0"/>
              <a:t>와 </a:t>
            </a:r>
            <a:r>
              <a:rPr lang="ko-KR" altLang="en-US" sz="1600" b="1" spc="-50" dirty="0" err="1"/>
              <a:t>총피해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(total damage)</a:t>
            </a:r>
            <a:r>
              <a:rPr lang="ko-KR" altLang="en-US" sz="1600" spc="-50" dirty="0"/>
              <a:t>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한계피해는 오염도나 배출량이 한 단위 더 늘어나면서 추가로 발생하는 피해를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총피해는 특정 수준의 오염도나 배출량이 유발한 전체 피해로서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수준의 오염도가 발생하는 과정에서 나타난 한계피해를 모두 더해준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그림에서 </a:t>
            </a:r>
            <a:r>
              <a:rPr lang="en-US" altLang="ko-KR" sz="1600" spc="-50" dirty="0"/>
              <a:t>MD(marginal damage) </a:t>
            </a:r>
            <a:r>
              <a:rPr lang="ko-KR" altLang="en-US" sz="1600" spc="-50" dirty="0"/>
              <a:t>곡선은 배출량을 기준으로 나타낸 한계오염피해곡선이다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(a)</a:t>
            </a:r>
            <a:r>
              <a:rPr lang="ko-KR" altLang="en-US" sz="1600" spc="-50" dirty="0"/>
              <a:t> 그래프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독성이 약한 오염물질의 경우 배출량이 적을 때에는 오염피해가 없다가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오염피해가 일정수준에 도달하면 급속히 증가하는 형태로 바뀐다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생활하수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(b) </a:t>
            </a:r>
            <a:r>
              <a:rPr lang="ko-KR" altLang="en-US" sz="1600" spc="-50" dirty="0"/>
              <a:t>그래프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독성화학물질처럼 소량만으로도 환경피해를 유발하는 경우에는 배출량이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인 수준에서도 한계피해는 양의 값을 가질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수은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8" descr="Cap 2014-06-19 09-36-21-644.png">
            <a:extLst>
              <a:ext uri="{FF2B5EF4-FFF2-40B4-BE49-F238E27FC236}">
                <a16:creationId xmlns:a16="http://schemas.microsoft.com/office/drawing/2014/main" id="{22FFA476-B586-04E2-4590-4046BB0CA1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0" t="14844" r="5814" b="3562"/>
          <a:stretch>
            <a:fillRect/>
          </a:stretch>
        </p:blipFill>
        <p:spPr bwMode="auto">
          <a:xfrm>
            <a:off x="4924339" y="4528151"/>
            <a:ext cx="4597166" cy="2046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425602-232E-7E16-27AE-4C8213551EDF}"/>
              </a:ext>
            </a:extLst>
          </p:cNvPr>
          <p:cNvSpPr txBox="1"/>
          <p:nvPr/>
        </p:nvSpPr>
        <p:spPr>
          <a:xfrm>
            <a:off x="5933872" y="4213041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한계오염피해곡선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배출량 기준</a:t>
            </a:r>
            <a:r>
              <a:rPr lang="en-US" altLang="ko-KR" sz="1200" spc="-50" dirty="0"/>
              <a:t>)&gt;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58398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2327-FFD7-9870-8D07-208985E7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738CC-8E27-8163-CF33-75236632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한계오염 피해곡선 </a:t>
            </a:r>
            <a:r>
              <a:rPr lang="en-US" altLang="ko-KR" dirty="0"/>
              <a:t>(</a:t>
            </a:r>
            <a:r>
              <a:rPr lang="ko-KR" altLang="en-US" dirty="0"/>
              <a:t>오염도기준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39659-F578-05C6-8096-B9850A87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2C4E1-C808-E2D8-FAFF-149E5E904DB7}"/>
              </a:ext>
            </a:extLst>
          </p:cNvPr>
          <p:cNvSpPr txBox="1"/>
          <p:nvPr/>
        </p:nvSpPr>
        <p:spPr>
          <a:xfrm>
            <a:off x="288790" y="787394"/>
            <a:ext cx="114142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같은 정도의 독성을 가진 폐기물이 동일한 양만큼 배출 되어도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인한 피해는 폐기물이 배출되는 공간적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시간적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환경에 따라 다르게 나타날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인구밀집 지역에 배출된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단위는 인구가 없는 지역에 배출된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 단위에 비해 더 큰 오염피해를 유발한다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같은 양의 폐수라도 비가 많이 오는 여름에 하천으로 배출되면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겨울 보다 더 적은 오염피해를 유발할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오염도를 기준으로 한 오염피해곡선을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(a) </a:t>
            </a:r>
            <a:r>
              <a:rPr lang="ko-KR" altLang="en-US" sz="1600" spc="-50" dirty="0"/>
              <a:t>그래프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초기에는 민감한 사람들이 영향을 받아 한계피해가 급속히 증가하다가 민감한 사람들이 모두 피해를 </a:t>
            </a:r>
            <a:r>
              <a:rPr lang="ko-KR" altLang="en-US" sz="1600" spc="-50" dirty="0" err="1"/>
              <a:t>입고난</a:t>
            </a:r>
            <a:r>
              <a:rPr lang="ko-KR" altLang="en-US" sz="1600" spc="-50" dirty="0"/>
              <a:t> 후 완만히 증가한다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이후에 오염도가 심해지면 모든 사람들이 영향을 받으므로 한계피해가 급속히 증가한다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(b) </a:t>
            </a:r>
            <a:r>
              <a:rPr lang="ko-KR" altLang="en-US" sz="1600" spc="-50" dirty="0"/>
              <a:t>그래프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독성이 낮은 폐기물에 의한 피해를 나타내는데</a:t>
            </a:r>
            <a:r>
              <a:rPr lang="en-US" altLang="ko-KR" sz="1600" spc="-50" dirty="0"/>
              <a:t>, q</a:t>
            </a:r>
            <a:r>
              <a:rPr lang="en-US" altLang="ko-KR" sz="1600" spc="-50" baseline="-25000" dirty="0"/>
              <a:t>0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수준까지의 오염은 피해를 유발하지 않다가</a:t>
            </a:r>
            <a:r>
              <a:rPr lang="en-US" altLang="ko-KR" sz="1600" spc="-50" dirty="0"/>
              <a:t>, q</a:t>
            </a:r>
            <a:r>
              <a:rPr lang="en-US" altLang="ko-KR" sz="1600" spc="-50" baseline="-25000" dirty="0"/>
              <a:t>0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를 넘어서면 오염피해가 나타내는 경우를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pic>
        <p:nvPicPr>
          <p:cNvPr id="5" name="그림 9" descr="Cap 2014-06-19 09-36-33-877.png">
            <a:extLst>
              <a:ext uri="{FF2B5EF4-FFF2-40B4-BE49-F238E27FC236}">
                <a16:creationId xmlns:a16="http://schemas.microsoft.com/office/drawing/2014/main" id="{F641FDB3-7278-61A8-CAC5-84EA5AF265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70"/>
          <a:stretch>
            <a:fillRect/>
          </a:stretch>
        </p:blipFill>
        <p:spPr bwMode="auto">
          <a:xfrm>
            <a:off x="6709533" y="4731965"/>
            <a:ext cx="4396938" cy="1879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A0825-B178-930A-547F-84F209E756F9}"/>
              </a:ext>
            </a:extLst>
          </p:cNvPr>
          <p:cNvSpPr txBox="1"/>
          <p:nvPr/>
        </p:nvSpPr>
        <p:spPr>
          <a:xfrm>
            <a:off x="7406140" y="4338581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한계오염피해곡선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오염도 기준</a:t>
            </a:r>
            <a:r>
              <a:rPr lang="en-US" altLang="ko-KR" sz="1200" spc="-50" dirty="0"/>
              <a:t>)&gt;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3244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BF04-A16C-AC10-E349-40C542719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6" descr="Cap 2014-06-19 09-36-44-926.png">
            <a:extLst>
              <a:ext uri="{FF2B5EF4-FFF2-40B4-BE49-F238E27FC236}">
                <a16:creationId xmlns:a16="http://schemas.microsoft.com/office/drawing/2014/main" id="{3DD99674-E0D8-FFC3-7CB0-FA2CB7D633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9" t="13577" r="20921" b="2122"/>
          <a:stretch>
            <a:fillRect/>
          </a:stretch>
        </p:blipFill>
        <p:spPr bwMode="auto">
          <a:xfrm>
            <a:off x="8296712" y="2919392"/>
            <a:ext cx="3531766" cy="258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FBCC05-A286-94DA-C79E-13433B5C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한계편익 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B38FC-8614-8371-851E-FCCF197F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6F6E7-42C6-F8C5-28BB-31359D1C0492}"/>
              </a:ext>
            </a:extLst>
          </p:cNvPr>
          <p:cNvSpPr txBox="1"/>
          <p:nvPr/>
        </p:nvSpPr>
        <p:spPr>
          <a:xfrm>
            <a:off x="288790" y="787394"/>
            <a:ext cx="114142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환경정책으로 인해 발생한 오염피해의 변화를 폐기물 배출량이나 오염도의 변화를 기준으로 하지 않고</a:t>
            </a:r>
            <a:r>
              <a:rPr lang="en-US" altLang="ko-KR" sz="1600" spc="-50" dirty="0"/>
              <a:t>, </a:t>
            </a:r>
            <a:r>
              <a:rPr lang="ko-KR" altLang="en-US" sz="1600" b="1" spc="-50" dirty="0"/>
              <a:t>오염자가 줄인 배출량 </a:t>
            </a:r>
            <a:r>
              <a:rPr lang="ko-KR" altLang="en-US" sz="1600" spc="-50" dirty="0"/>
              <a:t>기준으로 측정할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경우에는 환경정책의 효과를 줄어든 배출량과 그로 인해 감소한 오염피해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사회적 편익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간의 관계를 통해 나타낸다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A255A-D796-42D9-16CD-B180A788C724}"/>
              </a:ext>
            </a:extLst>
          </p:cNvPr>
          <p:cNvSpPr txBox="1"/>
          <p:nvPr/>
        </p:nvSpPr>
        <p:spPr>
          <a:xfrm>
            <a:off x="288790" y="2135693"/>
            <a:ext cx="8142146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그림에서 가로축은 환경정책이 없을 때 오염자가 배출하던 배출량에서 환경정책의 도입으로 인해 실제로 배출한 배출량을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값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오염물질의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(x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오염자가 배출하던 배출량에서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줄어든 배출량을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값</a:t>
            </a:r>
            <a:r>
              <a:rPr lang="en-US" altLang="ko-KR" sz="1600" spc="-50" dirty="0"/>
              <a:t> (</a:t>
            </a:r>
            <a:r>
              <a:rPr lang="ko-KR" altLang="en-US" sz="1600" spc="-50" dirty="0" err="1"/>
              <a:t>저감량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(y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 배출량이 한 단위 추가로 감소하면서 발생하는 한계편익을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저감량이</a:t>
            </a:r>
            <a:r>
              <a:rPr lang="ko-KR" altLang="en-US" sz="1600" spc="-50" dirty="0"/>
              <a:t> 적은 상태에서는 배출량 한 단위를 줄였을 때 한계편익이 크고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저감량이</a:t>
            </a:r>
            <a:r>
              <a:rPr lang="ko-KR" altLang="en-US" sz="1600" spc="-50" dirty="0"/>
              <a:t> 많아질수록 한계편익은 감소함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우하향</a:t>
            </a:r>
            <a:r>
              <a:rPr lang="ko-KR" altLang="en-US" sz="1600" spc="-50" dirty="0"/>
              <a:t> 곡선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미세먼지 배출이 매우 많은 상태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저감량이</a:t>
            </a:r>
            <a:r>
              <a:rPr lang="ko-KR" altLang="en-US" sz="1600" spc="-50" dirty="0"/>
              <a:t> 적은 상태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에서는 배출량을 조금만 줄여도 건강피해가 크게 감소하지만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이미 배출량을 많이 줄인 상태에서는 추가적인 저감에 따른 건강편익이 상대적으로 적다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BFC2A-ECBC-A4AB-CA17-D4E197486F1D}"/>
              </a:ext>
            </a:extLst>
          </p:cNvPr>
          <p:cNvSpPr txBox="1"/>
          <p:nvPr/>
        </p:nvSpPr>
        <p:spPr>
          <a:xfrm>
            <a:off x="8974881" y="2501392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 err="1"/>
              <a:t>저감량과</a:t>
            </a:r>
            <a:r>
              <a:rPr lang="ko-KR" altLang="en-US" sz="1200" spc="-50" dirty="0"/>
              <a:t> 한계편익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2196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DBB1-C2DF-46E2-8596-DE062681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C6474-1E31-8827-B533-A1E6A1C5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한계저감비용 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407436-A022-97C6-CCC6-D162B17C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FFB26-9CE2-0E21-7DB5-61CF5472FB83}"/>
              </a:ext>
            </a:extLst>
          </p:cNvPr>
          <p:cNvSpPr txBox="1"/>
          <p:nvPr/>
        </p:nvSpPr>
        <p:spPr>
          <a:xfrm>
            <a:off x="288790" y="787394"/>
            <a:ext cx="114142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환경정책에 호응하기 위하여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오염원이 배출량을 줄이려면 비용이 발생하는데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ko-KR" altLang="en-US" sz="1600" b="1" spc="-50" dirty="0"/>
              <a:t>저감비용</a:t>
            </a:r>
            <a:r>
              <a:rPr lang="ko-KR" altLang="en-US" sz="1600" spc="-50" dirty="0"/>
              <a:t>이라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한계저감비용 곡선은 배출량 혹은 </a:t>
            </a:r>
            <a:r>
              <a:rPr lang="ko-KR" altLang="en-US" sz="1600" spc="-50" dirty="0" err="1"/>
              <a:t>저감량과</a:t>
            </a:r>
            <a:r>
              <a:rPr lang="ko-KR" altLang="en-US" sz="1600" spc="-50" dirty="0"/>
              <a:t> 이를 달성하는데 필요한 비용과의 관계를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(x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오염원의 배출 </a:t>
            </a:r>
            <a:r>
              <a:rPr lang="ko-KR" altLang="en-US" sz="1600" spc="-50" dirty="0" err="1"/>
              <a:t>저감량</a:t>
            </a:r>
            <a:r>
              <a:rPr lang="ko-KR" altLang="en-US" sz="1600" spc="-50" dirty="0"/>
              <a:t> 혹은 배출량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(y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오염원이 배출량을 한 단위 추가로 저감하는데 발생하는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줄일 때 처음에는 손 쉽고 비용이 적게 드는 방법을 사용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더 많이 줄이기 위해서는 새로운 설비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생산공정 등을 바꾸어야 하므로 비용이 더욱 많이 </a:t>
            </a:r>
            <a:r>
              <a:rPr lang="ko-KR" altLang="en-US" sz="1600" spc="-50" dirty="0" err="1"/>
              <a:t>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저감량</a:t>
            </a:r>
            <a:r>
              <a:rPr lang="ko-KR" altLang="en-US" sz="1600" spc="-50" dirty="0"/>
              <a:t> 기준 </a:t>
            </a:r>
            <a:r>
              <a:rPr lang="ko-KR" altLang="en-US" sz="1600" spc="-50" dirty="0" err="1"/>
              <a:t>우상향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 기준 </a:t>
            </a:r>
            <a:r>
              <a:rPr lang="ko-KR" altLang="en-US" sz="1600" spc="-50" dirty="0" err="1"/>
              <a:t>우하향</a:t>
            </a:r>
            <a:r>
              <a:rPr lang="ko-KR" altLang="en-US" sz="1600" spc="-50" dirty="0"/>
              <a:t> 곡선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5" name="그림 5" descr="Cap 2014-06-19 09-38-13-813.png">
            <a:extLst>
              <a:ext uri="{FF2B5EF4-FFF2-40B4-BE49-F238E27FC236}">
                <a16:creationId xmlns:a16="http://schemas.microsoft.com/office/drawing/2014/main" id="{0B0F2371-6FBC-EAF8-53DF-982B13C33D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7" t="14156" r="5677" b="3555"/>
          <a:stretch>
            <a:fillRect/>
          </a:stretch>
        </p:blipFill>
        <p:spPr bwMode="auto">
          <a:xfrm>
            <a:off x="2734811" y="4026716"/>
            <a:ext cx="5763238" cy="246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FB1707-BBBC-CD56-C1C8-94E2A6A5C087}"/>
              </a:ext>
            </a:extLst>
          </p:cNvPr>
          <p:cNvSpPr txBox="1"/>
          <p:nvPr/>
        </p:nvSpPr>
        <p:spPr>
          <a:xfrm>
            <a:off x="4327380" y="3545821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한계저감비용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7666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990EE-8427-1100-B16F-E4DCB508F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76BEF-C201-CE7A-0785-388934C7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한계저감비용 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0B9B8-B14F-6606-91FD-8019D003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A703D-F12C-E8B1-8F9E-42DD89BA9DA8}"/>
              </a:ext>
            </a:extLst>
          </p:cNvPr>
          <p:cNvSpPr txBox="1"/>
          <p:nvPr/>
        </p:nvSpPr>
        <p:spPr>
          <a:xfrm>
            <a:off x="288790" y="787394"/>
            <a:ext cx="11414260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동일한 오염물질을 배출하는 기업으로 구성된 산업 전체의 오염물질 배출량이나 </a:t>
            </a:r>
            <a:r>
              <a:rPr lang="ko-KR" altLang="en-US" sz="1600" spc="-50" dirty="0" err="1"/>
              <a:t>저감량과</a:t>
            </a:r>
            <a:r>
              <a:rPr lang="ko-KR" altLang="en-US" sz="1600" spc="-50" dirty="0"/>
              <a:t> 전체 한계저감비용과의 관계를 알 고 싶은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기업의 한계저감비용곡선을 수평으로 더하여 시장공급곡선을 도출해야 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Cap 2014-06-19 09-38-28-884.png">
            <a:extLst>
              <a:ext uri="{FF2B5EF4-FFF2-40B4-BE49-F238E27FC236}">
                <a16:creationId xmlns:a16="http://schemas.microsoft.com/office/drawing/2014/main" id="{300619DD-DECC-9FD9-694B-FA4EA7E9A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" t="13483" r="1915" b="2639"/>
          <a:stretch>
            <a:fillRect/>
          </a:stretch>
        </p:blipFill>
        <p:spPr bwMode="auto">
          <a:xfrm>
            <a:off x="2424417" y="3028426"/>
            <a:ext cx="6765721" cy="2684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8D2FAA-E18B-89D9-E7C5-8713152754DE}"/>
              </a:ext>
            </a:extLst>
          </p:cNvPr>
          <p:cNvSpPr txBox="1"/>
          <p:nvPr/>
        </p:nvSpPr>
        <p:spPr>
          <a:xfrm>
            <a:off x="4415464" y="2413307"/>
            <a:ext cx="2731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지역이나 산업 전체의 한계저감비용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83623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AAE5-A43F-B994-1553-352CADF8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1BE3A-1C12-EDB1-6788-6D19F161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환경의 최적이용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67FF99-30D2-1BC7-EF15-91D166E6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8059C-AF28-EB58-B45A-3367E2D098C6}"/>
              </a:ext>
            </a:extLst>
          </p:cNvPr>
          <p:cNvSpPr txBox="1"/>
          <p:nvPr/>
        </p:nvSpPr>
        <p:spPr>
          <a:xfrm>
            <a:off x="288790" y="787394"/>
            <a:ext cx="1141426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설명한 환경정책의 편익과 비용을 나타내는 개념들을 이용하여 사회적으로 바람직한 수준의 오염물질 배출량 혹은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도출할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배출량을 기준으로 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최적 배출량은 오염물질 배출로 인한 한계오염피해와 오염물질 배출을 한 단위 줄이는데 소요되는 한계저감비용이 같게 되는 배출량이다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C825C-BF92-F0E1-0A47-00174D9701F1}"/>
              </a:ext>
            </a:extLst>
          </p:cNvPr>
          <p:cNvSpPr txBox="1"/>
          <p:nvPr/>
        </p:nvSpPr>
        <p:spPr>
          <a:xfrm>
            <a:off x="288790" y="2335170"/>
            <a:ext cx="794843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그림에서 최적 배출량은 </a:t>
            </a:r>
            <a:r>
              <a:rPr lang="en-US" altLang="ko-KR" sz="1600" spc="-50" dirty="0"/>
              <a:t>e*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표시되어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배출량이 </a:t>
            </a:r>
            <a:r>
              <a:rPr lang="en-US" altLang="ko-KR" sz="1600" spc="-50" dirty="0"/>
              <a:t>e* </a:t>
            </a:r>
            <a:r>
              <a:rPr lang="ko-KR" altLang="en-US" sz="1600" spc="-50" dirty="0"/>
              <a:t>보다 크다면 한 단위의 배출감소로 인한 오염피해 감소분이 저감비용보다 크기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배출량을 줄여야 사회 전체 순편익이 늘어난다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배출량이 </a:t>
            </a:r>
            <a:r>
              <a:rPr lang="en-US" altLang="ko-KR" sz="1600" spc="-50" dirty="0"/>
              <a:t>e*</a:t>
            </a:r>
            <a:r>
              <a:rPr lang="ko-KR" altLang="en-US" sz="1600" spc="-50" dirty="0"/>
              <a:t>보다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작다면 배출을 늘리면서 절약되는 저감비용이 그 때문에 늘어나는 피해액보다 더 크기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배출량을 늘려야 사회 전체 순편익이 늘어난다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7" descr="Cap 2014-06-19 09-38-54-334.png">
            <a:extLst>
              <a:ext uri="{FF2B5EF4-FFF2-40B4-BE49-F238E27FC236}">
                <a16:creationId xmlns:a16="http://schemas.microsoft.com/office/drawing/2014/main" id="{BEB4EBA8-249E-4DE3-10BD-262D86CA76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t="19463" r="50501"/>
          <a:stretch>
            <a:fillRect/>
          </a:stretch>
        </p:blipFill>
        <p:spPr bwMode="auto">
          <a:xfrm>
            <a:off x="8531604" y="3473042"/>
            <a:ext cx="2550254" cy="2372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A80B09-F268-A6FD-7BC9-1C54CCBEB68E}"/>
              </a:ext>
            </a:extLst>
          </p:cNvPr>
          <p:cNvSpPr txBox="1"/>
          <p:nvPr/>
        </p:nvSpPr>
        <p:spPr>
          <a:xfrm>
            <a:off x="9141146" y="3107959"/>
            <a:ext cx="1512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 배출량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6166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7CDE9-8B56-EE43-13A1-99E9AE53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71791-42AE-F261-5B13-9E2F56E4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환경의 최적이용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63A50E-DB0D-B55E-1CEE-C3DA3B6B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A0A24-1940-4F60-9CF9-763BF238581D}"/>
              </a:ext>
            </a:extLst>
          </p:cNvPr>
          <p:cNvSpPr txBox="1"/>
          <p:nvPr/>
        </p:nvSpPr>
        <p:spPr>
          <a:xfrm>
            <a:off x="288790" y="787394"/>
            <a:ext cx="7948430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기준으로 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최적 </a:t>
            </a:r>
            <a:r>
              <a:rPr lang="ko-KR" altLang="en-US" sz="1600" spc="-50" dirty="0" err="1"/>
              <a:t>저감량은</a:t>
            </a:r>
            <a:r>
              <a:rPr lang="ko-KR" altLang="en-US" sz="1600" spc="-50" dirty="0"/>
              <a:t> 저감의 한계편익과 한계저감비용이 일치하는 수준에서 결정된다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ED435-A941-3548-7350-8B0F2943F033}"/>
              </a:ext>
            </a:extLst>
          </p:cNvPr>
          <p:cNvSpPr txBox="1"/>
          <p:nvPr/>
        </p:nvSpPr>
        <p:spPr>
          <a:xfrm>
            <a:off x="288790" y="1603650"/>
            <a:ext cx="794843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/>
              <a:t>오른쪽 </a:t>
            </a:r>
            <a:r>
              <a:rPr lang="ko-KR" altLang="en-US" sz="1600" spc="-50" dirty="0"/>
              <a:t>그림에서 최적 </a:t>
            </a:r>
            <a:r>
              <a:rPr lang="ko-KR" altLang="en-US" sz="1600" spc="-50" dirty="0" err="1"/>
              <a:t>저감량은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a*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표시되어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위에서 </a:t>
            </a:r>
            <a:r>
              <a:rPr lang="ko-KR" altLang="en-US" sz="1600" spc="-50" dirty="0" err="1"/>
              <a:t>처럼</a:t>
            </a:r>
            <a:r>
              <a:rPr lang="ko-KR" altLang="en-US" sz="1600" spc="-50" dirty="0"/>
              <a:t> 환경의 최적 이용을 도출하기 위해서는 두 가지 접근 법이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 기준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</a:t>
            </a:r>
            <a:r>
              <a:rPr lang="ko-KR" altLang="en-US" sz="1600" spc="-50" dirty="0" err="1"/>
              <a:t>저감량</a:t>
            </a:r>
            <a:r>
              <a:rPr lang="ko-KR" altLang="en-US" sz="1600" spc="-50" dirty="0"/>
              <a:t> 기준</a:t>
            </a:r>
            <a:endParaRPr lang="en-US" altLang="ko-KR" sz="1600" spc="-50" dirty="0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37ECBC-B4CE-1D92-F939-5334BD8A2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1" y="3986467"/>
            <a:ext cx="2227902" cy="2550440"/>
          </a:xfrm>
          <a:prstGeom prst="rect">
            <a:avLst/>
          </a:prstGeom>
        </p:spPr>
      </p:pic>
      <p:pic>
        <p:nvPicPr>
          <p:cNvPr id="11" name="그림 10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2CB6AF-7970-0784-439D-9A9FB0FF0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12" y="3986467"/>
            <a:ext cx="2227902" cy="2550440"/>
          </a:xfrm>
          <a:prstGeom prst="rect">
            <a:avLst/>
          </a:prstGeom>
        </p:spPr>
      </p:pic>
      <p:pic>
        <p:nvPicPr>
          <p:cNvPr id="6" name="그림 7" descr="Cap 2014-06-19 09-38-54-334.png">
            <a:extLst>
              <a:ext uri="{FF2B5EF4-FFF2-40B4-BE49-F238E27FC236}">
                <a16:creationId xmlns:a16="http://schemas.microsoft.com/office/drawing/2014/main" id="{9A7C9AD7-EF1F-BD7C-ACA5-6BB9D9F82A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5" t="20886" r="6047" b="1954"/>
          <a:stretch>
            <a:fillRect/>
          </a:stretch>
        </p:blipFill>
        <p:spPr bwMode="auto">
          <a:xfrm>
            <a:off x="8826616" y="1216404"/>
            <a:ext cx="2533475" cy="2273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7807CB-C3A1-18F2-F2D4-A3B9BA218C33}"/>
              </a:ext>
            </a:extLst>
          </p:cNvPr>
          <p:cNvSpPr txBox="1"/>
          <p:nvPr/>
        </p:nvSpPr>
        <p:spPr>
          <a:xfrm>
            <a:off x="9388622" y="859709"/>
            <a:ext cx="1512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 </a:t>
            </a:r>
            <a:r>
              <a:rPr lang="ko-KR" altLang="en-US" sz="1200" spc="-50" dirty="0" err="1"/>
              <a:t>저감량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091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6F3-CB0F-7C79-09A1-C932D40D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57A20-1646-E3CB-6A77-51DAD3A5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등한계원칙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41D84-91AB-80E2-4C69-B82DEEDA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B4036-4EB8-78E5-79D9-B4A3C1943F41}"/>
                  </a:ext>
                </a:extLst>
              </p:cNvPr>
              <p:cNvSpPr txBox="1"/>
              <p:nvPr/>
            </p:nvSpPr>
            <p:spPr>
              <a:xfrm>
                <a:off x="288790" y="787394"/>
                <a:ext cx="11414260" cy="452739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등한계원칙은 동일한 종류의 오염물질을 배출하는 다수의 오염원이 존재하는 산업 전체가 목표로 하는 배출량이 있을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배출량을 각 오염원의 한계저감비용이 동일하도록 오염원에게 분배하면 전체 저감비용이 최소가 된다는 사실을 말함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⋯,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오염물질을 배출하고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지역에서 목표로 하는 배출량은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오염원은 기존 배출양보다는 더 적은 양을 저감하고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조금이라도 오염물질 배출을 저감한다</a:t>
                </a:r>
                <a:r>
                  <a:rPr lang="en-US" altLang="ko-KR" sz="1600" spc="-50" dirty="0"/>
                  <a:t> (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오염원의 저감비용 함수는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), 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1600" spc="-50" dirty="0"/>
                  <a:t> 라는 제약조건 하에서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ko-KR" altLang="en-US" sz="1600" spc="-50" dirty="0"/>
                  <a:t>를 최소화 </a:t>
                </a:r>
                <a:r>
                  <a:rPr lang="ko-KR" altLang="en-US" sz="1600" spc="-50" dirty="0" err="1"/>
                  <a:t>해야하는</a:t>
                </a:r>
                <a:r>
                  <a:rPr lang="ko-KR" altLang="en-US" sz="1600" spc="-50" dirty="0"/>
                  <a:t> 문제로 귀결되고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활용하는 문제로 바꿀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식을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ko-KR" altLang="en-US" sz="1600" spc="-50" dirty="0"/>
                  <a:t>에 대해 미분을 취한 값이 모두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되도록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식을 풀어보면 아래와 같음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B4036-4EB8-78E5-79D9-B4A3C1943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87394"/>
                <a:ext cx="11414260" cy="4527393"/>
              </a:xfrm>
              <a:prstGeom prst="rect">
                <a:avLst/>
              </a:prstGeom>
              <a:blipFill>
                <a:blip r:embed="rId2"/>
                <a:stretch>
                  <a:fillRect b="-6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5528FE-727F-23AB-A396-3BAB901FE402}"/>
                  </a:ext>
                </a:extLst>
              </p:cNvPr>
              <p:cNvSpPr txBox="1"/>
              <p:nvPr/>
            </p:nvSpPr>
            <p:spPr>
              <a:xfrm>
                <a:off x="4203700" y="3840058"/>
                <a:ext cx="3261277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5528FE-727F-23AB-A396-3BAB901FE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00" y="3840058"/>
                <a:ext cx="3261277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43809C-1E50-D211-0927-D5678143E038}"/>
                  </a:ext>
                </a:extLst>
              </p:cNvPr>
              <p:cNvSpPr txBox="1"/>
              <p:nvPr/>
            </p:nvSpPr>
            <p:spPr>
              <a:xfrm>
                <a:off x="3028950" y="5640314"/>
                <a:ext cx="6134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43809C-1E50-D211-0927-D5678143E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950" y="5640314"/>
                <a:ext cx="6134100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061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02FE7-4FEE-5BC5-8CBC-6FB686E1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8E4A78-6EE9-92EC-2582-1B400E9F3D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1D16B7-83FD-C3C4-3B91-378CF7DF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7572B8B-D6FA-DC8E-2AA7-74AF1B6D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환경정책의 평가기준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8372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6773-B047-2CDC-26E4-DF35402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종류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73C1-C28E-84C5-41DD-9DC6930A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1EBBB9CD-EA25-8CE8-FBDA-99C3AD7880BD}"/>
              </a:ext>
            </a:extLst>
          </p:cNvPr>
          <p:cNvGraphicFramePr>
            <a:graphicFrameLocks noGrp="1"/>
          </p:cNvGraphicFramePr>
          <p:nvPr/>
        </p:nvGraphicFramePr>
        <p:xfrm>
          <a:off x="1567000" y="2522893"/>
          <a:ext cx="8548506" cy="309065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55833">
                  <a:extLst>
                    <a:ext uri="{9D8B030D-6E8A-4147-A177-3AD203B41FA5}">
                      <a16:colId xmlns:a16="http://schemas.microsoft.com/office/drawing/2014/main" val="1102978182"/>
                    </a:ext>
                  </a:extLst>
                </a:gridCol>
                <a:gridCol w="21693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4152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300806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분류기준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정책명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65492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제도적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경제적 유인이 없는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baseline="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</a:t>
                      </a:r>
                      <a:endParaRPr lang="en-US" altLang="ko-KR" sz="1300" b="0" kern="0" spc="0" baseline="0" dirty="0"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환경기준을 사용하여 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65492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경제적 유인이 있는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부과금제도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보조금제도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가격변화를 이용해 이용 규제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654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배출권거래제도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수량제한을 통해 오염규제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65492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사법적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피해보상판결을 통해 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D836E0-A677-6EE8-5DC0-3B2AB1B4DCC3}"/>
              </a:ext>
            </a:extLst>
          </p:cNvPr>
          <p:cNvSpPr txBox="1"/>
          <p:nvPr/>
        </p:nvSpPr>
        <p:spPr>
          <a:xfrm>
            <a:off x="678872" y="958844"/>
            <a:ext cx="1102796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환경정책에는 많은 종류가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정책이 동일한 오염물질의 배출규제를 위해 결합되어 사용되기도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환경정책은 아래의 표처럼 간단하게 분류해볼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55147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1605-E6BB-175A-DCBA-F5820624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87F4-4800-747E-0784-5C480366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 사례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AECF-5D3D-C81C-CA1D-77DF38E6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DC3C3-7489-B6AC-76DC-C7AFC088A64F}"/>
              </a:ext>
            </a:extLst>
          </p:cNvPr>
          <p:cNvSpPr txBox="1"/>
          <p:nvPr/>
        </p:nvSpPr>
        <p:spPr>
          <a:xfrm>
            <a:off x="678872" y="958844"/>
            <a:ext cx="1102796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대기환경보전법 제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배출허용기준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대기오염물질배출시설에서 나오는 대기오염물질의 배출허용기준은 환경부령으로 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대기환경보전법 시행규칙 제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배출허용기준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명시된 별표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은 아래와 같음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F43326-C9A7-19E7-DE98-C7B0F535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4" y="2933118"/>
            <a:ext cx="5445701" cy="25626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62116C-FB59-E4F9-E601-9A1BD4383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31" y="3458056"/>
            <a:ext cx="5582799" cy="3078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1A40AF-2D90-62AB-44CC-48B9C2885486}"/>
              </a:ext>
            </a:extLst>
          </p:cNvPr>
          <p:cNvSpPr txBox="1"/>
          <p:nvPr/>
        </p:nvSpPr>
        <p:spPr>
          <a:xfrm>
            <a:off x="340803" y="5599003"/>
            <a:ext cx="5523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※</a:t>
            </a:r>
            <a:r>
              <a:rPr lang="ko-KR" altLang="en-US" sz="1200" spc="-50" dirty="0"/>
              <a:t> </a:t>
            </a:r>
            <a:r>
              <a:rPr lang="en-US" altLang="ko-KR" sz="1200" spc="-50" dirty="0"/>
              <a:t>ppm</a:t>
            </a:r>
            <a:r>
              <a:rPr lang="ko-KR" altLang="en-US" sz="1200" spc="-50" dirty="0"/>
              <a:t> </a:t>
            </a:r>
            <a:r>
              <a:rPr lang="en-US" altLang="ko-KR" sz="1200" spc="-50" dirty="0"/>
              <a:t>(parts</a:t>
            </a:r>
            <a:r>
              <a:rPr lang="ko-KR" altLang="en-US" sz="1200" spc="-50" dirty="0"/>
              <a:t> </a:t>
            </a:r>
            <a:r>
              <a:rPr lang="en-US" altLang="ko-KR" sz="1200" spc="-50" dirty="0"/>
              <a:t>per</a:t>
            </a:r>
            <a:r>
              <a:rPr lang="ko-KR" altLang="en-US" sz="1200" spc="-50" dirty="0"/>
              <a:t> </a:t>
            </a:r>
            <a:r>
              <a:rPr lang="en-US" altLang="ko-KR" sz="1200" spc="-50" dirty="0"/>
              <a:t>million):</a:t>
            </a:r>
            <a:r>
              <a:rPr lang="ko-KR" altLang="en-US" sz="1200" spc="-50" dirty="0"/>
              <a:t> 백만분의 일</a:t>
            </a:r>
            <a:endParaRPr lang="en-US" altLang="ko-KR" sz="1200" spc="-50" dirty="0"/>
          </a:p>
          <a:p>
            <a:r>
              <a:rPr lang="ko-KR" altLang="en-US" sz="1200" spc="-50" dirty="0"/>
              <a:t>암모니아 농도가 </a:t>
            </a:r>
            <a:r>
              <a:rPr lang="en-US" altLang="ko-KR" sz="1200" spc="-50" dirty="0"/>
              <a:t>1ppm </a:t>
            </a:r>
            <a:r>
              <a:rPr lang="ko-KR" altLang="en-US" sz="1200" spc="-50" dirty="0"/>
              <a:t>이라고 하면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공기 분자 </a:t>
            </a:r>
            <a:r>
              <a:rPr lang="en-US" altLang="ko-KR" sz="1200" spc="-50" dirty="0"/>
              <a:t>100</a:t>
            </a:r>
            <a:r>
              <a:rPr lang="ko-KR" altLang="en-US" sz="1200" spc="-50" dirty="0"/>
              <a:t>만개 중에 암모니아 분자가 </a:t>
            </a:r>
            <a:r>
              <a:rPr lang="en-US" altLang="ko-KR" sz="1200" spc="-50" dirty="0"/>
              <a:t>1</a:t>
            </a:r>
            <a:r>
              <a:rPr lang="ko-KR" altLang="en-US" sz="1200" spc="-50" dirty="0"/>
              <a:t>개인 상태를 의미한다</a:t>
            </a:r>
            <a:r>
              <a:rPr lang="en-US" altLang="ko-KR" sz="1200" spc="-5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44398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C24B-B727-F6D3-1B75-F2BADF98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2895-31D5-E9D7-B834-8AE9352B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배출부과금을 통한 규제 사례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03299-EDED-1677-AE88-16EE5A0C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71624-2761-C427-3112-6A22950EA515}"/>
              </a:ext>
            </a:extLst>
          </p:cNvPr>
          <p:cNvSpPr txBox="1"/>
          <p:nvPr/>
        </p:nvSpPr>
        <p:spPr>
          <a:xfrm>
            <a:off x="678872" y="958844"/>
            <a:ext cx="11027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물환경보전법 제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환경부장관은 </a:t>
            </a:r>
            <a:r>
              <a:rPr lang="en-US" altLang="ko-KR" sz="1600" spc="-50" dirty="0"/>
              <a:t>(…) </a:t>
            </a:r>
            <a:r>
              <a:rPr lang="ko-KR" altLang="en-US" sz="1600" spc="-50" dirty="0"/>
              <a:t>수질오염물질을 배출하는 사업자 </a:t>
            </a:r>
            <a:r>
              <a:rPr lang="en-US" altLang="ko-KR" sz="1600" spc="-50" dirty="0"/>
              <a:t>(…)</a:t>
            </a:r>
            <a:r>
              <a:rPr lang="ko-KR" altLang="en-US" sz="1600" spc="-50" dirty="0"/>
              <a:t>에게 배출부과금을 부과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징수한다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(…)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산정방법과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산정기준등에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관하여 필요한 사항은 대통령령으로 정한다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물환경보전법 시행령 제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기본배출부과금의 산정기준 및 방법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오염물질의 종류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기준이내 배출량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수질오염물질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킬로그램당 부과금액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연도별 부과금산정지수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지역별 부과계수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방류수질기준초과율별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부과계수</a:t>
            </a: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(42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유기물질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부유물질</a:t>
            </a: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물환경보전법 시행령 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45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초과배출부과금의 산정기준 및 산정방법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및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46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대상 오염물질의 종류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</a:rPr>
              <a:t>(45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기준초과 배출량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수질오염물질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킬로그램당 부과금액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연도별 부과금산정지수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지역별 부과계수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배출허용기준초과율별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부과계수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</a:rPr>
              <a:t>(46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유기물질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부유물질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카드뮴 및 그 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시안화합물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……,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아연 및 그 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 질소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 인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이하 총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19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종류의 오염물질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572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E582-6B17-6DA0-32DE-1F5C2FA5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6268-5280-B195-2879-4D02E61A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7DFC-F7A9-463C-28B7-7C9737C0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78A32-8428-5C19-5029-D0F9E2C51AAE}"/>
              </a:ext>
            </a:extLst>
          </p:cNvPr>
          <p:cNvSpPr txBox="1"/>
          <p:nvPr/>
        </p:nvSpPr>
        <p:spPr>
          <a:xfrm>
            <a:off x="678872" y="958844"/>
            <a:ext cx="1102796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기후위기 대응을 위한 탄소중립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녹색성장 기본법 제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온실가스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배출권거래제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</a:t>
            </a:r>
            <a:r>
              <a:rPr lang="ko-KR" altLang="en-US" sz="1600" spc="-50" dirty="0" err="1"/>
              <a:t>중장기감축목표등을</a:t>
            </a:r>
            <a:r>
              <a:rPr lang="ko-KR" altLang="en-US" sz="1600" spc="-50" dirty="0"/>
              <a:t> 효율적으로 달성하기 위하여 온실가스 배출허용총량을 설정하고 시장기능을 활용하여 온실가스 배출권을 거래하는 제도를 운영한다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 배출권의 할당 및 거래에 관한 법률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법률에서 배출권의 할당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검증 등 필요한 세부 규정들을 명시하고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2"/>
              </a:rPr>
              <a:t>https://ets.krx.co.kr/main/main.jsp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총량을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기업별로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이라는 허용량을 배분함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회사</a:t>
            </a:r>
            <a:r>
              <a:rPr lang="en-US" altLang="ko-KR" sz="1600" spc="-50" dirty="0"/>
              <a:t>: 10</a:t>
            </a:r>
            <a:r>
              <a:rPr lang="ko-KR" altLang="en-US" sz="1600" spc="-50" dirty="0" err="1"/>
              <a:t>만톤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회사</a:t>
            </a:r>
            <a:r>
              <a:rPr lang="en-US" altLang="ko-KR" sz="1600" spc="-50" dirty="0"/>
              <a:t>: 20</a:t>
            </a:r>
            <a:r>
              <a:rPr lang="ko-KR" altLang="en-US" sz="1600" spc="-50" dirty="0" err="1"/>
              <a:t>만톤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기업은 배출이 남으면 시장에 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부족하면 시장에서 구입을 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회사가 노력해서 </a:t>
            </a:r>
            <a:r>
              <a:rPr lang="en-US" altLang="ko-KR" sz="1600" spc="-50" dirty="0"/>
              <a:t>8</a:t>
            </a:r>
            <a:r>
              <a:rPr lang="ko-KR" altLang="en-US" sz="1600" spc="-50" dirty="0" err="1"/>
              <a:t>만톤</a:t>
            </a:r>
            <a:r>
              <a:rPr lang="ko-KR" altLang="en-US" sz="1600" spc="-50" dirty="0"/>
              <a:t> 배출하면 </a:t>
            </a:r>
            <a:r>
              <a:rPr lang="en-US" altLang="ko-KR" sz="1600" spc="-50" dirty="0"/>
              <a:t>2</a:t>
            </a:r>
            <a:r>
              <a:rPr lang="ko-KR" altLang="en-US" sz="1600" spc="-50" dirty="0" err="1"/>
              <a:t>만톤은</a:t>
            </a:r>
            <a:r>
              <a:rPr lang="ko-KR" altLang="en-US" sz="1600" spc="-50" dirty="0"/>
              <a:t> 팔 수 있음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한편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회사는 </a:t>
            </a:r>
            <a:r>
              <a:rPr lang="en-US" altLang="ko-KR" sz="1600" spc="-50" dirty="0"/>
              <a:t>22</a:t>
            </a:r>
            <a:r>
              <a:rPr lang="ko-KR" altLang="en-US" sz="1600" spc="-50" dirty="0" err="1"/>
              <a:t>만톤을</a:t>
            </a:r>
            <a:r>
              <a:rPr lang="ko-KR" altLang="en-US" sz="1600" spc="-50" dirty="0"/>
              <a:t> 배출하면</a:t>
            </a:r>
            <a:r>
              <a:rPr lang="en-US" altLang="ko-KR" sz="1600" spc="-50" dirty="0"/>
              <a:t>, 2</a:t>
            </a:r>
            <a:r>
              <a:rPr lang="ko-KR" altLang="en-US" sz="1600" spc="-50" dirty="0" err="1"/>
              <a:t>만톤을</a:t>
            </a:r>
            <a:r>
              <a:rPr lang="ko-KR" altLang="en-US" sz="1600" spc="-50" dirty="0"/>
              <a:t> 시장에서 구입해야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비용 효율성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기업들은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가격과 직접 감축 비용을 비교하여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비용이 적은 옵션을 선택하게 되므로 사회전체적 감축비용이 최소화 될 수 있음</a:t>
            </a:r>
            <a:endParaRPr lang="en-US" altLang="ko-KR" sz="1600" spc="-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66A088-2C09-6924-DDB4-BB11BBE5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83" y="4901948"/>
            <a:ext cx="2694034" cy="1486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44A96E-0E28-3ABA-0A6A-1FF66E057D81}"/>
              </a:ext>
            </a:extLst>
          </p:cNvPr>
          <p:cNvSpPr txBox="1"/>
          <p:nvPr/>
        </p:nvSpPr>
        <p:spPr>
          <a:xfrm>
            <a:off x="4748983" y="6404151"/>
            <a:ext cx="36128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이미지 출처</a:t>
            </a:r>
            <a:r>
              <a:rPr lang="en-US" altLang="ko-KR" sz="700" dirty="0"/>
              <a:t>: </a:t>
            </a:r>
            <a:r>
              <a:rPr lang="ko-KR" altLang="en-US" sz="700" dirty="0"/>
              <a:t>https://www.acrc.go.kr/briefs/289a4cdc5254bab813183d3a5a3785ae4a7529cbb838a960ea750b0509aba6ee/sub_5.html?utm_source=chatgpt.com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112575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4BA-C6BE-7BB1-8827-023669E2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4CAC-21F0-2591-6061-AAFE99CF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사법적 규제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28D9C-887E-F58B-CE5C-4501C64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190BB-1CE6-9152-BE41-3C77E93F468F}"/>
              </a:ext>
            </a:extLst>
          </p:cNvPr>
          <p:cNvSpPr txBox="1"/>
          <p:nvPr/>
        </p:nvSpPr>
        <p:spPr>
          <a:xfrm>
            <a:off x="678872" y="958844"/>
            <a:ext cx="11027965" cy="4338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가습기 살균제 피해 사건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가습기 살균제란 가습용 물에 첨가하여 가습기를 통해 직접 공기 중으로 분무되도록 만들어진 살균제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안전성을 담보할 검증 테스트를 거치지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인체 무해성을 강조하며 제품 판매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2024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월 가습기살균제 피해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국가 배상책임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을 대법원에서 확정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000" spc="-50" dirty="0">
                <a:hlinkClick r:id="rId2"/>
              </a:rPr>
              <a:t>https://www.hani.co.kr/arti/society/society_general/1146946.html</a:t>
            </a:r>
            <a:endParaRPr lang="en-US" altLang="ko-KR" sz="10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낙동강 페놀 오염 사건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행정안전부 국가기록원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재난방재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사회재난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환경오염</a:t>
            </a:r>
            <a:r>
              <a:rPr lang="en-US" altLang="ko-KR" sz="1600" spc="-50" dirty="0"/>
              <a:t> &gt; </a:t>
            </a:r>
            <a:r>
              <a:rPr lang="ko-KR" altLang="en-US" sz="1600" spc="-50" dirty="0"/>
              <a:t>낙동강 페놀유출사건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페놀오염은 </a:t>
            </a:r>
            <a:r>
              <a:rPr lang="en-US" altLang="ko-KR" sz="1600" spc="-50" dirty="0"/>
              <a:t>1991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일 두산전자 구미공장에서 페놀원액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톤이 파손된 파이프를 통해 낙동강으로 유입된 사건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</a:t>
            </a:r>
            <a:r>
              <a:rPr lang="ko-KR" altLang="en-US" sz="1600" spc="-50" dirty="0"/>
              <a:t>차 페놀오염은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일 부실 보수공사로 인해 페놀탱크 파이프 이음새 부분이 파열되어 페놀원액 약 </a:t>
            </a:r>
            <a:r>
              <a:rPr lang="en-US" altLang="ko-KR" sz="1600" spc="-50" dirty="0"/>
              <a:t>1.3</a:t>
            </a:r>
            <a:r>
              <a:rPr lang="ko-KR" altLang="en-US" sz="1600" spc="-50" dirty="0"/>
              <a:t>톤이 낙동강으로 유입되면서 대구지역에 식수공급이 중단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공무원 및 두산전자 관계자들 징계처분</a:t>
            </a:r>
            <a:endParaRPr lang="en-US" altLang="ko-KR" sz="1600" spc="-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73A98-23EE-95D4-2977-D4C3093B13E3}"/>
              </a:ext>
            </a:extLst>
          </p:cNvPr>
          <p:cNvSpPr txBox="1"/>
          <p:nvPr/>
        </p:nvSpPr>
        <p:spPr>
          <a:xfrm>
            <a:off x="1204869" y="5297019"/>
            <a:ext cx="61344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https://www.archives.go.kr/next/newsearch/listSubjectDescription.do?id=006961&amp;sitePage</a:t>
            </a:r>
          </a:p>
        </p:txBody>
      </p:sp>
    </p:spTree>
    <p:extLst>
      <p:ext uri="{BB962C8B-B14F-4D97-AF65-F5344CB8AC3E}">
        <p14:creationId xmlns:p14="http://schemas.microsoft.com/office/powerpoint/2010/main" val="2977118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66A6-307E-CD19-F47F-B1DB3F8E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평가기준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0A7D2-0301-7DB3-FEFA-8B7DAA98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06DB0B8D-3C64-B30F-58E9-6F524F679F2F}"/>
              </a:ext>
            </a:extLst>
          </p:cNvPr>
          <p:cNvGraphicFramePr>
            <a:graphicFrameLocks noGrp="1"/>
          </p:cNvGraphicFramePr>
          <p:nvPr/>
        </p:nvGraphicFramePr>
        <p:xfrm>
          <a:off x="646259" y="1846027"/>
          <a:ext cx="9147888" cy="44005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231796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5320028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기준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효율성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배출로 인한 한계피해와 배출감소를 위한 한계비용이 일치하는 수준인지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형평성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환경정책의 편익이 사회구성원들에게 얼마나 공평하게 배분되는지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기술개발 촉진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기업이 저감비용 절감을 위해 기술개발에 투자할 유인이 있는지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감시 비용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오염원들이 규정을 준수하도록 유도 혹은 감시하는데 소요되는 비용이 얼마나 되는지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윤리적 기준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윤리적 판단에 따른 기준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오염자부담원칙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vs.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피해자부담원칙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 평가 기준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신축성 조건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오염자가 신축적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탄력적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자율적으로 배출 저감활동이 가능한지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EDAA325-54B9-84C8-423B-4A7247F253C9}"/>
              </a:ext>
            </a:extLst>
          </p:cNvPr>
          <p:cNvSpPr txBox="1"/>
          <p:nvPr/>
        </p:nvSpPr>
        <p:spPr>
          <a:xfrm>
            <a:off x="678872" y="958844"/>
            <a:ext cx="11027965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여러 종류의 환경정책을 평가하는데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다양한 측면에서의 기준이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258126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2F36-C309-1E68-0AD7-9F84AB568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0174-034B-2BFF-E6D6-42E33A18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/>
              <a:t>게임이론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7CBC-6FEA-0007-8CA6-70240DD8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28EFAB0B-136A-2368-4C38-E7E42536EA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7833" y="4411424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28EFAB0B-136A-2368-4C38-E7E42536E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962413"/>
                  </p:ext>
                </p:extLst>
              </p:nvPr>
            </p:nvGraphicFramePr>
            <p:xfrm>
              <a:off x="2137833" y="4411424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53693CC-0C23-AF4B-C40C-354C302BC675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오염원은 규제를 어겨 이득을 얻으려 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오염원이 위반하지 않기를 원함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오염원이 규제를 위반하면 이득을 보는 양</a:t>
            </a:r>
            <a:r>
              <a:rPr lang="en-US" altLang="ko-KR" sz="1600" spc="-50" dirty="0"/>
              <a:t>: g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규제위반으로 발생하는 사회적 피해</a:t>
            </a:r>
            <a:r>
              <a:rPr lang="en-US" altLang="ko-KR" sz="1600" spc="-50" dirty="0"/>
              <a:t>: d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규제위반이 적발될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납부해야 하는 벌금</a:t>
            </a:r>
            <a:r>
              <a:rPr lang="en-US" altLang="ko-KR" sz="1600" spc="-50" dirty="0"/>
              <a:t>: p  (</a:t>
            </a:r>
            <a:r>
              <a:rPr lang="ko-KR" altLang="en-US" sz="1600" spc="-50" dirty="0"/>
              <a:t>여기서 </a:t>
            </a:r>
            <a:r>
              <a:rPr lang="en-US" altLang="ko-KR" sz="1600" spc="-50" dirty="0"/>
              <a:t>p&gt;g)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오염원을 감시하는데 소요되는 비용</a:t>
            </a:r>
            <a:r>
              <a:rPr lang="en-US" altLang="ko-KR" sz="1600" spc="-50" dirty="0"/>
              <a:t>: 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감시를 하지 않아 발생하는 </a:t>
            </a:r>
            <a:r>
              <a:rPr lang="en-US" altLang="ko-KR" sz="1600" spc="-50" dirty="0"/>
              <a:t>d</a:t>
            </a:r>
            <a:r>
              <a:rPr lang="ko-KR" altLang="en-US" sz="1600" spc="-50" dirty="0"/>
              <a:t>만큼의 오염피해도 정부의 비용임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감시를 통해 불법행위를 중간에 적발하여 줄어드는 오염피해액</a:t>
            </a:r>
            <a:r>
              <a:rPr lang="en-US" altLang="ko-KR" sz="1600" spc="-50" dirty="0"/>
              <a:t>: s  (</a:t>
            </a:r>
            <a:r>
              <a:rPr lang="ko-KR" altLang="en-US" sz="1600" spc="-50" dirty="0"/>
              <a:t>여기서 </a:t>
            </a:r>
            <a:r>
              <a:rPr lang="en-US" altLang="ko-KR" sz="1600" spc="-50" dirty="0"/>
              <a:t>s&gt;c)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5CAC2-29A9-6A43-3ABE-6BBF1EE1D970}"/>
              </a:ext>
            </a:extLst>
          </p:cNvPr>
          <p:cNvSpPr txBox="1"/>
          <p:nvPr/>
        </p:nvSpPr>
        <p:spPr>
          <a:xfrm>
            <a:off x="6766983" y="3909730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B305D-DB75-FF08-2CEA-BDAD4600E31E}"/>
              </a:ext>
            </a:extLst>
          </p:cNvPr>
          <p:cNvSpPr txBox="1"/>
          <p:nvPr/>
        </p:nvSpPr>
        <p:spPr>
          <a:xfrm>
            <a:off x="974127" y="5365997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553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2EEFA-B130-F53A-0632-9D5A165C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13CF3-8BAB-A75D-D70E-CFD412B3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56741-F36B-5943-77DA-2B7E5DF062E4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내쉬균형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게임 참여자들이 상대방의 전략을 주어진 것으로 전제하고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대하여 최선의 전략을 선택하여 형성된 균형상태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상대방이 선택을 바꾸지 않는 상태에서 자신만이 선택을 바꾸어 더 큰 이득을 얻는 것이 불가능한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아무도 먼저 움직일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전략을 바꿀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유인이 없는 상황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죄수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공범이며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의사소통이 불가능한 채로 조사를 받고 있을 때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어떤 선택을 하게 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죄수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모두 자백을 선택하는 상태가 </a:t>
            </a:r>
            <a:r>
              <a:rPr lang="ko-KR" altLang="en-US" sz="1600" spc="-50" dirty="0" err="1"/>
              <a:t>내쉬</a:t>
            </a:r>
            <a:r>
              <a:rPr lang="ko-KR" altLang="en-US" sz="1600" spc="-50" dirty="0"/>
              <a:t> 균형이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 안의 수치는 죄수가 복역해야 하는 기간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나타낸다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E1E75139-4961-040A-E7B2-8FE51023085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66433" y="4066356"/>
              <a:ext cx="6485469" cy="78970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61823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156342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137329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5,   5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0,   10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175319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1,  1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E1E75139-4961-040A-E7B2-8FE510230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089270"/>
                  </p:ext>
                </p:extLst>
              </p:nvPr>
            </p:nvGraphicFramePr>
            <p:xfrm>
              <a:off x="2366433" y="4066356"/>
              <a:ext cx="6485469" cy="78970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61823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4761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7104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104545" r="-103944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104545" r="-3944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7104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200000" r="-103944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200000" r="-3944" b="-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DD662F8-7786-2453-4DB4-B7A307C079FA}"/>
              </a:ext>
            </a:extLst>
          </p:cNvPr>
          <p:cNvSpPr txBox="1"/>
          <p:nvPr/>
        </p:nvSpPr>
        <p:spPr>
          <a:xfrm>
            <a:off x="6192854" y="3728120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죄수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D95DA-068F-68B2-CB1E-13B1A6F57960}"/>
              </a:ext>
            </a:extLst>
          </p:cNvPr>
          <p:cNvSpPr txBox="1"/>
          <p:nvPr/>
        </p:nvSpPr>
        <p:spPr>
          <a:xfrm>
            <a:off x="1509183" y="4426621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죄수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056385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89AA-7012-A3A6-6CBE-5D175F13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B7F7-FB23-965E-4DC7-FD357866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7A6A1-C627-5297-A5AA-9537D294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970EE99C-E32B-6FF9-9134-BCC41608D8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970EE99C-E32B-6FF9-9134-BCC41608D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291073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7F91F2-F1DD-3C46-D930-CDEA675D8A9A}"/>
              </a:ext>
            </a:extLst>
          </p:cNvPr>
          <p:cNvSpPr txBox="1"/>
          <p:nvPr/>
        </p:nvSpPr>
        <p:spPr>
          <a:xfrm>
            <a:off x="6766983" y="929455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FC2F4-37A5-5103-5F85-0F300F2B7B45}"/>
              </a:ext>
            </a:extLst>
          </p:cNvPr>
          <p:cNvSpPr txBox="1"/>
          <p:nvPr/>
        </p:nvSpPr>
        <p:spPr>
          <a:xfrm>
            <a:off x="974127" y="2385722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983AA7-E6C1-61F4-39AD-FFD1E1480F1E}"/>
                  </a:ext>
                </a:extLst>
              </p:cNvPr>
              <p:cNvSpPr txBox="1"/>
              <p:nvPr/>
            </p:nvSpPr>
            <p:spPr>
              <a:xfrm>
                <a:off x="678872" y="4298312"/>
                <a:ext cx="11027965" cy="115339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주체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 혹은 정부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하나의 전략만 선택하는 게 아니고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여러 전략을 확률적으로 섞어 선택한다면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오염원이 위반할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spc="-50" dirty="0"/>
                  <a:t>    </a:t>
                </a:r>
                <a:r>
                  <a:rPr lang="ko-KR" altLang="en-US" sz="1600" spc="-50" dirty="0"/>
                  <a:t>반대로 위반하지 않을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):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감시할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 :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spc="-50" dirty="0"/>
                  <a:t>      </a:t>
                </a:r>
                <a:r>
                  <a:rPr lang="ko-KR" altLang="en-US" sz="1600" spc="-50" dirty="0"/>
                  <a:t>정부가 감시하지 않을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 :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983AA7-E6C1-61F4-39AD-FFD1E148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4298312"/>
                <a:ext cx="11027965" cy="1153393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BA98E8A-A4B3-2B4D-2CF7-5BB3EDA08B0A}"/>
              </a:ext>
            </a:extLst>
          </p:cNvPr>
          <p:cNvSpPr txBox="1"/>
          <p:nvPr/>
        </p:nvSpPr>
        <p:spPr>
          <a:xfrm>
            <a:off x="678872" y="3254370"/>
            <a:ext cx="1102796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게임은 </a:t>
            </a:r>
            <a:r>
              <a:rPr lang="ko-KR" altLang="en-US" sz="1600" spc="-50" dirty="0" err="1"/>
              <a:t>내쉬균형이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존재하지 않는 게임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상태에 있건 항상 전략을 바꿀 유인이 존재함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067225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B30-5E66-5447-71C8-4C9400B0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2433-9041-3F75-7584-2FF967B2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/>
              <a:t>혼합전략과 </a:t>
            </a:r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3A203-26C2-D041-594A-5E13FCD7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31110B4-8DE1-4027-4E32-62987DA139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𝒚</m:t>
                              </m:r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𝒚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r>
                            <a:rPr lang="en-US" altLang="ko-KR" sz="13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r>
                            <a:rPr lang="en-US" altLang="ko-KR" sz="13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en-US" altLang="ko-KR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31110B4-8DE1-4027-4E32-62987DA13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85269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6494" r="-10279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6494" r="-279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66" t="-75926" r="-297947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66" t="-175926" r="-297947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B43ADD-EB76-F54E-640E-076D8964984C}"/>
              </a:ext>
            </a:extLst>
          </p:cNvPr>
          <p:cNvSpPr txBox="1"/>
          <p:nvPr/>
        </p:nvSpPr>
        <p:spPr>
          <a:xfrm>
            <a:off x="6766983" y="929455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FB32B-4B04-ED18-4DF4-650425449F8E}"/>
              </a:ext>
            </a:extLst>
          </p:cNvPr>
          <p:cNvSpPr txBox="1"/>
          <p:nvPr/>
        </p:nvSpPr>
        <p:spPr>
          <a:xfrm>
            <a:off x="974127" y="2385722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CC38D-EA08-9664-FF05-C793B71AF522}"/>
                  </a:ext>
                </a:extLst>
              </p:cNvPr>
              <p:cNvSpPr txBox="1"/>
              <p:nvPr/>
            </p:nvSpPr>
            <p:spPr>
              <a:xfrm>
                <a:off x="678872" y="3411850"/>
                <a:ext cx="11027965" cy="189205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혼합전략의 균형에서는 각 전략으로부터 기대할 수 있는 편익이 일치해야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각 전략으로부터 기대하는 편익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위반할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altLang="ko-KR" sz="1600" spc="-50" dirty="0"/>
                  <a:t>   </a:t>
                </a: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위반 안 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각 전략으로부터 기대하는 편익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감시할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)∙(−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  </a:t>
                </a: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감시 안 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CC38D-EA08-9664-FF05-C793B71AF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3411850"/>
                <a:ext cx="11027965" cy="1892056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526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6635</TotalTime>
  <Words>2232</Words>
  <Application>Microsoft Office PowerPoint</Application>
  <PresentationFormat>와이드스크린</PresentationFormat>
  <Paragraphs>263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Part 3  환경정책의 수립과 집행</vt:lpstr>
      <vt:lpstr>Chapter 5  환경정책의 평가 기준</vt:lpstr>
      <vt:lpstr>Section 1. 오염피해와 저감비용</vt:lpstr>
      <vt:lpstr>오염피해와 저감비용</vt:lpstr>
      <vt:lpstr>한계오염 피해곡선 (배출량기준)</vt:lpstr>
      <vt:lpstr>한계오염 피해곡선 (오염도기준)</vt:lpstr>
      <vt:lpstr>한계편익 곡선</vt:lpstr>
      <vt:lpstr>한계저감비용 곡선</vt:lpstr>
      <vt:lpstr>한계저감비용 곡선</vt:lpstr>
      <vt:lpstr>환경의 최적이용</vt:lpstr>
      <vt:lpstr>환경의 최적이용</vt:lpstr>
      <vt:lpstr>등한계원칙</vt:lpstr>
      <vt:lpstr>Section 2. 환경정책의 평가기준</vt:lpstr>
      <vt:lpstr>환경정책 종류</vt:lpstr>
      <vt:lpstr>직접규제 사례</vt:lpstr>
      <vt:lpstr>배출부과금을 통한 규제 사례</vt:lpstr>
      <vt:lpstr>배출권 거래제도</vt:lpstr>
      <vt:lpstr>사법적 규제</vt:lpstr>
      <vt:lpstr>환경정책의 평가기준</vt:lpstr>
      <vt:lpstr>규제위반과 감시행위: 게임이론</vt:lpstr>
      <vt:lpstr>내쉬균형</vt:lpstr>
      <vt:lpstr>규제위반과 감시행위: 내쉬균형</vt:lpstr>
      <vt:lpstr>규제위반과 감시행위: 혼합전략과 내쉬균형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193</cp:revision>
  <dcterms:created xsi:type="dcterms:W3CDTF">2025-07-05T05:15:23Z</dcterms:created>
  <dcterms:modified xsi:type="dcterms:W3CDTF">2026-09-30T23:50:42Z</dcterms:modified>
</cp:coreProperties>
</file>