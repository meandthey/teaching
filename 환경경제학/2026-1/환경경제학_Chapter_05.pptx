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7"/>
  </p:notesMasterIdLst>
  <p:sldIdLst>
    <p:sldId id="375" r:id="rId2"/>
    <p:sldId id="399" r:id="rId3"/>
    <p:sldId id="405" r:id="rId4"/>
    <p:sldId id="550" r:id="rId5"/>
    <p:sldId id="416" r:id="rId6"/>
    <p:sldId id="623" r:id="rId7"/>
    <p:sldId id="624" r:id="rId8"/>
    <p:sldId id="625" r:id="rId9"/>
    <p:sldId id="626" r:id="rId10"/>
    <p:sldId id="627" r:id="rId11"/>
    <p:sldId id="628" r:id="rId12"/>
    <p:sldId id="629" r:id="rId13"/>
    <p:sldId id="630" r:id="rId14"/>
    <p:sldId id="600" r:id="rId15"/>
    <p:sldId id="441" r:id="rId16"/>
    <p:sldId id="443" r:id="rId17"/>
    <p:sldId id="444" r:id="rId18"/>
    <p:sldId id="445" r:id="rId19"/>
    <p:sldId id="446" r:id="rId20"/>
    <p:sldId id="442" r:id="rId21"/>
    <p:sldId id="447" r:id="rId22"/>
    <p:sldId id="449" r:id="rId23"/>
    <p:sldId id="450" r:id="rId24"/>
    <p:sldId id="451" r:id="rId25"/>
    <p:sldId id="364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8618B"/>
    <a:srgbClr val="EFEEFD"/>
    <a:srgbClr val="EDE48F"/>
    <a:srgbClr val="E15F5F"/>
    <a:srgbClr val="F8F7FC"/>
    <a:srgbClr val="2D72BE"/>
    <a:srgbClr val="070B12"/>
    <a:srgbClr val="0047A0"/>
    <a:srgbClr val="E3605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3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72759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ets.krx.co.kr/main/main.jsp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환경 경제학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- 05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B262F-00A8-BD9A-4B85-FC963A1C1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0DDBCE2-DEA9-2DD4-5A59-4378A23AB1B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F995E1-B852-188D-F471-20EEC71CE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F7CC3FA7-5A8C-F225-6150-5A49BD0560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800" b="1" i="0" spc="150" dirty="0"/>
              <a:t>Part 3</a:t>
            </a:r>
            <a:br>
              <a:rPr lang="en-US" altLang="ko-KR" sz="4800" b="1" i="0" spc="150" dirty="0"/>
            </a:br>
            <a:br>
              <a:rPr lang="en-US" altLang="ko-KR" sz="4800" b="1" i="0" spc="150" dirty="0"/>
            </a:br>
            <a:r>
              <a:rPr lang="ko-KR" altLang="en-US" sz="4800" b="1" i="0" spc="150" dirty="0"/>
              <a:t>환경정책의 수립과 집행</a:t>
            </a:r>
            <a:endParaRPr lang="ko-KR" altLang="en-US" sz="4400" i="0" spc="150" dirty="0"/>
          </a:p>
        </p:txBody>
      </p:sp>
    </p:spTree>
    <p:extLst>
      <p:ext uri="{BB962C8B-B14F-4D97-AF65-F5344CB8AC3E}">
        <p14:creationId xmlns:p14="http://schemas.microsoft.com/office/powerpoint/2010/main" val="77394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5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환경정책의 평가 기준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오염피해와 저감비용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F2399-5788-E74B-5361-EE2B3FD68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2B01FE-46B7-EA74-DC09-87F917E04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오염피해와 저감비용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03EA2D-F4A0-4D5F-3A9A-6FA2AC811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64AD4C-B53B-5381-47CB-CF22DF46A454}"/>
              </a:ext>
            </a:extLst>
          </p:cNvPr>
          <p:cNvSpPr txBox="1"/>
          <p:nvPr/>
        </p:nvSpPr>
        <p:spPr>
          <a:xfrm>
            <a:off x="288790" y="787394"/>
            <a:ext cx="114142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시장의 실패로 인해 발생하는 지나친 환경오염을 막기 위해서 정부가 사용하는 환경정책은 사회 전체의 후생을 증가 시키는 측면과 감소시키는 측면을 동시에 가진다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환경정책을 시행하면 환경오염이 줄고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따라서 오염으로 인한 피해가 감소한다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오염자는 자신의 생산행위를 축소하고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가지고 있는 생산자원 중 일부를 오염을 줄이는 행위에 사용하여야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환경정책의 평가를 위해서는 환경정책이 야기하는 오염의 피해와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비용의 증가를 분석해야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spc="-50" dirty="0"/>
              <a:t>오염피해</a:t>
            </a:r>
            <a:r>
              <a:rPr lang="ko-KR" altLang="en-US" sz="1600" spc="-50" dirty="0"/>
              <a:t>란 환경오염이 사람과 생태계에 미치는 모든 피해를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대기오염으로 인한 사람들의 호흡기 질환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산성비로 인한 건물의 부식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spc="-50" dirty="0"/>
              <a:t>피해함수</a:t>
            </a:r>
            <a:r>
              <a:rPr lang="ko-KR" altLang="en-US" sz="1600" spc="-50" dirty="0"/>
              <a:t>란 환경이 오염된 정도와 그로 인해 발생한 피해의 관계를 나타낸 것이다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보통 오염은 여러 종류의 피해를 복합적으로 유발하기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 피해를 모두 더할 수 있기 위해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종류의 피해에 적용되는 공통 단위가 필요하다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우리는 피해함수를 환경오염이 유발하는 피해를 화폐단위로 나타내는 것이라 정의할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41156561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3F684-7389-E7AD-842A-E08D0381E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1B9379-93BF-413D-8D90-B7600ED48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한계오염 피해곡선 </a:t>
            </a:r>
            <a:r>
              <a:rPr lang="en-US" altLang="ko-KR" dirty="0"/>
              <a:t>(</a:t>
            </a:r>
            <a:r>
              <a:rPr lang="ko-KR" altLang="en-US" dirty="0"/>
              <a:t>배출량기준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532A11-D561-4AEE-31FF-60611D286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198E3C-EDFB-FDD1-E62C-5055FBDBDB25}"/>
              </a:ext>
            </a:extLst>
          </p:cNvPr>
          <p:cNvSpPr txBox="1"/>
          <p:nvPr/>
        </p:nvSpPr>
        <p:spPr>
          <a:xfrm>
            <a:off x="288790" y="787394"/>
            <a:ext cx="114142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오염피해는 </a:t>
            </a:r>
            <a:r>
              <a:rPr lang="ko-KR" altLang="en-US" sz="1600" b="1" spc="-50" dirty="0"/>
              <a:t>한계피해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(marginal damage)</a:t>
            </a:r>
            <a:r>
              <a:rPr lang="ko-KR" altLang="en-US" sz="1600" spc="-50" dirty="0"/>
              <a:t>와 </a:t>
            </a:r>
            <a:r>
              <a:rPr lang="ko-KR" altLang="en-US" sz="1600" b="1" spc="-50" dirty="0" err="1"/>
              <a:t>총피해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(total damage)</a:t>
            </a:r>
            <a:r>
              <a:rPr lang="ko-KR" altLang="en-US" sz="1600" spc="-50" dirty="0"/>
              <a:t>로 구분할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한계피해는 오염도나 배출량이 한 단위 더 늘어나면서 추가로 발생하는 피해를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총피해는 특정 수준의 오염도나 배출량이 유발한 전체 피해로서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수준의 오염도가 발생하는 과정에서 나타난 한계피해를 모두 더해준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그림에서 </a:t>
            </a:r>
            <a:r>
              <a:rPr lang="en-US" altLang="ko-KR" sz="1600" spc="-50" dirty="0"/>
              <a:t>MD(marginal damage) </a:t>
            </a:r>
            <a:r>
              <a:rPr lang="ko-KR" altLang="en-US" sz="1600" spc="-50" dirty="0"/>
              <a:t>곡선은 배출량을 기준으로 나타낸 한계오염피해곡선이다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(a)</a:t>
            </a:r>
            <a:r>
              <a:rPr lang="ko-KR" altLang="en-US" sz="1600" spc="-50" dirty="0"/>
              <a:t> 그래프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독성이 약한 오염물질의 경우 배출량이 적을 때에는 오염피해가 없다가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오염피해가 일정수준에 도달하면 급속히 증가하는 형태로 바뀜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(b) </a:t>
            </a:r>
            <a:r>
              <a:rPr lang="ko-KR" altLang="en-US" sz="1600" spc="-50" dirty="0"/>
              <a:t>그래프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독성화학물질처럼 소량만으로도 환경피해를 유발하는 경우에는 배출량이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인 수준에서도 한계피해는 양의 값을 가질 수 있음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5" name="그림 4" descr="텍스트, 도표, 라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BAF8C71-E34D-E549-2D0B-E0EE13ABD9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2065" y="4102101"/>
            <a:ext cx="5877752" cy="250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398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52327-FFD7-9870-8D07-208985E7F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738CC-8E27-8163-CF33-75236632F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한계오염 피해곡선 </a:t>
            </a:r>
            <a:r>
              <a:rPr lang="en-US" altLang="ko-KR" dirty="0"/>
              <a:t>(</a:t>
            </a:r>
            <a:r>
              <a:rPr lang="ko-KR" altLang="en-US" dirty="0"/>
              <a:t>오염도기준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A39659-F578-05C6-8096-B9850A87E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A2C4E1-C808-E2D8-FAFF-149E5E904DB7}"/>
              </a:ext>
            </a:extLst>
          </p:cNvPr>
          <p:cNvSpPr txBox="1"/>
          <p:nvPr/>
        </p:nvSpPr>
        <p:spPr>
          <a:xfrm>
            <a:off x="288790" y="787394"/>
            <a:ext cx="114142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같은 정도의 독성을 가진 폐기물이 동일한 양만큼 배출 되어도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그로 인한 피해는 폐기물이 배출되는 공간적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시간적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환경에 따라 다르게 나타날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인구밀집 지역에 배출된 </a:t>
            </a:r>
            <a:r>
              <a:rPr lang="en-US" altLang="ko-KR" sz="1600" spc="-50" dirty="0"/>
              <a:t>SO</a:t>
            </a:r>
            <a:r>
              <a:rPr lang="en-US" altLang="ko-KR" sz="1600" spc="-50" baseline="-25000" dirty="0"/>
              <a:t>2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단위는 인구가 없는 지역에 배출된 </a:t>
            </a:r>
            <a:r>
              <a:rPr lang="en-US" altLang="ko-KR" sz="1600" spc="-50" dirty="0"/>
              <a:t>SO</a:t>
            </a:r>
            <a:r>
              <a:rPr lang="en-US" altLang="ko-KR" sz="1600" spc="-50" baseline="-25000" dirty="0"/>
              <a:t>2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한 단위에 비해 더 큰 오염피해를 유발한다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같은 양의 폐수라도 비가 많이 오는 여름에 하천으로 배출되면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겨울 보다 더 적은 오염피해를 유발할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오염도를 기준으로 한 오염피해곡선을 나타낸다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(a) </a:t>
            </a:r>
            <a:r>
              <a:rPr lang="ko-KR" altLang="en-US" sz="1600" spc="-50" dirty="0"/>
              <a:t>그래프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초기에는 민감한 사람들이 영향을 받아 한계피해가 급속히 증가하다가 민감한 사람들이 모두 피해를 </a:t>
            </a:r>
            <a:r>
              <a:rPr lang="ko-KR" altLang="en-US" sz="1600" spc="-50" dirty="0" err="1"/>
              <a:t>입고난</a:t>
            </a:r>
            <a:r>
              <a:rPr lang="ko-KR" altLang="en-US" sz="1600" spc="-50" dirty="0"/>
              <a:t> 후 완만히 증가한다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이후에 오염도가 심해지면 모든 사람들이 영향을 받으므로 한계피해가 급속히 증가한다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(b) </a:t>
            </a:r>
            <a:r>
              <a:rPr lang="ko-KR" altLang="en-US" sz="1600" spc="-50" dirty="0"/>
              <a:t>그래프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독성이 낮은 폐기물에 의한 피해를 나타내는데</a:t>
            </a:r>
            <a:r>
              <a:rPr lang="en-US" altLang="ko-KR" sz="1600" spc="-50" dirty="0"/>
              <a:t>, q</a:t>
            </a:r>
            <a:r>
              <a:rPr lang="en-US" altLang="ko-KR" sz="1600" spc="-50" baseline="-25000" dirty="0"/>
              <a:t>0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수준까지의 오염은 피해를 유발하지 않다가</a:t>
            </a:r>
            <a:r>
              <a:rPr lang="en-US" altLang="ko-KR" sz="1600" spc="-50" dirty="0"/>
              <a:t>, q</a:t>
            </a:r>
            <a:r>
              <a:rPr lang="en-US" altLang="ko-KR" sz="1600" spc="-50" baseline="-25000" dirty="0"/>
              <a:t>0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를 넘어서면 오염피해가 나타내는 경우를 보여준다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p:pic>
        <p:nvPicPr>
          <p:cNvPr id="5" name="그림 9" descr="Cap 2014-06-19 09-36-33-877.png">
            <a:extLst>
              <a:ext uri="{FF2B5EF4-FFF2-40B4-BE49-F238E27FC236}">
                <a16:creationId xmlns:a16="http://schemas.microsoft.com/office/drawing/2014/main" id="{F641FDB3-7278-61A8-CAC5-84EA5AF2651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670"/>
          <a:stretch>
            <a:fillRect/>
          </a:stretch>
        </p:blipFill>
        <p:spPr bwMode="auto">
          <a:xfrm>
            <a:off x="5221040" y="4171950"/>
            <a:ext cx="5650161" cy="24157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324494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FBF04-A16C-AC10-E349-40C542719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라인, 도표, 그래프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59484D9-FD24-EA3F-50EE-4DE90F6778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16" t="8859" b="4698"/>
          <a:stretch>
            <a:fillRect/>
          </a:stretch>
        </p:blipFill>
        <p:spPr>
          <a:xfrm>
            <a:off x="8244839" y="2217506"/>
            <a:ext cx="3658371" cy="3717483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CFBCC05-A286-94DA-C79E-13433B5C3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한계편익 곡선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4B38FC-8614-8371-851E-FCCF197FB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E6F6E7-42C6-F8C5-28BB-31359D1C0492}"/>
              </a:ext>
            </a:extLst>
          </p:cNvPr>
          <p:cNvSpPr txBox="1"/>
          <p:nvPr/>
        </p:nvSpPr>
        <p:spPr>
          <a:xfrm>
            <a:off x="288790" y="787394"/>
            <a:ext cx="114142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환경정책으로 인해 발생한 오염피해의 변화를 폐기물 배출량이나 오염도의 변화를 기준으로 하지 않고</a:t>
            </a:r>
            <a:r>
              <a:rPr lang="en-US" altLang="ko-KR" sz="1600" spc="-50" dirty="0"/>
              <a:t>, </a:t>
            </a:r>
            <a:r>
              <a:rPr lang="ko-KR" altLang="en-US" sz="1600" b="1" spc="-50" dirty="0"/>
              <a:t>오염자가 줄인 배출량 </a:t>
            </a:r>
            <a:r>
              <a:rPr lang="ko-KR" altLang="en-US" sz="1600" spc="-50" dirty="0"/>
              <a:t>기준으로 측정할 수도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경우에는 환경정책의 효과를 줄어든 배출량과 그로 인해 감소한 오염피해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사회적 편익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간의 관계를 통해 나타낸다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7A255A-D796-42D9-16CD-B180A788C724}"/>
              </a:ext>
            </a:extLst>
          </p:cNvPr>
          <p:cNvSpPr txBox="1"/>
          <p:nvPr/>
        </p:nvSpPr>
        <p:spPr>
          <a:xfrm>
            <a:off x="288790" y="2135693"/>
            <a:ext cx="806273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그림에서 가로축은 환경정책이 없을 때 오염자가 배출하던 배출량에서 환경정책의 도입으로 인해 실제로 배출한 배출량을 </a:t>
            </a:r>
            <a:r>
              <a:rPr lang="ko-KR" altLang="en-US" sz="1600" spc="-50" dirty="0" err="1"/>
              <a:t>빼준</a:t>
            </a:r>
            <a:r>
              <a:rPr lang="ko-KR" altLang="en-US" sz="1600" spc="-50" dirty="0"/>
              <a:t> 값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오염물질의 </a:t>
            </a:r>
            <a:r>
              <a:rPr lang="ko-KR" altLang="en-US" sz="1600" spc="-50" dirty="0" err="1"/>
              <a:t>저감량을</a:t>
            </a:r>
            <a:r>
              <a:rPr lang="ko-KR" altLang="en-US" sz="1600" spc="-50" dirty="0"/>
              <a:t> 나타낸다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(x</a:t>
            </a:r>
            <a:r>
              <a:rPr lang="ko-KR" altLang="en-US" sz="1600" spc="-50" dirty="0"/>
              <a:t>축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오염자가 배출하던 배출량에서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줄어든 배출량을 </a:t>
            </a:r>
            <a:r>
              <a:rPr lang="ko-KR" altLang="en-US" sz="1600" spc="-50" dirty="0" err="1"/>
              <a:t>빼준</a:t>
            </a:r>
            <a:r>
              <a:rPr lang="ko-KR" altLang="en-US" sz="1600" spc="-50" dirty="0"/>
              <a:t> 값</a:t>
            </a:r>
            <a:r>
              <a:rPr lang="en-US" altLang="ko-KR" sz="1600" spc="-50" dirty="0"/>
              <a:t> (</a:t>
            </a:r>
            <a:r>
              <a:rPr lang="ko-KR" altLang="en-US" sz="1600" spc="-50" dirty="0" err="1"/>
              <a:t>저감량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(y</a:t>
            </a:r>
            <a:r>
              <a:rPr lang="ko-KR" altLang="en-US" sz="1600" spc="-50" dirty="0"/>
              <a:t>축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오염물질 배출량이 한 단위 추가로 감소하면서 발생하는 한계편익을 나타냄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저감량이</a:t>
            </a:r>
            <a:r>
              <a:rPr lang="ko-KR" altLang="en-US" sz="1600" spc="-50" dirty="0"/>
              <a:t> 적은 상태에서는 배출량 한 단위를 줄였을 때 한계편익이 크고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저감량이</a:t>
            </a:r>
            <a:r>
              <a:rPr lang="ko-KR" altLang="en-US" sz="1600" spc="-50" dirty="0"/>
              <a:t> 많아질수록 한계편익은 감소함 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우하향</a:t>
            </a:r>
            <a:r>
              <a:rPr lang="ko-KR" altLang="en-US" sz="1600" spc="-50" dirty="0"/>
              <a:t> 곡선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미세먼지 배출이 매우 많은 상태 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저감량이</a:t>
            </a:r>
            <a:r>
              <a:rPr lang="ko-KR" altLang="en-US" sz="1600" spc="-50" dirty="0"/>
              <a:t> 적은 상태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에서는 배출량을 조금만 줄여도 건강피해가 크게 감소하지만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이미 배출량을 많이 줄인 상태에서는 추가적인 저감에 따른 건강편익이 상대적으로 적다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219642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CDBB1-C2DF-46E2-8596-DE062681D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4C6474-1E31-8827-B533-A1E6A1C5D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한계저감비용 곡선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407436-A022-97C6-CCC6-D162B17C07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4FFB26-9CE2-0E21-7DB5-61CF5472FB83}"/>
              </a:ext>
            </a:extLst>
          </p:cNvPr>
          <p:cNvSpPr txBox="1"/>
          <p:nvPr/>
        </p:nvSpPr>
        <p:spPr>
          <a:xfrm>
            <a:off x="288790" y="787394"/>
            <a:ext cx="1141426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환경정책에 호응하기 위하여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오염원이 배출량을 줄이려면 비용이 발생하는데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ko-KR" altLang="en-US" sz="1600" b="1" spc="-50" dirty="0"/>
              <a:t>저감비용</a:t>
            </a:r>
            <a:r>
              <a:rPr lang="ko-KR" altLang="en-US" sz="1600" spc="-50" dirty="0"/>
              <a:t>이라 부른다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한계저감비용 곡선은 배출량 혹은 </a:t>
            </a:r>
            <a:r>
              <a:rPr lang="ko-KR" altLang="en-US" sz="1600" spc="-50" dirty="0" err="1"/>
              <a:t>저감량과</a:t>
            </a:r>
            <a:r>
              <a:rPr lang="ko-KR" altLang="en-US" sz="1600" spc="-50" dirty="0"/>
              <a:t> 이를 달성하는데 필요한 비용과의 관계를 나타낸다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(x</a:t>
            </a:r>
            <a:r>
              <a:rPr lang="ko-KR" altLang="en-US" sz="1600" spc="-50" dirty="0"/>
              <a:t>축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오염원의 배출 </a:t>
            </a:r>
            <a:r>
              <a:rPr lang="ko-KR" altLang="en-US" sz="1600" spc="-50" dirty="0" err="1"/>
              <a:t>저감량</a:t>
            </a:r>
            <a:r>
              <a:rPr lang="ko-KR" altLang="en-US" sz="1600" spc="-50" dirty="0"/>
              <a:t> 혹은 배출량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(y</a:t>
            </a:r>
            <a:r>
              <a:rPr lang="ko-KR" altLang="en-US" sz="1600" spc="-50" dirty="0"/>
              <a:t>축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오염원이 배출량을 한 단위 추가로 저감하는데 발생하는 비용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배출량을 줄일 때 처음에는 손 쉽고 비용이 적게 드는 방법을 사용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더 많이 줄이기 위해서는 새로운 설비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생산공정 등을 바꾸어야 하므로 비용이 더욱 많이 </a:t>
            </a:r>
            <a:r>
              <a:rPr lang="ko-KR" altLang="en-US" sz="1600" spc="-50" dirty="0" err="1"/>
              <a:t>듬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저감량</a:t>
            </a:r>
            <a:r>
              <a:rPr lang="ko-KR" altLang="en-US" sz="1600" spc="-50" dirty="0"/>
              <a:t> 기준 </a:t>
            </a:r>
            <a:r>
              <a:rPr lang="ko-KR" altLang="en-US" sz="1600" spc="-50" dirty="0" err="1"/>
              <a:t>우상향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배출량 기준 </a:t>
            </a:r>
            <a:r>
              <a:rPr lang="ko-KR" altLang="en-US" sz="1600" spc="-50" dirty="0" err="1"/>
              <a:t>우하향</a:t>
            </a:r>
            <a:r>
              <a:rPr lang="ko-KR" altLang="en-US" sz="1600" spc="-50" dirty="0"/>
              <a:t> 곡선</a:t>
            </a:r>
            <a:r>
              <a:rPr lang="en-US" altLang="ko-KR" sz="1600" spc="-50" dirty="0"/>
              <a:t>)</a:t>
            </a:r>
          </a:p>
        </p:txBody>
      </p:sp>
      <p:pic>
        <p:nvPicPr>
          <p:cNvPr id="6" name="그림 5" descr="텍스트, 도표, 라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409CC9C-603B-EE9F-6056-4FFBD83A5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6423" y="3577191"/>
            <a:ext cx="6578368" cy="2808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6646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990EE-8427-1100-B16F-E4DCB508F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E76BEF-C201-CE7A-0785-388934C7A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한계저감비용 곡선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A0B9B8-B14F-6606-91FD-8019D003C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6A703D-F12C-E8B1-8F9E-42DD89BA9DA8}"/>
              </a:ext>
            </a:extLst>
          </p:cNvPr>
          <p:cNvSpPr txBox="1"/>
          <p:nvPr/>
        </p:nvSpPr>
        <p:spPr>
          <a:xfrm>
            <a:off x="288790" y="787394"/>
            <a:ext cx="11414260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동일한 오염물질을 배출하는 기업으로 구성된 산업 전체의 오염물질 배출량이나 </a:t>
            </a:r>
            <a:r>
              <a:rPr lang="ko-KR" altLang="en-US" sz="1600" spc="-50" dirty="0" err="1"/>
              <a:t>저감량과</a:t>
            </a:r>
            <a:r>
              <a:rPr lang="ko-KR" altLang="en-US" sz="1600" spc="-50" dirty="0"/>
              <a:t> 전체 한계저감비용과의 관계를 알 고 싶은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기업의 한계저감비용곡선을 수평으로 더하여 시장공급곡선을 도출해야 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 descr="텍스트, 도표, 라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1ADCC9-38A7-999E-930A-BA7045CDD6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14" y="2923564"/>
            <a:ext cx="11743601" cy="3343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6234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8A6F3-CB0F-7C79-09A1-C932D40DF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557A20-1646-E3CB-6A77-51DAD3A59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등한계원칙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C41D84-91AB-80E2-4C69-B82DEEDA1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B4036-4EB8-78E5-79D9-B4A3C1943F41}"/>
                  </a:ext>
                </a:extLst>
              </p:cNvPr>
              <p:cNvSpPr txBox="1"/>
              <p:nvPr/>
            </p:nvSpPr>
            <p:spPr>
              <a:xfrm>
                <a:off x="288790" y="787394"/>
                <a:ext cx="11414260" cy="452739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등한계원칙은 동일한 종류의 오염물질을 배출하는 다수의 오염원이 존재하는 산업 전체가 목표로 하는 배출량이 있을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전체 배출량을 각 오염원의 한계저감비용이 동일하도록 오염원에게 분배하면 전체 저감비용이 최소가 된다는 사실을 말함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어떤 지역에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ko-KR" altLang="en-US" sz="1600" spc="-50" dirty="0"/>
                  <a:t>개의 오염원이 있고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각 오염원은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altLang="ko-KR" sz="1600" i="1">
                        <a:latin typeface="Cambria Math" panose="02040503050406030204" pitchFamily="18" charset="0"/>
                      </a:rPr>
                      <m:t>,  </m:t>
                    </m:r>
                    <m:sSubSup>
                      <m:sSub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altLang="ko-KR" sz="1600" i="1">
                        <a:latin typeface="Cambria Math" panose="02040503050406030204" pitchFamily="18" charset="0"/>
                      </a:rPr>
                      <m:t>, ⋯,</m:t>
                    </m:r>
                    <m:sSubSup>
                      <m:sSub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만큼의 오염물질을 배출하고 있다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지역에서 목표로 하는 배출량은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1600" spc="-50" dirty="0"/>
                  <a:t>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각 오염원의 </a:t>
                </a:r>
                <a:r>
                  <a:rPr lang="ko-KR" altLang="en-US" sz="1600" spc="-50" dirty="0" err="1"/>
                  <a:t>저감량을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600" i="1">
                        <a:latin typeface="Cambria Math" panose="02040503050406030204" pitchFamily="18" charset="0"/>
                      </a:rPr>
                      <m:t>, ⋯,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하자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각 오염원은 기존 배출양보다는 더 적은 양을 저감하고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조금이라도 오염물질 배출을 저감한다</a:t>
                </a:r>
                <a:r>
                  <a:rPr lang="en-US" altLang="ko-KR" sz="1600" spc="-50" dirty="0"/>
                  <a:t> (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0&lt;</m:t>
                    </m:r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&lt;</m:t>
                    </m:r>
                    <m:sSubSup>
                      <m:sSub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</m:oMath>
                </a14:m>
                <a:r>
                  <a:rPr lang="en-US" altLang="ko-KR" sz="1600" spc="-50" dirty="0"/>
                  <a:t> 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각 오염원의 저감비용 함수는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),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), ⋯,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ko-KR" altLang="en-US" sz="1600" spc="-50" dirty="0"/>
                  <a:t> 라는 제약조건 하에서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sz="1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𝐴𝐶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ko-KR" altLang="en-US" sz="1600" spc="-50" dirty="0"/>
                  <a:t>를 최소화 </a:t>
                </a:r>
                <a:r>
                  <a:rPr lang="ko-KR" altLang="en-US" sz="1600" spc="-50" dirty="0" err="1"/>
                  <a:t>해야하는</a:t>
                </a:r>
                <a:r>
                  <a:rPr lang="ko-KR" altLang="en-US" sz="1600" spc="-50" dirty="0"/>
                  <a:t> 문제로 귀결되고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아래와 같이 </a:t>
                </a:r>
                <a:r>
                  <a:rPr lang="ko-KR" altLang="en-US" sz="1600" spc="-50" dirty="0" err="1"/>
                  <a:t>라그랑지안</a:t>
                </a:r>
                <a:r>
                  <a:rPr lang="ko-KR" altLang="en-US" sz="1600" spc="-50" dirty="0"/>
                  <a:t> 함수를 활용하는 문제로 바꿀 수 있음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위 식을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과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ko-KR" sz="1600" i="1">
                        <a:latin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ko-KR" altLang="en-US" sz="1600" spc="-50" dirty="0"/>
                  <a:t>에 대해 미분을 취한 값이 모두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이 되도록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식을 풀어보면 아래와 같음</a:t>
                </a:r>
                <a:endParaRPr lang="en-US" altLang="ko-KR" sz="1600" spc="-5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B4036-4EB8-78E5-79D9-B4A3C1943F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787394"/>
                <a:ext cx="11414260" cy="4527393"/>
              </a:xfrm>
              <a:prstGeom prst="rect">
                <a:avLst/>
              </a:prstGeom>
              <a:blipFill>
                <a:blip r:embed="rId2"/>
                <a:stretch>
                  <a:fillRect b="-67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75528FE-727F-23AB-A396-3BAB901FE402}"/>
                  </a:ext>
                </a:extLst>
              </p:cNvPr>
              <p:cNvSpPr txBox="1"/>
              <p:nvPr/>
            </p:nvSpPr>
            <p:spPr>
              <a:xfrm>
                <a:off x="4203700" y="3840058"/>
                <a:ext cx="3261277" cy="8803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𝐴𝐶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l-GR" altLang="ko-KR" b="0" i="1" smtClean="0">
                          <a:latin typeface="Cambria Math" panose="02040503050406030204" pitchFamily="18" charset="0"/>
                        </a:rPr>
                        <m:t>λ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−</m:t>
                          </m:r>
                          <m:nary>
                            <m:naryPr>
                              <m:chr m:val="∑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75528FE-727F-23AB-A396-3BAB901FE4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3700" y="3840058"/>
                <a:ext cx="3261277" cy="88036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D43809C-1E50-D211-0927-D5678143E038}"/>
                  </a:ext>
                </a:extLst>
              </p:cNvPr>
              <p:cNvSpPr txBox="1"/>
              <p:nvPr/>
            </p:nvSpPr>
            <p:spPr>
              <a:xfrm>
                <a:off x="3028950" y="5640314"/>
                <a:ext cx="61341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𝐴𝐶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𝐴𝐶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 ⋯=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𝐴𝐶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d>
                        <m:d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altLang="ko-KR" i="1">
                          <a:latin typeface="Cambria Math" panose="02040503050406030204" pitchFamily="18" charset="0"/>
                        </a:rPr>
                        <m:t>λ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D43809C-1E50-D211-0927-D5678143E0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8950" y="5640314"/>
                <a:ext cx="6134100" cy="369332"/>
              </a:xfrm>
              <a:prstGeom prst="rect">
                <a:avLst/>
              </a:prstGeom>
              <a:blipFill>
                <a:blip r:embed="rId4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70613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D3AAE5-A43F-B994-1553-352CADF86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D1BE3A-1C12-EDB1-6788-6D19F161A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환경의 최적이용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67FF99-30D2-1BC7-EF15-91D166E66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28059C-AF28-EB58-B45A-3367E2D098C6}"/>
              </a:ext>
            </a:extLst>
          </p:cNvPr>
          <p:cNvSpPr txBox="1"/>
          <p:nvPr/>
        </p:nvSpPr>
        <p:spPr>
          <a:xfrm>
            <a:off x="288790" y="787394"/>
            <a:ext cx="11414260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설명한 환경정책의 편익과 비용을 나타내는 개념들을 이용하여 사회적으로 바람직한 수준의 오염물질 배출량 혹은 </a:t>
            </a:r>
            <a:r>
              <a:rPr lang="ko-KR" altLang="en-US" sz="1600" spc="-50" dirty="0" err="1"/>
              <a:t>저감량을</a:t>
            </a:r>
            <a:r>
              <a:rPr lang="ko-KR" altLang="en-US" sz="1600" spc="-50" dirty="0"/>
              <a:t> 도출할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배출량을 기준으로 하는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최적 배출량은 오염물질 배출로 인한 한계오염피해와 오염물질 배출을 한 단위 줄이는데 소요되는 한계저감비용이 같게 되는 배출량이다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9" name="그림 8" descr="도표, 라인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5E0DE48-5378-FC4E-66C7-D2619FDFA8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284" y="2936907"/>
            <a:ext cx="3144731" cy="3600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16C825C-BF92-F0E1-0A47-00174D9701F1}"/>
              </a:ext>
            </a:extLst>
          </p:cNvPr>
          <p:cNvSpPr txBox="1"/>
          <p:nvPr/>
        </p:nvSpPr>
        <p:spPr>
          <a:xfrm>
            <a:off x="288790" y="2335170"/>
            <a:ext cx="794843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그림에서 최적 배출량은 </a:t>
            </a:r>
            <a:r>
              <a:rPr lang="en-US" altLang="ko-KR" sz="1600" spc="-50" dirty="0"/>
              <a:t>e*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표시되어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현재 배출량이 </a:t>
            </a:r>
            <a:r>
              <a:rPr lang="en-US" altLang="ko-KR" sz="1600" spc="-50" dirty="0"/>
              <a:t>e* </a:t>
            </a:r>
            <a:r>
              <a:rPr lang="ko-KR" altLang="en-US" sz="1600" spc="-50" dirty="0"/>
              <a:t>보다 크다면 한 단위의 배출감소로 인한 오염피해 감소분이 저감비용보다 크기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배출량을 줄여야 사회 전체 순편익이 늘어난다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 배출량이 </a:t>
            </a:r>
            <a:r>
              <a:rPr lang="en-US" altLang="ko-KR" sz="1600" spc="-50" dirty="0"/>
              <a:t>e*</a:t>
            </a:r>
            <a:r>
              <a:rPr lang="ko-KR" altLang="en-US" sz="1600" spc="-50" dirty="0"/>
              <a:t>보다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작다면 배출을 늘리면서 절약되는 저감비용이 그 때문에 늘어나는 피해액보다 더 크기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배출량을 늘려야 사회 전체 순편익이 늘어난다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616616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7CDE9-8B56-EE43-13A1-99E9AE531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471791-42AE-F261-5B13-9E2F56E46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환경의 최적이용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63A50E-DB0D-B55E-1CEE-C3DA3B6BD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4A0A24-1940-4F60-9CF9-763BF238581D}"/>
              </a:ext>
            </a:extLst>
          </p:cNvPr>
          <p:cNvSpPr txBox="1"/>
          <p:nvPr/>
        </p:nvSpPr>
        <p:spPr>
          <a:xfrm>
            <a:off x="288790" y="787394"/>
            <a:ext cx="7948430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spc="-50" dirty="0" err="1"/>
              <a:t>저감량을</a:t>
            </a:r>
            <a:r>
              <a:rPr lang="ko-KR" altLang="en-US" sz="1600" spc="-50" dirty="0"/>
              <a:t> 기준으로 하는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최적 </a:t>
            </a:r>
            <a:r>
              <a:rPr lang="ko-KR" altLang="en-US" sz="1600" spc="-50" dirty="0" err="1"/>
              <a:t>저감량은</a:t>
            </a:r>
            <a:r>
              <a:rPr lang="ko-KR" altLang="en-US" sz="1600" spc="-50" dirty="0"/>
              <a:t> 저감의 한계편익과 한계저감비용이 일치하는 수준에서 결정된다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5ED435-A941-3548-7350-8B0F2943F033}"/>
              </a:ext>
            </a:extLst>
          </p:cNvPr>
          <p:cNvSpPr txBox="1"/>
          <p:nvPr/>
        </p:nvSpPr>
        <p:spPr>
          <a:xfrm>
            <a:off x="288790" y="1603650"/>
            <a:ext cx="794843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/>
              <a:t>오른쪽 </a:t>
            </a:r>
            <a:r>
              <a:rPr lang="ko-KR" altLang="en-US" sz="1600" spc="-50" dirty="0"/>
              <a:t>그림에서 최적 </a:t>
            </a:r>
            <a:r>
              <a:rPr lang="ko-KR" altLang="en-US" sz="1600" spc="-50" dirty="0" err="1"/>
              <a:t>저감량은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a*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표시되어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위에서 </a:t>
            </a:r>
            <a:r>
              <a:rPr lang="ko-KR" altLang="en-US" sz="1600" spc="-50" dirty="0" err="1"/>
              <a:t>처럼</a:t>
            </a:r>
            <a:r>
              <a:rPr lang="ko-KR" altLang="en-US" sz="1600" spc="-50" dirty="0"/>
              <a:t> 환경의 최적 이용을 도출하기 위해서는 두 가지 접근 법이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배출량 기준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</a:t>
            </a:r>
            <a:r>
              <a:rPr lang="ko-KR" altLang="en-US" sz="1600" spc="-50" dirty="0" err="1"/>
              <a:t>저감량</a:t>
            </a:r>
            <a:r>
              <a:rPr lang="ko-KR" altLang="en-US" sz="1600" spc="-50" dirty="0"/>
              <a:t> 기준</a:t>
            </a:r>
            <a:endParaRPr lang="en-US" altLang="ko-KR" sz="1600" spc="-50" dirty="0"/>
          </a:p>
        </p:txBody>
      </p:sp>
      <p:pic>
        <p:nvPicPr>
          <p:cNvPr id="5" name="그림 4" descr="텍스트, 도표, 라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F5C90A6-60DF-8F8C-8975-B880D50EC2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8680" y="787394"/>
            <a:ext cx="2923325" cy="3346541"/>
          </a:xfrm>
          <a:prstGeom prst="rect">
            <a:avLst/>
          </a:prstGeom>
        </p:spPr>
      </p:pic>
      <p:pic>
        <p:nvPicPr>
          <p:cNvPr id="7" name="그림 6" descr="도표, 라인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737ECBC-B4CE-1D92-F939-5334BD8A2D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1" y="3986467"/>
            <a:ext cx="2227902" cy="2550440"/>
          </a:xfrm>
          <a:prstGeom prst="rect">
            <a:avLst/>
          </a:prstGeom>
        </p:spPr>
      </p:pic>
      <p:pic>
        <p:nvPicPr>
          <p:cNvPr id="11" name="그림 10" descr="텍스트, 도표, 라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2CB6AF-7970-0784-439D-9A9FB0FF05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7512" y="3986467"/>
            <a:ext cx="2227902" cy="255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9194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02FE7-4FEE-5BC5-8CBC-6FB686E16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18E4A78-6EE9-92EC-2582-1B400E9F3DF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1D16B7-83FD-C3C4-3B91-378CF7DF7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7572B8B-D6FA-DC8E-2AA7-74AF1B6D70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환경정책의 평가기준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0837220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E6773-B047-2CDC-26E4-DF3540205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 종류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1473C1-C28E-84C5-41DD-9DC6930A9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graphicFrame>
        <p:nvGraphicFramePr>
          <p:cNvPr id="5" name="표 3">
            <a:extLst>
              <a:ext uri="{FF2B5EF4-FFF2-40B4-BE49-F238E27FC236}">
                <a16:creationId xmlns:a16="http://schemas.microsoft.com/office/drawing/2014/main" id="{1EBBB9CD-EA25-8CE8-FBDA-99C3AD7880BD}"/>
              </a:ext>
            </a:extLst>
          </p:cNvPr>
          <p:cNvGraphicFramePr>
            <a:graphicFrameLocks noGrp="1"/>
          </p:cNvGraphicFramePr>
          <p:nvPr/>
        </p:nvGraphicFramePr>
        <p:xfrm>
          <a:off x="1567000" y="2522893"/>
          <a:ext cx="8548506" cy="309065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955833">
                  <a:extLst>
                    <a:ext uri="{9D8B030D-6E8A-4147-A177-3AD203B41FA5}">
                      <a16:colId xmlns:a16="http://schemas.microsoft.com/office/drawing/2014/main" val="1102978182"/>
                    </a:ext>
                  </a:extLst>
                </a:gridCol>
                <a:gridCol w="216933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2415277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3008061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70954">
                <a:tc grid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분류기준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정책명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특징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654925"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제도적 규제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경제적 유인이 없는 규제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baseline="0" dirty="0">
                          <a:solidFill>
                            <a:schemeClr val="tx2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직접규제</a:t>
                      </a:r>
                      <a:endParaRPr lang="en-US" altLang="ko-KR" sz="1300" b="0" kern="0" spc="0" baseline="0" dirty="0">
                        <a:solidFill>
                          <a:schemeClr val="tx2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0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환경기준을 사용하여 규제</a:t>
                      </a:r>
                      <a:endParaRPr lang="en-US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654925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경제적 유인이 있는 규제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부과금제도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보조금제도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0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가격변화를 이용해 이용 규제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65492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배출권거래제도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0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수량제한을 통해 오염규제</a:t>
                      </a:r>
                      <a:endParaRPr lang="en-US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654925">
                <a:tc grid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사법적 규제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피해보상판결을 통해 규제</a:t>
                      </a:r>
                      <a:endParaRPr lang="en-US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6D836E0-A677-6EE8-5DC0-3B2AB1B4DCC3}"/>
              </a:ext>
            </a:extLst>
          </p:cNvPr>
          <p:cNvSpPr txBox="1"/>
          <p:nvPr/>
        </p:nvSpPr>
        <p:spPr>
          <a:xfrm>
            <a:off x="678872" y="958844"/>
            <a:ext cx="11027965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환경정책에는 많은 종류가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서로 다른 정책이 동일한 오염물질의 배출규제를 위해 결합되어 사용되기도 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환경정책은 아래의 표처럼 간단하게 분류해볼 수 있음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9551470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F1605-E6BB-175A-DCBA-F5820624E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287F4-4800-747E-0784-5C4803668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직접규제 사례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11AECF-5D3D-C81C-CA1D-77DF38E66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0DC3C3-7489-B6AC-76DC-C7AFC088A64F}"/>
              </a:ext>
            </a:extLst>
          </p:cNvPr>
          <p:cNvSpPr txBox="1"/>
          <p:nvPr/>
        </p:nvSpPr>
        <p:spPr>
          <a:xfrm>
            <a:off x="678872" y="958844"/>
            <a:ext cx="11027965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대기환경보전법 제 </a:t>
            </a:r>
            <a:r>
              <a:rPr lang="en-US" altLang="ko-KR" sz="1600" spc="-50" dirty="0"/>
              <a:t>16</a:t>
            </a:r>
            <a:r>
              <a:rPr lang="ko-KR" altLang="en-US" sz="1600" spc="-50" dirty="0"/>
              <a:t>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배출허용기준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대기오염물질배출시설에서 나오는 대기오염물질의 배출허용기준은 환경부령으로 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대기환경보전법 시행규칙 제 </a:t>
            </a:r>
            <a:r>
              <a:rPr lang="en-US" altLang="ko-KR" sz="1600" spc="-50" dirty="0"/>
              <a:t>15</a:t>
            </a:r>
            <a:r>
              <a:rPr lang="ko-KR" altLang="en-US" sz="1600" spc="-50" dirty="0"/>
              <a:t>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배출허용기준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명시된 별표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은 아래와 같음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AF43326-C9A7-19E7-DE98-C7B0F53519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134" y="2933118"/>
            <a:ext cx="5445701" cy="256268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262116C-FB59-E4F9-E601-9A1BD43832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6931" y="3458056"/>
            <a:ext cx="5582799" cy="3078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3982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2C24B-B727-F6D3-1B75-F2BADF98C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72895-31D5-E9D7-B834-8AE9352BC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배출부과금을 통한 규제 사례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003299-EDED-1677-AE88-16EE5A0C2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171624-2761-C427-3112-6A22950EA515}"/>
              </a:ext>
            </a:extLst>
          </p:cNvPr>
          <p:cNvSpPr txBox="1"/>
          <p:nvPr/>
        </p:nvSpPr>
        <p:spPr>
          <a:xfrm>
            <a:off x="678872" y="958844"/>
            <a:ext cx="11027965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물환경보전법 제 </a:t>
            </a:r>
            <a:r>
              <a:rPr lang="en-US" altLang="ko-KR" sz="1600" spc="-50" dirty="0"/>
              <a:t>41</a:t>
            </a:r>
            <a:r>
              <a:rPr lang="ko-KR" altLang="en-US" sz="1600" spc="-50" dirty="0"/>
              <a:t>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배출부과금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환경부장관은 </a:t>
            </a:r>
            <a:r>
              <a:rPr lang="en-US" altLang="ko-KR" sz="1600" spc="-50" dirty="0"/>
              <a:t>(…) </a:t>
            </a:r>
            <a:r>
              <a:rPr lang="ko-KR" altLang="en-US" sz="1600" spc="-50" dirty="0"/>
              <a:t>수질오염물질을 배출하는 사업자 </a:t>
            </a:r>
            <a:r>
              <a:rPr lang="en-US" altLang="ko-KR" sz="1600" spc="-50" dirty="0"/>
              <a:t>(…)</a:t>
            </a:r>
            <a:r>
              <a:rPr lang="ko-KR" altLang="en-US" sz="1600" spc="-50" dirty="0"/>
              <a:t>에게 배출부과금을 부과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징수한다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 (…) 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산정방법과 </a:t>
            </a:r>
            <a:r>
              <a:rPr lang="ko-KR" altLang="en-US" sz="1600" spc="-5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산정기준등에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관하여 필요한 사항은 대통령령으로 정한다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물환경보전법 시행령 제 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41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 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기본배출부과금의 산정기준 및 방법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및 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42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 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대상 오염물질의 종류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(41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기준이내 배출량 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X 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수질오염물질 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킬로그램당 부과금액 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X 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연도별 부과금산정지수 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X 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지역별 부과계수 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X </a:t>
            </a:r>
            <a:r>
              <a:rPr lang="ko-KR" altLang="en-US" sz="1600" spc="-5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방류수질기준초과율별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부과계수</a:t>
            </a:r>
            <a:endParaRPr lang="en-US" altLang="ko-KR" sz="1600" spc="-5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(42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유기물질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부유물질</a:t>
            </a:r>
            <a:endParaRPr lang="en-US" altLang="ko-KR" sz="1600" spc="-5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>
                <a:latin typeface="맑은 고딕" panose="020B0503020000020004" pitchFamily="50" charset="-127"/>
              </a:rPr>
              <a:t>물환경보전법 시행령 제 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45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조 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(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초과배출부과금의 산정기준 및 산정방법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) 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및 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46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조 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(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대상 오염물질의 종류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>
                <a:latin typeface="맑은 고딕" panose="020B0503020000020004" pitchFamily="50" charset="-127"/>
              </a:rPr>
              <a:t>(45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조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) 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기준초과 배출량 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X 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수질오염물질 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1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킬로그램당 부과금액 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X 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연도별 부과금산정지수 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X 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지역별 부과계수 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X </a:t>
            </a:r>
            <a:r>
              <a:rPr lang="ko-KR" altLang="en-US" sz="1600" spc="-50" dirty="0" err="1">
                <a:latin typeface="맑은 고딕" panose="020B0503020000020004" pitchFamily="50" charset="-127"/>
              </a:rPr>
              <a:t>배출허용기준초과율별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 부과계수</a:t>
            </a:r>
            <a:endParaRPr lang="en-US" altLang="ko-KR" sz="1600" spc="-50" dirty="0">
              <a:latin typeface="맑은 고딕" panose="020B0503020000020004" pitchFamily="50" charset="-127"/>
            </a:endParaRP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>
                <a:latin typeface="맑은 고딕" panose="020B0503020000020004" pitchFamily="50" charset="-127"/>
              </a:rPr>
              <a:t>(46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조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) 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유기물질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, 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부유물질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, 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카드뮴 및 그 화합물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, 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시안화합물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, ……, 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아연 및 그 화합물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, 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총 질소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, 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총 인 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(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이하 총 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19 </a:t>
            </a:r>
            <a:r>
              <a:rPr lang="ko-KR" altLang="en-US" sz="1600" spc="-50" dirty="0">
                <a:latin typeface="맑은 고딕" panose="020B0503020000020004" pitchFamily="50" charset="-127"/>
              </a:rPr>
              <a:t>종류의 오염물질</a:t>
            </a:r>
            <a:r>
              <a:rPr lang="en-US" altLang="ko-KR" sz="1600" spc="-50" dirty="0">
                <a:latin typeface="맑은 고딕" panose="020B0503020000020004" pitchFamily="50" charset="-127"/>
              </a:rPr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>
              <a:latin typeface="맑은 고딕" panose="020B0503020000020004" pitchFamily="50" charset="-127"/>
            </a:endParaRP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57233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4E582-6B17-6DA0-32DE-1F5C2FA59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96268-5280-B195-2879-4D02E61A4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배출권</a:t>
            </a:r>
            <a:r>
              <a:rPr lang="ko-KR" altLang="en-US" dirty="0"/>
              <a:t> 거래제도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967DFC-F7A9-463C-28B7-7C9737C0F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A78A32-8428-5C19-5029-D0F9E2C51AAE}"/>
              </a:ext>
            </a:extLst>
          </p:cNvPr>
          <p:cNvSpPr txBox="1"/>
          <p:nvPr/>
        </p:nvSpPr>
        <p:spPr>
          <a:xfrm>
            <a:off x="678872" y="958844"/>
            <a:ext cx="11027965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기후위기 대응을 위한 탄소중립 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녹색성장 기본법 제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25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 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온실가스 </a:t>
            </a:r>
            <a:r>
              <a:rPr lang="ko-KR" altLang="en-US" sz="1600" spc="-5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배출권거래제</a:t>
            </a:r>
            <a:r>
              <a:rPr lang="en-US" altLang="ko-KR" sz="1600" spc="-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정부는 </a:t>
            </a:r>
            <a:r>
              <a:rPr lang="ko-KR" altLang="en-US" sz="1600" spc="-50" dirty="0" err="1"/>
              <a:t>중장기감축목표등을</a:t>
            </a:r>
            <a:r>
              <a:rPr lang="ko-KR" altLang="en-US" sz="1600" spc="-50" dirty="0"/>
              <a:t> 효율적으로 달성하기 위하여 온실가스 배출허용총량을 설정하고 시장기능을 활용하여 온실가스 배출권을 거래하는 제도를 운영한다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온실가스 배출권의 할당 및 거래에 관한 법률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법률에서 배출권의 할당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검증 등 필요한 세부 규정들을 명시하고 있음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배출권거래제란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</a:t>
            </a:r>
            <a:r>
              <a:rPr lang="en-US" altLang="ko-KR" sz="1600" spc="-50" dirty="0">
                <a:hlinkClick r:id="rId2"/>
              </a:rPr>
              <a:t>https://ets.krx.co.kr/main/main.jsp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 총량을 정하고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기업별로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이라는 허용량을 배분함 </a:t>
            </a:r>
            <a:r>
              <a:rPr lang="en-US" altLang="ko-KR" sz="1600" spc="-50" dirty="0"/>
              <a:t>(A</a:t>
            </a:r>
            <a:r>
              <a:rPr lang="ko-KR" altLang="en-US" sz="1600" spc="-50" dirty="0"/>
              <a:t>회사</a:t>
            </a:r>
            <a:r>
              <a:rPr lang="en-US" altLang="ko-KR" sz="1600" spc="-50" dirty="0"/>
              <a:t>: 10</a:t>
            </a:r>
            <a:r>
              <a:rPr lang="ko-KR" altLang="en-US" sz="1600" spc="-50" dirty="0" err="1"/>
              <a:t>만톤</a:t>
            </a:r>
            <a:r>
              <a:rPr lang="en-US" altLang="ko-KR" sz="1600" spc="-50" dirty="0"/>
              <a:t>, B</a:t>
            </a:r>
            <a:r>
              <a:rPr lang="ko-KR" altLang="en-US" sz="1600" spc="-50" dirty="0"/>
              <a:t>회사</a:t>
            </a:r>
            <a:r>
              <a:rPr lang="en-US" altLang="ko-KR" sz="1600" spc="-50" dirty="0"/>
              <a:t>: 20</a:t>
            </a:r>
            <a:r>
              <a:rPr lang="ko-KR" altLang="en-US" sz="1600" spc="-50" dirty="0" err="1"/>
              <a:t>만톤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기업은 배출이 남으면 시장에 팔고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부족하면 시장에서 구입을 함 </a:t>
            </a:r>
            <a:r>
              <a:rPr lang="en-US" altLang="ko-KR" sz="1600" spc="-50" dirty="0"/>
              <a:t>(A</a:t>
            </a:r>
            <a:r>
              <a:rPr lang="ko-KR" altLang="en-US" sz="1600" spc="-50" dirty="0"/>
              <a:t>회사가 노력해서 </a:t>
            </a:r>
            <a:r>
              <a:rPr lang="en-US" altLang="ko-KR" sz="1600" spc="-50" dirty="0"/>
              <a:t>8</a:t>
            </a:r>
            <a:r>
              <a:rPr lang="ko-KR" altLang="en-US" sz="1600" spc="-50" dirty="0" err="1"/>
              <a:t>만톤</a:t>
            </a:r>
            <a:r>
              <a:rPr lang="ko-KR" altLang="en-US" sz="1600" spc="-50" dirty="0"/>
              <a:t> 배출하면 </a:t>
            </a:r>
            <a:r>
              <a:rPr lang="en-US" altLang="ko-KR" sz="1600" spc="-50" dirty="0"/>
              <a:t>2</a:t>
            </a:r>
            <a:r>
              <a:rPr lang="ko-KR" altLang="en-US" sz="1600" spc="-50" dirty="0" err="1"/>
              <a:t>만톤은</a:t>
            </a:r>
            <a:r>
              <a:rPr lang="ko-KR" altLang="en-US" sz="1600" spc="-50" dirty="0"/>
              <a:t> 팔 수 있음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한편 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회사는 </a:t>
            </a:r>
            <a:r>
              <a:rPr lang="en-US" altLang="ko-KR" sz="1600" spc="-50" dirty="0"/>
              <a:t>22</a:t>
            </a:r>
            <a:r>
              <a:rPr lang="ko-KR" altLang="en-US" sz="1600" spc="-50" dirty="0" err="1"/>
              <a:t>만톤을</a:t>
            </a:r>
            <a:r>
              <a:rPr lang="ko-KR" altLang="en-US" sz="1600" spc="-50" dirty="0"/>
              <a:t> 배출하면</a:t>
            </a:r>
            <a:r>
              <a:rPr lang="en-US" altLang="ko-KR" sz="1600" spc="-50" dirty="0"/>
              <a:t>, 2</a:t>
            </a:r>
            <a:r>
              <a:rPr lang="ko-KR" altLang="en-US" sz="1600" spc="-50" dirty="0" err="1"/>
              <a:t>만톤을</a:t>
            </a:r>
            <a:r>
              <a:rPr lang="ko-KR" altLang="en-US" sz="1600" spc="-50" dirty="0"/>
              <a:t> 시장에서 구입해야 함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비용 효율성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기업들은 </a:t>
            </a: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가격과 직접 감축 비용을 비교하여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비용이 적은 옵션을 선택하게 되므로 사회전체적 감축비용이 최소화 될 수 있음</a:t>
            </a:r>
            <a:endParaRPr lang="en-US" altLang="ko-KR" sz="1600" spc="-5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966A088-2C09-6924-DDB4-BB11BBE596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8983" y="4901948"/>
            <a:ext cx="2694034" cy="14864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844A96E-0E28-3ABA-0A6A-1FF66E057D81}"/>
              </a:ext>
            </a:extLst>
          </p:cNvPr>
          <p:cNvSpPr txBox="1"/>
          <p:nvPr/>
        </p:nvSpPr>
        <p:spPr>
          <a:xfrm>
            <a:off x="4748983" y="6404151"/>
            <a:ext cx="361280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이미지 출처</a:t>
            </a:r>
            <a:r>
              <a:rPr lang="en-US" altLang="ko-KR" sz="700" dirty="0"/>
              <a:t>: </a:t>
            </a:r>
            <a:r>
              <a:rPr lang="ko-KR" altLang="en-US" sz="700" dirty="0"/>
              <a:t>https://www.acrc.go.kr/briefs/289a4cdc5254bab813183d3a5a3785ae4a7529cbb838a960ea750b0509aba6ee/sub_5.html?utm_source=chatgpt.com</a:t>
            </a:r>
          </a:p>
        </p:txBody>
      </p:sp>
    </p:spTree>
    <p:extLst>
      <p:ext uri="{BB962C8B-B14F-4D97-AF65-F5344CB8AC3E}">
        <p14:creationId xmlns:p14="http://schemas.microsoft.com/office/powerpoint/2010/main" val="1125755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4C4BA-C6BE-7BB1-8827-023669E20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F4CAC-21F0-2591-6061-AAFE99CF9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사법적 규제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D28D9C-887E-F58B-CE5C-4501C6453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F190BB-1CE6-9152-BE41-3C77E93F468F}"/>
              </a:ext>
            </a:extLst>
          </p:cNvPr>
          <p:cNvSpPr txBox="1"/>
          <p:nvPr/>
        </p:nvSpPr>
        <p:spPr>
          <a:xfrm>
            <a:off x="678872" y="958844"/>
            <a:ext cx="11027965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가습기 살균제 피해 사건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가습기 살균제란 가습용 물에 첨가하여 가습기를 통해 직접 공기 중으로 분무되도록 만들어진 살균제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안전성을 담보할 검증 테스트를 거치지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인체 무해성을 강조하며 제품 판매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2024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월 가습기살균제 피해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국가 배상책임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을 대법원에서 확정</a:t>
            </a:r>
            <a:endParaRPr lang="en-US" altLang="ko-KR" sz="1600" spc="-50" dirty="0"/>
          </a:p>
          <a:p>
            <a:pPr marL="549275" lvl="1">
              <a:lnSpc>
                <a:spcPct val="150000"/>
              </a:lnSpc>
            </a:pPr>
            <a:r>
              <a:rPr lang="en-US" altLang="ko-KR" sz="1000" spc="-50" dirty="0"/>
              <a:t>https://www.hani.co.kr/arti/society/society_general/1146946.html?utm_source=chatgpt.com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낙동강 페놀 오염 사건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행정안전부 국가기록원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재난방재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사회재난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환경오염</a:t>
            </a:r>
            <a:r>
              <a:rPr lang="en-US" altLang="ko-KR" sz="1600" spc="-50" dirty="0"/>
              <a:t> &gt; </a:t>
            </a:r>
            <a:r>
              <a:rPr lang="ko-KR" altLang="en-US" sz="1600" spc="-50" dirty="0"/>
              <a:t>낙동강 페놀유출사건 참고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차 페놀오염은 </a:t>
            </a:r>
            <a:r>
              <a:rPr lang="en-US" altLang="ko-KR" sz="1600" spc="-50" dirty="0"/>
              <a:t>1991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16</a:t>
            </a:r>
            <a:r>
              <a:rPr lang="ko-KR" altLang="en-US" sz="1600" spc="-50" dirty="0"/>
              <a:t>일 두산전자 구미공장에서 페놀원액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톤이 파손된 파이프를 통해 낙동강으로 유입된 사건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</a:t>
            </a:r>
            <a:r>
              <a:rPr lang="ko-KR" altLang="en-US" sz="1600" spc="-50" dirty="0"/>
              <a:t>차 페놀오염은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22</a:t>
            </a:r>
            <a:r>
              <a:rPr lang="ko-KR" altLang="en-US" sz="1600" spc="-50" dirty="0"/>
              <a:t>일 부실 보수공사로 인해 페놀탱크 파이프 이음새 부분이 파열되어 페놀원액 약 </a:t>
            </a:r>
            <a:r>
              <a:rPr lang="en-US" altLang="ko-KR" sz="1600" spc="-50" dirty="0"/>
              <a:t>1.3</a:t>
            </a:r>
            <a:r>
              <a:rPr lang="ko-KR" altLang="en-US" sz="1600" spc="-50" dirty="0"/>
              <a:t>톤이 낙동강으로 유입되면서 대구지역에 식수공급이 중단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공무원 및 두산전자 관계자들 징계처분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9771185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166A6-307E-CD19-F47F-B1DB3F8E3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환경정책의 평가기준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0A7D2-0301-7DB3-FEFA-8B7DAA982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graphicFrame>
        <p:nvGraphicFramePr>
          <p:cNvPr id="9" name="표 3">
            <a:extLst>
              <a:ext uri="{FF2B5EF4-FFF2-40B4-BE49-F238E27FC236}">
                <a16:creationId xmlns:a16="http://schemas.microsoft.com/office/drawing/2014/main" id="{06DB0B8D-3C64-B30F-58E9-6F524F679F2F}"/>
              </a:ext>
            </a:extLst>
          </p:cNvPr>
          <p:cNvGraphicFramePr>
            <a:graphicFrameLocks noGrp="1"/>
          </p:cNvGraphicFramePr>
          <p:nvPr/>
        </p:nvGraphicFramePr>
        <p:xfrm>
          <a:off x="646259" y="1846027"/>
          <a:ext cx="9147888" cy="440050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6064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3231796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5320028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No</a:t>
                      </a:r>
                      <a:endParaRPr lang="ko-KR" altLang="en-US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평가 기준</a:t>
                      </a:r>
                      <a:endParaRPr lang="ko-KR" altLang="en-US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내 용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654925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효율성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오염물질 배출로 인한 한계피해와 배출감소를 위한 한계비용이 일치하는 수준인지</a:t>
                      </a:r>
                      <a:endParaRPr lang="en-US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654925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형평성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환경정책의 편익이 사회구성원들에게 얼마나 공평하게 배분되는지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654925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기술개발 촉진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기업이 저감비용 절감을 위해 기술개발에 투자할 유인이 있는지</a:t>
                      </a:r>
                      <a:endParaRPr lang="en-US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654925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감시 비용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오염원들이 규정을 준수하도록 유도 혹은 감시하는데 소요되는 비용이 얼마나 되는지</a:t>
                      </a:r>
                      <a:endParaRPr lang="en-US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654925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윤리적 기준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윤리적 판단에 따른 기준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예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오염자부담원칙 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vs. 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피해자부담원칙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en-US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654925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기타 평가 기준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신축성 조건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오염자가 신축적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탄력적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자율적으로 배출 저감활동이 가능한지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EDAA325-54B9-84C8-423B-4A7247F253C9}"/>
              </a:ext>
            </a:extLst>
          </p:cNvPr>
          <p:cNvSpPr txBox="1"/>
          <p:nvPr/>
        </p:nvSpPr>
        <p:spPr>
          <a:xfrm>
            <a:off x="678872" y="958844"/>
            <a:ext cx="11027965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여러 종류의 환경정책을 평가하는데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다양한 측면에서의 기준이 있음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2581268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02F36-C309-1E68-0AD7-9F84AB568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30174-034B-2BFF-E6D6-42E33A188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규제위반과 감시행위</a:t>
            </a:r>
            <a:r>
              <a:rPr lang="en-US" altLang="ko-KR" dirty="0"/>
              <a:t>: </a:t>
            </a:r>
            <a:r>
              <a:rPr lang="ko-KR" altLang="en-US" dirty="0"/>
              <a:t>게임이론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837CBC-6FEA-0007-8CA6-70240DD8E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표 3">
                <a:extLst>
                  <a:ext uri="{FF2B5EF4-FFF2-40B4-BE49-F238E27FC236}">
                    <a16:creationId xmlns:a16="http://schemas.microsoft.com/office/drawing/2014/main" id="{28EFAB0B-136A-2368-4C38-E7E42536EA74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137833" y="4411424"/>
              <a:ext cx="8177014" cy="1780804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2078422">
                      <a:extLst>
                        <a:ext uri="{9D8B030D-6E8A-4147-A177-3AD203B41FA5}">
                          <a16:colId xmlns:a16="http://schemas.microsoft.com/office/drawing/2014/main" val="2218693278"/>
                        </a:ext>
                      </a:extLst>
                    </a:gridCol>
                    <a:gridCol w="3049296">
                      <a:extLst>
                        <a:ext uri="{9D8B030D-6E8A-4147-A177-3AD203B41FA5}">
                          <a16:colId xmlns:a16="http://schemas.microsoft.com/office/drawing/2014/main" val="605825270"/>
                        </a:ext>
                      </a:extLst>
                    </a:gridCol>
                    <a:gridCol w="3049296">
                      <a:extLst>
                        <a:ext uri="{9D8B030D-6E8A-4147-A177-3AD203B41FA5}">
                          <a16:colId xmlns:a16="http://schemas.microsoft.com/office/drawing/2014/main" val="4050302428"/>
                        </a:ext>
                      </a:extLst>
                    </a:gridCol>
                  </a:tblGrid>
                  <a:tr h="470954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ko-KR" altLang="en-US" sz="13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감시</a:t>
                          </a:r>
                          <a:endParaRPr lang="ko-KR" altLang="en-US" sz="12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감시 안함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9783466"/>
                      </a:ext>
                    </a:extLst>
                  </a:tr>
                  <a:tr h="654925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</a:rPr>
                            <a:t>위반</a:t>
                          </a:r>
                          <a:endParaRPr lang="en-US" sz="1300" b="1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9E9E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 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𝑝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𝑔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,   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𝑠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𝑑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𝑐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𝑔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,   −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3031745"/>
                      </a:ext>
                    </a:extLst>
                  </a:tr>
                  <a:tr h="654925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</a:rPr>
                            <a:t>위반 안함</a:t>
                          </a:r>
                          <a:endParaRPr lang="en-US" sz="1300" b="1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9E9E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0,   −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𝑐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0,   0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127454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표 3">
                <a:extLst>
                  <a:ext uri="{FF2B5EF4-FFF2-40B4-BE49-F238E27FC236}">
                    <a16:creationId xmlns:a16="http://schemas.microsoft.com/office/drawing/2014/main" id="{28EFAB0B-136A-2368-4C38-E7E42536EA7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71962413"/>
                  </p:ext>
                </p:extLst>
              </p:nvPr>
            </p:nvGraphicFramePr>
            <p:xfrm>
              <a:off x="2137833" y="4411424"/>
              <a:ext cx="8177014" cy="1780804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2078422">
                      <a:extLst>
                        <a:ext uri="{9D8B030D-6E8A-4147-A177-3AD203B41FA5}">
                          <a16:colId xmlns:a16="http://schemas.microsoft.com/office/drawing/2014/main" val="2218693278"/>
                        </a:ext>
                      </a:extLst>
                    </a:gridCol>
                    <a:gridCol w="3049296">
                      <a:extLst>
                        <a:ext uri="{9D8B030D-6E8A-4147-A177-3AD203B41FA5}">
                          <a16:colId xmlns:a16="http://schemas.microsoft.com/office/drawing/2014/main" val="605825270"/>
                        </a:ext>
                      </a:extLst>
                    </a:gridCol>
                    <a:gridCol w="3049296">
                      <a:extLst>
                        <a:ext uri="{9D8B030D-6E8A-4147-A177-3AD203B41FA5}">
                          <a16:colId xmlns:a16="http://schemas.microsoft.com/office/drawing/2014/main" val="4050302428"/>
                        </a:ext>
                      </a:extLst>
                    </a:gridCol>
                  </a:tblGrid>
                  <a:tr h="470954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ko-KR" altLang="en-US" sz="13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감시</a:t>
                          </a:r>
                          <a:endParaRPr lang="ko-KR" altLang="en-US" sz="12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감시 안함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9783466"/>
                      </a:ext>
                    </a:extLst>
                  </a:tr>
                  <a:tr h="654925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</a:rPr>
                            <a:t>위반</a:t>
                          </a:r>
                          <a:endParaRPr lang="en-US" sz="1300" b="1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9E9E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062" t="-75926" r="-102794" b="-1138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062" t="-75926" r="-2794" b="-1138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3031745"/>
                      </a:ext>
                    </a:extLst>
                  </a:tr>
                  <a:tr h="654925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</a:rPr>
                            <a:t>위반 안함</a:t>
                          </a:r>
                          <a:endParaRPr lang="en-US" sz="1300" b="1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9E9E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062" t="-175926" r="-102794" b="-138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062" t="-175926" r="-2794" b="-138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127454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F53693CC-0C23-AF4B-C40C-354C302BC675}"/>
              </a:ext>
            </a:extLst>
          </p:cNvPr>
          <p:cNvSpPr txBox="1"/>
          <p:nvPr/>
        </p:nvSpPr>
        <p:spPr>
          <a:xfrm>
            <a:off x="678872" y="958844"/>
            <a:ext cx="11027965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오염원은 규제를 어겨 이득을 얻으려 하는 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정부는 오염원이 위반하지 않기를 원함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오염원이 규제를 위반하면 이득을 보는 양</a:t>
            </a:r>
            <a:r>
              <a:rPr lang="en-US" altLang="ko-KR" sz="1600" spc="-50" dirty="0"/>
              <a:t>: g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오염원의 규제위반으로 발생하는 사회적 피해</a:t>
            </a:r>
            <a:r>
              <a:rPr lang="en-US" altLang="ko-KR" sz="1600" spc="-50" dirty="0"/>
              <a:t>: d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오염원의 규제위반이 적발될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납부해야 하는 벌금</a:t>
            </a:r>
            <a:r>
              <a:rPr lang="en-US" altLang="ko-KR" sz="1600" spc="-50" dirty="0"/>
              <a:t>: p  (</a:t>
            </a:r>
            <a:r>
              <a:rPr lang="ko-KR" altLang="en-US" sz="1600" spc="-50" dirty="0"/>
              <a:t>여기서 </a:t>
            </a:r>
            <a:r>
              <a:rPr lang="en-US" altLang="ko-KR" sz="1600" spc="-50" dirty="0"/>
              <a:t>p&gt;g)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 오염원을 감시하는데 소요되는 비용</a:t>
            </a:r>
            <a:r>
              <a:rPr lang="en-US" altLang="ko-KR" sz="1600" spc="-50" dirty="0"/>
              <a:t>: c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 감시를 하지 않아 발생하는 </a:t>
            </a:r>
            <a:r>
              <a:rPr lang="en-US" altLang="ko-KR" sz="1600" spc="-50" dirty="0"/>
              <a:t>d</a:t>
            </a:r>
            <a:r>
              <a:rPr lang="ko-KR" altLang="en-US" sz="1600" spc="-50" dirty="0"/>
              <a:t>만큼의 오염피해도 정부의 비용임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 감시를 통해 불법행위를 중간에 적발하여 줄어드는 오염피해액</a:t>
            </a:r>
            <a:r>
              <a:rPr lang="en-US" altLang="ko-KR" sz="1600" spc="-50" dirty="0"/>
              <a:t>: s  (</a:t>
            </a:r>
            <a:r>
              <a:rPr lang="ko-KR" altLang="en-US" sz="1600" spc="-50" dirty="0"/>
              <a:t>여기서 </a:t>
            </a:r>
            <a:r>
              <a:rPr lang="en-US" altLang="ko-KR" sz="1600" spc="-50" dirty="0"/>
              <a:t>s&gt;c)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A5CAC2-29A9-6A43-3ABE-6BBF1EE1D970}"/>
              </a:ext>
            </a:extLst>
          </p:cNvPr>
          <p:cNvSpPr txBox="1"/>
          <p:nvPr/>
        </p:nvSpPr>
        <p:spPr>
          <a:xfrm>
            <a:off x="6766983" y="3909730"/>
            <a:ext cx="992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b="1" kern="0" dirty="0">
                <a:latin typeface="+mn-ea"/>
              </a:rPr>
              <a:t>정 부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3B305D-DB75-FF08-2CEA-BDAD4600E31E}"/>
              </a:ext>
            </a:extLst>
          </p:cNvPr>
          <p:cNvSpPr txBox="1"/>
          <p:nvPr/>
        </p:nvSpPr>
        <p:spPr>
          <a:xfrm>
            <a:off x="974127" y="5365997"/>
            <a:ext cx="992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b="1" kern="0" dirty="0">
                <a:latin typeface="+mn-ea"/>
              </a:rPr>
              <a:t>오염원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365532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C2EEFA-B130-F53A-0632-9D5A165CD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내쉬균형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013CF3-8BAB-A75D-D70E-CFD412B38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056741-F36B-5943-77DA-2B7E5DF062E4}"/>
              </a:ext>
            </a:extLst>
          </p:cNvPr>
          <p:cNvSpPr txBox="1"/>
          <p:nvPr/>
        </p:nvSpPr>
        <p:spPr>
          <a:xfrm>
            <a:off x="678872" y="958844"/>
            <a:ext cx="11027965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내쉬균형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게임 참여자들이 상대방의 전략을 주어진 것으로 전제하고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대하여 최선의 전략을 선택하여 형성된 균형상태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상대방이 선택을 바꾸지 않는 상태에서 자신만이 선택을 바꾸어 더 큰 이득을 얻는 것이 불가능한 상태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아무도 먼저 움직일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전략을 바꿀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유인이 없는 상황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죄수</a:t>
            </a:r>
            <a:r>
              <a:rPr lang="en-US" altLang="ko-KR" sz="1600" spc="-50" dirty="0"/>
              <a:t> 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가 공범이며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의사소통이 불가능한 채로 조사를 받고 있을 때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는 어떤 선택을 하게 될까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죄수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모두 자백을 선택하는 상태가 </a:t>
            </a:r>
            <a:r>
              <a:rPr lang="ko-KR" altLang="en-US" sz="1600" spc="-50" dirty="0" err="1"/>
              <a:t>내쉬</a:t>
            </a:r>
            <a:r>
              <a:rPr lang="ko-KR" altLang="en-US" sz="1600" spc="-50" dirty="0"/>
              <a:t> 균형이 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표 안의 수치는 죄수가 복역해야 하는 기간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나타낸다</a:t>
            </a:r>
            <a:r>
              <a:rPr lang="en-US" altLang="ko-KR" sz="1600" spc="-50"/>
              <a:t>.</a:t>
            </a:r>
            <a:endParaRPr lang="en-US" altLang="ko-KR" sz="1600" spc="-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표 3">
                <a:extLst>
                  <a:ext uri="{FF2B5EF4-FFF2-40B4-BE49-F238E27FC236}">
                    <a16:creationId xmlns:a16="http://schemas.microsoft.com/office/drawing/2014/main" id="{E1E75139-4961-040A-E7B2-8FE51023085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366433" y="4066356"/>
              <a:ext cx="6485469" cy="789701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2161823">
                      <a:extLst>
                        <a:ext uri="{9D8B030D-6E8A-4147-A177-3AD203B41FA5}">
                          <a16:colId xmlns:a16="http://schemas.microsoft.com/office/drawing/2014/main" val="2218693278"/>
                        </a:ext>
                      </a:extLst>
                    </a:gridCol>
                    <a:gridCol w="2161823">
                      <a:extLst>
                        <a:ext uri="{9D8B030D-6E8A-4147-A177-3AD203B41FA5}">
                          <a16:colId xmlns:a16="http://schemas.microsoft.com/office/drawing/2014/main" val="605825270"/>
                        </a:ext>
                      </a:extLst>
                    </a:gridCol>
                    <a:gridCol w="2161823">
                      <a:extLst>
                        <a:ext uri="{9D8B030D-6E8A-4147-A177-3AD203B41FA5}">
                          <a16:colId xmlns:a16="http://schemas.microsoft.com/office/drawing/2014/main" val="4050302428"/>
                        </a:ext>
                      </a:extLst>
                    </a:gridCol>
                  </a:tblGrid>
                  <a:tr h="156342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ko-KR" altLang="en-US" sz="13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자백</a:t>
                          </a:r>
                          <a:endParaRPr lang="ko-KR" altLang="en-US" sz="12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묵비권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9783466"/>
                      </a:ext>
                    </a:extLst>
                  </a:tr>
                  <a:tr h="137329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자백</a:t>
                          </a:r>
                          <a:endParaRPr lang="en-US" sz="1300" b="1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9E9E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5,   5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0,   10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3031745"/>
                      </a:ext>
                    </a:extLst>
                  </a:tr>
                  <a:tr h="175319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묵비권</a:t>
                          </a:r>
                          <a:endParaRPr lang="en-US" sz="1300" b="1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9E9E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10,   0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1,  1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127454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표 3">
                <a:extLst>
                  <a:ext uri="{FF2B5EF4-FFF2-40B4-BE49-F238E27FC236}">
                    <a16:creationId xmlns:a16="http://schemas.microsoft.com/office/drawing/2014/main" id="{E1E75139-4961-040A-E7B2-8FE51023085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84089270"/>
                  </p:ext>
                </p:extLst>
              </p:nvPr>
            </p:nvGraphicFramePr>
            <p:xfrm>
              <a:off x="2366433" y="4066356"/>
              <a:ext cx="6485469" cy="789701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2161823">
                      <a:extLst>
                        <a:ext uri="{9D8B030D-6E8A-4147-A177-3AD203B41FA5}">
                          <a16:colId xmlns:a16="http://schemas.microsoft.com/office/drawing/2014/main" val="2218693278"/>
                        </a:ext>
                      </a:extLst>
                    </a:gridCol>
                    <a:gridCol w="2161823">
                      <a:extLst>
                        <a:ext uri="{9D8B030D-6E8A-4147-A177-3AD203B41FA5}">
                          <a16:colId xmlns:a16="http://schemas.microsoft.com/office/drawing/2014/main" val="605825270"/>
                        </a:ext>
                      </a:extLst>
                    </a:gridCol>
                    <a:gridCol w="2161823">
                      <a:extLst>
                        <a:ext uri="{9D8B030D-6E8A-4147-A177-3AD203B41FA5}">
                          <a16:colId xmlns:a16="http://schemas.microsoft.com/office/drawing/2014/main" val="4050302428"/>
                        </a:ext>
                      </a:extLst>
                    </a:gridCol>
                  </a:tblGrid>
                  <a:tr h="247613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ko-KR" altLang="en-US" sz="13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자백</a:t>
                          </a:r>
                          <a:endParaRPr lang="ko-KR" altLang="en-US" sz="12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묵비권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9783466"/>
                      </a:ext>
                    </a:extLst>
                  </a:tr>
                  <a:tr h="271044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자백</a:t>
                          </a:r>
                          <a:endParaRPr lang="en-US" sz="1300" b="1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9E9E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408" t="-104545" r="-103944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1408" t="-104545" r="-3944" b="-1363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3031745"/>
                      </a:ext>
                    </a:extLst>
                  </a:tr>
                  <a:tr h="271044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묵비권</a:t>
                          </a:r>
                          <a:endParaRPr lang="en-US" sz="1300" b="1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9E9E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408" t="-200000" r="-103944" b="-3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1408" t="-200000" r="-3944" b="-3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127454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BDD662F8-7786-2453-4DB4-B7A307C079FA}"/>
              </a:ext>
            </a:extLst>
          </p:cNvPr>
          <p:cNvSpPr txBox="1"/>
          <p:nvPr/>
        </p:nvSpPr>
        <p:spPr>
          <a:xfrm>
            <a:off x="6192854" y="3728120"/>
            <a:ext cx="99271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 b="1" kern="0" dirty="0">
                <a:latin typeface="+mn-ea"/>
              </a:rPr>
              <a:t>죄수 </a:t>
            </a:r>
            <a:r>
              <a:rPr lang="en-US" altLang="ko-KR" sz="1300" b="1" kern="0" dirty="0">
                <a:latin typeface="+mn-ea"/>
              </a:rPr>
              <a:t>B</a:t>
            </a:r>
            <a:endParaRPr lang="ko-KR" altLang="en-US" sz="13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ED95DA-068F-68B2-CB1E-13B1A6F57960}"/>
              </a:ext>
            </a:extLst>
          </p:cNvPr>
          <p:cNvSpPr txBox="1"/>
          <p:nvPr/>
        </p:nvSpPr>
        <p:spPr>
          <a:xfrm>
            <a:off x="1509183" y="4426621"/>
            <a:ext cx="99271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 b="1" kern="0" dirty="0">
                <a:latin typeface="+mn-ea"/>
              </a:rPr>
              <a:t>죄수 </a:t>
            </a:r>
            <a:r>
              <a:rPr lang="en-US" altLang="ko-KR" sz="1300" b="1" kern="0" dirty="0">
                <a:latin typeface="+mn-ea"/>
              </a:rPr>
              <a:t>A</a:t>
            </a:r>
            <a:endParaRPr lang="ko-KR" altLang="en-US" sz="1300" dirty="0"/>
          </a:p>
        </p:txBody>
      </p:sp>
    </p:spTree>
    <p:extLst>
      <p:ext uri="{BB962C8B-B14F-4D97-AF65-F5344CB8AC3E}">
        <p14:creationId xmlns:p14="http://schemas.microsoft.com/office/powerpoint/2010/main" val="40563852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789AA-7012-A3A6-6CBE-5D175F139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2B7F7-FB23-965E-4DC7-FD3578668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규제위반과 감시행위</a:t>
            </a:r>
            <a:r>
              <a:rPr lang="en-US" altLang="ko-KR" dirty="0"/>
              <a:t>: </a:t>
            </a:r>
            <a:r>
              <a:rPr lang="ko-KR" altLang="en-US" dirty="0" err="1"/>
              <a:t>내쉬균형</a:t>
            </a:r>
            <a:endParaRPr lang="ko-KR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47A6A1-C627-5297-A5AA-9537D294D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표 3">
                <a:extLst>
                  <a:ext uri="{FF2B5EF4-FFF2-40B4-BE49-F238E27FC236}">
                    <a16:creationId xmlns:a16="http://schemas.microsoft.com/office/drawing/2014/main" id="{970EE99C-E32B-6FF9-9134-BCC41608D89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137833" y="1431149"/>
              <a:ext cx="8177014" cy="1780804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2078422">
                      <a:extLst>
                        <a:ext uri="{9D8B030D-6E8A-4147-A177-3AD203B41FA5}">
                          <a16:colId xmlns:a16="http://schemas.microsoft.com/office/drawing/2014/main" val="2218693278"/>
                        </a:ext>
                      </a:extLst>
                    </a:gridCol>
                    <a:gridCol w="3049296">
                      <a:extLst>
                        <a:ext uri="{9D8B030D-6E8A-4147-A177-3AD203B41FA5}">
                          <a16:colId xmlns:a16="http://schemas.microsoft.com/office/drawing/2014/main" val="605825270"/>
                        </a:ext>
                      </a:extLst>
                    </a:gridCol>
                    <a:gridCol w="3049296">
                      <a:extLst>
                        <a:ext uri="{9D8B030D-6E8A-4147-A177-3AD203B41FA5}">
                          <a16:colId xmlns:a16="http://schemas.microsoft.com/office/drawing/2014/main" val="4050302428"/>
                        </a:ext>
                      </a:extLst>
                    </a:gridCol>
                  </a:tblGrid>
                  <a:tr h="470954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ko-KR" altLang="en-US" sz="13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감시</a:t>
                          </a:r>
                          <a:endParaRPr lang="ko-KR" altLang="en-US" sz="12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감시 안함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9783466"/>
                      </a:ext>
                    </a:extLst>
                  </a:tr>
                  <a:tr h="654925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</a:rPr>
                            <a:t>위반</a:t>
                          </a:r>
                          <a:endParaRPr lang="en-US" sz="1300" b="1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9E9E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 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𝑝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𝑔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,   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𝑠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𝑑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𝑐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𝑔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,   −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3031745"/>
                      </a:ext>
                    </a:extLst>
                  </a:tr>
                  <a:tr h="654925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</a:rPr>
                            <a:t>위반 안함</a:t>
                          </a:r>
                          <a:endParaRPr lang="en-US" sz="1300" b="1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9E9E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0,   −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𝑐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0,   0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127454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표 3">
                <a:extLst>
                  <a:ext uri="{FF2B5EF4-FFF2-40B4-BE49-F238E27FC236}">
                    <a16:creationId xmlns:a16="http://schemas.microsoft.com/office/drawing/2014/main" id="{970EE99C-E32B-6FF9-9134-BCC41608D8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86291073"/>
                  </p:ext>
                </p:extLst>
              </p:nvPr>
            </p:nvGraphicFramePr>
            <p:xfrm>
              <a:off x="2137833" y="1431149"/>
              <a:ext cx="8177014" cy="1780804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2078422">
                      <a:extLst>
                        <a:ext uri="{9D8B030D-6E8A-4147-A177-3AD203B41FA5}">
                          <a16:colId xmlns:a16="http://schemas.microsoft.com/office/drawing/2014/main" val="2218693278"/>
                        </a:ext>
                      </a:extLst>
                    </a:gridCol>
                    <a:gridCol w="3049296">
                      <a:extLst>
                        <a:ext uri="{9D8B030D-6E8A-4147-A177-3AD203B41FA5}">
                          <a16:colId xmlns:a16="http://schemas.microsoft.com/office/drawing/2014/main" val="605825270"/>
                        </a:ext>
                      </a:extLst>
                    </a:gridCol>
                    <a:gridCol w="3049296">
                      <a:extLst>
                        <a:ext uri="{9D8B030D-6E8A-4147-A177-3AD203B41FA5}">
                          <a16:colId xmlns:a16="http://schemas.microsoft.com/office/drawing/2014/main" val="4050302428"/>
                        </a:ext>
                      </a:extLst>
                    </a:gridCol>
                  </a:tblGrid>
                  <a:tr h="470954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ko-KR" altLang="en-US" sz="13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감시</a:t>
                          </a:r>
                          <a:endParaRPr lang="ko-KR" altLang="en-US" sz="12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감시 안함</a:t>
                          </a: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9783466"/>
                      </a:ext>
                    </a:extLst>
                  </a:tr>
                  <a:tr h="654925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</a:rPr>
                            <a:t>위반</a:t>
                          </a:r>
                          <a:endParaRPr lang="en-US" sz="1300" b="1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9E9E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062" t="-75926" r="-102794" b="-1138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062" t="-75926" r="-2794" b="-1138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3031745"/>
                      </a:ext>
                    </a:extLst>
                  </a:tr>
                  <a:tr h="654925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</a:rPr>
                            <a:t>위반 안함</a:t>
                          </a:r>
                          <a:endParaRPr lang="en-US" sz="1300" b="1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9E9E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9062" t="-175926" r="-102794" b="-138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062" t="-175926" r="-2794" b="-138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127454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397F91F2-F1DD-3C46-D930-CDEA675D8A9A}"/>
              </a:ext>
            </a:extLst>
          </p:cNvPr>
          <p:cNvSpPr txBox="1"/>
          <p:nvPr/>
        </p:nvSpPr>
        <p:spPr>
          <a:xfrm>
            <a:off x="6766983" y="929455"/>
            <a:ext cx="992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b="1" kern="0" dirty="0">
                <a:latin typeface="+mn-ea"/>
              </a:rPr>
              <a:t>정 부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2FC2F4-37A5-5103-5F85-0F300F2B7B45}"/>
              </a:ext>
            </a:extLst>
          </p:cNvPr>
          <p:cNvSpPr txBox="1"/>
          <p:nvPr/>
        </p:nvSpPr>
        <p:spPr>
          <a:xfrm>
            <a:off x="974127" y="2385722"/>
            <a:ext cx="992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b="1" kern="0" dirty="0">
                <a:latin typeface="+mn-ea"/>
              </a:rPr>
              <a:t>오염원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5983AA7-E6C1-61F4-39AD-FFD1E1480F1E}"/>
                  </a:ext>
                </a:extLst>
              </p:cNvPr>
              <p:cNvSpPr txBox="1"/>
              <p:nvPr/>
            </p:nvSpPr>
            <p:spPr>
              <a:xfrm>
                <a:off x="678872" y="4298312"/>
                <a:ext cx="11027965" cy="115339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각 주체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오염원 혹은 정부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가 하나의 전략만 선택하는 게 아니고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여러 전략을 확률적으로 섞어 선택한다면</a:t>
                </a:r>
                <a:r>
                  <a:rPr lang="en-US" altLang="ko-KR" sz="1600" spc="-50" dirty="0"/>
                  <a:t>?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오염원이 위반할 확률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혹은 빈도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: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1600" spc="-50" dirty="0"/>
                  <a:t>    </a:t>
                </a:r>
                <a:r>
                  <a:rPr lang="ko-KR" altLang="en-US" sz="1600" spc="-50" dirty="0"/>
                  <a:t>반대로 위반하지 않을 확률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혹은 빈도</a:t>
                </a:r>
                <a:r>
                  <a:rPr lang="en-US" altLang="ko-KR" sz="1600" spc="-50" dirty="0"/>
                  <a:t>): </a:t>
                </a:r>
                <a14:m>
                  <m:oMath xmlns:m="http://schemas.openxmlformats.org/officeDocument/2006/math"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정부가 감시할 확률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혹은 빈도</a:t>
                </a:r>
                <a:r>
                  <a:rPr lang="en-US" altLang="ko-KR" sz="1600" spc="-50" dirty="0"/>
                  <a:t>) :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sz="1600" spc="-50" dirty="0"/>
                  <a:t>      </a:t>
                </a:r>
                <a:r>
                  <a:rPr lang="ko-KR" altLang="en-US" sz="1600" spc="-50" dirty="0"/>
                  <a:t>정부가 감시하지 않을 확률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혹은 빈도</a:t>
                </a:r>
                <a:r>
                  <a:rPr lang="en-US" altLang="ko-KR" sz="1600" spc="-50" dirty="0"/>
                  <a:t>) : </a:t>
                </a:r>
                <a14:m>
                  <m:oMath xmlns:m="http://schemas.openxmlformats.org/officeDocument/2006/math"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5983AA7-E6C1-61F4-39AD-FFD1E1480F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2" y="4298312"/>
                <a:ext cx="11027965" cy="1153393"/>
              </a:xfrm>
              <a:prstGeom prst="rect">
                <a:avLst/>
              </a:prstGeom>
              <a:blipFill>
                <a:blip r:embed="rId3"/>
                <a:stretch>
                  <a:fillRect b="-58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BBA98E8A-A4B3-2B4D-2CF7-5BB3EDA08B0A}"/>
              </a:ext>
            </a:extLst>
          </p:cNvPr>
          <p:cNvSpPr txBox="1"/>
          <p:nvPr/>
        </p:nvSpPr>
        <p:spPr>
          <a:xfrm>
            <a:off x="678872" y="3254370"/>
            <a:ext cx="11027965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게임은 </a:t>
            </a:r>
            <a:r>
              <a:rPr lang="ko-KR" altLang="en-US" sz="1600" spc="-50" dirty="0" err="1"/>
              <a:t>내쉬균형이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존재하지 않는 게임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상태에 있건 항상 전략을 바꿀 유인이 존재함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067225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D7B30-5E66-5447-71C8-4C9400B04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12433-9041-3F75-7584-2FF967B29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규제위반과 감시행위</a:t>
            </a:r>
            <a:r>
              <a:rPr lang="en-US" altLang="ko-KR" dirty="0"/>
              <a:t>: </a:t>
            </a:r>
            <a:r>
              <a:rPr lang="ko-KR" altLang="en-US" dirty="0"/>
              <a:t>혼합전략과 </a:t>
            </a:r>
            <a:r>
              <a:rPr lang="ko-KR" altLang="en-US" dirty="0" err="1"/>
              <a:t>내쉬균형</a:t>
            </a:r>
            <a:endParaRPr lang="ko-KR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93A203-26C2-D041-594A-5E13FCD75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표 3">
                <a:extLst>
                  <a:ext uri="{FF2B5EF4-FFF2-40B4-BE49-F238E27FC236}">
                    <a16:creationId xmlns:a16="http://schemas.microsoft.com/office/drawing/2014/main" id="{331110B4-8DE1-4027-4E32-62987DA1397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137833" y="1431149"/>
              <a:ext cx="8177014" cy="1780804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2078422">
                      <a:extLst>
                        <a:ext uri="{9D8B030D-6E8A-4147-A177-3AD203B41FA5}">
                          <a16:colId xmlns:a16="http://schemas.microsoft.com/office/drawing/2014/main" val="2218693278"/>
                        </a:ext>
                      </a:extLst>
                    </a:gridCol>
                    <a:gridCol w="3049296">
                      <a:extLst>
                        <a:ext uri="{9D8B030D-6E8A-4147-A177-3AD203B41FA5}">
                          <a16:colId xmlns:a16="http://schemas.microsoft.com/office/drawing/2014/main" val="605825270"/>
                        </a:ext>
                      </a:extLst>
                    </a:gridCol>
                    <a:gridCol w="3049296">
                      <a:extLst>
                        <a:ext uri="{9D8B030D-6E8A-4147-A177-3AD203B41FA5}">
                          <a16:colId xmlns:a16="http://schemas.microsoft.com/office/drawing/2014/main" val="4050302428"/>
                        </a:ext>
                      </a:extLst>
                    </a:gridCol>
                  </a:tblGrid>
                  <a:tr h="470954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ko-KR" altLang="en-US" sz="13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감시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2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(</m:t>
                              </m:r>
                              <m:r>
                                <a:rPr lang="en-US" altLang="ko-KR" sz="12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𝒚</m:t>
                              </m:r>
                              <m:r>
                                <a:rPr lang="en-US" altLang="ko-KR" sz="12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)</m:t>
                              </m:r>
                            </m:oMath>
                          </a14:m>
                          <a:endParaRPr lang="ko-KR" altLang="en-US" sz="12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chemeClr val="tx1"/>
                              </a:solidFill>
                              <a:effectLst/>
                              <a:latin typeface="+mn-ea"/>
                              <a:ea typeface="+mn-ea"/>
                              <a:cs typeface="+mn-cs"/>
                            </a:rPr>
                            <a:t>감시 안함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4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(</m:t>
                              </m:r>
                              <m:r>
                                <a:rPr lang="en-US" altLang="ko-KR" sz="14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𝟏</m:t>
                              </m:r>
                              <m:r>
                                <a:rPr lang="en-US" altLang="ko-KR" sz="14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−</m:t>
                              </m:r>
                              <m:r>
                                <a:rPr lang="en-US" altLang="ko-KR" sz="14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𝒚</m:t>
                              </m:r>
                              <m:r>
                                <a:rPr lang="en-US" altLang="ko-KR" sz="14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)</m:t>
                              </m:r>
                            </m:oMath>
                          </a14:m>
                          <a:endParaRPr lang="ko-KR" altLang="en-US" sz="13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9783466"/>
                      </a:ext>
                    </a:extLst>
                  </a:tr>
                  <a:tr h="654925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</a:rPr>
                            <a:t>위반</a:t>
                          </a:r>
                          <a:r>
                            <a:rPr lang="en-US" altLang="ko-KR" sz="1300" b="1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3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(</m:t>
                              </m:r>
                              <m:r>
                                <a:rPr lang="en-US" sz="13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𝒙</m:t>
                              </m:r>
                              <m:r>
                                <a:rPr lang="en-US" sz="13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)</m:t>
                              </m:r>
                            </m:oMath>
                          </a14:m>
                          <a:endParaRPr lang="en-US" sz="1300" b="1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9E9E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 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𝑝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𝑔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,   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𝑠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𝑑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𝑐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𝑔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,   −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3031745"/>
                      </a:ext>
                    </a:extLst>
                  </a:tr>
                  <a:tr h="654925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ko-KR" altLang="en-US" sz="1300" b="1" kern="0" spc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</a:rPr>
                            <a:t>위반 안함</a:t>
                          </a:r>
                          <a:r>
                            <a:rPr lang="en-US" altLang="ko-KR" sz="1300" b="1" kern="0" spc="0" baseline="0" dirty="0">
                              <a:solidFill>
                                <a:srgbClr val="000000"/>
                              </a:solidFill>
                              <a:effectLst/>
                              <a:latin typeface="+mn-ea"/>
                              <a:ea typeface="+mn-ea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3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(</m:t>
                              </m:r>
                              <m:r>
                                <a:rPr lang="en-US" altLang="ko-KR" sz="13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𝟏</m:t>
                              </m:r>
                              <m:r>
                                <a:rPr lang="en-US" altLang="ko-KR" sz="13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−</m:t>
                              </m:r>
                              <m:r>
                                <a:rPr lang="en-US" altLang="ko-KR" sz="13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𝒙</m:t>
                              </m:r>
                              <m:r>
                                <a:rPr lang="en-US" altLang="ko-KR" sz="1300" b="1" i="1" kern="0" spc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</a:rPr>
                                <m:t>)</m:t>
                              </m:r>
                            </m:oMath>
                          </a14:m>
                          <a:endParaRPr lang="en-US" altLang="ko-KR" sz="1300" b="1" kern="0" spc="0" dirty="0">
                            <a:solidFill>
                              <a:srgbClr val="000000"/>
                            </a:solidFill>
                            <a:effectLst/>
                            <a:latin typeface="+mn-ea"/>
                            <a:ea typeface="+mn-ea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9E9E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0,   −</m:t>
                                </m:r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𝑐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300" b="0" i="1" kern="0" spc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0,   0</m:t>
                                </m:r>
                              </m:oMath>
                            </m:oMathPara>
                          </a14:m>
                          <a:endParaRPr lang="en-US" altLang="ko-KR" sz="1300" b="0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127454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표 3">
                <a:extLst>
                  <a:ext uri="{FF2B5EF4-FFF2-40B4-BE49-F238E27FC236}">
                    <a16:creationId xmlns:a16="http://schemas.microsoft.com/office/drawing/2014/main" id="{331110B4-8DE1-4027-4E32-62987DA1397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06885269"/>
                  </p:ext>
                </p:extLst>
              </p:nvPr>
            </p:nvGraphicFramePr>
            <p:xfrm>
              <a:off x="2137833" y="1431149"/>
              <a:ext cx="8177014" cy="1780804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{5C22544A-7EE6-4342-B048-85BDC9FD1C3A}</a:tableStyleId>
                  </a:tblPr>
                  <a:tblGrid>
                    <a:gridCol w="2078422">
                      <a:extLst>
                        <a:ext uri="{9D8B030D-6E8A-4147-A177-3AD203B41FA5}">
                          <a16:colId xmlns:a16="http://schemas.microsoft.com/office/drawing/2014/main" val="2218693278"/>
                        </a:ext>
                      </a:extLst>
                    </a:gridCol>
                    <a:gridCol w="3049296">
                      <a:extLst>
                        <a:ext uri="{9D8B030D-6E8A-4147-A177-3AD203B41FA5}">
                          <a16:colId xmlns:a16="http://schemas.microsoft.com/office/drawing/2014/main" val="605825270"/>
                        </a:ext>
                      </a:extLst>
                    </a:gridCol>
                    <a:gridCol w="3049296">
                      <a:extLst>
                        <a:ext uri="{9D8B030D-6E8A-4147-A177-3AD203B41FA5}">
                          <a16:colId xmlns:a16="http://schemas.microsoft.com/office/drawing/2014/main" val="4050302428"/>
                        </a:ext>
                      </a:extLst>
                    </a:gridCol>
                  </a:tblGrid>
                  <a:tr h="470954">
                    <a:tc>
                      <a:txBody>
                        <a:bodyPr/>
                        <a:lstStyle/>
                        <a:p>
                          <a:pPr marL="0" marR="0" indent="0" algn="ctr" fontAlgn="base" latinLnBrk="0">
                            <a:lnSpc>
                              <a:spcPct val="12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ko-KR" altLang="en-US" sz="1300" b="1" kern="0" spc="0" dirty="0">
                            <a:solidFill>
                              <a:schemeClr val="tx1"/>
                            </a:solidFill>
                            <a:effectLst/>
                            <a:latin typeface="+mn-ea"/>
                            <a:ea typeface="+mn-ea"/>
                            <a:cs typeface="+mn-cs"/>
                          </a:endParaRPr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9062" t="-6494" r="-102794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9062" t="-6494" r="-2794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9783466"/>
                      </a:ext>
                    </a:extLst>
                  </a:tr>
                  <a:tr h="654925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66" t="-75926" r="-297947" b="-1138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9062" t="-75926" r="-102794" b="-1138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9062" t="-75926" r="-2794" b="-1138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3031745"/>
                      </a:ext>
                    </a:extLst>
                  </a:tr>
                  <a:tr h="654925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66" t="-175926" r="-297947" b="-138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9062" t="-175926" r="-102794" b="-138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60223" marR="60223" marT="16650" marB="16650"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9062" t="-175926" r="-2794" b="-138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127454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17B43ADD-EB76-F54E-640E-076D8964984C}"/>
              </a:ext>
            </a:extLst>
          </p:cNvPr>
          <p:cNvSpPr txBox="1"/>
          <p:nvPr/>
        </p:nvSpPr>
        <p:spPr>
          <a:xfrm>
            <a:off x="6766983" y="929455"/>
            <a:ext cx="992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b="1" kern="0" dirty="0">
                <a:latin typeface="+mn-ea"/>
              </a:rPr>
              <a:t>정 부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1FB32B-4B04-ED18-4DF4-650425449F8E}"/>
              </a:ext>
            </a:extLst>
          </p:cNvPr>
          <p:cNvSpPr txBox="1"/>
          <p:nvPr/>
        </p:nvSpPr>
        <p:spPr>
          <a:xfrm>
            <a:off x="974127" y="2385722"/>
            <a:ext cx="992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b="1" kern="0" dirty="0">
                <a:latin typeface="+mn-ea"/>
              </a:rPr>
              <a:t>오염원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2BCC38D-EA08-9664-FF05-C793B71AF522}"/>
                  </a:ext>
                </a:extLst>
              </p:cNvPr>
              <p:cNvSpPr txBox="1"/>
              <p:nvPr/>
            </p:nvSpPr>
            <p:spPr>
              <a:xfrm>
                <a:off x="678872" y="3411850"/>
                <a:ext cx="11027965" cy="1892056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혼합전략의 균형에서는 각 전략으로부터 기대할 수 있는 편익이 일치해야 함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각 전략으로부터 기대하는 편익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위반할 경우</a:t>
                </a:r>
                <a:r>
                  <a:rPr lang="en-US" altLang="ko-KR" sz="1600" spc="-50" dirty="0"/>
                  <a:t>:  </a:t>
                </a:r>
                <a14:m>
                  <m:oMath xmlns:m="http://schemas.openxmlformats.org/officeDocument/2006/math">
                    <m:r>
                      <a:rPr lang="en-US" altLang="ko-KR" sz="1600" b="1" i="1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en-US" altLang="ko-KR" sz="1600" b="1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1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b="1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  <m:r>
                          <a:rPr lang="en-US" altLang="ko-KR" sz="1600" b="1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600" b="1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</m:d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ko-KR" sz="1600" b="1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1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altLang="ko-KR" sz="1600" b="1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b="1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US" altLang="ko-KR" sz="1600" spc="-50" dirty="0"/>
                  <a:t>   </a:t>
                </a:r>
                <a:r>
                  <a:rPr lang="ko-KR" altLang="en-US" sz="1600" spc="-50" dirty="0"/>
                  <a:t>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위반 안 할 경우</a:t>
                </a:r>
                <a:r>
                  <a:rPr lang="en-US" altLang="ko-KR" sz="1600" spc="-50" dirty="0"/>
                  <a:t>:  </a:t>
                </a:r>
                <a14:m>
                  <m:oMath xmlns:m="http://schemas.openxmlformats.org/officeDocument/2006/math">
                    <m:r>
                      <a:rPr lang="en-US" altLang="ko-KR" sz="1600" b="1" i="1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altLang="ko-KR" sz="1600" b="1" i="1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en-US" altLang="ko-KR" sz="1600" b="1" i="1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)∙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</m:oMath>
                </a14:m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각 전략으로부터 기대하는 편익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감시할 경우</a:t>
                </a:r>
                <a:r>
                  <a:rPr lang="en-US" altLang="ko-KR" sz="1600" spc="-50" dirty="0"/>
                  <a:t>:  </a:t>
                </a:r>
                <a14:m>
                  <m:oMath xmlns:m="http://schemas.openxmlformats.org/officeDocument/2006/math"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altLang="ko-KR" sz="1600" b="1" i="1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𝒔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𝒅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𝒄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)+(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)∙(−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𝒄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600" spc="-50" dirty="0"/>
                  <a:t>   </a:t>
                </a:r>
                <a:r>
                  <a:rPr lang="ko-KR" altLang="en-US" sz="1600" spc="-50" dirty="0"/>
                  <a:t>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감시 안 할 경우</a:t>
                </a:r>
                <a:r>
                  <a:rPr lang="en-US" altLang="ko-KR" sz="1600" spc="-50" dirty="0"/>
                  <a:t>:  </a:t>
                </a:r>
                <a14:m>
                  <m:oMath xmlns:m="http://schemas.openxmlformats.org/officeDocument/2006/math">
                    <m:r>
                      <a:rPr lang="en-US" altLang="ko-KR" sz="1600" b="1" i="1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altLang="ko-KR" sz="1600" b="1" i="1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altLang="ko-KR" sz="1600" b="1" i="1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altLang="ko-KR" sz="1600" b="1" i="1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𝒅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ko-KR" sz="1600" b="1" i="1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+(</m:t>
                    </m:r>
                    <m:r>
                      <a:rPr lang="en-US" altLang="ko-KR" sz="1600" b="1" i="1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altLang="ko-KR" sz="1600" b="1" i="1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sz="1600" b="1" i="1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altLang="ko-KR" sz="1600" b="1" i="1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)∙</m:t>
                    </m:r>
                    <m:r>
                      <a:rPr lang="en-US" altLang="ko-KR" sz="1600" b="1" i="1" kern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altLang="ko-KR" sz="1600" spc="-5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2BCC38D-EA08-9664-FF05-C793B71AF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2" y="3411850"/>
                <a:ext cx="11027965" cy="1892056"/>
              </a:xfrm>
              <a:prstGeom prst="rect">
                <a:avLst/>
              </a:prstGeom>
              <a:blipFill>
                <a:blip r:embed="rId4"/>
                <a:stretch>
                  <a:fillRect b="-32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05260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6089</TotalTime>
  <Words>2145</Words>
  <Application>Microsoft Office PowerPoint</Application>
  <PresentationFormat>와이드스크린</PresentationFormat>
  <Paragraphs>253</Paragraphs>
  <Slides>25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2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환경 경제학</vt:lpstr>
      <vt:lpstr>Part 3  환경정책의 수립과 집행</vt:lpstr>
      <vt:lpstr>Chapter 5  환경정책의 평가 기준</vt:lpstr>
      <vt:lpstr>Section 1. 오염피해와 저감비용</vt:lpstr>
      <vt:lpstr>오염피해와 저감비용</vt:lpstr>
      <vt:lpstr>한계오염 피해곡선 (배출량기준)</vt:lpstr>
      <vt:lpstr>한계오염 피해곡선 (오염도기준)</vt:lpstr>
      <vt:lpstr>한계편익 곡선</vt:lpstr>
      <vt:lpstr>한계저감비용 곡선</vt:lpstr>
      <vt:lpstr>한계저감비용 곡선</vt:lpstr>
      <vt:lpstr>등한계원칙</vt:lpstr>
      <vt:lpstr>환경의 최적이용</vt:lpstr>
      <vt:lpstr>환경의 최적이용</vt:lpstr>
      <vt:lpstr>Section 2. 환경정책의 평가기준</vt:lpstr>
      <vt:lpstr>환경정책 종류</vt:lpstr>
      <vt:lpstr>직접규제 사례</vt:lpstr>
      <vt:lpstr>배출부과금을 통한 규제 사례</vt:lpstr>
      <vt:lpstr>배출권 거래제도</vt:lpstr>
      <vt:lpstr>사법적 규제</vt:lpstr>
      <vt:lpstr>환경정책의 평가기준</vt:lpstr>
      <vt:lpstr>규제위반과 감시행위: 게임이론</vt:lpstr>
      <vt:lpstr>내쉬균형</vt:lpstr>
      <vt:lpstr>규제위반과 감시행위: 내쉬균형</vt:lpstr>
      <vt:lpstr>규제위반과 감시행위: 혼합전략과 내쉬균형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186</cp:revision>
  <dcterms:created xsi:type="dcterms:W3CDTF">2025-07-05T05:15:23Z</dcterms:created>
  <dcterms:modified xsi:type="dcterms:W3CDTF">2026-09-17T00:52:22Z</dcterms:modified>
</cp:coreProperties>
</file>