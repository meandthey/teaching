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375" r:id="rId2"/>
    <p:sldId id="453" r:id="rId3"/>
    <p:sldId id="454" r:id="rId4"/>
    <p:sldId id="456" r:id="rId5"/>
    <p:sldId id="457" r:id="rId6"/>
    <p:sldId id="458" r:id="rId7"/>
    <p:sldId id="459" r:id="rId8"/>
    <p:sldId id="461" r:id="rId9"/>
    <p:sldId id="460" r:id="rId10"/>
    <p:sldId id="463" r:id="rId11"/>
    <p:sldId id="631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618B"/>
    <a:srgbClr val="EFEEFD"/>
    <a:srgbClr val="EDE48F"/>
    <a:srgbClr val="E15F5F"/>
    <a:srgbClr val="F8F7FC"/>
    <a:srgbClr val="2D72BE"/>
    <a:srgbClr val="070B12"/>
    <a:srgbClr val="0047A0"/>
    <a:srgbClr val="E3605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 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Chapter </a:t>
            </a:r>
            <a:r>
              <a:rPr lang="en-US" altLang="ko-KR" sz="2800">
                <a:latin typeface="HY헤드라인M" panose="02030600000101010101" pitchFamily="18" charset="-127"/>
                <a:ea typeface="HY헤드라인M" panose="02030600000101010101" pitchFamily="18" charset="-127"/>
              </a:rPr>
              <a:t>- 06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5AB23-3520-83D9-9B8A-8A0A8055C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AF482C-792F-7193-B002-B97A6176405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B007AD-0718-BCEF-35DE-DD7A7B617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2B460642-5A36-B6FF-D68C-FFE73CCC6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6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직접 규제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943077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0E481-C47E-20EB-6A57-B4F15D381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39685F-233E-F9B9-105F-82F2733E7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직접규제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3243F5-A790-03F4-0825-1BE347F58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697516-CBAA-DB3A-21B1-D7518947DB02}"/>
              </a:ext>
            </a:extLst>
          </p:cNvPr>
          <p:cNvSpPr txBox="1"/>
          <p:nvPr/>
        </p:nvSpPr>
        <p:spPr>
          <a:xfrm>
            <a:off x="678872" y="958844"/>
            <a:ext cx="11027965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직접규제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사회적으로 바람직한 수준의 환경질을 달성하기 위해 오염원이 해야 할 행위를 법률로 정하여 오염원에게 이를 지키도록 강제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장점으로는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실행 과정이 비교적 단순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직접적이고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정책목표가 명확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환경기준 위반자를 처벌하므로 도덕적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윤리적 기준과도 부합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가장 많이 사용하고 있는 환경정책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단점으로는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 스스로 배출량을 효율적으로 줄이도록 유도하지 못함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정책당국이 많은 재량권과 신축성을 갖고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 입장에서는 대단히 경직된 제도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효율성 측면에서 많은 문제제기가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정책당국이 지정하는 환경기준에는 </a:t>
            </a:r>
            <a:r>
              <a:rPr lang="en-US" altLang="ko-KR" sz="1600" spc="-50" dirty="0"/>
              <a:t>1. </a:t>
            </a:r>
            <a:r>
              <a:rPr lang="ko-KR" altLang="en-US" sz="1600" spc="-50" dirty="0"/>
              <a:t>배출기준</a:t>
            </a:r>
            <a:r>
              <a:rPr lang="en-US" altLang="ko-KR" sz="1600" spc="-50" dirty="0"/>
              <a:t>, 2. </a:t>
            </a:r>
            <a:r>
              <a:rPr lang="ko-KR" altLang="en-US" sz="1600" spc="-50" dirty="0"/>
              <a:t>오염도기준</a:t>
            </a:r>
            <a:r>
              <a:rPr lang="en-US" altLang="ko-KR" sz="1600" spc="-50" dirty="0"/>
              <a:t>, 3. </a:t>
            </a:r>
            <a:r>
              <a:rPr lang="ko-KR" altLang="en-US" sz="1600" spc="-50" dirty="0"/>
              <a:t>기술기준  세 가지가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740256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1C115-527E-7B4C-4D49-5D9AE57AA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05113B-2D76-63D2-6749-378BD43C4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 기준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F8A5FC-8EC4-577A-3496-2089A2DA2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0B01C3-7D68-FB7E-D56B-8E332C8B994D}"/>
              </a:ext>
            </a:extLst>
          </p:cNvPr>
          <p:cNvSpPr txBox="1"/>
          <p:nvPr/>
        </p:nvSpPr>
        <p:spPr>
          <a:xfrm>
            <a:off x="678872" y="958844"/>
            <a:ext cx="11027965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 기준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각 오염원이 배출할 수 있는 오염물질 배출량의 상한을 의미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배출상한을 준수하면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감축 방법이나 과정은 문제 삼지 않음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배출상한을 준수하면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해당 지역의 실제 오염도가 높아도 책임질 필요가 없음</a:t>
            </a:r>
            <a:endParaRPr lang="en-US" altLang="ko-KR" sz="1600" spc="-50" dirty="0"/>
          </a:p>
        </p:txBody>
      </p:sp>
      <p:graphicFrame>
        <p:nvGraphicFramePr>
          <p:cNvPr id="6" name="표 3">
            <a:extLst>
              <a:ext uri="{FF2B5EF4-FFF2-40B4-BE49-F238E27FC236}">
                <a16:creationId xmlns:a16="http://schemas.microsoft.com/office/drawing/2014/main" id="{D83619AE-4083-6C13-C98C-5E921738E84F}"/>
              </a:ext>
            </a:extLst>
          </p:cNvPr>
          <p:cNvGraphicFramePr>
            <a:graphicFrameLocks noGrp="1"/>
          </p:cNvGraphicFramePr>
          <p:nvPr/>
        </p:nvGraphicFramePr>
        <p:xfrm>
          <a:off x="1160609" y="2885083"/>
          <a:ext cx="10126516" cy="255023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96064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2876287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665416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709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No</a:t>
                      </a:r>
                      <a:endParaRPr lang="ko-KR" altLang="en-US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배출기준의 종류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적용 예시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배출률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톤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시간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배출농도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폐수단위당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BOD (Biochemical Oxygen Demand,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생화학적 산소 요구량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수준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(ppm)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폐기물 총량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시간당 배출량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배출농도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총배출시간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원단위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SO</a:t>
                      </a:r>
                      <a:r>
                        <a:rPr lang="en-US" sz="1300" b="0" kern="0" spc="0" baseline="-250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배출량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전력생산량</a:t>
                      </a:r>
                      <a:endParaRPr lang="en-US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투입물의 폐기물 함유량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발전용 석탄의 </a:t>
                      </a:r>
                      <a:r>
                        <a:rPr lang="ko-KR" altLang="en-US" sz="1300" b="0" kern="0" spc="0" baseline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황함유량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3465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오염물질 제거율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폐수 방류 전 </a:t>
                      </a:r>
                      <a:r>
                        <a:rPr lang="en-US" altLang="ko-KR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x%</a:t>
                      </a:r>
                      <a:r>
                        <a:rPr lang="ko-KR" altLang="en-US" sz="1300" b="0" kern="0" spc="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오염물질 제거</a:t>
                      </a:r>
                      <a:endParaRPr lang="en-US" altLang="ko-KR" sz="1300" b="0" kern="0" spc="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5701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6637D-EF29-7D56-B57F-9B9D1D435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4DCE8D-6593-8A17-139D-4237182D0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기술 기준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CDD608-C6A9-82F0-02A5-8E779F726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DEACB5-99F5-3F66-F834-BD889A4F723F}"/>
              </a:ext>
            </a:extLst>
          </p:cNvPr>
          <p:cNvSpPr txBox="1"/>
          <p:nvPr/>
        </p:nvSpPr>
        <p:spPr>
          <a:xfrm>
            <a:off x="678872" y="958844"/>
            <a:ext cx="11027965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기술 기준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각 오염원이 경제행위를 하면서 사용하는 생산기술이나 절차에 대해 규제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축산농가로 하여금 폐수처리를 위해 정화시설을 의무적으로 설치도록 규제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자동차에 촉매변환기를 의무적으로 장착하게끔 규제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배출기준에서는 정부가 정한 배출량 상한을 충족할 수 만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 어떤 생산기술도 도입할 수 있었음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기술 기준은 오염원이 사용할 수 있는 기술 자체를 정부가 규제하므로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매우 경직된 정책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619857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1ACBE-0E86-8E74-6918-577584201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1E964-E403-80ED-7F7F-1F88A7D1F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오염도 기준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00E1CC-3E9A-7D0E-5771-25EFD798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0DB756-E1A0-40CB-17D5-9B4C0A862066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788966" cy="48460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오염도 기준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자연환경에 축적된 </a:t>
                </a:r>
                <a:r>
                  <a:rPr lang="ko-KR" altLang="en-US" sz="1600" spc="-50" dirty="0" err="1"/>
                  <a:t>오염물질량의</a:t>
                </a:r>
                <a:r>
                  <a:rPr lang="ko-KR" altLang="en-US" sz="1600" spc="-50" dirty="0"/>
                  <a:t> 허용된 상한을 의미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기준의 달성 의무를 오염원에게 직접 명령할 수 없고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앞서 설명한 배출기준 혹은 기술기준을 통해 정부가 목표로  하는 오염도를 달성하도록 유도해야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배출기준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기술기준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을 통해 오염도 기준을 달성하기 위해서는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정부가 각 오염원의 배출량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기술수준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어떤 경로를 통해 오염도 측정지점의 오염도에 영향을 주는지 파악하고 있어야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어떤 지역에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개의 오염원이 있고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오염원의 배출량을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 ,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나타내고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오염도 측정지점에서의 오염도를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 dirty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나타내자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오염원이 오염물질을 한 단위 배출했을 때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측정지점에 실제로 축적되는 비중을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600" b="0" i="1" spc="-50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(</a:t>
                </a:r>
                <a:r>
                  <a:rPr lang="ko-KR" altLang="en-US" sz="1600" spc="-50" dirty="0"/>
                  <a:t>전이계수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라고 하자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측정지점에서는 오염원의 배출로 인한 오염물질뿐 아니라 자연적인 요인 혹은 규제지역 밖의 오염원이 배출한 오염물질에 의해서도 축적될 수 있으므로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라고 하자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이때 측정지점의 </a:t>
                </a:r>
                <a:r>
                  <a:rPr lang="ko-KR" altLang="en-US" sz="1600" spc="-50" dirty="0" err="1"/>
                  <a:t>오염물질량은</a:t>
                </a:r>
                <a:r>
                  <a:rPr lang="ko-KR" altLang="en-US" sz="1600" spc="-50" dirty="0"/>
                  <a:t> 아래와 같이 표현할 수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0DB756-E1A0-40CB-17D5-9B4C0A862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788966" cy="4846007"/>
              </a:xfrm>
              <a:prstGeom prst="rect">
                <a:avLst/>
              </a:prstGeom>
              <a:blipFill>
                <a:blip r:embed="rId2"/>
                <a:stretch>
                  <a:fillRect l="-282" r="-226" b="-6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C4B110-4732-F7C3-9E11-A0D021A1A2B3}"/>
                  </a:ext>
                </a:extLst>
              </p:cNvPr>
              <p:cNvSpPr txBox="1"/>
              <p:nvPr/>
            </p:nvSpPr>
            <p:spPr>
              <a:xfrm>
                <a:off x="4682912" y="5714490"/>
                <a:ext cx="2106508" cy="900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C4B110-4732-F7C3-9E11-A0D021A1A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912" y="5714490"/>
                <a:ext cx="2106508" cy="9003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958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4FB5B-8FFC-49ED-6CDF-EC7233C7D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5AD12-0560-66EB-3D57-5FD08FF5F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직접규제의 경제적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F0D606-9C40-AB9D-4A18-97F03BF4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FA698-722E-3436-79DA-B5B43FE413BB}"/>
              </a:ext>
            </a:extLst>
          </p:cNvPr>
          <p:cNvSpPr txBox="1"/>
          <p:nvPr/>
        </p:nvSpPr>
        <p:spPr>
          <a:xfrm>
            <a:off x="678873" y="958844"/>
            <a:ext cx="7268787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정부의 기준 설정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최선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사회적 한계피해와 한계저감비용이 일치하는 수준 </a:t>
            </a:r>
            <a:r>
              <a:rPr lang="en-US" altLang="ko-KR" sz="1600" spc="-50" dirty="0"/>
              <a:t>(e*)</a:t>
            </a:r>
            <a:r>
              <a:rPr lang="ko-KR" altLang="en-US" sz="1600" spc="-50" dirty="0"/>
              <a:t>을 배출상한으로 정하는 것이 최선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현실에서는 한계피해곡선과 한계저감비용곡선을 알기 </a:t>
            </a:r>
            <a:r>
              <a:rPr lang="ko-KR" altLang="en-US" sz="1600" spc="-50" dirty="0" err="1"/>
              <a:t>힘듬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정부의 기준 설정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대안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오염물질이 일종의 임계치를 가지는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임계치 값으로 설정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배출량이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0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보다 커져야 피해가 생김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오염물질이 급격히 늘어나는 수준이 있는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임계치 값으로 설정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배출량이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1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수준 이상에서는 피해가 급격히 늘어남</a:t>
            </a:r>
            <a:endParaRPr lang="en-US" altLang="ko-KR" sz="1600" spc="-50" dirty="0"/>
          </a:p>
        </p:txBody>
      </p:sp>
      <p:pic>
        <p:nvPicPr>
          <p:cNvPr id="11" name="그림 10" descr="도표, 텍스트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BED745-0D9E-593B-26AD-14F413D41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329" y="1053149"/>
            <a:ext cx="4458671" cy="527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464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86D01-21D8-B340-18CB-7DF04BDAF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C0733E-39E6-8C9C-DBAC-C101C9C7B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환경기준의 획일성과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878598-2486-A5C8-7F5D-A4B928FE4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C26C7-DE81-0448-86D3-61F185BD29B6}"/>
              </a:ext>
            </a:extLst>
          </p:cNvPr>
          <p:cNvSpPr txBox="1"/>
          <p:nvPr/>
        </p:nvSpPr>
        <p:spPr>
          <a:xfrm>
            <a:off x="678873" y="958844"/>
            <a:ext cx="726878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환경기준의 획일성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오염원별로 환경기준을 달리 적용하면 형평성에 문제가 생김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배출기준 혹은 기술기준 또한 모든 오염원에 대해 동일한 기준을 사용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환경기준의 비효율성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모든 오염원 혹은 지역에 대해 획일적인 환경기준을 적용하면 효율성은 떨어질 수 밖에 없음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모든 오염원이나 지역에 대해 획일적인 환경기준을 적용하면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MD</a:t>
            </a:r>
            <a:r>
              <a:rPr lang="en-US" altLang="ko-KR" sz="1600" spc="-50" baseline="-25000" dirty="0"/>
              <a:t>1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은 인구가 비교적 적은 농촌지역의 한계피해곡선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MD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은 인구가 밀집된 도시지역의 한계피해곡선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농촌지역에서 달성되어야 할 배출량은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1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도시지역에서 달성되어야 할 배출량은</a:t>
            </a:r>
            <a:r>
              <a:rPr lang="en-US" altLang="ko-KR" sz="1600" spc="-50" dirty="0"/>
              <a:t> e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형평성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혹은 정치적인 어려움으로 인해 </a:t>
            </a:r>
            <a:r>
              <a:rPr lang="ko-KR" altLang="en-US" sz="1600" spc="-50" dirty="0" err="1"/>
              <a:t>차등화된</a:t>
            </a:r>
            <a:r>
              <a:rPr lang="ko-KR" altLang="en-US" sz="1600" spc="-50" dirty="0"/>
              <a:t> 환경기준을 실제로 시행하기 쉽지 않음</a:t>
            </a:r>
            <a:endParaRPr lang="en-US" altLang="ko-KR" sz="1600" spc="-50" dirty="0"/>
          </a:p>
        </p:txBody>
      </p:sp>
      <p:pic>
        <p:nvPicPr>
          <p:cNvPr id="3" name="그림 2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BA4FCB-9A80-6BE2-FBC1-1D7AF3382E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11"/>
          <a:stretch>
            <a:fillRect/>
          </a:stretch>
        </p:blipFill>
        <p:spPr>
          <a:xfrm>
            <a:off x="7947660" y="1328981"/>
            <a:ext cx="3838160" cy="420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139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446C3-80EF-B256-5A17-17C329C3A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D0ECAA08-BBDB-FCC1-3FF9-CC342E003608}"/>
              </a:ext>
            </a:extLst>
          </p:cNvPr>
          <p:cNvSpPr/>
          <p:nvPr/>
        </p:nvSpPr>
        <p:spPr>
          <a:xfrm>
            <a:off x="7338060" y="943604"/>
            <a:ext cx="914400" cy="2335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MAC</a:t>
            </a:r>
            <a:r>
              <a:rPr lang="en-US" altLang="ko-KR" baseline="-25000" dirty="0">
                <a:solidFill>
                  <a:schemeClr val="tx1"/>
                </a:solidFill>
              </a:rPr>
              <a:t>1</a:t>
            </a:r>
            <a:endParaRPr lang="ko-KR" altLang="en-US" baseline="-25000" dirty="0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F5E5B0D-F64C-4AA7-9EFF-A9B514A1B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환경기준의 획일성과 비효율성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774A4B-61DD-59B8-B580-492220FF6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" name="그림 6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52DD80-EFC4-DBE7-8C76-8B083478D7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06" b="7522"/>
          <a:stretch>
            <a:fillRect/>
          </a:stretch>
        </p:blipFill>
        <p:spPr>
          <a:xfrm>
            <a:off x="8094338" y="746760"/>
            <a:ext cx="3791545" cy="47777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5017C1-9C8F-1DF4-088A-B2FC0C60C84A}"/>
              </a:ext>
            </a:extLst>
          </p:cNvPr>
          <p:cNvSpPr txBox="1"/>
          <p:nvPr/>
        </p:nvSpPr>
        <p:spPr>
          <a:xfrm>
            <a:off x="678873" y="958844"/>
            <a:ext cx="7268787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등한계원칙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어떤 지역에 두 오염원이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정부의 감축목표는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라 하자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그림의 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축 가장 좌측을 원점으로 하는 것이 오염원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의 저감량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그림의 </a:t>
            </a:r>
            <a:r>
              <a:rPr lang="en-US" altLang="ko-KR" sz="1600" spc="-50" dirty="0"/>
              <a:t>x</a:t>
            </a:r>
            <a:r>
              <a:rPr lang="ko-KR" altLang="en-US" sz="1600" spc="-50" dirty="0"/>
              <a:t>축 가장 우측을 원점으로 하는 것이 오염원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의 저감량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오염원은 기술수준이 달라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서로 다른 형태의 한계비용곡선을 가짐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등한계원칙을 적용할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오염원의 한계저감비용이 일치하는 수준에서 </a:t>
            </a:r>
            <a:r>
              <a:rPr lang="ko-KR" altLang="en-US" sz="1600" spc="-50" dirty="0" err="1"/>
              <a:t>저감량을</a:t>
            </a:r>
            <a:r>
              <a:rPr lang="ko-KR" altLang="en-US" sz="1600" spc="-50" dirty="0"/>
              <a:t> 결정해야 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그림에서는 </a:t>
            </a:r>
            <a:r>
              <a:rPr lang="en-US" altLang="ko-KR" sz="1600" spc="-50" dirty="0"/>
              <a:t>MAC</a:t>
            </a:r>
            <a:r>
              <a:rPr lang="en-US" altLang="ko-KR" sz="1600" spc="-50" baseline="-25000" dirty="0"/>
              <a:t>1</a:t>
            </a:r>
            <a:r>
              <a:rPr lang="en-US" altLang="ko-KR" sz="1600" spc="-50" dirty="0"/>
              <a:t> (a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*</a:t>
            </a:r>
            <a:r>
              <a:rPr lang="en-US" altLang="ko-KR" sz="1600" spc="-50" dirty="0"/>
              <a:t>) = MAC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(A - 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*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은 </a:t>
            </a:r>
            <a:r>
              <a:rPr lang="en-US" altLang="ko-KR" sz="1600" spc="-50" dirty="0"/>
              <a:t> 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*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 감축하고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A - 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*</a:t>
            </a:r>
            <a:r>
              <a:rPr lang="ko-KR" altLang="en-US" sz="1600" spc="-50" dirty="0"/>
              <a:t>만큼 감축하도록 할 때 전체 저감비용이 최소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오염원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에게 </a:t>
            </a:r>
            <a:r>
              <a:rPr lang="en-US" altLang="ko-KR" sz="1600" spc="-50" dirty="0"/>
              <a:t>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1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만큼을 저감하도록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에게 </a:t>
            </a:r>
            <a:r>
              <a:rPr lang="en-US" altLang="ko-KR" sz="1600" spc="-50" dirty="0"/>
              <a:t>A - a</a:t>
            </a:r>
            <a:r>
              <a:rPr lang="en-US" altLang="ko-KR" sz="1600" spc="-50" baseline="-25000" dirty="0"/>
              <a:t>1</a:t>
            </a:r>
            <a:r>
              <a:rPr lang="en-US" altLang="ko-KR" sz="1600" spc="-50" baseline="30000" dirty="0"/>
              <a:t>1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만큼을 저감하도록 하면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의 한계비용이 더 큰 상황이 되므로 비효율적임</a:t>
            </a:r>
            <a:endParaRPr lang="en-US" altLang="ko-KR" sz="1600" spc="-5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C3B4D6-99BF-9EE6-7C20-BE471C33FF26}"/>
              </a:ext>
            </a:extLst>
          </p:cNvPr>
          <p:cNvSpPr/>
          <p:nvPr/>
        </p:nvSpPr>
        <p:spPr>
          <a:xfrm>
            <a:off x="11246539" y="5252303"/>
            <a:ext cx="972131" cy="6734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 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저감량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baseline="-25000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EEA2E5F-289A-DAD5-00BC-EAB6A8D44805}"/>
              </a:ext>
            </a:extLst>
          </p:cNvPr>
          <p:cNvSpPr/>
          <p:nvPr/>
        </p:nvSpPr>
        <p:spPr>
          <a:xfrm>
            <a:off x="7670847" y="5252303"/>
            <a:ext cx="972131" cy="6734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BDD25CE-590F-D1B5-E9D3-B5521BB5527C}"/>
              </a:ext>
            </a:extLst>
          </p:cNvPr>
          <p:cNvSpPr/>
          <p:nvPr/>
        </p:nvSpPr>
        <p:spPr>
          <a:xfrm>
            <a:off x="7693707" y="5927897"/>
            <a:ext cx="972131" cy="6734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 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저감량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baseline="-250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C46E02B-DA76-2C0B-3366-C9FEA3F9C258}"/>
              </a:ext>
            </a:extLst>
          </p:cNvPr>
          <p:cNvSpPr/>
          <p:nvPr/>
        </p:nvSpPr>
        <p:spPr>
          <a:xfrm>
            <a:off x="11268082" y="5938429"/>
            <a:ext cx="972131" cy="6734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0 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670EB24-EA1C-DDD8-135B-9A143A2C6708}"/>
              </a:ext>
            </a:extLst>
          </p:cNvPr>
          <p:cNvSpPr/>
          <p:nvPr/>
        </p:nvSpPr>
        <p:spPr>
          <a:xfrm>
            <a:off x="11342370" y="943604"/>
            <a:ext cx="914400" cy="2335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MAC</a:t>
            </a:r>
            <a:r>
              <a:rPr lang="en-US" altLang="ko-KR" baseline="-25000" dirty="0">
                <a:solidFill>
                  <a:schemeClr val="tx1"/>
                </a:solidFill>
              </a:rPr>
              <a:t>2</a:t>
            </a:r>
            <a:endParaRPr lang="ko-KR" altLang="en-US" baseline="-25000" dirty="0">
              <a:solidFill>
                <a:schemeClr val="tx1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7C95168-B938-05ED-26BB-2FBA1CC6FB5C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>
            <a:off x="8642978" y="5589039"/>
            <a:ext cx="2603561" cy="0"/>
          </a:xfrm>
          <a:prstGeom prst="straightConnector1">
            <a:avLst/>
          </a:prstGeom>
          <a:ln w="12700">
            <a:solidFill>
              <a:srgbClr val="070B1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7647F1B-74BB-7B27-6C8A-8AE4E0C6D0DE}"/>
              </a:ext>
            </a:extLst>
          </p:cNvPr>
          <p:cNvCxnSpPr>
            <a:cxnSpLocks/>
            <a:stCxn id="13" idx="1"/>
            <a:endCxn id="12" idx="3"/>
          </p:cNvCxnSpPr>
          <p:nvPr/>
        </p:nvCxnSpPr>
        <p:spPr>
          <a:xfrm flipH="1" flipV="1">
            <a:off x="8665838" y="6264633"/>
            <a:ext cx="2602244" cy="10532"/>
          </a:xfrm>
          <a:prstGeom prst="straightConnector1">
            <a:avLst/>
          </a:prstGeom>
          <a:ln w="12700">
            <a:solidFill>
              <a:srgbClr val="070B12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914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92C55-8E50-C577-E688-ABBD0460E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0CE290-7E81-7022-1683-AC68C91F4F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68" t="4776"/>
          <a:stretch>
            <a:fillRect/>
          </a:stretch>
        </p:blipFill>
        <p:spPr>
          <a:xfrm>
            <a:off x="7848600" y="928587"/>
            <a:ext cx="4334227" cy="560832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448CE28-2608-3B04-4B69-9FB643404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직접규제와 기술혁신 유인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FCCC40-90D0-B94A-0D11-76A596D50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50A222-BA97-B80D-1C8B-3AAC7B8BB0FE}"/>
              </a:ext>
            </a:extLst>
          </p:cNvPr>
          <p:cNvSpPr txBox="1"/>
          <p:nvPr/>
        </p:nvSpPr>
        <p:spPr>
          <a:xfrm>
            <a:off x="678873" y="958844"/>
            <a:ext cx="7109325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기술혁신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[MAC</a:t>
            </a:r>
            <a:r>
              <a:rPr lang="en-US" altLang="ko-KR" sz="1600" u="sng" baseline="-25000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→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MAC</a:t>
            </a:r>
            <a:r>
              <a:rPr lang="en-US" altLang="ko-KR" sz="1600" u="sng" baseline="-25000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]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정부의 최초 배출목표도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1</a:t>
            </a:r>
            <a:r>
              <a:rPr lang="ko-KR" altLang="en-US" sz="1600" spc="-50" baseline="-25000" dirty="0"/>
              <a:t> 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기술혁신 후에도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1</a:t>
            </a:r>
            <a:r>
              <a:rPr lang="ko-KR" altLang="en-US" sz="1600" spc="-50" baseline="-25000" dirty="0"/>
              <a:t> </a:t>
            </a:r>
            <a:r>
              <a:rPr lang="ko-KR" altLang="en-US" sz="1600" spc="-50" dirty="0"/>
              <a:t>으로 유지한다면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오염원의 총저감비용은 기술혁신으로 면적 </a:t>
            </a:r>
            <a:r>
              <a:rPr lang="en-US" altLang="ko-KR" sz="1600" spc="-50" dirty="0" err="1"/>
              <a:t>a+b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b</a:t>
            </a:r>
            <a:r>
              <a:rPr lang="ko-KR" altLang="en-US" sz="1600" spc="-50" dirty="0"/>
              <a:t>로 줄어들고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기술혁신의 이득은 면적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만큼임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기술혁신을 위한 투자비용이 면적 </a:t>
            </a:r>
            <a:r>
              <a:rPr lang="en-US" altLang="ko-KR" sz="1600" spc="-50" dirty="0"/>
              <a:t>a</a:t>
            </a:r>
            <a:r>
              <a:rPr lang="ko-KR" altLang="en-US" sz="1600" spc="-50" dirty="0"/>
              <a:t>보다 작다면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오염원은 기술개발을 위해 노력할 것임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정부의 배출목표가 기술혁신 후에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1</a:t>
            </a:r>
            <a:r>
              <a:rPr lang="ko-KR" altLang="en-US" sz="1600" spc="-50" baseline="-25000" dirty="0"/>
              <a:t> 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2 </a:t>
            </a:r>
            <a:r>
              <a:rPr lang="ko-KR" altLang="en-US" sz="1600" spc="-50" dirty="0"/>
              <a:t>로 줄일 것으로 예측된다면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오염원의 총 저감비용은 면적 </a:t>
            </a:r>
            <a:r>
              <a:rPr lang="en-US" altLang="ko-KR" sz="1600" spc="-50" dirty="0" err="1"/>
              <a:t>a+b</a:t>
            </a:r>
            <a:r>
              <a:rPr lang="ko-KR" altLang="en-US" sz="1600" spc="-50" dirty="0"/>
              <a:t>에서 </a:t>
            </a:r>
            <a:r>
              <a:rPr lang="en-US" altLang="ko-KR" sz="1600" spc="-50" dirty="0" err="1"/>
              <a:t>b+c</a:t>
            </a:r>
            <a:r>
              <a:rPr lang="ko-KR" altLang="en-US" sz="1600" spc="-50" dirty="0"/>
              <a:t>로 변하게 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기술혁신으로 절감되는 저감비용은 </a:t>
            </a:r>
            <a:r>
              <a:rPr lang="en-US" altLang="ko-KR" sz="1600" spc="-50" dirty="0"/>
              <a:t>a-c</a:t>
            </a:r>
            <a:r>
              <a:rPr lang="ko-KR" altLang="en-US" sz="1600" spc="-50" dirty="0"/>
              <a:t>가 됨</a:t>
            </a: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기술강제 원칙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필요 이상으로 강한 환경기준을 설정하면 오염원은 기술혁신에 힘쓰게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</a:t>
            </a:r>
            <a:r>
              <a:rPr lang="en-US" altLang="ko-KR" sz="1600" spc="-50" dirty="0"/>
              <a:t> e</a:t>
            </a:r>
            <a:r>
              <a:rPr lang="en-US" altLang="ko-KR" sz="1600" spc="-50" baseline="-25000" dirty="0"/>
              <a:t>1</a:t>
            </a:r>
            <a:r>
              <a:rPr lang="ko-KR" altLang="en-US" sz="1600" spc="-50" baseline="-25000" dirty="0"/>
              <a:t> </a:t>
            </a:r>
            <a:r>
              <a:rPr lang="ko-KR" altLang="en-US" sz="1600" spc="-50" dirty="0"/>
              <a:t>이 아닌 </a:t>
            </a:r>
            <a:r>
              <a:rPr lang="en-US" altLang="ko-KR" sz="1600" spc="-50" dirty="0"/>
              <a:t>e</a:t>
            </a:r>
            <a:r>
              <a:rPr lang="en-US" altLang="ko-KR" sz="1600" spc="-50" baseline="-25000" dirty="0"/>
              <a:t>2</a:t>
            </a:r>
            <a:r>
              <a:rPr lang="ko-KR" altLang="en-US" sz="1600" spc="-50" baseline="-25000" dirty="0"/>
              <a:t> </a:t>
            </a:r>
            <a:r>
              <a:rPr lang="ko-KR" altLang="en-US" sz="1600" spc="-50" dirty="0"/>
              <a:t>만큼 배출허용을 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최초의 기술수준에서는 </a:t>
            </a:r>
            <a:r>
              <a:rPr lang="en-US" altLang="ko-KR" sz="1600" spc="-50" dirty="0" err="1"/>
              <a:t>a+b+c+d+e</a:t>
            </a:r>
            <a:r>
              <a:rPr lang="ko-KR" altLang="en-US" sz="1600" spc="-50" dirty="0"/>
              <a:t>만큼 저감비용이 소요되지만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기술혁신을 하면 </a:t>
            </a:r>
            <a:r>
              <a:rPr lang="en-US" altLang="ko-KR" sz="1600" spc="-50" dirty="0" err="1"/>
              <a:t>b+c</a:t>
            </a:r>
            <a:r>
              <a:rPr lang="ko-KR" altLang="en-US" sz="1600" spc="-50" dirty="0"/>
              <a:t>로 비용이 대폭 </a:t>
            </a:r>
            <a:r>
              <a:rPr lang="ko-KR" altLang="en-US" sz="1600" spc="-50" dirty="0" err="1"/>
              <a:t>줄어듬</a:t>
            </a:r>
            <a:endParaRPr lang="en-US" altLang="ko-KR" sz="1600" spc="-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83BBFC-F911-54A6-7C1B-11B414EFC4FC}"/>
              </a:ext>
            </a:extLst>
          </p:cNvPr>
          <p:cNvSpPr txBox="1"/>
          <p:nvPr/>
        </p:nvSpPr>
        <p:spPr>
          <a:xfrm>
            <a:off x="9885969" y="5186936"/>
            <a:ext cx="48577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700" spc="-50" dirty="0"/>
              <a:t>a</a:t>
            </a:r>
            <a:endParaRPr lang="ko-KR" altLang="en-US" sz="17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A77EC0-06D1-8DB0-88C3-018C03418597}"/>
              </a:ext>
            </a:extLst>
          </p:cNvPr>
          <p:cNvSpPr txBox="1"/>
          <p:nvPr/>
        </p:nvSpPr>
        <p:spPr>
          <a:xfrm>
            <a:off x="9895494" y="5510054"/>
            <a:ext cx="48577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700" spc="-50" dirty="0"/>
              <a:t>b</a:t>
            </a:r>
            <a:endParaRPr lang="ko-KR" altLang="en-US" sz="17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BEC691-BB1D-27AF-9D7B-501FC1A1E8BE}"/>
              </a:ext>
            </a:extLst>
          </p:cNvPr>
          <p:cNvSpPr txBox="1"/>
          <p:nvPr/>
        </p:nvSpPr>
        <p:spPr>
          <a:xfrm>
            <a:off x="9499536" y="5434146"/>
            <a:ext cx="48577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700" spc="-50" dirty="0"/>
              <a:t>c</a:t>
            </a:r>
            <a:endParaRPr lang="ko-KR" altLang="en-US" sz="17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6BEBCF-F804-3969-AB7B-F9C93DB44F88}"/>
              </a:ext>
            </a:extLst>
          </p:cNvPr>
          <p:cNvSpPr txBox="1"/>
          <p:nvPr/>
        </p:nvSpPr>
        <p:spPr>
          <a:xfrm>
            <a:off x="9599281" y="5168110"/>
            <a:ext cx="48577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700" spc="-50" dirty="0"/>
              <a:t>d</a:t>
            </a:r>
            <a:endParaRPr lang="ko-KR" altLang="en-US" sz="17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E96503-ABF1-B191-17E9-B8919296D51F}"/>
              </a:ext>
            </a:extLst>
          </p:cNvPr>
          <p:cNvSpPr txBox="1"/>
          <p:nvPr/>
        </p:nvSpPr>
        <p:spPr>
          <a:xfrm>
            <a:off x="9475470" y="4939726"/>
            <a:ext cx="485775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700" spc="-50" dirty="0"/>
              <a:t>e</a:t>
            </a:r>
            <a:endParaRPr lang="ko-KR" altLang="en-US" sz="1700" dirty="0"/>
          </a:p>
        </p:txBody>
      </p:sp>
    </p:spTree>
    <p:extLst>
      <p:ext uri="{BB962C8B-B14F-4D97-AF65-F5344CB8AC3E}">
        <p14:creationId xmlns:p14="http://schemas.microsoft.com/office/powerpoint/2010/main" val="2928037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601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6091</TotalTime>
  <Words>828</Words>
  <Application>Microsoft Office PowerPoint</Application>
  <PresentationFormat>와이드스크린</PresentationFormat>
  <Paragraphs>128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 경제학</vt:lpstr>
      <vt:lpstr>Chapter 6  직접 규제</vt:lpstr>
      <vt:lpstr>직접규제</vt:lpstr>
      <vt:lpstr>배출 기준</vt:lpstr>
      <vt:lpstr>기술 기준</vt:lpstr>
      <vt:lpstr>오염도 기준</vt:lpstr>
      <vt:lpstr>직접규제의 경제적 비효율성</vt:lpstr>
      <vt:lpstr>환경기준의 획일성과 비효율성</vt:lpstr>
      <vt:lpstr>환경기준의 획일성과 비효율성</vt:lpstr>
      <vt:lpstr>직접규제와 기술혁신 유인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188</cp:revision>
  <dcterms:created xsi:type="dcterms:W3CDTF">2025-07-05T05:15:23Z</dcterms:created>
  <dcterms:modified xsi:type="dcterms:W3CDTF">2026-09-29T08:37:59Z</dcterms:modified>
</cp:coreProperties>
</file>