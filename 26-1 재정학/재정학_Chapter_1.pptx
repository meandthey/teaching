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28"/>
  </p:notesMasterIdLst>
  <p:sldIdLst>
    <p:sldId id="375" r:id="rId2"/>
    <p:sldId id="400" r:id="rId3"/>
    <p:sldId id="405" r:id="rId4"/>
    <p:sldId id="377" r:id="rId5"/>
    <p:sldId id="550" r:id="rId6"/>
    <p:sldId id="376" r:id="rId7"/>
    <p:sldId id="551" r:id="rId8"/>
    <p:sldId id="552" r:id="rId9"/>
    <p:sldId id="553" r:id="rId10"/>
    <p:sldId id="557" r:id="rId11"/>
    <p:sldId id="556" r:id="rId12"/>
    <p:sldId id="558" r:id="rId13"/>
    <p:sldId id="555" r:id="rId14"/>
    <p:sldId id="554" r:id="rId15"/>
    <p:sldId id="396" r:id="rId16"/>
    <p:sldId id="379" r:id="rId17"/>
    <p:sldId id="380" r:id="rId18"/>
    <p:sldId id="381" r:id="rId19"/>
    <p:sldId id="382" r:id="rId20"/>
    <p:sldId id="386" r:id="rId21"/>
    <p:sldId id="387" r:id="rId22"/>
    <p:sldId id="388" r:id="rId23"/>
    <p:sldId id="390" r:id="rId24"/>
    <p:sldId id="391" r:id="rId25"/>
    <p:sldId id="392" r:id="rId26"/>
    <p:sldId id="364" r:id="rId2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15F5F"/>
    <a:srgbClr val="F8F7FC"/>
    <a:srgbClr val="2D72BE"/>
    <a:srgbClr val="070B12"/>
    <a:srgbClr val="0047A0"/>
    <a:srgbClr val="E3605B"/>
    <a:srgbClr val="FFFFFF"/>
    <a:srgbClr val="FFFDFF"/>
    <a:srgbClr val="00ADD0"/>
    <a:srgbClr val="EEF0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D4F822-9B6C-2312-BC7C-289E6CBD8A83}" v="204" dt="2025-07-20T13:57:47.285"/>
    <p1510:client id="{6FC94FB9-0A6B-4253-B3BE-E28497FA5913}" v="13" dt="2025-07-21T06:43:27.973"/>
    <p1510:client id="{ACAA3603-E3D6-4895-8F10-727493C87641}" v="65" dt="2025-07-21T00:56:35.769"/>
    <p1510:client id="{F2AEC958-FA13-3020-BC15-FF90776EF069}" v="4" dt="2025-07-21T06:39:02.78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2" d="100"/>
          <a:sy n="152" d="100"/>
        </p:scale>
        <p:origin x="604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5E00EF-AEA4-43E2-9451-8F9C59A39471}" type="datetimeFigureOut">
              <a:rPr lang="ko-KR" altLang="en-US" smtClean="0"/>
              <a:t>2025-12-11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183C86-FCDD-4CD4-A668-4DF0BEDE3E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4836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AB1E38-39C7-48C4-086A-B6EF68CA50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E913856-496C-B1A2-D9C8-F0B2113C59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8D845EA-812B-B94C-5F91-4538C5B084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32C56F-BD27-4999-9E6D-D4EACE3DA9F4}" type="datetime1">
              <a:rPr lang="ko-KR" altLang="en-US" smtClean="0"/>
              <a:t>2025-12-11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127CC3D-4E75-B1F8-2261-C9EEA1AA9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BF1B240-7572-2884-ADF8-CC4D01D43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835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86E21D-82E6-C9AF-A630-9F90B7541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B394455-1CD5-40DD-A267-639381E294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A468D34-B903-2F96-71AD-0A335A08665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6B83F9E-22C9-45CA-9E85-070F1D3EF530}" type="datetime1">
              <a:rPr lang="ko-KR" altLang="en-US" smtClean="0"/>
              <a:t>2025-12-11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F736989-7205-0872-8F94-F68B3387B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0E82D4-4058-837B-0186-DF1F17F36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793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E35CB0-2E64-7E17-7F11-3E336F1AB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2D50A24-08A9-B9E0-2E86-A56A1D9E74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0B33A9-AC09-8991-549A-226E174EB90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3278F45-FB3C-4C4D-B89A-7BC3F5F229F6}" type="datetime1">
              <a:rPr lang="ko-KR" altLang="en-US" smtClean="0"/>
              <a:t>2025-12-11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9A77B79-B6C6-4181-A645-4655A0A56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D7EF39A-AD25-8789-D43C-8EA119BB9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24554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6B2B1356-24BE-84BC-4DC7-3DE366037E84}"/>
              </a:ext>
            </a:extLst>
          </p:cNvPr>
          <p:cNvSpPr/>
          <p:nvPr userDrawn="1"/>
        </p:nvSpPr>
        <p:spPr>
          <a:xfrm>
            <a:off x="832348" y="226088"/>
            <a:ext cx="11070092" cy="399644"/>
          </a:xfrm>
          <a:custGeom>
            <a:avLst/>
            <a:gdLst>
              <a:gd name="connsiteX0" fmla="*/ 66609 w 11133508"/>
              <a:gd name="connsiteY0" fmla="*/ 0 h 399644"/>
              <a:gd name="connsiteX1" fmla="*/ 11066899 w 11133508"/>
              <a:gd name="connsiteY1" fmla="*/ 0 h 399644"/>
              <a:gd name="connsiteX2" fmla="*/ 11133508 w 11133508"/>
              <a:gd name="connsiteY2" fmla="*/ 66609 h 399644"/>
              <a:gd name="connsiteX3" fmla="*/ 11133508 w 11133508"/>
              <a:gd name="connsiteY3" fmla="*/ 333035 h 399644"/>
              <a:gd name="connsiteX4" fmla="*/ 11066899 w 11133508"/>
              <a:gd name="connsiteY4" fmla="*/ 399644 h 399644"/>
              <a:gd name="connsiteX5" fmla="*/ 613523 w 11133508"/>
              <a:gd name="connsiteY5" fmla="*/ 399644 h 399644"/>
              <a:gd name="connsiteX6" fmla="*/ 516629 w 11133508"/>
              <a:gd name="connsiteY6" fmla="*/ 232586 h 399644"/>
              <a:gd name="connsiteX7" fmla="*/ 419736 w 11133508"/>
              <a:gd name="connsiteY7" fmla="*/ 399644 h 399644"/>
              <a:gd name="connsiteX8" fmla="*/ 66609 w 11133508"/>
              <a:gd name="connsiteY8" fmla="*/ 399644 h 399644"/>
              <a:gd name="connsiteX9" fmla="*/ 0 w 11133508"/>
              <a:gd name="connsiteY9" fmla="*/ 333035 h 399644"/>
              <a:gd name="connsiteX10" fmla="*/ 0 w 11133508"/>
              <a:gd name="connsiteY10" fmla="*/ 66609 h 399644"/>
              <a:gd name="connsiteX11" fmla="*/ 66609 w 11133508"/>
              <a:gd name="connsiteY11" fmla="*/ 0 h 399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133508" h="399644">
                <a:moveTo>
                  <a:pt x="66609" y="0"/>
                </a:moveTo>
                <a:lnTo>
                  <a:pt x="11066899" y="0"/>
                </a:lnTo>
                <a:cubicBezTo>
                  <a:pt x="11103686" y="0"/>
                  <a:pt x="11133508" y="29822"/>
                  <a:pt x="11133508" y="66609"/>
                </a:cubicBezTo>
                <a:lnTo>
                  <a:pt x="11133508" y="333035"/>
                </a:lnTo>
                <a:cubicBezTo>
                  <a:pt x="11133508" y="369822"/>
                  <a:pt x="11103686" y="399644"/>
                  <a:pt x="11066899" y="399644"/>
                </a:cubicBezTo>
                <a:lnTo>
                  <a:pt x="613523" y="399644"/>
                </a:lnTo>
                <a:lnTo>
                  <a:pt x="516629" y="232586"/>
                </a:lnTo>
                <a:lnTo>
                  <a:pt x="419736" y="399644"/>
                </a:lnTo>
                <a:lnTo>
                  <a:pt x="66609" y="399644"/>
                </a:lnTo>
                <a:cubicBezTo>
                  <a:pt x="29822" y="399644"/>
                  <a:pt x="0" y="369822"/>
                  <a:pt x="0" y="333035"/>
                </a:cubicBezTo>
                <a:lnTo>
                  <a:pt x="0" y="66609"/>
                </a:lnTo>
                <a:cubicBezTo>
                  <a:pt x="0" y="29822"/>
                  <a:pt x="29822" y="0"/>
                  <a:pt x="66609" y="0"/>
                </a:cubicBezTo>
                <a:close/>
              </a:path>
            </a:pathLst>
          </a:custGeom>
          <a:solidFill>
            <a:schemeClr val="bg1"/>
          </a:solidFill>
          <a:ln w="92075" cap="rnd">
            <a:solidFill>
              <a:schemeClr val="bg1"/>
            </a:solidFill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F930236-B5C8-D9A4-EA14-40915FCDBA70}"/>
              </a:ext>
            </a:extLst>
          </p:cNvPr>
          <p:cNvSpPr/>
          <p:nvPr userDrawn="1"/>
        </p:nvSpPr>
        <p:spPr>
          <a:xfrm>
            <a:off x="1037626" y="520066"/>
            <a:ext cx="635786" cy="1578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374F9DA-878E-E86E-075B-62CFB99FBDF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8FDAC3C-35A6-415C-9F03-738A6AC328B1}" type="datetime1">
              <a:rPr lang="ko-KR" altLang="en-US" smtClean="0"/>
              <a:t>2025-12-11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7EE000A-EE22-ABA9-FA89-DA9EA0B9A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B5EA1F0-774A-3104-2C40-091586426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5" name="그림 4" descr="상징, 원, 로고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4F494D8-0B43-4288-8718-B3CEFA7020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50" y="173911"/>
            <a:ext cx="503999" cy="503999"/>
          </a:xfrm>
          <a:prstGeom prst="rect">
            <a:avLst/>
          </a:prstGeom>
        </p:spPr>
      </p:pic>
      <p:grpSp>
        <p:nvGrpSpPr>
          <p:cNvPr id="7" name="그룹 6">
            <a:extLst>
              <a:ext uri="{FF2B5EF4-FFF2-40B4-BE49-F238E27FC236}">
                <a16:creationId xmlns:a16="http://schemas.microsoft.com/office/drawing/2014/main" id="{965ECDD4-C7AB-0780-5C56-AF0432547CDE}"/>
              </a:ext>
            </a:extLst>
          </p:cNvPr>
          <p:cNvGrpSpPr/>
          <p:nvPr userDrawn="1"/>
        </p:nvGrpSpPr>
        <p:grpSpPr>
          <a:xfrm>
            <a:off x="965438" y="334122"/>
            <a:ext cx="36002" cy="185944"/>
            <a:chOff x="398695" y="310309"/>
            <a:chExt cx="36002" cy="185944"/>
          </a:xfrm>
        </p:grpSpPr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ED730A23-15D1-AC6C-BF3C-193DD65B5ED2}"/>
                </a:ext>
              </a:extLst>
            </p:cNvPr>
            <p:cNvSpPr/>
            <p:nvPr/>
          </p:nvSpPr>
          <p:spPr>
            <a:xfrm>
              <a:off x="398697" y="310309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9A8DF95E-63D4-C269-1A9E-58D5FB253590}"/>
                </a:ext>
              </a:extLst>
            </p:cNvPr>
            <p:cNvSpPr/>
            <p:nvPr/>
          </p:nvSpPr>
          <p:spPr>
            <a:xfrm>
              <a:off x="398696" y="385281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592BD15F-E509-254C-B07E-B9BE6F1576B5}"/>
                </a:ext>
              </a:extLst>
            </p:cNvPr>
            <p:cNvSpPr/>
            <p:nvPr/>
          </p:nvSpPr>
          <p:spPr>
            <a:xfrm>
              <a:off x="398695" y="460253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1" name="Freeform 9">
            <a:extLst>
              <a:ext uri="{FF2B5EF4-FFF2-40B4-BE49-F238E27FC236}">
                <a16:creationId xmlns:a16="http://schemas.microsoft.com/office/drawing/2014/main" id="{47220B64-BDC8-944A-0E1A-C71EB0647CDA}"/>
              </a:ext>
            </a:extLst>
          </p:cNvPr>
          <p:cNvSpPr>
            <a:spLocks/>
          </p:cNvSpPr>
          <p:nvPr userDrawn="1"/>
        </p:nvSpPr>
        <p:spPr bwMode="auto">
          <a:xfrm>
            <a:off x="11662598" y="370122"/>
            <a:ext cx="106877" cy="141044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" name="제목 개체 틀 1">
            <a:extLst>
              <a:ext uri="{FF2B5EF4-FFF2-40B4-BE49-F238E27FC236}">
                <a16:creationId xmlns:a16="http://schemas.microsoft.com/office/drawing/2014/main" id="{8C980597-6F00-BBCB-9829-8C1C97B25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626" y="321093"/>
            <a:ext cx="10430212" cy="2335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9409982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EEA165-3F0A-880B-9371-6CA4FC662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7F3832-D575-B192-C9E5-3F5F5AF820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2A0875B-5012-C4D4-34DD-64942B1EC8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E6234D-EC06-5E2E-B205-92424C1562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07A0DF1-AEE6-4B0D-89D2-351E7B3EF65C}" type="datetime1">
              <a:rPr lang="ko-KR" altLang="en-US" smtClean="0"/>
              <a:t>2025-12-11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06D4A64-BD06-1C65-8FEE-8AB7FC5A9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FEC033B-08C1-51C2-514D-21FE02EF1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2093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4C80B3-2773-0186-7384-F0AD5CD4F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F910DF1-53D0-7068-0730-1D1CCBC68F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2A78ACE-35BC-CE88-0216-E9051C73F5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A81F8D8-0F51-47D0-BB1F-D8D9CC1403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E14E3C8-8748-5265-4FD0-09D2757103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0C317E0-79A6-DDA2-6311-F5CA96E315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A93B8C9-630F-4D57-944D-04FD37CECCD3}" type="datetime1">
              <a:rPr lang="ko-KR" altLang="en-US" smtClean="0"/>
              <a:t>2025-12-11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64B9B9B-DE29-812B-D879-30570E55D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81069FA-9B24-53DC-4E72-47AB792BD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2180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7BEAC6-B210-057A-EDB2-6820333F5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C77D0B3-A47C-9147-4B3A-92CAB4BE49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986165A-AC43-4902-9541-874ECD310BA3}" type="datetime1">
              <a:rPr lang="ko-KR" altLang="en-US" smtClean="0"/>
              <a:t>2025-12-11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1131659-D086-7B2B-7BDA-2B7B4CA56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BA19E18-62FF-7A30-2F06-02E7580CA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75045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E71917-1F20-572F-E94C-A526C0685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07D9E8E-1032-5491-08E1-2F612B3EA0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5900DF7-AD67-D88E-48D9-88D790EC2D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9CD9FBF-F3FA-7658-7936-0D1A2FF02D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7E6EE6D-2B0E-43A9-87A2-7354CDB998F4}" type="datetime1">
              <a:rPr lang="ko-KR" altLang="en-US" smtClean="0"/>
              <a:t>2025-12-11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5A39D0C-3288-26C9-1E44-0431F4898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B7CA71F-AE7D-1B55-21A0-1A87DCD4C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91904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5D7F17-3594-D182-A5C0-437C03D88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04DF7D6-CE8D-00BB-75E2-3478943B7D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5C66BC9-C6B7-805A-D64F-129BC27277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91EE813-70EE-6511-B077-F512622065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CC5944E-0BC8-4FAA-9F94-6B4B05834E10}" type="datetime1">
              <a:rPr lang="ko-KR" altLang="en-US" smtClean="0"/>
              <a:t>2025-12-11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D1B9F22-5574-7ED4-D06B-C97AF0BD9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4FEAF6C-BEDB-9F84-DFBC-95DABECC8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7807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5EE7C2-4CFD-C1E6-3632-13EC3CAC6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19B1155-E241-263B-AF79-491CBDDA3B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B6A664C-62FC-AE91-4AEB-8FAEB493B8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EF4A19C-72C8-45CA-8E3F-68A7FA345D6C}" type="datetime1">
              <a:rPr lang="ko-KR" altLang="en-US" smtClean="0"/>
              <a:t>2025-12-11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E9205B3-A98D-6C78-D6F4-825DDC6BB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523C234-845E-B13B-0C99-9B2EEA171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86265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8451ECF-85EC-C955-3B84-54453192B0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F7F4FAD-DE4B-C65A-B284-2FC60889FB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B65CBDD-200F-9431-F587-79B0E4721B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6A175B2-010B-4341-954C-5F8F5C70B124}" type="datetime1">
              <a:rPr lang="ko-KR" altLang="en-US" smtClean="0"/>
              <a:t>2025-12-11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10C0058-AB3B-AC27-3514-3ABE595D3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393A7CF-BE0B-8336-2308-D2D592400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1472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그림 30" descr="상징, 원, 로고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6D4470C-5E69-55C1-270F-9A78C936D5EB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50" y="173911"/>
            <a:ext cx="503999" cy="503999"/>
          </a:xfrm>
          <a:prstGeom prst="rect">
            <a:avLst/>
          </a:prstGeom>
        </p:spPr>
      </p:pic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B6D54C95-5DE1-BB83-7600-92BCFDA2E6BA}"/>
              </a:ext>
            </a:extLst>
          </p:cNvPr>
          <p:cNvSpPr/>
          <p:nvPr userDrawn="1"/>
        </p:nvSpPr>
        <p:spPr>
          <a:xfrm>
            <a:off x="832348" y="226088"/>
            <a:ext cx="11070092" cy="399644"/>
          </a:xfrm>
          <a:custGeom>
            <a:avLst/>
            <a:gdLst>
              <a:gd name="connsiteX0" fmla="*/ 66609 w 11133508"/>
              <a:gd name="connsiteY0" fmla="*/ 0 h 399644"/>
              <a:gd name="connsiteX1" fmla="*/ 11066899 w 11133508"/>
              <a:gd name="connsiteY1" fmla="*/ 0 h 399644"/>
              <a:gd name="connsiteX2" fmla="*/ 11133508 w 11133508"/>
              <a:gd name="connsiteY2" fmla="*/ 66609 h 399644"/>
              <a:gd name="connsiteX3" fmla="*/ 11133508 w 11133508"/>
              <a:gd name="connsiteY3" fmla="*/ 333035 h 399644"/>
              <a:gd name="connsiteX4" fmla="*/ 11066899 w 11133508"/>
              <a:gd name="connsiteY4" fmla="*/ 399644 h 399644"/>
              <a:gd name="connsiteX5" fmla="*/ 613523 w 11133508"/>
              <a:gd name="connsiteY5" fmla="*/ 399644 h 399644"/>
              <a:gd name="connsiteX6" fmla="*/ 516629 w 11133508"/>
              <a:gd name="connsiteY6" fmla="*/ 232586 h 399644"/>
              <a:gd name="connsiteX7" fmla="*/ 419736 w 11133508"/>
              <a:gd name="connsiteY7" fmla="*/ 399644 h 399644"/>
              <a:gd name="connsiteX8" fmla="*/ 66609 w 11133508"/>
              <a:gd name="connsiteY8" fmla="*/ 399644 h 399644"/>
              <a:gd name="connsiteX9" fmla="*/ 0 w 11133508"/>
              <a:gd name="connsiteY9" fmla="*/ 333035 h 399644"/>
              <a:gd name="connsiteX10" fmla="*/ 0 w 11133508"/>
              <a:gd name="connsiteY10" fmla="*/ 66609 h 399644"/>
              <a:gd name="connsiteX11" fmla="*/ 66609 w 11133508"/>
              <a:gd name="connsiteY11" fmla="*/ 0 h 399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133508" h="399644">
                <a:moveTo>
                  <a:pt x="66609" y="0"/>
                </a:moveTo>
                <a:lnTo>
                  <a:pt x="11066899" y="0"/>
                </a:lnTo>
                <a:cubicBezTo>
                  <a:pt x="11103686" y="0"/>
                  <a:pt x="11133508" y="29822"/>
                  <a:pt x="11133508" y="66609"/>
                </a:cubicBezTo>
                <a:lnTo>
                  <a:pt x="11133508" y="333035"/>
                </a:lnTo>
                <a:cubicBezTo>
                  <a:pt x="11133508" y="369822"/>
                  <a:pt x="11103686" y="399644"/>
                  <a:pt x="11066899" y="399644"/>
                </a:cubicBezTo>
                <a:lnTo>
                  <a:pt x="613523" y="399644"/>
                </a:lnTo>
                <a:lnTo>
                  <a:pt x="516629" y="232586"/>
                </a:lnTo>
                <a:lnTo>
                  <a:pt x="419736" y="399644"/>
                </a:lnTo>
                <a:lnTo>
                  <a:pt x="66609" y="399644"/>
                </a:lnTo>
                <a:cubicBezTo>
                  <a:pt x="29822" y="399644"/>
                  <a:pt x="0" y="369822"/>
                  <a:pt x="0" y="333035"/>
                </a:cubicBezTo>
                <a:lnTo>
                  <a:pt x="0" y="66609"/>
                </a:lnTo>
                <a:cubicBezTo>
                  <a:pt x="0" y="29822"/>
                  <a:pt x="29822" y="0"/>
                  <a:pt x="66609" y="0"/>
                </a:cubicBezTo>
                <a:close/>
              </a:path>
            </a:pathLst>
          </a:custGeom>
          <a:solidFill>
            <a:schemeClr val="bg1"/>
          </a:solidFill>
          <a:ln w="92075" cap="rnd">
            <a:solidFill>
              <a:schemeClr val="bg1"/>
            </a:solidFill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3D9701EA-CA45-03D3-8629-CACB976B13C7}"/>
              </a:ext>
            </a:extLst>
          </p:cNvPr>
          <p:cNvGrpSpPr/>
          <p:nvPr userDrawn="1"/>
        </p:nvGrpSpPr>
        <p:grpSpPr>
          <a:xfrm>
            <a:off x="965438" y="334122"/>
            <a:ext cx="36002" cy="185944"/>
            <a:chOff x="398695" y="310309"/>
            <a:chExt cx="36002" cy="185944"/>
          </a:xfrm>
        </p:grpSpPr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41659905-6BB4-F77A-C4B2-CD01EE50E9A3}"/>
                </a:ext>
              </a:extLst>
            </p:cNvPr>
            <p:cNvSpPr/>
            <p:nvPr/>
          </p:nvSpPr>
          <p:spPr>
            <a:xfrm>
              <a:off x="398697" y="310309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56276BA2-601C-3FB1-B544-5F1FB3A4C59F}"/>
                </a:ext>
              </a:extLst>
            </p:cNvPr>
            <p:cNvSpPr/>
            <p:nvPr/>
          </p:nvSpPr>
          <p:spPr>
            <a:xfrm>
              <a:off x="398696" y="385281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6E75D259-5225-4C37-ABC2-39DA372499A1}"/>
                </a:ext>
              </a:extLst>
            </p:cNvPr>
            <p:cNvSpPr/>
            <p:nvPr/>
          </p:nvSpPr>
          <p:spPr>
            <a:xfrm>
              <a:off x="398695" y="460253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21" name="Freeform 9">
            <a:extLst>
              <a:ext uri="{FF2B5EF4-FFF2-40B4-BE49-F238E27FC236}">
                <a16:creationId xmlns:a16="http://schemas.microsoft.com/office/drawing/2014/main" id="{6514361D-8169-AF24-F568-2B5FC5AD42A2}"/>
              </a:ext>
            </a:extLst>
          </p:cNvPr>
          <p:cNvSpPr>
            <a:spLocks/>
          </p:cNvSpPr>
          <p:nvPr userDrawn="1"/>
        </p:nvSpPr>
        <p:spPr bwMode="auto">
          <a:xfrm>
            <a:off x="11662598" y="370122"/>
            <a:ext cx="106877" cy="141044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이등변 삼각형 27">
            <a:extLst>
              <a:ext uri="{FF2B5EF4-FFF2-40B4-BE49-F238E27FC236}">
                <a16:creationId xmlns:a16="http://schemas.microsoft.com/office/drawing/2014/main" id="{AD4066BA-D2BC-37E9-976A-8204B8EF9F62}"/>
              </a:ext>
            </a:extLst>
          </p:cNvPr>
          <p:cNvSpPr/>
          <p:nvPr userDrawn="1"/>
        </p:nvSpPr>
        <p:spPr>
          <a:xfrm>
            <a:off x="1235851" y="667970"/>
            <a:ext cx="211949" cy="182715"/>
          </a:xfrm>
          <a:prstGeom prst="triangle">
            <a:avLst/>
          </a:prstGeom>
          <a:solidFill>
            <a:schemeClr val="bg1"/>
          </a:solidFill>
          <a:ln w="47625" cap="rnd">
            <a:solidFill>
              <a:schemeClr val="bg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81DE6459-0E1B-62B4-B07B-EB5555E53206}"/>
              </a:ext>
            </a:extLst>
          </p:cNvPr>
          <p:cNvSpPr/>
          <p:nvPr userDrawn="1"/>
        </p:nvSpPr>
        <p:spPr>
          <a:xfrm>
            <a:off x="209550" y="778044"/>
            <a:ext cx="11756306" cy="5832862"/>
          </a:xfrm>
          <a:prstGeom prst="roundRect">
            <a:avLst>
              <a:gd name="adj" fmla="val 1861"/>
            </a:avLst>
          </a:prstGeom>
          <a:solidFill>
            <a:schemeClr val="bg1"/>
          </a:solidFill>
          <a:ln w="92075" cap="rnd">
            <a:noFill/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468F272-B293-6379-50B0-01D6BCACC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626" y="321093"/>
            <a:ext cx="10430212" cy="2335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1675170-525C-B88C-2549-1515AC8C00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0559" y="1193822"/>
            <a:ext cx="10754289" cy="50013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86C6AE6-3A65-C287-7112-FF1BCC98D0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39250" y="6611900"/>
            <a:ext cx="2743200" cy="2398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2"/>
                </a:solidFill>
                <a:latin typeface="+mn-lt"/>
              </a:defRPr>
            </a:lvl1pPr>
          </a:lstStyle>
          <a:p>
            <a:fld id="{109C872D-39A9-4065-8BF3-6A613116E2A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487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5" r:id="rId4"/>
    <p:sldLayoutId id="2147483652" r:id="rId5"/>
    <p:sldLayoutId id="2147483653" r:id="rId6"/>
    <p:sldLayoutId id="2147483654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2200" i="1" kern="1200">
          <a:solidFill>
            <a:schemeClr val="tx1"/>
          </a:solidFill>
          <a:latin typeface="HY헤드라인M" panose="02030600000101010101" pitchFamily="18" charset="-127"/>
          <a:ea typeface="HY헤드라인M" panose="02030600000101010101" pitchFamily="18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959EC3-FDAD-5008-2635-A7E4EDD289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EE82B6-2F0F-6FB8-F71F-495B423ABF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9950" y="192979"/>
            <a:ext cx="10452100" cy="2912171"/>
          </a:xfrm>
          <a:effectLst>
            <a:reflection blurRad="50800" stA="45000" endPos="44000" dir="5400000" sy="-100000" algn="bl" rotWithShape="0"/>
          </a:effectLst>
        </p:spPr>
        <p:txBody>
          <a:bodyPr/>
          <a:lstStyle/>
          <a:p>
            <a:r>
              <a:rPr lang="ko-KR" altLang="en-US" sz="6600" b="1" i="0" dirty="0"/>
              <a:t>재 정 학</a:t>
            </a:r>
            <a:endParaRPr lang="ko-KR" altLang="en-US" i="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D3B6547-3B8C-6CD4-91B3-9723EB5A4D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556665"/>
            <a:ext cx="9144000" cy="935960"/>
          </a:xfrm>
        </p:spPr>
        <p:txBody>
          <a:bodyPr>
            <a:normAutofit/>
          </a:bodyPr>
          <a:lstStyle/>
          <a:p>
            <a:endParaRPr lang="en-US" altLang="ko-KR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r>
              <a:rPr lang="en-US" altLang="ko-KR" sz="28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Lecture - 1</a:t>
            </a:r>
            <a:endParaRPr lang="ko-KR" altLang="en-US" sz="1700" dirty="0"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D5F631-FC1F-A584-173C-4EA4C43A874E}"/>
              </a:ext>
            </a:extLst>
          </p:cNvPr>
          <p:cNvSpPr txBox="1"/>
          <p:nvPr/>
        </p:nvSpPr>
        <p:spPr>
          <a:xfrm>
            <a:off x="5499100" y="5036208"/>
            <a:ext cx="1193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전 승 호</a:t>
            </a:r>
            <a:endParaRPr lang="ko-KR" altLang="en-US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pic>
        <p:nvPicPr>
          <p:cNvPr id="7" name="그림 6" descr="텍스트, 폰트, 그래픽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266D5C0-E865-7613-63AD-5D846835D6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1325" y="6408811"/>
            <a:ext cx="1461138" cy="315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402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B77C8A-9F0F-FC0C-1D76-A3F32B69E2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3A045F-2B00-83E6-B256-8A0B61009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수업개요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6EC8D9F-C285-F5E4-1C11-93C8B7EF6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638085-6655-CBDE-0744-0787D69186BA}"/>
              </a:ext>
            </a:extLst>
          </p:cNvPr>
          <p:cNvSpPr txBox="1"/>
          <p:nvPr/>
        </p:nvSpPr>
        <p:spPr>
          <a:xfrm>
            <a:off x="678872" y="1038536"/>
            <a:ext cx="10975831" cy="52615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수업 운영 방식</a:t>
            </a:r>
            <a:endParaRPr lang="en-US" altLang="ko-KR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>
              <a:lnSpc>
                <a:spcPct val="150000"/>
              </a:lnSpc>
            </a:pP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강의 중심의 수업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수업 중 언제든지 어떤 주제도 질문 가능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취식 가능 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냄새만 심하게 안나면</a:t>
            </a:r>
            <a:r>
              <a:rPr lang="en-US" altLang="ko-KR" sz="1600" spc="-50" dirty="0"/>
              <a:t>)</a:t>
            </a:r>
          </a:p>
          <a:p>
            <a:pPr marL="377825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>
              <a:lnSpc>
                <a:spcPct val="150000"/>
              </a:lnSpc>
            </a:pPr>
            <a:r>
              <a:rPr lang="ko-KR" altLang="en-US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성적 평가 방법</a:t>
            </a:r>
            <a:r>
              <a:rPr lang="en-US" altLang="ko-KR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:</a:t>
            </a:r>
            <a:r>
              <a:rPr lang="en-US" altLang="ko-KR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  <a:r>
              <a:rPr lang="ko-KR" altLang="en-US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상대평가</a:t>
            </a:r>
            <a:endParaRPr lang="en-US" altLang="ko-KR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>
              <a:lnSpc>
                <a:spcPct val="150000"/>
              </a:lnSpc>
            </a:pP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출석</a:t>
            </a:r>
            <a:r>
              <a:rPr lang="en-US" altLang="ko-KR" sz="1600" spc="-50" dirty="0"/>
              <a:t>: 10%, </a:t>
            </a:r>
            <a:r>
              <a:rPr lang="ko-KR" altLang="en-US" sz="1600" spc="-50" dirty="0"/>
              <a:t>중간고사</a:t>
            </a:r>
            <a:r>
              <a:rPr lang="en-US" altLang="ko-KR" sz="1600" spc="-50" dirty="0"/>
              <a:t>: 45%, </a:t>
            </a:r>
            <a:r>
              <a:rPr lang="ko-KR" altLang="en-US" sz="1600" spc="-50" dirty="0"/>
              <a:t>기말고사 </a:t>
            </a:r>
            <a:r>
              <a:rPr lang="en-US" altLang="ko-KR" sz="1600" spc="-50" dirty="0"/>
              <a:t>45%</a:t>
            </a:r>
          </a:p>
          <a:p>
            <a:pPr marL="377825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문제풀이</a:t>
            </a:r>
            <a:r>
              <a:rPr lang="en-US" altLang="ko-KR" sz="1600" spc="-50" dirty="0"/>
              <a:t> (OX, </a:t>
            </a:r>
            <a:r>
              <a:rPr lang="ko-KR" altLang="en-US" sz="1600" spc="-50" dirty="0"/>
              <a:t>객관식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주관식 포함</a:t>
            </a:r>
            <a:r>
              <a:rPr lang="en-US" altLang="ko-KR" sz="1600" spc="-50" dirty="0"/>
              <a:t>)</a:t>
            </a:r>
          </a:p>
          <a:p>
            <a:pPr marL="92075">
              <a:lnSpc>
                <a:spcPct val="150000"/>
              </a:lnSpc>
            </a:pPr>
            <a:r>
              <a:rPr lang="ko-KR" altLang="en-US" sz="1600" u="sng" spc="-50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　</a:t>
            </a:r>
            <a:endParaRPr lang="en-US" altLang="ko-KR" sz="1600" u="sng" spc="-50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ko-KR" altLang="en-US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개별 면담</a:t>
            </a:r>
            <a:endParaRPr lang="en-US" altLang="ko-KR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>
              <a:lnSpc>
                <a:spcPct val="150000"/>
              </a:lnSpc>
            </a:pP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703</a:t>
            </a:r>
            <a:r>
              <a:rPr lang="ko-KR" altLang="en-US" sz="1600" spc="-50" dirty="0"/>
              <a:t>호 노크해서 내가 자리에 있으면 언제든지 환영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미리 이메일 통해서 약속 잡는 것도 환영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면담내용은 어떤 내용도 환영</a:t>
            </a: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7814825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D0659-CAFD-F53E-5E96-AE42A73FE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5C3F3A0-36ED-43FB-2D13-6CAA30B083C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8D19C74-D6C9-BA18-D11B-15A0CD9AF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B58D8A77-45B6-C35A-AFD8-829E4435C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478940"/>
            <a:ext cx="11007224" cy="193942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Chapter 1</a:t>
            </a:r>
            <a:br>
              <a:rPr lang="en-US" altLang="ko-KR" sz="4000" b="1" i="0" spc="150" dirty="0"/>
            </a:br>
            <a:br>
              <a:rPr lang="en-US" altLang="ko-KR" sz="4000" b="1" i="0" spc="150" dirty="0"/>
            </a:br>
            <a:r>
              <a:rPr lang="ko-KR" altLang="en-US" sz="4000" b="1" i="0" spc="150" dirty="0"/>
              <a:t>재정학</a:t>
            </a:r>
            <a:r>
              <a:rPr lang="en-US" altLang="ko-KR" sz="4000" b="1" i="0" spc="150" dirty="0"/>
              <a:t>: </a:t>
            </a:r>
            <a:r>
              <a:rPr lang="ko-KR" altLang="en-US" sz="4000" b="1" i="0" spc="150" dirty="0"/>
              <a:t>의의와 성격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26551236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CA8D82-0097-C179-A620-3BFDCD2DA5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실증경제학</a:t>
            </a:r>
            <a:r>
              <a:rPr lang="en-US" altLang="ko-KR" dirty="0"/>
              <a:t> vs. </a:t>
            </a:r>
            <a:r>
              <a:rPr lang="ko-KR" altLang="en-US" dirty="0"/>
              <a:t>규범경제학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F122CC2-A4CB-8C8B-ED93-CAFD82AB5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627800-66DA-3E34-DECC-DF0EA00569DD}"/>
              </a:ext>
            </a:extLst>
          </p:cNvPr>
          <p:cNvSpPr txBox="1"/>
          <p:nvPr/>
        </p:nvSpPr>
        <p:spPr>
          <a:xfrm>
            <a:off x="678872" y="1038536"/>
            <a:ext cx="10975831" cy="49383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실증경제학</a:t>
            </a:r>
            <a:endParaRPr lang="en-US" altLang="ko-KR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>
              <a:lnSpc>
                <a:spcPct val="150000"/>
              </a:lnSpc>
            </a:pP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92075">
              <a:lnSpc>
                <a:spcPct val="150000"/>
              </a:lnSpc>
            </a:pPr>
            <a:r>
              <a:rPr lang="ko-KR" altLang="en-US" sz="1600" spc="-50" dirty="0"/>
              <a:t>경제현상을 설명하고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예측 분석하는 학문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가치판단 없이 원인과 결과를 규명</a:t>
            </a:r>
            <a:r>
              <a:rPr lang="en-US" altLang="ko-KR" sz="1600" spc="-50" dirty="0"/>
              <a:t>.</a:t>
            </a:r>
          </a:p>
          <a:p>
            <a:pPr marL="92075">
              <a:lnSpc>
                <a:spcPct val="150000"/>
              </a:lnSpc>
            </a:pPr>
            <a:r>
              <a:rPr lang="ko-KR" altLang="en-US" sz="1600" spc="-50" dirty="0"/>
              <a:t>예시</a:t>
            </a:r>
            <a:r>
              <a:rPr lang="en-US" altLang="ko-KR" sz="1600" spc="-50" dirty="0"/>
              <a:t>: </a:t>
            </a:r>
            <a:r>
              <a:rPr lang="ko-KR" altLang="en-US" sz="1600" spc="-50" dirty="0"/>
              <a:t>탄소세가 </a:t>
            </a:r>
            <a:r>
              <a:rPr lang="en-US" altLang="ko-KR" sz="1600" spc="-50" dirty="0"/>
              <a:t>10,000</a:t>
            </a:r>
            <a:r>
              <a:rPr lang="ko-KR" altLang="en-US" sz="1600" spc="-50" dirty="0"/>
              <a:t>원</a:t>
            </a:r>
            <a:r>
              <a:rPr lang="en-US" altLang="ko-KR" sz="1600" spc="-50" dirty="0"/>
              <a:t>/tCO</a:t>
            </a:r>
            <a:r>
              <a:rPr lang="en-US" altLang="ko-KR" sz="1600" spc="-50" baseline="-25000" dirty="0"/>
              <a:t>2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되면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온실가스는 얼만큼 감축될까</a:t>
            </a:r>
            <a:r>
              <a:rPr lang="en-US" altLang="ko-KR" sz="1600" spc="-50" dirty="0"/>
              <a:t>?</a:t>
            </a:r>
          </a:p>
          <a:p>
            <a:pPr marL="92075">
              <a:lnSpc>
                <a:spcPct val="150000"/>
              </a:lnSpc>
            </a:pPr>
            <a:endParaRPr lang="en-US" altLang="ko-KR" sz="1600" u="sng" spc="-50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ko-KR" altLang="en-US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규범경제학</a:t>
            </a:r>
            <a:endParaRPr lang="en-US" altLang="ko-KR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>
              <a:lnSpc>
                <a:spcPct val="150000"/>
              </a:lnSpc>
            </a:pP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92075">
              <a:lnSpc>
                <a:spcPct val="150000"/>
              </a:lnSpc>
            </a:pPr>
            <a:r>
              <a:rPr lang="ko-KR" altLang="en-US" sz="1600" spc="-50" dirty="0"/>
              <a:t>경제정책이나 상황에 대해 무엇이 </a:t>
            </a:r>
            <a:r>
              <a:rPr lang="ko-KR" altLang="en-US" sz="1600" spc="-50" dirty="0" err="1"/>
              <a:t>바람직한지</a:t>
            </a:r>
            <a:r>
              <a:rPr lang="ko-KR" altLang="en-US" sz="1600" spc="-50" dirty="0"/>
              <a:t> 논의하는 학문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가치 판단을 통해 정책방향을 제시</a:t>
            </a:r>
            <a:r>
              <a:rPr lang="en-US" altLang="ko-KR" sz="1600" spc="-50" dirty="0"/>
              <a:t>.</a:t>
            </a:r>
          </a:p>
          <a:p>
            <a:pPr marL="92075">
              <a:lnSpc>
                <a:spcPct val="150000"/>
              </a:lnSpc>
            </a:pPr>
            <a:r>
              <a:rPr lang="ko-KR" altLang="en-US" sz="1600" spc="-50" dirty="0"/>
              <a:t>예시</a:t>
            </a:r>
            <a:r>
              <a:rPr lang="en-US" altLang="ko-KR" sz="1600" spc="-50" dirty="0"/>
              <a:t>: </a:t>
            </a:r>
            <a:r>
              <a:rPr lang="ko-KR" altLang="en-US" sz="1600" spc="-50" dirty="0"/>
              <a:t>탄소세를 얼마나 높여야 하는가</a:t>
            </a:r>
            <a:r>
              <a:rPr lang="en-US" altLang="ko-KR" sz="1600" spc="-50" dirty="0"/>
              <a:t>?</a:t>
            </a:r>
          </a:p>
          <a:p>
            <a:pPr marL="92075">
              <a:lnSpc>
                <a:spcPct val="150000"/>
              </a:lnSpc>
            </a:pPr>
            <a:endParaRPr lang="en-US" altLang="ko-KR" sz="1600" spc="-50" dirty="0"/>
          </a:p>
          <a:p>
            <a:pPr marL="92075">
              <a:lnSpc>
                <a:spcPct val="150000"/>
              </a:lnSpc>
            </a:pPr>
            <a:r>
              <a:rPr lang="ko-KR" altLang="en-US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실증 </a:t>
            </a:r>
            <a:r>
              <a:rPr lang="en-US" altLang="ko-KR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-&gt;</a:t>
            </a:r>
            <a:r>
              <a:rPr lang="ko-KR" altLang="en-US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 규범</a:t>
            </a:r>
            <a:r>
              <a:rPr lang="en-US" altLang="ko-KR" sz="1600" spc="-50" dirty="0"/>
              <a:t>: </a:t>
            </a:r>
            <a:r>
              <a:rPr lang="ko-KR" altLang="en-US" sz="1600" spc="-50" dirty="0"/>
              <a:t>실증적 결과가 있어야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가치판단을 통해 건설적인 토론이 가능</a:t>
            </a:r>
            <a:endParaRPr lang="en-US" altLang="ko-KR" sz="1600" spc="-50" dirty="0"/>
          </a:p>
          <a:p>
            <a:pPr marL="92075">
              <a:lnSpc>
                <a:spcPct val="150000"/>
              </a:lnSpc>
            </a:pPr>
            <a:endParaRPr lang="en-US" altLang="ko-KR" sz="1600" spc="-50" dirty="0"/>
          </a:p>
          <a:p>
            <a:pPr>
              <a:lnSpc>
                <a:spcPct val="150000"/>
              </a:lnSpc>
            </a:pPr>
            <a:r>
              <a:rPr lang="ko-KR" altLang="en-US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우리 수업에서는</a:t>
            </a:r>
            <a:endParaRPr lang="en-US" altLang="ko-KR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>
              <a:lnSpc>
                <a:spcPct val="150000"/>
              </a:lnSpc>
            </a:pP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92075">
              <a:lnSpc>
                <a:spcPct val="150000"/>
              </a:lnSpc>
            </a:pPr>
            <a:r>
              <a:rPr lang="ko-KR" altLang="en-US" sz="1600" spc="-50" dirty="0"/>
              <a:t>우리 수업에서는 실증경제학의 범위 내에서 환경경제학을 배울 예정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589405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05B55B-4FE0-4C0D-6AE9-E8B03A536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4468326-0C4F-70CF-91C2-93E0C5D03BA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69E45BD-0D56-9ECF-89E6-4AF42F45B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728B965C-181E-543B-9F2C-6FEAEBB87B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1. </a:t>
            </a:r>
            <a:r>
              <a:rPr lang="ko-KR" altLang="en-US" sz="4000" b="1" i="0" spc="150" dirty="0"/>
              <a:t>재정학 연구의 내용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29570730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8E53AA-7D50-5F4A-320F-293F315471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재정학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E66E9B2-B0DB-FDCD-AA50-636EA4E5B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B7B113-36A4-C1F3-9E9E-939A12CDC18C}"/>
              </a:ext>
            </a:extLst>
          </p:cNvPr>
          <p:cNvSpPr txBox="1"/>
          <p:nvPr/>
        </p:nvSpPr>
        <p:spPr>
          <a:xfrm>
            <a:off x="288790" y="958844"/>
            <a:ext cx="11693660" cy="373801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재정 </a:t>
            </a:r>
            <a:r>
              <a:rPr lang="en-US" altLang="ko-KR" sz="1600" spc="-50" dirty="0"/>
              <a:t>(</a:t>
            </a:r>
            <a:r>
              <a:rPr lang="ko-KR" altLang="en-US" sz="1600" dirty="0"/>
              <a:t>財政</a:t>
            </a:r>
            <a:r>
              <a:rPr lang="en-US" altLang="ko-KR" sz="1600" dirty="0"/>
              <a:t>, public finance)</a:t>
            </a:r>
            <a:r>
              <a:rPr lang="ko-KR" altLang="en-US" sz="1600" dirty="0"/>
              <a:t>이란 국가나 지방정부가 돈을 모으고 쓰는 과정과 제도를 뜻한다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과거에는 거시경제학과 밀접한 관련을 가졌으나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근래에 들어 미시경제학의 연장선상에 있는 분야로 본다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미시경제학에서는 소비자의 선택행위는 효용극대화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그리고 기업의 선택행위는 이윤극대화라는 기본적인 시각에서 분석한다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정부는 소비자나 기업과 달리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어떤 하나의 중심에서 그 행위를 분석하는 것이 쉽지 않은데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이 점이 미시경제학과 구별되는 점이다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재정학에서는 다음의 세 가지 측면에 관심을 갖고 정부의 경제적 행위를 분석한다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정부가 어떤 행위를 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그 행위는 어떤 의사 결정 과정을 통해 하게 되는지 알아본다</a:t>
            </a:r>
            <a:r>
              <a:rPr lang="en-US" altLang="ko-KR" sz="1600" spc="-50" dirty="0"/>
              <a:t>. (</a:t>
            </a:r>
            <a:r>
              <a:rPr lang="ko-KR" altLang="en-US" sz="1600" spc="-50" dirty="0"/>
              <a:t>실증적</a:t>
            </a:r>
            <a:r>
              <a:rPr lang="en-US" altLang="ko-KR" sz="1600" spc="-50" dirty="0"/>
              <a:t>)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정부의 행위가 경제에 어떤 결과를 가져올지 예측해본다</a:t>
            </a:r>
            <a:r>
              <a:rPr lang="en-US" altLang="ko-KR" sz="1600" spc="-50" dirty="0"/>
              <a:t>. (</a:t>
            </a:r>
            <a:r>
              <a:rPr lang="ko-KR" altLang="en-US" sz="1600" spc="-50" dirty="0"/>
              <a:t>실증적</a:t>
            </a:r>
            <a:r>
              <a:rPr lang="en-US" altLang="ko-KR" sz="1600" spc="-50" dirty="0"/>
              <a:t>)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여러가지 정책 대안들이 있을 때 어떤 것이 좋고 나쁜지를 평가해본다</a:t>
            </a:r>
            <a:r>
              <a:rPr lang="en-US" altLang="ko-KR" sz="1600" spc="-50" dirty="0"/>
              <a:t>. (</a:t>
            </a:r>
            <a:r>
              <a:rPr lang="ko-KR" altLang="en-US" sz="1600" spc="-50" dirty="0"/>
              <a:t>규범적</a:t>
            </a:r>
            <a:r>
              <a:rPr lang="en-US" altLang="ko-KR" sz="1600" spc="-5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521771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89AFC8-4A57-91D3-26A9-DFD7539B23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E38C70F-1F6D-D72B-53B1-B97995F0F59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9B30A23-7035-123F-C4C4-AABFA58AD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E9987B19-3EC7-FC76-E623-3268B9EEE7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2. </a:t>
            </a:r>
            <a:r>
              <a:rPr lang="ko-KR" altLang="en-US" sz="4000" b="1" i="0" spc="150" dirty="0" err="1"/>
              <a:t>정부란</a:t>
            </a:r>
            <a:r>
              <a:rPr lang="ko-KR" altLang="en-US" sz="4000" b="1" i="0" spc="150" dirty="0"/>
              <a:t> 무엇인가</a:t>
            </a:r>
            <a:r>
              <a:rPr lang="en-US" altLang="ko-KR" sz="4000" b="1" i="0" spc="150" dirty="0"/>
              <a:t>?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35620293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764ACB-B8A0-8B8E-50AE-F6949A866C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730496-A872-5CFB-3130-C4429F828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정부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BD72302-C21E-82F3-1317-6A67EB852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AEC86F-2434-0377-0126-D48FC4912B4A}"/>
              </a:ext>
            </a:extLst>
          </p:cNvPr>
          <p:cNvSpPr txBox="1"/>
          <p:nvPr/>
        </p:nvSpPr>
        <p:spPr>
          <a:xfrm>
            <a:off x="288790" y="958844"/>
            <a:ext cx="11693660" cy="57231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정부 </a:t>
            </a:r>
            <a:r>
              <a:rPr lang="en-US" altLang="ko-KR" sz="1600" spc="-50" dirty="0"/>
              <a:t>(</a:t>
            </a:r>
            <a:r>
              <a:rPr lang="ko-KR" altLang="en-US" sz="1600" dirty="0"/>
              <a:t>政府</a:t>
            </a:r>
            <a:r>
              <a:rPr lang="en-US" altLang="ko-KR" sz="1600" dirty="0"/>
              <a:t>, government)</a:t>
            </a:r>
            <a:r>
              <a:rPr lang="ko-KR" altLang="en-US" sz="1600" dirty="0"/>
              <a:t>란 국가를 다스리는 기관을 뜻한다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현대의 정부는 여러 방면에서 다양한 형태로 활동을 하고 있기 때문에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그 실체를 파악하는 것은 쉽지 않다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한국방송공사</a:t>
            </a:r>
            <a:r>
              <a:rPr lang="en-US" altLang="ko-KR" sz="1600" spc="-50" dirty="0"/>
              <a:t> (KBS, Korean Broadcasting System)</a:t>
            </a:r>
            <a:r>
              <a:rPr lang="ko-KR" altLang="en-US" sz="1600" spc="-50" dirty="0"/>
              <a:t>는 정부에 속하는가</a:t>
            </a:r>
            <a:r>
              <a:rPr lang="en-US" altLang="ko-KR" sz="1600" spc="-50" dirty="0"/>
              <a:t>?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spc="-50" dirty="0"/>
          </a:p>
          <a:p>
            <a:pPr>
              <a:lnSpc>
                <a:spcPct val="150000"/>
              </a:lnSpc>
            </a:pPr>
            <a:r>
              <a:rPr lang="ko-KR" altLang="en-US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정부부문의 특징</a:t>
            </a:r>
            <a:endParaRPr lang="en-US" altLang="ko-KR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>
              <a:lnSpc>
                <a:spcPct val="150000"/>
              </a:lnSpc>
            </a:pP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넓은 의미에서 </a:t>
            </a:r>
            <a:r>
              <a:rPr lang="ko-KR" altLang="en-US" sz="1600" spc="-50" dirty="0" err="1"/>
              <a:t>정부란</a:t>
            </a:r>
            <a:r>
              <a:rPr lang="ko-KR" altLang="en-US" sz="1600" spc="-50" dirty="0"/>
              <a:t> 정부투자기관으로 구성된 공공기관까지 포함된다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넓은 의미에서 정부를 정의하면 앞서 언급한 한국방송공사는 정부에 속한다고 볼 수 있을 것이다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정부투자기관은 공기업이라고 부르기도 하며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공기업의 활동을 보면 민간기업과 큰 차이가 없다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정부부문을 민간부문으로부터 특징적으로 구별하는 기준은 다음의 세 가지가 될 수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국민이 직접 선출한 사람이나 선출된 사람에 의해 임명된 사람들이 운영의 책임을 맡고 있다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예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국회의원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대통령은 국민이 직접 뽑은 사람들이고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장관들은 대통령이 임명한 사람들이다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국민에 대한 강제력을 가진다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예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우리는 소득의 일부를 세금으로 내지 않으면 정부로부터 제재를 받는다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정부가 생산한 재화와 서비스가 주로 비시장배분</a:t>
            </a:r>
            <a:r>
              <a:rPr lang="en-US" altLang="ko-KR" sz="1600" spc="-50" dirty="0"/>
              <a:t>(non-market rationing)</a:t>
            </a:r>
            <a:r>
              <a:rPr lang="ko-KR" altLang="en-US" sz="1600" spc="-50" dirty="0"/>
              <a:t>의 방법에 의해 국민에게 배분된다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예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국방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경찰서비스를 시장을 통해 공급하지 않고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모든 국민에게 똑같이 배분하려 한다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080716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AB81B2-705D-16F3-1B30-4310EA0794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63B2DD-02D9-1A8E-2745-CC5277FC18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정부를 바라보는 시선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281E62D-47CC-A14A-6B7F-4B92D4849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17FBEA-47C3-F81A-64EE-68C92BBB476F}"/>
              </a:ext>
            </a:extLst>
          </p:cNvPr>
          <p:cNvSpPr txBox="1"/>
          <p:nvPr/>
        </p:nvSpPr>
        <p:spPr>
          <a:xfrm>
            <a:off x="288790" y="958844"/>
            <a:ext cx="11693660" cy="498450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정부를 바라보는 두 가지 견해</a:t>
            </a:r>
            <a:endParaRPr lang="en-US" altLang="ko-KR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>
              <a:lnSpc>
                <a:spcPct val="150000"/>
              </a:lnSpc>
            </a:pP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사람마다 정부에게 기대하는 역할은 각기 다르며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전통적으로 다음의 두 가지가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유기체적 견해에 따르면 사회는 하나의 자연적 유기체라고 생각한다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각 개인이 유기체의 한 부분씩을 구성하고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정부는 유기체의 심장부에 해당한다는 의견이다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정부를 개인 위에 존재하는 우월한 존재로 인식하고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기계론적 견해에 따르면 정부는 단지 개인의 목표 달성에 도움이 될 수 있도록 편의에 의해 고안된 존재일 뿐이다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정부가 독자적인 목표를 갖고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그 목표달성을 위해 개인이 동원될 수 있다고 볼 수 없다는 의견이다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유기체적 견해가 </a:t>
            </a:r>
            <a:r>
              <a:rPr lang="ko-KR" altLang="en-US" sz="1600" spc="-50" dirty="0" err="1"/>
              <a:t>전체주의적인</a:t>
            </a:r>
            <a:r>
              <a:rPr lang="ko-KR" altLang="en-US" sz="1600" spc="-50" dirty="0"/>
              <a:t> 분위기를 풍기고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한편 기계론적 견해는 개인주의적 성향과 밀접한 관련을 갖는다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기계론적 견해를 갖는 사람들도 구체적으로 들어가면 의견이 엇갈린다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외부로부터의 침략을 막고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개인을 타인의 폭력으로부터 보호하는 등의 최소한의 </a:t>
            </a:r>
            <a:r>
              <a:rPr lang="ko-KR" altLang="en-US" sz="1600" spc="-50" dirty="0" err="1"/>
              <a:t>정부로서의</a:t>
            </a:r>
            <a:r>
              <a:rPr lang="ko-KR" altLang="en-US" sz="1600" spc="-50" dirty="0"/>
              <a:t> 기능을 수행해야 한다는 것에는 동의를 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 err="1"/>
              <a:t>자유론자들은</a:t>
            </a:r>
            <a:r>
              <a:rPr lang="ko-KR" altLang="en-US" sz="1600" spc="-50" dirty="0"/>
              <a:t> 정부는 단지 개인이 남의 간섭 없이 생활 할 수 있는 소극적 의미의 자유를 보장해야 한다고 생각한다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반면 사회민주주의자들은 자유를 단순히 물리적 억압이 없는 것을 넘어 그 이상으로 적극적 의미로 해석한다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808278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209412-C19A-4290-3307-F76585F278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488FA50-5A64-CB2C-A9CC-AC1B6182F7B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EFBBE6E-76A7-CC95-FDC2-5AFB7A5D4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48298C76-ECF9-2277-6763-6ECCF0FAA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3. </a:t>
            </a:r>
            <a:r>
              <a:rPr lang="ko-KR" altLang="en-US" sz="4000" b="1" i="0" spc="150" dirty="0"/>
              <a:t>혼합경제와 정부의 역할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36805653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C9BACB-E6BF-295D-1F84-9A59920D9C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43CB45-1157-EF48-6739-56FAF218E4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혼합경제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C8C1F17-B4EE-8C60-5C59-DD9C85D54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11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56CFE7-3724-FB4D-1E95-D50C3EB457E4}"/>
              </a:ext>
            </a:extLst>
          </p:cNvPr>
          <p:cNvSpPr txBox="1"/>
          <p:nvPr/>
        </p:nvSpPr>
        <p:spPr>
          <a:xfrm>
            <a:off x="288790" y="958844"/>
            <a:ext cx="11693660" cy="535383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혼합경제의 의미</a:t>
            </a:r>
            <a:endParaRPr lang="en-US" altLang="ko-KR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>
              <a:lnSpc>
                <a:spcPct val="150000"/>
              </a:lnSpc>
            </a:pP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대부분의 국가는 기본적으로 시장기능에 의존하고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동시에 정부도 여러 측면에서 적극적 역할을 하도록 만들어 놓은 혼합경제 체제를 채택하고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혼합경제를 기준으로 양 극단에는 순수시장경제와 통제경제 라는 체제가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국민경제에서 정부가 차지하는 비중이 높은 경제를 혼합경제라고 부르지만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그 비중의 정량적 기준은 존재하지 않는다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혼합경제에서는 모든 일을 시장에 맡기지 않고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때때로 정부가 개입해 제약을 가하기도 한다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기본적으로는 시장의 기능을 신뢰하지만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명백한 한계가 있는 부분은 정부가 보충해 주어야 한다는 것이다</a:t>
            </a:r>
            <a:r>
              <a:rPr lang="en-US" altLang="ko-KR" sz="1600" spc="-50" dirty="0"/>
              <a:t>.</a:t>
            </a:r>
          </a:p>
          <a:p>
            <a:pPr marL="434975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정부가 시장기구를 보완하고 교정해야 할 이유는 무엇일까</a:t>
            </a:r>
            <a:r>
              <a:rPr lang="en-US" altLang="ko-KR" sz="1600" spc="-50" dirty="0"/>
              <a:t>?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시장기구는 소득과 재산을 공평하게 분배한다는 보장이 없다는 문제점을 지적할 수 있다</a:t>
            </a:r>
            <a:r>
              <a:rPr lang="en-US" altLang="ko-KR" sz="1600" spc="-50" dirty="0"/>
              <a:t>.</a:t>
            </a:r>
          </a:p>
          <a:p>
            <a:pPr marL="1349375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시장이 독과점 상태이거나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완전경쟁시장이라 하더라도 그 결과가 공평한 분배를 보장하지 않는다</a:t>
            </a:r>
            <a:r>
              <a:rPr lang="en-US" altLang="ko-KR" sz="1600" spc="-5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시장기구는 효율적인 자원배분을 가능케 한다고 배웠지만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일련의 이상적인 조건이 충족되어 있을 때를 전제로 한다</a:t>
            </a:r>
            <a:r>
              <a:rPr lang="en-US" altLang="ko-KR" sz="1600" spc="-50" dirty="0"/>
              <a:t>.</a:t>
            </a:r>
          </a:p>
          <a:p>
            <a:pPr marL="1349375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일련의 조건이 충족되지 않으면 시장 실패가 발생한다</a:t>
            </a:r>
            <a:r>
              <a:rPr lang="en-US" altLang="ko-KR" sz="1600" spc="-50" dirty="0"/>
              <a:t>. (3</a:t>
            </a:r>
            <a:r>
              <a:rPr lang="ko-KR" altLang="en-US" sz="1600" spc="-50" dirty="0"/>
              <a:t>장에서 자세히 다룰 예정</a:t>
            </a:r>
            <a:r>
              <a:rPr lang="en-US" altLang="ko-KR" sz="1600" spc="-50" dirty="0"/>
              <a:t>)</a:t>
            </a:r>
          </a:p>
          <a:p>
            <a:pPr marL="434975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시장기구의 한계를 극복하고자 각각의 장점을 살리자는 의도로 혼합경제체제가 탄생했지만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현실에서는 둘의 단점들이 결합되어 나타나기도 한다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85286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4BCF94-A860-E939-3BEC-5190DE4C04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E27725-A198-25D6-0AF8-2139B961ED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정부의 역할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153E9EE-FBE8-53F0-DA1B-C915FAC6A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12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D2EF85-8A50-B7CF-FEC6-0A77EEA4AA03}"/>
              </a:ext>
            </a:extLst>
          </p:cNvPr>
          <p:cNvSpPr txBox="1"/>
          <p:nvPr/>
        </p:nvSpPr>
        <p:spPr>
          <a:xfrm>
            <a:off x="288790" y="958844"/>
            <a:ext cx="11693660" cy="27685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운동경기에 비유한 정부의 역할</a:t>
            </a:r>
            <a:endParaRPr lang="en-US" altLang="ko-KR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>
              <a:lnSpc>
                <a:spcPct val="150000"/>
              </a:lnSpc>
            </a:pP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운동경기에서 가장 핵심 부분은 규칙이다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그 다음으로는 심판이다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규칙이 없으면 아예 운동경기 진행이 되지 않고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심판이 없으면 운동선수들이 본인들 유리한대로 규칙을 해석하게 되어 운동경기가 진행이 안된다</a:t>
            </a:r>
            <a:r>
              <a:rPr lang="en-US" altLang="ko-KR" sz="1600" spc="-50" dirty="0"/>
              <a:t>.</a:t>
            </a:r>
          </a:p>
          <a:p>
            <a:pPr marL="434975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마찬가지로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시장경제가 원활히 작동하기 위해서는 적절한 규칙과 갈등을 조정하고 해소해 주는 심판이 있어야 한다</a:t>
            </a:r>
            <a:r>
              <a:rPr lang="en-US" altLang="ko-KR" sz="1600" spc="-5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정부는 규칙을 결정할 뿐 아니라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규칙을 해석하고 집행하는 심판의 기능을 수행한다</a:t>
            </a:r>
            <a:r>
              <a:rPr lang="en-US" altLang="ko-KR" sz="1600" spc="-50" dirty="0"/>
              <a:t>.</a:t>
            </a:r>
          </a:p>
          <a:p>
            <a:pPr marL="1349375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예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재산권 보호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독과점 규제를 통한 공정거래질서 유지</a:t>
            </a:r>
            <a:r>
              <a:rPr lang="en-US" altLang="ko-KR" sz="1600" spc="-50" dirty="0"/>
              <a:t>, </a:t>
            </a:r>
            <a:r>
              <a:rPr lang="ko-KR" altLang="en-US" sz="1600" spc="-50"/>
              <a:t>오염물질 규제</a:t>
            </a: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31393166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95955F-9C38-F7A6-EF2D-C437CFA6A9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B5AEFDA-394F-751E-06A0-E1645DA1FDC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CBE5E58-4C03-A0D7-56C1-10288F83E1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13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3731A507-7F4A-64E8-683D-C4E79C2D9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2. </a:t>
            </a:r>
            <a:r>
              <a:rPr lang="ko-KR" altLang="en-US" sz="4000" b="1" i="0" spc="150" dirty="0" err="1"/>
              <a:t>정부란</a:t>
            </a:r>
            <a:r>
              <a:rPr lang="ko-KR" altLang="en-US" sz="4000" b="1" i="0" spc="150" dirty="0"/>
              <a:t> 무엇인가</a:t>
            </a:r>
            <a:r>
              <a:rPr lang="en-US" altLang="ko-KR" sz="4000" b="1" i="0" spc="150" dirty="0"/>
              <a:t>?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13047600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39E701-8350-E274-D063-FDBAE10CA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6F43BBD-9652-C6A3-63F8-417FB0DA5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14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55FF49-86C2-B843-ABCE-78515CE4024E}"/>
              </a:ext>
            </a:extLst>
          </p:cNvPr>
          <p:cNvSpPr txBox="1"/>
          <p:nvPr/>
        </p:nvSpPr>
        <p:spPr>
          <a:xfrm>
            <a:off x="288790" y="958844"/>
            <a:ext cx="11693660" cy="461517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정부 </a:t>
            </a:r>
            <a:r>
              <a:rPr lang="en-US" altLang="ko-KR" sz="1600" spc="-50" dirty="0"/>
              <a:t>(</a:t>
            </a:r>
            <a:r>
              <a:rPr lang="ko-KR" altLang="en-US" sz="1600" dirty="0"/>
              <a:t>政府</a:t>
            </a:r>
            <a:r>
              <a:rPr lang="en-US" altLang="ko-KR" sz="1600" dirty="0"/>
              <a:t>, government)</a:t>
            </a:r>
            <a:r>
              <a:rPr lang="ko-KR" altLang="en-US" sz="1600" dirty="0"/>
              <a:t>란 국가를 다스리는 기관을 뜻한다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현대의 정부는 여러 방면에서 다양한 형태로 활동을 하고 있기 때문에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그 실체를 파악하는 것은 쉽지 않다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한국방송공사</a:t>
            </a:r>
            <a:r>
              <a:rPr lang="en-US" altLang="ko-KR" sz="1600" spc="-50" dirty="0"/>
              <a:t> (KBS, Korean Broadcasting System)</a:t>
            </a:r>
            <a:r>
              <a:rPr lang="ko-KR" altLang="en-US" sz="1600" spc="-50" dirty="0"/>
              <a:t>는 정부에 속하는가</a:t>
            </a:r>
            <a:r>
              <a:rPr lang="en-US" altLang="ko-KR" sz="1600" spc="-50" dirty="0"/>
              <a:t>?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spc="-50" dirty="0"/>
          </a:p>
          <a:p>
            <a:pPr>
              <a:lnSpc>
                <a:spcPct val="150000"/>
              </a:lnSpc>
            </a:pPr>
            <a:r>
              <a:rPr lang="ko-KR" altLang="en-US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정부를 바라보는 두 가지 견해</a:t>
            </a:r>
            <a:endParaRPr lang="en-US" altLang="ko-KR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>
              <a:lnSpc>
                <a:spcPct val="150000"/>
              </a:lnSpc>
            </a:pP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사람마다 정부에게 기대하는 역할은 각기 다르며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전통적으로 다음의 두 가지가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유기체적 견해에 따르면 사회는 하나의 자연적 유기체라고 생각한다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각 개인이 유기체의 한 부분씩을 구성하고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정부는 유기체의 심장부에 해당한다는 의견이다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정부를 개인 위에 존재하는 우월한 존재로 인식하고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기계론적 견해에 따르면 정부는 단지 개인의 목표 달성에 도움이 될 수 있도록 편의에 의해 고안된 존재일 뿐이다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정부가 독자적인 목표를 갖고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그 목표달성을 위해 개인이 동원될 수 있다고 볼 수 없다는 의견이다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유기체적 견해가 </a:t>
            </a:r>
            <a:r>
              <a:rPr lang="ko-KR" altLang="en-US" sz="1600" spc="-50" dirty="0" err="1"/>
              <a:t>전체주의적인</a:t>
            </a:r>
            <a:r>
              <a:rPr lang="ko-KR" altLang="en-US" sz="1600" spc="-50" dirty="0"/>
              <a:t> 분위기를 풍기고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한편 기계론적 견해는 개인주의적 성향과 밀접한 관련을 갖는다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649779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929B47-9E1B-F3E3-185D-5263F51E72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환경경제학에서 다루는 여러가지 주제들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5C868A8-2336-891D-8F8F-AE72C84AC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15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FD268C5-C989-3549-0B43-DF1B4C75EF8B}"/>
              </a:ext>
            </a:extLst>
          </p:cNvPr>
          <p:cNvSpPr txBox="1"/>
          <p:nvPr/>
        </p:nvSpPr>
        <p:spPr>
          <a:xfrm>
            <a:off x="760154" y="2810425"/>
            <a:ext cx="335328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/>
              <a:t>https://www.hkbs.co.kr/news/articleView.html?idxno=804655</a:t>
            </a: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3916BF2E-1455-4C55-8A3B-1182287ED0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393" y="1499001"/>
            <a:ext cx="3924000" cy="592529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7DECB40D-05B0-AB95-FFCB-6ED6297EF4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537" y="2374266"/>
            <a:ext cx="3832106" cy="376010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B6422AC2-748B-D00C-6ADC-53A0347030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9364" y="1458167"/>
            <a:ext cx="5431569" cy="633363"/>
          </a:xfrm>
          <a:prstGeom prst="rect">
            <a:avLst/>
          </a:prstGeom>
        </p:spPr>
      </p:pic>
      <p:pic>
        <p:nvPicPr>
          <p:cNvPr id="33" name="그림 32">
            <a:extLst>
              <a:ext uri="{FF2B5EF4-FFF2-40B4-BE49-F238E27FC236}">
                <a16:creationId xmlns:a16="http://schemas.microsoft.com/office/drawing/2014/main" id="{6DCFEB51-EB59-2A33-B48A-62AB199052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89364" y="2290177"/>
            <a:ext cx="4598470" cy="373055"/>
          </a:xfrm>
          <a:prstGeom prst="rect">
            <a:avLst/>
          </a:prstGeom>
        </p:spPr>
      </p:pic>
      <p:pic>
        <p:nvPicPr>
          <p:cNvPr id="34" name="그림 33">
            <a:extLst>
              <a:ext uri="{FF2B5EF4-FFF2-40B4-BE49-F238E27FC236}">
                <a16:creationId xmlns:a16="http://schemas.microsoft.com/office/drawing/2014/main" id="{0CAE3199-B49D-3932-B382-F9E8D7D03ED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0262" y="3071473"/>
            <a:ext cx="3576673" cy="2660290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FB58ADB1-42EC-8C2C-22FB-0B23AC24D216}"/>
              </a:ext>
            </a:extLst>
          </p:cNvPr>
          <p:cNvSpPr txBox="1"/>
          <p:nvPr/>
        </p:nvSpPr>
        <p:spPr>
          <a:xfrm>
            <a:off x="5790063" y="5871323"/>
            <a:ext cx="370044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/>
              <a:t>https://www.hkbs.co.kr/news/articleView.html?idxno=804652</a:t>
            </a:r>
            <a:endParaRPr lang="ko-KR" altLang="en-US" sz="1000" dirty="0"/>
          </a:p>
        </p:txBody>
      </p:sp>
      <p:pic>
        <p:nvPicPr>
          <p:cNvPr id="38" name="그림 37">
            <a:extLst>
              <a:ext uri="{FF2B5EF4-FFF2-40B4-BE49-F238E27FC236}">
                <a16:creationId xmlns:a16="http://schemas.microsoft.com/office/drawing/2014/main" id="{F8135016-2B32-1E91-35CB-6421555E879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4537" y="3429000"/>
            <a:ext cx="3753956" cy="2612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17995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50A8A9-B3F6-9EF9-EA26-931E0C929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생활 속의 환경경제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AEF89B1-62CE-5B0A-BF11-F8747552B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16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B20294-E052-C62E-3DBC-73718D3A05CD}"/>
              </a:ext>
            </a:extLst>
          </p:cNvPr>
          <p:cNvSpPr txBox="1"/>
          <p:nvPr/>
        </p:nvSpPr>
        <p:spPr>
          <a:xfrm>
            <a:off x="678872" y="1038536"/>
            <a:ext cx="10975831" cy="521533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쓰레기 종량제</a:t>
            </a:r>
            <a:endParaRPr lang="en-US" altLang="ko-KR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>
              <a:lnSpc>
                <a:spcPct val="150000"/>
              </a:lnSpc>
            </a:pP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1995</a:t>
            </a:r>
            <a:r>
              <a:rPr lang="ko-KR" altLang="en-US" sz="1600" spc="-50" dirty="0"/>
              <a:t>년 이전에는 건물면적 혹은 재산세 납부액에 비례하여 쓰레기 수거료를 납부하는 방식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쓰레기 배출량을 줄여야할 경제적 유인이 없음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1995</a:t>
            </a:r>
            <a:r>
              <a:rPr lang="ko-KR" altLang="en-US" sz="1600" spc="-50" dirty="0"/>
              <a:t>년 이후로 쓰레기 종량제 도입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일반쓰레기를 배출할 때에는 종량제 봉투를 사용하는 방식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쓰레기 배출량과 처리비용 </a:t>
            </a:r>
            <a:r>
              <a:rPr lang="en-US" altLang="ko-KR" sz="1600" spc="-50" dirty="0"/>
              <a:t>(</a:t>
            </a:r>
            <a:r>
              <a:rPr lang="ko-KR" altLang="en-US" sz="1600" spc="-50" dirty="0" err="1"/>
              <a:t>종량제봉투</a:t>
            </a:r>
            <a:r>
              <a:rPr lang="ko-KR" altLang="en-US" sz="1600" spc="-50" dirty="0"/>
              <a:t> 구매비용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이 비례하므로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쓰레기를 줄여야 하는 경제적 유인이 존재</a:t>
            </a:r>
            <a:r>
              <a:rPr lang="en-US" altLang="ko-KR" sz="1600" spc="-50" dirty="0"/>
              <a:t>.</a:t>
            </a:r>
          </a:p>
          <a:p>
            <a:pPr marL="92075">
              <a:lnSpc>
                <a:spcPct val="150000"/>
              </a:lnSpc>
            </a:pPr>
            <a:endParaRPr lang="en-US" altLang="ko-KR" sz="1600" u="sng" spc="-50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ko-KR" altLang="en-US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생산자 책임 재활용제도</a:t>
            </a: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제품 생산자나 포장재를 이용한 제품의 생산자에게 그 제품이나 포장재의 폐기물에 대하여 일정량의 재활용의무를 부여하여 재활용하게 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이를 이행하지 않을 경우 재활용에 소요되는 비용 이상의 재활용 부과금을 생산자에게 부과하는 제도</a:t>
            </a:r>
            <a:endParaRPr lang="en-US" altLang="ko-KR" sz="1600" spc="-50" dirty="0"/>
          </a:p>
          <a:p>
            <a:pPr>
              <a:lnSpc>
                <a:spcPct val="150000"/>
              </a:lnSpc>
            </a:pPr>
            <a:endParaRPr lang="en-US" altLang="ko-KR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ko-KR" altLang="en-US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혼잡통행료</a:t>
            </a:r>
            <a:endParaRPr lang="en-US" altLang="ko-KR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>
              <a:lnSpc>
                <a:spcPct val="150000"/>
              </a:lnSpc>
            </a:pP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자동차 운행의 증가는 도로 혼잡도를 높여 통행자의 시간 손실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연료 소비를 증가시킴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805889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5E0E3D-A421-11C5-7F28-25444AC14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환경경제학의 주요 주제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996A905-8541-5F7D-742D-17AB197F3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17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34423E-9AE5-ACFF-6BC7-AACA52353564}"/>
              </a:ext>
            </a:extLst>
          </p:cNvPr>
          <p:cNvSpPr txBox="1"/>
          <p:nvPr/>
        </p:nvSpPr>
        <p:spPr>
          <a:xfrm>
            <a:off x="678872" y="1038536"/>
            <a:ext cx="10975831" cy="466134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시장실패와 외부효과</a:t>
            </a:r>
            <a:endParaRPr lang="en-US" altLang="ko-KR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>
              <a:lnSpc>
                <a:spcPct val="150000"/>
              </a:lnSpc>
            </a:pP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b="1" spc="-50" dirty="0"/>
              <a:t>(</a:t>
            </a:r>
            <a:r>
              <a:rPr lang="ko-KR" altLang="en-US" sz="1600" b="1" spc="-50" dirty="0"/>
              <a:t>공공재</a:t>
            </a:r>
            <a:r>
              <a:rPr lang="en-US" altLang="ko-KR" sz="1600" b="1" spc="-50" dirty="0"/>
              <a:t>)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환경경제학에서 다루는 재화 및 서비스는 </a:t>
            </a:r>
            <a:r>
              <a:rPr lang="ko-KR" altLang="en-US" sz="1600" b="1" spc="-50" dirty="0"/>
              <a:t>공공재</a:t>
            </a:r>
            <a:r>
              <a:rPr lang="ko-KR" altLang="en-US" sz="1600" spc="-50" dirty="0"/>
              <a:t>의 성격이 강함</a:t>
            </a:r>
            <a:r>
              <a:rPr lang="en-US" altLang="ko-KR" sz="1600" spc="-50" dirty="0"/>
              <a:t>. 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소유권이 존재하지 않거나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개인이 아닌 집단에게 소유권이 부여된 환경자원이 많음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b="1" spc="-50" dirty="0"/>
              <a:t>(</a:t>
            </a:r>
            <a:r>
              <a:rPr lang="ko-KR" altLang="en-US" sz="1600" b="1" spc="-50" dirty="0"/>
              <a:t>외부효과</a:t>
            </a:r>
            <a:r>
              <a:rPr lang="en-US" altLang="ko-KR" sz="1600" b="1" spc="-50" dirty="0"/>
              <a:t>) </a:t>
            </a:r>
            <a:r>
              <a:rPr lang="ko-KR" altLang="en-US" sz="1600" spc="-50" dirty="0"/>
              <a:t>경제주체의 행위가 제 </a:t>
            </a:r>
            <a:r>
              <a:rPr lang="en-US" altLang="ko-KR" sz="1600" spc="-50" dirty="0"/>
              <a:t>3</a:t>
            </a:r>
            <a:r>
              <a:rPr lang="ko-KR" altLang="en-US" sz="1600" spc="-50" dirty="0"/>
              <a:t>자에게 의도치 않은 이익이나 손해를 주지만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그 효과가 시장 가격에 반영되지 않음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양봉업자가 키우는 벌들이 인근 과수원에 가서 꽃가루를 옮기며 꽃을 수분 시킴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이는 과수원 과일 생산량을 늘림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공장에서 하천에 </a:t>
            </a:r>
            <a:r>
              <a:rPr lang="ko-KR" altLang="en-US" sz="1600" spc="-50" dirty="0" err="1"/>
              <a:t>오염수를</a:t>
            </a:r>
            <a:r>
              <a:rPr lang="ko-KR" altLang="en-US" sz="1600" spc="-50" dirty="0"/>
              <a:t> 방류해 하류 어업 종사자들이 피해를 입는 경우</a:t>
            </a:r>
            <a:endParaRPr lang="en-US" altLang="ko-KR" sz="1600" spc="-50" dirty="0"/>
          </a:p>
          <a:p>
            <a:pPr marL="92075">
              <a:lnSpc>
                <a:spcPct val="150000"/>
              </a:lnSpc>
            </a:pPr>
            <a:endParaRPr lang="en-US" altLang="ko-KR" sz="1600" u="sng" spc="-50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ko-KR" altLang="en-US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환경정책의 수립과 집행</a:t>
            </a: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 err="1"/>
              <a:t>환경재</a:t>
            </a:r>
            <a:r>
              <a:rPr lang="ko-KR" altLang="en-US" sz="1600" spc="-50" dirty="0"/>
              <a:t> 이용을 시장기능에 자율적으로 맡기면 환경피해가 커질 우려가 있음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효율적인 </a:t>
            </a:r>
            <a:r>
              <a:rPr lang="ko-KR" altLang="en-US" sz="1600" spc="-50" dirty="0" err="1"/>
              <a:t>환경재</a:t>
            </a:r>
            <a:r>
              <a:rPr lang="ko-KR" altLang="en-US" sz="1600" spc="-50" dirty="0"/>
              <a:t> 이용을 위해 경제적 유인을 어떻게 사용할 수 있을지 검토가 필요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오염물질에 대해 배출부과금을 부과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오염물질 배출량 한도를 부여</a:t>
            </a: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20038917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1D9EA1-BCB1-13A7-8943-3DBD533D7B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환경경제학의 주요 주제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DABEAF0-5630-E526-57CA-C43BD36FF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18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C4E7F3-EA10-6A47-8781-17F1292D78E5}"/>
              </a:ext>
            </a:extLst>
          </p:cNvPr>
          <p:cNvSpPr txBox="1"/>
          <p:nvPr/>
        </p:nvSpPr>
        <p:spPr>
          <a:xfrm>
            <a:off x="678872" y="1038536"/>
            <a:ext cx="10975831" cy="281468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환경정책의 비용 편익 분석</a:t>
            </a:r>
            <a:endParaRPr lang="en-US" altLang="ko-KR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>
              <a:lnSpc>
                <a:spcPct val="150000"/>
              </a:lnSpc>
            </a:pP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환경정책을 실행할 때 소요되는 비용과 발생하는 편익을 계산하여 정책입안에 기초자료로 활용</a:t>
            </a:r>
            <a:endParaRPr lang="en-US" altLang="ko-KR" sz="1600" b="1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환경재는 시장에서 거래되는 일반 시장재와 달리 가격이 존재하지 않아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어려운 부분이 있음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>
              <a:lnSpc>
                <a:spcPct val="150000"/>
              </a:lnSpc>
            </a:pPr>
            <a:r>
              <a:rPr lang="ko-KR" altLang="en-US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경제발전과 환경보존</a:t>
            </a: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한때 경제발전과 환경보존은 서로 대립하는 문제라 인식되었으나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경제가 발달한 선진국보다는 저개발국의 환경문제가 더욱 심각하다는 사실이 밝혀짐</a:t>
            </a: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708901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139DE9-F124-8AD1-1B3E-7239D5C1C1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AF914A4-7E62-6842-6D5E-D0527C9950C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F668F2F4-C40F-A357-72D8-F7655A9947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49" y="2995798"/>
            <a:ext cx="7740651" cy="1169803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ko-KR" altLang="en-US" b="1" i="0" spc="150" dirty="0">
                <a:ea typeface="HY헤드라인M" panose="02030600000101010101"/>
              </a:rPr>
              <a:t>경제와 자연환경</a:t>
            </a:r>
            <a:endParaRPr lang="ko-KR" altLang="en-US" sz="5400" i="0" spc="15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CB45A8B-61E2-6F78-56FC-B63048738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41258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368F4D-1980-8CE0-25FC-1DD646F8FB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12C4A5-5B6B-B082-486A-791821F2C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경제와 환경의 상호관련성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32310A7-2FCA-3C38-1B5B-B0613F0487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20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F9A69D-97C5-3370-0A90-D0F7D193F1E7}"/>
              </a:ext>
            </a:extLst>
          </p:cNvPr>
          <p:cNvSpPr txBox="1"/>
          <p:nvPr/>
        </p:nvSpPr>
        <p:spPr>
          <a:xfrm>
            <a:off x="678872" y="1038536"/>
            <a:ext cx="10975831" cy="535383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물질균형접근법 </a:t>
            </a:r>
            <a:r>
              <a:rPr lang="en-US" altLang="ko-KR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(Kneese et al., 1970)</a:t>
            </a:r>
          </a:p>
          <a:p>
            <a:pPr>
              <a:lnSpc>
                <a:spcPct val="150000"/>
              </a:lnSpc>
            </a:pP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가장 일차적으로는 가계가 자연으로부터의 서비스를 직접적으로 소비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아름다운 자연경관으로부터의 즐거움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깨끗한 공기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또한 가계는 지구의 천연자원으로부터 다양한 물질과 에너지를 추출하여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생산요소시장에 공급</a:t>
            </a:r>
            <a:endParaRPr lang="en-US" altLang="ko-KR" sz="1600" b="1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농부가 식품회사와 노동과 토지를 제공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기업은 생산요소시장에서 생산요소를 구매하여 최종생산물의 원료로 사용하고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최종 산출물을 산출물 시장에 공급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식품회사는 노동과 토지를 활용하여 밀가루를 생산하고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밀가루는 다시 가계에 공급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경제 행위 결과로 발생하여 자연으로 배출되는 폐기물이 발생 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자연의 흡수 기능에 의해 흡수되거나 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예</a:t>
            </a:r>
            <a:r>
              <a:rPr lang="en-US" altLang="ko-KR" sz="1600" spc="-50" dirty="0"/>
              <a:t>: </a:t>
            </a:r>
            <a:r>
              <a:rPr lang="ko-KR" altLang="en-US" sz="1600" spc="-50" dirty="0"/>
              <a:t>음식물 쓰레기 퇴비화</a:t>
            </a:r>
            <a:r>
              <a:rPr lang="en-US" altLang="ko-KR" sz="1600" spc="-50" dirty="0"/>
              <a:t>), </a:t>
            </a:r>
            <a:r>
              <a:rPr lang="ko-KR" altLang="en-US" sz="1600" spc="-50" dirty="0"/>
              <a:t>오염물질의 형태로 자연에 잔류 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예</a:t>
            </a:r>
            <a:r>
              <a:rPr lang="en-US" altLang="ko-KR" sz="1600" spc="-50" dirty="0"/>
              <a:t>: </a:t>
            </a:r>
            <a:r>
              <a:rPr lang="ko-KR" altLang="en-US" sz="1600" spc="-50" dirty="0"/>
              <a:t>온실가스</a:t>
            </a:r>
            <a:r>
              <a:rPr lang="en-US" altLang="ko-KR" sz="1600" spc="-50" dirty="0"/>
              <a:t>)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(</a:t>
            </a:r>
            <a:r>
              <a:rPr lang="ko-KR" altLang="en-US" sz="1600" spc="-50" dirty="0"/>
              <a:t>자원의 종류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자연이 공급해주는 자원은 두 종류로 구분할 수 있음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재생가능자원</a:t>
            </a:r>
            <a:r>
              <a:rPr lang="en-US" altLang="ko-KR" sz="1600" spc="-50" dirty="0"/>
              <a:t>: </a:t>
            </a:r>
            <a:r>
              <a:rPr lang="ko-KR" altLang="en-US" sz="1600" spc="-50" dirty="0"/>
              <a:t>동</a:t>
            </a:r>
            <a:r>
              <a:rPr lang="en-US" altLang="ko-KR" sz="1600" spc="-50" dirty="0"/>
              <a:t>·</a:t>
            </a:r>
            <a:r>
              <a:rPr lang="ko-KR" altLang="en-US" sz="1600" spc="-50" dirty="0"/>
              <a:t>식물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태양에너지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풍력에너지 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재생불가능자원</a:t>
            </a:r>
            <a:r>
              <a:rPr lang="en-US" altLang="ko-KR" sz="1600" spc="-50" dirty="0"/>
              <a:t>: </a:t>
            </a:r>
            <a:r>
              <a:rPr lang="ko-KR" altLang="en-US" sz="1600" spc="-50" dirty="0"/>
              <a:t>석유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석탄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금속</a:t>
            </a:r>
            <a:endParaRPr lang="en-US" altLang="ko-KR" sz="1600" spc="-50" dirty="0"/>
          </a:p>
          <a:p>
            <a:pPr marL="549275" lvl="1">
              <a:lnSpc>
                <a:spcPct val="150000"/>
              </a:lnSpc>
            </a:pP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21577732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7F7351-04D3-BD83-8C9C-844D1DBF2B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721744-48B5-8408-A63F-E37C479BA9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열역학 법칙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6779632-63AD-6204-BA79-3B80C423E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21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D9939B-ED34-5853-AF08-6694826F8B24}"/>
              </a:ext>
            </a:extLst>
          </p:cNvPr>
          <p:cNvSpPr txBox="1"/>
          <p:nvPr/>
        </p:nvSpPr>
        <p:spPr>
          <a:xfrm>
            <a:off x="678872" y="1038536"/>
            <a:ext cx="10975831" cy="318401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열역학 제 </a:t>
            </a:r>
            <a:r>
              <a:rPr lang="en-US" altLang="ko-KR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1</a:t>
            </a:r>
            <a:r>
              <a:rPr lang="ko-KR" altLang="en-US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법칙</a:t>
            </a:r>
            <a:r>
              <a:rPr lang="en-US" altLang="ko-KR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: </a:t>
            </a:r>
            <a:r>
              <a:rPr lang="ko-KR" altLang="en-US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에너지 보존의 법칙</a:t>
            </a:r>
            <a:endParaRPr lang="en-US" altLang="ko-KR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에너지는 형태를 바꿀 수 있지만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총량은 변하지 않는다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자연으로부터 추출된 물질이나 에너지는 재활용이나 재사용을 통해 잠시 지체될 수 있지만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궁극적으로는 동일한 양의 폐기물로 전환되어 자연으로 환원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>
              <a:lnSpc>
                <a:spcPct val="150000"/>
              </a:lnSpc>
            </a:pPr>
            <a:r>
              <a:rPr lang="ko-KR" altLang="en-US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열역학 제 </a:t>
            </a:r>
            <a:r>
              <a:rPr lang="en-US" altLang="ko-KR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2</a:t>
            </a:r>
            <a:r>
              <a:rPr lang="ko-KR" altLang="en-US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법칙</a:t>
            </a:r>
            <a:r>
              <a:rPr lang="en-US" altLang="ko-KR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: </a:t>
            </a:r>
            <a:r>
              <a:rPr lang="ko-KR" altLang="en-US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엔트로피 증가의 법칙</a:t>
            </a:r>
            <a:endParaRPr lang="en-US" altLang="ko-KR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>
              <a:lnSpc>
                <a:spcPct val="150000"/>
              </a:lnSpc>
            </a:pP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엔트로피는 항상 증가하거나 유지 된다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열은 </a:t>
            </a:r>
            <a:r>
              <a:rPr lang="ko-KR" altLang="en-US" sz="1600" spc="-50" dirty="0" err="1"/>
              <a:t>고온에서</a:t>
            </a:r>
            <a:r>
              <a:rPr lang="ko-KR" altLang="en-US" sz="1600" spc="-50" dirty="0"/>
              <a:t> 저온으로 흐름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뜨거운 커피는 저절로 식지만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찬 커피는 저절로 뜨거워지지 않는다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017314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23805B-DC00-C94B-B011-ADCA509EF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환경오염 관련 기초 용어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1F0DACC-065D-A587-10FB-3BDBB630E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22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DA18B9-D750-8952-4398-841872D83DF4}"/>
              </a:ext>
            </a:extLst>
          </p:cNvPr>
          <p:cNvSpPr txBox="1"/>
          <p:nvPr/>
        </p:nvSpPr>
        <p:spPr>
          <a:xfrm>
            <a:off x="678872" y="1038536"/>
            <a:ext cx="10975831" cy="423917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100" u="sng" dirty="0" err="1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환경질</a:t>
            </a:r>
            <a:r>
              <a:rPr lang="ko-KR" altLang="en-US" sz="11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  <a:r>
              <a:rPr lang="en-US" altLang="ko-KR" sz="11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(environmental quality)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50" spc="-50" dirty="0"/>
              <a:t>자연환경의 질적 상태를 표현</a:t>
            </a:r>
            <a:r>
              <a:rPr lang="en-US" altLang="ko-KR" sz="1050" spc="-50" dirty="0"/>
              <a:t>. </a:t>
            </a:r>
            <a:r>
              <a:rPr lang="ko-KR" altLang="en-US" sz="1050" spc="-50" dirty="0"/>
              <a:t>오염도</a:t>
            </a:r>
            <a:r>
              <a:rPr lang="en-US" altLang="ko-KR" sz="1050" spc="-50" dirty="0"/>
              <a:t>, </a:t>
            </a:r>
            <a:r>
              <a:rPr lang="ko-KR" altLang="en-US" sz="1050" spc="-50" dirty="0"/>
              <a:t>자연경관 등을 포함하는 매우 넓은 개념</a:t>
            </a:r>
            <a:endParaRPr lang="en-US" altLang="ko-KR" sz="105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500" spc="-50" dirty="0"/>
          </a:p>
          <a:p>
            <a:pPr>
              <a:lnSpc>
                <a:spcPct val="150000"/>
              </a:lnSpc>
            </a:pPr>
            <a:r>
              <a:rPr lang="ko-KR" altLang="en-US" sz="11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폐기물 </a:t>
            </a:r>
            <a:r>
              <a:rPr lang="en-US" altLang="ko-KR" sz="11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(residuals)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50" spc="-50" dirty="0"/>
              <a:t>산출물의 생산 혹은 소비 과정을 거치고 남은 물질</a:t>
            </a:r>
            <a:r>
              <a:rPr lang="en-US" altLang="ko-KR" sz="1050" spc="-50" dirty="0"/>
              <a:t>. (</a:t>
            </a:r>
            <a:r>
              <a:rPr lang="ko-KR" altLang="en-US" sz="1050" spc="-50" dirty="0"/>
              <a:t>산업폐기물</a:t>
            </a:r>
            <a:r>
              <a:rPr lang="en-US" altLang="ko-KR" sz="1050" spc="-50" dirty="0"/>
              <a:t>: </a:t>
            </a:r>
            <a:r>
              <a:rPr lang="ko-KR" altLang="en-US" sz="1050" spc="-50" dirty="0"/>
              <a:t>생산과정에서 남은 물질</a:t>
            </a:r>
            <a:r>
              <a:rPr lang="en-US" altLang="ko-KR" sz="1050" spc="-50" dirty="0"/>
              <a:t>, </a:t>
            </a:r>
            <a:r>
              <a:rPr lang="ko-KR" altLang="en-US" sz="1050" spc="-50" dirty="0"/>
              <a:t>생활폐기물</a:t>
            </a:r>
            <a:r>
              <a:rPr lang="en-US" altLang="ko-KR" sz="1050" spc="-50" dirty="0"/>
              <a:t>: </a:t>
            </a:r>
            <a:r>
              <a:rPr lang="ko-KR" altLang="en-US" sz="1050" spc="-50" dirty="0"/>
              <a:t>소비과정에서 남은 물질</a:t>
            </a:r>
            <a:r>
              <a:rPr lang="en-US" altLang="ko-KR" sz="1050" spc="-50" dirty="0"/>
              <a:t>)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500" spc="-50" dirty="0"/>
          </a:p>
          <a:p>
            <a:pPr>
              <a:lnSpc>
                <a:spcPct val="150000"/>
              </a:lnSpc>
            </a:pPr>
            <a:r>
              <a:rPr lang="ko-KR" altLang="en-US" sz="11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오염물질 </a:t>
            </a:r>
            <a:r>
              <a:rPr lang="en-US" altLang="ko-KR" sz="11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(pollutant)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100" spc="-50" dirty="0"/>
              <a:t>자연으로 배출되면 환경질을 떨어뜨리는 물질이나 에너지</a:t>
            </a:r>
            <a:endParaRPr lang="en-US" altLang="ko-KR" sz="11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500" spc="-50" dirty="0"/>
          </a:p>
          <a:p>
            <a:pPr>
              <a:lnSpc>
                <a:spcPct val="150000"/>
              </a:lnSpc>
            </a:pPr>
            <a:r>
              <a:rPr lang="ko-KR" altLang="en-US" sz="11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오염물질 배출량 </a:t>
            </a:r>
            <a:r>
              <a:rPr lang="en-US" altLang="ko-KR" sz="11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(emission)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50" spc="-50" dirty="0"/>
              <a:t>폐기물 중 자연으로 배출된 오염물질의 양</a:t>
            </a:r>
            <a:endParaRPr lang="en-US" altLang="ko-KR" sz="1050" spc="-50" dirty="0"/>
          </a:p>
          <a:p>
            <a:pPr marL="92075">
              <a:lnSpc>
                <a:spcPct val="150000"/>
              </a:lnSpc>
            </a:pPr>
            <a:endParaRPr lang="en-US" altLang="ko-KR" sz="500" spc="-50" dirty="0"/>
          </a:p>
          <a:p>
            <a:pPr>
              <a:lnSpc>
                <a:spcPct val="150000"/>
              </a:lnSpc>
            </a:pPr>
            <a:r>
              <a:rPr lang="ko-KR" altLang="en-US" sz="11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오염원 </a:t>
            </a:r>
            <a:r>
              <a:rPr lang="en-US" altLang="ko-KR" sz="11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(sources)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50" spc="-50" dirty="0"/>
              <a:t>오염물질이 배출되는 장소 </a:t>
            </a:r>
            <a:r>
              <a:rPr lang="en-US" altLang="ko-KR" sz="1050" spc="-50" dirty="0"/>
              <a:t>(</a:t>
            </a:r>
            <a:r>
              <a:rPr lang="ko-KR" altLang="en-US" sz="1050" spc="-50" dirty="0"/>
              <a:t>예</a:t>
            </a:r>
            <a:r>
              <a:rPr lang="en-US" altLang="ko-KR" sz="1050" spc="-50" dirty="0"/>
              <a:t>: </a:t>
            </a:r>
            <a:r>
              <a:rPr lang="ko-KR" altLang="en-US" sz="1050" spc="-50" dirty="0"/>
              <a:t>공장</a:t>
            </a:r>
            <a:r>
              <a:rPr lang="en-US" altLang="ko-KR" sz="1050" spc="-50" dirty="0"/>
              <a:t>, </a:t>
            </a:r>
            <a:r>
              <a:rPr lang="ko-KR" altLang="en-US" sz="1050" spc="-50" dirty="0"/>
              <a:t>자동차</a:t>
            </a:r>
            <a:r>
              <a:rPr lang="en-US" altLang="ko-KR" sz="1050" spc="-50" dirty="0"/>
              <a:t>, </a:t>
            </a:r>
            <a:r>
              <a:rPr lang="ko-KR" altLang="en-US" sz="1050" spc="-50" dirty="0"/>
              <a:t>쓰레기 매립장</a:t>
            </a:r>
            <a:r>
              <a:rPr lang="en-US" altLang="ko-KR" sz="1050" spc="-50" dirty="0"/>
              <a:t>)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500" spc="-50" dirty="0"/>
          </a:p>
          <a:p>
            <a:pPr>
              <a:lnSpc>
                <a:spcPct val="150000"/>
              </a:lnSpc>
            </a:pPr>
            <a:r>
              <a:rPr lang="ko-KR" altLang="en-US" sz="11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오염피해 </a:t>
            </a:r>
            <a:r>
              <a:rPr lang="en-US" altLang="ko-KR" sz="11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(damages)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50" spc="-50" dirty="0"/>
              <a:t>환경오염이 사람과 생태계에 미치는 부정적인 영향 </a:t>
            </a:r>
            <a:r>
              <a:rPr lang="en-US" altLang="ko-KR" sz="1050" spc="-50" dirty="0"/>
              <a:t>(</a:t>
            </a:r>
            <a:r>
              <a:rPr lang="ko-KR" altLang="en-US" sz="1050" spc="-50" dirty="0"/>
              <a:t>사람의 건강 악화</a:t>
            </a:r>
            <a:r>
              <a:rPr lang="en-US" altLang="ko-KR" sz="1050" spc="-50" dirty="0"/>
              <a:t>, </a:t>
            </a:r>
            <a:r>
              <a:rPr lang="ko-KR" altLang="en-US" sz="1050" spc="-50" dirty="0"/>
              <a:t>동식물 멸종</a:t>
            </a:r>
            <a:r>
              <a:rPr lang="en-US" altLang="ko-KR" sz="1050" spc="-50" dirty="0"/>
              <a:t>)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500" spc="-50" dirty="0"/>
          </a:p>
          <a:p>
            <a:pPr>
              <a:lnSpc>
                <a:spcPct val="150000"/>
              </a:lnSpc>
            </a:pPr>
            <a:r>
              <a:rPr lang="ko-KR" altLang="en-US" sz="11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환경매체 </a:t>
            </a:r>
            <a:r>
              <a:rPr lang="en-US" altLang="ko-KR" sz="11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(environmental medium)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50" spc="-50" dirty="0"/>
              <a:t>자연환경을 구성하는 요소 </a:t>
            </a:r>
            <a:r>
              <a:rPr lang="en-US" altLang="ko-KR" sz="1050" spc="-50" dirty="0"/>
              <a:t>(</a:t>
            </a:r>
            <a:r>
              <a:rPr lang="ko-KR" altLang="en-US" sz="1050" spc="-50" dirty="0"/>
              <a:t>예</a:t>
            </a:r>
            <a:r>
              <a:rPr lang="en-US" altLang="ko-KR" sz="1050" spc="-50" dirty="0"/>
              <a:t>: </a:t>
            </a:r>
            <a:r>
              <a:rPr lang="ko-KR" altLang="en-US" sz="1050" spc="-50" dirty="0"/>
              <a:t>토지</a:t>
            </a:r>
            <a:r>
              <a:rPr lang="en-US" altLang="ko-KR" sz="1050" spc="-50" dirty="0"/>
              <a:t>, </a:t>
            </a:r>
            <a:r>
              <a:rPr lang="ko-KR" altLang="en-US" sz="1050" spc="-50" dirty="0"/>
              <a:t>물</a:t>
            </a:r>
            <a:r>
              <a:rPr lang="en-US" altLang="ko-KR" sz="1050" spc="-50" dirty="0"/>
              <a:t>, </a:t>
            </a:r>
            <a:r>
              <a:rPr lang="ko-KR" altLang="en-US" sz="1050" spc="-50" dirty="0"/>
              <a:t>대기</a:t>
            </a:r>
            <a:r>
              <a:rPr lang="en-US" altLang="ko-KR" sz="1050" spc="-50" dirty="0"/>
              <a:t>)</a:t>
            </a: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30101319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570D28-66AA-4AA0-273F-3A9360294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오염물질의 종류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86CD377-3BA0-AD10-646A-75B3FB56E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23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4EE817-E8FC-C59A-4927-87F4ECB3DD48}"/>
              </a:ext>
            </a:extLst>
          </p:cNvPr>
          <p:cNvSpPr txBox="1"/>
          <p:nvPr/>
        </p:nvSpPr>
        <p:spPr>
          <a:xfrm>
            <a:off x="678872" y="1038536"/>
            <a:ext cx="10975831" cy="392267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u="sng" dirty="0" err="1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축적성</a:t>
            </a:r>
            <a:r>
              <a:rPr lang="ko-KR" altLang="en-US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 오염물질과 비축적성 오염물질</a:t>
            </a:r>
            <a:endParaRPr lang="en-US" altLang="ko-KR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자연으로 배출된 후 오랫동안 머물면서 축적 되는지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아니면 소멸되는지에 따라 분류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 err="1"/>
              <a:t>축적성</a:t>
            </a:r>
            <a:r>
              <a:rPr lang="ko-KR" altLang="en-US" sz="1600" spc="-50" dirty="0"/>
              <a:t> 오염물질</a:t>
            </a:r>
            <a:r>
              <a:rPr lang="en-US" altLang="ko-KR" sz="1600" spc="-50" dirty="0"/>
              <a:t>: </a:t>
            </a:r>
            <a:r>
              <a:rPr lang="ko-KR" altLang="en-US" sz="1600" spc="-50" dirty="0"/>
              <a:t>이산화탄소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메탄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납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중금속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비축적성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오염물질</a:t>
            </a:r>
            <a:r>
              <a:rPr lang="en-US" altLang="ko-KR" sz="1600" spc="-50" dirty="0"/>
              <a:t>: </a:t>
            </a:r>
            <a:r>
              <a:rPr lang="ko-KR" altLang="en-US" sz="1600" spc="-50" dirty="0"/>
              <a:t>소음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악취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빛 공해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>
              <a:lnSpc>
                <a:spcPct val="150000"/>
              </a:lnSpc>
            </a:pPr>
            <a:r>
              <a:rPr lang="ko-KR" altLang="en-US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생태계의 조절능력</a:t>
            </a:r>
            <a:endParaRPr lang="en-US" altLang="ko-KR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>
              <a:lnSpc>
                <a:spcPct val="150000"/>
              </a:lnSpc>
            </a:pP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자연은 어느 정도의 오염물질을 흡수하여 분해하는 능력을 갖고 있음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생태계의 조절 능력을 벗어나 오염물질이 배출 되는 경우 자연에 오염물질이 축적 됨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탄소배출양이 </a:t>
            </a:r>
            <a:r>
              <a:rPr lang="ko-KR" altLang="en-US" sz="1600" spc="-50" dirty="0" err="1"/>
              <a:t>탄소흡수량을</a:t>
            </a:r>
            <a:r>
              <a:rPr lang="ko-KR" altLang="en-US" sz="1600" spc="-50" dirty="0"/>
              <a:t> 초과하여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지속된 결과 기후변화가 초래 됨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탄소배출양과 </a:t>
            </a:r>
            <a:r>
              <a:rPr lang="ko-KR" altLang="en-US" sz="1600" spc="-50" dirty="0" err="1"/>
              <a:t>탄소흡수량이</a:t>
            </a:r>
            <a:r>
              <a:rPr lang="ko-KR" altLang="en-US" sz="1600" spc="-50" dirty="0"/>
              <a:t> 같아지는 상황을 탄소중립</a:t>
            </a:r>
            <a:endParaRPr lang="en-US" altLang="ko-KR" sz="1600" spc="-50" dirty="0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D6CE495F-2286-670A-CFEA-CF24EE8BAEBE}"/>
              </a:ext>
            </a:extLst>
          </p:cNvPr>
          <p:cNvGrpSpPr/>
          <p:nvPr/>
        </p:nvGrpSpPr>
        <p:grpSpPr>
          <a:xfrm>
            <a:off x="7599899" y="4419328"/>
            <a:ext cx="3867940" cy="2025426"/>
            <a:chOff x="7756362" y="4650976"/>
            <a:chExt cx="4191091" cy="2025426"/>
          </a:xfrm>
        </p:grpSpPr>
        <p:sp>
          <p:nvSpPr>
            <p:cNvPr id="6" name="사각형: 둥근 모서리 5">
              <a:extLst>
                <a:ext uri="{FF2B5EF4-FFF2-40B4-BE49-F238E27FC236}">
                  <a16:creationId xmlns:a16="http://schemas.microsoft.com/office/drawing/2014/main" id="{F4FF946E-8DFE-AAB0-F041-2CB882BFBD10}"/>
                </a:ext>
              </a:extLst>
            </p:cNvPr>
            <p:cNvSpPr/>
            <p:nvPr/>
          </p:nvSpPr>
          <p:spPr>
            <a:xfrm>
              <a:off x="7845573" y="4829175"/>
              <a:ext cx="3969102" cy="1823494"/>
            </a:xfrm>
            <a:prstGeom prst="roundRect">
              <a:avLst>
                <a:gd name="adj" fmla="val 5387"/>
              </a:avLst>
            </a:prstGeom>
            <a:noFill/>
            <a:ln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97AEEE7-F778-3F6E-0D9F-BEDAB574A1B6}"/>
                </a:ext>
              </a:extLst>
            </p:cNvPr>
            <p:cNvSpPr txBox="1"/>
            <p:nvPr/>
          </p:nvSpPr>
          <p:spPr>
            <a:xfrm>
              <a:off x="7756362" y="4650976"/>
              <a:ext cx="4191091" cy="202542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ko-KR" altLang="en-US" sz="1400" dirty="0">
                  <a:solidFill>
                    <a:schemeClr val="accent2">
                      <a:lumMod val="75000"/>
                    </a:schemeClr>
                  </a:solidFill>
                  <a:highlight>
                    <a:srgbClr val="FFFFFF"/>
                  </a:highlight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생태계 서비스</a:t>
              </a:r>
              <a:endParaRPr lang="en-US" altLang="ko-KR" sz="1400" dirty="0">
                <a:solidFill>
                  <a:schemeClr val="accent2">
                    <a:lumMod val="75000"/>
                  </a:schemeClr>
                </a:solidFill>
                <a:highlight>
                  <a:srgbClr val="FFFFFF"/>
                </a:highlight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  <a:p>
              <a:pPr algn="ctr">
                <a:lnSpc>
                  <a:spcPct val="120000"/>
                </a:lnSpc>
              </a:pPr>
              <a:r>
                <a:rPr lang="ko-KR" altLang="en-US" sz="1100" dirty="0">
                  <a:highlight>
                    <a:srgbClr val="FFFFFF"/>
                  </a:highlight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인간이 생태계 기능으로부터</a:t>
              </a:r>
              <a:endParaRPr lang="en-US" altLang="ko-KR" sz="1100" dirty="0">
                <a:highlight>
                  <a:srgbClr val="FFFFFF"/>
                </a:highlight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  <a:p>
              <a:pPr algn="ctr">
                <a:lnSpc>
                  <a:spcPct val="120000"/>
                </a:lnSpc>
              </a:pPr>
              <a:r>
                <a:rPr lang="ko-KR" altLang="en-US" sz="1100" dirty="0">
                  <a:highlight>
                    <a:srgbClr val="FFFFFF"/>
                  </a:highlight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직접 또는 간접적으로 얻는 혜택</a:t>
              </a:r>
              <a:endParaRPr lang="en-US" altLang="ko-KR" sz="1100" dirty="0">
                <a:highlight>
                  <a:srgbClr val="FFFFFF"/>
                </a:highlight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  <a:p>
              <a:pPr algn="ctr">
                <a:lnSpc>
                  <a:spcPct val="120000"/>
                </a:lnSpc>
              </a:pPr>
              <a:endParaRPr lang="en-US" altLang="ko-KR" sz="1000" dirty="0">
                <a:highlight>
                  <a:srgbClr val="FFFFFF"/>
                </a:highlight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  <a:p>
              <a:pPr algn="ctr">
                <a:lnSpc>
                  <a:spcPct val="120000"/>
                </a:lnSpc>
              </a:pPr>
              <a:r>
                <a:rPr lang="ko-KR" altLang="en-US" sz="1000" dirty="0">
                  <a:highlight>
                    <a:srgbClr val="FFFFFF"/>
                  </a:highlight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생태계 서비스는 </a:t>
              </a:r>
              <a:r>
                <a:rPr lang="en-US" altLang="ko-KR" sz="1000" dirty="0">
                  <a:highlight>
                    <a:srgbClr val="FFFFFF"/>
                  </a:highlight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4</a:t>
              </a:r>
              <a:r>
                <a:rPr lang="ko-KR" altLang="en-US" sz="1000" dirty="0">
                  <a:highlight>
                    <a:srgbClr val="FFFFFF"/>
                  </a:highlight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가지 유형으로 분류</a:t>
              </a:r>
              <a:endParaRPr lang="en-US" altLang="ko-KR" sz="1000" dirty="0">
                <a:highlight>
                  <a:srgbClr val="FFFFFF"/>
                </a:highlight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  <a:p>
              <a:pPr algn="ctr">
                <a:lnSpc>
                  <a:spcPct val="120000"/>
                </a:lnSpc>
              </a:pPr>
              <a:r>
                <a:rPr lang="ko-KR" altLang="en-US" sz="1000" dirty="0">
                  <a:highlight>
                    <a:srgbClr val="FFFFFF"/>
                  </a:highlight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공급서비스 </a:t>
              </a:r>
              <a:r>
                <a:rPr lang="en-US" altLang="ko-KR" sz="1000" dirty="0">
                  <a:highlight>
                    <a:srgbClr val="FFFFFF"/>
                  </a:highlight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(provisioning): </a:t>
              </a:r>
              <a:r>
                <a:rPr lang="ko-KR" altLang="en-US" sz="1000" dirty="0">
                  <a:highlight>
                    <a:srgbClr val="FFFFFF"/>
                  </a:highlight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식량</a:t>
              </a:r>
              <a:r>
                <a:rPr lang="en-US" altLang="ko-KR" sz="1000" dirty="0">
                  <a:highlight>
                    <a:srgbClr val="FFFFFF"/>
                  </a:highlight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, </a:t>
              </a:r>
              <a:r>
                <a:rPr lang="ko-KR" altLang="en-US" sz="1000" dirty="0">
                  <a:highlight>
                    <a:srgbClr val="FFFFFF"/>
                  </a:highlight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식수</a:t>
              </a:r>
              <a:r>
                <a:rPr lang="en-US" altLang="ko-KR" sz="1000" dirty="0">
                  <a:highlight>
                    <a:srgbClr val="FFFFFF"/>
                  </a:highlight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, </a:t>
              </a:r>
              <a:r>
                <a:rPr lang="ko-KR" altLang="en-US" sz="1000" dirty="0">
                  <a:highlight>
                    <a:srgbClr val="FFFFFF"/>
                  </a:highlight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에너지 등을 공급</a:t>
              </a:r>
              <a:endParaRPr lang="en-US" altLang="ko-KR" sz="1000" dirty="0">
                <a:highlight>
                  <a:srgbClr val="FFFFFF"/>
                </a:highlight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  <a:p>
              <a:pPr algn="ctr">
                <a:lnSpc>
                  <a:spcPct val="120000"/>
                </a:lnSpc>
              </a:pPr>
              <a:r>
                <a:rPr lang="ko-KR" altLang="en-US" sz="1000" dirty="0">
                  <a:highlight>
                    <a:srgbClr val="FFFFFF"/>
                  </a:highlight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조절서비스 </a:t>
              </a:r>
              <a:r>
                <a:rPr lang="en-US" altLang="ko-KR" sz="1000" dirty="0">
                  <a:highlight>
                    <a:srgbClr val="FFFFFF"/>
                  </a:highlight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(regulating]: </a:t>
              </a:r>
              <a:r>
                <a:rPr lang="ko-KR" altLang="en-US" sz="1000" dirty="0">
                  <a:highlight>
                    <a:srgbClr val="FFFFFF"/>
                  </a:highlight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대기</a:t>
              </a:r>
              <a:r>
                <a:rPr lang="en-US" altLang="ko-KR" sz="1000" dirty="0">
                  <a:highlight>
                    <a:srgbClr val="FFFFFF"/>
                  </a:highlight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, </a:t>
              </a:r>
              <a:r>
                <a:rPr lang="ko-KR" altLang="en-US" sz="1000" dirty="0">
                  <a:highlight>
                    <a:srgbClr val="FFFFFF"/>
                  </a:highlight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토양</a:t>
              </a:r>
              <a:r>
                <a:rPr lang="en-US" altLang="ko-KR" sz="1000" dirty="0">
                  <a:highlight>
                    <a:srgbClr val="FFFFFF"/>
                  </a:highlight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, </a:t>
              </a:r>
              <a:r>
                <a:rPr lang="ko-KR" altLang="en-US" sz="1000" dirty="0">
                  <a:highlight>
                    <a:srgbClr val="FFFFFF"/>
                  </a:highlight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기후</a:t>
              </a:r>
              <a:r>
                <a:rPr lang="en-US" altLang="ko-KR" sz="1000" dirty="0">
                  <a:highlight>
                    <a:srgbClr val="FFFFFF"/>
                  </a:highlight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, </a:t>
              </a:r>
              <a:r>
                <a:rPr lang="ko-KR" altLang="en-US" sz="1000" dirty="0">
                  <a:highlight>
                    <a:srgbClr val="FFFFFF"/>
                  </a:highlight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재해 등을 조절</a:t>
              </a:r>
              <a:endParaRPr lang="en-US" altLang="ko-KR" sz="1000" dirty="0">
                <a:highlight>
                  <a:srgbClr val="FFFFFF"/>
                </a:highlight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  <a:p>
              <a:pPr algn="ctr">
                <a:lnSpc>
                  <a:spcPct val="120000"/>
                </a:lnSpc>
              </a:pPr>
              <a:r>
                <a:rPr lang="ko-KR" altLang="en-US" sz="1000" dirty="0">
                  <a:highlight>
                    <a:srgbClr val="FFFFFF"/>
                  </a:highlight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문화서비스 </a:t>
              </a:r>
              <a:r>
                <a:rPr lang="en-US" altLang="ko-KR" sz="1000" dirty="0">
                  <a:highlight>
                    <a:srgbClr val="FFFFFF"/>
                  </a:highlight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[cultural]: </a:t>
              </a:r>
              <a:r>
                <a:rPr lang="ko-KR" altLang="en-US" sz="1000" dirty="0">
                  <a:highlight>
                    <a:srgbClr val="FFFFFF"/>
                  </a:highlight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교육</a:t>
              </a:r>
              <a:r>
                <a:rPr lang="en-US" altLang="ko-KR" sz="1000" dirty="0">
                  <a:highlight>
                    <a:srgbClr val="FFFFFF"/>
                  </a:highlight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, </a:t>
              </a:r>
              <a:r>
                <a:rPr lang="ko-KR" altLang="en-US" sz="1000" dirty="0">
                  <a:highlight>
                    <a:srgbClr val="FFFFFF"/>
                  </a:highlight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레저</a:t>
              </a:r>
              <a:r>
                <a:rPr lang="en-US" altLang="ko-KR" sz="1000" dirty="0">
                  <a:highlight>
                    <a:srgbClr val="FFFFFF"/>
                  </a:highlight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, </a:t>
              </a:r>
              <a:r>
                <a:rPr lang="ko-KR" altLang="en-US" sz="1000" dirty="0">
                  <a:highlight>
                    <a:srgbClr val="FFFFFF"/>
                  </a:highlight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관광</a:t>
              </a:r>
              <a:r>
                <a:rPr lang="en-US" altLang="ko-KR" sz="1000" dirty="0">
                  <a:highlight>
                    <a:srgbClr val="FFFFFF"/>
                  </a:highlight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, </a:t>
              </a:r>
              <a:r>
                <a:rPr lang="ko-KR" altLang="en-US" sz="1000" dirty="0">
                  <a:highlight>
                    <a:srgbClr val="FFFFFF"/>
                  </a:highlight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휴양 등을 제공</a:t>
              </a:r>
              <a:endParaRPr lang="en-US" altLang="ko-KR" sz="1000" dirty="0">
                <a:highlight>
                  <a:srgbClr val="FFFFFF"/>
                </a:highlight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  <a:p>
              <a:pPr algn="ctr">
                <a:lnSpc>
                  <a:spcPct val="120000"/>
                </a:lnSpc>
              </a:pPr>
              <a:r>
                <a:rPr lang="ko-KR" altLang="en-US" sz="1000" dirty="0">
                  <a:highlight>
                    <a:srgbClr val="FFFFFF"/>
                  </a:highlight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지지서비스 </a:t>
              </a:r>
              <a:r>
                <a:rPr lang="en-US" altLang="ko-KR" sz="1000" dirty="0">
                  <a:highlight>
                    <a:srgbClr val="FFFFFF"/>
                  </a:highlight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[supporting]: </a:t>
              </a:r>
              <a:r>
                <a:rPr lang="ko-KR" altLang="en-US" sz="1000" dirty="0">
                  <a:highlight>
                    <a:srgbClr val="FFFFFF"/>
                  </a:highlight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생물 다양성</a:t>
              </a:r>
              <a:r>
                <a:rPr lang="en-US" altLang="ko-KR" sz="1000" dirty="0">
                  <a:highlight>
                    <a:srgbClr val="FFFFFF"/>
                  </a:highlight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,</a:t>
              </a:r>
              <a:r>
                <a:rPr lang="ko-KR" altLang="en-US" sz="1000" dirty="0">
                  <a:highlight>
                    <a:srgbClr val="FFFFFF"/>
                  </a:highlight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 경작지 형성 등을 지지</a:t>
              </a:r>
              <a:endParaRPr lang="en-US" altLang="ko-KR" sz="1000" dirty="0">
                <a:highlight>
                  <a:srgbClr val="FFFFFF"/>
                </a:highlight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  <a:p>
              <a:pPr algn="ctr">
                <a:lnSpc>
                  <a:spcPct val="120000"/>
                </a:lnSpc>
              </a:pPr>
              <a:r>
                <a:rPr lang="ko-KR" altLang="en-US" sz="1000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참고자료</a:t>
              </a:r>
              <a:r>
                <a:rPr lang="en-US" altLang="ko-KR" sz="1000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: http://evis.kei.re.kr/</a:t>
              </a:r>
              <a:endParaRPr lang="en-US" altLang="ko-KR" sz="1000" dirty="0">
                <a:highlight>
                  <a:srgbClr val="FFFFFF"/>
                </a:highlight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3974385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7D05D5-86F6-2BC9-81AE-42715B648C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903F25-3545-8E73-414E-AF7B140E0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오염물질의 종류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0338E92-740E-2F85-B555-68FCA2E99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24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D0EE8B-0BE9-E535-6A5E-0B57AFA761FB}"/>
              </a:ext>
            </a:extLst>
          </p:cNvPr>
          <p:cNvSpPr txBox="1"/>
          <p:nvPr/>
        </p:nvSpPr>
        <p:spPr>
          <a:xfrm>
            <a:off x="678872" y="1038536"/>
            <a:ext cx="10975831" cy="378417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국지적</a:t>
            </a:r>
            <a:r>
              <a:rPr lang="en-US" altLang="ko-KR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,</a:t>
            </a:r>
            <a:r>
              <a:rPr lang="ko-KR" altLang="en-US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 지역적</a:t>
            </a:r>
            <a:r>
              <a:rPr lang="en-US" altLang="ko-KR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, </a:t>
            </a:r>
            <a:r>
              <a:rPr lang="ko-KR" altLang="en-US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월경 오염물질</a:t>
            </a:r>
            <a:endParaRPr lang="en-US" altLang="ko-KR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(</a:t>
            </a:r>
            <a:r>
              <a:rPr lang="ko-KR" altLang="en-US" sz="1600" spc="-50" dirty="0"/>
              <a:t>국지적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특정지역의 근처에만 영향을 주는 오염물질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자동차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난방 보일러에서 나오는 일산화탄소</a:t>
            </a:r>
            <a:r>
              <a:rPr lang="en-US" altLang="ko-KR" sz="1600" spc="-50" dirty="0"/>
              <a:t>(CO)</a:t>
            </a:r>
            <a:r>
              <a:rPr lang="ko-KR" altLang="en-US" sz="1600" spc="-50" dirty="0"/>
              <a:t>가 근처에서만 높은 농도를 보임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(</a:t>
            </a:r>
            <a:r>
              <a:rPr lang="ko-KR" altLang="en-US" sz="1600" spc="-50" dirty="0"/>
              <a:t>지역적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도시권</a:t>
            </a:r>
            <a:r>
              <a:rPr lang="en-US" altLang="ko-KR" sz="1600" spc="-50" dirty="0"/>
              <a:t>·</a:t>
            </a:r>
            <a:r>
              <a:rPr lang="ko-KR" altLang="en-US" sz="1600" spc="-50" dirty="0"/>
              <a:t>광역권역에 영향을 주는 오염물질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산성비는 </a:t>
            </a:r>
            <a:r>
              <a:rPr lang="en-US" altLang="ko-KR" sz="1600" spc="-50" dirty="0"/>
              <a:t>SO</a:t>
            </a:r>
            <a:r>
              <a:rPr lang="en-US" altLang="ko-KR" sz="1600" spc="-50" baseline="-25000" dirty="0"/>
              <a:t>2</a:t>
            </a:r>
            <a:r>
              <a:rPr lang="ko-KR" altLang="en-US" sz="1600" spc="-50" dirty="0"/>
              <a:t>와 </a:t>
            </a:r>
            <a:r>
              <a:rPr lang="en-US" altLang="ko-KR" sz="1600" spc="-50" dirty="0"/>
              <a:t>NOx</a:t>
            </a:r>
            <a:r>
              <a:rPr lang="ko-KR" altLang="en-US" sz="1600" spc="-50" dirty="0"/>
              <a:t> 같은 물질이 주요 원인이며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수백 </a:t>
            </a:r>
            <a:r>
              <a:rPr lang="en-US" altLang="ko-KR" sz="1600" spc="-50" dirty="0"/>
              <a:t>km </a:t>
            </a:r>
            <a:r>
              <a:rPr lang="ko-KR" altLang="en-US" sz="1600" spc="-50" dirty="0"/>
              <a:t>이상을 이동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서울에서 주행하는 차량이 내뿜는 오염물질로 인해 대전에 산성비가 내리는 경우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(</a:t>
            </a:r>
            <a:r>
              <a:rPr lang="ko-KR" altLang="en-US" sz="1600" spc="-50" dirty="0"/>
              <a:t>월경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국경을 넘어 다른 나라에도 영향을 주는 오염물질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황사가 몽골의 고비사막에서 발생하여 한국과 일본에 까지 영향을 주는 경우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온실가스는 지구 전체에 기후변화를 일으키고 있음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328557814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90DC4-8ABB-E8F2-684B-FD38546A4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EE5785-EBE4-CC66-1490-8AD7930E28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오염물질의 종류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63522AC-DFB3-783F-7A72-9C0E6C9E3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25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E75C60-93FC-E4A6-C452-286E27A8FB46}"/>
              </a:ext>
            </a:extLst>
          </p:cNvPr>
          <p:cNvSpPr txBox="1"/>
          <p:nvPr/>
        </p:nvSpPr>
        <p:spPr>
          <a:xfrm>
            <a:off x="678872" y="1038536"/>
            <a:ext cx="10975831" cy="544617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지상 오염물질과</a:t>
            </a:r>
            <a:r>
              <a:rPr lang="en-US" altLang="ko-KR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  <a:r>
              <a:rPr lang="ko-KR" altLang="en-US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전 지구적 오염물질</a:t>
            </a:r>
            <a:endParaRPr lang="en-US" altLang="ko-KR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(</a:t>
            </a:r>
            <a:r>
              <a:rPr lang="ko-KR" altLang="en-US" sz="1600" spc="-50" dirty="0"/>
              <a:t>지상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지표면에 축적되어 환경을 파괴하는 오염물질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(</a:t>
            </a:r>
            <a:r>
              <a:rPr lang="ko-KR" altLang="en-US" sz="1600" spc="-50" dirty="0"/>
              <a:t>전 지구적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대기권에 축적되어 지구 전체의 환경을 파괴하는 오염물질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000" spc="-50" dirty="0"/>
          </a:p>
          <a:p>
            <a:pPr>
              <a:lnSpc>
                <a:spcPct val="150000"/>
              </a:lnSpc>
            </a:pPr>
            <a:r>
              <a:rPr lang="ko-KR" altLang="en-US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점원 </a:t>
            </a:r>
            <a:r>
              <a:rPr lang="en-US" altLang="ko-KR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(point source)</a:t>
            </a:r>
            <a:r>
              <a:rPr lang="ko-KR" altLang="en-US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 오염물질과</a:t>
            </a:r>
            <a:r>
              <a:rPr lang="en-US" altLang="ko-KR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  <a:r>
              <a:rPr lang="ko-KR" altLang="en-US" u="sng" dirty="0" err="1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비점원</a:t>
            </a:r>
            <a:r>
              <a:rPr lang="ko-KR" altLang="en-US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  <a:r>
              <a:rPr lang="en-US" altLang="ko-KR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(nonpoint source)</a:t>
            </a:r>
            <a:r>
              <a:rPr lang="ko-KR" altLang="en-US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 오염물질</a:t>
            </a:r>
            <a:endParaRPr lang="en-US" altLang="ko-KR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(</a:t>
            </a:r>
            <a:r>
              <a:rPr lang="ko-KR" altLang="en-US" sz="1600" spc="-50" dirty="0"/>
              <a:t>점원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오염물질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하나의 지점을 통해 오염물질이 배출되는 경우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공장 굴뚝에서 나오는 대기오염물질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발전소에서 냉각수 배출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(</a:t>
            </a:r>
            <a:r>
              <a:rPr lang="ko-KR" altLang="en-US" sz="1600" spc="-50" dirty="0" err="1"/>
              <a:t>비점원</a:t>
            </a:r>
            <a:r>
              <a:rPr lang="ko-KR" altLang="en-US" sz="1600" spc="-50" dirty="0"/>
              <a:t> 오염물질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넓은 지역에서 오염물질이 배출되는 경우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농경지에서 빗물에 씻겨 내려가는 질소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인 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비료와 농약의 성분</a:t>
            </a:r>
            <a:r>
              <a:rPr lang="en-US" altLang="ko-KR" sz="1600" spc="-50" dirty="0"/>
              <a:t>) 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산림에서의 토사 유출</a:t>
            </a:r>
            <a:endParaRPr lang="en-US" altLang="ko-KR" sz="1600" spc="-50" dirty="0"/>
          </a:p>
          <a:p>
            <a:pPr marL="549275" lvl="1">
              <a:lnSpc>
                <a:spcPct val="150000"/>
              </a:lnSpc>
            </a:pPr>
            <a:endParaRPr lang="en-US" altLang="ko-KR" sz="1000" spc="-50" dirty="0"/>
          </a:p>
          <a:p>
            <a:pPr>
              <a:lnSpc>
                <a:spcPct val="150000"/>
              </a:lnSpc>
            </a:pPr>
            <a:r>
              <a:rPr lang="ko-KR" altLang="en-US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연속적 오염과 간헐적 오염</a:t>
            </a:r>
            <a:endParaRPr lang="en-US" altLang="ko-KR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(</a:t>
            </a:r>
            <a:r>
              <a:rPr lang="ko-KR" altLang="en-US" sz="1600" spc="-50" dirty="0"/>
              <a:t>연속적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꾸준하게 오염물질이 배출되는 경우 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발전소 가동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자동차 통행</a:t>
            </a:r>
            <a:r>
              <a:rPr lang="en-US" altLang="ko-KR" sz="1600" spc="-50" dirty="0"/>
              <a:t>)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(</a:t>
            </a:r>
            <a:r>
              <a:rPr lang="ko-KR" altLang="en-US" sz="1600" spc="-50" dirty="0"/>
              <a:t>간헐적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불규칙하게 간헐적으로 오염물질이 배출되는 경우 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사고로 인한 방사능 유출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유조선 사고</a:t>
            </a:r>
            <a:r>
              <a:rPr lang="en-US" altLang="ko-KR" sz="1600" spc="-5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55295542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C8B0EB-74B1-B51C-A4E6-7DD41C0B0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524993C-D1C3-8436-D8C1-21698BE6D1B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051A9577-CCBA-F474-5E82-99100C452E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2134292"/>
          </a:xfrm>
          <a:effectLst>
            <a:reflection blurRad="50800" stA="45000" endPos="44000" dir="5400000" sy="-100000" algn="bl" rotWithShape="0"/>
          </a:effectLst>
        </p:spPr>
        <p:txBody>
          <a:bodyPr/>
          <a:lstStyle/>
          <a:p>
            <a:r>
              <a:rPr lang="en-US" altLang="ko-KR" b="1" i="0" spc="150">
                <a:solidFill>
                  <a:schemeClr val="accent2"/>
                </a:solidFill>
              </a:rPr>
              <a:t>T</a:t>
            </a:r>
            <a:r>
              <a:rPr lang="en-US" altLang="ko-KR" sz="5400" i="0" spc="100"/>
              <a:t>hank you</a:t>
            </a:r>
            <a:endParaRPr lang="ko-KR" altLang="en-US" sz="5400" i="0" spc="10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F4898E0-926C-D8DA-8874-21A66F64B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04048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사용자 지정 6">
      <a:dk1>
        <a:srgbClr val="262626"/>
      </a:dk1>
      <a:lt1>
        <a:sysClr val="window" lastClr="FFFFFF"/>
      </a:lt1>
      <a:dk2>
        <a:srgbClr val="262626"/>
      </a:dk2>
      <a:lt2>
        <a:srgbClr val="EFEFEF"/>
      </a:lt2>
      <a:accent1>
        <a:srgbClr val="2D72BE"/>
      </a:accent1>
      <a:accent2>
        <a:srgbClr val="E15F5F"/>
      </a:accent2>
      <a:accent3>
        <a:srgbClr val="DA9D6D"/>
      </a:accent3>
      <a:accent4>
        <a:srgbClr val="009AB7"/>
      </a:accent4>
      <a:accent5>
        <a:srgbClr val="FF6600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5059</TotalTime>
  <Words>2010</Words>
  <Application>Microsoft Office PowerPoint</Application>
  <PresentationFormat>와이드스크린</PresentationFormat>
  <Paragraphs>277</Paragraphs>
  <Slides>26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26</vt:i4>
      </vt:variant>
    </vt:vector>
  </HeadingPairs>
  <TitlesOfParts>
    <vt:vector size="32" baseType="lpstr">
      <vt:lpstr>HY헤드라인M</vt:lpstr>
      <vt:lpstr>KoPub돋움체 Light</vt:lpstr>
      <vt:lpstr>맑은 고딕</vt:lpstr>
      <vt:lpstr>Arial</vt:lpstr>
      <vt:lpstr>Wingdings</vt:lpstr>
      <vt:lpstr>Office 테마</vt:lpstr>
      <vt:lpstr>재 정 학</vt:lpstr>
      <vt:lpstr>수업개요</vt:lpstr>
      <vt:lpstr>Chapter 1  재정학: 의의와 성격</vt:lpstr>
      <vt:lpstr>실증경제학 vs. 규범경제학</vt:lpstr>
      <vt:lpstr>Section 1. 재정학 연구의 내용</vt:lpstr>
      <vt:lpstr>재정학</vt:lpstr>
      <vt:lpstr>Section 2. 정부란 무엇인가?</vt:lpstr>
      <vt:lpstr>정부</vt:lpstr>
      <vt:lpstr>정부를 바라보는 시선</vt:lpstr>
      <vt:lpstr>Section 3. 혼합경제와 정부의 역할</vt:lpstr>
      <vt:lpstr>혼합경제</vt:lpstr>
      <vt:lpstr>정부의 역할</vt:lpstr>
      <vt:lpstr>Section 2. 정부란 무엇인가?</vt:lpstr>
      <vt:lpstr>PowerPoint 프레젠테이션</vt:lpstr>
      <vt:lpstr>환경경제학에서 다루는 여러가지 주제들</vt:lpstr>
      <vt:lpstr>생활 속의 환경경제</vt:lpstr>
      <vt:lpstr>환경경제학의 주요 주제</vt:lpstr>
      <vt:lpstr>환경경제학의 주요 주제</vt:lpstr>
      <vt:lpstr>경제와 자연환경</vt:lpstr>
      <vt:lpstr>경제와 환경의 상호관련성</vt:lpstr>
      <vt:lpstr>열역학 법칙</vt:lpstr>
      <vt:lpstr>환경오염 관련 기초 용어</vt:lpstr>
      <vt:lpstr>오염물질의 종류</vt:lpstr>
      <vt:lpstr>오염물질의 종류</vt:lpstr>
      <vt:lpstr>오염물질의 종류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Minyoung Roh</dc:creator>
  <cp:lastModifiedBy>Seungho Jeon</cp:lastModifiedBy>
  <cp:revision>105</cp:revision>
  <dcterms:created xsi:type="dcterms:W3CDTF">2025-07-05T05:15:23Z</dcterms:created>
  <dcterms:modified xsi:type="dcterms:W3CDTF">2025-12-11T07:44:14Z</dcterms:modified>
</cp:coreProperties>
</file>