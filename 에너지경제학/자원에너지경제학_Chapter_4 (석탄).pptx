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4"/>
  </p:notesMasterIdLst>
  <p:sldIdLst>
    <p:sldId id="375" r:id="rId2"/>
    <p:sldId id="405" r:id="rId3"/>
    <p:sldId id="550" r:id="rId4"/>
    <p:sldId id="376" r:id="rId5"/>
    <p:sldId id="609" r:id="rId6"/>
    <p:sldId id="599" r:id="rId7"/>
    <p:sldId id="610" r:id="rId8"/>
    <p:sldId id="611" r:id="rId9"/>
    <p:sldId id="601" r:id="rId10"/>
    <p:sldId id="612" r:id="rId11"/>
    <p:sldId id="613" r:id="rId12"/>
    <p:sldId id="614" r:id="rId13"/>
    <p:sldId id="618" r:id="rId14"/>
    <p:sldId id="615" r:id="rId15"/>
    <p:sldId id="617" r:id="rId16"/>
    <p:sldId id="602" r:id="rId17"/>
    <p:sldId id="619" r:id="rId18"/>
    <p:sldId id="620" r:id="rId19"/>
    <p:sldId id="621" r:id="rId20"/>
    <p:sldId id="622" r:id="rId21"/>
    <p:sldId id="623" r:id="rId22"/>
    <p:sldId id="624" r:id="rId23"/>
    <p:sldId id="603" r:id="rId24"/>
    <p:sldId id="625" r:id="rId25"/>
    <p:sldId id="626" r:id="rId26"/>
    <p:sldId id="627" r:id="rId27"/>
    <p:sldId id="604" r:id="rId28"/>
    <p:sldId id="628" r:id="rId29"/>
    <p:sldId id="629" r:id="rId30"/>
    <p:sldId id="606" r:id="rId31"/>
    <p:sldId id="630" r:id="rId32"/>
    <p:sldId id="631" r:id="rId33"/>
    <p:sldId id="605" r:id="rId34"/>
    <p:sldId id="632" r:id="rId35"/>
    <p:sldId id="633" r:id="rId36"/>
    <p:sldId id="634" r:id="rId37"/>
    <p:sldId id="635" r:id="rId38"/>
    <p:sldId id="636" r:id="rId39"/>
    <p:sldId id="637" r:id="rId40"/>
    <p:sldId id="638" r:id="rId41"/>
    <p:sldId id="639" r:id="rId42"/>
    <p:sldId id="640" r:id="rId43"/>
    <p:sldId id="641" r:id="rId44"/>
    <p:sldId id="642" r:id="rId45"/>
    <p:sldId id="607" r:id="rId46"/>
    <p:sldId id="643" r:id="rId47"/>
    <p:sldId id="644" r:id="rId48"/>
    <p:sldId id="645" r:id="rId49"/>
    <p:sldId id="608" r:id="rId50"/>
    <p:sldId id="646" r:id="rId51"/>
    <p:sldId id="647" r:id="rId52"/>
    <p:sldId id="598" r:id="rId5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85" autoAdjust="0"/>
  </p:normalViewPr>
  <p:slideViewPr>
    <p:cSldViewPr snapToGrid="0">
      <p:cViewPr varScale="1">
        <p:scale>
          <a:sx n="144" d="100"/>
          <a:sy n="144" d="100"/>
        </p:scale>
        <p:origin x="90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석탄 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산업은 수세기 동안 산업화의 견인차로서 글로벌 에너지 체계 형성에 중대한 역할을 수행해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고대 중국과 로마 시대에도 석탄은 난방 및 금속 가공에 제한적으로 사용되었지만</a:t>
            </a:r>
            <a:r>
              <a:rPr lang="en-US" altLang="ko-KR" sz="1600" dirty="0"/>
              <a:t>, </a:t>
            </a:r>
            <a:r>
              <a:rPr lang="ko-KR" altLang="en-US" sz="1600" dirty="0"/>
              <a:t>그 전략적 중요성이 본격적으로 부각된 시기는 </a:t>
            </a:r>
            <a:r>
              <a:rPr lang="en-US" altLang="ko-KR" sz="1600" dirty="0"/>
              <a:t>18</a:t>
            </a:r>
            <a:r>
              <a:rPr lang="ko-KR" altLang="en-US" sz="1600" dirty="0"/>
              <a:t>세기 후반부터 시작된 산업혁명 시기다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 시기 석탄은 증기기관의 주요 연료로 사용되며 </a:t>
            </a:r>
            <a:r>
              <a:rPr lang="ko-KR" altLang="en-US" sz="1600" dirty="0" err="1"/>
              <a:t>면직업</a:t>
            </a:r>
            <a:r>
              <a:rPr lang="en-US" altLang="ko-KR" sz="1600" dirty="0"/>
              <a:t>, </a:t>
            </a:r>
            <a:r>
              <a:rPr lang="ko-KR" altLang="en-US" sz="1600" dirty="0"/>
              <a:t>철도 운송 등 기계화된 산업 부문의 비약적 성장을 가능하게 하였고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영국</a:t>
            </a:r>
            <a:r>
              <a:rPr lang="en-US" altLang="ko-KR" sz="1600" dirty="0"/>
              <a:t>, </a:t>
            </a:r>
            <a:r>
              <a:rPr lang="ko-KR" altLang="en-US" sz="1600" dirty="0"/>
              <a:t>독일</a:t>
            </a:r>
            <a:r>
              <a:rPr lang="en-US" altLang="ko-KR" sz="1600" dirty="0"/>
              <a:t>, </a:t>
            </a:r>
            <a:r>
              <a:rPr lang="ko-KR" altLang="en-US" sz="1600" dirty="0"/>
              <a:t>미국 등 주요 산업국의 경제적 도약을 견인하였다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</a:t>
            </a:r>
            <a:r>
              <a:rPr lang="ko-KR" altLang="en-US" sz="1600" dirty="0"/>
              <a:t>세기 후반부터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초반까지 석탄은 가정용 난방</a:t>
            </a:r>
            <a:r>
              <a:rPr lang="en-US" altLang="ko-KR" sz="1600" dirty="0"/>
              <a:t>, </a:t>
            </a:r>
            <a:r>
              <a:rPr lang="ko-KR" altLang="en-US" sz="1600" dirty="0"/>
              <a:t>공장동력</a:t>
            </a:r>
            <a:r>
              <a:rPr lang="en-US" altLang="ko-KR" sz="1600" dirty="0"/>
              <a:t>, </a:t>
            </a:r>
            <a:r>
              <a:rPr lang="ko-KR" altLang="en-US" sz="1600" dirty="0"/>
              <a:t>전력생산 등 광범위한 부문에서 주요 </a:t>
            </a:r>
            <a:r>
              <a:rPr lang="en-US" altLang="ko-KR" sz="1600" dirty="0"/>
              <a:t>1</a:t>
            </a:r>
            <a:r>
              <a:rPr lang="ko-KR" altLang="en-US" sz="1600" dirty="0"/>
              <a:t>차 에너지원으로 기능하며 에너지 소비의 중심축을 형성하였다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유럽과 북미 지역을 중심으로 대규모 광산 개발과 철도망 확충이 이루어지면서</a:t>
            </a:r>
            <a:r>
              <a:rPr lang="en-US" altLang="ko-KR" sz="1600" dirty="0"/>
              <a:t>, </a:t>
            </a:r>
            <a:r>
              <a:rPr lang="ko-KR" altLang="en-US" sz="1600" dirty="0"/>
              <a:t>석탄은 산업화와 도시화를 가속화하는 기반 인프라로 작용하였다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CA923-B4DD-A907-2D8B-D6044F6F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1A0F4-CC65-8E27-4A59-54417250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5026A-C2F6-E1CD-95EA-4269B6F0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FC786-BA6B-5C03-44D8-6D9CE0578FA6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</a:t>
            </a:r>
            <a:r>
              <a:rPr lang="ko-KR" altLang="en-US" sz="1600" dirty="0"/>
              <a:t>세기 중반 이후 석유 및 천연가스와 같은</a:t>
            </a:r>
            <a:r>
              <a:rPr lang="en-US" altLang="ko-KR" sz="1600" dirty="0"/>
              <a:t>, </a:t>
            </a:r>
            <a:r>
              <a:rPr lang="ko-KR" altLang="en-US" sz="1600" dirty="0"/>
              <a:t>보다 높은 에너지 밀도와 유연성을 지닌 에너지원의 등장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원자력 발전의 도입은 석탄의 상대적 위상을 점차 약화시키는 계기가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더욱이</a:t>
            </a:r>
            <a:r>
              <a:rPr lang="en-US" altLang="ko-KR" sz="1600" dirty="0"/>
              <a:t>, </a:t>
            </a:r>
            <a:r>
              <a:rPr lang="ko-KR" altLang="en-US" sz="1600" dirty="0"/>
              <a:t>석탄 채굴 및 연소 과정에서의 대기오염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배출</a:t>
            </a:r>
            <a:r>
              <a:rPr lang="en-US" altLang="ko-KR" sz="1600" dirty="0"/>
              <a:t>, </a:t>
            </a:r>
            <a:r>
              <a:rPr lang="ko-KR" altLang="en-US" sz="1600" dirty="0"/>
              <a:t>광산 노동자의 건강 문제 등 부정적 외부효과는 석탄 산업에 대한 국제사회의 비판적 시각을 </a:t>
            </a:r>
            <a:r>
              <a:rPr lang="ko-KR" altLang="en-US" sz="1600" dirty="0" err="1"/>
              <a:t>강화시켰으며</a:t>
            </a:r>
            <a:r>
              <a:rPr lang="en-US" altLang="ko-KR" sz="1600" dirty="0"/>
              <a:t>, </a:t>
            </a:r>
            <a:r>
              <a:rPr lang="ko-KR" altLang="en-US" sz="1600" dirty="0"/>
              <a:t>환경 규제의 강화와 탈탄소화 전환을 촉진하는 요인으로 작용하였다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기후변화 대응을 위한 글로벌 협약과 국가별 탄소중립 목표는 석탄의 단계적 축소를 </a:t>
            </a:r>
            <a:r>
              <a:rPr lang="ko-KR" altLang="en-US" sz="1600" dirty="0" err="1"/>
              <a:t>가속화시키고</a:t>
            </a:r>
            <a:r>
              <a:rPr lang="ko-KR" altLang="en-US" sz="1600" dirty="0"/>
              <a:t> 있다</a:t>
            </a:r>
            <a:r>
              <a:rPr lang="en-US" altLang="ko-KR" sz="160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그럼에도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석탄은 여전히 세계 에너지 믹스의 약 </a:t>
            </a:r>
            <a:r>
              <a:rPr lang="en-US" altLang="ko-KR" sz="1600" dirty="0"/>
              <a:t>25~30%</a:t>
            </a:r>
            <a:r>
              <a:rPr lang="ko-KR" altLang="en-US" sz="1600" dirty="0"/>
              <a:t>를 차지하는 주요 자원으로 남아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 수급의 신뢰성과 가격경쟁력을 중시하는 개발도상국에서는 에너지 안보 확보와 경제성 측면에서 여전히 전략적인 에너지원으로 활용되고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현대의 석탄시장은 공급망 리스크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 변수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탈석탄</a:t>
            </a:r>
            <a:r>
              <a:rPr lang="ko-KR" altLang="en-US" sz="1600" dirty="0"/>
              <a:t> 정책과의 충돌</a:t>
            </a:r>
            <a:r>
              <a:rPr lang="en-US" altLang="ko-KR" sz="1600" dirty="0"/>
              <a:t>, </a:t>
            </a:r>
            <a:r>
              <a:rPr lang="ko-KR" altLang="en-US" sz="1600" dirty="0"/>
              <a:t>청정기술 도입</a:t>
            </a:r>
            <a:r>
              <a:rPr lang="en-US" altLang="ko-KR" sz="1600" dirty="0"/>
              <a:t>, </a:t>
            </a:r>
            <a:r>
              <a:rPr lang="ko-KR" altLang="en-US" sz="1600" dirty="0"/>
              <a:t>국제 금융의 탈석탄화 흐름</a:t>
            </a:r>
            <a:r>
              <a:rPr lang="en-US" altLang="ko-KR" sz="1600" dirty="0"/>
              <a:t> </a:t>
            </a:r>
            <a:r>
              <a:rPr lang="ko-KR" altLang="en-US" sz="1600" dirty="0"/>
              <a:t>등 복합적인 요소가 작용하는 불확실성으로 특징지어진다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781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1B6B-7E50-1361-1865-152921E2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A5B9EC-1D0F-A920-3DDD-3C7E481F84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1D2D4-A872-FD00-B41F-0BABB307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B24812-E156-DDA7-328C-86685F84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석탄산업의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8107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857B-3683-2BC3-A086-B64A2E17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328EF-F34F-8995-A223-A4E56081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5E0A92-85AA-8412-935C-D0C55D2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F4D06-06D6-0B4D-6DC6-5F57827D95E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사용은 수천년 전으로 거슬러 올라가지만</a:t>
            </a:r>
            <a:r>
              <a:rPr lang="en-US" altLang="ko-KR" sz="1600" dirty="0"/>
              <a:t>, </a:t>
            </a:r>
            <a:r>
              <a:rPr lang="ko-KR" altLang="en-US" sz="1600" dirty="0"/>
              <a:t>본격적인 산업적인 용도의 활용은 근대 초기에 비로소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기록에 따르면 중국에서는 기원전 </a:t>
            </a:r>
            <a:r>
              <a:rPr lang="en-US" altLang="ko-KR" sz="1600" dirty="0"/>
              <a:t>1000</a:t>
            </a:r>
            <a:r>
              <a:rPr lang="ko-KR" altLang="en-US" sz="1600" dirty="0" err="1"/>
              <a:t>년경부터</a:t>
            </a:r>
            <a:r>
              <a:rPr lang="ko-KR" altLang="en-US" sz="1600" dirty="0"/>
              <a:t> 석탄을 난방 연료로 사용하였다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로마 제국 시기인 서기 </a:t>
            </a:r>
            <a:r>
              <a:rPr lang="en-US" altLang="ko-KR" sz="1600" dirty="0"/>
              <a:t>200</a:t>
            </a:r>
            <a:r>
              <a:rPr lang="ko-KR" altLang="en-US" sz="1600" dirty="0" err="1"/>
              <a:t>년경에도</a:t>
            </a:r>
            <a:r>
              <a:rPr lang="ko-KR" altLang="en-US" sz="1600" dirty="0"/>
              <a:t> 석탄 사용이 확인된다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석탄이 산업적으로 광범위하게 사용되기 시작한 것은 </a:t>
            </a:r>
            <a:r>
              <a:rPr lang="en-US" altLang="ko-KR" sz="1600" dirty="0"/>
              <a:t>13</a:t>
            </a:r>
            <a:r>
              <a:rPr lang="ko-KR" altLang="en-US" sz="1600" dirty="0"/>
              <a:t>세기경 영국이며</a:t>
            </a:r>
            <a:r>
              <a:rPr lang="en-US" altLang="ko-KR" sz="1600" dirty="0"/>
              <a:t>, </a:t>
            </a:r>
            <a:r>
              <a:rPr lang="ko-KR" altLang="en-US" sz="1600" dirty="0"/>
              <a:t>난방과 대장장이업에서 사용되었다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16</a:t>
            </a:r>
            <a:r>
              <a:rPr lang="ko-KR" altLang="en-US" sz="1600" dirty="0"/>
              <a:t>세기 말부터 </a:t>
            </a:r>
            <a:r>
              <a:rPr lang="en-US" altLang="ko-KR" sz="1600" dirty="0"/>
              <a:t>17</a:t>
            </a:r>
            <a:r>
              <a:rPr lang="ko-KR" altLang="en-US" sz="1600" dirty="0"/>
              <a:t>세기 초</a:t>
            </a:r>
            <a:r>
              <a:rPr lang="en-US" altLang="ko-KR" sz="1600" dirty="0"/>
              <a:t>,</a:t>
            </a:r>
            <a:r>
              <a:rPr lang="ko-KR" altLang="en-US" sz="1600" dirty="0"/>
              <a:t> 인구증가와 수공업의 확대에 따라 에너지 수요가 급증하고 석탄채굴이 산업화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</a:t>
            </a:r>
            <a:r>
              <a:rPr lang="en-US" altLang="ko-KR" sz="1600" dirty="0"/>
              <a:t>17</a:t>
            </a:r>
            <a:r>
              <a:rPr lang="ko-KR" altLang="en-US" sz="1600" dirty="0"/>
              <a:t>세기 말까지 영국에서는 탄광이 경제의 핵심부문으로 성장하였다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석탄은 목재의 대체재로서 중요한 역할을 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18</a:t>
            </a:r>
            <a:r>
              <a:rPr lang="ko-KR" altLang="en-US" sz="1600" dirty="0"/>
              <a:t>세기 말 산업혁명의 도래는 석탄의 역사에서 결정적인 전환점을 이룬다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새로운 기술과 기계의 출현으로 에너지 수요가 급증한다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목재 및 숯을 대체하는 에너지원이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증기기관의 동력원으로서 섬유</a:t>
            </a:r>
            <a:r>
              <a:rPr lang="en-US" altLang="ko-KR" sz="1600" dirty="0"/>
              <a:t>, </a:t>
            </a:r>
            <a:r>
              <a:rPr lang="ko-KR" altLang="en-US" sz="1600" dirty="0"/>
              <a:t>철도</a:t>
            </a:r>
            <a:r>
              <a:rPr lang="en-US" altLang="ko-KR" sz="1600" dirty="0"/>
              <a:t>, </a:t>
            </a:r>
            <a:r>
              <a:rPr lang="ko-KR" altLang="en-US" sz="1600" dirty="0"/>
              <a:t>강철 산업 등의 기반이 되었다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</a:t>
            </a:r>
            <a:r>
              <a:rPr lang="ko-KR" altLang="en-US" sz="1600" dirty="0"/>
              <a:t>세기 내내 석탄은 영국 경제의 중심이 되었으며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유사한 경향이 독일과 미국에서도 나타났다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119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412D-3BFB-B909-0EE7-82B7F857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3ACDE-375F-F406-9EEA-DA57D0B2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737CC-BE48-2795-5D30-5CE201BB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A76E8-64EB-EBD7-1C9F-A0261C6B074C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</a:t>
            </a:r>
            <a:r>
              <a:rPr lang="ko-KR" altLang="en-US" sz="1600" dirty="0"/>
              <a:t>세기에는 석탄 생산이 정점을 맞이하며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 기간 동안 군수 산업과 전쟁 수행에 있어 필수적인 에너지원으로 기능하였다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전후에는 석유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원자력의 확산과 함께 석탄의 상대적 비중은 점차 하락하였다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또 석탄채굴과 연소로 인한 환경오염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대기질</a:t>
            </a:r>
            <a:r>
              <a:rPr lang="ko-KR" altLang="en-US" sz="1600" dirty="0"/>
              <a:t> 저하</a:t>
            </a:r>
            <a:r>
              <a:rPr lang="en-US" altLang="ko-KR" sz="1600" dirty="0"/>
              <a:t>, </a:t>
            </a:r>
            <a:r>
              <a:rPr lang="ko-KR" altLang="en-US" sz="1600" dirty="0"/>
              <a:t>건강 피해 등의 사회문제가 부상하며 쇠퇴하기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20</a:t>
            </a:r>
            <a:r>
              <a:rPr lang="ko-KR" altLang="en-US" sz="1600" dirty="0"/>
              <a:t>세기 후반 이후 유럽과 북미의 많은 탄광이 폐쇄되고</a:t>
            </a:r>
            <a:r>
              <a:rPr lang="en-US" altLang="ko-KR" sz="1600" dirty="0"/>
              <a:t>, </a:t>
            </a:r>
            <a:r>
              <a:rPr lang="ko-KR" altLang="en-US" sz="1600" dirty="0"/>
              <a:t>석탄 산업의 중심은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 등 생산비용이 낮고 수요가 지속되는 지역으로 이동하였다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이와 같은 </a:t>
            </a:r>
            <a:r>
              <a:rPr lang="ko-KR" altLang="en-US" sz="1600" dirty="0" err="1"/>
              <a:t>쇄락에도</a:t>
            </a:r>
            <a:r>
              <a:rPr lang="ko-KR" altLang="en-US" sz="1600" dirty="0"/>
              <a:t> 불구하고 여전히 개발도상국에서는 접근성과 경제성 측면에서 유리한 에너지원이다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21</a:t>
            </a:r>
            <a:r>
              <a:rPr lang="ko-KR" altLang="en-US" sz="1600" dirty="0"/>
              <a:t>세기 들어서면서 석탄 산업은 전 세계적으로 복합적인 도전에 직면하고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탈탄소화를 위한 환경규제 강화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기술의 확산</a:t>
            </a:r>
            <a:r>
              <a:rPr lang="en-US" altLang="ko-KR" sz="1600" dirty="0"/>
              <a:t>, </a:t>
            </a:r>
            <a:r>
              <a:rPr lang="ko-KR" altLang="en-US" sz="1600" dirty="0"/>
              <a:t>금융기관의 석탄 투자 회피 등은 석탄 생산 및 소비에 지속적인 압력을 가하고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많은 선진국에서는 석탄이 청정에너지로 점차 대체되고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아프리카 일부 국가에서는 여전히 석탄이 에너지믹스의 중추적인 역할을 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1014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925B-FC5E-7414-224B-EA1EA774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070160-2621-1C89-F1B7-14BFDDB3A7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3B466-923D-9B07-EDF4-95ACD444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CFA0951-55A3-A100-0D0F-267D31818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석탄의 분류와 특징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4668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8232-325B-109E-E755-C7762A18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5093F-8BE7-16FE-9229-C179F9D5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DAA90-9C6A-88B8-8B4B-6481FA05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9CCB4-17D0-C488-9EDC-1B2A7D071D41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물리적 및 화학적 특성은 석탄화 과정에서 원 식물 유기물이 얼마나 완전히 탄화 되었는지에 따라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석탄화 과정은 유기물이 열과 압력을 받아 석탄으로 전환되는 탄화과정을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석탄화 정도에 따라 석탄은 탄소 함량</a:t>
            </a:r>
            <a:r>
              <a:rPr lang="en-US" altLang="ko-KR" sz="1600" dirty="0"/>
              <a:t>, </a:t>
            </a:r>
            <a:r>
              <a:rPr lang="ko-KR" altLang="en-US" sz="1600" dirty="0"/>
              <a:t>수분</a:t>
            </a:r>
            <a:r>
              <a:rPr lang="en-US" altLang="ko-KR" sz="1600" dirty="0"/>
              <a:t>, </a:t>
            </a:r>
            <a:r>
              <a:rPr lang="ko-KR" altLang="en-US" sz="1600" dirty="0"/>
              <a:t>휘발성분</a:t>
            </a:r>
            <a:r>
              <a:rPr lang="en-US" altLang="ko-KR" sz="1600" dirty="0"/>
              <a:t>, </a:t>
            </a:r>
            <a:r>
              <a:rPr lang="ko-KR" altLang="en-US" sz="1600" dirty="0"/>
              <a:t>회분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밀도 등의 특성이 달라진다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</a:t>
            </a:r>
            <a:r>
              <a:rPr lang="en-US" altLang="ko-KR" sz="1600" dirty="0"/>
              <a:t>, </a:t>
            </a:r>
            <a:r>
              <a:rPr lang="ko-KR" altLang="en-US" sz="1600" dirty="0"/>
              <a:t>갈탄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아역청탄</a:t>
            </a:r>
            <a:r>
              <a:rPr lang="en-US" altLang="ko-KR" sz="1600" dirty="0"/>
              <a:t>, </a:t>
            </a:r>
            <a:r>
              <a:rPr lang="ko-KR" altLang="en-US" sz="1600" dirty="0"/>
              <a:t>역청탄</a:t>
            </a:r>
            <a:r>
              <a:rPr lang="en-US" altLang="ko-KR" sz="1600" dirty="0"/>
              <a:t>, </a:t>
            </a:r>
            <a:r>
              <a:rPr lang="ko-KR" altLang="en-US" sz="1600" dirty="0"/>
              <a:t>무연탄 으로 분류된다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석탄은 경제적 측면에서 가장 저렴한 화석연료로 간주되고</a:t>
            </a:r>
            <a:r>
              <a:rPr lang="en-US" altLang="ko-KR" sz="1600" dirty="0"/>
              <a:t>, </a:t>
            </a:r>
            <a:r>
              <a:rPr lang="ko-KR" altLang="en-US" sz="1600" dirty="0"/>
              <a:t>석유나 천연가스에 비해 채굴</a:t>
            </a:r>
            <a:r>
              <a:rPr lang="en-US" altLang="ko-KR" sz="1600" dirty="0"/>
              <a:t>·</a:t>
            </a:r>
            <a:r>
              <a:rPr lang="ko-KR" altLang="en-US" sz="1600" dirty="0"/>
              <a:t>취급 비용이 낮다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재생에너지의 비용이 지속적으로 하락하고</a:t>
            </a:r>
            <a:r>
              <a:rPr lang="en-US" altLang="ko-KR" sz="1600" dirty="0"/>
              <a:t>, </a:t>
            </a:r>
            <a:r>
              <a:rPr lang="ko-KR" altLang="en-US" sz="1600" dirty="0"/>
              <a:t>환경규제와 탄소가격제도가 강화되면서 석탄의 경제성은 점점 악화되고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881235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0F2C-3F1B-38F6-9C0F-C2AB119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690FD-974C-97D3-ED43-51CCE2E2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A5B807-831D-CED5-05BB-BA2EA954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29CBC-506A-EA60-A9F6-E4FB6145ED85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갈탄</a:t>
            </a: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갈탄은 탄화과정이 충분히 진행되지 않은</a:t>
            </a:r>
            <a:r>
              <a:rPr lang="en-US" altLang="ko-KR" sz="1600" dirty="0"/>
              <a:t>, </a:t>
            </a:r>
            <a:r>
              <a:rPr lang="ko-KR" altLang="en-US" sz="1600" dirty="0"/>
              <a:t>석탄화 정도가 가장 낮은 </a:t>
            </a:r>
            <a:r>
              <a:rPr lang="ko-KR" altLang="en-US" sz="1600" dirty="0" err="1"/>
              <a:t>저등급</a:t>
            </a:r>
            <a:r>
              <a:rPr lang="ko-KR" altLang="en-US" sz="1600" dirty="0"/>
              <a:t> 석탄이다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탄소 함량이 </a:t>
            </a:r>
            <a:r>
              <a:rPr lang="en-US" altLang="ko-KR" sz="1600" dirty="0"/>
              <a:t>30%</a:t>
            </a:r>
            <a:r>
              <a:rPr lang="ko-KR" altLang="en-US" sz="1600" dirty="0"/>
              <a:t>에 불과하고</a:t>
            </a:r>
            <a:r>
              <a:rPr lang="en-US" altLang="ko-KR" sz="1600" dirty="0"/>
              <a:t>, </a:t>
            </a:r>
            <a:r>
              <a:rPr lang="ko-KR" altLang="en-US" sz="1600" dirty="0"/>
              <a:t>수분 함량이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연소 효율이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저장 운송과정에도 제약이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외관상 흑갈색을 띠며</a:t>
            </a:r>
            <a:r>
              <a:rPr lang="en-US" altLang="ko-KR" sz="1600" dirty="0"/>
              <a:t>, </a:t>
            </a:r>
            <a:r>
              <a:rPr lang="ko-KR" altLang="en-US" sz="1600" dirty="0"/>
              <a:t>구조는 부드럽고 쉽게 부서지는 성질을 갖고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분쇄는 용이하나</a:t>
            </a:r>
            <a:r>
              <a:rPr lang="en-US" altLang="ko-KR" sz="1600" dirty="0"/>
              <a:t>, </a:t>
            </a:r>
            <a:r>
              <a:rPr lang="ko-KR" altLang="en-US" sz="1600" dirty="0"/>
              <a:t>취급 과정에서 손실이 발생하기 쉽다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갈탄의 발열량은 다른 탄에 비해 낮은 수준이다</a:t>
            </a:r>
            <a:r>
              <a:rPr lang="en-US" altLang="ko-KR" sz="1600" dirty="0"/>
              <a:t>. (10~20 MJ/kg)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 인해 갈탄은 대규모 산업용보다 발전소에서 전력 생산용 연료로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장거리 </a:t>
            </a:r>
            <a:r>
              <a:rPr lang="ko-KR" altLang="en-US" sz="1600" dirty="0" err="1"/>
              <a:t>수송시</a:t>
            </a:r>
            <a:r>
              <a:rPr lang="ko-KR" altLang="en-US" sz="1600" dirty="0"/>
              <a:t> 수분이 증발하여 에너지손실과 물류비용이 커지기 때문에 광산 인근에 위치한 광산밀착형 발전소에서 직접 소비되는 경우가 일반적이다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갈탄은 에너지 밀도가 낮고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연소시</a:t>
            </a:r>
            <a:r>
              <a:rPr lang="ko-KR" altLang="en-US" sz="1600" dirty="0"/>
              <a:t> 오염물질 </a:t>
            </a:r>
            <a:r>
              <a:rPr lang="en-US" altLang="ko-KR" sz="1600" dirty="0"/>
              <a:t>(</a:t>
            </a:r>
            <a:r>
              <a:rPr lang="ko-KR" altLang="en-US" sz="1600" dirty="0"/>
              <a:t>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 등</a:t>
            </a:r>
            <a:r>
              <a:rPr lang="en-US" altLang="ko-KR" sz="1600" dirty="0"/>
              <a:t>)</a:t>
            </a:r>
            <a:r>
              <a:rPr lang="ko-KR" altLang="en-US" sz="1600" dirty="0"/>
              <a:t>을 다량 배출하기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 측면에서는 가장 부정적인 평가를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환경문제로 많은 국가에서 갈탄 기반 발전소 신규건설을 제한하고</a:t>
            </a:r>
            <a:r>
              <a:rPr lang="en-US" altLang="ko-KR" sz="1600" dirty="0"/>
              <a:t>, </a:t>
            </a:r>
            <a:r>
              <a:rPr lang="ko-KR" altLang="en-US" sz="1600" dirty="0"/>
              <a:t>조기퇴출을 검토하고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갈탄 자원이 풍부한 국가에서는 여전히 경제성과 접근성 측면에서 중요한 역할을 담당하고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722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680E-2B40-5B44-0272-709EBC02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BA020-5B08-FF16-59E4-0CE13A9D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0FCC8-15D6-8232-334B-E4FCE59F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A781F-C092-84FA-21D4-8D4A01C77E78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아역청탄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아역청탄은</a:t>
            </a:r>
            <a:r>
              <a:rPr lang="ko-KR" altLang="en-US" sz="1600" dirty="0"/>
              <a:t> 석탄화 정도가 갈탄보다 더 진행된 중간단계의 </a:t>
            </a:r>
            <a:r>
              <a:rPr lang="ko-KR" altLang="en-US" sz="1600" dirty="0" err="1"/>
              <a:t>저등급</a:t>
            </a:r>
            <a:r>
              <a:rPr lang="ko-KR" altLang="en-US" sz="1600" dirty="0"/>
              <a:t> 석탄이다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탄소함량은 </a:t>
            </a:r>
            <a:r>
              <a:rPr lang="en-US" altLang="ko-KR" sz="1600" dirty="0"/>
              <a:t>40% </a:t>
            </a:r>
            <a:r>
              <a:rPr lang="ko-KR" altLang="en-US" sz="1600" dirty="0"/>
              <a:t>수준이고</a:t>
            </a:r>
            <a:r>
              <a:rPr lang="en-US" altLang="ko-KR" sz="1600" dirty="0"/>
              <a:t>, </a:t>
            </a:r>
            <a:r>
              <a:rPr lang="ko-KR" altLang="en-US" sz="1600" dirty="0"/>
              <a:t>상대적으로 낮은 휘발분과 수분함량을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외관상 칙칙한 검은색 또는 어두운 회갈색이며</a:t>
            </a:r>
            <a:r>
              <a:rPr lang="en-US" altLang="ko-KR" sz="1600" dirty="0"/>
              <a:t>, </a:t>
            </a:r>
            <a:r>
              <a:rPr lang="ko-KR" altLang="en-US" sz="1600" dirty="0"/>
              <a:t>조직은 갈탄보다 치밀하고 견고하나</a:t>
            </a:r>
            <a:r>
              <a:rPr lang="en-US" altLang="ko-KR" sz="1600" dirty="0"/>
              <a:t>, </a:t>
            </a:r>
            <a:r>
              <a:rPr lang="ko-KR" altLang="en-US" sz="1600" dirty="0"/>
              <a:t>무연탄이나 역청탄에 비해 부드럽다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아역청탄은</a:t>
            </a:r>
            <a:r>
              <a:rPr lang="ko-KR" altLang="en-US" sz="1600" dirty="0"/>
              <a:t> 갈탄에 비해 상대적으로 발열량이 높다</a:t>
            </a:r>
            <a:r>
              <a:rPr lang="en-US" altLang="ko-KR" sz="1600" dirty="0"/>
              <a:t>. (18~24 MJ/kg)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갈탄에 비해 에너지 효율이 높아 전력 생산용으로 널리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연소 특성이 안정적이고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회분 함량이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연소 온도가 상대적으로 낮다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석탄화력을 주요 전력 공급원으로 작용하는 국가에서는 경제성과 실용성을 갖춘 연료로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아역청탄은</a:t>
            </a:r>
            <a:r>
              <a:rPr lang="ko-KR" altLang="en-US" sz="1600" dirty="0"/>
              <a:t> 미국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중국 등 광범위하게 매장되어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 </a:t>
            </a:r>
            <a:r>
              <a:rPr lang="ko-KR" altLang="en-US" sz="1600" dirty="0" err="1"/>
              <a:t>와이오밍</a:t>
            </a:r>
            <a:r>
              <a:rPr lang="ko-KR" altLang="en-US" sz="1600" dirty="0"/>
              <a:t> 주의 </a:t>
            </a:r>
            <a:r>
              <a:rPr lang="ko-KR" altLang="en-US" sz="1600" dirty="0" err="1"/>
              <a:t>파우더리버</a:t>
            </a:r>
            <a:r>
              <a:rPr lang="ko-KR" altLang="en-US" sz="1600" dirty="0"/>
              <a:t> 분지는 세계에서 가장 큰 </a:t>
            </a:r>
            <a:r>
              <a:rPr lang="ko-KR" altLang="en-US" sz="1600" dirty="0" err="1"/>
              <a:t>아역청탄</a:t>
            </a:r>
            <a:r>
              <a:rPr lang="ko-KR" altLang="en-US" sz="1600" dirty="0"/>
              <a:t> 생산지 중 하나이다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인도네시아는 동남아시아 최대의 석탄 수출국으로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아역청탄을</a:t>
            </a:r>
            <a:r>
              <a:rPr lang="ko-KR" altLang="en-US" sz="1600" dirty="0"/>
              <a:t> 중심으로 아시아 시장에 대한 공급을 지속적으로 확대하고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환경적 측면에서 </a:t>
            </a:r>
            <a:r>
              <a:rPr lang="ko-KR" altLang="en-US" sz="1600" dirty="0" err="1"/>
              <a:t>아역청탄이</a:t>
            </a:r>
            <a:r>
              <a:rPr lang="ko-KR" altLang="en-US" sz="1600" dirty="0"/>
              <a:t> 갈탄보다 온실가스 및 대기오염물질 배출량이 적지만</a:t>
            </a:r>
            <a:r>
              <a:rPr lang="en-US" altLang="ko-KR" sz="1600" dirty="0"/>
              <a:t>, </a:t>
            </a:r>
            <a:r>
              <a:rPr lang="ko-KR" altLang="en-US" sz="1600" dirty="0"/>
              <a:t>여전히 재생에너지 및 천연가스에 비해 탄소배출량이 높아 기후정책에 의해 제한되는 추세이다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6323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1E90-1FE1-AF37-2721-221E1285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72C6C-31D2-8655-9596-EE07524E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0997A5-FE4B-3496-3AA7-DECAD83E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64D71-ED20-F9EA-E6CC-E5FE2A1F7759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역청탄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전세계적으로 가장 널리 사용되는 중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고등급</a:t>
            </a:r>
            <a:r>
              <a:rPr lang="ko-KR" altLang="en-US" sz="1600" dirty="0"/>
              <a:t> 석탄이다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석탄화 정도가 갈탄이나 </a:t>
            </a:r>
            <a:r>
              <a:rPr lang="ko-KR" altLang="en-US" sz="1600" dirty="0" err="1"/>
              <a:t>아역청탄보다</a:t>
            </a:r>
            <a:r>
              <a:rPr lang="ko-KR" altLang="en-US" sz="1600" dirty="0"/>
              <a:t> 훨씬 높고</a:t>
            </a:r>
            <a:r>
              <a:rPr lang="en-US" altLang="ko-KR" sz="1600" dirty="0"/>
              <a:t>, </a:t>
            </a:r>
            <a:r>
              <a:rPr lang="ko-KR" altLang="en-US" sz="1600" dirty="0"/>
              <a:t>탄소 함량은 </a:t>
            </a:r>
            <a:r>
              <a:rPr lang="en-US" altLang="ko-KR" sz="1600" dirty="0"/>
              <a:t>45~86%</a:t>
            </a:r>
            <a:r>
              <a:rPr lang="ko-KR" altLang="en-US" sz="1600" dirty="0"/>
              <a:t>에 이른다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수분과 </a:t>
            </a:r>
            <a:r>
              <a:rPr lang="ko-KR" altLang="en-US" sz="1600" dirty="0" err="1"/>
              <a:t>휘발분</a:t>
            </a:r>
            <a:r>
              <a:rPr lang="ko-KR" altLang="en-US" sz="1600" dirty="0"/>
              <a:t> 함량이 낮아 </a:t>
            </a:r>
            <a:r>
              <a:rPr lang="ko-KR" altLang="en-US" sz="1600" dirty="0" err="1"/>
              <a:t>연료로서의</a:t>
            </a:r>
            <a:r>
              <a:rPr lang="ko-KR" altLang="en-US" sz="1600" dirty="0"/>
              <a:t> 품질이 우수하고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밀도가 높다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광택이 나는 흑색이고</a:t>
            </a:r>
            <a:r>
              <a:rPr lang="en-US" altLang="ko-KR" sz="1600" dirty="0"/>
              <a:t>, </a:t>
            </a:r>
            <a:r>
              <a:rPr lang="ko-KR" altLang="en-US" sz="1600" dirty="0"/>
              <a:t>구조는 단단하고 치밀하여 기계적 강도가 높다</a:t>
            </a:r>
            <a:r>
              <a:rPr lang="en-US" altLang="ko-KR" sz="160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역청탄의 발열량은 약 </a:t>
            </a:r>
            <a:r>
              <a:rPr lang="en-US" altLang="ko-KR" sz="1600" dirty="0"/>
              <a:t>24~35MJ/kg</a:t>
            </a:r>
            <a:r>
              <a:rPr lang="ko-KR" altLang="en-US" sz="1600" dirty="0"/>
              <a:t>으로 </a:t>
            </a:r>
            <a:r>
              <a:rPr lang="ko-KR" altLang="en-US" sz="1600" dirty="0" err="1"/>
              <a:t>아역청탄보다</a:t>
            </a:r>
            <a:r>
              <a:rPr lang="ko-KR" altLang="en-US" sz="1600" dirty="0"/>
              <a:t> 높다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 생산을 위한 연료로 널리 활용되고</a:t>
            </a:r>
            <a:r>
              <a:rPr lang="en-US" altLang="ko-KR" sz="1600" dirty="0"/>
              <a:t>, </a:t>
            </a:r>
            <a:r>
              <a:rPr lang="ko-KR" altLang="en-US" sz="1600" dirty="0"/>
              <a:t>산업부문에서는 철강 생산에 필수적인 원료로 사용된다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역청탄 중에서도 </a:t>
            </a:r>
            <a:r>
              <a:rPr lang="ko-KR" altLang="en-US" sz="1600" dirty="0" err="1"/>
              <a:t>코킹탄은</a:t>
            </a:r>
            <a:r>
              <a:rPr lang="ko-KR" altLang="en-US" sz="1600" dirty="0"/>
              <a:t> 고온 처리 시 휘발분이 제거되고 탄화가 진행되며</a:t>
            </a:r>
            <a:r>
              <a:rPr lang="en-US" altLang="ko-KR" sz="1600" dirty="0"/>
              <a:t>, </a:t>
            </a:r>
            <a:r>
              <a:rPr lang="ko-KR" altLang="en-US" sz="1600" dirty="0"/>
              <a:t>금속 제조에 사용되는 코크스로 전환된다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 코크스는 용광로에서 철광석을 환원시키고 고온을 유지하는 데 핵심적 역할을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제철 공정에서 필수적인 소재이다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31022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3B9FD-50EF-1878-18D2-965469CA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30702-5896-0E4E-8729-F9719CB7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936D8B-D49E-1258-8401-5546AAF8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CA5A2-149B-8670-3C3C-C1CBBFDD1FB2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역청탄은 미국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 </a:t>
            </a:r>
            <a:r>
              <a:rPr lang="ko-KR" altLang="en-US" sz="1600" dirty="0"/>
              <a:t>등지에서 대규모로 채굴되고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국제 석탄시장에서 가장 활발히 거래되는 품종 중 하나이다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특히 고급 </a:t>
            </a:r>
            <a:r>
              <a:rPr lang="ko-KR" altLang="en-US" sz="1600" spc="-100" dirty="0" err="1"/>
              <a:t>코킹탄은</a:t>
            </a:r>
            <a:r>
              <a:rPr lang="ko-KR" altLang="en-US" sz="1600" spc="-100" dirty="0"/>
              <a:t> 품질</a:t>
            </a:r>
            <a:r>
              <a:rPr lang="en-US" altLang="ko-KR" sz="1600" spc="-100" dirty="0"/>
              <a:t>, </a:t>
            </a:r>
            <a:r>
              <a:rPr lang="ko-KR" altLang="en-US" sz="1600" spc="-100" dirty="0" err="1"/>
              <a:t>점결력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휘발성 등에 따라 가격이 차별화되어 거래되며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철강수요와 밀접한 연계를 보인다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1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환경적 측면에서는 역청탄이 높은 에너지효율을 지닌 반면</a:t>
            </a:r>
            <a:r>
              <a:rPr lang="en-US" altLang="ko-KR" sz="1600" dirty="0"/>
              <a:t>, </a:t>
            </a:r>
            <a:r>
              <a:rPr lang="ko-KR" altLang="en-US" sz="1600" dirty="0"/>
              <a:t>황 함량이 상대적으로 높아 연소 시 이산화황 배출이 많아지는 문제가 있다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이산화황은 산성비의 원인이 되어</a:t>
            </a:r>
            <a:r>
              <a:rPr lang="en-US" altLang="ko-KR" sz="1600" dirty="0"/>
              <a:t>, </a:t>
            </a:r>
            <a:r>
              <a:rPr lang="ko-KR" altLang="en-US" sz="1600" dirty="0"/>
              <a:t>환경 규제가 엄격한 국가에서는 황 제거 기술 도입이 필수적이다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발전소에서는 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미세먼지</a:t>
            </a:r>
            <a:r>
              <a:rPr lang="en-US" altLang="ko-KR" sz="1600" dirty="0"/>
              <a:t>, </a:t>
            </a:r>
            <a:r>
              <a:rPr lang="ko-KR" altLang="en-US" sz="1600" dirty="0"/>
              <a:t>수은 등 다양한 유해물질에 대한 규제가 강화되고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역청탄 사용에는 점점 높은 수준의 환경관리 기술이 요구되고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30095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937D-DC6D-C78B-3821-7CDC7168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A4425-4E04-35FE-384C-7D546C62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EF550-A3FA-C004-157B-ED378F65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17002-61F6-AA30-7FCF-7255A154CE0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무연탄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석탄화 정도가 가장 진전된 </a:t>
            </a:r>
            <a:r>
              <a:rPr lang="ko-KR" altLang="en-US" sz="1600" dirty="0" err="1"/>
              <a:t>고등급</a:t>
            </a:r>
            <a:r>
              <a:rPr lang="ko-KR" altLang="en-US" sz="1600" dirty="0"/>
              <a:t> 석탄으로</a:t>
            </a:r>
            <a:r>
              <a:rPr lang="en-US" altLang="ko-KR" sz="1600" dirty="0"/>
              <a:t>, </a:t>
            </a:r>
            <a:r>
              <a:rPr lang="ko-KR" altLang="en-US" sz="1600" dirty="0"/>
              <a:t>탄소 함량이 </a:t>
            </a:r>
            <a:r>
              <a:rPr lang="en-US" altLang="ko-KR" sz="1600" dirty="0"/>
              <a:t>86% </a:t>
            </a:r>
            <a:r>
              <a:rPr lang="ko-KR" altLang="en-US" sz="1600" dirty="0"/>
              <a:t>이상에 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수분과 휘발성분은 매우 낮은 반면</a:t>
            </a:r>
            <a:r>
              <a:rPr lang="en-US" altLang="ko-KR" sz="1600" dirty="0"/>
              <a:t>, </a:t>
            </a:r>
            <a:r>
              <a:rPr lang="ko-KR" altLang="en-US" sz="1600" dirty="0"/>
              <a:t>고체 탄소의 밀도는 가장 높은 수준을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특성은 무연탄을 다른 석탄과 </a:t>
            </a:r>
            <a:r>
              <a:rPr lang="ko-KR" altLang="en-US" sz="1600" dirty="0" err="1"/>
              <a:t>구분짓는</a:t>
            </a:r>
            <a:r>
              <a:rPr lang="ko-KR" altLang="en-US" sz="1600" dirty="0"/>
              <a:t> 핵심 요소로</a:t>
            </a:r>
            <a:r>
              <a:rPr lang="en-US" altLang="ko-KR" sz="1600" dirty="0"/>
              <a:t>, </a:t>
            </a:r>
            <a:r>
              <a:rPr lang="ko-KR" altLang="en-US" sz="1600" dirty="0"/>
              <a:t>구조는 단단하고 광택이 나는 흑색이다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연소 시 연기가 거의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불꽃도 적어 </a:t>
            </a:r>
            <a:r>
              <a:rPr lang="en-US" altLang="ko-KR" sz="1600" dirty="0"/>
              <a:t>‘</a:t>
            </a:r>
            <a:r>
              <a:rPr lang="ko-KR" altLang="en-US" sz="1600" dirty="0"/>
              <a:t>청정 석탄</a:t>
            </a:r>
            <a:r>
              <a:rPr lang="en-US" altLang="ko-KR" sz="1600" dirty="0"/>
              <a:t>’</a:t>
            </a:r>
            <a:r>
              <a:rPr lang="ko-KR" altLang="en-US" sz="1600" dirty="0"/>
              <a:t> 이라고 불리기도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무연탄의 발열량은 </a:t>
            </a:r>
            <a:r>
              <a:rPr lang="en-US" altLang="ko-KR" sz="1600" dirty="0"/>
              <a:t>30~35MJ/kg</a:t>
            </a:r>
            <a:r>
              <a:rPr lang="ko-KR" altLang="en-US" sz="1600" dirty="0"/>
              <a:t> 이고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에너지 밀도와 안정된 연소 특성을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특성으로 가정용 연탄이나 산업용 열원으로 사용되는 경우가 많다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주요 생산국으로는 중국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우크라이나 등이 있다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무연탄은 지질학적으로 희소성이 높은 자원이고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 석탄 매장량 중 차지하는 비중은 </a:t>
            </a:r>
            <a:r>
              <a:rPr lang="en-US" altLang="ko-KR" sz="1600" dirty="0"/>
              <a:t>1%</a:t>
            </a:r>
            <a:r>
              <a:rPr lang="ko-KR" altLang="en-US" sz="1600" dirty="0"/>
              <a:t>에 불과하다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대한민국도 한때 무연탄 생산국이었고</a:t>
            </a:r>
            <a:r>
              <a:rPr lang="en-US" altLang="ko-KR" sz="1600" dirty="0"/>
              <a:t>, 20</a:t>
            </a:r>
            <a:r>
              <a:rPr lang="ko-KR" altLang="en-US" sz="1600" dirty="0"/>
              <a:t>세기 중반까지 가정용 난방에 널리 사용된 바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무연탄은 고정 탄소 함량이 높고 불완전 연소가 적어 이산화탄소 및 오염물질 배출이 비교적 적다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중 가장 높은 탄소 함량과 낮은 휘발분을 가져 연소 효율이 높고 오염물질 배출이 상대적으로 적다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전세계 생산량이 제한적이고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채굴 비용이 높아</a:t>
            </a:r>
            <a:r>
              <a:rPr lang="en-US" altLang="ko-KR" sz="1600" dirty="0"/>
              <a:t>, </a:t>
            </a:r>
            <a:r>
              <a:rPr lang="ko-KR" altLang="en-US" sz="1600" dirty="0"/>
              <a:t>가격경쟁력과 안정성 측면에서 한계가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02702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8F1B-5E34-A367-7110-ABB9A9ECC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294C9B-2391-6A16-58AE-051EF8904E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2732C-F866-045D-71C3-7E654065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E2ABE6B-B9BA-E122-0E00-47870415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석탄의 가치사슬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20485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B9A0-832A-1E5B-D29B-FCF36908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34616-C531-CADA-B43F-640D86EB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탐사와 채굴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F9FE50-AB47-084D-83A3-0DD2DCC7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A0E748-BACE-2CD9-89AC-89AB471117D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가치사슬의 주요 단계는 탐사 및 채굴</a:t>
            </a:r>
            <a:r>
              <a:rPr lang="en-US" altLang="ko-KR" sz="1600" dirty="0"/>
              <a:t>, </a:t>
            </a:r>
            <a:r>
              <a:rPr lang="ko-KR" altLang="en-US" sz="1600" dirty="0"/>
              <a:t>처리 및 세정</a:t>
            </a:r>
            <a:r>
              <a:rPr lang="en-US" altLang="ko-KR" sz="1600" dirty="0"/>
              <a:t>, </a:t>
            </a:r>
            <a:r>
              <a:rPr lang="ko-KR" altLang="en-US" sz="1600" dirty="0"/>
              <a:t>수송과 물류</a:t>
            </a:r>
            <a:r>
              <a:rPr lang="en-US" altLang="ko-KR" sz="1600" dirty="0"/>
              <a:t>, </a:t>
            </a:r>
            <a:r>
              <a:rPr lang="ko-KR" altLang="en-US" sz="1600" dirty="0"/>
              <a:t>전환 및 활용</a:t>
            </a:r>
            <a:r>
              <a:rPr lang="en-US" altLang="ko-KR" sz="1600" dirty="0"/>
              <a:t>,</a:t>
            </a:r>
            <a:r>
              <a:rPr lang="ko-KR" altLang="en-US" sz="1600" dirty="0"/>
              <a:t> 그리고 최종판매로 구성된다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탐사와 채굴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첫단계로서</a:t>
            </a:r>
            <a:r>
              <a:rPr lang="ko-KR" altLang="en-US" sz="1600" dirty="0"/>
              <a:t> 지질학적 탐사를 하게 되며</a:t>
            </a:r>
            <a:r>
              <a:rPr lang="en-US" altLang="ko-KR" sz="1600" dirty="0"/>
              <a:t>, </a:t>
            </a:r>
            <a:r>
              <a:rPr lang="ko-KR" altLang="en-US" sz="1600" dirty="0"/>
              <a:t>위성영상</a:t>
            </a:r>
            <a:r>
              <a:rPr lang="en-US" altLang="ko-KR" sz="1600" dirty="0"/>
              <a:t>, </a:t>
            </a:r>
            <a:r>
              <a:rPr lang="ko-KR" altLang="en-US" sz="1600" dirty="0"/>
              <a:t>항공사진 분석</a:t>
            </a:r>
            <a:r>
              <a:rPr lang="en-US" altLang="ko-KR" sz="1600" dirty="0"/>
              <a:t>, </a:t>
            </a:r>
            <a:r>
              <a:rPr lang="ko-KR" altLang="en-US" sz="1600" dirty="0"/>
              <a:t>지표조사</a:t>
            </a:r>
            <a:r>
              <a:rPr lang="en-US" altLang="ko-KR" sz="1600" dirty="0"/>
              <a:t>, </a:t>
            </a:r>
            <a:r>
              <a:rPr lang="ko-KR" altLang="en-US" sz="1600" dirty="0"/>
              <a:t>물리탐사와 같은 예비조사에 이어 시추와 탄질분석을 통해 실제 탄층의 위치</a:t>
            </a:r>
            <a:r>
              <a:rPr lang="en-US" altLang="ko-KR" sz="1600" dirty="0"/>
              <a:t>, </a:t>
            </a:r>
            <a:r>
              <a:rPr lang="ko-KR" altLang="en-US" sz="1600" dirty="0"/>
              <a:t>두께</a:t>
            </a:r>
            <a:r>
              <a:rPr lang="en-US" altLang="ko-KR" sz="1600" dirty="0"/>
              <a:t>, </a:t>
            </a:r>
            <a:r>
              <a:rPr lang="ko-KR" altLang="en-US" sz="1600" dirty="0"/>
              <a:t>품질 및 연속성을 파악한다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석탄층이 확인되고 경제성이 확보되면 본격적인 채굴 단계로 들어간다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채굴 방식은 탄층의 깊이</a:t>
            </a:r>
            <a:r>
              <a:rPr lang="en-US" altLang="ko-KR" sz="1600" dirty="0"/>
              <a:t>, </a:t>
            </a:r>
            <a:r>
              <a:rPr lang="ko-KR" altLang="en-US" sz="1600" dirty="0"/>
              <a:t>두께</a:t>
            </a:r>
            <a:r>
              <a:rPr lang="en-US" altLang="ko-KR" sz="1600" dirty="0"/>
              <a:t>, </a:t>
            </a:r>
            <a:r>
              <a:rPr lang="ko-KR" altLang="en-US" sz="1600" dirty="0"/>
              <a:t>경사도</a:t>
            </a:r>
            <a:r>
              <a:rPr lang="en-US" altLang="ko-KR" sz="1600" dirty="0"/>
              <a:t>, </a:t>
            </a:r>
            <a:r>
              <a:rPr lang="ko-KR" altLang="en-US" sz="1600" dirty="0"/>
              <a:t>피복층의 조건</a:t>
            </a:r>
            <a:r>
              <a:rPr lang="en-US" altLang="ko-KR" sz="1600" dirty="0"/>
              <a:t>,</a:t>
            </a:r>
            <a:r>
              <a:rPr lang="ko-KR" altLang="en-US" sz="1600" dirty="0"/>
              <a:t> 지형 및 환경 규제 등 다양한 요인에 의해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노천채굴은 지표면에서 가까운 얕은 탄층을 대상으로 하며</a:t>
            </a:r>
            <a:r>
              <a:rPr lang="en-US" altLang="ko-KR" sz="1600" dirty="0"/>
              <a:t>, </a:t>
            </a:r>
            <a:r>
              <a:rPr lang="ko-KR" altLang="en-US" sz="1600" dirty="0"/>
              <a:t>광범위한 기계화가 가능하고 단위 생산비용이 낮다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 서부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 등 광활한 토지가 확보된 지역에서 널리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지하채굴은 탄층이 깊거나 지형적 제약이 있는 지역에서 선택된다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갱도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경사갱을</a:t>
            </a:r>
            <a:r>
              <a:rPr lang="ko-KR" altLang="en-US" sz="1600" dirty="0"/>
              <a:t> 통해 진입하고</a:t>
            </a:r>
            <a:r>
              <a:rPr lang="en-US" altLang="ko-KR" sz="1600" dirty="0"/>
              <a:t>, </a:t>
            </a:r>
            <a:r>
              <a:rPr lang="ko-KR" altLang="en-US" sz="1600" dirty="0"/>
              <a:t>채굴한 석탄을 컨베이어나 승강 시스템으로 지표면으로 운반한다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지하채굴은 상대적으로 고비용 구조이며</a:t>
            </a:r>
            <a:r>
              <a:rPr lang="en-US" altLang="ko-KR" sz="1600" dirty="0"/>
              <a:t>, </a:t>
            </a:r>
            <a:r>
              <a:rPr lang="ko-KR" altLang="en-US" sz="1600" dirty="0"/>
              <a:t>환기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붕괴 방지용 </a:t>
            </a:r>
            <a:r>
              <a:rPr lang="ko-KR" altLang="en-US" sz="1600" dirty="0" err="1"/>
              <a:t>지보공</a:t>
            </a:r>
            <a:r>
              <a:rPr lang="en-US" altLang="ko-KR" sz="1600" dirty="0"/>
              <a:t>, </a:t>
            </a:r>
            <a:r>
              <a:rPr lang="ko-KR" altLang="en-US" sz="1600" dirty="0"/>
              <a:t>채굴 후 복원 계획 등 안전 및 환경 요소에 대한 고려가 복잡하다</a:t>
            </a:r>
            <a:r>
              <a:rPr lang="en-US" altLang="ko-KR" sz="160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채굴된 석탄은 이물질 제거</a:t>
            </a:r>
            <a:r>
              <a:rPr lang="en-US" altLang="ko-KR" sz="1600" dirty="0"/>
              <a:t>, </a:t>
            </a:r>
            <a:r>
              <a:rPr lang="ko-KR" altLang="en-US" sz="1600" dirty="0"/>
              <a:t>크기 분류</a:t>
            </a:r>
            <a:r>
              <a:rPr lang="en-US" altLang="ko-KR" sz="1600" dirty="0"/>
              <a:t>, </a:t>
            </a:r>
            <a:r>
              <a:rPr lang="ko-KR" altLang="en-US" sz="1600" dirty="0"/>
              <a:t>수분 조절 등을 위한 세정 및 </a:t>
            </a:r>
            <a:r>
              <a:rPr lang="ko-KR" altLang="en-US" sz="1600" dirty="0" err="1"/>
              <a:t>전처리</a:t>
            </a:r>
            <a:r>
              <a:rPr lang="ko-KR" altLang="en-US" sz="1600" dirty="0"/>
              <a:t> 단계를 거쳐 다음 단계로 이동한다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3504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FC8F-C710-0528-FA35-08C6B3E3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7979C-6193-145D-A99C-4F9B4CB0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처리 및 세정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92672E-ADC6-D6DF-6DA2-D611CA5F8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17C9A-4943-9580-2FF5-E19865F4DBC9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채굴된 원석탄은 토사</a:t>
            </a:r>
            <a:r>
              <a:rPr lang="en-US" altLang="ko-KR" sz="1600" dirty="0"/>
              <a:t>, </a:t>
            </a:r>
            <a:r>
              <a:rPr lang="ko-KR" altLang="en-US" sz="1600" dirty="0"/>
              <a:t>바위</a:t>
            </a:r>
            <a:r>
              <a:rPr lang="en-US" altLang="ko-KR" sz="1600" dirty="0"/>
              <a:t>, </a:t>
            </a:r>
            <a:r>
              <a:rPr lang="ko-KR" altLang="en-US" sz="1600" dirty="0"/>
              <a:t>점토</a:t>
            </a:r>
            <a:r>
              <a:rPr lang="en-US" altLang="ko-KR" sz="1600" dirty="0"/>
              <a:t>, </a:t>
            </a:r>
            <a:r>
              <a:rPr lang="ko-KR" altLang="en-US" sz="1600" dirty="0"/>
              <a:t>황 화합물 등 다양한 불순물을 포함하고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불순물은 석탄의 연소 효율을 저하시키고 대기오염을 유발하는 주요 원인이 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품질을 향상시키고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영향을 줄이기 위해서는 석탄세정 혹은 석탄준비라고 하는 정제 과정을 거쳐야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세정은 물리적 방법을 통해 수행되며</a:t>
            </a:r>
            <a:r>
              <a:rPr lang="en-US" altLang="ko-KR" sz="1600" dirty="0"/>
              <a:t>, </a:t>
            </a:r>
            <a:r>
              <a:rPr lang="ko-KR" altLang="en-US" sz="1600" dirty="0"/>
              <a:t>석탄과 불순물 간의 밀도 차이를 활용하여 분리하는 방식이다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대표적인 방법으로는 중력 분리</a:t>
            </a:r>
            <a:r>
              <a:rPr lang="en-US" altLang="ko-KR" sz="1600" dirty="0"/>
              <a:t>, </a:t>
            </a:r>
            <a:r>
              <a:rPr lang="ko-KR" altLang="en-US" sz="1600" dirty="0"/>
              <a:t>사이클론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플로테이션</a:t>
            </a:r>
            <a:r>
              <a:rPr lang="ko-KR" altLang="en-US" sz="1600" dirty="0"/>
              <a:t> 공정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기계적 처리는 석탄을 일정한 크기로 분쇄하고</a:t>
            </a:r>
            <a:r>
              <a:rPr lang="en-US" altLang="ko-KR" sz="1600" dirty="0"/>
              <a:t>, </a:t>
            </a:r>
            <a:r>
              <a:rPr lang="ko-KR" altLang="en-US" sz="1600" dirty="0"/>
              <a:t>크기별로 선별하는 과정을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</a:t>
            </a:r>
            <a:r>
              <a:rPr lang="ko-KR" altLang="en-US" sz="1600" dirty="0" err="1"/>
              <a:t>고황함유</a:t>
            </a:r>
            <a:r>
              <a:rPr lang="ko-KR" altLang="en-US" sz="1600" dirty="0"/>
              <a:t> 석탄의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화학적 처리를 통해 황을 제거하거나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 배출을 줄이기 위한 사전 조치가 이루어지기도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세정 과정을 통해 석탄의 발열량은 증가하고</a:t>
            </a:r>
            <a:r>
              <a:rPr lang="en-US" altLang="ko-KR" sz="1600" dirty="0"/>
              <a:t>, </a:t>
            </a:r>
            <a:r>
              <a:rPr lang="ko-KR" altLang="en-US" sz="1600" dirty="0"/>
              <a:t>회분 및 황 함량은 감소함으로써 연소 과정에서 발생하는 이산화황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미세먼지등의</a:t>
            </a:r>
            <a:r>
              <a:rPr lang="ko-KR" altLang="en-US" sz="1600" dirty="0"/>
              <a:t> 오염물질 배출량을 줄일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세정이 완료된 석탄은 일반적으로 입자 크기별로 분류되고</a:t>
            </a:r>
            <a:r>
              <a:rPr lang="en-US" altLang="ko-KR" sz="1600" dirty="0"/>
              <a:t>, </a:t>
            </a:r>
            <a:r>
              <a:rPr lang="ko-KR" altLang="en-US" sz="1600" dirty="0"/>
              <a:t>용도별로 </a:t>
            </a:r>
            <a:r>
              <a:rPr lang="ko-KR" altLang="en-US" sz="1600" dirty="0" err="1"/>
              <a:t>등급화된다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입자가 큰 석탄은 코크스용</a:t>
            </a:r>
            <a:r>
              <a:rPr lang="en-US" altLang="ko-KR" sz="1600" dirty="0"/>
              <a:t>, </a:t>
            </a:r>
            <a:r>
              <a:rPr lang="ko-KR" altLang="en-US" sz="1600" dirty="0"/>
              <a:t>중간입자는 전력 발전용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세립탄은</a:t>
            </a:r>
            <a:r>
              <a:rPr lang="ko-KR" altLang="en-US" sz="1600" dirty="0"/>
              <a:t> 산업용 보일러 또는 가정용 난방으로 공급된다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1140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A5D0F-52DC-8C17-278B-C01AC619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9B247A-38BC-1D04-0C2D-8831F1C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수송과 물류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298B12-3289-7642-E92D-690AC3CF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4A95C-65F7-1045-09EC-8B11A1978CED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석탄은 고체 연료로서 단위 부피당 에너지 밀도가 낮고 무게가 무거우며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일반적으로 생산지와 소비지가 지리적으로 멀기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수송비용이 전체 공급비용에서 차지하는 비중이 높다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수송에는 다양한 운송 수단이 활용되고</a:t>
            </a:r>
            <a:r>
              <a:rPr lang="en-US" altLang="ko-KR" sz="1600" dirty="0"/>
              <a:t>, </a:t>
            </a:r>
            <a:r>
              <a:rPr lang="ko-KR" altLang="en-US" sz="1600" dirty="0"/>
              <a:t>거리</a:t>
            </a:r>
            <a:r>
              <a:rPr lang="en-US" altLang="ko-KR" sz="1600" dirty="0"/>
              <a:t>, </a:t>
            </a:r>
            <a:r>
              <a:rPr lang="ko-KR" altLang="en-US" sz="1600" dirty="0"/>
              <a:t>지형 물류</a:t>
            </a:r>
            <a:r>
              <a:rPr lang="en-US" altLang="ko-KR" sz="1600" dirty="0"/>
              <a:t> </a:t>
            </a:r>
            <a:r>
              <a:rPr lang="ko-KR" altLang="en-US" sz="1600" dirty="0"/>
              <a:t>인프라</a:t>
            </a:r>
            <a:r>
              <a:rPr lang="en-US" altLang="ko-KR" sz="1600" dirty="0"/>
              <a:t> </a:t>
            </a:r>
            <a:r>
              <a:rPr lang="ko-KR" altLang="en-US" sz="1600" dirty="0"/>
              <a:t>등에 따라 선택이 달라진다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방식으로 철도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벨트컨베이어</a:t>
            </a:r>
            <a:r>
              <a:rPr lang="en-US" altLang="ko-KR" sz="1600" dirty="0"/>
              <a:t>, </a:t>
            </a:r>
            <a:r>
              <a:rPr lang="ko-KR" altLang="en-US" sz="1600" dirty="0"/>
              <a:t>트럭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내륙수운</a:t>
            </a:r>
            <a:r>
              <a:rPr lang="en-US" altLang="ko-KR" sz="1600" dirty="0"/>
              <a:t>, </a:t>
            </a:r>
            <a:r>
              <a:rPr lang="ko-KR" altLang="en-US" sz="1600" dirty="0"/>
              <a:t>해상운송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단거리 이송에는 트럭이나 컨베이어 벨트</a:t>
            </a:r>
            <a:r>
              <a:rPr lang="en-US" altLang="ko-KR" sz="1600" dirty="0"/>
              <a:t>, </a:t>
            </a:r>
            <a:r>
              <a:rPr lang="ko-KR" altLang="en-US" sz="1600" dirty="0"/>
              <a:t>장거리 이송에는 철도와 해상 수송이 일반적이다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미국의 경우 철도 운송이 전체 석탄 수송의 </a:t>
            </a:r>
            <a:r>
              <a:rPr lang="en-US" altLang="ko-KR" sz="1600" dirty="0"/>
              <a:t>70% </a:t>
            </a:r>
            <a:r>
              <a:rPr lang="ko-KR" altLang="en-US" sz="1600" dirty="0"/>
              <a:t>이상을 차지하며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파우더리버</a:t>
            </a:r>
            <a:r>
              <a:rPr lang="ko-KR" altLang="en-US" sz="1600" dirty="0"/>
              <a:t> 분지에서 대형 발전소까지 장거리 이송을 위한 철도망이 정교하게 구축되어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인도네시아나 호주는 해상 수출을 위한 대형 항만시설과 연결된 물류 인프라가 중심이며</a:t>
            </a:r>
            <a:r>
              <a:rPr lang="en-US" altLang="ko-KR" sz="1600" dirty="0"/>
              <a:t>, </a:t>
            </a:r>
            <a:r>
              <a:rPr lang="ko-KR" altLang="en-US" sz="1600" dirty="0"/>
              <a:t>광산에서 항만까지의 연결성을 최적화하는데 초점을 둔다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수송단계에서는 경제성뿐 아니라 연료의 품질 유지가 중요한 고려사항이다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석탄은 수송 중 분진 발생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열손실</a:t>
            </a:r>
            <a:r>
              <a:rPr lang="en-US" altLang="ko-KR" sz="1600" dirty="0"/>
              <a:t>, </a:t>
            </a:r>
            <a:r>
              <a:rPr lang="ko-KR" altLang="en-US" sz="1600" dirty="0"/>
              <a:t>습기 흡수로 인해 발열량이 저하 될 수 있고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자발연</a:t>
            </a:r>
            <a:r>
              <a:rPr lang="ko-KR" altLang="en-US" sz="1600" dirty="0"/>
              <a:t> 위험도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손실을 방지하기 위해 적재</a:t>
            </a:r>
            <a:r>
              <a:rPr lang="en-US" altLang="ko-KR" sz="1600" dirty="0"/>
              <a:t>·</a:t>
            </a:r>
            <a:r>
              <a:rPr lang="ko-KR" altLang="en-US" sz="1600" dirty="0"/>
              <a:t>피복</a:t>
            </a:r>
            <a:r>
              <a:rPr lang="en-US" altLang="ko-KR" sz="1600" dirty="0"/>
              <a:t>·</a:t>
            </a:r>
            <a:r>
              <a:rPr lang="ko-KR" altLang="en-US" sz="1600" dirty="0"/>
              <a:t>환기 전략이 병행되어야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2072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6D5A-2A2F-B81C-F7CB-15757CF8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B01AC-0FB1-91A1-DD98-B130DBE1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전환과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81637A-55E1-2C77-342B-325307B4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4664C-9B64-CEBB-17CA-5BE8D94E653C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전환과 활용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주요 활용처는 전력 생산과 철강 산업으로</a:t>
            </a:r>
            <a:r>
              <a:rPr lang="en-US" altLang="ko-KR" sz="1600" dirty="0"/>
              <a:t>, </a:t>
            </a:r>
            <a:r>
              <a:rPr lang="ko-KR" altLang="en-US" sz="1600" dirty="0"/>
              <a:t>이 두 부문이 전체 석탄 수요의 대부분을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전력부문에서는 석탄이 연소 과정을 통해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고압의 증기를 생성하고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증기로 증기터빈을 회전시켜 전기를 생산하는 방식이 일반적이다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이를 석탄화력 발전이라고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인도네시아와 같은 개발도상국에서는 석탄 발전이 여전히 전력 공급의 주축을 이루고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안보와 경제성 측면에서 중요한 위치를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철강산업에서는 필수적인 에너지원이자 환원제로 사용된다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역청탄은 </a:t>
            </a:r>
            <a:r>
              <a:rPr lang="ko-KR" altLang="en-US" sz="1600" dirty="0" err="1"/>
              <a:t>코킹</a:t>
            </a:r>
            <a:r>
              <a:rPr lang="ko-KR" altLang="en-US" sz="1600" dirty="0"/>
              <a:t> 과정을 거쳐 코크스로 전환되며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용광로에서 철광석을 환원시켜 쇳물을 생산하는 데 핵심적인 역할을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코크스는 단순한 열원 이상의 역할을 하며</a:t>
            </a:r>
            <a:r>
              <a:rPr lang="en-US" altLang="ko-KR" sz="1600" dirty="0"/>
              <a:t>, </a:t>
            </a:r>
            <a:r>
              <a:rPr lang="ko-KR" altLang="en-US" sz="1600" dirty="0"/>
              <a:t>고온 유지</a:t>
            </a:r>
            <a:r>
              <a:rPr lang="en-US" altLang="ko-KR" sz="1600" dirty="0"/>
              <a:t>, </a:t>
            </a:r>
            <a:r>
              <a:rPr lang="ko-KR" altLang="en-US" sz="1600" dirty="0"/>
              <a:t>가스 투과성 확보</a:t>
            </a:r>
            <a:r>
              <a:rPr lang="en-US" altLang="ko-KR" sz="1600" dirty="0"/>
              <a:t>, </a:t>
            </a:r>
            <a:r>
              <a:rPr lang="ko-KR" altLang="en-US" sz="1600" dirty="0"/>
              <a:t>환원 반응 유도 등 다기능성 물질로 활용된다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용광로 기반 제철공정에서는 고품질 코크스 공급이 생산성과 직결된다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5564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15ED4-EF61-75B1-069E-AA99B1BD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FE562-92A3-95D4-03DE-AD56DA19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전환과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E4C45-DC1F-C6A8-50C7-CBCF98BB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B0206-CB69-CFCF-A12B-DB0EAAE63989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 외에도  석탄은 가스화 및 액화 등의 전환 기술을 통해 합성가스</a:t>
            </a:r>
            <a:r>
              <a:rPr lang="en-US" altLang="ko-KR" sz="1600" dirty="0"/>
              <a:t>, </a:t>
            </a:r>
            <a:r>
              <a:rPr lang="ko-KR" altLang="en-US" sz="1600" dirty="0"/>
              <a:t>화학제품</a:t>
            </a:r>
            <a:r>
              <a:rPr lang="en-US" altLang="ko-KR" sz="1600" dirty="0"/>
              <a:t>, </a:t>
            </a:r>
            <a:r>
              <a:rPr lang="ko-KR" altLang="en-US" sz="1600" dirty="0"/>
              <a:t>액체연료 등으로도 활용될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석탄가스화는 산소와 수증기 하에서 석탄을 불완전 연소시켜 일산화탄소와 수소를 생성하는 과정이다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 합성가스는 발전</a:t>
            </a:r>
            <a:r>
              <a:rPr lang="en-US" altLang="ko-KR" sz="1600" dirty="0"/>
              <a:t>, </a:t>
            </a:r>
            <a:r>
              <a:rPr lang="ko-KR" altLang="en-US" sz="1600" dirty="0"/>
              <a:t>수소 생산</a:t>
            </a:r>
            <a:r>
              <a:rPr lang="en-US" altLang="ko-KR" sz="1600" dirty="0"/>
              <a:t>, </a:t>
            </a:r>
            <a:r>
              <a:rPr lang="ko-KR" altLang="en-US" sz="1600" dirty="0"/>
              <a:t>화학 원료 등 다양한 용도로 사용될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석탄액화는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 조건에서 석탄을 직접 또는 간접적으로 액체연료로 전환하는 기술이다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액체연료 수입 의존도가 높은 국가에서 에너지 안보 수단으로 활용될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이러한 석탄의 전환기술은 고비용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복잡성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소비량이 크며</a:t>
            </a:r>
            <a:r>
              <a:rPr lang="en-US" altLang="ko-KR" sz="1600" dirty="0"/>
              <a:t>, </a:t>
            </a:r>
            <a:r>
              <a:rPr lang="ko-KR" altLang="en-US" sz="1600" dirty="0"/>
              <a:t>무엇보다도 이산화탄소 배출</a:t>
            </a:r>
            <a:r>
              <a:rPr lang="en-US" altLang="ko-KR" sz="1600" dirty="0"/>
              <a:t>, </a:t>
            </a:r>
            <a:r>
              <a:rPr lang="ko-KR" altLang="en-US" sz="1600" dirty="0"/>
              <a:t>폐수 및 고형폐기물 발생 등의 환경문제로 상업적 활용이 제한적이다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기후변화 대응이 국제적 의무로 자리잡은 이후에는 석탄 전환 기술의 상용화는 </a:t>
            </a:r>
            <a:r>
              <a:rPr lang="ko-KR" altLang="en-US" sz="1600" dirty="0" err="1"/>
              <a:t>탄소포집</a:t>
            </a:r>
            <a:r>
              <a:rPr lang="en-US" altLang="ko-KR" sz="1600" dirty="0"/>
              <a:t>·</a:t>
            </a:r>
            <a:r>
              <a:rPr lang="ko-KR" altLang="en-US" sz="1600" dirty="0"/>
              <a:t>저장 기술과의 연계 없이는 확장되기 어려운 상황이다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5372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516A-30EF-5EE6-8D04-32415C32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6295E-9343-4F74-2074-0CFD49D1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판매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EC1FA6-7CD5-422D-1E44-D1D5E821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CDB8E2-9DF9-B62E-BE95-B32FC336171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주요 구매자는 화력발전소</a:t>
            </a:r>
            <a:r>
              <a:rPr lang="en-US" altLang="ko-KR" sz="1600" dirty="0"/>
              <a:t>, </a:t>
            </a:r>
            <a:r>
              <a:rPr lang="ko-KR" altLang="en-US" sz="1600" dirty="0"/>
              <a:t>제철소</a:t>
            </a:r>
            <a:r>
              <a:rPr lang="en-US" altLang="ko-KR" sz="1600" dirty="0"/>
              <a:t>, </a:t>
            </a:r>
            <a:r>
              <a:rPr lang="ko-KR" altLang="en-US" sz="1600" dirty="0"/>
              <a:t>시멘트 공장</a:t>
            </a:r>
            <a:r>
              <a:rPr lang="en-US" altLang="ko-KR" sz="1600" dirty="0"/>
              <a:t>, </a:t>
            </a:r>
            <a:r>
              <a:rPr lang="ko-KR" altLang="en-US" sz="1600" dirty="0"/>
              <a:t>산업용 보일러 시설 등으로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판매는 일반적으로 직접 계약 또는 중개인을 통한 상업 거래 방식으로 이루어진다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거래는 일정 물량을 장기간에 걸쳐 공급하는 장기계약 형태로 체결되기도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가격 변동에 따라 수시로 조정되는 단기 현물거래를 병행하는 경우도 많다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단기거래는 국제 시황에 민감하게 반응하며</a:t>
            </a:r>
            <a:r>
              <a:rPr lang="en-US" altLang="ko-KR" sz="1600" dirty="0"/>
              <a:t>, </a:t>
            </a:r>
            <a:r>
              <a:rPr lang="ko-KR" altLang="en-US" sz="1600" dirty="0"/>
              <a:t>계절 수요</a:t>
            </a:r>
            <a:r>
              <a:rPr lang="en-US" altLang="ko-KR" sz="1600" dirty="0"/>
              <a:t>, </a:t>
            </a:r>
            <a:r>
              <a:rPr lang="ko-KR" altLang="en-US" sz="1600" dirty="0"/>
              <a:t>해상물류 상황</a:t>
            </a:r>
            <a:r>
              <a:rPr lang="en-US" altLang="ko-KR" sz="1600" dirty="0"/>
              <a:t>, </a:t>
            </a:r>
            <a:r>
              <a:rPr lang="ko-KR" altLang="en-US" sz="1600" dirty="0"/>
              <a:t>환율 등에 영향을 받는다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가격은 여러 요인에 영향을 반영하여 결정되는데</a:t>
            </a:r>
            <a:r>
              <a:rPr lang="en-US" altLang="ko-KR" sz="1600" dirty="0"/>
              <a:t>, </a:t>
            </a:r>
            <a:r>
              <a:rPr lang="ko-KR" altLang="en-US" sz="1600" dirty="0"/>
              <a:t>가장 중요한 기준은 석탄의 발열량이다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발열량이 높을수록 더 높은 가격을 형성하지만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황과 회분 함량</a:t>
            </a:r>
            <a:r>
              <a:rPr lang="en-US" altLang="ko-KR" sz="1600" dirty="0"/>
              <a:t>, </a:t>
            </a:r>
            <a:r>
              <a:rPr lang="ko-KR" altLang="en-US" sz="1600" dirty="0"/>
              <a:t>수분 함량</a:t>
            </a:r>
            <a:r>
              <a:rPr lang="en-US" altLang="ko-KR" sz="1600" dirty="0"/>
              <a:t>, </a:t>
            </a:r>
            <a:r>
              <a:rPr lang="ko-KR" altLang="en-US" sz="1600" dirty="0"/>
              <a:t>입자 크기와 </a:t>
            </a:r>
            <a:r>
              <a:rPr lang="ko-KR" altLang="en-US" sz="1600" dirty="0" err="1"/>
              <a:t>균일성</a:t>
            </a:r>
            <a:r>
              <a:rPr lang="ko-KR" altLang="en-US" sz="1600" dirty="0"/>
              <a:t> 등도 중요한 가격 결정 변수로 작용한다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예컨대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고황</a:t>
            </a:r>
            <a:r>
              <a:rPr lang="ko-KR" altLang="en-US" sz="1600" dirty="0"/>
              <a:t> 석탄은 연소 시 이산화황 배출이 많아 환경규제 대응 비용이 크기 때문에 시장에서 할인되어 거래되며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</a:t>
            </a:r>
            <a:r>
              <a:rPr lang="ko-KR" altLang="en-US" sz="1600" dirty="0" err="1"/>
              <a:t>저황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고발열</a:t>
            </a:r>
            <a:r>
              <a:rPr lang="ko-KR" altLang="en-US" sz="1600" dirty="0"/>
              <a:t> 석탄은 상대적으로 프리미엄이 붙는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수송 거리와 방식 또한 중요한 변수로</a:t>
            </a:r>
            <a:r>
              <a:rPr lang="en-US" altLang="ko-KR" sz="1600" dirty="0"/>
              <a:t>, FOB(Free On Board</a:t>
            </a:r>
            <a:r>
              <a:rPr lang="ko-KR" altLang="en-US" sz="1600" dirty="0"/>
              <a:t>본선 인도</a:t>
            </a:r>
            <a:r>
              <a:rPr lang="en-US" altLang="ko-KR" sz="1600" dirty="0"/>
              <a:t>) </a:t>
            </a:r>
            <a:r>
              <a:rPr lang="ko-KR" altLang="en-US" sz="1600" dirty="0"/>
              <a:t>조건에서는 운송 비용은 구매자가 부담하고</a:t>
            </a:r>
            <a:r>
              <a:rPr lang="en-US" altLang="ko-KR" sz="1600" dirty="0"/>
              <a:t>, CIF(Cost, Insurance, Freight) </a:t>
            </a:r>
            <a:r>
              <a:rPr lang="ko-KR" altLang="en-US" sz="1600" dirty="0"/>
              <a:t>조건에서는 판매자가 물류 부담을 지게 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단순한 가격 협상 외에도 품질 보증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규격 인증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환경규제 대응 등 다양한 기술적</a:t>
            </a:r>
            <a:r>
              <a:rPr lang="en-US" altLang="ko-KR" sz="1600" spc="-100" dirty="0"/>
              <a:t>·</a:t>
            </a:r>
            <a:r>
              <a:rPr lang="ko-KR" altLang="en-US" sz="1600" spc="-100" dirty="0"/>
              <a:t>행정적 요소가 함께 고려되어야 한다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최근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석탄 구매자는 공급자의 </a:t>
            </a:r>
            <a:r>
              <a:rPr lang="en-US" altLang="ko-KR" sz="1600" spc="-100" dirty="0"/>
              <a:t>ESG</a:t>
            </a:r>
            <a:r>
              <a:rPr lang="ko-KR" altLang="en-US" sz="1600" spc="-100" dirty="0"/>
              <a:t>기준 충족 수준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지역사회 영향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탄소배출 정보 등 다양한 측면을 요구하고 있다</a:t>
            </a:r>
            <a:r>
              <a:rPr lang="en-US" altLang="ko-KR" sz="1600" spc="-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5294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6F5A-83E8-8B18-800C-F4D061E3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1E638-DB99-5028-2B0D-15C4F8986A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3DE9FF-AC43-300C-CC7B-2A47533D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A6F38EE-3A32-8A8E-3C54-16E9A1AF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석탄생산기술과 비용구조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112273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780C-07E7-8AFA-6E5A-EE38FCB5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56505-7DA7-1B5B-0116-4BE07872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석탄생산기술과 비용구조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15216-1E75-EA94-EC10-9AE7E7F4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88BA9C-8451-C4CA-8C51-C302F29D516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생산기술과 비용구조는 채굴방식</a:t>
            </a:r>
            <a:r>
              <a:rPr lang="en-US" altLang="ko-KR" sz="1600" dirty="0"/>
              <a:t>, </a:t>
            </a:r>
            <a:r>
              <a:rPr lang="ko-KR" altLang="en-US" sz="1600" dirty="0"/>
              <a:t>광상 깊이</a:t>
            </a:r>
            <a:r>
              <a:rPr lang="en-US" altLang="ko-KR" sz="1600" dirty="0"/>
              <a:t>, </a:t>
            </a:r>
            <a:r>
              <a:rPr lang="ko-KR" altLang="en-US" sz="1600" dirty="0"/>
              <a:t>지질조건</a:t>
            </a:r>
            <a:r>
              <a:rPr lang="en-US" altLang="ko-KR" sz="1600" dirty="0"/>
              <a:t>,</a:t>
            </a:r>
            <a:r>
              <a:rPr lang="ko-KR" altLang="en-US" sz="1600" dirty="0"/>
              <a:t> 기술수준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및 노동비용</a:t>
            </a:r>
            <a:r>
              <a:rPr lang="en-US" altLang="ko-KR" sz="1600" dirty="0"/>
              <a:t>, </a:t>
            </a:r>
            <a:r>
              <a:rPr lang="ko-KR" altLang="en-US" sz="1600" dirty="0"/>
              <a:t>환경규제 등 다양한 요인에 의해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요인들은 생산지의 지역적 특성과 산업발전 수준에 따라 다르게 작용하고</a:t>
            </a:r>
            <a:r>
              <a:rPr lang="en-US" altLang="ko-KR" sz="1600" dirty="0"/>
              <a:t>, </a:t>
            </a:r>
            <a:r>
              <a:rPr lang="ko-KR" altLang="en-US" sz="1600" dirty="0"/>
              <a:t>결과적으로 단위당 생산비용에 상당한 이질성을 초래한다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 방식으로 노천채굴과 지하채굴로 구분하였었다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노천채굴은 지표면 가까이에 석탄이 위치하므로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대형 기계장비를 활용하여 자동화가 가능해 상대적으로 단위 생산비용이 낮다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자동화 및 기계화 수준은 비용구조에 결정적인데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드론</a:t>
            </a:r>
            <a:r>
              <a:rPr lang="ko-KR" altLang="en-US" sz="1600" dirty="0"/>
              <a:t> 기반 측량</a:t>
            </a:r>
            <a:r>
              <a:rPr lang="en-US" altLang="ko-KR" sz="1600" dirty="0"/>
              <a:t>, </a:t>
            </a:r>
            <a:r>
              <a:rPr lang="ko-KR" altLang="en-US" sz="1600" dirty="0"/>
              <a:t>자율주행 운반차량이 </a:t>
            </a:r>
            <a:r>
              <a:rPr lang="ko-KR" altLang="en-US" sz="1600" dirty="0" err="1"/>
              <a:t>도입된는</a:t>
            </a:r>
            <a:r>
              <a:rPr lang="ko-KR" altLang="en-US" sz="1600" dirty="0"/>
              <a:t> 경우가 대표적인 예이다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미국이나 호주의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톤당 생산비용이 </a:t>
            </a:r>
            <a:r>
              <a:rPr lang="en-US" altLang="ko-KR" sz="1600" dirty="0"/>
              <a:t>20~30</a:t>
            </a:r>
            <a:r>
              <a:rPr lang="ko-KR" altLang="en-US" sz="1600" dirty="0"/>
              <a:t>달러 수준이다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지하채굴은 깊은 지층의 석탄을 채굴하기 위해 복잡한 환기</a:t>
            </a:r>
            <a:r>
              <a:rPr lang="en-US" altLang="ko-KR" sz="1600" dirty="0"/>
              <a:t>, </a:t>
            </a:r>
            <a:r>
              <a:rPr lang="ko-KR" altLang="en-US" sz="1600" dirty="0"/>
              <a:t>안전</a:t>
            </a:r>
            <a:r>
              <a:rPr lang="en-US" altLang="ko-KR" sz="1600" dirty="0"/>
              <a:t>, </a:t>
            </a:r>
            <a:r>
              <a:rPr lang="ko-KR" altLang="en-US" sz="1600" dirty="0"/>
              <a:t>배수 설비를 설치해야 하므로 인건비 및 설비비용이 크게 증가한다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인도나 중국의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톤당 </a:t>
            </a:r>
            <a:r>
              <a:rPr lang="en-US" altLang="ko-KR" sz="1600" dirty="0"/>
              <a:t>60~80</a:t>
            </a:r>
            <a:r>
              <a:rPr lang="ko-KR" altLang="en-US" sz="1600" dirty="0"/>
              <a:t>달러 이상으로 상승하는 경향이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8808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DCBDD-5587-12CF-E54C-A14A43C8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FB91A-1244-D544-66DF-0030741D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석탄생산기술과 비용구조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C320F-DFBA-0194-31D1-CF8CB945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5BF6A-ABA1-EDAD-F4D5-223867D7695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생산기술과 비용구조는 채굴방식</a:t>
            </a:r>
            <a:r>
              <a:rPr lang="en-US" altLang="ko-KR" sz="1600" dirty="0"/>
              <a:t>, </a:t>
            </a:r>
            <a:r>
              <a:rPr lang="ko-KR" altLang="en-US" sz="1600" dirty="0"/>
              <a:t>광상 깊이</a:t>
            </a:r>
            <a:r>
              <a:rPr lang="en-US" altLang="ko-KR" sz="1600" dirty="0"/>
              <a:t>, </a:t>
            </a:r>
            <a:r>
              <a:rPr lang="ko-KR" altLang="en-US" sz="1600" dirty="0"/>
              <a:t>지질조건</a:t>
            </a:r>
            <a:r>
              <a:rPr lang="en-US" altLang="ko-KR" sz="1600" dirty="0"/>
              <a:t>,</a:t>
            </a:r>
            <a:r>
              <a:rPr lang="ko-KR" altLang="en-US" sz="1600" dirty="0"/>
              <a:t> 기술수준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및 노동비용</a:t>
            </a:r>
            <a:r>
              <a:rPr lang="en-US" altLang="ko-KR" sz="1600" dirty="0"/>
              <a:t>, </a:t>
            </a:r>
            <a:r>
              <a:rPr lang="ko-KR" altLang="en-US" sz="1600" dirty="0"/>
              <a:t>환경규제 등 다양한 요인에 의해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요인들은 생산지의 지역적 특성과 산업발전 수준에 따라 다르게 작용하고</a:t>
            </a:r>
            <a:r>
              <a:rPr lang="en-US" altLang="ko-KR" sz="1600" dirty="0"/>
              <a:t>, </a:t>
            </a:r>
            <a:r>
              <a:rPr lang="ko-KR" altLang="en-US" sz="1600" dirty="0"/>
              <a:t>결과적으로 단위당 생산비용에 상당한 이질성을 초래한다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채굴방식에 따라 비용구조가 크게 다른데</a:t>
            </a:r>
            <a:r>
              <a:rPr lang="en-US" altLang="ko-KR" sz="1600" dirty="0"/>
              <a:t>, </a:t>
            </a:r>
            <a:r>
              <a:rPr lang="ko-KR" altLang="en-US" sz="1600" dirty="0"/>
              <a:t>석탄 채굴 방식으로 노천채굴과 지하채굴로 구분하였었다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노천채굴은 지표면 가까이에 석탄이 위치하므로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대형 기계장비를 활용하여 자동화가 가능해 상대적으로 단위 생산비용이 낮다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미국이나 호주의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톤당 생산비용이 </a:t>
            </a:r>
            <a:r>
              <a:rPr lang="en-US" altLang="ko-KR" sz="1600" dirty="0"/>
              <a:t>20~30</a:t>
            </a:r>
            <a:r>
              <a:rPr lang="ko-KR" altLang="en-US" sz="1600" dirty="0"/>
              <a:t>달러 수준이다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지하채굴은 깊은 지층의 석탄을 채굴하기 위해 복잡한 환기</a:t>
            </a:r>
            <a:r>
              <a:rPr lang="en-US" altLang="ko-KR" sz="1600" dirty="0"/>
              <a:t>, </a:t>
            </a:r>
            <a:r>
              <a:rPr lang="ko-KR" altLang="en-US" sz="1600" dirty="0"/>
              <a:t>안전</a:t>
            </a:r>
            <a:r>
              <a:rPr lang="en-US" altLang="ko-KR" sz="1600" dirty="0"/>
              <a:t>, </a:t>
            </a:r>
            <a:r>
              <a:rPr lang="ko-KR" altLang="en-US" sz="1600" dirty="0"/>
              <a:t>배수 설비를 설치해야 하므로 인건비 및 설비비용이 크게 증가한다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인도나 중국의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톤당 </a:t>
            </a:r>
            <a:r>
              <a:rPr lang="en-US" altLang="ko-KR" sz="1600" dirty="0"/>
              <a:t>60~80</a:t>
            </a:r>
            <a:r>
              <a:rPr lang="ko-KR" altLang="en-US" sz="1600" dirty="0"/>
              <a:t>달러 이상으로 상승하는 경향이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생산기술의 자동화 및 기계화 수준도 비용구조에 결정적인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자동화 및 기계화 수준은 비용구조에 결정적인데</a:t>
            </a:r>
            <a:r>
              <a:rPr lang="en-US" altLang="ko-KR" sz="1600" dirty="0"/>
              <a:t>, </a:t>
            </a:r>
            <a:r>
              <a:rPr lang="ko-KR" altLang="en-US" sz="1600" dirty="0"/>
              <a:t>호주의 경우</a:t>
            </a:r>
            <a:r>
              <a:rPr lang="en-US" altLang="ko-KR" sz="1600" dirty="0"/>
              <a:t> </a:t>
            </a:r>
            <a:r>
              <a:rPr lang="ko-KR" altLang="en-US" sz="1600" dirty="0" err="1"/>
              <a:t>드론</a:t>
            </a:r>
            <a:r>
              <a:rPr lang="ko-KR" altLang="en-US" sz="1600" dirty="0"/>
              <a:t> 기반 측량</a:t>
            </a:r>
            <a:r>
              <a:rPr lang="en-US" altLang="ko-KR" sz="1600" dirty="0"/>
              <a:t>, </a:t>
            </a:r>
            <a:r>
              <a:rPr lang="ko-KR" altLang="en-US" sz="1600" dirty="0"/>
              <a:t>자율주행 차량을 도입하였다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개도국의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노동집약적 방식이 일반적이며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인건비</a:t>
            </a:r>
            <a:r>
              <a:rPr lang="en-US" altLang="ko-KR" sz="1600" dirty="0"/>
              <a:t>, </a:t>
            </a:r>
            <a:r>
              <a:rPr lang="ko-KR" altLang="en-US" sz="1600" dirty="0"/>
              <a:t>의료비용</a:t>
            </a:r>
            <a:r>
              <a:rPr lang="en-US" altLang="ko-KR" sz="1600" dirty="0"/>
              <a:t>, </a:t>
            </a:r>
            <a:r>
              <a:rPr lang="ko-KR" altLang="en-US" sz="1600" dirty="0"/>
              <a:t>보험료</a:t>
            </a:r>
            <a:r>
              <a:rPr lang="en-US" altLang="ko-KR" sz="1600" dirty="0"/>
              <a:t> </a:t>
            </a:r>
            <a:r>
              <a:rPr lang="ko-KR" altLang="en-US" sz="1600" dirty="0"/>
              <a:t>등 높은 비용이 소요된다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8566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4912-6C05-E339-1029-A91F49C9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401C6-7D23-0E35-BC44-20A9BF59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석탄생산기술과 비용구조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166C-36B7-E061-11F1-FDACF8A2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3A4CF-3FDD-BB1D-C2E9-6DAFCF380B1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채굴은 대규모 전력 및 연료가 필요한 산업으로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가격 변동에 매우 민감하다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대형 장비 운용</a:t>
            </a:r>
            <a:r>
              <a:rPr lang="en-US" altLang="ko-KR" sz="1600" dirty="0"/>
              <a:t>, </a:t>
            </a:r>
            <a:r>
              <a:rPr lang="ko-KR" altLang="en-US" sz="1600" dirty="0"/>
              <a:t>환기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지하수 배수 시설 등은 막대한 전력소비를 필요로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운영비에서 에너지비용이 </a:t>
            </a:r>
            <a:r>
              <a:rPr lang="en-US" altLang="ko-KR" sz="1600" dirty="0"/>
              <a:t>15~40%</a:t>
            </a:r>
            <a:r>
              <a:rPr lang="ko-KR" altLang="en-US" sz="1600" dirty="0"/>
              <a:t>의 비중을 차지하며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전력요금</a:t>
            </a:r>
            <a:r>
              <a:rPr lang="en-US" altLang="ko-KR" sz="1600" dirty="0"/>
              <a:t>, </a:t>
            </a:r>
            <a:r>
              <a:rPr lang="ko-KR" altLang="en-US" sz="1600" dirty="0"/>
              <a:t>유가 상승은 생산비 증가로 이어진다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환경규제는 석탄 생산비용에서 점차 중요한 외생요인 중 하나로 부상하고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많은 국가에서는 광산개발 단계에서 환경영향평가</a:t>
            </a:r>
            <a:r>
              <a:rPr lang="en-US" altLang="ko-KR" sz="1600" dirty="0"/>
              <a:t>, </a:t>
            </a:r>
            <a:r>
              <a:rPr lang="ko-KR" altLang="en-US" sz="1600" dirty="0"/>
              <a:t>복원계획</a:t>
            </a:r>
            <a:r>
              <a:rPr lang="en-US" altLang="ko-KR" sz="1600" dirty="0"/>
              <a:t>, </a:t>
            </a:r>
            <a:r>
              <a:rPr lang="ko-KR" altLang="en-US" sz="1600" dirty="0"/>
              <a:t>배출 기준 준수</a:t>
            </a:r>
            <a:r>
              <a:rPr lang="en-US" altLang="ko-KR" sz="1600" dirty="0"/>
              <a:t>, </a:t>
            </a:r>
            <a:r>
              <a:rPr lang="ko-KR" altLang="en-US" sz="1600" dirty="0"/>
              <a:t>지하수 보호</a:t>
            </a:r>
            <a:r>
              <a:rPr lang="en-US" altLang="ko-KR" sz="1600" dirty="0"/>
              <a:t>, </a:t>
            </a:r>
            <a:r>
              <a:rPr lang="ko-KR" altLang="en-US" sz="1600" dirty="0"/>
              <a:t>미세먼지 관리 등을 요구하며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따른 복구비용 및 규제 대응비용이 생산비용을 증가시키고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미국과 유럽에서는 광산 폐쇄 후 복구 복원비용을 포함한 부담금이 사전에 산정되어야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프로젝트 수익성에 직접적인 영향을 미친다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생산비용에는 채굴 이후의 운송 및 물류 비용도 중요한 비중을 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철도</a:t>
            </a:r>
            <a:r>
              <a:rPr lang="en-US" altLang="ko-KR" sz="1600" dirty="0"/>
              <a:t>, </a:t>
            </a:r>
            <a:r>
              <a:rPr lang="ko-KR" altLang="en-US" sz="1600" dirty="0"/>
              <a:t>항만</a:t>
            </a:r>
            <a:r>
              <a:rPr lang="en-US" altLang="ko-KR" sz="1600" dirty="0"/>
              <a:t>, </a:t>
            </a:r>
            <a:r>
              <a:rPr lang="ko-KR" altLang="en-US" sz="1600" dirty="0"/>
              <a:t>도로 등 수송 인프라의 접근성은 물류비용과 공급 안정성에 직결된다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인프라가 미비한 지역에서는 생산된 석탄의 시장접근성이 떨어져 경쟁력이 약화될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석탄의 수분함량</a:t>
            </a:r>
            <a:r>
              <a:rPr lang="en-US" altLang="ko-KR" sz="1600" dirty="0"/>
              <a:t>, </a:t>
            </a:r>
            <a:r>
              <a:rPr lang="ko-KR" altLang="en-US" sz="1600" dirty="0"/>
              <a:t>분진 발생 특성상 운송 중 품질 저하와 손실 문제도 존재한다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5134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800B-CB6C-BBEA-6864-FD40CF8E5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97371F-099C-3A5C-5A23-755E558B5F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3CE3D-FF37-6FEB-D958-7BF84F49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AE71EA6-541D-6782-1125-4EE46868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br>
              <a:rPr lang="en-US" altLang="ko-KR" sz="4000" b="1" i="0" spc="150" dirty="0"/>
            </a:br>
            <a:r>
              <a:rPr lang="ko-KR" altLang="en-US" sz="4000" b="1" i="0" spc="150" dirty="0" err="1"/>
              <a:t>석탄채굴과정의</a:t>
            </a:r>
            <a:r>
              <a:rPr lang="ko-KR" altLang="en-US" sz="4000" b="1" i="0" spc="150" dirty="0"/>
              <a:t> 사회적 환경적 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2994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D724-1E7C-8A49-84A0-3D7DF2FB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74FB9-C6AD-A8A6-C15A-EFBF9CA5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채굴과정에서의 사회적</a:t>
            </a:r>
            <a:r>
              <a:rPr lang="en-US" altLang="ko-KR" dirty="0"/>
              <a:t>·</a:t>
            </a:r>
            <a:r>
              <a:rPr lang="ko-KR" altLang="en-US" dirty="0"/>
              <a:t>환경적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E9E43-DB40-9537-65BA-52B73835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1BFB7-5BE9-62EB-BA3E-CD96FB479E4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 과정은 에너지 자원 확보라는 경제적 이익에도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다양한 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문제를 초래하여 지속가능성과 형평성 측면에서 심각한 도전을 제기한다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기후변화 대응</a:t>
            </a:r>
            <a:r>
              <a:rPr lang="en-US" altLang="ko-KR" sz="1600" dirty="0"/>
              <a:t>, </a:t>
            </a:r>
            <a:r>
              <a:rPr lang="ko-KR" altLang="en-US" sz="1600" dirty="0"/>
              <a:t>생물다양성 손실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불평등</a:t>
            </a:r>
            <a:r>
              <a:rPr lang="en-US" altLang="ko-KR" sz="1600" dirty="0"/>
              <a:t>, </a:t>
            </a:r>
            <a:r>
              <a:rPr lang="ko-KR" altLang="en-US" sz="1600" dirty="0"/>
              <a:t>노동권 침해 등 이슈는 세계적으로 중요한 관심사이다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채굴은 토지 훼손</a:t>
            </a:r>
            <a:r>
              <a:rPr lang="en-US" altLang="ko-KR" sz="1600" dirty="0"/>
              <a:t>, </a:t>
            </a:r>
            <a:r>
              <a:rPr lang="ko-KR" altLang="en-US" sz="1600" dirty="0"/>
              <a:t>생태계 파괴</a:t>
            </a:r>
            <a:r>
              <a:rPr lang="en-US" altLang="ko-KR" sz="1600" dirty="0"/>
              <a:t>, </a:t>
            </a:r>
            <a:r>
              <a:rPr lang="ko-KR" altLang="en-US" sz="1600" dirty="0"/>
              <a:t>수질 및 대기오염 등 다방면에서 환경에 심대한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탄광개발이 습지</a:t>
            </a:r>
            <a:r>
              <a:rPr lang="en-US" altLang="ko-KR" sz="1600" dirty="0"/>
              <a:t>, </a:t>
            </a:r>
            <a:r>
              <a:rPr lang="ko-KR" altLang="en-US" sz="1600" dirty="0"/>
              <a:t>강</a:t>
            </a:r>
            <a:r>
              <a:rPr lang="en-US" altLang="ko-KR" sz="1600" dirty="0"/>
              <a:t>, </a:t>
            </a:r>
            <a:r>
              <a:rPr lang="ko-KR" altLang="en-US" sz="1600" dirty="0"/>
              <a:t>하천</a:t>
            </a:r>
            <a:r>
              <a:rPr lang="en-US" altLang="ko-KR" sz="1600" dirty="0"/>
              <a:t>, </a:t>
            </a:r>
            <a:r>
              <a:rPr lang="ko-KR" altLang="en-US" sz="1600" dirty="0"/>
              <a:t>경작지 등 환경적 가치가 높은 지역에 위치하여 지속가능한 토지 이용과 충돌을 일으키고 있다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수질오염 역시 중요한 문제인데</a:t>
            </a:r>
            <a:r>
              <a:rPr lang="en-US" altLang="ko-KR" sz="1600" dirty="0"/>
              <a:t>, </a:t>
            </a:r>
            <a:r>
              <a:rPr lang="ko-KR" altLang="en-US" sz="1600" dirty="0"/>
              <a:t>석탄 채굴 과정에서 발생하는 산성광산배수는 황화광물의 산화로 인해 생성되며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중금속이 함유된 오염수가 하천 및 지하수로 유입되어 장기적으로 수자원 생태계와 인간 건강에 악영향을 미친다</a:t>
            </a:r>
            <a:r>
              <a:rPr lang="en-US" altLang="ko-KR" sz="1600" dirty="0"/>
              <a:t>. (</a:t>
            </a:r>
            <a:r>
              <a:rPr lang="ko-KR" altLang="en-US" sz="1600" dirty="0"/>
              <a:t>미국의 </a:t>
            </a:r>
            <a:r>
              <a:rPr lang="ko-KR" altLang="en-US" sz="1600" dirty="0" err="1"/>
              <a:t>웨스트버지니아</a:t>
            </a:r>
            <a:r>
              <a:rPr lang="en-US" altLang="ko-KR" sz="1600" dirty="0"/>
              <a:t>, </a:t>
            </a:r>
            <a:r>
              <a:rPr lang="ko-KR" altLang="en-US" sz="1600" dirty="0"/>
              <a:t>인도의 </a:t>
            </a:r>
            <a:r>
              <a:rPr lang="ko-KR" altLang="en-US" sz="1600" dirty="0" err="1"/>
              <a:t>자르칸드</a:t>
            </a:r>
            <a:r>
              <a:rPr lang="ko-KR" altLang="en-US" sz="1600" dirty="0"/>
              <a:t> 지역에 광산배수 오염사례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채굴현장에서 배출되는 분진 및 메탄가스는 지역 대기질을 저하시키고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광부 및 인근 주민의 호흡기 건강을 위협한다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1239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69D3A-0BA9-BE4C-8F21-BCCA9540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8CDA7-1165-24C3-9DC1-9C9FBD2C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채굴과정에서의 사회적</a:t>
            </a:r>
            <a:r>
              <a:rPr lang="en-US" altLang="ko-KR" dirty="0"/>
              <a:t>·</a:t>
            </a:r>
            <a:r>
              <a:rPr lang="ko-KR" altLang="en-US" dirty="0"/>
              <a:t>환경적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7A3C5-0A0A-3B80-B5ED-76454E2E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429F9-47B7-064A-249D-FCB2AF15A4C6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채굴은 사회경제적으로 취약한 지역에 집중되는 경우가 많고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광산 개발은 지역사회의 불균형과 장기적 의존성을 </a:t>
            </a:r>
            <a:r>
              <a:rPr lang="ko-KR" altLang="en-US" sz="1600" dirty="0" err="1"/>
              <a:t>심화시킨다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광산 주변 지역은 산업 기반이 부족해 석탄 산업의 축소나 폐쇄 시 대규모 실업과 지역경제 붕괴로 이어진다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개발도상국의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채굴 노동 환경이 비공식적이고 위험한 조건 하에서 이루어지는 사례가 많다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아동 노동</a:t>
            </a:r>
            <a:r>
              <a:rPr lang="en-US" altLang="ko-KR" sz="1600" dirty="0"/>
              <a:t>, </a:t>
            </a:r>
            <a:r>
              <a:rPr lang="ko-KR" altLang="en-US" sz="1600" dirty="0"/>
              <a:t>불안정 고용</a:t>
            </a:r>
            <a:r>
              <a:rPr lang="en-US" altLang="ko-KR" sz="1600" dirty="0"/>
              <a:t>, </a:t>
            </a:r>
            <a:r>
              <a:rPr lang="ko-KR" altLang="en-US" sz="1600" dirty="0"/>
              <a:t>산업재해 등이 빈번하고</a:t>
            </a:r>
            <a:r>
              <a:rPr lang="en-US" altLang="ko-KR" sz="1600" dirty="0"/>
              <a:t>, </a:t>
            </a:r>
            <a:r>
              <a:rPr lang="ko-KR" altLang="en-US" sz="1600" dirty="0"/>
              <a:t>탄광 붕괴사고는 높은 </a:t>
            </a:r>
            <a:r>
              <a:rPr lang="ko-KR" altLang="en-US" sz="1600" dirty="0" err="1"/>
              <a:t>치명률을</a:t>
            </a:r>
            <a:r>
              <a:rPr lang="ko-KR" altLang="en-US" sz="1600" dirty="0"/>
              <a:t>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인도 및 콩고는 소규모 석탄 광산에서는 법적 규제 밖에서 운영되는 비공식 채굴활동이 사회적 이슈이다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</a:t>
            </a:r>
            <a:r>
              <a:rPr lang="en-US" altLang="ko-KR" sz="1600" dirty="0"/>
              <a:t>, </a:t>
            </a:r>
            <a:r>
              <a:rPr lang="ko-KR" altLang="en-US" sz="1600" dirty="0"/>
              <a:t>대규모 광산 개발은 강제 이주 및 토지 수용과 같은 인권 문제를 동반한다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개발 과정에서 주민의 재산권과 생계가 위협받을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이주보상 및 재정착 프로그램이 부실하거나 형식적인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지역사회의 구조적 갈등으로 번질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사회적 합의 없이 진행되는 프로젝트는 장기적인 반대운동</a:t>
            </a:r>
            <a:r>
              <a:rPr lang="en-US" altLang="ko-KR" sz="1600" dirty="0"/>
              <a:t>, </a:t>
            </a:r>
            <a:r>
              <a:rPr lang="ko-KR" altLang="en-US" sz="1600" dirty="0"/>
              <a:t>법적 소송</a:t>
            </a:r>
            <a:r>
              <a:rPr lang="en-US" altLang="ko-KR" sz="1600" dirty="0"/>
              <a:t>, </a:t>
            </a:r>
            <a:r>
              <a:rPr lang="ko-KR" altLang="en-US" sz="1600" dirty="0"/>
              <a:t>국제</a:t>
            </a:r>
            <a:r>
              <a:rPr lang="en-US" altLang="ko-KR" sz="1600" dirty="0"/>
              <a:t>NGO</a:t>
            </a:r>
            <a:r>
              <a:rPr lang="ko-KR" altLang="en-US" sz="1600" dirty="0"/>
              <a:t>의 개입 등 국제적 인권 이슈로 비화되기도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산업은 여전히 개발도상국의 경제적 기반이기에</a:t>
            </a:r>
            <a:r>
              <a:rPr lang="en-US" altLang="ko-KR" sz="1600" dirty="0"/>
              <a:t>, </a:t>
            </a:r>
            <a:r>
              <a:rPr lang="ko-KR" altLang="en-US" sz="1600" dirty="0"/>
              <a:t>보다 엄격한 사회적 보호장치가 병행되어야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1791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52C00-4FB8-6E54-7AB8-1AF3515C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56A791-A436-FF30-C46F-320B6C969F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90D0E0-E6B8-B422-7F51-366317F7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BA6FFD-890A-1B62-9230-139A0818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석탄산업의 구조와 경쟁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8622823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3D5A-6B99-6C7F-C5B4-CC7CEB1D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742C4-1946-86D9-EEB0-403CB532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5C3145-8531-DF87-186B-8680EC4A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1D460-2AF5-0F78-9D56-020397D36926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석탄산업의 구조는 상류</a:t>
            </a:r>
            <a:r>
              <a:rPr lang="en-US" altLang="ko-KR" sz="1600" dirty="0"/>
              <a:t>(</a:t>
            </a:r>
            <a:r>
              <a:rPr lang="ko-KR" altLang="en-US" sz="1600" dirty="0"/>
              <a:t>탐사 및 채굴</a:t>
            </a:r>
            <a:r>
              <a:rPr lang="en-US" altLang="ko-KR" sz="1600" dirty="0"/>
              <a:t>), </a:t>
            </a:r>
            <a:r>
              <a:rPr lang="ko-KR" altLang="en-US" sz="1600" dirty="0"/>
              <a:t>중류</a:t>
            </a:r>
            <a:r>
              <a:rPr lang="en-US" altLang="ko-KR" sz="1600" dirty="0"/>
              <a:t>(</a:t>
            </a:r>
            <a:r>
              <a:rPr lang="ko-KR" altLang="en-US" sz="1600" dirty="0"/>
              <a:t>처리 및 수송</a:t>
            </a:r>
            <a:r>
              <a:rPr lang="en-US" altLang="ko-KR" sz="1600" dirty="0"/>
              <a:t>), </a:t>
            </a:r>
            <a:r>
              <a:rPr lang="ko-KR" altLang="en-US" sz="1600" dirty="0"/>
              <a:t>하류</a:t>
            </a:r>
            <a:r>
              <a:rPr lang="en-US" altLang="ko-KR" sz="1600" dirty="0"/>
              <a:t>(</a:t>
            </a:r>
            <a:r>
              <a:rPr lang="ko-KR" altLang="en-US" sz="1600" dirty="0"/>
              <a:t>분배 및 소비</a:t>
            </a:r>
            <a:r>
              <a:rPr lang="en-US" altLang="ko-KR" sz="1600" dirty="0"/>
              <a:t>)</a:t>
            </a:r>
            <a:r>
              <a:rPr lang="ko-KR" altLang="en-US" sz="1600" dirty="0"/>
              <a:t>의 세 단계로 이루어진다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상류부문에서는 중국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 등의 대형 자원기업들이 자본력과 기술력을 바탕으로 세계 시장을 주도하고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중류부문은 석탄의 세척</a:t>
            </a:r>
            <a:r>
              <a:rPr lang="en-US" altLang="ko-KR" sz="1600" dirty="0"/>
              <a:t>, </a:t>
            </a:r>
            <a:r>
              <a:rPr lang="ko-KR" altLang="en-US" sz="1600" dirty="0"/>
              <a:t>가공</a:t>
            </a:r>
            <a:r>
              <a:rPr lang="en-US" altLang="ko-KR" sz="1600" dirty="0"/>
              <a:t>, </a:t>
            </a:r>
            <a:r>
              <a:rPr lang="ko-KR" altLang="en-US" sz="1600" dirty="0"/>
              <a:t>운송을 포함하고</a:t>
            </a:r>
            <a:r>
              <a:rPr lang="en-US" altLang="ko-KR" sz="1600" dirty="0"/>
              <a:t>, </a:t>
            </a:r>
            <a:r>
              <a:rPr lang="ko-KR" altLang="en-US" sz="1600" dirty="0"/>
              <a:t>채굴기업뿐 아니라 물류기업과 인프라 운영기관이 참여한다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철도 및 항만 인프라에 대한 접근성은 기업의 수송비용과 공급 안정성에 결정적인 영향을 미치고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시장과의 거리</a:t>
            </a:r>
            <a:r>
              <a:rPr lang="en-US" altLang="ko-KR" sz="1600" dirty="0"/>
              <a:t>, </a:t>
            </a:r>
            <a:r>
              <a:rPr lang="ko-KR" altLang="en-US" sz="1600" dirty="0"/>
              <a:t>물류 비용 차이가 기업 간 수익성을 크게 좌우한다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하류부문에서는 발전소</a:t>
            </a:r>
            <a:r>
              <a:rPr lang="en-US" altLang="ko-KR" sz="1600" dirty="0"/>
              <a:t>, </a:t>
            </a:r>
            <a:r>
              <a:rPr lang="ko-KR" altLang="en-US" sz="1600" dirty="0"/>
              <a:t>철강 및 시멘트 산업 등 대규모 소비자가 주요 수요자이다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일부 국가는 공기업이 석탄 유통을 독점하는 반면</a:t>
            </a:r>
            <a:r>
              <a:rPr lang="en-US" altLang="ko-KR" sz="1600" dirty="0"/>
              <a:t>, </a:t>
            </a:r>
            <a:r>
              <a:rPr lang="ko-KR" altLang="en-US" sz="1600" dirty="0"/>
              <a:t>자유경쟁이 허용된 국가에서는 민간기업 간의 경쟁이 활발하다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전력산업의 구조와 규제 체계는 석탄 수요</a:t>
            </a:r>
            <a:r>
              <a:rPr lang="en-US" altLang="ko-KR" sz="1600" dirty="0"/>
              <a:t>, </a:t>
            </a:r>
            <a:r>
              <a:rPr lang="ko-KR" altLang="en-US" sz="1600" dirty="0"/>
              <a:t>계약 구조</a:t>
            </a:r>
            <a:r>
              <a:rPr lang="en-US" altLang="ko-KR" sz="1600" dirty="0"/>
              <a:t>, </a:t>
            </a:r>
            <a:r>
              <a:rPr lang="ko-KR" altLang="en-US" sz="1600" dirty="0"/>
              <a:t>공급 전략에 직접적인 영향을 미친다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85061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49603-4833-BE41-ED74-F33E4DE8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C3599-4C7C-E45F-A1A8-FA8007DA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시장경쟁 요소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DC9FB5-A46A-2F24-2390-E1B349CF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61464-9798-283A-CD36-345441C51D3B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석탄산업의 경쟁구조는 수요</a:t>
            </a:r>
            <a:r>
              <a:rPr lang="en-US" altLang="ko-KR" sz="1600" dirty="0"/>
              <a:t>, </a:t>
            </a:r>
            <a:r>
              <a:rPr lang="ko-KR" altLang="en-US" sz="1600" dirty="0"/>
              <a:t>규제</a:t>
            </a:r>
            <a:r>
              <a:rPr lang="en-US" altLang="ko-KR" sz="1600" dirty="0"/>
              <a:t>, </a:t>
            </a:r>
            <a:r>
              <a:rPr lang="ko-KR" altLang="en-US" sz="1600" dirty="0"/>
              <a:t>기술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요인의 상호작용에 따라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소비는 중국과 인도 등 신흥경제국의 산업 성장과 전력 수요 확대에 따라 유지되고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유럽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 선진국에서는 탄소중립 목표와 재생에너지 보급 확대에 따라 석탄 수요가 지속적으로 감소하고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규제환경도 석탄산업의 경쟁력에 결정적인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유럽연합은 강력한 탄소배출권 거래제와 환경기준을 도입해 석탄 기업의 규제 준수 비용을 증가 시키고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환경규제가 느슨한 일부 국가에서는 상대적으로 낮은 생산비용으로 수출 경쟁력을 유지하고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규제 기반의 국제 경쟁 불균형이 문제로 지적되고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기술혁신 또한 석탄 산업의 경쟁력에 큰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 기술의 급속한 발전은 석탄에 대한 구조적 대체 압력을 </a:t>
            </a:r>
            <a:r>
              <a:rPr lang="ko-KR" altLang="en-US" sz="1600" dirty="0" err="1"/>
              <a:t>심화시키고</a:t>
            </a:r>
            <a:r>
              <a:rPr lang="ko-KR" altLang="en-US" sz="1600" dirty="0"/>
              <a:t>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대응하고자 석탄 기업들은 고효율</a:t>
            </a:r>
            <a:r>
              <a:rPr lang="en-US" altLang="ko-KR" sz="1600" dirty="0"/>
              <a:t>, </a:t>
            </a:r>
            <a:r>
              <a:rPr lang="ko-KR" altLang="en-US" sz="1600" dirty="0"/>
              <a:t>이산화탄소 </a:t>
            </a:r>
            <a:r>
              <a:rPr lang="ko-KR" altLang="en-US" sz="1600" dirty="0" err="1"/>
              <a:t>포집</a:t>
            </a:r>
            <a:r>
              <a:rPr lang="ko-KR" altLang="en-US" sz="1600" dirty="0"/>
              <a:t> 및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수소 활용 기술 등 다각화를 추진하고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지정학적 요인 </a:t>
            </a:r>
            <a:r>
              <a:rPr lang="en-US" altLang="ko-KR" sz="1600" dirty="0"/>
              <a:t>(</a:t>
            </a:r>
            <a:r>
              <a:rPr lang="ko-KR" altLang="en-US" sz="1600" dirty="0"/>
              <a:t>무역분쟁</a:t>
            </a:r>
            <a:r>
              <a:rPr lang="en-US" altLang="ko-KR" sz="1600" dirty="0"/>
              <a:t>, </a:t>
            </a:r>
            <a:r>
              <a:rPr lang="ko-KR" altLang="en-US" sz="1600" dirty="0"/>
              <a:t>수출입규제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전략</a:t>
            </a:r>
            <a:r>
              <a:rPr lang="en-US" altLang="ko-KR" sz="1600" dirty="0"/>
              <a:t>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도 석탄 산업에 많은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미중</a:t>
            </a:r>
            <a:r>
              <a:rPr lang="ko-KR" altLang="en-US" sz="1600" dirty="0"/>
              <a:t> 무역갈등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등은 석탄의 수출입 경로와 가격 형성에 실질적 영향을 끼쳤다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375730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C7BC0-44CC-D7F4-E6DD-57DD5DF7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1F0DEA-AE25-B4E8-343A-FEF36817CA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BD1CC-4832-28EA-F890-0A6C9BA90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E50D6D8-C49D-3D8B-C6BD-1CFAA1E5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석탄시장의 거래 현황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523942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6E8E-7692-3D40-5DE7-F4A9F9BE5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19689-0BBA-B720-4A6E-10281AC8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28DB94-4CD8-C7CD-BA63-1997359A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C53DC4-49FD-BE2A-BC43-852731BEE475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석탄 매장량은 석유나 천연가스에 비해 지리적으로 넓게 분포되어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실제 확인 매장량의 대부분은 소수의 국가에 집중되어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2023</a:t>
            </a:r>
            <a:r>
              <a:rPr lang="ko-KR" altLang="en-US" sz="1600" dirty="0"/>
              <a:t>년 기준 전 세계 확인 매장량은 약 </a:t>
            </a:r>
            <a:r>
              <a:rPr lang="en-US" altLang="ko-KR" sz="1600" dirty="0"/>
              <a:t>1.1</a:t>
            </a:r>
            <a:r>
              <a:rPr lang="ko-KR" altLang="en-US" sz="1600" dirty="0"/>
              <a:t>조 톤으로 추정되며</a:t>
            </a:r>
            <a:r>
              <a:rPr lang="en-US" altLang="ko-KR" sz="1600" dirty="0"/>
              <a:t>, </a:t>
            </a:r>
            <a:r>
              <a:rPr lang="ko-KR" altLang="en-US" sz="1600" dirty="0"/>
              <a:t>현재 소비 기준을 기준으로 약 </a:t>
            </a:r>
            <a:r>
              <a:rPr lang="en-US" altLang="ko-KR" sz="1600" dirty="0"/>
              <a:t>130</a:t>
            </a:r>
            <a:r>
              <a:rPr lang="ko-KR" altLang="en-US" sz="1600" dirty="0"/>
              <a:t>년간 채굴이 가능한 수준으로 평가된다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 석탄 유형도 상이하게 분포되어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남아공 등은 </a:t>
            </a:r>
            <a:r>
              <a:rPr lang="ko-KR" altLang="en-US" sz="1600" dirty="0" err="1"/>
              <a:t>고열량의</a:t>
            </a:r>
            <a:r>
              <a:rPr lang="ko-KR" altLang="en-US" sz="1600" dirty="0"/>
              <a:t> 무연탄 및 역청탄이 풍부하며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</a:t>
            </a:r>
            <a:r>
              <a:rPr lang="ko-KR" altLang="en-US" sz="1600" dirty="0" err="1"/>
              <a:t>발전용뿐만</a:t>
            </a:r>
            <a:r>
              <a:rPr lang="ko-KR" altLang="en-US" sz="1600" dirty="0"/>
              <a:t> 아니라 철강 생산의 핵심 원료로도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반면 독일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인도 등에서는 수분 함량이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발열량이 낮은 갈탄이 주로 매장되어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</a:t>
            </a:r>
            <a:r>
              <a:rPr lang="ko-KR" altLang="en-US" sz="1600" dirty="0" err="1"/>
              <a:t>저품질</a:t>
            </a:r>
            <a:r>
              <a:rPr lang="ko-KR" altLang="en-US" sz="1600" dirty="0"/>
              <a:t> 석탄은 발전 효율이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환경오염 물질 배출이 많아 외부비용이 큰 자원으로 간주된다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석탄매장량은 일반적으로 석유나 천연가스에 비해 정치적 리스크가 낮은 지역에 분포되어 있어 전통적으로 에너지 안보의 안정적인 자원으로 간주되어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산업화 초기 단계의 국가들은 국내 자급이 가능한 석탄을 주요 기초 에너지원으로 활용해왔다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9989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76F3-F4BA-E73A-A37A-8B1300F2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CAD49-885F-BC71-304A-D29B4413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F560D-B2C2-C0D3-39E8-6B0507F2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71E4D-E5B1-0B4C-F490-F9CD694B08DE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기후변화 대응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목표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전환 정책 등이 본격화되면서 석탄의 경제적 가치는 하락하고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다수 국가에서 탄소 가격 제도를 도입하는 등에 따라 일부 석탄 자산은 향후 수익 창출이 어려운 </a:t>
            </a:r>
            <a:r>
              <a:rPr lang="en-US" altLang="ko-KR" sz="1600" dirty="0"/>
              <a:t>‘</a:t>
            </a:r>
            <a:r>
              <a:rPr lang="ko-KR" altLang="en-US" sz="1600" dirty="0"/>
              <a:t>좌초자산</a:t>
            </a:r>
            <a:r>
              <a:rPr lang="en-US" altLang="ko-KR" sz="1600" dirty="0"/>
              <a:t>’</a:t>
            </a:r>
            <a:r>
              <a:rPr lang="ko-KR" altLang="en-US" sz="1600" dirty="0"/>
              <a:t>으로 전환될 위험에 직면해 있다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8EFEF91-3F16-6029-8A05-63CE455C8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047534"/>
              </p:ext>
            </p:extLst>
          </p:nvPr>
        </p:nvGraphicFramePr>
        <p:xfrm>
          <a:off x="6757254" y="2147659"/>
          <a:ext cx="4963991" cy="43913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357888396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무연탄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&amp;</a:t>
                      </a: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역청탄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아역청탄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갈탄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224,444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32,290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256,734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218,938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248,941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59,084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78,156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137,240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35,900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35,900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우크라이나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32,039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34,375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90,447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190,655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71,719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90,447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162,166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15,974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16,040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345,313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114,437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459,750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73,719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76,508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150,227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135,069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143,197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105,979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111,052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인도네시아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23,141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11,728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34,869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753,639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320,469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1,074,108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331,303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177,130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508,433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422,336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143,339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565,675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191509-DEF9-4F62-2229-7CAD0FA9CEF0}"/>
              </a:ext>
            </a:extLst>
          </p:cNvPr>
          <p:cNvSpPr txBox="1"/>
          <p:nvPr/>
        </p:nvSpPr>
        <p:spPr>
          <a:xfrm>
            <a:off x="7671736" y="1823288"/>
            <a:ext cx="3158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매장량</a:t>
            </a:r>
            <a:r>
              <a:rPr lang="en-US" altLang="ko-KR" sz="1200" spc="-50" dirty="0"/>
              <a:t> (</a:t>
            </a:r>
            <a:r>
              <a:rPr lang="ko-KR" altLang="en-US" sz="1200" spc="-50" dirty="0" err="1"/>
              <a:t>백만톤</a:t>
            </a:r>
            <a:r>
              <a:rPr lang="en-US" altLang="ko-KR" sz="1200" spc="-50" dirty="0"/>
              <a:t>), 2020</a:t>
            </a:r>
            <a:r>
              <a:rPr lang="ko-KR" altLang="en-US" sz="1200" spc="-50" dirty="0"/>
              <a:t>년 기준</a:t>
            </a:r>
            <a:r>
              <a:rPr lang="en-US" altLang="ko-KR" sz="1200" spc="-50" dirty="0"/>
              <a:t> 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7B449-9D10-F5F9-AD01-A7DED741A0C0}"/>
              </a:ext>
            </a:extLst>
          </p:cNvPr>
          <p:cNvSpPr txBox="1"/>
          <p:nvPr/>
        </p:nvSpPr>
        <p:spPr>
          <a:xfrm>
            <a:off x="288791" y="2147659"/>
            <a:ext cx="620345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오른쪽 표는 지역별 석탄매장량을 보여주고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 세계 석탄 매장량은 </a:t>
            </a:r>
            <a:r>
              <a:rPr lang="en-US" altLang="ko-KR" sz="1600" dirty="0"/>
              <a:t>1,074,108(</a:t>
            </a:r>
            <a:r>
              <a:rPr lang="ko-KR" altLang="en-US" sz="1600" dirty="0" err="1"/>
              <a:t>백만톤</a:t>
            </a:r>
            <a:r>
              <a:rPr lang="en-US" altLang="ko-KR" sz="1600" dirty="0"/>
              <a:t>) </a:t>
            </a:r>
            <a:r>
              <a:rPr lang="ko-KR" altLang="en-US" sz="1600" dirty="0"/>
              <a:t>이었으며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무연탄과 역청탄 매장량이 </a:t>
            </a:r>
            <a:r>
              <a:rPr lang="ko-KR" altLang="en-US" sz="1600" dirty="0" err="1"/>
              <a:t>아역청탄과</a:t>
            </a:r>
            <a:r>
              <a:rPr lang="ko-KR" altLang="en-US" sz="1600" dirty="0"/>
              <a:t> 갈탄 매장량의 두배를 상회하였다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아시아태평양이 가장 많은 매장량을 가지고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북미지역은 매장량의 </a:t>
            </a:r>
            <a:r>
              <a:rPr lang="en-US" altLang="ko-KR" sz="1600" dirty="0"/>
              <a:t>23.9%</a:t>
            </a:r>
            <a:r>
              <a:rPr lang="ko-KR" altLang="en-US" sz="1600" dirty="0"/>
              <a:t>를 보유하고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1086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F143-7245-B222-49E5-B6092D06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9D373-5299-0573-8B3F-28CD7146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65BE9D-B554-7D09-00FB-5A3C3CE0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7DA9C-ABDD-4B20-A8D8-A0160779F940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석탄 생산은 일부 국가들이 시장을 지배하는 </a:t>
            </a:r>
            <a:r>
              <a:rPr lang="ko-KR" altLang="en-US" sz="1600" dirty="0" err="1"/>
              <a:t>집중화된</a:t>
            </a:r>
            <a:r>
              <a:rPr lang="ko-KR" altLang="en-US" sz="1600" dirty="0"/>
              <a:t> 구조를 보이고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중국은 급증하는 전력수요와 산업용 석탄 수요의 구조적 고착성에 따라 높은 수준의 석탄 생산량을 유지해왔다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호주와 인도네시아는 자국 내 소비보다 해외 수출을 주된 목적으로 석탄을 생산하고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인도는 세계</a:t>
            </a:r>
            <a:r>
              <a:rPr lang="en-US" altLang="ko-KR" sz="1600" dirty="0"/>
              <a:t> 2</a:t>
            </a:r>
            <a:r>
              <a:rPr lang="ko-KR" altLang="en-US" sz="1600" dirty="0"/>
              <a:t>위 석탄 생산국임에도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급속한 산업화에 따른 전력 수요 증가로 국내 생산만으로 수요를 충당하기 어려운 상황이다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이에 따라 매년 수천만 톤의 석탄을 해외에서 수입하고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 간 석탄 생산 방식에는 기술 격차가 존재하며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생산 효율성과 노동 안정성에 중요한 영향을 미친다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미국과 호주는 자동화된 채굴장비</a:t>
            </a:r>
            <a:r>
              <a:rPr lang="en-US" altLang="ko-KR" sz="1600" dirty="0"/>
              <a:t>, </a:t>
            </a:r>
            <a:r>
              <a:rPr lang="ko-KR" altLang="en-US" sz="1600" dirty="0"/>
              <a:t>디지털 및 자율주행 기술 등의 도입으로 생산성을 제고하고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 등 개발도상국은 여전히 노동집약적 방식으로 낮은 생산성을 보이고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84846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5420-37D8-E88B-8E1F-BEF54538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9ABB6-D2D2-3DEF-14B0-BEB05278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5C2BD-38C3-113F-05A4-F2221784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54B26-833F-F95A-FB15-3D1D68520648}"/>
              </a:ext>
            </a:extLst>
          </p:cNvPr>
          <p:cNvSpPr txBox="1"/>
          <p:nvPr/>
        </p:nvSpPr>
        <p:spPr>
          <a:xfrm>
            <a:off x="288791" y="958844"/>
            <a:ext cx="621869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지역별로 살펴보면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아시아 지역이 전 세계 생산의 </a:t>
            </a:r>
            <a:r>
              <a:rPr lang="en-US" altLang="ko-KR" sz="1600" dirty="0"/>
              <a:t>79.0%</a:t>
            </a:r>
            <a:r>
              <a:rPr lang="ko-KR" altLang="en-US" sz="1600" dirty="0"/>
              <a:t>를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중국이 </a:t>
            </a:r>
            <a:r>
              <a:rPr lang="en-US" altLang="ko-KR" sz="1600" dirty="0"/>
              <a:t>51.8%, </a:t>
            </a:r>
            <a:r>
              <a:rPr lang="ko-KR" altLang="en-US" sz="1600" dirty="0"/>
              <a:t>인도가 </a:t>
            </a:r>
            <a:r>
              <a:rPr lang="en-US" altLang="ko-KR" sz="1600" dirty="0"/>
              <a:t>11.1%, </a:t>
            </a:r>
            <a:r>
              <a:rPr lang="ko-KR" altLang="en-US" sz="1600" dirty="0"/>
              <a:t>인도네시아가 </a:t>
            </a:r>
            <a:r>
              <a:rPr lang="en-US" altLang="ko-KR" sz="1600" dirty="0"/>
              <a:t>8.5%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OECD </a:t>
            </a:r>
            <a:r>
              <a:rPr lang="ko-KR" altLang="en-US" sz="1600" dirty="0"/>
              <a:t>국가는 최근 </a:t>
            </a:r>
            <a:r>
              <a:rPr lang="en-US" altLang="ko-KR" sz="1600" dirty="0"/>
              <a:t>10</a:t>
            </a:r>
            <a:r>
              <a:rPr lang="ko-KR" altLang="en-US" sz="1600" dirty="0"/>
              <a:t>년간 음의 연평균 증가율을 기록하였다</a:t>
            </a:r>
            <a:r>
              <a:rPr lang="en-US" altLang="ko-KR" sz="1600" dirty="0"/>
              <a:t>.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FC90CB3-8E99-AE0F-9CD8-AFB2A2340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153493" y="3484880"/>
            <a:ext cx="4734228" cy="2935923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FF1C2D1-DD57-C4FA-E3D8-0AE7542CB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294623"/>
              </p:ext>
            </p:extLst>
          </p:nvPr>
        </p:nvGraphicFramePr>
        <p:xfrm>
          <a:off x="6874094" y="1649819"/>
          <a:ext cx="4748946" cy="45894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136235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257.1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 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7,181.6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455.8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4,710.0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1,010.9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인도네시아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9,095.6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1,418.0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7,677.6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A7D78CE-E989-F543-AA6E-CAD1A45D1C71}"/>
              </a:ext>
            </a:extLst>
          </p:cNvPr>
          <p:cNvSpPr txBox="1"/>
          <p:nvPr/>
        </p:nvSpPr>
        <p:spPr>
          <a:xfrm>
            <a:off x="7839375" y="1325448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생산량 및 비중</a:t>
            </a:r>
            <a:r>
              <a:rPr lang="en-US" altLang="ko-KR" sz="1200" spc="-50" dirty="0"/>
              <a:t> (</a:t>
            </a:r>
            <a:r>
              <a:rPr lang="ko-KR" altLang="en-US" sz="1200" spc="-50" dirty="0" err="1"/>
              <a:t>백만톤</a:t>
            </a:r>
            <a:r>
              <a:rPr lang="en-US" altLang="ko-KR" sz="1200" spc="-50" dirty="0"/>
              <a:t>) &gt;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D5909-D3F8-51CE-E7F2-81A015AAF9A4}"/>
              </a:ext>
            </a:extLst>
          </p:cNvPr>
          <p:cNvSpPr txBox="1"/>
          <p:nvPr/>
        </p:nvSpPr>
        <p:spPr>
          <a:xfrm>
            <a:off x="2312336" y="3234620"/>
            <a:ext cx="23358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생산량</a:t>
            </a:r>
            <a:r>
              <a:rPr lang="en-US" altLang="ko-KR" sz="1200" spc="-50" dirty="0"/>
              <a:t> (</a:t>
            </a:r>
            <a:r>
              <a:rPr lang="ko-KR" altLang="en-US" sz="1200" spc="-50" dirty="0" err="1"/>
              <a:t>백만톤</a:t>
            </a:r>
            <a:r>
              <a:rPr lang="en-US" altLang="ko-KR" sz="1200" spc="-50" dirty="0"/>
              <a:t>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244325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B2CA-F955-792A-1D3C-2AE5E0EA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3A63D-7FA1-07DB-E775-BF973244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369D3-3538-9BE3-40B1-DAA03D0F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E5033-1B47-3D73-C22F-D3DE589BC94A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석탄 소비는 석유나 천연가스에 비해 국가 간 불균형이 더 뚜렷하게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중국과 인도는 산업화 가속으로 인해 석탄 발전 비중이 여전히 높은 편이다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에너지 시스템의 구조적 제약으로 인해 단기적 소비 축소는 어렵다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유럽연합 등의 </a:t>
            </a:r>
            <a:r>
              <a:rPr lang="en-US" altLang="ko-KR" sz="1600" dirty="0"/>
              <a:t>OECD</a:t>
            </a:r>
            <a:r>
              <a:rPr lang="ko-KR" altLang="en-US" sz="1600" dirty="0"/>
              <a:t>국가들은 석탄 소비가 이미 정점을 지나 감소 국면에 접어들었다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미세먼지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배출 등에 대한 환경규제 강화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에너지전환 정책에 기인한다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용도 측면에서는 여전히 전력 생산이 핵심이지만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철강</a:t>
            </a:r>
            <a:r>
              <a:rPr lang="en-US" altLang="ko-KR" sz="1600" dirty="0"/>
              <a:t>, </a:t>
            </a:r>
            <a:r>
              <a:rPr lang="ko-KR" altLang="en-US" sz="1600" dirty="0"/>
              <a:t>시멘트</a:t>
            </a:r>
            <a:r>
              <a:rPr lang="en-US" altLang="ko-KR" sz="1600" dirty="0"/>
              <a:t>, </a:t>
            </a:r>
            <a:r>
              <a:rPr lang="ko-KR" altLang="en-US" sz="1600" dirty="0"/>
              <a:t>화학산업 등 산업용 수요도 상당하다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제철 공정에서는 코크스를 활용한 철광석 환원 공정이 일반적이며</a:t>
            </a:r>
            <a:r>
              <a:rPr lang="en-US" altLang="ko-KR" sz="1600" dirty="0"/>
              <a:t>, </a:t>
            </a:r>
            <a:r>
              <a:rPr lang="ko-KR" altLang="en-US" sz="1600" dirty="0"/>
              <a:t>현재까지 </a:t>
            </a:r>
            <a:r>
              <a:rPr lang="ko-KR" altLang="en-US" sz="1600" dirty="0" err="1"/>
              <a:t>사용화된</a:t>
            </a:r>
            <a:r>
              <a:rPr lang="ko-KR" altLang="en-US" sz="1600" dirty="0"/>
              <a:t> 대체 기술이 부재하다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이로 인해 산업용 석탄 수요는 구조적으로 유지될 가능성이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</a:t>
            </a:r>
            <a:r>
              <a:rPr lang="ko-KR" altLang="en-US" sz="1600" dirty="0" err="1"/>
              <a:t>탈석탄</a:t>
            </a:r>
            <a:r>
              <a:rPr lang="ko-KR" altLang="en-US" sz="1600" dirty="0"/>
              <a:t> 전략에 있어 제약 요인으로 작용한다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7033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35734-8ED2-256D-ED04-EBD4C805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B9A40-1FA2-A4E6-F383-F8EF309C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소비량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F88683-CE4C-EAAE-0605-6DDD374D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61E56-F2F6-6A84-8D60-811EFE4C0D9B}"/>
              </a:ext>
            </a:extLst>
          </p:cNvPr>
          <p:cNvSpPr txBox="1"/>
          <p:nvPr/>
        </p:nvSpPr>
        <p:spPr>
          <a:xfrm>
            <a:off x="288791" y="958844"/>
            <a:ext cx="621869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지역별로 살펴보면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아시아 지역이 전 세계 소비의 </a:t>
            </a:r>
            <a:r>
              <a:rPr lang="en-US" altLang="ko-KR" sz="1600" dirty="0"/>
              <a:t>82.7%</a:t>
            </a:r>
            <a:r>
              <a:rPr lang="ko-KR" altLang="en-US" sz="1600" dirty="0"/>
              <a:t>를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중국이 </a:t>
            </a:r>
            <a:r>
              <a:rPr lang="en-US" altLang="ko-KR" sz="1600" dirty="0"/>
              <a:t>56%, </a:t>
            </a:r>
            <a:r>
              <a:rPr lang="ko-KR" altLang="en-US" sz="1600" dirty="0"/>
              <a:t>인도가 </a:t>
            </a:r>
            <a:r>
              <a:rPr lang="en-US" altLang="ko-KR" sz="1600" dirty="0"/>
              <a:t>13.4%</a:t>
            </a:r>
            <a:r>
              <a:rPr lang="ko-KR" altLang="en-US" sz="1600" dirty="0"/>
              <a:t>의 비중을 나타내고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한국의 경우 전 세계 석탄소비의 </a:t>
            </a:r>
            <a:r>
              <a:rPr lang="en-US" altLang="ko-KR" sz="1600" dirty="0"/>
              <a:t>1.6%</a:t>
            </a:r>
            <a:r>
              <a:rPr lang="ko-KR" altLang="en-US" sz="1600" dirty="0"/>
              <a:t>를 차지하며</a:t>
            </a:r>
            <a:r>
              <a:rPr lang="en-US" altLang="ko-KR" sz="1600" dirty="0"/>
              <a:t>, </a:t>
            </a:r>
            <a:r>
              <a:rPr lang="ko-KR" altLang="en-US" sz="1600" dirty="0"/>
              <a:t>석탄 </a:t>
            </a:r>
            <a:r>
              <a:rPr lang="en-US" altLang="ko-KR" sz="1600" dirty="0"/>
              <a:t>10</a:t>
            </a:r>
            <a:r>
              <a:rPr lang="ko-KR" altLang="en-US" sz="1600" dirty="0"/>
              <a:t>대 소비국 중 하나이다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BCF5EA6-9780-D9E7-1707-1E8ED0368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618651"/>
              </p:ext>
            </p:extLst>
          </p:nvPr>
        </p:nvGraphicFramePr>
        <p:xfrm>
          <a:off x="6924894" y="1644739"/>
          <a:ext cx="4748946" cy="463896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93303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 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135.70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인도네시아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34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33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164.03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6C13698-6363-F1F4-A118-71C781D74BAD}"/>
              </a:ext>
            </a:extLst>
          </p:cNvPr>
          <p:cNvSpPr txBox="1"/>
          <p:nvPr/>
        </p:nvSpPr>
        <p:spPr>
          <a:xfrm>
            <a:off x="7890175" y="1320368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소비량 및 비중</a:t>
            </a:r>
            <a:r>
              <a:rPr lang="en-US" altLang="ko-KR" sz="1200" spc="-50" dirty="0"/>
              <a:t> (</a:t>
            </a:r>
            <a:r>
              <a:rPr lang="ko-KR" altLang="en-US" sz="1200" spc="-50" dirty="0" err="1"/>
              <a:t>백만톤</a:t>
            </a:r>
            <a:r>
              <a:rPr lang="en-US" altLang="ko-KR" sz="1200" spc="-50" dirty="0"/>
              <a:t>) &gt;</a:t>
            </a:r>
            <a:endParaRPr lang="ko-KR" altLang="en-US" sz="1200" dirty="0"/>
          </a:p>
        </p:txBody>
      </p:sp>
      <p:pic>
        <p:nvPicPr>
          <p:cNvPr id="10" name="Content Placeholder 2">
            <a:extLst>
              <a:ext uri="{FF2B5EF4-FFF2-40B4-BE49-F238E27FC236}">
                <a16:creationId xmlns:a16="http://schemas.microsoft.com/office/drawing/2014/main" id="{EB6ECC48-32DE-2192-8133-3AD53D45F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29752" y="3443943"/>
            <a:ext cx="5666248" cy="31679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53E4A4-C257-21CA-503B-2AFA5C213BD0}"/>
              </a:ext>
            </a:extLst>
          </p:cNvPr>
          <p:cNvSpPr txBox="1"/>
          <p:nvPr/>
        </p:nvSpPr>
        <p:spPr>
          <a:xfrm>
            <a:off x="1650232" y="3300660"/>
            <a:ext cx="3495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소비량</a:t>
            </a:r>
            <a:r>
              <a:rPr lang="en-US" altLang="ko-KR" sz="1200" spc="-50" dirty="0"/>
              <a:t> (</a:t>
            </a:r>
            <a:r>
              <a:rPr lang="ko-KR" altLang="en-US" sz="1200" spc="-50" dirty="0"/>
              <a:t>단위</a:t>
            </a:r>
            <a:r>
              <a:rPr lang="en-US" altLang="ko-KR" sz="1200" spc="-50" dirty="0"/>
              <a:t>: </a:t>
            </a:r>
            <a:r>
              <a:rPr lang="ko-KR" altLang="en-US" sz="1200" spc="-50" dirty="0" err="1"/>
              <a:t>엑사줄</a:t>
            </a:r>
            <a:r>
              <a:rPr lang="en-US" altLang="ko-KR" sz="1200" spc="-50" dirty="0"/>
              <a:t>, exajoules)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185164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46290-F616-6805-8E00-A2323E59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BA19B-0600-1AEE-4248-AC9AF097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67FA55-0EB1-6255-797C-3D927C70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5DA04-EC5C-2C8E-671F-07D20499E18D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석탄 교역은 생산과 소비가 특정 국가에 집중된 구조를 명확히 반영하고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수출은 호주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남아공</a:t>
            </a:r>
            <a:r>
              <a:rPr lang="en-US" altLang="ko-KR" sz="1600" dirty="0"/>
              <a:t>, </a:t>
            </a:r>
            <a:r>
              <a:rPr lang="ko-KR" altLang="en-US" sz="1600" dirty="0"/>
              <a:t>미국 등 소수의 주요 생산국이 주도 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호주는 고품질 제철용 </a:t>
            </a:r>
            <a:r>
              <a:rPr lang="ko-KR" altLang="en-US" sz="1600" dirty="0" err="1"/>
              <a:t>코크스탄의</a:t>
            </a:r>
            <a:r>
              <a:rPr lang="ko-KR" altLang="en-US" sz="1600" dirty="0"/>
              <a:t> 최대 수출국으로 한국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인도 등 주요 철강 생산국에 공급하고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인도네시아는 저비용 </a:t>
            </a:r>
            <a:r>
              <a:rPr lang="ko-KR" altLang="en-US" sz="1600" dirty="0" err="1"/>
              <a:t>저열량의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열탄을</a:t>
            </a:r>
            <a:r>
              <a:rPr lang="ko-KR" altLang="en-US" sz="1600" dirty="0"/>
              <a:t> 중심으로 아시아 발전시장에 특화된 공급구조를 형성하고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수입은 에너지 수요가 많고</a:t>
            </a:r>
            <a:r>
              <a:rPr lang="en-US" altLang="ko-KR" sz="1600" dirty="0"/>
              <a:t>,</a:t>
            </a:r>
            <a:r>
              <a:rPr lang="ko-KR" altLang="en-US" sz="1600" dirty="0"/>
              <a:t> 자원 자립도가 낮은 국가를 중심으로 이루어지고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 아시아 국가들이 글로벌 수입 시장의 </a:t>
            </a:r>
            <a:r>
              <a:rPr lang="ko-KR" altLang="en-US" sz="1600" dirty="0" err="1"/>
              <a:t>핵심축이다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중국과 인도는 세계 최대 석탄 생산국임에도</a:t>
            </a:r>
            <a:r>
              <a:rPr lang="en-US" altLang="ko-KR" sz="1600" dirty="0"/>
              <a:t>, </a:t>
            </a:r>
            <a:r>
              <a:rPr lang="ko-KR" altLang="en-US" sz="1600" dirty="0"/>
              <a:t>특정 품질의 석탄에 대한 내적 부족</a:t>
            </a:r>
            <a:r>
              <a:rPr lang="en-US" altLang="ko-KR" sz="1600" dirty="0"/>
              <a:t>, </a:t>
            </a:r>
            <a:r>
              <a:rPr lang="ko-KR" altLang="en-US" sz="1600" dirty="0"/>
              <a:t>수급 불균형</a:t>
            </a:r>
            <a:r>
              <a:rPr lang="en-US" altLang="ko-KR" sz="1600" dirty="0"/>
              <a:t>, </a:t>
            </a:r>
            <a:r>
              <a:rPr lang="ko-KR" altLang="en-US" sz="1600" dirty="0"/>
              <a:t>물류 비효율성 등의 이유로 여전히 상당량의 석탄을 수입하고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일본과 한국은 국내 석탄 자원이 거의 전무한 전형적인 순수입국으로</a:t>
            </a:r>
            <a:r>
              <a:rPr lang="en-US" altLang="ko-KR" sz="1600" dirty="0"/>
              <a:t>, </a:t>
            </a:r>
            <a:r>
              <a:rPr lang="ko-KR" altLang="en-US" sz="1600" dirty="0"/>
              <a:t>국제 가격 변동성 및 지정학적 리스크에 민감하게 반응하며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장기계약과 공급원 다변화 전략을 병행하고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14796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2199-0FA2-522A-EFDA-39A9628D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0F025-487C-D0D3-07F2-6B151E53A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040264-DB57-B281-930D-B9611918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CD7CA4D-B80F-D443-5AC0-E7B099AE6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07" b="4582"/>
          <a:stretch>
            <a:fillRect/>
          </a:stretch>
        </p:blipFill>
        <p:spPr>
          <a:xfrm>
            <a:off x="759793" y="2429564"/>
            <a:ext cx="4850296" cy="2663688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4288E905-0032-8886-B168-F854BA5E3E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4" b="6260"/>
          <a:stretch>
            <a:fillRect/>
          </a:stretch>
        </p:blipFill>
        <p:spPr>
          <a:xfrm>
            <a:off x="6517776" y="2376557"/>
            <a:ext cx="4850296" cy="2716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EDFB38-EE65-8DB1-F932-418377E59A3F}"/>
              </a:ext>
            </a:extLst>
          </p:cNvPr>
          <p:cNvSpPr txBox="1"/>
          <p:nvPr/>
        </p:nvSpPr>
        <p:spPr>
          <a:xfrm>
            <a:off x="1038356" y="2291064"/>
            <a:ext cx="4024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주요 석탄 수입국의 수입량</a:t>
            </a:r>
            <a:r>
              <a:rPr lang="en-US" altLang="ko-KR" sz="1200" spc="-50" dirty="0"/>
              <a:t> (</a:t>
            </a:r>
            <a:r>
              <a:rPr lang="ko-KR" altLang="en-US" sz="1200" spc="-50" dirty="0"/>
              <a:t>단위</a:t>
            </a:r>
            <a:r>
              <a:rPr lang="en-US" altLang="ko-KR" sz="1200" spc="-50" dirty="0"/>
              <a:t>: </a:t>
            </a:r>
            <a:r>
              <a:rPr lang="ko-KR" altLang="en-US" sz="1200" spc="-50" dirty="0" err="1"/>
              <a:t>엑사줄</a:t>
            </a:r>
            <a:r>
              <a:rPr lang="en-US" altLang="ko-KR" sz="1200" spc="-50" dirty="0"/>
              <a:t>, exajoules) 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E3014-0FF7-7712-DF7B-6BF8130B6D88}"/>
              </a:ext>
            </a:extLst>
          </p:cNvPr>
          <p:cNvSpPr txBox="1"/>
          <p:nvPr/>
        </p:nvSpPr>
        <p:spPr>
          <a:xfrm>
            <a:off x="6962539" y="2291064"/>
            <a:ext cx="3829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주요 석탄 수출국의 수입량</a:t>
            </a:r>
            <a:r>
              <a:rPr lang="en-US" altLang="ko-KR" sz="1200" spc="-50" dirty="0"/>
              <a:t> (</a:t>
            </a:r>
            <a:r>
              <a:rPr lang="ko-KR" altLang="en-US" sz="1200" spc="-50" dirty="0"/>
              <a:t>단위</a:t>
            </a:r>
            <a:r>
              <a:rPr lang="en-US" altLang="ko-KR" sz="1200" spc="-50" dirty="0"/>
              <a:t>: </a:t>
            </a:r>
            <a:r>
              <a:rPr lang="ko-KR" altLang="en-US" sz="1200" spc="-50" dirty="0" err="1"/>
              <a:t>엑사줄</a:t>
            </a:r>
            <a:r>
              <a:rPr lang="en-US" altLang="ko-KR" sz="1200" spc="-50" dirty="0"/>
              <a:t>, exajoules) &gt;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310A48-E158-8E85-FAD3-0B188DC9A901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아래 그림은 </a:t>
            </a:r>
            <a:r>
              <a:rPr lang="en-US" altLang="ko-KR" sz="1600" dirty="0"/>
              <a:t>2013</a:t>
            </a:r>
            <a:r>
              <a:rPr lang="ko-KR" altLang="en-US" sz="1600" dirty="0"/>
              <a:t>년부터 </a:t>
            </a:r>
            <a:r>
              <a:rPr lang="en-US" altLang="ko-KR" sz="1600" dirty="0"/>
              <a:t>2023</a:t>
            </a:r>
            <a:r>
              <a:rPr lang="ko-KR" altLang="en-US" sz="1600" dirty="0"/>
              <a:t>년까지 주요국의 석탄 수입량과 수출량을 나타내고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설명은 전 슬라이드 참고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904048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D8EE-1BD4-CD15-C2A4-77807A54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F4B20-508C-57DF-CB58-22ADBE5F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가격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F065F-7C6B-4EC9-78BD-C20B30CF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2839AA-357E-A2E4-FA06-0455661D7CAC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가격 결정의 기본적 메커니즘은 시장에서의 수급 균형이다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공급 측면에서는 주요생산국인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미국의 생산 능력</a:t>
            </a:r>
            <a:r>
              <a:rPr lang="en-US" altLang="ko-KR" sz="1600" dirty="0"/>
              <a:t>, </a:t>
            </a:r>
            <a:r>
              <a:rPr lang="ko-KR" altLang="en-US" sz="1600" dirty="0"/>
              <a:t>채굴비용</a:t>
            </a:r>
            <a:r>
              <a:rPr lang="en-US" altLang="ko-KR" sz="1600" dirty="0"/>
              <a:t>, </a:t>
            </a:r>
            <a:r>
              <a:rPr lang="ko-KR" altLang="en-US" sz="1600" dirty="0"/>
              <a:t>기후 및 정책 환경이 결정적 역할을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수요측면에서는 중국과 인도의 전력 수요 증가가 석탄소비를 견인하여 가격 상승 압력을 가중시킨다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아래는 지역별 석탄 가격을 보여주고 있다</a:t>
            </a:r>
            <a:r>
              <a:rPr lang="en-US" altLang="ko-KR" sz="1600" dirty="0"/>
              <a:t>. (</a:t>
            </a:r>
            <a:r>
              <a:rPr lang="ko-KR" altLang="en-US" sz="1600" dirty="0"/>
              <a:t>자세한 설명은 다음 슬라이드</a:t>
            </a:r>
            <a:r>
              <a:rPr lang="en-US" altLang="ko-KR" sz="1600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1A075B-C71D-3CE5-5915-747C1FD40F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98758" y="3219581"/>
            <a:ext cx="5542878" cy="33615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D08A4-C8B5-3C6E-D8E0-12A93032AA85}"/>
              </a:ext>
            </a:extLst>
          </p:cNvPr>
          <p:cNvSpPr txBox="1"/>
          <p:nvPr/>
        </p:nvSpPr>
        <p:spPr>
          <a:xfrm>
            <a:off x="3657978" y="3081081"/>
            <a:ext cx="4024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지역별 석탄 가격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달러</a:t>
            </a:r>
            <a:r>
              <a:rPr lang="en-US" altLang="ko-KR" sz="1200" spc="-50" dirty="0"/>
              <a:t>/</a:t>
            </a:r>
            <a:r>
              <a:rPr lang="ko-KR" altLang="en-US" sz="1200" spc="-50" dirty="0"/>
              <a:t>톤</a:t>
            </a:r>
            <a:r>
              <a:rPr lang="en-US" altLang="ko-KR" sz="1200" spc="-50" dirty="0"/>
              <a:t>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96498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1E337-E1DC-8A94-A7E5-99544649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C55EF-EB1A-8BD6-3719-39021C48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가격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42DB1-6D48-FA09-33DC-3669912C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7EBA6-AE55-D2D7-A887-AB5AF2A302FA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지정학적 갈등과 무역정책의 변화도 석탄 가격에 중대한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수출입 제재</a:t>
            </a:r>
            <a:r>
              <a:rPr lang="en-US" altLang="ko-KR" sz="1600" dirty="0"/>
              <a:t>, </a:t>
            </a:r>
            <a:r>
              <a:rPr lang="ko-KR" altLang="en-US" sz="1600" dirty="0"/>
              <a:t>수출 통제</a:t>
            </a:r>
            <a:r>
              <a:rPr lang="en-US" altLang="ko-KR" sz="1600" dirty="0"/>
              <a:t>, </a:t>
            </a:r>
            <a:r>
              <a:rPr lang="ko-KR" altLang="en-US" sz="1600" dirty="0"/>
              <a:t>무역 분쟁 등은 글로벌 공급망에 혼란을 야기하고 공급 부족을 초래하여 가격 급등을 유발할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이후 유럽의 러시아산 석탄 수입 중단이 대표적인 사례로</a:t>
            </a:r>
            <a:r>
              <a:rPr lang="en-US" altLang="ko-KR" sz="1600" dirty="0"/>
              <a:t>, </a:t>
            </a:r>
            <a:r>
              <a:rPr lang="ko-KR" altLang="en-US" sz="1600" dirty="0"/>
              <a:t>비러시아산 석탄의 수입 수요가 증가하면서 가격이 크게 상승하였다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환경정책의 변화 또 석탄가격에 중요한 영향을 미치고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 연합과 북미 지역은 강화된 탄소 규제를 통해 석탄 소비를 구조적으로 억제하고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환경규제가 느슨한 일부 개발도상국은 여전히 석탄이 주요 에너지원으로 활용되고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 내 시장 구조에 따라서도 석탄 가격이 달라진다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호주와 인도네시아처럼 소수의 대형 생산자가 우위를 점하고 있는 시장에서는 공급량의 전략적 조절로 인해 가격 안정성이 높아지는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중소 생산자가 난립하는 시장에서는 경쟁 심화로 인해 가격 변동성이 크게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30947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F8D1-ABAE-ABB4-6592-797349E6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95533-90C1-4667-4C10-13C4DC0B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가격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56CD9-8DD8-38BA-0636-31124A12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4D4BB-FC7F-1081-DA7D-4C3AE549AE48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가격은 용도별로 구분되는 시장 구조의 영향을 받기도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발전용 석탄과 제철용 </a:t>
            </a:r>
            <a:r>
              <a:rPr lang="ko-KR" altLang="en-US" sz="1600" dirty="0" err="1"/>
              <a:t>코크스탄은</a:t>
            </a:r>
            <a:r>
              <a:rPr lang="ko-KR" altLang="en-US" sz="1600" dirty="0"/>
              <a:t> 각각 독립된 시장을 형성하고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발전용 석탄은 계절적 수요</a:t>
            </a:r>
            <a:r>
              <a:rPr lang="en-US" altLang="ko-KR" sz="1600" dirty="0"/>
              <a:t>, </a:t>
            </a:r>
            <a:r>
              <a:rPr lang="ko-KR" altLang="en-US" sz="1600" dirty="0"/>
              <a:t>기온</a:t>
            </a:r>
            <a:r>
              <a:rPr lang="en-US" altLang="ko-KR" sz="1600" dirty="0"/>
              <a:t>, LNG </a:t>
            </a:r>
            <a:r>
              <a:rPr lang="ko-KR" altLang="en-US" sz="1600" dirty="0"/>
              <a:t>가격에 민감한 반응을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코크스탄은</a:t>
            </a:r>
            <a:r>
              <a:rPr lang="ko-KR" altLang="en-US" sz="1600" dirty="0"/>
              <a:t> 철강 수요와 글로벌 경기 흐름에 크게 의존한다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국제 석탄 시장에서는 표준화된 가격지수가 거래의 기준 역할을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호주 뉴캐슬 가격지수는 아시아 지역의 발전용 석탄 가격을 반영한다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API2 </a:t>
            </a:r>
            <a:r>
              <a:rPr lang="ko-KR" altLang="en-US" sz="1600" dirty="0"/>
              <a:t>지수는 유럽 내 석탄 수입가격의 벤치마크로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이들 지수는 품질</a:t>
            </a:r>
            <a:r>
              <a:rPr lang="en-US" altLang="ko-KR" sz="1600" dirty="0"/>
              <a:t>, </a:t>
            </a:r>
            <a:r>
              <a:rPr lang="ko-KR" altLang="en-US" sz="1600" dirty="0"/>
              <a:t>지역</a:t>
            </a:r>
            <a:r>
              <a:rPr lang="en-US" altLang="ko-KR" sz="1600" dirty="0"/>
              <a:t>, </a:t>
            </a:r>
            <a:r>
              <a:rPr lang="ko-KR" altLang="en-US" sz="1600" dirty="0"/>
              <a:t>운송조건 등을 반영한 가격정보를 제공하며</a:t>
            </a:r>
            <a:r>
              <a:rPr lang="en-US" altLang="ko-KR" sz="1600" dirty="0"/>
              <a:t>, </a:t>
            </a:r>
            <a:r>
              <a:rPr lang="ko-KR" altLang="en-US" sz="1600" dirty="0"/>
              <a:t>실물계약과 선물거래 모두에서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474308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502F-0528-3EDF-A225-5DDABB30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A372EA-D856-6D5C-A598-D9FB00ABE1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F8610-BFF7-A94E-BE6D-005ED2BA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4D21FAA-7D58-50E2-4F0A-D7ED0636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9. </a:t>
            </a:r>
            <a:r>
              <a:rPr lang="ko-KR" altLang="en-US" sz="4000" b="1" i="0" spc="150" dirty="0"/>
              <a:t>청정 석탄기술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539599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B9157-59D8-5BEB-F154-C1B829A9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A51B3-6FB5-4640-CD8E-98CEAF77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청정 석탄기술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40C0E2-4A6E-2496-BE6E-F9B8EA8D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59A97-D98A-434E-33E2-8F34F74DAF98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전통적인 석탄 연소에 따른 환경적 영향을 완화 하고자 다양한 청정 석탄 기술이 개발되고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초초임계압 발전</a:t>
            </a:r>
            <a:r>
              <a:rPr lang="en-US" altLang="ko-KR" sz="1600" dirty="0"/>
              <a:t> (USC, Ultra-Supercritical), </a:t>
            </a:r>
            <a:r>
              <a:rPr lang="ko-KR" altLang="en-US" sz="1600" dirty="0"/>
              <a:t>석탄가스화 복합발전</a:t>
            </a:r>
            <a:r>
              <a:rPr lang="en-US" altLang="ko-KR" sz="1600" dirty="0"/>
              <a:t> (IGCC: Integrated Gasification Combined Cycle), </a:t>
            </a:r>
            <a:r>
              <a:rPr lang="ko-KR" altLang="en-US" sz="1600" dirty="0" err="1"/>
              <a:t>탄소포집저장</a:t>
            </a:r>
            <a:r>
              <a:rPr lang="en-US" altLang="ko-KR" sz="1600" dirty="0"/>
              <a:t> (CCS: Carbon Capture and Storage) </a:t>
            </a:r>
            <a:r>
              <a:rPr lang="ko-KR" altLang="en-US" sz="1600" dirty="0"/>
              <a:t>기술이 가장 널리 주목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기술들은 석탄을 보다 효율적이고 친환경적으로 활용하기 위한 방안으로 제시되어 왔으며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국가는 실제 발전소에 적용하여 상용화하거나 실증단계에 진입한 사례도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초초임계압 발전 기술은 물의 임계점인 </a:t>
            </a:r>
            <a:r>
              <a:rPr lang="en-US" altLang="ko-KR" sz="1600" dirty="0"/>
              <a:t>374℃</a:t>
            </a:r>
            <a:r>
              <a:rPr lang="ko-KR" altLang="en-US" sz="1600" dirty="0"/>
              <a:t>와 </a:t>
            </a:r>
            <a:r>
              <a:rPr lang="en-US" altLang="ko-KR" sz="1600" dirty="0"/>
              <a:t>22.1MPa</a:t>
            </a:r>
            <a:r>
              <a:rPr lang="ko-KR" altLang="en-US" sz="1600" dirty="0"/>
              <a:t>를 초과하는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 조건에서 작동하여 증기터빈의 효율을 극대화함으로써 기존 석탄 발전 대비 열효율을 약 </a:t>
            </a:r>
            <a:r>
              <a:rPr lang="en-US" altLang="ko-KR" sz="1600" dirty="0"/>
              <a:t>10~15%</a:t>
            </a:r>
            <a:r>
              <a:rPr lang="ko-KR" altLang="en-US" sz="1600" dirty="0"/>
              <a:t>까지 향상시킬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이산화탄소 배출량도 동일한 전력 생산 기준에서 상당 부분 저감될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독일 등의 국가에서는 이미 </a:t>
            </a:r>
            <a:r>
              <a:rPr lang="en-US" altLang="ko-KR" sz="1600" dirty="0"/>
              <a:t>USC </a:t>
            </a:r>
            <a:r>
              <a:rPr lang="ko-KR" altLang="en-US" sz="1600" dirty="0"/>
              <a:t>기술을 상용화하여 발전소에 적용하고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기술 성숙도도 비교적 높은 수준으로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여전히 석탄을 주연료로 한다는 점에서 탄소중립 목표 달성에는 구조적인 한계가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기후변화 대응 전략과도 거리가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3103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2A06-EBCC-693B-D736-E4623147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EA1D4-2D13-E0D0-059B-4981719E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청정 석탄기술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10118-6AE9-AB3B-8F6E-132032A6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EF6FC-FAB0-6EE9-2D0C-2AA27A730C5B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석탄가스화 복합발전 </a:t>
            </a:r>
            <a:r>
              <a:rPr lang="en-US" altLang="ko-KR" sz="1600" dirty="0"/>
              <a:t>(IGCC)</a:t>
            </a:r>
            <a:r>
              <a:rPr lang="ko-KR" altLang="en-US" sz="1600" dirty="0"/>
              <a:t>은 석탄을 직접 연소하는 대신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가스화하여</a:t>
            </a:r>
            <a:r>
              <a:rPr lang="ko-KR" altLang="en-US" sz="1600" dirty="0"/>
              <a:t> 일산화탄소와 수소로 구성된 합성가스를 생산한 뒤 이를 연소하여 터빈을 구동하는 방식으로 작동한다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오염물질을 연소 이전의 가스화 단계에서 제거하므로</a:t>
            </a:r>
            <a:r>
              <a:rPr lang="en-US" altLang="ko-KR" sz="1600" dirty="0"/>
              <a:t>,</a:t>
            </a:r>
            <a:r>
              <a:rPr lang="ko-KR" altLang="en-US" sz="1600" dirty="0"/>
              <a:t> 환경적 측면에서 상대적으로 우수한 기술로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설계 및 운전 시스템이 복잡하고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투자비용이 기존 발전소 대비 </a:t>
            </a:r>
            <a:r>
              <a:rPr lang="en-US" altLang="ko-KR" sz="1600" dirty="0"/>
              <a:t>30~50%</a:t>
            </a:r>
            <a:r>
              <a:rPr lang="ko-KR" altLang="en-US" sz="1600" dirty="0"/>
              <a:t>이상 높고</a:t>
            </a:r>
            <a:r>
              <a:rPr lang="en-US" altLang="ko-KR" sz="1600" dirty="0"/>
              <a:t>, </a:t>
            </a:r>
            <a:r>
              <a:rPr lang="ko-KR" altLang="en-US" sz="1600" dirty="0"/>
              <a:t>운영의 안정성 확보가 쉽지 않다는 점에서 경제적 확장성이 낮다는 평가를 받고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탄소포집저장</a:t>
            </a:r>
            <a:r>
              <a:rPr lang="ko-KR" altLang="en-US" sz="1600" dirty="0"/>
              <a:t> </a:t>
            </a:r>
            <a:r>
              <a:rPr lang="en-US" altLang="ko-KR" sz="1600" dirty="0"/>
              <a:t>(CCS) </a:t>
            </a:r>
            <a:r>
              <a:rPr lang="ko-KR" altLang="en-US" sz="1600" dirty="0"/>
              <a:t>기술은 석탄 연소 과정에서 배출되는 이산화탄소를 </a:t>
            </a:r>
            <a:r>
              <a:rPr lang="ko-KR" altLang="en-US" sz="1600" dirty="0" err="1"/>
              <a:t>포집하여</a:t>
            </a:r>
            <a:r>
              <a:rPr lang="ko-KR" altLang="en-US" sz="1600" dirty="0"/>
              <a:t> 압축한 뒤 지하 지질 구조에 영구 저장함으로써 대기 중 배출을 차단하는 기술로</a:t>
            </a:r>
            <a:r>
              <a:rPr lang="en-US" altLang="ko-KR" sz="1600" dirty="0"/>
              <a:t>, </a:t>
            </a:r>
            <a:r>
              <a:rPr lang="ko-KR" altLang="en-US" sz="1600" dirty="0"/>
              <a:t>이론적으로는 발전소에서 배출하는 이산화탄소의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이상을 제거할 수 있는 고효율 기술이다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설비비와 운영비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포집한</a:t>
            </a:r>
            <a:r>
              <a:rPr lang="ko-KR" altLang="en-US" sz="1600" dirty="0"/>
              <a:t> 이산화탄소의 운송 및 저장에 따른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지질학적 리스크로 인해 경제성 확보에 큰 어려움이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전통 석탄화력발전소에 적용하는 경우 발전단가가 </a:t>
            </a:r>
            <a:r>
              <a:rPr lang="en-US" altLang="ko-KR" sz="1600" dirty="0"/>
              <a:t>50% </a:t>
            </a:r>
            <a:r>
              <a:rPr lang="ko-KR" altLang="en-US" sz="1600" dirty="0"/>
              <a:t>이상 증가할 수 있는 것으로 분석된다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8693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2891-EEDE-D309-E8C3-7ADBDDDC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095BA-A911-18C5-4783-FA5D832D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청정 석탄기술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849E8E-A614-768A-1A2B-650A2C6C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93A53-418E-E89D-75BE-8C39114E44D3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설명한 기술들은 에너지 효율성 제고와 온실가스 감축 측면에서 분명한 가능성을 보이고 있으나 경제성과 사회적 수용성의 측면에서는 여전히 많은 도전 과제를 안고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초초임계압 발전은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고압을 견딜 수 있는 특수 소재와 복잡한 운전 기술이 요구되기 때문에 건설 및 유지관리 비용이 높아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복합발전이나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등 재생에너지에 비해 상대적으로 낮은 시장 경쟁력을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석탄가스화 복합발전은 이론적으로 이상적인 기술이나</a:t>
            </a:r>
            <a:r>
              <a:rPr lang="en-US" altLang="ko-KR" sz="1600" dirty="0"/>
              <a:t>, </a:t>
            </a:r>
            <a:r>
              <a:rPr lang="ko-KR" altLang="en-US" sz="1600" dirty="0"/>
              <a:t>공정의 복잡성과 수익성 부족으로 상업화에 어려움이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탄소포집저장</a:t>
            </a:r>
            <a:r>
              <a:rPr lang="ko-KR" altLang="en-US" sz="1600" dirty="0"/>
              <a:t> 기술 또한 정책적 지원 없이는 채택되기 어려운 수준의 경제성과 기술적 제약을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기술적</a:t>
            </a:r>
            <a:r>
              <a:rPr lang="en-US" altLang="ko-KR" sz="1600" dirty="0"/>
              <a:t>, </a:t>
            </a:r>
            <a:r>
              <a:rPr lang="ko-KR" altLang="en-US" sz="1600" dirty="0"/>
              <a:t>경제적 성숙도 외에도 정책</a:t>
            </a:r>
            <a:r>
              <a:rPr lang="en-US" altLang="ko-KR" sz="1600" dirty="0"/>
              <a:t>, </a:t>
            </a:r>
            <a:r>
              <a:rPr lang="ko-KR" altLang="en-US" sz="1600" dirty="0"/>
              <a:t>제도</a:t>
            </a:r>
            <a:r>
              <a:rPr lang="en-US" altLang="ko-KR" sz="1600" dirty="0"/>
              <a:t>, </a:t>
            </a:r>
            <a:r>
              <a:rPr lang="ko-KR" altLang="en-US" sz="1600" dirty="0"/>
              <a:t>사회 인식 등의 환경에 따라 기술의 확산 속도가 좌우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ESG </a:t>
            </a:r>
            <a:r>
              <a:rPr lang="ko-KR" altLang="en-US" sz="1600" dirty="0"/>
              <a:t>기준의 강화</a:t>
            </a:r>
            <a:r>
              <a:rPr lang="en-US" altLang="ko-KR" sz="1600" dirty="0"/>
              <a:t>, </a:t>
            </a:r>
            <a:r>
              <a:rPr lang="ko-KR" altLang="en-US" sz="1600" dirty="0"/>
              <a:t>금융기관의 </a:t>
            </a:r>
            <a:r>
              <a:rPr lang="ko-KR" altLang="en-US" sz="1600" dirty="0" err="1"/>
              <a:t>탈석탄</a:t>
            </a:r>
            <a:r>
              <a:rPr lang="ko-KR" altLang="en-US" sz="1600" dirty="0"/>
              <a:t> 선언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탄소중립을 명시한 국가들이 확산되면서 석탄을 기반으로 하는 기술에 대한 신규 투자는 정치적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사회적으로 부담이 커지고 있는 현실이다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08659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BC00-A2FB-71AC-F2E7-A6AB1A2A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2D39AE-6E93-E852-0031-629430E3D8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216CA1-E430-58F6-13F3-CB0FBB12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D4DF8D8-9F32-5507-3E2A-E5E0B0B0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10. </a:t>
            </a:r>
            <a:r>
              <a:rPr lang="ko-KR" altLang="en-US" sz="4000" b="1" i="0" spc="150" dirty="0"/>
              <a:t>석탄시장의 구조변화와 좌초자산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074420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C836-248D-B35F-E2E1-62C6055A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30B4B-1BEA-20AB-96D2-8E981D4D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석탄시장의 구조변화와 좌초자산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EB122-D369-3440-248C-6DFF5C58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7CAD7-EB33-9C78-F115-A8E6EEC95A1E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석탄시장은 세계적인 에너지 전환 흐름에 따라 근본적인 구조 변화를 겪고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재생에너지와 천연가스 기술의 진보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가격경쟁력의 향상으로 인해</a:t>
            </a:r>
            <a:r>
              <a:rPr lang="en-US" altLang="ko-KR" sz="1600" dirty="0"/>
              <a:t>, </a:t>
            </a:r>
            <a:r>
              <a:rPr lang="ko-KR" altLang="en-US" sz="1600" dirty="0"/>
              <a:t>과거 석탄에 의존하던 국가들조차 석탄 소비를 점차 줄이는 추세를 보이고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변화는 단순한 수요 감소를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석탄 발전소</a:t>
            </a:r>
            <a:r>
              <a:rPr lang="en-US" altLang="ko-KR" sz="1600" dirty="0"/>
              <a:t>, </a:t>
            </a:r>
            <a:r>
              <a:rPr lang="ko-KR" altLang="en-US" sz="1600" dirty="0"/>
              <a:t>탄광</a:t>
            </a:r>
            <a:r>
              <a:rPr lang="en-US" altLang="ko-KR" sz="1600" dirty="0"/>
              <a:t>, </a:t>
            </a:r>
            <a:r>
              <a:rPr lang="ko-KR" altLang="en-US" sz="1600" dirty="0"/>
              <a:t>물류 인프라 등 석탄 관련 자산의 경제적 가치 하락을 초래하며</a:t>
            </a:r>
            <a:r>
              <a:rPr lang="en-US" altLang="ko-KR" sz="1600" dirty="0"/>
              <a:t>, ‘</a:t>
            </a:r>
            <a:r>
              <a:rPr lang="ko-KR" altLang="en-US" sz="1600" dirty="0"/>
              <a:t>좌초자산 </a:t>
            </a:r>
            <a:r>
              <a:rPr lang="en-US" altLang="ko-KR" sz="1600" dirty="0"/>
              <a:t>(stranded assets)‘ </a:t>
            </a:r>
            <a:r>
              <a:rPr lang="ko-KR" altLang="en-US" sz="1600" dirty="0"/>
              <a:t>문제를 </a:t>
            </a:r>
            <a:r>
              <a:rPr lang="ko-KR" altLang="en-US" sz="1600" dirty="0" err="1"/>
              <a:t>심화시키고</a:t>
            </a:r>
            <a:r>
              <a:rPr lang="ko-KR" altLang="en-US" sz="1600" dirty="0"/>
              <a:t>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좌초자산은 기술</a:t>
            </a:r>
            <a:r>
              <a:rPr lang="en-US" altLang="ko-KR" sz="1600" dirty="0"/>
              <a:t>, </a:t>
            </a:r>
            <a:r>
              <a:rPr lang="ko-KR" altLang="en-US" sz="1600" dirty="0"/>
              <a:t>시장</a:t>
            </a:r>
            <a:r>
              <a:rPr lang="en-US" altLang="ko-KR" sz="1600" dirty="0"/>
              <a:t>, </a:t>
            </a:r>
            <a:r>
              <a:rPr lang="ko-KR" altLang="en-US" sz="1600" dirty="0"/>
              <a:t>규제 환경의 변화로 인해 자산으로부터 기대하던 수익을 실현하지 못하고 조기에 사용이 중단되는 자산을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화력발전소는 보통 </a:t>
            </a:r>
            <a:r>
              <a:rPr lang="en-US" altLang="ko-KR" sz="1600" dirty="0"/>
              <a:t>30~40</a:t>
            </a:r>
            <a:r>
              <a:rPr lang="ko-KR" altLang="en-US" sz="1600" dirty="0"/>
              <a:t>년의 경제적 수명을 전제로 설계되었으나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실제 운용기간이 단축되고 조기 </a:t>
            </a:r>
            <a:r>
              <a:rPr lang="ko-KR" altLang="en-US" sz="1600" dirty="0" err="1"/>
              <a:t>폐쇠하는</a:t>
            </a:r>
            <a:r>
              <a:rPr lang="ko-KR" altLang="en-US" sz="1600" dirty="0"/>
              <a:t> 사례가 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독일은 </a:t>
            </a:r>
            <a:r>
              <a:rPr lang="en-US" altLang="ko-KR" sz="1600" dirty="0"/>
              <a:t>2038</a:t>
            </a:r>
            <a:r>
              <a:rPr lang="ko-KR" altLang="en-US" sz="1600" dirty="0"/>
              <a:t>년까지 모든 석탄발전소를 폐쇄하겠다는 목표를 세워</a:t>
            </a:r>
            <a:r>
              <a:rPr lang="en-US" altLang="ko-KR" sz="1600" dirty="0"/>
              <a:t>, </a:t>
            </a:r>
            <a:r>
              <a:rPr lang="ko-KR" altLang="en-US" sz="1600" dirty="0"/>
              <a:t>상당수 발전설비가 좌초자산으로 전환되고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호주와</a:t>
            </a:r>
            <a:r>
              <a:rPr lang="en-US" altLang="ko-KR" sz="1600" dirty="0"/>
              <a:t> </a:t>
            </a:r>
            <a:r>
              <a:rPr lang="ko-KR" altLang="en-US" sz="1600" dirty="0"/>
              <a:t>미국에서도 석탄발전 설비의 조기 폐쇄와 설비 가동 중단이 급증하고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60619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B4C5-1150-83E2-D4D5-8BB342F8B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5F67C-1E0A-50C5-C12F-71FD205E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석탄시장의 구조변화와 좌초자산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9B6CB-6C34-D0DE-D2E8-DEA423D5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04B55-7FF2-119D-BB16-5CFE84DEFC00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좌초자산 문제는 에너지 부문을 넘어 금융시장 전반에도 부정적인 파급효과를 가져오고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세계 주요 연기금과 민간 금융기관들은 석탄 관련 자산에서 투자 철회를 확대하고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그 결과로 석탄관련 기업의 주가 하락</a:t>
            </a:r>
            <a:r>
              <a:rPr lang="en-US" altLang="ko-KR" sz="1600" dirty="0"/>
              <a:t>, </a:t>
            </a:r>
            <a:r>
              <a:rPr lang="ko-KR" altLang="en-US" sz="1600" dirty="0"/>
              <a:t>신용등급 저하</a:t>
            </a:r>
            <a:r>
              <a:rPr lang="en-US" altLang="ko-KR" sz="1600" dirty="0"/>
              <a:t>, </a:t>
            </a:r>
            <a:r>
              <a:rPr lang="ko-KR" altLang="en-US" sz="1600" dirty="0"/>
              <a:t>자금조달 비용 상승 등 금융적 좌초 현상이 현실화되고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좌초자산은 지역사회와 고용시장에도 심각한 사회경제적 충격을 야기할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산업이 지역경제의 중심을 이루는 지방정부의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석탄자산의 조기 퇴출은 고용 감소</a:t>
            </a:r>
            <a:r>
              <a:rPr lang="en-US" altLang="ko-KR" sz="1600" dirty="0"/>
              <a:t>, </a:t>
            </a:r>
            <a:r>
              <a:rPr lang="ko-KR" altLang="en-US" sz="1600" dirty="0"/>
              <a:t>세수 축소</a:t>
            </a:r>
            <a:r>
              <a:rPr lang="en-US" altLang="ko-KR" sz="1600" dirty="0"/>
              <a:t>, </a:t>
            </a:r>
            <a:r>
              <a:rPr lang="ko-KR" altLang="en-US" sz="1600" dirty="0"/>
              <a:t>소비 위축으로 이어지며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에너지 전환 과정에서 정의롭지 못한 결과를 보여주는 사례가 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사회안전망이 취약한 개발도상국에서는 노동 전환이 어려워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정의와 </a:t>
            </a:r>
            <a:r>
              <a:rPr lang="en-US" altLang="ko-KR" sz="1600" dirty="0"/>
              <a:t>‘</a:t>
            </a:r>
            <a:r>
              <a:rPr lang="ko-KR" altLang="en-US" sz="1600" dirty="0"/>
              <a:t>공정 전환</a:t>
            </a:r>
            <a:r>
              <a:rPr lang="en-US" altLang="ko-KR" sz="1600" dirty="0"/>
              <a:t>‘ </a:t>
            </a:r>
            <a:r>
              <a:rPr lang="ko-KR" altLang="en-US" sz="1600" dirty="0"/>
              <a:t>실현을 위한 정책적 개입이 더욱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이에 대한 정책적 대응 전략으로</a:t>
            </a:r>
            <a:r>
              <a:rPr lang="en-US" altLang="ko-KR" sz="1600" dirty="0"/>
              <a:t>, </a:t>
            </a:r>
            <a:r>
              <a:rPr lang="ko-KR" altLang="en-US" sz="1600" dirty="0"/>
              <a:t>좌초위험 자산의 조기 식별</a:t>
            </a:r>
            <a:r>
              <a:rPr lang="en-US" altLang="ko-KR" sz="1600" dirty="0"/>
              <a:t>, </a:t>
            </a:r>
            <a:r>
              <a:rPr lang="ko-KR" altLang="en-US" sz="1600" dirty="0"/>
              <a:t>평가 시스템 구축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탈석탄</a:t>
            </a:r>
            <a:r>
              <a:rPr lang="ko-KR" altLang="en-US" sz="1600" dirty="0"/>
              <a:t> 기업에 대한 보상 및 고용 전환 지원 프로그램 설계</a:t>
            </a:r>
            <a:r>
              <a:rPr lang="en-US" altLang="ko-KR" sz="1600" dirty="0"/>
              <a:t>, </a:t>
            </a:r>
            <a:r>
              <a:rPr lang="ko-KR" altLang="en-US" sz="1600" dirty="0"/>
              <a:t>재교육 인프라 확충</a:t>
            </a:r>
            <a:r>
              <a:rPr lang="en-US" altLang="ko-KR" sz="1600" dirty="0"/>
              <a:t> </a:t>
            </a:r>
            <a:r>
              <a:rPr lang="ko-KR" altLang="en-US" sz="1600" dirty="0"/>
              <a:t>등이 병행되어야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76901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11148</TotalTime>
  <Words>5664</Words>
  <Application>Microsoft Office PowerPoint</Application>
  <PresentationFormat>와이드스크린</PresentationFormat>
  <Paragraphs>676</Paragraphs>
  <Slides>52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52</vt:i4>
      </vt:variant>
    </vt:vector>
  </HeadingPairs>
  <TitlesOfParts>
    <vt:vector size="58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3  석탄 시장</vt:lpstr>
      <vt:lpstr>Section 1. 개 론</vt:lpstr>
      <vt:lpstr>서론</vt:lpstr>
      <vt:lpstr>서론</vt:lpstr>
      <vt:lpstr>Section 2. 석탄산업의 역사</vt:lpstr>
      <vt:lpstr>석탄산업의 역사</vt:lpstr>
      <vt:lpstr>석탄산업의 역사</vt:lpstr>
      <vt:lpstr>Section 3. 석탄의 분류와 특징</vt:lpstr>
      <vt:lpstr>석탄의 분류와 특징</vt:lpstr>
      <vt:lpstr>석탄의 분류와 특징</vt:lpstr>
      <vt:lpstr>석탄의 분류와 특징</vt:lpstr>
      <vt:lpstr>석탄의 분류와 특징</vt:lpstr>
      <vt:lpstr>석탄의 분류와 특징</vt:lpstr>
      <vt:lpstr>석탄의 분류와 특징</vt:lpstr>
      <vt:lpstr>Section 4. 석탄의 가치사슬</vt:lpstr>
      <vt:lpstr>탐사와 채굴</vt:lpstr>
      <vt:lpstr>처리 및 세정</vt:lpstr>
      <vt:lpstr>수송과 물류</vt:lpstr>
      <vt:lpstr>전환과 활용</vt:lpstr>
      <vt:lpstr>전환과 활용</vt:lpstr>
      <vt:lpstr>판매</vt:lpstr>
      <vt:lpstr>Section 5. 석탄생산기술과 비용구조</vt:lpstr>
      <vt:lpstr>석탄생산기술과 비용구조</vt:lpstr>
      <vt:lpstr>석탄생산기술과 비용구조</vt:lpstr>
      <vt:lpstr>석탄생산기술과 비용구조</vt:lpstr>
      <vt:lpstr>Section 6.  석탄채굴과정의 사회적 환경적 문제</vt:lpstr>
      <vt:lpstr>채굴과정에서의 사회적·환경적 문제</vt:lpstr>
      <vt:lpstr>채굴과정에서의 사회적·환경적 문제</vt:lpstr>
      <vt:lpstr>Section 7. 석탄산업의 구조와 경쟁</vt:lpstr>
      <vt:lpstr>산업구조</vt:lpstr>
      <vt:lpstr>시장경쟁 요소</vt:lpstr>
      <vt:lpstr>Section 8. 석탄시장의 거래 현황</vt:lpstr>
      <vt:lpstr>석탄 매장량</vt:lpstr>
      <vt:lpstr>석탄 매장량</vt:lpstr>
      <vt:lpstr>석탄 생산</vt:lpstr>
      <vt:lpstr>석탄 매장량</vt:lpstr>
      <vt:lpstr>석탄 소비</vt:lpstr>
      <vt:lpstr>석탄 소비량</vt:lpstr>
      <vt:lpstr>석탄 수출입</vt:lpstr>
      <vt:lpstr>석탄 수출입</vt:lpstr>
      <vt:lpstr>석탄 가격</vt:lpstr>
      <vt:lpstr>석탄 가격</vt:lpstr>
      <vt:lpstr>석탄 가격</vt:lpstr>
      <vt:lpstr>Section 9. 청정 석탄기술</vt:lpstr>
      <vt:lpstr>청정 석탄기술</vt:lpstr>
      <vt:lpstr>청정 석탄기술</vt:lpstr>
      <vt:lpstr>청정 석탄기술</vt:lpstr>
      <vt:lpstr>Section 10. 석탄시장의 구조변화와 좌초자산</vt:lpstr>
      <vt:lpstr>석탄시장의 구조변화와 좌초자산</vt:lpstr>
      <vt:lpstr>석탄시장의 구조변화와 좌초자산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470</cp:revision>
  <dcterms:created xsi:type="dcterms:W3CDTF">2025-07-05T05:15:23Z</dcterms:created>
  <dcterms:modified xsi:type="dcterms:W3CDTF">2026-06-18T01:39:39Z</dcterms:modified>
</cp:coreProperties>
</file>