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9"/>
  </p:notesMasterIdLst>
  <p:sldIdLst>
    <p:sldId id="375" r:id="rId2"/>
    <p:sldId id="405" r:id="rId3"/>
    <p:sldId id="550" r:id="rId4"/>
    <p:sldId id="376" r:id="rId5"/>
    <p:sldId id="609" r:id="rId6"/>
    <p:sldId id="599" r:id="rId7"/>
    <p:sldId id="610" r:id="rId8"/>
    <p:sldId id="611" r:id="rId9"/>
    <p:sldId id="601" r:id="rId10"/>
    <p:sldId id="612" r:id="rId11"/>
    <p:sldId id="613" r:id="rId12"/>
    <p:sldId id="614" r:id="rId13"/>
    <p:sldId id="618" r:id="rId14"/>
    <p:sldId id="615" r:id="rId15"/>
    <p:sldId id="617" r:id="rId16"/>
    <p:sldId id="602" r:id="rId17"/>
    <p:sldId id="619" r:id="rId18"/>
    <p:sldId id="620" r:id="rId19"/>
    <p:sldId id="621" r:id="rId20"/>
    <p:sldId id="622" r:id="rId21"/>
    <p:sldId id="623" r:id="rId22"/>
    <p:sldId id="624" r:id="rId23"/>
    <p:sldId id="603" r:id="rId24"/>
    <p:sldId id="625" r:id="rId25"/>
    <p:sldId id="626" r:id="rId26"/>
    <p:sldId id="627" r:id="rId27"/>
    <p:sldId id="604" r:id="rId28"/>
    <p:sldId id="628" r:id="rId29"/>
    <p:sldId id="629" r:id="rId30"/>
    <p:sldId id="606" r:id="rId31"/>
    <p:sldId id="630" r:id="rId32"/>
    <p:sldId id="631" r:id="rId33"/>
    <p:sldId id="605" r:id="rId34"/>
    <p:sldId id="632" r:id="rId35"/>
    <p:sldId id="633" r:id="rId36"/>
    <p:sldId id="634" r:id="rId37"/>
    <p:sldId id="635" r:id="rId38"/>
    <p:sldId id="636" r:id="rId39"/>
    <p:sldId id="637" r:id="rId40"/>
    <p:sldId id="638" r:id="rId41"/>
    <p:sldId id="639" r:id="rId42"/>
    <p:sldId id="640" r:id="rId43"/>
    <p:sldId id="641" r:id="rId44"/>
    <p:sldId id="607" r:id="rId45"/>
    <p:sldId id="608" r:id="rId46"/>
    <p:sldId id="600" r:id="rId47"/>
    <p:sldId id="598" r:id="rId4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4" d="100"/>
          <a:sy n="144" d="100"/>
        </p:scale>
        <p:origin x="900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- 4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석탄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수세기 동안 산업화의 견인차로서 글로벌 에너지 체계 형성에 중대한 역할을 수행해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중국과 로마 시대에도 석탄은 난방 및 금속 가공에 제한적으로 사용되었지만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 전략적 중요성이 본격적으로 부각된 시기는 </a:t>
            </a:r>
            <a:r>
              <a:rPr lang="en-US" altLang="ko-KR" sz="1600" dirty="0"/>
              <a:t>18</a:t>
            </a:r>
            <a:r>
              <a:rPr lang="ko-KR" altLang="en-US" sz="1600" dirty="0"/>
              <a:t>세기 후반부터 시작된 산업혁명 시기다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시기 석탄은 증기기관의 주요 연료로 사용되며 </a:t>
            </a:r>
            <a:r>
              <a:rPr lang="ko-KR" altLang="en-US" sz="1600" dirty="0" err="1"/>
              <a:t>면직업</a:t>
            </a:r>
            <a:r>
              <a:rPr lang="en-US" altLang="ko-KR" sz="1600" dirty="0"/>
              <a:t>, </a:t>
            </a:r>
            <a:r>
              <a:rPr lang="ko-KR" altLang="en-US" sz="1600" dirty="0"/>
              <a:t>철도 운송 등 기계화된 산업 부문의 비약적 성장을 가능하게 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영국</a:t>
            </a:r>
            <a:r>
              <a:rPr lang="en-US" altLang="ko-KR" sz="1600" dirty="0"/>
              <a:t>, </a:t>
            </a: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주요 산업국의 경제적 도약을 견인하였다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</a:t>
            </a:r>
            <a:r>
              <a:rPr lang="ko-KR" altLang="en-US" sz="1600" dirty="0"/>
              <a:t>세기 후반부터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초반까지 석탄은 가정용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공장동력</a:t>
            </a:r>
            <a:r>
              <a:rPr lang="en-US" altLang="ko-KR" sz="1600" dirty="0"/>
              <a:t>, </a:t>
            </a:r>
            <a:r>
              <a:rPr lang="ko-KR" altLang="en-US" sz="1600" dirty="0"/>
              <a:t>전력생산 등 광범위한 부문에서 주요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에너지원으로 기능하며 에너지 소비의 중심축을 형성하였다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유럽과 북미 지역을 중심으로 대규모 광산 개발과 철도망 확충이 이루어지면서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산업화와 도시화를 가속화하는 기반 인프라로 작용하였다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A923-B4DD-A907-2D8B-D6044F6F5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1A0F4-CC65-8E27-4A59-54417250F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5026A-C2F6-E1CD-95EA-4269B6F0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8FC786-BA6B-5C03-44D8-6D9CE0578FA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중반 이후 석유 및 천연가스와 같은</a:t>
            </a:r>
            <a:r>
              <a:rPr lang="en-US" altLang="ko-KR" sz="1600" dirty="0"/>
              <a:t>, </a:t>
            </a:r>
            <a:r>
              <a:rPr lang="ko-KR" altLang="en-US" sz="1600" dirty="0"/>
              <a:t>보다 높은 에너지 밀도와 유연성을 지닌 에너지원의 등장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원자력 발전의 도입은 석탄의 상대적 위상을 점차 약화시키는 계기가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더욱이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및 연소 과정에서의 대기오염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</a:t>
            </a:r>
            <a:r>
              <a:rPr lang="en-US" altLang="ko-KR" sz="1600" dirty="0"/>
              <a:t>, </a:t>
            </a:r>
            <a:r>
              <a:rPr lang="ko-KR" altLang="en-US" sz="1600" dirty="0"/>
              <a:t>광산 노동자의 건강 문제 등 부정적 외부효과는 석탄 산업에 대한 국제사회의 비판적 시각을 </a:t>
            </a:r>
            <a:r>
              <a:rPr lang="ko-KR" altLang="en-US" sz="1600" dirty="0" err="1"/>
              <a:t>강화시켰으며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규제의 강화와 탈탄소화 전환을 촉진하는 요인으로 작용하였다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대응을 위한 글로벌 협약과 국가별 탄소중립 목표는 석탄의 단계적 축소를 </a:t>
            </a:r>
            <a:r>
              <a:rPr lang="ko-KR" altLang="en-US" sz="1600" dirty="0" err="1"/>
              <a:t>가속화시키고</a:t>
            </a:r>
            <a:r>
              <a:rPr lang="ko-KR" altLang="en-US" sz="1600" dirty="0"/>
              <a:t> 있다</a:t>
            </a:r>
            <a:r>
              <a:rPr lang="en-US" altLang="ko-KR" sz="160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여전히 세계 에너지 믹스의 약 </a:t>
            </a:r>
            <a:r>
              <a:rPr lang="en-US" altLang="ko-KR" sz="1600" dirty="0"/>
              <a:t>25~30%</a:t>
            </a:r>
            <a:r>
              <a:rPr lang="ko-KR" altLang="en-US" sz="1600" dirty="0"/>
              <a:t>를 차지하는 주요 자원으로 남아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수급의 신뢰성과 가격경쟁력을 중시하는 개발도상국에서는 에너지 안보 확보와 경제성 측면에서 여전히 전략적인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현대의 석탄시장은 공급망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 변수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정책과의 충돌</a:t>
            </a:r>
            <a:r>
              <a:rPr lang="en-US" altLang="ko-KR" sz="1600" dirty="0"/>
              <a:t>, </a:t>
            </a:r>
            <a:r>
              <a:rPr lang="ko-KR" altLang="en-US" sz="1600" dirty="0"/>
              <a:t>청정기술 도입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금융의 탈석탄화 흐름</a:t>
            </a:r>
            <a:r>
              <a:rPr lang="en-US" altLang="ko-KR" sz="1600" dirty="0"/>
              <a:t> </a:t>
            </a:r>
            <a:r>
              <a:rPr lang="ko-KR" altLang="en-US" sz="1600" dirty="0"/>
              <a:t>등 복합적인 요소가 작용하는 불확실성으로 특징지어진다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7818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A1B6B-7E50-1361-1865-152921E2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A5B9EC-1D0F-A920-3DDD-3C7E481F84B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81D2D4-A872-FD00-B41F-0BABB307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B24812-E156-DDA7-328C-86685F84E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석탄산업의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81071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8857B-3683-2BC3-A086-B64A2E17A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7328EF-F34F-8995-A223-A4E560812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5E0A92-85AA-8412-935C-D0C55D22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F4D06-06D6-0B4D-6DC6-5F57827D95E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사용은 수천년 전으로 거슬러 올라가지만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본격적인 산업적인 용도의 활용은 근대 초기에 비로소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기록에 따르면 중국에서는 기원전 </a:t>
            </a:r>
            <a:r>
              <a:rPr lang="en-US" altLang="ko-KR" sz="1600" dirty="0"/>
              <a:t>1000</a:t>
            </a:r>
            <a:r>
              <a:rPr lang="ko-KR" altLang="en-US" sz="1600" dirty="0" err="1"/>
              <a:t>년경부터</a:t>
            </a:r>
            <a:r>
              <a:rPr lang="ko-KR" altLang="en-US" sz="1600" dirty="0"/>
              <a:t> 석탄을 난방 연료로 사용하였다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로마 제국 시기인 서기 </a:t>
            </a:r>
            <a:r>
              <a:rPr lang="en-US" altLang="ko-KR" sz="1600" dirty="0"/>
              <a:t>200</a:t>
            </a:r>
            <a:r>
              <a:rPr lang="ko-KR" altLang="en-US" sz="1600" dirty="0" err="1"/>
              <a:t>년경에도</a:t>
            </a:r>
            <a:r>
              <a:rPr lang="ko-KR" altLang="en-US" sz="1600" dirty="0"/>
              <a:t> 석탄 사용이 확인된다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석탄이 산업적으로 광범위하게 사용되기 시작한 것은 </a:t>
            </a:r>
            <a:r>
              <a:rPr lang="en-US" altLang="ko-KR" sz="1600" dirty="0"/>
              <a:t>13</a:t>
            </a:r>
            <a:r>
              <a:rPr lang="ko-KR" altLang="en-US" sz="1600" dirty="0"/>
              <a:t>세기경 영국이며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난방과 대장장이업에서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16</a:t>
            </a:r>
            <a:r>
              <a:rPr lang="ko-KR" altLang="en-US" sz="1600" dirty="0"/>
              <a:t>세기 말부터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초</a:t>
            </a:r>
            <a:r>
              <a:rPr lang="en-US" altLang="ko-KR" sz="1600" dirty="0"/>
              <a:t>,</a:t>
            </a:r>
            <a:r>
              <a:rPr lang="ko-KR" altLang="en-US" sz="1600" dirty="0"/>
              <a:t> 인구증가와 수공업의 확대에 따라 에너지 수요가 급증하고 석탄채굴이 산업화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말까지 영국에서는 탄광이 경제의 핵심부문으로 성장하였다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목재의 대체재로서 중요한 역할을 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18</a:t>
            </a:r>
            <a:r>
              <a:rPr lang="ko-KR" altLang="en-US" sz="1600" dirty="0"/>
              <a:t>세기 말 산업혁명의 도래는 석탄의 역사에서 결정적인 전환점을 이룬다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새로운 기술과 기계의 출현으로 에너지 수요가 급증한다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목재 및 숯을 대체하는 에너지원이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증기기관의 동력원으로서 섬유</a:t>
            </a:r>
            <a:r>
              <a:rPr lang="en-US" altLang="ko-KR" sz="1600" dirty="0"/>
              <a:t>, </a:t>
            </a: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강철 산업 등의 기반이 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내내 석탄은 영국 경제의 중심이 되었으며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유사한 경향이 독일과 미국에서도 나타났다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61192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7412D-3BFB-B909-0EE7-82B7F857B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93ACDE-375F-F406-9EEA-DA57D0B24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2737CC-BE48-2795-5D30-5CE201BBF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EA76E8-64EB-EBD7-1C9F-A0261C6B074C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세기에는 석탄 생산이 정점을 맞이하며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제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 기간 동안 군수 산업과 전쟁 수행에 있어 필수적인 에너지원으로 기능하였다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전후에는 석유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원자력의 확산과 함께 석탄의 상대적 비중은 점차 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석탄채굴과 연소로 인한 환경오염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저하</a:t>
            </a:r>
            <a:r>
              <a:rPr lang="en-US" altLang="ko-KR" sz="1600" dirty="0"/>
              <a:t>, </a:t>
            </a:r>
            <a:r>
              <a:rPr lang="ko-KR" altLang="en-US" sz="1600" dirty="0"/>
              <a:t>건강 피해 등의 사회문제가 부상하며 쇠퇴하기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</a:t>
            </a:r>
            <a:r>
              <a:rPr lang="ko-KR" altLang="en-US" sz="1600" dirty="0"/>
              <a:t>세기 후반 이후 유럽과 북미의 많은 탄광이 폐쇄되고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산업의 중심은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생산비용이 낮고 수요가 지속되는 지역으로 이동하였다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이와 같은 </a:t>
            </a:r>
            <a:r>
              <a:rPr lang="ko-KR" altLang="en-US" sz="1600" dirty="0" err="1"/>
              <a:t>쇄락에도</a:t>
            </a:r>
            <a:r>
              <a:rPr lang="ko-KR" altLang="en-US" sz="1600" dirty="0"/>
              <a:t> 불구하고 여전히 개발도상국에서는 접근성과 경제성 측면에서 유리한 에너지원이다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석탄 산업은 전 세계적으로 복합적인 도전에 직면하고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탈탄소화를 위한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기술의 확산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석탄 투자 회피 등은 석탄 생산 및 소비에 지속적인 압력을 가하고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선진국에서는 석탄이 청정에너지로 점차 대체되고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 일부 국가에서는 여전히 석탄이 에너지믹스의 중추적인 역할을 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1014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4925B-FC5E-7414-224B-EA1EA7745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070160-2621-1C89-F1B7-14BFDDB3A72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3B466-923D-9B07-EDF4-95ACD444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CFA0951-55A3-A100-0D0F-267D31818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석탄의 분류와 특징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46686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18232-325B-109E-E755-C7762A18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5093F-8BE7-16FE-9229-C179F9D56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DAA90-9C6A-88B8-8B4B-6481FA05E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19CCB4-17D0-C488-9EDC-1B2A7D071D41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물리적 및 화학적 특성은 석탄화 과정에서 원 식물 유기물이 얼마나 완전히 탄화 되었는지에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과정은 유기물이 열과 압력을 받아 석탄으로 전환되는 탄화과정을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석탄화 정도에 따라 석탄은 탄소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</a:t>
            </a:r>
            <a:r>
              <a:rPr lang="en-US" altLang="ko-KR" sz="1600" dirty="0"/>
              <a:t>, </a:t>
            </a:r>
            <a:r>
              <a:rPr lang="ko-KR" altLang="en-US" sz="1600" dirty="0"/>
              <a:t>휘발성분</a:t>
            </a:r>
            <a:r>
              <a:rPr lang="en-US" altLang="ko-KR" sz="1600" dirty="0"/>
              <a:t>, </a:t>
            </a:r>
            <a:r>
              <a:rPr lang="ko-KR" altLang="en-US" sz="1600" dirty="0"/>
              <a:t>회분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 등의 특성이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갈탄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 으로 분류된다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경제적 측면에서 가장 저렴한 화석연료로 간주되고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석유나 천연가스에 비해 채굴</a:t>
            </a:r>
            <a:r>
              <a:rPr lang="en-US" altLang="ko-KR" sz="1600" dirty="0"/>
              <a:t>·</a:t>
            </a:r>
            <a:r>
              <a:rPr lang="ko-KR" altLang="en-US" sz="1600" dirty="0"/>
              <a:t>취급 비용이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재생에너지의 비용이 지속적으로 하락하고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환경규제와 탄소가격제도가 강화되면서 석탄의 경제성은 점점 악화되고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881235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0F2C-3F1B-38F6-9C0F-C2AB119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690FD-974C-97D3-ED43-51CCE2E27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5B807-831D-CED5-05BB-BA2EA954C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29CBC-506A-EA60-A9F6-E4FB6145ED8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갈탄</a:t>
            </a: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탄화과정이 충분히 진행되지 않은</a:t>
            </a:r>
            <a:r>
              <a:rPr lang="en-US" altLang="ko-KR" sz="1600" dirty="0"/>
              <a:t>, </a:t>
            </a:r>
            <a:r>
              <a:rPr lang="ko-KR" altLang="en-US" sz="1600" dirty="0"/>
              <a:t>석탄화 정도가 가장 낮은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 함량이 </a:t>
            </a:r>
            <a:r>
              <a:rPr lang="en-US" altLang="ko-KR" sz="1600" dirty="0"/>
              <a:t>30%</a:t>
            </a:r>
            <a:r>
              <a:rPr lang="ko-KR" altLang="en-US" sz="1600" dirty="0"/>
              <a:t>에 불과하고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연소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운송과정에도 제약이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흑갈색을 띠며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부드럽고 쉽게 부서지는 성질을 갖고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분쇄는 용이하나</a:t>
            </a:r>
            <a:r>
              <a:rPr lang="en-US" altLang="ko-KR" sz="1600" dirty="0"/>
              <a:t>, </a:t>
            </a:r>
            <a:r>
              <a:rPr lang="ko-KR" altLang="en-US" sz="1600" dirty="0"/>
              <a:t>취급 과정에서 손실이 발생하기 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갈탄의 발열량은 다른 탄에 비해 낮은 수준이다</a:t>
            </a:r>
            <a:r>
              <a:rPr lang="en-US" altLang="ko-KR" sz="1600" dirty="0"/>
              <a:t>. (10~20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 인해 갈탄은 대규모 산업용보다 발전소에서 전력 생산용 연료로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장거리 </a:t>
            </a:r>
            <a:r>
              <a:rPr lang="ko-KR" altLang="en-US" sz="1600" dirty="0" err="1"/>
              <a:t>수송시</a:t>
            </a:r>
            <a:r>
              <a:rPr lang="ko-KR" altLang="en-US" sz="1600" dirty="0"/>
              <a:t> 수분이 증발하여 에너지손실과 물류비용이 커지기 때문에 광산 인근에 위치한 광산밀착형 발전소에서 직접 소비되는 경우가 일반적이다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에너지 밀도가 낮고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연소시</a:t>
            </a:r>
            <a:r>
              <a:rPr lang="ko-KR" altLang="en-US" sz="1600" dirty="0"/>
              <a:t> 오염물질 </a:t>
            </a:r>
            <a:r>
              <a:rPr lang="en-US" altLang="ko-KR" sz="1600" dirty="0"/>
              <a:t>(</a:t>
            </a:r>
            <a:r>
              <a:rPr lang="ko-KR" altLang="en-US" sz="1600" dirty="0"/>
              <a:t>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등</a:t>
            </a:r>
            <a:r>
              <a:rPr lang="en-US" altLang="ko-KR" sz="1600" dirty="0"/>
              <a:t>)</a:t>
            </a:r>
            <a:r>
              <a:rPr lang="ko-KR" altLang="en-US" sz="1600" dirty="0"/>
              <a:t>을 다량 배출하기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환경적 측면에서는 가장 부정적인 평가를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환경문제로 많은 국가에서 갈탄 기반 발전소 신규건설을 제한하고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조기퇴출을 검토하고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 자원이 풍부한 국가에서는 여전히 경제성과 접근성 측면에서 중요한 역할을 담당하고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7220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4680E-2B40-5B44-0272-709EBC02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FBA020-5B08-FF16-59E4-0CE13A9DA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60FCC8-15D6-8232-334B-E4FCE59F6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1A781F-C092-84FA-21D4-8D4A01C77E78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아역청탄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석탄화 정도가 갈탄보다 더 진행된 중간단계의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탄소함량은 </a:t>
            </a:r>
            <a:r>
              <a:rPr lang="en-US" altLang="ko-KR" sz="1600" dirty="0"/>
              <a:t>40% </a:t>
            </a:r>
            <a:r>
              <a:rPr lang="ko-KR" altLang="en-US" sz="1600" dirty="0"/>
              <a:t>수준이고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휘발분과 수분함량을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칙칙한 검은색 또는 어두운 회갈색이며</a:t>
            </a:r>
            <a:r>
              <a:rPr lang="en-US" altLang="ko-KR" sz="1600" dirty="0"/>
              <a:t>, </a:t>
            </a:r>
            <a:r>
              <a:rPr lang="ko-KR" altLang="en-US" sz="1600" dirty="0"/>
              <a:t>조직은 갈탄보다 치밀하고 견고하나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무연탄이나 역청탄에 비해 부드럽다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갈탄에 비해 상대적으로 발열량이 높다</a:t>
            </a:r>
            <a:r>
              <a:rPr lang="en-US" altLang="ko-KR" sz="1600" dirty="0"/>
              <a:t>. (18~24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갈탄에 비해 에너지 효율이 높아 전력 생산용으로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연소 특성이 안정적이고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함량이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연소 온도가 상대적으로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석탄화력을 주요 전력 공급원으로 작용하는 국가에서는 경제성과 실용성을 갖춘 연료로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중국 등 광범위하게 매장되어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 </a:t>
            </a:r>
            <a:r>
              <a:rPr lang="ko-KR" altLang="en-US" sz="1600" dirty="0" err="1"/>
              <a:t>와이오밍</a:t>
            </a:r>
            <a:r>
              <a:rPr lang="ko-KR" altLang="en-US" sz="1600" dirty="0"/>
              <a:t> 주의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분지는 세계에서 가장 큰 </a:t>
            </a:r>
            <a:r>
              <a:rPr lang="ko-KR" altLang="en-US" sz="1600" dirty="0" err="1"/>
              <a:t>아역청탄</a:t>
            </a:r>
            <a:r>
              <a:rPr lang="ko-KR" altLang="en-US" sz="1600" dirty="0"/>
              <a:t> 생산지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인도네시아는 동남아시아 최대의 석탄 수출국으로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아역청탄을</a:t>
            </a:r>
            <a:r>
              <a:rPr lang="ko-KR" altLang="en-US" sz="1600" dirty="0"/>
              <a:t> 중심으로 아시아 시장에 대한 공급을 지속적으로 확대하고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 </a:t>
            </a:r>
            <a:r>
              <a:rPr lang="ko-KR" altLang="en-US" sz="1600" dirty="0" err="1"/>
              <a:t>아역청탄이</a:t>
            </a:r>
            <a:r>
              <a:rPr lang="ko-KR" altLang="en-US" sz="1600" dirty="0"/>
              <a:t> 갈탄보다 온실가스 및 대기오염물질 배출량이 적지만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여전히 재생에너지 및 천연가스에 비해 탄소배출량이 높아 기후정책에 의해 제한되는 추세이다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6323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61E90-1FE1-AF37-2721-221E12852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272C6C-31D2-8655-9596-EE07524E5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0997A5-FE4B-3496-3AA7-DECAD83E6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564D71-ED20-F9EA-E6CC-E5FE2A1F775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전세계적으로 가장 널리 사용되는 중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정도가 갈탄이나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훨씬 높고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함량은 </a:t>
            </a:r>
            <a:r>
              <a:rPr lang="en-US" altLang="ko-KR" sz="1600" dirty="0"/>
              <a:t>45~86%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수분과 </a:t>
            </a:r>
            <a:r>
              <a:rPr lang="ko-KR" altLang="en-US" sz="1600" dirty="0" err="1"/>
              <a:t>휘발분</a:t>
            </a:r>
            <a:r>
              <a:rPr lang="ko-KR" altLang="en-US" sz="1600" dirty="0"/>
              <a:t> 함량이 낮아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품질이 우수하고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밀도가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광택이 나는 흑색이고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치밀하여 기계적 강도가 높다</a:t>
            </a:r>
            <a:r>
              <a:rPr lang="en-US" altLang="ko-KR" sz="160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역청탄의 발열량은 약 </a:t>
            </a:r>
            <a:r>
              <a:rPr lang="en-US" altLang="ko-KR" sz="1600" dirty="0"/>
              <a:t>24~35MJ/kg</a:t>
            </a:r>
            <a:r>
              <a:rPr lang="ko-KR" altLang="en-US" sz="1600" dirty="0"/>
              <a:t>으로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생산을 위한 연료로 널리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산업부문에서는 철강 생산에 필수적인 원료로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 중에서도 </a:t>
            </a:r>
            <a:r>
              <a:rPr lang="ko-KR" altLang="en-US" sz="1600" dirty="0" err="1"/>
              <a:t>코킹탄은</a:t>
            </a:r>
            <a:r>
              <a:rPr lang="ko-KR" altLang="en-US" sz="1600" dirty="0"/>
              <a:t> 고온 처리 시 휘발분이 제거되고 탄화가 진행되며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금속 제조에 사용되는 코크스로 전환된다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코크스는 용광로에서 철광석을 환원시키고 고온을 유지하는 데 핵심적 역할을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제철 공정에서 필수적인 소재이다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1022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3B9FD-50EF-1878-18D2-965469CAE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30702-5896-0E4E-8729-F9719CB74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936D8B-D49E-1258-8401-5546AAF8B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CA5A2-149B-8670-3C3C-C1CBBFDD1FB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역청탄은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 </a:t>
            </a:r>
            <a:r>
              <a:rPr lang="ko-KR" altLang="en-US" sz="1600" dirty="0"/>
              <a:t>등지에서 대규모로 채굴되고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국제 석탄시장에서 가장 활발히 거래되는 품종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특히 고급 </a:t>
            </a:r>
            <a:r>
              <a:rPr lang="ko-KR" altLang="en-US" sz="1600" spc="-100" dirty="0" err="1"/>
              <a:t>코킹탄은</a:t>
            </a:r>
            <a:r>
              <a:rPr lang="ko-KR" altLang="en-US" sz="1600" spc="-100" dirty="0"/>
              <a:t> 품질</a:t>
            </a:r>
            <a:r>
              <a:rPr lang="en-US" altLang="ko-KR" sz="1600" spc="-100" dirty="0"/>
              <a:t>, </a:t>
            </a:r>
            <a:r>
              <a:rPr lang="ko-KR" altLang="en-US" sz="1600" spc="-100" dirty="0" err="1"/>
              <a:t>점결력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휘발성 등에 따라 가격이 차별화되어 거래되며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철강수요와 밀접한 연계를 보인다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측면에서는 역청탄이 높은 에너지효율을 지닌 반면</a:t>
            </a:r>
            <a:r>
              <a:rPr lang="en-US" altLang="ko-KR" sz="1600" dirty="0"/>
              <a:t>, </a:t>
            </a:r>
            <a:r>
              <a:rPr lang="ko-KR" altLang="en-US" sz="1600" dirty="0"/>
              <a:t>황 함량이 상대적으로 높아 연소 시 이산화황 배출이 많아지는 문제가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이산화황은 산성비의 원인이 되어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규제가 엄격한 국가에서는 황 제거 기술 도입이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발전소에서는 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수은 등 다양한 유해물질에 대한 규제가 강화되고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 사용에는 점점 높은 수준의 환경관리 기술이 요구되고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830095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8937D-DC6D-C78B-3821-7CDC71687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8A4425-4E04-35FE-384C-7D546C62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EF550-A3FA-C004-157B-ED378F65B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A17002-61F6-AA30-7FCF-7255A154CE0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무연탄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석탄화 정도가 가장 진전된 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석탄으로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함량이 </a:t>
            </a:r>
            <a:r>
              <a:rPr lang="en-US" altLang="ko-KR" sz="1600" dirty="0"/>
              <a:t>86% </a:t>
            </a:r>
            <a:r>
              <a:rPr lang="ko-KR" altLang="en-US" sz="1600" dirty="0"/>
              <a:t>이상에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수분과 휘발성분은 매우 낮은 반면</a:t>
            </a:r>
            <a:r>
              <a:rPr lang="en-US" altLang="ko-KR" sz="1600" dirty="0"/>
              <a:t>, </a:t>
            </a:r>
            <a:r>
              <a:rPr lang="ko-KR" altLang="en-US" sz="1600" dirty="0"/>
              <a:t>고체 탄소의 밀도는 가장 높은 수준을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특성은 무연탄을 다른 석탄과 </a:t>
            </a:r>
            <a:r>
              <a:rPr lang="ko-KR" altLang="en-US" sz="1600" dirty="0" err="1"/>
              <a:t>구분짓는</a:t>
            </a:r>
            <a:r>
              <a:rPr lang="ko-KR" altLang="en-US" sz="1600" dirty="0"/>
              <a:t> 핵심 요소로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광택이 나는 흑색이다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연소 시 연기가 거의 없고</a:t>
            </a:r>
            <a:r>
              <a:rPr lang="en-US" altLang="ko-KR" sz="1600" dirty="0"/>
              <a:t>, </a:t>
            </a:r>
            <a:r>
              <a:rPr lang="ko-KR" altLang="en-US" sz="1600" dirty="0"/>
              <a:t>불꽃도 적어 </a:t>
            </a:r>
            <a:r>
              <a:rPr lang="en-US" altLang="ko-KR" sz="1600" dirty="0"/>
              <a:t>‘</a:t>
            </a:r>
            <a:r>
              <a:rPr lang="ko-KR" altLang="en-US" sz="1600" dirty="0"/>
              <a:t>청정 석탄</a:t>
            </a:r>
            <a:r>
              <a:rPr lang="en-US" altLang="ko-KR" sz="1600" dirty="0"/>
              <a:t>’</a:t>
            </a:r>
            <a:r>
              <a:rPr lang="ko-KR" altLang="en-US" sz="1600" dirty="0"/>
              <a:t> 이라고 불리기도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무연탄의 발열량은 </a:t>
            </a:r>
            <a:r>
              <a:rPr lang="en-US" altLang="ko-KR" sz="1600" dirty="0"/>
              <a:t>30~35MJ/kg</a:t>
            </a:r>
            <a:r>
              <a:rPr lang="ko-KR" altLang="en-US" sz="1600" dirty="0"/>
              <a:t> 이고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에너지 밀도와 안정된 연소 특성을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가정용 연탄이나 산업용 열원으로 사용되는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주요 생산국으로는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우크라이나 등이 있다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무연탄은 지질학적으로 희소성이 높은 자원이고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석탄 매장량 중 차지하는 비중은 </a:t>
            </a:r>
            <a:r>
              <a:rPr lang="en-US" altLang="ko-KR" sz="1600" dirty="0"/>
              <a:t>1%</a:t>
            </a:r>
            <a:r>
              <a:rPr lang="ko-KR" altLang="en-US" sz="1600" dirty="0"/>
              <a:t>에 불과하다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대한민국도 한때 무연탄 생산국이었고</a:t>
            </a:r>
            <a:r>
              <a:rPr lang="en-US" altLang="ko-KR" sz="1600" dirty="0"/>
              <a:t>, 20</a:t>
            </a:r>
            <a:r>
              <a:rPr lang="ko-KR" altLang="en-US" sz="1600" dirty="0"/>
              <a:t>세기 중반까지 가정용 난방에 널리 사용된 바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무연탄은 고정 탄소 함량이 높고 불완전 연소가 적어 이산화탄소 및 오염물질 배출이 비교적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중 가장 높은 탄소 함량과 낮은 휘발분을 가져 연소 효율이 높고 오염물질 배출이 상대적으로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전세계 생산량이 제한적이고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가격경쟁력과 안정성 측면에서 한계가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0270241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8F1B-5E34-A367-7110-ABB9A9ECC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294C9B-2391-6A16-58AE-051EF8904E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2732C-F866-045D-71C3-7E6540659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2ABE6B-B9BA-E122-0E00-478704155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석탄의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0485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B9A0-832A-1E5B-D29B-FCF36908B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B34616-C531-CADA-B43F-640D86EB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탐사와 채굴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F9FE50-AB47-084D-83A3-0DD2DCC79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A0E748-BACE-2CD9-89AC-89AB471117D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가치사슬의 주요 단계는 탐사 및 채굴</a:t>
            </a:r>
            <a:r>
              <a:rPr lang="en-US" altLang="ko-KR" sz="1600" dirty="0"/>
              <a:t>, </a:t>
            </a:r>
            <a:r>
              <a:rPr lang="ko-KR" altLang="en-US" sz="1600" dirty="0"/>
              <a:t>처리 및 세정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수송과 물류</a:t>
            </a:r>
            <a:r>
              <a:rPr lang="en-US" altLang="ko-KR" sz="1600" dirty="0"/>
              <a:t>, </a:t>
            </a:r>
            <a:r>
              <a:rPr lang="ko-KR" altLang="en-US" sz="1600" dirty="0"/>
              <a:t>전환 및 활용</a:t>
            </a:r>
            <a:r>
              <a:rPr lang="en-US" altLang="ko-KR" sz="1600" dirty="0"/>
              <a:t>,</a:t>
            </a:r>
            <a:r>
              <a:rPr lang="ko-KR" altLang="en-US" sz="1600" dirty="0"/>
              <a:t> 그리고 최종판매로 구성된다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탐사와 채굴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첫단계로서</a:t>
            </a:r>
            <a:r>
              <a:rPr lang="ko-KR" altLang="en-US" sz="1600" dirty="0"/>
              <a:t> 지질학적 탐사를 하게 되며</a:t>
            </a:r>
            <a:r>
              <a:rPr lang="en-US" altLang="ko-KR" sz="1600" dirty="0"/>
              <a:t>, </a:t>
            </a:r>
            <a:r>
              <a:rPr lang="ko-KR" altLang="en-US" sz="1600" dirty="0"/>
              <a:t>위성영상</a:t>
            </a:r>
            <a:r>
              <a:rPr lang="en-US" altLang="ko-KR" sz="1600" dirty="0"/>
              <a:t>, </a:t>
            </a:r>
            <a:r>
              <a:rPr lang="ko-KR" altLang="en-US" sz="1600" dirty="0"/>
              <a:t>항공사진 분석</a:t>
            </a:r>
            <a:r>
              <a:rPr lang="en-US" altLang="ko-KR" sz="1600" dirty="0"/>
              <a:t>, </a:t>
            </a:r>
            <a:r>
              <a:rPr lang="ko-KR" altLang="en-US" sz="1600" dirty="0"/>
              <a:t>지표조사</a:t>
            </a:r>
            <a:r>
              <a:rPr lang="en-US" altLang="ko-KR" sz="1600" dirty="0"/>
              <a:t>, </a:t>
            </a:r>
            <a:r>
              <a:rPr lang="ko-KR" altLang="en-US" sz="1600" dirty="0"/>
              <a:t>물리탐사와 같은 예비조사에 이어 시추와 탄질분석을 통해 실제 탄층의 위치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품질 및 연속성을 파악한다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석탄층이 확인되고 경제성이 확보되면 본격적인 채굴 단계로 들어간다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 방식은 탄층의 깊이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경사도</a:t>
            </a:r>
            <a:r>
              <a:rPr lang="en-US" altLang="ko-KR" sz="1600" dirty="0"/>
              <a:t>, </a:t>
            </a:r>
            <a:r>
              <a:rPr lang="ko-KR" altLang="en-US" sz="1600" dirty="0"/>
              <a:t>피복층의 조건</a:t>
            </a:r>
            <a:r>
              <a:rPr lang="en-US" altLang="ko-KR" sz="1600" dirty="0"/>
              <a:t>,</a:t>
            </a:r>
            <a:r>
              <a:rPr lang="ko-KR" altLang="en-US" sz="1600" dirty="0"/>
              <a:t> 지형 및 환경 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노천채굴은 지표면에서 가까운 얕은 탄층을 대상으로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광범위한 기계화가 가능하고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 서부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광활한 토지가 확보된 지역에서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지하채굴은 탄층이 깊거나 지형적 제약이 있는 지역에서 선택된다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갱도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경사갱을</a:t>
            </a:r>
            <a:r>
              <a:rPr lang="ko-KR" altLang="en-US" sz="1600" dirty="0"/>
              <a:t> 통해 진입하고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채굴한 석탄을 컨베이어나 승강 시스템으로 지표면으로 운반한다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지하채굴은 상대적으로 고비용 구조이며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붕괴 방지용 </a:t>
            </a:r>
            <a:r>
              <a:rPr lang="ko-KR" altLang="en-US" sz="1600" dirty="0" err="1"/>
              <a:t>지보공</a:t>
            </a:r>
            <a:r>
              <a:rPr lang="en-US" altLang="ko-KR" sz="1600" dirty="0"/>
              <a:t>, </a:t>
            </a:r>
            <a:r>
              <a:rPr lang="ko-KR" altLang="en-US" sz="1600" dirty="0"/>
              <a:t>채굴 후 복원 계획 등 안전 및 환경 요소에 대한 고려가 복잡하다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석탄은 이물질 제거</a:t>
            </a:r>
            <a:r>
              <a:rPr lang="en-US" altLang="ko-KR" sz="1600" dirty="0"/>
              <a:t>, </a:t>
            </a:r>
            <a:r>
              <a:rPr lang="ko-KR" altLang="en-US" sz="1600" dirty="0"/>
              <a:t>크기 분류</a:t>
            </a:r>
            <a:r>
              <a:rPr lang="en-US" altLang="ko-KR" sz="1600" dirty="0"/>
              <a:t>, </a:t>
            </a:r>
            <a:r>
              <a:rPr lang="ko-KR" altLang="en-US" sz="1600" dirty="0"/>
              <a:t>수분 조절 등을 위한 세정 및 </a:t>
            </a:r>
            <a:r>
              <a:rPr lang="ko-KR" altLang="en-US" sz="1600" dirty="0" err="1"/>
              <a:t>전처리</a:t>
            </a:r>
            <a:r>
              <a:rPr lang="ko-KR" altLang="en-US" sz="1600" dirty="0"/>
              <a:t> 단계를 거쳐 다음 단계로 이동한다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35042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DFC8F-C710-0528-FA35-08C6B3E36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7979C-6193-145D-A99C-4F9B4CB04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처리 및 세정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92672E-ADC6-D6DF-6DA2-D611CA5F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917C9A-4943-9580-2FF5-E19865F4DBC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원석탄은 토사</a:t>
            </a:r>
            <a:r>
              <a:rPr lang="en-US" altLang="ko-KR" sz="1600" dirty="0"/>
              <a:t>, </a:t>
            </a:r>
            <a:r>
              <a:rPr lang="ko-KR" altLang="en-US" sz="1600" dirty="0"/>
              <a:t>바위</a:t>
            </a:r>
            <a:r>
              <a:rPr lang="en-US" altLang="ko-KR" sz="1600" dirty="0"/>
              <a:t>, </a:t>
            </a:r>
            <a:r>
              <a:rPr lang="ko-KR" altLang="en-US" sz="1600" dirty="0"/>
              <a:t>점토</a:t>
            </a:r>
            <a:r>
              <a:rPr lang="en-US" altLang="ko-KR" sz="1600" dirty="0"/>
              <a:t>, </a:t>
            </a:r>
            <a:r>
              <a:rPr lang="ko-KR" altLang="en-US" sz="1600" dirty="0"/>
              <a:t>황 화합물 등 다양한 불순물을 포함하고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불순물은 석탄의 연소 효율을 저하시키고 대기오염을 유발하는 주요 원인이 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품질을 향상시키고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영향을 줄이기 위해서는 석탄세정 혹은 석탄준비라고 하는 정제 과정을 거쳐야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세정은 물리적 방법을 통해 수행되며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석탄과 불순물 간의 밀도 차이를 활용하여 분리하는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대표적인 방법으로는 중력 분리</a:t>
            </a:r>
            <a:r>
              <a:rPr lang="en-US" altLang="ko-KR" sz="1600" dirty="0"/>
              <a:t>, </a:t>
            </a:r>
            <a:r>
              <a:rPr lang="ko-KR" altLang="en-US" sz="1600" dirty="0"/>
              <a:t>사이클론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플로테이션</a:t>
            </a:r>
            <a:r>
              <a:rPr lang="ko-KR" altLang="en-US" sz="1600" dirty="0"/>
              <a:t> 공정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기계적 처리는 석탄을 일정한 크기로 분쇄하고</a:t>
            </a:r>
            <a:r>
              <a:rPr lang="en-US" altLang="ko-KR" sz="1600" dirty="0"/>
              <a:t>, </a:t>
            </a:r>
            <a:r>
              <a:rPr lang="ko-KR" altLang="en-US" sz="1600" dirty="0"/>
              <a:t>크기별로 선별하는 과정을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</a:t>
            </a:r>
            <a:r>
              <a:rPr lang="ko-KR" altLang="en-US" sz="1600" dirty="0" err="1"/>
              <a:t>고황함유</a:t>
            </a:r>
            <a:r>
              <a:rPr lang="ko-KR" altLang="en-US" sz="1600" dirty="0"/>
              <a:t> 석탄의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화학적 처리를 통해 황을 제거하거나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배출을 줄이기 위한 사전 조치가 이루어지기도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세정 과정을 통해 석탄의 발열량은 증가하고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및 황 함량은 감소함으로써 연소 과정에서 발생하는 이산화황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미세먼지등의</a:t>
            </a:r>
            <a:r>
              <a:rPr lang="ko-KR" altLang="en-US" sz="1600" dirty="0"/>
              <a:t> 오염물질 배출량을 줄일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세정이 완료된 석탄은 일반적으로 입자 크기별로 분류되고</a:t>
            </a:r>
            <a:r>
              <a:rPr lang="en-US" altLang="ko-KR" sz="1600" dirty="0"/>
              <a:t>, </a:t>
            </a:r>
            <a:r>
              <a:rPr lang="ko-KR" altLang="en-US" sz="1600" dirty="0"/>
              <a:t>용도별로 </a:t>
            </a:r>
            <a:r>
              <a:rPr lang="ko-KR" altLang="en-US" sz="1600" dirty="0" err="1"/>
              <a:t>등급화된다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입자가 큰 석탄은 코크스용</a:t>
            </a:r>
            <a:r>
              <a:rPr lang="en-US" altLang="ko-KR" sz="1600" dirty="0"/>
              <a:t>, </a:t>
            </a:r>
            <a:r>
              <a:rPr lang="ko-KR" altLang="en-US" sz="1600" dirty="0"/>
              <a:t>중간입자는 전력 발전용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세립탄은</a:t>
            </a:r>
            <a:r>
              <a:rPr lang="ko-KR" altLang="en-US" sz="1600" dirty="0"/>
              <a:t> 산업용 보일러 또는 가정용 난방으로 공급된다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1140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A5D0F-52DC-8C17-278B-C01AC6196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9B247A-38BC-1D04-0C2D-8831F1C0E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수송과 물류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298B12-3289-7642-E92D-690AC3CF6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14A95C-65F7-1045-09EC-8B11A1978CED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고체 연료로서 단위 부피당 에너지 밀도가 낮고 무게가 무거우며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일반적으로 생산지와 소비지가 지리적으로 멀기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수송비용이 전체 공급비용에서 차지하는 비중이 높다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수송에는 다양한 운송 수단이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거리</a:t>
            </a:r>
            <a:r>
              <a:rPr lang="en-US" altLang="ko-KR" sz="1600" dirty="0"/>
              <a:t>, </a:t>
            </a:r>
            <a:r>
              <a:rPr lang="ko-KR" altLang="en-US" sz="1600" dirty="0"/>
              <a:t>지형 물류</a:t>
            </a:r>
            <a:r>
              <a:rPr lang="en-US" altLang="ko-KR" sz="1600" dirty="0"/>
              <a:t> </a:t>
            </a:r>
            <a:r>
              <a:rPr lang="ko-KR" altLang="en-US" sz="1600" dirty="0"/>
              <a:t>인프라</a:t>
            </a:r>
            <a:r>
              <a:rPr lang="en-US" altLang="ko-KR" sz="1600" dirty="0"/>
              <a:t> </a:t>
            </a:r>
            <a:r>
              <a:rPr lang="ko-KR" altLang="en-US" sz="1600" dirty="0"/>
              <a:t>등에 따라 선택이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방식으로 철도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벨트컨베이어</a:t>
            </a:r>
            <a:r>
              <a:rPr lang="en-US" altLang="ko-KR" sz="1600" dirty="0"/>
              <a:t>, </a:t>
            </a:r>
            <a:r>
              <a:rPr lang="ko-KR" altLang="en-US" sz="1600" dirty="0"/>
              <a:t>트럭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내륙수운</a:t>
            </a:r>
            <a:r>
              <a:rPr lang="en-US" altLang="ko-KR" sz="1600" dirty="0"/>
              <a:t>, </a:t>
            </a:r>
            <a:r>
              <a:rPr lang="ko-KR" altLang="en-US" sz="1600" dirty="0"/>
              <a:t>해상운송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단거리 이송에는 트럭이나 컨베이어 벨트</a:t>
            </a:r>
            <a:r>
              <a:rPr lang="en-US" altLang="ko-KR" sz="1600" dirty="0"/>
              <a:t>, </a:t>
            </a:r>
            <a:r>
              <a:rPr lang="ko-KR" altLang="en-US" sz="1600" dirty="0"/>
              <a:t>장거리 이송에는 철도와 해상 수송이 일반적이다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미국의 경우 철도 운송이 전체 석탄 수송의 </a:t>
            </a:r>
            <a:r>
              <a:rPr lang="en-US" altLang="ko-KR" sz="1600" dirty="0"/>
              <a:t>70% </a:t>
            </a:r>
            <a:r>
              <a:rPr lang="ko-KR" altLang="en-US" sz="1600" dirty="0"/>
              <a:t>이상을 차지하며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분지에서 대형 발전소까지 장거리 이송을 위한 철도망이 정교하게 구축되어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인도네시아나 호주는 해상 수출을 위한 대형 항만시설과 연결된 물류 인프라가 중심이며</a:t>
            </a:r>
            <a:r>
              <a:rPr lang="en-US" altLang="ko-KR" sz="1600" dirty="0"/>
              <a:t>, </a:t>
            </a:r>
            <a:r>
              <a:rPr lang="ko-KR" altLang="en-US" sz="1600" dirty="0"/>
              <a:t>광산에서 항만까지의 연결성을 최적화하는데 초점을 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수송단계에서는 경제성뿐 아니라 연료의 품질 유지가 중요한 고려사항이다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수송 중 분진 발생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열손실</a:t>
            </a:r>
            <a:r>
              <a:rPr lang="en-US" altLang="ko-KR" sz="1600" dirty="0"/>
              <a:t>, </a:t>
            </a:r>
            <a:r>
              <a:rPr lang="ko-KR" altLang="en-US" sz="1600" dirty="0"/>
              <a:t>습기 흡수로 인해 발열량이 저하 될 수 있고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자발연</a:t>
            </a:r>
            <a:r>
              <a:rPr lang="ko-KR" altLang="en-US" sz="1600" dirty="0"/>
              <a:t> 위험도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손실을 방지하기 위해 적재</a:t>
            </a:r>
            <a:r>
              <a:rPr lang="en-US" altLang="ko-KR" sz="1600" dirty="0"/>
              <a:t>·</a:t>
            </a:r>
            <a:r>
              <a:rPr lang="ko-KR" altLang="en-US" sz="1600" dirty="0"/>
              <a:t>피복</a:t>
            </a:r>
            <a:r>
              <a:rPr lang="en-US" altLang="ko-KR" sz="1600" dirty="0"/>
              <a:t>·</a:t>
            </a:r>
            <a:r>
              <a:rPr lang="ko-KR" altLang="en-US" sz="1600" dirty="0"/>
              <a:t>환기 전략이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20724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16D5A-2A2F-B81C-F7CB-15757CF8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3B01AC-0FB1-91A1-DD98-B130DBE10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81637A-55E1-2C77-342B-325307B47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F4664C-9B64-CEBB-17CA-5BE8D94E653C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전환과 활용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활용처는 전력 생산과 철강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이 두 부문이 전체 석탄 수요의 대부분을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전력부문에서는 석탄이 연소 과정을 통해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고압의 증기를 생성하고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증기로 증기터빈을 회전시켜 전기를 생산하는 방식이 일반적이다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이를 석탄화력 발전이라고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인도네시아와 같은 개발도상국에서는 석탄 발전이 여전히 전력 공급의 주축을 이루고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안보와 경제성 측면에서 중요한 위치를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철강산업에서는 필수적인 에너지원이자 환원제로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역청탄은 </a:t>
            </a:r>
            <a:r>
              <a:rPr lang="ko-KR" altLang="en-US" sz="1600" dirty="0" err="1"/>
              <a:t>코킹</a:t>
            </a:r>
            <a:r>
              <a:rPr lang="ko-KR" altLang="en-US" sz="1600" dirty="0"/>
              <a:t> 과정을 거쳐 코크스로 전환되며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용광로에서 철광석을 환원시켜 쇳물을 생산하는 데 핵심적인 역할을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코크스는 단순한 열원 이상의 역할을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고온 유지</a:t>
            </a:r>
            <a:r>
              <a:rPr lang="en-US" altLang="ko-KR" sz="1600" dirty="0"/>
              <a:t>, </a:t>
            </a:r>
            <a:r>
              <a:rPr lang="ko-KR" altLang="en-US" sz="1600" dirty="0"/>
              <a:t>가스 투과성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환원 반응 유도 등 다기능성 물질로 활용된다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용광로 기반 제철공정에서는 고품질 코크스 공급이 생산성과 직결된다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95564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15ED4-EF61-75B1-069E-AA99B1BD9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3FE562-92A3-95D4-03DE-AD56DA191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4E4C45-DC1F-C6A8-50C7-CBCF98BBD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CB0206-CB69-CFCF-A12B-DB0EAAE63989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 외에도  석탄은 가스화 및 액화 등의 전환 기술을 통해 합성가스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화학제품</a:t>
            </a:r>
            <a:r>
              <a:rPr lang="en-US" altLang="ko-KR" sz="1600" dirty="0"/>
              <a:t>, </a:t>
            </a:r>
            <a:r>
              <a:rPr lang="ko-KR" altLang="en-US" sz="1600" dirty="0"/>
              <a:t>액체연료 등으로도 활용될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석탄가스화는 산소와 수증기 하에서 석탄을 불완전 연소시켜 일산화탄소와 수소를 생성하는 과정이다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합성가스는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수소 생산</a:t>
            </a:r>
            <a:r>
              <a:rPr lang="en-US" altLang="ko-KR" sz="1600" dirty="0"/>
              <a:t>, </a:t>
            </a:r>
            <a:r>
              <a:rPr lang="ko-KR" altLang="en-US" sz="1600" dirty="0"/>
              <a:t>화학 원료 등 다양한 용도로 사용될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석탄액화는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석탄을 직접 또는 간접적으로 액체연료로 전환하는 기술이다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액체연료 수입 의존도가 높은 국가에서 에너지 안보 수단으로 활용될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이러한 석탄의 전환기술은 고비용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복잡성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소비량이 크며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무엇보다도 이산화탄소 배출</a:t>
            </a:r>
            <a:r>
              <a:rPr lang="en-US" altLang="ko-KR" sz="1600" dirty="0"/>
              <a:t>, </a:t>
            </a:r>
            <a:r>
              <a:rPr lang="ko-KR" altLang="en-US" sz="1600" dirty="0"/>
              <a:t>폐수 및 고형폐기물 발생 등의 환경문제로 상업적 활용이 제한적이다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대응이 국제적 의무로 자리잡은 이후에는 석탄 전환 기술의 상용화는 </a:t>
            </a:r>
            <a:r>
              <a:rPr lang="ko-KR" altLang="en-US" sz="1600" dirty="0" err="1"/>
              <a:t>탄소포집</a:t>
            </a:r>
            <a:r>
              <a:rPr lang="en-US" altLang="ko-KR" sz="1600" dirty="0"/>
              <a:t>·</a:t>
            </a:r>
            <a:r>
              <a:rPr lang="ko-KR" altLang="en-US" sz="1600" dirty="0"/>
              <a:t>저장 기술과의 연계 없이는 확장되기 어려운 상황이다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5372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F516A-30EF-5EE6-8D04-32415C32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96295E-9343-4F74-2074-0CFD49D18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판매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EC1FA6-7CD5-422D-1E44-D1D5E8216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CDB8E2-9DF9-B62E-BE95-B32FC336171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구매자는 화력발전소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제철소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 공장</a:t>
            </a:r>
            <a:r>
              <a:rPr lang="en-US" altLang="ko-KR" sz="1600" dirty="0"/>
              <a:t>, </a:t>
            </a:r>
            <a:r>
              <a:rPr lang="ko-KR" altLang="en-US" sz="1600" dirty="0"/>
              <a:t>산업용 보일러 시설 등으로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판매는 일반적으로 직접 계약 또는 중개인을 통한 상업 거래 방식으로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거래는 일정 물량을 장기간에 걸쳐 공급하는 장기계약 형태로 체결되기도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 변동에 따라 수시로 조정되는 단기 현물거래를 병행하는 경우도 많다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단기거래는 국제 시황에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계절 수요</a:t>
            </a:r>
            <a:r>
              <a:rPr lang="en-US" altLang="ko-KR" sz="1600" dirty="0"/>
              <a:t>, </a:t>
            </a:r>
            <a:r>
              <a:rPr lang="ko-KR" altLang="en-US" sz="1600" dirty="0"/>
              <a:t>해상물류 상황</a:t>
            </a:r>
            <a:r>
              <a:rPr lang="en-US" altLang="ko-KR" sz="1600" dirty="0"/>
              <a:t>, </a:t>
            </a:r>
            <a:r>
              <a:rPr lang="ko-KR" altLang="en-US" sz="1600" dirty="0"/>
              <a:t>환율 등에 영향을 받는다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가격은 여러 요인에 영향을 반영하여 결정되는데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가장 중요한 기준은 석탄의 발열량이다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발열량이 높을수록 더 높은 가격을 형성하지만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황과 회분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입자 크기와 </a:t>
            </a:r>
            <a:r>
              <a:rPr lang="ko-KR" altLang="en-US" sz="1600" dirty="0" err="1"/>
              <a:t>균일성</a:t>
            </a:r>
            <a:r>
              <a:rPr lang="ko-KR" altLang="en-US" sz="1600" dirty="0"/>
              <a:t> 등도 중요한 가격 결정 변수로 작용한다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고황</a:t>
            </a:r>
            <a:r>
              <a:rPr lang="ko-KR" altLang="en-US" sz="1600" dirty="0"/>
              <a:t> 석탄은 연소 시 이산화황 배출이 많아 환경규제 대응 비용이 크기 때문에 시장에서 할인되어 거래되며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반대로 </a:t>
            </a:r>
            <a:r>
              <a:rPr lang="ko-KR" altLang="en-US" sz="1600" dirty="0" err="1"/>
              <a:t>저황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고발열</a:t>
            </a:r>
            <a:r>
              <a:rPr lang="ko-KR" altLang="en-US" sz="1600" dirty="0"/>
              <a:t> 석탄은 상대적으로 프리미엄이 붙는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수송 거리와 방식 또한 중요한 변수로</a:t>
            </a:r>
            <a:r>
              <a:rPr lang="en-US" altLang="ko-KR" sz="1600" dirty="0"/>
              <a:t>, FOB(Free On Board</a:t>
            </a:r>
            <a:r>
              <a:rPr lang="ko-KR" altLang="en-US" sz="1600" dirty="0"/>
              <a:t>본선 인도</a:t>
            </a:r>
            <a:r>
              <a:rPr lang="en-US" altLang="ko-KR" sz="1600" dirty="0"/>
              <a:t>) </a:t>
            </a:r>
            <a:r>
              <a:rPr lang="ko-KR" altLang="en-US" sz="1600" dirty="0"/>
              <a:t>조건에서는 운송 비용은 구매자가 부담하고</a:t>
            </a:r>
            <a:r>
              <a:rPr lang="en-US" altLang="ko-KR" sz="1600" dirty="0"/>
              <a:t>, CIF(Cost, Insurance, Freight) </a:t>
            </a:r>
            <a:r>
              <a:rPr lang="ko-KR" altLang="en-US" sz="1600" dirty="0"/>
              <a:t>조건에서는 판매자가 물류 부담을 지게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단순한 가격 협상 외에도 품질 보증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규격 인증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환경규제 대응 등 다양한 기술적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행정적 요소가 함께 고려되어야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최근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석탄 구매자는 공급자의 </a:t>
            </a:r>
            <a:r>
              <a:rPr lang="en-US" altLang="ko-KR" sz="1600" spc="-100" dirty="0"/>
              <a:t>ESG</a:t>
            </a:r>
            <a:r>
              <a:rPr lang="ko-KR" altLang="en-US" sz="1600" spc="-100" dirty="0"/>
              <a:t>기준 충족 수준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지역사회 영향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탄소배출 정보 등 다양한 측면을 요구하고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52941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36F5A-83E8-8B18-800C-F4D061E3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E1E638-DB99-5028-2B0D-15C4F8986A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3DE9FF-AC43-300C-CC7B-2A47533DC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A6F38EE-3A32-8A8E-3C54-16E9A1AF4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석탄생산기술과 비용구조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1122738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E780C-07E7-8AFA-6E5A-EE38FCB59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256505-7DA7-1B5B-0116-4BE078725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E15216-1E75-EA94-EC10-9AE7E7F46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88BA9C-8451-C4CA-8C51-C302F29D516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운반차량이 </a:t>
            </a:r>
            <a:r>
              <a:rPr lang="ko-KR" altLang="en-US" sz="1600" dirty="0" err="1"/>
              <a:t>도입된는</a:t>
            </a:r>
            <a:r>
              <a:rPr lang="ko-KR" altLang="en-US" sz="1600" dirty="0"/>
              <a:t> 경우가 대표적인 예이다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인도나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688087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DCBDD-5587-12CF-E54C-A14A43C87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0FB91A-1244-D544-66DF-0030741D4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5C320F-DFBA-0194-31D1-CF8CB945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C5BF6A-ABA1-EDAD-F4D5-223867D7695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채굴방식에 따라 비용구조가 크게 다른데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인도나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생산기술의 자동화 및 기계화 수준도 비용구조에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/>
              <a:t>호주의 경우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차량을 도입하였다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개도국의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노동집약적 방식이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인건비</a:t>
            </a:r>
            <a:r>
              <a:rPr lang="en-US" altLang="ko-KR" sz="1600" dirty="0"/>
              <a:t>, </a:t>
            </a:r>
            <a:r>
              <a:rPr lang="ko-KR" altLang="en-US" sz="1600" dirty="0"/>
              <a:t>의료비용</a:t>
            </a:r>
            <a:r>
              <a:rPr lang="en-US" altLang="ko-KR" sz="1600" dirty="0"/>
              <a:t>, </a:t>
            </a:r>
            <a:r>
              <a:rPr lang="ko-KR" altLang="en-US" sz="1600" dirty="0"/>
              <a:t>보험료</a:t>
            </a:r>
            <a:r>
              <a:rPr lang="en-US" altLang="ko-KR" sz="1600" dirty="0"/>
              <a:t> </a:t>
            </a:r>
            <a:r>
              <a:rPr lang="ko-KR" altLang="en-US" sz="1600" dirty="0"/>
              <a:t>등 높은 비용이 소요된다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485663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54912-6C05-E339-1029-A91F49C97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7401C6-7D23-0E35-BC44-20A9BF590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166C-36B7-E061-11F1-FDACF8A2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B3A4CF-3FDD-BB1D-C2E9-6DAFCF380B1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대규모 전력 및 연료가 필요한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가격 변동에 매우 민감하다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대형 장비 운용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배수 시설 등은 막대한 전력소비를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운영비에서 에너지비용이 </a:t>
            </a:r>
            <a:r>
              <a:rPr lang="en-US" altLang="ko-KR" sz="1600" dirty="0"/>
              <a:t>15~40%</a:t>
            </a:r>
            <a:r>
              <a:rPr lang="ko-KR" altLang="en-US" sz="1600" dirty="0"/>
              <a:t>의 비중을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전력요금</a:t>
            </a:r>
            <a:r>
              <a:rPr lang="en-US" altLang="ko-KR" sz="1600" dirty="0"/>
              <a:t>, </a:t>
            </a:r>
            <a:r>
              <a:rPr lang="ko-KR" altLang="en-US" sz="1600" dirty="0"/>
              <a:t>유가 상승은 생산비 증가로 이어진다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환경규제는 석탄 생산비용에서 점차 중요한 외생요인 중 하나로 부상하고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국가에서는 광산개발 단계에서 환경영향평가</a:t>
            </a:r>
            <a:r>
              <a:rPr lang="en-US" altLang="ko-KR" sz="1600" dirty="0"/>
              <a:t>, </a:t>
            </a:r>
            <a:r>
              <a:rPr lang="ko-KR" altLang="en-US" sz="1600" dirty="0"/>
              <a:t>복원계획</a:t>
            </a:r>
            <a:r>
              <a:rPr lang="en-US" altLang="ko-KR" sz="1600" dirty="0"/>
              <a:t>, </a:t>
            </a:r>
            <a:r>
              <a:rPr lang="ko-KR" altLang="en-US" sz="1600" dirty="0"/>
              <a:t>배출 기준 준수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보호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관리 등을 요구하며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따른 복구비용 및 규제 대응비용이 생산비용을 증가시키고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미국과 유럽에서는 광산 폐쇄 후 복구 복원비용을 포함한 부담금이 사전에 산정되어야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프로젝트 수익성에 직접적인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생산비용에는 채굴 이후의 운송 및 물류 비용도 중요한 비중을 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항만</a:t>
            </a:r>
            <a:r>
              <a:rPr lang="en-US" altLang="ko-KR" sz="1600" dirty="0"/>
              <a:t>, </a:t>
            </a:r>
            <a:r>
              <a:rPr lang="ko-KR" altLang="en-US" sz="1600" dirty="0"/>
              <a:t>도로 등 수송 인프라의 접근성은 물류비용과 공급 안정성에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인프라가 미비한 지역에서는 생산된 석탄의 시장접근성이 떨어져 경쟁력이 약화될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석탄의 수분함량</a:t>
            </a:r>
            <a:r>
              <a:rPr lang="en-US" altLang="ko-KR" sz="1600" dirty="0"/>
              <a:t>, </a:t>
            </a:r>
            <a:r>
              <a:rPr lang="ko-KR" altLang="en-US" sz="1600" dirty="0"/>
              <a:t>분진 발생 특성상 운송 중 품질 저하와 손실 문제도 존재한다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751347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8800B-CB6C-BBEA-6864-FD40CF8E5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97371F-099C-3A5C-5A23-755E558B5FF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3CE3D-FF37-6FEB-D958-7BF84F49A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AE71EA6-541D-6782-1125-4EE46868B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br>
              <a:rPr lang="en-US" altLang="ko-KR" sz="4000" b="1" i="0" spc="150" dirty="0"/>
            </a:br>
            <a:r>
              <a:rPr lang="ko-KR" altLang="en-US" sz="4000" b="1" i="0" spc="150" dirty="0" err="1"/>
              <a:t>석탄채굴과정의</a:t>
            </a:r>
            <a:r>
              <a:rPr lang="ko-KR" altLang="en-US" sz="4000" b="1" i="0" spc="150" dirty="0"/>
              <a:t> 사회적 환경적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29945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9D724-1E7C-8A49-84A0-3D7DF2FB2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474FB9-C6AD-A8A6-C15A-EFBF9CA50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BE9E43-DB40-9537-65BA-52B73835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F1BFB7-5BE9-62EB-BA3E-CD96FB479E4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과정은 에너지 자원 확보라는 경제적 이익에도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다양한 환경적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문제를 초래하여 지속가능성과 형평성 측면에서 심각한 도전을 제기한다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생물다양성 손실</a:t>
            </a:r>
            <a:r>
              <a:rPr lang="en-US" altLang="ko-KR" sz="1600" dirty="0"/>
              <a:t>, </a:t>
            </a:r>
            <a:r>
              <a:rPr lang="ko-KR" altLang="en-US" sz="1600" dirty="0"/>
              <a:t>지역 불평등</a:t>
            </a:r>
            <a:r>
              <a:rPr lang="en-US" altLang="ko-KR" sz="1600" dirty="0"/>
              <a:t>, </a:t>
            </a:r>
            <a:r>
              <a:rPr lang="ko-KR" altLang="en-US" sz="1600" dirty="0"/>
              <a:t>노동권 침해 등 이슈는 세계적으로 중요한 관심사이다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토지 훼손</a:t>
            </a:r>
            <a:r>
              <a:rPr lang="en-US" altLang="ko-KR" sz="1600" dirty="0"/>
              <a:t>, </a:t>
            </a:r>
            <a:r>
              <a:rPr lang="ko-KR" altLang="en-US" sz="1600" dirty="0"/>
              <a:t>생태계 파괴</a:t>
            </a:r>
            <a:r>
              <a:rPr lang="en-US" altLang="ko-KR" sz="1600" dirty="0"/>
              <a:t>, </a:t>
            </a:r>
            <a:r>
              <a:rPr lang="ko-KR" altLang="en-US" sz="1600" dirty="0"/>
              <a:t>수질 및 대기오염 등 다방면에서 환경에 심대한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탄광개발이 습지</a:t>
            </a:r>
            <a:r>
              <a:rPr lang="en-US" altLang="ko-KR" sz="1600" dirty="0"/>
              <a:t>, </a:t>
            </a:r>
            <a:r>
              <a:rPr lang="ko-KR" altLang="en-US" sz="1600" dirty="0"/>
              <a:t>강</a:t>
            </a:r>
            <a:r>
              <a:rPr lang="en-US" altLang="ko-KR" sz="1600" dirty="0"/>
              <a:t>, </a:t>
            </a:r>
            <a:r>
              <a:rPr lang="ko-KR" altLang="en-US" sz="1600" dirty="0"/>
              <a:t>하천</a:t>
            </a:r>
            <a:r>
              <a:rPr lang="en-US" altLang="ko-KR" sz="1600" dirty="0"/>
              <a:t>, </a:t>
            </a:r>
            <a:r>
              <a:rPr lang="ko-KR" altLang="en-US" sz="1600" dirty="0"/>
              <a:t>경작지 등 환경적 가치가 높은 지역에 위치하여 지속가능한 토지 이용과 충돌을 일으키고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수질오염 역시 중요한 문제인데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과정에서 발생하는 산성광산배수는 황화광물의 산화로 인해 생성되며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중금속이 함유된 오염수가 하천 및 지하수로 유입되어 장기적으로 수자원 생태계와 인간 건강에 악영향을 미친다</a:t>
            </a:r>
            <a:r>
              <a:rPr lang="en-US" altLang="ko-KR" sz="1600" dirty="0"/>
              <a:t>. (</a:t>
            </a:r>
            <a:r>
              <a:rPr lang="ko-KR" altLang="en-US" sz="1600" dirty="0"/>
              <a:t>미국의 </a:t>
            </a:r>
            <a:r>
              <a:rPr lang="ko-KR" altLang="en-US" sz="1600" dirty="0" err="1"/>
              <a:t>웨스트버지니아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인도의 </a:t>
            </a:r>
            <a:r>
              <a:rPr lang="ko-KR" altLang="en-US" sz="1600" dirty="0" err="1"/>
              <a:t>자르칸드</a:t>
            </a:r>
            <a:r>
              <a:rPr lang="ko-KR" altLang="en-US" sz="1600" dirty="0"/>
              <a:t> 지역에 광산배수 오염사례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채굴현장에서 배출되는 분진 및 메탄가스는 지역 대기질을 저하시키고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광부 및 인근 주민의 호흡기 건강을 위협한다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12397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69D3A-0BA9-BE4C-8F21-BCCA9540A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8CDA7-1165-24C3-9DC1-9C9FBD2C0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67A3C5-0A0A-3B80-B5ED-76454E2E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429F9-47B7-064A-249D-FCB2AF15A4C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사회경제적으로 취약한 지역에 집중되는 경우가 많고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광산 개발은 지역사회의 불균형과 장기적 의존성을 </a:t>
            </a:r>
            <a:r>
              <a:rPr lang="ko-KR" altLang="en-US" sz="1600" dirty="0" err="1"/>
              <a:t>심화시킨다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광산 주변 지역은 산업 기반이 부족해 석탄 산업의 축소나 폐쇄 시 대규모 실업과 지역경제 붕괴로 이어진다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개발도상국의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노동 환경이 비공식적이고 위험한 조건 하에서 이루어지는 사례가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아동 노동</a:t>
            </a:r>
            <a:r>
              <a:rPr lang="en-US" altLang="ko-KR" sz="1600" dirty="0"/>
              <a:t>, </a:t>
            </a:r>
            <a:r>
              <a:rPr lang="ko-KR" altLang="en-US" sz="1600" dirty="0"/>
              <a:t>불안정 고용</a:t>
            </a:r>
            <a:r>
              <a:rPr lang="en-US" altLang="ko-KR" sz="1600" dirty="0"/>
              <a:t>, </a:t>
            </a:r>
            <a:r>
              <a:rPr lang="ko-KR" altLang="en-US" sz="1600" dirty="0"/>
              <a:t>산업재해 등이 빈번하고</a:t>
            </a:r>
            <a:r>
              <a:rPr lang="en-US" altLang="ko-KR" sz="1600" dirty="0"/>
              <a:t>, </a:t>
            </a:r>
            <a:r>
              <a:rPr lang="ko-KR" altLang="en-US" sz="1600" dirty="0"/>
              <a:t>탄광 붕괴사고는 높은 </a:t>
            </a:r>
            <a:r>
              <a:rPr lang="ko-KR" altLang="en-US" sz="1600" dirty="0" err="1"/>
              <a:t>치명률을</a:t>
            </a:r>
            <a:r>
              <a:rPr lang="ko-KR" altLang="en-US" sz="1600" dirty="0"/>
              <a:t>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 및 콩고는 소규모 석탄 광산에서는 법적 규제 밖에서 운영되는 비공식 채굴활동이 사회적 이슈이다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</a:t>
            </a:r>
            <a:r>
              <a:rPr lang="en-US" altLang="ko-KR" sz="1600" dirty="0"/>
              <a:t>, </a:t>
            </a:r>
            <a:r>
              <a:rPr lang="ko-KR" altLang="en-US" sz="1600" dirty="0"/>
              <a:t>대규모 광산 개발은 강제 이주 및 토지 수용과 같은 인권 문제를 동반한다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개발 과정에서 주민의 재산권과 생계가 위협받을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이주보상 및 재정착 프로그램이 부실하거나 형식적인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지역사회의 구조적 갈등으로 번질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사회적 합의 없이 진행되는 프로젝트는 장기적인 반대운동</a:t>
            </a:r>
            <a:r>
              <a:rPr lang="en-US" altLang="ko-KR" sz="1600" dirty="0"/>
              <a:t>, </a:t>
            </a:r>
            <a:r>
              <a:rPr lang="ko-KR" altLang="en-US" sz="1600" dirty="0"/>
              <a:t>법적 소송</a:t>
            </a:r>
            <a:r>
              <a:rPr lang="en-US" altLang="ko-KR" sz="1600" dirty="0"/>
              <a:t>, </a:t>
            </a:r>
            <a:r>
              <a:rPr lang="ko-KR" altLang="en-US" sz="1600" dirty="0"/>
              <a:t>국제</a:t>
            </a:r>
            <a:r>
              <a:rPr lang="en-US" altLang="ko-KR" sz="1600" dirty="0"/>
              <a:t>NGO</a:t>
            </a:r>
            <a:r>
              <a:rPr lang="ko-KR" altLang="en-US" sz="1600" dirty="0"/>
              <a:t>의 개입 등 국제적 인권 이슈로 비화되기도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여전히 개발도상국의 경제적 기반이기에</a:t>
            </a:r>
            <a:r>
              <a:rPr lang="en-US" altLang="ko-KR" sz="1600" dirty="0"/>
              <a:t>, </a:t>
            </a:r>
            <a:r>
              <a:rPr lang="ko-KR" altLang="en-US" sz="1600" dirty="0"/>
              <a:t>보다 엄격한 사회적 보호장치가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17915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2C00-4FB8-6E54-7AB8-1AF3515CD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56A791-A436-FF30-C46F-320B6C969F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0D0E0-E6B8-B422-7F51-366317F7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BA6FFD-890A-1B62-9230-139A08189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석탄산업의 구조와 경쟁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8622823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73D5A-6B99-6C7F-C5B4-CC7CEB1D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3742C4-1946-86D9-EEB0-403CB5321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5C3145-8531-DF87-186B-8680EC4A5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F1D460-2AF5-0F78-9D56-020397D36926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구조는 상류</a:t>
            </a:r>
            <a:r>
              <a:rPr lang="en-US" altLang="ko-KR" sz="1600" dirty="0"/>
              <a:t>(</a:t>
            </a:r>
            <a:r>
              <a:rPr lang="ko-KR" altLang="en-US" sz="1600" dirty="0"/>
              <a:t>탐사 및 채굴</a:t>
            </a:r>
            <a:r>
              <a:rPr lang="en-US" altLang="ko-KR" sz="1600" dirty="0"/>
              <a:t>), </a:t>
            </a:r>
            <a:r>
              <a:rPr lang="ko-KR" altLang="en-US" sz="1600" dirty="0"/>
              <a:t>중류</a:t>
            </a:r>
            <a:r>
              <a:rPr lang="en-US" altLang="ko-KR" sz="1600" dirty="0"/>
              <a:t>(</a:t>
            </a:r>
            <a:r>
              <a:rPr lang="ko-KR" altLang="en-US" sz="1600" dirty="0"/>
              <a:t>처리 및 수송</a:t>
            </a:r>
            <a:r>
              <a:rPr lang="en-US" altLang="ko-KR" sz="1600" dirty="0"/>
              <a:t>), </a:t>
            </a:r>
            <a:r>
              <a:rPr lang="ko-KR" altLang="en-US" sz="1600" dirty="0"/>
              <a:t>하류</a:t>
            </a:r>
            <a:r>
              <a:rPr lang="en-US" altLang="ko-KR" sz="1600" dirty="0"/>
              <a:t>(</a:t>
            </a:r>
            <a:r>
              <a:rPr lang="ko-KR" altLang="en-US" sz="1600" dirty="0"/>
              <a:t>분배 및 소비</a:t>
            </a:r>
            <a:r>
              <a:rPr lang="en-US" altLang="ko-KR" sz="1600" dirty="0"/>
              <a:t>)</a:t>
            </a:r>
            <a:r>
              <a:rPr lang="ko-KR" altLang="en-US" sz="1600" dirty="0"/>
              <a:t>의 세 단계로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상류부문에서는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 등의 대형 자원기업들이 자본력과 기술력을 바탕으로 세계 시장을 주도하고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중류부문은 석탄의 세척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운송을 포함하고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채굴기업뿐 아니라 물류기업과 인프라 운영기관이 참여한다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철도 및 항만 인프라에 대한 접근성은 기업의 수송비용과 공급 안정성에 결정적인 영향을 미치고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시장과의 거리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비용 차이가 기업 간 수익성을 크게 좌우한다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하류부문에서는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철강 및 시멘트 산업 등 대규모 소비자가 주요 수요자이다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일부 국가는 공기업이 석탄 유통을 독점하는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자유경쟁이 허용된 국가에서는 민간기업 간의 경쟁이 활발하다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전력산업의 구조와 규제 체계는 석탄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계약 구조</a:t>
            </a:r>
            <a:r>
              <a:rPr lang="en-US" altLang="ko-KR" sz="1600" dirty="0"/>
              <a:t>, </a:t>
            </a:r>
            <a:r>
              <a:rPr lang="ko-KR" altLang="en-US" sz="1600" dirty="0"/>
              <a:t>공급 전략에 직접적인 영향을 미친다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85061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49603-4833-BE41-ED74-F33E4DE8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FC3599-4C7C-E45F-A1A8-FA8007DAA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시장경쟁 요소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DC9FB5-A46A-2F24-2390-E1B349CFA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861464-9798-283A-CD36-345441C51D3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경쟁구조는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규제</a:t>
            </a:r>
            <a:r>
              <a:rPr lang="en-US" altLang="ko-KR" sz="1600" dirty="0"/>
              <a:t>, </a:t>
            </a:r>
            <a:r>
              <a:rPr lang="ko-KR" altLang="en-US" sz="1600" dirty="0"/>
              <a:t>기술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요인의 상호작용에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소비는 중국과 인도 등 신흥경제국의 산업 성장과 전력 수요 확대에 따라 유지되고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선진국에서는 탄소중립 목표와 재생에너지 보급 확대에 따라 석탄 수요가 지속적으로 감소하고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규제환경도 석탄산업의 경쟁력에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유럽연합은 강력한 탄소배출권 거래제와 환경기준을 도입해 석탄 기업의 규제 준수 비용을 증가 시키고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환경규제가 느슨한 일부 국가에서는 상대적으로 낮은 생산비용으로 수출 경쟁력을 유지하고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규제 기반의 국제 경쟁 불균형이 문제로 지적되고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기술혁신 또한 석탄 산업의 경쟁력에 큰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 기술의 급속한 발전은 석탄에 대한 구조적 대체 압력을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대응하고자 석탄 기업들은 고효율</a:t>
            </a:r>
            <a:r>
              <a:rPr lang="en-US" altLang="ko-KR" sz="1600" dirty="0"/>
              <a:t>, </a:t>
            </a:r>
            <a:r>
              <a:rPr lang="ko-KR" altLang="en-US" sz="1600" dirty="0"/>
              <a:t>이산화탄소 </a:t>
            </a:r>
            <a:r>
              <a:rPr lang="ko-KR" altLang="en-US" sz="1600" dirty="0" err="1"/>
              <a:t>포집</a:t>
            </a:r>
            <a:r>
              <a:rPr lang="ko-KR" altLang="en-US" sz="1600" dirty="0"/>
              <a:t> 및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수소 활용 기술 등 다각화를 추진하고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요인 </a:t>
            </a:r>
            <a:r>
              <a:rPr lang="en-US" altLang="ko-KR" sz="1600" dirty="0"/>
              <a:t>(</a:t>
            </a:r>
            <a:r>
              <a:rPr lang="ko-KR" altLang="en-US" sz="1600" dirty="0"/>
              <a:t>무역분쟁</a:t>
            </a:r>
            <a:r>
              <a:rPr lang="en-US" altLang="ko-KR" sz="1600" dirty="0"/>
              <a:t>, </a:t>
            </a:r>
            <a:r>
              <a:rPr lang="ko-KR" altLang="en-US" sz="1600" dirty="0"/>
              <a:t>수출입규제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전략</a:t>
            </a:r>
            <a:r>
              <a:rPr lang="en-US" altLang="ko-KR" sz="1600" dirty="0"/>
              <a:t> </a:t>
            </a:r>
            <a:r>
              <a:rPr lang="ko-KR" altLang="en-US" sz="1600" dirty="0"/>
              <a:t>등</a:t>
            </a:r>
            <a:r>
              <a:rPr lang="en-US" altLang="ko-KR" sz="1600" dirty="0"/>
              <a:t>)</a:t>
            </a:r>
            <a:r>
              <a:rPr lang="ko-KR" altLang="en-US" sz="1600" dirty="0"/>
              <a:t>도 석탄 산업에 많은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미중</a:t>
            </a:r>
            <a:r>
              <a:rPr lang="ko-KR" altLang="en-US" sz="1600" dirty="0"/>
              <a:t> 무역갈등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등은 석탄의 수출입 경로와 가격 형성에 실질적 영향을 끼쳤다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9375730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C7BC0-44CC-D7F4-E6DD-57DD5DF7A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1F0DEA-AE25-B4E8-343A-FEF36817CA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5BD1CC-4832-28EA-F890-0A6C9BA90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E50D6D8-C49D-3D8B-C6BD-1CFAA1E59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석탄시장의 거래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239426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66E8E-7692-3D40-5DE7-F4A9F9BE5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319689-0BBA-B720-4A6E-10281AC89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28DB94-4CD8-C7CD-BA63-1997359A3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C53DC4-49FD-BE2A-BC43-852731BEE47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매장량은 석유나 천연가스에 비해 지리적으로 넓게 분포되어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확인 매장량의 대부분은 소수의 국가에 집중되어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 전 세계 확인 매장량은 약 </a:t>
            </a:r>
            <a:r>
              <a:rPr lang="en-US" altLang="ko-KR" sz="1600" dirty="0"/>
              <a:t>1.1</a:t>
            </a:r>
            <a:r>
              <a:rPr lang="ko-KR" altLang="en-US" sz="1600" dirty="0"/>
              <a:t>조 톤으로 추정되며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 소비 기준을 기준으로 약 </a:t>
            </a:r>
            <a:r>
              <a:rPr lang="en-US" altLang="ko-KR" sz="1600" dirty="0"/>
              <a:t>130</a:t>
            </a:r>
            <a:r>
              <a:rPr lang="ko-KR" altLang="en-US" sz="1600" dirty="0"/>
              <a:t>년간 채굴이 가능한 수준으로 평가된다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 석탄 유형도 상이하게 분포되어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 등은 </a:t>
            </a:r>
            <a:r>
              <a:rPr lang="ko-KR" altLang="en-US" sz="1600" dirty="0" err="1"/>
              <a:t>고열량의</a:t>
            </a:r>
            <a:r>
              <a:rPr lang="ko-KR" altLang="en-US" sz="1600" dirty="0"/>
              <a:t> 무연탄 및 역청탄이 풍부하며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</a:t>
            </a:r>
            <a:r>
              <a:rPr lang="ko-KR" altLang="en-US" sz="1600" dirty="0" err="1"/>
              <a:t>발전용뿐만</a:t>
            </a:r>
            <a:r>
              <a:rPr lang="ko-KR" altLang="en-US" sz="1600" dirty="0"/>
              <a:t> 아니라 철강 생산의 핵심 원료로도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 독일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등에서는 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발열량이 낮은 갈탄이 주로 매장되어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</a:t>
            </a:r>
            <a:r>
              <a:rPr lang="ko-KR" altLang="en-US" sz="1600" dirty="0" err="1"/>
              <a:t>저품질</a:t>
            </a:r>
            <a:r>
              <a:rPr lang="ko-KR" altLang="en-US" sz="1600" dirty="0"/>
              <a:t> 석탄은 발전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환경오염 물질 배출이 많아 외부비용이 큰 자원으로 간주된다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석탄매장량은 일반적으로 석유나 천연가스에 비해 정치적 리스크가 낮은 지역에 분포되어 있어 전통적으로 에너지 안보의 안정적인 자원으로 간주되어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산업화 초기 단계의 국가들은 국내 자급이 가능한 석탄을 주요 기초 에너지원으로 활용해왔다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99892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076F3-F4BA-E73A-A37A-8B1300F2E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ECAD49-885F-BC71-304A-D29B4413E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F560D-B2C2-C0D3-39E8-6B0507F23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B71E4D-E5B1-0B4C-F490-F9CD694B08DE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전환 정책 등이 본격화되면서 석탄의 경제적 가치는 하락하고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다수 국가에서 탄소 가격 제도를 도입하는 등에 따라 일부 석탄 자산은 향후 수익 창출이 어려운 </a:t>
            </a:r>
            <a:r>
              <a:rPr lang="en-US" altLang="ko-KR" sz="1600" dirty="0"/>
              <a:t>‘</a:t>
            </a:r>
            <a:r>
              <a:rPr lang="ko-KR" altLang="en-US" sz="1600" dirty="0"/>
              <a:t>좌초자산</a:t>
            </a:r>
            <a:r>
              <a:rPr lang="en-US" altLang="ko-KR" sz="1600" dirty="0"/>
              <a:t>’</a:t>
            </a:r>
            <a:r>
              <a:rPr lang="ko-KR" altLang="en-US" sz="1600" dirty="0"/>
              <a:t>으로 전환될 위험에 직면해 있다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8EFEF91-3F16-6029-8A05-63CE455C8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047534"/>
              </p:ext>
            </p:extLst>
          </p:nvPr>
        </p:nvGraphicFramePr>
        <p:xfrm>
          <a:off x="6757254" y="2147659"/>
          <a:ext cx="4963991" cy="43913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357888396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무연탄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역청탄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아역청탄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갈탄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224,444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32,290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256,734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218,938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30,003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248,941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59,084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78,156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137,240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우크라이나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32,039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34,375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100,208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190,655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162,166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15,974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16,040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345,313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114,437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459,750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73,719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76,508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150,227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135,069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8,128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143,197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105,979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5,073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111,052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23,141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11,728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34,869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753,639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320,469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1,074,108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331,303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177,130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508,433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143,339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565,675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D191509-DEF9-4F62-2229-7CAD0FA9CEF0}"/>
              </a:ext>
            </a:extLst>
          </p:cNvPr>
          <p:cNvSpPr txBox="1"/>
          <p:nvPr/>
        </p:nvSpPr>
        <p:spPr>
          <a:xfrm>
            <a:off x="7671736" y="1823288"/>
            <a:ext cx="31588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매장량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), 2020</a:t>
            </a:r>
            <a:r>
              <a:rPr lang="ko-KR" altLang="en-US" sz="1200" spc="-50" dirty="0"/>
              <a:t>년 기준</a:t>
            </a:r>
            <a:r>
              <a:rPr lang="en-US" altLang="ko-KR" sz="1200" spc="-50" dirty="0"/>
              <a:t>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7B449-9D10-F5F9-AD01-A7DED741A0C0}"/>
              </a:ext>
            </a:extLst>
          </p:cNvPr>
          <p:cNvSpPr txBox="1"/>
          <p:nvPr/>
        </p:nvSpPr>
        <p:spPr>
          <a:xfrm>
            <a:off x="288791" y="2147659"/>
            <a:ext cx="620345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표는 지역별 석탄매장량을 보여주고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 세계 석탄 매장량은 </a:t>
            </a:r>
            <a:r>
              <a:rPr lang="en-US" altLang="ko-KR" sz="1600" dirty="0"/>
              <a:t>1,074,108(</a:t>
            </a:r>
            <a:r>
              <a:rPr lang="ko-KR" altLang="en-US" sz="1600" dirty="0" err="1"/>
              <a:t>백만톤</a:t>
            </a:r>
            <a:r>
              <a:rPr lang="en-US" altLang="ko-KR" sz="1600" dirty="0"/>
              <a:t>) </a:t>
            </a:r>
            <a:r>
              <a:rPr lang="ko-KR" altLang="en-US" sz="1600" dirty="0"/>
              <a:t>이었으며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무연탄과 역청탄 매장량이 </a:t>
            </a:r>
            <a:r>
              <a:rPr lang="ko-KR" altLang="en-US" sz="1600" dirty="0" err="1"/>
              <a:t>아역청탄과</a:t>
            </a:r>
            <a:r>
              <a:rPr lang="ko-KR" altLang="en-US" sz="1600" dirty="0"/>
              <a:t> 갈탄 매장량의 두배를 상회하였다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아시아태평양이 가장 많은 매장량을 가지고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북미지역은 매장량의 </a:t>
            </a:r>
            <a:r>
              <a:rPr lang="en-US" altLang="ko-KR" sz="1600" dirty="0"/>
              <a:t>23.9%</a:t>
            </a:r>
            <a:r>
              <a:rPr lang="ko-KR" altLang="en-US" sz="1600" dirty="0"/>
              <a:t>를 보유하고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510860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BF143-7245-B222-49E5-B6092D06C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F9D373-5299-0573-8B3F-28CD71465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65BE9D-B554-7D09-00FB-5A3C3CE0C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D7DA9C-ABDD-4B20-A8D8-A0160779F940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생산은 일부 국가들이 시장을 지배하는 </a:t>
            </a:r>
            <a:r>
              <a:rPr lang="ko-KR" altLang="en-US" sz="1600" dirty="0" err="1"/>
              <a:t>집중화된</a:t>
            </a:r>
            <a:r>
              <a:rPr lang="ko-KR" altLang="en-US" sz="1600" dirty="0"/>
              <a:t> 구조를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중국은 급증하는 전력수요와 산업용 석탄 수요의 구조적 고착성에 따라 높은 수준의 석탄 생산량을 유지해왔다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인도네시아는 자국 내 소비보다 해외 수출을 주된 목적으로 석탄을 생산하고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인도는 세계</a:t>
            </a:r>
            <a:r>
              <a:rPr lang="en-US" altLang="ko-KR" sz="1600" dirty="0"/>
              <a:t> 2</a:t>
            </a:r>
            <a:r>
              <a:rPr lang="ko-KR" altLang="en-US" sz="1600" dirty="0"/>
              <a:t>위 석탄 생산국임에도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급속한 산업화에 따른 전력 수요 증가로 국내 생산만으로 수요를 충당하기 어려운 상황이다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매년 수천만 톤의 석탄을 해외에서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간 석탄 생산 방식에는 기술 격차가 존재하며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생산 효율성과 노동 안정성에 중요한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미국과 호주는 자동화된 채굴장비</a:t>
            </a:r>
            <a:r>
              <a:rPr lang="en-US" altLang="ko-KR" sz="1600" dirty="0"/>
              <a:t>, </a:t>
            </a:r>
            <a:r>
              <a:rPr lang="ko-KR" altLang="en-US" sz="1600" dirty="0"/>
              <a:t>디지털 및 자율주행 기술 등의 도입으로 생산성을 제고하고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개발도상국은 여전히 노동집약적 방식으로 낮은 생산성을 보이고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84846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45420-37D8-E88B-8E1F-BEF545380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9ABB6-D2D2-3DEF-14B0-BEB05278E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E5C2BD-38C3-113F-05A4-F2221784B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954B26-833F-F95A-FB15-3D1D68520648}"/>
              </a:ext>
            </a:extLst>
          </p:cNvPr>
          <p:cNvSpPr txBox="1"/>
          <p:nvPr/>
        </p:nvSpPr>
        <p:spPr>
          <a:xfrm>
            <a:off x="288791" y="958844"/>
            <a:ext cx="621869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생산의 </a:t>
            </a:r>
            <a:r>
              <a:rPr lang="en-US" altLang="ko-KR" sz="1600" dirty="0"/>
              <a:t>79.0%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51.8%,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11.1%, </a:t>
            </a:r>
            <a:r>
              <a:rPr lang="ko-KR" altLang="en-US" sz="1600" dirty="0"/>
              <a:t>인도네시아가 </a:t>
            </a:r>
            <a:r>
              <a:rPr lang="en-US" altLang="ko-KR" sz="1600" dirty="0"/>
              <a:t>8.5%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OECD </a:t>
            </a:r>
            <a:r>
              <a:rPr lang="ko-KR" altLang="en-US" sz="1600" dirty="0"/>
              <a:t>국가는 최근 </a:t>
            </a:r>
            <a:r>
              <a:rPr lang="en-US" altLang="ko-KR" sz="1600" dirty="0"/>
              <a:t>10</a:t>
            </a:r>
            <a:r>
              <a:rPr lang="ko-KR" altLang="en-US" sz="1600" dirty="0"/>
              <a:t>년간 음의 연평균 증가율을 기록하였다</a:t>
            </a:r>
            <a:r>
              <a:rPr lang="en-US" altLang="ko-KR" sz="1600" dirty="0"/>
              <a:t>.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5FC90CB3-8E99-AE0F-9CD8-AFB2A23406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1153493" y="3484880"/>
            <a:ext cx="4734228" cy="2935923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FF1C2D1-DD57-C4FA-E3D8-0AE7542CBC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294623"/>
              </p:ext>
            </p:extLst>
          </p:nvPr>
        </p:nvGraphicFramePr>
        <p:xfrm>
          <a:off x="6874094" y="1649819"/>
          <a:ext cx="4748946" cy="458946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136235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257.1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7,181.6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79.0%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455.8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4,710.0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1,010.9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9,095.6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1,418.0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7,677.6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A7D78CE-E989-F543-AA6E-CAD1A45D1C71}"/>
              </a:ext>
            </a:extLst>
          </p:cNvPr>
          <p:cNvSpPr txBox="1"/>
          <p:nvPr/>
        </p:nvSpPr>
        <p:spPr>
          <a:xfrm>
            <a:off x="7839375" y="132544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2D5909-D3F8-51CE-E7F2-81A015AAF9A4}"/>
              </a:ext>
            </a:extLst>
          </p:cNvPr>
          <p:cNvSpPr txBox="1"/>
          <p:nvPr/>
        </p:nvSpPr>
        <p:spPr>
          <a:xfrm>
            <a:off x="2312336" y="3234620"/>
            <a:ext cx="23358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244325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5B2CA-F955-792A-1D3C-2AE5E0EA1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03A63D-7FA1-07DB-E775-BF9732449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369D3-3538-9BE3-40B1-DAA03D0F7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4E5033-1B47-3D73-C22F-D3DE589BC94A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소비는 석유나 천연가스에 비해 국가 간 불균형이 더 뚜렷하게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중국과 인도는 산업화 가속으로 인해 석탄 발전 비중이 여전히 높은 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에너지 시스템의 구조적 제약으로 인해 단기적 소비 축소는 어렵다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유럽연합 등의 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국가들은 석탄 소비가 이미 정점을 지나 감소 국면에 접어들었다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 등에 대한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에너지전환 정책에 기인한다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용도 측면에서는 여전히 전력 생산이 핵심이지만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철강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</a:t>
            </a:r>
            <a:r>
              <a:rPr lang="en-US" altLang="ko-KR" sz="1600" dirty="0"/>
              <a:t>, </a:t>
            </a:r>
            <a:r>
              <a:rPr lang="ko-KR" altLang="en-US" sz="1600" dirty="0"/>
              <a:t>화학산업 등 산업용 수요도 상당하다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제철 공정에서는 코크스를 활용한 철광석 환원 공정이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현재까지 </a:t>
            </a:r>
            <a:r>
              <a:rPr lang="ko-KR" altLang="en-US" sz="1600" dirty="0" err="1"/>
              <a:t>사용화된</a:t>
            </a:r>
            <a:r>
              <a:rPr lang="ko-KR" altLang="en-US" sz="1600" dirty="0"/>
              <a:t> 대체 기술이 부재하다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이로 인해 산업용 석탄 수요는 구조적으로 유지될 가능성이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각국의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전략에 있어 제약 요인으로 작용한다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770333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35734-8ED2-256D-ED04-EBD4C805B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BB9A40-1FA2-A4E6-F383-F8EF309CB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F88683-CE4C-EAAE-0605-6DDD374DB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D61E56-F2F6-6A84-8D60-811EFE4C0D9B}"/>
              </a:ext>
            </a:extLst>
          </p:cNvPr>
          <p:cNvSpPr txBox="1"/>
          <p:nvPr/>
        </p:nvSpPr>
        <p:spPr>
          <a:xfrm>
            <a:off x="288791" y="958844"/>
            <a:ext cx="621869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소비의 </a:t>
            </a:r>
            <a:r>
              <a:rPr lang="en-US" altLang="ko-KR" sz="1600" dirty="0"/>
              <a:t>82.7%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56%,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13.4%</a:t>
            </a:r>
            <a:r>
              <a:rPr lang="ko-KR" altLang="en-US" sz="1600" dirty="0"/>
              <a:t>의 비중을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한국의 경우 전 세계 석탄소비의 </a:t>
            </a:r>
            <a:r>
              <a:rPr lang="en-US" altLang="ko-KR" sz="1600" dirty="0"/>
              <a:t>1.6%</a:t>
            </a:r>
            <a:r>
              <a:rPr lang="ko-KR" altLang="en-US" sz="1600" dirty="0"/>
              <a:t>를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</a:t>
            </a:r>
            <a:r>
              <a:rPr lang="en-US" altLang="ko-KR" sz="1600" dirty="0"/>
              <a:t>10</a:t>
            </a:r>
            <a:r>
              <a:rPr lang="ko-KR" altLang="en-US" sz="1600" dirty="0"/>
              <a:t>대 소비국 중 하나이다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BCF5EA6-9780-D9E7-1707-1E8ED0368E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9618651"/>
              </p:ext>
            </p:extLst>
          </p:nvPr>
        </p:nvGraphicFramePr>
        <p:xfrm>
          <a:off x="6924894" y="1644739"/>
          <a:ext cx="4748946" cy="463896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93303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496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8.83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135.70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91.94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634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33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베트남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164.03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25.15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138.88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6C13698-6363-F1F4-A118-71C781D74BAD}"/>
              </a:ext>
            </a:extLst>
          </p:cNvPr>
          <p:cNvSpPr txBox="1"/>
          <p:nvPr/>
        </p:nvSpPr>
        <p:spPr>
          <a:xfrm>
            <a:off x="7890175" y="132036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pic>
        <p:nvPicPr>
          <p:cNvPr id="10" name="Content Placeholder 2">
            <a:extLst>
              <a:ext uri="{FF2B5EF4-FFF2-40B4-BE49-F238E27FC236}">
                <a16:creationId xmlns:a16="http://schemas.microsoft.com/office/drawing/2014/main" id="{EB6ECC48-32DE-2192-8133-3AD53D45F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429752" y="3443943"/>
            <a:ext cx="5666248" cy="31679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53E4A4-C257-21CA-503B-2AFA5C213BD0}"/>
              </a:ext>
            </a:extLst>
          </p:cNvPr>
          <p:cNvSpPr txBox="1"/>
          <p:nvPr/>
        </p:nvSpPr>
        <p:spPr>
          <a:xfrm>
            <a:off x="1650232" y="3300660"/>
            <a:ext cx="34958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185164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46290-F616-6805-8E00-A2323E595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BBA19B-0600-1AEE-4248-AC9AF097D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67FA55-0EB1-6255-797C-3D927C708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95DA04-EC5C-2C8E-671F-07D20499E18D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교역은 생산과 소비가 특정 국가에 집중된 구조를 명확히 반영하고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수출은 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소수의 주요 생산국이 주도 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호주는 고품질 제철용 </a:t>
            </a:r>
            <a:r>
              <a:rPr lang="ko-KR" altLang="en-US" sz="1600" dirty="0" err="1"/>
              <a:t>코크스탄의</a:t>
            </a:r>
            <a:r>
              <a:rPr lang="ko-KR" altLang="en-US" sz="1600" dirty="0"/>
              <a:t> 최대 수출국으로 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 주요 철강 생산국에 공급하고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인도네시아는 저비용 </a:t>
            </a:r>
            <a:r>
              <a:rPr lang="ko-KR" altLang="en-US" sz="1600" dirty="0" err="1"/>
              <a:t>저열량의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열탄을</a:t>
            </a:r>
            <a:r>
              <a:rPr lang="ko-KR" altLang="en-US" sz="1600" dirty="0"/>
              <a:t> 중심으로 아시아 발전시장에 특화된 공급구조를 형성하고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수입은 에너지 수요가 많고</a:t>
            </a:r>
            <a:r>
              <a:rPr lang="en-US" altLang="ko-KR" sz="1600" dirty="0"/>
              <a:t>,</a:t>
            </a:r>
            <a:r>
              <a:rPr lang="ko-KR" altLang="en-US" sz="1600" dirty="0"/>
              <a:t> 자원 자립도가 낮은 국가를 중심으로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아시아 국가들이 글로벌 수입 시장의 </a:t>
            </a:r>
            <a:r>
              <a:rPr lang="ko-KR" altLang="en-US" sz="1600" dirty="0" err="1"/>
              <a:t>핵심축이다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중국과 인도는 세계 최대 석탄 생산국임에도</a:t>
            </a:r>
            <a:r>
              <a:rPr lang="en-US" altLang="ko-KR" sz="1600" dirty="0"/>
              <a:t>, </a:t>
            </a:r>
            <a:r>
              <a:rPr lang="ko-KR" altLang="en-US" sz="1600" dirty="0"/>
              <a:t>특정 품질의 석탄에 대한 내적 부족</a:t>
            </a:r>
            <a:r>
              <a:rPr lang="en-US" altLang="ko-KR" sz="1600" dirty="0"/>
              <a:t>, </a:t>
            </a:r>
            <a:r>
              <a:rPr lang="ko-KR" altLang="en-US" sz="1600" dirty="0"/>
              <a:t>수급 불균형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비효율성 등의 이유로 여전히 상당량의 석탄을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일본과 한국은 국내 석탄 자원이 거의 전무한 전형적인 순수입국으로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가격 변동성 및 지정학적 리스크에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장기계약과 공급원 다변화 전략을 병행하고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514796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92199-0FA2-522A-EFDA-39A9628D7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0F025-487C-D0D3-07F2-6B151E53A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040264-DB57-B281-930D-B96119186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CCD7CA4D-B80F-D443-5AC0-E7B099AE6B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407" b="4582"/>
          <a:stretch>
            <a:fillRect/>
          </a:stretch>
        </p:blipFill>
        <p:spPr>
          <a:xfrm>
            <a:off x="759793" y="2429564"/>
            <a:ext cx="4850296" cy="2663688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4288E905-0032-8886-B168-F854BA5E3EF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34" b="6260"/>
          <a:stretch>
            <a:fillRect/>
          </a:stretch>
        </p:blipFill>
        <p:spPr>
          <a:xfrm>
            <a:off x="6517776" y="2376557"/>
            <a:ext cx="4850296" cy="27166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EDFB38-EE65-8DB1-F932-418377E59A3F}"/>
              </a:ext>
            </a:extLst>
          </p:cNvPr>
          <p:cNvSpPr txBox="1"/>
          <p:nvPr/>
        </p:nvSpPr>
        <p:spPr>
          <a:xfrm>
            <a:off x="1038356" y="2291064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수입국의 수입량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2E3014-0FF7-7712-DF7B-6BF8130B6D88}"/>
              </a:ext>
            </a:extLst>
          </p:cNvPr>
          <p:cNvSpPr txBox="1"/>
          <p:nvPr/>
        </p:nvSpPr>
        <p:spPr>
          <a:xfrm>
            <a:off x="6962539" y="2291064"/>
            <a:ext cx="38291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수출국의 수입량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310A48-E158-8E85-FAD3-0B188DC9A901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아래 그림은 </a:t>
            </a:r>
            <a:r>
              <a:rPr lang="en-US" altLang="ko-KR" sz="1600" dirty="0"/>
              <a:t>2013</a:t>
            </a:r>
            <a:r>
              <a:rPr lang="ko-KR" altLang="en-US" sz="1600" dirty="0"/>
              <a:t>년부터 </a:t>
            </a:r>
            <a:r>
              <a:rPr lang="en-US" altLang="ko-KR" sz="1600" dirty="0"/>
              <a:t>2023</a:t>
            </a:r>
            <a:r>
              <a:rPr lang="ko-KR" altLang="en-US" sz="1600" dirty="0"/>
              <a:t>년까지 주요국의 석탄 수입량과 수출량을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설명은 전 슬라이드 참고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9040489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0D8EE-1BD4-CD15-C2A4-77807A540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7F4B20-508C-57DF-CB58-22ADBE5F5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1F065F-7C6B-4EC9-78BD-C20B30CF8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2839AA-357E-A2E4-FA06-0455661D7CAC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 결정의 기본적 메커니즘은 시장에서의 수급 균형이다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공급 측면에서는 주요생산국인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미국의 생산 능력</a:t>
            </a:r>
            <a:r>
              <a:rPr lang="en-US" altLang="ko-KR" sz="1600" dirty="0"/>
              <a:t>, </a:t>
            </a:r>
            <a:r>
              <a:rPr lang="ko-KR" altLang="en-US" sz="1600" dirty="0"/>
              <a:t>채굴비용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기후 및 정책 환경이 결정적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수요측면에서는 중국과 인도의 전력 수요 증가가 석탄소비를 견인하여 가격 상승 압력을 가중시킨다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아래는 지역별 석탄 가격을 보여주고 있다</a:t>
            </a:r>
            <a:r>
              <a:rPr lang="en-US" altLang="ko-KR" sz="1600" dirty="0"/>
              <a:t>. (</a:t>
            </a:r>
            <a:r>
              <a:rPr lang="ko-KR" altLang="en-US" sz="1600" dirty="0"/>
              <a:t>자세한 설명은 다음 슬라이드</a:t>
            </a:r>
            <a:r>
              <a:rPr lang="en-US" altLang="ko-KR" sz="1600" dirty="0"/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41A075B-C71D-3CE5-5915-747C1FD40F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98758" y="3219581"/>
            <a:ext cx="5542878" cy="33615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ED08A4-C8B5-3C6E-D8E0-12A93032AA85}"/>
              </a:ext>
            </a:extLst>
          </p:cNvPr>
          <p:cNvSpPr txBox="1"/>
          <p:nvPr/>
        </p:nvSpPr>
        <p:spPr>
          <a:xfrm>
            <a:off x="3657978" y="3081081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지역별 석탄 가격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달러</a:t>
            </a:r>
            <a:r>
              <a:rPr lang="en-US" altLang="ko-KR" sz="1200" spc="-50" dirty="0"/>
              <a:t>/</a:t>
            </a:r>
            <a:r>
              <a:rPr lang="ko-KR" altLang="en-US" sz="1200" spc="-50" dirty="0"/>
              <a:t>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9649894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1E337-E1DC-8A94-A7E5-995446497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FC55EF-EB1A-8BD6-3719-39021C488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B42DB1-6D48-FA09-33DC-3669912C8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7EBA6-AE55-D2D7-A887-AB5AF2A302FA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갈등과 무역정책의 변화도 석탄 가격에 중대한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수출입 제재</a:t>
            </a:r>
            <a:r>
              <a:rPr lang="en-US" altLang="ko-KR" sz="1600" dirty="0"/>
              <a:t>, </a:t>
            </a:r>
            <a:r>
              <a:rPr lang="ko-KR" altLang="en-US" sz="1600" dirty="0"/>
              <a:t>수출 통제</a:t>
            </a:r>
            <a:r>
              <a:rPr lang="en-US" altLang="ko-KR" sz="1600" dirty="0"/>
              <a:t>, </a:t>
            </a:r>
            <a:r>
              <a:rPr lang="ko-KR" altLang="en-US" sz="1600" dirty="0"/>
              <a:t>무역 분쟁 등은 글로벌 공급망에 혼란을 야기하고 공급 부족을 초래하여 가격 급등을 유발할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유럽의 러시아산 석탄 수입 중단이 대표적인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비러시아산 석탄의 수입 수요가 증가하면서 가격이 크게 상승하였다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환경정책의 변화 또 석탄가격에 중요한 영향을 미치고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 연합과 북미 지역은 강화된 탄소 규제를 통해 석탄 소비를 구조적으로 억제하고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느슨한 일부 개발도상국은 여전히 석탄이 주요 에너지원으로 활용되고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내 시장 구조에 따라서도 석탄 가격이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인도네시아처럼 소수의 대형 생산자가 우위를 점하고 있는 시장에서는 공급량의 전략적 조절로 인해 가격 안정성이 높아지는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중소 생산자가 난립하는 시장에서는 경쟁 심화로 인해 가격 변동성이 크게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09475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6502F-0528-3EDF-A225-5DDABB30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A372EA-D856-6D5C-A598-D9FB00ABE1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F8610-BFF7-A94E-BE6D-005ED2BAE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4D21FAA-7D58-50E2-4F0A-D7ED0636E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9. </a:t>
            </a:r>
            <a:r>
              <a:rPr lang="ko-KR" altLang="en-US" sz="4000" b="1" i="0" spc="150" dirty="0"/>
              <a:t>석탄산업의 혁신과 청정 석탄기술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539599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EBC00-A2FB-71AC-F2E7-A6AB1A2A6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2D39AE-6E93-E852-0031-629430E3D81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216CA1-E430-58F6-13F3-CB0FBB12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D4DF8D8-9F32-5507-3E2A-E5E0B0B01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10. </a:t>
            </a:r>
            <a:r>
              <a:rPr lang="ko-KR" altLang="en-US" sz="4000" b="1" i="0" spc="150" dirty="0"/>
              <a:t>석탄시장의 구조변화와 좌초자산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744200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1A724-FF5F-F795-8171-E14A2B4F1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B9BD40-31B0-CF75-80CC-4964C75E9B8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47C5E9-0275-EAE5-E692-6C80776F9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F1A278D-627D-B7E6-D54B-C4D6D391D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216889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11010</TotalTime>
  <Words>4853</Words>
  <Application>Microsoft Office PowerPoint</Application>
  <PresentationFormat>와이드스크린</PresentationFormat>
  <Paragraphs>618</Paragraphs>
  <Slides>47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47</vt:i4>
      </vt:variant>
    </vt:vector>
  </HeadingPairs>
  <TitlesOfParts>
    <vt:vector size="53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3  석탄 시장</vt:lpstr>
      <vt:lpstr>Section 1. 개 론</vt:lpstr>
      <vt:lpstr>서론</vt:lpstr>
      <vt:lpstr>서론</vt:lpstr>
      <vt:lpstr>Section 2. 석탄산업의 역사</vt:lpstr>
      <vt:lpstr>석탄산업의 역사</vt:lpstr>
      <vt:lpstr>석탄산업의 역사</vt:lpstr>
      <vt:lpstr>Section 3. 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Section 4. 석탄의 가치사슬</vt:lpstr>
      <vt:lpstr>탐사와 채굴</vt:lpstr>
      <vt:lpstr>처리 및 세정</vt:lpstr>
      <vt:lpstr>수송과 물류</vt:lpstr>
      <vt:lpstr>전환과 활용</vt:lpstr>
      <vt:lpstr>전환과 활용</vt:lpstr>
      <vt:lpstr>판매</vt:lpstr>
      <vt:lpstr>Section 5. 석탄생산기술과 비용구조</vt:lpstr>
      <vt:lpstr>석탄생산기술과 비용구조</vt:lpstr>
      <vt:lpstr>석탄생산기술과 비용구조</vt:lpstr>
      <vt:lpstr>석탄생산기술과 비용구조</vt:lpstr>
      <vt:lpstr>Section 6.  석탄채굴과정의 사회적 환경적 문제</vt:lpstr>
      <vt:lpstr>채굴과정에서의 사회적·환경적 문제</vt:lpstr>
      <vt:lpstr>채굴과정에서의 사회적·환경적 문제</vt:lpstr>
      <vt:lpstr>Section 7. 석탄산업의 구조와 경쟁</vt:lpstr>
      <vt:lpstr>산업구조</vt:lpstr>
      <vt:lpstr>시장경쟁 요소</vt:lpstr>
      <vt:lpstr>Section 8. 석탄시장의 거래 현황</vt:lpstr>
      <vt:lpstr>석탄 매장량</vt:lpstr>
      <vt:lpstr>석탄 매장량</vt:lpstr>
      <vt:lpstr>석탄 생산</vt:lpstr>
      <vt:lpstr>석탄 매장량</vt:lpstr>
      <vt:lpstr>석탄 소비</vt:lpstr>
      <vt:lpstr>석탄 소비량</vt:lpstr>
      <vt:lpstr>석탄 수출입</vt:lpstr>
      <vt:lpstr>석탄 수출입</vt:lpstr>
      <vt:lpstr>석탄 가격</vt:lpstr>
      <vt:lpstr>석탄 가격</vt:lpstr>
      <vt:lpstr>Section 9. 석탄산업의 혁신과 청정 석탄기술</vt:lpstr>
      <vt:lpstr>Section 10. 석탄시장의 구조변화와 좌초자산</vt:lpstr>
      <vt:lpstr>Section 1. 개 론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452</cp:revision>
  <dcterms:created xsi:type="dcterms:W3CDTF">2025-07-05T05:15:23Z</dcterms:created>
  <dcterms:modified xsi:type="dcterms:W3CDTF">2026-06-17T08:20:09Z</dcterms:modified>
</cp:coreProperties>
</file>