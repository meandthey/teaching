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375" r:id="rId2"/>
    <p:sldId id="405" r:id="rId3"/>
    <p:sldId id="550" r:id="rId4"/>
    <p:sldId id="376" r:id="rId5"/>
    <p:sldId id="637" r:id="rId6"/>
    <p:sldId id="638" r:id="rId7"/>
    <p:sldId id="639" r:id="rId8"/>
    <p:sldId id="640" r:id="rId9"/>
    <p:sldId id="641" r:id="rId10"/>
    <p:sldId id="642" r:id="rId11"/>
    <p:sldId id="643" r:id="rId12"/>
    <p:sldId id="644" r:id="rId13"/>
    <p:sldId id="645" r:id="rId14"/>
    <p:sldId id="646" r:id="rId15"/>
    <p:sldId id="647" r:id="rId16"/>
    <p:sldId id="648" r:id="rId17"/>
    <p:sldId id="649" r:id="rId18"/>
    <p:sldId id="650" r:id="rId19"/>
    <p:sldId id="653" r:id="rId20"/>
    <p:sldId id="651" r:id="rId21"/>
    <p:sldId id="654" r:id="rId22"/>
    <p:sldId id="652" r:id="rId23"/>
    <p:sldId id="655" r:id="rId24"/>
    <p:sldId id="656" r:id="rId25"/>
    <p:sldId id="598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5" autoAdjust="0"/>
  </p:normalViewPr>
  <p:slideViewPr>
    <p:cSldViewPr snapToGrid="0">
      <p:cViewPr varScale="1">
        <p:scale>
          <a:sx n="144" d="100"/>
          <a:sy n="144" d="100"/>
        </p:scale>
        <p:origin x="90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3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천연가스 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주로 메탄</a:t>
            </a:r>
            <a:r>
              <a:rPr lang="en-US" altLang="ko-KR" sz="1600" dirty="0"/>
              <a:t>(CH</a:t>
            </a:r>
            <a:r>
              <a:rPr lang="en-US" altLang="ko-KR" sz="1600" baseline="-25000" dirty="0"/>
              <a:t>4</a:t>
            </a:r>
            <a:r>
              <a:rPr lang="en-US" altLang="ko-KR" sz="1600" dirty="0"/>
              <a:t>)</a:t>
            </a:r>
            <a:r>
              <a:rPr lang="ko-KR" altLang="en-US" sz="1600" dirty="0"/>
              <a:t>으로 구성되어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다른 연료</a:t>
            </a:r>
            <a:r>
              <a:rPr lang="en-US" altLang="ko-KR" sz="1600" dirty="0"/>
              <a:t>(</a:t>
            </a:r>
            <a:r>
              <a:rPr lang="ko-KR" altLang="en-US" sz="1600" dirty="0"/>
              <a:t>석탄 및 석유</a:t>
            </a:r>
            <a:r>
              <a:rPr lang="en-US" altLang="ko-KR" sz="1600" dirty="0"/>
              <a:t>)</a:t>
            </a:r>
            <a:r>
              <a:rPr lang="ko-KR" altLang="en-US" sz="1600" dirty="0"/>
              <a:t>에 비해 연소할 때 배출되는 오염물질이 적어</a:t>
            </a:r>
            <a:r>
              <a:rPr lang="en-US" altLang="ko-KR" sz="1600" dirty="0"/>
              <a:t>, </a:t>
            </a:r>
            <a:r>
              <a:rPr lang="ko-KR" altLang="en-US" sz="1600" dirty="0"/>
              <a:t>화석연료 중에서는 가장 청정한 연료로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특성으로</a:t>
            </a:r>
            <a:r>
              <a:rPr lang="en-US" altLang="ko-KR" sz="1600" dirty="0"/>
              <a:t> </a:t>
            </a:r>
            <a:r>
              <a:rPr lang="ko-KR" altLang="en-US" sz="1600" dirty="0"/>
              <a:t>기후변화 대응과 에너지 전환 과정에서 </a:t>
            </a:r>
            <a:r>
              <a:rPr lang="en-US" altLang="ko-KR" sz="1600" dirty="0"/>
              <a:t>‘</a:t>
            </a:r>
            <a:r>
              <a:rPr lang="ko-KR" altLang="en-US" sz="1600" dirty="0"/>
              <a:t>교량 연료</a:t>
            </a:r>
            <a:r>
              <a:rPr lang="en-US" altLang="ko-KR" sz="1600" dirty="0"/>
              <a:t>‘</a:t>
            </a:r>
            <a:r>
              <a:rPr lang="ko-KR" altLang="en-US" sz="1600" dirty="0"/>
              <a:t>로 주목받고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간헐성을 보완하는 유연한 발전원으로 활용 가능하다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인류의 천연가스 이용은 고대까지 거슬러 올라가며</a:t>
            </a:r>
            <a:r>
              <a:rPr lang="en-US" altLang="ko-KR" sz="1600" dirty="0"/>
              <a:t>, </a:t>
            </a:r>
            <a:r>
              <a:rPr lang="ko-KR" altLang="en-US" sz="1600" dirty="0"/>
              <a:t>상징적</a:t>
            </a:r>
            <a:r>
              <a:rPr lang="en-US" altLang="ko-KR" sz="1600" dirty="0"/>
              <a:t>·</a:t>
            </a:r>
            <a:r>
              <a:rPr lang="ko-KR" altLang="en-US" sz="1600" dirty="0"/>
              <a:t>제의적 의미에 머무르고</a:t>
            </a:r>
            <a:r>
              <a:rPr lang="en-US" altLang="ko-KR" sz="1600" dirty="0"/>
              <a:t>, </a:t>
            </a:r>
            <a:r>
              <a:rPr lang="ko-KR" altLang="en-US" sz="1600" dirty="0"/>
              <a:t>본격적으로 활용되지는 않았다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기원전 </a:t>
            </a:r>
            <a:r>
              <a:rPr lang="en-US" altLang="ko-KR" sz="1600" dirty="0"/>
              <a:t>1,000</a:t>
            </a:r>
            <a:r>
              <a:rPr lang="ko-KR" altLang="en-US" sz="1600" dirty="0" err="1"/>
              <a:t>년경</a:t>
            </a:r>
            <a:r>
              <a:rPr lang="ko-KR" altLang="en-US" sz="1600" dirty="0"/>
              <a:t> 중국에서는 대나무 파이프를 사용하여 천연가스를 지표로부터 추출하였다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고대 그리스 및 페르시아에서도 천연가스의 자연 누출로 발생하는 </a:t>
            </a:r>
            <a:r>
              <a:rPr lang="en-US" altLang="ko-KR" sz="1600" dirty="0"/>
              <a:t>‘</a:t>
            </a:r>
            <a:r>
              <a:rPr lang="ko-KR" altLang="en-US" sz="1600" dirty="0"/>
              <a:t>영원한 불</a:t>
            </a:r>
            <a:r>
              <a:rPr lang="en-US" altLang="ko-KR" sz="1600" dirty="0"/>
              <a:t>‘</a:t>
            </a:r>
            <a:r>
              <a:rPr lang="ko-KR" altLang="en-US" sz="1600" dirty="0"/>
              <a:t>은 신성한 존재로 인식되며 종교적 의례에 사용되었다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</a:t>
            </a:r>
            <a:r>
              <a:rPr lang="ko-KR" altLang="en-US" sz="1600" dirty="0"/>
              <a:t>세기 들어 산업화에 따라 천연가스의 상업적 활용이 시작되었다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1821</a:t>
            </a:r>
            <a:r>
              <a:rPr lang="ko-KR" altLang="en-US" sz="1600" dirty="0"/>
              <a:t>년 미국 뉴욕주에서 세계 최초의 천연가스 우물이 </a:t>
            </a:r>
            <a:r>
              <a:rPr lang="ko-KR" altLang="en-US" sz="1600" dirty="0" err="1"/>
              <a:t>시추되었다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1850</a:t>
            </a:r>
            <a:r>
              <a:rPr lang="ko-KR" altLang="en-US" sz="1600" dirty="0"/>
              <a:t>년대 중반부터는 도시의 가로등</a:t>
            </a:r>
            <a:r>
              <a:rPr lang="en-US" altLang="ko-KR" sz="1600" dirty="0"/>
              <a:t>, </a:t>
            </a:r>
            <a:r>
              <a:rPr lang="ko-KR" altLang="en-US" sz="1600" dirty="0"/>
              <a:t>가정 난방용으로 천연가스가 사용되기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1859</a:t>
            </a:r>
            <a:r>
              <a:rPr lang="ko-KR" altLang="en-US" sz="1600" dirty="0"/>
              <a:t>년 펜실베니아 드레이크 성공은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석유챕터</a:t>
            </a:r>
            <a:r>
              <a:rPr lang="en-US" altLang="ko-KR" sz="1600" dirty="0"/>
              <a:t> </a:t>
            </a:r>
            <a:r>
              <a:rPr lang="ko-KR" altLang="en-US" sz="1600" dirty="0"/>
              <a:t>참고</a:t>
            </a:r>
            <a:r>
              <a:rPr lang="en-US" altLang="ko-KR" sz="1600" dirty="0"/>
              <a:t>)</a:t>
            </a:r>
            <a:r>
              <a:rPr lang="ko-KR" altLang="en-US" sz="1600" dirty="0"/>
              <a:t> 석유 뿐만 아니라 천연가스 산업에도 기폭제 역할을 하였다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849E-C3EC-66C2-D5C9-C59E5D5B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AA21E-A0E0-EB01-8A47-F492A782C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55CFF5-1045-A861-0C88-5A1DFAB9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8FFC37-4353-1DB7-17B9-97C4402833EA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</a:t>
            </a:r>
            <a:r>
              <a:rPr lang="ko-KR" altLang="en-US" sz="1600" dirty="0"/>
              <a:t>세기 초반에는 파이프라인 기술의 발전으로</a:t>
            </a:r>
            <a:r>
              <a:rPr lang="en-US" altLang="ko-KR" sz="1600" dirty="0"/>
              <a:t> </a:t>
            </a:r>
            <a:r>
              <a:rPr lang="ko-KR" altLang="en-US" sz="1600" dirty="0"/>
              <a:t>천연가스의 대규모 수송이 가능해지며 산업적 활용이 크게 확대 </a:t>
            </a:r>
            <a:r>
              <a:rPr lang="ko-KR" altLang="en-US" sz="1600" dirty="0" err="1"/>
              <a:t>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1920</a:t>
            </a:r>
            <a:r>
              <a:rPr lang="ko-KR" altLang="en-US" sz="1600" dirty="0"/>
              <a:t>년대에는 장거리 천연가스 파이프라인이 건설되기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1927</a:t>
            </a:r>
            <a:r>
              <a:rPr lang="ko-KR" altLang="en-US" sz="1600" dirty="0"/>
              <a:t>년에는 인디애나주와 시카고를 잇는 미국 최초의 장거리 파이프라인이 가동되었다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1950~1960</a:t>
            </a:r>
            <a:r>
              <a:rPr lang="ko-KR" altLang="en-US" sz="1600" dirty="0"/>
              <a:t>년대는 천연가스 산업의 황금기이며</a:t>
            </a:r>
            <a:r>
              <a:rPr lang="en-US" altLang="ko-KR" sz="1600" dirty="0"/>
              <a:t>, </a:t>
            </a:r>
            <a:r>
              <a:rPr lang="ko-KR" altLang="en-US" sz="1600" dirty="0"/>
              <a:t>가정용과 산업용 에너지원으로서 수요가 폭발적인 증가를 보였다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 생산부문에서는 석탄과 함께 주요 기저발전원으로 자리 잡았고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천연가스의 청정성과 연소 효율성으로 도시지역의 </a:t>
            </a:r>
            <a:r>
              <a:rPr lang="ko-KR" altLang="en-US" sz="1600" dirty="0" err="1"/>
              <a:t>대기질</a:t>
            </a:r>
            <a:r>
              <a:rPr lang="ko-KR" altLang="en-US" sz="1600" dirty="0"/>
              <a:t> 개선에도 기여하였다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시기에 미국과 구소련</a:t>
            </a:r>
            <a:r>
              <a:rPr lang="en-US" altLang="ko-KR" sz="1600" dirty="0"/>
              <a:t>, </a:t>
            </a:r>
            <a:r>
              <a:rPr lang="ko-KR" altLang="en-US" sz="1600" dirty="0"/>
              <a:t>중동 지역에서는 대규모 가스전이 연이어 발견되었고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향후 글로벌 천연가스 공급의 기반이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1980</a:t>
            </a:r>
            <a:r>
              <a:rPr lang="ko-KR" altLang="en-US" sz="1600" dirty="0"/>
              <a:t>년</a:t>
            </a:r>
            <a:r>
              <a:rPr lang="en-US" altLang="ko-KR" sz="1600" dirty="0"/>
              <a:t>~1990</a:t>
            </a:r>
            <a:r>
              <a:rPr lang="ko-KR" altLang="en-US" sz="1600" dirty="0"/>
              <a:t>년대는 천연가스의 국제무역이 본격화된 시기로 액화천연가스 기술의 발달이 중요한 전환점이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액화천연가스</a:t>
            </a:r>
            <a:r>
              <a:rPr lang="en-US" altLang="ko-KR" sz="1600" dirty="0"/>
              <a:t>(LNG; Liquified Natural Gas) </a:t>
            </a:r>
            <a:r>
              <a:rPr lang="ko-KR" altLang="en-US" sz="1600" dirty="0"/>
              <a:t>기술은 가스를 영하</a:t>
            </a:r>
            <a:r>
              <a:rPr lang="en-US" altLang="ko-KR" sz="1600" dirty="0"/>
              <a:t>162</a:t>
            </a:r>
            <a:r>
              <a:rPr lang="ko-KR" altLang="en-US" sz="1600" dirty="0"/>
              <a:t>도까지 냉각하여 </a:t>
            </a:r>
            <a:r>
              <a:rPr lang="ko-KR" altLang="en-US" sz="1600" dirty="0" err="1"/>
              <a:t>액화한</a:t>
            </a:r>
            <a:r>
              <a:rPr lang="ko-KR" altLang="en-US" sz="1600" dirty="0"/>
              <a:t> 뒤 해상으로 수송하는 방식을 가능케 하여</a:t>
            </a:r>
            <a:r>
              <a:rPr lang="en-US" altLang="ko-KR" sz="1600" dirty="0"/>
              <a:t>, </a:t>
            </a:r>
            <a:r>
              <a:rPr lang="ko-KR" altLang="en-US" sz="1600" dirty="0"/>
              <a:t>파이프라인으로 공급하지 못하는 지역에도 천연가스를 공급할 수 있게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1964</a:t>
            </a:r>
            <a:r>
              <a:rPr lang="ko-KR" altLang="en-US" sz="1600" dirty="0"/>
              <a:t>년 알제리에서 영국으로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수출이 최초로 이루어지고</a:t>
            </a:r>
            <a:r>
              <a:rPr lang="en-US" altLang="ko-KR" sz="1600" dirty="0"/>
              <a:t>, </a:t>
            </a:r>
            <a:r>
              <a:rPr lang="ko-KR" altLang="en-US" sz="1600" dirty="0"/>
              <a:t>해상수송은 세계 천연가스시장에서 중요한 운송수단으로 자리잡았다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613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F2B2B-B0DB-E70D-D7BF-B2362ECCF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01D95-006F-48DC-EDE1-699FE507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78A500-8ECC-79BD-D5CA-30B81625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D0CFB-4544-09EF-CC37-A77EF95709A1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21</a:t>
            </a:r>
            <a:r>
              <a:rPr lang="ko-KR" altLang="en-US" sz="1600" dirty="0"/>
              <a:t>세기 들어서면서 천연가스 산업은 새로운 혁신기의 전기를 맞이하였다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미국의 </a:t>
            </a:r>
            <a:r>
              <a:rPr lang="ko-KR" altLang="en-US" sz="1600" dirty="0" err="1"/>
              <a:t>셰일가스</a:t>
            </a:r>
            <a:r>
              <a:rPr lang="ko-KR" altLang="en-US" sz="1600" dirty="0"/>
              <a:t> 혁명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석유챕터</a:t>
            </a:r>
            <a:r>
              <a:rPr lang="ko-KR" altLang="en-US" sz="1600" dirty="0"/>
              <a:t> 참고</a:t>
            </a:r>
            <a:r>
              <a:rPr lang="en-US" altLang="ko-KR" sz="1600" dirty="0"/>
              <a:t>)</a:t>
            </a:r>
            <a:r>
              <a:rPr lang="ko-KR" altLang="en-US" sz="1600" dirty="0"/>
              <a:t>은 천연가스 공급 구조에 지대한 변화를 초래하였다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미국은 세계 최대의 천연가스 생산국으로 부상하고</a:t>
            </a:r>
            <a:r>
              <a:rPr lang="en-US" altLang="ko-KR" sz="1600" dirty="0"/>
              <a:t>, </a:t>
            </a:r>
            <a:r>
              <a:rPr lang="ko-KR" altLang="en-US" sz="1600" dirty="0"/>
              <a:t>세계 천연가스 시장의 공급이 안정되었다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 기후변화와 지속가능한 발전에 대한 국제적 요구가 확대되면서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천연가스는 석탄과 석유를 대체할 수 있는 과도기적 청정연료로서 주목 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재생에너지와 결합하여 전력 시스템의 안정성과 유연성을 제고할 수 있다는 점에서 역할이 부각된다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4184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0776-739F-0A2B-384D-A70C754F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9E3FF2-2862-6F62-2428-A3A8CCB3A6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13874A-2BEF-9F5C-B644-7D3646AC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E70DC7B-A6D8-53A3-E781-B2BCE7EE2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천연가스의 특징과 분류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112840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2EB0-5CB1-B555-AB86-A138BF68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8B283-1EC8-C4C3-5920-62AD905D5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5A3AEF-46D5-1437-2A73-9EC69D80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ECAFF-AFC4-BC14-A49C-87CA10D6F926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높은 열효율</a:t>
            </a:r>
            <a:r>
              <a:rPr lang="en-US" altLang="ko-KR" sz="1600" dirty="0"/>
              <a:t>, </a:t>
            </a:r>
            <a:r>
              <a:rPr lang="ko-KR" altLang="en-US" sz="1600" dirty="0"/>
              <a:t>상대적으로 낮은 환경오염</a:t>
            </a:r>
            <a:r>
              <a:rPr lang="en-US" altLang="ko-KR" sz="1600" dirty="0"/>
              <a:t>, </a:t>
            </a:r>
            <a:r>
              <a:rPr lang="ko-KR" altLang="en-US" sz="1600" dirty="0"/>
              <a:t>수송 유연성 등 여러가지 측면에서 장점을 지니고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우선 천연가스는 고효율 연료로서 복합화력발전소</a:t>
            </a:r>
            <a:r>
              <a:rPr lang="en-US" altLang="ko-KR" sz="1600" dirty="0"/>
              <a:t>(Combined Cycle Gas Turbine, CCGT)</a:t>
            </a:r>
            <a:r>
              <a:rPr lang="ko-KR" altLang="en-US" sz="1600" dirty="0"/>
              <a:t>에서 활용될 경우 최대 </a:t>
            </a:r>
            <a:r>
              <a:rPr lang="en-US" altLang="ko-KR" sz="1600" dirty="0"/>
              <a:t>60% </a:t>
            </a:r>
            <a:r>
              <a:rPr lang="ko-KR" altLang="en-US" sz="1600" dirty="0"/>
              <a:t>이상의 열효율을 달성할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석탄화력발전소의 경우 평균 효율이 </a:t>
            </a:r>
            <a:r>
              <a:rPr lang="en-US" altLang="ko-KR" sz="1600" dirty="0"/>
              <a:t>35%~45%</a:t>
            </a:r>
            <a:r>
              <a:rPr lang="ko-KR" altLang="en-US" sz="1600" dirty="0"/>
              <a:t>이며</a:t>
            </a:r>
            <a:r>
              <a:rPr lang="en-US" altLang="ko-KR" sz="1600" dirty="0"/>
              <a:t>, </a:t>
            </a:r>
            <a:r>
              <a:rPr lang="ko-KR" altLang="en-US" sz="1600" dirty="0"/>
              <a:t>동일한 전력을 생산하기 위해 필요한 연료가 줄어들기 때문에 에너지 비용절감효과가 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복합화력발전은 가스터빈의 배기열을 다시 이용해 증기터빈을 돌리는 구조이기 때문에 열 손실이 적고</a:t>
            </a:r>
            <a:r>
              <a:rPr lang="en-US" altLang="ko-KR" sz="1600" dirty="0"/>
              <a:t>, </a:t>
            </a:r>
            <a:r>
              <a:rPr lang="ko-KR" altLang="en-US" sz="1600" dirty="0"/>
              <a:t>효율 향상을 통해 연료비와 탄소배출량 까지 감소시킬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환경측면에서도 다른 화석연료에 비해 우수한 성능을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연소시</a:t>
            </a:r>
            <a:r>
              <a:rPr lang="ko-KR" altLang="en-US" sz="1600" dirty="0"/>
              <a:t> 이산화탄소</a:t>
            </a:r>
            <a:r>
              <a:rPr lang="en-US" altLang="ko-KR" sz="1600" dirty="0"/>
              <a:t>(CO</a:t>
            </a:r>
            <a:r>
              <a:rPr lang="en-US" altLang="ko-KR" sz="1600" baseline="-25000" dirty="0"/>
              <a:t>2</a:t>
            </a:r>
            <a:r>
              <a:rPr lang="en-US" altLang="ko-KR" sz="1600" dirty="0"/>
              <a:t>) </a:t>
            </a:r>
            <a:r>
              <a:rPr lang="ko-KR" altLang="en-US" sz="1600" dirty="0"/>
              <a:t>배출량은 석탄 대비 </a:t>
            </a:r>
            <a:r>
              <a:rPr lang="en-US" altLang="ko-KR" sz="1600" dirty="0"/>
              <a:t>50%, </a:t>
            </a:r>
            <a:r>
              <a:rPr lang="ko-KR" altLang="en-US" sz="1600" dirty="0"/>
              <a:t>석유 대비 </a:t>
            </a:r>
            <a:r>
              <a:rPr lang="en-US" altLang="ko-KR" sz="1600" dirty="0"/>
              <a:t>25% </a:t>
            </a:r>
            <a:r>
              <a:rPr lang="ko-KR" altLang="en-US" sz="1600" dirty="0"/>
              <a:t>낮으며</a:t>
            </a:r>
            <a:r>
              <a:rPr lang="en-US" altLang="ko-KR" sz="1600" dirty="0"/>
              <a:t>, </a:t>
            </a:r>
            <a:r>
              <a:rPr lang="ko-KR" altLang="en-US" sz="1600" dirty="0"/>
              <a:t>황산화물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질소산화물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미세먼지 등의 유해 대기오염물질 배출 수준도 현저히 낮다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특성으로 저탄소 에너지 체제로의 전환 과정에서 </a:t>
            </a:r>
            <a:r>
              <a:rPr lang="en-US" altLang="ko-KR" sz="1600" dirty="0"/>
              <a:t>‘</a:t>
            </a:r>
            <a:r>
              <a:rPr lang="ko-KR" altLang="en-US" sz="1600" dirty="0"/>
              <a:t>과도기 연료</a:t>
            </a:r>
            <a:r>
              <a:rPr lang="en-US" altLang="ko-KR" sz="1600" dirty="0"/>
              <a:t>‘ </a:t>
            </a:r>
            <a:r>
              <a:rPr lang="ko-KR" altLang="en-US" sz="1600" dirty="0"/>
              <a:t>역할을 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197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92EEC-3A59-045A-7E30-4FA433CE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E0EC1-C074-1DA9-03B0-6D0AD02D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064F8E-B0AE-7971-B0EC-A8EEBE62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73D8C-5E61-85AB-3138-40216A272CCA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물리적 상태 변화에도 강점을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기체 상태의 천연가스를 영하 </a:t>
            </a:r>
            <a:r>
              <a:rPr lang="en-US" altLang="ko-KR" sz="1600" dirty="0"/>
              <a:t>162</a:t>
            </a:r>
            <a:r>
              <a:rPr lang="ko-KR" altLang="en-US" sz="1600" dirty="0"/>
              <a:t>도까지 냉각하면 액화천연가스 </a:t>
            </a:r>
            <a:r>
              <a:rPr lang="en-US" altLang="ko-KR" sz="1600" dirty="0"/>
              <a:t>(LNG, Liquified Natural Gas)</a:t>
            </a:r>
            <a:r>
              <a:rPr lang="ko-KR" altLang="en-US" sz="1600" dirty="0"/>
              <a:t>로 전환 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부피는 약 </a:t>
            </a:r>
            <a:r>
              <a:rPr lang="en-US" altLang="ko-KR" sz="1600" dirty="0"/>
              <a:t>1/600 </a:t>
            </a:r>
            <a:r>
              <a:rPr lang="ko-KR" altLang="en-US" sz="1600" dirty="0"/>
              <a:t>수준으로 감소한다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이는 천연가스를 장거리</a:t>
            </a:r>
            <a:r>
              <a:rPr lang="en-US" altLang="ko-KR" sz="1600" dirty="0"/>
              <a:t>, </a:t>
            </a:r>
            <a:r>
              <a:rPr lang="ko-KR" altLang="en-US" sz="1600" dirty="0"/>
              <a:t>대륙간 수송에 적합한 형태로 만들어준다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파이프라인이 구축되지 않은 지역에도 상업적 거래를 가능하게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액화</a:t>
            </a:r>
            <a:r>
              <a:rPr lang="en-US" altLang="ko-KR" sz="1600" dirty="0"/>
              <a:t>, </a:t>
            </a:r>
            <a:r>
              <a:rPr lang="ko-KR" altLang="en-US" sz="1600" dirty="0"/>
              <a:t>저장</a:t>
            </a:r>
            <a:r>
              <a:rPr lang="en-US" altLang="ko-KR" sz="1600" dirty="0"/>
              <a:t>, </a:t>
            </a:r>
            <a:r>
              <a:rPr lang="ko-KR" altLang="en-US" sz="1600" dirty="0"/>
              <a:t>운송 재기화에 이르는 </a:t>
            </a:r>
            <a:r>
              <a:rPr lang="en-US" altLang="ko-KR" sz="1600" dirty="0"/>
              <a:t>LNG </a:t>
            </a:r>
            <a:r>
              <a:rPr lang="ko-KR" altLang="en-US" sz="1600" dirty="0"/>
              <a:t>공급망은 고도의 기술력과 투자비용을 요구하고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안전을 위한 인프라 구축이 필수적이다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안정성 측면에서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천연가스는 공기보다 가볍기 때문에 누출 시 개방된 공간에서는 빠르게 확산되어 연소 및 폭발 위험이 낮아지는 반면</a:t>
            </a:r>
            <a:r>
              <a:rPr lang="en-US" altLang="ko-KR" sz="1600" dirty="0"/>
              <a:t>, </a:t>
            </a:r>
            <a:r>
              <a:rPr lang="ko-KR" altLang="en-US" sz="1600" dirty="0"/>
              <a:t>밀폐된 공간에서는 가스가 축적되어 폭발 위험이 커질 수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천연가스는 </a:t>
            </a:r>
            <a:r>
              <a:rPr lang="ko-KR" altLang="en-US" sz="1600" dirty="0" err="1"/>
              <a:t>무색무취의</a:t>
            </a:r>
            <a:r>
              <a:rPr lang="ko-KR" altLang="en-US" sz="1600" dirty="0"/>
              <a:t> 성질을 갖고 있으므로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누출감지를 위해 </a:t>
            </a:r>
            <a:r>
              <a:rPr lang="ko-KR" altLang="en-US" sz="1600" dirty="0" err="1"/>
              <a:t>부취제를</a:t>
            </a:r>
            <a:r>
              <a:rPr lang="ko-KR" altLang="en-US" sz="1600" dirty="0"/>
              <a:t> 첨가하여 안정성 확보가 필요하다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지리적 측면에서 천연가스는 석유보다 더 넓은 지역에 매장되어 있어 공급 다변화에 유리하다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지리적 분산은 특정지역의 리스크가 전체 공급망에 미치는 영향을 완화해준다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0449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5D9F-AAAD-760D-EF0B-8BD4AC4F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33BEE-078B-4361-9BD5-5D936483F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9D5676-6B81-6F34-54AC-0DF9537A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C1728-7097-8C75-FBEB-37824717168A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주로 메탄으로 구성된 천연가스는 화학적 조성과 물리적 성질에 따라 다양한 방식으로 분류할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과학적인 구분을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생산 방식</a:t>
            </a:r>
            <a:r>
              <a:rPr lang="en-US" altLang="ko-KR" sz="1600" dirty="0"/>
              <a:t>, </a:t>
            </a:r>
            <a:r>
              <a:rPr lang="ko-KR" altLang="en-US" sz="1600" dirty="0"/>
              <a:t>정제 과정</a:t>
            </a:r>
            <a:r>
              <a:rPr lang="en-US" altLang="ko-KR" sz="1600" dirty="0"/>
              <a:t>, </a:t>
            </a:r>
            <a:r>
              <a:rPr lang="ko-KR" altLang="en-US" sz="1600" dirty="0"/>
              <a:t>수송 인프라</a:t>
            </a:r>
            <a:r>
              <a:rPr lang="en-US" altLang="ko-KR" sz="1600" dirty="0"/>
              <a:t>, </a:t>
            </a:r>
            <a:r>
              <a:rPr lang="ko-KR" altLang="en-US" sz="1600" dirty="0"/>
              <a:t>최종 수요시장의 선택 등 가치사슬 전반에 걸쳐 천연가스의 경제적</a:t>
            </a:r>
            <a:r>
              <a:rPr lang="en-US" altLang="ko-KR" sz="1600" dirty="0"/>
              <a:t>·</a:t>
            </a:r>
            <a:r>
              <a:rPr lang="ko-KR" altLang="en-US" sz="1600" dirty="0"/>
              <a:t>환경적 특성과 활용 방식을 결정짓는 중요한 기준으로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일반적인 분류는 메탄의 순도와 고급 탄화수소 성분의 포함 여부에 따른 드라이</a:t>
            </a:r>
            <a:r>
              <a:rPr lang="en-US" altLang="ko-KR" sz="1600" dirty="0"/>
              <a:t>(dry)</a:t>
            </a:r>
            <a:r>
              <a:rPr lang="ko-KR" altLang="en-US" sz="1600" dirty="0"/>
              <a:t> 가스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웻</a:t>
            </a:r>
            <a:r>
              <a:rPr lang="en-US" altLang="ko-KR" sz="1600" dirty="0"/>
              <a:t>(wet)</a:t>
            </a:r>
            <a:r>
              <a:rPr lang="ko-KR" altLang="en-US" sz="1600" dirty="0"/>
              <a:t> 가스 의 구분이다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드라이 가스는 메탄 비중이 약 </a:t>
            </a:r>
            <a:r>
              <a:rPr lang="en-US" altLang="ko-KR" sz="1600" dirty="0"/>
              <a:t>90% </a:t>
            </a:r>
            <a:r>
              <a:rPr lang="ko-KR" altLang="en-US" sz="1600" dirty="0"/>
              <a:t>이상으로</a:t>
            </a:r>
            <a:r>
              <a:rPr lang="en-US" altLang="ko-KR" sz="1600" dirty="0"/>
              <a:t>, </a:t>
            </a:r>
            <a:r>
              <a:rPr lang="ko-KR" altLang="en-US" sz="1600" dirty="0"/>
              <a:t>기타 탄화수소 성분이 거의 포함되어 있지 않아 정제가 단순하고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연료용으로 바로 사용하기에 적합하다</a:t>
            </a: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도시가스</a:t>
            </a:r>
            <a:r>
              <a:rPr lang="en-US" altLang="ko-KR" sz="1600" dirty="0"/>
              <a:t>, </a:t>
            </a:r>
            <a:r>
              <a:rPr lang="ko-KR" altLang="en-US" sz="1600" dirty="0"/>
              <a:t>발전용 연료 등 직접 연소형 시장에 적합하고</a:t>
            </a:r>
            <a:r>
              <a:rPr lang="en-US" altLang="ko-KR" sz="1600" dirty="0"/>
              <a:t>, </a:t>
            </a:r>
            <a:r>
              <a:rPr lang="ko-KR" altLang="en-US" sz="1600" dirty="0"/>
              <a:t>파이프라인을 통한 장거리 수송에도 효율적이다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웻</a:t>
            </a:r>
            <a:r>
              <a:rPr lang="ko-KR" altLang="en-US" sz="1600" dirty="0"/>
              <a:t> 가스는 에탄</a:t>
            </a:r>
            <a:r>
              <a:rPr lang="en-US" altLang="ko-KR" sz="1600" dirty="0"/>
              <a:t>, </a:t>
            </a:r>
            <a:r>
              <a:rPr lang="ko-KR" altLang="en-US" sz="1600" dirty="0"/>
              <a:t>프로판</a:t>
            </a:r>
            <a:r>
              <a:rPr lang="en-US" altLang="ko-KR" sz="1600" dirty="0"/>
              <a:t>, </a:t>
            </a:r>
            <a:r>
              <a:rPr lang="ko-KR" altLang="en-US" sz="1600" dirty="0"/>
              <a:t>부탄 등 중간 탄화수소가 다량 포함되어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 성분들을 추출하여 부가가치가 높은 액화석유가스</a:t>
            </a:r>
            <a:r>
              <a:rPr lang="en-US" altLang="ko-KR" sz="1600" dirty="0"/>
              <a:t>(LPG)</a:t>
            </a:r>
            <a:r>
              <a:rPr lang="ko-KR" altLang="en-US" sz="1600" dirty="0"/>
              <a:t>나 석유화학 연료</a:t>
            </a:r>
            <a:r>
              <a:rPr lang="en-US" altLang="ko-KR" sz="1600" dirty="0"/>
              <a:t>(NGLs)</a:t>
            </a:r>
            <a:r>
              <a:rPr lang="ko-KR" altLang="en-US" sz="1600" dirty="0"/>
              <a:t>로 활용할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가스 처리 공정을 거쳐야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냉각</a:t>
            </a:r>
            <a:r>
              <a:rPr lang="en-US" altLang="ko-KR" sz="1600" dirty="0"/>
              <a:t>·</a:t>
            </a:r>
            <a:r>
              <a:rPr lang="ko-KR" altLang="en-US" sz="1600" dirty="0"/>
              <a:t>압축</a:t>
            </a:r>
            <a:r>
              <a:rPr lang="en-US" altLang="ko-KR" sz="1600" dirty="0"/>
              <a:t>·</a:t>
            </a:r>
            <a:r>
              <a:rPr lang="ko-KR" altLang="en-US" sz="1600" dirty="0"/>
              <a:t>탈탄소화 설비 등 고가의 인프라를 요구하므로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투자비용과 운송비용이 상대적으로 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982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9A752-6556-46F6-857F-6E9C1A58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A3A0D-6D0E-4F71-91C8-2D344C3F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082F75-9B24-846E-DED3-F6DBD15D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F7D64-8C6C-6880-87B4-1AD3A56E4675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 다른 분류 방식은 천연가스 내에 포함된 불순물의 함량에 기반한 분류다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사워</a:t>
            </a:r>
            <a:r>
              <a:rPr lang="ko-KR" altLang="en-US" sz="1600" dirty="0"/>
              <a:t> 가스</a:t>
            </a:r>
            <a:r>
              <a:rPr lang="en-US" altLang="ko-KR" sz="1600" dirty="0"/>
              <a:t>(sour gas)</a:t>
            </a:r>
            <a:r>
              <a:rPr lang="ko-KR" altLang="en-US" sz="1600" dirty="0"/>
              <a:t>는 황화수소 또는 이산화탄소와 같은 산성 가스를 상당량 포함하고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인체에 유해하고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공정 설비의 부식을 유발하며</a:t>
            </a:r>
            <a:r>
              <a:rPr lang="en-US" altLang="ko-KR" sz="1600" dirty="0"/>
              <a:t>, </a:t>
            </a:r>
            <a:r>
              <a:rPr lang="ko-KR" altLang="en-US" sz="1600" dirty="0"/>
              <a:t>운송과 저장 시 높은 위험성을 수반하므로 </a:t>
            </a:r>
            <a:r>
              <a:rPr lang="ko-KR" altLang="en-US" sz="1600" dirty="0" err="1"/>
              <a:t>스위트닝</a:t>
            </a:r>
            <a:r>
              <a:rPr lang="en-US" altLang="ko-KR" sz="1600" dirty="0"/>
              <a:t>(sweetening) </a:t>
            </a:r>
            <a:r>
              <a:rPr lang="ko-KR" altLang="en-US" sz="1600" dirty="0"/>
              <a:t>공정을 필요로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대표적으로 아민 </a:t>
            </a:r>
            <a:r>
              <a:rPr lang="ko-KR" altLang="en-US" sz="1600" dirty="0" err="1"/>
              <a:t>흡수탑</a:t>
            </a:r>
            <a:r>
              <a:rPr lang="en-US" altLang="ko-KR" sz="1600" dirty="0"/>
              <a:t>, </a:t>
            </a:r>
            <a:r>
              <a:rPr lang="ko-KR" altLang="en-US" sz="1600" dirty="0"/>
              <a:t>막 분리 기술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크라이오제닉</a:t>
            </a:r>
            <a:r>
              <a:rPr lang="ko-KR" altLang="en-US" sz="1600" dirty="0"/>
              <a:t> 냉각 등의 정제 기술이 사용되고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인한 처리비용의 상승이 전체 프로젝트의 수익성으로 직결된다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스위트 가스</a:t>
            </a:r>
            <a:r>
              <a:rPr lang="en-US" altLang="ko-KR" sz="1600" dirty="0"/>
              <a:t>(sweet gas)</a:t>
            </a:r>
            <a:r>
              <a:rPr lang="ko-KR" altLang="en-US" sz="1600" dirty="0"/>
              <a:t>는 황화수소 또는 이산화탄소와 같은 산성 가스를 거의 포함하고 있지 않다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사워</a:t>
            </a:r>
            <a:r>
              <a:rPr lang="ko-KR" altLang="en-US" sz="1600" dirty="0"/>
              <a:t> 가스 대비 상대적으로</a:t>
            </a:r>
            <a:r>
              <a:rPr lang="en-US" altLang="ko-KR" sz="1600" dirty="0"/>
              <a:t>, </a:t>
            </a:r>
            <a:r>
              <a:rPr lang="ko-KR" altLang="en-US" sz="1600" dirty="0"/>
              <a:t>냄새가 적고 안전하여</a:t>
            </a:r>
            <a:r>
              <a:rPr lang="en-US" altLang="ko-KR" sz="1600" dirty="0"/>
              <a:t>, </a:t>
            </a:r>
            <a:r>
              <a:rPr lang="ko-KR" altLang="en-US" sz="1600" dirty="0"/>
              <a:t>처리공정이 간단하다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상대적으로 정제 비용이 적고</a:t>
            </a:r>
            <a:r>
              <a:rPr lang="en-US" altLang="ko-KR" sz="1600" dirty="0"/>
              <a:t>, </a:t>
            </a:r>
            <a:r>
              <a:rPr lang="ko-KR" altLang="en-US" sz="1600" dirty="0"/>
              <a:t>탄소배출 측면에서도 유리하여 정책적</a:t>
            </a:r>
            <a:r>
              <a:rPr lang="en-US" altLang="ko-KR" sz="1600" dirty="0"/>
              <a:t>·</a:t>
            </a:r>
            <a:r>
              <a:rPr lang="ko-KR" altLang="en-US" sz="1600" dirty="0"/>
              <a:t>환경적 선호도가 높다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3645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A20D6-836A-4370-E46C-301BB69E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0E1D9-42CC-00CB-BE17-A748399F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23E626-40F4-8266-86B5-8907BC52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9AD25-10EC-E4FD-80B6-78DED0C0C440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매장 형태에 따른 분류도 천연가스의 특성과 상업적 전략을 이해하는데 중요하다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어소시에이티드</a:t>
            </a:r>
            <a:r>
              <a:rPr lang="ko-KR" altLang="en-US" sz="1600" dirty="0"/>
              <a:t> 가스</a:t>
            </a:r>
            <a:r>
              <a:rPr lang="en-US" altLang="ko-KR" sz="1600" dirty="0"/>
              <a:t>(associated gas)</a:t>
            </a:r>
            <a:r>
              <a:rPr lang="ko-KR" altLang="en-US" sz="1600" dirty="0"/>
              <a:t>는 석유와 함께 동일한 지층에 공존하며</a:t>
            </a:r>
            <a:r>
              <a:rPr lang="en-US" altLang="ko-KR" sz="1600" dirty="0"/>
              <a:t>, </a:t>
            </a:r>
            <a:r>
              <a:rPr lang="ko-KR" altLang="en-US" sz="1600" dirty="0"/>
              <a:t>원유 생산 과정에서 부산물로 발생하는 가스를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과거에는 기술부족</a:t>
            </a:r>
            <a:r>
              <a:rPr lang="en-US" altLang="ko-KR" sz="1600" dirty="0"/>
              <a:t>, </a:t>
            </a:r>
            <a:r>
              <a:rPr lang="ko-KR" altLang="en-US" sz="1600" dirty="0"/>
              <a:t>경제성 미비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수요처</a:t>
            </a:r>
            <a:r>
              <a:rPr lang="ko-KR" altLang="en-US" sz="1600" dirty="0"/>
              <a:t> 부재 등의 이유로 대부분 연소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플레어링</a:t>
            </a:r>
            <a:r>
              <a:rPr lang="en-US" altLang="ko-KR" sz="1600" dirty="0"/>
              <a:t>)</a:t>
            </a:r>
            <a:r>
              <a:rPr lang="ko-KR" altLang="en-US" sz="1600" dirty="0"/>
              <a:t>되거나 지하에 </a:t>
            </a:r>
            <a:r>
              <a:rPr lang="ko-KR" altLang="en-US" sz="1600" dirty="0" err="1"/>
              <a:t>재주입되었으나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최근에는 </a:t>
            </a:r>
            <a:r>
              <a:rPr lang="ko-KR" altLang="en-US" sz="1600" dirty="0" err="1"/>
              <a:t>플레어링</a:t>
            </a:r>
            <a:r>
              <a:rPr lang="ko-KR" altLang="en-US" sz="1600" dirty="0"/>
              <a:t> 금지 정책과 자원 효율성 강화에 따라 회수 및 이용이 증가하고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넌어소시에이티드</a:t>
            </a:r>
            <a:r>
              <a:rPr lang="ko-KR" altLang="en-US" sz="1600" dirty="0"/>
              <a:t> 가스</a:t>
            </a:r>
            <a:r>
              <a:rPr lang="en-US" altLang="ko-KR" sz="1600" dirty="0"/>
              <a:t>(non-</a:t>
            </a:r>
            <a:r>
              <a:rPr lang="en-US" altLang="ko-KR" sz="1600" dirty="0" err="1"/>
              <a:t>associaged</a:t>
            </a:r>
            <a:r>
              <a:rPr lang="en-US" altLang="ko-KR" sz="1600" dirty="0"/>
              <a:t> gas)</a:t>
            </a:r>
            <a:r>
              <a:rPr lang="ko-KR" altLang="en-US" sz="1600" dirty="0"/>
              <a:t>는 독립적인 가스전에서 생산되며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가스를 주요 자원으로 상정한 개발 프로젝트에서 생산된 가스를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상대적으로 품질이 균일하고</a:t>
            </a:r>
            <a:r>
              <a:rPr lang="en-US" altLang="ko-KR" sz="1600" dirty="0"/>
              <a:t>, </a:t>
            </a:r>
            <a:r>
              <a:rPr lang="ko-KR" altLang="en-US" sz="1600" dirty="0"/>
              <a:t>생산 계획 및 가격 책정이 독립적으로 가능하기 때문에 </a:t>
            </a:r>
            <a:r>
              <a:rPr lang="en-US" altLang="ko-KR" sz="1600" dirty="0"/>
              <a:t>LNG </a:t>
            </a:r>
            <a:r>
              <a:rPr lang="ko-KR" altLang="en-US" sz="1600" dirty="0"/>
              <a:t>수출</a:t>
            </a:r>
            <a:r>
              <a:rPr lang="en-US" altLang="ko-KR" sz="1600" dirty="0"/>
              <a:t>, </a:t>
            </a:r>
            <a:r>
              <a:rPr lang="ko-KR" altLang="en-US" sz="1600" dirty="0"/>
              <a:t>도시가스 공급 등 고부가가치 시장을 겨냥한 전략적 활용에 용이하다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1323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D2A0-210C-8C30-A32E-11C168CB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5166C-F5D0-3F70-CC35-370E1EAA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천연가스의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223AFF-BA3A-3CA0-4772-3022A4E3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64481-DC0F-FEEF-7D2B-B28B0E048AA4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분류는 기술적 차원을 넘어 가치사슬 전반에 걸쳐 실질적인 경제성과 환경성에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드라이 가스는 파이프라인 인프라와 결합되어 에너지 효율성이 높은 공급망 구축에 적합하다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웻</a:t>
            </a:r>
            <a:r>
              <a:rPr lang="ko-KR" altLang="en-US" sz="1600" dirty="0"/>
              <a:t> 가스는 분리 및 처리 과정을 통해 석유화학 산업과의 연계를 강화할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사워</a:t>
            </a:r>
            <a:r>
              <a:rPr lang="ko-KR" altLang="en-US" sz="1600" dirty="0"/>
              <a:t> 가스는 공정 설계와 환경규제 대응에서 높은 수준의 기술력과 자본을 요구하므로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투자 타당성 분석에서 핵심 변수로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어소시에이티드</a:t>
            </a:r>
            <a:r>
              <a:rPr lang="ko-KR" altLang="en-US" sz="1600" dirty="0"/>
              <a:t> 가스는 석유 가격과 생산량에 따라 동반 변동성이 존재하므로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수급 안정성을 위해 별도의 저장 및 활용 전략이 필요하다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0589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078E1-38F3-55A7-E509-C500B0C6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61D847-DA49-3607-B892-317A203E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공급사슬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BF416-6C1F-7203-FA06-75ECAB80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0EC15-8F69-5D17-0339-448E38426484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천연가스의 공급사슬은 탐사에서 최종 소비자에게 이르는 전 과정을 포함하는 복합적이고 </a:t>
            </a:r>
            <a:r>
              <a:rPr lang="ko-KR" altLang="en-US" sz="1600" dirty="0" err="1"/>
              <a:t>다단계적인</a:t>
            </a:r>
            <a:r>
              <a:rPr lang="ko-KR" altLang="en-US" sz="1600" dirty="0"/>
              <a:t> 구조를 형성하고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각 단계는 상이한 기술</a:t>
            </a:r>
            <a:r>
              <a:rPr lang="en-US" altLang="ko-KR" sz="1600" dirty="0"/>
              <a:t>, </a:t>
            </a:r>
            <a:r>
              <a:rPr lang="ko-KR" altLang="en-US" sz="1600" dirty="0"/>
              <a:t>자본</a:t>
            </a:r>
            <a:r>
              <a:rPr lang="en-US" altLang="ko-KR" sz="1600" dirty="0"/>
              <a:t>, </a:t>
            </a:r>
            <a:r>
              <a:rPr lang="ko-KR" altLang="en-US" sz="1600" dirty="0"/>
              <a:t>정책 환경 속에서 운영된다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공급사슬의 출발점은 탐사 및 생산 단계이다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지질학적 모델</a:t>
            </a:r>
            <a:r>
              <a:rPr lang="en-US" altLang="ko-KR" sz="1600" dirty="0"/>
              <a:t>, </a:t>
            </a:r>
            <a:r>
              <a:rPr lang="ko-KR" altLang="en-US" sz="1600" dirty="0"/>
              <a:t>지진파 탐사</a:t>
            </a:r>
            <a:r>
              <a:rPr lang="en-US" altLang="ko-KR" sz="1600" dirty="0"/>
              <a:t>, </a:t>
            </a:r>
            <a:r>
              <a:rPr lang="ko-KR" altLang="en-US" sz="1600" dirty="0"/>
              <a:t>중력 및 자기탐사 등의 기술을 활용하여 지하에 매장된 천연가스 자원을 탐색한다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단계는 </a:t>
            </a:r>
            <a:r>
              <a:rPr lang="ko-KR" altLang="en-US" sz="1600" dirty="0" err="1"/>
              <a:t>자본집약적이고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지질학적 불확실성이 높아 고위험</a:t>
            </a:r>
            <a:r>
              <a:rPr lang="en-US" altLang="ko-KR" sz="1600" dirty="0"/>
              <a:t>-</a:t>
            </a:r>
            <a:r>
              <a:rPr lang="ko-KR" altLang="en-US" sz="1600" dirty="0"/>
              <a:t>고수익 성격을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자원 개발 가능성을 평가하기 위한 탐사 확률 분석</a:t>
            </a:r>
            <a:r>
              <a:rPr lang="en-US" altLang="ko-KR" sz="1600" dirty="0"/>
              <a:t>, </a:t>
            </a:r>
            <a:r>
              <a:rPr lang="ko-KR" altLang="en-US" sz="1600" dirty="0"/>
              <a:t>내부수익률 시뮬레이션</a:t>
            </a:r>
            <a:r>
              <a:rPr lang="en-US" altLang="ko-KR" sz="1600" dirty="0"/>
              <a:t>, </a:t>
            </a:r>
            <a:r>
              <a:rPr lang="ko-KR" altLang="en-US" sz="1600" dirty="0"/>
              <a:t>손익분기 가격 분석 등이 병행된다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시추기술의 발달은 특히 </a:t>
            </a:r>
            <a:r>
              <a:rPr lang="ko-KR" altLang="en-US" sz="1600" dirty="0" err="1"/>
              <a:t>비전통</a:t>
            </a:r>
            <a:r>
              <a:rPr lang="ko-KR" altLang="en-US" sz="1600" dirty="0"/>
              <a:t> 천연가스 자원 개발의 전환점을 마련하였다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수평시추와 </a:t>
            </a:r>
            <a:r>
              <a:rPr lang="ko-KR" altLang="en-US" sz="1600" dirty="0" err="1"/>
              <a:t>수압파쇄</a:t>
            </a:r>
            <a:r>
              <a:rPr lang="ko-KR" altLang="en-US" sz="1600" dirty="0"/>
              <a:t> 기술은 </a:t>
            </a:r>
            <a:r>
              <a:rPr lang="ko-KR" altLang="en-US" sz="1600" dirty="0" err="1"/>
              <a:t>셰일가스나</a:t>
            </a:r>
            <a:r>
              <a:rPr lang="ko-KR" altLang="en-US" sz="1600" dirty="0"/>
              <a:t> 타이트가스 자원의 상업적 생산을 가능하게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기술 진보를 통해 전통적 가스 수출국의 시장지배력 약화</a:t>
            </a:r>
            <a:r>
              <a:rPr lang="en-US" altLang="ko-KR" sz="1600" dirty="0"/>
              <a:t>, </a:t>
            </a:r>
            <a:r>
              <a:rPr lang="ko-KR" altLang="en-US" sz="1600" dirty="0"/>
              <a:t>북미 지역의 에너지 자립도 향상</a:t>
            </a:r>
            <a:r>
              <a:rPr lang="en-US" altLang="ko-KR" sz="1600" dirty="0"/>
              <a:t>, </a:t>
            </a:r>
            <a:r>
              <a:rPr lang="ko-KR" altLang="en-US" sz="1600" dirty="0"/>
              <a:t>글로벌 </a:t>
            </a:r>
            <a:r>
              <a:rPr lang="en-US" altLang="ko-KR" sz="1600" dirty="0"/>
              <a:t>LNG</a:t>
            </a:r>
            <a:r>
              <a:rPr lang="ko-KR" altLang="en-US" sz="1600" dirty="0"/>
              <a:t>시장의 유동성 증가라는 구조적 변화를 이끌었다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1044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931F9-6AB7-24BF-A4DA-EF98BD65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AC5C3-979E-72AF-328B-5F9B1E2D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공급사슬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E49A2-B0BF-5230-840C-7FFEA878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153C6-9096-9531-152C-061846938BE5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생산된 원가스는 메탄 외에도 이산화탄소</a:t>
            </a:r>
            <a:r>
              <a:rPr lang="en-US" altLang="ko-KR" sz="1600" dirty="0"/>
              <a:t>, </a:t>
            </a:r>
            <a:r>
              <a:rPr lang="ko-KR" altLang="en-US" sz="1600" dirty="0"/>
              <a:t>황화수소</a:t>
            </a:r>
            <a:r>
              <a:rPr lang="en-US" altLang="ko-KR" sz="1600" dirty="0"/>
              <a:t>, </a:t>
            </a:r>
            <a:r>
              <a:rPr lang="ko-KR" altLang="en-US" sz="1600" dirty="0"/>
              <a:t>질소</a:t>
            </a:r>
            <a:r>
              <a:rPr lang="en-US" altLang="ko-KR" sz="1600" dirty="0"/>
              <a:t>, </a:t>
            </a:r>
            <a:r>
              <a:rPr lang="ko-KR" altLang="en-US" sz="1600" dirty="0"/>
              <a:t>액화석유가스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</a:t>
            </a:r>
            <a:r>
              <a:rPr lang="ko-KR" altLang="en-US" sz="1600" dirty="0" err="1"/>
              <a:t>액체류</a:t>
            </a:r>
            <a:r>
              <a:rPr lang="ko-KR" altLang="en-US" sz="1600" dirty="0"/>
              <a:t> 등 다양한 불순물을 포함하고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가공 및 정제 처리 단계를 통해 </a:t>
            </a:r>
            <a:r>
              <a:rPr lang="en-US" altLang="ko-KR" sz="1600" dirty="0"/>
              <a:t>‘</a:t>
            </a:r>
            <a:r>
              <a:rPr lang="ko-KR" altLang="en-US" sz="1600" dirty="0"/>
              <a:t>스위트 가스</a:t>
            </a:r>
            <a:r>
              <a:rPr lang="en-US" altLang="ko-KR" sz="1600" dirty="0"/>
              <a:t>’</a:t>
            </a:r>
            <a:r>
              <a:rPr lang="ko-KR" altLang="en-US" sz="1600" dirty="0"/>
              <a:t>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과정에는 산성가스 제거</a:t>
            </a:r>
            <a:r>
              <a:rPr lang="en-US" altLang="ko-KR" sz="1600" dirty="0"/>
              <a:t>, </a:t>
            </a:r>
            <a:r>
              <a:rPr lang="ko-KR" altLang="en-US" sz="1600" dirty="0"/>
              <a:t>수분 제거</a:t>
            </a:r>
            <a:r>
              <a:rPr lang="en-US" altLang="ko-KR" sz="1600" dirty="0"/>
              <a:t>, NGL </a:t>
            </a:r>
            <a:r>
              <a:rPr lang="ko-KR" altLang="en-US" sz="1600" dirty="0"/>
              <a:t>분리 등의 공정이 포함되며 최종적으로는 수송 가능한 사양의 고순도 메탄 가스를 확보하게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가공단계는 환경 규제와 연결되어 있을 뿐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제품 다양화 및 부가가치 창출의 기초가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정제된 가스는 수송단계로 넘어가며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일반적인 방식은 파이프라인을 통한 육상 수송이다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대륙간 수송이 어려운 경우에는 천연가스를 </a:t>
            </a:r>
            <a:r>
              <a:rPr lang="en-US" altLang="ko-KR" sz="1600" dirty="0"/>
              <a:t>-162℃</a:t>
            </a:r>
            <a:r>
              <a:rPr lang="ko-KR" altLang="en-US" sz="1600" dirty="0"/>
              <a:t>로</a:t>
            </a:r>
            <a:r>
              <a:rPr lang="en-US" altLang="ko-KR" sz="1600" dirty="0"/>
              <a:t> </a:t>
            </a:r>
            <a:r>
              <a:rPr lang="ko-KR" altLang="en-US" sz="1600" dirty="0"/>
              <a:t>냉각시켜 액화</a:t>
            </a:r>
            <a:r>
              <a:rPr lang="en-US" altLang="ko-KR" sz="1600" dirty="0"/>
              <a:t> </a:t>
            </a:r>
            <a:r>
              <a:rPr lang="ko-KR" altLang="en-US" sz="1600" dirty="0"/>
              <a:t>형태</a:t>
            </a:r>
            <a:r>
              <a:rPr lang="en-US" altLang="ko-KR" sz="1600" dirty="0"/>
              <a:t>(LNG, Liquified Natural Gas)</a:t>
            </a:r>
            <a:r>
              <a:rPr lang="ko-KR" altLang="en-US" sz="1600" dirty="0"/>
              <a:t>로 만들어 특수 선박을 이용해 해상 수송하고</a:t>
            </a:r>
            <a:r>
              <a:rPr lang="en-US" altLang="ko-KR" sz="1600" dirty="0"/>
              <a:t>,</a:t>
            </a:r>
            <a:r>
              <a:rPr lang="ko-KR" altLang="en-US" sz="1600" dirty="0"/>
              <a:t> 도착지에는 재기화를 통해 기체 상태로 전환하여 지역 파이프라인망으로 공급된다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파이프라인 수송은 통상적으로 생산지</a:t>
            </a:r>
            <a:r>
              <a:rPr lang="en-US" altLang="ko-KR" sz="1600" dirty="0"/>
              <a:t>-</a:t>
            </a:r>
            <a:r>
              <a:rPr lang="ko-KR" altLang="en-US" sz="1600" dirty="0"/>
              <a:t>소비지 간의 장기계약과 함께 구축되며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인프라의 장기적인 고정비 투자와 관련된 자산특화가 높은 특징을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LNG</a:t>
            </a:r>
            <a:r>
              <a:rPr lang="ko-KR" altLang="en-US" sz="1600" dirty="0"/>
              <a:t>는 수출입이 가능한 유연성을 제공하지만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초기 설비투자가 막대하고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정제</a:t>
            </a:r>
            <a:r>
              <a:rPr lang="en-US" altLang="ko-KR" sz="1600" dirty="0"/>
              <a:t>, </a:t>
            </a:r>
            <a:r>
              <a:rPr lang="ko-KR" altLang="en-US" sz="1600" dirty="0"/>
              <a:t>냉각</a:t>
            </a:r>
            <a:r>
              <a:rPr lang="en-US" altLang="ko-KR" sz="1600" dirty="0"/>
              <a:t>, </a:t>
            </a:r>
            <a:r>
              <a:rPr lang="ko-KR" altLang="en-US" sz="1600" dirty="0"/>
              <a:t>저장</a:t>
            </a:r>
            <a:r>
              <a:rPr lang="en-US" altLang="ko-KR" sz="1600" dirty="0"/>
              <a:t>, </a:t>
            </a:r>
            <a:r>
              <a:rPr lang="ko-KR" altLang="en-US" sz="1600" dirty="0"/>
              <a:t>운송</a:t>
            </a:r>
            <a:r>
              <a:rPr lang="en-US" altLang="ko-KR" sz="1600" dirty="0"/>
              <a:t>, </a:t>
            </a:r>
            <a:r>
              <a:rPr lang="ko-KR" altLang="en-US" sz="1600" dirty="0"/>
              <a:t>재기화 등 다단계 인프라가 필요하다는 점에서 비용 부담이 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4002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CFD0D-559E-9216-20DF-251B46989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07D12-1347-8D58-95C3-6015C3E53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공급사슬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5C442-FC90-AC2A-F123-3CEDA909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78388-3865-426E-7D9E-E12FC5D97943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공급과 수요의 시간차가 존재하기 때문에 저장설비가 필수적이다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저장소는 일반적으로 지하 </a:t>
            </a:r>
            <a:r>
              <a:rPr lang="ko-KR" altLang="en-US" sz="1600" dirty="0" err="1"/>
              <a:t>염동굴</a:t>
            </a:r>
            <a:r>
              <a:rPr lang="en-US" altLang="ko-KR" sz="1600" dirty="0"/>
              <a:t>, </a:t>
            </a:r>
            <a:r>
              <a:rPr lang="ko-KR" altLang="en-US" sz="1600" dirty="0"/>
              <a:t>고갈된 가스전</a:t>
            </a:r>
            <a:r>
              <a:rPr lang="en-US" altLang="ko-KR" sz="1600" dirty="0"/>
              <a:t>, </a:t>
            </a:r>
            <a:r>
              <a:rPr lang="ko-KR" altLang="en-US" sz="1600" dirty="0"/>
              <a:t>수조형 탱크로 구분되며</a:t>
            </a:r>
            <a:r>
              <a:rPr lang="en-US" altLang="ko-KR" sz="1600" dirty="0"/>
              <a:t>, </a:t>
            </a:r>
            <a:r>
              <a:rPr lang="ko-KR" altLang="en-US" sz="1600" dirty="0"/>
              <a:t>계절 수요 변동이 큰 북반구 지역에서는 겨울철 난방 수요 급등에 대비한 계절조절 수단으로 필수적이다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최근에는 수요 예측 기반의 스마트 저장시스템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가격 변동에 따른 수익 극대화를 위한 전략적 저장 운영이 주목받고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공급사슬의 마지막 단계는 분배이며</a:t>
            </a:r>
            <a:r>
              <a:rPr lang="en-US" altLang="ko-KR" sz="1600" dirty="0"/>
              <a:t>,</a:t>
            </a:r>
            <a:r>
              <a:rPr lang="ko-KR" altLang="en-US" sz="1600" dirty="0"/>
              <a:t> 이는 고압 송수관에서 저압의 지역 공급망으로 천연가스를 전달하는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과정에서는 가정용</a:t>
            </a:r>
            <a:r>
              <a:rPr lang="en-US" altLang="ko-KR" sz="1600" dirty="0"/>
              <a:t>, </a:t>
            </a:r>
            <a:r>
              <a:rPr lang="ko-KR" altLang="en-US" sz="1600" dirty="0"/>
              <a:t>상업용</a:t>
            </a:r>
            <a:r>
              <a:rPr lang="en-US" altLang="ko-KR" sz="1600" dirty="0"/>
              <a:t>, </a:t>
            </a:r>
            <a:r>
              <a:rPr lang="ko-KR" altLang="en-US" sz="1600" dirty="0"/>
              <a:t>산업용 수요자의 안전성과 편의성을 고려하여 압력 조절</a:t>
            </a:r>
            <a:r>
              <a:rPr lang="en-US" altLang="ko-KR" sz="1600" dirty="0"/>
              <a:t>, </a:t>
            </a:r>
            <a:r>
              <a:rPr lang="ko-KR" altLang="en-US" sz="1600" dirty="0"/>
              <a:t>계량기 설치</a:t>
            </a:r>
            <a:r>
              <a:rPr lang="en-US" altLang="ko-KR" sz="1600" dirty="0"/>
              <a:t>, </a:t>
            </a:r>
            <a:r>
              <a:rPr lang="ko-KR" altLang="en-US" sz="1600" dirty="0"/>
              <a:t>품질 보증 등의 절차가 수반된다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천연가스는 주거용 난방</a:t>
            </a:r>
            <a:r>
              <a:rPr lang="en-US" altLang="ko-KR" sz="1600" dirty="0"/>
              <a:t>, </a:t>
            </a:r>
            <a:r>
              <a:rPr lang="ko-KR" altLang="en-US" sz="1600" dirty="0"/>
              <a:t>취사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산업열원</a:t>
            </a:r>
            <a:r>
              <a:rPr lang="en-US" altLang="ko-KR" sz="1600" dirty="0"/>
              <a:t>, </a:t>
            </a:r>
            <a:r>
              <a:rPr lang="ko-KR" altLang="en-US" sz="1600" dirty="0"/>
              <a:t>전력 발전</a:t>
            </a:r>
            <a:r>
              <a:rPr lang="en-US" altLang="ko-KR" sz="1600" dirty="0"/>
              <a:t>, </a:t>
            </a:r>
            <a:r>
              <a:rPr lang="ko-KR" altLang="en-US" sz="1600" dirty="0"/>
              <a:t>화학제품 원료로 다양하게 쓰이고</a:t>
            </a:r>
            <a:r>
              <a:rPr lang="en-US" altLang="ko-KR" sz="1600" dirty="0"/>
              <a:t>, </a:t>
            </a:r>
            <a:r>
              <a:rPr lang="ko-KR" altLang="en-US" sz="1600" dirty="0"/>
              <a:t>교통용 연료로도 쓰인다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압축천연가스 </a:t>
            </a:r>
            <a:r>
              <a:rPr lang="en-US" altLang="ko-KR" sz="1600" dirty="0"/>
              <a:t>(CNG, Compressed Natural Gas)</a:t>
            </a:r>
            <a:r>
              <a:rPr lang="ko-KR" altLang="en-US" sz="1600" dirty="0"/>
              <a:t>는 도시버스나 승용차에</a:t>
            </a:r>
            <a:r>
              <a:rPr lang="en-US" altLang="ko-KR" sz="1600" dirty="0"/>
              <a:t> </a:t>
            </a:r>
            <a:r>
              <a:rPr lang="ko-KR" altLang="en-US" sz="1600" dirty="0"/>
              <a:t>쓰인다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액화천연가스 </a:t>
            </a:r>
            <a:r>
              <a:rPr lang="en-US" altLang="ko-KR" sz="1600" dirty="0"/>
              <a:t>(LNG, Liquified Natural Gas)</a:t>
            </a:r>
            <a:r>
              <a:rPr lang="ko-KR" altLang="en-US" sz="1600" dirty="0"/>
              <a:t>는 트럭</a:t>
            </a:r>
            <a:r>
              <a:rPr lang="en-US" altLang="ko-KR" sz="1600" dirty="0"/>
              <a:t>, </a:t>
            </a:r>
            <a:r>
              <a:rPr lang="ko-KR" altLang="en-US" sz="1600" dirty="0"/>
              <a:t>선박</a:t>
            </a:r>
            <a:r>
              <a:rPr lang="en-US" altLang="ko-KR" sz="1600" dirty="0"/>
              <a:t>, </a:t>
            </a:r>
            <a:r>
              <a:rPr lang="ko-KR" altLang="en-US" sz="1600" dirty="0"/>
              <a:t>철도 등 장거리</a:t>
            </a:r>
            <a:r>
              <a:rPr lang="en-US" altLang="ko-KR" sz="1600" dirty="0"/>
              <a:t>·</a:t>
            </a:r>
            <a:r>
              <a:rPr lang="ko-KR" altLang="en-US" sz="1600" dirty="0"/>
              <a:t>대형 운송수단에 쓰인다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2248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C290-92DE-9947-B598-19866030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4CB4D-D982-EEAD-F858-758C9A11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공급사슬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4E8D8-AA26-04DB-3BB8-BCBD2294C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063C0F-AE23-70B0-8CD4-785AC69CB882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공급사슬은 기술</a:t>
            </a:r>
            <a:r>
              <a:rPr lang="en-US" altLang="ko-KR" sz="1600" dirty="0"/>
              <a:t>, </a:t>
            </a:r>
            <a:r>
              <a:rPr lang="ko-KR" altLang="en-US" sz="1600" dirty="0"/>
              <a:t>경제성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환경성</a:t>
            </a:r>
            <a:r>
              <a:rPr lang="en-US" altLang="ko-KR" sz="1600" dirty="0"/>
              <a:t>, </a:t>
            </a:r>
            <a:r>
              <a:rPr lang="ko-KR" altLang="en-US" sz="1600" dirty="0"/>
              <a:t>국제정치가 복합적으로 얽힌 구조로서</a:t>
            </a:r>
            <a:r>
              <a:rPr lang="en-US" altLang="ko-KR" sz="1600" dirty="0"/>
              <a:t>, </a:t>
            </a:r>
            <a:r>
              <a:rPr lang="ko-KR" altLang="en-US" sz="1600" dirty="0"/>
              <a:t>각 단계는 단순한 생산과 수송 이상의 전략적 의미를 갖는다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특히 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목표가 중요한 시대적 과제로 떠오른 현재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공급사슬의 효율성과 탄력성은 국가 및 글로벌 차원의 정책 설계와 시장전략에서 핵심 요소로 작용하고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3658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6601A-FB1D-722F-2FC6-1AD571EAC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A8D64D-3ECB-6BBC-2840-DD40968194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6F5BF2-6D24-310D-DF42-8B7B3041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F8F96F9-B37F-0121-FC63-42BCF036A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천연가스의 시장의 현황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48910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9DA9-730B-BBD9-DA05-39BF2FFD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7B63E-4028-7888-AD6C-D8E16256E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F2238-501C-5A8A-D9AE-B6619F7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08686-6A82-DD8C-D410-946AAEC7C6B3}"/>
              </a:ext>
            </a:extLst>
          </p:cNvPr>
          <p:cNvSpPr txBox="1"/>
          <p:nvPr/>
        </p:nvSpPr>
        <p:spPr>
          <a:xfrm>
            <a:off x="288790" y="958844"/>
            <a:ext cx="11118453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2020</a:t>
            </a:r>
            <a:r>
              <a:rPr lang="ko-KR" altLang="en-US" sz="1600" dirty="0"/>
              <a:t>년 기준 전 세계 천연가스 확인 매장량은 </a:t>
            </a:r>
            <a:r>
              <a:rPr lang="en-US" altLang="ko-KR" sz="1600" dirty="0"/>
              <a:t>188.1</a:t>
            </a:r>
            <a:r>
              <a:rPr lang="ko-KR" altLang="en-US" sz="1600" dirty="0"/>
              <a:t>조 </a:t>
            </a:r>
            <a:r>
              <a:rPr lang="ko-KR" altLang="en-US" sz="1600" dirty="0" err="1"/>
              <a:t>입방미터에</a:t>
            </a:r>
            <a:r>
              <a:rPr lang="ko-KR" altLang="en-US" sz="1600" dirty="0"/>
              <a:t> 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</a:t>
            </a:r>
            <a:r>
              <a:rPr lang="en-US" altLang="ko-KR" sz="1600" dirty="0"/>
              <a:t>2000</a:t>
            </a:r>
            <a:r>
              <a:rPr lang="ko-KR" altLang="en-US" sz="1600" dirty="0"/>
              <a:t>년에 비해 약 </a:t>
            </a:r>
            <a:r>
              <a:rPr lang="en-US" altLang="ko-KR" sz="1600" dirty="0"/>
              <a:t>50</a:t>
            </a:r>
            <a:r>
              <a:rPr lang="ko-KR" altLang="en-US" sz="1600" dirty="0"/>
              <a:t>조 </a:t>
            </a:r>
            <a:r>
              <a:rPr lang="ko-KR" altLang="en-US" sz="1600" dirty="0" err="1"/>
              <a:t>입방미터</a:t>
            </a:r>
            <a:r>
              <a:rPr lang="ko-KR" altLang="en-US" sz="1600" dirty="0"/>
              <a:t> 증가한 수치이다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앞서 말한 비전통가스전의 개발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셰일혁명</a:t>
            </a:r>
            <a:r>
              <a:rPr lang="en-US" altLang="ko-KR" sz="1600" dirty="0"/>
              <a:t>), </a:t>
            </a:r>
            <a:r>
              <a:rPr lang="ko-KR" altLang="en-US" sz="1600" dirty="0"/>
              <a:t>시추기술의 발전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신규 매장지 발견에 기인한다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8874414-3187-17F2-B6B4-B959B7664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979493"/>
              </p:ext>
            </p:extLst>
          </p:nvPr>
        </p:nvGraphicFramePr>
        <p:xfrm>
          <a:off x="2451498" y="2893903"/>
          <a:ext cx="6150534" cy="317430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1211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1410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매장량</a:t>
                      </a:r>
                      <a:r>
                        <a:rPr lang="en-US" altLang="ko-KR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생산량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비율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7.3 (5.3%)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10.5 (5.8%)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15.2 (8.1%)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 (4.9%)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 (4.5%)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 (4.2%)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 (3.9%)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 (2.6%)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 (1.7%)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38.6 (27.8%)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51.3 (28.5%)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56.6 (30.1%)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58.3 (42.2%)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77.8 (43.2%)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75.8 (40.3%)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11.9 (8.6%)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 (7.8%)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12.9 (6.9%)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 (7.1%)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13.5 (7.5%)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 (8.8%)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세계 전체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138.0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179.9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188.1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 (9.9%)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 (9.8%)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20.3 (10.8%)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124.4 (90.1%)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162.4 (90.3%)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167.8 (89.2%)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 (1.8%)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 (0.9%)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 (0.2%)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3CDDA4-52D1-16CA-EF25-BD298986E2C3}"/>
              </a:ext>
            </a:extLst>
          </p:cNvPr>
          <p:cNvSpPr txBox="1"/>
          <p:nvPr/>
        </p:nvSpPr>
        <p:spPr>
          <a:xfrm>
            <a:off x="3819650" y="2515751"/>
            <a:ext cx="3339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천연가스 매장량 </a:t>
            </a:r>
            <a:r>
              <a:rPr lang="en-US" altLang="ko-KR" sz="1200" spc="-50" dirty="0"/>
              <a:t>(</a:t>
            </a:r>
            <a:r>
              <a:rPr lang="ko-KR" altLang="en-US" sz="1200" spc="-50" dirty="0"/>
              <a:t>단위</a:t>
            </a:r>
            <a:r>
              <a:rPr lang="en-US" altLang="ko-KR" sz="1200" spc="-50" dirty="0"/>
              <a:t>: </a:t>
            </a:r>
            <a:r>
              <a:rPr lang="ko-KR" altLang="en-US" sz="1200" spc="-50" dirty="0"/>
              <a:t>조 </a:t>
            </a:r>
            <a:r>
              <a:rPr lang="ko-KR" altLang="en-US" sz="1200" spc="-50" dirty="0" err="1"/>
              <a:t>입방미터</a:t>
            </a:r>
            <a:r>
              <a:rPr lang="en-US" altLang="ko-KR" sz="1200" spc="-50" dirty="0"/>
              <a:t>)&gt;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00541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63DF5-290A-C7D0-930C-BC27A4A8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A1C8B-7EAA-A808-DED8-50BD33A33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E45FFF-9023-4A35-4FC1-5015450F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0EA43-0A4C-E6EA-4AC2-C78CE80C6647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49275" lvl="1">
              <a:lnSpc>
                <a:spcPct val="150000"/>
              </a:lnSpc>
            </a:pPr>
            <a:r>
              <a:rPr lang="en-US" altLang="ko-KR" sz="1600" dirty="0"/>
              <a:t>(</a:t>
            </a:r>
            <a:r>
              <a:rPr lang="ko-KR" altLang="en-US" sz="1600" dirty="0"/>
              <a:t>전 슬라이드 천연가스 매장량 참고</a:t>
            </a:r>
            <a:r>
              <a:rPr lang="en-US" altLang="ko-KR" sz="160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지역별로 보면</a:t>
            </a:r>
            <a:r>
              <a:rPr lang="en-US" altLang="ko-KR" sz="1600" dirty="0"/>
              <a:t>, </a:t>
            </a:r>
            <a:r>
              <a:rPr lang="ko-KR" altLang="en-US" sz="1600" dirty="0"/>
              <a:t>중동 지역이 전체의 </a:t>
            </a:r>
            <a:r>
              <a:rPr lang="en-US" altLang="ko-KR" sz="1600" dirty="0"/>
              <a:t>40.3%</a:t>
            </a:r>
            <a:r>
              <a:rPr lang="ko-KR" altLang="en-US" sz="1600" dirty="0"/>
              <a:t>를 차지하며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이란</a:t>
            </a:r>
            <a:r>
              <a:rPr lang="en-US" altLang="ko-KR" sz="1600" dirty="0"/>
              <a:t>(17.1%)</a:t>
            </a:r>
            <a:r>
              <a:rPr lang="ko-KR" altLang="en-US" sz="1600" dirty="0"/>
              <a:t>과 카타르</a:t>
            </a:r>
            <a:r>
              <a:rPr lang="en-US" altLang="ko-KR" sz="1600" dirty="0"/>
              <a:t>(13.1%)</a:t>
            </a:r>
            <a:r>
              <a:rPr lang="ko-KR" altLang="en-US" sz="1600" dirty="0"/>
              <a:t>가 핵심 국가로 부상하고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국가별로는 러시아가 </a:t>
            </a:r>
            <a:r>
              <a:rPr lang="en-US" altLang="ko-KR" sz="1600" dirty="0"/>
              <a:t>19.9%</a:t>
            </a:r>
            <a:r>
              <a:rPr lang="ko-KR" altLang="en-US" sz="1600" dirty="0"/>
              <a:t>의 비중으로</a:t>
            </a:r>
            <a:r>
              <a:rPr lang="en-US" altLang="ko-KR" sz="1600" dirty="0"/>
              <a:t>, </a:t>
            </a:r>
            <a:r>
              <a:rPr lang="ko-KR" altLang="en-US" sz="1600" dirty="0"/>
              <a:t>가장 많은 매장량을 보유하고 있고</a:t>
            </a:r>
            <a:r>
              <a:rPr lang="en-US" altLang="ko-KR" sz="1600" dirty="0"/>
              <a:t>, CIS(</a:t>
            </a:r>
            <a:r>
              <a:rPr lang="ko-KR" altLang="en-US" sz="1600" dirty="0"/>
              <a:t>독립국가연합</a:t>
            </a:r>
            <a:r>
              <a:rPr lang="en-US" altLang="ko-KR" sz="1600" dirty="0"/>
              <a:t>) </a:t>
            </a:r>
            <a:r>
              <a:rPr lang="ko-KR" altLang="en-US" sz="1600" dirty="0"/>
              <a:t>국가들의 비중은 </a:t>
            </a:r>
            <a:r>
              <a:rPr lang="en-US" altLang="ko-KR" sz="1600" dirty="0"/>
              <a:t>30.1%</a:t>
            </a:r>
            <a:r>
              <a:rPr lang="ko-KR" altLang="en-US" sz="1600" dirty="0"/>
              <a:t>에 이른다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 외에 아시아</a:t>
            </a:r>
            <a:r>
              <a:rPr lang="en-US" altLang="ko-KR" sz="1600" dirty="0"/>
              <a:t>·</a:t>
            </a:r>
            <a:r>
              <a:rPr lang="ko-KR" altLang="en-US" sz="1600" dirty="0"/>
              <a:t>태평양 지역은 </a:t>
            </a:r>
            <a:r>
              <a:rPr lang="en-US" altLang="ko-KR" sz="1600" dirty="0"/>
              <a:t>8.8%, </a:t>
            </a:r>
            <a:r>
              <a:rPr lang="ko-KR" altLang="en-US" sz="1600" dirty="0"/>
              <a:t>북미는 </a:t>
            </a:r>
            <a:r>
              <a:rPr lang="en-US" altLang="ko-KR" sz="1600" dirty="0"/>
              <a:t>8.1%, </a:t>
            </a:r>
            <a:r>
              <a:rPr lang="ko-KR" altLang="en-US" sz="1600" dirty="0"/>
              <a:t>아프리카는 약 </a:t>
            </a:r>
            <a:r>
              <a:rPr lang="en-US" altLang="ko-KR" sz="1600" dirty="0"/>
              <a:t>6.9%, </a:t>
            </a:r>
            <a:r>
              <a:rPr lang="ko-KR" altLang="en-US" sz="1600" dirty="0"/>
              <a:t>중</a:t>
            </a:r>
            <a:r>
              <a:rPr lang="en-US" altLang="ko-KR" sz="1600" dirty="0"/>
              <a:t>·</a:t>
            </a:r>
            <a:r>
              <a:rPr lang="ko-KR" altLang="en-US" sz="1600" dirty="0"/>
              <a:t>남미는 약 </a:t>
            </a:r>
            <a:r>
              <a:rPr lang="en-US" altLang="ko-KR" sz="1600" dirty="0"/>
              <a:t>4.2%</a:t>
            </a:r>
            <a:r>
              <a:rPr lang="ko-KR" altLang="en-US" sz="1600" dirty="0"/>
              <a:t>를 차지하고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지역적 다양성이 뚜렷하다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OECD</a:t>
            </a:r>
            <a:r>
              <a:rPr lang="ko-KR" altLang="en-US" sz="1600" dirty="0"/>
              <a:t>국가들의 비중은 </a:t>
            </a:r>
            <a:r>
              <a:rPr lang="en-US" altLang="ko-KR" sz="1600" dirty="0"/>
              <a:t>10.8%, </a:t>
            </a:r>
            <a:r>
              <a:rPr lang="ko-KR" altLang="en-US" sz="1600" dirty="0"/>
              <a:t>비</a:t>
            </a:r>
            <a:r>
              <a:rPr lang="en-US" altLang="ko-KR" sz="1600" dirty="0"/>
              <a:t>OECD</a:t>
            </a:r>
            <a:r>
              <a:rPr lang="ko-KR" altLang="en-US" sz="1600" dirty="0"/>
              <a:t>국가들은 </a:t>
            </a:r>
            <a:r>
              <a:rPr lang="en-US" altLang="ko-KR" sz="1600" dirty="0"/>
              <a:t>89.2%</a:t>
            </a:r>
            <a:r>
              <a:rPr lang="ko-KR" altLang="en-US" sz="1600" dirty="0"/>
              <a:t>로</a:t>
            </a:r>
            <a:r>
              <a:rPr lang="en-US" altLang="ko-KR" sz="1600" dirty="0"/>
              <a:t>, </a:t>
            </a:r>
            <a:r>
              <a:rPr lang="ko-KR" altLang="en-US" sz="1600" dirty="0"/>
              <a:t>비</a:t>
            </a:r>
            <a:r>
              <a:rPr lang="en-US" altLang="ko-KR" sz="1600" dirty="0"/>
              <a:t>OECD</a:t>
            </a:r>
            <a:r>
              <a:rPr lang="ko-KR" altLang="en-US" sz="1600" dirty="0"/>
              <a:t> 국가가 전 세계 천연가스 매장량의 절대다수를 차지하고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</a:t>
            </a:r>
            <a:r>
              <a:rPr lang="ko-KR" altLang="en-US" sz="1600" dirty="0"/>
              <a:t> 매장량 대비 생산의 경우에는 지역 간 뚜렷한 차이를 보인다</a:t>
            </a:r>
            <a:r>
              <a:rPr lang="en-US" altLang="ko-KR" sz="1600" dirty="0"/>
              <a:t>. </a:t>
            </a:r>
            <a:r>
              <a:rPr lang="ko-KR" altLang="en-US" sz="1600" dirty="0"/>
              <a:t>북미와 유럽은 상대적으로 매장량이 적지만 기술력과 시장 구조로 인해 생산 비율이 매우 높은 편이다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미국은 전체 확인 매장량의 </a:t>
            </a:r>
            <a:r>
              <a:rPr lang="en-US" altLang="ko-KR" sz="1600" dirty="0"/>
              <a:t>6.9%</a:t>
            </a:r>
            <a:r>
              <a:rPr lang="ko-KR" altLang="en-US" sz="1600" dirty="0"/>
              <a:t>를 보유하고</a:t>
            </a:r>
            <a:r>
              <a:rPr lang="en-US" altLang="ko-KR" sz="1600" dirty="0"/>
              <a:t>, 2000</a:t>
            </a:r>
            <a:r>
              <a:rPr lang="ko-KR" altLang="en-US" sz="1600" dirty="0"/>
              <a:t>년 이후 가장 큰 증가폭을 기록하였다</a:t>
            </a:r>
            <a:r>
              <a:rPr lang="en-US" altLang="ko-KR" sz="160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중동과 </a:t>
            </a:r>
            <a:r>
              <a:rPr lang="en-US" altLang="ko-KR" sz="1600" dirty="0"/>
              <a:t>CIS</a:t>
            </a:r>
            <a:r>
              <a:rPr lang="ko-KR" altLang="en-US" sz="1600" dirty="0"/>
              <a:t>국가들은 매장량은 많지만 생산 비율은 상대적으로 낮은 경향을 보인다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9870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2984-FA15-87E9-D2E4-7BFE3AACF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6A49F-C3A7-9B90-CD6A-C4CEF565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생산과 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764175-0A68-BAAA-8204-26393F21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4DEE94-B1E1-CFB2-34B7-A5E96A8ADD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18877" y="3571803"/>
            <a:ext cx="5497287" cy="3010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F1CCBE-7454-B9A5-7720-EDC29B647D41}"/>
              </a:ext>
            </a:extLst>
          </p:cNvPr>
          <p:cNvSpPr txBox="1"/>
          <p:nvPr/>
        </p:nvSpPr>
        <p:spPr>
          <a:xfrm>
            <a:off x="2242156" y="3310193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지역별 천연가스 생산 </a:t>
            </a:r>
            <a:r>
              <a:rPr lang="en-US" altLang="ko-KR" sz="1050" spc="-50" dirty="0"/>
              <a:t>(10</a:t>
            </a:r>
            <a:r>
              <a:rPr lang="ko-KR" altLang="en-US" sz="1050" spc="-50" dirty="0"/>
              <a:t>억 </a:t>
            </a:r>
            <a:r>
              <a:rPr lang="ko-KR" altLang="en-US" sz="1050" spc="-50" dirty="0" err="1"/>
              <a:t>입방미터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99A89E4-5CF1-8B03-14FD-2DA3D0015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281950"/>
              </p:ext>
            </p:extLst>
          </p:nvPr>
        </p:nvGraphicFramePr>
        <p:xfrm>
          <a:off x="6868433" y="1535188"/>
          <a:ext cx="4918082" cy="49522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7427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117143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1410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비중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1,261.1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1,035.3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노르웨이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773.6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712.7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카타르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181.0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사우디아라비아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73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253.6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98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알제리아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936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5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216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4,059.2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1,632.5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2,426.8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DF0C886-A911-8F9D-D149-C963648C3522}"/>
              </a:ext>
            </a:extLst>
          </p:cNvPr>
          <p:cNvSpPr txBox="1"/>
          <p:nvPr/>
        </p:nvSpPr>
        <p:spPr>
          <a:xfrm>
            <a:off x="7259551" y="1195963"/>
            <a:ext cx="4243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천연가스 생산량 </a:t>
            </a:r>
            <a:r>
              <a:rPr lang="en-US" altLang="ko-KR" sz="1200" spc="-50" dirty="0"/>
              <a:t>(10</a:t>
            </a:r>
            <a:r>
              <a:rPr lang="ko-KR" altLang="en-US" sz="1200" spc="-50" dirty="0"/>
              <a:t>억 </a:t>
            </a:r>
            <a:r>
              <a:rPr lang="ko-KR" altLang="en-US" sz="1200" spc="-50" dirty="0" err="1"/>
              <a:t>입방미터</a:t>
            </a:r>
            <a:r>
              <a:rPr lang="en-US" altLang="ko-KR" sz="1200" spc="-50" dirty="0"/>
              <a:t>), </a:t>
            </a:r>
            <a:r>
              <a:rPr lang="ko-KR" altLang="en-US" sz="1200" spc="-50" dirty="0"/>
              <a:t>연평균 증가율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비중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E3FFC-9C19-7778-B8C0-F0436E73DA17}"/>
              </a:ext>
            </a:extLst>
          </p:cNvPr>
          <p:cNvSpPr txBox="1"/>
          <p:nvPr/>
        </p:nvSpPr>
        <p:spPr>
          <a:xfrm>
            <a:off x="288791" y="958844"/>
            <a:ext cx="6434480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전세계 지역별 천연가스 생산량은 다음과 같다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/>
              <a:t>자세한 설명은 다음 슬라이드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394453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36F1-E86B-DE89-08AA-20A661D9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47D1F-9B67-AD03-46B0-63113EE5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생산과 공급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32B9E-35F9-6392-3D7A-09E3391E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B9589-1D2C-2751-E66C-880BC01395C0}"/>
              </a:ext>
            </a:extLst>
          </p:cNvPr>
          <p:cNvSpPr txBox="1"/>
          <p:nvPr/>
        </p:nvSpPr>
        <p:spPr>
          <a:xfrm>
            <a:off x="288790" y="958844"/>
            <a:ext cx="11118453" cy="59540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(</a:t>
            </a:r>
            <a:r>
              <a:rPr lang="ko-KR" altLang="en-US" sz="1600" dirty="0"/>
              <a:t>전 슬라이드 천연가스 생산량 참고</a:t>
            </a:r>
            <a:r>
              <a:rPr lang="en-US" altLang="ko-KR" sz="160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천연가스 공급 구조는 지질학적 분포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발전</a:t>
            </a:r>
            <a:r>
              <a:rPr lang="en-US" altLang="ko-KR" sz="1600" dirty="0"/>
              <a:t>, </a:t>
            </a:r>
            <a:r>
              <a:rPr lang="ko-KR" altLang="en-US" sz="1600" dirty="0"/>
              <a:t>수송 인프라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요인에 의해 복합적으로 형성된다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 매장지가 상대적으로 넓게 분포되어 있지만</a:t>
            </a:r>
            <a:r>
              <a:rPr lang="en-US" altLang="ko-KR" sz="1600" dirty="0"/>
              <a:t>, </a:t>
            </a:r>
            <a:r>
              <a:rPr lang="ko-KR" altLang="en-US" sz="1600" dirty="0"/>
              <a:t>기체 상태라는 특성으로 인해 수송제약과 시장 분절성을 갖고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이란</a:t>
            </a:r>
            <a:r>
              <a:rPr lang="en-US" altLang="ko-KR" sz="1600" dirty="0"/>
              <a:t>, </a:t>
            </a:r>
            <a:r>
              <a:rPr lang="ko-KR" altLang="en-US" sz="1600" dirty="0"/>
              <a:t>카타르</a:t>
            </a:r>
            <a:r>
              <a:rPr lang="en-US" altLang="ko-KR" sz="1600" dirty="0"/>
              <a:t>, </a:t>
            </a:r>
            <a:r>
              <a:rPr lang="ko-KR" altLang="en-US" sz="1600" dirty="0"/>
              <a:t>캐나다</a:t>
            </a:r>
            <a:r>
              <a:rPr lang="en-US" altLang="ko-KR" sz="1600" dirty="0"/>
              <a:t>, </a:t>
            </a:r>
            <a:r>
              <a:rPr lang="ko-KR" altLang="en-US" sz="1600" dirty="0"/>
              <a:t>호주 등이 주요 생산국이고</a:t>
            </a:r>
            <a:r>
              <a:rPr lang="en-US" altLang="ko-KR" sz="1600" dirty="0"/>
              <a:t>, </a:t>
            </a:r>
            <a:r>
              <a:rPr lang="ko-KR" altLang="en-US" sz="1600" dirty="0"/>
              <a:t>아프리카</a:t>
            </a:r>
            <a:r>
              <a:rPr lang="en-US" altLang="ko-KR" sz="1600" dirty="0"/>
              <a:t>, </a:t>
            </a:r>
            <a:r>
              <a:rPr lang="ko-KR" altLang="en-US" sz="1600" dirty="0"/>
              <a:t>동남아시아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동지중해에서도</a:t>
            </a:r>
            <a:r>
              <a:rPr lang="ko-KR" altLang="en-US" sz="1600" dirty="0"/>
              <a:t> 신규 개발이 활발하다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</a:t>
            </a:r>
            <a:r>
              <a:rPr lang="en-US" altLang="ko-KR" sz="1600" dirty="0"/>
              <a:t>LNG</a:t>
            </a:r>
            <a:r>
              <a:rPr lang="ko-KR" altLang="en-US" sz="1600" dirty="0"/>
              <a:t>의 발전은 글로벌 공급의 유연성을 높이고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천연가스를 석유처럼 국제적 상품으로 변화시키고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전쟁은 유럽 천연가스 수급구조를 급격히 전환시켰으며</a:t>
            </a:r>
            <a:r>
              <a:rPr lang="en-US" altLang="ko-KR" sz="1600" dirty="0"/>
              <a:t>, LNG </a:t>
            </a:r>
            <a:r>
              <a:rPr lang="ko-KR" altLang="en-US" sz="1600" dirty="0"/>
              <a:t>수입 확대와 공급선 다변화로 이어졌고</a:t>
            </a:r>
            <a:r>
              <a:rPr lang="en-US" altLang="ko-KR" sz="1600" dirty="0"/>
              <a:t>, </a:t>
            </a:r>
            <a:r>
              <a:rPr lang="ko-KR" altLang="en-US" sz="1600" dirty="0"/>
              <a:t>글로벌 </a:t>
            </a:r>
            <a:r>
              <a:rPr lang="en-US" altLang="ko-KR" sz="1600" dirty="0"/>
              <a:t>LNG </a:t>
            </a:r>
            <a:r>
              <a:rPr lang="ko-KR" altLang="en-US" sz="1600" dirty="0"/>
              <a:t>시장에 큰 영향을 미치고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천연가스 생산은 최근 미국을 대표하여 북미지역을 중심으로 확대되고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 세계 천연가스 생산량은 </a:t>
            </a:r>
            <a:r>
              <a:rPr lang="en-US" altLang="ko-KR" sz="1600" dirty="0"/>
              <a:t>4,059 (10</a:t>
            </a:r>
            <a:r>
              <a:rPr lang="ko-KR" altLang="en-US" sz="1600" dirty="0"/>
              <a:t>억 </a:t>
            </a:r>
            <a:r>
              <a:rPr lang="ko-KR" altLang="en-US" sz="1600" dirty="0" err="1"/>
              <a:t>입방미터</a:t>
            </a:r>
            <a:r>
              <a:rPr lang="en-US" altLang="ko-KR" sz="1600" dirty="0"/>
              <a:t>) </a:t>
            </a:r>
            <a:r>
              <a:rPr lang="ko-KR" altLang="en-US" sz="1600" dirty="0"/>
              <a:t>였으며</a:t>
            </a:r>
            <a:r>
              <a:rPr lang="en-US" altLang="ko-KR" sz="1600" dirty="0"/>
              <a:t>, 2013-2023</a:t>
            </a:r>
            <a:r>
              <a:rPr lang="ko-KR" altLang="en-US" sz="1600" dirty="0"/>
              <a:t>년 연평균 </a:t>
            </a:r>
            <a:r>
              <a:rPr lang="en-US" altLang="ko-KR" sz="1600" dirty="0"/>
              <a:t>1.9%</a:t>
            </a:r>
            <a:r>
              <a:rPr lang="ko-KR" altLang="en-US" sz="1600" dirty="0"/>
              <a:t>의 생산 증가율을 보였다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국가별로는 미국</a:t>
            </a:r>
            <a:r>
              <a:rPr lang="en-US" altLang="ko-KR" sz="1600" dirty="0"/>
              <a:t> (25.5%), </a:t>
            </a:r>
            <a:r>
              <a:rPr lang="ko-KR" altLang="en-US" sz="1600" dirty="0"/>
              <a:t>러시아 </a:t>
            </a:r>
            <a:r>
              <a:rPr lang="en-US" altLang="ko-KR" sz="1600" dirty="0"/>
              <a:t>(14.4%), </a:t>
            </a:r>
            <a:r>
              <a:rPr lang="ko-KR" altLang="en-US" sz="1600" dirty="0"/>
              <a:t>이란 </a:t>
            </a:r>
            <a:r>
              <a:rPr lang="en-US" altLang="ko-KR" sz="1600" dirty="0"/>
              <a:t>(6.2%), </a:t>
            </a:r>
            <a:r>
              <a:rPr lang="ko-KR" altLang="en-US" sz="1600" dirty="0"/>
              <a:t>중국</a:t>
            </a:r>
            <a:r>
              <a:rPr lang="en-US" altLang="ko-KR" sz="1600" dirty="0"/>
              <a:t>(5.8%), </a:t>
            </a:r>
            <a:r>
              <a:rPr lang="ko-KR" altLang="en-US" sz="1600" dirty="0"/>
              <a:t>카타르</a:t>
            </a:r>
            <a:r>
              <a:rPr lang="en-US" altLang="ko-KR" sz="1600" dirty="0"/>
              <a:t>(4.5%) </a:t>
            </a:r>
            <a:r>
              <a:rPr lang="ko-KR" altLang="en-US" sz="1600" dirty="0"/>
              <a:t>순으로 나타난다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049068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E2C3B-A89A-72B3-BD4F-F249C65D3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4C92F-7AFE-0090-83AA-E608D29A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8A85F3-242E-5721-7234-F0FECC17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1E939-BBD3-0EE3-011D-46642F478A6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천연가스 소비는 국가별 산업구조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정책</a:t>
            </a:r>
            <a:r>
              <a:rPr lang="en-US" altLang="ko-KR" sz="1600" dirty="0"/>
              <a:t>, </a:t>
            </a:r>
            <a:r>
              <a:rPr lang="ko-KR" altLang="en-US" sz="1600" dirty="0"/>
              <a:t>환경 규제 등에 따라 지역별</a:t>
            </a:r>
            <a:r>
              <a:rPr lang="en-US" altLang="ko-KR" sz="1600" dirty="0"/>
              <a:t>·</a:t>
            </a:r>
            <a:r>
              <a:rPr lang="ko-KR" altLang="en-US" sz="1600" dirty="0"/>
              <a:t>부문별로 상이한 양상을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천연가스는 전력생산</a:t>
            </a:r>
            <a:r>
              <a:rPr lang="en-US" altLang="ko-KR" sz="1600" dirty="0"/>
              <a:t>, </a:t>
            </a:r>
            <a:r>
              <a:rPr lang="ko-KR" altLang="en-US" sz="1600" dirty="0"/>
              <a:t>산업 공정</a:t>
            </a:r>
            <a:r>
              <a:rPr lang="en-US" altLang="ko-KR" sz="1600" dirty="0"/>
              <a:t>, </a:t>
            </a:r>
            <a:r>
              <a:rPr lang="ko-KR" altLang="en-US" sz="1600" dirty="0"/>
              <a:t>주거 및 상업용 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교통 연료 등 다양한 부문에서 소비되며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중 전력 생산 부문이 전체 소비에서 가장 높은 비중을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LNG </a:t>
            </a:r>
            <a:r>
              <a:rPr lang="ko-KR" altLang="en-US" sz="1600" dirty="0"/>
              <a:t>기술 발전으로 해상 운송이 보편화 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국제 무역 기반구조로 전환되고 있다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석유와 유사하게 글로벌 </a:t>
            </a:r>
            <a:r>
              <a:rPr lang="ko-KR" altLang="en-US" sz="1600" dirty="0" err="1"/>
              <a:t>상품으로서의</a:t>
            </a:r>
            <a:r>
              <a:rPr lang="ko-KR" altLang="en-US" sz="1600" dirty="0"/>
              <a:t> 성격이 강화되고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지역별 가격차이도 점차 축소되고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지역별로 천연가스 소비를 살펴보면 아래와 같다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북미와 유럽은 천연가스 인프라가 조기에 구축되어 다양한 최종수요 부문에 걸쳐 소비가 확산 </a:t>
            </a:r>
            <a:r>
              <a:rPr lang="ko-KR" altLang="en-US" sz="1600" dirty="0" err="1"/>
              <a:t>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유럽은 강화된 환경 규제와 탈탄소화 정책 기조 하에서 천연가스를 전환 연료로 적극 활용하고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이에 반해 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동남아시아 등 신흥 경제권에서는 급속한 도시화</a:t>
            </a:r>
            <a:r>
              <a:rPr lang="en-US" altLang="ko-KR" sz="1600" dirty="0"/>
              <a:t>, </a:t>
            </a:r>
            <a:r>
              <a:rPr lang="ko-KR" altLang="en-US" sz="1600" dirty="0"/>
              <a:t>산업화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대기질</a:t>
            </a:r>
            <a:r>
              <a:rPr lang="ko-KR" altLang="en-US" sz="1600" dirty="0"/>
              <a:t> 개선을 위한 환경정책 강화에 힘입어 천연가스 수요가 급증하고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중국은 이미 세계 최대 </a:t>
            </a:r>
            <a:r>
              <a:rPr lang="en-US" altLang="ko-KR" sz="1600" dirty="0"/>
              <a:t>LNG </a:t>
            </a:r>
            <a:r>
              <a:rPr lang="ko-KR" altLang="en-US" sz="1600" dirty="0"/>
              <a:t>수입국으로 부상하였다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부문별 천연가스 소비를 살펴보면 아래와 같다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산업부문에서 천연가스는 비료</a:t>
            </a:r>
            <a:r>
              <a:rPr lang="en-US" altLang="ko-KR" sz="1600" dirty="0"/>
              <a:t>, </a:t>
            </a:r>
            <a:r>
              <a:rPr lang="ko-KR" altLang="en-US" sz="1600" dirty="0"/>
              <a:t>수소</a:t>
            </a:r>
            <a:r>
              <a:rPr lang="en-US" altLang="ko-KR" sz="1600" dirty="0"/>
              <a:t>, </a:t>
            </a:r>
            <a:r>
              <a:rPr lang="ko-KR" altLang="en-US" sz="1600" dirty="0"/>
              <a:t>메탄올 생산의 핵심 원료로 활용되고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주거 및 상업부문에서는 난방 및 취사용 연료로 폭넓게 사용되고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교통부문에서는 압축천연가스</a:t>
            </a:r>
            <a:r>
              <a:rPr lang="en-US" altLang="ko-KR" sz="1600" dirty="0"/>
              <a:t>(CNG) </a:t>
            </a:r>
            <a:r>
              <a:rPr lang="ko-KR" altLang="en-US" sz="1600" dirty="0"/>
              <a:t>및 액화천연가스</a:t>
            </a:r>
            <a:r>
              <a:rPr lang="en-US" altLang="ko-KR" sz="1600" dirty="0"/>
              <a:t>(LNG) </a:t>
            </a:r>
            <a:r>
              <a:rPr lang="ko-KR" altLang="en-US" sz="1600" dirty="0"/>
              <a:t>형태로 도로 운송 및 해상 운송 </a:t>
            </a:r>
            <a:r>
              <a:rPr lang="ko-KR" altLang="en-US" sz="1600" dirty="0" err="1"/>
              <a:t>연료로서의</a:t>
            </a:r>
            <a:r>
              <a:rPr lang="ko-KR" altLang="en-US" sz="1600" dirty="0"/>
              <a:t> 수요가 확대되고 있고</a:t>
            </a:r>
            <a:r>
              <a:rPr lang="en-US" altLang="ko-KR" sz="1600" dirty="0"/>
              <a:t>,</a:t>
            </a:r>
            <a:r>
              <a:rPr lang="ko-KR" altLang="en-US" sz="1600" dirty="0"/>
              <a:t> 국제해사기구의 환경규제 강화 이후 선박 연료로 </a:t>
            </a:r>
            <a:r>
              <a:rPr lang="en-US" altLang="ko-KR" sz="1600" dirty="0"/>
              <a:t>LNG </a:t>
            </a:r>
            <a:r>
              <a:rPr lang="ko-KR" altLang="en-US" sz="1600" dirty="0"/>
              <a:t>채택이 가속화되고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1077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155C-58EF-18EB-06AE-0AA94563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DF2DAD-306B-2C33-111C-754C95CF2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천연가스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4F58A4-42E1-C70A-40DE-E6B2E3E2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67704-3EE6-A1CF-D52C-1312B053E69F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</a:t>
            </a:r>
            <a:r>
              <a:rPr lang="ko-KR" altLang="en-US" sz="1600" dirty="0" err="1"/>
              <a:t>ㄴㄴㄴ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3D58B6-F585-B128-1ABC-F5CA282D5A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37626" y="3167269"/>
            <a:ext cx="5626805" cy="3032936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64C8809-B218-BFA8-993A-8DB0A0880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556406"/>
              </p:ext>
            </p:extLst>
          </p:nvPr>
        </p:nvGraphicFramePr>
        <p:xfrm>
          <a:off x="6868433" y="1535188"/>
          <a:ext cx="4918082" cy="49522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7427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117143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1410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비중</a:t>
                      </a:r>
                      <a:endParaRPr lang="en-US" altLang="ko-KR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1,104.8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멕시코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463.4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453.4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245.6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사우디아라비아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73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298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936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56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216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4,010.2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1,757.0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2,253.2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98B2977-5DB8-37A7-6BAE-542B311C119C}"/>
              </a:ext>
            </a:extLst>
          </p:cNvPr>
          <p:cNvSpPr txBox="1"/>
          <p:nvPr/>
        </p:nvSpPr>
        <p:spPr>
          <a:xfrm>
            <a:off x="7259551" y="1195963"/>
            <a:ext cx="4243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천연가스 소비량 </a:t>
            </a:r>
            <a:r>
              <a:rPr lang="en-US" altLang="ko-KR" sz="1200" spc="-50" dirty="0"/>
              <a:t>(10</a:t>
            </a:r>
            <a:r>
              <a:rPr lang="ko-KR" altLang="en-US" sz="1200" spc="-50" dirty="0"/>
              <a:t>억 </a:t>
            </a:r>
            <a:r>
              <a:rPr lang="ko-KR" altLang="en-US" sz="1200" spc="-50" dirty="0" err="1"/>
              <a:t>입방미터</a:t>
            </a:r>
            <a:r>
              <a:rPr lang="en-US" altLang="ko-KR" sz="1200" spc="-50" dirty="0"/>
              <a:t>), </a:t>
            </a:r>
            <a:r>
              <a:rPr lang="ko-KR" altLang="en-US" sz="1200" spc="-50" dirty="0"/>
              <a:t>연평균 증가율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비중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69600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9530</TotalTime>
  <Words>2806</Words>
  <Application>Microsoft Office PowerPoint</Application>
  <PresentationFormat>와이드스크린</PresentationFormat>
  <Paragraphs>418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3  천연가스 시장</vt:lpstr>
      <vt:lpstr>Section 1. 개 론</vt:lpstr>
      <vt:lpstr>서론</vt:lpstr>
      <vt:lpstr>서론</vt:lpstr>
      <vt:lpstr>서론</vt:lpstr>
      <vt:lpstr>Section 2. 천연가스의 특징과 분류</vt:lpstr>
      <vt:lpstr>천연가스의 특징</vt:lpstr>
      <vt:lpstr>천연가스의 특징</vt:lpstr>
      <vt:lpstr>천연가스의 분류</vt:lpstr>
      <vt:lpstr>천연가스의 분류</vt:lpstr>
      <vt:lpstr>천연가스의 분류</vt:lpstr>
      <vt:lpstr>천연가스의 분류</vt:lpstr>
      <vt:lpstr>천연가스 공급사슬</vt:lpstr>
      <vt:lpstr>천연가스 공급사슬</vt:lpstr>
      <vt:lpstr>천연가스 공급사슬</vt:lpstr>
      <vt:lpstr>천연가스 공급사슬</vt:lpstr>
      <vt:lpstr>Section 3. 천연가스의 시장의 현황</vt:lpstr>
      <vt:lpstr>천연가스 매장량</vt:lpstr>
      <vt:lpstr>천연가스 매장량</vt:lpstr>
      <vt:lpstr>천연가스 생산과 공급</vt:lpstr>
      <vt:lpstr>천연가스 생산과 공급</vt:lpstr>
      <vt:lpstr>천연가스 소비</vt:lpstr>
      <vt:lpstr>천연가스 소비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308</cp:revision>
  <dcterms:created xsi:type="dcterms:W3CDTF">2025-07-05T05:15:23Z</dcterms:created>
  <dcterms:modified xsi:type="dcterms:W3CDTF">2026-05-29T05:29:34Z</dcterms:modified>
</cp:coreProperties>
</file>