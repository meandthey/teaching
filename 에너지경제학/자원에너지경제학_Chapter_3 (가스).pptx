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375" r:id="rId2"/>
    <p:sldId id="405" r:id="rId3"/>
    <p:sldId id="550" r:id="rId4"/>
    <p:sldId id="376" r:id="rId5"/>
    <p:sldId id="637" r:id="rId6"/>
    <p:sldId id="638" r:id="rId7"/>
    <p:sldId id="639" r:id="rId8"/>
    <p:sldId id="640" r:id="rId9"/>
    <p:sldId id="641" r:id="rId10"/>
    <p:sldId id="642" r:id="rId11"/>
    <p:sldId id="643" r:id="rId12"/>
    <p:sldId id="644" r:id="rId13"/>
    <p:sldId id="645" r:id="rId14"/>
    <p:sldId id="646" r:id="rId15"/>
    <p:sldId id="647" r:id="rId16"/>
    <p:sldId id="648" r:id="rId17"/>
    <p:sldId id="649" r:id="rId18"/>
    <p:sldId id="650" r:id="rId19"/>
    <p:sldId id="653" r:id="rId20"/>
    <p:sldId id="651" r:id="rId21"/>
    <p:sldId id="654" r:id="rId22"/>
    <p:sldId id="652" r:id="rId23"/>
    <p:sldId id="655" r:id="rId24"/>
    <p:sldId id="656" r:id="rId25"/>
    <p:sldId id="657" r:id="rId26"/>
    <p:sldId id="658" r:id="rId27"/>
    <p:sldId id="659" r:id="rId28"/>
    <p:sldId id="660" r:id="rId29"/>
    <p:sldId id="661" r:id="rId30"/>
    <p:sldId id="662" r:id="rId31"/>
    <p:sldId id="663" r:id="rId32"/>
    <p:sldId id="664" r:id="rId33"/>
    <p:sldId id="665" r:id="rId34"/>
    <p:sldId id="666" r:id="rId35"/>
    <p:sldId id="598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4" d="100"/>
          <a:sy n="144" d="100"/>
        </p:scale>
        <p:origin x="900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천연가스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주로 메탄</a:t>
            </a:r>
            <a:r>
              <a:rPr lang="en-US" altLang="ko-KR" sz="1600" dirty="0"/>
              <a:t>(CH</a:t>
            </a:r>
            <a:r>
              <a:rPr lang="en-US" altLang="ko-KR" sz="1600" baseline="-25000" dirty="0"/>
              <a:t>4</a:t>
            </a:r>
            <a:r>
              <a:rPr lang="en-US" altLang="ko-KR" sz="1600" dirty="0"/>
              <a:t>)</a:t>
            </a:r>
            <a:r>
              <a:rPr lang="ko-KR" altLang="en-US" sz="1600" dirty="0"/>
              <a:t>으로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다른 연료</a:t>
            </a:r>
            <a:r>
              <a:rPr lang="en-US" altLang="ko-KR" sz="1600" dirty="0"/>
              <a:t>(</a:t>
            </a:r>
            <a:r>
              <a:rPr lang="ko-KR" altLang="en-US" sz="1600" dirty="0"/>
              <a:t>석탄 및 석유</a:t>
            </a:r>
            <a:r>
              <a:rPr lang="en-US" altLang="ko-KR" sz="1600" dirty="0"/>
              <a:t>)</a:t>
            </a:r>
            <a:r>
              <a:rPr lang="ko-KR" altLang="en-US" sz="1600" dirty="0"/>
              <a:t>에 비해 연소할 때 배출되는 오염물질이 적어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중에서는 가장 청정한 연료로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대응과 에너지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교량 연료</a:t>
            </a:r>
            <a:r>
              <a:rPr lang="en-US" altLang="ko-KR" sz="1600" dirty="0"/>
              <a:t>‘</a:t>
            </a:r>
            <a:r>
              <a:rPr lang="ko-KR" altLang="en-US" sz="1600" dirty="0"/>
              <a:t>로 주목받고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간헐성을 보완하는 유연한 발전원으로 활용 가능하다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인류의 천연가스 이용은 고대까지 거슬러 올라가며</a:t>
            </a:r>
            <a:r>
              <a:rPr lang="en-US" altLang="ko-KR" sz="1600" dirty="0"/>
              <a:t>, </a:t>
            </a:r>
            <a:r>
              <a:rPr lang="ko-KR" altLang="en-US" sz="1600" dirty="0"/>
              <a:t>상징적</a:t>
            </a:r>
            <a:r>
              <a:rPr lang="en-US" altLang="ko-KR" sz="1600" dirty="0"/>
              <a:t>·</a:t>
            </a:r>
            <a:r>
              <a:rPr lang="ko-KR" altLang="en-US" sz="1600" dirty="0"/>
              <a:t>제의적 의미에 머무르고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본격적으로 활용되지는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기원전 </a:t>
            </a:r>
            <a:r>
              <a:rPr lang="en-US" altLang="ko-KR" sz="1600" dirty="0"/>
              <a:t>1,000</a:t>
            </a:r>
            <a:r>
              <a:rPr lang="ko-KR" altLang="en-US" sz="1600" dirty="0" err="1"/>
              <a:t>년경</a:t>
            </a:r>
            <a:r>
              <a:rPr lang="ko-KR" altLang="en-US" sz="1600" dirty="0"/>
              <a:t> 중국에서는 대나무 파이프를 사용하여 천연가스를 지표로부터 추출하였다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그리스 및 페르시아에서도 천연가스의 자연 누출로 발생하는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영원한 불</a:t>
            </a:r>
            <a:r>
              <a:rPr lang="en-US" altLang="ko-KR" sz="1600" dirty="0"/>
              <a:t>‘</a:t>
            </a:r>
            <a:r>
              <a:rPr lang="ko-KR" altLang="en-US" sz="1600" dirty="0"/>
              <a:t>은 신성한 존재로 인식되며 종교적 의례에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들어 산업화에 따라 천연가스의 상업적 활용이 시작되었다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1821</a:t>
            </a:r>
            <a:r>
              <a:rPr lang="ko-KR" altLang="en-US" sz="1600" dirty="0"/>
              <a:t>년 미국 뉴욕주에서 세계 최초의 천연가스 우물이 </a:t>
            </a:r>
            <a:r>
              <a:rPr lang="ko-KR" altLang="en-US" sz="1600" dirty="0" err="1"/>
              <a:t>시추되었다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1850</a:t>
            </a:r>
            <a:r>
              <a:rPr lang="ko-KR" altLang="en-US" sz="1600" dirty="0"/>
              <a:t>년대 중반부터는 도시의 가로등</a:t>
            </a:r>
            <a:r>
              <a:rPr lang="en-US" altLang="ko-KR" sz="1600" dirty="0"/>
              <a:t>, </a:t>
            </a:r>
            <a:r>
              <a:rPr lang="ko-KR" altLang="en-US" sz="1600" dirty="0"/>
              <a:t>가정 난방용으로 천연가스가 사용되기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1859</a:t>
            </a:r>
            <a:r>
              <a:rPr lang="ko-KR" altLang="en-US" sz="1600" dirty="0"/>
              <a:t>년 펜실베니아 드레이크 성공은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en-US" altLang="ko-KR" sz="1600" dirty="0"/>
              <a:t> </a:t>
            </a:r>
            <a:r>
              <a:rPr lang="ko-KR" altLang="en-US" sz="1600" dirty="0"/>
              <a:t>참고</a:t>
            </a:r>
            <a:r>
              <a:rPr lang="en-US" altLang="ko-KR" sz="1600" dirty="0"/>
              <a:t>)</a:t>
            </a:r>
            <a:r>
              <a:rPr lang="ko-KR" altLang="en-US" sz="1600" dirty="0"/>
              <a:t> 석유 뿐만 아니라 천연가스 산업에도 기폭제 역할을 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849E-C3EC-66C2-D5C9-C59E5D5B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AA21E-A0E0-EB01-8A47-F492A782C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5CFF5-1045-A861-0C88-5A1DFAB93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8FFC37-4353-1DB7-17B9-97C4402833E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초반에는 파이프라인 기술의 발전으로</a:t>
            </a:r>
            <a:r>
              <a:rPr lang="en-US" altLang="ko-KR" sz="1600" dirty="0"/>
              <a:t> </a:t>
            </a:r>
            <a:r>
              <a:rPr lang="ko-KR" altLang="en-US" sz="1600" dirty="0"/>
              <a:t>천연가스의 대규모 수송이 가능해지며 산업적 활용이 크게 확대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1920</a:t>
            </a:r>
            <a:r>
              <a:rPr lang="ko-KR" altLang="en-US" sz="1600" dirty="0"/>
              <a:t>년대에는 장거리 천연가스 파이프라인이 건설되기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1927</a:t>
            </a:r>
            <a:r>
              <a:rPr lang="ko-KR" altLang="en-US" sz="1600" dirty="0"/>
              <a:t>년에는 인디애나주와 시카고를 잇는 미국 최초의 장거리 파이프라인이 가동되었다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1950~1960</a:t>
            </a:r>
            <a:r>
              <a:rPr lang="ko-KR" altLang="en-US" sz="1600" dirty="0"/>
              <a:t>년대는 천연가스 산업의 황금기이며</a:t>
            </a:r>
            <a:r>
              <a:rPr lang="en-US" altLang="ko-KR" sz="1600" dirty="0"/>
              <a:t>, </a:t>
            </a:r>
            <a:r>
              <a:rPr lang="ko-KR" altLang="en-US" sz="1600" dirty="0"/>
              <a:t>가정용과 산업용 에너지원으로서 수요가 폭발적인 증가를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생산부문에서는 석탄과 함께 주요 기저발전원으로 자리 잡았고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청정성과 연소 효율성으로 도시지역의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개선에도 기여하였다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시기에 미국과 구소련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지역에서는 대규모 가스전이 연이어 발견되었고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향후 글로벌 천연가스 공급의 기반이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1980</a:t>
            </a:r>
            <a:r>
              <a:rPr lang="ko-KR" altLang="en-US" sz="1600" dirty="0"/>
              <a:t>년</a:t>
            </a:r>
            <a:r>
              <a:rPr lang="en-US" altLang="ko-KR" sz="1600" dirty="0"/>
              <a:t>~1990</a:t>
            </a:r>
            <a:r>
              <a:rPr lang="ko-KR" altLang="en-US" sz="1600" dirty="0"/>
              <a:t>년대는 천연가스의 국제무역이 본격화된 시기로 액화천연가스 기술의 발달이 중요한 전환점이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</a:t>
            </a:r>
            <a:r>
              <a:rPr lang="en-US" altLang="ko-KR" sz="1600" dirty="0"/>
              <a:t>(LNG; Liquified Natural Gas) </a:t>
            </a:r>
            <a:r>
              <a:rPr lang="ko-KR" altLang="en-US" sz="1600" dirty="0"/>
              <a:t>기술은 가스를 영하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냉각하여 </a:t>
            </a:r>
            <a:r>
              <a:rPr lang="ko-KR" altLang="en-US" sz="1600" dirty="0" err="1"/>
              <a:t>액화한</a:t>
            </a:r>
            <a:r>
              <a:rPr lang="ko-KR" altLang="en-US" sz="1600" dirty="0"/>
              <a:t> 뒤 해상으로 수송하는 방식을 가능케 하여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파이프라인으로 공급하지 못하는 지역에도 천연가스를 공급할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1964</a:t>
            </a:r>
            <a:r>
              <a:rPr lang="ko-KR" altLang="en-US" sz="1600" dirty="0"/>
              <a:t>년 알제리에서 영국으로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수출이 최초로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해상수송은 세계 천연가스시장에서 중요한 운송수단으로 자리잡았다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13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2B2B-B0DB-E70D-D7BF-B2362ECCF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01D95-006F-48DC-EDE1-699FE507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78A500-8ECC-79BD-D5CA-30B816254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D0CFB-4544-09EF-CC37-A77EF95709A1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천연가스 산업은 새로운 혁신기의 전기를 맞이하였다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혁명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ko-KR" altLang="en-US" sz="1600" dirty="0"/>
              <a:t> 참고</a:t>
            </a:r>
            <a:r>
              <a:rPr lang="en-US" altLang="ko-KR" sz="1600" dirty="0"/>
              <a:t>)</a:t>
            </a:r>
            <a:r>
              <a:rPr lang="ko-KR" altLang="en-US" sz="1600" dirty="0"/>
              <a:t>은 천연가스 공급 구조에 지대한 변화를 초래하였다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세계 최대의 천연가스 생산국으로 부상하고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시장의 공급이 안정되었다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기후변화와 지속가능한 발전에 대한 국제적 요구가 확대되면서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석탄과 석유를 대체할 수 있는 과도기적 청정연료로서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재생에너지와 결합하여 전력 시스템의 안정성과 유연성을 제고할 수 있다는 점에서 역할이 부각된다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4184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0776-739F-0A2B-384D-A70C754F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9E3FF2-2862-6F62-2428-A3A8CCB3A61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13874A-2BEF-9F5C-B644-7D3646AC6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E70DC7B-A6D8-53A3-E781-B2BCE7EE2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천연가스의 특징과 분류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2840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2EB0-5CB1-B555-AB86-A138BF68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A8B283-1EC8-C4C3-5920-62AD905D5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5A3AEF-46D5-1437-2A73-9EC69D80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ECAFF-AFC4-BC14-A49C-87CA10D6F92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높은 열효율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환경오염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유연성 등 여러가지 측면에서 장점을 지니고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천연가스는 고효율 연료로서 복합화력발전소</a:t>
            </a:r>
            <a:r>
              <a:rPr lang="en-US" altLang="ko-KR" sz="1600" dirty="0"/>
              <a:t>(Combined Cycle Gas Turbine, CCGT)</a:t>
            </a:r>
            <a:r>
              <a:rPr lang="ko-KR" altLang="en-US" sz="1600" dirty="0"/>
              <a:t>에서 활용될 경우 최대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이상의 열효율을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석탄화력발전소의 경우 평균 효율이 </a:t>
            </a:r>
            <a:r>
              <a:rPr lang="en-US" altLang="ko-KR" sz="1600" dirty="0"/>
              <a:t>35%~45%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동일한 전력을 생산하기 위해 필요한 연료가 줄어들기 때문에 에너지 비용절감효과가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복합화력발전은 가스터빈의 배기열을 다시 이용해 증기터빈을 돌리는 구조이기 때문에 열 손실이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효율 향상을 통해 연료비와 탄소배출량 까지 감소시킬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환경측면에서도 다른 화석연료에 비해 우수한 성능을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연소시</a:t>
            </a:r>
            <a:r>
              <a:rPr lang="ko-KR" altLang="en-US" sz="1600" dirty="0"/>
              <a:t>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 </a:t>
            </a:r>
            <a:r>
              <a:rPr lang="ko-KR" altLang="en-US" sz="1600" dirty="0"/>
              <a:t>배출량은 석탄 대비 </a:t>
            </a:r>
            <a:r>
              <a:rPr lang="en-US" altLang="ko-KR" sz="1600" dirty="0"/>
              <a:t>50%, </a:t>
            </a:r>
            <a:r>
              <a:rPr lang="ko-KR" altLang="en-US" sz="1600" dirty="0"/>
              <a:t>석유 대비 </a:t>
            </a:r>
            <a:r>
              <a:rPr lang="en-US" altLang="ko-KR" sz="1600" dirty="0"/>
              <a:t>25% </a:t>
            </a:r>
            <a:r>
              <a:rPr lang="ko-KR" altLang="en-US" sz="1600" dirty="0"/>
              <a:t>낮으며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등의 유해 대기오염물질 배출 수준도 현저히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저탄소 에너지 체제로의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과도기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역할을 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1977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92EEC-3A59-045A-7E30-4FA433CE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E0EC1-C074-1DA9-03B0-6D0AD02D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064F8E-B0AE-7971-B0EC-A8EEBE62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F73D8C-5E61-85AB-3138-40216A272CC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물리적 상태 변화에도 강점을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기체 상태의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냉각하면 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전환 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부피는 약 </a:t>
            </a:r>
            <a:r>
              <a:rPr lang="en-US" altLang="ko-KR" sz="1600" dirty="0"/>
              <a:t>1/600 </a:t>
            </a:r>
            <a:r>
              <a:rPr lang="ko-KR" altLang="en-US" sz="1600" dirty="0"/>
              <a:t>수준으로 감소한다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천연가스를 장거리</a:t>
            </a:r>
            <a:r>
              <a:rPr lang="en-US" altLang="ko-KR" sz="1600" dirty="0"/>
              <a:t>, </a:t>
            </a:r>
            <a:r>
              <a:rPr lang="ko-KR" altLang="en-US" sz="1600" dirty="0"/>
              <a:t>대륙간 수송에 적합한 형태로 만들어준다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파이프라인이 구축되지 않은 지역에도 상업적 거래를 가능하게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 재기화에 이르는 </a:t>
            </a:r>
            <a:r>
              <a:rPr lang="en-US" altLang="ko-KR" sz="1600" dirty="0"/>
              <a:t>LNG </a:t>
            </a:r>
            <a:r>
              <a:rPr lang="ko-KR" altLang="en-US" sz="1600" dirty="0"/>
              <a:t>공급망은 고도의 기술력과 투자비용을 요구하고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안전을 위한 인프라 구축이 필수적이다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안정성 측면에서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공기보다 가볍기 때문에 누출 시 개방된 공간에서는 빠르게 확산되어 연소 및 폭발 위험이 낮아지는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밀폐된 공간에서는 가스가 축적되어 폭발 위험이 커질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</a:t>
            </a:r>
            <a:r>
              <a:rPr lang="ko-KR" altLang="en-US" sz="1600" dirty="0" err="1"/>
              <a:t>무색무취의</a:t>
            </a:r>
            <a:r>
              <a:rPr lang="ko-KR" altLang="en-US" sz="1600" dirty="0"/>
              <a:t> 성질을 갖고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누출감지를 위해 </a:t>
            </a:r>
            <a:r>
              <a:rPr lang="ko-KR" altLang="en-US" sz="1600" dirty="0" err="1"/>
              <a:t>부취제를</a:t>
            </a:r>
            <a:r>
              <a:rPr lang="ko-KR" altLang="en-US" sz="1600" dirty="0"/>
              <a:t> 첨가하여 안정성 확보가 필요하다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지리적 측면에서 천연가스는 석유보다 더 넓은 지역에 매장되어 있어 공급 다변화에 유리하다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지리적 분산은 특정지역의 리스크가 전체 공급망에 미치는 영향을 완화해준다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496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D9F-AAAD-760D-EF0B-8BD4AC4F5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33BEE-078B-4361-9BD5-5D936483F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D5676-6B81-6F34-54AC-0DF9537A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C1728-7097-8C75-FBEB-37824717168A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주로 메탄으로 구성된 천연가스는 화학적 조성과 물리적 성질에 따라 다양한 방식으로 분류할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과학적인 구분을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정제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최종 수요시장의 선택 등 가치사슬 전반에 걸쳐 천연가스의 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특성과 활용 방식을 결정짓는 중요한 기준으로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일반적인 분류는 메탄의 순도와 고급 탄화수소 성분의 포함 여부에 따른 드라이</a:t>
            </a:r>
            <a:r>
              <a:rPr lang="en-US" altLang="ko-KR" sz="1600" dirty="0"/>
              <a:t>(dry)</a:t>
            </a:r>
            <a:r>
              <a:rPr lang="ko-KR" altLang="en-US" sz="1600" dirty="0"/>
              <a:t> 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웻</a:t>
            </a:r>
            <a:r>
              <a:rPr lang="en-US" altLang="ko-KR" sz="1600" dirty="0"/>
              <a:t>(wet)</a:t>
            </a:r>
            <a:r>
              <a:rPr lang="ko-KR" altLang="en-US" sz="1600" dirty="0"/>
              <a:t> 가스 의 구분이다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메탄 비중이 약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기타 탄화수소 성분이 거의 포함되어 있지 않아 정제가 단순하고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연료용으로 바로 사용하기에 적합하다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도시가스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발전용 연료 등 직접 연소형 시장에 적합하고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파이프라인을 통한 장거리 수송에도 효율적이다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에탄</a:t>
            </a:r>
            <a:r>
              <a:rPr lang="en-US" altLang="ko-KR" sz="1600" dirty="0"/>
              <a:t>, </a:t>
            </a:r>
            <a:r>
              <a:rPr lang="ko-KR" altLang="en-US" sz="1600" dirty="0"/>
              <a:t>프로판</a:t>
            </a:r>
            <a:r>
              <a:rPr lang="en-US" altLang="ko-KR" sz="1600" dirty="0"/>
              <a:t>, </a:t>
            </a:r>
            <a:r>
              <a:rPr lang="ko-KR" altLang="en-US" sz="1600" dirty="0"/>
              <a:t>부탄 등 중간 탄화수소가 다량 포함되어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성분들을 추출하여 부가가치가 높은 액화석유가스</a:t>
            </a:r>
            <a:r>
              <a:rPr lang="en-US" altLang="ko-KR" sz="1600" dirty="0"/>
              <a:t>(LPG)</a:t>
            </a:r>
            <a:r>
              <a:rPr lang="ko-KR" altLang="en-US" sz="1600" dirty="0"/>
              <a:t>나 석유화학 연료</a:t>
            </a:r>
            <a:r>
              <a:rPr lang="en-US" altLang="ko-KR" sz="1600" dirty="0"/>
              <a:t>(NGLs)</a:t>
            </a:r>
            <a:r>
              <a:rPr lang="ko-KR" altLang="en-US" sz="1600" dirty="0"/>
              <a:t>로 활용할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가스 처리 공정을 거쳐야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·</a:t>
            </a:r>
            <a:r>
              <a:rPr lang="ko-KR" altLang="en-US" sz="1600" dirty="0"/>
              <a:t>압축</a:t>
            </a:r>
            <a:r>
              <a:rPr lang="en-US" altLang="ko-KR" sz="1600" dirty="0"/>
              <a:t>·</a:t>
            </a:r>
            <a:r>
              <a:rPr lang="ko-KR" altLang="en-US" sz="1600" dirty="0"/>
              <a:t>탈탄소화 설비 등 고가의 인프라를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투자비용과 운송비용이 상대적으로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9828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9A752-6556-46F6-857F-6E9C1A58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A3A0D-6D0E-4F71-91C8-2D344C3FF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082F75-9B24-846E-DED3-F6DBD15D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5F7D64-8C6C-6880-87B4-1AD3A56E4675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다른 분류 방식은 천연가스 내에 포함된 불순물의 함량에 기반한 분류다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</a:t>
            </a:r>
            <a:r>
              <a:rPr lang="en-US" altLang="ko-KR" sz="1600" dirty="0"/>
              <a:t>(sour gas)</a:t>
            </a:r>
            <a:r>
              <a:rPr lang="ko-KR" altLang="en-US" sz="1600" dirty="0"/>
              <a:t>는 황화수소 또는 이산화탄소와 같은 산성 가스를 상당량 포함하고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인체에 유해하고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공정 설비의 부식을 유발하며</a:t>
            </a:r>
            <a:r>
              <a:rPr lang="en-US" altLang="ko-KR" sz="1600" dirty="0"/>
              <a:t>, </a:t>
            </a:r>
            <a:r>
              <a:rPr lang="ko-KR" altLang="en-US" sz="1600" dirty="0"/>
              <a:t>운송과 저장 시 높은 위험성을 수반하므로 </a:t>
            </a:r>
            <a:r>
              <a:rPr lang="ko-KR" altLang="en-US" sz="1600" dirty="0" err="1"/>
              <a:t>스위트닝</a:t>
            </a:r>
            <a:r>
              <a:rPr lang="en-US" altLang="ko-KR" sz="1600" dirty="0"/>
              <a:t>(sweetening) </a:t>
            </a:r>
            <a:r>
              <a:rPr lang="ko-KR" altLang="en-US" sz="1600" dirty="0"/>
              <a:t>공정을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아민 </a:t>
            </a:r>
            <a:r>
              <a:rPr lang="ko-KR" altLang="en-US" sz="1600" dirty="0" err="1"/>
              <a:t>흡수탑</a:t>
            </a:r>
            <a:r>
              <a:rPr lang="en-US" altLang="ko-KR" sz="1600" dirty="0"/>
              <a:t>, </a:t>
            </a:r>
            <a:r>
              <a:rPr lang="ko-KR" altLang="en-US" sz="1600" dirty="0"/>
              <a:t>막 분리 기술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크라이오제닉</a:t>
            </a:r>
            <a:r>
              <a:rPr lang="ko-KR" altLang="en-US" sz="1600" dirty="0"/>
              <a:t> 냉각 등의 정제 기술이 사용되고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인한 처리비용의 상승이 전체 프로젝트의 수익성으로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스위트 가스</a:t>
            </a:r>
            <a:r>
              <a:rPr lang="en-US" altLang="ko-KR" sz="1600" dirty="0"/>
              <a:t>(sweet gas)</a:t>
            </a:r>
            <a:r>
              <a:rPr lang="ko-KR" altLang="en-US" sz="1600" dirty="0"/>
              <a:t>는 황화수소 또는 이산화탄소와 같은 산성 가스를 거의 포함하고 있지 않다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 대비 상대적으로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냄새가 적고 안전하여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처리공정이 간단하다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정제 비용이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탄소배출 측면에서도 유리하여 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선호도가 높다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3645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A20D6-836A-4370-E46C-301BB69E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90E1D9-42CC-00CB-BE17-A748399F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23E626-40F4-8266-86B5-8907BC52E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99AD25-10EC-E4FD-80B6-78DED0C0C4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매장 형태에 따른 분류도 천연가스의 특성과 상업적 전략을 이해하는데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(associated gas)</a:t>
            </a:r>
            <a:r>
              <a:rPr lang="ko-KR" altLang="en-US" sz="1600" dirty="0"/>
              <a:t>는 석유와 함께 동일한 지층에 공존하며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원유 생산 과정에서 부산물로 발생하는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과거에는 기술부족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 미비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수요처</a:t>
            </a:r>
            <a:r>
              <a:rPr lang="ko-KR" altLang="en-US" sz="1600" dirty="0"/>
              <a:t> 부재 등의 이유로 대부분 연소</a:t>
            </a:r>
            <a:r>
              <a:rPr lang="en-US" altLang="ko-KR" sz="1600" dirty="0"/>
              <a:t>(</a:t>
            </a:r>
            <a:r>
              <a:rPr lang="ko-KR" altLang="en-US" sz="1600" dirty="0" err="1"/>
              <a:t>플레어링</a:t>
            </a:r>
            <a:r>
              <a:rPr lang="en-US" altLang="ko-KR" sz="1600" dirty="0"/>
              <a:t>)</a:t>
            </a:r>
            <a:r>
              <a:rPr lang="ko-KR" altLang="en-US" sz="1600" dirty="0"/>
              <a:t>되거나 지하에 </a:t>
            </a:r>
            <a:r>
              <a:rPr lang="ko-KR" altLang="en-US" sz="1600" dirty="0" err="1"/>
              <a:t>재주입되었으나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</a:t>
            </a:r>
            <a:r>
              <a:rPr lang="ko-KR" altLang="en-US" sz="1600" dirty="0" err="1"/>
              <a:t>플레어링</a:t>
            </a:r>
            <a:r>
              <a:rPr lang="ko-KR" altLang="en-US" sz="1600" dirty="0"/>
              <a:t> 금지 정책과 자원 효율성 강화에 따라 회수 및 이용이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넌어소시에이티드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(non-</a:t>
            </a:r>
            <a:r>
              <a:rPr lang="en-US" altLang="ko-KR" sz="1600" dirty="0" err="1"/>
              <a:t>associaged</a:t>
            </a:r>
            <a:r>
              <a:rPr lang="en-US" altLang="ko-KR" sz="1600" dirty="0"/>
              <a:t> gas)</a:t>
            </a:r>
            <a:r>
              <a:rPr lang="ko-KR" altLang="en-US" sz="1600" dirty="0"/>
              <a:t>는 독립적인 가스전에서 생산되며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가스를 주요 자원으로 상정한 개발 프로젝트에서 생산된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품질이 균일하고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생산 계획 및 가격 책정이 독립적으로 가능하기 때문에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도시가스 공급 등 고부가가치 시장을 겨냥한 전략적 활용에 용이하다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1323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BD2A0-210C-8C30-A32E-11C168CB6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5166C-F5D0-3F70-CC35-370E1EAA3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223AFF-BA3A-3CA0-4772-3022A4E3E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64481-DC0F-FEEF-7D2B-B28B0E048AA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분류는 기술적 차원을 넘어 가치사슬 전반에 걸쳐 실질적인 경제성과 환경성에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파이프라인 인프라와 결합되어 에너지 효율성이 높은 공급망 구축에 적합하다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분리 및 처리 과정을 통해 석유화학 산업과의 연계를 강화할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가스는 공정 설계와 환경규제 대응에서 높은 수준의 기술력과 자본을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투자 타당성 분석에서 핵심 변수로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가스는 석유 가격과 생산량에 따라 동반 변동성이 존재하므로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수급 안정성을 위해 별도의 저장 및 활용 전략이 필요하다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10589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078E1-38F3-55A7-E509-C500B0C6A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61D847-DA49-3607-B892-317A203E1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5BF416-6C1F-7203-FA06-75ECAB80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50EC15-8F69-5D17-0339-448E38426484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천연가스의 공급사슬은 탐사에서 최종 소비자에게 이르는 전 과정을 포함하는 복합적이고 </a:t>
            </a:r>
            <a:r>
              <a:rPr lang="ko-KR" altLang="en-US" sz="1600" dirty="0" err="1"/>
              <a:t>다단계적인</a:t>
            </a:r>
            <a:r>
              <a:rPr lang="ko-KR" altLang="en-US" sz="1600" dirty="0"/>
              <a:t> 구조를 형성하고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상이한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자본</a:t>
            </a:r>
            <a:r>
              <a:rPr lang="en-US" altLang="ko-KR" sz="1600" dirty="0"/>
              <a:t>, </a:t>
            </a:r>
            <a:r>
              <a:rPr lang="ko-KR" altLang="en-US" sz="1600" dirty="0"/>
              <a:t>정책 환경 속에서 운영된다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출발점은 탐사 및 생산 단계이다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지질학적 모델</a:t>
            </a:r>
            <a:r>
              <a:rPr lang="en-US" altLang="ko-KR" sz="1600" dirty="0"/>
              <a:t>, </a:t>
            </a:r>
            <a:r>
              <a:rPr lang="ko-KR" altLang="en-US" sz="1600" dirty="0"/>
              <a:t>지진파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중력 및 자기탐사 등의 기술을 활용하여 지하에 매장된 천연가스 자원을 탐색한다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단계는 </a:t>
            </a:r>
            <a:r>
              <a:rPr lang="ko-KR" altLang="en-US" sz="1600" dirty="0" err="1"/>
              <a:t>자본집약적이고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지질학적 불확실성이 높아 고위험</a:t>
            </a:r>
            <a:r>
              <a:rPr lang="en-US" altLang="ko-KR" sz="1600" dirty="0"/>
              <a:t>-</a:t>
            </a:r>
            <a:r>
              <a:rPr lang="ko-KR" altLang="en-US" sz="1600" dirty="0"/>
              <a:t>고수익 성격을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자원 개발 가능성을 평가하기 위한 탐사 확률 분석</a:t>
            </a:r>
            <a:r>
              <a:rPr lang="en-US" altLang="ko-KR" sz="1600" dirty="0"/>
              <a:t>, </a:t>
            </a:r>
            <a:r>
              <a:rPr lang="ko-KR" altLang="en-US" sz="1600" dirty="0"/>
              <a:t>내부수익률 시뮬레이션</a:t>
            </a:r>
            <a:r>
              <a:rPr lang="en-US" altLang="ko-KR" sz="1600" dirty="0"/>
              <a:t>, </a:t>
            </a:r>
            <a:r>
              <a:rPr lang="ko-KR" altLang="en-US" sz="1600" dirty="0"/>
              <a:t>손익분기 가격 분석 등이 병행된다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시추기술의 발달은 특히 </a:t>
            </a:r>
            <a:r>
              <a:rPr lang="ko-KR" altLang="en-US" sz="1600" dirty="0" err="1"/>
              <a:t>비전통</a:t>
            </a:r>
            <a:r>
              <a:rPr lang="ko-KR" altLang="en-US" sz="1600" dirty="0"/>
              <a:t> 천연가스 자원 개발의 전환점을 마련하였다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수평시추와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기술은 </a:t>
            </a:r>
            <a:r>
              <a:rPr lang="ko-KR" altLang="en-US" sz="1600" dirty="0" err="1"/>
              <a:t>셰일가스나</a:t>
            </a:r>
            <a:r>
              <a:rPr lang="ko-KR" altLang="en-US" sz="1600" dirty="0"/>
              <a:t> 타이트가스 자원의 상업적 생산을 가능하게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 진보를 통해 전통적 가스 수출국의 시장지배력 약화</a:t>
            </a:r>
            <a:r>
              <a:rPr lang="en-US" altLang="ko-KR" sz="1600" dirty="0"/>
              <a:t>, </a:t>
            </a:r>
            <a:r>
              <a:rPr lang="ko-KR" altLang="en-US" sz="1600" dirty="0"/>
              <a:t>북미 지역의 에너지 자립도 향상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시장의 유동성 증가라는 구조적 변화를 이끌었다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410442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931F9-6AB7-24BF-A4DA-EF98BD65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AC5C3-979E-72AF-328B-5F9B1E2D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E49A2-B0BF-5230-840C-7FFEA878F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153C6-9096-9531-152C-061846938BE5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생산된 원가스는 메탄 외에도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황화수소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</a:t>
            </a:r>
            <a:r>
              <a:rPr lang="en-US" altLang="ko-KR" sz="1600" dirty="0"/>
              <a:t>, </a:t>
            </a:r>
            <a:r>
              <a:rPr lang="ko-KR" altLang="en-US" sz="1600" dirty="0"/>
              <a:t>액화석유가스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</a:t>
            </a:r>
            <a:r>
              <a:rPr lang="ko-KR" altLang="en-US" sz="1600" dirty="0" err="1"/>
              <a:t>액체류</a:t>
            </a:r>
            <a:r>
              <a:rPr lang="ko-KR" altLang="en-US" sz="1600" dirty="0"/>
              <a:t> 등 다양한 불순물을 포함하고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가공 및 정제 처리 단계를 통해 </a:t>
            </a:r>
            <a:r>
              <a:rPr lang="en-US" altLang="ko-KR" sz="1600" dirty="0"/>
              <a:t>‘</a:t>
            </a:r>
            <a:r>
              <a:rPr lang="ko-KR" altLang="en-US" sz="1600" dirty="0"/>
              <a:t>스위트 가스</a:t>
            </a:r>
            <a:r>
              <a:rPr lang="en-US" altLang="ko-KR" sz="1600" dirty="0"/>
              <a:t>’</a:t>
            </a:r>
            <a:r>
              <a:rPr lang="ko-KR" altLang="en-US" sz="1600" dirty="0"/>
              <a:t>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과정에는 산성가스 제거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제거</a:t>
            </a:r>
            <a:r>
              <a:rPr lang="en-US" altLang="ko-KR" sz="1600" dirty="0"/>
              <a:t>, NGL </a:t>
            </a:r>
            <a:r>
              <a:rPr lang="ko-KR" altLang="en-US" sz="1600" dirty="0"/>
              <a:t>분리 등의 공정이 포함되며 최종적으로는 수송 가능한 사양의 고순도 메탄 가스를 확보하게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가공단계는 환경 규제와 연결되어 있을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제품 다양화 및 부가가치 창출의 기초가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정제된 가스는 수송단계로 넘어가며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일반적인 방식은 파이프라인을 통한 육상 수송이다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대륙간 수송이 어려운 경우에는 천연가스를 </a:t>
            </a:r>
            <a:r>
              <a:rPr lang="en-US" altLang="ko-KR" sz="1600" dirty="0"/>
              <a:t>-162℃</a:t>
            </a:r>
            <a:r>
              <a:rPr lang="ko-KR" altLang="en-US" sz="1600" dirty="0"/>
              <a:t>로</a:t>
            </a:r>
            <a:r>
              <a:rPr lang="en-US" altLang="ko-KR" sz="1600" dirty="0"/>
              <a:t> </a:t>
            </a:r>
            <a:r>
              <a:rPr lang="ko-KR" altLang="en-US" sz="1600" dirty="0"/>
              <a:t>냉각시켜 액화</a:t>
            </a:r>
            <a:r>
              <a:rPr lang="en-US" altLang="ko-KR" sz="1600" dirty="0"/>
              <a:t> </a:t>
            </a:r>
            <a:r>
              <a:rPr lang="ko-KR" altLang="en-US" sz="1600" dirty="0"/>
              <a:t>형태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만들어 특수 선박을 이용해 해상 수송하고</a:t>
            </a:r>
            <a:r>
              <a:rPr lang="en-US" altLang="ko-KR" sz="1600" dirty="0"/>
              <a:t>,</a:t>
            </a:r>
            <a:r>
              <a:rPr lang="ko-KR" altLang="en-US" sz="1600" dirty="0"/>
              <a:t> 도착지에는 재기화를 통해 기체 상태로 전환하여 지역 파이프라인망으로 공급된다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 수송은 통상적으로 생산지</a:t>
            </a:r>
            <a:r>
              <a:rPr lang="en-US" altLang="ko-KR" sz="1600" dirty="0"/>
              <a:t>-</a:t>
            </a:r>
            <a:r>
              <a:rPr lang="ko-KR" altLang="en-US" sz="1600" dirty="0"/>
              <a:t>소비지 간의 장기계약과 함께 구축되며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인프라의 장기적인 고정비 투자와 관련된 자산특화가 높은 특징을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는 수출입이 가능한 유연성을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초기 설비투자가 막대하고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정제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재기화 등 다단계 인프라가 필요하다는 점에서 비용 부담이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74002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CFD0D-559E-9216-20DF-251B46989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307D12-1347-8D58-95C3-6015C3E53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05C442-FC90-AC2A-F123-3CEDA909E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378388-3865-426E-7D9E-E12FC5D9794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공급과 수요의 시간차가 존재하기 때문에 저장설비가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저장소는 일반적으로 지하 </a:t>
            </a:r>
            <a:r>
              <a:rPr lang="ko-KR" altLang="en-US" sz="1600" dirty="0" err="1"/>
              <a:t>염동굴</a:t>
            </a:r>
            <a:r>
              <a:rPr lang="en-US" altLang="ko-KR" sz="1600" dirty="0"/>
              <a:t>, </a:t>
            </a:r>
            <a:r>
              <a:rPr lang="ko-KR" altLang="en-US" sz="1600" dirty="0"/>
              <a:t>고갈된 가스전</a:t>
            </a:r>
            <a:r>
              <a:rPr lang="en-US" altLang="ko-KR" sz="1600" dirty="0"/>
              <a:t>, </a:t>
            </a:r>
            <a:r>
              <a:rPr lang="ko-KR" altLang="en-US" sz="1600" dirty="0"/>
              <a:t>수조형 탱크로 구분되며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 변동이 큰 북반구 지역에서는 겨울철 난방 수요 급등에 대비한 계절조절 수단으로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수요 예측 기반의 스마트 저장시스템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가격 변동에 따른 수익 극대화를 위한 전략적 저장 운영이 주목받고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마지막 단계는 분배이며</a:t>
            </a:r>
            <a:r>
              <a:rPr lang="en-US" altLang="ko-KR" sz="1600" dirty="0"/>
              <a:t>,</a:t>
            </a:r>
            <a:r>
              <a:rPr lang="ko-KR" altLang="en-US" sz="1600" dirty="0"/>
              <a:t> 이는 고압 송수관에서 저압의 지역 공급망으로 천연가스를 전달하는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과정에서는 가정용</a:t>
            </a:r>
            <a:r>
              <a:rPr lang="en-US" altLang="ko-KR" sz="1600" dirty="0"/>
              <a:t>, </a:t>
            </a:r>
            <a:r>
              <a:rPr lang="ko-KR" altLang="en-US" sz="1600" dirty="0"/>
              <a:t>상업용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수요자의 안전성과 편의성을 고려하여 압력 조절</a:t>
            </a:r>
            <a:r>
              <a:rPr lang="en-US" altLang="ko-KR" sz="1600" dirty="0"/>
              <a:t>, </a:t>
            </a:r>
            <a:r>
              <a:rPr lang="ko-KR" altLang="en-US" sz="1600" dirty="0"/>
              <a:t>계량기 설치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보증 등의 절차가 수반된다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주거용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취사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산업열원</a:t>
            </a:r>
            <a:r>
              <a:rPr lang="en-US" altLang="ko-KR" sz="1600" dirty="0"/>
              <a:t>, </a:t>
            </a:r>
            <a:r>
              <a:rPr lang="ko-KR" altLang="en-US" sz="1600" dirty="0"/>
              <a:t>전력 발전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 원료로 다양하게 쓰이고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교통용 연료로도 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압축천연가스 </a:t>
            </a:r>
            <a:r>
              <a:rPr lang="en-US" altLang="ko-KR" sz="1600" dirty="0"/>
              <a:t>(CNG, Compressed Natural Gas)</a:t>
            </a:r>
            <a:r>
              <a:rPr lang="ko-KR" altLang="en-US" sz="1600" dirty="0"/>
              <a:t>는 도시버스나 승용차에</a:t>
            </a:r>
            <a:r>
              <a:rPr lang="en-US" altLang="ko-KR" sz="1600" dirty="0"/>
              <a:t> </a:t>
            </a:r>
            <a:r>
              <a:rPr lang="ko-KR" altLang="en-US" sz="1600" dirty="0"/>
              <a:t>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는 트럭</a:t>
            </a:r>
            <a:r>
              <a:rPr lang="en-US" altLang="ko-KR" sz="1600" dirty="0"/>
              <a:t>, </a:t>
            </a:r>
            <a:r>
              <a:rPr lang="ko-KR" altLang="en-US" sz="1600" dirty="0"/>
              <a:t>선박</a:t>
            </a:r>
            <a:r>
              <a:rPr lang="en-US" altLang="ko-KR" sz="1600" dirty="0"/>
              <a:t>, </a:t>
            </a:r>
            <a:r>
              <a:rPr lang="ko-KR" altLang="en-US" sz="1600" dirty="0"/>
              <a:t>철도 등 장거리</a:t>
            </a:r>
            <a:r>
              <a:rPr lang="en-US" altLang="ko-KR" sz="1600" dirty="0"/>
              <a:t>·</a:t>
            </a:r>
            <a:r>
              <a:rPr lang="ko-KR" altLang="en-US" sz="1600" dirty="0"/>
              <a:t>대형 운송수단에 쓰인다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248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C290-92DE-9947-B598-198660309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4CB4D-D982-EEAD-F858-758C9A11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4E8D8-AA26-04DB-3BB8-BCBD2294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063C0F-AE23-70B0-8CD4-785AC69CB882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공급사슬은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환경성</a:t>
            </a:r>
            <a:r>
              <a:rPr lang="en-US" altLang="ko-KR" sz="1600" dirty="0"/>
              <a:t>, </a:t>
            </a:r>
            <a:r>
              <a:rPr lang="ko-KR" altLang="en-US" sz="1600" dirty="0"/>
              <a:t>국제정치가 복합적으로 얽힌 구조로서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단순한 생산과 수송 이상의 전략적 의미를 갖는다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특히 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목표가 중요한 시대적 과제로 떠오른 현재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공급사슬의 효율성과 탄력성은 국가 및 글로벌 차원의 정책 설계와 시장전략에서 핵심 요소로 작용하고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3658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6601A-FB1D-722F-2FC6-1AD571EAC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A8D64D-3ECB-6BBC-2840-DD40968194A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6F5BF2-6D24-310D-DF42-8B7B3041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F8F96F9-B37F-0121-FC63-42BCF036A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천연가스의 시장의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48910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E9DA9-730B-BBD9-DA05-39BF2FFD3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7B63E-4028-7888-AD6C-D8E16256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2238-501C-5A8A-D9AE-B6619F7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F08686-6A82-DD8C-D410-946AAEC7C6B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2020</a:t>
            </a:r>
            <a:r>
              <a:rPr lang="ko-KR" altLang="en-US" sz="1600" dirty="0"/>
              <a:t>년 기준 전 세계 천연가스 확인 매장량은 </a:t>
            </a:r>
            <a:r>
              <a:rPr lang="en-US" altLang="ko-KR" sz="1600" dirty="0"/>
              <a:t>188.1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입방미터에</a:t>
            </a:r>
            <a:r>
              <a:rPr lang="ko-KR" altLang="en-US" sz="1600" dirty="0"/>
              <a:t>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en-US" altLang="ko-KR" sz="1600" dirty="0"/>
              <a:t>2000</a:t>
            </a:r>
            <a:r>
              <a:rPr lang="ko-KR" altLang="en-US" sz="1600" dirty="0"/>
              <a:t>년에 비해 약 </a:t>
            </a:r>
            <a:r>
              <a:rPr lang="en-US" altLang="ko-KR" sz="1600" dirty="0"/>
              <a:t>50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</a:t>
            </a:r>
            <a:r>
              <a:rPr lang="ko-KR" altLang="en-US" sz="1600" dirty="0"/>
              <a:t> 증가한 수치이다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앞서 말한 비전통가스전의 개발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셰일혁명</a:t>
            </a:r>
            <a:r>
              <a:rPr lang="en-US" altLang="ko-KR" sz="1600" dirty="0"/>
              <a:t>), </a:t>
            </a:r>
            <a:r>
              <a:rPr lang="ko-KR" altLang="en-US" sz="1600" dirty="0"/>
              <a:t>시추기술의 발전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신규 매장지 발견에 기인한다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8874414-3187-17F2-B6B4-B959B7664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979493"/>
              </p:ext>
            </p:extLst>
          </p:nvPr>
        </p:nvGraphicFramePr>
        <p:xfrm>
          <a:off x="2451498" y="2893903"/>
          <a:ext cx="6150534" cy="31743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1211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7.3 (5.3%)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10.5 (5.8%)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15.2 (8.1%)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 (4.9%)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 (4.5%)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7.9 (4.2%)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 (3.9%)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 (1.7%)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38.6 (27.8%)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51.3 (28.5%)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56.6 (30.1%)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58.3 (42.2%)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77.8 (43.2%)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75.8 (40.3%)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11.9 (8.6%)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 (7.8%)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12.9 (6.9%)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 (7.5%)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179.9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188.1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 (9.8%)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 (10.8%)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124.4 (90.1%)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162.4 (90.3%)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167.8 (89.2%)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EU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 (1.8%)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 (0.9%)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 (0.2%)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F3CDDA4-52D1-16CA-EF25-BD298986E2C3}"/>
              </a:ext>
            </a:extLst>
          </p:cNvPr>
          <p:cNvSpPr txBox="1"/>
          <p:nvPr/>
        </p:nvSpPr>
        <p:spPr>
          <a:xfrm>
            <a:off x="3819650" y="2515751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매장량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조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00541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63DF5-290A-C7D0-930C-BC27A4A8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A1C8B-7EAA-A808-DED8-50BD33A33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E45FFF-9023-4A35-4FC1-5015450F4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60EA43-0A4C-E6EA-4AC2-C78CE80C6647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매장량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지역이 전체의 </a:t>
            </a:r>
            <a:r>
              <a:rPr lang="en-US" altLang="ko-KR" sz="1600" dirty="0"/>
              <a:t>40.3%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(17.1%)</a:t>
            </a:r>
            <a:r>
              <a:rPr lang="ko-KR" altLang="en-US" sz="1600" dirty="0"/>
              <a:t>과 카타르</a:t>
            </a:r>
            <a:r>
              <a:rPr lang="en-US" altLang="ko-KR" sz="1600" dirty="0"/>
              <a:t>(13.1%)</a:t>
            </a:r>
            <a:r>
              <a:rPr lang="ko-KR" altLang="en-US" sz="1600" dirty="0"/>
              <a:t>가 핵심 국가로 부상하고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러시아가 </a:t>
            </a:r>
            <a:r>
              <a:rPr lang="en-US" altLang="ko-KR" sz="1600" dirty="0"/>
              <a:t>19.9%</a:t>
            </a:r>
            <a:r>
              <a:rPr lang="ko-KR" altLang="en-US" sz="1600" dirty="0"/>
              <a:t>의 비중으로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많은 매장량을 보유하고 있고</a:t>
            </a:r>
            <a:r>
              <a:rPr lang="en-US" altLang="ko-KR" sz="1600" dirty="0"/>
              <a:t>, CIS(</a:t>
            </a:r>
            <a:r>
              <a:rPr lang="ko-KR" altLang="en-US" sz="1600" dirty="0"/>
              <a:t>독립국가연합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30.1%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 외에 아시아</a:t>
            </a:r>
            <a:r>
              <a:rPr lang="en-US" altLang="ko-KR" sz="1600" dirty="0"/>
              <a:t>·</a:t>
            </a:r>
            <a:r>
              <a:rPr lang="ko-KR" altLang="en-US" sz="1600" dirty="0"/>
              <a:t>태평양 지역은 </a:t>
            </a:r>
            <a:r>
              <a:rPr lang="en-US" altLang="ko-KR" sz="1600" dirty="0"/>
              <a:t>8.8%, </a:t>
            </a:r>
            <a:r>
              <a:rPr lang="ko-KR" altLang="en-US" sz="1600" dirty="0"/>
              <a:t>북미는 </a:t>
            </a:r>
            <a:r>
              <a:rPr lang="en-US" altLang="ko-KR" sz="1600" dirty="0"/>
              <a:t>8.1%, </a:t>
            </a:r>
            <a:r>
              <a:rPr lang="ko-KR" altLang="en-US" sz="1600" dirty="0"/>
              <a:t>아프리카는 약 </a:t>
            </a:r>
            <a:r>
              <a:rPr lang="en-US" altLang="ko-KR" sz="1600" dirty="0"/>
              <a:t>6.9%, </a:t>
            </a:r>
            <a:r>
              <a:rPr lang="ko-KR" altLang="en-US" sz="1600" dirty="0"/>
              <a:t>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약 </a:t>
            </a:r>
            <a:r>
              <a:rPr lang="en-US" altLang="ko-KR" sz="1600" dirty="0"/>
              <a:t>4.2%</a:t>
            </a:r>
            <a:r>
              <a:rPr lang="ko-KR" altLang="en-US" sz="1600" dirty="0"/>
              <a:t>를 차지하고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 다양성이 뚜렷하다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10.8%,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</a:t>
            </a:r>
            <a:r>
              <a:rPr lang="en-US" altLang="ko-KR" sz="1600" dirty="0"/>
              <a:t>89.2%</a:t>
            </a:r>
            <a:r>
              <a:rPr lang="ko-KR" altLang="en-US" sz="1600" dirty="0"/>
              <a:t>로</a:t>
            </a:r>
            <a:r>
              <a:rPr lang="en-US" altLang="ko-KR" sz="1600" dirty="0"/>
              <a:t>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 국가가 전 세계 천연가스 매장량의 절대다수를 차지하고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</a:t>
            </a:r>
            <a:r>
              <a:rPr lang="ko-KR" altLang="en-US" sz="1600" dirty="0"/>
              <a:t> 매장량 대비 생산의 경우에는 지역 간 뚜렷한 차이를 보인다</a:t>
            </a:r>
            <a:r>
              <a:rPr lang="en-US" altLang="ko-KR" sz="1600" dirty="0"/>
              <a:t>. </a:t>
            </a:r>
            <a:r>
              <a:rPr lang="ko-KR" altLang="en-US" sz="1600" dirty="0"/>
              <a:t>북미와 유럽은 상대적으로 매장량이 적지만 기술력과 시장 구조로 인해 생산 비율이 매우 높은 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전체 확인 매장량의 </a:t>
            </a:r>
            <a:r>
              <a:rPr lang="en-US" altLang="ko-KR" sz="1600" dirty="0"/>
              <a:t>6.9%</a:t>
            </a:r>
            <a:r>
              <a:rPr lang="ko-KR" altLang="en-US" sz="1600" dirty="0"/>
              <a:t>를 보유하고</a:t>
            </a:r>
            <a:r>
              <a:rPr lang="en-US" altLang="ko-KR" sz="1600" dirty="0"/>
              <a:t>, 2000</a:t>
            </a:r>
            <a:r>
              <a:rPr lang="ko-KR" altLang="en-US" sz="1600" dirty="0"/>
              <a:t>년 이후 가장 큰 증가폭을 기록하였다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중동과 </a:t>
            </a:r>
            <a:r>
              <a:rPr lang="en-US" altLang="ko-KR" sz="1600" dirty="0"/>
              <a:t>CIS</a:t>
            </a:r>
            <a:r>
              <a:rPr lang="ko-KR" altLang="en-US" sz="1600" dirty="0"/>
              <a:t>국가들은 매장량은 많지만 생산 비율은 상대적으로 낮은 경향을 보인다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98703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F2984-FA15-87E9-D2E4-7BFE3AAC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6A49F-C3A7-9B90-CD6A-C4CEF565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64175-0A68-BAAA-8204-26393F217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D4DEE94-B1E1-CFB2-34B7-A5E96A8ADD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18877" y="3571803"/>
            <a:ext cx="5497287" cy="30106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F1CCBE-7454-B9A5-7720-EDC29B647D41}"/>
              </a:ext>
            </a:extLst>
          </p:cNvPr>
          <p:cNvSpPr txBox="1"/>
          <p:nvPr/>
        </p:nvSpPr>
        <p:spPr>
          <a:xfrm>
            <a:off x="2242156" y="331019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생산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99A89E4-5CF1-8B03-14FD-2DA3D0015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7281950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1,261.1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1,035.3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586.4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712.7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카타르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181.0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알제리아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691.8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2,426.8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DF0C886-A911-8F9D-D149-C963648C3522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생산량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EE3FFC-9C19-7778-B8C0-F0436E73DA17}"/>
              </a:ext>
            </a:extLst>
          </p:cNvPr>
          <p:cNvSpPr txBox="1"/>
          <p:nvPr/>
        </p:nvSpPr>
        <p:spPr>
          <a:xfrm>
            <a:off x="288791" y="958844"/>
            <a:ext cx="643448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생산량은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슬라이드를 참고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44530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336F1-E86B-DE89-08AA-20A661D98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147D1F-9B67-AD03-46B0-63113EE56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C32B9E-35F9-6392-3D7A-09E3391E2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B9589-1D2C-2751-E66C-880BC01395C0}"/>
              </a:ext>
            </a:extLst>
          </p:cNvPr>
          <p:cNvSpPr txBox="1"/>
          <p:nvPr/>
        </p:nvSpPr>
        <p:spPr>
          <a:xfrm>
            <a:off x="288790" y="958844"/>
            <a:ext cx="11118453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생산량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공급 구조는 지질학적 분포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요인에 의해 복합적으로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매장지가 상대적으로 넓게 분포되어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기체 상태라는 특성으로 인해 수송제약과 시장 분절성을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, </a:t>
            </a:r>
            <a:r>
              <a:rPr lang="ko-KR" altLang="en-US" sz="1600" dirty="0"/>
              <a:t>호주 등이 주요 생산국이고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동지중해에서도</a:t>
            </a:r>
            <a:r>
              <a:rPr lang="ko-KR" altLang="en-US" sz="1600" dirty="0"/>
              <a:t> 신규 개발이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LNG</a:t>
            </a:r>
            <a:r>
              <a:rPr lang="ko-KR" altLang="en-US" sz="1600" dirty="0"/>
              <a:t>의 발전은 글로벌 공급의 유연성을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천연가스를 석유처럼 국제적 상품으로 변화시키고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전쟁은 유럽 천연가스 수급구조를 급격히 전환시켰으며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확대와 공급선 다변화로 이어졌고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시장에 큰 영향을 미치고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생산은 최근 미국을 대표하여 북미지역을 중심으로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천연가스 생산량은 </a:t>
            </a:r>
            <a:r>
              <a:rPr lang="en-US" altLang="ko-KR" sz="1600" dirty="0"/>
              <a:t>4,059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2013-2023</a:t>
            </a:r>
            <a:r>
              <a:rPr lang="ko-KR" altLang="en-US" sz="1600" dirty="0"/>
              <a:t>년 연평균 </a:t>
            </a:r>
            <a:r>
              <a:rPr lang="en-US" altLang="ko-KR" sz="1600" dirty="0"/>
              <a:t>1.9%</a:t>
            </a:r>
            <a:r>
              <a:rPr lang="ko-KR" altLang="en-US" sz="1600" dirty="0"/>
              <a:t>의 생산 증가율을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미국</a:t>
            </a:r>
            <a:r>
              <a:rPr lang="en-US" altLang="ko-KR" sz="1600" dirty="0"/>
              <a:t> (25.5%), </a:t>
            </a:r>
            <a:r>
              <a:rPr lang="ko-KR" altLang="en-US" sz="1600" dirty="0"/>
              <a:t>러시아 </a:t>
            </a:r>
            <a:r>
              <a:rPr lang="en-US" altLang="ko-KR" sz="1600" dirty="0"/>
              <a:t>(14.4%), </a:t>
            </a:r>
            <a:r>
              <a:rPr lang="ko-KR" altLang="en-US" sz="1600" dirty="0"/>
              <a:t>이란 </a:t>
            </a:r>
            <a:r>
              <a:rPr lang="en-US" altLang="ko-KR" sz="1600" dirty="0"/>
              <a:t>(6.2%), </a:t>
            </a:r>
            <a:r>
              <a:rPr lang="ko-KR" altLang="en-US" sz="1600" dirty="0"/>
              <a:t>중국</a:t>
            </a:r>
            <a:r>
              <a:rPr lang="en-US" altLang="ko-KR" sz="1600" dirty="0"/>
              <a:t>(5.8%),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(4.5%)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490686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E2C3B-A89A-72B3-BD4F-F249C65D3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4C92F-7AFE-0090-83AA-E608D29A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A85F3-242E-5721-7234-F0FECC17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1E939-BBD3-0EE3-011D-46642F478A6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소비는 국가별 산업구조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정책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 등에 따라 지역별</a:t>
            </a:r>
            <a:r>
              <a:rPr lang="en-US" altLang="ko-KR" sz="1600" dirty="0"/>
              <a:t>·</a:t>
            </a:r>
            <a:r>
              <a:rPr lang="ko-KR" altLang="en-US" sz="1600" dirty="0"/>
              <a:t>부문별로 상이한 양상을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전력생산</a:t>
            </a:r>
            <a:r>
              <a:rPr lang="en-US" altLang="ko-KR" sz="1600" dirty="0"/>
              <a:t>, </a:t>
            </a:r>
            <a:r>
              <a:rPr lang="ko-KR" altLang="en-US" sz="1600" dirty="0"/>
              <a:t>산업 공정</a:t>
            </a:r>
            <a:r>
              <a:rPr lang="en-US" altLang="ko-KR" sz="1600" dirty="0"/>
              <a:t>, </a:t>
            </a:r>
            <a:r>
              <a:rPr lang="ko-KR" altLang="en-US" sz="1600" dirty="0"/>
              <a:t>주거 및 상업용 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교통 연료 등 다양한 부문에서 소비되며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중 전력 생산 부문이 전체 소비에서 가장 높은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 </a:t>
            </a:r>
            <a:r>
              <a:rPr lang="ko-KR" altLang="en-US" sz="1600" dirty="0"/>
              <a:t>기술 발전으로 해상 운송이 보편화 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기반구조로 전환되고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석유와 유사하게 글로벌 </a:t>
            </a:r>
            <a:r>
              <a:rPr lang="ko-KR" altLang="en-US" sz="1600" dirty="0" err="1"/>
              <a:t>상품으로서의</a:t>
            </a:r>
            <a:r>
              <a:rPr lang="ko-KR" altLang="en-US" sz="1600" dirty="0"/>
              <a:t> 성격이 강화되고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지역별 가격차이도 점차 축소되고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북미와 유럽은 천연가스 인프라가 조기에 구축되어 다양한 최종수요 부문에 걸쳐 소비가 확산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유럽은 강화된 환경 규제와 탈탄소화 정책 기조 하에서 천연가스를 전환 연료로 적극 활용하고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반해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 등 신흥 경제권에서는 급속한 도시화</a:t>
            </a:r>
            <a:r>
              <a:rPr lang="en-US" altLang="ko-KR" sz="1600" dirty="0"/>
              <a:t>, </a:t>
            </a:r>
            <a:r>
              <a:rPr lang="ko-KR" altLang="en-US" sz="1600" dirty="0"/>
              <a:t>산업화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개선을 위한 환경정책 강화에 힘입어 천연가스 수요가 급증하고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중국은 이미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수입국으로 부상하였다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부문별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산업부문에서 천연가스는 비료</a:t>
            </a:r>
            <a:r>
              <a:rPr lang="en-US" altLang="ko-KR" sz="1600" dirty="0"/>
              <a:t>, </a:t>
            </a:r>
            <a:r>
              <a:rPr lang="ko-KR" altLang="en-US" sz="1600" dirty="0"/>
              <a:t>수소</a:t>
            </a:r>
            <a:r>
              <a:rPr lang="en-US" altLang="ko-KR" sz="1600" dirty="0"/>
              <a:t>, </a:t>
            </a:r>
            <a:r>
              <a:rPr lang="ko-KR" altLang="en-US" sz="1600" dirty="0"/>
              <a:t>메탄올 생산의 핵심 원료로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주거 및 상업부문에서는 난방 및 취사용 연료로 폭넓게 사용되고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교통부문에서는 압축천연가스</a:t>
            </a:r>
            <a:r>
              <a:rPr lang="en-US" altLang="ko-KR" sz="1600" dirty="0"/>
              <a:t>(CNG) </a:t>
            </a:r>
            <a:r>
              <a:rPr lang="ko-KR" altLang="en-US" sz="1600" dirty="0"/>
              <a:t>및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형태로 도로 운송 및 해상 운송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수요가 확대되고 있고</a:t>
            </a:r>
            <a:r>
              <a:rPr lang="en-US" altLang="ko-KR" sz="1600" dirty="0"/>
              <a:t>,</a:t>
            </a:r>
            <a:r>
              <a:rPr lang="ko-KR" altLang="en-US" sz="1600" dirty="0"/>
              <a:t> 국제해사기구의 환경규제 강화 이후 선박 연료로 </a:t>
            </a:r>
            <a:r>
              <a:rPr lang="en-US" altLang="ko-KR" sz="1600" dirty="0"/>
              <a:t>LNG </a:t>
            </a:r>
            <a:r>
              <a:rPr lang="ko-KR" altLang="en-US" sz="1600" dirty="0"/>
              <a:t>채택이 가속화되고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10778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155C-58EF-18EB-06AE-0AA94563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DF2DAD-306B-2C33-111C-754C95CF2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4F58A4-42E1-C70A-40DE-E6B2E3E2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567704-3EE6-A1CF-D52C-1312B053E69F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소비량은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3D58B6-F585-B128-1ABC-F5CA282D5A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37626" y="3167269"/>
            <a:ext cx="5626805" cy="3032936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64C8809-B218-BFA8-993A-8DB0A0880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7556406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멕시코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577.7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935.4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4,010.2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1,757.0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2,253.2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98B2977-5DB8-37A7-6BAE-542B311C119C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소비량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FDDE0E-F2F2-AA6F-41E0-D505C63829BC}"/>
              </a:ext>
            </a:extLst>
          </p:cNvPr>
          <p:cNvSpPr txBox="1"/>
          <p:nvPr/>
        </p:nvSpPr>
        <p:spPr>
          <a:xfrm>
            <a:off x="2489530" y="2905659"/>
            <a:ext cx="261079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소비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8696003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A0E8-E7A5-3314-B9C8-607A82B1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25CFA1-4E05-CAE3-2C03-29702A7E1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795313-750D-CD91-97FE-83D26228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D7E24E-418F-8903-D73E-01934DA43B34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소비량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소비는 북미 지역과 아시아태평양 지역을 중심으로 </a:t>
            </a:r>
            <a:r>
              <a:rPr lang="en-US" altLang="ko-KR" sz="1600" dirty="0"/>
              <a:t>2013~2023</a:t>
            </a:r>
            <a:r>
              <a:rPr lang="ko-KR" altLang="en-US" sz="1600" dirty="0"/>
              <a:t>년 기간에 증가하는 추세를 보이고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중동의 소비도 지속적으로 증가하고 있으며 유럽과 </a:t>
            </a:r>
            <a:r>
              <a:rPr lang="en-US" altLang="ko-KR" sz="1600" dirty="0"/>
              <a:t>CIS</a:t>
            </a:r>
            <a:r>
              <a:rPr lang="ko-KR" altLang="en-US" sz="1600" dirty="0"/>
              <a:t> 국가들을 포함한 다른 지역도 같은 기간 비슷한 수준이다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전 세계 천연가스 소비는 </a:t>
            </a:r>
            <a:r>
              <a:rPr lang="en-US" altLang="ko-KR" sz="1600" dirty="0"/>
              <a:t>4,010.2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2013~2023</a:t>
            </a:r>
            <a:r>
              <a:rPr lang="ko-KR" altLang="en-US" sz="1600" dirty="0"/>
              <a:t>년 기간 동안 </a:t>
            </a:r>
            <a:r>
              <a:rPr lang="en-US" altLang="ko-KR" sz="1600" dirty="0"/>
              <a:t>1.7%</a:t>
            </a:r>
            <a:r>
              <a:rPr lang="ko-KR" altLang="en-US" sz="1600" dirty="0"/>
              <a:t>의 성장률을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지역별 소비 비중은 북미</a:t>
            </a:r>
            <a:r>
              <a:rPr lang="en-US" altLang="ko-KR" sz="1600" dirty="0"/>
              <a:t>(27.5%), </a:t>
            </a:r>
            <a:r>
              <a:rPr lang="ko-KR" altLang="en-US" sz="1600" dirty="0"/>
              <a:t>아시아태평양</a:t>
            </a:r>
            <a:r>
              <a:rPr lang="en-US" altLang="ko-KR" sz="1600" dirty="0"/>
              <a:t>(23.3%), CIS</a:t>
            </a:r>
            <a:r>
              <a:rPr lang="ko-KR" altLang="en-US" sz="1600" dirty="0"/>
              <a:t>국가들</a:t>
            </a:r>
            <a:r>
              <a:rPr lang="en-US" altLang="ko-KR" sz="1600" dirty="0"/>
              <a:t>(14.9%), </a:t>
            </a:r>
            <a:r>
              <a:rPr lang="ko-KR" altLang="en-US" sz="1600" dirty="0"/>
              <a:t>중동</a:t>
            </a:r>
            <a:r>
              <a:rPr lang="en-US" altLang="ko-KR" sz="1600" dirty="0"/>
              <a:t>(14.4%)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</a:t>
            </a:r>
            <a:r>
              <a:rPr lang="ko-KR" altLang="en-US" sz="1600" dirty="0"/>
              <a:t> 북미 지역은 빠른 소비증가율을 보인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유럽과 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성장률이 감소하였다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소비로는 미국</a:t>
            </a:r>
            <a:r>
              <a:rPr lang="en-US" altLang="ko-KR" sz="1600" dirty="0"/>
              <a:t>(22.1%),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(11.3%),</a:t>
            </a:r>
            <a:r>
              <a:rPr lang="ko-KR" altLang="en-US" sz="1600" dirty="0"/>
              <a:t> 중국</a:t>
            </a:r>
            <a:r>
              <a:rPr lang="en-US" altLang="ko-KR" sz="1600" dirty="0"/>
              <a:t>(10.1%), </a:t>
            </a:r>
            <a:r>
              <a:rPr lang="ko-KR" altLang="en-US" sz="1600" dirty="0"/>
              <a:t>이란</a:t>
            </a:r>
            <a:r>
              <a:rPr lang="en-US" altLang="ko-KR" sz="1600" dirty="0"/>
              <a:t>(6.1%) </a:t>
            </a:r>
            <a:r>
              <a:rPr lang="ko-KR" altLang="en-US" sz="1600" dirty="0"/>
              <a:t>순으로 전세계에서 차지하는 비중이 높았다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한국의 소비 비중은 </a:t>
            </a:r>
            <a:r>
              <a:rPr lang="en-US" altLang="ko-KR" sz="1600" dirty="0"/>
              <a:t>1.5%</a:t>
            </a:r>
            <a:r>
              <a:rPr lang="ko-KR" altLang="en-US" sz="1600" dirty="0"/>
              <a:t>으로 나타났다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OECD</a:t>
            </a:r>
            <a:r>
              <a:rPr lang="ko-KR" altLang="en-US" sz="1600" dirty="0"/>
              <a:t> 국가들의 비중은 </a:t>
            </a:r>
            <a:r>
              <a:rPr lang="en-US" altLang="ko-KR" sz="1600" dirty="0"/>
              <a:t>43.8%</a:t>
            </a:r>
            <a:r>
              <a:rPr lang="ko-KR" altLang="en-US" sz="1600" dirty="0"/>
              <a:t>를 나타내었으며 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56.2%</a:t>
            </a:r>
            <a:r>
              <a:rPr lang="ko-KR" altLang="en-US" sz="1600" dirty="0"/>
              <a:t>를 나타내었다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23313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3CCBB-A096-4F5E-82A0-6FA451650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390E5F-A4F8-AAD3-CC8B-AB6836429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3DFC10-B1F8-C620-A895-687007AB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9406ED-3EC3-CA2F-B6EB-A9691A7965F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수입은 지난 수십 년간 에너지 시장에서 가장 빠르게 성장한 분야이다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공급망 유연성 증대와 에너지 안보 강화에 핵심적 역할을 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 파이프라인 수송 방식에 비해</a:t>
            </a:r>
            <a:r>
              <a:rPr lang="en-US" altLang="ko-KR" sz="1600" dirty="0"/>
              <a:t>, </a:t>
            </a:r>
            <a:r>
              <a:rPr lang="ko-KR" altLang="en-US" sz="1600" dirty="0"/>
              <a:t>거리 및 지정학적 제약으로부터 자유롭기 때문에 천연가스 국제무역을 가능하게 하는 핵심 기술이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천연가스 자원이 풍부한 북미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지역에서 생산된 가스가</a:t>
            </a:r>
            <a:r>
              <a:rPr lang="en-US" altLang="ko-KR" sz="1600" dirty="0"/>
              <a:t>, </a:t>
            </a:r>
            <a:r>
              <a:rPr lang="ko-KR" altLang="en-US" sz="1600" dirty="0"/>
              <a:t>수요가 집중된 동아시아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남아시아 지역으로 이전됨으로써 천연가스는 석유 시장과 유사한 통합성과 유연성을 갖춘 글로벌 상품으로 진화하고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수입국 측면에서 아시아는 전세계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수요의 중심지로 부상하였다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일본은 오랜 기간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수입국의 지위를 유지하였고</a:t>
            </a:r>
            <a:r>
              <a:rPr lang="en-US" altLang="ko-KR" sz="1600" dirty="0"/>
              <a:t>, 2011</a:t>
            </a:r>
            <a:r>
              <a:rPr lang="ko-KR" altLang="en-US" sz="1600" dirty="0"/>
              <a:t>년 후쿠시마 원전 사고 이후 원전 의존도를 대폭 축소하고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수입을 대체 에너지원으로 급격히 확대하였다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중국은 최근 에너지 수요 급증과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 목표에 따라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대폭 늘려</a:t>
            </a:r>
            <a:r>
              <a:rPr lang="en-US" altLang="ko-KR" sz="1600" dirty="0"/>
              <a:t>, 2021</a:t>
            </a:r>
            <a:r>
              <a:rPr lang="ko-KR" altLang="en-US" sz="1600" dirty="0"/>
              <a:t>년 처음으로 일본을 제치고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인도와 한국 또한 수입량을 지속적으로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전체는 현재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수입의 약 </a:t>
            </a:r>
            <a:r>
              <a:rPr lang="en-US" altLang="ko-KR" sz="1600" dirty="0"/>
              <a:t>70%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53246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8CD1B-9FA0-D50E-9F70-DB9EB64D9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B34FB3-EDD9-C0E4-685A-3951CEB74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B2577-1AF3-CD0B-486F-C29A2495E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D62BF2-D3B7-7B98-DDD0-10A5909F39DB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역시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시장에서 중요한 변화를 보이고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 유럽은 러시아산 파이프라인 가스에 대한 높은 의존도를 보여왔지만</a:t>
            </a:r>
            <a:r>
              <a:rPr lang="en-US" altLang="ko-KR" sz="1600" dirty="0"/>
              <a:t>, 2022</a:t>
            </a:r>
            <a:r>
              <a:rPr lang="ko-KR" altLang="en-US" sz="1600" dirty="0"/>
              <a:t>년 </a:t>
            </a:r>
            <a:r>
              <a:rPr lang="ko-KR" altLang="en-US" sz="1600" dirty="0" err="1"/>
              <a:t>러이사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에너지 안보에 대한 우려가 급증하여 </a:t>
            </a:r>
            <a:r>
              <a:rPr lang="en-US" altLang="ko-KR" sz="1600" dirty="0"/>
              <a:t>LNG</a:t>
            </a:r>
            <a:r>
              <a:rPr lang="ko-KR" altLang="en-US" sz="1600" dirty="0"/>
              <a:t>수입을 전략적으로 확대하는 방향으로 전환하였다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폴란드</a:t>
            </a:r>
            <a:r>
              <a:rPr lang="en-US" altLang="ko-KR" sz="1600" dirty="0"/>
              <a:t>, </a:t>
            </a:r>
            <a:r>
              <a:rPr lang="ko-KR" altLang="en-US" sz="1600" dirty="0"/>
              <a:t>핀란드 등은 기존에 부재하던 </a:t>
            </a:r>
            <a:r>
              <a:rPr lang="en-US" altLang="ko-KR" sz="1600" dirty="0"/>
              <a:t>LNG </a:t>
            </a:r>
            <a:r>
              <a:rPr lang="ko-KR" altLang="en-US" sz="1600" dirty="0"/>
              <a:t>터미널을 신속히 구축하거나 기존 시설을 확장하였고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및 카타르 등으로부터 장기 수입계약 체결을 통해 공급선 다변화를 적극 추진하고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결과 </a:t>
            </a:r>
            <a:r>
              <a:rPr lang="en-US" altLang="ko-KR" sz="1600" dirty="0"/>
              <a:t>2022-2023</a:t>
            </a:r>
            <a:r>
              <a:rPr lang="ko-KR" altLang="en-US" sz="1600" dirty="0"/>
              <a:t>년 사이 유럽의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수입량은 전년 대비 약 </a:t>
            </a:r>
            <a:r>
              <a:rPr lang="en-US" altLang="ko-KR" sz="1600" dirty="0"/>
              <a:t>60% </a:t>
            </a:r>
            <a:r>
              <a:rPr lang="ko-KR" altLang="en-US" sz="1600" dirty="0"/>
              <a:t>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수급 및 가격에 상당한 파급효과를 미쳤다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시장은 계약 구조 측면에서도 중요한 변화를 경험하고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과거에는 </a:t>
            </a:r>
            <a:r>
              <a:rPr lang="en-US" altLang="ko-KR" sz="1600" dirty="0"/>
              <a:t>20</a:t>
            </a:r>
            <a:r>
              <a:rPr lang="ko-KR" altLang="en-US" sz="1600" dirty="0"/>
              <a:t>년 이상의 장기 고정가격 계약이 시장의 표준이었으나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현물 시장 및 단기 계약의 비중이 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수요의 변동성 증가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가격에 대한 민감성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공급국 간 경쟁 심화 등과 같은 요인에 기인하며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거래의 유연성과 시장 반응성을 높이는 방향으로 시장이 진화하고 있음을 의미한다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98269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58AE2-422F-6289-068D-E8103D873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24D0AD-4F6D-3A3C-06AC-C3F166CC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01E83C-7DFA-2013-71AA-569E4F430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3193F3-D9D8-8D01-FFC2-86AF9E53B9A1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확대는 인프라 구축과 밀접하게 연계되어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수입국의 정책적 의지</a:t>
            </a:r>
            <a:r>
              <a:rPr lang="en-US" altLang="ko-KR" sz="1600" dirty="0"/>
              <a:t>, </a:t>
            </a:r>
            <a:r>
              <a:rPr lang="ko-KR" altLang="en-US" sz="1600" dirty="0"/>
              <a:t>제도적 환경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역량 등에 따라 확대 속도와 범위에 상당한 차이가 나타나고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 및 유럽의 선진국들은 재기화터미널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설비</a:t>
            </a:r>
            <a:r>
              <a:rPr lang="en-US" altLang="ko-KR" sz="1600" dirty="0"/>
              <a:t>, </a:t>
            </a:r>
            <a:r>
              <a:rPr lang="ko-KR" altLang="en-US" sz="1600" dirty="0"/>
              <a:t>전용 운반선 확보 등에서 상대적 우위에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일부 개발도상국은 재정적</a:t>
            </a:r>
            <a:r>
              <a:rPr lang="en-US" altLang="ko-KR" sz="1600" dirty="0"/>
              <a:t>·</a:t>
            </a:r>
            <a:r>
              <a:rPr lang="ko-KR" altLang="en-US" sz="1600" dirty="0"/>
              <a:t>기술적 제약으로 인해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확대에 구조적 어려움을 겪고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한계를 극복하기 위한 대안이 </a:t>
            </a:r>
            <a:r>
              <a:rPr lang="ko-KR" altLang="en-US" sz="1600" dirty="0" err="1"/>
              <a:t>부유식</a:t>
            </a:r>
            <a:r>
              <a:rPr lang="ko-KR" altLang="en-US" sz="1600" dirty="0"/>
              <a:t> 저장 및 재기화 설비 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초기 투자비용을 절감하고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신속한 배치가 가능하다는 점에서 신흥국 시장에서 광범위하게 채택되고 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736BE1C-4ED8-BE9F-1913-1F5FCA0FA8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292"/>
          <a:stretch>
            <a:fillRect/>
          </a:stretch>
        </p:blipFill>
        <p:spPr>
          <a:xfrm>
            <a:off x="6348255" y="3645192"/>
            <a:ext cx="5554955" cy="28917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BB1B0C-7D04-3FAA-B7B2-C7F3F0B7BD7D}"/>
              </a:ext>
            </a:extLst>
          </p:cNvPr>
          <p:cNvSpPr txBox="1"/>
          <p:nvPr/>
        </p:nvSpPr>
        <p:spPr>
          <a:xfrm>
            <a:off x="7512785" y="357019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수입량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F33EDC-027D-1970-6B61-0B9CA05B79C2}"/>
              </a:ext>
            </a:extLst>
          </p:cNvPr>
          <p:cNvSpPr txBox="1"/>
          <p:nvPr/>
        </p:nvSpPr>
        <p:spPr>
          <a:xfrm>
            <a:off x="288791" y="3334360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</a:t>
            </a:r>
            <a:r>
              <a:rPr lang="en-US" altLang="ko-KR" sz="1600" dirty="0"/>
              <a:t>LNG</a:t>
            </a:r>
            <a:r>
              <a:rPr lang="ko-KR" altLang="en-US" sz="1600" dirty="0"/>
              <a:t> 주요 수입국은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대만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2013-2023</a:t>
            </a:r>
            <a:r>
              <a:rPr lang="ko-KR" altLang="en-US" sz="1600" dirty="0"/>
              <a:t>년 기간동안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인도를 중심으로 증가하고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중국은 동 기간에 수입량이 </a:t>
            </a:r>
            <a:r>
              <a:rPr lang="en-US" altLang="ko-KR" sz="1600" dirty="0"/>
              <a:t>25.2</a:t>
            </a:r>
            <a:r>
              <a:rPr lang="ko-KR" altLang="en-US" sz="1600" dirty="0"/>
              <a:t>에서 </a:t>
            </a:r>
            <a:r>
              <a:rPr lang="en-US" altLang="ko-KR" sz="1600" dirty="0"/>
              <a:t>97.8</a:t>
            </a:r>
            <a:r>
              <a:rPr lang="ko-KR" altLang="en-US" sz="1600" dirty="0"/>
              <a:t>로 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</a:t>
            </a:r>
            <a:r>
              <a:rPr lang="en-US" altLang="ko-KR" sz="1600" dirty="0"/>
              <a:t>14.6% </a:t>
            </a:r>
            <a:r>
              <a:rPr lang="ko-KR" altLang="en-US" sz="1600" dirty="0"/>
              <a:t>증가세를 보였다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08879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43A93-811A-7438-46BE-889A474E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7FFF7-50F9-EC5D-F629-AAA85F8C7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27DCB1-B9DA-147E-0B55-B74914C0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17E8F-A809-1BFB-9CD5-F388D10C554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 시장은 과거 몇몇 중동 및 동남아시아 국가에 집중되어 있었으나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 수십년간 기술 혁신과 투자 확대를 통해 공급국의 지리적 다양성이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말레이시아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등은 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수출량의 대부분을 차지해왔다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호주가 주요 수출국으로 급부상하면서 글로벌 수출 구조에 큰 변화를 가져왔다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생산량의 급증과 함께 사빈패스</a:t>
            </a:r>
            <a:r>
              <a:rPr lang="en-US" altLang="ko-KR" sz="1600" dirty="0"/>
              <a:t>, </a:t>
            </a:r>
            <a:r>
              <a:rPr lang="ko-KR" altLang="en-US" sz="1600" dirty="0"/>
              <a:t>캐머런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프리포트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미국 지명</a:t>
            </a:r>
            <a:r>
              <a:rPr lang="en-US" altLang="ko-KR" sz="1600" dirty="0"/>
              <a:t>)</a:t>
            </a:r>
            <a:r>
              <a:rPr lang="ko-KR" altLang="en-US" sz="1600" dirty="0"/>
              <a:t> 등 주요 액화설비에 대한 공격적인 투자를 통해 </a:t>
            </a:r>
            <a:r>
              <a:rPr lang="en-US" altLang="ko-KR" sz="1600" dirty="0"/>
              <a:t>2016</a:t>
            </a:r>
            <a:r>
              <a:rPr lang="ko-KR" altLang="en-US" sz="1600" dirty="0"/>
              <a:t>년 이후 본격적인 수출국으로 부상하였고</a:t>
            </a:r>
            <a:r>
              <a:rPr lang="en-US" altLang="ko-KR" sz="1600" dirty="0"/>
              <a:t>, 2023</a:t>
            </a:r>
            <a:r>
              <a:rPr lang="ko-KR" altLang="en-US" sz="1600" dirty="0"/>
              <a:t>년에는 세계 최대 </a:t>
            </a:r>
            <a:r>
              <a:rPr lang="en-US" altLang="ko-KR" sz="1600" dirty="0"/>
              <a:t>LNG</a:t>
            </a:r>
            <a:r>
              <a:rPr lang="ko-KR" altLang="en-US" sz="1600" dirty="0"/>
              <a:t> 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고르곤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휘트스톤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이치시스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프렐류드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호주 지명</a:t>
            </a:r>
            <a:r>
              <a:rPr lang="en-US" altLang="ko-KR" sz="1600" dirty="0"/>
              <a:t>) </a:t>
            </a:r>
            <a:r>
              <a:rPr lang="ko-KR" altLang="en-US" sz="1600" dirty="0"/>
              <a:t>등 대형 프로젝트를 완공하며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카타르와 함께 </a:t>
            </a:r>
            <a:r>
              <a:rPr lang="en-US" altLang="ko-KR" sz="1600" dirty="0"/>
              <a:t>2020</a:t>
            </a:r>
            <a:r>
              <a:rPr lang="ko-KR" altLang="en-US" sz="1600" dirty="0"/>
              <a:t>년대 초반까지 세계 </a:t>
            </a:r>
            <a:r>
              <a:rPr lang="en-US" altLang="ko-KR" sz="1600" dirty="0"/>
              <a:t>1~2</a:t>
            </a:r>
            <a:r>
              <a:rPr lang="ko-KR" altLang="en-US" sz="1600" dirty="0"/>
              <a:t>위를 다투는 위치까지 올랐다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이와 같은 수출국 다변화는 천연가스 시장의 지역 편중을 완화시켰다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 간 경쟁 심화는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시장을 보다 </a:t>
            </a:r>
            <a:r>
              <a:rPr lang="ko-KR" altLang="en-US" sz="1600" dirty="0" err="1"/>
              <a:t>시장지향적이고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역동적인 구조로 재편하게 했다</a:t>
            </a:r>
            <a:r>
              <a:rPr lang="en-US" altLang="ko-KR" sz="1600" dirty="0"/>
              <a:t>.</a:t>
            </a:r>
          </a:p>
          <a:p>
            <a:pPr marL="92075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7825676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C9B72-6603-1993-C74B-D1C00E451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2284E-449D-F2D8-63F7-EDE721F0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53D259-DBF7-4337-E793-0145D0B8D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282979-EB3E-2F95-DCF9-D7138936A38C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수출은 계약 구조 및 수출 전략 측면에서 두 가지 상이한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여전히 장기 고정계약에 의존하고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수입국의 수요 안정성과 수출국의 수익 예측 가능성을 동시에 보장한다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카타르와 러시아가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이들은 장기 공급계약을 통해 동아시아 및 유럽의 주요 수입국들과 안정적인 무역 관계를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미국은 대부분의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수출을 헨리 허브 가격을 기반으로 하는 유연한 계약구조를 채택하고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수입국 모두 시장 가격 변화에 민감하게 반응하는 구조를 갖게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미국식 계약 모델은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현물시장</a:t>
            </a:r>
            <a:r>
              <a:rPr lang="en-US" altLang="ko-KR" sz="1600" dirty="0"/>
              <a:t>(spot market)</a:t>
            </a:r>
            <a:r>
              <a:rPr lang="ko-KR" altLang="en-US" sz="1600" dirty="0"/>
              <a:t>의 성장과 가격 신호의 국제적 확산에 기여하고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유연성과 경쟁성을 동시에 제고하는 데 중요한 역할을 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최근에는 아프리카 및 남미 지역의 신규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수출국들이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모잠비크는 </a:t>
            </a:r>
            <a:r>
              <a:rPr lang="ko-KR" altLang="en-US" sz="1600" dirty="0" err="1"/>
              <a:t>로부마</a:t>
            </a:r>
            <a:r>
              <a:rPr lang="en-US" altLang="ko-KR" sz="1600" dirty="0"/>
              <a:t>,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코랄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사우스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세네갈은 </a:t>
            </a:r>
            <a:r>
              <a:rPr lang="ko-KR" altLang="en-US" sz="1600" dirty="0" err="1"/>
              <a:t>그레이터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토르투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아메임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나이지리아는 보니 아일랜드 프로젝트를 통해 수출 기반을 확장하고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국가는 향후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수출의 지리적 분산과 글로벌 공급 안정성 제고에 크게 기여할 것으로 기대된다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 경쟁 심화와 함께 글로벌 가격 형성에도 복합적인 영향을 미칠 것으로 전망된다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7025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3E5A8-2209-68FC-CACA-E292AC77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CE135-7B2C-B91C-A327-7890EE0B2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4EA85-C411-CE6C-BAFF-79441028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4BB9E9-7916-F94F-B356-043B07E707B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의 또 다른 특징은 액화 인프라의 장기 투자성과 높은 프로젝트 리스크이다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 플랜트 건설에는 수십억 달러 규모의 자본 투자가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완공에 수년이 걸리고</a:t>
            </a:r>
            <a:r>
              <a:rPr lang="en-US" altLang="ko-KR" sz="1600" dirty="0"/>
              <a:t>, </a:t>
            </a:r>
            <a:r>
              <a:rPr lang="ko-KR" altLang="en-US" sz="1600" dirty="0"/>
              <a:t>프로젝트의 성공 여부는 자원 매장량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투자제도</a:t>
            </a:r>
            <a:r>
              <a:rPr lang="en-US" altLang="ko-KR" sz="1600" dirty="0"/>
              <a:t>, </a:t>
            </a:r>
            <a:r>
              <a:rPr lang="ko-KR" altLang="en-US" sz="1600" dirty="0"/>
              <a:t>수요 전망 등 다양한 요인에 의해 좌우된다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단기적 시장 상황보다는 장기적 전략과 정책 일관성에 많은 영향을 받는다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996BF7-A5A7-7AA3-046B-8F1D07C37B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831"/>
          <a:stretch>
            <a:fillRect/>
          </a:stretch>
        </p:blipFill>
        <p:spPr>
          <a:xfrm>
            <a:off x="6252732" y="3281429"/>
            <a:ext cx="5613416" cy="288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EDD8DF-E515-E39E-62D1-F5910218CA72}"/>
              </a:ext>
            </a:extLst>
          </p:cNvPr>
          <p:cNvSpPr txBox="1"/>
          <p:nvPr/>
        </p:nvSpPr>
        <p:spPr>
          <a:xfrm>
            <a:off x="7512785" y="3225643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수출량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538B8-BB32-0384-BBD7-ACF044FF42BB}"/>
              </a:ext>
            </a:extLst>
          </p:cNvPr>
          <p:cNvSpPr txBox="1"/>
          <p:nvPr/>
        </p:nvSpPr>
        <p:spPr>
          <a:xfrm>
            <a:off x="288791" y="2958882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러시아가 </a:t>
            </a:r>
            <a:r>
              <a:rPr lang="en-US" altLang="ko-KR" sz="1600" dirty="0"/>
              <a:t>4</a:t>
            </a:r>
            <a:r>
              <a:rPr lang="ko-KR" altLang="en-US" sz="1600" dirty="0"/>
              <a:t>대 천연가스 수출국이며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수출의 </a:t>
            </a:r>
            <a:r>
              <a:rPr lang="en-US" altLang="ko-KR" sz="1600" dirty="0"/>
              <a:t>68.8% </a:t>
            </a:r>
            <a:r>
              <a:rPr lang="ko-KR" altLang="en-US" sz="1600" dirty="0"/>
              <a:t>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국가별 비중은 미국</a:t>
            </a:r>
            <a:r>
              <a:rPr lang="en-US" altLang="ko-KR" sz="1600" dirty="0"/>
              <a:t>(20.8%),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(19.7%), </a:t>
            </a:r>
            <a:r>
              <a:rPr lang="ko-KR" altLang="en-US" sz="1600" dirty="0"/>
              <a:t>호주</a:t>
            </a:r>
            <a:r>
              <a:rPr lang="en-US" altLang="ko-KR" sz="1600" dirty="0"/>
              <a:t>(19.6%),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(7.8%)</a:t>
            </a:r>
            <a:r>
              <a:rPr lang="ko-KR" altLang="en-US" sz="1600" dirty="0"/>
              <a:t>를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호주의 비중이 점차 증가하고 있음을 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25334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76DF7-795D-675C-12D1-C260F4A4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80991-F804-0298-159B-6F941FEF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B46301-025D-DEFD-BD6D-03C717E46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ABE3FA-6D9C-5CC8-51E4-443A787CE86C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수출국은 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영국</a:t>
            </a:r>
            <a:r>
              <a:rPr lang="en-US" altLang="ko-KR" sz="1600" dirty="0"/>
              <a:t> </a:t>
            </a:r>
            <a:r>
              <a:rPr lang="ko-KR" altLang="en-US" sz="1600" dirty="0"/>
              <a:t>등을 중심으로 한 유럽 지역이 </a:t>
            </a:r>
            <a:r>
              <a:rPr lang="en-US" altLang="ko-KR" sz="1600" dirty="0"/>
              <a:t>67%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</a:t>
            </a:r>
            <a:r>
              <a:rPr lang="en-US" altLang="ko-KR" sz="1600" dirty="0"/>
              <a:t>26%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5DCC5-BFBA-2419-0F7E-D77CB6F24D46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미국의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AD8DFB7-8119-905E-283E-2B229995A7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929" r="3673"/>
          <a:stretch>
            <a:fillRect/>
          </a:stretch>
        </p:blipFill>
        <p:spPr>
          <a:xfrm>
            <a:off x="6935303" y="1048265"/>
            <a:ext cx="4823793" cy="21675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CBE5180-A8C1-4799-093C-339A7E3E93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792" r="6418"/>
          <a:stretch>
            <a:fillRect/>
          </a:stretch>
        </p:blipFill>
        <p:spPr>
          <a:xfrm>
            <a:off x="6993680" y="4055164"/>
            <a:ext cx="4641729" cy="25567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8690A0-7E07-D32A-D69F-538011896E90}"/>
              </a:ext>
            </a:extLst>
          </p:cNvPr>
          <p:cNvSpPr txBox="1"/>
          <p:nvPr/>
        </p:nvSpPr>
        <p:spPr>
          <a:xfrm>
            <a:off x="7804333" y="3801247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러시아의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2C1203-B705-268B-C294-9D9A739A4264}"/>
              </a:ext>
            </a:extLst>
          </p:cNvPr>
          <p:cNvSpPr txBox="1"/>
          <p:nvPr/>
        </p:nvSpPr>
        <p:spPr>
          <a:xfrm>
            <a:off x="288790" y="3928205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러시아는 중국과 일본을 중심으로 아시아태평양 지역에 전체의 </a:t>
            </a:r>
            <a:r>
              <a:rPr lang="en-US" altLang="ko-KR" sz="1600" dirty="0"/>
              <a:t>54.1%</a:t>
            </a:r>
            <a:r>
              <a:rPr lang="ko-KR" altLang="en-US" sz="1600" dirty="0"/>
              <a:t>를 수출하고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유럽의 비중은 </a:t>
            </a:r>
            <a:r>
              <a:rPr lang="ko-KR" altLang="en-US" sz="1600" dirty="0" err="1"/>
              <a:t>스페과</a:t>
            </a:r>
            <a:r>
              <a:rPr lang="ko-KR" altLang="en-US" sz="1600" dirty="0"/>
              <a:t> 프랑스를 중심으로 </a:t>
            </a:r>
            <a:r>
              <a:rPr lang="en-US" altLang="ko-KR" sz="1600" dirty="0"/>
              <a:t>45.5%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8751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B6740-578F-BCF5-1C06-8D5E0B257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180EAA-1F75-2CC2-7AC5-7D66B52C3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BB38D-7453-D5CB-9E95-0A9369626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37CD8-F2C2-1C14-8620-845FE3DEFA61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카타르는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전체 수출량의 </a:t>
            </a:r>
            <a:r>
              <a:rPr lang="en-US" altLang="ko-KR" sz="1600" dirty="0"/>
              <a:t>75%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이태리</a:t>
            </a:r>
            <a:r>
              <a:rPr lang="en-US" altLang="ko-KR" sz="1600" dirty="0"/>
              <a:t>, </a:t>
            </a:r>
            <a:r>
              <a:rPr lang="ko-KR" altLang="en-US" sz="1600" dirty="0"/>
              <a:t>벨기에를 포함한 유럽지역에 </a:t>
            </a:r>
            <a:r>
              <a:rPr lang="en-US" altLang="ko-KR" sz="1600" dirty="0"/>
              <a:t>19.2%</a:t>
            </a:r>
            <a:r>
              <a:rPr lang="ko-KR" altLang="en-US" sz="1600" dirty="0"/>
              <a:t>를 수출하고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4AF9A2-A3FF-E0DE-3030-464CCCE19A94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카타르의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BFEC3-9C90-5CAE-EF5C-526EF1AB47F6}"/>
              </a:ext>
            </a:extLst>
          </p:cNvPr>
          <p:cNvSpPr txBox="1"/>
          <p:nvPr/>
        </p:nvSpPr>
        <p:spPr>
          <a:xfrm>
            <a:off x="7804333" y="3801247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호주의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5DB801-04CD-D02A-E416-136AA9DB095F}"/>
              </a:ext>
            </a:extLst>
          </p:cNvPr>
          <p:cNvSpPr txBox="1"/>
          <p:nvPr/>
        </p:nvSpPr>
        <p:spPr>
          <a:xfrm>
            <a:off x="288790" y="3928205"/>
            <a:ext cx="6001575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호주의 경우 수출 전량이 아시아 지역으로 향하고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 순으로 수출량이 많다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BF8D998-AF48-61D5-C872-62D3B69FD0C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866"/>
          <a:stretch>
            <a:fillRect/>
          </a:stretch>
        </p:blipFill>
        <p:spPr>
          <a:xfrm>
            <a:off x="6993680" y="1007168"/>
            <a:ext cx="4557799" cy="24704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186D9D3-A172-0CF0-4094-70626B2344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60" r="4259"/>
          <a:stretch>
            <a:fillRect/>
          </a:stretch>
        </p:blipFill>
        <p:spPr>
          <a:xfrm>
            <a:off x="6874410" y="4206663"/>
            <a:ext cx="4836094" cy="233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2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D32C-AEB3-D81F-A31F-C377CB311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5BE5D-C602-B8A0-C176-798A1EBB9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35379-43C7-A4EC-53C1-47C1547B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251A54-FAAF-1E88-0D81-9D48FAF9CED9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파이프라인 천연가스</a:t>
            </a:r>
            <a:r>
              <a:rPr lang="en-US" altLang="ko-KR" sz="1600"/>
              <a:t>(PNG)</a:t>
            </a:r>
            <a:r>
              <a:rPr lang="ko-KR" altLang="en-US" sz="1600"/>
              <a:t> 수출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2386615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9599</TotalTime>
  <Words>4084</Words>
  <Application>Microsoft Office PowerPoint</Application>
  <PresentationFormat>와이드스크린</PresentationFormat>
  <Paragraphs>508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1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천연가스 시장</vt:lpstr>
      <vt:lpstr>Section 1. 개 론</vt:lpstr>
      <vt:lpstr>서론</vt:lpstr>
      <vt:lpstr>서론</vt:lpstr>
      <vt:lpstr>서론</vt:lpstr>
      <vt:lpstr>Section 2. 천연가스의 특징과 분류</vt:lpstr>
      <vt:lpstr>천연가스의 특징</vt:lpstr>
      <vt:lpstr>천연가스의 특징</vt:lpstr>
      <vt:lpstr>천연가스의 분류</vt:lpstr>
      <vt:lpstr>천연가스의 분류</vt:lpstr>
      <vt:lpstr>천연가스의 분류</vt:lpstr>
      <vt:lpstr>천연가스의 분류</vt:lpstr>
      <vt:lpstr>천연가스 공급사슬</vt:lpstr>
      <vt:lpstr>천연가스 공급사슬</vt:lpstr>
      <vt:lpstr>천연가스 공급사슬</vt:lpstr>
      <vt:lpstr>천연가스 공급사슬</vt:lpstr>
      <vt:lpstr>Section 3. 천연가스의 시장의 현황</vt:lpstr>
      <vt:lpstr>천연가스 매장량</vt:lpstr>
      <vt:lpstr>천연가스 매장량</vt:lpstr>
      <vt:lpstr>천연가스 생산과 공급</vt:lpstr>
      <vt:lpstr>천연가스 생산과 공급</vt:lpstr>
      <vt:lpstr>천연가스 소비</vt:lpstr>
      <vt:lpstr>천연가스 소비</vt:lpstr>
      <vt:lpstr>천연가스 생산과 공급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천연가스 소비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329</cp:revision>
  <dcterms:created xsi:type="dcterms:W3CDTF">2025-07-05T05:15:23Z</dcterms:created>
  <dcterms:modified xsi:type="dcterms:W3CDTF">2026-05-31T06:08:30Z</dcterms:modified>
</cp:coreProperties>
</file>