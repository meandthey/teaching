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55"/>
  </p:notesMasterIdLst>
  <p:sldIdLst>
    <p:sldId id="375" r:id="rId2"/>
    <p:sldId id="405" r:id="rId3"/>
    <p:sldId id="550" r:id="rId4"/>
    <p:sldId id="376" r:id="rId5"/>
    <p:sldId id="637" r:id="rId6"/>
    <p:sldId id="638" r:id="rId7"/>
    <p:sldId id="639" r:id="rId8"/>
    <p:sldId id="640" r:id="rId9"/>
    <p:sldId id="641" r:id="rId10"/>
    <p:sldId id="642" r:id="rId11"/>
    <p:sldId id="643" r:id="rId12"/>
    <p:sldId id="644" r:id="rId13"/>
    <p:sldId id="645" r:id="rId14"/>
    <p:sldId id="646" r:id="rId15"/>
    <p:sldId id="647" r:id="rId16"/>
    <p:sldId id="648" r:id="rId17"/>
    <p:sldId id="649" r:id="rId18"/>
    <p:sldId id="650" r:id="rId19"/>
    <p:sldId id="653" r:id="rId20"/>
    <p:sldId id="651" r:id="rId21"/>
    <p:sldId id="654" r:id="rId22"/>
    <p:sldId id="652" r:id="rId23"/>
    <p:sldId id="655" r:id="rId24"/>
    <p:sldId id="656" r:id="rId25"/>
    <p:sldId id="657" r:id="rId26"/>
    <p:sldId id="658" r:id="rId27"/>
    <p:sldId id="659" r:id="rId28"/>
    <p:sldId id="660" r:id="rId29"/>
    <p:sldId id="661" r:id="rId30"/>
    <p:sldId id="662" r:id="rId31"/>
    <p:sldId id="663" r:id="rId32"/>
    <p:sldId id="664" r:id="rId33"/>
    <p:sldId id="665" r:id="rId34"/>
    <p:sldId id="666" r:id="rId35"/>
    <p:sldId id="667" r:id="rId36"/>
    <p:sldId id="668" r:id="rId37"/>
    <p:sldId id="676" r:id="rId38"/>
    <p:sldId id="669" r:id="rId39"/>
    <p:sldId id="670" r:id="rId40"/>
    <p:sldId id="671" r:id="rId41"/>
    <p:sldId id="677" r:id="rId42"/>
    <p:sldId id="672" r:id="rId43"/>
    <p:sldId id="673" r:id="rId44"/>
    <p:sldId id="674" r:id="rId45"/>
    <p:sldId id="675" r:id="rId46"/>
    <p:sldId id="678" r:id="rId47"/>
    <p:sldId id="679" r:id="rId48"/>
    <p:sldId id="680" r:id="rId49"/>
    <p:sldId id="681" r:id="rId50"/>
    <p:sldId id="682" r:id="rId51"/>
    <p:sldId id="683" r:id="rId52"/>
    <p:sldId id="684" r:id="rId53"/>
    <p:sldId id="598" r:id="rId54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15F5F"/>
    <a:srgbClr val="F8F7FC"/>
    <a:srgbClr val="2D72BE"/>
    <a:srgbClr val="070B12"/>
    <a:srgbClr val="0047A0"/>
    <a:srgbClr val="E3605B"/>
    <a:srgbClr val="FFFFFF"/>
    <a:srgbClr val="FFFDFF"/>
    <a:srgbClr val="00ADD0"/>
    <a:srgbClr val="EEF0E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5D4F822-9B6C-2312-BC7C-289E6CBD8A83}" v="204" dt="2025-07-20T13:57:47.285"/>
    <p1510:client id="{6FC94FB9-0A6B-4253-B3BE-E28497FA5913}" v="13" dt="2025-07-21T06:43:27.973"/>
    <p1510:client id="{ACAA3603-E3D6-4895-8F10-727493C87641}" v="65" dt="2025-07-21T00:56:35.769"/>
    <p1510:client id="{F2AEC958-FA13-3020-BC15-FF90776EF069}" v="4" dt="2025-07-21T06:39:02.78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1885" autoAdjust="0"/>
  </p:normalViewPr>
  <p:slideViewPr>
    <p:cSldViewPr snapToGrid="0">
      <p:cViewPr varScale="1">
        <p:scale>
          <a:sx n="144" d="100"/>
          <a:sy n="144" d="100"/>
        </p:scale>
        <p:origin x="900" y="6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theme" Target="theme/theme1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viewProps" Target="viewProp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microsoft.com/office/2015/10/relationships/revisionInfo" Target="revisionInfo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A5E00EF-AEA4-43E2-9451-8F9C59A39471}" type="datetimeFigureOut">
              <a:rPr lang="ko-KR" altLang="en-US" smtClean="0"/>
              <a:t>2026-06-02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6183C86-FCDD-4CD4-A668-4DF0BEDE3E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548368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183C86-FCDD-4CD4-A668-4DF0BEDE3EB5}" type="slidenum">
              <a:rPr lang="ko-KR" altLang="en-US" smtClean="0"/>
              <a:t>48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8215236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4BA439-0FFE-7713-8D69-E0856B0478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0D507AA-8F1F-0065-8896-A02CAF51593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18B5BAA-9AF9-E5C5-777A-F1A96710C99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025B38E-CCAB-59F4-2265-14C0CE39ADF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183C86-FCDD-4CD4-A668-4DF0BEDE3EB5}" type="slidenum">
              <a:rPr lang="ko-KR" altLang="en-US" smtClean="0"/>
              <a:t>49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5508822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B3B71A-E805-510D-7EB3-0E745A11F7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912A8B1-7D6F-A0F2-BE33-4E4DFA4922D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7C9F92C-E302-2E74-0A6A-E643E83FAE6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DC7F319-BA98-5F65-783B-3CB72AA4307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183C86-FCDD-4CD4-A668-4DF0BEDE3EB5}" type="slidenum">
              <a:rPr lang="ko-KR" altLang="en-US" smtClean="0"/>
              <a:t>50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1718317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183C86-FCDD-4CD4-A668-4DF0BEDE3EB5}" type="slidenum">
              <a:rPr lang="ko-KR" altLang="en-US" smtClean="0"/>
              <a:t>52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9208369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9AB1E38-39C7-48C4-086A-B6EF68CA50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EE913856-496C-B1A2-D9C8-F0B2113C592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8D845EA-812B-B94C-5F91-4538C5B0842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32C56F-BD27-4999-9E6D-D4EACE3DA9F4}" type="datetime1">
              <a:rPr lang="ko-KR" altLang="en-US" smtClean="0"/>
              <a:t>2026-06-02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127CC3D-4E75-B1F8-2261-C9EEA1AA9C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BF1B240-7572-2884-ADF8-CC4D01D436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18352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86E21D-82E6-C9AF-A630-9F90B75413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B394455-1CD5-40DD-A267-639381E294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A468D34-B903-2F96-71AD-0A335A08665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6B83F9E-22C9-45CA-9E85-070F1D3EF530}" type="datetime1">
              <a:rPr lang="ko-KR" altLang="en-US" smtClean="0"/>
              <a:t>2026-06-02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F736989-7205-0872-8F94-F68B3387B3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80E82D4-4058-837B-0186-DF1F17F36C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379370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E35CB0-2E64-7E17-7F11-3E336F1ABC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2D50A24-08A9-B9E0-2E86-A56A1D9E74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D0B33A9-AC09-8991-549A-226E174EB90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3278F45-FB3C-4C4D-B89A-7BC3F5F229F6}" type="datetime1">
              <a:rPr lang="ko-KR" altLang="en-US" smtClean="0"/>
              <a:t>2026-06-02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9A77B79-B6C6-4181-A645-4655A0A56B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D7EF39A-AD25-8789-D43C-8EA119BB94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824554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자유형: 도형 5">
            <a:extLst>
              <a:ext uri="{FF2B5EF4-FFF2-40B4-BE49-F238E27FC236}">
                <a16:creationId xmlns:a16="http://schemas.microsoft.com/office/drawing/2014/main" id="{6B2B1356-24BE-84BC-4DC7-3DE366037E84}"/>
              </a:ext>
            </a:extLst>
          </p:cNvPr>
          <p:cNvSpPr/>
          <p:nvPr userDrawn="1"/>
        </p:nvSpPr>
        <p:spPr>
          <a:xfrm>
            <a:off x="832348" y="226088"/>
            <a:ext cx="11070092" cy="399644"/>
          </a:xfrm>
          <a:custGeom>
            <a:avLst/>
            <a:gdLst>
              <a:gd name="connsiteX0" fmla="*/ 66609 w 11133508"/>
              <a:gd name="connsiteY0" fmla="*/ 0 h 399644"/>
              <a:gd name="connsiteX1" fmla="*/ 11066899 w 11133508"/>
              <a:gd name="connsiteY1" fmla="*/ 0 h 399644"/>
              <a:gd name="connsiteX2" fmla="*/ 11133508 w 11133508"/>
              <a:gd name="connsiteY2" fmla="*/ 66609 h 399644"/>
              <a:gd name="connsiteX3" fmla="*/ 11133508 w 11133508"/>
              <a:gd name="connsiteY3" fmla="*/ 333035 h 399644"/>
              <a:gd name="connsiteX4" fmla="*/ 11066899 w 11133508"/>
              <a:gd name="connsiteY4" fmla="*/ 399644 h 399644"/>
              <a:gd name="connsiteX5" fmla="*/ 613523 w 11133508"/>
              <a:gd name="connsiteY5" fmla="*/ 399644 h 399644"/>
              <a:gd name="connsiteX6" fmla="*/ 516629 w 11133508"/>
              <a:gd name="connsiteY6" fmla="*/ 232586 h 399644"/>
              <a:gd name="connsiteX7" fmla="*/ 419736 w 11133508"/>
              <a:gd name="connsiteY7" fmla="*/ 399644 h 399644"/>
              <a:gd name="connsiteX8" fmla="*/ 66609 w 11133508"/>
              <a:gd name="connsiteY8" fmla="*/ 399644 h 399644"/>
              <a:gd name="connsiteX9" fmla="*/ 0 w 11133508"/>
              <a:gd name="connsiteY9" fmla="*/ 333035 h 399644"/>
              <a:gd name="connsiteX10" fmla="*/ 0 w 11133508"/>
              <a:gd name="connsiteY10" fmla="*/ 66609 h 399644"/>
              <a:gd name="connsiteX11" fmla="*/ 66609 w 11133508"/>
              <a:gd name="connsiteY11" fmla="*/ 0 h 399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133508" h="399644">
                <a:moveTo>
                  <a:pt x="66609" y="0"/>
                </a:moveTo>
                <a:lnTo>
                  <a:pt x="11066899" y="0"/>
                </a:lnTo>
                <a:cubicBezTo>
                  <a:pt x="11103686" y="0"/>
                  <a:pt x="11133508" y="29822"/>
                  <a:pt x="11133508" y="66609"/>
                </a:cubicBezTo>
                <a:lnTo>
                  <a:pt x="11133508" y="333035"/>
                </a:lnTo>
                <a:cubicBezTo>
                  <a:pt x="11133508" y="369822"/>
                  <a:pt x="11103686" y="399644"/>
                  <a:pt x="11066899" y="399644"/>
                </a:cubicBezTo>
                <a:lnTo>
                  <a:pt x="613523" y="399644"/>
                </a:lnTo>
                <a:lnTo>
                  <a:pt x="516629" y="232586"/>
                </a:lnTo>
                <a:lnTo>
                  <a:pt x="419736" y="399644"/>
                </a:lnTo>
                <a:lnTo>
                  <a:pt x="66609" y="399644"/>
                </a:lnTo>
                <a:cubicBezTo>
                  <a:pt x="29822" y="399644"/>
                  <a:pt x="0" y="369822"/>
                  <a:pt x="0" y="333035"/>
                </a:cubicBezTo>
                <a:lnTo>
                  <a:pt x="0" y="66609"/>
                </a:lnTo>
                <a:cubicBezTo>
                  <a:pt x="0" y="29822"/>
                  <a:pt x="29822" y="0"/>
                  <a:pt x="66609" y="0"/>
                </a:cubicBezTo>
                <a:close/>
              </a:path>
            </a:pathLst>
          </a:custGeom>
          <a:solidFill>
            <a:schemeClr val="bg1"/>
          </a:solidFill>
          <a:ln w="92075" cap="rnd">
            <a:solidFill>
              <a:schemeClr val="bg1"/>
            </a:solidFill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17462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603500" algn="l"/>
              </a:tabLst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0F930236-B5C8-D9A4-EA14-40915FCDBA70}"/>
              </a:ext>
            </a:extLst>
          </p:cNvPr>
          <p:cNvSpPr/>
          <p:nvPr userDrawn="1"/>
        </p:nvSpPr>
        <p:spPr>
          <a:xfrm>
            <a:off x="1037626" y="520066"/>
            <a:ext cx="635786" cy="15784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8374F9DA-878E-E86E-075B-62CFB99FBDF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38FDAC3C-35A6-415C-9F03-738A6AC328B1}" type="datetime1">
              <a:rPr lang="ko-KR" altLang="en-US" smtClean="0"/>
              <a:t>2026-06-02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E7EE000A-EE22-ABA9-FA89-DA9EA0B9A9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B5EA1F0-774A-3104-2C40-0915864269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5" name="그림 4" descr="상징, 원, 로고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4F494D8-0B43-4288-8718-B3CEFA70206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50" y="173911"/>
            <a:ext cx="503999" cy="503999"/>
          </a:xfrm>
          <a:prstGeom prst="rect">
            <a:avLst/>
          </a:prstGeom>
        </p:spPr>
      </p:pic>
      <p:grpSp>
        <p:nvGrpSpPr>
          <p:cNvPr id="7" name="그룹 6">
            <a:extLst>
              <a:ext uri="{FF2B5EF4-FFF2-40B4-BE49-F238E27FC236}">
                <a16:creationId xmlns:a16="http://schemas.microsoft.com/office/drawing/2014/main" id="{965ECDD4-C7AB-0780-5C56-AF0432547CDE}"/>
              </a:ext>
            </a:extLst>
          </p:cNvPr>
          <p:cNvGrpSpPr/>
          <p:nvPr userDrawn="1"/>
        </p:nvGrpSpPr>
        <p:grpSpPr>
          <a:xfrm>
            <a:off x="965438" y="334122"/>
            <a:ext cx="36002" cy="185944"/>
            <a:chOff x="398695" y="310309"/>
            <a:chExt cx="36002" cy="185944"/>
          </a:xfrm>
        </p:grpSpPr>
        <p:sp>
          <p:nvSpPr>
            <p:cNvPr id="8" name="타원 7">
              <a:extLst>
                <a:ext uri="{FF2B5EF4-FFF2-40B4-BE49-F238E27FC236}">
                  <a16:creationId xmlns:a16="http://schemas.microsoft.com/office/drawing/2014/main" id="{ED730A23-15D1-AC6C-BF3C-193DD65B5ED2}"/>
                </a:ext>
              </a:extLst>
            </p:cNvPr>
            <p:cNvSpPr/>
            <p:nvPr/>
          </p:nvSpPr>
          <p:spPr>
            <a:xfrm>
              <a:off x="398697" y="310309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9A8DF95E-63D4-C269-1A9E-58D5FB253590}"/>
                </a:ext>
              </a:extLst>
            </p:cNvPr>
            <p:cNvSpPr/>
            <p:nvPr/>
          </p:nvSpPr>
          <p:spPr>
            <a:xfrm>
              <a:off x="398696" y="385281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592BD15F-E509-254C-B07E-B9BE6F1576B5}"/>
                </a:ext>
              </a:extLst>
            </p:cNvPr>
            <p:cNvSpPr/>
            <p:nvPr/>
          </p:nvSpPr>
          <p:spPr>
            <a:xfrm>
              <a:off x="398695" y="460253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11" name="Freeform 9">
            <a:extLst>
              <a:ext uri="{FF2B5EF4-FFF2-40B4-BE49-F238E27FC236}">
                <a16:creationId xmlns:a16="http://schemas.microsoft.com/office/drawing/2014/main" id="{47220B64-BDC8-944A-0E1A-C71EB0647CDA}"/>
              </a:ext>
            </a:extLst>
          </p:cNvPr>
          <p:cNvSpPr>
            <a:spLocks/>
          </p:cNvSpPr>
          <p:nvPr userDrawn="1"/>
        </p:nvSpPr>
        <p:spPr bwMode="auto">
          <a:xfrm>
            <a:off x="11662598" y="370122"/>
            <a:ext cx="106877" cy="141044"/>
          </a:xfrm>
          <a:custGeom>
            <a:avLst/>
            <a:gdLst>
              <a:gd name="T0" fmla="*/ 1093 w 9310"/>
              <a:gd name="T1" fmla="*/ 12245 h 12286"/>
              <a:gd name="T2" fmla="*/ 582 w 9310"/>
              <a:gd name="T3" fmla="*/ 12007 h 12286"/>
              <a:gd name="T4" fmla="*/ 279 w 9310"/>
              <a:gd name="T5" fmla="*/ 11710 h 12286"/>
              <a:gd name="T6" fmla="*/ 42 w 9310"/>
              <a:gd name="T7" fmla="*/ 11209 h 12286"/>
              <a:gd name="T8" fmla="*/ 0 w 9310"/>
              <a:gd name="T9" fmla="*/ 1919 h 12286"/>
              <a:gd name="T10" fmla="*/ 117 w 9310"/>
              <a:gd name="T11" fmla="*/ 1260 h 12286"/>
              <a:gd name="T12" fmla="*/ 498 w 9310"/>
              <a:gd name="T13" fmla="*/ 629 h 12286"/>
              <a:gd name="T14" fmla="*/ 1088 w 9310"/>
              <a:gd name="T15" fmla="*/ 189 h 12286"/>
              <a:gd name="T16" fmla="*/ 1821 w 9310"/>
              <a:gd name="T17" fmla="*/ 1 h 12286"/>
              <a:gd name="T18" fmla="*/ 7682 w 9310"/>
              <a:gd name="T19" fmla="*/ 22 h 12286"/>
              <a:gd name="T20" fmla="*/ 8385 w 9310"/>
              <a:gd name="T21" fmla="*/ 278 h 12286"/>
              <a:gd name="T22" fmla="*/ 8929 w 9310"/>
              <a:gd name="T23" fmla="*/ 772 h 12286"/>
              <a:gd name="T24" fmla="*/ 9250 w 9310"/>
              <a:gd name="T25" fmla="*/ 1440 h 12286"/>
              <a:gd name="T26" fmla="*/ 9310 w 9310"/>
              <a:gd name="T27" fmla="*/ 8471 h 12286"/>
              <a:gd name="T28" fmla="*/ 9201 w 9310"/>
              <a:gd name="T29" fmla="*/ 8777 h 12286"/>
              <a:gd name="T30" fmla="*/ 8880 w 9310"/>
              <a:gd name="T31" fmla="*/ 8949 h 12286"/>
              <a:gd name="T32" fmla="*/ 8601 w 9310"/>
              <a:gd name="T33" fmla="*/ 8894 h 12286"/>
              <a:gd name="T34" fmla="*/ 8370 w 9310"/>
              <a:gd name="T35" fmla="*/ 8615 h 12286"/>
              <a:gd name="T36" fmla="*/ 8349 w 9310"/>
              <a:gd name="T37" fmla="*/ 1870 h 12286"/>
              <a:gd name="T38" fmla="*/ 8255 w 9310"/>
              <a:gd name="T39" fmla="*/ 1503 h 12286"/>
              <a:gd name="T40" fmla="*/ 8035 w 9310"/>
              <a:gd name="T41" fmla="*/ 1209 h 12286"/>
              <a:gd name="T42" fmla="*/ 7720 w 9310"/>
              <a:gd name="T43" fmla="*/ 1018 h 12286"/>
              <a:gd name="T44" fmla="*/ 7390 w 9310"/>
              <a:gd name="T45" fmla="*/ 960 h 12286"/>
              <a:gd name="T46" fmla="*/ 1680 w 9310"/>
              <a:gd name="T47" fmla="*/ 989 h 12286"/>
              <a:gd name="T48" fmla="*/ 1346 w 9310"/>
              <a:gd name="T49" fmla="*/ 1150 h 12286"/>
              <a:gd name="T50" fmla="*/ 1098 w 9310"/>
              <a:gd name="T51" fmla="*/ 1423 h 12286"/>
              <a:gd name="T52" fmla="*/ 970 w 9310"/>
              <a:gd name="T53" fmla="*/ 1774 h 12286"/>
              <a:gd name="T54" fmla="*/ 962 w 9310"/>
              <a:gd name="T55" fmla="*/ 10904 h 12286"/>
              <a:gd name="T56" fmla="*/ 1091 w 9310"/>
              <a:gd name="T57" fmla="*/ 11185 h 12286"/>
              <a:gd name="T58" fmla="*/ 1405 w 9310"/>
              <a:gd name="T59" fmla="*/ 11326 h 12286"/>
              <a:gd name="T60" fmla="*/ 1677 w 9310"/>
              <a:gd name="T61" fmla="*/ 11273 h 12286"/>
              <a:gd name="T62" fmla="*/ 4346 w 9310"/>
              <a:gd name="T63" fmla="*/ 8559 h 12286"/>
              <a:gd name="T64" fmla="*/ 4655 w 9310"/>
              <a:gd name="T65" fmla="*/ 8448 h 12286"/>
              <a:gd name="T66" fmla="*/ 4964 w 9310"/>
              <a:gd name="T67" fmla="*/ 8559 h 12286"/>
              <a:gd name="T68" fmla="*/ 7633 w 9310"/>
              <a:gd name="T69" fmla="*/ 11273 h 12286"/>
              <a:gd name="T70" fmla="*/ 7902 w 9310"/>
              <a:gd name="T71" fmla="*/ 11326 h 12286"/>
              <a:gd name="T72" fmla="*/ 8215 w 9310"/>
              <a:gd name="T73" fmla="*/ 11182 h 12286"/>
              <a:gd name="T74" fmla="*/ 8349 w 9310"/>
              <a:gd name="T75" fmla="*/ 10897 h 12286"/>
              <a:gd name="T76" fmla="*/ 8408 w 9310"/>
              <a:gd name="T77" fmla="*/ 10618 h 12286"/>
              <a:gd name="T78" fmla="*/ 8687 w 9310"/>
              <a:gd name="T79" fmla="*/ 10387 h 12286"/>
              <a:gd name="T80" fmla="*/ 8974 w 9310"/>
              <a:gd name="T81" fmla="*/ 10387 h 12286"/>
              <a:gd name="T82" fmla="*/ 9253 w 9310"/>
              <a:gd name="T83" fmla="*/ 10618 h 12286"/>
              <a:gd name="T84" fmla="*/ 9309 w 9310"/>
              <a:gd name="T85" fmla="*/ 10920 h 12286"/>
              <a:gd name="T86" fmla="*/ 9174 w 9310"/>
              <a:gd name="T87" fmla="*/ 11466 h 12286"/>
              <a:gd name="T88" fmla="*/ 8890 w 9310"/>
              <a:gd name="T89" fmla="*/ 11865 h 12286"/>
              <a:gd name="T90" fmla="*/ 8474 w 9310"/>
              <a:gd name="T91" fmla="*/ 12151 h 12286"/>
              <a:gd name="T92" fmla="*/ 7913 w 9310"/>
              <a:gd name="T93" fmla="*/ 12286 h 12286"/>
              <a:gd name="T94" fmla="*/ 7489 w 9310"/>
              <a:gd name="T95" fmla="*/ 12242 h 12286"/>
              <a:gd name="T96" fmla="*/ 6997 w 9310"/>
              <a:gd name="T97" fmla="*/ 12001 h 12286"/>
              <a:gd name="T98" fmla="*/ 2472 w 9310"/>
              <a:gd name="T99" fmla="*/ 11859 h 12286"/>
              <a:gd name="T100" fmla="*/ 2080 w 9310"/>
              <a:gd name="T101" fmla="*/ 12145 h 12286"/>
              <a:gd name="T102" fmla="*/ 1545 w 9310"/>
              <a:gd name="T103" fmla="*/ 12285 h 122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9310" h="12286">
                <a:moveTo>
                  <a:pt x="1447" y="12286"/>
                </a:moveTo>
                <a:lnTo>
                  <a:pt x="1375" y="12286"/>
                </a:lnTo>
                <a:lnTo>
                  <a:pt x="1232" y="12272"/>
                </a:lnTo>
                <a:lnTo>
                  <a:pt x="1093" y="12245"/>
                </a:lnTo>
                <a:lnTo>
                  <a:pt x="957" y="12203"/>
                </a:lnTo>
                <a:lnTo>
                  <a:pt x="826" y="12150"/>
                </a:lnTo>
                <a:lnTo>
                  <a:pt x="700" y="12085"/>
                </a:lnTo>
                <a:lnTo>
                  <a:pt x="582" y="12007"/>
                </a:lnTo>
                <a:lnTo>
                  <a:pt x="471" y="11918"/>
                </a:lnTo>
                <a:lnTo>
                  <a:pt x="419" y="11869"/>
                </a:lnTo>
                <a:lnTo>
                  <a:pt x="370" y="11818"/>
                </a:lnTo>
                <a:lnTo>
                  <a:pt x="279" y="11710"/>
                </a:lnTo>
                <a:lnTo>
                  <a:pt x="202" y="11595"/>
                </a:lnTo>
                <a:lnTo>
                  <a:pt x="135" y="11471"/>
                </a:lnTo>
                <a:lnTo>
                  <a:pt x="82" y="11343"/>
                </a:lnTo>
                <a:lnTo>
                  <a:pt x="42" y="11209"/>
                </a:lnTo>
                <a:lnTo>
                  <a:pt x="14" y="11070"/>
                </a:lnTo>
                <a:lnTo>
                  <a:pt x="1" y="10927"/>
                </a:lnTo>
                <a:lnTo>
                  <a:pt x="0" y="10855"/>
                </a:lnTo>
                <a:lnTo>
                  <a:pt x="0" y="1919"/>
                </a:lnTo>
                <a:lnTo>
                  <a:pt x="1" y="1821"/>
                </a:lnTo>
                <a:lnTo>
                  <a:pt x="22" y="1627"/>
                </a:lnTo>
                <a:lnTo>
                  <a:pt x="60" y="1440"/>
                </a:lnTo>
                <a:lnTo>
                  <a:pt x="117" y="1260"/>
                </a:lnTo>
                <a:lnTo>
                  <a:pt x="189" y="1089"/>
                </a:lnTo>
                <a:lnTo>
                  <a:pt x="278" y="924"/>
                </a:lnTo>
                <a:lnTo>
                  <a:pt x="382" y="772"/>
                </a:lnTo>
                <a:lnTo>
                  <a:pt x="498" y="629"/>
                </a:lnTo>
                <a:lnTo>
                  <a:pt x="629" y="498"/>
                </a:lnTo>
                <a:lnTo>
                  <a:pt x="772" y="382"/>
                </a:lnTo>
                <a:lnTo>
                  <a:pt x="924" y="278"/>
                </a:lnTo>
                <a:lnTo>
                  <a:pt x="1088" y="189"/>
                </a:lnTo>
                <a:lnTo>
                  <a:pt x="1260" y="117"/>
                </a:lnTo>
                <a:lnTo>
                  <a:pt x="1440" y="60"/>
                </a:lnTo>
                <a:lnTo>
                  <a:pt x="1627" y="22"/>
                </a:lnTo>
                <a:lnTo>
                  <a:pt x="1821" y="1"/>
                </a:lnTo>
                <a:lnTo>
                  <a:pt x="1919" y="0"/>
                </a:lnTo>
                <a:lnTo>
                  <a:pt x="7390" y="0"/>
                </a:lnTo>
                <a:lnTo>
                  <a:pt x="7489" y="1"/>
                </a:lnTo>
                <a:lnTo>
                  <a:pt x="7682" y="22"/>
                </a:lnTo>
                <a:lnTo>
                  <a:pt x="7869" y="60"/>
                </a:lnTo>
                <a:lnTo>
                  <a:pt x="8049" y="117"/>
                </a:lnTo>
                <a:lnTo>
                  <a:pt x="8222" y="189"/>
                </a:lnTo>
                <a:lnTo>
                  <a:pt x="8385" y="278"/>
                </a:lnTo>
                <a:lnTo>
                  <a:pt x="8539" y="382"/>
                </a:lnTo>
                <a:lnTo>
                  <a:pt x="8681" y="498"/>
                </a:lnTo>
                <a:lnTo>
                  <a:pt x="8811" y="629"/>
                </a:lnTo>
                <a:lnTo>
                  <a:pt x="8929" y="772"/>
                </a:lnTo>
                <a:lnTo>
                  <a:pt x="9033" y="924"/>
                </a:lnTo>
                <a:lnTo>
                  <a:pt x="9120" y="1089"/>
                </a:lnTo>
                <a:lnTo>
                  <a:pt x="9194" y="1260"/>
                </a:lnTo>
                <a:lnTo>
                  <a:pt x="9250" y="1440"/>
                </a:lnTo>
                <a:lnTo>
                  <a:pt x="9289" y="1627"/>
                </a:lnTo>
                <a:lnTo>
                  <a:pt x="9308" y="1821"/>
                </a:lnTo>
                <a:lnTo>
                  <a:pt x="9310" y="1919"/>
                </a:lnTo>
                <a:lnTo>
                  <a:pt x="9310" y="8471"/>
                </a:lnTo>
                <a:lnTo>
                  <a:pt x="9308" y="8521"/>
                </a:lnTo>
                <a:lnTo>
                  <a:pt x="9289" y="8615"/>
                </a:lnTo>
                <a:lnTo>
                  <a:pt x="9253" y="8700"/>
                </a:lnTo>
                <a:lnTo>
                  <a:pt x="9201" y="8777"/>
                </a:lnTo>
                <a:lnTo>
                  <a:pt x="9136" y="8842"/>
                </a:lnTo>
                <a:lnTo>
                  <a:pt x="9058" y="8894"/>
                </a:lnTo>
                <a:lnTo>
                  <a:pt x="8974" y="8930"/>
                </a:lnTo>
                <a:lnTo>
                  <a:pt x="8880" y="8949"/>
                </a:lnTo>
                <a:lnTo>
                  <a:pt x="8830" y="8952"/>
                </a:lnTo>
                <a:lnTo>
                  <a:pt x="8781" y="8949"/>
                </a:lnTo>
                <a:lnTo>
                  <a:pt x="8687" y="8930"/>
                </a:lnTo>
                <a:lnTo>
                  <a:pt x="8601" y="8894"/>
                </a:lnTo>
                <a:lnTo>
                  <a:pt x="8524" y="8842"/>
                </a:lnTo>
                <a:lnTo>
                  <a:pt x="8460" y="8777"/>
                </a:lnTo>
                <a:lnTo>
                  <a:pt x="8408" y="8700"/>
                </a:lnTo>
                <a:lnTo>
                  <a:pt x="8370" y="8615"/>
                </a:lnTo>
                <a:lnTo>
                  <a:pt x="8352" y="8521"/>
                </a:lnTo>
                <a:lnTo>
                  <a:pt x="8350" y="8471"/>
                </a:lnTo>
                <a:lnTo>
                  <a:pt x="8350" y="1919"/>
                </a:lnTo>
                <a:lnTo>
                  <a:pt x="8349" y="1870"/>
                </a:lnTo>
                <a:lnTo>
                  <a:pt x="8340" y="1774"/>
                </a:lnTo>
                <a:lnTo>
                  <a:pt x="8320" y="1680"/>
                </a:lnTo>
                <a:lnTo>
                  <a:pt x="8293" y="1590"/>
                </a:lnTo>
                <a:lnTo>
                  <a:pt x="8255" y="1503"/>
                </a:lnTo>
                <a:lnTo>
                  <a:pt x="8211" y="1423"/>
                </a:lnTo>
                <a:lnTo>
                  <a:pt x="8160" y="1346"/>
                </a:lnTo>
                <a:lnTo>
                  <a:pt x="8101" y="1274"/>
                </a:lnTo>
                <a:lnTo>
                  <a:pt x="8035" y="1209"/>
                </a:lnTo>
                <a:lnTo>
                  <a:pt x="7964" y="1150"/>
                </a:lnTo>
                <a:lnTo>
                  <a:pt x="7888" y="1099"/>
                </a:lnTo>
                <a:lnTo>
                  <a:pt x="7806" y="1054"/>
                </a:lnTo>
                <a:lnTo>
                  <a:pt x="7720" y="1018"/>
                </a:lnTo>
                <a:lnTo>
                  <a:pt x="7630" y="989"/>
                </a:lnTo>
                <a:lnTo>
                  <a:pt x="7537" y="970"/>
                </a:lnTo>
                <a:lnTo>
                  <a:pt x="7440" y="960"/>
                </a:lnTo>
                <a:lnTo>
                  <a:pt x="7390" y="960"/>
                </a:lnTo>
                <a:lnTo>
                  <a:pt x="1919" y="960"/>
                </a:lnTo>
                <a:lnTo>
                  <a:pt x="1870" y="960"/>
                </a:lnTo>
                <a:lnTo>
                  <a:pt x="1774" y="970"/>
                </a:lnTo>
                <a:lnTo>
                  <a:pt x="1680" y="989"/>
                </a:lnTo>
                <a:lnTo>
                  <a:pt x="1589" y="1018"/>
                </a:lnTo>
                <a:lnTo>
                  <a:pt x="1503" y="1054"/>
                </a:lnTo>
                <a:lnTo>
                  <a:pt x="1422" y="1099"/>
                </a:lnTo>
                <a:lnTo>
                  <a:pt x="1346" y="1150"/>
                </a:lnTo>
                <a:lnTo>
                  <a:pt x="1274" y="1209"/>
                </a:lnTo>
                <a:lnTo>
                  <a:pt x="1209" y="1274"/>
                </a:lnTo>
                <a:lnTo>
                  <a:pt x="1150" y="1346"/>
                </a:lnTo>
                <a:lnTo>
                  <a:pt x="1098" y="1423"/>
                </a:lnTo>
                <a:lnTo>
                  <a:pt x="1054" y="1503"/>
                </a:lnTo>
                <a:lnTo>
                  <a:pt x="1018" y="1590"/>
                </a:lnTo>
                <a:lnTo>
                  <a:pt x="989" y="1680"/>
                </a:lnTo>
                <a:lnTo>
                  <a:pt x="970" y="1774"/>
                </a:lnTo>
                <a:lnTo>
                  <a:pt x="960" y="1870"/>
                </a:lnTo>
                <a:lnTo>
                  <a:pt x="960" y="1919"/>
                </a:lnTo>
                <a:lnTo>
                  <a:pt x="960" y="10855"/>
                </a:lnTo>
                <a:lnTo>
                  <a:pt x="962" y="10904"/>
                </a:lnTo>
                <a:lnTo>
                  <a:pt x="978" y="10995"/>
                </a:lnTo>
                <a:lnTo>
                  <a:pt x="1011" y="11078"/>
                </a:lnTo>
                <a:lnTo>
                  <a:pt x="1061" y="11152"/>
                </a:lnTo>
                <a:lnTo>
                  <a:pt x="1091" y="11185"/>
                </a:lnTo>
                <a:lnTo>
                  <a:pt x="1129" y="11218"/>
                </a:lnTo>
                <a:lnTo>
                  <a:pt x="1212" y="11271"/>
                </a:lnTo>
                <a:lnTo>
                  <a:pt x="1306" y="11307"/>
                </a:lnTo>
                <a:lnTo>
                  <a:pt x="1405" y="11326"/>
                </a:lnTo>
                <a:lnTo>
                  <a:pt x="1456" y="11327"/>
                </a:lnTo>
                <a:lnTo>
                  <a:pt x="1504" y="11325"/>
                </a:lnTo>
                <a:lnTo>
                  <a:pt x="1595" y="11307"/>
                </a:lnTo>
                <a:lnTo>
                  <a:pt x="1677" y="11273"/>
                </a:lnTo>
                <a:lnTo>
                  <a:pt x="1751" y="11222"/>
                </a:lnTo>
                <a:lnTo>
                  <a:pt x="1784" y="11191"/>
                </a:lnTo>
                <a:lnTo>
                  <a:pt x="4310" y="8592"/>
                </a:lnTo>
                <a:lnTo>
                  <a:pt x="4346" y="8559"/>
                </a:lnTo>
                <a:lnTo>
                  <a:pt x="4426" y="8505"/>
                </a:lnTo>
                <a:lnTo>
                  <a:pt x="4513" y="8468"/>
                </a:lnTo>
                <a:lnTo>
                  <a:pt x="4607" y="8449"/>
                </a:lnTo>
                <a:lnTo>
                  <a:pt x="4655" y="8448"/>
                </a:lnTo>
                <a:lnTo>
                  <a:pt x="4703" y="8449"/>
                </a:lnTo>
                <a:lnTo>
                  <a:pt x="4797" y="8468"/>
                </a:lnTo>
                <a:lnTo>
                  <a:pt x="4885" y="8505"/>
                </a:lnTo>
                <a:lnTo>
                  <a:pt x="4964" y="8559"/>
                </a:lnTo>
                <a:lnTo>
                  <a:pt x="4999" y="8592"/>
                </a:lnTo>
                <a:lnTo>
                  <a:pt x="7527" y="11191"/>
                </a:lnTo>
                <a:lnTo>
                  <a:pt x="7560" y="11222"/>
                </a:lnTo>
                <a:lnTo>
                  <a:pt x="7633" y="11273"/>
                </a:lnTo>
                <a:lnTo>
                  <a:pt x="7714" y="11307"/>
                </a:lnTo>
                <a:lnTo>
                  <a:pt x="7803" y="11325"/>
                </a:lnTo>
                <a:lnTo>
                  <a:pt x="7852" y="11327"/>
                </a:lnTo>
                <a:lnTo>
                  <a:pt x="7902" y="11326"/>
                </a:lnTo>
                <a:lnTo>
                  <a:pt x="8002" y="11306"/>
                </a:lnTo>
                <a:lnTo>
                  <a:pt x="8095" y="11270"/>
                </a:lnTo>
                <a:lnTo>
                  <a:pt x="8179" y="11215"/>
                </a:lnTo>
                <a:lnTo>
                  <a:pt x="8215" y="11182"/>
                </a:lnTo>
                <a:lnTo>
                  <a:pt x="8248" y="11148"/>
                </a:lnTo>
                <a:lnTo>
                  <a:pt x="8298" y="11073"/>
                </a:lnTo>
                <a:lnTo>
                  <a:pt x="8331" y="10989"/>
                </a:lnTo>
                <a:lnTo>
                  <a:pt x="8349" y="10897"/>
                </a:lnTo>
                <a:lnTo>
                  <a:pt x="8350" y="10847"/>
                </a:lnTo>
                <a:lnTo>
                  <a:pt x="8352" y="10798"/>
                </a:lnTo>
                <a:lnTo>
                  <a:pt x="8370" y="10704"/>
                </a:lnTo>
                <a:lnTo>
                  <a:pt x="8408" y="10618"/>
                </a:lnTo>
                <a:lnTo>
                  <a:pt x="8460" y="10541"/>
                </a:lnTo>
                <a:lnTo>
                  <a:pt x="8524" y="10477"/>
                </a:lnTo>
                <a:lnTo>
                  <a:pt x="8601" y="10425"/>
                </a:lnTo>
                <a:lnTo>
                  <a:pt x="8687" y="10387"/>
                </a:lnTo>
                <a:lnTo>
                  <a:pt x="8781" y="10369"/>
                </a:lnTo>
                <a:lnTo>
                  <a:pt x="8830" y="10367"/>
                </a:lnTo>
                <a:lnTo>
                  <a:pt x="8880" y="10369"/>
                </a:lnTo>
                <a:lnTo>
                  <a:pt x="8974" y="10387"/>
                </a:lnTo>
                <a:lnTo>
                  <a:pt x="9058" y="10425"/>
                </a:lnTo>
                <a:lnTo>
                  <a:pt x="9136" y="10477"/>
                </a:lnTo>
                <a:lnTo>
                  <a:pt x="9201" y="10541"/>
                </a:lnTo>
                <a:lnTo>
                  <a:pt x="9253" y="10618"/>
                </a:lnTo>
                <a:lnTo>
                  <a:pt x="9289" y="10704"/>
                </a:lnTo>
                <a:lnTo>
                  <a:pt x="9308" y="10798"/>
                </a:lnTo>
                <a:lnTo>
                  <a:pt x="9310" y="10847"/>
                </a:lnTo>
                <a:lnTo>
                  <a:pt x="9309" y="10920"/>
                </a:lnTo>
                <a:lnTo>
                  <a:pt x="9295" y="11063"/>
                </a:lnTo>
                <a:lnTo>
                  <a:pt x="9267" y="11202"/>
                </a:lnTo>
                <a:lnTo>
                  <a:pt x="9227" y="11336"/>
                </a:lnTo>
                <a:lnTo>
                  <a:pt x="9174" y="11466"/>
                </a:lnTo>
                <a:lnTo>
                  <a:pt x="9107" y="11588"/>
                </a:lnTo>
                <a:lnTo>
                  <a:pt x="9030" y="11705"/>
                </a:lnTo>
                <a:lnTo>
                  <a:pt x="8939" y="11814"/>
                </a:lnTo>
                <a:lnTo>
                  <a:pt x="8890" y="11865"/>
                </a:lnTo>
                <a:lnTo>
                  <a:pt x="8837" y="11915"/>
                </a:lnTo>
                <a:lnTo>
                  <a:pt x="8724" y="12006"/>
                </a:lnTo>
                <a:lnTo>
                  <a:pt x="8602" y="12085"/>
                </a:lnTo>
                <a:lnTo>
                  <a:pt x="8474" y="12151"/>
                </a:lnTo>
                <a:lnTo>
                  <a:pt x="8340" y="12206"/>
                </a:lnTo>
                <a:lnTo>
                  <a:pt x="8200" y="12246"/>
                </a:lnTo>
                <a:lnTo>
                  <a:pt x="8058" y="12273"/>
                </a:lnTo>
                <a:lnTo>
                  <a:pt x="7913" y="12286"/>
                </a:lnTo>
                <a:lnTo>
                  <a:pt x="7841" y="12286"/>
                </a:lnTo>
                <a:lnTo>
                  <a:pt x="7767" y="12285"/>
                </a:lnTo>
                <a:lnTo>
                  <a:pt x="7626" y="12269"/>
                </a:lnTo>
                <a:lnTo>
                  <a:pt x="7489" y="12242"/>
                </a:lnTo>
                <a:lnTo>
                  <a:pt x="7358" y="12200"/>
                </a:lnTo>
                <a:lnTo>
                  <a:pt x="7232" y="12147"/>
                </a:lnTo>
                <a:lnTo>
                  <a:pt x="7111" y="12079"/>
                </a:lnTo>
                <a:lnTo>
                  <a:pt x="6997" y="12001"/>
                </a:lnTo>
                <a:lnTo>
                  <a:pt x="6889" y="11911"/>
                </a:lnTo>
                <a:lnTo>
                  <a:pt x="6839" y="11859"/>
                </a:lnTo>
                <a:lnTo>
                  <a:pt x="4655" y="9615"/>
                </a:lnTo>
                <a:lnTo>
                  <a:pt x="2472" y="11859"/>
                </a:lnTo>
                <a:lnTo>
                  <a:pt x="2422" y="11909"/>
                </a:lnTo>
                <a:lnTo>
                  <a:pt x="2315" y="12000"/>
                </a:lnTo>
                <a:lnTo>
                  <a:pt x="2201" y="12079"/>
                </a:lnTo>
                <a:lnTo>
                  <a:pt x="2080" y="12145"/>
                </a:lnTo>
                <a:lnTo>
                  <a:pt x="1955" y="12199"/>
                </a:lnTo>
                <a:lnTo>
                  <a:pt x="1823" y="12240"/>
                </a:lnTo>
                <a:lnTo>
                  <a:pt x="1686" y="12269"/>
                </a:lnTo>
                <a:lnTo>
                  <a:pt x="1545" y="12285"/>
                </a:lnTo>
                <a:lnTo>
                  <a:pt x="1473" y="12286"/>
                </a:lnTo>
                <a:lnTo>
                  <a:pt x="1460" y="12286"/>
                </a:lnTo>
                <a:lnTo>
                  <a:pt x="1447" y="122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3" name="제목 개체 틀 1">
            <a:extLst>
              <a:ext uri="{FF2B5EF4-FFF2-40B4-BE49-F238E27FC236}">
                <a16:creationId xmlns:a16="http://schemas.microsoft.com/office/drawing/2014/main" id="{8C980597-6F00-BBCB-9829-8C1C97B25C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626" y="321093"/>
            <a:ext cx="10430212" cy="23353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ko-KR" altLang="en-US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9409982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FEEA165-3F0A-880B-9371-6CA4FC662C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C7F3832-D575-B192-C9E5-3F5F5AF820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2A0875B-5012-C4D4-34DD-64942B1EC8C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5E6234D-EC06-5E2E-B205-92424C1562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07A0DF1-AEE6-4B0D-89D2-351E7B3EF65C}" type="datetime1">
              <a:rPr lang="ko-KR" altLang="en-US" smtClean="0"/>
              <a:t>2026-06-02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06D4A64-BD06-1C65-8FEE-8AB7FC5A97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FEC033B-08C1-51C2-514D-21FE02EF1D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920930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94C80B3-2773-0186-7384-F0AD5CD4FE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F910DF1-53D0-7068-0730-1D1CCBC68F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2A78ACE-35BC-CE88-0216-E9051C73F5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8A81F8D8-0F51-47D0-BB1F-D8D9CC14030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E14E3C8-8748-5265-4FD0-09D2757103B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50C317E0-79A6-DDA2-6311-F5CA96E315E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A93B8C9-630F-4D57-944D-04FD37CECCD3}" type="datetime1">
              <a:rPr lang="ko-KR" altLang="en-US" smtClean="0"/>
              <a:t>2026-06-02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C64B9B9B-DE29-812B-D879-30570E55DE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781069FA-9B24-53DC-4E72-47AB792BD1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21801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87BEAC6-B210-057A-EDB2-6820333F56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1C77D0B3-A47C-9147-4B3A-92CAB4BE49C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986165A-AC43-4902-9541-874ECD310BA3}" type="datetime1">
              <a:rPr lang="ko-KR" altLang="en-US" smtClean="0"/>
              <a:t>2026-06-02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1131659-D086-7B2B-7BDA-2B7B4CA56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BA19E18-62FF-7A30-2F06-02E7580CA9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575045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DE71917-1F20-572F-E94C-A526C06852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07D9E8E-1032-5491-08E1-2F612B3EA0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5900DF7-AD67-D88E-48D9-88D790EC2D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9CD9FBF-F3FA-7658-7936-0D1A2FF02DF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7E6EE6D-2B0E-43A9-87A2-7354CDB998F4}" type="datetime1">
              <a:rPr lang="ko-KR" altLang="en-US" smtClean="0"/>
              <a:t>2026-06-02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5A39D0C-3288-26C9-1E44-0431F48984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B7CA71F-AE7D-1B55-21A0-1A87DCD4C6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591904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5D7F17-3594-D182-A5C0-437C03D88C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E04DF7D6-CE8D-00BB-75E2-3478943B7DE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5C66BC9-C6B7-805A-D64F-129BC272771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91EE813-70EE-6511-B077-F5126220657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CC5944E-0BC8-4FAA-9F94-6B4B05834E10}" type="datetime1">
              <a:rPr lang="ko-KR" altLang="en-US" smtClean="0"/>
              <a:t>2026-06-02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D1B9F22-5574-7ED4-D06B-C97AF0BD9C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4FEAF6C-BEDB-9F84-DFBC-95DABECC8F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78076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95EE7C2-4CFD-C1E6-3632-13EC3CAC61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19B1155-E241-263B-AF79-491CBDDA3B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B6A664C-62FC-AE91-4AEB-8FAEB493B89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8EF4A19C-72C8-45CA-8E3F-68A7FA345D6C}" type="datetime1">
              <a:rPr lang="ko-KR" altLang="en-US" smtClean="0"/>
              <a:t>2026-06-02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E9205B3-A98D-6C78-D6F4-825DDC6BBF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523C234-845E-B13B-0C99-9B2EEA171E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886265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68451ECF-85EC-C955-3B84-54453192B08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F7F4FAD-DE4B-C65A-B284-2FC60889FB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B65CBDD-200F-9431-F587-79B0E4721B4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6A175B2-010B-4341-954C-5F8F5C70B124}" type="datetime1">
              <a:rPr lang="ko-KR" altLang="en-US" smtClean="0"/>
              <a:t>2026-06-02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10C0058-AB3B-AC27-3514-3ABE595D3F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393A7CF-BE0B-8336-2308-D2D5924009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014727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7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그림 30" descr="상징, 원, 로고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6D4470C-5E69-55C1-270F-9A78C936D5EB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50" y="173911"/>
            <a:ext cx="503999" cy="503999"/>
          </a:xfrm>
          <a:prstGeom prst="rect">
            <a:avLst/>
          </a:prstGeom>
        </p:spPr>
      </p:pic>
      <p:sp>
        <p:nvSpPr>
          <p:cNvPr id="15" name="자유형: 도형 14">
            <a:extLst>
              <a:ext uri="{FF2B5EF4-FFF2-40B4-BE49-F238E27FC236}">
                <a16:creationId xmlns:a16="http://schemas.microsoft.com/office/drawing/2014/main" id="{B6D54C95-5DE1-BB83-7600-92BCFDA2E6BA}"/>
              </a:ext>
            </a:extLst>
          </p:cNvPr>
          <p:cNvSpPr/>
          <p:nvPr userDrawn="1"/>
        </p:nvSpPr>
        <p:spPr>
          <a:xfrm>
            <a:off x="832348" y="226088"/>
            <a:ext cx="11070092" cy="399644"/>
          </a:xfrm>
          <a:custGeom>
            <a:avLst/>
            <a:gdLst>
              <a:gd name="connsiteX0" fmla="*/ 66609 w 11133508"/>
              <a:gd name="connsiteY0" fmla="*/ 0 h 399644"/>
              <a:gd name="connsiteX1" fmla="*/ 11066899 w 11133508"/>
              <a:gd name="connsiteY1" fmla="*/ 0 h 399644"/>
              <a:gd name="connsiteX2" fmla="*/ 11133508 w 11133508"/>
              <a:gd name="connsiteY2" fmla="*/ 66609 h 399644"/>
              <a:gd name="connsiteX3" fmla="*/ 11133508 w 11133508"/>
              <a:gd name="connsiteY3" fmla="*/ 333035 h 399644"/>
              <a:gd name="connsiteX4" fmla="*/ 11066899 w 11133508"/>
              <a:gd name="connsiteY4" fmla="*/ 399644 h 399644"/>
              <a:gd name="connsiteX5" fmla="*/ 613523 w 11133508"/>
              <a:gd name="connsiteY5" fmla="*/ 399644 h 399644"/>
              <a:gd name="connsiteX6" fmla="*/ 516629 w 11133508"/>
              <a:gd name="connsiteY6" fmla="*/ 232586 h 399644"/>
              <a:gd name="connsiteX7" fmla="*/ 419736 w 11133508"/>
              <a:gd name="connsiteY7" fmla="*/ 399644 h 399644"/>
              <a:gd name="connsiteX8" fmla="*/ 66609 w 11133508"/>
              <a:gd name="connsiteY8" fmla="*/ 399644 h 399644"/>
              <a:gd name="connsiteX9" fmla="*/ 0 w 11133508"/>
              <a:gd name="connsiteY9" fmla="*/ 333035 h 399644"/>
              <a:gd name="connsiteX10" fmla="*/ 0 w 11133508"/>
              <a:gd name="connsiteY10" fmla="*/ 66609 h 399644"/>
              <a:gd name="connsiteX11" fmla="*/ 66609 w 11133508"/>
              <a:gd name="connsiteY11" fmla="*/ 0 h 399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133508" h="399644">
                <a:moveTo>
                  <a:pt x="66609" y="0"/>
                </a:moveTo>
                <a:lnTo>
                  <a:pt x="11066899" y="0"/>
                </a:lnTo>
                <a:cubicBezTo>
                  <a:pt x="11103686" y="0"/>
                  <a:pt x="11133508" y="29822"/>
                  <a:pt x="11133508" y="66609"/>
                </a:cubicBezTo>
                <a:lnTo>
                  <a:pt x="11133508" y="333035"/>
                </a:lnTo>
                <a:cubicBezTo>
                  <a:pt x="11133508" y="369822"/>
                  <a:pt x="11103686" y="399644"/>
                  <a:pt x="11066899" y="399644"/>
                </a:cubicBezTo>
                <a:lnTo>
                  <a:pt x="613523" y="399644"/>
                </a:lnTo>
                <a:lnTo>
                  <a:pt x="516629" y="232586"/>
                </a:lnTo>
                <a:lnTo>
                  <a:pt x="419736" y="399644"/>
                </a:lnTo>
                <a:lnTo>
                  <a:pt x="66609" y="399644"/>
                </a:lnTo>
                <a:cubicBezTo>
                  <a:pt x="29822" y="399644"/>
                  <a:pt x="0" y="369822"/>
                  <a:pt x="0" y="333035"/>
                </a:cubicBezTo>
                <a:lnTo>
                  <a:pt x="0" y="66609"/>
                </a:lnTo>
                <a:cubicBezTo>
                  <a:pt x="0" y="29822"/>
                  <a:pt x="29822" y="0"/>
                  <a:pt x="66609" y="0"/>
                </a:cubicBezTo>
                <a:close/>
              </a:path>
            </a:pathLst>
          </a:custGeom>
          <a:solidFill>
            <a:schemeClr val="bg1"/>
          </a:solidFill>
          <a:ln w="92075" cap="rnd">
            <a:solidFill>
              <a:schemeClr val="bg1"/>
            </a:solidFill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17462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603500" algn="l"/>
              </a:tabLst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3D9701EA-CA45-03D3-8629-CACB976B13C7}"/>
              </a:ext>
            </a:extLst>
          </p:cNvPr>
          <p:cNvGrpSpPr/>
          <p:nvPr userDrawn="1"/>
        </p:nvGrpSpPr>
        <p:grpSpPr>
          <a:xfrm>
            <a:off x="965438" y="334122"/>
            <a:ext cx="36002" cy="185944"/>
            <a:chOff x="398695" y="310309"/>
            <a:chExt cx="36002" cy="185944"/>
          </a:xfrm>
        </p:grpSpPr>
        <p:sp>
          <p:nvSpPr>
            <p:cNvPr id="17" name="타원 16">
              <a:extLst>
                <a:ext uri="{FF2B5EF4-FFF2-40B4-BE49-F238E27FC236}">
                  <a16:creationId xmlns:a16="http://schemas.microsoft.com/office/drawing/2014/main" id="{41659905-6BB4-F77A-C4B2-CD01EE50E9A3}"/>
                </a:ext>
              </a:extLst>
            </p:cNvPr>
            <p:cNvSpPr/>
            <p:nvPr/>
          </p:nvSpPr>
          <p:spPr>
            <a:xfrm>
              <a:off x="398697" y="310309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8" name="타원 17">
              <a:extLst>
                <a:ext uri="{FF2B5EF4-FFF2-40B4-BE49-F238E27FC236}">
                  <a16:creationId xmlns:a16="http://schemas.microsoft.com/office/drawing/2014/main" id="{56276BA2-601C-3FB1-B544-5F1FB3A4C59F}"/>
                </a:ext>
              </a:extLst>
            </p:cNvPr>
            <p:cNvSpPr/>
            <p:nvPr/>
          </p:nvSpPr>
          <p:spPr>
            <a:xfrm>
              <a:off x="398696" y="385281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9" name="타원 18">
              <a:extLst>
                <a:ext uri="{FF2B5EF4-FFF2-40B4-BE49-F238E27FC236}">
                  <a16:creationId xmlns:a16="http://schemas.microsoft.com/office/drawing/2014/main" id="{6E75D259-5225-4C37-ABC2-39DA372499A1}"/>
                </a:ext>
              </a:extLst>
            </p:cNvPr>
            <p:cNvSpPr/>
            <p:nvPr/>
          </p:nvSpPr>
          <p:spPr>
            <a:xfrm>
              <a:off x="398695" y="460253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21" name="Freeform 9">
            <a:extLst>
              <a:ext uri="{FF2B5EF4-FFF2-40B4-BE49-F238E27FC236}">
                <a16:creationId xmlns:a16="http://schemas.microsoft.com/office/drawing/2014/main" id="{6514361D-8169-AF24-F568-2B5FC5AD42A2}"/>
              </a:ext>
            </a:extLst>
          </p:cNvPr>
          <p:cNvSpPr>
            <a:spLocks/>
          </p:cNvSpPr>
          <p:nvPr userDrawn="1"/>
        </p:nvSpPr>
        <p:spPr bwMode="auto">
          <a:xfrm>
            <a:off x="11662598" y="370122"/>
            <a:ext cx="106877" cy="141044"/>
          </a:xfrm>
          <a:custGeom>
            <a:avLst/>
            <a:gdLst>
              <a:gd name="T0" fmla="*/ 1093 w 9310"/>
              <a:gd name="T1" fmla="*/ 12245 h 12286"/>
              <a:gd name="T2" fmla="*/ 582 w 9310"/>
              <a:gd name="T3" fmla="*/ 12007 h 12286"/>
              <a:gd name="T4" fmla="*/ 279 w 9310"/>
              <a:gd name="T5" fmla="*/ 11710 h 12286"/>
              <a:gd name="T6" fmla="*/ 42 w 9310"/>
              <a:gd name="T7" fmla="*/ 11209 h 12286"/>
              <a:gd name="T8" fmla="*/ 0 w 9310"/>
              <a:gd name="T9" fmla="*/ 1919 h 12286"/>
              <a:gd name="T10" fmla="*/ 117 w 9310"/>
              <a:gd name="T11" fmla="*/ 1260 h 12286"/>
              <a:gd name="T12" fmla="*/ 498 w 9310"/>
              <a:gd name="T13" fmla="*/ 629 h 12286"/>
              <a:gd name="T14" fmla="*/ 1088 w 9310"/>
              <a:gd name="T15" fmla="*/ 189 h 12286"/>
              <a:gd name="T16" fmla="*/ 1821 w 9310"/>
              <a:gd name="T17" fmla="*/ 1 h 12286"/>
              <a:gd name="T18" fmla="*/ 7682 w 9310"/>
              <a:gd name="T19" fmla="*/ 22 h 12286"/>
              <a:gd name="T20" fmla="*/ 8385 w 9310"/>
              <a:gd name="T21" fmla="*/ 278 h 12286"/>
              <a:gd name="T22" fmla="*/ 8929 w 9310"/>
              <a:gd name="T23" fmla="*/ 772 h 12286"/>
              <a:gd name="T24" fmla="*/ 9250 w 9310"/>
              <a:gd name="T25" fmla="*/ 1440 h 12286"/>
              <a:gd name="T26" fmla="*/ 9310 w 9310"/>
              <a:gd name="T27" fmla="*/ 8471 h 12286"/>
              <a:gd name="T28" fmla="*/ 9201 w 9310"/>
              <a:gd name="T29" fmla="*/ 8777 h 12286"/>
              <a:gd name="T30" fmla="*/ 8880 w 9310"/>
              <a:gd name="T31" fmla="*/ 8949 h 12286"/>
              <a:gd name="T32" fmla="*/ 8601 w 9310"/>
              <a:gd name="T33" fmla="*/ 8894 h 12286"/>
              <a:gd name="T34" fmla="*/ 8370 w 9310"/>
              <a:gd name="T35" fmla="*/ 8615 h 12286"/>
              <a:gd name="T36" fmla="*/ 8349 w 9310"/>
              <a:gd name="T37" fmla="*/ 1870 h 12286"/>
              <a:gd name="T38" fmla="*/ 8255 w 9310"/>
              <a:gd name="T39" fmla="*/ 1503 h 12286"/>
              <a:gd name="T40" fmla="*/ 8035 w 9310"/>
              <a:gd name="T41" fmla="*/ 1209 h 12286"/>
              <a:gd name="T42" fmla="*/ 7720 w 9310"/>
              <a:gd name="T43" fmla="*/ 1018 h 12286"/>
              <a:gd name="T44" fmla="*/ 7390 w 9310"/>
              <a:gd name="T45" fmla="*/ 960 h 12286"/>
              <a:gd name="T46" fmla="*/ 1680 w 9310"/>
              <a:gd name="T47" fmla="*/ 989 h 12286"/>
              <a:gd name="T48" fmla="*/ 1346 w 9310"/>
              <a:gd name="T49" fmla="*/ 1150 h 12286"/>
              <a:gd name="T50" fmla="*/ 1098 w 9310"/>
              <a:gd name="T51" fmla="*/ 1423 h 12286"/>
              <a:gd name="T52" fmla="*/ 970 w 9310"/>
              <a:gd name="T53" fmla="*/ 1774 h 12286"/>
              <a:gd name="T54" fmla="*/ 962 w 9310"/>
              <a:gd name="T55" fmla="*/ 10904 h 12286"/>
              <a:gd name="T56" fmla="*/ 1091 w 9310"/>
              <a:gd name="T57" fmla="*/ 11185 h 12286"/>
              <a:gd name="T58" fmla="*/ 1405 w 9310"/>
              <a:gd name="T59" fmla="*/ 11326 h 12286"/>
              <a:gd name="T60" fmla="*/ 1677 w 9310"/>
              <a:gd name="T61" fmla="*/ 11273 h 12286"/>
              <a:gd name="T62" fmla="*/ 4346 w 9310"/>
              <a:gd name="T63" fmla="*/ 8559 h 12286"/>
              <a:gd name="T64" fmla="*/ 4655 w 9310"/>
              <a:gd name="T65" fmla="*/ 8448 h 12286"/>
              <a:gd name="T66" fmla="*/ 4964 w 9310"/>
              <a:gd name="T67" fmla="*/ 8559 h 12286"/>
              <a:gd name="T68" fmla="*/ 7633 w 9310"/>
              <a:gd name="T69" fmla="*/ 11273 h 12286"/>
              <a:gd name="T70" fmla="*/ 7902 w 9310"/>
              <a:gd name="T71" fmla="*/ 11326 h 12286"/>
              <a:gd name="T72" fmla="*/ 8215 w 9310"/>
              <a:gd name="T73" fmla="*/ 11182 h 12286"/>
              <a:gd name="T74" fmla="*/ 8349 w 9310"/>
              <a:gd name="T75" fmla="*/ 10897 h 12286"/>
              <a:gd name="T76" fmla="*/ 8408 w 9310"/>
              <a:gd name="T77" fmla="*/ 10618 h 12286"/>
              <a:gd name="T78" fmla="*/ 8687 w 9310"/>
              <a:gd name="T79" fmla="*/ 10387 h 12286"/>
              <a:gd name="T80" fmla="*/ 8974 w 9310"/>
              <a:gd name="T81" fmla="*/ 10387 h 12286"/>
              <a:gd name="T82" fmla="*/ 9253 w 9310"/>
              <a:gd name="T83" fmla="*/ 10618 h 12286"/>
              <a:gd name="T84" fmla="*/ 9309 w 9310"/>
              <a:gd name="T85" fmla="*/ 10920 h 12286"/>
              <a:gd name="T86" fmla="*/ 9174 w 9310"/>
              <a:gd name="T87" fmla="*/ 11466 h 12286"/>
              <a:gd name="T88" fmla="*/ 8890 w 9310"/>
              <a:gd name="T89" fmla="*/ 11865 h 12286"/>
              <a:gd name="T90" fmla="*/ 8474 w 9310"/>
              <a:gd name="T91" fmla="*/ 12151 h 12286"/>
              <a:gd name="T92" fmla="*/ 7913 w 9310"/>
              <a:gd name="T93" fmla="*/ 12286 h 12286"/>
              <a:gd name="T94" fmla="*/ 7489 w 9310"/>
              <a:gd name="T95" fmla="*/ 12242 h 12286"/>
              <a:gd name="T96" fmla="*/ 6997 w 9310"/>
              <a:gd name="T97" fmla="*/ 12001 h 12286"/>
              <a:gd name="T98" fmla="*/ 2472 w 9310"/>
              <a:gd name="T99" fmla="*/ 11859 h 12286"/>
              <a:gd name="T100" fmla="*/ 2080 w 9310"/>
              <a:gd name="T101" fmla="*/ 12145 h 12286"/>
              <a:gd name="T102" fmla="*/ 1545 w 9310"/>
              <a:gd name="T103" fmla="*/ 12285 h 122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9310" h="12286">
                <a:moveTo>
                  <a:pt x="1447" y="12286"/>
                </a:moveTo>
                <a:lnTo>
                  <a:pt x="1375" y="12286"/>
                </a:lnTo>
                <a:lnTo>
                  <a:pt x="1232" y="12272"/>
                </a:lnTo>
                <a:lnTo>
                  <a:pt x="1093" y="12245"/>
                </a:lnTo>
                <a:lnTo>
                  <a:pt x="957" y="12203"/>
                </a:lnTo>
                <a:lnTo>
                  <a:pt x="826" y="12150"/>
                </a:lnTo>
                <a:lnTo>
                  <a:pt x="700" y="12085"/>
                </a:lnTo>
                <a:lnTo>
                  <a:pt x="582" y="12007"/>
                </a:lnTo>
                <a:lnTo>
                  <a:pt x="471" y="11918"/>
                </a:lnTo>
                <a:lnTo>
                  <a:pt x="419" y="11869"/>
                </a:lnTo>
                <a:lnTo>
                  <a:pt x="370" y="11818"/>
                </a:lnTo>
                <a:lnTo>
                  <a:pt x="279" y="11710"/>
                </a:lnTo>
                <a:lnTo>
                  <a:pt x="202" y="11595"/>
                </a:lnTo>
                <a:lnTo>
                  <a:pt x="135" y="11471"/>
                </a:lnTo>
                <a:lnTo>
                  <a:pt x="82" y="11343"/>
                </a:lnTo>
                <a:lnTo>
                  <a:pt x="42" y="11209"/>
                </a:lnTo>
                <a:lnTo>
                  <a:pt x="14" y="11070"/>
                </a:lnTo>
                <a:lnTo>
                  <a:pt x="1" y="10927"/>
                </a:lnTo>
                <a:lnTo>
                  <a:pt x="0" y="10855"/>
                </a:lnTo>
                <a:lnTo>
                  <a:pt x="0" y="1919"/>
                </a:lnTo>
                <a:lnTo>
                  <a:pt x="1" y="1821"/>
                </a:lnTo>
                <a:lnTo>
                  <a:pt x="22" y="1627"/>
                </a:lnTo>
                <a:lnTo>
                  <a:pt x="60" y="1440"/>
                </a:lnTo>
                <a:lnTo>
                  <a:pt x="117" y="1260"/>
                </a:lnTo>
                <a:lnTo>
                  <a:pt x="189" y="1089"/>
                </a:lnTo>
                <a:lnTo>
                  <a:pt x="278" y="924"/>
                </a:lnTo>
                <a:lnTo>
                  <a:pt x="382" y="772"/>
                </a:lnTo>
                <a:lnTo>
                  <a:pt x="498" y="629"/>
                </a:lnTo>
                <a:lnTo>
                  <a:pt x="629" y="498"/>
                </a:lnTo>
                <a:lnTo>
                  <a:pt x="772" y="382"/>
                </a:lnTo>
                <a:lnTo>
                  <a:pt x="924" y="278"/>
                </a:lnTo>
                <a:lnTo>
                  <a:pt x="1088" y="189"/>
                </a:lnTo>
                <a:lnTo>
                  <a:pt x="1260" y="117"/>
                </a:lnTo>
                <a:lnTo>
                  <a:pt x="1440" y="60"/>
                </a:lnTo>
                <a:lnTo>
                  <a:pt x="1627" y="22"/>
                </a:lnTo>
                <a:lnTo>
                  <a:pt x="1821" y="1"/>
                </a:lnTo>
                <a:lnTo>
                  <a:pt x="1919" y="0"/>
                </a:lnTo>
                <a:lnTo>
                  <a:pt x="7390" y="0"/>
                </a:lnTo>
                <a:lnTo>
                  <a:pt x="7489" y="1"/>
                </a:lnTo>
                <a:lnTo>
                  <a:pt x="7682" y="22"/>
                </a:lnTo>
                <a:lnTo>
                  <a:pt x="7869" y="60"/>
                </a:lnTo>
                <a:lnTo>
                  <a:pt x="8049" y="117"/>
                </a:lnTo>
                <a:lnTo>
                  <a:pt x="8222" y="189"/>
                </a:lnTo>
                <a:lnTo>
                  <a:pt x="8385" y="278"/>
                </a:lnTo>
                <a:lnTo>
                  <a:pt x="8539" y="382"/>
                </a:lnTo>
                <a:lnTo>
                  <a:pt x="8681" y="498"/>
                </a:lnTo>
                <a:lnTo>
                  <a:pt x="8811" y="629"/>
                </a:lnTo>
                <a:lnTo>
                  <a:pt x="8929" y="772"/>
                </a:lnTo>
                <a:lnTo>
                  <a:pt x="9033" y="924"/>
                </a:lnTo>
                <a:lnTo>
                  <a:pt x="9120" y="1089"/>
                </a:lnTo>
                <a:lnTo>
                  <a:pt x="9194" y="1260"/>
                </a:lnTo>
                <a:lnTo>
                  <a:pt x="9250" y="1440"/>
                </a:lnTo>
                <a:lnTo>
                  <a:pt x="9289" y="1627"/>
                </a:lnTo>
                <a:lnTo>
                  <a:pt x="9308" y="1821"/>
                </a:lnTo>
                <a:lnTo>
                  <a:pt x="9310" y="1919"/>
                </a:lnTo>
                <a:lnTo>
                  <a:pt x="9310" y="8471"/>
                </a:lnTo>
                <a:lnTo>
                  <a:pt x="9308" y="8521"/>
                </a:lnTo>
                <a:lnTo>
                  <a:pt x="9289" y="8615"/>
                </a:lnTo>
                <a:lnTo>
                  <a:pt x="9253" y="8700"/>
                </a:lnTo>
                <a:lnTo>
                  <a:pt x="9201" y="8777"/>
                </a:lnTo>
                <a:lnTo>
                  <a:pt x="9136" y="8842"/>
                </a:lnTo>
                <a:lnTo>
                  <a:pt x="9058" y="8894"/>
                </a:lnTo>
                <a:lnTo>
                  <a:pt x="8974" y="8930"/>
                </a:lnTo>
                <a:lnTo>
                  <a:pt x="8880" y="8949"/>
                </a:lnTo>
                <a:lnTo>
                  <a:pt x="8830" y="8952"/>
                </a:lnTo>
                <a:lnTo>
                  <a:pt x="8781" y="8949"/>
                </a:lnTo>
                <a:lnTo>
                  <a:pt x="8687" y="8930"/>
                </a:lnTo>
                <a:lnTo>
                  <a:pt x="8601" y="8894"/>
                </a:lnTo>
                <a:lnTo>
                  <a:pt x="8524" y="8842"/>
                </a:lnTo>
                <a:lnTo>
                  <a:pt x="8460" y="8777"/>
                </a:lnTo>
                <a:lnTo>
                  <a:pt x="8408" y="8700"/>
                </a:lnTo>
                <a:lnTo>
                  <a:pt x="8370" y="8615"/>
                </a:lnTo>
                <a:lnTo>
                  <a:pt x="8352" y="8521"/>
                </a:lnTo>
                <a:lnTo>
                  <a:pt x="8350" y="8471"/>
                </a:lnTo>
                <a:lnTo>
                  <a:pt x="8350" y="1919"/>
                </a:lnTo>
                <a:lnTo>
                  <a:pt x="8349" y="1870"/>
                </a:lnTo>
                <a:lnTo>
                  <a:pt x="8340" y="1774"/>
                </a:lnTo>
                <a:lnTo>
                  <a:pt x="8320" y="1680"/>
                </a:lnTo>
                <a:lnTo>
                  <a:pt x="8293" y="1590"/>
                </a:lnTo>
                <a:lnTo>
                  <a:pt x="8255" y="1503"/>
                </a:lnTo>
                <a:lnTo>
                  <a:pt x="8211" y="1423"/>
                </a:lnTo>
                <a:lnTo>
                  <a:pt x="8160" y="1346"/>
                </a:lnTo>
                <a:lnTo>
                  <a:pt x="8101" y="1274"/>
                </a:lnTo>
                <a:lnTo>
                  <a:pt x="8035" y="1209"/>
                </a:lnTo>
                <a:lnTo>
                  <a:pt x="7964" y="1150"/>
                </a:lnTo>
                <a:lnTo>
                  <a:pt x="7888" y="1099"/>
                </a:lnTo>
                <a:lnTo>
                  <a:pt x="7806" y="1054"/>
                </a:lnTo>
                <a:lnTo>
                  <a:pt x="7720" y="1018"/>
                </a:lnTo>
                <a:lnTo>
                  <a:pt x="7630" y="989"/>
                </a:lnTo>
                <a:lnTo>
                  <a:pt x="7537" y="970"/>
                </a:lnTo>
                <a:lnTo>
                  <a:pt x="7440" y="960"/>
                </a:lnTo>
                <a:lnTo>
                  <a:pt x="7390" y="960"/>
                </a:lnTo>
                <a:lnTo>
                  <a:pt x="1919" y="960"/>
                </a:lnTo>
                <a:lnTo>
                  <a:pt x="1870" y="960"/>
                </a:lnTo>
                <a:lnTo>
                  <a:pt x="1774" y="970"/>
                </a:lnTo>
                <a:lnTo>
                  <a:pt x="1680" y="989"/>
                </a:lnTo>
                <a:lnTo>
                  <a:pt x="1589" y="1018"/>
                </a:lnTo>
                <a:lnTo>
                  <a:pt x="1503" y="1054"/>
                </a:lnTo>
                <a:lnTo>
                  <a:pt x="1422" y="1099"/>
                </a:lnTo>
                <a:lnTo>
                  <a:pt x="1346" y="1150"/>
                </a:lnTo>
                <a:lnTo>
                  <a:pt x="1274" y="1209"/>
                </a:lnTo>
                <a:lnTo>
                  <a:pt x="1209" y="1274"/>
                </a:lnTo>
                <a:lnTo>
                  <a:pt x="1150" y="1346"/>
                </a:lnTo>
                <a:lnTo>
                  <a:pt x="1098" y="1423"/>
                </a:lnTo>
                <a:lnTo>
                  <a:pt x="1054" y="1503"/>
                </a:lnTo>
                <a:lnTo>
                  <a:pt x="1018" y="1590"/>
                </a:lnTo>
                <a:lnTo>
                  <a:pt x="989" y="1680"/>
                </a:lnTo>
                <a:lnTo>
                  <a:pt x="970" y="1774"/>
                </a:lnTo>
                <a:lnTo>
                  <a:pt x="960" y="1870"/>
                </a:lnTo>
                <a:lnTo>
                  <a:pt x="960" y="1919"/>
                </a:lnTo>
                <a:lnTo>
                  <a:pt x="960" y="10855"/>
                </a:lnTo>
                <a:lnTo>
                  <a:pt x="962" y="10904"/>
                </a:lnTo>
                <a:lnTo>
                  <a:pt x="978" y="10995"/>
                </a:lnTo>
                <a:lnTo>
                  <a:pt x="1011" y="11078"/>
                </a:lnTo>
                <a:lnTo>
                  <a:pt x="1061" y="11152"/>
                </a:lnTo>
                <a:lnTo>
                  <a:pt x="1091" y="11185"/>
                </a:lnTo>
                <a:lnTo>
                  <a:pt x="1129" y="11218"/>
                </a:lnTo>
                <a:lnTo>
                  <a:pt x="1212" y="11271"/>
                </a:lnTo>
                <a:lnTo>
                  <a:pt x="1306" y="11307"/>
                </a:lnTo>
                <a:lnTo>
                  <a:pt x="1405" y="11326"/>
                </a:lnTo>
                <a:lnTo>
                  <a:pt x="1456" y="11327"/>
                </a:lnTo>
                <a:lnTo>
                  <a:pt x="1504" y="11325"/>
                </a:lnTo>
                <a:lnTo>
                  <a:pt x="1595" y="11307"/>
                </a:lnTo>
                <a:lnTo>
                  <a:pt x="1677" y="11273"/>
                </a:lnTo>
                <a:lnTo>
                  <a:pt x="1751" y="11222"/>
                </a:lnTo>
                <a:lnTo>
                  <a:pt x="1784" y="11191"/>
                </a:lnTo>
                <a:lnTo>
                  <a:pt x="4310" y="8592"/>
                </a:lnTo>
                <a:lnTo>
                  <a:pt x="4346" y="8559"/>
                </a:lnTo>
                <a:lnTo>
                  <a:pt x="4426" y="8505"/>
                </a:lnTo>
                <a:lnTo>
                  <a:pt x="4513" y="8468"/>
                </a:lnTo>
                <a:lnTo>
                  <a:pt x="4607" y="8449"/>
                </a:lnTo>
                <a:lnTo>
                  <a:pt x="4655" y="8448"/>
                </a:lnTo>
                <a:lnTo>
                  <a:pt x="4703" y="8449"/>
                </a:lnTo>
                <a:lnTo>
                  <a:pt x="4797" y="8468"/>
                </a:lnTo>
                <a:lnTo>
                  <a:pt x="4885" y="8505"/>
                </a:lnTo>
                <a:lnTo>
                  <a:pt x="4964" y="8559"/>
                </a:lnTo>
                <a:lnTo>
                  <a:pt x="4999" y="8592"/>
                </a:lnTo>
                <a:lnTo>
                  <a:pt x="7527" y="11191"/>
                </a:lnTo>
                <a:lnTo>
                  <a:pt x="7560" y="11222"/>
                </a:lnTo>
                <a:lnTo>
                  <a:pt x="7633" y="11273"/>
                </a:lnTo>
                <a:lnTo>
                  <a:pt x="7714" y="11307"/>
                </a:lnTo>
                <a:lnTo>
                  <a:pt x="7803" y="11325"/>
                </a:lnTo>
                <a:lnTo>
                  <a:pt x="7852" y="11327"/>
                </a:lnTo>
                <a:lnTo>
                  <a:pt x="7902" y="11326"/>
                </a:lnTo>
                <a:lnTo>
                  <a:pt x="8002" y="11306"/>
                </a:lnTo>
                <a:lnTo>
                  <a:pt x="8095" y="11270"/>
                </a:lnTo>
                <a:lnTo>
                  <a:pt x="8179" y="11215"/>
                </a:lnTo>
                <a:lnTo>
                  <a:pt x="8215" y="11182"/>
                </a:lnTo>
                <a:lnTo>
                  <a:pt x="8248" y="11148"/>
                </a:lnTo>
                <a:lnTo>
                  <a:pt x="8298" y="11073"/>
                </a:lnTo>
                <a:lnTo>
                  <a:pt x="8331" y="10989"/>
                </a:lnTo>
                <a:lnTo>
                  <a:pt x="8349" y="10897"/>
                </a:lnTo>
                <a:lnTo>
                  <a:pt x="8350" y="10847"/>
                </a:lnTo>
                <a:lnTo>
                  <a:pt x="8352" y="10798"/>
                </a:lnTo>
                <a:lnTo>
                  <a:pt x="8370" y="10704"/>
                </a:lnTo>
                <a:lnTo>
                  <a:pt x="8408" y="10618"/>
                </a:lnTo>
                <a:lnTo>
                  <a:pt x="8460" y="10541"/>
                </a:lnTo>
                <a:lnTo>
                  <a:pt x="8524" y="10477"/>
                </a:lnTo>
                <a:lnTo>
                  <a:pt x="8601" y="10425"/>
                </a:lnTo>
                <a:lnTo>
                  <a:pt x="8687" y="10387"/>
                </a:lnTo>
                <a:lnTo>
                  <a:pt x="8781" y="10369"/>
                </a:lnTo>
                <a:lnTo>
                  <a:pt x="8830" y="10367"/>
                </a:lnTo>
                <a:lnTo>
                  <a:pt x="8880" y="10369"/>
                </a:lnTo>
                <a:lnTo>
                  <a:pt x="8974" y="10387"/>
                </a:lnTo>
                <a:lnTo>
                  <a:pt x="9058" y="10425"/>
                </a:lnTo>
                <a:lnTo>
                  <a:pt x="9136" y="10477"/>
                </a:lnTo>
                <a:lnTo>
                  <a:pt x="9201" y="10541"/>
                </a:lnTo>
                <a:lnTo>
                  <a:pt x="9253" y="10618"/>
                </a:lnTo>
                <a:lnTo>
                  <a:pt x="9289" y="10704"/>
                </a:lnTo>
                <a:lnTo>
                  <a:pt x="9308" y="10798"/>
                </a:lnTo>
                <a:lnTo>
                  <a:pt x="9310" y="10847"/>
                </a:lnTo>
                <a:lnTo>
                  <a:pt x="9309" y="10920"/>
                </a:lnTo>
                <a:lnTo>
                  <a:pt x="9295" y="11063"/>
                </a:lnTo>
                <a:lnTo>
                  <a:pt x="9267" y="11202"/>
                </a:lnTo>
                <a:lnTo>
                  <a:pt x="9227" y="11336"/>
                </a:lnTo>
                <a:lnTo>
                  <a:pt x="9174" y="11466"/>
                </a:lnTo>
                <a:lnTo>
                  <a:pt x="9107" y="11588"/>
                </a:lnTo>
                <a:lnTo>
                  <a:pt x="9030" y="11705"/>
                </a:lnTo>
                <a:lnTo>
                  <a:pt x="8939" y="11814"/>
                </a:lnTo>
                <a:lnTo>
                  <a:pt x="8890" y="11865"/>
                </a:lnTo>
                <a:lnTo>
                  <a:pt x="8837" y="11915"/>
                </a:lnTo>
                <a:lnTo>
                  <a:pt x="8724" y="12006"/>
                </a:lnTo>
                <a:lnTo>
                  <a:pt x="8602" y="12085"/>
                </a:lnTo>
                <a:lnTo>
                  <a:pt x="8474" y="12151"/>
                </a:lnTo>
                <a:lnTo>
                  <a:pt x="8340" y="12206"/>
                </a:lnTo>
                <a:lnTo>
                  <a:pt x="8200" y="12246"/>
                </a:lnTo>
                <a:lnTo>
                  <a:pt x="8058" y="12273"/>
                </a:lnTo>
                <a:lnTo>
                  <a:pt x="7913" y="12286"/>
                </a:lnTo>
                <a:lnTo>
                  <a:pt x="7841" y="12286"/>
                </a:lnTo>
                <a:lnTo>
                  <a:pt x="7767" y="12285"/>
                </a:lnTo>
                <a:lnTo>
                  <a:pt x="7626" y="12269"/>
                </a:lnTo>
                <a:lnTo>
                  <a:pt x="7489" y="12242"/>
                </a:lnTo>
                <a:lnTo>
                  <a:pt x="7358" y="12200"/>
                </a:lnTo>
                <a:lnTo>
                  <a:pt x="7232" y="12147"/>
                </a:lnTo>
                <a:lnTo>
                  <a:pt x="7111" y="12079"/>
                </a:lnTo>
                <a:lnTo>
                  <a:pt x="6997" y="12001"/>
                </a:lnTo>
                <a:lnTo>
                  <a:pt x="6889" y="11911"/>
                </a:lnTo>
                <a:lnTo>
                  <a:pt x="6839" y="11859"/>
                </a:lnTo>
                <a:lnTo>
                  <a:pt x="4655" y="9615"/>
                </a:lnTo>
                <a:lnTo>
                  <a:pt x="2472" y="11859"/>
                </a:lnTo>
                <a:lnTo>
                  <a:pt x="2422" y="11909"/>
                </a:lnTo>
                <a:lnTo>
                  <a:pt x="2315" y="12000"/>
                </a:lnTo>
                <a:lnTo>
                  <a:pt x="2201" y="12079"/>
                </a:lnTo>
                <a:lnTo>
                  <a:pt x="2080" y="12145"/>
                </a:lnTo>
                <a:lnTo>
                  <a:pt x="1955" y="12199"/>
                </a:lnTo>
                <a:lnTo>
                  <a:pt x="1823" y="12240"/>
                </a:lnTo>
                <a:lnTo>
                  <a:pt x="1686" y="12269"/>
                </a:lnTo>
                <a:lnTo>
                  <a:pt x="1545" y="12285"/>
                </a:lnTo>
                <a:lnTo>
                  <a:pt x="1473" y="12286"/>
                </a:lnTo>
                <a:lnTo>
                  <a:pt x="1460" y="12286"/>
                </a:lnTo>
                <a:lnTo>
                  <a:pt x="1447" y="122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8" name="이등변 삼각형 27">
            <a:extLst>
              <a:ext uri="{FF2B5EF4-FFF2-40B4-BE49-F238E27FC236}">
                <a16:creationId xmlns:a16="http://schemas.microsoft.com/office/drawing/2014/main" id="{AD4066BA-D2BC-37E9-976A-8204B8EF9F62}"/>
              </a:ext>
            </a:extLst>
          </p:cNvPr>
          <p:cNvSpPr/>
          <p:nvPr userDrawn="1"/>
        </p:nvSpPr>
        <p:spPr>
          <a:xfrm>
            <a:off x="1235851" y="667970"/>
            <a:ext cx="211949" cy="182715"/>
          </a:xfrm>
          <a:prstGeom prst="triangle">
            <a:avLst/>
          </a:prstGeom>
          <a:solidFill>
            <a:schemeClr val="bg1"/>
          </a:solidFill>
          <a:ln w="47625" cap="rnd">
            <a:solidFill>
              <a:schemeClr val="bg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81DE6459-0E1B-62B4-B07B-EB5555E53206}"/>
              </a:ext>
            </a:extLst>
          </p:cNvPr>
          <p:cNvSpPr/>
          <p:nvPr userDrawn="1"/>
        </p:nvSpPr>
        <p:spPr>
          <a:xfrm>
            <a:off x="209550" y="778044"/>
            <a:ext cx="11756306" cy="5832862"/>
          </a:xfrm>
          <a:prstGeom prst="roundRect">
            <a:avLst>
              <a:gd name="adj" fmla="val 1861"/>
            </a:avLst>
          </a:prstGeom>
          <a:solidFill>
            <a:schemeClr val="bg1"/>
          </a:solidFill>
          <a:ln w="92075" cap="rnd">
            <a:noFill/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9468F272-B293-6379-50B0-01D6BCACCF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626" y="321093"/>
            <a:ext cx="10430212" cy="23353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1675170-525C-B88C-2549-1515AC8C00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0559" y="1193822"/>
            <a:ext cx="10754289" cy="500130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86C6AE6-3A65-C287-7112-FF1BCC98D0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39250" y="6611900"/>
            <a:ext cx="2743200" cy="23989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1">
                <a:solidFill>
                  <a:schemeClr val="tx2"/>
                </a:solidFill>
                <a:latin typeface="+mn-lt"/>
              </a:defRPr>
            </a:lvl1pPr>
          </a:lstStyle>
          <a:p>
            <a:fld id="{109C872D-39A9-4065-8BF3-6A613116E2A1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048764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5" r:id="rId4"/>
    <p:sldLayoutId id="2147483652" r:id="rId5"/>
    <p:sldLayoutId id="2147483653" r:id="rId6"/>
    <p:sldLayoutId id="2147483654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2200" i="1" kern="1200">
          <a:solidFill>
            <a:schemeClr val="tx1"/>
          </a:solidFill>
          <a:latin typeface="HY헤드라인M" panose="02030600000101010101" pitchFamily="18" charset="-127"/>
          <a:ea typeface="HY헤드라인M" panose="02030600000101010101" pitchFamily="18" charset="-127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959EC3-FDAD-5008-2635-A7E4EDD289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CEE82B6-2F0F-6FB8-F71F-495B423ABF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69950" y="192979"/>
            <a:ext cx="10452100" cy="2912171"/>
          </a:xfrm>
          <a:effectLst>
            <a:reflection blurRad="50800" stA="45000" endPos="44000" dir="5400000" sy="-100000" algn="bl" rotWithShape="0"/>
          </a:effectLst>
        </p:spPr>
        <p:txBody>
          <a:bodyPr/>
          <a:lstStyle/>
          <a:p>
            <a:r>
              <a:rPr lang="ko-KR" altLang="en-US" sz="5400" b="1" i="0" dirty="0"/>
              <a:t>자원</a:t>
            </a:r>
            <a:r>
              <a:rPr lang="en-US" altLang="ko-KR" sz="5400" b="1" i="0" dirty="0"/>
              <a:t>·</a:t>
            </a:r>
            <a:r>
              <a:rPr lang="ko-KR" altLang="en-US" sz="5400" b="1" i="0" dirty="0"/>
              <a:t>에너지 경제학</a:t>
            </a:r>
            <a:endParaRPr lang="ko-KR" altLang="en-US" sz="4800" i="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AD3B6547-3B8C-6CD4-91B3-9723EB5A4D5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556665"/>
            <a:ext cx="9144000" cy="935960"/>
          </a:xfrm>
        </p:spPr>
        <p:txBody>
          <a:bodyPr>
            <a:normAutofit/>
          </a:bodyPr>
          <a:lstStyle/>
          <a:p>
            <a:endParaRPr lang="en-US" altLang="ko-KR" dirty="0"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r>
              <a:rPr lang="en-US" altLang="ko-KR" sz="2800" dirty="0">
                <a:latin typeface="HY헤드라인M" panose="02030600000101010101" pitchFamily="18" charset="-127"/>
                <a:ea typeface="HY헤드라인M" panose="02030600000101010101" pitchFamily="18" charset="-127"/>
              </a:rPr>
              <a:t>Lecture - 2</a:t>
            </a:r>
            <a:endParaRPr lang="ko-KR" altLang="en-US" sz="1700" dirty="0">
              <a:latin typeface="+mn-ea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DD5F631-FC1F-A584-173C-4EA4C43A874E}"/>
              </a:ext>
            </a:extLst>
          </p:cNvPr>
          <p:cNvSpPr txBox="1"/>
          <p:nvPr/>
        </p:nvSpPr>
        <p:spPr>
          <a:xfrm>
            <a:off x="5499100" y="5036208"/>
            <a:ext cx="1193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전 승 호</a:t>
            </a:r>
            <a:endParaRPr lang="ko-KR" altLang="en-US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pic>
        <p:nvPicPr>
          <p:cNvPr id="7" name="그림 6" descr="텍스트, 폰트, 그래픽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266D5C0-E865-7613-63AD-5D846835D6A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01325" y="6408811"/>
            <a:ext cx="1461138" cy="3150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3402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1D0659-CAFD-F53E-5E96-AE42A73FE9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5C3F3A0-36ED-43FB-2D13-6CAA30B083C2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8D19C74-D6C9-BA18-D11B-15A0CD9AF9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B58D8A77-45B6-C35A-AFD8-829E4435C9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2478940"/>
            <a:ext cx="11007224" cy="193942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Chapter 3</a:t>
            </a:r>
            <a:br>
              <a:rPr lang="en-US" altLang="ko-KR" sz="4000" b="1" i="0" spc="150" dirty="0"/>
            </a:br>
            <a:br>
              <a:rPr lang="en-US" altLang="ko-KR" sz="4000" b="1" i="0" spc="150" dirty="0"/>
            </a:br>
            <a:r>
              <a:rPr lang="ko-KR" altLang="en-US" sz="4000" b="1" i="0" spc="150" dirty="0"/>
              <a:t>천연가스 시장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6551236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05B55B-4FE0-4C0D-6AE9-E8B03A536F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4468326-0C4F-70CF-91C2-93E0C5D03BA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69E45BD-0D56-9ECF-89E6-4AF42F45BF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728B965C-181E-543B-9F2C-6FEAEBB87B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1. </a:t>
            </a:r>
            <a:r>
              <a:rPr lang="ko-KR" altLang="en-US" sz="4000" b="1" i="0" spc="150" dirty="0"/>
              <a:t>개 론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9570730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08E53AA-7D50-5F4A-320F-293F315471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서론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E66E9B2-B0DB-FDCD-AA50-636EA4E5B2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C27E35B-63AE-3D62-3078-BE10F308BEDD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천연가스는 주로 메탄</a:t>
            </a:r>
            <a:r>
              <a:rPr lang="en-US" altLang="ko-KR" sz="1600" dirty="0"/>
              <a:t>(CH</a:t>
            </a:r>
            <a:r>
              <a:rPr lang="en-US" altLang="ko-KR" sz="1600" baseline="-25000" dirty="0"/>
              <a:t>4</a:t>
            </a:r>
            <a:r>
              <a:rPr lang="en-US" altLang="ko-KR" sz="1600" dirty="0"/>
              <a:t>)</a:t>
            </a:r>
            <a:r>
              <a:rPr lang="ko-KR" altLang="en-US" sz="1600" dirty="0"/>
              <a:t>으로 구성되어 있으며</a:t>
            </a:r>
            <a:r>
              <a:rPr lang="en-US" altLang="ko-KR" sz="1600" dirty="0"/>
              <a:t>, </a:t>
            </a:r>
            <a:r>
              <a:rPr lang="ko-KR" altLang="en-US" sz="1600" dirty="0"/>
              <a:t>다른 연료</a:t>
            </a:r>
            <a:r>
              <a:rPr lang="en-US" altLang="ko-KR" sz="1600" dirty="0"/>
              <a:t>(</a:t>
            </a:r>
            <a:r>
              <a:rPr lang="ko-KR" altLang="en-US" sz="1600" dirty="0"/>
              <a:t>석탄 및 석유</a:t>
            </a:r>
            <a:r>
              <a:rPr lang="en-US" altLang="ko-KR" sz="1600" dirty="0"/>
              <a:t>)</a:t>
            </a:r>
            <a:r>
              <a:rPr lang="ko-KR" altLang="en-US" sz="1600" dirty="0"/>
              <a:t>에 비해 연소할 때 배출되는 오염물질이 적어</a:t>
            </a:r>
            <a:r>
              <a:rPr lang="en-US" altLang="ko-KR" sz="1600" dirty="0"/>
              <a:t>, </a:t>
            </a:r>
            <a:r>
              <a:rPr lang="ko-KR" altLang="en-US" sz="1600" dirty="0"/>
              <a:t>화석연료 중에서는 가장 청정한 연료로 평가된다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이러한 특성으로</a:t>
            </a:r>
            <a:r>
              <a:rPr lang="en-US" altLang="ko-KR" sz="1600" dirty="0"/>
              <a:t> </a:t>
            </a:r>
            <a:r>
              <a:rPr lang="ko-KR" altLang="en-US" sz="1600" dirty="0"/>
              <a:t>기후변화 대응과 에너지 전환 과정에서 </a:t>
            </a:r>
            <a:r>
              <a:rPr lang="en-US" altLang="ko-KR" sz="1600" dirty="0"/>
              <a:t>‘</a:t>
            </a:r>
            <a:r>
              <a:rPr lang="ko-KR" altLang="en-US" sz="1600" dirty="0"/>
              <a:t>교량 연료</a:t>
            </a:r>
            <a:r>
              <a:rPr lang="en-US" altLang="ko-KR" sz="1600" dirty="0"/>
              <a:t>‘</a:t>
            </a:r>
            <a:r>
              <a:rPr lang="ko-KR" altLang="en-US" sz="1600" dirty="0"/>
              <a:t>로 주목받고 있으며</a:t>
            </a:r>
            <a:r>
              <a:rPr lang="en-US" altLang="ko-KR" sz="1600" dirty="0"/>
              <a:t>, </a:t>
            </a:r>
            <a:r>
              <a:rPr lang="ko-KR" altLang="en-US" sz="1600" dirty="0"/>
              <a:t>재생에너지의 간헐성을 보완하는 유연한 발전원으로 활용 가능하다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인류의 천연가스 이용은 고대까지 거슬러 올라가며</a:t>
            </a:r>
            <a:r>
              <a:rPr lang="en-US" altLang="ko-KR" sz="1600" dirty="0"/>
              <a:t>, </a:t>
            </a:r>
            <a:r>
              <a:rPr lang="ko-KR" altLang="en-US" sz="1600" dirty="0"/>
              <a:t>상징적</a:t>
            </a:r>
            <a:r>
              <a:rPr lang="en-US" altLang="ko-KR" sz="1600" dirty="0"/>
              <a:t>·</a:t>
            </a:r>
            <a:r>
              <a:rPr lang="ko-KR" altLang="en-US" sz="1600" dirty="0"/>
              <a:t>제의적 의미에 머무르고</a:t>
            </a:r>
            <a:r>
              <a:rPr lang="en-US" altLang="ko-KR" sz="1600" dirty="0"/>
              <a:t>, </a:t>
            </a:r>
            <a:r>
              <a:rPr lang="ko-KR" altLang="en-US" sz="1600" dirty="0"/>
              <a:t>본격적으로 활용되지는 않았다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기원전 </a:t>
            </a:r>
            <a:r>
              <a:rPr lang="en-US" altLang="ko-KR" sz="1600" dirty="0"/>
              <a:t>1,000</a:t>
            </a:r>
            <a:r>
              <a:rPr lang="ko-KR" altLang="en-US" sz="1600" dirty="0" err="1"/>
              <a:t>년경</a:t>
            </a:r>
            <a:r>
              <a:rPr lang="ko-KR" altLang="en-US" sz="1600" dirty="0"/>
              <a:t> 중국에서는 대나무 파이프를 사용하여 천연가스를 지표로부터 추출하였다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고대 그리스 및 페르시아에서도 천연가스의 자연 누출로 발생하는 </a:t>
            </a:r>
            <a:r>
              <a:rPr lang="en-US" altLang="ko-KR" sz="1600" dirty="0"/>
              <a:t>‘</a:t>
            </a:r>
            <a:r>
              <a:rPr lang="ko-KR" altLang="en-US" sz="1600" dirty="0"/>
              <a:t>영원한 불</a:t>
            </a:r>
            <a:r>
              <a:rPr lang="en-US" altLang="ko-KR" sz="1600" dirty="0"/>
              <a:t>‘</a:t>
            </a:r>
            <a:r>
              <a:rPr lang="ko-KR" altLang="en-US" sz="1600" dirty="0"/>
              <a:t>은 신성한 존재로 인식되며 종교적 의례에 사용되었다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19</a:t>
            </a:r>
            <a:r>
              <a:rPr lang="ko-KR" altLang="en-US" sz="1600" dirty="0"/>
              <a:t>세기 들어 산업화에 따라 천연가스의 상업적 활용이 시작되었다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/>
              <a:t>1821</a:t>
            </a:r>
            <a:r>
              <a:rPr lang="ko-KR" altLang="en-US" sz="1600" dirty="0"/>
              <a:t>년 미국 뉴욕주에서 세계 최초의 천연가스 우물이 </a:t>
            </a:r>
            <a:r>
              <a:rPr lang="ko-KR" altLang="en-US" sz="1600" dirty="0" err="1"/>
              <a:t>시추되었다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/>
              <a:t>1850</a:t>
            </a:r>
            <a:r>
              <a:rPr lang="ko-KR" altLang="en-US" sz="1600" dirty="0"/>
              <a:t>년대 중반부터는 도시의 가로등</a:t>
            </a:r>
            <a:r>
              <a:rPr lang="en-US" altLang="ko-KR" sz="1600" dirty="0"/>
              <a:t>, </a:t>
            </a:r>
            <a:r>
              <a:rPr lang="ko-KR" altLang="en-US" sz="1600" dirty="0"/>
              <a:t>가정 난방용으로 천연가스가 사용되기 시작하였다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/>
              <a:t>1859</a:t>
            </a:r>
            <a:r>
              <a:rPr lang="ko-KR" altLang="en-US" sz="1600" dirty="0"/>
              <a:t>년 펜실베니아 드레이크 성공은 </a:t>
            </a:r>
            <a:r>
              <a:rPr lang="en-US" altLang="ko-KR" sz="1600" dirty="0"/>
              <a:t>(</a:t>
            </a:r>
            <a:r>
              <a:rPr lang="ko-KR" altLang="en-US" sz="1600" dirty="0" err="1"/>
              <a:t>석유챕터</a:t>
            </a:r>
            <a:r>
              <a:rPr lang="en-US" altLang="ko-KR" sz="1600" dirty="0"/>
              <a:t> </a:t>
            </a:r>
            <a:r>
              <a:rPr lang="ko-KR" altLang="en-US" sz="1600" dirty="0"/>
              <a:t>참고</a:t>
            </a:r>
            <a:r>
              <a:rPr lang="en-US" altLang="ko-KR" sz="1600" dirty="0"/>
              <a:t>)</a:t>
            </a:r>
            <a:r>
              <a:rPr lang="ko-KR" altLang="en-US" sz="1600" dirty="0"/>
              <a:t> 석유 뿐만 아니라 천연가스 산업에도 기폭제 역할을 하였다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5217713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58849E-C3EC-66C2-D5C9-C59E5D5BC9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4FAA21E-A0E0-EB01-8A47-F492A782CE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서론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055CFF5-1045-A861-0C88-5A1DFAB934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68FFC37-4353-1DB7-17B9-97C4402833EA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20</a:t>
            </a:r>
            <a:r>
              <a:rPr lang="ko-KR" altLang="en-US" sz="1600" dirty="0"/>
              <a:t>세기 초반에는 파이프라인 기술의 발전으로</a:t>
            </a:r>
            <a:r>
              <a:rPr lang="en-US" altLang="ko-KR" sz="1600" dirty="0"/>
              <a:t> </a:t>
            </a:r>
            <a:r>
              <a:rPr lang="ko-KR" altLang="en-US" sz="1600" dirty="0"/>
              <a:t>천연가스의 대규모 수송이 가능해지며 산업적 활용이 크게 확대 </a:t>
            </a:r>
            <a:r>
              <a:rPr lang="ko-KR" altLang="en-US" sz="1600" dirty="0" err="1"/>
              <a:t>됬다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/>
              <a:t>1920</a:t>
            </a:r>
            <a:r>
              <a:rPr lang="ko-KR" altLang="en-US" sz="1600" dirty="0"/>
              <a:t>년대에는 장거리 천연가스 파이프라인이 건설되기 시작하였다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/>
              <a:t>1927</a:t>
            </a:r>
            <a:r>
              <a:rPr lang="ko-KR" altLang="en-US" sz="1600" dirty="0"/>
              <a:t>년에는 인디애나주와 시카고를 잇는 미국 최초의 장거리 파이프라인이 가동되었다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1950~1960</a:t>
            </a:r>
            <a:r>
              <a:rPr lang="ko-KR" altLang="en-US" sz="1600" dirty="0"/>
              <a:t>년대는 천연가스 산업의 황금기이며</a:t>
            </a:r>
            <a:r>
              <a:rPr lang="en-US" altLang="ko-KR" sz="1600" dirty="0"/>
              <a:t>, </a:t>
            </a:r>
            <a:r>
              <a:rPr lang="ko-KR" altLang="en-US" sz="1600" dirty="0"/>
              <a:t>가정용과 산업용 에너지원으로서 수요가 폭발적인 증가를 보였다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전력 생산부문에서는 석탄과 함께 주요 기저발전원으로 자리 잡았고</a:t>
            </a:r>
            <a:r>
              <a:rPr lang="en-US" altLang="ko-KR" sz="1600" dirty="0"/>
              <a:t>, </a:t>
            </a:r>
            <a:r>
              <a:rPr lang="ko-KR" altLang="en-US" sz="1600" dirty="0"/>
              <a:t>천연가스의 청정성과 연소 효율성으로 도시지역의 </a:t>
            </a:r>
            <a:r>
              <a:rPr lang="ko-KR" altLang="en-US" sz="1600" dirty="0" err="1"/>
              <a:t>대기질</a:t>
            </a:r>
            <a:r>
              <a:rPr lang="ko-KR" altLang="en-US" sz="1600" dirty="0"/>
              <a:t> 개선에도 기여하였다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 시기에 미국과 구소련</a:t>
            </a:r>
            <a:r>
              <a:rPr lang="en-US" altLang="ko-KR" sz="1600" dirty="0"/>
              <a:t>, </a:t>
            </a:r>
            <a:r>
              <a:rPr lang="ko-KR" altLang="en-US" sz="1600" dirty="0"/>
              <a:t>중동 지역에서는 대규모 가스전이 연이어 발견되었고</a:t>
            </a:r>
            <a:r>
              <a:rPr lang="en-US" altLang="ko-KR" sz="1600" dirty="0"/>
              <a:t>, </a:t>
            </a:r>
            <a:r>
              <a:rPr lang="ko-KR" altLang="en-US" sz="1600" dirty="0"/>
              <a:t>향후 글로벌 천연가스 공급의 기반이 되었다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1980</a:t>
            </a:r>
            <a:r>
              <a:rPr lang="ko-KR" altLang="en-US" sz="1600" dirty="0"/>
              <a:t>년</a:t>
            </a:r>
            <a:r>
              <a:rPr lang="en-US" altLang="ko-KR" sz="1600" dirty="0"/>
              <a:t>~1990</a:t>
            </a:r>
            <a:r>
              <a:rPr lang="ko-KR" altLang="en-US" sz="1600" dirty="0"/>
              <a:t>년대는 천연가스의 국제무역이 본격화된 시기로 액화천연가스 기술의 발달이 중요한 전환점이 되었다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액화천연가스</a:t>
            </a:r>
            <a:r>
              <a:rPr lang="en-US" altLang="ko-KR" sz="1600" dirty="0"/>
              <a:t>(LNG; Liquified Natural Gas) </a:t>
            </a:r>
            <a:r>
              <a:rPr lang="ko-KR" altLang="en-US" sz="1600" dirty="0"/>
              <a:t>기술은 가스를 영하</a:t>
            </a:r>
            <a:r>
              <a:rPr lang="en-US" altLang="ko-KR" sz="1600" dirty="0"/>
              <a:t>162</a:t>
            </a:r>
            <a:r>
              <a:rPr lang="ko-KR" altLang="en-US" sz="1600" dirty="0"/>
              <a:t>도까지 냉각하여 </a:t>
            </a:r>
            <a:r>
              <a:rPr lang="ko-KR" altLang="en-US" sz="1600" dirty="0" err="1"/>
              <a:t>액화한</a:t>
            </a:r>
            <a:r>
              <a:rPr lang="ko-KR" altLang="en-US" sz="1600" dirty="0"/>
              <a:t> 뒤 해상으로 수송하는 방식을 가능케 하여</a:t>
            </a:r>
            <a:r>
              <a:rPr lang="en-US" altLang="ko-KR" sz="1600" dirty="0"/>
              <a:t>, </a:t>
            </a:r>
            <a:r>
              <a:rPr lang="ko-KR" altLang="en-US" sz="1600" dirty="0"/>
              <a:t>파이프라인으로 공급하지 못하는 지역에도 천연가스를 공급할 수 있게 되었다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/>
              <a:t>1964</a:t>
            </a:r>
            <a:r>
              <a:rPr lang="ko-KR" altLang="en-US" sz="1600" dirty="0"/>
              <a:t>년 알제리에서 영국으로 </a:t>
            </a:r>
            <a:r>
              <a:rPr lang="en-US" altLang="ko-KR" sz="1600" dirty="0"/>
              <a:t>LNG </a:t>
            </a:r>
            <a:r>
              <a:rPr lang="ko-KR" altLang="en-US" sz="1600" dirty="0"/>
              <a:t>수출이 최초로 이루어지고</a:t>
            </a:r>
            <a:r>
              <a:rPr lang="en-US" altLang="ko-KR" sz="1600" dirty="0"/>
              <a:t>, </a:t>
            </a:r>
            <a:r>
              <a:rPr lang="ko-KR" altLang="en-US" sz="1600" dirty="0"/>
              <a:t>해상수송은 세계 천연가스시장에서 중요한 운송수단으로 자리잡았다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29613929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7F2B2B-B0DB-E70D-D7BF-B2362ECCFC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7501D95-006F-48DC-EDE1-699FE507DF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서론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B78A500-8ECC-79BD-D5CA-30B816254C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6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D5D0CFB-4544-09EF-CC37-A77EF95709A1}"/>
              </a:ext>
            </a:extLst>
          </p:cNvPr>
          <p:cNvSpPr txBox="1"/>
          <p:nvPr/>
        </p:nvSpPr>
        <p:spPr>
          <a:xfrm>
            <a:off x="288790" y="958844"/>
            <a:ext cx="11118453" cy="263001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21</a:t>
            </a:r>
            <a:r>
              <a:rPr lang="ko-KR" altLang="en-US" sz="1600" dirty="0"/>
              <a:t>세기 들어서면서 천연가스 산업은 새로운 혁신기의 전기를 맞이하였다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미국의 </a:t>
            </a:r>
            <a:r>
              <a:rPr lang="ko-KR" altLang="en-US" sz="1600" dirty="0" err="1"/>
              <a:t>셰일가스</a:t>
            </a:r>
            <a:r>
              <a:rPr lang="ko-KR" altLang="en-US" sz="1600" dirty="0"/>
              <a:t> 혁명</a:t>
            </a:r>
            <a:r>
              <a:rPr lang="en-US" altLang="ko-KR" sz="1600" dirty="0"/>
              <a:t>(</a:t>
            </a:r>
            <a:r>
              <a:rPr lang="ko-KR" altLang="en-US" sz="1600" dirty="0" err="1"/>
              <a:t>석유챕터</a:t>
            </a:r>
            <a:r>
              <a:rPr lang="ko-KR" altLang="en-US" sz="1600" dirty="0"/>
              <a:t> 참고</a:t>
            </a:r>
            <a:r>
              <a:rPr lang="en-US" altLang="ko-KR" sz="1600" dirty="0"/>
              <a:t>)</a:t>
            </a:r>
            <a:r>
              <a:rPr lang="ko-KR" altLang="en-US" sz="1600" dirty="0"/>
              <a:t>은 천연가스 공급 구조에 지대한 변화를 초래하였다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미국은 세계 최대의 천연가스 생산국으로 부상하고</a:t>
            </a:r>
            <a:r>
              <a:rPr lang="en-US" altLang="ko-KR" sz="1600" dirty="0"/>
              <a:t>, </a:t>
            </a:r>
            <a:r>
              <a:rPr lang="ko-KR" altLang="en-US" sz="1600" dirty="0"/>
              <a:t>세계 천연가스 시장의 공급이 안정되었다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한편 기후변화와 지속가능한 발전에 대한 국제적 요구가 확대되면서</a:t>
            </a:r>
            <a:r>
              <a:rPr lang="en-US" altLang="ko-KR" sz="1600" dirty="0"/>
              <a:t>, </a:t>
            </a:r>
            <a:r>
              <a:rPr lang="ko-KR" altLang="en-US" sz="1600" dirty="0"/>
              <a:t>천연가스는 석탄과 석유를 대체할 수 있는 과도기적 청정연료로서 주목 받고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특히 재생에너지와 결합하여 전력 시스템의 안정성과 유연성을 제고할 수 있다는 점에서 역할이 부각된다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72418408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760776-739F-0A2B-384D-A70C754F59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69E3FF2-2862-6F62-2428-A3A8CCB3A615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B13874A-2BEF-9F5C-B644-7D3646AC64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7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DE70DC7B-A6D8-53A3-E781-B2BCE7EE2B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2. </a:t>
            </a:r>
            <a:r>
              <a:rPr lang="ko-KR" altLang="en-US" sz="4000" b="1" i="0" spc="150" dirty="0"/>
              <a:t>천연가스의 특징과 분류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11284081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402EB0-5CB1-B555-AB86-A138BF68FC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2A8B283-1EC8-C4C3-5920-62AD905D5D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천연가스의 특징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75A3AEF-46D5-1437-2A73-9EC69D80AA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8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C2ECAFF-AFC4-BC14-A49C-87CA10D6F926}"/>
              </a:ext>
            </a:extLst>
          </p:cNvPr>
          <p:cNvSpPr txBox="1"/>
          <p:nvPr/>
        </p:nvSpPr>
        <p:spPr>
          <a:xfrm>
            <a:off x="288790" y="958844"/>
            <a:ext cx="11118453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천연가스는 높은 열효율</a:t>
            </a:r>
            <a:r>
              <a:rPr lang="en-US" altLang="ko-KR" sz="1600" dirty="0"/>
              <a:t>, </a:t>
            </a:r>
            <a:r>
              <a:rPr lang="ko-KR" altLang="en-US" sz="1600" dirty="0"/>
              <a:t>상대적으로 낮은 환경오염</a:t>
            </a:r>
            <a:r>
              <a:rPr lang="en-US" altLang="ko-KR" sz="1600" dirty="0"/>
              <a:t>, </a:t>
            </a:r>
            <a:r>
              <a:rPr lang="ko-KR" altLang="en-US" sz="1600" dirty="0"/>
              <a:t>수송 유연성 등 여러가지 측면에서 장점을 지니고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우선 천연가스는 고효율 연료로서 복합화력발전소</a:t>
            </a:r>
            <a:r>
              <a:rPr lang="en-US" altLang="ko-KR" sz="1600" dirty="0"/>
              <a:t>(Combined Cycle Gas Turbine, CCGT)</a:t>
            </a:r>
            <a:r>
              <a:rPr lang="ko-KR" altLang="en-US" sz="1600" dirty="0"/>
              <a:t>에서 활용될 경우 최대 </a:t>
            </a:r>
            <a:r>
              <a:rPr lang="en-US" altLang="ko-KR" sz="1600" dirty="0"/>
              <a:t>60% </a:t>
            </a:r>
            <a:r>
              <a:rPr lang="ko-KR" altLang="en-US" sz="1600" dirty="0"/>
              <a:t>이상의 열효율을 달성할 수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석탄화력발전소의 경우 평균 효율이 </a:t>
            </a:r>
            <a:r>
              <a:rPr lang="en-US" altLang="ko-KR" sz="1600" dirty="0"/>
              <a:t>35%~45%</a:t>
            </a:r>
            <a:r>
              <a:rPr lang="ko-KR" altLang="en-US" sz="1600" dirty="0"/>
              <a:t>이며</a:t>
            </a:r>
            <a:r>
              <a:rPr lang="en-US" altLang="ko-KR" sz="1600" dirty="0"/>
              <a:t>, </a:t>
            </a:r>
            <a:r>
              <a:rPr lang="ko-KR" altLang="en-US" sz="1600" dirty="0"/>
              <a:t>동일한 전력을 생산하기 위해 필요한 연료가 줄어들기 때문에 에너지 비용절감효과가 크다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특히 복합화력발전은 가스터빈의 배기열을 다시 이용해 증기터빈을 돌리는 구조이기 때문에 열 손실이 적고</a:t>
            </a:r>
            <a:r>
              <a:rPr lang="en-US" altLang="ko-KR" sz="1600" dirty="0"/>
              <a:t>, </a:t>
            </a:r>
            <a:r>
              <a:rPr lang="ko-KR" altLang="en-US" sz="1600" dirty="0"/>
              <a:t>효율 향상을 통해 연료비와 탄소배출량 까지 감소시킬 수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천연가스는 환경측면에서도 다른 화석연료에 비해 우수한 성능을 보인다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 err="1"/>
              <a:t>연소시</a:t>
            </a:r>
            <a:r>
              <a:rPr lang="ko-KR" altLang="en-US" sz="1600" dirty="0"/>
              <a:t> 이산화탄소</a:t>
            </a:r>
            <a:r>
              <a:rPr lang="en-US" altLang="ko-KR" sz="1600" dirty="0"/>
              <a:t>(CO</a:t>
            </a:r>
            <a:r>
              <a:rPr lang="en-US" altLang="ko-KR" sz="1600" baseline="-25000" dirty="0"/>
              <a:t>2</a:t>
            </a:r>
            <a:r>
              <a:rPr lang="en-US" altLang="ko-KR" sz="1600" dirty="0"/>
              <a:t>) </a:t>
            </a:r>
            <a:r>
              <a:rPr lang="ko-KR" altLang="en-US" sz="1600" dirty="0"/>
              <a:t>배출량은 석탄 대비 </a:t>
            </a:r>
            <a:r>
              <a:rPr lang="en-US" altLang="ko-KR" sz="1600" dirty="0"/>
              <a:t>50%, </a:t>
            </a:r>
            <a:r>
              <a:rPr lang="ko-KR" altLang="en-US" sz="1600" dirty="0"/>
              <a:t>석유 대비 </a:t>
            </a:r>
            <a:r>
              <a:rPr lang="en-US" altLang="ko-KR" sz="1600" dirty="0"/>
              <a:t>25% </a:t>
            </a:r>
            <a:r>
              <a:rPr lang="ko-KR" altLang="en-US" sz="1600" dirty="0"/>
              <a:t>낮으며</a:t>
            </a:r>
            <a:r>
              <a:rPr lang="en-US" altLang="ko-KR" sz="1600" dirty="0"/>
              <a:t>, </a:t>
            </a:r>
            <a:r>
              <a:rPr lang="ko-KR" altLang="en-US" sz="1600" dirty="0"/>
              <a:t>황산화물</a:t>
            </a:r>
            <a:r>
              <a:rPr lang="en-US" altLang="ko-KR" sz="1600" dirty="0"/>
              <a:t>, </a:t>
            </a:r>
            <a:r>
              <a:rPr lang="ko-KR" altLang="en-US" sz="1600" dirty="0"/>
              <a:t>질소산화물</a:t>
            </a:r>
            <a:r>
              <a:rPr lang="en-US" altLang="ko-KR" sz="1600" dirty="0"/>
              <a:t>, </a:t>
            </a:r>
            <a:r>
              <a:rPr lang="ko-KR" altLang="en-US" sz="1600" dirty="0"/>
              <a:t>미세먼지 등의 유해 대기오염물질 배출 수준도 현저히 낮다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이러한 특성으로 저탄소 에너지 체제로의 전환 과정에서 </a:t>
            </a:r>
            <a:r>
              <a:rPr lang="en-US" altLang="ko-KR" sz="1600" dirty="0"/>
              <a:t>‘</a:t>
            </a:r>
            <a:r>
              <a:rPr lang="ko-KR" altLang="en-US" sz="1600" dirty="0"/>
              <a:t>과도기 연료</a:t>
            </a:r>
            <a:r>
              <a:rPr lang="en-US" altLang="ko-KR" sz="1600" dirty="0"/>
              <a:t>‘ </a:t>
            </a:r>
            <a:r>
              <a:rPr lang="ko-KR" altLang="en-US" sz="1600" dirty="0"/>
              <a:t>역할을 할 수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35197792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E92EEC-3A59-045A-7E30-4FA433CEDB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AEE0EC1-C074-1DA9-03B0-6D0AD02D73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천연가스의 특징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6064F8E-B0AE-7971-B0EC-A8EEBE62F2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9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9F73D8C-5E61-85AB-3138-40216A272CCA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천연가스는 물리적 상태 변화에도 강점을 보인다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기체 상태의 천연가스를 영하 </a:t>
            </a:r>
            <a:r>
              <a:rPr lang="en-US" altLang="ko-KR" sz="1600" dirty="0"/>
              <a:t>162</a:t>
            </a:r>
            <a:r>
              <a:rPr lang="ko-KR" altLang="en-US" sz="1600" dirty="0"/>
              <a:t>도까지 냉각하면 액화천연가스 </a:t>
            </a:r>
            <a:r>
              <a:rPr lang="en-US" altLang="ko-KR" sz="1600" dirty="0"/>
              <a:t>(LNG, Liquified Natural Gas)</a:t>
            </a:r>
            <a:r>
              <a:rPr lang="ko-KR" altLang="en-US" sz="1600" dirty="0"/>
              <a:t>로 전환 되고</a:t>
            </a:r>
            <a:r>
              <a:rPr lang="en-US" altLang="ko-KR" sz="1600" dirty="0"/>
              <a:t>, </a:t>
            </a:r>
            <a:r>
              <a:rPr lang="ko-KR" altLang="en-US" sz="1600" dirty="0"/>
              <a:t>이 과정에서 부피는 약 </a:t>
            </a:r>
            <a:r>
              <a:rPr lang="en-US" altLang="ko-KR" sz="1600" dirty="0"/>
              <a:t>1/600 </a:t>
            </a:r>
            <a:r>
              <a:rPr lang="ko-KR" altLang="en-US" sz="1600" dirty="0"/>
              <a:t>수준으로 감소한다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이는 천연가스를 장거리</a:t>
            </a:r>
            <a:r>
              <a:rPr lang="en-US" altLang="ko-KR" sz="1600" dirty="0"/>
              <a:t>, </a:t>
            </a:r>
            <a:r>
              <a:rPr lang="ko-KR" altLang="en-US" sz="1600" dirty="0"/>
              <a:t>대륙간 수송에 적합한 형태로 만들어준다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파이프라인이 구축되지 않은 지역에도 상업적 거래를 가능하게 한다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다만 액화</a:t>
            </a:r>
            <a:r>
              <a:rPr lang="en-US" altLang="ko-KR" sz="1600" dirty="0"/>
              <a:t>, </a:t>
            </a:r>
            <a:r>
              <a:rPr lang="ko-KR" altLang="en-US" sz="1600" dirty="0"/>
              <a:t>저장</a:t>
            </a:r>
            <a:r>
              <a:rPr lang="en-US" altLang="ko-KR" sz="1600" dirty="0"/>
              <a:t>, </a:t>
            </a:r>
            <a:r>
              <a:rPr lang="ko-KR" altLang="en-US" sz="1600" dirty="0"/>
              <a:t>운송 재기화에 이르는 </a:t>
            </a:r>
            <a:r>
              <a:rPr lang="en-US" altLang="ko-KR" sz="1600" dirty="0"/>
              <a:t>LNG </a:t>
            </a:r>
            <a:r>
              <a:rPr lang="ko-KR" altLang="en-US" sz="1600" dirty="0"/>
              <a:t>공급망은 고도의 기술력과 투자비용을 요구하고</a:t>
            </a:r>
            <a:r>
              <a:rPr lang="en-US" altLang="ko-KR" sz="1600" dirty="0"/>
              <a:t>, </a:t>
            </a:r>
            <a:r>
              <a:rPr lang="ko-KR" altLang="en-US" sz="1600" dirty="0"/>
              <a:t>안전을 위한 인프라 구축이 필수적이다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안정성 측면에서</a:t>
            </a:r>
            <a:r>
              <a:rPr lang="en-US" altLang="ko-KR" sz="1600" dirty="0"/>
              <a:t>, </a:t>
            </a:r>
            <a:r>
              <a:rPr lang="ko-KR" altLang="en-US" sz="1600" dirty="0"/>
              <a:t>천연가스는 공기보다 가볍기 때문에 누출 시 개방된 공간에서는 빠르게 확산되어 연소 및 폭발 위험이 낮아지는 반면</a:t>
            </a:r>
            <a:r>
              <a:rPr lang="en-US" altLang="ko-KR" sz="1600" dirty="0"/>
              <a:t>, </a:t>
            </a:r>
            <a:r>
              <a:rPr lang="ko-KR" altLang="en-US" sz="1600" dirty="0"/>
              <a:t>밀폐된 공간에서는 가스가 축적되어 폭발 위험이 커질 수 있다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천연가스는 </a:t>
            </a:r>
            <a:r>
              <a:rPr lang="ko-KR" altLang="en-US" sz="1600" dirty="0" err="1"/>
              <a:t>무색무취의</a:t>
            </a:r>
            <a:r>
              <a:rPr lang="ko-KR" altLang="en-US" sz="1600" dirty="0"/>
              <a:t> 성질을 갖고 있으므로</a:t>
            </a:r>
            <a:r>
              <a:rPr lang="en-US" altLang="ko-KR" sz="1600" dirty="0"/>
              <a:t>, </a:t>
            </a:r>
            <a:r>
              <a:rPr lang="ko-KR" altLang="en-US" sz="1600" dirty="0"/>
              <a:t>누출감지를 위해 </a:t>
            </a:r>
            <a:r>
              <a:rPr lang="ko-KR" altLang="en-US" sz="1600" dirty="0" err="1"/>
              <a:t>부취제를</a:t>
            </a:r>
            <a:r>
              <a:rPr lang="ko-KR" altLang="en-US" sz="1600" dirty="0"/>
              <a:t> 첨가하여 안정성 확보가 필요하다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지리적 측면에서 천연가스는 석유보다 더 넓은 지역에 매장되어 있어 공급 다변화에 유리하다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이러한 지리적 분산은 특정지역의 리스크가 전체 공급망에 미치는 영향을 완화해준다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90449669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A05D9F-AAAD-760D-EF0B-8BD4AC4F5F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9C33BEE-078B-4361-9BD5-5D936483F6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천연가스의 분류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19D5676-6B81-6F34-54AC-0DF9537A15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10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9BC1728-7097-8C75-FBEB-37824717168A}"/>
              </a:ext>
            </a:extLst>
          </p:cNvPr>
          <p:cNvSpPr txBox="1"/>
          <p:nvPr/>
        </p:nvSpPr>
        <p:spPr>
          <a:xfrm>
            <a:off x="288790" y="958844"/>
            <a:ext cx="11118453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주로 메탄으로 구성된 천연가스는 화학적 조성과 물리적 성질에 따라 다양한 방식으로 분류할 수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과학적인 구분을 넘어</a:t>
            </a:r>
            <a:r>
              <a:rPr lang="en-US" altLang="ko-KR" sz="1600" dirty="0"/>
              <a:t>, </a:t>
            </a:r>
            <a:r>
              <a:rPr lang="ko-KR" altLang="en-US" sz="1600" dirty="0"/>
              <a:t>생산 방식</a:t>
            </a:r>
            <a:r>
              <a:rPr lang="en-US" altLang="ko-KR" sz="1600" dirty="0"/>
              <a:t>, </a:t>
            </a:r>
            <a:r>
              <a:rPr lang="ko-KR" altLang="en-US" sz="1600" dirty="0"/>
              <a:t>정제 과정</a:t>
            </a:r>
            <a:r>
              <a:rPr lang="en-US" altLang="ko-KR" sz="1600" dirty="0"/>
              <a:t>, </a:t>
            </a:r>
            <a:r>
              <a:rPr lang="ko-KR" altLang="en-US" sz="1600" dirty="0"/>
              <a:t>수송 인프라</a:t>
            </a:r>
            <a:r>
              <a:rPr lang="en-US" altLang="ko-KR" sz="1600" dirty="0"/>
              <a:t>, </a:t>
            </a:r>
            <a:r>
              <a:rPr lang="ko-KR" altLang="en-US" sz="1600" dirty="0"/>
              <a:t>최종 수요시장의 선택 등 가치사슬 전반에 걸쳐 천연가스의 경제적</a:t>
            </a:r>
            <a:r>
              <a:rPr lang="en-US" altLang="ko-KR" sz="1600" dirty="0"/>
              <a:t>·</a:t>
            </a:r>
            <a:r>
              <a:rPr lang="ko-KR" altLang="en-US" sz="1600" dirty="0"/>
              <a:t>환경적 특성과 활용 방식을 결정짓는 중요한 기준으로 작용한다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일반적인 분류는 메탄의 순도와 고급 탄화수소 성분의 포함 여부에 따른 드라이</a:t>
            </a:r>
            <a:r>
              <a:rPr lang="en-US" altLang="ko-KR" sz="1600" dirty="0"/>
              <a:t>(dry)</a:t>
            </a:r>
            <a:r>
              <a:rPr lang="ko-KR" altLang="en-US" sz="1600" dirty="0"/>
              <a:t> 가스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웻</a:t>
            </a:r>
            <a:r>
              <a:rPr lang="en-US" altLang="ko-KR" sz="1600" dirty="0"/>
              <a:t>(wet)</a:t>
            </a:r>
            <a:r>
              <a:rPr lang="ko-KR" altLang="en-US" sz="1600" dirty="0"/>
              <a:t> 가스 의 구분이다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드라이 가스는 메탄 비중이 약 </a:t>
            </a:r>
            <a:r>
              <a:rPr lang="en-US" altLang="ko-KR" sz="1600" dirty="0"/>
              <a:t>90% </a:t>
            </a:r>
            <a:r>
              <a:rPr lang="ko-KR" altLang="en-US" sz="1600" dirty="0"/>
              <a:t>이상으로</a:t>
            </a:r>
            <a:r>
              <a:rPr lang="en-US" altLang="ko-KR" sz="1600" dirty="0"/>
              <a:t>, </a:t>
            </a:r>
            <a:r>
              <a:rPr lang="ko-KR" altLang="en-US" sz="1600" dirty="0"/>
              <a:t>기타 탄화수소 성분이 거의 포함되어 있지 않아 정제가 단순하고</a:t>
            </a:r>
            <a:r>
              <a:rPr lang="en-US" altLang="ko-KR" sz="1600" dirty="0"/>
              <a:t>, </a:t>
            </a:r>
            <a:r>
              <a:rPr lang="ko-KR" altLang="en-US" sz="1600" dirty="0"/>
              <a:t>연료용으로 바로 사용하기에 적합하다</a:t>
            </a:r>
            <a:endParaRPr lang="en-US" altLang="ko-KR" sz="160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도시가스</a:t>
            </a:r>
            <a:r>
              <a:rPr lang="en-US" altLang="ko-KR" sz="1600" dirty="0"/>
              <a:t>, </a:t>
            </a:r>
            <a:r>
              <a:rPr lang="ko-KR" altLang="en-US" sz="1600" dirty="0"/>
              <a:t>발전용 연료 등 직접 연소형 시장에 적합하고</a:t>
            </a:r>
            <a:r>
              <a:rPr lang="en-US" altLang="ko-KR" sz="1600" dirty="0"/>
              <a:t>, </a:t>
            </a:r>
            <a:r>
              <a:rPr lang="ko-KR" altLang="en-US" sz="1600" dirty="0"/>
              <a:t>파이프라인을 통한 장거리 수송에도 효율적이다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 err="1"/>
              <a:t>웻</a:t>
            </a:r>
            <a:r>
              <a:rPr lang="ko-KR" altLang="en-US" sz="1600" dirty="0"/>
              <a:t> 가스는 에탄</a:t>
            </a:r>
            <a:r>
              <a:rPr lang="en-US" altLang="ko-KR" sz="1600" dirty="0"/>
              <a:t>, </a:t>
            </a:r>
            <a:r>
              <a:rPr lang="ko-KR" altLang="en-US" sz="1600" dirty="0"/>
              <a:t>프로판</a:t>
            </a:r>
            <a:r>
              <a:rPr lang="en-US" altLang="ko-KR" sz="1600" dirty="0"/>
              <a:t>, </a:t>
            </a:r>
            <a:r>
              <a:rPr lang="ko-KR" altLang="en-US" sz="1600" dirty="0"/>
              <a:t>부탄 등 중간 탄화수소가 다량 포함되어 있으며</a:t>
            </a:r>
            <a:r>
              <a:rPr lang="en-US" altLang="ko-KR" sz="1600" dirty="0"/>
              <a:t>, </a:t>
            </a:r>
            <a:r>
              <a:rPr lang="ko-KR" altLang="en-US" sz="1600" dirty="0"/>
              <a:t>이 성분들을 추출하여 부가가치가 높은 액화석유가스</a:t>
            </a:r>
            <a:r>
              <a:rPr lang="en-US" altLang="ko-KR" sz="1600" dirty="0"/>
              <a:t>(LPG)</a:t>
            </a:r>
            <a:r>
              <a:rPr lang="ko-KR" altLang="en-US" sz="1600" dirty="0"/>
              <a:t>나 석유화학 연료</a:t>
            </a:r>
            <a:r>
              <a:rPr lang="en-US" altLang="ko-KR" sz="1600" dirty="0"/>
              <a:t>(NGLs)</a:t>
            </a:r>
            <a:r>
              <a:rPr lang="ko-KR" altLang="en-US" sz="1600" dirty="0"/>
              <a:t>로 활용할 수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가스 처리 공정을 거쳐야 하고</a:t>
            </a:r>
            <a:r>
              <a:rPr lang="en-US" altLang="ko-KR" sz="1600" dirty="0"/>
              <a:t>, </a:t>
            </a:r>
            <a:r>
              <a:rPr lang="ko-KR" altLang="en-US" sz="1600" dirty="0"/>
              <a:t>냉각</a:t>
            </a:r>
            <a:r>
              <a:rPr lang="en-US" altLang="ko-KR" sz="1600" dirty="0"/>
              <a:t>·</a:t>
            </a:r>
            <a:r>
              <a:rPr lang="ko-KR" altLang="en-US" sz="1600" dirty="0"/>
              <a:t>압축</a:t>
            </a:r>
            <a:r>
              <a:rPr lang="en-US" altLang="ko-KR" sz="1600" dirty="0"/>
              <a:t>·</a:t>
            </a:r>
            <a:r>
              <a:rPr lang="ko-KR" altLang="en-US" sz="1600" dirty="0"/>
              <a:t>탈탄소화 설비 등 고가의 인프라를 요구하므로</a:t>
            </a:r>
            <a:r>
              <a:rPr lang="en-US" altLang="ko-KR" sz="1600" dirty="0"/>
              <a:t>, </a:t>
            </a:r>
            <a:r>
              <a:rPr lang="ko-KR" altLang="en-US" sz="1600" dirty="0"/>
              <a:t>초기 투자비용과 운송비용이 상대적으로 크다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77982893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69A752-6556-46F6-857F-6E9C1A58BF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A1A3A0D-6D0E-4F71-91C8-2D344C3FFD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천연가스의 분류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4082F75-9B24-846E-DED3-F6DBD15DF9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11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F5F7D64-8C6C-6880-87B4-1AD3A56E4675}"/>
              </a:ext>
            </a:extLst>
          </p:cNvPr>
          <p:cNvSpPr txBox="1"/>
          <p:nvPr/>
        </p:nvSpPr>
        <p:spPr>
          <a:xfrm>
            <a:off x="288790" y="958844"/>
            <a:ext cx="11118453" cy="373801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또 다른 분류 방식은 천연가스 내에 포함된 불순물의 함량에 기반한 분류다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 err="1"/>
              <a:t>사워</a:t>
            </a:r>
            <a:r>
              <a:rPr lang="ko-KR" altLang="en-US" sz="1600" dirty="0"/>
              <a:t> 가스</a:t>
            </a:r>
            <a:r>
              <a:rPr lang="en-US" altLang="ko-KR" sz="1600" dirty="0"/>
              <a:t>(sour gas)</a:t>
            </a:r>
            <a:r>
              <a:rPr lang="ko-KR" altLang="en-US" sz="1600" dirty="0"/>
              <a:t>는 황화수소 또는 이산화탄소와 같은 산성 가스를 상당량 포함하고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인체에 유해하고</a:t>
            </a:r>
            <a:r>
              <a:rPr lang="en-US" altLang="ko-KR" sz="1600" dirty="0"/>
              <a:t>, </a:t>
            </a:r>
            <a:r>
              <a:rPr lang="ko-KR" altLang="en-US" sz="1600" dirty="0"/>
              <a:t>공정 설비의 부식을 유발하며</a:t>
            </a:r>
            <a:r>
              <a:rPr lang="en-US" altLang="ko-KR" sz="1600" dirty="0"/>
              <a:t>, </a:t>
            </a:r>
            <a:r>
              <a:rPr lang="ko-KR" altLang="en-US" sz="1600" dirty="0"/>
              <a:t>운송과 저장 시 높은 위험성을 수반하므로 </a:t>
            </a:r>
            <a:r>
              <a:rPr lang="ko-KR" altLang="en-US" sz="1600" dirty="0" err="1"/>
              <a:t>스위트닝</a:t>
            </a:r>
            <a:r>
              <a:rPr lang="en-US" altLang="ko-KR" sz="1600" dirty="0"/>
              <a:t>(sweetening) </a:t>
            </a:r>
            <a:r>
              <a:rPr lang="ko-KR" altLang="en-US" sz="1600" dirty="0"/>
              <a:t>공정을 필요로 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대표적으로 아민 </a:t>
            </a:r>
            <a:r>
              <a:rPr lang="ko-KR" altLang="en-US" sz="1600" dirty="0" err="1"/>
              <a:t>흡수탑</a:t>
            </a:r>
            <a:r>
              <a:rPr lang="en-US" altLang="ko-KR" sz="1600" dirty="0"/>
              <a:t>, </a:t>
            </a:r>
            <a:r>
              <a:rPr lang="ko-KR" altLang="en-US" sz="1600" dirty="0"/>
              <a:t>막 분리 기술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크라이오제닉</a:t>
            </a:r>
            <a:r>
              <a:rPr lang="ko-KR" altLang="en-US" sz="1600" dirty="0"/>
              <a:t> 냉각 등의 정제 기술이 사용되고</a:t>
            </a:r>
            <a:r>
              <a:rPr lang="en-US" altLang="ko-KR" sz="1600" dirty="0"/>
              <a:t>, </a:t>
            </a:r>
            <a:r>
              <a:rPr lang="ko-KR" altLang="en-US" sz="1600" dirty="0"/>
              <a:t>이로 인한 처리비용의 상승이 전체 프로젝트의 수익성으로 직결된다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스위트 가스</a:t>
            </a:r>
            <a:r>
              <a:rPr lang="en-US" altLang="ko-KR" sz="1600" dirty="0"/>
              <a:t>(sweet gas)</a:t>
            </a:r>
            <a:r>
              <a:rPr lang="ko-KR" altLang="en-US" sz="1600" dirty="0"/>
              <a:t>는 황화수소 또는 이산화탄소와 같은 산성 가스를 거의 포함하고 있지 않다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 err="1"/>
              <a:t>사워</a:t>
            </a:r>
            <a:r>
              <a:rPr lang="ko-KR" altLang="en-US" sz="1600" dirty="0"/>
              <a:t> 가스 대비 상대적으로</a:t>
            </a:r>
            <a:r>
              <a:rPr lang="en-US" altLang="ko-KR" sz="1600" dirty="0"/>
              <a:t>, </a:t>
            </a:r>
            <a:r>
              <a:rPr lang="ko-KR" altLang="en-US" sz="1600" dirty="0"/>
              <a:t>냄새가 적고 안전하여</a:t>
            </a:r>
            <a:r>
              <a:rPr lang="en-US" altLang="ko-KR" sz="1600" dirty="0"/>
              <a:t>, </a:t>
            </a:r>
            <a:r>
              <a:rPr lang="ko-KR" altLang="en-US" sz="1600" dirty="0"/>
              <a:t>처리공정이 간단하다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상대적으로 정제 비용이 적고</a:t>
            </a:r>
            <a:r>
              <a:rPr lang="en-US" altLang="ko-KR" sz="1600" dirty="0"/>
              <a:t>, </a:t>
            </a:r>
            <a:r>
              <a:rPr lang="ko-KR" altLang="en-US" sz="1600" dirty="0"/>
              <a:t>탄소배출 측면에서도 유리하여 정책적</a:t>
            </a:r>
            <a:r>
              <a:rPr lang="en-US" altLang="ko-KR" sz="1600" dirty="0"/>
              <a:t>·</a:t>
            </a:r>
            <a:r>
              <a:rPr lang="ko-KR" altLang="en-US" sz="1600" dirty="0"/>
              <a:t>환경적 선호도가 높다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29364584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8A20D6-836A-4370-E46C-301BB69EAD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290E1D9-42CC-00CB-BE17-A748399F8A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천연가스의 분류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823E626-40F4-8266-86B5-8907BC52E4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12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C99AD25-10EC-E4FD-80B6-78DED0C0C440}"/>
              </a:ext>
            </a:extLst>
          </p:cNvPr>
          <p:cNvSpPr txBox="1"/>
          <p:nvPr/>
        </p:nvSpPr>
        <p:spPr>
          <a:xfrm>
            <a:off x="288790" y="958844"/>
            <a:ext cx="11118453" cy="3368679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매장 형태에 따른 분류도 천연가스의 특성과 상업적 전략을 이해하는데 중요하다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 err="1"/>
              <a:t>어소시에이티드</a:t>
            </a:r>
            <a:r>
              <a:rPr lang="ko-KR" altLang="en-US" sz="1600" dirty="0"/>
              <a:t> 가스</a:t>
            </a:r>
            <a:r>
              <a:rPr lang="en-US" altLang="ko-KR" sz="1600" dirty="0"/>
              <a:t>(associated gas)</a:t>
            </a:r>
            <a:r>
              <a:rPr lang="ko-KR" altLang="en-US" sz="1600" dirty="0"/>
              <a:t>는 석유와 함께 동일한 지층에 공존하며</a:t>
            </a:r>
            <a:r>
              <a:rPr lang="en-US" altLang="ko-KR" sz="1600" dirty="0"/>
              <a:t>, </a:t>
            </a:r>
            <a:r>
              <a:rPr lang="ko-KR" altLang="en-US" sz="1600" dirty="0"/>
              <a:t>원유 생산 과정에서 부산물로 발생하는 가스를 의미한다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과거에는 기술부족</a:t>
            </a:r>
            <a:r>
              <a:rPr lang="en-US" altLang="ko-KR" sz="1600" dirty="0"/>
              <a:t>, </a:t>
            </a:r>
            <a:r>
              <a:rPr lang="ko-KR" altLang="en-US" sz="1600" dirty="0"/>
              <a:t>경제성 미비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수요처</a:t>
            </a:r>
            <a:r>
              <a:rPr lang="ko-KR" altLang="en-US" sz="1600" dirty="0"/>
              <a:t> 부재 등의 이유로 대부분 연소</a:t>
            </a:r>
            <a:r>
              <a:rPr lang="en-US" altLang="ko-KR" sz="1600" dirty="0"/>
              <a:t>(</a:t>
            </a:r>
            <a:r>
              <a:rPr lang="ko-KR" altLang="en-US" sz="1600" dirty="0" err="1"/>
              <a:t>플레어링</a:t>
            </a:r>
            <a:r>
              <a:rPr lang="en-US" altLang="ko-KR" sz="1600" dirty="0"/>
              <a:t>)</a:t>
            </a:r>
            <a:r>
              <a:rPr lang="ko-KR" altLang="en-US" sz="1600" dirty="0"/>
              <a:t>되거나 지하에 </a:t>
            </a:r>
            <a:r>
              <a:rPr lang="ko-KR" altLang="en-US" sz="1600" dirty="0" err="1"/>
              <a:t>재주입되었으나</a:t>
            </a:r>
            <a:r>
              <a:rPr lang="en-US" altLang="ko-KR" sz="1600" dirty="0"/>
              <a:t>, </a:t>
            </a:r>
            <a:r>
              <a:rPr lang="ko-KR" altLang="en-US" sz="1600" dirty="0"/>
              <a:t>최근에는 </a:t>
            </a:r>
            <a:r>
              <a:rPr lang="ko-KR" altLang="en-US" sz="1600" dirty="0" err="1"/>
              <a:t>플레어링</a:t>
            </a:r>
            <a:r>
              <a:rPr lang="ko-KR" altLang="en-US" sz="1600" dirty="0"/>
              <a:t> 금지 정책과 자원 효율성 강화에 따라 회수 및 이용이 증가하고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 err="1"/>
              <a:t>넌어소시에이티드</a:t>
            </a:r>
            <a:r>
              <a:rPr lang="ko-KR" altLang="en-US" sz="1600" dirty="0"/>
              <a:t> 가스</a:t>
            </a:r>
            <a:r>
              <a:rPr lang="en-US" altLang="ko-KR" sz="1600" dirty="0"/>
              <a:t>(non-</a:t>
            </a:r>
            <a:r>
              <a:rPr lang="en-US" altLang="ko-KR" sz="1600" dirty="0" err="1"/>
              <a:t>associaged</a:t>
            </a:r>
            <a:r>
              <a:rPr lang="en-US" altLang="ko-KR" sz="1600" dirty="0"/>
              <a:t> gas)</a:t>
            </a:r>
            <a:r>
              <a:rPr lang="ko-KR" altLang="en-US" sz="1600" dirty="0"/>
              <a:t>는 독립적인 가스전에서 생산되며</a:t>
            </a:r>
            <a:r>
              <a:rPr lang="en-US" altLang="ko-KR" sz="1600" dirty="0"/>
              <a:t>, </a:t>
            </a:r>
            <a:r>
              <a:rPr lang="ko-KR" altLang="en-US" sz="1600" dirty="0"/>
              <a:t>가스를 주요 자원으로 상정한 개발 프로젝트에서 생산된 가스를 의미한다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상대적으로 품질이 균일하고</a:t>
            </a:r>
            <a:r>
              <a:rPr lang="en-US" altLang="ko-KR" sz="1600" dirty="0"/>
              <a:t>, </a:t>
            </a:r>
            <a:r>
              <a:rPr lang="ko-KR" altLang="en-US" sz="1600" dirty="0"/>
              <a:t>생산 계획 및 가격 책정이 독립적으로 가능하기 때문에 </a:t>
            </a:r>
            <a:r>
              <a:rPr lang="en-US" altLang="ko-KR" sz="1600" dirty="0"/>
              <a:t>LNG </a:t>
            </a:r>
            <a:r>
              <a:rPr lang="ko-KR" altLang="en-US" sz="1600" dirty="0"/>
              <a:t>수출</a:t>
            </a:r>
            <a:r>
              <a:rPr lang="en-US" altLang="ko-KR" sz="1600" dirty="0"/>
              <a:t>, </a:t>
            </a:r>
            <a:r>
              <a:rPr lang="ko-KR" altLang="en-US" sz="1600" dirty="0"/>
              <a:t>도시가스 공급 등 고부가가치 시장을 겨냥한 전략적 활용에 용이하다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37132388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BBD2A0-210C-8C30-A32E-11C168CB6F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0C5166C-F5D0-3F70-CC35-370E1EAA39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천연가스의 분류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C223AFF-BA3A-3CA0-4772-3022A4E3E8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13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AD64481-DC0F-FEEF-7D2B-B28B0E048AA4}"/>
              </a:ext>
            </a:extLst>
          </p:cNvPr>
          <p:cNvSpPr txBox="1"/>
          <p:nvPr/>
        </p:nvSpPr>
        <p:spPr>
          <a:xfrm>
            <a:off x="288790" y="958844"/>
            <a:ext cx="11118453" cy="263001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이러한 분류는 기술적 차원을 넘어 가치사슬 전반에 걸쳐 실질적인 경제성과 환경성에 영향을 미친다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드라이 가스는 파이프라인 인프라와 결합되어 에너지 효율성이 높은 공급망 구축에 적합하다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 err="1"/>
              <a:t>웻</a:t>
            </a:r>
            <a:r>
              <a:rPr lang="ko-KR" altLang="en-US" sz="1600" dirty="0"/>
              <a:t> 가스는 분리 및 처리 과정을 통해 석유화학 산업과의 연계를 강화할 수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 err="1"/>
              <a:t>사워</a:t>
            </a:r>
            <a:r>
              <a:rPr lang="ko-KR" altLang="en-US" sz="1600" dirty="0"/>
              <a:t> 가스는 공정 설계와 환경규제 대응에서 높은 수준의 기술력과 자본을 요구하므로</a:t>
            </a:r>
            <a:r>
              <a:rPr lang="en-US" altLang="ko-KR" sz="1600" dirty="0"/>
              <a:t>, </a:t>
            </a:r>
            <a:r>
              <a:rPr lang="ko-KR" altLang="en-US" sz="1600" dirty="0"/>
              <a:t>투자 타당성 분석에서 핵심 변수로 작용한다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 err="1"/>
              <a:t>어소시에이티드</a:t>
            </a:r>
            <a:r>
              <a:rPr lang="ko-KR" altLang="en-US" sz="1600" dirty="0"/>
              <a:t> 가스는 석유 가격과 생산량에 따라 동반 변동성이 존재하므로</a:t>
            </a:r>
            <a:r>
              <a:rPr lang="en-US" altLang="ko-KR" sz="1600" dirty="0"/>
              <a:t>, </a:t>
            </a:r>
            <a:r>
              <a:rPr lang="ko-KR" altLang="en-US" sz="1600" dirty="0"/>
              <a:t>천연가스 수급 안정성을 위해 별도의 저장 및 활용 전략이 필요하다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61058916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A078E1-38F3-55A7-E509-C500B0C6AF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E61D847-DA49-3607-B892-317A203E1D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천연가스 공급사슬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45BF416-6C1F-7203-FA06-75ECAB800E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14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350EC15-8F69-5D17-0339-448E38426484}"/>
              </a:ext>
            </a:extLst>
          </p:cNvPr>
          <p:cNvSpPr txBox="1"/>
          <p:nvPr/>
        </p:nvSpPr>
        <p:spPr>
          <a:xfrm>
            <a:off x="288790" y="958844"/>
            <a:ext cx="11118453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천연가스의 공급사슬은 탐사에서 최종 소비자에게 이르는 전 과정을 포함하는 복합적이고 </a:t>
            </a:r>
            <a:r>
              <a:rPr lang="ko-KR" altLang="en-US" sz="1600" dirty="0" err="1"/>
              <a:t>다단계적인</a:t>
            </a:r>
            <a:r>
              <a:rPr lang="ko-KR" altLang="en-US" sz="1600" dirty="0"/>
              <a:t> 구조를 형성하고 있으며</a:t>
            </a:r>
            <a:r>
              <a:rPr lang="en-US" altLang="ko-KR" sz="1600" dirty="0"/>
              <a:t>, </a:t>
            </a:r>
            <a:r>
              <a:rPr lang="ko-KR" altLang="en-US" sz="1600" dirty="0"/>
              <a:t>각 단계는 상이한 기술</a:t>
            </a:r>
            <a:r>
              <a:rPr lang="en-US" altLang="ko-KR" sz="1600" dirty="0"/>
              <a:t>, </a:t>
            </a:r>
            <a:r>
              <a:rPr lang="ko-KR" altLang="en-US" sz="1600" dirty="0"/>
              <a:t>자본</a:t>
            </a:r>
            <a:r>
              <a:rPr lang="en-US" altLang="ko-KR" sz="1600" dirty="0"/>
              <a:t>, </a:t>
            </a:r>
            <a:r>
              <a:rPr lang="ko-KR" altLang="en-US" sz="1600" dirty="0"/>
              <a:t>정책 환경 속에서 운영된다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공급사슬의 출발점은 탐사 및 생산 단계이다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지질학적 모델</a:t>
            </a:r>
            <a:r>
              <a:rPr lang="en-US" altLang="ko-KR" sz="1600" dirty="0"/>
              <a:t>, </a:t>
            </a:r>
            <a:r>
              <a:rPr lang="ko-KR" altLang="en-US" sz="1600" dirty="0"/>
              <a:t>지진파 탐사</a:t>
            </a:r>
            <a:r>
              <a:rPr lang="en-US" altLang="ko-KR" sz="1600" dirty="0"/>
              <a:t>, </a:t>
            </a:r>
            <a:r>
              <a:rPr lang="ko-KR" altLang="en-US" sz="1600" dirty="0"/>
              <a:t>중력 및 자기탐사 등의 기술을 활용하여 지하에 매장된 천연가스 자원을 탐색한다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 단계는 </a:t>
            </a:r>
            <a:r>
              <a:rPr lang="ko-KR" altLang="en-US" sz="1600" dirty="0" err="1"/>
              <a:t>자본집약적이고</a:t>
            </a:r>
            <a:r>
              <a:rPr lang="en-US" altLang="ko-KR" sz="1600" dirty="0"/>
              <a:t>, </a:t>
            </a:r>
            <a:r>
              <a:rPr lang="ko-KR" altLang="en-US" sz="1600" dirty="0"/>
              <a:t>지질학적 불확실성이 높아 고위험</a:t>
            </a:r>
            <a:r>
              <a:rPr lang="en-US" altLang="ko-KR" sz="1600" dirty="0"/>
              <a:t>-</a:t>
            </a:r>
            <a:r>
              <a:rPr lang="ko-KR" altLang="en-US" sz="1600" dirty="0"/>
              <a:t>고수익 성격을 지닌다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자원 개발 가능성을 평가하기 위한 탐사 확률 분석</a:t>
            </a:r>
            <a:r>
              <a:rPr lang="en-US" altLang="ko-KR" sz="1600" dirty="0"/>
              <a:t>, </a:t>
            </a:r>
            <a:r>
              <a:rPr lang="ko-KR" altLang="en-US" sz="1600" dirty="0"/>
              <a:t>내부수익률 시뮬레이션</a:t>
            </a:r>
            <a:r>
              <a:rPr lang="en-US" altLang="ko-KR" sz="1600" dirty="0"/>
              <a:t>, </a:t>
            </a:r>
            <a:r>
              <a:rPr lang="ko-KR" altLang="en-US" sz="1600" dirty="0"/>
              <a:t>손익분기 가격 분석 등이 병행된다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시추기술의 발달은 특히 </a:t>
            </a:r>
            <a:r>
              <a:rPr lang="ko-KR" altLang="en-US" sz="1600" dirty="0" err="1"/>
              <a:t>비전통</a:t>
            </a:r>
            <a:r>
              <a:rPr lang="ko-KR" altLang="en-US" sz="1600" dirty="0"/>
              <a:t> 천연가스 자원 개발의 전환점을 마련하였다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수평시추와 </a:t>
            </a:r>
            <a:r>
              <a:rPr lang="ko-KR" altLang="en-US" sz="1600" dirty="0" err="1"/>
              <a:t>수압파쇄</a:t>
            </a:r>
            <a:r>
              <a:rPr lang="ko-KR" altLang="en-US" sz="1600" dirty="0"/>
              <a:t> 기술은 </a:t>
            </a:r>
            <a:r>
              <a:rPr lang="ko-KR" altLang="en-US" sz="1600" dirty="0" err="1"/>
              <a:t>셰일가스나</a:t>
            </a:r>
            <a:r>
              <a:rPr lang="ko-KR" altLang="en-US" sz="1600" dirty="0"/>
              <a:t> 타이트가스 자원의 상업적 생산을 가능하게 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이러한 기술 진보를 통해 전통적 가스 수출국의 시장지배력 약화</a:t>
            </a:r>
            <a:r>
              <a:rPr lang="en-US" altLang="ko-KR" sz="1600" dirty="0"/>
              <a:t>, </a:t>
            </a:r>
            <a:r>
              <a:rPr lang="ko-KR" altLang="en-US" sz="1600" dirty="0"/>
              <a:t>북미 지역의 에너지 자립도 향상</a:t>
            </a:r>
            <a:r>
              <a:rPr lang="en-US" altLang="ko-KR" sz="1600" dirty="0"/>
              <a:t>, </a:t>
            </a:r>
            <a:r>
              <a:rPr lang="ko-KR" altLang="en-US" sz="1600" dirty="0"/>
              <a:t>글로벌 </a:t>
            </a:r>
            <a:r>
              <a:rPr lang="en-US" altLang="ko-KR" sz="1600" dirty="0"/>
              <a:t>LNG</a:t>
            </a:r>
            <a:r>
              <a:rPr lang="ko-KR" altLang="en-US" sz="1600" dirty="0"/>
              <a:t>시장의 유동성 증가라는 구조적 변화를 이끌었다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64104422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4931F9-6AB7-24BF-A4DA-EF98BD6596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42AC5C3-979E-72AF-328B-5F9B1E2DC9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천연가스 공급사슬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F1E49A2-B0BF-5230-840C-7FFEA878F8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15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CA153C6-9096-9531-152C-061846938BE5}"/>
              </a:ext>
            </a:extLst>
          </p:cNvPr>
          <p:cNvSpPr txBox="1"/>
          <p:nvPr/>
        </p:nvSpPr>
        <p:spPr>
          <a:xfrm>
            <a:off x="288790" y="958844"/>
            <a:ext cx="11118453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생산된 원가스는 메탄 외에도 이산화탄소</a:t>
            </a:r>
            <a:r>
              <a:rPr lang="en-US" altLang="ko-KR" sz="1600" dirty="0"/>
              <a:t>, </a:t>
            </a:r>
            <a:r>
              <a:rPr lang="ko-KR" altLang="en-US" sz="1600" dirty="0"/>
              <a:t>황화수소</a:t>
            </a:r>
            <a:r>
              <a:rPr lang="en-US" altLang="ko-KR" sz="1600" dirty="0"/>
              <a:t>, </a:t>
            </a:r>
            <a:r>
              <a:rPr lang="ko-KR" altLang="en-US" sz="1600" dirty="0"/>
              <a:t>질소</a:t>
            </a:r>
            <a:r>
              <a:rPr lang="en-US" altLang="ko-KR" sz="1600" dirty="0"/>
              <a:t>, </a:t>
            </a:r>
            <a:r>
              <a:rPr lang="ko-KR" altLang="en-US" sz="1600" dirty="0"/>
              <a:t>액화석유가스</a:t>
            </a:r>
            <a:r>
              <a:rPr lang="en-US" altLang="ko-KR" sz="1600" dirty="0"/>
              <a:t>, </a:t>
            </a:r>
            <a:r>
              <a:rPr lang="ko-KR" altLang="en-US" sz="1600" dirty="0"/>
              <a:t>천연가스 </a:t>
            </a:r>
            <a:r>
              <a:rPr lang="ko-KR" altLang="en-US" sz="1600" dirty="0" err="1"/>
              <a:t>액체류</a:t>
            </a:r>
            <a:r>
              <a:rPr lang="ko-KR" altLang="en-US" sz="1600" dirty="0"/>
              <a:t> 등 다양한 불순물을 포함하고 있으며</a:t>
            </a:r>
            <a:r>
              <a:rPr lang="en-US" altLang="ko-KR" sz="1600" dirty="0"/>
              <a:t>, </a:t>
            </a:r>
            <a:r>
              <a:rPr lang="ko-KR" altLang="en-US" sz="1600" dirty="0"/>
              <a:t>가공 및 정제 처리 단계를 통해 </a:t>
            </a:r>
            <a:r>
              <a:rPr lang="en-US" altLang="ko-KR" sz="1600" dirty="0"/>
              <a:t>‘</a:t>
            </a:r>
            <a:r>
              <a:rPr lang="ko-KR" altLang="en-US" sz="1600" dirty="0"/>
              <a:t>스위트 가스</a:t>
            </a:r>
            <a:r>
              <a:rPr lang="en-US" altLang="ko-KR" sz="1600" dirty="0"/>
              <a:t>’</a:t>
            </a:r>
            <a:r>
              <a:rPr lang="ko-KR" altLang="en-US" sz="1600" dirty="0"/>
              <a:t>로 전환된다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 과정에는 산성가스 제거</a:t>
            </a:r>
            <a:r>
              <a:rPr lang="en-US" altLang="ko-KR" sz="1600" dirty="0"/>
              <a:t>, </a:t>
            </a:r>
            <a:r>
              <a:rPr lang="ko-KR" altLang="en-US" sz="1600" dirty="0"/>
              <a:t>수분 제거</a:t>
            </a:r>
            <a:r>
              <a:rPr lang="en-US" altLang="ko-KR" sz="1600" dirty="0"/>
              <a:t>, NGL </a:t>
            </a:r>
            <a:r>
              <a:rPr lang="ko-KR" altLang="en-US" sz="1600" dirty="0"/>
              <a:t>분리 등의 공정이 포함되며 최종적으로는 수송 가능한 사양의 고순도 메탄 가스를 확보하게 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이러한 가공단계는 환경 규제와 연결되어 있을 뿐 아니라</a:t>
            </a:r>
            <a:r>
              <a:rPr lang="en-US" altLang="ko-KR" sz="1600" dirty="0"/>
              <a:t>, </a:t>
            </a:r>
            <a:r>
              <a:rPr lang="ko-KR" altLang="en-US" sz="1600" dirty="0"/>
              <a:t>제품 다양화 및 부가가치 창출의 기초가 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정제된 가스는 수송단계로 넘어가며</a:t>
            </a:r>
            <a:r>
              <a:rPr lang="en-US" altLang="ko-KR" sz="1600" dirty="0"/>
              <a:t>, </a:t>
            </a:r>
            <a:r>
              <a:rPr lang="ko-KR" altLang="en-US" sz="1600" dirty="0"/>
              <a:t>일반적인 방식은 파이프라인을 통한 육상 수송이다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대륙간 수송이 어려운 경우에는 천연가스를 </a:t>
            </a:r>
            <a:r>
              <a:rPr lang="en-US" altLang="ko-KR" sz="1600" dirty="0"/>
              <a:t>-162℃</a:t>
            </a:r>
            <a:r>
              <a:rPr lang="ko-KR" altLang="en-US" sz="1600" dirty="0"/>
              <a:t>로</a:t>
            </a:r>
            <a:r>
              <a:rPr lang="en-US" altLang="ko-KR" sz="1600" dirty="0"/>
              <a:t> </a:t>
            </a:r>
            <a:r>
              <a:rPr lang="ko-KR" altLang="en-US" sz="1600" dirty="0"/>
              <a:t>냉각시켜 액화</a:t>
            </a:r>
            <a:r>
              <a:rPr lang="en-US" altLang="ko-KR" sz="1600" dirty="0"/>
              <a:t> </a:t>
            </a:r>
            <a:r>
              <a:rPr lang="ko-KR" altLang="en-US" sz="1600" dirty="0"/>
              <a:t>형태</a:t>
            </a:r>
            <a:r>
              <a:rPr lang="en-US" altLang="ko-KR" sz="1600" dirty="0"/>
              <a:t>(LNG, Liquified Natural Gas)</a:t>
            </a:r>
            <a:r>
              <a:rPr lang="ko-KR" altLang="en-US" sz="1600" dirty="0"/>
              <a:t>로 만들어 특수 선박을 이용해 해상 수송하고</a:t>
            </a:r>
            <a:r>
              <a:rPr lang="en-US" altLang="ko-KR" sz="1600" dirty="0"/>
              <a:t>,</a:t>
            </a:r>
            <a:r>
              <a:rPr lang="ko-KR" altLang="en-US" sz="1600" dirty="0"/>
              <a:t> 도착지에는 재기화를 통해 기체 상태로 전환하여 지역 파이프라인망으로 공급된다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파이프라인 수송은 통상적으로 생산지</a:t>
            </a:r>
            <a:r>
              <a:rPr lang="en-US" altLang="ko-KR" sz="1600" dirty="0"/>
              <a:t>-</a:t>
            </a:r>
            <a:r>
              <a:rPr lang="ko-KR" altLang="en-US" sz="1600" dirty="0"/>
              <a:t>소비지 간의 장기계약과 함께 구축되며</a:t>
            </a:r>
            <a:r>
              <a:rPr lang="en-US" altLang="ko-KR" sz="1600" dirty="0"/>
              <a:t>, </a:t>
            </a:r>
            <a:r>
              <a:rPr lang="ko-KR" altLang="en-US" sz="1600" dirty="0"/>
              <a:t>천연가스 인프라의 장기적인 고정비 투자와 관련된 자산특화가 높은 특징을 지닌다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/>
              <a:t>LNG</a:t>
            </a:r>
            <a:r>
              <a:rPr lang="ko-KR" altLang="en-US" sz="1600" dirty="0"/>
              <a:t>는 수출입이 가능한 유연성을 제공하지만</a:t>
            </a:r>
            <a:r>
              <a:rPr lang="en-US" altLang="ko-KR" sz="1600" dirty="0"/>
              <a:t>, </a:t>
            </a:r>
            <a:r>
              <a:rPr lang="ko-KR" altLang="en-US" sz="1600" dirty="0"/>
              <a:t>초기 설비투자가 막대하고</a:t>
            </a:r>
            <a:r>
              <a:rPr lang="en-US" altLang="ko-KR" sz="1600" dirty="0"/>
              <a:t>, </a:t>
            </a:r>
            <a:r>
              <a:rPr lang="ko-KR" altLang="en-US" sz="1600" dirty="0"/>
              <a:t>정제</a:t>
            </a:r>
            <a:r>
              <a:rPr lang="en-US" altLang="ko-KR" sz="1600" dirty="0"/>
              <a:t>, </a:t>
            </a:r>
            <a:r>
              <a:rPr lang="ko-KR" altLang="en-US" sz="1600" dirty="0"/>
              <a:t>냉각</a:t>
            </a:r>
            <a:r>
              <a:rPr lang="en-US" altLang="ko-KR" sz="1600" dirty="0"/>
              <a:t>, </a:t>
            </a:r>
            <a:r>
              <a:rPr lang="ko-KR" altLang="en-US" sz="1600" dirty="0"/>
              <a:t>저장</a:t>
            </a:r>
            <a:r>
              <a:rPr lang="en-US" altLang="ko-KR" sz="1600" dirty="0"/>
              <a:t>, </a:t>
            </a:r>
            <a:r>
              <a:rPr lang="ko-KR" altLang="en-US" sz="1600" dirty="0"/>
              <a:t>운송</a:t>
            </a:r>
            <a:r>
              <a:rPr lang="en-US" altLang="ko-KR" sz="1600" dirty="0"/>
              <a:t>, </a:t>
            </a:r>
            <a:r>
              <a:rPr lang="ko-KR" altLang="en-US" sz="1600" dirty="0"/>
              <a:t>재기화 등 다단계 인프라가 필요하다는 점에서 비용 부담이 크다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27400269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0CFD0D-559E-9216-20DF-251B469892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E307D12-1347-8D58-95C3-6015C3E538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천연가스 공급사슬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A05C442-FC90-AC2A-F123-3CEDA909E7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16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E378388-3865-426E-7D9E-E12FC5D97943}"/>
              </a:ext>
            </a:extLst>
          </p:cNvPr>
          <p:cNvSpPr txBox="1"/>
          <p:nvPr/>
        </p:nvSpPr>
        <p:spPr>
          <a:xfrm>
            <a:off x="288790" y="958844"/>
            <a:ext cx="11118453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천연가스는 공급과 수요의 시간차가 존재하기 때문에 저장설비가 필수적이다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저장소는 일반적으로 지하 </a:t>
            </a:r>
            <a:r>
              <a:rPr lang="ko-KR" altLang="en-US" sz="1600" dirty="0" err="1"/>
              <a:t>염동굴</a:t>
            </a:r>
            <a:r>
              <a:rPr lang="en-US" altLang="ko-KR" sz="1600" dirty="0"/>
              <a:t>, </a:t>
            </a:r>
            <a:r>
              <a:rPr lang="ko-KR" altLang="en-US" sz="1600" dirty="0"/>
              <a:t>고갈된 가스전</a:t>
            </a:r>
            <a:r>
              <a:rPr lang="en-US" altLang="ko-KR" sz="1600" dirty="0"/>
              <a:t>, </a:t>
            </a:r>
            <a:r>
              <a:rPr lang="ko-KR" altLang="en-US" sz="1600" dirty="0"/>
              <a:t>수조형 탱크로 구분되며</a:t>
            </a:r>
            <a:r>
              <a:rPr lang="en-US" altLang="ko-KR" sz="1600" dirty="0"/>
              <a:t>, </a:t>
            </a:r>
            <a:r>
              <a:rPr lang="ko-KR" altLang="en-US" sz="1600" dirty="0"/>
              <a:t>계절 수요 변동이 큰 북반구 지역에서는 겨울철 난방 수요 급등에 대비한 계절조절 수단으로 필수적이다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최근에는 수요 예측 기반의 스마트 저장시스템</a:t>
            </a:r>
            <a:r>
              <a:rPr lang="en-US" altLang="ko-KR" sz="1600" dirty="0"/>
              <a:t>, </a:t>
            </a:r>
            <a:r>
              <a:rPr lang="ko-KR" altLang="en-US" sz="1600" dirty="0"/>
              <a:t>가격 변동에 따른 수익 극대화를 위한 전략적 저장 운영이 주목받고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공급사슬의 마지막 단계는 분배이며</a:t>
            </a:r>
            <a:r>
              <a:rPr lang="en-US" altLang="ko-KR" sz="1600" dirty="0"/>
              <a:t>,</a:t>
            </a:r>
            <a:r>
              <a:rPr lang="ko-KR" altLang="en-US" sz="1600" dirty="0"/>
              <a:t> 이는 고압 송수관에서 저압의 지역 공급망으로 천연가스를 전달하는 과정이다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 과정에서는 가정용</a:t>
            </a:r>
            <a:r>
              <a:rPr lang="en-US" altLang="ko-KR" sz="1600" dirty="0"/>
              <a:t>, </a:t>
            </a:r>
            <a:r>
              <a:rPr lang="ko-KR" altLang="en-US" sz="1600" dirty="0"/>
              <a:t>상업용</a:t>
            </a:r>
            <a:r>
              <a:rPr lang="en-US" altLang="ko-KR" sz="1600" dirty="0"/>
              <a:t>, </a:t>
            </a:r>
            <a:r>
              <a:rPr lang="ko-KR" altLang="en-US" sz="1600" dirty="0"/>
              <a:t>산업용 수요자의 안전성과 편의성을 고려하여 압력 조절</a:t>
            </a:r>
            <a:r>
              <a:rPr lang="en-US" altLang="ko-KR" sz="1600" dirty="0"/>
              <a:t>, </a:t>
            </a:r>
            <a:r>
              <a:rPr lang="ko-KR" altLang="en-US" sz="1600" dirty="0"/>
              <a:t>계량기 설치</a:t>
            </a:r>
            <a:r>
              <a:rPr lang="en-US" altLang="ko-KR" sz="1600" dirty="0"/>
              <a:t>, </a:t>
            </a:r>
            <a:r>
              <a:rPr lang="ko-KR" altLang="en-US" sz="1600" dirty="0"/>
              <a:t>품질 보증 등의 절차가 수반된다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천연가스는 주거용 난방</a:t>
            </a:r>
            <a:r>
              <a:rPr lang="en-US" altLang="ko-KR" sz="1600" dirty="0"/>
              <a:t>, </a:t>
            </a:r>
            <a:r>
              <a:rPr lang="ko-KR" altLang="en-US" sz="1600" dirty="0"/>
              <a:t>취사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산업열원</a:t>
            </a:r>
            <a:r>
              <a:rPr lang="en-US" altLang="ko-KR" sz="1600" dirty="0"/>
              <a:t>, </a:t>
            </a:r>
            <a:r>
              <a:rPr lang="ko-KR" altLang="en-US" sz="1600" dirty="0"/>
              <a:t>전력 발전</a:t>
            </a:r>
            <a:r>
              <a:rPr lang="en-US" altLang="ko-KR" sz="1600" dirty="0"/>
              <a:t>, </a:t>
            </a:r>
            <a:r>
              <a:rPr lang="ko-KR" altLang="en-US" sz="1600" dirty="0"/>
              <a:t>화학제품 원료로 다양하게 쓰이고</a:t>
            </a:r>
            <a:r>
              <a:rPr lang="en-US" altLang="ko-KR" sz="1600" dirty="0"/>
              <a:t>, </a:t>
            </a:r>
            <a:r>
              <a:rPr lang="ko-KR" altLang="en-US" sz="1600" dirty="0"/>
              <a:t>교통용 연료로도 쓰인다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압축천연가스 </a:t>
            </a:r>
            <a:r>
              <a:rPr lang="en-US" altLang="ko-KR" sz="1600" dirty="0"/>
              <a:t>(CNG, Compressed Natural Gas)</a:t>
            </a:r>
            <a:r>
              <a:rPr lang="ko-KR" altLang="en-US" sz="1600" dirty="0"/>
              <a:t>는 도시버스나 승용차에</a:t>
            </a:r>
            <a:r>
              <a:rPr lang="en-US" altLang="ko-KR" sz="1600" dirty="0"/>
              <a:t> </a:t>
            </a:r>
            <a:r>
              <a:rPr lang="ko-KR" altLang="en-US" sz="1600" dirty="0"/>
              <a:t>쓰인다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액화천연가스 </a:t>
            </a:r>
            <a:r>
              <a:rPr lang="en-US" altLang="ko-KR" sz="1600" dirty="0"/>
              <a:t>(LNG, Liquified Natural Gas)</a:t>
            </a:r>
            <a:r>
              <a:rPr lang="ko-KR" altLang="en-US" sz="1600" dirty="0"/>
              <a:t>는 트럭</a:t>
            </a:r>
            <a:r>
              <a:rPr lang="en-US" altLang="ko-KR" sz="1600" dirty="0"/>
              <a:t>, </a:t>
            </a:r>
            <a:r>
              <a:rPr lang="ko-KR" altLang="en-US" sz="1600" dirty="0"/>
              <a:t>선박</a:t>
            </a:r>
            <a:r>
              <a:rPr lang="en-US" altLang="ko-KR" sz="1600" dirty="0"/>
              <a:t>, </a:t>
            </a:r>
            <a:r>
              <a:rPr lang="ko-KR" altLang="en-US" sz="1600" dirty="0"/>
              <a:t>철도 등 장거리</a:t>
            </a:r>
            <a:r>
              <a:rPr lang="en-US" altLang="ko-KR" sz="1600" dirty="0"/>
              <a:t>·</a:t>
            </a:r>
            <a:r>
              <a:rPr lang="ko-KR" altLang="en-US" sz="1600" dirty="0"/>
              <a:t>대형 운송수단에 쓰인다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46224870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98C290-92DE-9947-B598-198660309B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F54CB4D-D982-EEAD-F858-758C9A117A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천연가스 공급사슬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3E4E8D8-AA26-04DB-3BB8-BCBD2294CA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17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E063C0F-AE23-70B0-8CD4-785AC69CB882}"/>
              </a:ext>
            </a:extLst>
          </p:cNvPr>
          <p:cNvSpPr txBox="1"/>
          <p:nvPr/>
        </p:nvSpPr>
        <p:spPr>
          <a:xfrm>
            <a:off x="288790" y="958844"/>
            <a:ext cx="11118453" cy="152202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천연가스 공급사슬은 기술</a:t>
            </a:r>
            <a:r>
              <a:rPr lang="en-US" altLang="ko-KR" sz="1600" dirty="0"/>
              <a:t>, </a:t>
            </a:r>
            <a:r>
              <a:rPr lang="ko-KR" altLang="en-US" sz="1600" dirty="0"/>
              <a:t>경제성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환경성</a:t>
            </a:r>
            <a:r>
              <a:rPr lang="en-US" altLang="ko-KR" sz="1600" dirty="0"/>
              <a:t>, </a:t>
            </a:r>
            <a:r>
              <a:rPr lang="ko-KR" altLang="en-US" sz="1600" dirty="0"/>
              <a:t>국제정치가 복합적으로 얽힌 구조로서</a:t>
            </a:r>
            <a:r>
              <a:rPr lang="en-US" altLang="ko-KR" sz="1600" dirty="0"/>
              <a:t>, </a:t>
            </a:r>
            <a:r>
              <a:rPr lang="ko-KR" altLang="en-US" sz="1600" dirty="0"/>
              <a:t>각 단계는 단순한 생산과 수송 이상의 전략적 의미를 갖는다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특히 에너지 안보</a:t>
            </a:r>
            <a:r>
              <a:rPr lang="en-US" altLang="ko-KR" sz="1600" dirty="0"/>
              <a:t>, </a:t>
            </a:r>
            <a:r>
              <a:rPr lang="ko-KR" altLang="en-US" sz="1600" dirty="0"/>
              <a:t>에너지 전환</a:t>
            </a:r>
            <a:r>
              <a:rPr lang="en-US" altLang="ko-KR" sz="1600" dirty="0"/>
              <a:t>, </a:t>
            </a:r>
            <a:r>
              <a:rPr lang="ko-KR" altLang="en-US" sz="1600" dirty="0"/>
              <a:t>탄소중립 목표가 중요한 시대적 과제로 떠오른 현재</a:t>
            </a:r>
            <a:r>
              <a:rPr lang="en-US" altLang="ko-KR" sz="1600" dirty="0"/>
              <a:t>, </a:t>
            </a:r>
            <a:r>
              <a:rPr lang="ko-KR" altLang="en-US" sz="1600" dirty="0"/>
              <a:t>천연가스 공급사슬의 효율성과 탄력성은 국가 및 글로벌 차원의 정책 설계와 시장전략에서 핵심 요소로 작용하고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63365899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B6601A-FB1D-722F-2FC6-1AD571EAC7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0A8D64D-3ECB-6BBC-2840-DD40968194AE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E6F5BF2-6D24-310D-DF42-8B7B3041B3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18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4F8F96F9-B37F-0121-FC63-42BCF036AF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3. </a:t>
            </a:r>
            <a:r>
              <a:rPr lang="ko-KR" altLang="en-US" sz="4000" b="1" i="0" spc="150" dirty="0"/>
              <a:t>천연가스의 시장의 현황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94891061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3E9DA9-730B-BBD9-DA05-39BF2FFD31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547B63E-4028-7888-AD6C-D8E16256E9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천연가스 매장량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ECF2238-501C-5A8A-D9AE-B6619F76C8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19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CF08686-6A82-DD8C-D410-946AAEC7C6B3}"/>
              </a:ext>
            </a:extLst>
          </p:cNvPr>
          <p:cNvSpPr txBox="1"/>
          <p:nvPr/>
        </p:nvSpPr>
        <p:spPr>
          <a:xfrm>
            <a:off x="288790" y="958844"/>
            <a:ext cx="11118453" cy="115268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2020</a:t>
            </a:r>
            <a:r>
              <a:rPr lang="ko-KR" altLang="en-US" sz="1600" dirty="0"/>
              <a:t>년 기준 전 세계 천연가스 확인 매장량은 </a:t>
            </a:r>
            <a:r>
              <a:rPr lang="en-US" altLang="ko-KR" sz="1600" dirty="0"/>
              <a:t>188.1</a:t>
            </a:r>
            <a:r>
              <a:rPr lang="ko-KR" altLang="en-US" sz="1600" dirty="0"/>
              <a:t>조 </a:t>
            </a:r>
            <a:r>
              <a:rPr lang="ko-KR" altLang="en-US" sz="1600" dirty="0" err="1"/>
              <a:t>입방미터에</a:t>
            </a:r>
            <a:r>
              <a:rPr lang="ko-KR" altLang="en-US" sz="1600" dirty="0"/>
              <a:t> 달하며</a:t>
            </a:r>
            <a:r>
              <a:rPr lang="en-US" altLang="ko-KR" sz="1600" dirty="0"/>
              <a:t>, </a:t>
            </a:r>
            <a:r>
              <a:rPr lang="ko-KR" altLang="en-US" sz="1600" dirty="0"/>
              <a:t>이는 </a:t>
            </a:r>
            <a:r>
              <a:rPr lang="en-US" altLang="ko-KR" sz="1600" dirty="0"/>
              <a:t>2000</a:t>
            </a:r>
            <a:r>
              <a:rPr lang="ko-KR" altLang="en-US" sz="1600" dirty="0"/>
              <a:t>년에 비해 약 </a:t>
            </a:r>
            <a:r>
              <a:rPr lang="en-US" altLang="ko-KR" sz="1600" dirty="0"/>
              <a:t>50</a:t>
            </a:r>
            <a:r>
              <a:rPr lang="ko-KR" altLang="en-US" sz="1600" dirty="0"/>
              <a:t>조 </a:t>
            </a:r>
            <a:r>
              <a:rPr lang="ko-KR" altLang="en-US" sz="1600" dirty="0" err="1"/>
              <a:t>입방미터</a:t>
            </a:r>
            <a:r>
              <a:rPr lang="ko-KR" altLang="en-US" sz="1600" dirty="0"/>
              <a:t> 증가한 수치이다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앞서 말한 비전통가스전의 개발 </a:t>
            </a:r>
            <a:r>
              <a:rPr lang="en-US" altLang="ko-KR" sz="1600" dirty="0"/>
              <a:t>(</a:t>
            </a:r>
            <a:r>
              <a:rPr lang="ko-KR" altLang="en-US" sz="1600" dirty="0" err="1"/>
              <a:t>셰일혁명</a:t>
            </a:r>
            <a:r>
              <a:rPr lang="en-US" altLang="ko-KR" sz="1600" dirty="0"/>
              <a:t>), </a:t>
            </a:r>
            <a:r>
              <a:rPr lang="ko-KR" altLang="en-US" sz="1600" dirty="0"/>
              <a:t>시추기술의 발전</a:t>
            </a:r>
            <a:r>
              <a:rPr lang="en-US" altLang="ko-KR" sz="1600" dirty="0"/>
              <a:t>, </a:t>
            </a:r>
            <a:r>
              <a:rPr lang="ko-KR" altLang="en-US" sz="1600" dirty="0"/>
              <a:t>그리고 신규 매장지 발견에 기인한다</a:t>
            </a:r>
            <a:r>
              <a:rPr lang="en-US" altLang="ko-KR" sz="1600" dirty="0"/>
              <a:t>.</a:t>
            </a:r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58874414-3187-17F2-B6B4-B959B766459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36979493"/>
              </p:ext>
            </p:extLst>
          </p:nvPr>
        </p:nvGraphicFramePr>
        <p:xfrm>
          <a:off x="2451498" y="2893903"/>
          <a:ext cx="6150534" cy="3174302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312118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  <a:gridCol w="1232452">
                  <a:extLst>
                    <a:ext uri="{9D8B030D-6E8A-4147-A177-3AD203B41FA5}">
                      <a16:colId xmlns:a16="http://schemas.microsoft.com/office/drawing/2014/main" val="2699398209"/>
                    </a:ext>
                  </a:extLst>
                </a:gridCol>
                <a:gridCol w="1232452">
                  <a:extLst>
                    <a:ext uri="{9D8B030D-6E8A-4147-A177-3AD203B41FA5}">
                      <a16:colId xmlns:a16="http://schemas.microsoft.com/office/drawing/2014/main" val="4042259682"/>
                    </a:ext>
                  </a:extLst>
                </a:gridCol>
                <a:gridCol w="1232452">
                  <a:extLst>
                    <a:ext uri="{9D8B030D-6E8A-4147-A177-3AD203B41FA5}">
                      <a16:colId xmlns:a16="http://schemas.microsoft.com/office/drawing/2014/main" val="3382775548"/>
                    </a:ext>
                  </a:extLst>
                </a:gridCol>
                <a:gridCol w="1141060">
                  <a:extLst>
                    <a:ext uri="{9D8B030D-6E8A-4147-A177-3AD203B41FA5}">
                      <a16:colId xmlns:a16="http://schemas.microsoft.com/office/drawing/2014/main" val="4050302428"/>
                    </a:ext>
                  </a:extLst>
                </a:gridCol>
              </a:tblGrid>
              <a:tr h="158628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지역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2000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년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2010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년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2020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년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매장량</a:t>
                      </a:r>
                      <a:r>
                        <a:rPr lang="en-US" altLang="ko-KR" sz="12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12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생산량</a:t>
                      </a:r>
                      <a:endParaRPr lang="en-US" altLang="ko-KR" sz="12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비율</a:t>
                      </a:r>
                      <a:endParaRPr lang="en-US" altLang="ko-KR" sz="12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북미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7.3 (5.3%)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10.5 (5.8%)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15.2 (8.1%)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13.7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30317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중</a:t>
                      </a: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·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남미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6.8 (4.9%)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8.1 (4.5%)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7.9 (4.2%)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51.7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20443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유럽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5.4 (3.9%)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4.7 (2.6%)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3.2 (1.7%)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14.5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640014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CIS 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국가들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38.6 (27.8%)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51.3 (28.5%)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56.6 (30.1%)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70.5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00147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중동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58.3 (42.2%)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77.8 (43.2%)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75.8 (40.3%)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110.4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25589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아프리카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11.9 (8.6%)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14.0 (7.8%)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12.9 (6.9%)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55.7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13057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아시아태평양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9.8 (7.1%)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13.5 (7.5%)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16.6 (8.8%)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25.4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3298038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세계 전체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138.0 (100%)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179.9 (100%)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188.1 (100%)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48.8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0571874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OECD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13.6 (9.9%)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17.6 (9.8%)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20.3 (10.8%)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13.7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355847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비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OECD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124.4 (90.1%)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162.4 (90.3%)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167.8 (89.2%)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70.6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476459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EU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2.5 (1.8%)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1.6 (0.9%)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0.4 (0.2%)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9.2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1274545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0F3CDDA4-52D1-16CA-EF25-BD298986E2C3}"/>
              </a:ext>
            </a:extLst>
          </p:cNvPr>
          <p:cNvSpPr txBox="1"/>
          <p:nvPr/>
        </p:nvSpPr>
        <p:spPr>
          <a:xfrm>
            <a:off x="3819650" y="2515751"/>
            <a:ext cx="333969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</a:t>
            </a:r>
            <a:r>
              <a:rPr lang="ko-KR" altLang="en-US" sz="1200" spc="-50" dirty="0"/>
              <a:t>천연가스 매장량 </a:t>
            </a:r>
            <a:r>
              <a:rPr lang="en-US" altLang="ko-KR" sz="1200" spc="-50" dirty="0"/>
              <a:t>(</a:t>
            </a:r>
            <a:r>
              <a:rPr lang="ko-KR" altLang="en-US" sz="1200" spc="-50" dirty="0"/>
              <a:t>단위</a:t>
            </a:r>
            <a:r>
              <a:rPr lang="en-US" altLang="ko-KR" sz="1200" spc="-50" dirty="0"/>
              <a:t>: </a:t>
            </a:r>
            <a:r>
              <a:rPr lang="ko-KR" altLang="en-US" sz="1200" spc="-50" dirty="0"/>
              <a:t>조 </a:t>
            </a:r>
            <a:r>
              <a:rPr lang="ko-KR" altLang="en-US" sz="1200" spc="-50" dirty="0" err="1"/>
              <a:t>입방미터</a:t>
            </a:r>
            <a:r>
              <a:rPr lang="en-US" altLang="ko-KR" sz="1200" spc="-50" dirty="0"/>
              <a:t>)&gt;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280054142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363DF5-290A-C7D0-930C-BC27A4A8E3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81A1C8B-7EAA-A808-DED8-50BD33A335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천연가스 매장량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BE45FFF-9023-4A35-4FC1-5015450F43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20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960EA43-0A4C-E6EA-4AC2-C78CE80C6647}"/>
              </a:ext>
            </a:extLst>
          </p:cNvPr>
          <p:cNvSpPr txBox="1"/>
          <p:nvPr/>
        </p:nvSpPr>
        <p:spPr>
          <a:xfrm>
            <a:off x="288790" y="958844"/>
            <a:ext cx="11118453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549275" lvl="1">
              <a:lnSpc>
                <a:spcPct val="150000"/>
              </a:lnSpc>
            </a:pPr>
            <a:r>
              <a:rPr lang="en-US" altLang="ko-KR" sz="1600" dirty="0"/>
              <a:t>(</a:t>
            </a:r>
            <a:r>
              <a:rPr lang="ko-KR" altLang="en-US" sz="1600" dirty="0"/>
              <a:t>전 슬라이드 천연가스 매장량 참고</a:t>
            </a:r>
            <a:r>
              <a:rPr lang="en-US" altLang="ko-KR" sz="1600" dirty="0"/>
              <a:t>)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지역별로 보면</a:t>
            </a:r>
            <a:r>
              <a:rPr lang="en-US" altLang="ko-KR" sz="1600" dirty="0"/>
              <a:t>, </a:t>
            </a:r>
            <a:r>
              <a:rPr lang="ko-KR" altLang="en-US" sz="1600" dirty="0"/>
              <a:t>중동 지역이 전체의 </a:t>
            </a:r>
            <a:r>
              <a:rPr lang="en-US" altLang="ko-KR" sz="1600" dirty="0"/>
              <a:t>40.3%</a:t>
            </a:r>
            <a:r>
              <a:rPr lang="ko-KR" altLang="en-US" sz="1600" dirty="0"/>
              <a:t>를 차지하며</a:t>
            </a:r>
            <a:r>
              <a:rPr lang="en-US" altLang="ko-KR" sz="1600" dirty="0"/>
              <a:t>, </a:t>
            </a:r>
            <a:r>
              <a:rPr lang="ko-KR" altLang="en-US" sz="1600" dirty="0"/>
              <a:t>이란</a:t>
            </a:r>
            <a:r>
              <a:rPr lang="en-US" altLang="ko-KR" sz="1600" dirty="0"/>
              <a:t>(17.1%)</a:t>
            </a:r>
            <a:r>
              <a:rPr lang="ko-KR" altLang="en-US" sz="1600" dirty="0"/>
              <a:t>과 카타르</a:t>
            </a:r>
            <a:r>
              <a:rPr lang="en-US" altLang="ko-KR" sz="1600" dirty="0"/>
              <a:t>(13.1%)</a:t>
            </a:r>
            <a:r>
              <a:rPr lang="ko-KR" altLang="en-US" sz="1600" dirty="0"/>
              <a:t>가 핵심 국가로 부상하고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국가별로는 러시아가 </a:t>
            </a:r>
            <a:r>
              <a:rPr lang="en-US" altLang="ko-KR" sz="1600" dirty="0"/>
              <a:t>19.9%</a:t>
            </a:r>
            <a:r>
              <a:rPr lang="ko-KR" altLang="en-US" sz="1600" dirty="0"/>
              <a:t>의 비중으로</a:t>
            </a:r>
            <a:r>
              <a:rPr lang="en-US" altLang="ko-KR" sz="1600" dirty="0"/>
              <a:t>, </a:t>
            </a:r>
            <a:r>
              <a:rPr lang="ko-KR" altLang="en-US" sz="1600" dirty="0"/>
              <a:t>가장 많은 매장량을 보유하고 있고</a:t>
            </a:r>
            <a:r>
              <a:rPr lang="en-US" altLang="ko-KR" sz="1600" dirty="0"/>
              <a:t>, CIS(</a:t>
            </a:r>
            <a:r>
              <a:rPr lang="ko-KR" altLang="en-US" sz="1600" dirty="0"/>
              <a:t>독립국가연합</a:t>
            </a:r>
            <a:r>
              <a:rPr lang="en-US" altLang="ko-KR" sz="1600" dirty="0"/>
              <a:t>) </a:t>
            </a:r>
            <a:r>
              <a:rPr lang="ko-KR" altLang="en-US" sz="1600" dirty="0"/>
              <a:t>국가들의 비중은 </a:t>
            </a:r>
            <a:r>
              <a:rPr lang="en-US" altLang="ko-KR" sz="1600" dirty="0"/>
              <a:t>30.1%</a:t>
            </a:r>
            <a:r>
              <a:rPr lang="ko-KR" altLang="en-US" sz="1600" dirty="0"/>
              <a:t>에 이른다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그 외에 아시아</a:t>
            </a:r>
            <a:r>
              <a:rPr lang="en-US" altLang="ko-KR" sz="1600" dirty="0"/>
              <a:t>·</a:t>
            </a:r>
            <a:r>
              <a:rPr lang="ko-KR" altLang="en-US" sz="1600" dirty="0"/>
              <a:t>태평양 지역은 </a:t>
            </a:r>
            <a:r>
              <a:rPr lang="en-US" altLang="ko-KR" sz="1600" dirty="0"/>
              <a:t>8.8%, </a:t>
            </a:r>
            <a:r>
              <a:rPr lang="ko-KR" altLang="en-US" sz="1600" dirty="0"/>
              <a:t>북미는 </a:t>
            </a:r>
            <a:r>
              <a:rPr lang="en-US" altLang="ko-KR" sz="1600" dirty="0"/>
              <a:t>8.1%, </a:t>
            </a:r>
            <a:r>
              <a:rPr lang="ko-KR" altLang="en-US" sz="1600" dirty="0"/>
              <a:t>아프리카는 약 </a:t>
            </a:r>
            <a:r>
              <a:rPr lang="en-US" altLang="ko-KR" sz="1600" dirty="0"/>
              <a:t>6.9%, </a:t>
            </a:r>
            <a:r>
              <a:rPr lang="ko-KR" altLang="en-US" sz="1600" dirty="0"/>
              <a:t>중</a:t>
            </a:r>
            <a:r>
              <a:rPr lang="en-US" altLang="ko-KR" sz="1600" dirty="0"/>
              <a:t>·</a:t>
            </a:r>
            <a:r>
              <a:rPr lang="ko-KR" altLang="en-US" sz="1600" dirty="0"/>
              <a:t>남미는 약 </a:t>
            </a:r>
            <a:r>
              <a:rPr lang="en-US" altLang="ko-KR" sz="1600" dirty="0"/>
              <a:t>4.2%</a:t>
            </a:r>
            <a:r>
              <a:rPr lang="ko-KR" altLang="en-US" sz="1600" dirty="0"/>
              <a:t>를 차지하고 있으며</a:t>
            </a:r>
            <a:r>
              <a:rPr lang="en-US" altLang="ko-KR" sz="1600" dirty="0"/>
              <a:t>, </a:t>
            </a:r>
            <a:r>
              <a:rPr lang="ko-KR" altLang="en-US" sz="1600" dirty="0"/>
              <a:t>지역적 다양성이 뚜렷하다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OECD</a:t>
            </a:r>
            <a:r>
              <a:rPr lang="ko-KR" altLang="en-US" sz="1600" dirty="0"/>
              <a:t>국가들의 비중은 </a:t>
            </a:r>
            <a:r>
              <a:rPr lang="en-US" altLang="ko-KR" sz="1600" dirty="0"/>
              <a:t>10.8%, </a:t>
            </a:r>
            <a:r>
              <a:rPr lang="ko-KR" altLang="en-US" sz="1600" dirty="0"/>
              <a:t>비</a:t>
            </a:r>
            <a:r>
              <a:rPr lang="en-US" altLang="ko-KR" sz="1600" dirty="0"/>
              <a:t>OECD</a:t>
            </a:r>
            <a:r>
              <a:rPr lang="ko-KR" altLang="en-US" sz="1600" dirty="0"/>
              <a:t>국가들은 </a:t>
            </a:r>
            <a:r>
              <a:rPr lang="en-US" altLang="ko-KR" sz="1600" dirty="0"/>
              <a:t>89.2%</a:t>
            </a:r>
            <a:r>
              <a:rPr lang="ko-KR" altLang="en-US" sz="1600" dirty="0"/>
              <a:t>로</a:t>
            </a:r>
            <a:r>
              <a:rPr lang="en-US" altLang="ko-KR" sz="1600" dirty="0"/>
              <a:t>, </a:t>
            </a:r>
            <a:r>
              <a:rPr lang="ko-KR" altLang="en-US" sz="1600" dirty="0"/>
              <a:t>비</a:t>
            </a:r>
            <a:r>
              <a:rPr lang="en-US" altLang="ko-KR" sz="1600" dirty="0"/>
              <a:t>OECD</a:t>
            </a:r>
            <a:r>
              <a:rPr lang="ko-KR" altLang="en-US" sz="1600" dirty="0"/>
              <a:t> 국가가 전 세계 천연가스 매장량의 절대다수를 차지하고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한편</a:t>
            </a:r>
            <a:r>
              <a:rPr lang="en-US" altLang="ko-KR" sz="1600" dirty="0"/>
              <a:t>,</a:t>
            </a:r>
            <a:r>
              <a:rPr lang="ko-KR" altLang="en-US" sz="1600" dirty="0"/>
              <a:t> 매장량 대비 생산의 경우에는 지역 간 뚜렷한 차이를 보인다</a:t>
            </a:r>
            <a:r>
              <a:rPr lang="en-US" altLang="ko-KR" sz="1600" dirty="0"/>
              <a:t>. </a:t>
            </a:r>
            <a:r>
              <a:rPr lang="ko-KR" altLang="en-US" sz="1600" dirty="0"/>
              <a:t>북미와 유럽은 상대적으로 매장량이 적지만 기술력과 시장 구조로 인해 생산 비율이 매우 높은 편이다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미국은 전체 확인 매장량의 </a:t>
            </a:r>
            <a:r>
              <a:rPr lang="en-US" altLang="ko-KR" sz="1600" dirty="0"/>
              <a:t>6.9%</a:t>
            </a:r>
            <a:r>
              <a:rPr lang="ko-KR" altLang="en-US" sz="1600" dirty="0"/>
              <a:t>를 보유하고</a:t>
            </a:r>
            <a:r>
              <a:rPr lang="en-US" altLang="ko-KR" sz="1600" dirty="0"/>
              <a:t>, 2000</a:t>
            </a:r>
            <a:r>
              <a:rPr lang="ko-KR" altLang="en-US" sz="1600" dirty="0"/>
              <a:t>년 이후 가장 큰 증가폭을 기록하였다</a:t>
            </a:r>
            <a:r>
              <a:rPr lang="en-US" altLang="ko-KR" sz="1600" dirty="0"/>
              <a:t>. 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한편</a:t>
            </a:r>
            <a:r>
              <a:rPr lang="en-US" altLang="ko-KR" sz="1600" dirty="0"/>
              <a:t>, </a:t>
            </a:r>
            <a:r>
              <a:rPr lang="ko-KR" altLang="en-US" sz="1600" dirty="0"/>
              <a:t>중동과 </a:t>
            </a:r>
            <a:r>
              <a:rPr lang="en-US" altLang="ko-KR" sz="1600" dirty="0"/>
              <a:t>CIS</a:t>
            </a:r>
            <a:r>
              <a:rPr lang="ko-KR" altLang="en-US" sz="1600" dirty="0"/>
              <a:t>국가들은 매장량은 많지만 생산 비율은 상대적으로 낮은 경향을 보인다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04987037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5F2984-FA15-87E9-D2E4-7BFE3AACFB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796A49F-C3A7-9B90-CD6A-C4CEF5656E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천연가스 생산과 공급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1764175-0A68-BAAA-8204-26393F2176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21</a:t>
            </a:fld>
            <a:endParaRPr lang="ko-KR" altLang="en-US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AD4DEE94-B1E1-CFB2-34B7-A5E96A8ADD50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818877" y="3571803"/>
            <a:ext cx="5497287" cy="301061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3F1CCBE-7454-B9A5-7720-EDC29B647D41}"/>
              </a:ext>
            </a:extLst>
          </p:cNvPr>
          <p:cNvSpPr txBox="1"/>
          <p:nvPr/>
        </p:nvSpPr>
        <p:spPr>
          <a:xfrm>
            <a:off x="2242156" y="3310193"/>
            <a:ext cx="2610799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50" spc="-50" dirty="0"/>
              <a:t>&lt; </a:t>
            </a:r>
            <a:r>
              <a:rPr lang="ko-KR" altLang="en-US" sz="1050" spc="-50" dirty="0"/>
              <a:t>지역별 천연가스 생산 </a:t>
            </a:r>
            <a:r>
              <a:rPr lang="en-US" altLang="ko-KR" sz="1050" spc="-50" dirty="0"/>
              <a:t>(10</a:t>
            </a:r>
            <a:r>
              <a:rPr lang="ko-KR" altLang="en-US" sz="1050" spc="-50" dirty="0"/>
              <a:t>억 </a:t>
            </a:r>
            <a:r>
              <a:rPr lang="ko-KR" altLang="en-US" sz="1050" spc="-50" dirty="0" err="1"/>
              <a:t>입방미터</a:t>
            </a:r>
            <a:r>
              <a:rPr lang="en-US" altLang="ko-KR" sz="1050" spc="-50" dirty="0"/>
              <a:t>) &gt;</a:t>
            </a:r>
            <a:endParaRPr lang="ko-KR" altLang="en-US" sz="1050" dirty="0"/>
          </a:p>
        </p:txBody>
      </p:sp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499A89E4-5CF1-8B03-14FD-2DA3D001548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97281950"/>
              </p:ext>
            </p:extLst>
          </p:nvPr>
        </p:nvGraphicFramePr>
        <p:xfrm>
          <a:off x="6868433" y="1535188"/>
          <a:ext cx="4918082" cy="4952260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427427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  <a:gridCol w="1117143">
                  <a:extLst>
                    <a:ext uri="{9D8B030D-6E8A-4147-A177-3AD203B41FA5}">
                      <a16:colId xmlns:a16="http://schemas.microsoft.com/office/drawing/2014/main" val="2699398209"/>
                    </a:ext>
                  </a:extLst>
                </a:gridCol>
                <a:gridCol w="1232452">
                  <a:extLst>
                    <a:ext uri="{9D8B030D-6E8A-4147-A177-3AD203B41FA5}">
                      <a16:colId xmlns:a16="http://schemas.microsoft.com/office/drawing/2014/main" val="4042259682"/>
                    </a:ext>
                  </a:extLst>
                </a:gridCol>
                <a:gridCol w="1141060">
                  <a:extLst>
                    <a:ext uri="{9D8B030D-6E8A-4147-A177-3AD203B41FA5}">
                      <a16:colId xmlns:a16="http://schemas.microsoft.com/office/drawing/2014/main" val="4050302428"/>
                    </a:ext>
                  </a:extLst>
                </a:gridCol>
              </a:tblGrid>
              <a:tr h="158628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지역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2023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년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2013-2023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2023</a:t>
                      </a:r>
                      <a:r>
                        <a:rPr lang="ko-KR" altLang="en-US" sz="12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년 비중</a:t>
                      </a:r>
                      <a:endParaRPr lang="en-US" altLang="ko-KR" sz="12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북미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1,261.1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3.9%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31.1%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30317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미국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1,035.3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4.7%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25.5%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20443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중남미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162.0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-0.7%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640014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유럽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204.3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-3.1%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00147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노르웨이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116.6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0.7%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2.9%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25589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CIS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국가들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773.6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-0.1%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19.1%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13057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러시아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586.4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-0.5%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14.4%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3298038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중동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712.7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2.4%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17.6%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0184896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이란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251.7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6.2%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098118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카타르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181.0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4.5%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4041154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사우디아라비아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114.1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117343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아프리카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253.6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2.5%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6.2%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2629863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 err="1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알제리아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101.5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2.5%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2.5%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0793645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아시아태평양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691.8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17.0%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89338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호주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151.7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9.6%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3.7%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0275683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중국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234.3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421662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전 세계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4,059.2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1.9%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0571874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OECD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1,632.5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40.2%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355847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비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OECD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2,426.8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59.8%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1274545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3DF0C886-A911-8F9D-D149-C963648C3522}"/>
              </a:ext>
            </a:extLst>
          </p:cNvPr>
          <p:cNvSpPr txBox="1"/>
          <p:nvPr/>
        </p:nvSpPr>
        <p:spPr>
          <a:xfrm>
            <a:off x="7259551" y="1195963"/>
            <a:ext cx="424333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</a:t>
            </a:r>
            <a:r>
              <a:rPr lang="ko-KR" altLang="en-US" sz="1200" spc="-50" dirty="0"/>
              <a:t>천연가스 생산량 </a:t>
            </a:r>
            <a:r>
              <a:rPr lang="en-US" altLang="ko-KR" sz="1200" spc="-50" dirty="0"/>
              <a:t>(10</a:t>
            </a:r>
            <a:r>
              <a:rPr lang="ko-KR" altLang="en-US" sz="1200" spc="-50" dirty="0"/>
              <a:t>억 </a:t>
            </a:r>
            <a:r>
              <a:rPr lang="ko-KR" altLang="en-US" sz="1200" spc="-50" dirty="0" err="1"/>
              <a:t>입방미터</a:t>
            </a:r>
            <a:r>
              <a:rPr lang="en-US" altLang="ko-KR" sz="1200" spc="-50" dirty="0"/>
              <a:t>), </a:t>
            </a:r>
            <a:r>
              <a:rPr lang="ko-KR" altLang="en-US" sz="1200" spc="-50" dirty="0"/>
              <a:t>연평균 증가율</a:t>
            </a:r>
            <a:r>
              <a:rPr lang="en-US" altLang="ko-KR" sz="1200" spc="-50" dirty="0"/>
              <a:t>, </a:t>
            </a:r>
            <a:r>
              <a:rPr lang="ko-KR" altLang="en-US" sz="1200" spc="-50" dirty="0"/>
              <a:t>비중</a:t>
            </a:r>
            <a:r>
              <a:rPr lang="en-US" altLang="ko-KR" sz="1200" spc="-50" dirty="0"/>
              <a:t>&gt;</a:t>
            </a:r>
            <a:endParaRPr lang="ko-KR" altLang="en-US" sz="12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3EE3FFC-9C19-7778-B8C0-F0436E73DA17}"/>
              </a:ext>
            </a:extLst>
          </p:cNvPr>
          <p:cNvSpPr txBox="1"/>
          <p:nvPr/>
        </p:nvSpPr>
        <p:spPr>
          <a:xfrm>
            <a:off x="288791" y="958844"/>
            <a:ext cx="6434480" cy="783356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전세계 지역별 천연가스 생산량은 다음과 같다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자세한 설명은 다음 슬라이드를 참고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39445300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336F1-E86B-DE89-08AA-20A661D984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E147D1F-9B67-AD03-46B0-63113EE56A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천연가스 생산과 공급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3C32B9E-35F9-6392-3D7A-09E3391E29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22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5FB9589-1D2C-2751-E66C-880BC01395C0}"/>
              </a:ext>
            </a:extLst>
          </p:cNvPr>
          <p:cNvSpPr txBox="1"/>
          <p:nvPr/>
        </p:nvSpPr>
        <p:spPr>
          <a:xfrm>
            <a:off x="288790" y="958844"/>
            <a:ext cx="11118453" cy="5954002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(</a:t>
            </a:r>
            <a:r>
              <a:rPr lang="ko-KR" altLang="en-US" sz="1600" dirty="0"/>
              <a:t>전 슬라이드 천연가스 생산량 참고</a:t>
            </a:r>
            <a:r>
              <a:rPr lang="en-US" altLang="ko-KR" sz="1600" dirty="0"/>
              <a:t>)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글로벌 천연가스 공급 구조는 지질학적 분포</a:t>
            </a:r>
            <a:r>
              <a:rPr lang="en-US" altLang="ko-KR" sz="1600" dirty="0"/>
              <a:t>, </a:t>
            </a:r>
            <a:r>
              <a:rPr lang="ko-KR" altLang="en-US" sz="1600" dirty="0"/>
              <a:t>기술 발전</a:t>
            </a:r>
            <a:r>
              <a:rPr lang="en-US" altLang="ko-KR" sz="1600" dirty="0"/>
              <a:t>, </a:t>
            </a:r>
            <a:r>
              <a:rPr lang="ko-KR" altLang="en-US" sz="1600" dirty="0"/>
              <a:t>수송 인프라</a:t>
            </a:r>
            <a:r>
              <a:rPr lang="en-US" altLang="ko-KR" sz="1600" dirty="0"/>
              <a:t>, </a:t>
            </a:r>
            <a:r>
              <a:rPr lang="ko-KR" altLang="en-US" sz="1600" dirty="0"/>
              <a:t>지정학적 요인에 의해 복합적으로 형성된다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천연가스 매장지가 상대적으로 넓게 분포되어 있지만</a:t>
            </a:r>
            <a:r>
              <a:rPr lang="en-US" altLang="ko-KR" sz="1600" dirty="0"/>
              <a:t>, </a:t>
            </a:r>
            <a:r>
              <a:rPr lang="ko-KR" altLang="en-US" sz="1600" dirty="0"/>
              <a:t>기체 상태라는 특성으로 인해 수송제약과 시장 분절성을 갖고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미국</a:t>
            </a:r>
            <a:r>
              <a:rPr lang="en-US" altLang="ko-KR" sz="1600" dirty="0"/>
              <a:t>, </a:t>
            </a:r>
            <a:r>
              <a:rPr lang="ko-KR" altLang="en-US" sz="1600" dirty="0"/>
              <a:t>러시아</a:t>
            </a:r>
            <a:r>
              <a:rPr lang="en-US" altLang="ko-KR" sz="1600" dirty="0"/>
              <a:t>, </a:t>
            </a:r>
            <a:r>
              <a:rPr lang="ko-KR" altLang="en-US" sz="1600" dirty="0"/>
              <a:t>이란</a:t>
            </a:r>
            <a:r>
              <a:rPr lang="en-US" altLang="ko-KR" sz="1600" dirty="0"/>
              <a:t>, </a:t>
            </a:r>
            <a:r>
              <a:rPr lang="ko-KR" altLang="en-US" sz="1600" dirty="0"/>
              <a:t>카타르</a:t>
            </a:r>
            <a:r>
              <a:rPr lang="en-US" altLang="ko-KR" sz="1600" dirty="0"/>
              <a:t>, </a:t>
            </a:r>
            <a:r>
              <a:rPr lang="ko-KR" altLang="en-US" sz="1600" dirty="0"/>
              <a:t>캐나다</a:t>
            </a:r>
            <a:r>
              <a:rPr lang="en-US" altLang="ko-KR" sz="1600" dirty="0"/>
              <a:t>, </a:t>
            </a:r>
            <a:r>
              <a:rPr lang="ko-KR" altLang="en-US" sz="1600" dirty="0"/>
              <a:t>호주 등이 주요 생산국이고</a:t>
            </a:r>
            <a:r>
              <a:rPr lang="en-US" altLang="ko-KR" sz="1600" dirty="0"/>
              <a:t>, </a:t>
            </a:r>
            <a:r>
              <a:rPr lang="ko-KR" altLang="en-US" sz="1600" dirty="0"/>
              <a:t>아프리카</a:t>
            </a:r>
            <a:r>
              <a:rPr lang="en-US" altLang="ko-KR" sz="1600" dirty="0"/>
              <a:t>, </a:t>
            </a:r>
            <a:r>
              <a:rPr lang="ko-KR" altLang="en-US" sz="1600" dirty="0"/>
              <a:t>동남아시아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동지중해에서도</a:t>
            </a:r>
            <a:r>
              <a:rPr lang="ko-KR" altLang="en-US" sz="1600" dirty="0"/>
              <a:t> 신규 개발이 활발하다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특히 </a:t>
            </a:r>
            <a:r>
              <a:rPr lang="en-US" altLang="ko-KR" sz="1600" dirty="0"/>
              <a:t>LNG</a:t>
            </a:r>
            <a:r>
              <a:rPr lang="ko-KR" altLang="en-US" sz="1600" dirty="0"/>
              <a:t>의 발전은 글로벌 공급의 유연성을 높이고</a:t>
            </a:r>
            <a:r>
              <a:rPr lang="en-US" altLang="ko-KR" sz="1600" dirty="0"/>
              <a:t>, </a:t>
            </a:r>
            <a:r>
              <a:rPr lang="ko-KR" altLang="en-US" sz="1600" dirty="0"/>
              <a:t>천연가스를 석유처럼 국제적 상품으로 변화시키고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최근 러시아</a:t>
            </a:r>
            <a:r>
              <a:rPr lang="en-US" altLang="ko-KR" sz="1600" dirty="0"/>
              <a:t>-</a:t>
            </a:r>
            <a:r>
              <a:rPr lang="ko-KR" altLang="en-US" sz="1600" dirty="0"/>
              <a:t>우크라이나 전쟁은 유럽 천연가스 수급구조를 급격히 전환시켰으며</a:t>
            </a:r>
            <a:r>
              <a:rPr lang="en-US" altLang="ko-KR" sz="1600" dirty="0"/>
              <a:t>, LNG </a:t>
            </a:r>
            <a:r>
              <a:rPr lang="ko-KR" altLang="en-US" sz="1600" dirty="0"/>
              <a:t>수입 확대와 공급선 다변화로 이어졌고</a:t>
            </a:r>
            <a:r>
              <a:rPr lang="en-US" altLang="ko-KR" sz="1600" dirty="0"/>
              <a:t>, </a:t>
            </a:r>
            <a:r>
              <a:rPr lang="ko-KR" altLang="en-US" sz="1600" dirty="0"/>
              <a:t>글로벌 </a:t>
            </a:r>
            <a:r>
              <a:rPr lang="en-US" altLang="ko-KR" sz="1600" dirty="0"/>
              <a:t>LNG </a:t>
            </a:r>
            <a:r>
              <a:rPr lang="ko-KR" altLang="en-US" sz="1600" dirty="0"/>
              <a:t>시장에 큰 영향을 미치고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천연가스 생산은 최근 미국을 대표하여 북미지역을 중심으로 확대되고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전 세계 천연가스 생산량은 </a:t>
            </a:r>
            <a:r>
              <a:rPr lang="en-US" altLang="ko-KR" sz="1600" dirty="0"/>
              <a:t>4,059 (10</a:t>
            </a:r>
            <a:r>
              <a:rPr lang="ko-KR" altLang="en-US" sz="1600" dirty="0"/>
              <a:t>억 </a:t>
            </a:r>
            <a:r>
              <a:rPr lang="ko-KR" altLang="en-US" sz="1600" dirty="0" err="1"/>
              <a:t>입방미터</a:t>
            </a:r>
            <a:r>
              <a:rPr lang="en-US" altLang="ko-KR" sz="1600" dirty="0"/>
              <a:t>) </a:t>
            </a:r>
            <a:r>
              <a:rPr lang="ko-KR" altLang="en-US" sz="1600" dirty="0"/>
              <a:t>였으며</a:t>
            </a:r>
            <a:r>
              <a:rPr lang="en-US" altLang="ko-KR" sz="1600" dirty="0"/>
              <a:t>, 2013-2023</a:t>
            </a:r>
            <a:r>
              <a:rPr lang="ko-KR" altLang="en-US" sz="1600" dirty="0"/>
              <a:t>년 연평균 </a:t>
            </a:r>
            <a:r>
              <a:rPr lang="en-US" altLang="ko-KR" sz="1600" dirty="0"/>
              <a:t>1.9%</a:t>
            </a:r>
            <a:r>
              <a:rPr lang="ko-KR" altLang="en-US" sz="1600" dirty="0"/>
              <a:t>의 생산 증가율을 보였다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국가별로는 미국</a:t>
            </a:r>
            <a:r>
              <a:rPr lang="en-US" altLang="ko-KR" sz="1600" dirty="0"/>
              <a:t> (25.5%), </a:t>
            </a:r>
            <a:r>
              <a:rPr lang="ko-KR" altLang="en-US" sz="1600" dirty="0"/>
              <a:t>러시아 </a:t>
            </a:r>
            <a:r>
              <a:rPr lang="en-US" altLang="ko-KR" sz="1600" dirty="0"/>
              <a:t>(14.4%), </a:t>
            </a:r>
            <a:r>
              <a:rPr lang="ko-KR" altLang="en-US" sz="1600" dirty="0"/>
              <a:t>이란 </a:t>
            </a:r>
            <a:r>
              <a:rPr lang="en-US" altLang="ko-KR" sz="1600" dirty="0"/>
              <a:t>(6.2%), </a:t>
            </a:r>
            <a:r>
              <a:rPr lang="ko-KR" altLang="en-US" sz="1600" dirty="0"/>
              <a:t>중국</a:t>
            </a:r>
            <a:r>
              <a:rPr lang="en-US" altLang="ko-KR" sz="1600" dirty="0"/>
              <a:t>(5.8%), </a:t>
            </a:r>
            <a:r>
              <a:rPr lang="ko-KR" altLang="en-US" sz="1600" dirty="0"/>
              <a:t>카타르</a:t>
            </a:r>
            <a:r>
              <a:rPr lang="en-US" altLang="ko-KR" sz="1600" dirty="0"/>
              <a:t>(4.5%) </a:t>
            </a:r>
            <a:r>
              <a:rPr lang="ko-KR" altLang="en-US" sz="1600" dirty="0"/>
              <a:t>순으로 나타난다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304906862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1E2C3B-A89A-72B3-BD4F-F249C65D32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184C92F-7AFE-0090-83AA-E608D29A38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천연가스 소비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78A85F3-242E-5721-7234-F0FECC171E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23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BD1E939-BBD3-0EE3-011D-46642F478A6D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글로벌 천연가스 소비는 국가별 산업구조</a:t>
            </a:r>
            <a:r>
              <a:rPr lang="en-US" altLang="ko-KR" sz="1600" dirty="0"/>
              <a:t>, </a:t>
            </a:r>
            <a:r>
              <a:rPr lang="ko-KR" altLang="en-US" sz="1600" dirty="0"/>
              <a:t>에너지 정책</a:t>
            </a:r>
            <a:r>
              <a:rPr lang="en-US" altLang="ko-KR" sz="1600" dirty="0"/>
              <a:t>, </a:t>
            </a:r>
            <a:r>
              <a:rPr lang="ko-KR" altLang="en-US" sz="1600" dirty="0"/>
              <a:t>환경 규제 등에 따라 지역별</a:t>
            </a:r>
            <a:r>
              <a:rPr lang="en-US" altLang="ko-KR" sz="1600" dirty="0"/>
              <a:t>·</a:t>
            </a:r>
            <a:r>
              <a:rPr lang="ko-KR" altLang="en-US" sz="1600" dirty="0"/>
              <a:t>부문별로 상이한 양상을 보인다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천연가스는 전력생산</a:t>
            </a:r>
            <a:r>
              <a:rPr lang="en-US" altLang="ko-KR" sz="1600" dirty="0"/>
              <a:t>, </a:t>
            </a:r>
            <a:r>
              <a:rPr lang="ko-KR" altLang="en-US" sz="1600" dirty="0"/>
              <a:t>산업 공정</a:t>
            </a:r>
            <a:r>
              <a:rPr lang="en-US" altLang="ko-KR" sz="1600" dirty="0"/>
              <a:t>, </a:t>
            </a:r>
            <a:r>
              <a:rPr lang="ko-KR" altLang="en-US" sz="1600" dirty="0"/>
              <a:t>주거 및 상업용 에너지</a:t>
            </a:r>
            <a:r>
              <a:rPr lang="en-US" altLang="ko-KR" sz="1600" dirty="0"/>
              <a:t>, </a:t>
            </a:r>
            <a:r>
              <a:rPr lang="ko-KR" altLang="en-US" sz="1600" dirty="0"/>
              <a:t>교통 연료 등 다양한 부문에서 소비되며</a:t>
            </a:r>
            <a:r>
              <a:rPr lang="en-US" altLang="ko-KR" sz="1600" dirty="0"/>
              <a:t>, </a:t>
            </a:r>
            <a:r>
              <a:rPr lang="ko-KR" altLang="en-US" sz="1600" dirty="0"/>
              <a:t>이 중 전력 생산 부문이 전체 소비에서 가장 높은 비중을 차지하고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/>
              <a:t>LNG </a:t>
            </a:r>
            <a:r>
              <a:rPr lang="ko-KR" altLang="en-US" sz="1600" dirty="0"/>
              <a:t>기술 발전으로 해상 운송이 보편화 되면서</a:t>
            </a:r>
            <a:r>
              <a:rPr lang="en-US" altLang="ko-KR" sz="1600" dirty="0"/>
              <a:t>, </a:t>
            </a:r>
            <a:r>
              <a:rPr lang="ko-KR" altLang="en-US" sz="1600" dirty="0"/>
              <a:t>국제 무역 기반구조로 전환되고 있다</a:t>
            </a:r>
            <a:r>
              <a:rPr lang="en-US" altLang="ko-KR" sz="1600" dirty="0"/>
              <a:t>.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석유와 유사하게 글로벌 </a:t>
            </a:r>
            <a:r>
              <a:rPr lang="ko-KR" altLang="en-US" sz="1600" dirty="0" err="1"/>
              <a:t>상품으로서의</a:t>
            </a:r>
            <a:r>
              <a:rPr lang="ko-KR" altLang="en-US" sz="1600" dirty="0"/>
              <a:t> 성격이 강화되고 있고</a:t>
            </a:r>
            <a:r>
              <a:rPr lang="en-US" altLang="ko-KR" sz="1600" dirty="0"/>
              <a:t>, </a:t>
            </a:r>
            <a:r>
              <a:rPr lang="ko-KR" altLang="en-US" sz="1600" dirty="0"/>
              <a:t>지역별 가격차이도 점차 축소되고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지역별로 천연가스 소비를 살펴보면 아래와 같다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북미와 유럽은 천연가스 인프라가 조기에 구축되어 다양한 최종수요 부문에 걸쳐 소비가 확산 </a:t>
            </a:r>
            <a:r>
              <a:rPr lang="ko-KR" altLang="en-US" sz="1600" dirty="0" err="1"/>
              <a:t>됬다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특히 유럽은 강화된 환경 규제와 탈탄소화 정책 기조 하에서 천연가스를 전환 연료로 적극 활용하고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이에 반해 중국</a:t>
            </a:r>
            <a:r>
              <a:rPr lang="en-US" altLang="ko-KR" sz="1600" dirty="0"/>
              <a:t>, </a:t>
            </a:r>
            <a:r>
              <a:rPr lang="ko-KR" altLang="en-US" sz="1600" dirty="0"/>
              <a:t>인도</a:t>
            </a:r>
            <a:r>
              <a:rPr lang="en-US" altLang="ko-KR" sz="1600" dirty="0"/>
              <a:t>, </a:t>
            </a:r>
            <a:r>
              <a:rPr lang="ko-KR" altLang="en-US" sz="1600" dirty="0"/>
              <a:t>동남아시아 등 신흥 경제권에서는 급속한 도시화</a:t>
            </a:r>
            <a:r>
              <a:rPr lang="en-US" altLang="ko-KR" sz="1600" dirty="0"/>
              <a:t>, </a:t>
            </a:r>
            <a:r>
              <a:rPr lang="ko-KR" altLang="en-US" sz="1600" dirty="0"/>
              <a:t>산업화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대기질</a:t>
            </a:r>
            <a:r>
              <a:rPr lang="ko-KR" altLang="en-US" sz="1600" dirty="0"/>
              <a:t> 개선을 위한 환경정책 강화에 힘입어 천연가스 수요가 급증하고 있고</a:t>
            </a:r>
            <a:r>
              <a:rPr lang="en-US" altLang="ko-KR" sz="1600" dirty="0"/>
              <a:t>, </a:t>
            </a:r>
            <a:r>
              <a:rPr lang="ko-KR" altLang="en-US" sz="1600" dirty="0"/>
              <a:t>중국은 이미 세계 최대 </a:t>
            </a:r>
            <a:r>
              <a:rPr lang="en-US" altLang="ko-KR" sz="1600" dirty="0"/>
              <a:t>LNG </a:t>
            </a:r>
            <a:r>
              <a:rPr lang="ko-KR" altLang="en-US" sz="1600" dirty="0"/>
              <a:t>수입국으로 부상하였다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부문별 천연가스 소비를 살펴보면 아래와 같다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산업부문에서 천연가스는 비료</a:t>
            </a:r>
            <a:r>
              <a:rPr lang="en-US" altLang="ko-KR" sz="1600" dirty="0"/>
              <a:t>, </a:t>
            </a:r>
            <a:r>
              <a:rPr lang="ko-KR" altLang="en-US" sz="1600" dirty="0"/>
              <a:t>수소</a:t>
            </a:r>
            <a:r>
              <a:rPr lang="en-US" altLang="ko-KR" sz="1600" dirty="0"/>
              <a:t>, </a:t>
            </a:r>
            <a:r>
              <a:rPr lang="ko-KR" altLang="en-US" sz="1600" dirty="0"/>
              <a:t>메탄올 생산의 핵심 원료로 활용되고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주거 및 상업부문에서는 난방 및 취사용 연료로 폭넓게 사용되고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교통부문에서는 압축천연가스</a:t>
            </a:r>
            <a:r>
              <a:rPr lang="en-US" altLang="ko-KR" sz="1600" dirty="0"/>
              <a:t>(CNG) </a:t>
            </a:r>
            <a:r>
              <a:rPr lang="ko-KR" altLang="en-US" sz="1600" dirty="0"/>
              <a:t>및 액화천연가스</a:t>
            </a:r>
            <a:r>
              <a:rPr lang="en-US" altLang="ko-KR" sz="1600" dirty="0"/>
              <a:t>(LNG) </a:t>
            </a:r>
            <a:r>
              <a:rPr lang="ko-KR" altLang="en-US" sz="1600" dirty="0"/>
              <a:t>형태로 도로 운송 및 해상 운송 </a:t>
            </a:r>
            <a:r>
              <a:rPr lang="ko-KR" altLang="en-US" sz="1600" dirty="0" err="1"/>
              <a:t>연료로서의</a:t>
            </a:r>
            <a:r>
              <a:rPr lang="ko-KR" altLang="en-US" sz="1600" dirty="0"/>
              <a:t> 수요가 확대되고 있고</a:t>
            </a:r>
            <a:r>
              <a:rPr lang="en-US" altLang="ko-KR" sz="1600" dirty="0"/>
              <a:t>,</a:t>
            </a:r>
            <a:r>
              <a:rPr lang="ko-KR" altLang="en-US" sz="1600" dirty="0"/>
              <a:t> 국제해사기구의 환경규제 강화 이후 선박 연료로 </a:t>
            </a:r>
            <a:r>
              <a:rPr lang="en-US" altLang="ko-KR" sz="1600" dirty="0"/>
              <a:t>LNG </a:t>
            </a:r>
            <a:r>
              <a:rPr lang="ko-KR" altLang="en-US" sz="1600" dirty="0"/>
              <a:t>채택이 가속화되고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78107783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DF155C-58EF-18EB-06AE-0AA94563D3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4DF2DAD-306B-2C33-111C-754C95CF23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천연가스 소비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24F58A4-42E1-C70A-40DE-E6B2E3E283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24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C567704-3EE6-A1CF-D52C-1312B053E69F}"/>
              </a:ext>
            </a:extLst>
          </p:cNvPr>
          <p:cNvSpPr txBox="1"/>
          <p:nvPr/>
        </p:nvSpPr>
        <p:spPr>
          <a:xfrm>
            <a:off x="288790" y="958844"/>
            <a:ext cx="11118453" cy="783356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전세계 지역별 천연가스 소비량은 다음과 같다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자세한 설명은 다음 슬라이드</a:t>
            </a:r>
            <a:r>
              <a:rPr lang="en-US" altLang="ko-KR" sz="1600" dirty="0"/>
              <a:t>.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C83D58B6-F585-B128-1ABC-F5CA282D5A15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1037626" y="3167269"/>
            <a:ext cx="5626805" cy="3032936"/>
          </a:xfrm>
          <a:prstGeom prst="rect">
            <a:avLst/>
          </a:prstGeom>
        </p:spPr>
      </p:pic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764C8809-B218-BFA8-993A-8DB0A088039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97556406"/>
              </p:ext>
            </p:extLst>
          </p:nvPr>
        </p:nvGraphicFramePr>
        <p:xfrm>
          <a:off x="6868433" y="1535188"/>
          <a:ext cx="4918082" cy="4952260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427427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  <a:gridCol w="1117143">
                  <a:extLst>
                    <a:ext uri="{9D8B030D-6E8A-4147-A177-3AD203B41FA5}">
                      <a16:colId xmlns:a16="http://schemas.microsoft.com/office/drawing/2014/main" val="2699398209"/>
                    </a:ext>
                  </a:extLst>
                </a:gridCol>
                <a:gridCol w="1232452">
                  <a:extLst>
                    <a:ext uri="{9D8B030D-6E8A-4147-A177-3AD203B41FA5}">
                      <a16:colId xmlns:a16="http://schemas.microsoft.com/office/drawing/2014/main" val="4042259682"/>
                    </a:ext>
                  </a:extLst>
                </a:gridCol>
                <a:gridCol w="1141060">
                  <a:extLst>
                    <a:ext uri="{9D8B030D-6E8A-4147-A177-3AD203B41FA5}">
                      <a16:colId xmlns:a16="http://schemas.microsoft.com/office/drawing/2014/main" val="4050302428"/>
                    </a:ext>
                  </a:extLst>
                </a:gridCol>
              </a:tblGrid>
              <a:tr h="158628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지역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2023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년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2013-2023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2023</a:t>
                      </a:r>
                      <a:r>
                        <a:rPr lang="ko-KR" altLang="en-US" sz="12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년 비중</a:t>
                      </a:r>
                      <a:endParaRPr lang="en-US" altLang="ko-KR" sz="12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북미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1,104.8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2.2%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27.5%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30317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캐나다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120.7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1.4%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20443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멕시코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97.6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2.4%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640014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미국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886.5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22.1%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00147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중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·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남미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161.7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-0.3%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25589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유럽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463.4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-1.8%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11.6%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13057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CIS 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국가들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596.0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14.9%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3298038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러시아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453.4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0.7%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11.3%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0184896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중동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577.7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3.2%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14.4%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098118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이란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245.6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4041154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사우디아라비아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114.1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117343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아프리카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171.2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3.9%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2629863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아시아태평양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935.4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3.2%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23.3%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0793645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중국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404.8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8.9%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89338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일본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92.4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-2.9%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0275683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한국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60.1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0.9%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1.5%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421662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전 세계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4,010.2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1.7%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0571874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OECD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1,757.0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43.8%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355847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비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OECD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2,253.2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2.5%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56.2%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1274545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298B2977-5DB8-37A7-6BAE-542B311C119C}"/>
              </a:ext>
            </a:extLst>
          </p:cNvPr>
          <p:cNvSpPr txBox="1"/>
          <p:nvPr/>
        </p:nvSpPr>
        <p:spPr>
          <a:xfrm>
            <a:off x="7259551" y="1195963"/>
            <a:ext cx="424333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</a:t>
            </a:r>
            <a:r>
              <a:rPr lang="ko-KR" altLang="en-US" sz="1200" spc="-50" dirty="0"/>
              <a:t>천연가스 소비량 </a:t>
            </a:r>
            <a:r>
              <a:rPr lang="en-US" altLang="ko-KR" sz="1200" spc="-50" dirty="0"/>
              <a:t>(10</a:t>
            </a:r>
            <a:r>
              <a:rPr lang="ko-KR" altLang="en-US" sz="1200" spc="-50" dirty="0"/>
              <a:t>억 </a:t>
            </a:r>
            <a:r>
              <a:rPr lang="ko-KR" altLang="en-US" sz="1200" spc="-50" dirty="0" err="1"/>
              <a:t>입방미터</a:t>
            </a:r>
            <a:r>
              <a:rPr lang="en-US" altLang="ko-KR" sz="1200" spc="-50" dirty="0"/>
              <a:t>), </a:t>
            </a:r>
            <a:r>
              <a:rPr lang="ko-KR" altLang="en-US" sz="1200" spc="-50" dirty="0"/>
              <a:t>연평균 증가율</a:t>
            </a:r>
            <a:r>
              <a:rPr lang="en-US" altLang="ko-KR" sz="1200" spc="-50" dirty="0"/>
              <a:t>, </a:t>
            </a:r>
            <a:r>
              <a:rPr lang="ko-KR" altLang="en-US" sz="1200" spc="-50" dirty="0"/>
              <a:t>비중</a:t>
            </a:r>
            <a:r>
              <a:rPr lang="en-US" altLang="ko-KR" sz="1200" spc="-50" dirty="0"/>
              <a:t>&gt;</a:t>
            </a:r>
            <a:endParaRPr lang="ko-KR" altLang="en-US" sz="12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2FDDE0E-F2F2-AA6F-41E0-D505C63829BC}"/>
              </a:ext>
            </a:extLst>
          </p:cNvPr>
          <p:cNvSpPr txBox="1"/>
          <p:nvPr/>
        </p:nvSpPr>
        <p:spPr>
          <a:xfrm>
            <a:off x="2489530" y="2905659"/>
            <a:ext cx="2610799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50" spc="-50" dirty="0"/>
              <a:t>&lt; </a:t>
            </a:r>
            <a:r>
              <a:rPr lang="ko-KR" altLang="en-US" sz="1050" spc="-50" dirty="0"/>
              <a:t>지역별 천연가스 소비 </a:t>
            </a:r>
            <a:r>
              <a:rPr lang="en-US" altLang="ko-KR" sz="1050" spc="-50" dirty="0"/>
              <a:t>(10</a:t>
            </a:r>
            <a:r>
              <a:rPr lang="ko-KR" altLang="en-US" sz="1050" spc="-50" dirty="0"/>
              <a:t>억 </a:t>
            </a:r>
            <a:r>
              <a:rPr lang="ko-KR" altLang="en-US" sz="1050" spc="-50" dirty="0" err="1"/>
              <a:t>입방미터</a:t>
            </a:r>
            <a:r>
              <a:rPr lang="en-US" altLang="ko-KR" sz="1050" spc="-50" dirty="0"/>
              <a:t>) &gt;</a:t>
            </a:r>
            <a:endParaRPr lang="ko-KR" altLang="en-US" sz="1050" dirty="0"/>
          </a:p>
        </p:txBody>
      </p:sp>
    </p:spTree>
    <p:extLst>
      <p:ext uri="{BB962C8B-B14F-4D97-AF65-F5344CB8AC3E}">
        <p14:creationId xmlns:p14="http://schemas.microsoft.com/office/powerpoint/2010/main" val="286960035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07A0E8-E7A5-3314-B9C8-607A82B19A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225CFA1-4E05-CAE3-2C03-29702A7E12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천연가스 생산과 공급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E795313-750D-CD91-97FE-83D26228FF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25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6D7E24E-418F-8903-D73E-01934DA43B34}"/>
              </a:ext>
            </a:extLst>
          </p:cNvPr>
          <p:cNvSpPr txBox="1"/>
          <p:nvPr/>
        </p:nvSpPr>
        <p:spPr>
          <a:xfrm>
            <a:off x="288790" y="958844"/>
            <a:ext cx="11118453" cy="410734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(</a:t>
            </a:r>
            <a:r>
              <a:rPr lang="ko-KR" altLang="en-US" sz="1600" dirty="0"/>
              <a:t>전 슬라이드 천연가스 소비량 참고</a:t>
            </a:r>
            <a:r>
              <a:rPr lang="en-US" altLang="ko-KR" sz="1600" dirty="0"/>
              <a:t>)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천연가스 소비는 북미 지역과 아시아태평양 지역을 중심으로 </a:t>
            </a:r>
            <a:r>
              <a:rPr lang="en-US" altLang="ko-KR" sz="1600" dirty="0"/>
              <a:t>2013~2023</a:t>
            </a:r>
            <a:r>
              <a:rPr lang="ko-KR" altLang="en-US" sz="1600" dirty="0"/>
              <a:t>년 기간에 증가하는 추세를 보이고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중동의 소비도 지속적으로 증가하고 있으며 유럽과 </a:t>
            </a:r>
            <a:r>
              <a:rPr lang="en-US" altLang="ko-KR" sz="1600" dirty="0"/>
              <a:t>CIS</a:t>
            </a:r>
            <a:r>
              <a:rPr lang="ko-KR" altLang="en-US" sz="1600" dirty="0"/>
              <a:t> 국가들을 포함한 다른 지역도 같은 기간 비슷한 수준이다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2023</a:t>
            </a:r>
            <a:r>
              <a:rPr lang="ko-KR" altLang="en-US" sz="1600" dirty="0"/>
              <a:t>년 전 세계 천연가스 소비는 </a:t>
            </a:r>
            <a:r>
              <a:rPr lang="en-US" altLang="ko-KR" sz="1600" dirty="0"/>
              <a:t>4,010.2 (10</a:t>
            </a:r>
            <a:r>
              <a:rPr lang="ko-KR" altLang="en-US" sz="1600" dirty="0"/>
              <a:t>억 </a:t>
            </a:r>
            <a:r>
              <a:rPr lang="ko-KR" altLang="en-US" sz="1600" dirty="0" err="1"/>
              <a:t>입방미터</a:t>
            </a:r>
            <a:r>
              <a:rPr lang="en-US" altLang="ko-KR" sz="1600" dirty="0"/>
              <a:t>) </a:t>
            </a:r>
            <a:r>
              <a:rPr lang="ko-KR" altLang="en-US" sz="1600" dirty="0"/>
              <a:t>였으며</a:t>
            </a:r>
            <a:r>
              <a:rPr lang="en-US" altLang="ko-KR" sz="1600" dirty="0"/>
              <a:t>, 2013~2023</a:t>
            </a:r>
            <a:r>
              <a:rPr lang="ko-KR" altLang="en-US" sz="1600" dirty="0"/>
              <a:t>년 기간 동안 </a:t>
            </a:r>
            <a:r>
              <a:rPr lang="en-US" altLang="ko-KR" sz="1600" dirty="0"/>
              <a:t>1.7%</a:t>
            </a:r>
            <a:r>
              <a:rPr lang="ko-KR" altLang="en-US" sz="1600" dirty="0"/>
              <a:t>의 성장률을 보였다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지역별 소비 비중은 북미</a:t>
            </a:r>
            <a:r>
              <a:rPr lang="en-US" altLang="ko-KR" sz="1600" dirty="0"/>
              <a:t>(27.5%), </a:t>
            </a:r>
            <a:r>
              <a:rPr lang="ko-KR" altLang="en-US" sz="1600" dirty="0"/>
              <a:t>아시아태평양</a:t>
            </a:r>
            <a:r>
              <a:rPr lang="en-US" altLang="ko-KR" sz="1600" dirty="0"/>
              <a:t>(23.3%), CIS</a:t>
            </a:r>
            <a:r>
              <a:rPr lang="ko-KR" altLang="en-US" sz="1600" dirty="0"/>
              <a:t>국가들</a:t>
            </a:r>
            <a:r>
              <a:rPr lang="en-US" altLang="ko-KR" sz="1600" dirty="0"/>
              <a:t>(14.9%), </a:t>
            </a:r>
            <a:r>
              <a:rPr lang="ko-KR" altLang="en-US" sz="1600" dirty="0"/>
              <a:t>중동</a:t>
            </a:r>
            <a:r>
              <a:rPr lang="en-US" altLang="ko-KR" sz="1600" dirty="0"/>
              <a:t>(14.4%) </a:t>
            </a:r>
            <a:r>
              <a:rPr lang="ko-KR" altLang="en-US" sz="1600" dirty="0"/>
              <a:t>순으로 나타난다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아시아</a:t>
            </a:r>
            <a:r>
              <a:rPr lang="en-US" altLang="ko-KR" sz="1600" dirty="0"/>
              <a:t>, </a:t>
            </a:r>
            <a:r>
              <a:rPr lang="ko-KR" altLang="en-US" sz="1600" dirty="0"/>
              <a:t>아프리카</a:t>
            </a:r>
            <a:r>
              <a:rPr lang="en-US" altLang="ko-KR" sz="1600" dirty="0"/>
              <a:t>, </a:t>
            </a:r>
            <a:r>
              <a:rPr lang="ko-KR" altLang="en-US" sz="1600" dirty="0"/>
              <a:t>중동</a:t>
            </a:r>
            <a:r>
              <a:rPr lang="en-US" altLang="ko-KR" sz="1600" dirty="0"/>
              <a:t>,</a:t>
            </a:r>
            <a:r>
              <a:rPr lang="ko-KR" altLang="en-US" sz="1600" dirty="0"/>
              <a:t> 북미 지역은 빠른 소비증가율을 보인 반면</a:t>
            </a:r>
            <a:r>
              <a:rPr lang="en-US" altLang="ko-KR" sz="1600" dirty="0"/>
              <a:t>, </a:t>
            </a:r>
            <a:r>
              <a:rPr lang="ko-KR" altLang="en-US" sz="1600" dirty="0"/>
              <a:t>유럽과 중</a:t>
            </a:r>
            <a:r>
              <a:rPr lang="en-US" altLang="ko-KR" sz="1600" dirty="0"/>
              <a:t>·</a:t>
            </a:r>
            <a:r>
              <a:rPr lang="ko-KR" altLang="en-US" sz="1600" dirty="0"/>
              <a:t>남미는 성장률이 감소하였다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국가별 소비로는 미국</a:t>
            </a:r>
            <a:r>
              <a:rPr lang="en-US" altLang="ko-KR" sz="1600" dirty="0"/>
              <a:t>(22.1%), </a:t>
            </a:r>
            <a:r>
              <a:rPr lang="ko-KR" altLang="en-US" sz="1600" dirty="0"/>
              <a:t>러시아</a:t>
            </a:r>
            <a:r>
              <a:rPr lang="en-US" altLang="ko-KR" sz="1600" dirty="0"/>
              <a:t>(11.3%),</a:t>
            </a:r>
            <a:r>
              <a:rPr lang="ko-KR" altLang="en-US" sz="1600" dirty="0"/>
              <a:t> 중국</a:t>
            </a:r>
            <a:r>
              <a:rPr lang="en-US" altLang="ko-KR" sz="1600" dirty="0"/>
              <a:t>(10.1%), </a:t>
            </a:r>
            <a:r>
              <a:rPr lang="ko-KR" altLang="en-US" sz="1600" dirty="0"/>
              <a:t>이란</a:t>
            </a:r>
            <a:r>
              <a:rPr lang="en-US" altLang="ko-KR" sz="1600" dirty="0"/>
              <a:t>(6.1%) </a:t>
            </a:r>
            <a:r>
              <a:rPr lang="ko-KR" altLang="en-US" sz="1600" dirty="0"/>
              <a:t>순으로 전세계에서 차지하는 비중이 높았다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한국의 소비 비중은 </a:t>
            </a:r>
            <a:r>
              <a:rPr lang="en-US" altLang="ko-KR" sz="1600" dirty="0"/>
              <a:t>1.5%</a:t>
            </a:r>
            <a:r>
              <a:rPr lang="ko-KR" altLang="en-US" sz="1600" dirty="0"/>
              <a:t>으로 나타났다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/>
              <a:t>OECD</a:t>
            </a:r>
            <a:r>
              <a:rPr lang="ko-KR" altLang="en-US" sz="1600" dirty="0"/>
              <a:t> 국가들의 비중은 </a:t>
            </a:r>
            <a:r>
              <a:rPr lang="en-US" altLang="ko-KR" sz="1600" dirty="0"/>
              <a:t>43.8%</a:t>
            </a:r>
            <a:r>
              <a:rPr lang="ko-KR" altLang="en-US" sz="1600" dirty="0"/>
              <a:t>를 나타내었으며 비</a:t>
            </a:r>
            <a:r>
              <a:rPr lang="en-US" altLang="ko-KR" sz="1600" dirty="0"/>
              <a:t>OECD</a:t>
            </a:r>
            <a:r>
              <a:rPr lang="ko-KR" altLang="en-US" sz="1600" dirty="0"/>
              <a:t>국가들의 비중은 </a:t>
            </a:r>
            <a:r>
              <a:rPr lang="en-US" altLang="ko-KR" sz="1600" dirty="0"/>
              <a:t>56.2%</a:t>
            </a:r>
            <a:r>
              <a:rPr lang="ko-KR" altLang="en-US" sz="1600" dirty="0"/>
              <a:t>를 나타내었다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42331329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53CCBB-A096-4F5E-82A0-6FA451650A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A390E5F-A4F8-AAD3-CC8B-AB68364297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천연가스 소비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83DFC10-B1F8-C620-A895-687007ABFB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26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D9406ED-3EC3-CA2F-B6EB-A9691A7965F6}"/>
              </a:ext>
            </a:extLst>
          </p:cNvPr>
          <p:cNvSpPr txBox="1"/>
          <p:nvPr/>
        </p:nvSpPr>
        <p:spPr>
          <a:xfrm>
            <a:off x="288790" y="958844"/>
            <a:ext cx="11118453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글로벌 액화천연가스</a:t>
            </a:r>
            <a:r>
              <a:rPr lang="en-US" altLang="ko-KR" sz="1600" dirty="0"/>
              <a:t>(LNG) </a:t>
            </a:r>
            <a:r>
              <a:rPr lang="ko-KR" altLang="en-US" sz="1600" dirty="0"/>
              <a:t>수입은 지난 수십 년간 에너지 시장에서 가장 빠르게 성장한 분야이다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공급망 유연성 증대와 에너지 안보 강화에 핵심적 역할을 해왔다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기존 파이프라인 수송 방식에 비해</a:t>
            </a:r>
            <a:r>
              <a:rPr lang="en-US" altLang="ko-KR" sz="1600" dirty="0"/>
              <a:t>, </a:t>
            </a:r>
            <a:r>
              <a:rPr lang="ko-KR" altLang="en-US" sz="1600" dirty="0"/>
              <a:t>거리 및 지정학적 제약으로부터 자유롭기 때문에 천연가스 국제무역을 가능하게 하는 핵심 기술이 되었다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천연가스 자원이 풍부한 북미</a:t>
            </a:r>
            <a:r>
              <a:rPr lang="en-US" altLang="ko-KR" sz="1600" dirty="0"/>
              <a:t>, </a:t>
            </a:r>
            <a:r>
              <a:rPr lang="ko-KR" altLang="en-US" sz="1600" dirty="0"/>
              <a:t>중동</a:t>
            </a:r>
            <a:r>
              <a:rPr lang="en-US" altLang="ko-KR" sz="1600" dirty="0"/>
              <a:t>, </a:t>
            </a:r>
            <a:r>
              <a:rPr lang="ko-KR" altLang="en-US" sz="1600" dirty="0"/>
              <a:t>러시아 등의 지역에서 생산된 가스가</a:t>
            </a:r>
            <a:r>
              <a:rPr lang="en-US" altLang="ko-KR" sz="1600" dirty="0"/>
              <a:t>, </a:t>
            </a:r>
            <a:r>
              <a:rPr lang="ko-KR" altLang="en-US" sz="1600" dirty="0"/>
              <a:t>수요가 집중된 동아시아</a:t>
            </a:r>
            <a:r>
              <a:rPr lang="en-US" altLang="ko-KR" sz="1600" dirty="0"/>
              <a:t>, </a:t>
            </a:r>
            <a:r>
              <a:rPr lang="ko-KR" altLang="en-US" sz="1600" dirty="0"/>
              <a:t>유럽</a:t>
            </a:r>
            <a:r>
              <a:rPr lang="en-US" altLang="ko-KR" sz="1600" dirty="0"/>
              <a:t>, </a:t>
            </a:r>
            <a:r>
              <a:rPr lang="ko-KR" altLang="en-US" sz="1600" dirty="0"/>
              <a:t>남아시아 지역으로 이전됨으로써 천연가스는 석유 시장과 유사한 통합성과 유연성을 갖춘 글로벌 상품으로 진화하고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수입국 측면에서 아시아는 전세계 </a:t>
            </a:r>
            <a:r>
              <a:rPr lang="en-US" altLang="ko-KR" sz="1600" dirty="0"/>
              <a:t>LNG </a:t>
            </a:r>
            <a:r>
              <a:rPr lang="ko-KR" altLang="en-US" sz="1600" dirty="0"/>
              <a:t>수요의 중심지로 부상하였다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일본은 오랜 기간 세계 최대 </a:t>
            </a:r>
            <a:r>
              <a:rPr lang="en-US" altLang="ko-KR" sz="1600" dirty="0"/>
              <a:t>LNG </a:t>
            </a:r>
            <a:r>
              <a:rPr lang="ko-KR" altLang="en-US" sz="1600" dirty="0"/>
              <a:t>수입국의 지위를 유지하였고</a:t>
            </a:r>
            <a:r>
              <a:rPr lang="en-US" altLang="ko-KR" sz="1600" dirty="0"/>
              <a:t>, 2011</a:t>
            </a:r>
            <a:r>
              <a:rPr lang="ko-KR" altLang="en-US" sz="1600" dirty="0"/>
              <a:t>년 후쿠시마 원전 사고 이후 원전 의존도를 대폭 축소하고</a:t>
            </a:r>
            <a:r>
              <a:rPr lang="en-US" altLang="ko-KR" sz="1600" dirty="0"/>
              <a:t>, LNG </a:t>
            </a:r>
            <a:r>
              <a:rPr lang="ko-KR" altLang="en-US" sz="1600" dirty="0"/>
              <a:t>수입을 대체 에너지원으로 급격히 확대하였다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중국은 최근 에너지 수요 급증과 </a:t>
            </a:r>
            <a:r>
              <a:rPr lang="ko-KR" altLang="en-US" sz="1600" dirty="0" err="1"/>
              <a:t>대기질</a:t>
            </a:r>
            <a:r>
              <a:rPr lang="ko-KR" altLang="en-US" sz="1600" dirty="0"/>
              <a:t> 개선 목표에 따라 </a:t>
            </a:r>
            <a:r>
              <a:rPr lang="en-US" altLang="ko-KR" sz="1600" dirty="0"/>
              <a:t>LNG </a:t>
            </a:r>
            <a:r>
              <a:rPr lang="ko-KR" altLang="en-US" sz="1600" dirty="0"/>
              <a:t>수입을 대폭 늘려</a:t>
            </a:r>
            <a:r>
              <a:rPr lang="en-US" altLang="ko-KR" sz="1600" dirty="0"/>
              <a:t>, 2021</a:t>
            </a:r>
            <a:r>
              <a:rPr lang="ko-KR" altLang="en-US" sz="1600" dirty="0"/>
              <a:t>년 처음으로 일본을 제치고 세계 최대 </a:t>
            </a:r>
            <a:r>
              <a:rPr lang="en-US" altLang="ko-KR" sz="1600" dirty="0"/>
              <a:t>LNG </a:t>
            </a:r>
            <a:r>
              <a:rPr lang="ko-KR" altLang="en-US" sz="1600" dirty="0"/>
              <a:t>수입국이 되었다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인도와 한국 또한 수입량을 지속적으로 확대하고 있으며</a:t>
            </a:r>
            <a:r>
              <a:rPr lang="en-US" altLang="ko-KR" sz="1600" dirty="0"/>
              <a:t>, </a:t>
            </a:r>
            <a:r>
              <a:rPr lang="ko-KR" altLang="en-US" sz="1600" dirty="0"/>
              <a:t>아시아 전체는 현재 글로벌 </a:t>
            </a:r>
            <a:r>
              <a:rPr lang="en-US" altLang="ko-KR" sz="1600" dirty="0"/>
              <a:t>LNG </a:t>
            </a:r>
            <a:r>
              <a:rPr lang="ko-KR" altLang="en-US" sz="1600" dirty="0"/>
              <a:t>수입의 약 </a:t>
            </a:r>
            <a:r>
              <a:rPr lang="en-US" altLang="ko-KR" sz="1600" dirty="0"/>
              <a:t>70%</a:t>
            </a:r>
            <a:r>
              <a:rPr lang="ko-KR" altLang="en-US" sz="1600" dirty="0"/>
              <a:t>를 차지하고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43532466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A8CD1B-9FA0-D50E-9F70-DB9EB64D92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9B34FB3-EDD9-C0E4-685A-3951CEB745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천연가스 소비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48B2577-1AF3-CD0B-486F-C29A2495E7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27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DD62BF2-D3B7-7B98-DDD0-10A5909F39DB}"/>
              </a:ext>
            </a:extLst>
          </p:cNvPr>
          <p:cNvSpPr txBox="1"/>
          <p:nvPr/>
        </p:nvSpPr>
        <p:spPr>
          <a:xfrm>
            <a:off x="288790" y="958844"/>
            <a:ext cx="11118453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유럽 역시 </a:t>
            </a:r>
            <a:r>
              <a:rPr lang="en-US" altLang="ko-KR" sz="1600" dirty="0"/>
              <a:t>LNG </a:t>
            </a:r>
            <a:r>
              <a:rPr lang="ko-KR" altLang="en-US" sz="1600" dirty="0"/>
              <a:t>수입 시장에서 중요한 변화를 보이고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과거 유럽은 러시아산 파이프라인 가스에 대한 높은 의존도를 보여왔지만</a:t>
            </a:r>
            <a:r>
              <a:rPr lang="en-US" altLang="ko-KR" sz="1600" dirty="0"/>
              <a:t>, 2022</a:t>
            </a:r>
            <a:r>
              <a:rPr lang="ko-KR" altLang="en-US" sz="1600" dirty="0"/>
              <a:t>년 </a:t>
            </a:r>
            <a:r>
              <a:rPr lang="ko-KR" altLang="en-US" sz="1600" dirty="0" err="1"/>
              <a:t>러이사</a:t>
            </a:r>
            <a:r>
              <a:rPr lang="en-US" altLang="ko-KR" sz="1600" dirty="0"/>
              <a:t>-</a:t>
            </a:r>
            <a:r>
              <a:rPr lang="ko-KR" altLang="en-US" sz="1600" dirty="0"/>
              <a:t>우크라이나 전쟁 이후 에너지 안보에 대한 우려가 급증하여 </a:t>
            </a:r>
            <a:r>
              <a:rPr lang="en-US" altLang="ko-KR" sz="1600" dirty="0"/>
              <a:t>LNG</a:t>
            </a:r>
            <a:r>
              <a:rPr lang="ko-KR" altLang="en-US" sz="1600" dirty="0"/>
              <a:t>수입을 전략적으로 확대하는 방향으로 전환하였다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독일</a:t>
            </a:r>
            <a:r>
              <a:rPr lang="en-US" altLang="ko-KR" sz="1600" dirty="0"/>
              <a:t>, </a:t>
            </a:r>
            <a:r>
              <a:rPr lang="ko-KR" altLang="en-US" sz="1600" dirty="0"/>
              <a:t>폴란드</a:t>
            </a:r>
            <a:r>
              <a:rPr lang="en-US" altLang="ko-KR" sz="1600" dirty="0"/>
              <a:t>, </a:t>
            </a:r>
            <a:r>
              <a:rPr lang="ko-KR" altLang="en-US" sz="1600" dirty="0"/>
              <a:t>핀란드 등은 기존에 부재하던 </a:t>
            </a:r>
            <a:r>
              <a:rPr lang="en-US" altLang="ko-KR" sz="1600" dirty="0"/>
              <a:t>LNG </a:t>
            </a:r>
            <a:r>
              <a:rPr lang="ko-KR" altLang="en-US" sz="1600" dirty="0"/>
              <a:t>터미널을 신속히 구축하거나 기존 시설을 확장하였고</a:t>
            </a:r>
            <a:r>
              <a:rPr lang="en-US" altLang="ko-KR" sz="1600" dirty="0"/>
              <a:t>, </a:t>
            </a:r>
            <a:r>
              <a:rPr lang="ko-KR" altLang="en-US" sz="1600" dirty="0"/>
              <a:t>미국 및 카타르 등으로부터 장기 수입계약 체결을 통해 공급선 다변화를 적극 추진하고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그 결과 </a:t>
            </a:r>
            <a:r>
              <a:rPr lang="en-US" altLang="ko-KR" sz="1600" dirty="0"/>
              <a:t>2022-2023</a:t>
            </a:r>
            <a:r>
              <a:rPr lang="ko-KR" altLang="en-US" sz="1600" dirty="0"/>
              <a:t>년 사이 유럽의 </a:t>
            </a:r>
            <a:r>
              <a:rPr lang="en-US" altLang="ko-KR" sz="1600" dirty="0"/>
              <a:t>LNG </a:t>
            </a:r>
            <a:r>
              <a:rPr lang="ko-KR" altLang="en-US" sz="1600" dirty="0"/>
              <a:t>수입량은 전년 대비 약 </a:t>
            </a:r>
            <a:r>
              <a:rPr lang="en-US" altLang="ko-KR" sz="1600" dirty="0"/>
              <a:t>60% </a:t>
            </a:r>
            <a:r>
              <a:rPr lang="ko-KR" altLang="en-US" sz="1600" dirty="0"/>
              <a:t>증가하였으며</a:t>
            </a:r>
            <a:r>
              <a:rPr lang="en-US" altLang="ko-KR" sz="1600" dirty="0"/>
              <a:t>, </a:t>
            </a:r>
            <a:r>
              <a:rPr lang="ko-KR" altLang="en-US" sz="1600" dirty="0"/>
              <a:t>이는 글로벌 </a:t>
            </a:r>
            <a:r>
              <a:rPr lang="en-US" altLang="ko-KR" sz="1600" dirty="0"/>
              <a:t>LNG </a:t>
            </a:r>
            <a:r>
              <a:rPr lang="ko-KR" altLang="en-US" sz="1600" dirty="0"/>
              <a:t>수급 및 가격에 상당한 파급효과를 미쳤다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글로벌 </a:t>
            </a:r>
            <a:r>
              <a:rPr lang="en-US" altLang="ko-KR" sz="1600" dirty="0"/>
              <a:t>LNG </a:t>
            </a:r>
            <a:r>
              <a:rPr lang="ko-KR" altLang="en-US" sz="1600" dirty="0"/>
              <a:t>시장은 계약 구조 측면에서도 중요한 변화를 경험하고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과거에는 </a:t>
            </a:r>
            <a:r>
              <a:rPr lang="en-US" altLang="ko-KR" sz="1600" dirty="0"/>
              <a:t>20</a:t>
            </a:r>
            <a:r>
              <a:rPr lang="ko-KR" altLang="en-US" sz="1600" dirty="0"/>
              <a:t>년 이상의 장기 고정가격 계약이 시장의 표준이었으나</a:t>
            </a:r>
            <a:r>
              <a:rPr lang="en-US" altLang="ko-KR" sz="1600" dirty="0"/>
              <a:t>, </a:t>
            </a:r>
            <a:r>
              <a:rPr lang="ko-KR" altLang="en-US" sz="1600" dirty="0"/>
              <a:t>최근에는 현물 시장 및 단기 계약의 비중이 늘고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이는 수요의 변동성 증가</a:t>
            </a:r>
            <a:r>
              <a:rPr lang="en-US" altLang="ko-KR" sz="1600" dirty="0"/>
              <a:t>, </a:t>
            </a:r>
            <a:r>
              <a:rPr lang="ko-KR" altLang="en-US" sz="1600" dirty="0"/>
              <a:t>시장 가격에 대한 민감성 강화</a:t>
            </a:r>
            <a:r>
              <a:rPr lang="en-US" altLang="ko-KR" sz="1600" dirty="0"/>
              <a:t>, </a:t>
            </a:r>
            <a:r>
              <a:rPr lang="ko-KR" altLang="en-US" sz="1600" dirty="0"/>
              <a:t>공급국 간 경쟁 심화 등과 같은 요인에 기인하며</a:t>
            </a:r>
            <a:r>
              <a:rPr lang="en-US" altLang="ko-KR" sz="1600" dirty="0"/>
              <a:t>, </a:t>
            </a:r>
            <a:r>
              <a:rPr lang="ko-KR" altLang="en-US" sz="1600" dirty="0"/>
              <a:t>결과적으로 </a:t>
            </a:r>
            <a:r>
              <a:rPr lang="en-US" altLang="ko-KR" sz="1600" dirty="0"/>
              <a:t>LNG </a:t>
            </a:r>
            <a:r>
              <a:rPr lang="ko-KR" altLang="en-US" sz="1600" dirty="0"/>
              <a:t>거래의 유연성과 시장 반응성을 높이는 방향으로 시장이 진화하고 있음을 의미한다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13982691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C58AE2-422F-6289-068D-E8103D8736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124D0AD-4F6D-3A3C-06AC-C3F166CC0A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천연가스 소비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701E83C-7DFA-2013-71AA-569E4F430E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28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C3193F3-D9D8-8D01-FFC2-86AF9E53B9A1}"/>
              </a:ext>
            </a:extLst>
          </p:cNvPr>
          <p:cNvSpPr txBox="1"/>
          <p:nvPr/>
        </p:nvSpPr>
        <p:spPr>
          <a:xfrm>
            <a:off x="288790" y="958844"/>
            <a:ext cx="11118453" cy="226068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한편</a:t>
            </a:r>
            <a:r>
              <a:rPr lang="en-US" altLang="ko-KR" sz="1600" dirty="0"/>
              <a:t>, LNG </a:t>
            </a:r>
            <a:r>
              <a:rPr lang="ko-KR" altLang="en-US" sz="1600" dirty="0"/>
              <a:t>수입 확대는 인프라 구축과 밀접하게 연계되어 있으며</a:t>
            </a:r>
            <a:r>
              <a:rPr lang="en-US" altLang="ko-KR" sz="1600" dirty="0"/>
              <a:t>, </a:t>
            </a:r>
            <a:r>
              <a:rPr lang="ko-KR" altLang="en-US" sz="1600" dirty="0"/>
              <a:t>이에 따라 수입국의 정책적 의지</a:t>
            </a:r>
            <a:r>
              <a:rPr lang="en-US" altLang="ko-KR" sz="1600" dirty="0"/>
              <a:t>, </a:t>
            </a:r>
            <a:r>
              <a:rPr lang="ko-KR" altLang="en-US" sz="1600" dirty="0"/>
              <a:t>제도적 환경</a:t>
            </a:r>
            <a:r>
              <a:rPr lang="en-US" altLang="ko-KR" sz="1600" dirty="0"/>
              <a:t>, </a:t>
            </a:r>
            <a:r>
              <a:rPr lang="ko-KR" altLang="en-US" sz="1600" dirty="0"/>
              <a:t>기술 역량 등에 따라 확대 속도와 범위에 상당한 차이가 나타나고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아시아 및 유럽의 선진국들은 재기화터미널</a:t>
            </a:r>
            <a:r>
              <a:rPr lang="en-US" altLang="ko-KR" sz="1600" dirty="0"/>
              <a:t>, </a:t>
            </a:r>
            <a:r>
              <a:rPr lang="ko-KR" altLang="en-US" sz="1600" dirty="0"/>
              <a:t>저장 설비</a:t>
            </a:r>
            <a:r>
              <a:rPr lang="en-US" altLang="ko-KR" sz="1600" dirty="0"/>
              <a:t>, </a:t>
            </a:r>
            <a:r>
              <a:rPr lang="ko-KR" altLang="en-US" sz="1600" dirty="0"/>
              <a:t>전용 운반선 확보 등에서 상대적 우위에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한편 일부 개발도상국은 재정적</a:t>
            </a:r>
            <a:r>
              <a:rPr lang="en-US" altLang="ko-KR" sz="1600" dirty="0"/>
              <a:t>·</a:t>
            </a:r>
            <a:r>
              <a:rPr lang="ko-KR" altLang="en-US" sz="1600" dirty="0"/>
              <a:t>기술적 제약으로 인해 </a:t>
            </a:r>
            <a:r>
              <a:rPr lang="en-US" altLang="ko-KR" sz="1600" dirty="0"/>
              <a:t>LNG </a:t>
            </a:r>
            <a:r>
              <a:rPr lang="ko-KR" altLang="en-US" sz="1600" dirty="0"/>
              <a:t>수입 확대에 구조적 어려움을 겪고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이러한 한계를 극복하기 위한 대안이 </a:t>
            </a:r>
            <a:r>
              <a:rPr lang="ko-KR" altLang="en-US" sz="1600" dirty="0" err="1"/>
              <a:t>부유식</a:t>
            </a:r>
            <a:r>
              <a:rPr lang="ko-KR" altLang="en-US" sz="1600" dirty="0"/>
              <a:t> 저장 및 재기화 설비 이며</a:t>
            </a:r>
            <a:r>
              <a:rPr lang="en-US" altLang="ko-KR" sz="1600" dirty="0"/>
              <a:t>, </a:t>
            </a:r>
            <a:r>
              <a:rPr lang="ko-KR" altLang="en-US" sz="1600" dirty="0"/>
              <a:t>이는 초기 투자비용을 절감하고</a:t>
            </a:r>
            <a:r>
              <a:rPr lang="en-US" altLang="ko-KR" sz="1600" dirty="0"/>
              <a:t>, </a:t>
            </a:r>
            <a:r>
              <a:rPr lang="ko-KR" altLang="en-US" sz="1600" dirty="0"/>
              <a:t>신속한 배치가 가능하다는 점에서 신흥국 시장에서 광범위하게 채택되고 있다</a:t>
            </a:r>
            <a:r>
              <a:rPr lang="en-US" altLang="ko-KR" sz="1600" dirty="0"/>
              <a:t>.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3736BE1C-4ED8-BE9F-1913-1F5FCA0FA896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292"/>
          <a:stretch>
            <a:fillRect/>
          </a:stretch>
        </p:blipFill>
        <p:spPr>
          <a:xfrm>
            <a:off x="6348255" y="3645192"/>
            <a:ext cx="5554955" cy="289171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FBB1B0C-7D04-3FAA-B7B2-C7F3F0B7BD7D}"/>
              </a:ext>
            </a:extLst>
          </p:cNvPr>
          <p:cNvSpPr txBox="1"/>
          <p:nvPr/>
        </p:nvSpPr>
        <p:spPr>
          <a:xfrm>
            <a:off x="7512785" y="3570199"/>
            <a:ext cx="322589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50" spc="-50" dirty="0"/>
              <a:t>&lt; </a:t>
            </a:r>
            <a:r>
              <a:rPr lang="ko-KR" altLang="en-US" sz="1050" spc="-50" dirty="0"/>
              <a:t>주요 국가의 천연가스 수입량  </a:t>
            </a:r>
            <a:r>
              <a:rPr lang="en-US" altLang="ko-KR" sz="1050" spc="-50" dirty="0"/>
              <a:t>(10</a:t>
            </a:r>
            <a:r>
              <a:rPr lang="ko-KR" altLang="en-US" sz="1050" spc="-50" dirty="0"/>
              <a:t>억 </a:t>
            </a:r>
            <a:r>
              <a:rPr lang="ko-KR" altLang="en-US" sz="1050" spc="-50" dirty="0" err="1"/>
              <a:t>입방미터</a:t>
            </a:r>
            <a:r>
              <a:rPr lang="en-US" altLang="ko-KR" sz="1050" spc="-50" dirty="0"/>
              <a:t>) &gt;</a:t>
            </a:r>
            <a:endParaRPr lang="ko-KR" altLang="en-US" sz="105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1F33EDC-027D-1970-6B61-0B9CA05B79C2}"/>
              </a:ext>
            </a:extLst>
          </p:cNvPr>
          <p:cNvSpPr txBox="1"/>
          <p:nvPr/>
        </p:nvSpPr>
        <p:spPr>
          <a:xfrm>
            <a:off x="288791" y="3334360"/>
            <a:ext cx="6165018" cy="226068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오른쪽 그래프에서 보듯이 </a:t>
            </a:r>
            <a:r>
              <a:rPr lang="en-US" altLang="ko-KR" sz="1600" dirty="0"/>
              <a:t>LNG</a:t>
            </a:r>
            <a:r>
              <a:rPr lang="ko-KR" altLang="en-US" sz="1600" dirty="0"/>
              <a:t> 주요 수입국은 중국</a:t>
            </a:r>
            <a:r>
              <a:rPr lang="en-US" altLang="ko-KR" sz="1600" dirty="0"/>
              <a:t>, </a:t>
            </a:r>
            <a:r>
              <a:rPr lang="ko-KR" altLang="en-US" sz="1600" dirty="0"/>
              <a:t>인도</a:t>
            </a:r>
            <a:r>
              <a:rPr lang="en-US" altLang="ko-KR" sz="1600" dirty="0"/>
              <a:t>, </a:t>
            </a:r>
            <a:r>
              <a:rPr lang="ko-KR" altLang="en-US" sz="1600" dirty="0"/>
              <a:t>일본</a:t>
            </a:r>
            <a:r>
              <a:rPr lang="en-US" altLang="ko-KR" sz="1600" dirty="0"/>
              <a:t>, </a:t>
            </a:r>
            <a:r>
              <a:rPr lang="ko-KR" altLang="en-US" sz="1600" dirty="0"/>
              <a:t>한국</a:t>
            </a:r>
            <a:r>
              <a:rPr lang="en-US" altLang="ko-KR" sz="1600" dirty="0"/>
              <a:t>, </a:t>
            </a:r>
            <a:r>
              <a:rPr lang="ko-KR" altLang="en-US" sz="1600" dirty="0"/>
              <a:t>프랑스</a:t>
            </a:r>
            <a:r>
              <a:rPr lang="en-US" altLang="ko-KR" sz="1600" dirty="0"/>
              <a:t>, </a:t>
            </a:r>
            <a:r>
              <a:rPr lang="ko-KR" altLang="en-US" sz="1600" dirty="0"/>
              <a:t>대만 등이다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/>
              <a:t>2013-2023</a:t>
            </a:r>
            <a:r>
              <a:rPr lang="ko-KR" altLang="en-US" sz="1600" dirty="0"/>
              <a:t>년 기간동안 중국</a:t>
            </a:r>
            <a:r>
              <a:rPr lang="en-US" altLang="ko-KR" sz="1600" dirty="0"/>
              <a:t>, </a:t>
            </a:r>
            <a:r>
              <a:rPr lang="ko-KR" altLang="en-US" sz="1600" dirty="0"/>
              <a:t>한국</a:t>
            </a:r>
            <a:r>
              <a:rPr lang="en-US" altLang="ko-KR" sz="1600" dirty="0"/>
              <a:t>, </a:t>
            </a:r>
            <a:r>
              <a:rPr lang="ko-KR" altLang="en-US" sz="1600" dirty="0"/>
              <a:t>인도를 중심으로 증가하고 있다</a:t>
            </a:r>
            <a:r>
              <a:rPr lang="en-US" altLang="ko-KR" sz="160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특히 중국은 동 기간에 수입량이 </a:t>
            </a:r>
            <a:r>
              <a:rPr lang="en-US" altLang="ko-KR" sz="1600" dirty="0"/>
              <a:t>25.2</a:t>
            </a:r>
            <a:r>
              <a:rPr lang="ko-KR" altLang="en-US" sz="1600" dirty="0"/>
              <a:t>에서 </a:t>
            </a:r>
            <a:r>
              <a:rPr lang="en-US" altLang="ko-KR" sz="1600" dirty="0"/>
              <a:t>97.8</a:t>
            </a:r>
            <a:r>
              <a:rPr lang="ko-KR" altLang="en-US" sz="1600" dirty="0"/>
              <a:t>로 증가하였으며</a:t>
            </a:r>
            <a:r>
              <a:rPr lang="en-US" altLang="ko-KR" sz="1600" dirty="0"/>
              <a:t>, </a:t>
            </a:r>
            <a:r>
              <a:rPr lang="ko-KR" altLang="en-US" sz="1600" dirty="0"/>
              <a:t>연평균 </a:t>
            </a:r>
            <a:r>
              <a:rPr lang="en-US" altLang="ko-KR" sz="1600" dirty="0"/>
              <a:t>14.6% </a:t>
            </a:r>
            <a:r>
              <a:rPr lang="ko-KR" altLang="en-US" sz="1600" dirty="0"/>
              <a:t>증가세를 보였다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43088798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943A93-811A-7438-46BE-889A474EA2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E37FFF7-50F9-EC5D-F629-AAA85F8C74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천연가스 소비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B27DCB1-B9DA-147E-0B55-B74914C095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29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4017E8F-A809-1BFB-9CD5-F388D10C5549}"/>
              </a:ext>
            </a:extLst>
          </p:cNvPr>
          <p:cNvSpPr txBox="1"/>
          <p:nvPr/>
        </p:nvSpPr>
        <p:spPr>
          <a:xfrm>
            <a:off x="288790" y="958844"/>
            <a:ext cx="11118453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글로벌 </a:t>
            </a:r>
            <a:r>
              <a:rPr lang="en-US" altLang="ko-KR" sz="1600" dirty="0"/>
              <a:t>LNG </a:t>
            </a:r>
            <a:r>
              <a:rPr lang="ko-KR" altLang="en-US" sz="1600" dirty="0"/>
              <a:t>수출 시장은 과거 몇몇 중동 및 동남아시아 국가에 집중되어 있었으나</a:t>
            </a:r>
            <a:r>
              <a:rPr lang="en-US" altLang="ko-KR" sz="1600" dirty="0"/>
              <a:t>, </a:t>
            </a:r>
            <a:r>
              <a:rPr lang="ko-KR" altLang="en-US" sz="1600" dirty="0"/>
              <a:t>최근 수십년간 기술 혁신과 투자 확대를 통해 공급국의 지리적 다양성이 확대되고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전통적으로 카타르</a:t>
            </a:r>
            <a:r>
              <a:rPr lang="en-US" altLang="ko-KR" sz="1600" dirty="0"/>
              <a:t>, </a:t>
            </a:r>
            <a:r>
              <a:rPr lang="ko-KR" altLang="en-US" sz="1600" dirty="0"/>
              <a:t>말레이시아</a:t>
            </a:r>
            <a:r>
              <a:rPr lang="en-US" altLang="ko-KR" sz="1600" dirty="0"/>
              <a:t>, </a:t>
            </a:r>
            <a:r>
              <a:rPr lang="ko-KR" altLang="en-US" sz="1600" dirty="0"/>
              <a:t>인도네시아 등은 세계 </a:t>
            </a:r>
            <a:r>
              <a:rPr lang="en-US" altLang="ko-KR" sz="1600" dirty="0"/>
              <a:t>LNG </a:t>
            </a:r>
            <a:r>
              <a:rPr lang="ko-KR" altLang="en-US" sz="1600" dirty="0"/>
              <a:t>수출량의 대부분을 차지해왔다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최근에는 미국과 호주가 주요 수출국으로 급부상하면서 글로벌 수출 구조에 큰 변화를 가져왔다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미국은 </a:t>
            </a:r>
            <a:r>
              <a:rPr lang="ko-KR" altLang="en-US" sz="1600" dirty="0" err="1"/>
              <a:t>셰일가스</a:t>
            </a:r>
            <a:r>
              <a:rPr lang="ko-KR" altLang="en-US" sz="1600" dirty="0"/>
              <a:t> 생산량의 급증과 함께 사빈패스</a:t>
            </a:r>
            <a:r>
              <a:rPr lang="en-US" altLang="ko-KR" sz="1600" dirty="0"/>
              <a:t>, </a:t>
            </a:r>
            <a:r>
              <a:rPr lang="ko-KR" altLang="en-US" sz="1600" dirty="0"/>
              <a:t>캐머런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프리포트</a:t>
            </a:r>
            <a:r>
              <a:rPr lang="ko-KR" altLang="en-US" sz="1600" dirty="0"/>
              <a:t> </a:t>
            </a:r>
            <a:r>
              <a:rPr lang="en-US" altLang="ko-KR" sz="1600" dirty="0"/>
              <a:t>(</a:t>
            </a:r>
            <a:r>
              <a:rPr lang="ko-KR" altLang="en-US" sz="1600" dirty="0"/>
              <a:t>미국 지명</a:t>
            </a:r>
            <a:r>
              <a:rPr lang="en-US" altLang="ko-KR" sz="1600" dirty="0"/>
              <a:t>)</a:t>
            </a:r>
            <a:r>
              <a:rPr lang="ko-KR" altLang="en-US" sz="1600" dirty="0"/>
              <a:t> 등 주요 액화설비에 대한 공격적인 투자를 통해 </a:t>
            </a:r>
            <a:r>
              <a:rPr lang="en-US" altLang="ko-KR" sz="1600" dirty="0"/>
              <a:t>2016</a:t>
            </a:r>
            <a:r>
              <a:rPr lang="ko-KR" altLang="en-US" sz="1600" dirty="0"/>
              <a:t>년 이후 본격적인 수출국으로 부상하였고</a:t>
            </a:r>
            <a:r>
              <a:rPr lang="en-US" altLang="ko-KR" sz="1600" dirty="0"/>
              <a:t>, 2023</a:t>
            </a:r>
            <a:r>
              <a:rPr lang="ko-KR" altLang="en-US" sz="1600" dirty="0"/>
              <a:t>년에는 세계 최대 </a:t>
            </a:r>
            <a:r>
              <a:rPr lang="en-US" altLang="ko-KR" sz="1600" dirty="0"/>
              <a:t>LNG</a:t>
            </a:r>
            <a:r>
              <a:rPr lang="ko-KR" altLang="en-US" sz="1600" dirty="0"/>
              <a:t> 수출국이 되었다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호주는 고르곤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휘트스톤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이치시스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프렐류드</a:t>
            </a:r>
            <a:r>
              <a:rPr lang="ko-KR" altLang="en-US" sz="1600" dirty="0"/>
              <a:t> </a:t>
            </a:r>
            <a:r>
              <a:rPr lang="en-US" altLang="ko-KR" sz="1600" dirty="0"/>
              <a:t>(</a:t>
            </a:r>
            <a:r>
              <a:rPr lang="ko-KR" altLang="en-US" sz="1600" dirty="0"/>
              <a:t>호주 지명</a:t>
            </a:r>
            <a:r>
              <a:rPr lang="en-US" altLang="ko-KR" sz="1600" dirty="0"/>
              <a:t>) </a:t>
            </a:r>
            <a:r>
              <a:rPr lang="ko-KR" altLang="en-US" sz="1600" dirty="0"/>
              <a:t>등 대형 프로젝트를 완공하며</a:t>
            </a:r>
            <a:r>
              <a:rPr lang="en-US" altLang="ko-KR" sz="1600" dirty="0"/>
              <a:t>, </a:t>
            </a:r>
            <a:r>
              <a:rPr lang="ko-KR" altLang="en-US" sz="1600" dirty="0"/>
              <a:t>카타르와 함께 </a:t>
            </a:r>
            <a:r>
              <a:rPr lang="en-US" altLang="ko-KR" sz="1600" dirty="0"/>
              <a:t>2020</a:t>
            </a:r>
            <a:r>
              <a:rPr lang="ko-KR" altLang="en-US" sz="1600" dirty="0"/>
              <a:t>년대 초반까지 세계 </a:t>
            </a:r>
            <a:r>
              <a:rPr lang="en-US" altLang="ko-KR" sz="1600" dirty="0"/>
              <a:t>1~2</a:t>
            </a:r>
            <a:r>
              <a:rPr lang="ko-KR" altLang="en-US" sz="1600" dirty="0"/>
              <a:t>위를 다투는 위치까지 올랐다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이와 같은 수출국 다변화는 천연가스 시장의 지역 편중을 완화시켰다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특히 미국</a:t>
            </a:r>
            <a:r>
              <a:rPr lang="en-US" altLang="ko-KR" sz="1600" dirty="0"/>
              <a:t>, </a:t>
            </a:r>
            <a:r>
              <a:rPr lang="ko-KR" altLang="en-US" sz="1600" dirty="0"/>
              <a:t>호주</a:t>
            </a:r>
            <a:r>
              <a:rPr lang="en-US" altLang="ko-KR" sz="1600" dirty="0"/>
              <a:t>, </a:t>
            </a:r>
            <a:r>
              <a:rPr lang="ko-KR" altLang="en-US" sz="1600" dirty="0"/>
              <a:t>카타르 간 경쟁 심화는 </a:t>
            </a:r>
            <a:r>
              <a:rPr lang="en-US" altLang="ko-KR" sz="1600" dirty="0"/>
              <a:t>LNG </a:t>
            </a:r>
            <a:r>
              <a:rPr lang="ko-KR" altLang="en-US" sz="1600" dirty="0"/>
              <a:t>시장을 보다 </a:t>
            </a:r>
            <a:r>
              <a:rPr lang="ko-KR" altLang="en-US" sz="1600" dirty="0" err="1"/>
              <a:t>시장지향적이고</a:t>
            </a:r>
            <a:r>
              <a:rPr lang="en-US" altLang="ko-KR" sz="1600" dirty="0"/>
              <a:t>, </a:t>
            </a:r>
            <a:r>
              <a:rPr lang="ko-KR" altLang="en-US" sz="1600" dirty="0"/>
              <a:t>역동적인 구조로 재편하게 했다</a:t>
            </a:r>
            <a:r>
              <a:rPr lang="en-US" altLang="ko-KR" sz="1600" dirty="0"/>
              <a:t>.</a:t>
            </a:r>
          </a:p>
          <a:p>
            <a:pPr marL="92075">
              <a:lnSpc>
                <a:spcPct val="150000"/>
              </a:lnSpc>
            </a:pP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78256762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6C9B72-6603-1993-C74B-D1C00E451F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B42284E-449D-F2D8-63F7-EDE721F0BE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천연가스 소비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353D259-DBF7-4337-E793-0145D0B8D1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30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8282979-EB3E-2F95-DCF9-D7138936A38C}"/>
              </a:ext>
            </a:extLst>
          </p:cNvPr>
          <p:cNvSpPr txBox="1"/>
          <p:nvPr/>
        </p:nvSpPr>
        <p:spPr>
          <a:xfrm>
            <a:off x="288790" y="958844"/>
            <a:ext cx="11118453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LNG </a:t>
            </a:r>
            <a:r>
              <a:rPr lang="ko-KR" altLang="en-US" sz="1600" dirty="0"/>
              <a:t>수출은 계약 구조 및 수출 전략 측면에서 두 가지 상이한 경향을 보인다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일부 국가는 여전히 장기 고정계약에 의존하고 있으며</a:t>
            </a:r>
            <a:r>
              <a:rPr lang="en-US" altLang="ko-KR" sz="1600" dirty="0"/>
              <a:t>, </a:t>
            </a:r>
            <a:r>
              <a:rPr lang="ko-KR" altLang="en-US" sz="1600" dirty="0"/>
              <a:t>이는 수입국의 수요 안정성과 수출국의 수익 예측 가능성을 동시에 보장한다</a:t>
            </a:r>
            <a:r>
              <a:rPr lang="en-US" altLang="ko-KR" sz="1600" dirty="0"/>
              <a:t>. 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카타르와 러시아가 대표적인 사례로</a:t>
            </a:r>
            <a:r>
              <a:rPr lang="en-US" altLang="ko-KR" sz="1600" dirty="0"/>
              <a:t>, </a:t>
            </a:r>
            <a:r>
              <a:rPr lang="ko-KR" altLang="en-US" sz="1600" dirty="0"/>
              <a:t>이들은 장기 공급계약을 통해 동아시아 및 유럽의 주요 수입국들과 안정적인 무역 관계를 유지하고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반면</a:t>
            </a:r>
            <a:r>
              <a:rPr lang="en-US" altLang="ko-KR" sz="1600" dirty="0"/>
              <a:t>, </a:t>
            </a:r>
            <a:r>
              <a:rPr lang="ko-KR" altLang="en-US" sz="1600" dirty="0"/>
              <a:t>미국은 대부분의 </a:t>
            </a:r>
            <a:r>
              <a:rPr lang="en-US" altLang="ko-KR" sz="1600" dirty="0"/>
              <a:t>LNG </a:t>
            </a:r>
            <a:r>
              <a:rPr lang="ko-KR" altLang="en-US" sz="1600" dirty="0"/>
              <a:t>수출을 헨리 허브 가격을 기반으로 하는 유연한 계약구조를 채택하고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수출</a:t>
            </a:r>
            <a:r>
              <a:rPr lang="en-US" altLang="ko-KR" sz="1600" dirty="0"/>
              <a:t>, </a:t>
            </a:r>
            <a:r>
              <a:rPr lang="ko-KR" altLang="en-US" sz="1600" dirty="0"/>
              <a:t>수입국 모두 시장 가격 변화에 민감하게 반응하는 구조를 갖게 되었다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이러한 미국식 계약 모델은 글로벌 </a:t>
            </a:r>
            <a:r>
              <a:rPr lang="en-US" altLang="ko-KR" sz="1600" dirty="0"/>
              <a:t>LNG </a:t>
            </a:r>
            <a:r>
              <a:rPr lang="ko-KR" altLang="en-US" sz="1600" dirty="0"/>
              <a:t>현물시장</a:t>
            </a:r>
            <a:r>
              <a:rPr lang="en-US" altLang="ko-KR" sz="1600" dirty="0"/>
              <a:t>(spot market)</a:t>
            </a:r>
            <a:r>
              <a:rPr lang="ko-KR" altLang="en-US" sz="1600" dirty="0"/>
              <a:t>의 성장과 가격 신호의 국제적 확산에 기여하고 있으며</a:t>
            </a:r>
            <a:r>
              <a:rPr lang="en-US" altLang="ko-KR" sz="1600" dirty="0"/>
              <a:t>, </a:t>
            </a:r>
            <a:r>
              <a:rPr lang="ko-KR" altLang="en-US" sz="1600" dirty="0"/>
              <a:t>시장 유연성과 경쟁성을 동시에 제고하는 데 중요한 역할을 하고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최근에는 아프리카 및 남미 지역의 신규 </a:t>
            </a:r>
            <a:r>
              <a:rPr lang="en-US" altLang="ko-KR" sz="1600" dirty="0"/>
              <a:t>LNG </a:t>
            </a:r>
            <a:r>
              <a:rPr lang="ko-KR" altLang="en-US" sz="1600" dirty="0"/>
              <a:t>수출국들이 주목받고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모잠비크는 </a:t>
            </a:r>
            <a:r>
              <a:rPr lang="ko-KR" altLang="en-US" sz="1600" dirty="0" err="1"/>
              <a:t>로부마</a:t>
            </a:r>
            <a:r>
              <a:rPr lang="en-US" altLang="ko-KR" sz="1600" dirty="0"/>
              <a:t>,</a:t>
            </a:r>
            <a:r>
              <a:rPr lang="ko-KR" altLang="en-US" sz="1600" dirty="0"/>
              <a:t> </a:t>
            </a:r>
            <a:r>
              <a:rPr lang="ko-KR" altLang="en-US" sz="1600" dirty="0" err="1"/>
              <a:t>코랄</a:t>
            </a:r>
            <a:r>
              <a:rPr lang="ko-KR" altLang="en-US" sz="1600" dirty="0"/>
              <a:t> </a:t>
            </a:r>
            <a:r>
              <a:rPr lang="ko-KR" altLang="en-US" sz="1600" dirty="0" err="1"/>
              <a:t>사우스</a:t>
            </a:r>
            <a:r>
              <a:rPr lang="ko-KR" altLang="en-US" sz="1600" dirty="0"/>
              <a:t> 프로젝트를 통해</a:t>
            </a:r>
            <a:r>
              <a:rPr lang="en-US" altLang="ko-KR" sz="1600" dirty="0"/>
              <a:t>, </a:t>
            </a:r>
            <a:r>
              <a:rPr lang="ko-KR" altLang="en-US" sz="1600" dirty="0"/>
              <a:t>세네갈은 </a:t>
            </a:r>
            <a:r>
              <a:rPr lang="ko-KR" altLang="en-US" sz="1600" dirty="0" err="1"/>
              <a:t>그레이터</a:t>
            </a:r>
            <a:r>
              <a:rPr lang="ko-KR" altLang="en-US" sz="1600" dirty="0"/>
              <a:t> </a:t>
            </a:r>
            <a:r>
              <a:rPr lang="ko-KR" altLang="en-US" sz="1600" dirty="0" err="1"/>
              <a:t>토르투</a:t>
            </a:r>
            <a:r>
              <a:rPr lang="ko-KR" altLang="en-US" sz="1600" dirty="0"/>
              <a:t> </a:t>
            </a:r>
            <a:r>
              <a:rPr lang="ko-KR" altLang="en-US" sz="1600" dirty="0" err="1"/>
              <a:t>아메임</a:t>
            </a:r>
            <a:r>
              <a:rPr lang="ko-KR" altLang="en-US" sz="1600" dirty="0"/>
              <a:t> 프로젝트를 통해</a:t>
            </a:r>
            <a:r>
              <a:rPr lang="en-US" altLang="ko-KR" sz="1600" dirty="0"/>
              <a:t>, </a:t>
            </a:r>
            <a:r>
              <a:rPr lang="ko-KR" altLang="en-US" sz="1600" dirty="0"/>
              <a:t>나이지리아는 보니 아일랜드 프로젝트를 통해 수출 기반을 확장하고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이들 국가는 향후 </a:t>
            </a:r>
            <a:r>
              <a:rPr lang="en-US" altLang="ko-KR" sz="1600" dirty="0"/>
              <a:t>LNG </a:t>
            </a:r>
            <a:r>
              <a:rPr lang="ko-KR" altLang="en-US" sz="1600" dirty="0"/>
              <a:t>수출의 지리적 분산과 글로벌 공급 안정성 제고에 크게 기여할 것으로 기대된다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수출 경쟁 심화와 함께 글로벌 가격 형성에도 복합적인 영향을 미칠 것으로 전망된다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2470257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D3E5A8-2209-68FC-CACA-E292AC7701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89CE135-7B2C-B91C-A327-7890EE0B2C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천연가스 소비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1A4EA85-C411-CE6C-BAFF-794410289C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31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14BB9E9-7916-F94F-B356-043B07E707B3}"/>
              </a:ext>
            </a:extLst>
          </p:cNvPr>
          <p:cNvSpPr txBox="1"/>
          <p:nvPr/>
        </p:nvSpPr>
        <p:spPr>
          <a:xfrm>
            <a:off x="288790" y="958844"/>
            <a:ext cx="11118453" cy="152202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LNG </a:t>
            </a:r>
            <a:r>
              <a:rPr lang="ko-KR" altLang="en-US" sz="1600" dirty="0"/>
              <a:t>의 또 다른 특징은 액화 인프라의 장기 투자성과 높은 프로젝트 리스크이다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액화 플랜트 건설에는 수십억 달러 규모의 자본 투자가 소요되고</a:t>
            </a:r>
            <a:r>
              <a:rPr lang="en-US" altLang="ko-KR" sz="1600" dirty="0"/>
              <a:t>, </a:t>
            </a:r>
            <a:r>
              <a:rPr lang="ko-KR" altLang="en-US" sz="1600" dirty="0"/>
              <a:t>완공에 수년이 걸리고</a:t>
            </a:r>
            <a:r>
              <a:rPr lang="en-US" altLang="ko-KR" sz="1600" dirty="0"/>
              <a:t>, </a:t>
            </a:r>
            <a:r>
              <a:rPr lang="ko-KR" altLang="en-US" sz="1600" dirty="0"/>
              <a:t>프로젝트의 성공 여부는 자원 매장량</a:t>
            </a:r>
            <a:r>
              <a:rPr lang="en-US" altLang="ko-KR" sz="1600" dirty="0"/>
              <a:t>, </a:t>
            </a:r>
            <a:r>
              <a:rPr lang="ko-KR" altLang="en-US" sz="1600" dirty="0"/>
              <a:t>정치적 안정성</a:t>
            </a:r>
            <a:r>
              <a:rPr lang="en-US" altLang="ko-KR" sz="1600" dirty="0"/>
              <a:t>, </a:t>
            </a:r>
            <a:r>
              <a:rPr lang="ko-KR" altLang="en-US" sz="1600" dirty="0"/>
              <a:t>투자제도</a:t>
            </a:r>
            <a:r>
              <a:rPr lang="en-US" altLang="ko-KR" sz="1600" dirty="0"/>
              <a:t>, </a:t>
            </a:r>
            <a:r>
              <a:rPr lang="ko-KR" altLang="en-US" sz="1600" dirty="0"/>
              <a:t>수요 전망 등 다양한 요인에 의해 좌우된다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단기적 시장 상황보다는 장기적 전략과 정책 일관성에 많은 영향을 받는다</a:t>
            </a:r>
            <a:r>
              <a:rPr lang="en-US" altLang="ko-KR" sz="1600" dirty="0"/>
              <a:t>.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8D996BF7-A5A7-7AA3-046B-8F1D07C37B16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831"/>
          <a:stretch>
            <a:fillRect/>
          </a:stretch>
        </p:blipFill>
        <p:spPr>
          <a:xfrm>
            <a:off x="6252732" y="3281429"/>
            <a:ext cx="5613416" cy="28800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1EDD8DF-E515-E39E-62D1-F5910218CA72}"/>
              </a:ext>
            </a:extLst>
          </p:cNvPr>
          <p:cNvSpPr txBox="1"/>
          <p:nvPr/>
        </p:nvSpPr>
        <p:spPr>
          <a:xfrm>
            <a:off x="7512785" y="3225643"/>
            <a:ext cx="322589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50" spc="-50" dirty="0"/>
              <a:t>&lt; </a:t>
            </a:r>
            <a:r>
              <a:rPr lang="ko-KR" altLang="en-US" sz="1050" spc="-50" dirty="0"/>
              <a:t>주요 국가의 천연가스 수출량  </a:t>
            </a:r>
            <a:r>
              <a:rPr lang="en-US" altLang="ko-KR" sz="1050" spc="-50" dirty="0"/>
              <a:t>(10</a:t>
            </a:r>
            <a:r>
              <a:rPr lang="ko-KR" altLang="en-US" sz="1050" spc="-50" dirty="0"/>
              <a:t>억 </a:t>
            </a:r>
            <a:r>
              <a:rPr lang="ko-KR" altLang="en-US" sz="1050" spc="-50" dirty="0" err="1"/>
              <a:t>입방미터</a:t>
            </a:r>
            <a:r>
              <a:rPr lang="en-US" altLang="ko-KR" sz="1050" spc="-50" dirty="0"/>
              <a:t>) &gt;</a:t>
            </a:r>
            <a:endParaRPr lang="ko-KR" altLang="en-US" sz="105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0D538B8-BB32-0384-BBD7-ACF044FF42BB}"/>
              </a:ext>
            </a:extLst>
          </p:cNvPr>
          <p:cNvSpPr txBox="1"/>
          <p:nvPr/>
        </p:nvSpPr>
        <p:spPr>
          <a:xfrm>
            <a:off x="288791" y="2958882"/>
            <a:ext cx="6165018" cy="226068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오른쪽 그래프에서 보듯이 미국</a:t>
            </a:r>
            <a:r>
              <a:rPr lang="en-US" altLang="ko-KR" sz="1600" dirty="0"/>
              <a:t>, </a:t>
            </a:r>
            <a:r>
              <a:rPr lang="ko-KR" altLang="en-US" sz="1600" dirty="0"/>
              <a:t>카타르</a:t>
            </a:r>
            <a:r>
              <a:rPr lang="en-US" altLang="ko-KR" sz="1600" dirty="0"/>
              <a:t>, </a:t>
            </a:r>
            <a:r>
              <a:rPr lang="ko-KR" altLang="en-US" sz="1600" dirty="0"/>
              <a:t>호주</a:t>
            </a:r>
            <a:r>
              <a:rPr lang="en-US" altLang="ko-KR" sz="1600" dirty="0"/>
              <a:t>, </a:t>
            </a:r>
            <a:r>
              <a:rPr lang="ko-KR" altLang="en-US" sz="1600" dirty="0"/>
              <a:t>러시아가 </a:t>
            </a:r>
            <a:r>
              <a:rPr lang="en-US" altLang="ko-KR" sz="1600" dirty="0"/>
              <a:t>4</a:t>
            </a:r>
            <a:r>
              <a:rPr lang="ko-KR" altLang="en-US" sz="1600" dirty="0"/>
              <a:t>대 천연가스 수출국이며</a:t>
            </a:r>
            <a:r>
              <a:rPr lang="en-US" altLang="ko-KR" sz="1600" dirty="0"/>
              <a:t>, </a:t>
            </a:r>
            <a:r>
              <a:rPr lang="ko-KR" altLang="en-US" sz="1600" dirty="0"/>
              <a:t>전 세계 수출의 </a:t>
            </a:r>
            <a:r>
              <a:rPr lang="en-US" altLang="ko-KR" sz="1600" dirty="0"/>
              <a:t>68.8% </a:t>
            </a:r>
            <a:r>
              <a:rPr lang="ko-KR" altLang="en-US" sz="1600" dirty="0"/>
              <a:t>차지한다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국가별 비중은 미국</a:t>
            </a:r>
            <a:r>
              <a:rPr lang="en-US" altLang="ko-KR" sz="1600" dirty="0"/>
              <a:t>(20.8%), </a:t>
            </a:r>
            <a:r>
              <a:rPr lang="ko-KR" altLang="en-US" sz="1600" dirty="0"/>
              <a:t>카타르</a:t>
            </a:r>
            <a:r>
              <a:rPr lang="en-US" altLang="ko-KR" sz="1600" dirty="0"/>
              <a:t>(19.7%), </a:t>
            </a:r>
            <a:r>
              <a:rPr lang="ko-KR" altLang="en-US" sz="1600" dirty="0"/>
              <a:t>호주</a:t>
            </a:r>
            <a:r>
              <a:rPr lang="en-US" altLang="ko-KR" sz="1600" dirty="0"/>
              <a:t>(19.6%), </a:t>
            </a:r>
            <a:r>
              <a:rPr lang="ko-KR" altLang="en-US" sz="1600" dirty="0"/>
              <a:t>러시아</a:t>
            </a:r>
            <a:r>
              <a:rPr lang="en-US" altLang="ko-KR" sz="1600" dirty="0"/>
              <a:t>(7.8%)</a:t>
            </a:r>
            <a:r>
              <a:rPr lang="ko-KR" altLang="en-US" sz="1600" dirty="0"/>
              <a:t>를 나타내고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최근에는 미국과 호주의 비중이 점차 증가하고 있음을 볼 수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51253349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F76DF7-795D-675C-12D1-C260F4A4C2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6380991-F804-0298-159B-6F941FEFFD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천연가스 소비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0B46301-025D-DEFD-BD6D-03C717E46B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32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CABE3FA-6D9C-5CC8-51E4-443A787CE86C}"/>
              </a:ext>
            </a:extLst>
          </p:cNvPr>
          <p:cNvSpPr txBox="1"/>
          <p:nvPr/>
        </p:nvSpPr>
        <p:spPr>
          <a:xfrm>
            <a:off x="288790" y="958844"/>
            <a:ext cx="6001575" cy="115268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미국의 </a:t>
            </a:r>
            <a:r>
              <a:rPr lang="en-US" altLang="ko-KR" sz="1600" dirty="0"/>
              <a:t>LNG </a:t>
            </a:r>
            <a:r>
              <a:rPr lang="ko-KR" altLang="en-US" sz="1600" dirty="0"/>
              <a:t>수출국은 프랑스</a:t>
            </a:r>
            <a:r>
              <a:rPr lang="en-US" altLang="ko-KR" sz="1600" dirty="0"/>
              <a:t>, </a:t>
            </a:r>
            <a:r>
              <a:rPr lang="ko-KR" altLang="en-US" sz="1600" dirty="0"/>
              <a:t>영국</a:t>
            </a:r>
            <a:r>
              <a:rPr lang="en-US" altLang="ko-KR" sz="1600" dirty="0"/>
              <a:t> </a:t>
            </a:r>
            <a:r>
              <a:rPr lang="ko-KR" altLang="en-US" sz="1600" dirty="0"/>
              <a:t>등을 중심으로 한 유럽 지역이 </a:t>
            </a:r>
            <a:r>
              <a:rPr lang="en-US" altLang="ko-KR" sz="1600" dirty="0"/>
              <a:t>67%</a:t>
            </a:r>
            <a:r>
              <a:rPr lang="ko-KR" altLang="en-US" sz="1600" dirty="0"/>
              <a:t>를 차지하고 있고</a:t>
            </a:r>
            <a:r>
              <a:rPr lang="en-US" altLang="ko-KR" sz="1600" dirty="0"/>
              <a:t>, </a:t>
            </a:r>
            <a:r>
              <a:rPr lang="ko-KR" altLang="en-US" sz="1600" dirty="0"/>
              <a:t>일본 중국</a:t>
            </a:r>
            <a:r>
              <a:rPr lang="en-US" altLang="ko-KR" sz="1600" dirty="0"/>
              <a:t>, </a:t>
            </a:r>
            <a:r>
              <a:rPr lang="ko-KR" altLang="en-US" sz="1600" dirty="0"/>
              <a:t>한국을 포함한 아시아 지역으로의 수출이 </a:t>
            </a:r>
            <a:r>
              <a:rPr lang="en-US" altLang="ko-KR" sz="1600" dirty="0"/>
              <a:t>26%</a:t>
            </a:r>
            <a:r>
              <a:rPr lang="ko-KR" altLang="en-US" sz="1600" dirty="0"/>
              <a:t>를 차지하고 있다</a:t>
            </a:r>
            <a:r>
              <a:rPr lang="en-US" altLang="ko-KR" sz="1600" dirty="0"/>
              <a:t>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405DCC5-BFBA-2419-0F7E-D77CB6F24D46}"/>
              </a:ext>
            </a:extLst>
          </p:cNvPr>
          <p:cNvSpPr txBox="1"/>
          <p:nvPr/>
        </p:nvSpPr>
        <p:spPr>
          <a:xfrm>
            <a:off x="7804333" y="794349"/>
            <a:ext cx="322589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50" spc="-50" dirty="0"/>
              <a:t>&lt; </a:t>
            </a:r>
            <a:r>
              <a:rPr lang="ko-KR" altLang="en-US" sz="1050" spc="-50" dirty="0"/>
              <a:t>미국의 주요 </a:t>
            </a:r>
            <a:r>
              <a:rPr lang="en-US" altLang="ko-KR" sz="1050" spc="-50" dirty="0"/>
              <a:t>LNG </a:t>
            </a:r>
            <a:r>
              <a:rPr lang="ko-KR" altLang="en-US" sz="1050" spc="-50" dirty="0"/>
              <a:t>수출국 </a:t>
            </a:r>
            <a:r>
              <a:rPr lang="en-US" altLang="ko-KR" sz="1050" spc="-50" dirty="0"/>
              <a:t>(10</a:t>
            </a:r>
            <a:r>
              <a:rPr lang="ko-KR" altLang="en-US" sz="1050" spc="-50" dirty="0"/>
              <a:t>억 </a:t>
            </a:r>
            <a:r>
              <a:rPr lang="ko-KR" altLang="en-US" sz="1050" spc="-50" dirty="0" err="1"/>
              <a:t>입방미터</a:t>
            </a:r>
            <a:r>
              <a:rPr lang="en-US" altLang="ko-KR" sz="1050" spc="-50" dirty="0"/>
              <a:t>) &gt;</a:t>
            </a:r>
            <a:endParaRPr lang="ko-KR" altLang="en-US" sz="1050" dirty="0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FAD8DFB7-8119-905E-283E-2B229995A702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18929" r="3673"/>
          <a:stretch>
            <a:fillRect/>
          </a:stretch>
        </p:blipFill>
        <p:spPr>
          <a:xfrm>
            <a:off x="6935303" y="1048265"/>
            <a:ext cx="4823793" cy="2167597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4CBE5180-A8C1-4799-093C-339A7E3E93C7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2792" r="6418"/>
          <a:stretch>
            <a:fillRect/>
          </a:stretch>
        </p:blipFill>
        <p:spPr>
          <a:xfrm>
            <a:off x="6993680" y="4055164"/>
            <a:ext cx="4641729" cy="2556735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9A8690A0-7E07-D32A-D69F-538011896E90}"/>
              </a:ext>
            </a:extLst>
          </p:cNvPr>
          <p:cNvSpPr txBox="1"/>
          <p:nvPr/>
        </p:nvSpPr>
        <p:spPr>
          <a:xfrm>
            <a:off x="7804333" y="3801247"/>
            <a:ext cx="322589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50" spc="-50" dirty="0"/>
              <a:t>&lt; </a:t>
            </a:r>
            <a:r>
              <a:rPr lang="ko-KR" altLang="en-US" sz="1050" spc="-50" dirty="0"/>
              <a:t>러시아의 주요 </a:t>
            </a:r>
            <a:r>
              <a:rPr lang="en-US" altLang="ko-KR" sz="1050" spc="-50" dirty="0"/>
              <a:t>LNG </a:t>
            </a:r>
            <a:r>
              <a:rPr lang="ko-KR" altLang="en-US" sz="1050" spc="-50" dirty="0"/>
              <a:t>수출국 </a:t>
            </a:r>
            <a:r>
              <a:rPr lang="en-US" altLang="ko-KR" sz="1050" spc="-50" dirty="0"/>
              <a:t>(10</a:t>
            </a:r>
            <a:r>
              <a:rPr lang="ko-KR" altLang="en-US" sz="1050" spc="-50" dirty="0"/>
              <a:t>억 </a:t>
            </a:r>
            <a:r>
              <a:rPr lang="ko-KR" altLang="en-US" sz="1050" spc="-50" dirty="0" err="1"/>
              <a:t>입방미터</a:t>
            </a:r>
            <a:r>
              <a:rPr lang="en-US" altLang="ko-KR" sz="1050" spc="-50" dirty="0"/>
              <a:t>) &gt;</a:t>
            </a:r>
            <a:endParaRPr lang="ko-KR" altLang="en-US" sz="105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C2C1203-B705-268B-C294-9D9A739A4264}"/>
              </a:ext>
            </a:extLst>
          </p:cNvPr>
          <p:cNvSpPr txBox="1"/>
          <p:nvPr/>
        </p:nvSpPr>
        <p:spPr>
          <a:xfrm>
            <a:off x="288790" y="3928205"/>
            <a:ext cx="6001575" cy="115268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러시아는 중국과 일본을 중심으로 아시아태평양 지역에 전체의 </a:t>
            </a:r>
            <a:r>
              <a:rPr lang="en-US" altLang="ko-KR" sz="1600" dirty="0"/>
              <a:t>54.1%</a:t>
            </a:r>
            <a:r>
              <a:rPr lang="ko-KR" altLang="en-US" sz="1600" dirty="0"/>
              <a:t>를 수출하고 있고</a:t>
            </a:r>
            <a:r>
              <a:rPr lang="en-US" altLang="ko-KR" sz="1600" dirty="0"/>
              <a:t>, </a:t>
            </a:r>
            <a:r>
              <a:rPr lang="ko-KR" altLang="en-US" sz="1600" dirty="0"/>
              <a:t>유럽의 비중은 </a:t>
            </a:r>
            <a:r>
              <a:rPr lang="ko-KR" altLang="en-US" sz="1600" dirty="0" err="1"/>
              <a:t>스페과</a:t>
            </a:r>
            <a:r>
              <a:rPr lang="ko-KR" altLang="en-US" sz="1600" dirty="0"/>
              <a:t> 프랑스를 중심으로 </a:t>
            </a:r>
            <a:r>
              <a:rPr lang="en-US" altLang="ko-KR" sz="1600" dirty="0"/>
              <a:t>45.5%</a:t>
            </a:r>
            <a:r>
              <a:rPr lang="ko-KR" altLang="en-US" sz="1600" dirty="0"/>
              <a:t>를 차지하고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28087514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6B6740-578F-BCF5-1C06-8D5E0B2575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4180EAA-1F75-2CC2-7AC5-7D66B52C37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천연가스 소비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86BB38D-7453-D5CB-9E95-0A93696267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33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7037CD8-F2C2-1C14-8620-845FE3DEFA61}"/>
              </a:ext>
            </a:extLst>
          </p:cNvPr>
          <p:cNvSpPr txBox="1"/>
          <p:nvPr/>
        </p:nvSpPr>
        <p:spPr>
          <a:xfrm>
            <a:off x="288790" y="958844"/>
            <a:ext cx="6001575" cy="115268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카타르는 중국</a:t>
            </a:r>
            <a:r>
              <a:rPr lang="en-US" altLang="ko-KR" sz="1600" dirty="0"/>
              <a:t>, </a:t>
            </a:r>
            <a:r>
              <a:rPr lang="ko-KR" altLang="en-US" sz="1600" dirty="0"/>
              <a:t>인도</a:t>
            </a:r>
            <a:r>
              <a:rPr lang="en-US" altLang="ko-KR" sz="1600" dirty="0"/>
              <a:t>, </a:t>
            </a:r>
            <a:r>
              <a:rPr lang="ko-KR" altLang="en-US" sz="1600" dirty="0"/>
              <a:t>한국을 포함한 아시아 지역으로의 수출이 전체 수출량의 </a:t>
            </a:r>
            <a:r>
              <a:rPr lang="en-US" altLang="ko-KR" sz="1600" dirty="0"/>
              <a:t>75%</a:t>
            </a:r>
            <a:r>
              <a:rPr lang="ko-KR" altLang="en-US" sz="1600" dirty="0"/>
              <a:t>를 차지하고 있고</a:t>
            </a:r>
            <a:r>
              <a:rPr lang="en-US" altLang="ko-KR" sz="1600" dirty="0"/>
              <a:t>, </a:t>
            </a:r>
            <a:r>
              <a:rPr lang="ko-KR" altLang="en-US" sz="1600" dirty="0"/>
              <a:t>이태리</a:t>
            </a:r>
            <a:r>
              <a:rPr lang="en-US" altLang="ko-KR" sz="1600" dirty="0"/>
              <a:t>, </a:t>
            </a:r>
            <a:r>
              <a:rPr lang="ko-KR" altLang="en-US" sz="1600" dirty="0"/>
              <a:t>벨기에를 포함한 유럽지역에 </a:t>
            </a:r>
            <a:r>
              <a:rPr lang="en-US" altLang="ko-KR" sz="1600" dirty="0"/>
              <a:t>19.2%</a:t>
            </a:r>
            <a:r>
              <a:rPr lang="ko-KR" altLang="en-US" sz="1600" dirty="0"/>
              <a:t>를 수출하고 있다</a:t>
            </a:r>
            <a:r>
              <a:rPr lang="en-US" altLang="ko-KR" sz="1600" dirty="0"/>
              <a:t>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B4AF9A2-A3FF-E0DE-3030-464CCCE19A94}"/>
              </a:ext>
            </a:extLst>
          </p:cNvPr>
          <p:cNvSpPr txBox="1"/>
          <p:nvPr/>
        </p:nvSpPr>
        <p:spPr>
          <a:xfrm>
            <a:off x="7804333" y="794349"/>
            <a:ext cx="322589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50" spc="-50" dirty="0"/>
              <a:t>&lt; </a:t>
            </a:r>
            <a:r>
              <a:rPr lang="ko-KR" altLang="en-US" sz="1050" spc="-50" dirty="0"/>
              <a:t>카타르의 주요 </a:t>
            </a:r>
            <a:r>
              <a:rPr lang="en-US" altLang="ko-KR" sz="1050" spc="-50" dirty="0"/>
              <a:t>LNG </a:t>
            </a:r>
            <a:r>
              <a:rPr lang="ko-KR" altLang="en-US" sz="1050" spc="-50" dirty="0"/>
              <a:t>수출국 </a:t>
            </a:r>
            <a:r>
              <a:rPr lang="en-US" altLang="ko-KR" sz="1050" spc="-50" dirty="0"/>
              <a:t>(10</a:t>
            </a:r>
            <a:r>
              <a:rPr lang="ko-KR" altLang="en-US" sz="1050" spc="-50" dirty="0"/>
              <a:t>억 </a:t>
            </a:r>
            <a:r>
              <a:rPr lang="ko-KR" altLang="en-US" sz="1050" spc="-50" dirty="0" err="1"/>
              <a:t>입방미터</a:t>
            </a:r>
            <a:r>
              <a:rPr lang="en-US" altLang="ko-KR" sz="1050" spc="-50" dirty="0"/>
              <a:t>) &gt;</a:t>
            </a:r>
            <a:endParaRPr lang="ko-KR" altLang="en-US" sz="105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24BFEC3-9C90-5CAE-EF5C-526EF1AB47F6}"/>
              </a:ext>
            </a:extLst>
          </p:cNvPr>
          <p:cNvSpPr txBox="1"/>
          <p:nvPr/>
        </p:nvSpPr>
        <p:spPr>
          <a:xfrm>
            <a:off x="7804333" y="3801247"/>
            <a:ext cx="322589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50" spc="-50" dirty="0"/>
              <a:t>&lt; </a:t>
            </a:r>
            <a:r>
              <a:rPr lang="ko-KR" altLang="en-US" sz="1050" spc="-50" dirty="0"/>
              <a:t>호주의 주요 </a:t>
            </a:r>
            <a:r>
              <a:rPr lang="en-US" altLang="ko-KR" sz="1050" spc="-50" dirty="0"/>
              <a:t>LNG </a:t>
            </a:r>
            <a:r>
              <a:rPr lang="ko-KR" altLang="en-US" sz="1050" spc="-50" dirty="0"/>
              <a:t>수출국 </a:t>
            </a:r>
            <a:r>
              <a:rPr lang="en-US" altLang="ko-KR" sz="1050" spc="-50" dirty="0"/>
              <a:t>(10</a:t>
            </a:r>
            <a:r>
              <a:rPr lang="ko-KR" altLang="en-US" sz="1050" spc="-50" dirty="0"/>
              <a:t>억 </a:t>
            </a:r>
            <a:r>
              <a:rPr lang="ko-KR" altLang="en-US" sz="1050" spc="-50" dirty="0" err="1"/>
              <a:t>입방미터</a:t>
            </a:r>
            <a:r>
              <a:rPr lang="en-US" altLang="ko-KR" sz="1050" spc="-50" dirty="0"/>
              <a:t>) &gt;</a:t>
            </a:r>
            <a:endParaRPr lang="ko-KR" altLang="en-US" sz="105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A5DB801-04CD-D02A-E416-136AA9DB095F}"/>
              </a:ext>
            </a:extLst>
          </p:cNvPr>
          <p:cNvSpPr txBox="1"/>
          <p:nvPr/>
        </p:nvSpPr>
        <p:spPr>
          <a:xfrm>
            <a:off x="288790" y="3928205"/>
            <a:ext cx="6001575" cy="783356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호주의 경우 수출 전량이 아시아 지역으로 향하고 있으며</a:t>
            </a:r>
            <a:r>
              <a:rPr lang="en-US" altLang="ko-KR" sz="1600" dirty="0"/>
              <a:t>, </a:t>
            </a:r>
            <a:r>
              <a:rPr lang="ko-KR" altLang="en-US" sz="1600" dirty="0"/>
              <a:t>일본</a:t>
            </a:r>
            <a:r>
              <a:rPr lang="en-US" altLang="ko-KR" sz="1600" dirty="0"/>
              <a:t>, </a:t>
            </a:r>
            <a:r>
              <a:rPr lang="ko-KR" altLang="en-US" sz="1600" dirty="0"/>
              <a:t>중국</a:t>
            </a:r>
            <a:r>
              <a:rPr lang="en-US" altLang="ko-KR" sz="1600" dirty="0"/>
              <a:t>, </a:t>
            </a:r>
            <a:r>
              <a:rPr lang="ko-KR" altLang="en-US" sz="1600" dirty="0"/>
              <a:t>한국 순으로 수출량이 많다</a:t>
            </a:r>
            <a:r>
              <a:rPr lang="en-US" altLang="ko-KR" sz="1600" dirty="0"/>
              <a:t>.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FBF8D998-AF48-61D5-C872-62D3B69FD0CD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3866"/>
          <a:stretch>
            <a:fillRect/>
          </a:stretch>
        </p:blipFill>
        <p:spPr>
          <a:xfrm>
            <a:off x="6993680" y="1007168"/>
            <a:ext cx="4557799" cy="2470428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C186D9D3-A172-0CF0-4094-70626B234419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8960" r="4259"/>
          <a:stretch>
            <a:fillRect/>
          </a:stretch>
        </p:blipFill>
        <p:spPr>
          <a:xfrm>
            <a:off x="6874410" y="4206663"/>
            <a:ext cx="4836094" cy="23302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5929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88D32C-AEB3-D81F-A31F-C377CB311B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CE5BE5D-C602-B8A0-C176-798A1EBB98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천연가스 소비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E335379-43C7-A4EC-53C1-47C1547B41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34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F251A54-FAAF-1E88-0D81-9D48FAF9CED9}"/>
              </a:ext>
            </a:extLst>
          </p:cNvPr>
          <p:cNvSpPr txBox="1"/>
          <p:nvPr/>
        </p:nvSpPr>
        <p:spPr>
          <a:xfrm>
            <a:off x="288790" y="958844"/>
            <a:ext cx="11118453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글로벌 파이프라인 천연가스</a:t>
            </a:r>
            <a:r>
              <a:rPr lang="en-US" altLang="ko-KR" sz="1600" dirty="0"/>
              <a:t>(PNG)</a:t>
            </a:r>
            <a:r>
              <a:rPr lang="ko-KR" altLang="en-US" sz="1600" dirty="0"/>
              <a:t> 수출은 지리적 인접성과 장기적 상호 의존성을 기반으로 형성된 에너지 공급 형태이다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/>
              <a:t>LNG</a:t>
            </a:r>
            <a:r>
              <a:rPr lang="ko-KR" altLang="en-US" sz="1600" dirty="0"/>
              <a:t>와 달리 고정된 수송 경로와 이로 인한 지정학적 민감성이 특징이다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생산국과 소비국 간의 지리적 근접성</a:t>
            </a:r>
            <a:r>
              <a:rPr lang="en-US" altLang="ko-KR" sz="1600" dirty="0"/>
              <a:t>, </a:t>
            </a:r>
            <a:r>
              <a:rPr lang="ko-KR" altLang="en-US" sz="1600" dirty="0"/>
              <a:t>역사적 에너지 관계</a:t>
            </a:r>
            <a:r>
              <a:rPr lang="en-US" altLang="ko-KR" sz="1600" dirty="0"/>
              <a:t>, </a:t>
            </a:r>
            <a:r>
              <a:rPr lang="ko-KR" altLang="en-US" sz="1600" dirty="0"/>
              <a:t>정치적 협력 수준에 크게 좌우된다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이에 따라 거래 구조의 안정성과 동시에 위험 요소를 내포하고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PNG </a:t>
            </a:r>
            <a:r>
              <a:rPr lang="ko-KR" altLang="en-US" sz="1600" dirty="0"/>
              <a:t>수출은 전통적으로 유라시아 대륙을 중심으로 이루어져 왔다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대표적으로 러시아는 유럽과 아시아를 잇는 파이프라인 네트워크를 통해 세계 최대의 </a:t>
            </a:r>
            <a:r>
              <a:rPr lang="en-US" altLang="ko-KR" sz="1600" dirty="0"/>
              <a:t>PNG </a:t>
            </a:r>
            <a:r>
              <a:rPr lang="ko-KR" altLang="en-US" sz="1600" dirty="0"/>
              <a:t>수출국이 되었다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러시아산 가스는 독일</a:t>
            </a:r>
            <a:r>
              <a:rPr lang="en-US" altLang="ko-KR" sz="1600" dirty="0"/>
              <a:t>, </a:t>
            </a:r>
            <a:r>
              <a:rPr lang="ko-KR" altLang="en-US" sz="1600" dirty="0"/>
              <a:t>이탈리아</a:t>
            </a:r>
            <a:r>
              <a:rPr lang="en-US" altLang="ko-KR" sz="1600" dirty="0"/>
              <a:t>, </a:t>
            </a:r>
            <a:r>
              <a:rPr lang="ko-KR" altLang="en-US" sz="1600" dirty="0"/>
              <a:t>프랑스 등 주요 </a:t>
            </a:r>
            <a:r>
              <a:rPr lang="ko-KR" altLang="en-US" sz="1600" dirty="0" err="1"/>
              <a:t>유러</a:t>
            </a:r>
            <a:r>
              <a:rPr lang="ko-KR" altLang="en-US" sz="1600" dirty="0"/>
              <a:t> 국가에 대규모로 공급되었다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dirty="0"/>
              <a:t>2021</a:t>
            </a:r>
            <a:r>
              <a:rPr lang="ko-KR" altLang="en-US" sz="1600" dirty="0"/>
              <a:t>년 기준</a:t>
            </a:r>
            <a:r>
              <a:rPr lang="en-US" altLang="ko-KR" sz="1600" dirty="0"/>
              <a:t>, </a:t>
            </a:r>
            <a:r>
              <a:rPr lang="ko-KR" altLang="en-US" sz="1600" dirty="0"/>
              <a:t>유럽 천연가스 수입량의 약</a:t>
            </a:r>
            <a:r>
              <a:rPr lang="en-US" altLang="ko-KR" sz="1600" dirty="0"/>
              <a:t> 40%</a:t>
            </a:r>
            <a:r>
              <a:rPr lang="ko-KR" altLang="en-US" sz="1600" dirty="0"/>
              <a:t>가 러시아 파이프라인을 통해 이루어졌다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그러나 </a:t>
            </a:r>
            <a:r>
              <a:rPr lang="en-US" altLang="ko-KR" sz="1600" dirty="0"/>
              <a:t>2022</a:t>
            </a:r>
            <a:r>
              <a:rPr lang="ko-KR" altLang="en-US" sz="1600" dirty="0"/>
              <a:t>년 러시아</a:t>
            </a:r>
            <a:r>
              <a:rPr lang="en-US" altLang="ko-KR" sz="1600" dirty="0"/>
              <a:t>-</a:t>
            </a:r>
            <a:r>
              <a:rPr lang="ko-KR" altLang="en-US" sz="1600" dirty="0"/>
              <a:t>우크라이나 전쟁 이후 유럽의 수입구조는 급격히 변화하였고</a:t>
            </a:r>
            <a:r>
              <a:rPr lang="en-US" altLang="ko-KR" sz="1600" dirty="0"/>
              <a:t>, PNG </a:t>
            </a:r>
            <a:r>
              <a:rPr lang="ko-KR" altLang="en-US" sz="1600" dirty="0"/>
              <a:t>수출은 정치적 리스크에 매우 취약한 구조임이 재확인 되었다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23866156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9287DF-A2AF-9D03-E4F3-4C3E37E38A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0DCE1CA-348B-5235-7EDC-41DD89BF1C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천연가스 소비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128BB13-B62B-B493-99DD-7FE0389FDF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35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16BB703-F3A4-2692-078E-0C5684AF45EA}"/>
              </a:ext>
            </a:extLst>
          </p:cNvPr>
          <p:cNvSpPr txBox="1"/>
          <p:nvPr/>
        </p:nvSpPr>
        <p:spPr>
          <a:xfrm>
            <a:off x="288790" y="958844"/>
            <a:ext cx="11118453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기술적</a:t>
            </a:r>
            <a:r>
              <a:rPr lang="en-US" altLang="ko-KR" sz="1600" dirty="0"/>
              <a:t>·</a:t>
            </a:r>
            <a:r>
              <a:rPr lang="ko-KR" altLang="en-US" sz="1600" dirty="0"/>
              <a:t>경제적 특성상 </a:t>
            </a:r>
            <a:r>
              <a:rPr lang="en-US" altLang="ko-KR" sz="1600" dirty="0"/>
              <a:t>PNG </a:t>
            </a:r>
            <a:r>
              <a:rPr lang="ko-KR" altLang="en-US" sz="1600" dirty="0"/>
              <a:t>수출은 특정 생산국이 특정 수입국에 장기적으로 가스를 공급하는 고정적 이원 거래구조를 형성하는 경향이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대표적으로 러시아</a:t>
            </a:r>
            <a:r>
              <a:rPr lang="en-US" altLang="ko-KR" sz="1600" dirty="0"/>
              <a:t>-</a:t>
            </a:r>
            <a:r>
              <a:rPr lang="ko-KR" altLang="en-US" sz="1600" dirty="0"/>
              <a:t>독일 간 </a:t>
            </a:r>
            <a:r>
              <a:rPr lang="ko-KR" altLang="en-US" sz="1600" dirty="0" err="1"/>
              <a:t>노드스트림</a:t>
            </a:r>
            <a:r>
              <a:rPr lang="en-US" altLang="ko-KR" sz="1600" dirty="0"/>
              <a:t>, </a:t>
            </a:r>
            <a:r>
              <a:rPr lang="ko-KR" altLang="en-US" sz="1600" dirty="0"/>
              <a:t>알제리</a:t>
            </a:r>
            <a:r>
              <a:rPr lang="en-US" altLang="ko-KR" sz="1600" dirty="0"/>
              <a:t>-</a:t>
            </a:r>
            <a:r>
              <a:rPr lang="ko-KR" altLang="en-US" sz="1600" dirty="0"/>
              <a:t>이탈리아 간 </a:t>
            </a:r>
            <a:r>
              <a:rPr lang="ko-KR" altLang="en-US" sz="1600" dirty="0" err="1"/>
              <a:t>트랜스메드</a:t>
            </a:r>
            <a:r>
              <a:rPr lang="en-US" altLang="ko-KR" sz="1600" dirty="0"/>
              <a:t>, </a:t>
            </a:r>
            <a:r>
              <a:rPr lang="ko-KR" altLang="en-US" sz="1600" dirty="0"/>
              <a:t>노르웨이</a:t>
            </a:r>
            <a:r>
              <a:rPr lang="en-US" altLang="ko-KR" sz="1600" dirty="0"/>
              <a:t>-</a:t>
            </a:r>
            <a:r>
              <a:rPr lang="ko-KR" altLang="en-US" sz="1600" dirty="0"/>
              <a:t>영국 간 </a:t>
            </a:r>
            <a:r>
              <a:rPr lang="ko-KR" altLang="en-US" sz="1600" dirty="0" err="1"/>
              <a:t>랭가스와</a:t>
            </a:r>
            <a:r>
              <a:rPr lang="ko-KR" altLang="en-US" sz="1600" dirty="0"/>
              <a:t> 같은 대형 파이프라인은 막대한 인프라 투자와 수십 년 단위 장기 계약을 바탕으로 운영된다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이는 </a:t>
            </a:r>
            <a:r>
              <a:rPr lang="en-US" altLang="ko-KR" sz="1600" dirty="0"/>
              <a:t>LNG</a:t>
            </a:r>
            <a:r>
              <a:rPr lang="ko-KR" altLang="en-US" sz="1600" dirty="0"/>
              <a:t>시장에서 나타나는 현물 거래 및 계약 유연성 확대와 대비된다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지역적으로 보면</a:t>
            </a:r>
            <a:r>
              <a:rPr lang="en-US" altLang="ko-KR" sz="1600" dirty="0"/>
              <a:t>, PNG </a:t>
            </a:r>
            <a:r>
              <a:rPr lang="ko-KR" altLang="en-US" sz="1600" dirty="0"/>
              <a:t>수출은 유럽</a:t>
            </a:r>
            <a:r>
              <a:rPr lang="en-US" altLang="ko-KR" sz="1600" dirty="0"/>
              <a:t>, </a:t>
            </a:r>
            <a:r>
              <a:rPr lang="ko-KR" altLang="en-US" sz="1600" dirty="0"/>
              <a:t>북미</a:t>
            </a:r>
            <a:r>
              <a:rPr lang="en-US" altLang="ko-KR" sz="1600" dirty="0"/>
              <a:t>, </a:t>
            </a:r>
            <a:r>
              <a:rPr lang="ko-KR" altLang="en-US" sz="1600" dirty="0"/>
              <a:t>아시아를 중심으로 지역별 클러스터를 형성하고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유럽은 러시아</a:t>
            </a:r>
            <a:r>
              <a:rPr lang="en-US" altLang="ko-KR" sz="1600" dirty="0"/>
              <a:t>, </a:t>
            </a:r>
            <a:r>
              <a:rPr lang="ko-KR" altLang="en-US" sz="1600" dirty="0"/>
              <a:t>노르웨이</a:t>
            </a:r>
            <a:r>
              <a:rPr lang="en-US" altLang="ko-KR" sz="1600" dirty="0"/>
              <a:t>, </a:t>
            </a:r>
            <a:r>
              <a:rPr lang="ko-KR" altLang="en-US" sz="1600" dirty="0"/>
              <a:t>알제리 등의 공급국과 광범위한 파이프라인 네트워크를 공유하고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북미에서는 미국과 캐나다 간</a:t>
            </a:r>
            <a:r>
              <a:rPr lang="en-US" altLang="ko-KR" sz="1600" dirty="0"/>
              <a:t>, </a:t>
            </a:r>
            <a:r>
              <a:rPr lang="ko-KR" altLang="en-US" sz="1600" dirty="0"/>
              <a:t>그리고 멕시코로 이어지는 </a:t>
            </a:r>
            <a:r>
              <a:rPr lang="en-US" altLang="ko-KR" sz="1600" dirty="0"/>
              <a:t>PNG </a:t>
            </a:r>
            <a:r>
              <a:rPr lang="ko-KR" altLang="en-US" sz="1600" dirty="0"/>
              <a:t>수출이 활발하다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아시아에서는 투르크메니스탄</a:t>
            </a:r>
            <a:r>
              <a:rPr lang="en-US" altLang="ko-KR" sz="1600" dirty="0"/>
              <a:t>, </a:t>
            </a:r>
            <a:r>
              <a:rPr lang="ko-KR" altLang="en-US" sz="1600" dirty="0"/>
              <a:t>카자흐스탄</a:t>
            </a:r>
            <a:r>
              <a:rPr lang="en-US" altLang="ko-KR" sz="1600" dirty="0"/>
              <a:t>, </a:t>
            </a:r>
            <a:r>
              <a:rPr lang="ko-KR" altLang="en-US" sz="1600" dirty="0"/>
              <a:t>우즈베키스탄 등 중앙아시아 국가들이 중국으로 천연가스를 수출하는 파이프라인 체계를 갖추고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한편</a:t>
            </a:r>
            <a:r>
              <a:rPr lang="en-US" altLang="ko-KR" sz="1600" dirty="0"/>
              <a:t>, PNG </a:t>
            </a:r>
            <a:r>
              <a:rPr lang="ko-KR" altLang="en-US" sz="1600" dirty="0"/>
              <a:t>수출은 인프라 건설에 장시간이 소요되고</a:t>
            </a:r>
            <a:r>
              <a:rPr lang="en-US" altLang="ko-KR" sz="1600" dirty="0"/>
              <a:t>, </a:t>
            </a:r>
            <a:r>
              <a:rPr lang="ko-KR" altLang="en-US" sz="1600" dirty="0"/>
              <a:t>정치적</a:t>
            </a:r>
            <a:r>
              <a:rPr lang="en-US" altLang="ko-KR" sz="1600" dirty="0"/>
              <a:t>·</a:t>
            </a:r>
            <a:r>
              <a:rPr lang="ko-KR" altLang="en-US" sz="1600" dirty="0"/>
              <a:t>환경적 인허가 요건이 까다롭기 때문에 확장성과 유연성 측면에서 </a:t>
            </a:r>
            <a:r>
              <a:rPr lang="en-US" altLang="ko-KR" sz="1600" dirty="0"/>
              <a:t>LNG</a:t>
            </a:r>
            <a:r>
              <a:rPr lang="ko-KR" altLang="en-US" sz="1600" dirty="0"/>
              <a:t>에 비해 제약이 크다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09836287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3A629D-9A18-7D6A-D00D-0037F3CA52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614131D-B3E1-304D-2EE8-B2275B8ED6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천연가스 소비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79B6F34-7EAE-B6C2-B903-A169A3B976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36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F6B2708-E3C2-4E31-6F02-A15C4DB5A38B}"/>
              </a:ext>
            </a:extLst>
          </p:cNvPr>
          <p:cNvSpPr txBox="1"/>
          <p:nvPr/>
        </p:nvSpPr>
        <p:spPr>
          <a:xfrm>
            <a:off x="288790" y="958844"/>
            <a:ext cx="11118453" cy="299934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한편</a:t>
            </a:r>
            <a:r>
              <a:rPr lang="en-US" altLang="ko-KR" sz="1600" dirty="0"/>
              <a:t>, PNG </a:t>
            </a:r>
            <a:r>
              <a:rPr lang="ko-KR" altLang="en-US" sz="1600" dirty="0"/>
              <a:t>수출은 인프라 건설에 장시간이 소요되고</a:t>
            </a:r>
            <a:r>
              <a:rPr lang="en-US" altLang="ko-KR" sz="1600" dirty="0"/>
              <a:t>, </a:t>
            </a:r>
            <a:r>
              <a:rPr lang="ko-KR" altLang="en-US" sz="1600" dirty="0"/>
              <a:t>정치적</a:t>
            </a:r>
            <a:r>
              <a:rPr lang="en-US" altLang="ko-KR" sz="1600" dirty="0"/>
              <a:t>·</a:t>
            </a:r>
            <a:r>
              <a:rPr lang="ko-KR" altLang="en-US" sz="1600" dirty="0"/>
              <a:t>환경적 인허가 요건이 까다롭기 때문에 확장성과 유연성 측면에서 </a:t>
            </a:r>
            <a:r>
              <a:rPr lang="en-US" altLang="ko-KR" sz="1600" dirty="0"/>
              <a:t>LNG</a:t>
            </a:r>
            <a:r>
              <a:rPr lang="ko-KR" altLang="en-US" sz="1600" dirty="0"/>
              <a:t>에 비해 제약이 크다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대륙 간 수송은 사실상 불가능하고</a:t>
            </a:r>
            <a:r>
              <a:rPr lang="en-US" altLang="ko-KR" sz="1600" dirty="0"/>
              <a:t>, </a:t>
            </a:r>
            <a:r>
              <a:rPr lang="ko-KR" altLang="en-US" sz="1600" dirty="0"/>
              <a:t>해저 구간이 길어지는 경우 건설비용이 급격히 증가한다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이에 따라 </a:t>
            </a:r>
            <a:r>
              <a:rPr lang="en-US" altLang="ko-KR" sz="1600" dirty="0"/>
              <a:t>PNG </a:t>
            </a:r>
            <a:r>
              <a:rPr lang="ko-KR" altLang="en-US" sz="1600" dirty="0"/>
              <a:t>수출국들은 지역 내 안정적인 수요처를 기반으로 보수적인 수출 전략을 채택하는 경향을 보인다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그럼에도 불구하고</a:t>
            </a:r>
            <a:r>
              <a:rPr lang="en-US" altLang="ko-KR" sz="1600" dirty="0"/>
              <a:t>, PNG</a:t>
            </a:r>
            <a:r>
              <a:rPr lang="ko-KR" altLang="en-US" sz="1600" dirty="0"/>
              <a:t>는 운송비용이 낮고 대량 수송에 적합하다는 장점이 있어</a:t>
            </a:r>
            <a:r>
              <a:rPr lang="en-US" altLang="ko-KR" sz="1600" dirty="0"/>
              <a:t>, </a:t>
            </a:r>
            <a:r>
              <a:rPr lang="ko-KR" altLang="en-US" sz="1600" dirty="0"/>
              <a:t>생산국과 수입국 간에 신뢰관계가 구축된 경우에는 매우 효율적인 에너지 공급방식이다</a:t>
            </a:r>
            <a:r>
              <a:rPr lang="en-US" altLang="ko-KR" sz="1600" dirty="0"/>
              <a:t>.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6E6A0319-C55D-D2D0-6F1B-9646CA548F1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3630" r="6566" b="7640"/>
          <a:stretch>
            <a:fillRect/>
          </a:stretch>
        </p:blipFill>
        <p:spPr>
          <a:xfrm>
            <a:off x="6816035" y="3918226"/>
            <a:ext cx="4960730" cy="269367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3E64B49-0EF5-826D-CDDC-2FC64E7BCFE7}"/>
              </a:ext>
            </a:extLst>
          </p:cNvPr>
          <p:cNvSpPr txBox="1"/>
          <p:nvPr/>
        </p:nvSpPr>
        <p:spPr>
          <a:xfrm>
            <a:off x="7804333" y="3783579"/>
            <a:ext cx="322589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50" spc="-50" dirty="0"/>
              <a:t>&lt; </a:t>
            </a:r>
            <a:r>
              <a:rPr lang="ko-KR" altLang="en-US" sz="1050" spc="-50" dirty="0"/>
              <a:t>주요국의 </a:t>
            </a:r>
            <a:r>
              <a:rPr lang="en-US" altLang="ko-KR" sz="1050" spc="-50" dirty="0"/>
              <a:t>PNG </a:t>
            </a:r>
            <a:r>
              <a:rPr lang="ko-KR" altLang="en-US" sz="1050" spc="-50" dirty="0"/>
              <a:t>수출 </a:t>
            </a:r>
            <a:r>
              <a:rPr lang="en-US" altLang="ko-KR" sz="1050" spc="-50" dirty="0"/>
              <a:t>(10</a:t>
            </a:r>
            <a:r>
              <a:rPr lang="ko-KR" altLang="en-US" sz="1050" spc="-50" dirty="0"/>
              <a:t>억 </a:t>
            </a:r>
            <a:r>
              <a:rPr lang="ko-KR" altLang="en-US" sz="1050" spc="-50" dirty="0" err="1"/>
              <a:t>입방미터</a:t>
            </a:r>
            <a:r>
              <a:rPr lang="en-US" altLang="ko-KR" sz="1050" spc="-50" dirty="0"/>
              <a:t>) &gt;</a:t>
            </a:r>
            <a:endParaRPr lang="ko-KR" altLang="en-US" sz="105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FB58F0D-709A-EF49-0772-084C0E4308E5}"/>
              </a:ext>
            </a:extLst>
          </p:cNvPr>
          <p:cNvSpPr txBox="1"/>
          <p:nvPr/>
        </p:nvSpPr>
        <p:spPr>
          <a:xfrm>
            <a:off x="288790" y="4091647"/>
            <a:ext cx="6001575" cy="1891352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2023</a:t>
            </a:r>
            <a:r>
              <a:rPr lang="ko-KR" altLang="en-US" sz="1600" dirty="0"/>
              <a:t>년 기준 </a:t>
            </a:r>
            <a:r>
              <a:rPr lang="en-US" altLang="ko-KR" sz="1600" dirty="0"/>
              <a:t>PNG </a:t>
            </a:r>
            <a:r>
              <a:rPr lang="ko-KR" altLang="en-US" sz="1600" dirty="0"/>
              <a:t>수출량은 약 </a:t>
            </a:r>
            <a:r>
              <a:rPr lang="en-US" altLang="ko-KR" sz="1600" dirty="0"/>
              <a:t>6,770</a:t>
            </a:r>
            <a:r>
              <a:rPr lang="ko-KR" altLang="en-US" sz="1600" dirty="0"/>
              <a:t>억 </a:t>
            </a:r>
            <a:r>
              <a:rPr lang="ko-KR" altLang="en-US" sz="1600" dirty="0" err="1"/>
              <a:t>입방미터로</a:t>
            </a:r>
            <a:r>
              <a:rPr lang="ko-KR" altLang="en-US" sz="1600" dirty="0"/>
              <a:t> 집계되었으며</a:t>
            </a:r>
            <a:r>
              <a:rPr lang="en-US" altLang="ko-KR" sz="1600" dirty="0"/>
              <a:t>, </a:t>
            </a:r>
            <a:r>
              <a:rPr lang="ko-KR" altLang="en-US" sz="1600" dirty="0"/>
              <a:t>이는 같은 해 </a:t>
            </a:r>
            <a:r>
              <a:rPr lang="en-US" altLang="ko-KR" sz="1600" dirty="0"/>
              <a:t>LNG </a:t>
            </a:r>
            <a:r>
              <a:rPr lang="ko-KR" altLang="en-US" sz="1600" dirty="0"/>
              <a:t>수출량인 </a:t>
            </a:r>
            <a:r>
              <a:rPr lang="en-US" altLang="ko-KR" sz="1600" dirty="0"/>
              <a:t>5,492</a:t>
            </a:r>
            <a:r>
              <a:rPr lang="ko-KR" altLang="en-US" sz="1600" dirty="0"/>
              <a:t>억 </a:t>
            </a:r>
            <a:r>
              <a:rPr lang="ko-KR" altLang="en-US" sz="1600" dirty="0" err="1"/>
              <a:t>입방미터를</a:t>
            </a:r>
            <a:r>
              <a:rPr lang="ko-KR" altLang="en-US" sz="1600" dirty="0"/>
              <a:t> 상회 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오른쪽 그래프는 노르웨이</a:t>
            </a:r>
            <a:r>
              <a:rPr lang="en-US" altLang="ko-KR" sz="1600" dirty="0"/>
              <a:t>, </a:t>
            </a:r>
            <a:r>
              <a:rPr lang="ko-KR" altLang="en-US" sz="1600" dirty="0"/>
              <a:t>러시아</a:t>
            </a:r>
            <a:r>
              <a:rPr lang="en-US" altLang="ko-KR" sz="1600" dirty="0"/>
              <a:t>, </a:t>
            </a:r>
            <a:r>
              <a:rPr lang="ko-KR" altLang="en-US" sz="1600" dirty="0"/>
              <a:t>미국</a:t>
            </a:r>
            <a:r>
              <a:rPr lang="en-US" altLang="ko-KR" sz="1600" dirty="0"/>
              <a:t>, </a:t>
            </a:r>
            <a:r>
              <a:rPr lang="ko-KR" altLang="en-US" sz="1600" dirty="0"/>
              <a:t>캐나다 등 주요 </a:t>
            </a:r>
            <a:r>
              <a:rPr lang="en-US" altLang="ko-KR" sz="1600" dirty="0"/>
              <a:t>PNG </a:t>
            </a:r>
            <a:r>
              <a:rPr lang="ko-KR" altLang="en-US" sz="1600" dirty="0"/>
              <a:t>수출국들의 수출 물량을 보여주고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12626531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E91783-7ADB-202A-A1DE-5858CEE2B0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218ABB1-6004-A749-D067-9808900FD0BB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777217D-31EA-D0A1-C3C0-06E55D0BBA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37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703242AE-927A-B016-61A1-339C52842E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4. </a:t>
            </a:r>
            <a:r>
              <a:rPr lang="ko-KR" altLang="en-US" sz="4000" b="1" i="0" spc="150" dirty="0"/>
              <a:t>천연가스 시장구조와 시장지배력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63566572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C0D9A9-B774-6E31-A7F5-7BE27716DD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C2676F2-D913-3980-110A-8578C1A92D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천연가스 시장의 구조와 시장지배력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804B0FA-914F-FD78-4B35-089587F501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38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DCCE876-7D67-8FFB-F0B2-AE3F152F1118}"/>
              </a:ext>
            </a:extLst>
          </p:cNvPr>
          <p:cNvSpPr txBox="1"/>
          <p:nvPr/>
        </p:nvSpPr>
        <p:spPr>
          <a:xfrm>
            <a:off x="288790" y="958844"/>
            <a:ext cx="11118453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천연가스 시장은 본질적으로 탐사</a:t>
            </a:r>
            <a:r>
              <a:rPr lang="en-US" altLang="ko-KR" sz="1600" dirty="0"/>
              <a:t>, </a:t>
            </a:r>
            <a:r>
              <a:rPr lang="ko-KR" altLang="en-US" sz="1600" dirty="0"/>
              <a:t>생산</a:t>
            </a:r>
            <a:r>
              <a:rPr lang="en-US" altLang="ko-KR" sz="1600" dirty="0"/>
              <a:t>, </a:t>
            </a:r>
            <a:r>
              <a:rPr lang="ko-KR" altLang="en-US" sz="1600" dirty="0"/>
              <a:t>수송</a:t>
            </a:r>
            <a:r>
              <a:rPr lang="en-US" altLang="ko-KR" sz="1600" dirty="0"/>
              <a:t>, </a:t>
            </a:r>
            <a:r>
              <a:rPr lang="ko-KR" altLang="en-US" sz="1600" dirty="0"/>
              <a:t>가공</a:t>
            </a:r>
            <a:r>
              <a:rPr lang="en-US" altLang="ko-KR" sz="1600" dirty="0"/>
              <a:t>, </a:t>
            </a:r>
            <a:r>
              <a:rPr lang="ko-KR" altLang="en-US" sz="1600" dirty="0"/>
              <a:t>분배 등 여러 단계에 걸쳐 높은 자본집약성과 자산특수성을 특징으로 하며</a:t>
            </a:r>
            <a:r>
              <a:rPr lang="en-US" altLang="ko-KR" sz="1600" dirty="0"/>
              <a:t>, </a:t>
            </a:r>
            <a:r>
              <a:rPr lang="ko-KR" altLang="en-US" sz="1600" dirty="0"/>
              <a:t>이로 인해 각 단계별로 독점적 또는 과점적 시장구조가 형성되는 경향이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탐사와 생산 단계에서는 시장 집중도와 경쟁 수준이 상이하게 나타난다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다양한 사업자가 차명할 여지가 상대적으로 크다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수송 및 가공부문은 초기 투자비용이 막대하고 대체가 어려운 특성으로 인해 자연독점적 성격을 강화한다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시장 진입장벽을 높이고 경쟁을 제한하는 주요 요인이 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최종 분배 단계에서도 국가별 정책과 규제환경에 따라 경쟁 구도가 달라지나</a:t>
            </a:r>
            <a:r>
              <a:rPr lang="en-US" altLang="ko-KR" sz="1600" dirty="0"/>
              <a:t>, </a:t>
            </a:r>
            <a:r>
              <a:rPr lang="ko-KR" altLang="en-US" sz="1600" dirty="0"/>
              <a:t>여전히 독과점 구조가 많다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이러한 구조적 특성은 천연가스 가격 형성과 공급 안정성</a:t>
            </a:r>
            <a:r>
              <a:rPr lang="en-US" altLang="ko-KR" sz="1600" dirty="0"/>
              <a:t>, </a:t>
            </a:r>
            <a:r>
              <a:rPr lang="ko-KR" altLang="en-US" sz="1600" dirty="0"/>
              <a:t>그리고 소비자 후생에 중대한 영향을 미친다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시장 집중도가 높은 경우</a:t>
            </a:r>
            <a:r>
              <a:rPr lang="en-US" altLang="ko-KR" sz="1600" dirty="0"/>
              <a:t>, </a:t>
            </a:r>
            <a:r>
              <a:rPr lang="ko-KR" altLang="en-US" sz="1600" dirty="0"/>
              <a:t>주요 공급자는 가격을 인위적으로 조정하거나 공급량을 통제함으로써 소비자에게 과도한 비용을 전가할 수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이는 시장의 불확실성을 </a:t>
            </a:r>
            <a:r>
              <a:rPr lang="ko-KR" altLang="en-US" sz="1600" dirty="0" err="1"/>
              <a:t>증대시키고</a:t>
            </a:r>
            <a:r>
              <a:rPr lang="ko-KR" altLang="en-US" sz="1600" dirty="0"/>
              <a:t> 장기적으로 경쟁을 저해하여 혁신 유인을 약화할 수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천연가스 산업에서는 경쟁 촉진과 시장 감시를 통한 규제의 중요성이 지속적으로 강조되고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52161064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3D53D8-FB0B-9931-AE62-3D0C5EC1EC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E41B40A-9936-B98C-28F9-A571B515D1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천연가스 시장의 구조와 시장지배력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A050EAC-7A20-E20E-9CE0-F7FB2F69D3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39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159D27A-E156-4E05-E2D6-CECB223381E7}"/>
              </a:ext>
            </a:extLst>
          </p:cNvPr>
          <p:cNvSpPr txBox="1"/>
          <p:nvPr/>
        </p:nvSpPr>
        <p:spPr>
          <a:xfrm>
            <a:off x="288790" y="958844"/>
            <a:ext cx="11118453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천연가스 주요 생산국인 러시아</a:t>
            </a:r>
            <a:r>
              <a:rPr lang="en-US" altLang="ko-KR" sz="1600" dirty="0"/>
              <a:t>, </a:t>
            </a:r>
            <a:r>
              <a:rPr lang="ko-KR" altLang="en-US" sz="1600" dirty="0"/>
              <a:t>미국</a:t>
            </a:r>
            <a:r>
              <a:rPr lang="en-US" altLang="ko-KR" sz="1600" dirty="0"/>
              <a:t>, </a:t>
            </a:r>
            <a:r>
              <a:rPr lang="ko-KR" altLang="en-US" sz="1600" dirty="0"/>
              <a:t>카타르는 각국의 에너지 정책과 공급망 전략을 통해 글로벌 시장에 큰 영향을 미치고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러시아 국영기업인 </a:t>
            </a:r>
            <a:r>
              <a:rPr lang="ko-KR" altLang="en-US" sz="1600" dirty="0" err="1"/>
              <a:t>가즈프롬은</a:t>
            </a:r>
            <a:r>
              <a:rPr lang="ko-KR" altLang="en-US" sz="1600" dirty="0"/>
              <a:t> 천연가스 생산과 수출을 독점하고</a:t>
            </a:r>
            <a:r>
              <a:rPr lang="en-US" altLang="ko-KR" sz="1600" dirty="0"/>
              <a:t>, </a:t>
            </a:r>
            <a:r>
              <a:rPr lang="ko-KR" altLang="en-US" sz="1600" dirty="0"/>
              <a:t>파이프라인 네트워크를 통한 유럽 시장 지배력을 바탕으로 강한 시장지배력을 행사하고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이러한 전략적 행위는 특정 지역의 에너지 안보를 위협하고</a:t>
            </a:r>
            <a:r>
              <a:rPr lang="en-US" altLang="ko-KR" sz="1600" dirty="0"/>
              <a:t>, </a:t>
            </a:r>
            <a:r>
              <a:rPr lang="ko-KR" altLang="en-US" sz="1600" dirty="0"/>
              <a:t>천연가스 시장의 국제정치적 긴장을 </a:t>
            </a:r>
            <a:r>
              <a:rPr lang="ko-KR" altLang="en-US" sz="1600" dirty="0" err="1"/>
              <a:t>심화시킨다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천연가스 수송 및 가공 단계에서는 파이프라인 인프라가 매우 </a:t>
            </a:r>
            <a:r>
              <a:rPr lang="ko-KR" altLang="en-US" sz="1600" dirty="0" err="1"/>
              <a:t>자본집약적이기</a:t>
            </a:r>
            <a:r>
              <a:rPr lang="ko-KR" altLang="en-US" sz="1600" dirty="0"/>
              <a:t> 때문에</a:t>
            </a:r>
            <a:r>
              <a:rPr lang="en-US" altLang="ko-KR" sz="1600" dirty="0"/>
              <a:t>, </a:t>
            </a:r>
            <a:r>
              <a:rPr lang="ko-KR" altLang="en-US" sz="1600" dirty="0"/>
              <a:t>신규 공급자의 진입이 어려워</a:t>
            </a:r>
            <a:r>
              <a:rPr lang="en-US" altLang="ko-KR" sz="1600" dirty="0"/>
              <a:t>, </a:t>
            </a:r>
            <a:r>
              <a:rPr lang="ko-KR" altLang="en-US" sz="1600" dirty="0"/>
              <a:t>자연스럽게 독점 구조가 형성될 가능성이 크다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파이프라인은 건설 이후에는 한계비용이 낮지만 초기 고정투자비용이 매우 높아 진입장벽이 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운송 인프라를 통제하는 기업들은 파이프라인 접근을 제한하거나 운송비용을 높여 시장지배력을 행사한다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천연가스 가공 과정에서도 대규모 처리시설을 보유한 기업들은 비용구조를 통제함으로써 경쟁을 제한하고 높은 처리비용을 강제할 수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55845472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7EBD2D-4467-798D-9C2B-B712DBD725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7B3AD43-BB3A-A89C-FB00-7E6A8F5AE0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천연가스 시장의 구조와 시장지배력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6485B48-F90E-6C16-998B-06FB267D35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40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C73AE8E-A54C-CE9E-7364-2C257F4DF70E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최종분배단계에서는 지역 유틸리티 회사들이 특정 지역에서 가스를 독점적으로 공급하는 경우가 흔하며</a:t>
            </a:r>
            <a:r>
              <a:rPr lang="en-US" altLang="ko-KR" sz="1600" dirty="0"/>
              <a:t>, </a:t>
            </a:r>
            <a:r>
              <a:rPr lang="ko-KR" altLang="en-US" sz="1600" dirty="0"/>
              <a:t>이는 가격 결정에 공급자의 영향력을 강화하고 시장 경쟁을 저해하는 요인이 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또한 천연가스 공급자들은 생산</a:t>
            </a:r>
            <a:r>
              <a:rPr lang="en-US" altLang="ko-KR" sz="1600" dirty="0"/>
              <a:t>, </a:t>
            </a:r>
            <a:r>
              <a:rPr lang="ko-KR" altLang="en-US" sz="1600" dirty="0"/>
              <a:t>운송</a:t>
            </a:r>
            <a:r>
              <a:rPr lang="en-US" altLang="ko-KR" sz="1600" dirty="0"/>
              <a:t>, </a:t>
            </a:r>
            <a:r>
              <a:rPr lang="ko-KR" altLang="en-US" sz="1600" dirty="0"/>
              <a:t>가공</a:t>
            </a:r>
            <a:r>
              <a:rPr lang="en-US" altLang="ko-KR" sz="1600" dirty="0"/>
              <a:t>, </a:t>
            </a:r>
            <a:r>
              <a:rPr lang="ko-KR" altLang="en-US" sz="1600" dirty="0"/>
              <a:t>유통 과정을 수직적으로 통합하여 시장지배력을 강화하기도 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수직적 통합은 필수 설비에 대한 접근을 제한하거나 과도한 비용을 부과하는 방식으로 경쟁자들을 배제하고 시장 가격을 상승시킬 수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대표적으로 </a:t>
            </a:r>
            <a:r>
              <a:rPr lang="ko-KR" altLang="en-US" sz="1600" dirty="0" err="1"/>
              <a:t>가즈프롬은</a:t>
            </a:r>
            <a:r>
              <a:rPr lang="ko-KR" altLang="en-US" sz="1600" dirty="0"/>
              <a:t> 탐사</a:t>
            </a:r>
            <a:r>
              <a:rPr lang="en-US" altLang="ko-KR" sz="1600" dirty="0"/>
              <a:t>, </a:t>
            </a:r>
            <a:r>
              <a:rPr lang="ko-KR" altLang="en-US" sz="1600" dirty="0"/>
              <a:t>생산</a:t>
            </a:r>
            <a:r>
              <a:rPr lang="en-US" altLang="ko-KR" sz="1600" dirty="0"/>
              <a:t>, </a:t>
            </a:r>
            <a:r>
              <a:rPr lang="ko-KR" altLang="en-US" sz="1600" dirty="0"/>
              <a:t>수송</a:t>
            </a:r>
            <a:r>
              <a:rPr lang="en-US" altLang="ko-KR" sz="1600" dirty="0"/>
              <a:t>, </a:t>
            </a:r>
            <a:r>
              <a:rPr lang="ko-KR" altLang="en-US" sz="1600" dirty="0"/>
              <a:t>그리고 유럽시장 진출까지 일관되게 관리하여 공급망 전반에 걸쳐 지배력을 유지하고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천연가스 공급과정에서의 시장지배력 행사를 완화하기 위해 정부와 규제기관은 파이프라인에 대한 제</a:t>
            </a:r>
            <a:r>
              <a:rPr lang="en-US" altLang="ko-KR" sz="1600" dirty="0"/>
              <a:t>3</a:t>
            </a:r>
            <a:r>
              <a:rPr lang="ko-KR" altLang="en-US" sz="1600" dirty="0"/>
              <a:t>자 접근 보장</a:t>
            </a:r>
            <a:r>
              <a:rPr lang="en-US" altLang="ko-KR" sz="1600" dirty="0"/>
              <a:t>, </a:t>
            </a:r>
            <a:r>
              <a:rPr lang="ko-KR" altLang="en-US" sz="1600" dirty="0"/>
              <a:t>가격 규제</a:t>
            </a:r>
            <a:r>
              <a:rPr lang="en-US" altLang="ko-KR" sz="1600" dirty="0"/>
              <a:t>, </a:t>
            </a:r>
            <a:r>
              <a:rPr lang="ko-KR" altLang="en-US" sz="1600" dirty="0"/>
              <a:t>경쟁 촉진 등을 도입하고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천연가스 시장에서는 장기계약이 공급자들의 시장지배력 행사에 중요한 수단으로 작용한다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장기계약은 공급자와 수요자 간 안정성을 제공하지만</a:t>
            </a:r>
            <a:r>
              <a:rPr lang="en-US" altLang="ko-KR" sz="1600" dirty="0"/>
              <a:t>, </a:t>
            </a:r>
            <a:r>
              <a:rPr lang="ko-KR" altLang="en-US" sz="1600" dirty="0"/>
              <a:t>구매자의 에너지 전환 가능성을 제약하여 </a:t>
            </a:r>
            <a:r>
              <a:rPr lang="ko-KR" altLang="en-US" sz="1600" dirty="0" err="1"/>
              <a:t>에너지원간의</a:t>
            </a:r>
            <a:r>
              <a:rPr lang="ko-KR" altLang="en-US" sz="1600" dirty="0"/>
              <a:t> 경쟁이 제한될 수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장기계약 비중이 높으면 신규 공급자 진입이 어렵고</a:t>
            </a:r>
            <a:r>
              <a:rPr lang="en-US" altLang="ko-KR" sz="1600" dirty="0"/>
              <a:t>, </a:t>
            </a:r>
            <a:r>
              <a:rPr lang="ko-KR" altLang="en-US" sz="1600" dirty="0"/>
              <a:t>가격 경쟁이 감소하여 소비자 가격이 상승할 수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25881435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2F4EE6-7E91-48AF-7C58-6944D11764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B4FA3E8-3B2E-5DD1-14B7-BC328A0EB499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C7E8049-A358-3CF2-F13F-C40AE21B0A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41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7F97B70B-EABF-EACD-2EA9-BB8AB3F711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1903" y="2221948"/>
            <a:ext cx="11302723" cy="2768198"/>
          </a:xfrm>
          <a:effectLst>
            <a:reflection blurRad="50800" stA="45000" endPos="44000" dir="5400000" sy="-100000" algn="bl" rotWithShape="0"/>
          </a:effectLst>
        </p:spPr>
        <p:txBody>
          <a:bodyPr anchor="ctr" anchorCtr="0"/>
          <a:lstStyle/>
          <a:p>
            <a:r>
              <a:rPr lang="en-US" altLang="ko-KR" sz="4000" b="1" i="0" spc="150" dirty="0"/>
              <a:t>Section 5. </a:t>
            </a:r>
            <a:r>
              <a:rPr lang="ko-KR" altLang="en-US" sz="4000" b="1" i="0" spc="150" dirty="0"/>
              <a:t>천연가스 시장의 탈규제와 구조개편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342046463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691A43-D562-52E1-09A5-D7835E9E2C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1A6EBC1-7B5E-36B1-D308-490A02A1B9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천연가스 시장의 탈규제와 구조개편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9B0A3F7-57BC-23EA-D8B2-0F778FD540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42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CBE5746-4F67-FD51-6610-89E7EE472640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글로벌 천연가스 시장에서의 탈규제와 구조개편은 기존의 국가 독점 또는 규제된 통합 구조를 경쟁 중심의 시장 지향 구조로 전환하기 위한 정책적 변화들을 의미한다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이러한 변화는 </a:t>
            </a:r>
            <a:r>
              <a:rPr lang="en-US" altLang="ko-KR" sz="1600" dirty="0"/>
              <a:t>1980</a:t>
            </a:r>
            <a:r>
              <a:rPr lang="ko-KR" altLang="en-US" sz="1600" dirty="0"/>
              <a:t>년대 미국과 영국을 중심으로 본격화되었고</a:t>
            </a:r>
            <a:r>
              <a:rPr lang="en-US" altLang="ko-KR" sz="1600" dirty="0"/>
              <a:t>, </a:t>
            </a:r>
            <a:r>
              <a:rPr lang="ko-KR" altLang="en-US" sz="1600" dirty="0"/>
              <a:t>천연가스의 가격 결정 방식</a:t>
            </a:r>
            <a:r>
              <a:rPr lang="en-US" altLang="ko-KR" sz="1600" dirty="0"/>
              <a:t>, </a:t>
            </a:r>
            <a:r>
              <a:rPr lang="ko-KR" altLang="en-US" sz="1600" dirty="0"/>
              <a:t>투자 유인</a:t>
            </a:r>
            <a:r>
              <a:rPr lang="en-US" altLang="ko-KR" sz="1600" dirty="0"/>
              <a:t>, </a:t>
            </a:r>
            <a:r>
              <a:rPr lang="ko-KR" altLang="en-US" sz="1600" dirty="0"/>
              <a:t>인프라 운영</a:t>
            </a:r>
            <a:r>
              <a:rPr lang="en-US" altLang="ko-KR" sz="1600" dirty="0"/>
              <a:t>, </a:t>
            </a:r>
            <a:r>
              <a:rPr lang="ko-KR" altLang="en-US" sz="1600" dirty="0"/>
              <a:t>국제 무역 등에 큰 영향을 미쳐왔다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기업이 천연가스의 공급사슬을 수직 통합하고</a:t>
            </a:r>
            <a:r>
              <a:rPr lang="en-US" altLang="ko-KR" sz="1600" dirty="0"/>
              <a:t>, </a:t>
            </a:r>
            <a:r>
              <a:rPr lang="ko-KR" altLang="en-US" sz="1600" dirty="0"/>
              <a:t>가격은 정부 혹은 규제기관이 결정하였지만</a:t>
            </a:r>
            <a:r>
              <a:rPr lang="en-US" altLang="ko-KR" sz="1600" dirty="0"/>
              <a:t>, </a:t>
            </a:r>
            <a:r>
              <a:rPr lang="ko-KR" altLang="en-US" sz="1600" dirty="0"/>
              <a:t>시간이 지나면서 이러한 구조가 비효율적이고</a:t>
            </a:r>
            <a:r>
              <a:rPr lang="en-US" altLang="ko-KR" sz="1600" dirty="0"/>
              <a:t>, </a:t>
            </a:r>
            <a:r>
              <a:rPr lang="ko-KR" altLang="en-US" sz="1600" dirty="0"/>
              <a:t>시장 변화에 유연하게 대응하기 어렵다는 비판이 잇따르면서</a:t>
            </a:r>
            <a:r>
              <a:rPr lang="en-US" altLang="ko-KR" sz="1600" dirty="0"/>
              <a:t>, </a:t>
            </a:r>
            <a:r>
              <a:rPr lang="ko-KR" altLang="en-US" sz="1600" dirty="0"/>
              <a:t>각 국가들은 탈규제와 구조개편을 추진하게 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탈규제는 가격</a:t>
            </a:r>
            <a:r>
              <a:rPr lang="en-US" altLang="ko-KR" sz="1600" dirty="0"/>
              <a:t>, </a:t>
            </a:r>
            <a:r>
              <a:rPr lang="ko-KR" altLang="en-US" sz="1600" dirty="0"/>
              <a:t>시장 진입</a:t>
            </a:r>
            <a:r>
              <a:rPr lang="en-US" altLang="ko-KR" sz="1600" dirty="0"/>
              <a:t>, </a:t>
            </a:r>
            <a:r>
              <a:rPr lang="ko-KR" altLang="en-US" sz="1600" dirty="0"/>
              <a:t>운영과 같은 부문에서 정부의 직접적인 통제를 완화하거나</a:t>
            </a:r>
            <a:r>
              <a:rPr lang="en-US" altLang="ko-KR" sz="1600" dirty="0"/>
              <a:t> </a:t>
            </a:r>
            <a:r>
              <a:rPr lang="ko-KR" altLang="en-US" sz="1600" dirty="0"/>
              <a:t>제거하는 것을 의미한다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구조개편은 기존의 수직적으로 통합된 기업을 기능별로 분리하여</a:t>
            </a:r>
            <a:r>
              <a:rPr lang="en-US" altLang="ko-KR" sz="1600" dirty="0"/>
              <a:t>, </a:t>
            </a:r>
            <a:r>
              <a:rPr lang="ko-KR" altLang="en-US" sz="1600" dirty="0"/>
              <a:t>경쟁이 가능한 부문과 자연독점적 성격을 가진 부문을 구분하는 과정을 의미한다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예를 들면</a:t>
            </a:r>
            <a:r>
              <a:rPr lang="en-US" altLang="ko-KR" sz="1600" dirty="0"/>
              <a:t>, </a:t>
            </a:r>
            <a:r>
              <a:rPr lang="ko-KR" altLang="en-US" sz="1600" dirty="0"/>
              <a:t>에너지 산업에서는 생산과 판매 부문에 경쟁을 도입하고</a:t>
            </a:r>
            <a:r>
              <a:rPr lang="en-US" altLang="ko-KR" sz="1600" dirty="0"/>
              <a:t>, </a:t>
            </a:r>
            <a:r>
              <a:rPr lang="ko-KR" altLang="en-US" sz="1600" dirty="0"/>
              <a:t>송전이나 파이프라인 수송 부문은 공공적 규제를 유지하는 방식이 대표적이다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179801335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DF785B-1A00-44E1-50DF-8F556CC9D6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8BFCC4B-DFD6-A58C-8878-00718F20B1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천연가스 시장의 탈규제와 구조개편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D324C00-6E67-3743-58A4-398D6E1CD9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43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BA446E4-74EA-3A2E-F737-B06AC71F710F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영국은 가장 먼저 천연가스 시장 자유화를 도입한 국가로</a:t>
            </a:r>
            <a:r>
              <a:rPr lang="en-US" altLang="ko-KR" sz="1600" dirty="0"/>
              <a:t>, 1980</a:t>
            </a:r>
            <a:r>
              <a:rPr lang="ko-KR" altLang="en-US" sz="1600" dirty="0"/>
              <a:t>년대 민영화를 시작으로 </a:t>
            </a:r>
            <a:r>
              <a:rPr lang="en-US" altLang="ko-KR" sz="1600" dirty="0"/>
              <a:t>1998</a:t>
            </a:r>
            <a:r>
              <a:rPr lang="ko-KR" altLang="en-US" sz="1600" dirty="0"/>
              <a:t>년에는 완전한 소매 경쟁 시장을 구축하였다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이 과정에서 제</a:t>
            </a:r>
            <a:r>
              <a:rPr lang="en-US" altLang="ko-KR" sz="1600" dirty="0"/>
              <a:t>3</a:t>
            </a:r>
            <a:r>
              <a:rPr lang="ko-KR" altLang="en-US" sz="1600" dirty="0"/>
              <a:t>자 파이프라인 접근</a:t>
            </a:r>
            <a:r>
              <a:rPr lang="en-US" altLang="ko-KR" sz="1600" dirty="0"/>
              <a:t>, </a:t>
            </a:r>
            <a:r>
              <a:rPr lang="ko-KR" altLang="en-US" sz="1600" dirty="0"/>
              <a:t>시장 기반 가격 체계</a:t>
            </a:r>
            <a:r>
              <a:rPr lang="en-US" altLang="ko-KR" sz="1600" dirty="0"/>
              <a:t>, </a:t>
            </a:r>
            <a:r>
              <a:rPr lang="ko-KR" altLang="en-US" sz="1600" dirty="0"/>
              <a:t>자연독점 부문의 규제기관 감독 등의 제도들이 단계적으로 도입되었다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유럽연합</a:t>
            </a:r>
            <a:r>
              <a:rPr lang="en-US" altLang="ko-KR" sz="1600" dirty="0"/>
              <a:t>(EU)</a:t>
            </a:r>
            <a:r>
              <a:rPr lang="ko-KR" altLang="en-US" sz="1600" dirty="0"/>
              <a:t>도 </a:t>
            </a:r>
            <a:r>
              <a:rPr lang="en-US" altLang="ko-KR" sz="1600" dirty="0"/>
              <a:t>1990</a:t>
            </a:r>
            <a:r>
              <a:rPr lang="ko-KR" altLang="en-US" sz="1600" dirty="0"/>
              <a:t>년대 말부터 </a:t>
            </a:r>
            <a:r>
              <a:rPr lang="en-US" altLang="ko-KR" sz="1600" dirty="0"/>
              <a:t>‘</a:t>
            </a:r>
            <a:r>
              <a:rPr lang="ko-KR" altLang="en-US" sz="1600" dirty="0"/>
              <a:t>가스 지침</a:t>
            </a:r>
            <a:r>
              <a:rPr lang="en-US" altLang="ko-KR" sz="1600" dirty="0"/>
              <a:t>‘</a:t>
            </a:r>
            <a:r>
              <a:rPr lang="ko-KR" altLang="en-US" sz="1600" dirty="0"/>
              <a:t>을 통해 회원국들의 시장 개방을 유도하였다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/>
              <a:t>1998</a:t>
            </a:r>
            <a:r>
              <a:rPr lang="ko-KR" altLang="en-US" sz="1600" dirty="0"/>
              <a:t>년</a:t>
            </a:r>
            <a:r>
              <a:rPr lang="en-US" altLang="ko-KR" sz="1600" dirty="0"/>
              <a:t>, 2003</a:t>
            </a:r>
            <a:r>
              <a:rPr lang="ko-KR" altLang="en-US" sz="1600" dirty="0"/>
              <a:t>년</a:t>
            </a:r>
            <a:r>
              <a:rPr lang="en-US" altLang="ko-KR" sz="1600" dirty="0"/>
              <a:t>, 2009</a:t>
            </a:r>
            <a:r>
              <a:rPr lang="ko-KR" altLang="en-US" sz="1600" dirty="0"/>
              <a:t>년의 세 차례 지침은 제</a:t>
            </a:r>
            <a:r>
              <a:rPr lang="en-US" altLang="ko-KR" sz="1600" dirty="0"/>
              <a:t>3</a:t>
            </a:r>
            <a:r>
              <a:rPr lang="ko-KR" altLang="en-US" sz="1600" dirty="0"/>
              <a:t>자 접근 보장</a:t>
            </a:r>
            <a:r>
              <a:rPr lang="en-US" altLang="ko-KR" sz="1600" dirty="0"/>
              <a:t>, </a:t>
            </a:r>
            <a:r>
              <a:rPr lang="ko-KR" altLang="en-US" sz="1600" dirty="0"/>
              <a:t>송</a:t>
            </a:r>
            <a:r>
              <a:rPr lang="en-US" altLang="ko-KR" sz="1600" dirty="0"/>
              <a:t>·</a:t>
            </a:r>
            <a:r>
              <a:rPr lang="ko-KR" altLang="en-US" sz="1600" dirty="0"/>
              <a:t>배전과 판매 기능의 법적 분리</a:t>
            </a:r>
            <a:r>
              <a:rPr lang="en-US" altLang="ko-KR" sz="1600" dirty="0"/>
              <a:t>, </a:t>
            </a:r>
            <a:r>
              <a:rPr lang="ko-KR" altLang="en-US" sz="1600" dirty="0"/>
              <a:t>독립 규제기관 설치 등을 요구하였고</a:t>
            </a:r>
            <a:r>
              <a:rPr lang="en-US" altLang="ko-KR" sz="1600" dirty="0"/>
              <a:t>, </a:t>
            </a:r>
            <a:r>
              <a:rPr lang="ko-KR" altLang="en-US" sz="1600" dirty="0"/>
              <a:t>다수의 국가가 </a:t>
            </a:r>
            <a:r>
              <a:rPr lang="en-US" altLang="ko-KR" sz="1600" dirty="0"/>
              <a:t>2004</a:t>
            </a:r>
            <a:r>
              <a:rPr lang="ko-KR" altLang="en-US" sz="1600" dirty="0"/>
              <a:t>년까지 전면 시장 개방을 완료하였다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각국의 제도 도입과 실행 수준은 여전히 상이하며</a:t>
            </a:r>
            <a:r>
              <a:rPr lang="en-US" altLang="ko-KR" sz="1600" dirty="0"/>
              <a:t>, </a:t>
            </a:r>
            <a:r>
              <a:rPr lang="ko-KR" altLang="en-US" sz="1600" dirty="0"/>
              <a:t>일부 국가는 구조적 통합성이 강하다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미국은 연방 에너지 규제위원회</a:t>
            </a:r>
            <a:r>
              <a:rPr lang="en-US" altLang="ko-KR" sz="1600" dirty="0"/>
              <a:t>(FERC, Federal Energy Regulatory </a:t>
            </a:r>
            <a:r>
              <a:rPr lang="en-US" altLang="ko-KR" sz="1600" dirty="0" err="1"/>
              <a:t>Commision</a:t>
            </a:r>
            <a:r>
              <a:rPr lang="en-US" altLang="ko-KR" sz="1600" dirty="0"/>
              <a:t>)</a:t>
            </a:r>
            <a:r>
              <a:rPr lang="ko-KR" altLang="en-US" sz="1600" dirty="0"/>
              <a:t>가 </a:t>
            </a:r>
            <a:r>
              <a:rPr lang="en-US" altLang="ko-KR" sz="1600" dirty="0"/>
              <a:t>1980</a:t>
            </a:r>
            <a:r>
              <a:rPr lang="ko-KR" altLang="en-US" sz="1600" dirty="0"/>
              <a:t>년대부터 탈규제를 본격 추진하였으며</a:t>
            </a:r>
            <a:r>
              <a:rPr lang="en-US" altLang="ko-KR" sz="1600" dirty="0"/>
              <a:t>, </a:t>
            </a:r>
            <a:r>
              <a:rPr lang="ko-KR" altLang="en-US" sz="1600" dirty="0"/>
              <a:t>파이프라인 사업자에게 제</a:t>
            </a:r>
            <a:r>
              <a:rPr lang="en-US" altLang="ko-KR" sz="1600" dirty="0"/>
              <a:t>3</a:t>
            </a:r>
            <a:r>
              <a:rPr lang="ko-KR" altLang="en-US" sz="1600" dirty="0"/>
              <a:t>자 접근을 의무화하고</a:t>
            </a:r>
            <a:r>
              <a:rPr lang="en-US" altLang="ko-KR" sz="1600" dirty="0"/>
              <a:t>, </a:t>
            </a:r>
            <a:r>
              <a:rPr lang="ko-KR" altLang="en-US" sz="1600" dirty="0"/>
              <a:t>소비자와 생산자가 직접 계약을 체결할 수 있게 하여</a:t>
            </a:r>
            <a:r>
              <a:rPr lang="en-US" altLang="ko-KR" sz="1600" dirty="0"/>
              <a:t>, </a:t>
            </a:r>
            <a:r>
              <a:rPr lang="ko-KR" altLang="en-US" sz="1600" dirty="0"/>
              <a:t>경쟁적 도매시장을 형성하였다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그 결과 미국은 현물 및 선물 시장이 활성화된 </a:t>
            </a:r>
            <a:r>
              <a:rPr lang="ko-KR" altLang="en-US" sz="1600" dirty="0" err="1"/>
              <a:t>고유동성</a:t>
            </a:r>
            <a:r>
              <a:rPr lang="ko-KR" altLang="en-US" sz="1600" dirty="0"/>
              <a:t> 시장을 구축하고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헨리허브를</a:t>
            </a:r>
            <a:r>
              <a:rPr lang="ko-KR" altLang="en-US" sz="1600" dirty="0"/>
              <a:t> 중심으로 글로벌 가격 신호 전파 기능을 수행하고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546954890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70EA88-CBA8-F540-EF1B-7AF0DE64EA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68B0A8-FF2A-022E-1EDF-831FC4FEDF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천연가스 시장의 탈규제와 구조개편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68CC4B4-40AF-1E15-9A36-E112FA61A6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44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3F4B649-30ED-D344-711A-3CD4C71BF6A1}"/>
              </a:ext>
            </a:extLst>
          </p:cNvPr>
          <p:cNvSpPr txBox="1"/>
          <p:nvPr/>
        </p:nvSpPr>
        <p:spPr>
          <a:xfrm>
            <a:off x="288790" y="958844"/>
            <a:ext cx="11118453" cy="410734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일본은 </a:t>
            </a:r>
            <a:r>
              <a:rPr lang="en-US" altLang="ko-KR" sz="1600" dirty="0"/>
              <a:t>1990</a:t>
            </a:r>
            <a:r>
              <a:rPr lang="ko-KR" altLang="en-US" sz="1600" dirty="0"/>
              <a:t>년대 후반부터 점진적인 천연가스 시장 자유화를 추진해왔고</a:t>
            </a:r>
            <a:r>
              <a:rPr lang="en-US" altLang="ko-KR" sz="1600" dirty="0"/>
              <a:t>, 2020</a:t>
            </a:r>
            <a:r>
              <a:rPr lang="ko-KR" altLang="en-US" sz="1600" dirty="0"/>
              <a:t>년에는 소매부문까지 완전 자유화를 달성하였다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그러나 도쿄가스</a:t>
            </a:r>
            <a:r>
              <a:rPr lang="en-US" altLang="ko-KR" sz="1600" dirty="0"/>
              <a:t>, </a:t>
            </a:r>
            <a:r>
              <a:rPr lang="ko-KR" altLang="en-US" sz="1600" dirty="0"/>
              <a:t>오사카가스 등 대형 지역가스회사가 여전히 시장을 주도하고 있어</a:t>
            </a:r>
            <a:r>
              <a:rPr lang="en-US" altLang="ko-KR" sz="1600" dirty="0"/>
              <a:t>, </a:t>
            </a:r>
            <a:r>
              <a:rPr lang="ko-KR" altLang="en-US" sz="1600" dirty="0"/>
              <a:t>실질적인 경쟁은 제한적이라는 평가도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한국은 중국보다 점진적 접근을 취하고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한국은 한국가스공사</a:t>
            </a:r>
            <a:r>
              <a:rPr lang="en-US" altLang="ko-KR" sz="1600" dirty="0"/>
              <a:t>(KOGAS)</a:t>
            </a:r>
            <a:r>
              <a:rPr lang="ko-KR" altLang="en-US" sz="1600" dirty="0"/>
              <a:t>를 중심으로</a:t>
            </a:r>
            <a:r>
              <a:rPr lang="en-US" altLang="ko-KR" sz="1600" dirty="0"/>
              <a:t>, </a:t>
            </a:r>
            <a:r>
              <a:rPr lang="ko-KR" altLang="en-US" sz="1600" dirty="0"/>
              <a:t>수입</a:t>
            </a:r>
            <a:r>
              <a:rPr lang="en-US" altLang="ko-KR" sz="1600" dirty="0"/>
              <a:t>, </a:t>
            </a:r>
            <a:r>
              <a:rPr lang="ko-KR" altLang="en-US" sz="1600" dirty="0"/>
              <a:t>도매</a:t>
            </a:r>
            <a:r>
              <a:rPr lang="en-US" altLang="ko-KR" sz="1600" dirty="0"/>
              <a:t>, </a:t>
            </a:r>
            <a:r>
              <a:rPr lang="ko-KR" altLang="en-US" sz="1600" dirty="0"/>
              <a:t>인프라 운영이 통합된 규제된 구조를 유지하고 있고</a:t>
            </a:r>
            <a:r>
              <a:rPr lang="en-US" altLang="ko-KR" sz="1600" dirty="0"/>
              <a:t>, </a:t>
            </a:r>
            <a:r>
              <a:rPr lang="ko-KR" altLang="en-US" sz="1600" dirty="0"/>
              <a:t>일부 발전용 및 산업용에 한해 시장화를 시도하고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중국은 </a:t>
            </a:r>
            <a:r>
              <a:rPr lang="en-US" altLang="ko-KR" sz="1600" dirty="0"/>
              <a:t>2020</a:t>
            </a:r>
            <a:r>
              <a:rPr lang="ko-KR" altLang="en-US" sz="1600" dirty="0"/>
              <a:t>년 국가 파이프라인공사를 설립하여 송</a:t>
            </a:r>
            <a:r>
              <a:rPr lang="en-US" altLang="ko-KR" sz="1600" dirty="0"/>
              <a:t>·</a:t>
            </a:r>
            <a:r>
              <a:rPr lang="ko-KR" altLang="en-US" sz="1600" dirty="0"/>
              <a:t>배전 인프라를 생산</a:t>
            </a:r>
            <a:r>
              <a:rPr lang="en-US" altLang="ko-KR" sz="1600" dirty="0"/>
              <a:t>·</a:t>
            </a:r>
            <a:r>
              <a:rPr lang="ko-KR" altLang="en-US" sz="1600" dirty="0"/>
              <a:t>판매 부문과 분리하는 구조조정을 착수하여</a:t>
            </a:r>
            <a:r>
              <a:rPr lang="en-US" altLang="ko-KR" sz="1600" dirty="0"/>
              <a:t>, </a:t>
            </a:r>
            <a:r>
              <a:rPr lang="ko-KR" altLang="en-US" sz="1600" dirty="0"/>
              <a:t>천연가스 산업의 효율성과 민간투자 유인을 강화하려는 시도를 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2646458161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7ED844-EA08-9C45-A45A-734D28224E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D525C14-AD44-C38D-0CF9-CB3AF88FA9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천연가스 시장의 탈규제와 구조개편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D7BFCE9-45FB-C5C2-ECB0-21FFF39D94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45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8C8B8DB-47DF-4212-F5CC-BF78C0F4AA40}"/>
              </a:ext>
            </a:extLst>
          </p:cNvPr>
          <p:cNvSpPr txBox="1"/>
          <p:nvPr/>
        </p:nvSpPr>
        <p:spPr>
          <a:xfrm>
            <a:off x="288790" y="958844"/>
            <a:ext cx="11118453" cy="3368679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탈규제와 구조개편의 주요 목적은 시장 효율성 제고</a:t>
            </a:r>
            <a:r>
              <a:rPr lang="en-US" altLang="ko-KR" sz="1600" dirty="0"/>
              <a:t>, </a:t>
            </a:r>
            <a:r>
              <a:rPr lang="ko-KR" altLang="en-US" sz="1600" dirty="0"/>
              <a:t>민간투자 촉진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수입처</a:t>
            </a:r>
            <a:r>
              <a:rPr lang="ko-KR" altLang="en-US" sz="1600" dirty="0"/>
              <a:t> 다변화</a:t>
            </a:r>
            <a:r>
              <a:rPr lang="en-US" altLang="ko-KR" sz="1600" dirty="0"/>
              <a:t>, </a:t>
            </a:r>
            <a:r>
              <a:rPr lang="ko-KR" altLang="en-US" sz="1600" dirty="0"/>
              <a:t>가격 신호의 투명성 확보</a:t>
            </a:r>
            <a:r>
              <a:rPr lang="en-US" altLang="ko-KR" sz="1600" dirty="0"/>
              <a:t>, </a:t>
            </a:r>
            <a:r>
              <a:rPr lang="ko-KR" altLang="en-US" sz="1600" dirty="0"/>
              <a:t>에너지 안보 제고 등이다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최근 </a:t>
            </a:r>
            <a:r>
              <a:rPr lang="en-US" altLang="ko-KR" sz="1600" dirty="0"/>
              <a:t>LNG</a:t>
            </a:r>
            <a:r>
              <a:rPr lang="ko-KR" altLang="en-US" sz="1600" dirty="0"/>
              <a:t> 시장에서 장기 고정가격 계약이 허브 기반의 현물가격 계약으로 전환되는 추세도 이러한 시장 유연화와 규제 완화의 일환으로 해석할 수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한국은 여전히 공공 중심의 안정성 지향 구조를 유지하고 있지만</a:t>
            </a:r>
            <a:r>
              <a:rPr lang="en-US" altLang="ko-KR" sz="1600" dirty="0"/>
              <a:t>, </a:t>
            </a:r>
            <a:r>
              <a:rPr lang="ko-KR" altLang="en-US" sz="1600" dirty="0"/>
              <a:t>시장 유연성 확보</a:t>
            </a:r>
            <a:r>
              <a:rPr lang="en-US" altLang="ko-KR" sz="1600" dirty="0"/>
              <a:t>, </a:t>
            </a:r>
            <a:r>
              <a:rPr lang="ko-KR" altLang="en-US" sz="1600" dirty="0"/>
              <a:t>가격 경쟁력 강화</a:t>
            </a:r>
            <a:r>
              <a:rPr lang="en-US" altLang="ko-KR" sz="1600" dirty="0"/>
              <a:t>, </a:t>
            </a:r>
            <a:r>
              <a:rPr lang="ko-KR" altLang="en-US" sz="1600" dirty="0"/>
              <a:t>공급선 다변화 측면에서 점진적인 제도 개편의 필요성이 커지고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미국과 유럽의 자유화 경험은 한국이 이러한 제도 개혁을 추진할 때</a:t>
            </a:r>
            <a:r>
              <a:rPr lang="en-US" altLang="ko-KR" sz="1600" dirty="0"/>
              <a:t>, </a:t>
            </a:r>
            <a:r>
              <a:rPr lang="ko-KR" altLang="en-US" sz="1600" dirty="0"/>
              <a:t>유용한 벤치마크를 제공하고</a:t>
            </a:r>
            <a:r>
              <a:rPr lang="en-US" altLang="ko-KR" sz="1600" dirty="0"/>
              <a:t>, </a:t>
            </a:r>
            <a:r>
              <a:rPr lang="ko-KR" altLang="en-US" sz="1600" dirty="0"/>
              <a:t>에너지 전환기와 글로벌 </a:t>
            </a:r>
            <a:r>
              <a:rPr lang="en-US" altLang="ko-KR" sz="1600" dirty="0"/>
              <a:t>LNG </a:t>
            </a:r>
            <a:r>
              <a:rPr lang="ko-KR" altLang="en-US" sz="1600" dirty="0"/>
              <a:t>시장 재편기에 대응하는 정책 설계에 있어 중요한 시사점을 제공한다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871420799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B3BEA8-9CC1-DD1F-975D-DDA9762D5F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95D2871E-2F83-AA46-877B-BD918D41BE17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64534A9-8A45-3E1D-2AE3-E5A674710C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46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B4CEE3B9-85C8-1362-0416-5231A98C82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6. </a:t>
            </a:r>
            <a:r>
              <a:rPr lang="ko-KR" altLang="en-US" sz="4000" b="1" i="0" spc="150" dirty="0"/>
              <a:t>천연가스 시장의 가격 결정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4093543577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F31D4D-B178-469A-AF44-600873A462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5C7A15B-FECB-67B0-BB4B-6EBAACEA82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천연가스 가격의 결정 요인들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74251A4-718D-B2D3-92D3-38917B1918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47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7683D07-50A8-23C4-595D-C8B3CC909C68}"/>
              </a:ext>
            </a:extLst>
          </p:cNvPr>
          <p:cNvSpPr txBox="1"/>
          <p:nvPr/>
        </p:nvSpPr>
        <p:spPr>
          <a:xfrm>
            <a:off x="288790" y="958844"/>
            <a:ext cx="11118453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천연가스 가격은 다양한 시장 요인들에 의하여 결정되며 전 세계적으로 균일한 가격이 형성되는 원유가격과 달리 천연가스는 지역의 수요와 공급</a:t>
            </a:r>
            <a:r>
              <a:rPr lang="en-US" altLang="ko-KR" sz="1600" dirty="0"/>
              <a:t>, </a:t>
            </a:r>
            <a:r>
              <a:rPr lang="ko-KR" altLang="en-US" sz="1600" dirty="0"/>
              <a:t>수송비용과 시장구조에 영향을 받는다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가장 근원적인 가격 결정요인은 수요와 공급이다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탐사</a:t>
            </a:r>
            <a:r>
              <a:rPr lang="en-US" altLang="ko-KR" sz="1600" dirty="0"/>
              <a:t>, </a:t>
            </a:r>
            <a:r>
              <a:rPr lang="ko-KR" altLang="en-US" sz="1600" dirty="0"/>
              <a:t>시추</a:t>
            </a:r>
            <a:r>
              <a:rPr lang="en-US" altLang="ko-KR" sz="1600" dirty="0"/>
              <a:t>, </a:t>
            </a:r>
            <a:r>
              <a:rPr lang="ko-KR" altLang="en-US" sz="1600" dirty="0"/>
              <a:t>채굴 비용 등의 생산비용 또한 시장가격에 중요한 역할을 하고</a:t>
            </a:r>
            <a:r>
              <a:rPr lang="en-US" altLang="ko-KR" sz="1600" dirty="0"/>
              <a:t>, </a:t>
            </a:r>
            <a:r>
              <a:rPr lang="ko-KR" altLang="en-US" sz="1600" dirty="0"/>
              <a:t>심해시추기술이나 </a:t>
            </a:r>
            <a:r>
              <a:rPr lang="ko-KR" altLang="en-US" sz="1600" dirty="0" err="1"/>
              <a:t>수압파쇄</a:t>
            </a:r>
            <a:r>
              <a:rPr lang="ko-KR" altLang="en-US" sz="1600" dirty="0"/>
              <a:t> 기법 등 고비용의 생산 방식을 사용하는 경우 다른 지역에 비해 시장가격이 높게 분포한다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운송비용 또한 최종 시장가격에 영향을 미치는데</a:t>
            </a:r>
            <a:r>
              <a:rPr lang="en-US" altLang="ko-KR" sz="1600" dirty="0"/>
              <a:t>, LNG</a:t>
            </a:r>
            <a:r>
              <a:rPr lang="ko-KR" altLang="en-US" sz="1600" dirty="0"/>
              <a:t>의 경우 장거리 운송은 액화</a:t>
            </a:r>
            <a:r>
              <a:rPr lang="en-US" altLang="ko-KR" sz="1600" dirty="0"/>
              <a:t>, </a:t>
            </a:r>
            <a:r>
              <a:rPr lang="ko-KR" altLang="en-US" sz="1600" dirty="0"/>
              <a:t>선적</a:t>
            </a:r>
            <a:r>
              <a:rPr lang="en-US" altLang="ko-KR" sz="1600" dirty="0"/>
              <a:t> </a:t>
            </a:r>
            <a:r>
              <a:rPr lang="ko-KR" altLang="en-US" sz="1600" dirty="0"/>
              <a:t>및 재기화 비용으로 인해 비용상승의 요인으로 작용한다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천연 가스의 가격 결정은 지역별 시장 구조</a:t>
            </a:r>
            <a:r>
              <a:rPr lang="en-US" altLang="ko-KR" sz="1600" dirty="0"/>
              <a:t>, </a:t>
            </a:r>
            <a:r>
              <a:rPr lang="ko-KR" altLang="en-US" sz="1600" dirty="0"/>
              <a:t>대체 연료의 존재 여부</a:t>
            </a:r>
            <a:r>
              <a:rPr lang="en-US" altLang="ko-KR" sz="1600" dirty="0"/>
              <a:t>, </a:t>
            </a:r>
            <a:r>
              <a:rPr lang="ko-KR" altLang="en-US" sz="1600" dirty="0"/>
              <a:t>계약 형태에 따라 다양한 방식을 따른다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전통적으로 유럽과 아시아 시장에서는 석유 연동가격제</a:t>
            </a:r>
            <a:r>
              <a:rPr lang="en-US" altLang="ko-KR" sz="1600" dirty="0"/>
              <a:t>, </a:t>
            </a:r>
            <a:r>
              <a:rPr lang="ko-KR" altLang="en-US" sz="1600" dirty="0"/>
              <a:t>즉 가격연동제가 주요한 가격 결정 메커니즘이었다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 방식에서 천연가스 가격은 중유</a:t>
            </a:r>
            <a:r>
              <a:rPr lang="en-US" altLang="ko-KR" sz="1600" dirty="0"/>
              <a:t>, </a:t>
            </a:r>
            <a:r>
              <a:rPr lang="ko-KR" altLang="en-US" sz="1600" dirty="0"/>
              <a:t>경유</a:t>
            </a:r>
            <a:r>
              <a:rPr lang="en-US" altLang="ko-KR" sz="1600" dirty="0"/>
              <a:t> </a:t>
            </a:r>
            <a:r>
              <a:rPr lang="ko-KR" altLang="en-US" sz="1600" dirty="0"/>
              <a:t>등 석유 제품의 가격과 일정한 비율로 연동되며</a:t>
            </a:r>
            <a:r>
              <a:rPr lang="en-US" altLang="ko-KR" sz="1600" dirty="0"/>
              <a:t>, </a:t>
            </a:r>
            <a:r>
              <a:rPr lang="ko-KR" altLang="en-US" sz="1600" dirty="0"/>
              <a:t>주로 장기계약에서 활용되었다</a:t>
            </a:r>
            <a:r>
              <a:rPr lang="en-US" altLang="ko-KR" sz="1600" dirty="0"/>
              <a:t>.</a:t>
            </a:r>
            <a:r>
              <a:rPr lang="ko-KR" altLang="en-US" sz="1600" dirty="0"/>
              <a:t> </a:t>
            </a: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904087476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8A96AA-2B27-2285-8409-B263BC450B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33838EC-682B-8718-A9A5-2714A66D1D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천연가스 가격의 결정 요인들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FFEA10A-FACE-339B-CFED-7EF0D7EA9B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48</a:t>
            </a:fld>
            <a:endParaRPr lang="ko-KR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CC89ACE-4393-7D0A-2702-4B5526C02AF1}"/>
                  </a:ext>
                </a:extLst>
              </p:cNvPr>
              <p:cNvSpPr txBox="1"/>
              <p:nvPr/>
            </p:nvSpPr>
            <p:spPr>
              <a:xfrm>
                <a:off x="288790" y="958844"/>
                <a:ext cx="11118453" cy="2660024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dirty="0"/>
                  <a:t>앞서 살펴본 가격연동을 수식으로 표현하면 다음과 같다</a:t>
                </a:r>
                <a:r>
                  <a:rPr lang="en-US" altLang="ko-KR" sz="160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여기서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𝑔𝑎𝑠</m:t>
                        </m:r>
                      </m:sub>
                    </m:sSub>
                  </m:oMath>
                </a14:m>
                <a:r>
                  <a:rPr lang="ko-KR" altLang="en-US" sz="1600" dirty="0"/>
                  <a:t>는 천연가스 가격</a:t>
                </a:r>
                <a:r>
                  <a:rPr lang="en-US" altLang="ko-KR" sz="16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𝑜𝑖𝑙</m:t>
                        </m:r>
                      </m:sub>
                    </m:sSub>
                  </m:oMath>
                </a14:m>
                <a:r>
                  <a:rPr lang="ko-KR" altLang="en-US" sz="1600" dirty="0"/>
                  <a:t>은 기준 석유제품 가격</a:t>
                </a:r>
                <a:r>
                  <a:rPr lang="en-US" altLang="ko-KR" sz="1600" dirty="0"/>
                  <a:t>, </a:t>
                </a:r>
                <a14:m>
                  <m:oMath xmlns:m="http://schemas.openxmlformats.org/officeDocument/2006/math">
                    <m:r>
                      <a:rPr lang="ko-KR" altLang="en-US" sz="1600" i="1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ko-KR" altLang="en-US" sz="1600" dirty="0"/>
                  <a:t>는 에너지 등가기준 계수</a:t>
                </a:r>
                <a:r>
                  <a:rPr lang="en-US" altLang="ko-KR" sz="1600" dirty="0"/>
                  <a:t>, </a:t>
                </a:r>
                <a:r>
                  <a:rPr lang="ko-KR" altLang="en-US" sz="1600" dirty="0"/>
                  <a:t>그리고 </a:t>
                </a:r>
                <a14:m>
                  <m:oMath xmlns:m="http://schemas.openxmlformats.org/officeDocument/2006/math">
                    <m:r>
                      <a:rPr lang="ko-KR" altLang="en-US" sz="1600" i="1">
                        <a:latin typeface="Cambria Math" panose="02040503050406030204" pitchFamily="18" charset="0"/>
                      </a:rPr>
                      <m:t>𝛽</m:t>
                    </m:r>
                  </m:oMath>
                </a14:m>
                <a:r>
                  <a:rPr lang="ko-KR" altLang="en-US" sz="1600" dirty="0"/>
                  <a:t>는 조정상수로서 운송비용</a:t>
                </a:r>
                <a:r>
                  <a:rPr lang="en-US" altLang="ko-KR" sz="1600" dirty="0"/>
                  <a:t>, </a:t>
                </a:r>
                <a:r>
                  <a:rPr lang="ko-KR" altLang="en-US" sz="1600" dirty="0"/>
                  <a:t>시장조정 요소를 반영한다</a:t>
                </a:r>
                <a:r>
                  <a:rPr lang="en-US" altLang="ko-KR" sz="16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이러한 방식은 가격 변동성을 유가에 연동시켜 장기적인 안정성을 제공하지만</a:t>
                </a:r>
                <a:r>
                  <a:rPr lang="en-US" altLang="ko-KR" sz="1600" dirty="0"/>
                  <a:t>, </a:t>
                </a:r>
                <a:r>
                  <a:rPr lang="ko-KR" altLang="en-US" sz="1600" dirty="0"/>
                  <a:t>시장의 수급 상황이나 천연가스 고유의 수요</a:t>
                </a:r>
                <a:r>
                  <a:rPr lang="en-US" altLang="ko-KR" sz="1600" dirty="0"/>
                  <a:t>·</a:t>
                </a:r>
                <a:r>
                  <a:rPr lang="ko-KR" altLang="en-US" sz="1600" dirty="0"/>
                  <a:t>공급 특성을 반영하는 데 한계가 있다</a:t>
                </a:r>
                <a:r>
                  <a:rPr lang="en-US" altLang="ko-KR" sz="1600" dirty="0"/>
                  <a:t>.</a:t>
                </a:r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CC89ACE-4393-7D0A-2702-4B5526C02AF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958844"/>
                <a:ext cx="11118453" cy="2660024"/>
              </a:xfrm>
              <a:prstGeom prst="rect">
                <a:avLst/>
              </a:prstGeom>
              <a:blipFill>
                <a:blip r:embed="rId3"/>
                <a:stretch>
                  <a:fillRect b="-183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E600957-BB1D-C6F8-9C67-DB4A45CB599B}"/>
                  </a:ext>
                </a:extLst>
              </p:cNvPr>
              <p:cNvSpPr txBox="1"/>
              <p:nvPr/>
            </p:nvSpPr>
            <p:spPr>
              <a:xfrm>
                <a:off x="775251" y="1531044"/>
                <a:ext cx="6135756" cy="40748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𝑔𝑎𝑠</m:t>
                          </m:r>
                        </m:sub>
                      </m:sSub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 </m:t>
                      </m:r>
                      <m:r>
                        <a:rPr lang="ko-KR" altLang="en-US" b="0" i="1" smtClean="0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·</m:t>
                      </m:r>
                      <m:sSub>
                        <m:sSubPr>
                          <m:ctrlPr>
                            <a:rPr lang="en-US" altLang="ko-K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𝑜𝑖𝑙</m:t>
                          </m:r>
                        </m:sub>
                      </m:sSub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+ </m:t>
                      </m:r>
                      <m:r>
                        <a:rPr lang="ko-KR" altLang="en-US" b="0" i="1" smtClean="0">
                          <a:latin typeface="Cambria Math" panose="02040503050406030204" pitchFamily="18" charset="0"/>
                        </a:rPr>
                        <m:t>𝛽</m:t>
                      </m:r>
                    </m:oMath>
                  </m:oMathPara>
                </a14:m>
                <a:endParaRPr lang="ko-KR" altLang="en-US" dirty="0"/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E600957-BB1D-C6F8-9C67-DB4A45CB599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5251" y="1531044"/>
                <a:ext cx="6135756" cy="407484"/>
              </a:xfrm>
              <a:prstGeom prst="rect">
                <a:avLst/>
              </a:prstGeom>
              <a:blipFill>
                <a:blip r:embed="rId4"/>
                <a:stretch>
                  <a:fillRect b="-447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45763455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B7697D-8458-B2E9-23BC-D564D2A42F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07117C1-2A48-3C31-A676-A07D645E35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천연가스 가격의 결정 요인들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11B495F-2503-212C-39D9-6C6791D567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49</a:t>
            </a:fld>
            <a:endParaRPr lang="ko-KR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5345030A-541F-E0F5-CBD7-51B0C24F1DE4}"/>
                  </a:ext>
                </a:extLst>
              </p:cNvPr>
              <p:cNvSpPr txBox="1"/>
              <p:nvPr/>
            </p:nvSpPr>
            <p:spPr>
              <a:xfrm>
                <a:off x="288790" y="958844"/>
                <a:ext cx="11118453" cy="3428311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dirty="0"/>
                  <a:t>한편</a:t>
                </a:r>
                <a:r>
                  <a:rPr lang="en-US" altLang="ko-KR" sz="1600" dirty="0"/>
                  <a:t>, </a:t>
                </a:r>
                <a:r>
                  <a:rPr lang="ko-KR" altLang="en-US" sz="1600" dirty="0"/>
                  <a:t>글로벌 </a:t>
                </a:r>
                <a:r>
                  <a:rPr lang="en-US" altLang="ko-KR" sz="1600" dirty="0"/>
                  <a:t>LNG </a:t>
                </a:r>
                <a:r>
                  <a:rPr lang="ko-KR" altLang="en-US" sz="1600" dirty="0"/>
                  <a:t>시장의 확대와 함께 점차 중요성이 증가하고 있는 방식은 순환수 가격방식 </a:t>
                </a:r>
                <a:r>
                  <a:rPr lang="en-US" altLang="ko-KR" sz="1600" dirty="0"/>
                  <a:t>(netback pricing)</a:t>
                </a:r>
                <a:r>
                  <a:rPr lang="ko-KR" altLang="en-US" sz="1600" dirty="0"/>
                  <a:t>으로</a:t>
                </a:r>
                <a:r>
                  <a:rPr lang="en-US" altLang="ko-KR" sz="1600" dirty="0"/>
                  <a:t>, </a:t>
                </a:r>
                <a:r>
                  <a:rPr lang="ko-KR" altLang="en-US" sz="1600" dirty="0"/>
                  <a:t>이는 수요지에서의 천연가스 판매 가격을 기준으로</a:t>
                </a:r>
                <a:r>
                  <a:rPr lang="en-US" altLang="ko-KR" sz="1600" dirty="0"/>
                  <a:t>, </a:t>
                </a:r>
                <a:r>
                  <a:rPr lang="ko-KR" altLang="en-US" sz="1600" dirty="0"/>
                  <a:t>생산지 가격을 역산하는 방식으로</a:t>
                </a:r>
                <a:r>
                  <a:rPr lang="en-US" altLang="ko-KR" sz="1600" dirty="0"/>
                  <a:t>, </a:t>
                </a:r>
                <a:r>
                  <a:rPr lang="ko-KR" altLang="en-US" sz="1600" dirty="0"/>
                  <a:t>다음과 같이 표현할 수 있다</a:t>
                </a:r>
                <a:r>
                  <a:rPr lang="en-US" altLang="ko-KR" sz="160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𝑛𝑒𝑡𝑏𝑎𝑐𝑘</m:t>
                        </m:r>
                      </m:sub>
                    </m:sSub>
                  </m:oMath>
                </a14:m>
                <a:r>
                  <a:rPr lang="ko-KR" altLang="en-US" sz="1600" dirty="0"/>
                  <a:t>은 생산지</a:t>
                </a:r>
                <a:r>
                  <a:rPr lang="en-US" altLang="ko-KR" sz="1600" dirty="0"/>
                  <a:t>(</a:t>
                </a:r>
                <a:r>
                  <a:rPr lang="ko-KR" altLang="en-US" sz="1600" dirty="0"/>
                  <a:t>수출국</a:t>
                </a:r>
                <a:r>
                  <a:rPr lang="en-US" altLang="ko-KR" sz="1600" dirty="0"/>
                  <a:t>)</a:t>
                </a:r>
                <a:r>
                  <a:rPr lang="ko-KR" altLang="en-US" sz="1600" dirty="0"/>
                  <a:t>에서의 순환수 가격</a:t>
                </a:r>
                <a:r>
                  <a:rPr lang="en-US" altLang="ko-KR" sz="16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𝑑𝑒𝑙𝑖𝑣𝑒𝑟𝑒𝑑</m:t>
                        </m:r>
                      </m:sub>
                    </m:sSub>
                  </m:oMath>
                </a14:m>
                <a:r>
                  <a:rPr lang="ko-KR" altLang="en-US" sz="1600" dirty="0"/>
                  <a:t>는 </a:t>
                </a:r>
                <a:r>
                  <a:rPr lang="ko-KR" altLang="en-US" sz="1600" dirty="0" err="1"/>
                  <a:t>수요지</a:t>
                </a:r>
                <a:r>
                  <a:rPr lang="en-US" altLang="ko-KR" sz="1600" dirty="0"/>
                  <a:t>(</a:t>
                </a:r>
                <a:r>
                  <a:rPr lang="ko-KR" altLang="en-US" sz="1600" dirty="0"/>
                  <a:t>수입국</a:t>
                </a:r>
                <a:r>
                  <a:rPr lang="en-US" altLang="ko-KR" sz="1600" dirty="0"/>
                  <a:t>)</a:t>
                </a:r>
                <a:r>
                  <a:rPr lang="ko-KR" altLang="en-US" sz="1600" dirty="0"/>
                  <a:t>에서의 도착가격</a:t>
                </a:r>
                <a:r>
                  <a:rPr lang="en-US" altLang="ko-KR" sz="16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𝑙𝑖𝑞𝑢𝑒𝑓𝑎𝑐𝑡𝑖𝑜𝑛</m:t>
                        </m:r>
                      </m:sub>
                    </m:sSub>
                  </m:oMath>
                </a14:m>
                <a:r>
                  <a:rPr lang="ko-KR" altLang="en-US" sz="1600" dirty="0"/>
                  <a:t>은 액화비용</a:t>
                </a:r>
                <a:r>
                  <a:rPr lang="en-US" altLang="ko-KR" sz="16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𝑡𝑟𝑎𝑛𝑠𝑝𝑜𝑟𝑡</m:t>
                        </m:r>
                      </m:sub>
                    </m:sSub>
                  </m:oMath>
                </a14:m>
                <a:r>
                  <a:rPr lang="ko-KR" altLang="en-US" sz="1600" dirty="0"/>
                  <a:t>는 운송비용</a:t>
                </a:r>
                <a:r>
                  <a:rPr lang="en-US" altLang="ko-KR" sz="16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𝑟𝑒𝑔𝑎𝑠𝑖𝑓𝑖𝑐𝑎𝑡𝑖𝑜𝑛</m:t>
                        </m:r>
                      </m:sub>
                    </m:sSub>
                  </m:oMath>
                </a14:m>
                <a:r>
                  <a:rPr lang="ko-KR" altLang="en-US" sz="1600" dirty="0"/>
                  <a:t>은 재기화비용을 나타낸다</a:t>
                </a:r>
                <a:r>
                  <a:rPr lang="en-US" altLang="ko-KR" sz="16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en-US" altLang="ko-KR" sz="1600" dirty="0"/>
                  <a:t>Netback </a:t>
                </a:r>
                <a:r>
                  <a:rPr lang="ko-KR" altLang="en-US" sz="1600" dirty="0"/>
                  <a:t>방식은 가격 결정이 수요지의 시장 가격에 따라 유연하게 조정되므로</a:t>
                </a:r>
                <a:r>
                  <a:rPr lang="en-US" altLang="ko-KR" sz="1600" dirty="0"/>
                  <a:t>, </a:t>
                </a:r>
                <a:r>
                  <a:rPr lang="ko-KR" altLang="en-US" sz="1600" dirty="0"/>
                  <a:t>시장 기반의 경쟁적 거래에 유리하다</a:t>
                </a:r>
                <a:r>
                  <a:rPr lang="en-US" altLang="ko-KR" sz="16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이 방식은 특히 미국</a:t>
                </a:r>
                <a:r>
                  <a:rPr lang="en-US" altLang="ko-KR" sz="1600" dirty="0"/>
                  <a:t>, </a:t>
                </a:r>
                <a:r>
                  <a:rPr lang="ko-KR" altLang="en-US" sz="1600" dirty="0"/>
                  <a:t>호주 등 자유화된 가스 생산국에서 </a:t>
                </a:r>
                <a:r>
                  <a:rPr lang="en-US" altLang="ko-KR" sz="1600" dirty="0"/>
                  <a:t>LNG </a:t>
                </a:r>
                <a:r>
                  <a:rPr lang="ko-KR" altLang="en-US" sz="1600" dirty="0"/>
                  <a:t>수출 시 가격 책정의 핵심 도구로 활용되고 있다</a:t>
                </a:r>
                <a:r>
                  <a:rPr lang="en-US" altLang="ko-KR" sz="1600" dirty="0"/>
                  <a:t>. </a:t>
                </a:r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5345030A-541F-E0F5-CBD7-51B0C24F1D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958844"/>
                <a:ext cx="11118453" cy="3428311"/>
              </a:xfrm>
              <a:prstGeom prst="rect">
                <a:avLst/>
              </a:prstGeom>
              <a:blipFill>
                <a:blip r:embed="rId3"/>
                <a:stretch>
                  <a:fillRect r="-329" b="-124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2636F128-5F12-5DF4-E134-0507E789787A}"/>
                  </a:ext>
                </a:extLst>
              </p:cNvPr>
              <p:cNvSpPr txBox="1"/>
              <p:nvPr/>
            </p:nvSpPr>
            <p:spPr>
              <a:xfrm>
                <a:off x="1037626" y="1893273"/>
                <a:ext cx="7679636" cy="39190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𝑛𝑒𝑡𝑏𝑎𝑐𝑘</m:t>
                          </m:r>
                        </m:sub>
                      </m:sSub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 </m:t>
                      </m:r>
                      <m:sSub>
                        <m:sSubPr>
                          <m:ctrlPr>
                            <a:rPr lang="en-US" altLang="ko-K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𝑑𝑒𝑙𝑖𝑣𝑒𝑟𝑒𝑑</m:t>
                          </m:r>
                        </m:sub>
                      </m:sSub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altLang="ko-K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𝑙𝑖𝑞𝑢𝑒𝑓𝑎𝑐𝑡𝑖𝑜𝑛</m:t>
                          </m:r>
                        </m:sub>
                      </m:sSub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altLang="ko-K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𝑡𝑟𝑎𝑛𝑠𝑝𝑜𝑟𝑡</m:t>
                          </m:r>
                        </m:sub>
                      </m:sSub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altLang="ko-K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𝑟𝑒𝑔𝑎𝑠𝑖𝑓𝑖𝑐𝑎𝑡𝑖𝑜𝑛</m:t>
                          </m:r>
                        </m:sub>
                      </m:sSub>
                    </m:oMath>
                  </m:oMathPara>
                </a14:m>
                <a:endParaRPr lang="ko-KR" altLang="en-US" dirty="0"/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2636F128-5F12-5DF4-E134-0507E78978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7626" y="1893273"/>
                <a:ext cx="7679636" cy="391902"/>
              </a:xfrm>
              <a:prstGeom prst="rect">
                <a:avLst/>
              </a:prstGeom>
              <a:blipFill>
                <a:blip r:embed="rId4"/>
                <a:stretch>
                  <a:fillRect b="-937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77260698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57F1B0-0459-CE18-60D8-69F1ED2AEE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63B2D04-6292-43D3-9395-D9B6D2CC01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천연가스 가격의 결정 요인들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5538462-C511-4FC5-E443-15D17F80CE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50</a:t>
            </a:fld>
            <a:endParaRPr lang="ko-KR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D3F6188D-1215-F683-09DD-2CD902F2BDAF}"/>
                  </a:ext>
                </a:extLst>
              </p:cNvPr>
              <p:cNvSpPr txBox="1"/>
              <p:nvPr/>
            </p:nvSpPr>
            <p:spPr>
              <a:xfrm>
                <a:off x="288790" y="958844"/>
                <a:ext cx="11118453" cy="4880054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dirty="0"/>
                  <a:t>최근에는 유가 연동 방식과 시장 가격 연동 방식을 결합한 혼합가격방식도 등장하고 있다</a:t>
                </a:r>
                <a:r>
                  <a:rPr lang="en-US" altLang="ko-KR" sz="1600" dirty="0"/>
                  <a:t>. </a:t>
                </a:r>
                <a:r>
                  <a:rPr lang="ko-KR" altLang="en-US" sz="1600" dirty="0"/>
                  <a:t>이 방식은 다음과 같은 가중 평균 형태로 모델링 되기도 한다</a:t>
                </a:r>
                <a:r>
                  <a:rPr lang="en-US" altLang="ko-KR" sz="160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여기서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ko-KR" alt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ko-KR" alt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altLang="ko-KR" sz="1600" dirty="0"/>
                  <a:t> </a:t>
                </a:r>
                <a:r>
                  <a:rPr lang="ko-KR" altLang="en-US" sz="1600" dirty="0"/>
                  <a:t>이고</a:t>
                </a:r>
                <a:r>
                  <a:rPr lang="en-US" altLang="ko-KR" sz="1600" dirty="0"/>
                  <a:t>, </a:t>
                </a:r>
                <a:r>
                  <a:rPr lang="ko-KR" altLang="en-US" sz="1600" dirty="0"/>
                  <a:t>각각 가중치를 의미하고</a:t>
                </a:r>
                <a:r>
                  <a:rPr lang="en-US" altLang="ko-KR" sz="16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h𝑦𝑏𝑟𝑖𝑑</m:t>
                        </m:r>
                      </m:sub>
                    </m:sSub>
                    <m:r>
                      <a:rPr lang="ko-KR" altLang="en-US" sz="1600" i="1" smtClean="0">
                        <a:latin typeface="Cambria Math" panose="02040503050406030204" pitchFamily="18" charset="0"/>
                      </a:rPr>
                      <m:t>는</m:t>
                    </m:r>
                  </m:oMath>
                </a14:m>
                <a:r>
                  <a:rPr lang="en-US" altLang="ko-KR" sz="1600" dirty="0"/>
                  <a:t> </a:t>
                </a:r>
                <a:r>
                  <a:rPr lang="ko-KR" altLang="en-US" sz="1600" dirty="0"/>
                  <a:t>가격의 가중평균</a:t>
                </a:r>
                <a:r>
                  <a:rPr lang="en-US" altLang="ko-KR" sz="16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𝑜𝑖𝑙</m:t>
                        </m:r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𝑖𝑛𝑑𝑒𝑥𝑒𝑑</m:t>
                        </m:r>
                      </m:sub>
                    </m:sSub>
                  </m:oMath>
                </a14:m>
                <a:r>
                  <a:rPr lang="ko-KR" altLang="en-US" sz="1600" dirty="0"/>
                  <a:t>은 석유연동가격</a:t>
                </a:r>
                <a:r>
                  <a:rPr lang="en-US" altLang="ko-KR" sz="16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h𝑢𝑏</m:t>
                        </m:r>
                      </m:sub>
                    </m:sSub>
                  </m:oMath>
                </a14:m>
                <a:r>
                  <a:rPr lang="ko-KR" altLang="en-US" sz="1600" dirty="0"/>
                  <a:t>는 현물시장 기준가격을 나타낸다</a:t>
                </a:r>
                <a:r>
                  <a:rPr lang="en-US" altLang="ko-KR" sz="16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이러한 혼합방식 모델은 장기계약의 안정성과 시장 가격 반영의 유연성을 동시에 확보할 수 있는 방법이다</a:t>
                </a:r>
                <a:r>
                  <a:rPr lang="en-US" altLang="ko-KR" sz="16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dirty="0"/>
                  <a:t>종합해보면</a:t>
                </a:r>
                <a:r>
                  <a:rPr lang="en-US" altLang="ko-KR" sz="1600" dirty="0"/>
                  <a:t>, </a:t>
                </a:r>
                <a:r>
                  <a:rPr lang="ko-KR" altLang="en-US" sz="1600" dirty="0"/>
                  <a:t>천연가스 가격 결정 방식은 석유시장과의 연계성</a:t>
                </a:r>
                <a:r>
                  <a:rPr lang="en-US" altLang="ko-KR" sz="1600" dirty="0"/>
                  <a:t>, </a:t>
                </a:r>
                <a:r>
                  <a:rPr lang="ko-KR" altLang="en-US" sz="1600" dirty="0"/>
                  <a:t>국제 거래 구조</a:t>
                </a:r>
                <a:r>
                  <a:rPr lang="en-US" altLang="ko-KR" sz="1600" dirty="0"/>
                  <a:t>, </a:t>
                </a:r>
                <a:r>
                  <a:rPr lang="ko-KR" altLang="en-US" sz="1600" dirty="0"/>
                  <a:t>시장의 자유화 정도에 따라 상이하며</a:t>
                </a:r>
                <a:r>
                  <a:rPr lang="en-US" altLang="ko-KR" sz="1600" dirty="0"/>
                  <a:t>, </a:t>
                </a:r>
                <a:r>
                  <a:rPr lang="ko-KR" altLang="en-US" sz="1600" dirty="0"/>
                  <a:t>최근에는 점차 수요지의 가격 신호를 반영하는 시장 기반 방식으로의 전환이 이루어지고 있다</a:t>
                </a:r>
                <a:r>
                  <a:rPr lang="en-US" altLang="ko-KR" sz="16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이러한 변화는 천연가스의 글로벌 통합과 에너지 전환이라는 거시적 흐름과 밀접한 관련이 있다</a:t>
                </a:r>
                <a:r>
                  <a:rPr lang="en-US" altLang="ko-KR" sz="1600" dirty="0"/>
                  <a:t>.</a:t>
                </a:r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D3F6188D-1215-F683-09DD-2CD902F2BD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958844"/>
                <a:ext cx="11118453" cy="4880054"/>
              </a:xfrm>
              <a:prstGeom prst="rect">
                <a:avLst/>
              </a:prstGeom>
              <a:blipFill>
                <a:blip r:embed="rId3"/>
                <a:stretch>
                  <a:fillRect r="-658" b="-62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100559F-F58A-4553-ECF9-9EEFBA23E963}"/>
                  </a:ext>
                </a:extLst>
              </p:cNvPr>
              <p:cNvSpPr txBox="1"/>
              <p:nvPr/>
            </p:nvSpPr>
            <p:spPr>
              <a:xfrm>
                <a:off x="775251" y="1787252"/>
                <a:ext cx="6135756" cy="39126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h𝑦𝑏𝑟𝑖𝑑</m:t>
                          </m:r>
                        </m:sub>
                      </m:sSub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 </m:t>
                      </m:r>
                      <m:sSub>
                        <m:sSubPr>
                          <m:ctrlPr>
                            <a:rPr lang="ko-KR" alt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·</m:t>
                      </m:r>
                      <m:sSub>
                        <m:sSubPr>
                          <m:ctrlPr>
                            <a:rPr lang="en-US" altLang="ko-K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𝑜𝑖𝑙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𝑖𝑛𝑑𝑒𝑥𝑒𝑑</m:t>
                          </m:r>
                        </m:sub>
                      </m:sSub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ko-KR" alt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altLang="ko-KR" i="1">
                          <a:latin typeface="Cambria Math" panose="02040503050406030204" pitchFamily="18" charset="0"/>
                        </a:rPr>
                        <m:t>·</m:t>
                      </m:r>
                      <m:sSub>
                        <m:sSubPr>
                          <m:ctrlPr>
                            <a:rPr lang="en-US" altLang="ko-K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h𝑢𝑏</m:t>
                          </m:r>
                        </m:sub>
                      </m:sSub>
                    </m:oMath>
                  </m:oMathPara>
                </a14:m>
                <a:endParaRPr lang="ko-KR" altLang="en-US" dirty="0"/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100559F-F58A-4553-ECF9-9EEFBA23E9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5251" y="1787252"/>
                <a:ext cx="6135756" cy="391261"/>
              </a:xfrm>
              <a:prstGeom prst="rect">
                <a:avLst/>
              </a:prstGeom>
              <a:blipFill>
                <a:blip r:embed="rId4"/>
                <a:stretch>
                  <a:fillRect b="-781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99228211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8F2C98-38FB-60B9-3FF5-8E5FEAFDDB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478DBF2-859A-2EE3-4CA6-7A58063E26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지역적 가격 변동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F1839FC-E107-608C-3D36-D27CB7AB40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51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CA7F7F4-279D-3481-B846-01773C05124F}"/>
              </a:ext>
            </a:extLst>
          </p:cNvPr>
          <p:cNvSpPr txBox="1"/>
          <p:nvPr/>
        </p:nvSpPr>
        <p:spPr>
          <a:xfrm>
            <a:off x="288790" y="958844"/>
            <a:ext cx="11118453" cy="3368679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천연가스는 전 세계적인 단일 가격 형성이 되지 않고 지역적으로 가격 차이가 발생한다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북미의 경우</a:t>
            </a:r>
            <a:r>
              <a:rPr lang="en-US" altLang="ko-KR" sz="1600" dirty="0"/>
              <a:t>, </a:t>
            </a:r>
            <a:r>
              <a:rPr lang="ko-KR" altLang="en-US" sz="1600" dirty="0"/>
              <a:t>천연가스 가격은 </a:t>
            </a:r>
            <a:r>
              <a:rPr lang="ko-KR" altLang="en-US" sz="1600" dirty="0" err="1"/>
              <a:t>헨리허브</a:t>
            </a:r>
            <a:r>
              <a:rPr lang="ko-KR" altLang="en-US" sz="1600" dirty="0"/>
              <a:t> 가격이 벤치마크 역할을 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미국은 </a:t>
            </a:r>
            <a:r>
              <a:rPr lang="ko-KR" altLang="en-US" sz="1600" dirty="0" err="1"/>
              <a:t>셰일가스붐으로</a:t>
            </a:r>
            <a:r>
              <a:rPr lang="ko-KR" altLang="en-US" sz="1600" dirty="0"/>
              <a:t> 다른 지역에 비하여 낮은 가격을 유지하고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유럽은 영국의 </a:t>
            </a:r>
            <a:r>
              <a:rPr lang="en-US" altLang="ko-KR" sz="1600" dirty="0"/>
              <a:t>NBP(National Balancing Point)</a:t>
            </a:r>
            <a:r>
              <a:rPr lang="ko-KR" altLang="en-US" sz="1600" dirty="0"/>
              <a:t>와 네덜란드의 </a:t>
            </a:r>
            <a:r>
              <a:rPr lang="en-US" altLang="ko-KR" sz="1600" dirty="0"/>
              <a:t>TTF(Title Transfer Facility)</a:t>
            </a:r>
            <a:r>
              <a:rPr lang="ko-KR" altLang="en-US" sz="1600" dirty="0"/>
              <a:t>의 중심으로 가격이 형성된다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유럽의 천연가스 가격은 수입비용과 시장구조를 반영하여 미국에 비하여 높게 형성된다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아시아 천연가스 가격은 주로 전통적으로 원유가격에 연동된 장기계약에 의하여 결정되는 경우가 많다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주로 </a:t>
            </a:r>
            <a:r>
              <a:rPr lang="en-US" altLang="ko-KR" sz="1600" dirty="0"/>
              <a:t>LNG </a:t>
            </a:r>
            <a:r>
              <a:rPr lang="ko-KR" altLang="en-US" sz="1600" dirty="0"/>
              <a:t>수입에 대한 의존과 장거리 운송으로 지역적으로 시장가격이 가장 높게 형성된다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2425834206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3F2038-09BD-B05E-0D62-AD68C0BBB0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70436FE-C2B0-911D-9807-C826BC742B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지역적 가격 변동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8E212D8-3D9B-1CB6-F4FE-5821282C07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52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013C94F-8717-1A44-89A3-B0DEA5A3AAEE}"/>
              </a:ext>
            </a:extLst>
          </p:cNvPr>
          <p:cNvSpPr txBox="1"/>
          <p:nvPr/>
        </p:nvSpPr>
        <p:spPr>
          <a:xfrm>
            <a:off x="288790" y="958844"/>
            <a:ext cx="11118453" cy="226068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유럽과 미국의 천연가스 허브의 가격은 한국</a:t>
            </a:r>
            <a:r>
              <a:rPr lang="en-US" altLang="ko-KR" sz="1600" dirty="0"/>
              <a:t>, </a:t>
            </a:r>
            <a:r>
              <a:rPr lang="ko-KR" altLang="en-US" sz="1600" dirty="0"/>
              <a:t>중국</a:t>
            </a:r>
            <a:r>
              <a:rPr lang="en-US" altLang="ko-KR" sz="1600" dirty="0"/>
              <a:t>, </a:t>
            </a:r>
            <a:r>
              <a:rPr lang="ko-KR" altLang="en-US" sz="1600" dirty="0"/>
              <a:t>일본 아시아 지역의 가격보다 낮게 유지되었으나 </a:t>
            </a:r>
            <a:r>
              <a:rPr lang="en-US" altLang="ko-KR" sz="1600" dirty="0"/>
              <a:t>2021</a:t>
            </a:r>
            <a:r>
              <a:rPr lang="ko-KR" altLang="en-US" sz="1600" dirty="0"/>
              <a:t>년 기점으로 </a:t>
            </a:r>
            <a:r>
              <a:rPr lang="en-US" altLang="ko-KR" sz="1600" dirty="0"/>
              <a:t>NBP</a:t>
            </a:r>
            <a:r>
              <a:rPr lang="ko-KR" altLang="en-US" sz="1600" dirty="0"/>
              <a:t>와</a:t>
            </a:r>
            <a:r>
              <a:rPr lang="en-US" altLang="ko-KR" sz="1600" dirty="0"/>
              <a:t> TTF</a:t>
            </a:r>
            <a:r>
              <a:rPr lang="ko-KR" altLang="en-US" sz="1600" dirty="0"/>
              <a:t>허브의 가격이 급격하게 상승하였다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이는 </a:t>
            </a:r>
            <a:r>
              <a:rPr lang="en-US" altLang="ko-KR" sz="1600" dirty="0"/>
              <a:t>2022</a:t>
            </a:r>
            <a:r>
              <a:rPr lang="ko-KR" altLang="en-US" sz="1600" dirty="0"/>
              <a:t>년 </a:t>
            </a:r>
            <a:r>
              <a:rPr lang="en-US" altLang="ko-KR" sz="1600" dirty="0"/>
              <a:t>2</a:t>
            </a:r>
            <a:r>
              <a:rPr lang="ko-KR" altLang="en-US" sz="1600" dirty="0"/>
              <a:t>월에 시작된 러시아</a:t>
            </a:r>
            <a:r>
              <a:rPr lang="en-US" altLang="ko-KR" sz="1600" dirty="0"/>
              <a:t>-</a:t>
            </a:r>
            <a:r>
              <a:rPr lang="ko-KR" altLang="en-US" sz="1600" dirty="0"/>
              <a:t>우크라이나 전쟁으로 인해 </a:t>
            </a:r>
            <a:r>
              <a:rPr lang="ko-KR" altLang="en-US" sz="1600" dirty="0" err="1"/>
              <a:t>러시아로부터</a:t>
            </a:r>
            <a:r>
              <a:rPr lang="ko-KR" altLang="en-US" sz="1600" dirty="0"/>
              <a:t> 천연가스 공급이 줄었기 때문이다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유럽은 오랫동안 러시아 천연가스에 크게 의존해왔으나</a:t>
            </a:r>
            <a:r>
              <a:rPr lang="en-US" altLang="ko-KR" sz="1600" dirty="0"/>
              <a:t>, </a:t>
            </a:r>
            <a:r>
              <a:rPr lang="ko-KR" altLang="en-US" sz="1600" dirty="0"/>
              <a:t>러시아의 공급 부족이 유럽 전역에서 에너지 가격을 </a:t>
            </a:r>
            <a:r>
              <a:rPr lang="ko-KR" altLang="en-US" sz="1600" dirty="0" err="1"/>
              <a:t>급등시키는</a:t>
            </a:r>
            <a:r>
              <a:rPr lang="ko-KR" altLang="en-US" sz="1600" dirty="0"/>
              <a:t> 결과를 초래했다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러시아산 천연가스를 대신해 </a:t>
            </a:r>
            <a:r>
              <a:rPr lang="en-US" altLang="ko-KR" sz="1600" dirty="0"/>
              <a:t>LNG </a:t>
            </a:r>
            <a:r>
              <a:rPr lang="ko-KR" altLang="en-US" sz="1600" dirty="0"/>
              <a:t>수입을 통해 이를 보완하려 했지만</a:t>
            </a:r>
            <a:r>
              <a:rPr lang="en-US" altLang="ko-KR" sz="1600" dirty="0"/>
              <a:t>, </a:t>
            </a:r>
            <a:r>
              <a:rPr lang="ko-KR" altLang="en-US" sz="1600" dirty="0"/>
              <a:t>상당한 시간과 비용이 소요되었다</a:t>
            </a:r>
            <a:r>
              <a:rPr lang="en-US" altLang="ko-KR" sz="1600" dirty="0"/>
              <a:t>.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688C52B8-BD9B-54A7-60B0-02F78777DBD0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5308" b="9492"/>
          <a:stretch>
            <a:fillRect/>
          </a:stretch>
        </p:blipFill>
        <p:spPr>
          <a:xfrm>
            <a:off x="7218016" y="3619858"/>
            <a:ext cx="4700105" cy="275443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86E4FF3-AC20-B078-0257-5F5ED3B170AF}"/>
              </a:ext>
            </a:extLst>
          </p:cNvPr>
          <p:cNvSpPr txBox="1"/>
          <p:nvPr/>
        </p:nvSpPr>
        <p:spPr>
          <a:xfrm>
            <a:off x="288791" y="3382254"/>
            <a:ext cx="6929226" cy="263001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미국은 자체적인 천연가스 생산량이 많아 헨리 허브 가격이 상대적으로 안정적인 반면</a:t>
            </a:r>
            <a:r>
              <a:rPr lang="en-US" altLang="ko-KR" sz="1600" dirty="0"/>
              <a:t>, </a:t>
            </a:r>
            <a:r>
              <a:rPr lang="ko-KR" altLang="en-US" sz="1600" dirty="0"/>
              <a:t>유럽은 자국 내 생산이 적고</a:t>
            </a:r>
            <a:r>
              <a:rPr lang="en-US" altLang="ko-KR" sz="1600" dirty="0"/>
              <a:t>, </a:t>
            </a:r>
            <a:r>
              <a:rPr lang="ko-KR" altLang="en-US" sz="1600" dirty="0"/>
              <a:t>주로 수입에 의존하고 있기 때문에 외부 충격에 취약했다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미국의 천연가스 시장은 유럽에 비해 덜 분산되어 있어 수요와 공급이 비교적 안정적인 경향이 있으나</a:t>
            </a:r>
            <a:r>
              <a:rPr lang="en-US" altLang="ko-KR" sz="1600" dirty="0"/>
              <a:t>, </a:t>
            </a:r>
            <a:r>
              <a:rPr lang="ko-KR" altLang="en-US" sz="1600" dirty="0"/>
              <a:t>유럽은 여러 국가들이 서로 다른 방식으로 에너지를 수급하고 있어</a:t>
            </a:r>
            <a:r>
              <a:rPr lang="en-US" altLang="ko-KR" sz="1600" dirty="0"/>
              <a:t>, </a:t>
            </a:r>
            <a:r>
              <a:rPr lang="ko-KR" altLang="en-US" sz="1600" dirty="0"/>
              <a:t>불안정성이 더 크게 나타났다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505323784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21EDDE-B308-8FA7-8116-DAD482D863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96FF0BD-25A1-7840-4B63-B2ECDF7CFA54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CA03F291-495C-4A31-DF0A-8F9CC9767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9"/>
            <a:ext cx="10515600" cy="2134292"/>
          </a:xfrm>
          <a:effectLst>
            <a:reflection blurRad="50800" stA="45000" endPos="44000" dir="5400000" sy="-100000" algn="bl" rotWithShape="0"/>
          </a:effectLst>
        </p:spPr>
        <p:txBody>
          <a:bodyPr/>
          <a:lstStyle/>
          <a:p>
            <a:r>
              <a:rPr lang="en-US" altLang="ko-KR" b="1" i="0" spc="150">
                <a:solidFill>
                  <a:schemeClr val="accent2"/>
                </a:solidFill>
              </a:rPr>
              <a:t>T</a:t>
            </a:r>
            <a:r>
              <a:rPr lang="en-US" altLang="ko-KR" sz="5400" i="0" spc="100"/>
              <a:t>hank you</a:t>
            </a:r>
            <a:endParaRPr lang="ko-KR" altLang="en-US" sz="5400" i="0" spc="10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EFC0B50-C677-27B7-56F6-14F7BF9A70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393918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사용자 지정 6">
      <a:dk1>
        <a:srgbClr val="262626"/>
      </a:dk1>
      <a:lt1>
        <a:sysClr val="window" lastClr="FFFFFF"/>
      </a:lt1>
      <a:dk2>
        <a:srgbClr val="262626"/>
      </a:dk2>
      <a:lt2>
        <a:srgbClr val="EFEFEF"/>
      </a:lt2>
      <a:accent1>
        <a:srgbClr val="2D72BE"/>
      </a:accent1>
      <a:accent2>
        <a:srgbClr val="E15F5F"/>
      </a:accent2>
      <a:accent3>
        <a:srgbClr val="DA9D6D"/>
      </a:accent3>
      <a:accent4>
        <a:srgbClr val="009AB7"/>
      </a:accent4>
      <a:accent5>
        <a:srgbClr val="FF6600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9997</TotalTime>
  <Words>6187</Words>
  <Application>Microsoft Office PowerPoint</Application>
  <PresentationFormat>와이드스크린</PresentationFormat>
  <Paragraphs>677</Paragraphs>
  <Slides>53</Slides>
  <Notes>4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53</vt:i4>
      </vt:variant>
    </vt:vector>
  </HeadingPairs>
  <TitlesOfParts>
    <vt:vector size="60" baseType="lpstr">
      <vt:lpstr>HY헤드라인M</vt:lpstr>
      <vt:lpstr>KoPub돋움체 Light</vt:lpstr>
      <vt:lpstr>맑은 고딕</vt:lpstr>
      <vt:lpstr>Arial</vt:lpstr>
      <vt:lpstr>Cambria Math</vt:lpstr>
      <vt:lpstr>Wingdings</vt:lpstr>
      <vt:lpstr>Office 테마</vt:lpstr>
      <vt:lpstr>자원·에너지 경제학</vt:lpstr>
      <vt:lpstr>Chapter 3  천연가스 시장</vt:lpstr>
      <vt:lpstr>Section 1. 개 론</vt:lpstr>
      <vt:lpstr>서론</vt:lpstr>
      <vt:lpstr>서론</vt:lpstr>
      <vt:lpstr>서론</vt:lpstr>
      <vt:lpstr>Section 2. 천연가스의 특징과 분류</vt:lpstr>
      <vt:lpstr>천연가스의 특징</vt:lpstr>
      <vt:lpstr>천연가스의 특징</vt:lpstr>
      <vt:lpstr>천연가스의 분류</vt:lpstr>
      <vt:lpstr>천연가스의 분류</vt:lpstr>
      <vt:lpstr>천연가스의 분류</vt:lpstr>
      <vt:lpstr>천연가스의 분류</vt:lpstr>
      <vt:lpstr>천연가스 공급사슬</vt:lpstr>
      <vt:lpstr>천연가스 공급사슬</vt:lpstr>
      <vt:lpstr>천연가스 공급사슬</vt:lpstr>
      <vt:lpstr>천연가스 공급사슬</vt:lpstr>
      <vt:lpstr>Section 3. 천연가스의 시장의 현황</vt:lpstr>
      <vt:lpstr>천연가스 매장량</vt:lpstr>
      <vt:lpstr>천연가스 매장량</vt:lpstr>
      <vt:lpstr>천연가스 생산과 공급</vt:lpstr>
      <vt:lpstr>천연가스 생산과 공급</vt:lpstr>
      <vt:lpstr>천연가스 소비</vt:lpstr>
      <vt:lpstr>천연가스 소비</vt:lpstr>
      <vt:lpstr>천연가스 생산과 공급</vt:lpstr>
      <vt:lpstr>천연가스 소비</vt:lpstr>
      <vt:lpstr>천연가스 소비</vt:lpstr>
      <vt:lpstr>천연가스 소비</vt:lpstr>
      <vt:lpstr>천연가스 소비</vt:lpstr>
      <vt:lpstr>천연가스 소비</vt:lpstr>
      <vt:lpstr>천연가스 소비</vt:lpstr>
      <vt:lpstr>천연가스 소비</vt:lpstr>
      <vt:lpstr>천연가스 소비</vt:lpstr>
      <vt:lpstr>천연가스 소비</vt:lpstr>
      <vt:lpstr>천연가스 소비</vt:lpstr>
      <vt:lpstr>천연가스 소비</vt:lpstr>
      <vt:lpstr>Section 4. 천연가스 시장구조와 시장지배력</vt:lpstr>
      <vt:lpstr>천연가스 시장의 구조와 시장지배력</vt:lpstr>
      <vt:lpstr>천연가스 시장의 구조와 시장지배력</vt:lpstr>
      <vt:lpstr>천연가스 시장의 구조와 시장지배력</vt:lpstr>
      <vt:lpstr>Section 5. 천연가스 시장의 탈규제와 구조개편</vt:lpstr>
      <vt:lpstr>천연가스 시장의 탈규제와 구조개편</vt:lpstr>
      <vt:lpstr>천연가스 시장의 탈규제와 구조개편</vt:lpstr>
      <vt:lpstr>천연가스 시장의 탈규제와 구조개편</vt:lpstr>
      <vt:lpstr>천연가스 시장의 탈규제와 구조개편</vt:lpstr>
      <vt:lpstr>Section 6. 천연가스 시장의 가격 결정</vt:lpstr>
      <vt:lpstr>천연가스 가격의 결정 요인들</vt:lpstr>
      <vt:lpstr>천연가스 가격의 결정 요인들</vt:lpstr>
      <vt:lpstr>천연가스 가격의 결정 요인들</vt:lpstr>
      <vt:lpstr>천연가스 가격의 결정 요인들</vt:lpstr>
      <vt:lpstr>지역적 가격 변동</vt:lpstr>
      <vt:lpstr>지역적 가격 변동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Minyoung Roh</dc:creator>
  <cp:lastModifiedBy>Seungho Jeon</cp:lastModifiedBy>
  <cp:revision>357</cp:revision>
  <dcterms:created xsi:type="dcterms:W3CDTF">2025-07-05T05:15:23Z</dcterms:created>
  <dcterms:modified xsi:type="dcterms:W3CDTF">2026-06-02T08:42:55Z</dcterms:modified>
</cp:coreProperties>
</file>