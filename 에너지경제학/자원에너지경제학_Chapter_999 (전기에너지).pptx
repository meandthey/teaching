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75" r:id="rId2"/>
    <p:sldId id="405" r:id="rId3"/>
    <p:sldId id="648" r:id="rId4"/>
    <p:sldId id="662" r:id="rId5"/>
    <p:sldId id="664" r:id="rId6"/>
    <p:sldId id="665" r:id="rId7"/>
    <p:sldId id="666" r:id="rId8"/>
    <p:sldId id="658" r:id="rId9"/>
    <p:sldId id="667" r:id="rId10"/>
    <p:sldId id="659" r:id="rId11"/>
    <p:sldId id="660" r:id="rId12"/>
    <p:sldId id="657" r:id="rId13"/>
    <p:sldId id="59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9" autoAdjust="0"/>
    <p:restoredTop sz="91885" autoAdjust="0"/>
  </p:normalViewPr>
  <p:slideViewPr>
    <p:cSldViewPr snapToGrid="0">
      <p:cViewPr varScale="1">
        <p:scale>
          <a:sx n="142" d="100"/>
          <a:sy n="142" d="100"/>
        </p:scale>
        <p:origin x="75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- 999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999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전기에너지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서론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E102-775A-4521-D849-A1EF8159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A13A5-4712-197A-D596-A1CD3765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47DF35-BECD-CED1-D7AD-2324BA2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9AA78-6A49-B840-01FB-BFC7F59BE821}"/>
              </a:ext>
            </a:extLst>
          </p:cNvPr>
          <p:cNvSpPr txBox="1"/>
          <p:nvPr/>
        </p:nvSpPr>
        <p:spPr>
          <a:xfrm>
            <a:off x="288790" y="958844"/>
            <a:ext cx="659884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모든 물질은 원자로 이루어져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원자는 물질을 이루는 가장 작은 단위 이며</a:t>
            </a:r>
            <a:r>
              <a:rPr lang="en-US" altLang="ko-KR" sz="1600" dirty="0"/>
              <a:t>, </a:t>
            </a:r>
            <a:r>
              <a:rPr lang="ko-KR" altLang="en-US" sz="1600" dirty="0"/>
              <a:t>화학반응을 통해 더 이상 쪼갤 수 없는 단위이다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원자는 원자핵과 그 주위를 도는 전자로 이루어져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전기의 성질을 전하라고 부른다</a:t>
            </a:r>
            <a:r>
              <a:rPr lang="en-US" altLang="ko-KR" sz="1600" dirty="0"/>
              <a:t>.</a:t>
            </a:r>
            <a:r>
              <a:rPr lang="ko-KR" altLang="en-US" sz="1600" dirty="0"/>
              <a:t> 밀고 당기는 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같은 </a:t>
            </a:r>
            <a:r>
              <a:rPr lang="ko-KR" altLang="en-US" sz="1600" dirty="0" err="1"/>
              <a:t>극끼리는</a:t>
            </a:r>
            <a:r>
              <a:rPr lang="ko-KR" altLang="en-US" sz="1600" dirty="0"/>
              <a:t> 밀어내고</a:t>
            </a:r>
            <a:r>
              <a:rPr lang="en-US" altLang="ko-KR" sz="1600" dirty="0"/>
              <a:t>, </a:t>
            </a:r>
            <a:r>
              <a:rPr lang="ko-KR" altLang="en-US" sz="1600" dirty="0"/>
              <a:t>다른 </a:t>
            </a:r>
            <a:r>
              <a:rPr lang="ko-KR" altLang="en-US" sz="1600" dirty="0" err="1"/>
              <a:t>극끼리는</a:t>
            </a:r>
            <a:r>
              <a:rPr lang="ko-KR" altLang="en-US" sz="1600" dirty="0"/>
              <a:t> 끌어 당긴다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원자핵은 </a:t>
            </a:r>
            <a:r>
              <a:rPr lang="en-US" altLang="ko-KR" sz="1600" dirty="0"/>
              <a:t>(+)</a:t>
            </a:r>
            <a:r>
              <a:rPr lang="ko-KR" altLang="en-US" sz="1600" dirty="0"/>
              <a:t>전하를 띤 양성자와 전하가 없는 중성자로 이루어져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전자는 </a:t>
            </a:r>
            <a:r>
              <a:rPr lang="en-US" altLang="ko-KR" sz="1600" dirty="0"/>
              <a:t>(-)</a:t>
            </a:r>
            <a:r>
              <a:rPr lang="ko-KR" altLang="en-US" sz="1600" dirty="0"/>
              <a:t>전하를 띠고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전자가 다른 원자나 물질로 이동하면 전하의 이동이 일어난다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전기는 전자의 움직임에서 시작된다</a:t>
            </a:r>
            <a:r>
              <a:rPr lang="en-US" altLang="ko-KR" sz="16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2762FD-B02D-7A84-E948-AF0D54FB59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97"/>
          <a:stretch>
            <a:fillRect/>
          </a:stretch>
        </p:blipFill>
        <p:spPr>
          <a:xfrm>
            <a:off x="7052915" y="911466"/>
            <a:ext cx="1079320" cy="17462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CD826B-B885-DA6C-8A08-87066EA8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425"/>
          <a:stretch>
            <a:fillRect/>
          </a:stretch>
        </p:blipFill>
        <p:spPr>
          <a:xfrm>
            <a:off x="8915583" y="1436755"/>
            <a:ext cx="1494183" cy="62262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1A9C8A0-3485-96DC-F8A7-113F55C41CE1}"/>
              </a:ext>
            </a:extLst>
          </p:cNvPr>
          <p:cNvSpPr/>
          <p:nvPr/>
        </p:nvSpPr>
        <p:spPr>
          <a:xfrm>
            <a:off x="8328758" y="1505749"/>
            <a:ext cx="586825" cy="484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D25398A-7918-CBC5-4DA0-00C21E26590B}"/>
              </a:ext>
            </a:extLst>
          </p:cNvPr>
          <p:cNvSpPr/>
          <p:nvPr/>
        </p:nvSpPr>
        <p:spPr>
          <a:xfrm rot="5400000">
            <a:off x="9319960" y="2267197"/>
            <a:ext cx="586825" cy="484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D1B7C7E-5CA1-AE1C-7BB8-D72F318840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67" r="45940" b="89133"/>
          <a:stretch>
            <a:fillRect/>
          </a:stretch>
        </p:blipFill>
        <p:spPr>
          <a:xfrm>
            <a:off x="8640700" y="3218839"/>
            <a:ext cx="1527175" cy="32601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AA03E4A-14DE-3B69-236F-7F654E2E9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209" y="3789858"/>
            <a:ext cx="4500158" cy="245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5ED1-C8B3-1652-6212-3DC78FD0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0DEF5-5D37-7508-4B2E-5E1AEE2F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전류</a:t>
            </a:r>
            <a:r>
              <a:rPr lang="en-US" altLang="ko-KR" dirty="0"/>
              <a:t>: </a:t>
            </a:r>
            <a:r>
              <a:rPr lang="ko-KR" altLang="en-US" dirty="0"/>
              <a:t>전자의 움직임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958F7-1DB3-1252-997F-A58E54F4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C3B08-51CB-316A-886D-8DAA64180B37}"/>
              </a:ext>
            </a:extLst>
          </p:cNvPr>
          <p:cNvSpPr txBox="1"/>
          <p:nvPr/>
        </p:nvSpPr>
        <p:spPr>
          <a:xfrm>
            <a:off x="288790" y="958844"/>
            <a:ext cx="1152331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전류는 전하의 흐름으로</a:t>
            </a:r>
            <a:r>
              <a:rPr lang="en-US" altLang="ko-KR" sz="1600" dirty="0"/>
              <a:t>, </a:t>
            </a:r>
            <a:r>
              <a:rPr lang="ko-KR" altLang="en-US" sz="1600" dirty="0"/>
              <a:t>단위 시간 동안에 흐른 전하의 양으로 정의된다</a:t>
            </a:r>
            <a:r>
              <a:rPr lang="en-US" altLang="ko-KR" sz="1600" dirty="0"/>
              <a:t>. A = C/s   (</a:t>
            </a:r>
            <a:r>
              <a:rPr lang="ko-KR" altLang="en-US" sz="1600" dirty="0"/>
              <a:t>암페어 </a:t>
            </a:r>
            <a:r>
              <a:rPr lang="en-US" altLang="ko-KR" sz="1600" dirty="0"/>
              <a:t>= </a:t>
            </a:r>
            <a:r>
              <a:rPr lang="ko-KR" altLang="en-US" sz="1600" dirty="0" err="1"/>
              <a:t>쿨롱</a:t>
            </a:r>
            <a:r>
              <a:rPr lang="en-US" altLang="ko-KR" sz="1600" dirty="0"/>
              <a:t>/</a:t>
            </a:r>
            <a:r>
              <a:rPr lang="ko-KR" altLang="en-US" sz="1600" dirty="0"/>
              <a:t>초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전자 </a:t>
            </a:r>
            <a:r>
              <a:rPr lang="en-US" altLang="ko-KR" sz="1600" dirty="0"/>
              <a:t>1</a:t>
            </a:r>
            <a:r>
              <a:rPr lang="ko-KR" altLang="en-US" sz="1600" dirty="0"/>
              <a:t>개의 전하 양은 </a:t>
            </a:r>
            <a:r>
              <a:rPr lang="en-US" altLang="ko-KR" sz="1600" dirty="0"/>
              <a:t>e</a:t>
            </a:r>
            <a:r>
              <a:rPr lang="ko-KR" altLang="en-US" sz="1600" dirty="0"/>
              <a:t>로 표시하고</a:t>
            </a:r>
            <a:r>
              <a:rPr lang="en-US" altLang="ko-KR" sz="1600" dirty="0"/>
              <a:t>,  e = 1.602 x 10</a:t>
            </a:r>
            <a:r>
              <a:rPr lang="en-US" altLang="ko-KR" sz="1600" baseline="30000" dirty="0"/>
              <a:t>-19</a:t>
            </a:r>
            <a:r>
              <a:rPr lang="en-US" altLang="ko-KR" sz="1600" dirty="0"/>
              <a:t>C 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588C5C-C54B-F8CB-F2EA-ED2ECE8F3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6" t="88472" r="9554" b="1867"/>
          <a:stretch>
            <a:fillRect/>
          </a:stretch>
        </p:blipFill>
        <p:spPr>
          <a:xfrm>
            <a:off x="1037626" y="5899156"/>
            <a:ext cx="7432040" cy="5840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A72820-C083-255F-D1C3-22FD66AE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35" b="49337"/>
          <a:stretch>
            <a:fillRect/>
          </a:stretch>
        </p:blipFill>
        <p:spPr>
          <a:xfrm>
            <a:off x="945874" y="1608368"/>
            <a:ext cx="7207526" cy="17696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625E30-030D-0448-6218-84239B8A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557" b="13249"/>
          <a:stretch>
            <a:fillRect/>
          </a:stretch>
        </p:blipFill>
        <p:spPr>
          <a:xfrm>
            <a:off x="834335" y="4140200"/>
            <a:ext cx="8375881" cy="15184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3ABF86B-BC57-3A46-FEC0-DCC20180CBA6}"/>
              </a:ext>
            </a:extLst>
          </p:cNvPr>
          <p:cNvSpPr/>
          <p:nvPr/>
        </p:nvSpPr>
        <p:spPr>
          <a:xfrm>
            <a:off x="4251960" y="2266003"/>
            <a:ext cx="91440" cy="14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86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58B0-3CAA-FCC3-7C2B-39005C43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64432-842B-C0E6-6664-F7E010C2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자유전자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E50A6-14BC-75ED-63B4-07F77FE6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DBE6C-F7E8-8B24-2A9E-66AB8C7AC281}"/>
              </a:ext>
            </a:extLst>
          </p:cNvPr>
          <p:cNvSpPr txBox="1"/>
          <p:nvPr/>
        </p:nvSpPr>
        <p:spPr>
          <a:xfrm>
            <a:off x="288790" y="958844"/>
            <a:ext cx="1152331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금속의 외곽 전자는 원자에 약하게 묶여 있어서</a:t>
            </a:r>
            <a:r>
              <a:rPr lang="en-US" altLang="ko-KR" sz="1600" dirty="0"/>
              <a:t>, </a:t>
            </a:r>
            <a:r>
              <a:rPr lang="ko-KR" altLang="en-US" sz="1600" dirty="0"/>
              <a:t>금속 전체를 자유롭게 이동할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금속 속에는 자유전자가 존재한다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121958-8B27-AAD5-09CF-FFD18C6A7120}"/>
              </a:ext>
            </a:extLst>
          </p:cNvPr>
          <p:cNvSpPr/>
          <p:nvPr/>
        </p:nvSpPr>
        <p:spPr>
          <a:xfrm>
            <a:off x="4251960" y="3256603"/>
            <a:ext cx="91440" cy="14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239C60-A6F9-D3B0-3C45-BBA388932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0" y="2527847"/>
            <a:ext cx="6197919" cy="33974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368E3F-105B-DD4D-5C74-0AD3DAE7F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960" y="2548475"/>
            <a:ext cx="2902099" cy="33402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5C48B7-9073-05A1-81BE-53F9C4E4E6DF}"/>
              </a:ext>
            </a:extLst>
          </p:cNvPr>
          <p:cNvSpPr txBox="1"/>
          <p:nvPr/>
        </p:nvSpPr>
        <p:spPr>
          <a:xfrm>
            <a:off x="9204192" y="2095494"/>
            <a:ext cx="1863858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 algn="ctr">
              <a:lnSpc>
                <a:spcPct val="150000"/>
              </a:lnSpc>
            </a:pPr>
            <a:r>
              <a:rPr lang="ko-KR" altLang="en-US" sz="1600" dirty="0"/>
              <a:t>금속 </a:t>
            </a:r>
            <a:r>
              <a:rPr lang="en-US" altLang="ko-KR" sz="1600" dirty="0"/>
              <a:t>vs. </a:t>
            </a:r>
            <a:r>
              <a:rPr lang="ko-KR" altLang="en-US" sz="1600" dirty="0"/>
              <a:t>비금속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2429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9462-B3F3-D546-5504-FEBDA94D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F482F-5A06-CFF6-B441-938C3B05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전압</a:t>
            </a:r>
            <a:r>
              <a:rPr lang="en-US" altLang="ko-KR" dirty="0"/>
              <a:t>: </a:t>
            </a:r>
            <a:r>
              <a:rPr lang="ko-KR" altLang="en-US" dirty="0"/>
              <a:t>전자를 움직이게 하는 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52877-60DD-9EE8-CBED-64080DE3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2F378-7846-49CC-D5F7-06DD0AE66835}"/>
              </a:ext>
            </a:extLst>
          </p:cNvPr>
          <p:cNvSpPr txBox="1"/>
          <p:nvPr/>
        </p:nvSpPr>
        <p:spPr>
          <a:xfrm>
            <a:off x="288790" y="958844"/>
            <a:ext cx="1152331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음극과 양극 사이에 전위차가 없으면 자유전자는 무작위로 움직이고</a:t>
            </a:r>
            <a:r>
              <a:rPr lang="en-US" altLang="ko-KR" sz="1600" dirty="0"/>
              <a:t>, </a:t>
            </a:r>
            <a:r>
              <a:rPr lang="ko-KR" altLang="en-US" sz="1600" dirty="0"/>
              <a:t>한 방향으로 흐르지 않는다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전압</a:t>
            </a:r>
            <a:r>
              <a:rPr lang="en-US" altLang="ko-KR" sz="1600" dirty="0"/>
              <a:t>(</a:t>
            </a:r>
            <a:r>
              <a:rPr lang="ko-KR" altLang="en-US" sz="1600" dirty="0"/>
              <a:t>전위차</a:t>
            </a:r>
            <a:r>
              <a:rPr lang="en-US" altLang="ko-KR" sz="1600" dirty="0"/>
              <a:t>)</a:t>
            </a:r>
            <a:r>
              <a:rPr lang="ko-KR" altLang="en-US" sz="1600" dirty="0"/>
              <a:t>은 전기적 압력 차이로서</a:t>
            </a:r>
            <a:r>
              <a:rPr lang="en-US" altLang="ko-KR" sz="1600" dirty="0"/>
              <a:t>, </a:t>
            </a:r>
            <a:r>
              <a:rPr lang="ko-KR" altLang="en-US" sz="1600" dirty="0"/>
              <a:t>전자를 이동시키는 힘이다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4A4F49-5B03-E7A3-592D-C5E6BB363E71}"/>
              </a:ext>
            </a:extLst>
          </p:cNvPr>
          <p:cNvSpPr/>
          <p:nvPr/>
        </p:nvSpPr>
        <p:spPr>
          <a:xfrm>
            <a:off x="4251960" y="2266003"/>
            <a:ext cx="91440" cy="14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652DB0-79C7-8022-662A-4FEFEDDF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1966039"/>
            <a:ext cx="9430235" cy="31497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299716-EB5C-9B83-9647-F52E369C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697" y="5149433"/>
            <a:ext cx="4749804" cy="14994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16F920A-3D52-461B-857E-87A932EC2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332" y="2971800"/>
            <a:ext cx="2056582" cy="135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9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E505-3399-B44F-E39A-5A7D0407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A8590-0306-A4EE-2EF5-1D4589C0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전압과 전류의 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53C9FF-BAC2-77B6-58E3-679FDB8B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73CD6-B64A-E75B-B8F4-BB3D1929FDD4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전압은 전자를 움직이게 하는 원인이고</a:t>
            </a:r>
            <a:r>
              <a:rPr lang="en-US" altLang="ko-KR" sz="1600" dirty="0"/>
              <a:t>, </a:t>
            </a:r>
            <a:r>
              <a:rPr lang="ko-KR" altLang="en-US" sz="1600" dirty="0"/>
              <a:t>전압이 클수록 더 많은 전자가 이동하여 전류가 커진다</a:t>
            </a:r>
            <a:r>
              <a:rPr lang="en-US" altLang="ko-KR" sz="16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057732-A65F-CD90-C897-4EDE65ABE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80" y="1805850"/>
            <a:ext cx="5105490" cy="27747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808145-2E26-FEC9-474C-6292EBC1B8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420"/>
          <a:stretch>
            <a:fillRect/>
          </a:stretch>
        </p:blipFill>
        <p:spPr>
          <a:xfrm rot="16200000">
            <a:off x="8585752" y="1459541"/>
            <a:ext cx="1134546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0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AF3B-EDFE-C413-DA68-2C603E53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E8A57-399A-3F7E-04D9-D1C28C1D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전력이란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EA99E4-456F-38B5-FED7-0B22332A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E3250-BAFA-6BCD-96FB-44DB45F73739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전압은 전자를 움직이게 하는 원인이고</a:t>
            </a:r>
            <a:r>
              <a:rPr lang="en-US" altLang="ko-KR" sz="1600" dirty="0"/>
              <a:t>, </a:t>
            </a:r>
            <a:r>
              <a:rPr lang="ko-KR" altLang="en-US" sz="1600" dirty="0"/>
              <a:t>전압이 클수록 더 많은 전자가 이동하여 전류가 커진다</a:t>
            </a:r>
            <a:r>
              <a:rPr lang="en-US" altLang="ko-KR" sz="16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48EA01-989B-3682-1CC6-057078F6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80" y="1805850"/>
            <a:ext cx="5105490" cy="27747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2CCC60-72F4-87A6-63A6-A2432F1C7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420"/>
          <a:stretch>
            <a:fillRect/>
          </a:stretch>
        </p:blipFill>
        <p:spPr>
          <a:xfrm rot="16200000">
            <a:off x="8585752" y="1459541"/>
            <a:ext cx="1134546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8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406B-3D2A-0A9D-B78D-BA8608FF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B8111-DD36-05FE-762D-9EEE4CC3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전력시스템에 관한 기본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A137FD-586F-46A6-0A57-FD729EC8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344D3-F95D-6B45-599F-1A27F0928961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전기는 전하의 흐름이나 전기장과 같은 물리적 현상을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전기에너지는 이러한 전기를 통해 전달되거나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7ED31A-4181-5316-D6C3-E00EF70E5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738" y="2050290"/>
            <a:ext cx="71913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0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28D0-282E-2364-659B-EBC2BE67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2B7FF-675C-19E0-11E1-A8C516E6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전력시스템에 관한 기본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E3F290-6C7E-CBCC-5397-BFD53779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FD3E4-7581-B2F7-1ED9-46996A80C5D5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전기는 전하의 흐름이나 전기장과 같은 물리적 현상을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전기에너지는 이러한 전기를 통해 전달되거나</a:t>
            </a:r>
            <a:endParaRPr lang="en-US" altLang="ko-KR" sz="16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2209B66-3D96-40B2-2753-18D9F9A2748B}"/>
              </a:ext>
            </a:extLst>
          </p:cNvPr>
          <p:cNvGrpSpPr/>
          <p:nvPr/>
        </p:nvGrpSpPr>
        <p:grpSpPr>
          <a:xfrm>
            <a:off x="2822896" y="3312302"/>
            <a:ext cx="5416828" cy="3225966"/>
            <a:chOff x="2839830" y="2898278"/>
            <a:chExt cx="5416828" cy="32259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AE44DE-BD5E-9853-39C6-AB080A38A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9830" y="2898278"/>
              <a:ext cx="5416828" cy="322596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F2F5D8-7561-3B77-0767-5FD567C093D5}"/>
                </a:ext>
              </a:extLst>
            </p:cNvPr>
            <p:cNvSpPr/>
            <p:nvPr/>
          </p:nvSpPr>
          <p:spPr>
            <a:xfrm flipH="1">
              <a:off x="8094476" y="5079079"/>
              <a:ext cx="162181" cy="1021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5401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7F55-9328-03C3-086F-04C3207C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56690-82C5-05BE-E495-4F34883A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발전소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C44B3-DCF2-D57A-8B50-C4EED59A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97C64-F7A4-FD84-A3A5-01AB434EC6D4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 시스템에서 교류 발전기는 전하를 초당 </a:t>
            </a:r>
            <a:r>
              <a:rPr lang="en-US" altLang="ko-KR" sz="1600" dirty="0"/>
              <a:t>60</a:t>
            </a:r>
            <a:r>
              <a:rPr lang="ko-KR" altLang="en-US" sz="1600" dirty="0"/>
              <a:t>회</a:t>
            </a:r>
            <a:r>
              <a:rPr lang="en-US" altLang="ko-KR" sz="1600" dirty="0"/>
              <a:t>, </a:t>
            </a:r>
            <a:r>
              <a:rPr lang="ko-KR" altLang="en-US" sz="1600" dirty="0"/>
              <a:t>즉 </a:t>
            </a:r>
            <a:r>
              <a:rPr lang="en-US" altLang="ko-KR" sz="1600" dirty="0"/>
              <a:t>60Hz</a:t>
            </a:r>
            <a:r>
              <a:rPr lang="ko-KR" altLang="en-US" sz="1600" dirty="0"/>
              <a:t>로 왕복 운동시키며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전자기장이 형성되고 전선 주변을 따라 전력이 전달된다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994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13796</TotalTime>
  <Words>314</Words>
  <Application>Microsoft Office PowerPoint</Application>
  <PresentationFormat>와이드스크린</PresentationFormat>
  <Paragraphs>57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999  전기에너지</vt:lpstr>
      <vt:lpstr>Section 1. 서론</vt:lpstr>
      <vt:lpstr>원자 구조</vt:lpstr>
      <vt:lpstr>전류: 전자의 움직임</vt:lpstr>
      <vt:lpstr>자유전자</vt:lpstr>
      <vt:lpstr>전압: 전자를 움직이게 하는 힘</vt:lpstr>
      <vt:lpstr>전압과 전류의 관계</vt:lpstr>
      <vt:lpstr>전력이란</vt:lpstr>
      <vt:lpstr>전력시스템에 관한 기본 개념</vt:lpstr>
      <vt:lpstr>전력시스템에 관한 기본 개념</vt:lpstr>
      <vt:lpstr>발전소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658</cp:revision>
  <dcterms:created xsi:type="dcterms:W3CDTF">2025-07-05T05:15:23Z</dcterms:created>
  <dcterms:modified xsi:type="dcterms:W3CDTF">2026-07-15T08:32:06Z</dcterms:modified>
</cp:coreProperties>
</file>