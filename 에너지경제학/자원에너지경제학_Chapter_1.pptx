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0"/>
  </p:notesMasterIdLst>
  <p:sldIdLst>
    <p:sldId id="375" r:id="rId2"/>
    <p:sldId id="405" r:id="rId3"/>
    <p:sldId id="550" r:id="rId4"/>
    <p:sldId id="376" r:id="rId5"/>
    <p:sldId id="553" r:id="rId6"/>
    <p:sldId id="555" r:id="rId7"/>
    <p:sldId id="557" r:id="rId8"/>
    <p:sldId id="558" r:id="rId9"/>
    <p:sldId id="632" r:id="rId10"/>
    <p:sldId id="631" r:id="rId11"/>
    <p:sldId id="559" r:id="rId12"/>
    <p:sldId id="633" r:id="rId13"/>
    <p:sldId id="638" r:id="rId14"/>
    <p:sldId id="639" r:id="rId15"/>
    <p:sldId id="642" r:id="rId16"/>
    <p:sldId id="643" r:id="rId17"/>
    <p:sldId id="644" r:id="rId18"/>
    <p:sldId id="646" r:id="rId19"/>
    <p:sldId id="645" r:id="rId20"/>
    <p:sldId id="647" r:id="rId21"/>
    <p:sldId id="634" r:id="rId22"/>
    <p:sldId id="637" r:id="rId23"/>
    <p:sldId id="636" r:id="rId24"/>
    <p:sldId id="560" r:id="rId25"/>
    <p:sldId id="556" r:id="rId26"/>
    <p:sldId id="554" r:id="rId27"/>
    <p:sldId id="364" r:id="rId28"/>
    <p:sldId id="640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>
        <p:scale>
          <a:sx n="100" d="100"/>
          <a:sy n="100" d="100"/>
        </p:scale>
        <p:origin x="2580" y="10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지구가 어떻게 돌아가는지</a:t>
            </a:r>
            <a:r>
              <a:rPr lang="en-US" altLang="ko-KR" sz="1600" spc="-50" dirty="0"/>
              <a:t>?? (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 등등</a:t>
            </a:r>
            <a:r>
              <a:rPr lang="en-US" altLang="ko-KR" sz="1600" spc="-50"/>
              <a:t>?)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 구분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시스템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에너지란 무엇인가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일상생활에서 쓰는 에너지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= </a:t>
            </a:r>
            <a:r>
              <a:rPr lang="en-US" altLang="ko-KR" sz="1600" spc="-50" dirty="0" err="1"/>
              <a:t>en</a:t>
            </a:r>
            <a:r>
              <a:rPr lang="en-US" altLang="ko-KR" sz="1600" spc="-50" dirty="0"/>
              <a:t> +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  : </a:t>
            </a:r>
            <a:r>
              <a:rPr lang="ko-KR" altLang="en-US" sz="1600" spc="-50" dirty="0"/>
              <a:t>고대 그리스어로 풀어보면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 영어로 넘어오면서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안에 넣다</a:t>
            </a:r>
            <a:r>
              <a:rPr lang="en-US" altLang="ko-KR" sz="1600" spc="-50" dirty="0"/>
              <a:t>‘ → ‘~</a:t>
            </a:r>
            <a:r>
              <a:rPr lang="ko-KR" altLang="en-US" sz="1600" spc="-50" dirty="0"/>
              <a:t>하게 만들다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 라는 식으로 의미 변화가 일어났다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able: </a:t>
            </a:r>
            <a:r>
              <a:rPr lang="ko-KR" altLang="en-US" sz="1600" spc="-50" dirty="0"/>
              <a:t>가능하게 하다</a:t>
            </a:r>
            <a:r>
              <a:rPr lang="en-US" altLang="ko-KR" sz="1600" spc="-50" dirty="0"/>
              <a:t>, 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rich:</a:t>
            </a:r>
            <a:r>
              <a:rPr lang="ko-KR" altLang="en-US" sz="1600" spc="-50" dirty="0"/>
              <a:t> 풍요롭게 하다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courage: </a:t>
            </a:r>
            <a:r>
              <a:rPr lang="ko-KR" altLang="en-US" sz="1600" spc="-50" dirty="0"/>
              <a:t>용기를 북돋다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ergon</a:t>
            </a:r>
            <a:r>
              <a:rPr lang="ko-KR" altLang="en-US" sz="1600" spc="-50" dirty="0"/>
              <a:t>은 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을 뜻하는 그리스어 단어</a:t>
            </a:r>
            <a:r>
              <a:rPr lang="en-US" altLang="ko-KR" sz="1600" spc="-50" dirty="0"/>
              <a:t>. ergon</a:t>
            </a:r>
            <a:r>
              <a:rPr lang="ko-KR" altLang="en-US" sz="1600" spc="-50" dirty="0"/>
              <a:t>의 파생형이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energy</a:t>
            </a:r>
            <a:r>
              <a:rPr lang="ko-KR" altLang="en-US" sz="1600" spc="-50" dirty="0"/>
              <a:t>는 원래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이 안에 있는 상태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이것이 오늘날 </a:t>
            </a:r>
            <a:r>
              <a:rPr lang="en-US" altLang="ko-KR" sz="1600" b="1" spc="-50" dirty="0"/>
              <a:t>‘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’</a:t>
            </a:r>
            <a:r>
              <a:rPr lang="ko-KR" altLang="en-US" sz="1600" spc="-50" dirty="0"/>
              <a:t> 이라는 의미로 발전하였다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284" y="3067663"/>
            <a:ext cx="2968222" cy="11073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9070142" y="280605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여러가지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헤어드라이기는</a:t>
            </a:r>
            <a:r>
              <a:rPr lang="ko-KR" altLang="en-US" sz="1600" spc="-50" dirty="0"/>
              <a:t> 전기를 열 에너지와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 뜨거운 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 슬라이드부터 에너지의 단위 변환에 대해 알아보자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144" y="27496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D940511-665C-7270-4810-17D2F4CD430B}"/>
              </a:ext>
            </a:extLst>
          </p:cNvPr>
          <p:cNvSpPr txBox="1"/>
          <p:nvPr/>
        </p:nvSpPr>
        <p:spPr>
          <a:xfrm>
            <a:off x="7660218" y="3060660"/>
            <a:ext cx="211878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400" spc="-50"/>
              <a:t>우리집 전기요금표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1.079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0.284Mm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538922"/>
              </p:ext>
            </p:extLst>
          </p:nvPr>
        </p:nvGraphicFramePr>
        <p:xfrm>
          <a:off x="917945" y="3264003"/>
          <a:ext cx="6156757" cy="17332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밀리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565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···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계속해서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배씩 나가며 현재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퀘타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quetta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Q)</a:t>
                      </a:r>
                      <a:r>
                        <a:rPr lang="ko-KR" altLang="en-US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까지 정의되어 있음</a:t>
                      </a:r>
                      <a:endParaRPr lang="en-US" altLang="ko-KR" sz="1300" b="0" kern="0" spc="0" baseline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/ 0.239(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18469E-3BC0-DC94-9C18-544784CA3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6939" y="4550500"/>
            <a:ext cx="1939522" cy="14301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024" y="2039522"/>
            <a:ext cx="1457814" cy="247785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90" y="3023578"/>
            <a:ext cx="89504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180,000J (50J/s x 60s x 60m(minutes))</a:t>
            </a:r>
            <a:r>
              <a:rPr lang="ko-KR" altLang="en-US" sz="1600" spc="-50" dirty="0"/>
              <a:t>을 사용하는 것 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변환계수를 사용해도 비슷한 결과를 얻는다</a:t>
            </a:r>
            <a:r>
              <a:rPr lang="en-US" altLang="ko-KR" sz="1600" spc="-50" dirty="0"/>
              <a:t>. 50Wh / 0.000278(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/J) = 179,856J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50Wh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180,000J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42,985cal </a:t>
            </a:r>
            <a:r>
              <a:rPr lang="ko-KR" altLang="en-US" sz="1600" spc="-50" dirty="0"/>
              <a:t>의 에너지를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9589330" y="6046893"/>
            <a:ext cx="20166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878207" y="520210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&lt;13,900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007164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669736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6559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&lt;34,800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다른기기를</a:t>
            </a:r>
            <a:r>
              <a:rPr lang="ko-KR" altLang="en-US" sz="1600" spc="-50" dirty="0"/>
              <a:t>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보조배터리의 스펙을 계산해볼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</a:t>
            </a:r>
            <a:r>
              <a:rPr lang="en-US" altLang="ko-KR" sz="1600" spc="-50" dirty="0"/>
              <a:t> W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충전을 많이 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표기는 없고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V(Volt)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Ah(Ampere-hour)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변환 가능한 단위들이다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벽에 있는 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 배터리의 용량을 다시 계산해보면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22.2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54417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</a:t>
            </a:r>
            <a:r>
              <a:rPr lang="en-US" altLang="ko-KR" sz="1600" spc="-50" baseline="30000" dirty="0"/>
              <a:t>-3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양은 </a:t>
            </a:r>
            <a:r>
              <a:rPr lang="en-US" altLang="ko-KR" sz="1600" spc="-50" dirty="0"/>
              <a:t>W(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h(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965E-C231-C2C5-6D80-6AB661B0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E8672-A0FC-2DB8-BF52-06673C58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618-8A8A-21B0-11FA-70E19C71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9C1F4-6C46-F06E-9943-6C1CDD616944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(20,000mAh, 3.8V)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 모델은 친절히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로 계산이 되어 </a:t>
            </a:r>
            <a:r>
              <a:rPr lang="ko-KR" altLang="en-US" sz="1600" spc="-50" dirty="0" err="1"/>
              <a:t>있긴하다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3.8V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76,000mA·V·hour = 76Wh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91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91507-D714-8422-8FBB-9799709C30B8}"/>
              </a:ext>
            </a:extLst>
          </p:cNvPr>
          <p:cNvSpPr txBox="1"/>
          <p:nvPr/>
        </p:nvSpPr>
        <p:spPr>
          <a:xfrm>
            <a:off x="271857" y="926904"/>
            <a:ext cx="65441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4F9CD8-685D-D86A-0E5E-5C8FC1C8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36B469-D203-C455-D9D6-9DC9FCE2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641EB84-4281-7B7A-FD94-595E8F0A29EF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A9AD31-B437-B22F-D2CE-34792A4C9BE4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152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806-B994-CA21-10BB-9BF85DE3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671B647-8CA3-39F2-13C9-E7585CF6F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8163" y="4015891"/>
            <a:ext cx="1676458" cy="15859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F0D6CF-0A45-23A4-FBAC-1B5F745A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미니 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84598B-A163-B812-DA7A-E609E0B0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BEEC4-80A7-DEA0-9263-389BA0F83AE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선풍기는 콘센트를 꼽지 않으면 </a:t>
            </a:r>
            <a:r>
              <a:rPr lang="ko-KR" altLang="en-US" sz="1600" spc="-50" dirty="0" err="1"/>
              <a:t>안돌아가는데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선풍기는 콘센트 연결 없이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선풍기 안에 배터리가 들어가 있기 때문에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미니 선풍기의 입력 부문을 보면 </a:t>
            </a:r>
            <a:r>
              <a:rPr lang="en-US" altLang="ko-KR" sz="1600" spc="-50" dirty="0"/>
              <a:t>(5V, 2A)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미니 선풍기가 충전된다는 의미다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부문을 보면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전압이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역산해보면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1.35A </a:t>
            </a:r>
            <a:r>
              <a:rPr lang="ko-KR" altLang="en-US" sz="1600" spc="-50" dirty="0"/>
              <a:t>로 출력될 것임을 유추할 수 있다</a:t>
            </a:r>
            <a:r>
              <a:rPr lang="en-US" altLang="ko-KR" sz="1600" spc="-50" dirty="0"/>
              <a:t>. (W = V x 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출력부문은 </a:t>
            </a:r>
            <a:r>
              <a:rPr lang="en-US" altLang="ko-KR" sz="1600" spc="-50" dirty="0"/>
              <a:t>(3.7V, 1.35A)</a:t>
            </a:r>
            <a:r>
              <a:rPr lang="ko-KR" altLang="en-US" sz="1600" spc="-50" dirty="0"/>
              <a:t>로서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전기에너지를 소비한다는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시간 동안 사용하면 </a:t>
            </a:r>
            <a:r>
              <a:rPr lang="en-US" altLang="ko-KR" sz="1600" spc="-50" dirty="0"/>
              <a:t>5Wh</a:t>
            </a:r>
            <a:r>
              <a:rPr lang="ko-KR" altLang="en-US" sz="1600" spc="-50" dirty="0"/>
              <a:t>의 전기에너지를 소비하게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배터리용량은 </a:t>
            </a:r>
            <a:r>
              <a:rPr lang="en-US" altLang="ko-KR" sz="1600" spc="-50" dirty="0"/>
              <a:t>4.5Ah (=4,500mAh)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정격전압이 </a:t>
            </a:r>
            <a:r>
              <a:rPr lang="en-US" altLang="ko-KR" sz="1600" spc="-50" dirty="0"/>
              <a:t>3.7V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16.65Wh (= 4.5Ah x 3.7V) 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충전하므로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선풍기가 </a:t>
            </a:r>
            <a:r>
              <a:rPr lang="en-US" altLang="ko-KR" sz="1600" spc="-50" dirty="0"/>
              <a:t>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까지 충전되는데 </a:t>
            </a:r>
            <a:r>
              <a:rPr lang="en-US" altLang="ko-KR" sz="1600" spc="-50" dirty="0"/>
              <a:t>1.65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(99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소요된다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전기를 소비하므로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3.3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(200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동안 쓸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45B046-4342-D746-0677-B8D162310D05}"/>
              </a:ext>
            </a:extLst>
          </p:cNvPr>
          <p:cNvSpPr txBox="1"/>
          <p:nvPr/>
        </p:nvSpPr>
        <p:spPr>
          <a:xfrm>
            <a:off x="9828090" y="5574453"/>
            <a:ext cx="201660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coupang.com/vp/products/8690517296?itemId=25231486136&amp;vendorItemId=92227684957&amp;sourceType=srp_product_ads&amp;clickEventId=81b0fc80-74f7-11f1-a7e4-fb540a9a1516&amp;korePlacement=15&amp;koreSubPlacement=1&amp;clickEventId=81b0fc80-74f7-11f1-a7e4-fb540a9a1516&amp;korePlacement=15&amp;koreSubPlacement=1&amp;traceId=mr1h97vj</a:t>
            </a:r>
            <a:endParaRPr lang="ko-KR" altLang="en-US" sz="7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8357DA-9172-B062-6020-75B010DE807A}"/>
              </a:ext>
            </a:extLst>
          </p:cNvPr>
          <p:cNvSpPr/>
          <p:nvPr/>
        </p:nvSpPr>
        <p:spPr>
          <a:xfrm>
            <a:off x="9998163" y="4884000"/>
            <a:ext cx="1409080" cy="7325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0F3D275-F4B3-0464-9312-56860D616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278" y="1795282"/>
            <a:ext cx="1400227" cy="212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073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162E-3D87-126C-DB34-FEDD71C9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75777-CEFF-C33F-5235-8917CB3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B7ABD-DD56-FC7C-E177-92FD4508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7D904-41AE-FF64-2DDD-5EBEF04821FD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100% </a:t>
            </a:r>
            <a:r>
              <a:rPr lang="ko-KR" altLang="en-US" sz="1600" spc="-50" dirty="0"/>
              <a:t>충전된 보조배터리로 </a:t>
            </a:r>
            <a:r>
              <a:rPr lang="ko-KR" altLang="en-US" sz="1600" spc="-50" dirty="0" err="1"/>
              <a:t>미니선풍기를</a:t>
            </a:r>
            <a:r>
              <a:rPr lang="ko-KR" altLang="en-US" sz="1600" spc="-50" dirty="0"/>
              <a:t> 충전하면 아래와 같은 상황이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완충시키고도</a:t>
            </a:r>
            <a:r>
              <a:rPr lang="en-US" altLang="ko-KR" sz="1600" spc="-50" dirty="0"/>
              <a:t>, 59.35Wh</a:t>
            </a:r>
            <a:r>
              <a:rPr lang="ko-KR" altLang="en-US" sz="1600" spc="-50" dirty="0"/>
              <a:t>가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보조배터리는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충전시키면</a:t>
            </a:r>
            <a:r>
              <a:rPr lang="en-US" altLang="ko-KR" sz="1600" spc="-50" dirty="0"/>
              <a:t>, 1.85Wh</a:t>
            </a:r>
            <a:r>
              <a:rPr lang="ko-KR" altLang="en-US" sz="1600" spc="-50" dirty="0"/>
              <a:t>만 남는다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3147970-1BC9-69E9-4D42-38E625BC7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869696"/>
              </p:ext>
            </p:extLst>
          </p:nvPr>
        </p:nvGraphicFramePr>
        <p:xfrm>
          <a:off x="6452245" y="2498450"/>
          <a:ext cx="427925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1445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9697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367822">
                  <a:extLst>
                    <a:ext uri="{9D8B030D-6E8A-4147-A177-3AD203B41FA5}">
                      <a16:colId xmlns:a16="http://schemas.microsoft.com/office/drawing/2014/main" val="1056637573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보조배터리→핸드폰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20W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콘센트→보조배터리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40W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18W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8D66117D-A561-F3BE-ED75-F9AC98139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628" y="1791229"/>
            <a:ext cx="632147" cy="550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0E2770-69B2-9663-29AE-35265C7A9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872" y="1640833"/>
            <a:ext cx="661849" cy="70988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FAE7A8-5C4F-2317-9759-5153F9076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844" y="1493576"/>
            <a:ext cx="518276" cy="880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B6B473-3AB5-9AE3-8896-9FFC9179F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356" y="1720762"/>
            <a:ext cx="362520" cy="550030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EFC5AA6-6F27-4240-88A8-78B4832B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70672"/>
              </p:ext>
            </p:extLst>
          </p:nvPr>
        </p:nvGraphicFramePr>
        <p:xfrm>
          <a:off x="983403" y="2499503"/>
          <a:ext cx="438662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875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콘센트→미니선풍기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소비전력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722784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7005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54321-199C-EBCF-1638-94ACEF3F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7A3396-8295-B2AC-9AF9-95EAAF78A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827D7-DA7B-0D7A-FE7A-3AC954F2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A4EDDA-8917-9F1A-7AF4-36A98BD228AF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보조배터리로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122000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육개장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사발면</a:t>
            </a:r>
            <a:r>
              <a:rPr lang="en-US" altLang="ko-KR" sz="1600" spc="-50" dirty="0"/>
              <a:t>): 375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코카콜라</a:t>
            </a:r>
            <a:r>
              <a:rPr lang="en-US" altLang="ko-KR" sz="1600" spc="-50" dirty="0"/>
              <a:t>(250ml): 108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시간 강풍기준</a:t>
            </a:r>
            <a:r>
              <a:rPr lang="en-US" altLang="ko-KR" sz="1600" spc="-50" dirty="0"/>
              <a:t>): 43 kcal</a:t>
            </a:r>
          </a:p>
        </p:txBody>
      </p:sp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79A1D-8C53-664A-5971-933F8A4DC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FDBC57-2A45-8C9E-1CF7-5501FDF46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BFD297-D665-1612-AC73-BF5AB5405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4E64E0-0A5F-0A5C-714A-7A51A3C283D0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보조배터리에 전기가 </a:t>
            </a:r>
            <a:r>
              <a:rPr lang="ko-KR" altLang="en-US" sz="1600" spc="-50" dirty="0" err="1"/>
              <a:t>들어올때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입력</a:t>
            </a:r>
            <a:r>
              <a:rPr lang="en-US" altLang="ko-KR" sz="1600" spc="-50" dirty="0"/>
              <a:t>), </a:t>
            </a:r>
            <a:r>
              <a:rPr lang="ko-KR" altLang="en-US" sz="1600" spc="-50" dirty="0" err="1"/>
              <a:t>나갈때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출력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각각의 속도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알아봤는데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보조배터리는 얼만큼의 전기에너지를 저장할 수 </a:t>
            </a:r>
            <a:r>
              <a:rPr lang="ko-KR" altLang="en-US" sz="1600" spc="-50" dirty="0" err="1"/>
              <a:t>있는걸까</a:t>
            </a:r>
            <a:r>
              <a:rPr lang="en-US" altLang="ko-KR" sz="1600" spc="-50" dirty="0"/>
              <a:t>?.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2E9281-12BD-F43C-18F1-A96033B17DD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(5,000mAh, 3.7V)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4F29D8B-D3D7-42B0-C4B8-A45790A88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6790" y="1922313"/>
            <a:ext cx="1709155" cy="25164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BF692B-8C04-1EE5-6188-DDF005E18A29}"/>
              </a:ext>
            </a:extLst>
          </p:cNvPr>
          <p:cNvSpPr txBox="1"/>
          <p:nvPr/>
        </p:nvSpPr>
        <p:spPr>
          <a:xfrm>
            <a:off x="9190199" y="5982909"/>
            <a:ext cx="261612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oupang.com/vp/products/8366830499?itemId=23627046116&amp;vendorItemId=93877214577&amp;pickType=COU_PICK&amp;q=%EB%B3%B4%EC%A1%B0%EB%B0%B0%ED%84%B0%EB%A6%AC&amp;searchId=5d33a80c64048439&amp;sourceType=search&amp;itemsCount=60&amp;searchRank=3&amp;rank=3&amp;traceId=mqymckwm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F84A17-233A-D255-9C0A-88EE14EDB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0199" y="4532235"/>
            <a:ext cx="2403132" cy="126374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9CCA4D1-69FE-CD88-27CA-1B4E2375B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1894" y="4395074"/>
            <a:ext cx="3033146" cy="20220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D5A17C-1D5F-2EFC-492B-4A76F4C56B9F}"/>
              </a:ext>
            </a:extLst>
          </p:cNvPr>
          <p:cNvSpPr txBox="1"/>
          <p:nvPr/>
        </p:nvSpPr>
        <p:spPr>
          <a:xfrm>
            <a:off x="4916170" y="5075674"/>
            <a:ext cx="2561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1</a:t>
            </a:r>
            <a:r>
              <a:rPr lang="ko-KR" altLang="en-US" sz="1800" spc="-50" dirty="0"/>
              <a:t>시간이면 완충 된다</a:t>
            </a:r>
            <a:r>
              <a:rPr lang="en-US" altLang="ko-KR" sz="1800" spc="-50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18144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9445-1143-4F1B-05FF-0FD229C2E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8B9FD-EBEF-BC18-EA28-E6D4AC36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33D763-6B87-0808-9372-6EA1CC917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6076CC-778A-1365-C0D7-25B9EDEBB79D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보조배터리로 갤럭시</a:t>
            </a:r>
            <a:r>
              <a:rPr lang="en-US" altLang="ko-KR" sz="1600" spc="-50" dirty="0"/>
              <a:t> S26</a:t>
            </a:r>
            <a:r>
              <a:rPr lang="ko-KR" altLang="en-US" sz="1600" spc="-50" dirty="0"/>
              <a:t>을 얼마나 충전할 수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ADD24D-4FF2-DAD1-19D8-17E4FBFAED1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배터리용량이</a:t>
            </a:r>
            <a:r>
              <a:rPr lang="en-US" altLang="ko-KR" sz="1600" spc="-50" dirty="0"/>
              <a:t> 4,300mAh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B28BE5-71C9-E434-323D-87B010295B1A}"/>
              </a:ext>
            </a:extLst>
          </p:cNvPr>
          <p:cNvSpPr txBox="1"/>
          <p:nvPr/>
        </p:nvSpPr>
        <p:spPr>
          <a:xfrm>
            <a:off x="9190199" y="5982909"/>
            <a:ext cx="2616125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https://www.samsung.com/sec/smartphones/galaxy-s26/specs/</a:t>
            </a:r>
            <a:endParaRPr lang="ko-KR" altLang="en-US" sz="6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2C094BC-2D7E-DE15-DD69-84DEAF470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2570" y="4880617"/>
            <a:ext cx="2567074" cy="7353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E7B839C-49E1-6EF4-9797-FE7DBC298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746" y="2475047"/>
            <a:ext cx="1111307" cy="221626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F229099-61DC-BA83-1492-F0013EF04C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8204" y="2208391"/>
            <a:ext cx="768389" cy="19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8992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381B5-F69D-5A39-2273-AC354F035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0BD26-1D88-9E78-E8E3-D0A432885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 보조배터리는 얼마나 쓸 수 </a:t>
            </a:r>
            <a:r>
              <a:rPr lang="ko-KR" altLang="en-US" dirty="0" err="1"/>
              <a:t>있는거야</a:t>
            </a:r>
            <a:r>
              <a:rPr lang="en-US" altLang="ko-KR" dirty="0"/>
              <a:t>?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E69D38-D683-D7D0-2D30-F833D1B1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267F87-CD27-F34A-17B4-18730B58F9B6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1J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의 에너지를 사용한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표현하는 와트시는 시간개념이 추가된다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0324397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1F357-6A49-DE19-168B-0EAFAD3E7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2C007-A731-7516-CCAF-C63539395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생활 속의 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3995-6988-6F83-E4A6-F6590AD7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F5CC3-B015-C253-EFC6-F7631681755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일상은 대개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아침에 일어나서 핸드폰을 본다</a:t>
            </a:r>
            <a:r>
              <a:rPr lang="en-US" altLang="ko-KR" sz="1600" spc="-50" dirty="0"/>
              <a:t>. (</a:t>
            </a:r>
            <a:r>
              <a:rPr lang="ko-KR" altLang="en-US" sz="1600" b="1" spc="-50" dirty="0"/>
              <a:t>전기 </a:t>
            </a:r>
            <a:r>
              <a:rPr lang="ko-KR" altLang="en-US" sz="1600" spc="-50" dirty="0"/>
              <a:t>사용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간단히 온수 샤워를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보일러를 통한 </a:t>
            </a:r>
            <a:r>
              <a:rPr lang="ko-KR" altLang="en-US" sz="1600" b="1" spc="-50" dirty="0"/>
              <a:t>가스</a:t>
            </a:r>
            <a:r>
              <a:rPr lang="ko-KR" altLang="en-US" sz="1600" spc="-50" dirty="0"/>
              <a:t> 사용 혹은 지역난방의 </a:t>
            </a:r>
            <a:r>
              <a:rPr lang="ko-KR" altLang="en-US" sz="1600" b="1" spc="-50" dirty="0"/>
              <a:t>열</a:t>
            </a:r>
            <a:r>
              <a:rPr lang="ko-KR" altLang="en-US" sz="1600" spc="-50" dirty="0"/>
              <a:t> 사용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옷을 입는다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우리가 입고 있는 옷은 대부분 합성섬유이고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합성섬유의 원료는 </a:t>
            </a:r>
            <a:r>
              <a:rPr lang="ko-KR" altLang="en-US" sz="1600" b="1" spc="-50" dirty="0"/>
              <a:t>석유제품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집을 나서서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버스나 자가용을 탄다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시내버스는 </a:t>
            </a:r>
            <a:r>
              <a:rPr lang="ko-KR" altLang="en-US" sz="1600" b="1" spc="-50" dirty="0"/>
              <a:t>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자가용은 </a:t>
            </a:r>
            <a:r>
              <a:rPr lang="ko-KR" altLang="en-US" sz="1600" b="1" spc="-50" dirty="0"/>
              <a:t>석유제품</a:t>
            </a:r>
            <a:r>
              <a:rPr lang="ko-KR" altLang="en-US" sz="1600" spc="-50" dirty="0"/>
              <a:t>을 주로 사용한다</a:t>
            </a:r>
            <a:r>
              <a:rPr lang="ko-KR" altLang="en-US" sz="1600" b="1" spc="-50" dirty="0"/>
              <a:t> 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강의실에서 에어컨 혹은 히터를 켜고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수업을 듣는다</a:t>
            </a:r>
            <a:r>
              <a:rPr lang="en-US" altLang="ko-KR" sz="1600" spc="-50" dirty="0"/>
              <a:t>. (</a:t>
            </a:r>
            <a:r>
              <a:rPr lang="ko-KR" altLang="en-US" sz="1600" b="1" spc="-50" dirty="0"/>
              <a:t>전기</a:t>
            </a:r>
            <a:r>
              <a:rPr lang="ko-KR" altLang="en-US" sz="1600" spc="-50" dirty="0"/>
              <a:t> 사용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밤이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 안에 조명을 켠다</a:t>
            </a:r>
            <a:r>
              <a:rPr lang="en-US" altLang="ko-KR" sz="1600" spc="-50" dirty="0"/>
              <a:t>. (</a:t>
            </a:r>
            <a:r>
              <a:rPr lang="ko-KR" altLang="en-US" sz="1600" b="1" spc="-50" dirty="0"/>
              <a:t>전기 </a:t>
            </a:r>
            <a:r>
              <a:rPr lang="ko-KR" altLang="en-US" sz="1600" spc="-50" dirty="0"/>
              <a:t>사용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오늘날의 현대적인 에너지 공급이 없으면 우리는 원시사회로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핸드폰이 없다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해의 위치 파악을 통해 시간을 알아야 한다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냇가에서 물을 길어와 나무를 태워 물을 데워 씻는다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동물의 가죽을 걸쳐 입는다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어디 가고 싶으면 걷거나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더우면 부채질을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추우면 옷을 껴입는다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해가 떨어지면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잘 안보인다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874051-1E3C-81AC-FF78-54B999A9621F}"/>
              </a:ext>
            </a:extLst>
          </p:cNvPr>
          <p:cNvSpPr txBox="1"/>
          <p:nvPr/>
        </p:nvSpPr>
        <p:spPr>
          <a:xfrm>
            <a:off x="7259433" y="3507679"/>
            <a:ext cx="4508787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현대사회에서는 내가 굳이 일을 하지 않고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(</a:t>
            </a:r>
            <a:r>
              <a:rPr lang="ko-KR" altLang="en-US" sz="1600" b="1" spc="-50" dirty="0"/>
              <a:t>에너지</a:t>
            </a:r>
            <a:r>
              <a:rPr lang="en-US" altLang="ko-KR" sz="1600" b="1" spc="-50" dirty="0"/>
              <a:t>)</a:t>
            </a:r>
            <a:r>
              <a:rPr lang="ko-KR" altLang="en-US" sz="1600" spc="-50" dirty="0"/>
              <a:t>을 가진 전기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등을 사용해서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매우 편리한 생활을 누리고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92640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77447-9B31-247A-CD25-C2B66CEED967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에너지는 여러 기준으로 나누어 볼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에너지로 나누어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1</a:t>
            </a:r>
            <a:r>
              <a:rPr lang="ko-KR" altLang="en-US" sz="1600" b="1" spc="-50" dirty="0"/>
              <a:t>차에너지</a:t>
            </a:r>
            <a:r>
              <a:rPr lang="ko-KR" altLang="en-US" sz="1600" spc="-50" dirty="0"/>
              <a:t>는 어떤 가공이나 변환을 거치지 않은 자연 상태의 에너지를 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다음과 같이 분류해볼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채굴하는 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등은 유한하기 때문에 </a:t>
            </a:r>
            <a:r>
              <a:rPr lang="ko-KR" altLang="en-US" sz="1600" b="1" spc="-50" dirty="0" err="1"/>
              <a:t>고갈성</a:t>
            </a:r>
            <a:r>
              <a:rPr lang="ko-KR" altLang="en-US" sz="1600" b="1" spc="-50" dirty="0"/>
              <a:t>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태양으로 </a:t>
            </a:r>
            <a:r>
              <a:rPr lang="ko-KR" altLang="en-US" sz="1600" spc="-50" dirty="0" err="1"/>
              <a:t>부터</a:t>
            </a:r>
            <a:r>
              <a:rPr lang="ko-KR" altLang="en-US" sz="1600" spc="-50" dirty="0"/>
              <a:t> 오는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바람으로 부터 오는 바람에너지는 무한하기 때문에 </a:t>
            </a:r>
            <a:r>
              <a:rPr lang="ko-KR" altLang="en-US" sz="1600" b="1" spc="-50" dirty="0"/>
              <a:t>재생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2</a:t>
            </a:r>
            <a:r>
              <a:rPr lang="ko-KR" altLang="en-US" sz="1600" b="1" spc="-50" dirty="0"/>
              <a:t>차에너지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차에너지를 변환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가공하여 우리가 사용하기 편리하게 만든 에너지를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채굴한 석유는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불순물이 많아서 여러 석유제품들로 분류를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석유를 높은 온도에서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항공유도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휘발유도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석유는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등이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바람에너지도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태양광이나 풍력발전기를 통해 전기에너지로 바꿔야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태양광 패널에 햇빛이 닿으면 전기가 생산되고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바람이 불어서 풍력날개가 돌아가면 전기가 생산된다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AF487-C4C9-7FAA-F633-B8FD99C61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C39212F-F168-CD77-C446-536E53BF4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534" y="4599674"/>
            <a:ext cx="861142" cy="114735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020DD33-9452-FD90-2F97-D3F66C9D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EAC8C9-8F7A-52DB-EC41-2E42797F2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6054C5-2E78-E5FB-E011-2EE687E8C029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선풍기가 쓰는 전기에너지를 물로 비유해보자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라는 말은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을 쓰는 속도라는 뜻이다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BBED47E-94BF-B32A-D29E-8B2C066E4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54" y="3128117"/>
            <a:ext cx="1889181" cy="321105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180353E-8D0D-354B-E502-254874B16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7677" y="5899156"/>
            <a:ext cx="1387576" cy="584765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E06C7973-5430-150F-9CC9-666CE63C5090}"/>
              </a:ext>
            </a:extLst>
          </p:cNvPr>
          <p:cNvSpPr/>
          <p:nvPr/>
        </p:nvSpPr>
        <p:spPr>
          <a:xfrm>
            <a:off x="3197676" y="6124969"/>
            <a:ext cx="608190" cy="100152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28C16129-38AE-537E-D027-549E610CB64C}"/>
              </a:ext>
            </a:extLst>
          </p:cNvPr>
          <p:cNvSpPr/>
          <p:nvPr/>
        </p:nvSpPr>
        <p:spPr>
          <a:xfrm>
            <a:off x="2380974" y="5738191"/>
            <a:ext cx="265043" cy="265044"/>
          </a:xfrm>
          <a:custGeom>
            <a:avLst/>
            <a:gdLst>
              <a:gd name="csX0" fmla="*/ 265043 w 265043"/>
              <a:gd name="csY0" fmla="*/ 0 h 265044"/>
              <a:gd name="csX1" fmla="*/ 260626 w 265043"/>
              <a:gd name="csY1" fmla="*/ 22087 h 265044"/>
              <a:gd name="csX2" fmla="*/ 251791 w 265043"/>
              <a:gd name="csY2" fmla="*/ 75096 h 265044"/>
              <a:gd name="csX3" fmla="*/ 234122 w 265043"/>
              <a:gd name="csY3" fmla="*/ 114852 h 265044"/>
              <a:gd name="csX4" fmla="*/ 203200 w 265043"/>
              <a:gd name="csY4" fmla="*/ 145774 h 265044"/>
              <a:gd name="csX5" fmla="*/ 189948 w 265043"/>
              <a:gd name="csY5" fmla="*/ 150192 h 265044"/>
              <a:gd name="csX6" fmla="*/ 167861 w 265043"/>
              <a:gd name="csY6" fmla="*/ 172279 h 265044"/>
              <a:gd name="csX7" fmla="*/ 159026 w 265043"/>
              <a:gd name="csY7" fmla="*/ 185531 h 265044"/>
              <a:gd name="csX8" fmla="*/ 132522 w 265043"/>
              <a:gd name="csY8" fmla="*/ 198783 h 265044"/>
              <a:gd name="csX9" fmla="*/ 101600 w 265043"/>
              <a:gd name="csY9" fmla="*/ 216452 h 265044"/>
              <a:gd name="csX10" fmla="*/ 66261 w 265043"/>
              <a:gd name="csY10" fmla="*/ 225287 h 265044"/>
              <a:gd name="csX11" fmla="*/ 48591 w 265043"/>
              <a:gd name="csY11" fmla="*/ 234122 h 265044"/>
              <a:gd name="csX12" fmla="*/ 30922 w 265043"/>
              <a:gd name="csY12" fmla="*/ 247374 h 265044"/>
              <a:gd name="csX13" fmla="*/ 17669 w 265043"/>
              <a:gd name="csY13" fmla="*/ 251792 h 265044"/>
              <a:gd name="csX14" fmla="*/ 0 w 265043"/>
              <a:gd name="csY14" fmla="*/ 265044 h 2650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65043" h="265044">
                <a:moveTo>
                  <a:pt x="265043" y="0"/>
                </a:moveTo>
                <a:cubicBezTo>
                  <a:pt x="263571" y="7362"/>
                  <a:pt x="261931" y="14693"/>
                  <a:pt x="260626" y="22087"/>
                </a:cubicBezTo>
                <a:cubicBezTo>
                  <a:pt x="257513" y="39728"/>
                  <a:pt x="257456" y="58102"/>
                  <a:pt x="251791" y="75096"/>
                </a:cubicBezTo>
                <a:cubicBezTo>
                  <a:pt x="246335" y="91464"/>
                  <a:pt x="245238" y="102500"/>
                  <a:pt x="234122" y="114852"/>
                </a:cubicBezTo>
                <a:cubicBezTo>
                  <a:pt x="224371" y="125687"/>
                  <a:pt x="217029" y="141164"/>
                  <a:pt x="203200" y="145774"/>
                </a:cubicBezTo>
                <a:lnTo>
                  <a:pt x="189948" y="150192"/>
                </a:lnTo>
                <a:cubicBezTo>
                  <a:pt x="182586" y="157554"/>
                  <a:pt x="174717" y="164443"/>
                  <a:pt x="167861" y="172279"/>
                </a:cubicBezTo>
                <a:cubicBezTo>
                  <a:pt x="164365" y="176274"/>
                  <a:pt x="162780" y="181777"/>
                  <a:pt x="159026" y="185531"/>
                </a:cubicBezTo>
                <a:cubicBezTo>
                  <a:pt x="148413" y="196144"/>
                  <a:pt x="145098" y="193393"/>
                  <a:pt x="132522" y="198783"/>
                </a:cubicBezTo>
                <a:cubicBezTo>
                  <a:pt x="78331" y="222007"/>
                  <a:pt x="145946" y="194279"/>
                  <a:pt x="101600" y="216452"/>
                </a:cubicBezTo>
                <a:cubicBezTo>
                  <a:pt x="92540" y="220982"/>
                  <a:pt x="74669" y="223606"/>
                  <a:pt x="66261" y="225287"/>
                </a:cubicBezTo>
                <a:cubicBezTo>
                  <a:pt x="60371" y="228232"/>
                  <a:pt x="54175" y="230632"/>
                  <a:pt x="48591" y="234122"/>
                </a:cubicBezTo>
                <a:cubicBezTo>
                  <a:pt x="42348" y="238024"/>
                  <a:pt x="37314" y="243721"/>
                  <a:pt x="30922" y="247374"/>
                </a:cubicBezTo>
                <a:cubicBezTo>
                  <a:pt x="26879" y="249684"/>
                  <a:pt x="21834" y="249710"/>
                  <a:pt x="17669" y="251792"/>
                </a:cubicBezTo>
                <a:cubicBezTo>
                  <a:pt x="7676" y="256788"/>
                  <a:pt x="6213" y="258830"/>
                  <a:pt x="0" y="265044"/>
                </a:cubicBezTo>
              </a:path>
            </a:pathLst>
          </a:custGeom>
          <a:noFill/>
          <a:ln w="349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8182-7578-DCF7-3108-F2196BAAA60B}"/>
              </a:ext>
            </a:extLst>
          </p:cNvPr>
          <p:cNvSpPr txBox="1"/>
          <p:nvPr/>
        </p:nvSpPr>
        <p:spPr>
          <a:xfrm>
            <a:off x="3486982" y="3477508"/>
            <a:ext cx="8266777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의 물을 쓰도록 만들어졌다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선풍기를 </a:t>
            </a:r>
            <a:r>
              <a:rPr lang="en-US" altLang="ko-KR" sz="1600" spc="-50" dirty="0"/>
              <a:t>2</a:t>
            </a:r>
            <a:r>
              <a:rPr lang="ko-KR" altLang="en-US" sz="1600" spc="-50" dirty="0" err="1"/>
              <a:t>초동안</a:t>
            </a:r>
            <a:r>
              <a:rPr lang="ko-KR" altLang="en-US" sz="1600" spc="-50" dirty="0"/>
              <a:t> 쓰면 </a:t>
            </a:r>
            <a:r>
              <a:rPr lang="en-US" altLang="ko-KR" sz="1600" spc="-50" dirty="0"/>
              <a:t>100W</a:t>
            </a:r>
            <a:r>
              <a:rPr lang="ko-KR" altLang="en-US" sz="1600" spc="-50" dirty="0"/>
              <a:t>의 물을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(3,600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180,000 </a:t>
            </a:r>
          </a:p>
        </p:txBody>
      </p:sp>
    </p:spTree>
    <p:extLst>
      <p:ext uri="{BB962C8B-B14F-4D97-AF65-F5344CB8AC3E}">
        <p14:creationId xmlns:p14="http://schemas.microsoft.com/office/powerpoint/2010/main" val="2650108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9583</TotalTime>
  <Words>3360</Words>
  <Application>Microsoft Office PowerPoint</Application>
  <PresentationFormat>와이드스크린</PresentationFormat>
  <Paragraphs>362</Paragraphs>
  <Slides>28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4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1  에너지 개론</vt:lpstr>
      <vt:lpstr>Section 1. 서 론</vt:lpstr>
      <vt:lpstr>서론</vt:lpstr>
      <vt:lpstr>Energy 어원</vt:lpstr>
      <vt:lpstr>에너지의 여러가지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보조배터리 충전·방전 속도</vt:lpstr>
      <vt:lpstr>에너지 단위 변환 (미니 선풍기)</vt:lpstr>
      <vt:lpstr>에너지 단위 변환</vt:lpstr>
      <vt:lpstr>에너지 단위 변환</vt:lpstr>
      <vt:lpstr>에너지 단위 변환</vt:lpstr>
      <vt:lpstr>에너지 단위 변환 (보조배터리)</vt:lpstr>
      <vt:lpstr>에너지 단위 변환 (보조배터리)</vt:lpstr>
      <vt:lpstr>내 보조배터리는 얼마나 쓸 수 있는거야? </vt:lpstr>
      <vt:lpstr>생활 속의 에너지</vt:lpstr>
      <vt:lpstr>에너지 분류</vt:lpstr>
      <vt:lpstr>Thank you</vt:lpstr>
      <vt:lpstr>에너지 단위 변환 (선풍기)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330</cp:revision>
  <dcterms:created xsi:type="dcterms:W3CDTF">2025-07-05T05:15:23Z</dcterms:created>
  <dcterms:modified xsi:type="dcterms:W3CDTF">2026-07-01T04:12:55Z</dcterms:modified>
</cp:coreProperties>
</file>