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1"/>
  </p:notesMasterIdLst>
  <p:sldIdLst>
    <p:sldId id="375" r:id="rId2"/>
    <p:sldId id="405" r:id="rId3"/>
    <p:sldId id="550" r:id="rId4"/>
    <p:sldId id="376" r:id="rId5"/>
    <p:sldId id="553" r:id="rId6"/>
    <p:sldId id="555" r:id="rId7"/>
    <p:sldId id="557" r:id="rId8"/>
    <p:sldId id="558" r:id="rId9"/>
    <p:sldId id="632" r:id="rId10"/>
    <p:sldId id="631" r:id="rId11"/>
    <p:sldId id="559" r:id="rId12"/>
    <p:sldId id="633" r:id="rId13"/>
    <p:sldId id="638" r:id="rId14"/>
    <p:sldId id="639" r:id="rId15"/>
    <p:sldId id="642" r:id="rId16"/>
    <p:sldId id="643" r:id="rId17"/>
    <p:sldId id="644" r:id="rId18"/>
    <p:sldId id="646" r:id="rId19"/>
    <p:sldId id="645" r:id="rId20"/>
    <p:sldId id="648" r:id="rId21"/>
    <p:sldId id="554" r:id="rId22"/>
    <p:sldId id="649" r:id="rId23"/>
    <p:sldId id="364" r:id="rId24"/>
    <p:sldId id="634" r:id="rId25"/>
    <p:sldId id="637" r:id="rId26"/>
    <p:sldId id="647" r:id="rId27"/>
    <p:sldId id="636" r:id="rId28"/>
    <p:sldId id="560" r:id="rId29"/>
    <p:sldId id="640" r:id="rId3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79" d="100"/>
          <a:sy n="79" d="100"/>
        </p:scale>
        <p:origin x="114" y="149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566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에너지 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지구가 어떻게 돌아가는지</a:t>
            </a:r>
            <a:r>
              <a:rPr lang="en-US" altLang="ko-KR" sz="1600" spc="-50" dirty="0"/>
              <a:t>?? (</a:t>
            </a:r>
            <a:r>
              <a:rPr lang="ko-KR" altLang="en-US" sz="1600" spc="-50" dirty="0"/>
              <a:t>우주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순환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 등등</a:t>
            </a:r>
            <a:r>
              <a:rPr lang="en-US" altLang="ko-KR" sz="1600" spc="-50"/>
              <a:t>?)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 구분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시스템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에너지란 무엇인가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일상생활에서 쓰는 에너지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59493-3237-2060-E05C-530AD0749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C7A22-C443-A102-E0E1-84852DA4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Energy </a:t>
            </a:r>
            <a:r>
              <a:rPr lang="ko-KR" altLang="en-US" dirty="0"/>
              <a:t>어원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28BB4-220F-FFBE-B592-D8DC1F4E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3383-2897-A54A-2C79-6228A995A1E3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= </a:t>
            </a:r>
            <a:r>
              <a:rPr lang="en-US" altLang="ko-KR" sz="1600" spc="-50" dirty="0" err="1"/>
              <a:t>en</a:t>
            </a:r>
            <a:r>
              <a:rPr lang="en-US" altLang="ko-KR" sz="1600" spc="-50" dirty="0"/>
              <a:t> +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  : </a:t>
            </a:r>
            <a:r>
              <a:rPr lang="ko-KR" altLang="en-US" sz="1600" spc="-50" dirty="0"/>
              <a:t>고대 그리스어로 풀어보면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en</a:t>
            </a:r>
            <a:r>
              <a:rPr lang="en-US" altLang="ko-KR" sz="1600" spc="-50" dirty="0"/>
              <a:t> = -</a:t>
            </a:r>
            <a:r>
              <a:rPr lang="ko-KR" altLang="en-US" sz="1600" spc="-50" dirty="0"/>
              <a:t>안에</a:t>
            </a:r>
            <a:r>
              <a:rPr lang="en-US" altLang="ko-KR" sz="1600" spc="-50" dirty="0"/>
              <a:t>, -</a:t>
            </a:r>
            <a:r>
              <a:rPr lang="ko-KR" altLang="en-US" sz="1600" spc="-50" dirty="0"/>
              <a:t>내부에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현대 영어로 넘어오면서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안에 넣다</a:t>
            </a:r>
            <a:r>
              <a:rPr lang="en-US" altLang="ko-KR" sz="1600" spc="-50" dirty="0"/>
              <a:t>‘ → ‘~</a:t>
            </a:r>
            <a:r>
              <a:rPr lang="ko-KR" altLang="en-US" sz="1600" spc="-50" dirty="0"/>
              <a:t>하게 만들다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 라는 식으로 의미 변화가 일어났다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able: </a:t>
            </a:r>
            <a:r>
              <a:rPr lang="ko-KR" altLang="en-US" sz="1600" spc="-50" dirty="0"/>
              <a:t>가능하게 하다</a:t>
            </a:r>
            <a:r>
              <a:rPr lang="en-US" altLang="ko-KR" sz="1600" spc="-50" dirty="0"/>
              <a:t>, 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rich:</a:t>
            </a:r>
            <a:r>
              <a:rPr lang="ko-KR" altLang="en-US" sz="1600" spc="-50" dirty="0"/>
              <a:t> 풍요롭게 하다</a:t>
            </a:r>
            <a:r>
              <a:rPr lang="en-US" altLang="ko-KR" sz="1600" spc="-50" dirty="0"/>
              <a:t>,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courage: </a:t>
            </a:r>
            <a:r>
              <a:rPr lang="ko-KR" altLang="en-US" sz="1600" spc="-50" dirty="0"/>
              <a:t>용기를 북돋다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= </a:t>
            </a:r>
            <a:r>
              <a:rPr lang="ko-KR" altLang="en-US" sz="1600" spc="-50" dirty="0"/>
              <a:t>일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ergon</a:t>
            </a:r>
            <a:r>
              <a:rPr lang="ko-KR" altLang="en-US" sz="1600" spc="-50" dirty="0"/>
              <a:t>은 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을 뜻하는 그리스어 단어</a:t>
            </a:r>
            <a:r>
              <a:rPr lang="en-US" altLang="ko-KR" sz="1600" spc="-50" dirty="0"/>
              <a:t>. ergon</a:t>
            </a:r>
            <a:r>
              <a:rPr lang="ko-KR" altLang="en-US" sz="1600" spc="-50" dirty="0"/>
              <a:t>의 파생형이</a:t>
            </a:r>
            <a:r>
              <a:rPr lang="en-US" altLang="ko-KR" sz="1600" spc="-50" dirty="0"/>
              <a:t>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erg</a:t>
            </a:r>
            <a:r>
              <a:rPr lang="en-US" altLang="ko-KR" sz="1600" spc="-50" dirty="0"/>
              <a:t>onomics: </a:t>
            </a:r>
            <a:r>
              <a:rPr lang="ko-KR" altLang="en-US" sz="1600" spc="-50" dirty="0"/>
              <a:t>인체공학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일을 효율적으로 하는 법칙</a:t>
            </a:r>
            <a:r>
              <a:rPr lang="en-US" altLang="ko-KR" sz="1600" spc="-50" dirty="0"/>
              <a:t>))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energy</a:t>
            </a:r>
            <a:r>
              <a:rPr lang="ko-KR" altLang="en-US" sz="1600" spc="-50" dirty="0"/>
              <a:t>는 원래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이 안에 있는 상태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이것이 오늘날 </a:t>
            </a:r>
            <a:r>
              <a:rPr lang="en-US" altLang="ko-KR" sz="1600" b="1" spc="-50" dirty="0"/>
              <a:t>‘</a:t>
            </a:r>
            <a:r>
              <a:rPr lang="ko-KR" altLang="en-US" sz="1600" b="1" spc="-50" dirty="0"/>
              <a:t>일을 할 수 있는 능력</a:t>
            </a:r>
            <a:r>
              <a:rPr lang="en-US" altLang="ko-KR" sz="1600" b="1" spc="-50" dirty="0"/>
              <a:t>’</a:t>
            </a:r>
            <a:r>
              <a:rPr lang="ko-KR" altLang="en-US" sz="1600" spc="-50" dirty="0"/>
              <a:t> 이라는 의미로 발전하였다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E6184C-191A-AA52-FF3B-32CFB93EF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2284" y="3067663"/>
            <a:ext cx="2968222" cy="11073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BA0A74-7ED3-F1FC-795A-ED8D9FCD9AB5}"/>
              </a:ext>
            </a:extLst>
          </p:cNvPr>
          <p:cNvSpPr txBox="1"/>
          <p:nvPr/>
        </p:nvSpPr>
        <p:spPr>
          <a:xfrm>
            <a:off x="9070142" y="2806053"/>
            <a:ext cx="23125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&lt;</a:t>
            </a:r>
            <a:r>
              <a:rPr lang="ko-KR" altLang="en-US" sz="1100" spc="-50" dirty="0"/>
              <a:t>인체공학 키보드의 모델명</a:t>
            </a:r>
            <a:r>
              <a:rPr lang="en-US" altLang="ko-KR" sz="1100" spc="-50" dirty="0"/>
              <a:t>:</a:t>
            </a:r>
            <a:r>
              <a:rPr lang="ko-KR" altLang="en-US" sz="1100" spc="-50" dirty="0"/>
              <a:t> </a:t>
            </a:r>
            <a:r>
              <a:rPr lang="en-US" altLang="ko-KR" sz="1100" spc="-50" dirty="0"/>
              <a:t>ergo&gt;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59932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71EBB-D2D8-9617-09A3-D11B6FF7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2F78D-FB98-8132-782C-C73E86EAE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여러가지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8B8E7D-C741-21A2-7291-9DF4D2462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EDD64-57EE-174F-25CE-330DED40693E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직접 눈에 보이지는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일상 생활을 하다 보면 여러가지 형태의 에너지를 감지할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빛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햇빛이나 조명</a:t>
            </a:r>
            <a:r>
              <a:rPr lang="en-US" altLang="ko-KR" sz="1600" spc="-50" dirty="0"/>
              <a:t>(LED, </a:t>
            </a:r>
            <a:r>
              <a:rPr lang="ko-KR" altLang="en-US" sz="1600" spc="-50" dirty="0"/>
              <a:t>백열등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빛은 주변을 밝게 비추고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빛이 우리 눈에 들어와 사물을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소리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사람 목소리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스피커 등에서 발생하는 소리는 공기의 진동이 우리 귀에 전달된다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열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따뜻한 커피가 담긴 컵을 만지면 열이 전달되면서 손이 따뜻하게 느껴진다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운동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달리는 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흐르는 강물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움직이는 모든 물체는 운동 에너지를 갖는다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충전된 핸드폰으로 여러가지 일을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냉장고에 자석을 가까이 대면 저절로 움직여서 붙는다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위치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높은 곳에 있는 물체는 아래로 떨어지기 마련이다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등에는 화학 결합 속에 에너지가 저장되어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핵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원자핵 내부에는 막대한 에너지가 저장되어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원자력발전을 통해 이용할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222211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3140-3073-FAD2-0D3D-7546D5E99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26CD74-A62C-1AA6-BED3-B2CCB7F5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다양한 에너지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A9CD73-B454-8B86-0FC5-CC8697C9D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0CC514-5395-6E71-C8E4-133A03D1771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다양한 에너지 형태를 상황에 맞게 편리한 형태로 바꾸어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에너지 변환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가면서 생활한다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헤어드라이기는</a:t>
            </a:r>
            <a:r>
              <a:rPr lang="ko-KR" altLang="en-US" sz="1600" spc="-50" dirty="0"/>
              <a:t> 전기를 열 에너지와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 뜨거운 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나온다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 몸은 화학에너지를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음식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먹으면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걷고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뛰고 </a:t>
            </a:r>
            <a:r>
              <a:rPr lang="ko-KR" altLang="en-US" sz="1600" spc="-50" dirty="0" err="1"/>
              <a:t>움직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선풍기는 전기에너지를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바람이 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풍력발전은 운동에너지를 전기에너지로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불면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 전기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생성된다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자동차는 화학에너지를 열에너지로 바꾸고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열에너지는 다시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휘발유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연소시켜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고온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고압의 가스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열에너지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피스톤을 움직여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바퀴가 돌아간다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운동에너지</a:t>
            </a:r>
            <a:r>
              <a:rPr lang="en-US" altLang="ko-KR" sz="1600" spc="-5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17943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4B9DF-0E27-4FE3-8CA6-663D5F89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81199-1994-9321-1DE5-4A2347B7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0A506-1B5D-1AF9-3782-5B291087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FC863E-D264-ABEC-C0AC-5A8C80DED4F6}"/>
              </a:ext>
            </a:extLst>
          </p:cNvPr>
          <p:cNvSpPr txBox="1"/>
          <p:nvPr/>
        </p:nvSpPr>
        <p:spPr>
          <a:xfrm>
            <a:off x="288790" y="958844"/>
            <a:ext cx="1122293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단위는 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물리학적으로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줄이란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뉴턴</a:t>
            </a:r>
            <a:r>
              <a:rPr lang="en-US" altLang="ko-KR" sz="1600" spc="-50" dirty="0"/>
              <a:t>(N, Newton)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미터 </a:t>
            </a:r>
            <a:r>
              <a:rPr lang="en-US" altLang="ko-KR" sz="1600" spc="-50" dirty="0"/>
              <a:t>(m, meter) </a:t>
            </a:r>
            <a:r>
              <a:rPr lang="ko-KR" altLang="en-US" sz="1600" spc="-50" dirty="0"/>
              <a:t>이동시키는데 필요한 에너지로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뉴턴이란 질량 </a:t>
            </a:r>
            <a:r>
              <a:rPr lang="en-US" altLang="ko-KR" sz="1600" spc="-50" dirty="0"/>
              <a:t>1kg</a:t>
            </a:r>
            <a:r>
              <a:rPr lang="ko-KR" altLang="en-US" sz="1600" spc="-50" dirty="0"/>
              <a:t>인 물체를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</a:t>
            </a:r>
            <a:r>
              <a:rPr lang="ko-KR" altLang="en-US" sz="1600" spc="-50" dirty="0"/>
              <a:t>의 가속도로 움직이게 하는 힘 으로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1kg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물체에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힘을 가하면 그 물체는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 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가속도를 갖는다는 말로 이해해도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1m </a:t>
            </a:r>
            <a:r>
              <a:rPr lang="ko-KR" altLang="en-US" sz="1600" spc="-50" dirty="0"/>
              <a:t>이동시키면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사용된 에너지는 </a:t>
            </a:r>
            <a:r>
              <a:rPr lang="en-US" altLang="ko-KR" sz="1600" spc="-50" dirty="0"/>
              <a:t>1J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1N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의 물체를 손으로 들고 있을 때 필요한 힘과 비슷하다</a:t>
            </a:r>
            <a:r>
              <a:rPr lang="en-US" altLang="ko-KR" sz="1600" spc="-50" dirty="0"/>
              <a:t>..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달걀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</a:t>
            </a:r>
            <a:r>
              <a:rPr lang="en-US" altLang="ko-KR" sz="1600" spc="-50" dirty="0"/>
              <a:t>   </a:t>
            </a:r>
            <a:r>
              <a:rPr lang="ko-KR" altLang="en-US" sz="1600" spc="-50" dirty="0"/>
              <a:t>혹은  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물이 </a:t>
            </a:r>
            <a:r>
              <a:rPr lang="ko-KR" altLang="en-US" sz="1600" spc="-50" dirty="0" err="1"/>
              <a:t>반쯤</a:t>
            </a:r>
            <a:r>
              <a:rPr lang="ko-KR" altLang="en-US" sz="1600" spc="-50" dirty="0"/>
              <a:t> 담긴 종이컵   정도가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내가 달걀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개를 들고 있을 때 손에 주고 있는 힘이 약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이라고 생각하면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6464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FA1B6-E47A-D862-B031-D34E3D08D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F8651-5FC5-5703-3451-0D53AEC0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E82B3-8268-AAE8-34C5-6EA6C6D7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C8F547-D35E-D5EC-2E7E-29A19E15EA4C}"/>
              </a:ext>
            </a:extLst>
          </p:cNvPr>
          <p:cNvSpPr txBox="1"/>
          <p:nvPr/>
        </p:nvSpPr>
        <p:spPr>
          <a:xfrm>
            <a:off x="288790" y="958844"/>
            <a:ext cx="11222932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모든 에너지 형태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빛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운동 </a:t>
            </a:r>
            <a:r>
              <a:rPr lang="en-US" altLang="ko-KR" sz="1600" spc="-50" dirty="0"/>
              <a:t>··· </a:t>
            </a:r>
            <a:r>
              <a:rPr lang="ko-KR" altLang="en-US" sz="1600" spc="-50" dirty="0"/>
              <a:t>등등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에 대해 그 에너지의 양은 모두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측정이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우리가 생활하면서 보는 에너지 대부분의 단위는 </a:t>
            </a:r>
            <a:r>
              <a:rPr lang="en-US" altLang="ko-KR" sz="1600" spc="-50" dirty="0"/>
              <a:t>kcal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다음 슬라이드부터 에너지의 단위 변환에 대해 알아보자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328AF8-A4BE-AA60-0ED1-7AF2A271E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144" y="2749634"/>
            <a:ext cx="2072588" cy="25157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512B3A1-5734-C2EE-0F96-5F5D8386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02" y="2696634"/>
            <a:ext cx="2653659" cy="25687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5322CA7-4791-1675-D425-2B68AD88AC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497" y="2892413"/>
            <a:ext cx="1536740" cy="44181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D940511-665C-7270-4810-17D2F4CD430B}"/>
              </a:ext>
            </a:extLst>
          </p:cNvPr>
          <p:cNvSpPr txBox="1"/>
          <p:nvPr/>
        </p:nvSpPr>
        <p:spPr>
          <a:xfrm>
            <a:off x="7660218" y="3060660"/>
            <a:ext cx="211878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4400" spc="-50"/>
              <a:t>우리집 전기요금표</a:t>
            </a:r>
            <a:endParaRPr lang="ko-KR" altLang="en-US" sz="4400" dirty="0"/>
          </a:p>
        </p:txBody>
      </p:sp>
    </p:spTree>
    <p:extLst>
      <p:ext uri="{BB962C8B-B14F-4D97-AF65-F5344CB8AC3E}">
        <p14:creationId xmlns:p14="http://schemas.microsoft.com/office/powerpoint/2010/main" val="797173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3222F-C683-AD65-D283-AE30AFDA8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참고자료</a:t>
            </a:r>
            <a:r>
              <a:rPr lang="en-US" altLang="ko-KR" dirty="0"/>
              <a:t>) SI </a:t>
            </a:r>
            <a:r>
              <a:rPr lang="ko-KR" altLang="en-US" dirty="0"/>
              <a:t>접두어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8583F4-A729-47CF-A318-D08799C0E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FA2FB6-C5ED-9F02-34BB-9636C91CEC3B}"/>
              </a:ext>
            </a:extLst>
          </p:cNvPr>
          <p:cNvSpPr txBox="1"/>
          <p:nvPr/>
        </p:nvSpPr>
        <p:spPr>
          <a:xfrm>
            <a:off x="288790" y="958844"/>
            <a:ext cx="1122921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평소에 들어본 킬로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메가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기가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이런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뭘까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기가와 같은 단위를 </a:t>
            </a: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접두어라고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너무 큰 숫자를 표기할 때</a:t>
            </a:r>
            <a:r>
              <a:rPr lang="en-US" altLang="ko-KR" sz="1600" spc="-50" dirty="0"/>
              <a:t>, 0</a:t>
            </a:r>
            <a:r>
              <a:rPr lang="ko-KR" altLang="en-US" sz="1600" spc="-50" dirty="0"/>
              <a:t>을 보기 힘들게 많이 표시하지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활용하자는 약속이다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파일의 크기는 눈에 쉽게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읽기도 편하다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예시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파일의 크기는 바로 눈에 쉽게 안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 불편하다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불편함을 없애고자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배씩 단위를 만들어 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활용해서 두번째 파일을 읽어보면 </a:t>
            </a:r>
            <a:r>
              <a:rPr lang="en-US" altLang="ko-KR" sz="1600" spc="-50" dirty="0"/>
              <a:t>107.9</a:t>
            </a:r>
            <a:r>
              <a:rPr lang="ko-KR" altLang="en-US" sz="1600" spc="-50" dirty="0"/>
              <a:t>메가바이트 혹은 </a:t>
            </a:r>
            <a:r>
              <a:rPr lang="en-US" altLang="ko-KR" sz="1600" spc="-50" dirty="0"/>
              <a:t>1.079 </a:t>
            </a:r>
            <a:r>
              <a:rPr lang="ko-KR" altLang="en-US" sz="1600" spc="-50" dirty="0"/>
              <a:t>기가바이트 라고 읽을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한밭대에서 부산역까지 거리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고속도로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275km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en-US" altLang="ko-KR" sz="1600" spc="-50" dirty="0"/>
              <a:t>0.284Mm (</a:t>
            </a:r>
            <a:r>
              <a:rPr lang="ko-KR" altLang="en-US" sz="1600" spc="-50" dirty="0" err="1"/>
              <a:t>메가미터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표현할 수도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 몸무게를 </a:t>
            </a:r>
            <a:r>
              <a:rPr lang="en-US" altLang="ko-KR" sz="1600" spc="-50" dirty="0"/>
              <a:t>70,000g </a:t>
            </a:r>
            <a:r>
              <a:rPr lang="ko-KR" altLang="en-US" sz="1600" spc="-50" dirty="0"/>
              <a:t>이라고 이야기할 수도 있고</a:t>
            </a:r>
            <a:r>
              <a:rPr lang="en-US" altLang="ko-KR" sz="1600" spc="-50" dirty="0"/>
              <a:t>, 70kg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0.07Mg </a:t>
            </a:r>
            <a:r>
              <a:rPr lang="ko-KR" altLang="en-US" sz="1600" spc="-50" dirty="0"/>
              <a:t>이라고 표현할 수도 있다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 </a:t>
            </a:r>
            <a:r>
              <a:rPr lang="ko-KR" altLang="en-US" sz="1600" spc="-50" dirty="0"/>
              <a:t>이런 식으로 읽어도 틀린 말은 아니지만 보통 일상생활에서는 상대방이 알아듣기 쉽게 적절한 단위를 쓰며 생활하자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39E972-0D3D-2DAA-CAEB-C7C3ABFCC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852" y="2368348"/>
            <a:ext cx="4339358" cy="7695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17D570E-DFCE-B125-7566-3F3CB9847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8538922"/>
              </p:ext>
            </p:extLst>
          </p:nvPr>
        </p:nvGraphicFramePr>
        <p:xfrm>
          <a:off x="917945" y="3264003"/>
          <a:ext cx="6156757" cy="173329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9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 거듭제곱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십진법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밀리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킬로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352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메가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5653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595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922772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···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계속해서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배씩 나가며 현재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퀘타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quetta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Q)</a:t>
                      </a:r>
                      <a:r>
                        <a:rPr lang="ko-KR" altLang="en-US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까지 정의되어 있음</a:t>
                      </a:r>
                      <a:endParaRPr lang="en-US" altLang="ko-KR" sz="1300" b="0" kern="0" spc="0" baseline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11468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F624-26E9-2E60-F460-597C1B6D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A0CB6-A471-A379-E6F2-9D851173A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콜라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18857-BE01-254C-4058-2D3ACC42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27916E-1F92-C0E3-A9D4-F760E4E298A6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이라는 단위보다 음식 포장지에 적힌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, calorie)</a:t>
            </a:r>
            <a:r>
              <a:rPr lang="ko-KR" altLang="en-US" sz="1600" spc="-50" dirty="0"/>
              <a:t> 라고 하는 단위가 더 익숙하다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inch, </a:t>
            </a:r>
            <a:r>
              <a:rPr lang="ko-KR" altLang="en-US" sz="1600" spc="-50" dirty="0"/>
              <a:t>온도를 섭씨와 화씨로 다양하게 표현하는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줄과 칼로리 모두 에너지양을 측정하는 단위로서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크기로 에너지 양을 나타내는 것일 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        </a:t>
            </a:r>
            <a:r>
              <a:rPr lang="ko-KR" altLang="en-US" sz="1600" spc="-50" dirty="0"/>
              <a:t>이 직선의 길이는 </a:t>
            </a:r>
            <a:r>
              <a:rPr lang="en-US" altLang="ko-KR" sz="1600" spc="-50" dirty="0"/>
              <a:t>1cm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0.39inch,</a:t>
            </a:r>
            <a:r>
              <a:rPr lang="ko-KR" altLang="en-US" sz="1600" spc="-50" dirty="0"/>
              <a:t> 혹은 </a:t>
            </a:r>
            <a:r>
              <a:rPr lang="en-US" altLang="ko-KR" sz="1600" spc="-50" dirty="0"/>
              <a:t>0.0000062mile,</a:t>
            </a:r>
            <a:r>
              <a:rPr lang="ko-KR" altLang="en-US" sz="1600" spc="-50" dirty="0"/>
              <a:t>  어떤 단위로 표현해도 무방하다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온도를 나타내는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℃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섭씨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℉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화씨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에너지도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마찬가지로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0.239cal</a:t>
            </a:r>
            <a:r>
              <a:rPr lang="en-US" altLang="ko-KR" sz="1600" spc="-50" dirty="0"/>
              <a:t> 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A3B9CB-390C-1C34-AC08-A1178D3F1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4598" y="3184939"/>
            <a:ext cx="852132" cy="18814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25D3A79-264D-03C4-1562-ADA8A051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757" y="5159269"/>
            <a:ext cx="2469815" cy="1188612"/>
          </a:xfrm>
          <a:prstGeom prst="rect">
            <a:avLst/>
          </a:prstGeom>
        </p:spPr>
      </p:pic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AD9EF54-5960-AC20-47F3-09BEC3CC5499}"/>
              </a:ext>
            </a:extLst>
          </p:cNvPr>
          <p:cNvCxnSpPr>
            <a:cxnSpLocks/>
          </p:cNvCxnSpPr>
          <p:nvPr/>
        </p:nvCxnSpPr>
        <p:spPr>
          <a:xfrm>
            <a:off x="1760883" y="2302566"/>
            <a:ext cx="3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2EAA17-942A-9156-DDC8-3B111DC76A9F}"/>
              </a:ext>
            </a:extLst>
          </p:cNvPr>
          <p:cNvSpPr txBox="1"/>
          <p:nvPr/>
        </p:nvSpPr>
        <p:spPr>
          <a:xfrm>
            <a:off x="288790" y="3227901"/>
            <a:ext cx="862237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오른쪽에 보이는 </a:t>
            </a:r>
            <a:r>
              <a:rPr lang="en-US" altLang="ko-KR" sz="1600" spc="-50" dirty="0"/>
              <a:t>250</a:t>
            </a:r>
            <a:r>
              <a:rPr lang="ko-KR" altLang="en-US" sz="1600" spc="-50" dirty="0"/>
              <a:t>밀리리터</a:t>
            </a:r>
            <a:r>
              <a:rPr lang="en-US" altLang="ko-KR" sz="1600" spc="-50" dirty="0"/>
              <a:t>(ml, milliliter)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캔콜라는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108kcal (108,000cal)</a:t>
            </a:r>
            <a:r>
              <a:rPr lang="ko-KR" altLang="en-US" sz="1600" spc="-50" dirty="0"/>
              <a:t> 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콜라가 갖고 있는 에너지 형태는 화학에너지이다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단위로 환산하면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451,882 J (=108,000(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 / 0.239(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/J))</a:t>
            </a:r>
            <a:r>
              <a:rPr lang="ko-KR" altLang="en-US" sz="1600" spc="-50" dirty="0"/>
              <a:t>의 에너지를 갖고 있는 것과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활용하면 </a:t>
            </a:r>
            <a:r>
              <a:rPr lang="en-US" altLang="ko-KR" sz="1600" spc="-50" dirty="0"/>
              <a:t>451.882 kJ(</a:t>
            </a:r>
            <a:r>
              <a:rPr lang="ko-KR" altLang="en-US" sz="1600" spc="-50" dirty="0"/>
              <a:t>킬로 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0.451882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콜라</a:t>
            </a:r>
            <a:r>
              <a:rPr lang="en-US" altLang="ko-KR" sz="1600" spc="-50" dirty="0"/>
              <a:t>(250ml)</a:t>
            </a:r>
            <a:r>
              <a:rPr lang="ko-KR" altLang="en-US" sz="1600" spc="-50" dirty="0"/>
              <a:t>가 갖고 있는 에너지는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대략 </a:t>
            </a:r>
            <a:r>
              <a:rPr lang="en-US" altLang="ko-KR" sz="1600" spc="-50" dirty="0"/>
              <a:t>452km </a:t>
            </a:r>
            <a:r>
              <a:rPr lang="ko-KR" altLang="en-US" sz="1600" spc="-50" dirty="0"/>
              <a:t>이동시키는 일의 양과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콜라 한 캔을 마셨을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이만큼의 일을 해야 칼로리를 소비한다는 것을 의미하지는 않는다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사람은 마셨을 때 다른 곳에도 에너지를 쓰기 때문이다</a:t>
            </a:r>
            <a:r>
              <a:rPr lang="en-US" altLang="ko-KR" sz="1600" spc="-50" dirty="0"/>
              <a:t>.)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A877138-F0BE-AC84-B15C-B9CB5C912DBF}"/>
              </a:ext>
            </a:extLst>
          </p:cNvPr>
          <p:cNvSpPr/>
          <p:nvPr/>
        </p:nvSpPr>
        <p:spPr>
          <a:xfrm>
            <a:off x="10736730" y="5108291"/>
            <a:ext cx="914400" cy="441609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32962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278DC-6714-7BB2-0471-849C495A2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E18469E-3BC0-DC94-9C18-544784CA3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6939" y="4550500"/>
            <a:ext cx="1939522" cy="143015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9215071-B201-A020-08FE-ECAEDEADB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0024" y="2039522"/>
            <a:ext cx="1457814" cy="247785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89F4D8B-574D-DBF8-C357-01A0B42C3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0334F-D152-904A-0252-8BB01DB83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80531F-D7E7-05C0-02E3-D4012B3C5F43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0.000278 </a:t>
            </a:r>
            <a:r>
              <a:rPr lang="en-US" altLang="ko-KR" sz="1600" b="1" spc="-50" dirty="0" err="1"/>
              <a:t>Wh</a:t>
            </a:r>
            <a:r>
              <a:rPr lang="en-US" altLang="ko-KR" sz="1600" b="1" spc="-50" dirty="0"/>
              <a:t> = 0.000000278 kWh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전기는 시간 개념이 필요한 에너지 형태이다</a:t>
            </a:r>
            <a:r>
              <a:rPr lang="en-US" altLang="ko-KR" sz="1600" spc="-50" dirty="0"/>
              <a:t>.)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으로 표현한다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45BDD1-6E47-5CD6-B17B-DAF45C1E9EBC}"/>
              </a:ext>
            </a:extLst>
          </p:cNvPr>
          <p:cNvSpPr txBox="1"/>
          <p:nvPr/>
        </p:nvSpPr>
        <p:spPr>
          <a:xfrm>
            <a:off x="288790" y="3023578"/>
            <a:ext cx="89504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오른쪽의 선풍기는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초당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의 전기에너지를 소비한다는 의미이다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</a:t>
            </a:r>
            <a:r>
              <a:rPr lang="en-US" altLang="ko-KR" sz="1600" spc="-50" dirty="0"/>
              <a:t>50Wh</a:t>
            </a:r>
            <a:r>
              <a:rPr lang="ko-KR" altLang="en-US" sz="1600" spc="-50" dirty="0"/>
              <a:t>사용하게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180,000J (50J/s x 60s x 60m(minutes))</a:t>
            </a:r>
            <a:r>
              <a:rPr lang="ko-KR" altLang="en-US" sz="1600" spc="-50" dirty="0"/>
              <a:t>을 사용하는 것 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변환계수를 사용해도 비슷한 결과를 얻는다</a:t>
            </a:r>
            <a:r>
              <a:rPr lang="en-US" altLang="ko-KR" sz="1600" spc="-50" dirty="0"/>
              <a:t>. 50Wh / 0.000278(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/J) = 179,856J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50Wh</a:t>
            </a:r>
            <a:r>
              <a:rPr lang="ko-KR" altLang="en-US" sz="1600" spc="-50" dirty="0"/>
              <a:t>를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변환하면 대략 </a:t>
            </a:r>
            <a:r>
              <a:rPr lang="en-US" altLang="ko-KR" sz="1600" spc="-50" dirty="0"/>
              <a:t>42,985cal (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42.985kcal)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50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÷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 x 0.239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   = 42,985 </a:t>
            </a:r>
            <a:r>
              <a:rPr lang="en-US" altLang="ko-KR" sz="1600" spc="-50" dirty="0" err="1"/>
              <a:t>cal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50Wh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180,000J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42,985cal </a:t>
            </a:r>
            <a:r>
              <a:rPr lang="ko-KR" altLang="en-US" sz="1600" spc="-50" dirty="0"/>
              <a:t>의 에너지를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3020A-7A71-A263-9174-CBCB48AAE402}"/>
              </a:ext>
            </a:extLst>
          </p:cNvPr>
          <p:cNvSpPr txBox="1"/>
          <p:nvPr/>
        </p:nvSpPr>
        <p:spPr>
          <a:xfrm>
            <a:off x="9589330" y="6046893"/>
            <a:ext cx="201660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https://www.coupang.com/vp/products/7212367661?itemId=18255669809&amp;vendorItemId=85402293544&amp;q=%EC%84%A0%ED%92%8D%EA%B8%B0&amp;searchId=c317d35b66775999&amp;sourceType=search&amp;itemsCount=60&amp;searchRank=3&amp;rank=3&amp;traceId=mqyu4fmz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8A38336-32B5-6A06-75A0-BD992DC1FEF6}"/>
              </a:ext>
            </a:extLst>
          </p:cNvPr>
          <p:cNvSpPr/>
          <p:nvPr/>
        </p:nvSpPr>
        <p:spPr>
          <a:xfrm>
            <a:off x="9878207" y="5202104"/>
            <a:ext cx="962071" cy="171116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361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A7523F-9CDF-8874-D177-634F152F8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어떤 보조배터리를 </a:t>
            </a:r>
            <a:r>
              <a:rPr lang="ko-KR" altLang="en-US" dirty="0" err="1"/>
              <a:t>사야할까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EE485-568C-823A-D054-38BD81EE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CF47C11-023E-622F-D686-A0A4087CB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790" y="3217117"/>
            <a:ext cx="2369256" cy="326458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10650B6-AD51-46A4-D530-6AB05A4D6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766" y="3041018"/>
            <a:ext cx="2197424" cy="34344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40ABC0-0FCD-D3FF-88FE-0819BC3C4F03}"/>
              </a:ext>
            </a:extLst>
          </p:cNvPr>
          <p:cNvSpPr txBox="1"/>
          <p:nvPr/>
        </p:nvSpPr>
        <p:spPr>
          <a:xfrm>
            <a:off x="736093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&lt;13,900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EFEAB4C-033A-F8F8-E5D6-089478B0A0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1549" y="1007164"/>
            <a:ext cx="1687657" cy="146842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68336A6-C9D1-DFB1-A042-BB70B7C191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2666" y="669736"/>
            <a:ext cx="1766952" cy="18951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A3C92F1-0CB7-2337-3EDE-7792EE4DE7C4}"/>
              </a:ext>
            </a:extLst>
          </p:cNvPr>
          <p:cNvSpPr txBox="1"/>
          <p:nvPr/>
        </p:nvSpPr>
        <p:spPr>
          <a:xfrm>
            <a:off x="986559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&lt;34,800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D59318-C132-A923-0D9D-214C984ED2EB}"/>
              </a:ext>
            </a:extLst>
          </p:cNvPr>
          <p:cNvSpPr txBox="1"/>
          <p:nvPr/>
        </p:nvSpPr>
        <p:spPr>
          <a:xfrm>
            <a:off x="288790" y="958844"/>
            <a:ext cx="6584671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보조배터리를 구매할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고민을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보조배터리 자체가 얼마나 빨리 충전이 되는가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 err="1"/>
              <a:t>다른기기를</a:t>
            </a:r>
            <a:r>
              <a:rPr lang="ko-KR" altLang="en-US" sz="1600" spc="-50" dirty="0"/>
              <a:t> 충전하는 속도는 얼마나 </a:t>
            </a:r>
            <a:r>
              <a:rPr lang="ko-KR" altLang="en-US" sz="1600" spc="-50" dirty="0" err="1"/>
              <a:t>빠른가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방전용량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내 핸드폰 완충이 몇 번 가능한가</a:t>
            </a:r>
            <a:r>
              <a:rPr lang="en-US" altLang="ko-KR" sz="1600" spc="-5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간단한 공식으로 보조배터리의 스펙을 계산해볼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가 전기에너지를 소비하는 속도라고 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</a:t>
            </a:r>
            <a:r>
              <a:rPr lang="en-US" altLang="ko-KR" sz="1600" spc="-50" dirty="0"/>
              <a:t> W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 속도가 빠르다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Watt-hour</a:t>
            </a:r>
            <a:r>
              <a:rPr lang="ko-KR" altLang="en-US" sz="1600" spc="-50" dirty="0"/>
              <a:t>는 전기에너지의 양을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충전을 많이 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보조배터리 판매 사이트를 보면</a:t>
            </a:r>
            <a:r>
              <a:rPr lang="en-US" altLang="ko-KR" sz="1600" spc="-50" dirty="0"/>
              <a:t>, W</a:t>
            </a:r>
            <a:r>
              <a:rPr lang="ko-KR" altLang="en-US" sz="1600" spc="-50" dirty="0"/>
              <a:t>나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표기는 없고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V(Volt)</a:t>
            </a:r>
            <a:r>
              <a:rPr lang="ko-KR" altLang="en-US" sz="1600" spc="-50" dirty="0"/>
              <a:t>나 </a:t>
            </a:r>
            <a:r>
              <a:rPr lang="en-US" altLang="ko-KR" sz="1600" spc="-50" dirty="0"/>
              <a:t>Ah(Ampere-hour) </a:t>
            </a:r>
            <a:r>
              <a:rPr lang="ko-KR" altLang="en-US" sz="1600" spc="-50" dirty="0"/>
              <a:t>등의 단위를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쉽게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 변환 가능한 단위들이다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049251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596185-6ABA-322D-5F96-2D3DB1558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D2B37C-637D-C72B-A9E3-2BEC7ED95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3CB7EE-8E39-5F0B-31F6-4006B661CAEA}"/>
              </a:ext>
            </a:extLst>
          </p:cNvPr>
          <p:cNvSpPr txBox="1"/>
          <p:nvPr/>
        </p:nvSpPr>
        <p:spPr>
          <a:xfrm>
            <a:off x="271857" y="234930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(9V, 2A), (12V, 1.67A)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20W(=12Vx1.67A)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20W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20Wh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벽에 있는 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(5V,3A), (9V,2A), (12V,1.5A)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18W(=12Vx1.5A)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18Wh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0B261BE-A7EE-0BAE-101B-AE5EB76E0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6BB6FB2-EF18-EF8F-6945-8834057C3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FC47AA-6698-0CF3-424C-ECB89493BBE3}"/>
              </a:ext>
            </a:extLst>
          </p:cNvPr>
          <p:cNvSpPr/>
          <p:nvPr/>
        </p:nvSpPr>
        <p:spPr>
          <a:xfrm>
            <a:off x="8795617" y="1878626"/>
            <a:ext cx="2792354" cy="297308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B84FE1-770E-1F16-FCCD-163C0281FE55}"/>
              </a:ext>
            </a:extLst>
          </p:cNvPr>
          <p:cNvSpPr txBox="1"/>
          <p:nvPr/>
        </p:nvSpPr>
        <p:spPr>
          <a:xfrm>
            <a:off x="271858" y="926904"/>
            <a:ext cx="6018876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/>
              <a:t>W(Watt)</a:t>
            </a:r>
            <a:r>
              <a:rPr lang="ko-KR" altLang="en-US" sz="1600" spc="-50" dirty="0"/>
              <a:t>가 몇인지 표시가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우리는</a:t>
            </a:r>
            <a:r>
              <a:rPr lang="en-US" altLang="ko-KR" sz="1600" spc="-50" dirty="0"/>
              <a:t> 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8285411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23982-D55D-3D87-1A0C-4CB120FE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1E76E-9A61-3427-4CFF-168AF2863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D80DC3-DD08-733C-8F75-9AB332F4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9D1153-2A7F-3EDB-50E2-B6F75E42C979}"/>
              </a:ext>
            </a:extLst>
          </p:cNvPr>
          <p:cNvSpPr txBox="1"/>
          <p:nvPr/>
        </p:nvSpPr>
        <p:spPr>
          <a:xfrm>
            <a:off x="271857" y="2764169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3.25A)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65W(=20Vx3.25A)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65W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65Wh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2A)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40W(=20Vx2A)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40W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40Wh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A0EDB-E730-EBC8-EFF4-E00D8E3467E6}"/>
              </a:ext>
            </a:extLst>
          </p:cNvPr>
          <p:cNvSpPr txBox="1"/>
          <p:nvPr/>
        </p:nvSpPr>
        <p:spPr>
          <a:xfrm>
            <a:off x="271858" y="926904"/>
            <a:ext cx="6018876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6AAA127-4E46-963D-002E-22B88418F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06F74B-7402-0089-3342-AD060A824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F2971F8-C2FF-1203-D957-DCE12A4C7E1E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2BA030-B1B9-8834-B352-1CCB071D3C76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077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70AE5-33CC-1959-85A2-0D4B68D8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FFFE1-591D-9A87-815D-461AD5B8D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CF717A-CEEB-11CE-839D-96FF820D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A5EEE-B616-E8F3-4FE7-41A370F6F2C1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 배터리의 용량을 다시 계산해보면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일단 배터리용량 부문을 보면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18,500mA·V·hour = 18.5Wh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22.2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F258DE9-FADF-7F38-A360-95D287DC3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6CC622A-8D6D-21A9-E8D3-E5C8BA6D9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2FC20ADE-1C90-48AB-5097-E74671AEB527}"/>
              </a:ext>
            </a:extLst>
          </p:cNvPr>
          <p:cNvSpPr/>
          <p:nvPr/>
        </p:nvSpPr>
        <p:spPr>
          <a:xfrm>
            <a:off x="8795617" y="1693096"/>
            <a:ext cx="2792354" cy="201965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30FBA1-AE4F-DE66-DF7A-01B7AB5D6562}"/>
              </a:ext>
            </a:extLst>
          </p:cNvPr>
          <p:cNvSpPr txBox="1"/>
          <p:nvPr/>
        </p:nvSpPr>
        <p:spPr>
          <a:xfrm>
            <a:off x="271857" y="926904"/>
            <a:ext cx="654417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(Watt-hour)</a:t>
            </a:r>
            <a:r>
              <a:rPr lang="ko-KR" altLang="en-US" sz="1600" spc="-50" dirty="0"/>
              <a:t>가 몇인지 표시는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배터리용량에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</a:t>
            </a:r>
            <a:r>
              <a:rPr lang="en-US" altLang="ko-KR" sz="1600" spc="-50" dirty="0"/>
              <a:t>m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mili</a:t>
            </a:r>
            <a:r>
              <a:rPr lang="en-US" altLang="ko-KR" sz="1600" spc="-50" dirty="0"/>
              <a:t>(10</a:t>
            </a:r>
            <a:r>
              <a:rPr lang="en-US" altLang="ko-KR" sz="1600" spc="-50" baseline="30000" dirty="0"/>
              <a:t>-3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전류</a:t>
            </a:r>
            <a:r>
              <a:rPr lang="en-US" altLang="ko-KR" sz="1600" spc="-50" dirty="0"/>
              <a:t>, h</a:t>
            </a:r>
            <a:r>
              <a:rPr lang="ko-KR" altLang="en-US" sz="1600" spc="-50" dirty="0"/>
              <a:t>는 시간이다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</a:t>
            </a:r>
            <a:r>
              <a:rPr lang="en-US" altLang="ko-KR" sz="1600" spc="-50" dirty="0"/>
              <a:t>(W)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전기에너지 양은 </a:t>
            </a:r>
            <a:r>
              <a:rPr lang="en-US" altLang="ko-KR" sz="1600" spc="-50" dirty="0"/>
              <a:t>W(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h(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Watt x hour</a:t>
            </a:r>
          </a:p>
        </p:txBody>
      </p:sp>
    </p:spTree>
    <p:extLst>
      <p:ext uri="{BB962C8B-B14F-4D97-AF65-F5344CB8AC3E}">
        <p14:creationId xmlns:p14="http://schemas.microsoft.com/office/powerpoint/2010/main" val="7411059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2965E-C231-C2C5-6D80-6AB661B0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E8672-A0FC-2DB8-BF52-06673C58F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6B618-8A8A-21B0-11FA-70E19C71A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89C1F4-6C46-F06E-9943-6C1CDD616944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(20,000mAh, 3.8V)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이 모델은 친절히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로 계산이 되어 </a:t>
            </a:r>
            <a:r>
              <a:rPr lang="ko-KR" altLang="en-US" sz="1600" spc="-50" dirty="0" err="1"/>
              <a:t>있긴하다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3.8V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76,000mA·V·hour = 76Wh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91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391507-D714-8422-8FBB-9799709C30B8}"/>
              </a:ext>
            </a:extLst>
          </p:cNvPr>
          <p:cNvSpPr txBox="1"/>
          <p:nvPr/>
        </p:nvSpPr>
        <p:spPr>
          <a:xfrm>
            <a:off x="271857" y="926904"/>
            <a:ext cx="654417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4F9CD8-685D-D86A-0E5E-5C8FC1C87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E36B469-D203-C455-D9D6-9DC9FCE2B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7641EB84-4281-7B7A-FD94-595E8F0A29EF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CA9AD31-B437-B22F-D2CE-34792A4C9BE4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152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FF806-B994-CA21-10BB-9BF85DE3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671B647-8CA3-39F2-13C9-E7585CF6F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8163" y="4015891"/>
            <a:ext cx="1676458" cy="158596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2F0D6CF-0A45-23A4-FBAC-1B5F745AF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미니 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84598B-A163-B812-DA7A-E609E0B03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ABEEC4-80A7-DEA0-9263-389BA0F83AE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 선풍기는 콘센트를 꼽지 않으면 </a:t>
            </a:r>
            <a:r>
              <a:rPr lang="ko-KR" altLang="en-US" sz="1600" spc="-50" dirty="0" err="1"/>
              <a:t>안돌아가는데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선풍기는 콘센트 연결 없이 돌아간다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선풍기 안에 배터리가 들어가 있기 때문에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미니 선풍기의 입력 부문을 보면 </a:t>
            </a:r>
            <a:r>
              <a:rPr lang="en-US" altLang="ko-KR" sz="1600" spc="-50" dirty="0"/>
              <a:t>(5V, 2A)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미니 선풍기가 충전된다는 의미다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부문을 보면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표시되어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전압이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역산해보면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1.35A </a:t>
            </a:r>
            <a:r>
              <a:rPr lang="ko-KR" altLang="en-US" sz="1600" spc="-50" dirty="0"/>
              <a:t>로 출력될 것임을 유추할 수 있다</a:t>
            </a:r>
            <a:r>
              <a:rPr lang="en-US" altLang="ko-KR" sz="1600" spc="-50" dirty="0"/>
              <a:t>. (W = V x 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출력부문은 </a:t>
            </a:r>
            <a:r>
              <a:rPr lang="en-US" altLang="ko-KR" sz="1600" spc="-50" dirty="0"/>
              <a:t>(3.7V, 1.35A)</a:t>
            </a:r>
            <a:r>
              <a:rPr lang="ko-KR" altLang="en-US" sz="1600" spc="-50" dirty="0"/>
              <a:t>로서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전기에너지를 소비한다는 의미다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시간 동안 사용하면 </a:t>
            </a:r>
            <a:r>
              <a:rPr lang="en-US" altLang="ko-KR" sz="1600" spc="-50" dirty="0"/>
              <a:t>5Wh</a:t>
            </a:r>
            <a:r>
              <a:rPr lang="ko-KR" altLang="en-US" sz="1600" spc="-50" dirty="0"/>
              <a:t>의 전기에너지를 소비하게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배터리용량은 </a:t>
            </a:r>
            <a:r>
              <a:rPr lang="en-US" altLang="ko-KR" sz="1600" spc="-50" dirty="0"/>
              <a:t>4.5Ah (=4,500mAh)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정격전압이 </a:t>
            </a:r>
            <a:r>
              <a:rPr lang="en-US" altLang="ko-KR" sz="1600" spc="-50" dirty="0"/>
              <a:t>3.7V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16.65Wh (= 4.5Ah x 3.7V) 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충전하므로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선풍기가 </a:t>
            </a:r>
            <a:r>
              <a:rPr lang="en-US" altLang="ko-KR" sz="1600" spc="-50" dirty="0"/>
              <a:t>0%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까지 충전되는데 </a:t>
            </a:r>
            <a:r>
              <a:rPr lang="en-US" altLang="ko-KR" sz="1600" spc="-50" dirty="0"/>
              <a:t>1.65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(99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소요된다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전기를 소비하므로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3.3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(200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동안 쓸 수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45B046-4342-D746-0677-B8D162310D05}"/>
              </a:ext>
            </a:extLst>
          </p:cNvPr>
          <p:cNvSpPr txBox="1"/>
          <p:nvPr/>
        </p:nvSpPr>
        <p:spPr>
          <a:xfrm>
            <a:off x="9828090" y="5574453"/>
            <a:ext cx="2016604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dirty="0"/>
              <a:t>https://www.coupang.com/vp/products/8690517296?itemId=25231486136&amp;vendorItemId=92227684957&amp;sourceType=srp_product_ads&amp;clickEventId=81b0fc80-74f7-11f1-a7e4-fb540a9a1516&amp;korePlacement=15&amp;koreSubPlacement=1&amp;clickEventId=81b0fc80-74f7-11f1-a7e4-fb540a9a1516&amp;korePlacement=15&amp;koreSubPlacement=1&amp;traceId=mr1h97vj</a:t>
            </a:r>
            <a:endParaRPr lang="ko-KR" altLang="en-US" sz="7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8357DA-9172-B062-6020-75B010DE807A}"/>
              </a:ext>
            </a:extLst>
          </p:cNvPr>
          <p:cNvSpPr/>
          <p:nvPr/>
        </p:nvSpPr>
        <p:spPr>
          <a:xfrm>
            <a:off x="9998163" y="4884000"/>
            <a:ext cx="1409080" cy="73251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0F3D275-F4B3-0464-9312-56860D6162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6278" y="1795282"/>
            <a:ext cx="1400227" cy="212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073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C162E-3D87-126C-DB34-FEDD71C97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75777-CEFF-C33F-5235-8917CB340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B7ABD-DD56-FC7C-E177-92FD45082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57D904-41AE-FF64-2DDD-5EBEF04821FD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100% </a:t>
            </a:r>
            <a:r>
              <a:rPr lang="ko-KR" altLang="en-US" sz="1600" spc="-50" dirty="0"/>
              <a:t>충전된 보조배터리로 </a:t>
            </a:r>
            <a:r>
              <a:rPr lang="ko-KR" altLang="en-US" sz="1600" spc="-50" dirty="0" err="1"/>
              <a:t>미니선풍기를</a:t>
            </a:r>
            <a:r>
              <a:rPr lang="ko-KR" altLang="en-US" sz="1600" spc="-50" dirty="0"/>
              <a:t> 충전하면 아래와 같은 상황이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완충시키고도</a:t>
            </a:r>
            <a:r>
              <a:rPr lang="en-US" altLang="ko-KR" sz="1600" spc="-50" dirty="0"/>
              <a:t>, 59.35Wh</a:t>
            </a:r>
            <a:r>
              <a:rPr lang="ko-KR" altLang="en-US" sz="1600" spc="-50" dirty="0"/>
              <a:t>가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보조배터리는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충전시키면</a:t>
            </a:r>
            <a:r>
              <a:rPr lang="en-US" altLang="ko-KR" sz="1600" spc="-50" dirty="0"/>
              <a:t>, 1.85Wh</a:t>
            </a:r>
            <a:r>
              <a:rPr lang="ko-KR" altLang="en-US" sz="1600" spc="-50" dirty="0"/>
              <a:t>만 남는다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3147970-1BC9-69E9-4D42-38E625BC7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869696"/>
              </p:ext>
            </p:extLst>
          </p:nvPr>
        </p:nvGraphicFramePr>
        <p:xfrm>
          <a:off x="6452245" y="2498450"/>
          <a:ext cx="427925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1445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9697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  <a:gridCol w="1367822">
                  <a:extLst>
                    <a:ext uri="{9D8B030D-6E8A-4147-A177-3AD203B41FA5}">
                      <a16:colId xmlns:a16="http://schemas.microsoft.com/office/drawing/2014/main" val="1056637573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 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보조배터리→핸드폰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20W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콘센트→보조배터리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40W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18W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8D66117D-A561-F3BE-ED75-F9AC98139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6628" y="1791229"/>
            <a:ext cx="632147" cy="55003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90E2770-69B2-9663-29AE-35265C7A9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872" y="1640833"/>
            <a:ext cx="661849" cy="70988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7FAE7A8-5C4F-2317-9759-5153F9076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844" y="1493576"/>
            <a:ext cx="518276" cy="880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2B6B473-3AB5-9AE3-8896-9FFC9179F7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4356" y="1720762"/>
            <a:ext cx="362520" cy="550030"/>
          </a:xfrm>
          <a:prstGeom prst="rect">
            <a:avLst/>
          </a:prstGeom>
        </p:spPr>
      </p:pic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2EFC5AA6-6F27-4240-88A8-78B4832B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70672"/>
              </p:ext>
            </p:extLst>
          </p:nvPr>
        </p:nvGraphicFramePr>
        <p:xfrm>
          <a:off x="983403" y="2499503"/>
          <a:ext cx="438662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68759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콘센트→미니선풍기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소비전력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722784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57005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C3A48-2A03-DE37-4EF7-450DA7707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6AD53C-A744-7D66-1AFA-2A01B93B0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56235-6140-5D8E-1B20-10A655CF0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694B23-26BF-505A-B95D-777FCA550546}"/>
              </a:ext>
            </a:extLst>
          </p:cNvPr>
          <p:cNvSpPr txBox="1"/>
          <p:nvPr/>
        </p:nvSpPr>
        <p:spPr>
          <a:xfrm>
            <a:off x="288790" y="958844"/>
            <a:ext cx="8027254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 어느 가구의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 한달간 전기사용 내역이다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집의 계량기는 전기소비량이 누적해서 올라가기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매월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일을 기준으로 검침을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뺀 만큼을 해당 월의 전기소비량을 계산한다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17,432 kWh (</a:t>
            </a:r>
            <a:r>
              <a:rPr lang="ko-KR" altLang="en-US" sz="1600" spc="-50" dirty="0"/>
              <a:t>전월지침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17,584 kWh (</a:t>
            </a:r>
            <a:r>
              <a:rPr lang="ko-KR" altLang="en-US" sz="1600" spc="-50" dirty="0"/>
              <a:t>당월지침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세대사용량</a:t>
            </a:r>
            <a:r>
              <a:rPr lang="en-US" altLang="ko-KR" sz="1600" spc="-50" dirty="0"/>
              <a:t>: 152 kWh (</a:t>
            </a:r>
            <a:r>
              <a:rPr lang="ko-KR" altLang="en-US" sz="1600" spc="-50" dirty="0"/>
              <a:t>세대사용량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17,584 – 17,432 = 152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공용 사용량</a:t>
            </a:r>
            <a:r>
              <a:rPr lang="en-US" altLang="ko-KR" sz="1600" spc="-50" dirty="0"/>
              <a:t>: 62 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엘리베이터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지하주차장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복도 조명 등 아파트 단지 내 공동시설 전기 사용량을 세대별로 나누어 부담하는 것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 이 가구의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월 한달간 사용량</a:t>
            </a:r>
            <a:r>
              <a:rPr lang="en-US" altLang="ko-KR" sz="1600" spc="-50" dirty="0"/>
              <a:t>: 214 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(=152 kWh + 62 kWh)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전월 사용량과 전년동월 사용량은 단순 참고용이다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이번달</a:t>
            </a:r>
            <a:r>
              <a:rPr lang="ko-KR" altLang="en-US" sz="1600" spc="-50" dirty="0"/>
              <a:t> 전기요금과는 무관하다</a:t>
            </a:r>
            <a:r>
              <a:rPr lang="en-US" altLang="ko-KR" sz="1600" spc="-50" dirty="0"/>
              <a:t>.)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지난 달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191 kWh (</a:t>
            </a:r>
            <a:r>
              <a:rPr lang="ko-KR" altLang="en-US" sz="1600" spc="-50" dirty="0"/>
              <a:t>전월 사용량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작년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244 kWh (</a:t>
            </a:r>
            <a:r>
              <a:rPr lang="ko-KR" altLang="en-US" sz="1600" spc="-50" dirty="0"/>
              <a:t>전년동월 사용량</a:t>
            </a:r>
            <a:r>
              <a:rPr lang="en-US" altLang="ko-KR" sz="1600" spc="-50" dirty="0"/>
              <a:t>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6D77212-2BAA-619B-B054-37497C16F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044" y="1167095"/>
            <a:ext cx="2696692" cy="463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3620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4D992-D509-61E8-7026-B83F7FDD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C96A6-5ABB-BA3A-EA16-515932353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ABA70-6268-414C-5999-572F86FD8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87CDDA9-2BB4-1077-0537-242315D38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4807" y="1255702"/>
            <a:ext cx="2689760" cy="434659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9C6604-D139-D649-5F0B-94F2258D24CF}"/>
              </a:ext>
            </a:extLst>
          </p:cNvPr>
          <p:cNvSpPr txBox="1"/>
          <p:nvPr/>
        </p:nvSpPr>
        <p:spPr>
          <a:xfrm>
            <a:off x="288789" y="958844"/>
            <a:ext cx="851601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 본 가구의 전기요금 내역이다</a:t>
            </a:r>
            <a:r>
              <a:rPr lang="en-US" altLang="ko-KR" sz="1600" spc="-50" dirty="0"/>
              <a:t>. (2026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전력 공급을 위한 기본 유지 비용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 설비 유지 관리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전기 사용량 구간에 따라 고정요금으로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실제 사용한 전기에너지 생산 및 공급에 소요되는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실제로 사용한 전력량</a:t>
            </a:r>
            <a:r>
              <a:rPr lang="en-US" altLang="ko-KR" sz="1600" spc="-50" dirty="0"/>
              <a:t>(kWh)</a:t>
            </a:r>
            <a:r>
              <a:rPr lang="ko-KR" altLang="en-US" sz="1600" spc="-50" dirty="0"/>
              <a:t>에 대해 요금이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깨끗하고 안전한 에너지 제공에 소요되는 비용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석탄발전 감축비용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기후환경요금 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연료비 </a:t>
            </a:r>
            <a:r>
              <a:rPr lang="ko-KR" altLang="en-US" sz="1600" spc="-50" dirty="0" err="1"/>
              <a:t>변동분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반영하는 요금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연료비조정단가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최종 청구금액은 전기요금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부가가치세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전력기금이다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부가가치세는 전기요금의 </a:t>
            </a:r>
            <a:r>
              <a:rPr lang="en-US" altLang="ko-KR" sz="1600" spc="-50" dirty="0"/>
              <a:t>10%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전력기금은 전기요금의 </a:t>
            </a:r>
            <a:r>
              <a:rPr lang="en-US" altLang="ko-KR" sz="1600" spc="-50" dirty="0"/>
              <a:t>2.7%</a:t>
            </a:r>
          </a:p>
        </p:txBody>
      </p:sp>
    </p:spTree>
    <p:extLst>
      <p:ext uri="{BB962C8B-B14F-4D97-AF65-F5344CB8AC3E}">
        <p14:creationId xmlns:p14="http://schemas.microsoft.com/office/powerpoint/2010/main" val="31570073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F81E3-6D27-9795-D874-750FF0F09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F2D1D9-A8DB-21D4-7BF8-4142A37FD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9A0327-C8B5-4A35-7F03-E879D8CBE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CD3004B-CDDE-D8F5-869D-CBE52F49F2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5219" y="3840488"/>
            <a:ext cx="2219768" cy="11713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6385922-58EC-C366-A705-6BD5B18CF8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642" y="884101"/>
            <a:ext cx="3401569" cy="10924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EFFE1BD-841E-77FC-DF72-4D48E3FC1908}"/>
              </a:ext>
            </a:extLst>
          </p:cNvPr>
          <p:cNvSpPr txBox="1"/>
          <p:nvPr/>
        </p:nvSpPr>
        <p:spPr>
          <a:xfrm>
            <a:off x="288789" y="958844"/>
            <a:ext cx="851601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전기사용량에 근거하여 전기요금을 직접 계산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한전 홈페이지에 들어가면 우리 집의 계약정보를 알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83FEF06-0250-2B76-49A0-D541109BD7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0" y="3185221"/>
            <a:ext cx="2472794" cy="44689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FF98614-848C-23BA-F9CD-81449BBDA4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3238" y="2157703"/>
            <a:ext cx="2915057" cy="63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6151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C0FE-A2B2-B1BF-5332-525CFEA23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21187D-404A-5227-78F6-39FB29CBE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37FF17-5BB2-6152-1333-49DCA3DD5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E6D8D-091B-9B53-8FEE-DF91F55E9A9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육개장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사발면</a:t>
            </a:r>
            <a:r>
              <a:rPr lang="en-US" altLang="ko-KR" sz="1600" spc="-50" dirty="0"/>
              <a:t>): 375 kcal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코카콜라</a:t>
            </a:r>
            <a:r>
              <a:rPr lang="en-US" altLang="ko-KR" sz="1600" spc="-50" dirty="0"/>
              <a:t>(250ml): 108 kcal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</a:t>
            </a:r>
            <a:r>
              <a:rPr lang="en-US" altLang="ko-KR" sz="1600" spc="-50" dirty="0"/>
              <a:t>(1</a:t>
            </a:r>
            <a:r>
              <a:rPr lang="ko-KR" altLang="en-US" sz="1600" spc="-50" dirty="0"/>
              <a:t>시간 강풍기준</a:t>
            </a:r>
            <a:r>
              <a:rPr lang="en-US" altLang="ko-KR" sz="1600" spc="-50" dirty="0"/>
              <a:t>): 43 kcal</a:t>
            </a:r>
          </a:p>
        </p:txBody>
      </p:sp>
    </p:spTree>
    <p:extLst>
      <p:ext uri="{BB962C8B-B14F-4D97-AF65-F5344CB8AC3E}">
        <p14:creationId xmlns:p14="http://schemas.microsoft.com/office/powerpoint/2010/main" val="31446593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79A1D-8C53-664A-5971-933F8A4DC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FDBC57-2A45-8C9E-1CF7-5501FDF46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보조배터리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BFD297-D665-1612-AC73-BF5AB5405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4E64E0-0A5F-0A5C-714A-7A51A3C283D0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보조배터리에 전기가 </a:t>
            </a:r>
            <a:r>
              <a:rPr lang="ko-KR" altLang="en-US" sz="1600" spc="-50" dirty="0" err="1"/>
              <a:t>들어올때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입력</a:t>
            </a:r>
            <a:r>
              <a:rPr lang="en-US" altLang="ko-KR" sz="1600" spc="-50" dirty="0"/>
              <a:t>), </a:t>
            </a:r>
            <a:r>
              <a:rPr lang="ko-KR" altLang="en-US" sz="1600" spc="-50" dirty="0" err="1"/>
              <a:t>나갈때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출력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각각의 속도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알아봤는데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보조배터리는 얼만큼의 전기에너지를 저장할 수 </a:t>
            </a:r>
            <a:r>
              <a:rPr lang="ko-KR" altLang="en-US" sz="1600" spc="-50" dirty="0" err="1"/>
              <a:t>있는걸까</a:t>
            </a:r>
            <a:r>
              <a:rPr lang="en-US" altLang="ko-KR" sz="1600" spc="-50" dirty="0"/>
              <a:t>?.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배터리 용량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) =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(V) x </a:t>
            </a:r>
            <a:r>
              <a:rPr lang="ko-KR" altLang="en-US" sz="1600" spc="-50" dirty="0"/>
              <a:t>전류용량</a:t>
            </a:r>
            <a:r>
              <a:rPr lang="en-US" altLang="ko-KR" sz="1600" spc="-50" dirty="0"/>
              <a:t>(Ah)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2E9281-12BD-F43C-18F1-A96033B17DD8}"/>
              </a:ext>
            </a:extLst>
          </p:cNvPr>
          <p:cNvSpPr txBox="1"/>
          <p:nvPr/>
        </p:nvSpPr>
        <p:spPr>
          <a:xfrm>
            <a:off x="288790" y="2203267"/>
            <a:ext cx="8550409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(5,000mAh, 3.7V)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보조배터리가 저장할 수 있는 전기에너지의 양은 </a:t>
            </a:r>
            <a:r>
              <a:rPr lang="en-US" altLang="ko-KR" sz="1600" spc="-50" dirty="0"/>
              <a:t>18.5Wh (=5Ah x 3.7V)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속도가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라고 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정도 보조배터리를 충전시키면 보조배터리는 </a:t>
            </a:r>
            <a:r>
              <a:rPr lang="ko-KR" altLang="en-US" sz="1600" spc="-50" dirty="0" err="1"/>
              <a:t>완충된다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4F29D8B-D3D7-42B0-C4B8-A45790A88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6790" y="1922313"/>
            <a:ext cx="1709155" cy="25164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BF692B-8C04-1EE5-6188-DDF005E18A29}"/>
              </a:ext>
            </a:extLst>
          </p:cNvPr>
          <p:cNvSpPr txBox="1"/>
          <p:nvPr/>
        </p:nvSpPr>
        <p:spPr>
          <a:xfrm>
            <a:off x="9190199" y="5982909"/>
            <a:ext cx="261612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coupang.com/vp/products/8366830499?itemId=23627046116&amp;vendorItemId=93877214577&amp;pickType=COU_PICK&amp;q=%EB%B3%B4%EC%A1%B0%EB%B0%B0%ED%84%B0%EB%A6%AC&amp;searchId=5d33a80c64048439&amp;sourceType=search&amp;itemsCount=60&amp;searchRank=3&amp;rank=3&amp;traceId=mqymckwm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F84A17-233A-D255-9C0A-88EE14EDB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0199" y="4532235"/>
            <a:ext cx="2403132" cy="126374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9CCA4D1-69FE-CD88-27CA-1B4E2375B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1894" y="4395074"/>
            <a:ext cx="3033146" cy="20220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0D5A17C-1D5F-2EFC-492B-4A76F4C56B9F}"/>
              </a:ext>
            </a:extLst>
          </p:cNvPr>
          <p:cNvSpPr txBox="1"/>
          <p:nvPr/>
        </p:nvSpPr>
        <p:spPr>
          <a:xfrm>
            <a:off x="4916170" y="5075674"/>
            <a:ext cx="25615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spc="-50" dirty="0"/>
              <a:t>1</a:t>
            </a:r>
            <a:r>
              <a:rPr lang="ko-KR" altLang="en-US" sz="1800" spc="-50" dirty="0"/>
              <a:t>시간이면 완충 된다</a:t>
            </a:r>
            <a:r>
              <a:rPr lang="en-US" altLang="ko-KR" sz="1800" spc="-50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18144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54321-199C-EBCF-1638-94ACEF3F0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7A3396-8295-B2AC-9AF9-95EAAF78A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827D7-DA7B-0D7A-FE7A-3AC954F2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A4EDDA-8917-9F1A-7AF4-36A98BD228AF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보조배터리로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412200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9445-1143-4F1B-05FF-0FD229C2E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8B9FD-EBEF-BC18-EA28-E6D4AC364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보조배터리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33D763-6B87-0808-9372-6EA1CC917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6076CC-778A-1365-C0D7-25B9EDEBB79D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살펴본 보조배터리로 갤럭시</a:t>
            </a:r>
            <a:r>
              <a:rPr lang="en-US" altLang="ko-KR" sz="1600" spc="-50" dirty="0"/>
              <a:t> S26</a:t>
            </a:r>
            <a:r>
              <a:rPr lang="ko-KR" altLang="en-US" sz="1600" spc="-50" dirty="0"/>
              <a:t>을 얼마나 충전할 수 있을까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배터리 용량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) =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(V) x </a:t>
            </a:r>
            <a:r>
              <a:rPr lang="ko-KR" altLang="en-US" sz="1600" spc="-50" dirty="0"/>
              <a:t>전류용량</a:t>
            </a:r>
            <a:r>
              <a:rPr lang="en-US" altLang="ko-KR" sz="1600" spc="-50" dirty="0"/>
              <a:t>(Ah)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ADD24D-4FF2-DAD1-19D8-17E4FBFAED18}"/>
              </a:ext>
            </a:extLst>
          </p:cNvPr>
          <p:cNvSpPr txBox="1"/>
          <p:nvPr/>
        </p:nvSpPr>
        <p:spPr>
          <a:xfrm>
            <a:off x="288790" y="2203267"/>
            <a:ext cx="8550409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배터리용량이</a:t>
            </a:r>
            <a:r>
              <a:rPr lang="en-US" altLang="ko-KR" sz="1600" spc="-50" dirty="0"/>
              <a:t> 4,300mAh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보조배터리가 저장할 수 있는 전기에너지의 양은 </a:t>
            </a:r>
            <a:r>
              <a:rPr lang="en-US" altLang="ko-KR" sz="1600" spc="-50" dirty="0"/>
              <a:t>18.5Wh (=5Ah x 3.7V)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속도가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라고 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정도 보조배터리를 충전시키면 보조배터리는 </a:t>
            </a:r>
            <a:r>
              <a:rPr lang="ko-KR" altLang="en-US" sz="1600" spc="-50" dirty="0" err="1"/>
              <a:t>완충된다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B28BE5-71C9-E434-323D-87B010295B1A}"/>
              </a:ext>
            </a:extLst>
          </p:cNvPr>
          <p:cNvSpPr txBox="1"/>
          <p:nvPr/>
        </p:nvSpPr>
        <p:spPr>
          <a:xfrm>
            <a:off x="9190199" y="5982909"/>
            <a:ext cx="2616125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/>
              <a:t>https://www.samsung.com/sec/smartphones/galaxy-s26/specs/</a:t>
            </a:r>
            <a:endParaRPr lang="ko-KR" altLang="en-US" sz="6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2C094BC-2D7E-DE15-DD69-84DEAF470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2570" y="4880617"/>
            <a:ext cx="2567074" cy="73536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E7B839C-49E1-6EF4-9797-FE7DBC298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6746" y="2475047"/>
            <a:ext cx="1111307" cy="221626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F229099-61DC-BA83-1492-F0013EF04C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8204" y="2208391"/>
            <a:ext cx="768389" cy="196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8992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381B5-F69D-5A39-2273-AC354F035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0BD26-1D88-9E78-E8E3-D0A432885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내 보조배터리는 얼마나 쓸 수 </a:t>
            </a:r>
            <a:r>
              <a:rPr lang="ko-KR" altLang="en-US" dirty="0" err="1"/>
              <a:t>있는거야</a:t>
            </a:r>
            <a:r>
              <a:rPr lang="en-US" altLang="ko-KR" dirty="0"/>
              <a:t>?</a:t>
            </a:r>
            <a:r>
              <a:rPr lang="ko-KR" altLang="en-US" dirty="0"/>
              <a:t>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E69D38-D683-D7D0-2D30-F833D1B1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267F87-CD27-F34A-17B4-18730B58F9B6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1J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0.000000278 kWh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의 에너지를 사용한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표현하는 와트시는 시간개념이 추가된다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0324397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AF487-C4C9-7FAA-F633-B8FD99C61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C39212F-F168-CD77-C446-536E53BF4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534" y="4599674"/>
            <a:ext cx="861142" cy="114735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020DD33-9452-FD90-2F97-D3F66C9D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EAC8C9-8F7A-52DB-EC41-2E42797F2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6054C5-2E78-E5FB-E011-2EE687E8C029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선풍기가 쓰는 전기에너지를 물로 비유해보자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라는 말은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초에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을 쓰는 속도라는 뜻이다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BBED47E-94BF-B32A-D29E-8B2C066E43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54" y="3128117"/>
            <a:ext cx="1889181" cy="321105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180353E-8D0D-354B-E502-254874B164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7677" y="5899156"/>
            <a:ext cx="1387576" cy="584765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E06C7973-5430-150F-9CC9-666CE63C5090}"/>
              </a:ext>
            </a:extLst>
          </p:cNvPr>
          <p:cNvSpPr/>
          <p:nvPr/>
        </p:nvSpPr>
        <p:spPr>
          <a:xfrm>
            <a:off x="3197676" y="6124969"/>
            <a:ext cx="608190" cy="100152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28C16129-38AE-537E-D027-549E610CB64C}"/>
              </a:ext>
            </a:extLst>
          </p:cNvPr>
          <p:cNvSpPr/>
          <p:nvPr/>
        </p:nvSpPr>
        <p:spPr>
          <a:xfrm>
            <a:off x="2380974" y="5738191"/>
            <a:ext cx="265043" cy="265044"/>
          </a:xfrm>
          <a:custGeom>
            <a:avLst/>
            <a:gdLst>
              <a:gd name="csX0" fmla="*/ 265043 w 265043"/>
              <a:gd name="csY0" fmla="*/ 0 h 265044"/>
              <a:gd name="csX1" fmla="*/ 260626 w 265043"/>
              <a:gd name="csY1" fmla="*/ 22087 h 265044"/>
              <a:gd name="csX2" fmla="*/ 251791 w 265043"/>
              <a:gd name="csY2" fmla="*/ 75096 h 265044"/>
              <a:gd name="csX3" fmla="*/ 234122 w 265043"/>
              <a:gd name="csY3" fmla="*/ 114852 h 265044"/>
              <a:gd name="csX4" fmla="*/ 203200 w 265043"/>
              <a:gd name="csY4" fmla="*/ 145774 h 265044"/>
              <a:gd name="csX5" fmla="*/ 189948 w 265043"/>
              <a:gd name="csY5" fmla="*/ 150192 h 265044"/>
              <a:gd name="csX6" fmla="*/ 167861 w 265043"/>
              <a:gd name="csY6" fmla="*/ 172279 h 265044"/>
              <a:gd name="csX7" fmla="*/ 159026 w 265043"/>
              <a:gd name="csY7" fmla="*/ 185531 h 265044"/>
              <a:gd name="csX8" fmla="*/ 132522 w 265043"/>
              <a:gd name="csY8" fmla="*/ 198783 h 265044"/>
              <a:gd name="csX9" fmla="*/ 101600 w 265043"/>
              <a:gd name="csY9" fmla="*/ 216452 h 265044"/>
              <a:gd name="csX10" fmla="*/ 66261 w 265043"/>
              <a:gd name="csY10" fmla="*/ 225287 h 265044"/>
              <a:gd name="csX11" fmla="*/ 48591 w 265043"/>
              <a:gd name="csY11" fmla="*/ 234122 h 265044"/>
              <a:gd name="csX12" fmla="*/ 30922 w 265043"/>
              <a:gd name="csY12" fmla="*/ 247374 h 265044"/>
              <a:gd name="csX13" fmla="*/ 17669 w 265043"/>
              <a:gd name="csY13" fmla="*/ 251792 h 265044"/>
              <a:gd name="csX14" fmla="*/ 0 w 265043"/>
              <a:gd name="csY14" fmla="*/ 265044 h 2650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265043" h="265044">
                <a:moveTo>
                  <a:pt x="265043" y="0"/>
                </a:moveTo>
                <a:cubicBezTo>
                  <a:pt x="263571" y="7362"/>
                  <a:pt x="261931" y="14693"/>
                  <a:pt x="260626" y="22087"/>
                </a:cubicBezTo>
                <a:cubicBezTo>
                  <a:pt x="257513" y="39728"/>
                  <a:pt x="257456" y="58102"/>
                  <a:pt x="251791" y="75096"/>
                </a:cubicBezTo>
                <a:cubicBezTo>
                  <a:pt x="246335" y="91464"/>
                  <a:pt x="245238" y="102500"/>
                  <a:pt x="234122" y="114852"/>
                </a:cubicBezTo>
                <a:cubicBezTo>
                  <a:pt x="224371" y="125687"/>
                  <a:pt x="217029" y="141164"/>
                  <a:pt x="203200" y="145774"/>
                </a:cubicBezTo>
                <a:lnTo>
                  <a:pt x="189948" y="150192"/>
                </a:lnTo>
                <a:cubicBezTo>
                  <a:pt x="182586" y="157554"/>
                  <a:pt x="174717" y="164443"/>
                  <a:pt x="167861" y="172279"/>
                </a:cubicBezTo>
                <a:cubicBezTo>
                  <a:pt x="164365" y="176274"/>
                  <a:pt x="162780" y="181777"/>
                  <a:pt x="159026" y="185531"/>
                </a:cubicBezTo>
                <a:cubicBezTo>
                  <a:pt x="148413" y="196144"/>
                  <a:pt x="145098" y="193393"/>
                  <a:pt x="132522" y="198783"/>
                </a:cubicBezTo>
                <a:cubicBezTo>
                  <a:pt x="78331" y="222007"/>
                  <a:pt x="145946" y="194279"/>
                  <a:pt x="101600" y="216452"/>
                </a:cubicBezTo>
                <a:cubicBezTo>
                  <a:pt x="92540" y="220982"/>
                  <a:pt x="74669" y="223606"/>
                  <a:pt x="66261" y="225287"/>
                </a:cubicBezTo>
                <a:cubicBezTo>
                  <a:pt x="60371" y="228232"/>
                  <a:pt x="54175" y="230632"/>
                  <a:pt x="48591" y="234122"/>
                </a:cubicBezTo>
                <a:cubicBezTo>
                  <a:pt x="42348" y="238024"/>
                  <a:pt x="37314" y="243721"/>
                  <a:pt x="30922" y="247374"/>
                </a:cubicBezTo>
                <a:cubicBezTo>
                  <a:pt x="26879" y="249684"/>
                  <a:pt x="21834" y="249710"/>
                  <a:pt x="17669" y="251792"/>
                </a:cubicBezTo>
                <a:cubicBezTo>
                  <a:pt x="7676" y="256788"/>
                  <a:pt x="6213" y="258830"/>
                  <a:pt x="0" y="265044"/>
                </a:cubicBezTo>
              </a:path>
            </a:pathLst>
          </a:custGeom>
          <a:noFill/>
          <a:ln w="349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8182-7578-DCF7-3108-F2196BAAA60B}"/>
              </a:ext>
            </a:extLst>
          </p:cNvPr>
          <p:cNvSpPr txBox="1"/>
          <p:nvPr/>
        </p:nvSpPr>
        <p:spPr>
          <a:xfrm>
            <a:off x="3486982" y="3477508"/>
            <a:ext cx="8266777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초에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의 물을 쓰도록 만들어졌다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선풍기를 </a:t>
            </a:r>
            <a:r>
              <a:rPr lang="en-US" altLang="ko-KR" sz="1600" spc="-50" dirty="0"/>
              <a:t>2</a:t>
            </a:r>
            <a:r>
              <a:rPr lang="ko-KR" altLang="en-US" sz="1600" spc="-50" dirty="0" err="1"/>
              <a:t>초동안</a:t>
            </a:r>
            <a:r>
              <a:rPr lang="ko-KR" altLang="en-US" sz="1600" spc="-50" dirty="0"/>
              <a:t> 쓰면 </a:t>
            </a:r>
            <a:r>
              <a:rPr lang="en-US" altLang="ko-KR" sz="1600" spc="-50" dirty="0"/>
              <a:t>100W</a:t>
            </a:r>
            <a:r>
              <a:rPr lang="ko-KR" altLang="en-US" sz="1600" spc="-50" dirty="0"/>
              <a:t>의 물을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초에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(3,600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에는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180,000 </a:t>
            </a:r>
          </a:p>
        </p:txBody>
      </p:sp>
    </p:spTree>
    <p:extLst>
      <p:ext uri="{BB962C8B-B14F-4D97-AF65-F5344CB8AC3E}">
        <p14:creationId xmlns:p14="http://schemas.microsoft.com/office/powerpoint/2010/main" val="2650108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9753</TotalTime>
  <Words>3285</Words>
  <Application>Microsoft Office PowerPoint</Application>
  <PresentationFormat>와이드스크린</PresentationFormat>
  <Paragraphs>363</Paragraphs>
  <Slides>29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5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1  에너지 개론</vt:lpstr>
      <vt:lpstr>Section 1. 서 론</vt:lpstr>
      <vt:lpstr>서론</vt:lpstr>
      <vt:lpstr>Energy 어원</vt:lpstr>
      <vt:lpstr>에너지의 여러가지 형태</vt:lpstr>
      <vt:lpstr>다양한 에너지 변환</vt:lpstr>
      <vt:lpstr>에너지 측정</vt:lpstr>
      <vt:lpstr>에너지 측정</vt:lpstr>
      <vt:lpstr>(참고자료) SI 접두어</vt:lpstr>
      <vt:lpstr>에너지 단위 변환 (콜라)</vt:lpstr>
      <vt:lpstr>에너지 단위 변환 (선풍기)</vt:lpstr>
      <vt:lpstr>어떤 보조배터리를 사야할까?</vt:lpstr>
      <vt:lpstr>보조배터리 충전·방전 속도</vt:lpstr>
      <vt:lpstr>보조배터리 충전·방전 속도</vt:lpstr>
      <vt:lpstr>보조배터리 충전·방전 속도</vt:lpstr>
      <vt:lpstr>보조배터리 충전·방전 속도</vt:lpstr>
      <vt:lpstr>에너지 단위 변환 (미니 선풍기)</vt:lpstr>
      <vt:lpstr>에너지 단위 변환</vt:lpstr>
      <vt:lpstr>우리집 전기요금</vt:lpstr>
      <vt:lpstr>우리집 전기요금</vt:lpstr>
      <vt:lpstr>우리집 전기요금</vt:lpstr>
      <vt:lpstr>Thank you</vt:lpstr>
      <vt:lpstr>에너지 단위 변환</vt:lpstr>
      <vt:lpstr>에너지 단위 변환 (보조배터리)</vt:lpstr>
      <vt:lpstr>에너지 단위 변환</vt:lpstr>
      <vt:lpstr>에너지 단위 변환 (보조배터리)</vt:lpstr>
      <vt:lpstr>내 보조배터리는 얼마나 쓸 수 있는거야? </vt:lpstr>
      <vt:lpstr>에너지 단위 변환 (선풍기)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343</cp:revision>
  <dcterms:created xsi:type="dcterms:W3CDTF">2025-07-05T05:15:23Z</dcterms:created>
  <dcterms:modified xsi:type="dcterms:W3CDTF">2026-07-02T00:22:18Z</dcterms:modified>
</cp:coreProperties>
</file>