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2"/>
  </p:notesMasterIdLst>
  <p:sldIdLst>
    <p:sldId id="375" r:id="rId2"/>
    <p:sldId id="405" r:id="rId3"/>
    <p:sldId id="550" r:id="rId4"/>
    <p:sldId id="376" r:id="rId5"/>
    <p:sldId id="553" r:id="rId6"/>
    <p:sldId id="555" r:id="rId7"/>
    <p:sldId id="557" r:id="rId8"/>
    <p:sldId id="558" r:id="rId9"/>
    <p:sldId id="632" r:id="rId10"/>
    <p:sldId id="631" r:id="rId11"/>
    <p:sldId id="559" r:id="rId12"/>
    <p:sldId id="633" r:id="rId13"/>
    <p:sldId id="635" r:id="rId14"/>
    <p:sldId id="637" r:id="rId15"/>
    <p:sldId id="636" r:id="rId16"/>
    <p:sldId id="634" r:id="rId17"/>
    <p:sldId id="560" r:id="rId18"/>
    <p:sldId id="556" r:id="rId19"/>
    <p:sldId id="554" r:id="rId20"/>
    <p:sldId id="364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>
        <p:scale>
          <a:sx n="125" d="100"/>
          <a:sy n="125" d="100"/>
        </p:scale>
        <p:origin x="1620" y="4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지구가 어떻게 돌아가는지</a:t>
            </a:r>
            <a:r>
              <a:rPr lang="en-US" altLang="ko-KR" sz="1600" spc="-50" dirty="0"/>
              <a:t>?? (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 등등</a:t>
            </a:r>
            <a:r>
              <a:rPr lang="en-US" altLang="ko-KR" sz="1600" spc="-50"/>
              <a:t>?)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에너지란 무엇인가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일상생활에서 쓰는 에너지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1600" b="1" spc="-50" dirty="0"/>
              <a:t>‘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여러가지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헤어드라이기는</a:t>
            </a:r>
            <a:r>
              <a:rPr lang="ko-KR" altLang="en-US" sz="1600" spc="-50" dirty="0"/>
              <a:t> 전기를 열 에너지와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 뜨거운 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이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/>
        </p:nvGraphicFramePr>
        <p:xfrm>
          <a:off x="917945" y="3330261"/>
          <a:ext cx="6156757" cy="148567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(108,000/0.239)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의 에너지를 사용한 것이다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90" y="3107507"/>
            <a:ext cx="826677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에너지를 </a:t>
            </a:r>
            <a:r>
              <a:rPr lang="en-US" altLang="ko-KR" sz="1600" spc="-50" dirty="0"/>
              <a:t>50Wh 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179,856J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179.856kJ, 0.179856MJ)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976" y="2997275"/>
            <a:ext cx="1889181" cy="321105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8B56080-828F-2D19-421A-3054D0F3F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0157" y="5121877"/>
            <a:ext cx="2194951" cy="92501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7774899" y="6188851"/>
            <a:ext cx="3920209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935633" y="545222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3CE16-5097-66FB-E81A-6A81A95E8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C5B606-DFB6-248D-2BD1-988099BF1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267D44-CBDD-EBCB-0284-3BC161EDC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E812ED-8157-92D9-F107-476CCACFE828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선풍기는 소비전력이 표시가 되어 있었는데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보조배터리는 배터리용량이 표시되어 있는 것을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아래의 두 가지 공식만 알고 있으면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배터리에 대해 이해할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(A)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5D9833-F73E-7C79-0CE8-B34F97DE12EA}"/>
              </a:ext>
            </a:extLst>
          </p:cNvPr>
          <p:cNvSpPr txBox="1"/>
          <p:nvPr/>
        </p:nvSpPr>
        <p:spPr>
          <a:xfrm>
            <a:off x="288790" y="2203267"/>
            <a:ext cx="8550409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A43403A-C8B5-30A1-CFCF-EB5F8ABC1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6790" y="1922313"/>
            <a:ext cx="1709155" cy="25164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16DDF8-1683-3F85-1C61-98385478BEAD}"/>
              </a:ext>
            </a:extLst>
          </p:cNvPr>
          <p:cNvSpPr txBox="1"/>
          <p:nvPr/>
        </p:nvSpPr>
        <p:spPr>
          <a:xfrm>
            <a:off x="9190199" y="5982909"/>
            <a:ext cx="261612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oupang.com/vp/products/8366830499?itemId=23627046116&amp;vendorItemId=93877214577&amp;pickType=COU_PICK&amp;q=%EB%B3%B4%EC%A1%B0%EB%B0%B0%ED%84%B0%EB%A6%AC&amp;searchId=5d33a80c64048439&amp;sourceType=search&amp;itemsCount=60&amp;searchRank=3&amp;rank=3&amp;traceId=mqymckwm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4F62AE4-C6AB-26E0-CBB4-9B2493E80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0199" y="4532235"/>
            <a:ext cx="2403132" cy="1263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11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79A1D-8C53-664A-5971-933F8A4DC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DBC57-2A45-8C9E-1CF7-5501FDF46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BFD297-D665-1612-AC73-BF5AB5405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4E64E0-0A5F-0A5C-714A-7A51A3C283D0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보조배터리가 전기를 </a:t>
            </a:r>
            <a:r>
              <a:rPr lang="ko-KR" altLang="en-US" sz="1600" spc="-50" dirty="0" err="1"/>
              <a:t>먹을때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입력</a:t>
            </a:r>
            <a:r>
              <a:rPr lang="en-US" altLang="ko-KR" sz="1600" spc="-50" dirty="0"/>
              <a:t>), </a:t>
            </a:r>
            <a:r>
              <a:rPr lang="ko-KR" altLang="en-US" sz="1600" spc="-50" dirty="0" err="1"/>
              <a:t>뱉을때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출력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각각의 속도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알아봤는데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보조배터리는 얼만큼의 전기에너지를 저장할 수 </a:t>
            </a:r>
            <a:r>
              <a:rPr lang="ko-KR" altLang="en-US" sz="1600" spc="-50" dirty="0" err="1"/>
              <a:t>있는걸까</a:t>
            </a:r>
            <a:r>
              <a:rPr lang="en-US" altLang="ko-KR" sz="1600" spc="-50" dirty="0"/>
              <a:t>?.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2E9281-12BD-F43C-18F1-A96033B17DD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(5,000mAh, 3.7V)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4F29D8B-D3D7-42B0-C4B8-A45790A8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6790" y="1922313"/>
            <a:ext cx="1709155" cy="25164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BF692B-8C04-1EE5-6188-DDF005E18A29}"/>
              </a:ext>
            </a:extLst>
          </p:cNvPr>
          <p:cNvSpPr txBox="1"/>
          <p:nvPr/>
        </p:nvSpPr>
        <p:spPr>
          <a:xfrm>
            <a:off x="9190199" y="5982909"/>
            <a:ext cx="261612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oupang.com/vp/products/8366830499?itemId=23627046116&amp;vendorItemId=93877214577&amp;pickType=COU_PICK&amp;q=%EB%B3%B4%EC%A1%B0%EB%B0%B0%ED%84%B0%EB%A6%AC&amp;searchId=5d33a80c64048439&amp;sourceType=search&amp;itemsCount=60&amp;searchRank=3&amp;rank=3&amp;traceId=mqymckwm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F84A17-233A-D255-9C0A-88EE14EDB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0199" y="4532235"/>
            <a:ext cx="2403132" cy="126374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9CCA4D1-69FE-CD88-27CA-1B4E2375B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1894" y="4395074"/>
            <a:ext cx="3033146" cy="20220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D5A17C-1D5F-2EFC-492B-4A76F4C56B9F}"/>
              </a:ext>
            </a:extLst>
          </p:cNvPr>
          <p:cNvSpPr txBox="1"/>
          <p:nvPr/>
        </p:nvSpPr>
        <p:spPr>
          <a:xfrm>
            <a:off x="4916170" y="5075674"/>
            <a:ext cx="2561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1</a:t>
            </a:r>
            <a:r>
              <a:rPr lang="ko-KR" altLang="en-US" sz="1800" spc="-50" dirty="0"/>
              <a:t>시간이면 완충 된다</a:t>
            </a:r>
            <a:r>
              <a:rPr lang="en-US" altLang="ko-KR" sz="1800" spc="-50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18144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9445-1143-4F1B-05FF-0FD229C2E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8B9FD-EBEF-BC18-EA28-E6D4AC36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33D763-6B87-0808-9372-6EA1CC917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6076CC-778A-1365-C0D7-25B9EDEBB79D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보조배터리로 갤럭시</a:t>
            </a:r>
            <a:r>
              <a:rPr lang="en-US" altLang="ko-KR" sz="1600" spc="-50" dirty="0"/>
              <a:t> S26</a:t>
            </a:r>
            <a:r>
              <a:rPr lang="ko-KR" altLang="en-US" sz="1600" spc="-50" dirty="0"/>
              <a:t>을 얼마나 충전할 수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DD24D-4FF2-DAD1-19D8-17E4FBFAED1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배터리용량이</a:t>
            </a:r>
            <a:r>
              <a:rPr lang="en-US" altLang="ko-KR" sz="1600" spc="-50" dirty="0"/>
              <a:t> 4,300mAh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B28BE5-71C9-E434-323D-87B010295B1A}"/>
              </a:ext>
            </a:extLst>
          </p:cNvPr>
          <p:cNvSpPr txBox="1"/>
          <p:nvPr/>
        </p:nvSpPr>
        <p:spPr>
          <a:xfrm>
            <a:off x="9190199" y="5982909"/>
            <a:ext cx="2616125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https://www.samsung.com/sec/smartphones/galaxy-s26/specs/</a:t>
            </a:r>
            <a:endParaRPr lang="ko-KR" altLang="en-US" sz="6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2C094BC-2D7E-DE15-DD69-84DEAF470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2570" y="4880617"/>
            <a:ext cx="2567074" cy="7353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E7B839C-49E1-6EF4-9797-FE7DBC298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746" y="2475047"/>
            <a:ext cx="1111307" cy="221626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F229099-61DC-BA83-1492-F0013EF04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8204" y="2208391"/>
            <a:ext cx="768389" cy="19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8992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육개장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사발면</a:t>
            </a:r>
            <a:r>
              <a:rPr lang="en-US" altLang="ko-KR" sz="1600" spc="-50" dirty="0"/>
              <a:t>): 375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코카콜라</a:t>
            </a:r>
            <a:r>
              <a:rPr lang="en-US" altLang="ko-KR" sz="1600" spc="-50" dirty="0"/>
              <a:t>(250ml): 108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시간 강풍기준</a:t>
            </a:r>
            <a:r>
              <a:rPr lang="en-US" altLang="ko-KR" sz="1600" spc="-50" dirty="0"/>
              <a:t>): 43 kcal</a:t>
            </a:r>
          </a:p>
        </p:txBody>
      </p:sp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381B5-F69D-5A39-2273-AC354F035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0BD26-1D88-9E78-E8E3-D0A432885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 보조배터리는 얼마나 쓸 수 </a:t>
            </a:r>
            <a:r>
              <a:rPr lang="ko-KR" altLang="en-US" dirty="0" err="1"/>
              <a:t>있는거야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E69D38-D683-D7D0-2D30-F833D1B1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267F87-CD27-F34A-17B4-18730B58F9B6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1J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의 에너지를 사용한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표현하는 와트시는 시간개념이 추가된다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0324397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1F357-6A49-DE19-168B-0EAFAD3E7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2C007-A731-7516-CCAF-C63539395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생활 속의 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3995-6988-6F83-E4A6-F6590AD7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F5CC3-B015-C253-EFC6-F7631681755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일상은 대개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아침에 일어나서 핸드폰을 본다</a:t>
            </a:r>
            <a:r>
              <a:rPr lang="en-US" altLang="ko-KR" sz="1600" spc="-50" dirty="0"/>
              <a:t>. (</a:t>
            </a:r>
            <a:r>
              <a:rPr lang="ko-KR" altLang="en-US" sz="1600" b="1" spc="-50" dirty="0"/>
              <a:t>전기 </a:t>
            </a:r>
            <a:r>
              <a:rPr lang="ko-KR" altLang="en-US" sz="1600" spc="-50" dirty="0"/>
              <a:t>사용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간단히 온수 샤워를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보일러를 통한 </a:t>
            </a:r>
            <a:r>
              <a:rPr lang="ko-KR" altLang="en-US" sz="1600" b="1" spc="-50" dirty="0"/>
              <a:t>가스</a:t>
            </a:r>
            <a:r>
              <a:rPr lang="ko-KR" altLang="en-US" sz="1600" spc="-50" dirty="0"/>
              <a:t> 사용 혹은 지역난방의 </a:t>
            </a:r>
            <a:r>
              <a:rPr lang="ko-KR" altLang="en-US" sz="1600" b="1" spc="-50" dirty="0"/>
              <a:t>열</a:t>
            </a:r>
            <a:r>
              <a:rPr lang="ko-KR" altLang="en-US" sz="1600" spc="-50" dirty="0"/>
              <a:t> 사용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옷을 입는다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우리가 입고 있는 옷은 대부분 합성섬유이고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합성섬유의 원료는 </a:t>
            </a:r>
            <a:r>
              <a:rPr lang="ko-KR" altLang="en-US" sz="1600" b="1" spc="-50" dirty="0"/>
              <a:t>석유제품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집을 나서서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버스나 자가용을 탄다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시내버스는 </a:t>
            </a:r>
            <a:r>
              <a:rPr lang="ko-KR" altLang="en-US" sz="1600" b="1" spc="-50" dirty="0"/>
              <a:t>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자가용은 </a:t>
            </a:r>
            <a:r>
              <a:rPr lang="ko-KR" altLang="en-US" sz="1600" b="1" spc="-50" dirty="0"/>
              <a:t>석유제품</a:t>
            </a:r>
            <a:r>
              <a:rPr lang="ko-KR" altLang="en-US" sz="1600" spc="-50" dirty="0"/>
              <a:t>을 주로 사용한다</a:t>
            </a:r>
            <a:r>
              <a:rPr lang="ko-KR" altLang="en-US" sz="1600" b="1" spc="-50" dirty="0"/>
              <a:t> 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강의실에서 에어컨 혹은 히터를 켜고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수업을 듣는다</a:t>
            </a:r>
            <a:r>
              <a:rPr lang="en-US" altLang="ko-KR" sz="1600" spc="-50" dirty="0"/>
              <a:t>. (</a:t>
            </a:r>
            <a:r>
              <a:rPr lang="ko-KR" altLang="en-US" sz="1600" b="1" spc="-50" dirty="0"/>
              <a:t>전기</a:t>
            </a:r>
            <a:r>
              <a:rPr lang="ko-KR" altLang="en-US" sz="1600" spc="-50" dirty="0"/>
              <a:t> 사용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밤이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 안에 조명을 켠다</a:t>
            </a:r>
            <a:r>
              <a:rPr lang="en-US" altLang="ko-KR" sz="1600" spc="-50" dirty="0"/>
              <a:t>. (</a:t>
            </a:r>
            <a:r>
              <a:rPr lang="ko-KR" altLang="en-US" sz="1600" b="1" spc="-50" dirty="0"/>
              <a:t>전기 </a:t>
            </a:r>
            <a:r>
              <a:rPr lang="ko-KR" altLang="en-US" sz="1600" spc="-50" dirty="0"/>
              <a:t>사용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오늘날의 현대적인 에너지 공급이 없으면 우리는 원시사회로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핸드폰이 없다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해의 위치 파악을 통해 시간을 알아야 한다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냇가에서 물을 길어와 나무를 태워 물을 데워 씻는다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동물의 가죽을 걸쳐 입는다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어디 가고 싶으면 걷거나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더우면 부채질을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추우면 옷을 껴입는다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해가 떨어지면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잘 안보인다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874051-1E3C-81AC-FF78-54B999A9621F}"/>
              </a:ext>
            </a:extLst>
          </p:cNvPr>
          <p:cNvSpPr txBox="1"/>
          <p:nvPr/>
        </p:nvSpPr>
        <p:spPr>
          <a:xfrm>
            <a:off x="7259433" y="3507679"/>
            <a:ext cx="450878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현대사회에서는 내가 굳이 일을 하지 않고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(</a:t>
            </a:r>
            <a:r>
              <a:rPr lang="ko-KR" altLang="en-US" sz="1600" b="1" spc="-50" dirty="0"/>
              <a:t>에너지</a:t>
            </a:r>
            <a:r>
              <a:rPr lang="en-US" altLang="ko-KR" sz="1600" b="1" spc="-50" dirty="0"/>
              <a:t>)</a:t>
            </a:r>
            <a:r>
              <a:rPr lang="ko-KR" altLang="en-US" sz="1600" spc="-50" dirty="0"/>
              <a:t>을 가진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등을 사용해서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매우 편리한 생활을 누리고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92640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77447-9B31-247A-CD25-C2B66CEED96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에너지는 여러 기준으로 나누어 볼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에너지로 나누어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1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어떤 가공이나 변환을 거치지 않은 자연 상태의 에너지를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다음과 같이 분류해볼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채굴하는 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등은 유한하기 때문에 </a:t>
            </a:r>
            <a:r>
              <a:rPr lang="ko-KR" altLang="en-US" sz="1600" b="1" spc="-50" dirty="0" err="1"/>
              <a:t>고갈성</a:t>
            </a:r>
            <a:r>
              <a:rPr lang="ko-KR" altLang="en-US" sz="1600" b="1" spc="-50" dirty="0"/>
              <a:t>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태양으로 </a:t>
            </a:r>
            <a:r>
              <a:rPr lang="ko-KR" altLang="en-US" sz="1600" spc="-50" dirty="0" err="1"/>
              <a:t>부터</a:t>
            </a:r>
            <a:r>
              <a:rPr lang="ko-KR" altLang="en-US" sz="1600" spc="-50" dirty="0"/>
              <a:t> 오는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바람으로 부터 오는 바람에너지는 무한하기 때문에 </a:t>
            </a:r>
            <a:r>
              <a:rPr lang="ko-KR" altLang="en-US" sz="1600" b="1" spc="-50" dirty="0"/>
              <a:t>재생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2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차에너지를 변환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가공하여 우리가 사용하기 편리하게 만든 에너지를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채굴한 석유는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불순물이 많아서 여러 석유제품들로 분류를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석유를 높은 온도에서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항공유도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휘발유도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석유는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등이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바람에너지도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태양광이나 풍력발전기를 통해 전기에너지로 바꿔야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태양광 패널에 햇빛이 닿으면 전기가 생산되고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바람이 불어서 풍력날개가 돌아가면 전기가 생산된다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9166</TotalTime>
  <Words>2364</Words>
  <Application>Microsoft Office PowerPoint</Application>
  <PresentationFormat>와이드스크린</PresentationFormat>
  <Paragraphs>223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6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1  에너지 개론</vt:lpstr>
      <vt:lpstr>Section 1. 서 론</vt:lpstr>
      <vt:lpstr>서론</vt:lpstr>
      <vt:lpstr>Energy 어원</vt:lpstr>
      <vt:lpstr>에너지의 여러가지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에너지 단위 변환 (보조배터리)</vt:lpstr>
      <vt:lpstr>에너지 단위 변환 (보조배터리)</vt:lpstr>
      <vt:lpstr>에너지 단위 변환 (보조배터리)</vt:lpstr>
      <vt:lpstr>에너지 단위 변환</vt:lpstr>
      <vt:lpstr>내 보조배터리는 얼마나 쓸 수 있는거야? </vt:lpstr>
      <vt:lpstr>생활 속의 에너지</vt:lpstr>
      <vt:lpstr>에너지 분류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291</cp:revision>
  <dcterms:created xsi:type="dcterms:W3CDTF">2025-07-05T05:15:23Z</dcterms:created>
  <dcterms:modified xsi:type="dcterms:W3CDTF">2026-06-29T08:14:18Z</dcterms:modified>
</cp:coreProperties>
</file>