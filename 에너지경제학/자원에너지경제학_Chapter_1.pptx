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41"/>
  </p:notesMasterIdLst>
  <p:sldIdLst>
    <p:sldId id="375" r:id="rId2"/>
    <p:sldId id="405" r:id="rId3"/>
    <p:sldId id="550" r:id="rId4"/>
    <p:sldId id="376" r:id="rId5"/>
    <p:sldId id="553" r:id="rId6"/>
    <p:sldId id="555" r:id="rId7"/>
    <p:sldId id="557" r:id="rId8"/>
    <p:sldId id="558" r:id="rId9"/>
    <p:sldId id="632" r:id="rId10"/>
    <p:sldId id="631" r:id="rId11"/>
    <p:sldId id="559" r:id="rId12"/>
    <p:sldId id="633" r:id="rId13"/>
    <p:sldId id="638" r:id="rId14"/>
    <p:sldId id="639" r:id="rId15"/>
    <p:sldId id="642" r:id="rId16"/>
    <p:sldId id="643" r:id="rId17"/>
    <p:sldId id="644" r:id="rId18"/>
    <p:sldId id="646" r:id="rId19"/>
    <p:sldId id="645" r:id="rId20"/>
    <p:sldId id="650" r:id="rId21"/>
    <p:sldId id="651" r:id="rId22"/>
    <p:sldId id="648" r:id="rId23"/>
    <p:sldId id="554" r:id="rId24"/>
    <p:sldId id="634" r:id="rId25"/>
    <p:sldId id="654" r:id="rId26"/>
    <p:sldId id="653" r:id="rId27"/>
    <p:sldId id="655" r:id="rId28"/>
    <p:sldId id="656" r:id="rId29"/>
    <p:sldId id="657" r:id="rId30"/>
    <p:sldId id="658" r:id="rId31"/>
    <p:sldId id="659" r:id="rId32"/>
    <p:sldId id="660" r:id="rId33"/>
    <p:sldId id="364" r:id="rId34"/>
    <p:sldId id="652" r:id="rId35"/>
    <p:sldId id="637" r:id="rId36"/>
    <p:sldId id="647" r:id="rId37"/>
    <p:sldId id="636" r:id="rId38"/>
    <p:sldId id="560" r:id="rId39"/>
    <p:sldId id="640" r:id="rId4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5F5F"/>
    <a:srgbClr val="F8F7FC"/>
    <a:srgbClr val="2D72BE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885" autoAdjust="0"/>
  </p:normalViewPr>
  <p:slideViewPr>
    <p:cSldViewPr snapToGrid="0">
      <p:cViewPr>
        <p:scale>
          <a:sx n="75" d="100"/>
          <a:sy n="75" d="100"/>
        </p:scale>
        <p:origin x="44" y="5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5661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2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online.kepco.co.kr/MYM043D00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11" Type="http://schemas.openxmlformats.org/officeDocument/2006/relationships/image" Target="../media/image50.png"/><Relationship Id="rId5" Type="http://schemas.openxmlformats.org/officeDocument/2006/relationships/image" Target="../media/image44.png"/><Relationship Id="rId10" Type="http://schemas.openxmlformats.org/officeDocument/2006/relationships/image" Target="../media/image49.png"/><Relationship Id="rId4" Type="http://schemas.openxmlformats.org/officeDocument/2006/relationships/image" Target="../media/image43.png"/><Relationship Id="rId9" Type="http://schemas.openxmlformats.org/officeDocument/2006/relationships/image" Target="../media/image48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image" Target="../media/image51.png"/><Relationship Id="rId7" Type="http://schemas.openxmlformats.org/officeDocument/2006/relationships/image" Target="../media/image45.png"/><Relationship Id="rId12" Type="http://schemas.openxmlformats.org/officeDocument/2006/relationships/image" Target="../media/image42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11" Type="http://schemas.openxmlformats.org/officeDocument/2006/relationships/image" Target="../media/image49.png"/><Relationship Id="rId5" Type="http://schemas.openxmlformats.org/officeDocument/2006/relationships/image" Target="../media/image52.png"/><Relationship Id="rId10" Type="http://schemas.openxmlformats.org/officeDocument/2006/relationships/image" Target="../media/image48.png"/><Relationship Id="rId4" Type="http://schemas.openxmlformats.org/officeDocument/2006/relationships/image" Target="../media/image44.png"/><Relationship Id="rId9" Type="http://schemas.openxmlformats.org/officeDocument/2006/relationships/image" Target="../media/image47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7.png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5400" b="1" i="0" dirty="0"/>
              <a:t>자원</a:t>
            </a:r>
            <a:r>
              <a:rPr lang="en-US" altLang="ko-KR" sz="5400" b="1" i="0" dirty="0"/>
              <a:t>·</a:t>
            </a:r>
            <a:r>
              <a:rPr lang="ko-KR" altLang="en-US" sz="5400" b="1" i="0" dirty="0"/>
              <a:t>에너지 경제학</a:t>
            </a:r>
            <a:endParaRPr lang="ko-KR" altLang="en-US" sz="4800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- 1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1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에너지 개론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서 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8E53AA-7D50-5F4A-320F-293F31547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66E9B2-B0DB-FDCD-AA50-636EA4E5B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B7B113-36A4-C1F3-9E9E-939A12CDC18C}"/>
              </a:ext>
            </a:extLst>
          </p:cNvPr>
          <p:cNvSpPr txBox="1"/>
          <p:nvPr/>
        </p:nvSpPr>
        <p:spPr>
          <a:xfrm>
            <a:off x="288790" y="958844"/>
            <a:ext cx="11693660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지구가 어떻게 돌아가는지</a:t>
            </a:r>
            <a:r>
              <a:rPr lang="en-US" altLang="ko-KR" sz="1600" spc="-50" dirty="0"/>
              <a:t>?? (</a:t>
            </a:r>
            <a:r>
              <a:rPr lang="ko-KR" altLang="en-US" sz="1600" spc="-50" dirty="0"/>
              <a:t>우주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계절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순환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원자 등등</a:t>
            </a:r>
            <a:r>
              <a:rPr lang="en-US" altLang="ko-KR" sz="1600" spc="-50"/>
              <a:t>?)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</a:t>
            </a:r>
            <a:r>
              <a:rPr lang="ko-KR" altLang="en-US" sz="1600" spc="-50" dirty="0"/>
              <a:t>차 에너지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차에너지 구분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 시스템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 단위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에너지란 무엇인가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일상생활에서 쓰는 에너지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521771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A59493-3237-2060-E05C-530AD0749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1C7A22-C443-A102-E0E1-84852DA4B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Energy </a:t>
            </a:r>
            <a:r>
              <a:rPr lang="ko-KR" altLang="en-US" dirty="0"/>
              <a:t>어원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628BB4-220F-FFBE-B592-D8DC1F4E19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193383-2897-A54A-2C79-6228A995A1E3}"/>
              </a:ext>
            </a:extLst>
          </p:cNvPr>
          <p:cNvSpPr txBox="1"/>
          <p:nvPr/>
        </p:nvSpPr>
        <p:spPr>
          <a:xfrm>
            <a:off x="288790" y="958844"/>
            <a:ext cx="11693660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energy = </a:t>
            </a:r>
            <a:r>
              <a:rPr lang="en-US" altLang="ko-KR" sz="1600" spc="-50" dirty="0" err="1"/>
              <a:t>en</a:t>
            </a:r>
            <a:r>
              <a:rPr lang="en-US" altLang="ko-KR" sz="1600" spc="-50" dirty="0"/>
              <a:t> + </a:t>
            </a:r>
            <a:r>
              <a:rPr lang="en-US" altLang="ko-KR" sz="1600" spc="-50" dirty="0" err="1"/>
              <a:t>ergy</a:t>
            </a:r>
            <a:r>
              <a:rPr lang="en-US" altLang="ko-KR" sz="1600" spc="-50" dirty="0"/>
              <a:t>   : </a:t>
            </a:r>
            <a:r>
              <a:rPr lang="ko-KR" altLang="en-US" sz="1600" spc="-50" dirty="0"/>
              <a:t>고대 그리스어로 풀어보면 아래와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 err="1"/>
              <a:t>en</a:t>
            </a:r>
            <a:r>
              <a:rPr lang="en-US" altLang="ko-KR" sz="1600" spc="-50" dirty="0"/>
              <a:t> = -</a:t>
            </a:r>
            <a:r>
              <a:rPr lang="ko-KR" altLang="en-US" sz="1600" spc="-50" dirty="0"/>
              <a:t>안에</a:t>
            </a:r>
            <a:r>
              <a:rPr lang="en-US" altLang="ko-KR" sz="1600" spc="-50" dirty="0"/>
              <a:t>, -</a:t>
            </a:r>
            <a:r>
              <a:rPr lang="ko-KR" altLang="en-US" sz="1600" spc="-50" dirty="0"/>
              <a:t>내부에 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현대 영어로 넘어오면서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안에 넣다</a:t>
            </a:r>
            <a:r>
              <a:rPr lang="en-US" altLang="ko-KR" sz="1600" spc="-50" dirty="0"/>
              <a:t>‘ → ‘~</a:t>
            </a:r>
            <a:r>
              <a:rPr lang="ko-KR" altLang="en-US" sz="1600" spc="-50" dirty="0"/>
              <a:t>하게 만들다</a:t>
            </a:r>
            <a:r>
              <a:rPr lang="en-US" altLang="ko-KR" sz="1600" spc="-50" dirty="0"/>
              <a:t>‘ </a:t>
            </a:r>
            <a:r>
              <a:rPr lang="ko-KR" altLang="en-US" sz="1600" spc="-50" dirty="0"/>
              <a:t> 라는 식으로 의미 변화가 일어났다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예제</a:t>
            </a:r>
            <a:r>
              <a:rPr lang="en-US" altLang="ko-KR" sz="1600" spc="-50" dirty="0"/>
              <a:t>) </a:t>
            </a:r>
            <a:r>
              <a:rPr lang="en-US" altLang="ko-KR" sz="1600" b="1" spc="-50" dirty="0"/>
              <a:t>en</a:t>
            </a:r>
            <a:r>
              <a:rPr lang="en-US" altLang="ko-KR" sz="1600" spc="-50" dirty="0"/>
              <a:t>able: </a:t>
            </a:r>
            <a:r>
              <a:rPr lang="ko-KR" altLang="en-US" sz="1600" spc="-50" dirty="0"/>
              <a:t>가능하게 하다</a:t>
            </a:r>
            <a:r>
              <a:rPr lang="en-US" altLang="ko-KR" sz="1600" spc="-50" dirty="0"/>
              <a:t>,  </a:t>
            </a:r>
            <a:r>
              <a:rPr lang="en-US" altLang="ko-KR" sz="1600" b="1" spc="-50" dirty="0"/>
              <a:t>en</a:t>
            </a:r>
            <a:r>
              <a:rPr lang="en-US" altLang="ko-KR" sz="1600" spc="-50" dirty="0"/>
              <a:t>rich:</a:t>
            </a:r>
            <a:r>
              <a:rPr lang="ko-KR" altLang="en-US" sz="1600" spc="-50" dirty="0"/>
              <a:t> 풍요롭게 하다</a:t>
            </a:r>
            <a:r>
              <a:rPr lang="en-US" altLang="ko-KR" sz="1600" spc="-50" dirty="0"/>
              <a:t>, </a:t>
            </a:r>
            <a:r>
              <a:rPr lang="en-US" altLang="ko-KR" sz="1600" b="1" spc="-50" dirty="0"/>
              <a:t>en</a:t>
            </a:r>
            <a:r>
              <a:rPr lang="en-US" altLang="ko-KR" sz="1600" spc="-50" dirty="0"/>
              <a:t>courage: </a:t>
            </a:r>
            <a:r>
              <a:rPr lang="ko-KR" altLang="en-US" sz="1600" spc="-50" dirty="0"/>
              <a:t>용기를 북돋다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 err="1"/>
              <a:t>ergy</a:t>
            </a:r>
            <a:r>
              <a:rPr lang="en-US" altLang="ko-KR" sz="1600" spc="-50" dirty="0"/>
              <a:t> = </a:t>
            </a:r>
            <a:r>
              <a:rPr lang="ko-KR" altLang="en-US" sz="1600" spc="-50" dirty="0"/>
              <a:t>일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ergon</a:t>
            </a:r>
            <a:r>
              <a:rPr lang="ko-KR" altLang="en-US" sz="1600" spc="-50" dirty="0"/>
              <a:t>은 일</a:t>
            </a:r>
            <a:r>
              <a:rPr lang="en-US" altLang="ko-KR" sz="1600" spc="-50" dirty="0"/>
              <a:t>(work)</a:t>
            </a:r>
            <a:r>
              <a:rPr lang="ko-KR" altLang="en-US" sz="1600" spc="-50" dirty="0"/>
              <a:t>을 뜻하는 그리스어 단어</a:t>
            </a:r>
            <a:r>
              <a:rPr lang="en-US" altLang="ko-KR" sz="1600" spc="-50" dirty="0"/>
              <a:t>. ergon</a:t>
            </a:r>
            <a:r>
              <a:rPr lang="ko-KR" altLang="en-US" sz="1600" spc="-50" dirty="0"/>
              <a:t>의 파생형이</a:t>
            </a:r>
            <a:r>
              <a:rPr lang="en-US" altLang="ko-KR" sz="1600" spc="-50" dirty="0"/>
              <a:t> </a:t>
            </a:r>
            <a:r>
              <a:rPr lang="en-US" altLang="ko-KR" sz="1600" spc="-50" dirty="0" err="1"/>
              <a:t>ergy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예제</a:t>
            </a:r>
            <a:r>
              <a:rPr lang="en-US" altLang="ko-KR" sz="1600" spc="-50" dirty="0"/>
              <a:t>) </a:t>
            </a:r>
            <a:r>
              <a:rPr lang="en-US" altLang="ko-KR" sz="1600" b="1" spc="-50" dirty="0"/>
              <a:t>erg</a:t>
            </a:r>
            <a:r>
              <a:rPr lang="en-US" altLang="ko-KR" sz="1600" spc="-50" dirty="0"/>
              <a:t>onomics: </a:t>
            </a:r>
            <a:r>
              <a:rPr lang="ko-KR" altLang="en-US" sz="1600" spc="-50" dirty="0"/>
              <a:t>인체공학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일을 효율적으로 하는 법칙</a:t>
            </a:r>
            <a:r>
              <a:rPr lang="en-US" altLang="ko-KR" sz="1600" spc="-50" dirty="0"/>
              <a:t>))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따라서 </a:t>
            </a:r>
            <a:r>
              <a:rPr lang="en-US" altLang="ko-KR" sz="1600" spc="-50" dirty="0"/>
              <a:t>energy</a:t>
            </a:r>
            <a:r>
              <a:rPr lang="ko-KR" altLang="en-US" sz="1600" spc="-50" dirty="0"/>
              <a:t>는 원래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일</a:t>
            </a:r>
            <a:r>
              <a:rPr lang="en-US" altLang="ko-KR" sz="1600" spc="-50" dirty="0"/>
              <a:t>(work)</a:t>
            </a:r>
            <a:r>
              <a:rPr lang="ko-KR" altLang="en-US" sz="1600" spc="-50" dirty="0"/>
              <a:t>이 안에 있는 상태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를 의미한다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이것이 오늘날 </a:t>
            </a:r>
            <a:r>
              <a:rPr lang="en-US" altLang="ko-KR" sz="1600" b="1" spc="-50" dirty="0"/>
              <a:t>‘</a:t>
            </a:r>
            <a:r>
              <a:rPr lang="ko-KR" altLang="en-US" sz="1600" b="1" spc="-50" dirty="0"/>
              <a:t>일을 할 수 있는 능력</a:t>
            </a:r>
            <a:r>
              <a:rPr lang="en-US" altLang="ko-KR" sz="1600" b="1" spc="-50" dirty="0"/>
              <a:t>’</a:t>
            </a:r>
            <a:r>
              <a:rPr lang="ko-KR" altLang="en-US" sz="1600" spc="-50" dirty="0"/>
              <a:t> 이라는 의미로 발전하였다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0E6184C-191A-AA52-FF3B-32CFB93EFC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42284" y="3067663"/>
            <a:ext cx="2968222" cy="110736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2BA0A74-7ED3-F1FC-795A-ED8D9FCD9AB5}"/>
              </a:ext>
            </a:extLst>
          </p:cNvPr>
          <p:cNvSpPr txBox="1"/>
          <p:nvPr/>
        </p:nvSpPr>
        <p:spPr>
          <a:xfrm>
            <a:off x="9070142" y="2806053"/>
            <a:ext cx="231250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spc="-50" dirty="0"/>
              <a:t>&lt;</a:t>
            </a:r>
            <a:r>
              <a:rPr lang="ko-KR" altLang="en-US" sz="1100" spc="-50" dirty="0"/>
              <a:t>인체공학 키보드의 모델명</a:t>
            </a:r>
            <a:r>
              <a:rPr lang="en-US" altLang="ko-KR" sz="1100" spc="-50" dirty="0"/>
              <a:t>:</a:t>
            </a:r>
            <a:r>
              <a:rPr lang="ko-KR" altLang="en-US" sz="1100" spc="-50" dirty="0"/>
              <a:t> </a:t>
            </a:r>
            <a:r>
              <a:rPr lang="en-US" altLang="ko-KR" sz="1100" spc="-50" dirty="0"/>
              <a:t>ergo&gt;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6599328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71EBB-D2D8-9617-09A3-D11B6FF72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22F78D-FB98-8132-782C-C73E86EAE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에너지의 여러가지 형태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8B8E7D-C741-21A2-7291-9DF4D24623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2EDD64-57EE-174F-25CE-330DED40693E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직접 눈에 보이지는 않지만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일상 생활을 하다 보면 여러가지 형태의 에너지를 감지할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빛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햇빛이나 조명</a:t>
            </a:r>
            <a:r>
              <a:rPr lang="en-US" altLang="ko-KR" sz="1600" spc="-50" dirty="0"/>
              <a:t>(LED, </a:t>
            </a:r>
            <a:r>
              <a:rPr lang="ko-KR" altLang="en-US" sz="1600" spc="-50" dirty="0"/>
              <a:t>백열등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빛은 주변을 밝게 비추고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빛이 우리 눈에 들어와 사물을 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소리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사람 목소리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스피커 등에서 발생하는 소리는 공기의 진동이 우리 귀에 전달된다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열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따뜻한 커피가 담긴 컵을 만지면 열이 전달되면서 손이 따뜻하게 느껴진다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운동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달리는 자동차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흐르는 강물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 움직이는 모든 물체는 운동 에너지를 갖는다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전기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충전된 핸드폰으로 여러가지 일을 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자기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냉장고에 자석을 가까이 대면 저절로 움직여서 붙는다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위치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높은 곳에 있는 물체는 아래로 떨어지기 마련이다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화학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석탄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천연가스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음식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배터리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등에는 화학 결합 속에 에너지가 저장되어 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핵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원자핵 내부에는 막대한 에너지가 저장되어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원자력발전을 통해 이용할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222211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C3140-3073-FAD2-0D3D-7546D5E99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926CD74-A62C-1AA6-BED3-B2CCB7F56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다양한 에너지 변환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A9CD73-B454-8B86-0FC5-CC8697C9DA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50CC514-5395-6E71-C8E4-133A03D17712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우리는 다양한 에너지 형태를 상황에 맞게 편리한 형태로 바꾸어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에너지 변환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 가면서 생활한다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헤어드라이기는</a:t>
            </a:r>
            <a:r>
              <a:rPr lang="ko-KR" altLang="en-US" sz="1600" spc="-50" dirty="0"/>
              <a:t> 전기를 열 에너지와 운동에너지로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콘센트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꼽으면 뜨거운 바람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열</a:t>
            </a:r>
            <a:r>
              <a:rPr lang="en-US" altLang="ko-KR" sz="1600" spc="-50" dirty="0"/>
              <a:t>+</a:t>
            </a:r>
            <a:r>
              <a:rPr lang="ko-KR" altLang="en-US" sz="1600" spc="-50" dirty="0"/>
              <a:t>운동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 나온다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사람 몸은 화학에너지를 운동에너지로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음식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화학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먹으면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걷고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뛰고 </a:t>
            </a:r>
            <a:r>
              <a:rPr lang="ko-KR" altLang="en-US" sz="1600" spc="-50" dirty="0" err="1"/>
              <a:t>움직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운동</a:t>
            </a:r>
            <a:r>
              <a:rPr lang="en-US" altLang="ko-KR" sz="1600" spc="-50" dirty="0"/>
              <a:t>+</a:t>
            </a:r>
            <a:r>
              <a:rPr lang="ko-KR" altLang="en-US" sz="1600" spc="-50" dirty="0"/>
              <a:t>열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일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선풍기는 전기에너지를 운동에너지로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콘센트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꼽으면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날개가 돌아가서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운동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 바람이 분다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풍력발전은 운동에너지를 전기에너지로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바람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운동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 불면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날개가 돌아가서 전기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가 생성된다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자동차는 화학에너지를 열에너지로 바꾸고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열에너지는 다시 운동에너지로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휘발유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화학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연소시켜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고온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고압의 가스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열에너지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가 피스톤을 움직여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바퀴가 돌아간다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운동에너지</a:t>
            </a:r>
            <a:r>
              <a:rPr lang="en-US" altLang="ko-KR" sz="1600" spc="-50" dirty="0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14179433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84B9DF-0E27-4FE3-8CA6-663D5F8928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281199-1994-9321-1DE5-4A2347B7F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측정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40A506-1B5D-1AF9-3782-5B291087FB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FC863E-D264-ABEC-C0AC-5A8C80DED4F6}"/>
              </a:ext>
            </a:extLst>
          </p:cNvPr>
          <p:cNvSpPr txBox="1"/>
          <p:nvPr/>
        </p:nvSpPr>
        <p:spPr>
          <a:xfrm>
            <a:off x="288790" y="958844"/>
            <a:ext cx="11222932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 단위는 줄</a:t>
            </a:r>
            <a:r>
              <a:rPr lang="en-US" altLang="ko-KR" sz="1600" spc="-50" dirty="0"/>
              <a:t>(Joule)</a:t>
            </a:r>
            <a:r>
              <a:rPr lang="ko-KR" altLang="en-US" sz="1600" spc="-50" dirty="0"/>
              <a:t>로 측정한다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물리학적으로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줄이란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뉴턴</a:t>
            </a:r>
            <a:r>
              <a:rPr lang="en-US" altLang="ko-KR" sz="1600" spc="-50" dirty="0"/>
              <a:t>(N, Newton)</a:t>
            </a:r>
            <a:r>
              <a:rPr lang="ko-KR" altLang="en-US" sz="1600" spc="-50" dirty="0"/>
              <a:t>의 힘으로 물체를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미터 </a:t>
            </a:r>
            <a:r>
              <a:rPr lang="en-US" altLang="ko-KR" sz="1600" spc="-50" dirty="0"/>
              <a:t>(m, meter) </a:t>
            </a:r>
            <a:r>
              <a:rPr lang="ko-KR" altLang="en-US" sz="1600" spc="-50" dirty="0"/>
              <a:t>이동시키는데 필요한 에너지로 정의된다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여기서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뉴턴이란 질량 </a:t>
            </a:r>
            <a:r>
              <a:rPr lang="en-US" altLang="ko-KR" sz="1600" spc="-50" dirty="0"/>
              <a:t>1kg</a:t>
            </a:r>
            <a:r>
              <a:rPr lang="ko-KR" altLang="en-US" sz="1600" spc="-50" dirty="0"/>
              <a:t>인 물체를 </a:t>
            </a:r>
            <a:r>
              <a:rPr lang="en-US" altLang="ko-KR" sz="1600" spc="-50" dirty="0"/>
              <a:t>1m/s</a:t>
            </a:r>
            <a:r>
              <a:rPr lang="en-US" altLang="ko-KR" sz="1600" spc="-50" baseline="30000" dirty="0"/>
              <a:t>2 </a:t>
            </a:r>
            <a:r>
              <a:rPr lang="ko-KR" altLang="en-US" sz="1600" spc="-50" dirty="0"/>
              <a:t>의 가속도로 움직이게 하는 힘 으로 정의된다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1kg</a:t>
            </a:r>
            <a:r>
              <a:rPr lang="ko-KR" altLang="en-US" sz="1600" spc="-50" dirty="0"/>
              <a:t> </a:t>
            </a:r>
            <a:r>
              <a:rPr lang="ko-KR" altLang="en-US" sz="1600" spc="-50" dirty="0" err="1"/>
              <a:t>짜리</a:t>
            </a:r>
            <a:r>
              <a:rPr lang="ko-KR" altLang="en-US" sz="1600" spc="-50" dirty="0"/>
              <a:t> 물체에 </a:t>
            </a:r>
            <a:r>
              <a:rPr lang="en-US" altLang="ko-KR" sz="1600" spc="-50" dirty="0"/>
              <a:t>1N</a:t>
            </a:r>
            <a:r>
              <a:rPr lang="ko-KR" altLang="en-US" sz="1600" spc="-50" dirty="0"/>
              <a:t>의 힘을 가하면 그 물체는 </a:t>
            </a:r>
            <a:r>
              <a:rPr lang="en-US" altLang="ko-KR" sz="1600" spc="-50" dirty="0"/>
              <a:t>1m/s</a:t>
            </a:r>
            <a:r>
              <a:rPr lang="en-US" altLang="ko-KR" sz="1600" spc="-50" baseline="30000" dirty="0"/>
              <a:t>2  </a:t>
            </a:r>
            <a:r>
              <a:rPr lang="ko-KR" altLang="en-US" sz="1600" spc="-50" dirty="0"/>
              <a:t>의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가속도를 갖는다는 말로 이해해도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1N</a:t>
            </a:r>
            <a:r>
              <a:rPr lang="ko-KR" altLang="en-US" sz="1600" spc="-50" dirty="0"/>
              <a:t>의 힘으로 물체를 </a:t>
            </a:r>
            <a:r>
              <a:rPr lang="en-US" altLang="ko-KR" sz="1600" spc="-50" dirty="0"/>
              <a:t>1m </a:t>
            </a:r>
            <a:r>
              <a:rPr lang="ko-KR" altLang="en-US" sz="1600" spc="-50" dirty="0"/>
              <a:t>이동시키면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그때 사용된 에너지는 </a:t>
            </a:r>
            <a:r>
              <a:rPr lang="en-US" altLang="ko-KR" sz="1600" spc="-50" dirty="0"/>
              <a:t>1J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참고로</a:t>
            </a:r>
            <a:r>
              <a:rPr lang="en-US" altLang="ko-KR" sz="1600" spc="-50" dirty="0"/>
              <a:t>, 1N</a:t>
            </a:r>
            <a:r>
              <a:rPr lang="ko-KR" altLang="en-US" sz="1600" spc="-50" dirty="0"/>
              <a:t>은 </a:t>
            </a:r>
            <a:r>
              <a:rPr lang="en-US" altLang="ko-KR" sz="1600" spc="-50" dirty="0"/>
              <a:t>100g</a:t>
            </a:r>
            <a:r>
              <a:rPr lang="ko-KR" altLang="en-US" sz="1600" spc="-50" dirty="0"/>
              <a:t>의 물체를 손으로 들고 있을 때 필요한 힘과 비슷하다</a:t>
            </a:r>
            <a:r>
              <a:rPr lang="en-US" altLang="ko-KR" sz="1600" spc="-50" dirty="0"/>
              <a:t>..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달걀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개</a:t>
            </a:r>
            <a:r>
              <a:rPr lang="en-US" altLang="ko-KR" sz="1600" spc="-50" dirty="0"/>
              <a:t>   </a:t>
            </a:r>
            <a:r>
              <a:rPr lang="ko-KR" altLang="en-US" sz="1600" spc="-50" dirty="0"/>
              <a:t>혹은  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물이 </a:t>
            </a:r>
            <a:r>
              <a:rPr lang="ko-KR" altLang="en-US" sz="1600" spc="-50" dirty="0" err="1"/>
              <a:t>반쯤</a:t>
            </a:r>
            <a:r>
              <a:rPr lang="ko-KR" altLang="en-US" sz="1600" spc="-50" dirty="0"/>
              <a:t> 담긴 종이컵   정도가 </a:t>
            </a:r>
            <a:r>
              <a:rPr lang="en-US" altLang="ko-KR" sz="1600" spc="-50" dirty="0"/>
              <a:t>100g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내가 달걀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개를 들고 있을 때 손에 주고 있는 힘이 약 </a:t>
            </a:r>
            <a:r>
              <a:rPr lang="en-US" altLang="ko-KR" sz="1600" spc="-50" dirty="0"/>
              <a:t>1N</a:t>
            </a:r>
            <a:r>
              <a:rPr lang="ko-KR" altLang="en-US" sz="1600" spc="-50" dirty="0"/>
              <a:t>이라고 생각하면 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564644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CFA1B6-E47A-D862-B031-D34E3D08D6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3F8651-5FC5-5703-3451-0D53AEC02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측정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4E82B3-8268-AAE8-34C5-6EA6C6D7A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C8F547-D35E-D5EC-2E7E-29A19E15EA4C}"/>
              </a:ext>
            </a:extLst>
          </p:cNvPr>
          <p:cNvSpPr txBox="1"/>
          <p:nvPr/>
        </p:nvSpPr>
        <p:spPr>
          <a:xfrm>
            <a:off x="288790" y="958844"/>
            <a:ext cx="11222932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살펴본 모든 에너지 형태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빛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운동 </a:t>
            </a:r>
            <a:r>
              <a:rPr lang="en-US" altLang="ko-KR" sz="1600" spc="-50" dirty="0"/>
              <a:t>··· </a:t>
            </a:r>
            <a:r>
              <a:rPr lang="ko-KR" altLang="en-US" sz="1600" spc="-50" dirty="0"/>
              <a:t>등등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에 대해 그 에너지의 양은 모두 줄</a:t>
            </a:r>
            <a:r>
              <a:rPr lang="en-US" altLang="ko-KR" sz="1600" spc="-50" dirty="0"/>
              <a:t>(J)</a:t>
            </a:r>
            <a:r>
              <a:rPr lang="ko-KR" altLang="en-US" sz="1600" spc="-50" dirty="0"/>
              <a:t>로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측정이 가능하다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우리가 생활하면서 보는 에너지 대부분의 단위는 </a:t>
            </a:r>
            <a:r>
              <a:rPr lang="en-US" altLang="ko-KR" sz="1600" spc="-50" dirty="0"/>
              <a:t>kcal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kWh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다음 슬라이드부터 에너지의 단위 변환에 대해 알아보자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D328AF8-A4BE-AA60-0ED1-7AF2A271E5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0144" y="2749634"/>
            <a:ext cx="2072588" cy="251571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B512B3A1-5734-C2EE-0F96-5F5D8386F9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202" y="2696634"/>
            <a:ext cx="2653659" cy="2568718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D5322CA7-4791-1675-D425-2B68AD88AC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0497" y="2892413"/>
            <a:ext cx="1536740" cy="441813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CD940511-665C-7270-4810-17D2F4CD430B}"/>
              </a:ext>
            </a:extLst>
          </p:cNvPr>
          <p:cNvSpPr txBox="1"/>
          <p:nvPr/>
        </p:nvSpPr>
        <p:spPr>
          <a:xfrm>
            <a:off x="7660218" y="3060660"/>
            <a:ext cx="2118783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4400" spc="-50"/>
              <a:t>우리집 전기요금표</a:t>
            </a:r>
            <a:endParaRPr lang="ko-KR" altLang="en-US" sz="4400" dirty="0"/>
          </a:p>
        </p:txBody>
      </p:sp>
    </p:spTree>
    <p:extLst>
      <p:ext uri="{BB962C8B-B14F-4D97-AF65-F5344CB8AC3E}">
        <p14:creationId xmlns:p14="http://schemas.microsoft.com/office/powerpoint/2010/main" val="7971732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03222F-C683-AD65-D283-AE30AFDA8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(</a:t>
            </a:r>
            <a:r>
              <a:rPr lang="ko-KR" altLang="en-US" dirty="0"/>
              <a:t>참고자료</a:t>
            </a:r>
            <a:r>
              <a:rPr lang="en-US" altLang="ko-KR" dirty="0"/>
              <a:t>) SI </a:t>
            </a:r>
            <a:r>
              <a:rPr lang="ko-KR" altLang="en-US" dirty="0"/>
              <a:t>접두어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8583F4-A729-47CF-A318-D08799C0ED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FA2FB6-C5ED-9F02-34BB-9636C91CEC3B}"/>
              </a:ext>
            </a:extLst>
          </p:cNvPr>
          <p:cNvSpPr txBox="1"/>
          <p:nvPr/>
        </p:nvSpPr>
        <p:spPr>
          <a:xfrm>
            <a:off x="288790" y="958844"/>
            <a:ext cx="11229216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평소에 들어본 킬로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, 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메가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, 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기가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 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이런 단위가 </a:t>
            </a:r>
            <a:r>
              <a:rPr lang="ko-KR" altLang="en-US" sz="1600" b="1" u="sng" dirty="0" err="1">
                <a:ln w="3175">
                  <a:noFill/>
                </a:ln>
                <a:latin typeface="+mn-ea"/>
              </a:rPr>
              <a:t>뭘까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?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킬로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메가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기가와 같은 단위를 </a:t>
            </a:r>
            <a:r>
              <a:rPr lang="en-US" altLang="ko-KR" sz="1600" spc="-50" dirty="0"/>
              <a:t>SI </a:t>
            </a:r>
            <a:r>
              <a:rPr lang="ko-KR" altLang="en-US" sz="1600" spc="-50" dirty="0" err="1"/>
              <a:t>접두어라고</a:t>
            </a:r>
            <a:r>
              <a:rPr lang="ko-KR" altLang="en-US" sz="1600" spc="-50" dirty="0"/>
              <a:t>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너무 큰 숫자를 표기할 때</a:t>
            </a:r>
            <a:r>
              <a:rPr lang="en-US" altLang="ko-KR" sz="1600" spc="-50" dirty="0"/>
              <a:t>, 0</a:t>
            </a:r>
            <a:r>
              <a:rPr lang="ko-KR" altLang="en-US" sz="1600" spc="-50" dirty="0"/>
              <a:t>을 보기 힘들게 많이 표시하지 말고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접두어를</a:t>
            </a:r>
            <a:r>
              <a:rPr lang="ko-KR" altLang="en-US" sz="1600" spc="-50" dirty="0"/>
              <a:t> 활용하자는 약속이다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첫번째 파일의 크기는 눈에 쉽게 들어오고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읽기도 편하다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오른쪽 예시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두번째 파일의 크기는 바로 눈에 쉽게 안 들어오고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읽기 불편하다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이러한 불편함을 없애고자 </a:t>
            </a:r>
            <a:r>
              <a:rPr lang="en-US" altLang="ko-KR" sz="1600" spc="-50" dirty="0"/>
              <a:t>1,000</a:t>
            </a:r>
            <a:r>
              <a:rPr lang="ko-KR" altLang="en-US" sz="1600" spc="-50" dirty="0"/>
              <a:t>배씩 단위를 만들어 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SI </a:t>
            </a:r>
            <a:r>
              <a:rPr lang="ko-KR" altLang="en-US" sz="1600" spc="-50" dirty="0" err="1"/>
              <a:t>접두어를</a:t>
            </a:r>
            <a:r>
              <a:rPr lang="ko-KR" altLang="en-US" sz="1600" spc="-50" dirty="0"/>
              <a:t> 활용해서 두번째 파일을 읽어보면 </a:t>
            </a:r>
            <a:r>
              <a:rPr lang="en-US" altLang="ko-KR" sz="1600" spc="-50" dirty="0"/>
              <a:t>107.9</a:t>
            </a:r>
            <a:r>
              <a:rPr lang="ko-KR" altLang="en-US" sz="1600" spc="-50" dirty="0"/>
              <a:t>메가바이트 혹은 </a:t>
            </a:r>
            <a:r>
              <a:rPr lang="en-US" altLang="ko-KR" sz="1600" spc="-50" dirty="0"/>
              <a:t>1.079 </a:t>
            </a:r>
            <a:r>
              <a:rPr lang="ko-KR" altLang="en-US" sz="1600" spc="-50" dirty="0"/>
              <a:t>기가바이트 라고 읽을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한밭대에서 부산역까지 거리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고속도로 기준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가 </a:t>
            </a:r>
            <a:r>
              <a:rPr lang="en-US" altLang="ko-KR" sz="1600" spc="-50" dirty="0"/>
              <a:t>275km</a:t>
            </a:r>
            <a:r>
              <a:rPr lang="ko-KR" altLang="en-US" sz="1600" spc="-50" dirty="0"/>
              <a:t>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</a:t>
            </a:r>
            <a:r>
              <a:rPr lang="en-US" altLang="ko-KR" sz="1600" spc="-50" dirty="0"/>
              <a:t>0.284Mm (</a:t>
            </a:r>
            <a:r>
              <a:rPr lang="ko-KR" altLang="en-US" sz="1600" spc="-50" dirty="0" err="1"/>
              <a:t>메가미터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로 표현할 수도 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내 몸무게를 </a:t>
            </a:r>
            <a:r>
              <a:rPr lang="en-US" altLang="ko-KR" sz="1600" spc="-50" dirty="0"/>
              <a:t>70,000g </a:t>
            </a:r>
            <a:r>
              <a:rPr lang="ko-KR" altLang="en-US" sz="1600" spc="-50" dirty="0"/>
              <a:t>이라고 이야기할 수도 있고</a:t>
            </a:r>
            <a:r>
              <a:rPr lang="en-US" altLang="ko-KR" sz="1600" spc="-50" dirty="0"/>
              <a:t>, 70kg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0.07Mg </a:t>
            </a:r>
            <a:r>
              <a:rPr lang="ko-KR" altLang="en-US" sz="1600" spc="-50" dirty="0"/>
              <a:t>이라고 표현할 수도 있다</a:t>
            </a:r>
            <a:r>
              <a:rPr lang="en-US" altLang="ko-KR" sz="1600" spc="-50" dirty="0"/>
              <a:t>.</a:t>
            </a:r>
          </a:p>
          <a:p>
            <a:pPr marL="92075">
              <a:lnSpc>
                <a:spcPct val="150000"/>
              </a:lnSpc>
            </a:pPr>
            <a:r>
              <a:rPr lang="en-US" altLang="ko-KR" sz="1600" spc="-50" dirty="0"/>
              <a:t>※  </a:t>
            </a:r>
            <a:r>
              <a:rPr lang="ko-KR" altLang="en-US" sz="1600" spc="-50" dirty="0"/>
              <a:t>이런 식으로 읽어도 틀린 말은 아니지만 보통 일상생활에서는 상대방이 알아듣기 쉽게 적절한 단위를 쓰며 생활하자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7039E972-0D3D-2DAA-CAEB-C7C3ABFCC2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3852" y="2368348"/>
            <a:ext cx="4339358" cy="769513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B17D570E-DFCE-B125-7566-3F3CB9847C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8538922"/>
              </p:ext>
            </p:extLst>
          </p:nvPr>
        </p:nvGraphicFramePr>
        <p:xfrm>
          <a:off x="917945" y="3264003"/>
          <a:ext cx="6156757" cy="1733291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539189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539189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1539190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539189">
                  <a:extLst>
                    <a:ext uri="{9D8B030D-6E8A-4147-A177-3AD203B41FA5}">
                      <a16:colId xmlns:a16="http://schemas.microsoft.com/office/drawing/2014/main" val="65536541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이름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기호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의 거듭제곱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십진법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밀리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킬로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73522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메가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1,000,000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45653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기가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1,000,000,000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55957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테라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1,000,000,000,000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6922772"/>
                  </a:ext>
                </a:extLst>
              </a:tr>
              <a:tr h="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···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계속해서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배씩 나가며 현재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</a:t>
                      </a:r>
                      <a:r>
                        <a:rPr lang="en-US" altLang="ko-KR" sz="1300" b="0" kern="0" spc="0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ko-KR" altLang="en-US" sz="1300" b="0" kern="0" spc="0" baseline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퀘타</a:t>
                      </a:r>
                      <a:r>
                        <a:rPr lang="en-US" altLang="ko-KR" sz="1300" b="0" kern="0" spc="0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ko-KR" sz="1300" b="0" kern="0" spc="0" baseline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quetta</a:t>
                      </a:r>
                      <a:r>
                        <a:rPr lang="en-US" altLang="ko-KR" sz="1300" b="0" kern="0" spc="0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Q)</a:t>
                      </a:r>
                      <a:r>
                        <a:rPr lang="ko-KR" altLang="en-US" sz="1300" b="0" kern="0" spc="0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까지 정의되어 있음</a:t>
                      </a:r>
                      <a:endParaRPr lang="en-US" altLang="ko-KR" sz="1300" b="0" kern="0" spc="0" baseline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811468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BF624-26E9-2E60-F460-597C1B6DA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3A0CB6-A471-A379-E6F2-9D851173AB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 </a:t>
            </a:r>
            <a:r>
              <a:rPr lang="en-US" altLang="ko-KR" dirty="0"/>
              <a:t>(</a:t>
            </a:r>
            <a:r>
              <a:rPr lang="ko-KR" altLang="en-US" dirty="0"/>
              <a:t>콜라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B18857-BE01-254C-4058-2D3ACC4291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27916E-1F92-C0E3-A9D4-F760E4E298A6}"/>
              </a:ext>
            </a:extLst>
          </p:cNvPr>
          <p:cNvSpPr txBox="1"/>
          <p:nvPr/>
        </p:nvSpPr>
        <p:spPr>
          <a:xfrm>
            <a:off x="288790" y="958844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우리는 줄</a:t>
            </a:r>
            <a:r>
              <a:rPr lang="en-US" altLang="ko-KR" sz="1600" spc="-50" dirty="0"/>
              <a:t>(J)</a:t>
            </a:r>
            <a:r>
              <a:rPr lang="ko-KR" altLang="en-US" sz="1600" spc="-50" dirty="0"/>
              <a:t> 이라는 단위보다 음식 포장지에 적힌 칼로리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, calorie)</a:t>
            </a:r>
            <a:r>
              <a:rPr lang="ko-KR" altLang="en-US" sz="1600" spc="-50" dirty="0"/>
              <a:t> 라고 하는 단위가 더 익숙하다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우리가 길이를 </a:t>
            </a:r>
            <a:r>
              <a:rPr lang="en-US" altLang="ko-KR" sz="1600" spc="-50" dirty="0"/>
              <a:t>cm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inch, </a:t>
            </a:r>
            <a:r>
              <a:rPr lang="ko-KR" altLang="en-US" sz="1600" spc="-50" dirty="0"/>
              <a:t>온도를 섭씨와 화씨로 다양하게 표현하는 것처럼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줄과 칼로리 모두 에너지양을 측정하는 단위로서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서로 다른 크기로 에너지 양을 나타내는 것일 뿐이다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         </a:t>
            </a:r>
            <a:r>
              <a:rPr lang="ko-KR" altLang="en-US" sz="1600" spc="-50" dirty="0"/>
              <a:t>이 직선의 길이는 </a:t>
            </a:r>
            <a:r>
              <a:rPr lang="en-US" altLang="ko-KR" sz="1600" spc="-50" dirty="0"/>
              <a:t>1cm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0.39inch,</a:t>
            </a:r>
            <a:r>
              <a:rPr lang="ko-KR" altLang="en-US" sz="1600" spc="-50" dirty="0"/>
              <a:t> 혹은 </a:t>
            </a:r>
            <a:r>
              <a:rPr lang="en-US" altLang="ko-KR" sz="1600" spc="-50" dirty="0"/>
              <a:t>0.0000062mile,</a:t>
            </a:r>
            <a:r>
              <a:rPr lang="ko-KR" altLang="en-US" sz="1600" spc="-50" dirty="0"/>
              <a:t>  어떤 단위로 표현해도 무방하다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온도를 나타내는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℃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섭씨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50</a:t>
            </a:r>
            <a:r>
              <a:rPr lang="ko-KR" altLang="en-US" sz="1600" spc="-50" dirty="0"/>
              <a:t>℉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화씨</a:t>
            </a:r>
            <a:r>
              <a:rPr lang="en-US" altLang="ko-KR" sz="1600" spc="-50" dirty="0"/>
              <a:t>50</a:t>
            </a:r>
            <a:r>
              <a:rPr lang="ko-KR" altLang="en-US" sz="1600" spc="-50" dirty="0"/>
              <a:t>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와 같다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에너지도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마찬가지로 </a:t>
            </a:r>
            <a:r>
              <a:rPr lang="en-US" altLang="ko-KR" sz="1600" b="1" spc="-50" dirty="0"/>
              <a:t>1J</a:t>
            </a:r>
            <a:r>
              <a:rPr lang="ko-KR" altLang="en-US" sz="1600" b="1" spc="-50" dirty="0"/>
              <a:t> </a:t>
            </a:r>
            <a:r>
              <a:rPr lang="en-US" altLang="ko-KR" sz="1600" b="1" spc="-50" dirty="0"/>
              <a:t>= 0.239cal</a:t>
            </a:r>
            <a:r>
              <a:rPr lang="en-US" altLang="ko-KR" sz="1600" spc="-50" dirty="0"/>
              <a:t> 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6A3B9CB-390C-1C34-AC08-A1178D3F1A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84598" y="3184939"/>
            <a:ext cx="852132" cy="1881476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125D3A79-264D-03C4-1562-ADA8A051A3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5757" y="5159269"/>
            <a:ext cx="2469815" cy="1188612"/>
          </a:xfrm>
          <a:prstGeom prst="rect">
            <a:avLst/>
          </a:prstGeom>
        </p:spPr>
      </p:pic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4AD9EF54-5960-AC20-47F3-09BEC3CC5499}"/>
              </a:ext>
            </a:extLst>
          </p:cNvPr>
          <p:cNvCxnSpPr>
            <a:cxnSpLocks/>
          </p:cNvCxnSpPr>
          <p:nvPr/>
        </p:nvCxnSpPr>
        <p:spPr>
          <a:xfrm>
            <a:off x="1760883" y="2302566"/>
            <a:ext cx="360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32EAA17-942A-9156-DDC8-3B111DC76A9F}"/>
              </a:ext>
            </a:extLst>
          </p:cNvPr>
          <p:cNvSpPr txBox="1"/>
          <p:nvPr/>
        </p:nvSpPr>
        <p:spPr>
          <a:xfrm>
            <a:off x="288790" y="3227901"/>
            <a:ext cx="8622377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오른쪽에 보이는 </a:t>
            </a:r>
            <a:r>
              <a:rPr lang="en-US" altLang="ko-KR" sz="1600" spc="-50" dirty="0"/>
              <a:t>250</a:t>
            </a:r>
            <a:r>
              <a:rPr lang="ko-KR" altLang="en-US" sz="1600" spc="-50" dirty="0"/>
              <a:t>밀리리터</a:t>
            </a:r>
            <a:r>
              <a:rPr lang="en-US" altLang="ko-KR" sz="1600" spc="-50" dirty="0"/>
              <a:t>(ml, milliliter)</a:t>
            </a:r>
            <a:r>
              <a:rPr lang="ko-KR" altLang="en-US" sz="1600" spc="-50" dirty="0" err="1"/>
              <a:t>짜리</a:t>
            </a:r>
            <a:r>
              <a:rPr lang="ko-KR" altLang="en-US" sz="1600" spc="-50" dirty="0"/>
              <a:t> </a:t>
            </a:r>
            <a:r>
              <a:rPr lang="ko-KR" altLang="en-US" sz="1600" spc="-50" dirty="0" err="1"/>
              <a:t>캔콜라는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108kcal (108,000cal)</a:t>
            </a:r>
            <a:r>
              <a:rPr lang="ko-KR" altLang="en-US" sz="1600" spc="-50" dirty="0"/>
              <a:t> 의 에너지를 갖고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콜라가 갖고 있는 에너지 형태는 화학에너지이다</a:t>
            </a:r>
            <a:r>
              <a:rPr lang="en-US" altLang="ko-KR" sz="1600" spc="-50" dirty="0"/>
              <a:t>.)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줄</a:t>
            </a:r>
            <a:r>
              <a:rPr lang="en-US" altLang="ko-KR" sz="1600" spc="-50" dirty="0"/>
              <a:t>(J)</a:t>
            </a:r>
            <a:r>
              <a:rPr lang="ko-KR" altLang="en-US" sz="1600" spc="-50" dirty="0"/>
              <a:t> 단위로 환산하면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대략 </a:t>
            </a:r>
            <a:r>
              <a:rPr lang="en-US" altLang="ko-KR" sz="1600" spc="-50" dirty="0"/>
              <a:t>451,882 J (=108,000(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) / 0.239(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/J))</a:t>
            </a:r>
            <a:r>
              <a:rPr lang="ko-KR" altLang="en-US" sz="1600" spc="-50" dirty="0"/>
              <a:t>의 에너지를 갖고 있는 것과 같다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SI </a:t>
            </a:r>
            <a:r>
              <a:rPr lang="ko-KR" altLang="en-US" sz="1600" spc="-50" dirty="0" err="1"/>
              <a:t>접두어를</a:t>
            </a:r>
            <a:r>
              <a:rPr lang="ko-KR" altLang="en-US" sz="1600" spc="-50" dirty="0"/>
              <a:t> 활용하면 </a:t>
            </a:r>
            <a:r>
              <a:rPr lang="en-US" altLang="ko-KR" sz="1600" spc="-50" dirty="0"/>
              <a:t>451.882 kJ(</a:t>
            </a:r>
            <a:r>
              <a:rPr lang="ko-KR" altLang="en-US" sz="1600" spc="-50" dirty="0"/>
              <a:t>킬로 줄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0.451882 MJ(</a:t>
            </a:r>
            <a:r>
              <a:rPr lang="ko-KR" altLang="en-US" sz="1600" spc="-50" dirty="0" err="1"/>
              <a:t>메가줄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과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줄</a:t>
            </a:r>
            <a:r>
              <a:rPr lang="en-US" altLang="ko-KR" sz="1600" spc="-50" dirty="0"/>
              <a:t>(J)</a:t>
            </a:r>
            <a:r>
              <a:rPr lang="ko-KR" altLang="en-US" sz="1600" spc="-50" dirty="0"/>
              <a:t>의 정의에 따라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콜라</a:t>
            </a:r>
            <a:r>
              <a:rPr lang="en-US" altLang="ko-KR" sz="1600" spc="-50" dirty="0"/>
              <a:t>(250ml)</a:t>
            </a:r>
            <a:r>
              <a:rPr lang="ko-KR" altLang="en-US" sz="1600" spc="-50" dirty="0"/>
              <a:t>가 갖고 있는 에너지는 </a:t>
            </a:r>
            <a:r>
              <a:rPr lang="en-US" altLang="ko-KR" sz="1600" spc="-50" dirty="0"/>
              <a:t>1N</a:t>
            </a:r>
            <a:r>
              <a:rPr lang="ko-KR" altLang="en-US" sz="1600" spc="-50" dirty="0"/>
              <a:t>의 힘으로 물체를 대략 </a:t>
            </a:r>
            <a:r>
              <a:rPr lang="en-US" altLang="ko-KR" sz="1600" spc="-50" dirty="0"/>
              <a:t>452km </a:t>
            </a:r>
            <a:r>
              <a:rPr lang="ko-KR" altLang="en-US" sz="1600" spc="-50" dirty="0"/>
              <a:t>이동시키는 일의 양과 비슷하다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콜라 한 캔을 마셨을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이만큼의 일을 해야 칼로리를 소비한다는 것을 의미하지는 않는다</a:t>
            </a:r>
            <a:r>
              <a:rPr lang="en-US" altLang="ko-KR" sz="1600" spc="-50" dirty="0"/>
              <a:t>.  (</a:t>
            </a:r>
            <a:r>
              <a:rPr lang="ko-KR" altLang="en-US" sz="1600" spc="-50" dirty="0"/>
              <a:t>사람은 마셨을 때 다른 곳에도 에너지를 쓰기 때문이다</a:t>
            </a:r>
            <a:r>
              <a:rPr lang="en-US" altLang="ko-KR" sz="1600" spc="-50" dirty="0"/>
              <a:t>.)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A877138-F0BE-AC84-B15C-B9CB5C912DBF}"/>
              </a:ext>
            </a:extLst>
          </p:cNvPr>
          <p:cNvSpPr/>
          <p:nvPr/>
        </p:nvSpPr>
        <p:spPr>
          <a:xfrm>
            <a:off x="10736730" y="5108291"/>
            <a:ext cx="914400" cy="441609"/>
          </a:xfrm>
          <a:prstGeom prst="rect">
            <a:avLst/>
          </a:prstGeom>
          <a:solidFill>
            <a:srgbClr val="FFFF00">
              <a:alpha val="41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332962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278DC-6714-7BB2-0471-849C495A2A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7E18469E-3BC0-DC94-9C18-544784CA31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6939" y="4550500"/>
            <a:ext cx="1939522" cy="143015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59215071-B201-A020-08FE-ECAEDEADB9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0024" y="2039522"/>
            <a:ext cx="1457814" cy="2477858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A89F4D8B-574D-DBF8-C357-01A0B42C33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 </a:t>
            </a:r>
            <a:r>
              <a:rPr lang="en-US" altLang="ko-KR" dirty="0"/>
              <a:t>(</a:t>
            </a:r>
            <a:r>
              <a:rPr lang="ko-KR" altLang="en-US" dirty="0"/>
              <a:t>선풍기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E0334F-D152-904A-0252-8BB01DB83A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80531F-D7E7-05C0-02E3-D4012B3C5F43}"/>
              </a:ext>
            </a:extLst>
          </p:cNvPr>
          <p:cNvSpPr txBox="1"/>
          <p:nvPr/>
        </p:nvSpPr>
        <p:spPr>
          <a:xfrm>
            <a:off x="288790" y="958844"/>
            <a:ext cx="11118453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전기제품으로 넘어오면</a:t>
            </a:r>
            <a:r>
              <a:rPr lang="en-US" altLang="ko-KR" sz="1600" spc="-50" dirty="0"/>
              <a:t>, 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단위는 쓰지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와트시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, Watt-hour) </a:t>
            </a:r>
            <a:r>
              <a:rPr lang="ko-KR" altLang="en-US" sz="1600" spc="-50" dirty="0"/>
              <a:t>라는 단위를 많이 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J</a:t>
            </a:r>
            <a:r>
              <a:rPr lang="ko-KR" altLang="en-US" sz="1600" spc="-50" dirty="0"/>
              <a:t>을 </a:t>
            </a:r>
            <a:r>
              <a:rPr lang="en-US" altLang="ko-KR" sz="1600" spc="-50" dirty="0" err="1"/>
              <a:t>cal</a:t>
            </a:r>
            <a:r>
              <a:rPr lang="ko-KR" altLang="en-US" sz="1600" spc="-50" dirty="0"/>
              <a:t>로 변환할 수 있었듯이</a:t>
            </a:r>
            <a:r>
              <a:rPr lang="en-US" altLang="ko-KR" sz="1600" spc="-50" dirty="0"/>
              <a:t>, J</a:t>
            </a:r>
            <a:r>
              <a:rPr lang="ko-KR" altLang="en-US" sz="1600" spc="-50" dirty="0"/>
              <a:t>은 </a:t>
            </a:r>
            <a:r>
              <a:rPr lang="en-US" altLang="ko-KR" sz="1600" spc="-50" dirty="0" err="1"/>
              <a:t>Wh</a:t>
            </a:r>
            <a:r>
              <a:rPr lang="ko-KR" altLang="en-US" sz="1600" spc="-50" dirty="0"/>
              <a:t>로도 변환이 가능하다</a:t>
            </a:r>
            <a:r>
              <a:rPr lang="en-US" altLang="ko-KR" sz="1600" spc="-50" dirty="0"/>
              <a:t>.  </a:t>
            </a:r>
            <a:r>
              <a:rPr lang="en-US" altLang="ko-KR" sz="1600" b="1" spc="-50" dirty="0"/>
              <a:t>1J</a:t>
            </a:r>
            <a:r>
              <a:rPr lang="ko-KR" altLang="en-US" sz="1600" b="1" spc="-50" dirty="0"/>
              <a:t> </a:t>
            </a:r>
            <a:r>
              <a:rPr lang="en-US" altLang="ko-KR" sz="1600" b="1" spc="-50" dirty="0"/>
              <a:t>= 0.000278 </a:t>
            </a:r>
            <a:r>
              <a:rPr lang="en-US" altLang="ko-KR" sz="1600" b="1" spc="-50" dirty="0" err="1"/>
              <a:t>Wh</a:t>
            </a:r>
            <a:r>
              <a:rPr lang="en-US" altLang="ko-KR" sz="1600" b="1" spc="-50" dirty="0"/>
              <a:t> = 0.000000278 kWh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와트시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, Watt-hour)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Watt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hour</a:t>
            </a:r>
            <a:r>
              <a:rPr lang="ko-KR" altLang="en-US" sz="1600" spc="-50" dirty="0"/>
              <a:t>의 합성단위이다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전기는 시간 개념이 필요한 에너지 형태이다</a:t>
            </a:r>
            <a:r>
              <a:rPr lang="en-US" altLang="ko-KR" sz="1600" spc="-50" dirty="0"/>
              <a:t>.)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Watt(W)</a:t>
            </a:r>
            <a:r>
              <a:rPr lang="ko-KR" altLang="en-US" sz="1600" spc="-50" dirty="0"/>
              <a:t>는 전력을 의미하고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초</a:t>
            </a:r>
            <a:r>
              <a:rPr lang="en-US" altLang="ko-KR" sz="1600" spc="-50" dirty="0"/>
              <a:t>(s, second) </a:t>
            </a:r>
            <a:r>
              <a:rPr lang="ko-KR" altLang="en-US" sz="1600" spc="-50" dirty="0"/>
              <a:t>에 몇 </a:t>
            </a:r>
            <a:r>
              <a:rPr lang="en-US" altLang="ko-KR" sz="1600" spc="-50" dirty="0"/>
              <a:t>J</a:t>
            </a:r>
            <a:r>
              <a:rPr lang="ko-KR" altLang="en-US" sz="1600" spc="-50" dirty="0"/>
              <a:t>의 에너지를 사용하는가를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1W = 1J/s </a:t>
            </a:r>
            <a:r>
              <a:rPr lang="ko-KR" altLang="en-US" sz="1600" spc="-50" dirty="0"/>
              <a:t>이고</a:t>
            </a:r>
            <a:r>
              <a:rPr lang="en-US" altLang="ko-KR" sz="1600" spc="-50" dirty="0"/>
              <a:t>, 1W(Watt)</a:t>
            </a:r>
            <a:r>
              <a:rPr lang="ko-KR" altLang="en-US" sz="1600" spc="-50" dirty="0"/>
              <a:t>의 전력으로 </a:t>
            </a:r>
            <a:r>
              <a:rPr lang="en-US" altLang="ko-KR" sz="1600" spc="-50" dirty="0"/>
              <a:t>1h(hour)</a:t>
            </a:r>
            <a:r>
              <a:rPr lang="ko-KR" altLang="en-US" sz="1600" spc="-50" dirty="0"/>
              <a:t>을 사용하면 </a:t>
            </a:r>
            <a:r>
              <a:rPr lang="en-US" altLang="ko-KR" sz="1600" spc="-50" dirty="0"/>
              <a:t>1Wh</a:t>
            </a:r>
            <a:r>
              <a:rPr lang="ko-KR" altLang="en-US" sz="1600" spc="-50" dirty="0"/>
              <a:t>으로 표현한다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245BDD1-6E47-5CD6-B17B-DAF45C1E9EBC}"/>
              </a:ext>
            </a:extLst>
          </p:cNvPr>
          <p:cNvSpPr txBox="1"/>
          <p:nvPr/>
        </p:nvSpPr>
        <p:spPr>
          <a:xfrm>
            <a:off x="288790" y="3023578"/>
            <a:ext cx="8950460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오른쪽의 선풍기는 소비전력이 </a:t>
            </a:r>
            <a:r>
              <a:rPr lang="en-US" altLang="ko-KR" sz="1600" spc="-50" dirty="0"/>
              <a:t>50W</a:t>
            </a:r>
            <a:r>
              <a:rPr lang="ko-KR" altLang="en-US" sz="1600" spc="-50" dirty="0"/>
              <a:t>라고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선풍기는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초당 </a:t>
            </a:r>
            <a:r>
              <a:rPr lang="en-US" altLang="ko-KR" sz="1600" spc="-50" dirty="0"/>
              <a:t>50J</a:t>
            </a:r>
            <a:r>
              <a:rPr lang="ko-KR" altLang="en-US" sz="1600" spc="-50" dirty="0"/>
              <a:t>의 전기에너지를 소비한다는 의미이다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선풍기를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시간 틀면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전기에너지를 </a:t>
            </a:r>
            <a:r>
              <a:rPr lang="en-US" altLang="ko-KR" sz="1600" spc="-50" dirty="0"/>
              <a:t>50Wh</a:t>
            </a:r>
            <a:r>
              <a:rPr lang="ko-KR" altLang="en-US" sz="1600" spc="-50" dirty="0"/>
              <a:t>사용하게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Watt(W)</a:t>
            </a:r>
            <a:r>
              <a:rPr lang="ko-KR" altLang="en-US" sz="1600" spc="-50" dirty="0"/>
              <a:t>의 정의에 따라</a:t>
            </a:r>
            <a:r>
              <a:rPr lang="en-US" altLang="ko-KR" sz="1600" spc="-50" dirty="0"/>
              <a:t>, 180,000J (50J/s x 60s x 60m(minutes))</a:t>
            </a:r>
            <a:r>
              <a:rPr lang="ko-KR" altLang="en-US" sz="1600" spc="-50" dirty="0"/>
              <a:t>을 사용하는 것 과 같다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변환계수를 사용해도 비슷한 결과를 얻는다</a:t>
            </a:r>
            <a:r>
              <a:rPr lang="en-US" altLang="ko-KR" sz="1600" spc="-50" dirty="0"/>
              <a:t>. 50Wh / 0.000278(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/J) = 179,856J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50Wh</a:t>
            </a:r>
            <a:r>
              <a:rPr lang="ko-KR" altLang="en-US" sz="1600" spc="-50" dirty="0"/>
              <a:t>를 칼로리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로 변환하면 대략 </a:t>
            </a:r>
            <a:r>
              <a:rPr lang="en-US" altLang="ko-KR" sz="1600" spc="-50" dirty="0"/>
              <a:t>42,985cal (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42.985kcal)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50 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 ÷ 0.000278 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/J x 0.239 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/J   = 42,985 </a:t>
            </a:r>
            <a:r>
              <a:rPr lang="en-US" altLang="ko-KR" sz="1600" spc="-50" dirty="0" err="1"/>
              <a:t>cal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종합해보면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선풍기는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시간에 </a:t>
            </a:r>
            <a:r>
              <a:rPr lang="en-US" altLang="ko-KR" sz="1600" spc="-50" dirty="0"/>
              <a:t>50Wh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180,000J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42,985cal </a:t>
            </a:r>
            <a:r>
              <a:rPr lang="ko-KR" altLang="en-US" sz="1600" spc="-50" dirty="0"/>
              <a:t>의 에너지를 사용한다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DB3020A-7A71-A263-9174-CBCB48AAE402}"/>
              </a:ext>
            </a:extLst>
          </p:cNvPr>
          <p:cNvSpPr txBox="1"/>
          <p:nvPr/>
        </p:nvSpPr>
        <p:spPr>
          <a:xfrm>
            <a:off x="9589330" y="6046893"/>
            <a:ext cx="2016604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dirty="0"/>
              <a:t>https://www.coupang.com/vp/products/7212367661?itemId=18255669809&amp;vendorItemId=85402293544&amp;q=%EC%84%A0%ED%92%8D%EA%B8%B0&amp;searchId=c317d35b66775999&amp;sourceType=search&amp;itemsCount=60&amp;searchRank=3&amp;rank=3&amp;traceId=mqyu4fmz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8A38336-32B5-6A06-75A0-BD992DC1FEF6}"/>
              </a:ext>
            </a:extLst>
          </p:cNvPr>
          <p:cNvSpPr/>
          <p:nvPr/>
        </p:nvSpPr>
        <p:spPr>
          <a:xfrm>
            <a:off x="9878207" y="5202104"/>
            <a:ext cx="962071" cy="171116"/>
          </a:xfrm>
          <a:prstGeom prst="rect">
            <a:avLst/>
          </a:prstGeom>
          <a:solidFill>
            <a:srgbClr val="FFFF00">
              <a:alpha val="41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43619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A7523F-9CDF-8874-D177-634F152F8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어떤 보조배터리를 </a:t>
            </a:r>
            <a:r>
              <a:rPr lang="ko-KR" altLang="en-US" dirty="0" err="1"/>
              <a:t>사야할까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44EE485-568C-823A-D054-38BD81EE1C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CF47C11-023E-622F-D686-A0A4087CB9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4790" y="3217117"/>
            <a:ext cx="2369256" cy="326458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D10650B6-AD51-46A4-D530-6AB05A4D6C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6766" y="3041018"/>
            <a:ext cx="2197424" cy="343440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940ABC0-0FCD-D3FF-88FE-0819BC3C4F03}"/>
              </a:ext>
            </a:extLst>
          </p:cNvPr>
          <p:cNvSpPr txBox="1"/>
          <p:nvPr/>
        </p:nvSpPr>
        <p:spPr>
          <a:xfrm>
            <a:off x="7360937" y="2485481"/>
            <a:ext cx="1206679" cy="333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en-US" altLang="ko-KR" sz="1200" spc="-50" dirty="0"/>
              <a:t>&lt;13,900</a:t>
            </a:r>
            <a:r>
              <a:rPr lang="ko-KR" altLang="en-US" sz="1200" spc="-50" dirty="0"/>
              <a:t>원</a:t>
            </a:r>
            <a:r>
              <a:rPr lang="en-US" altLang="ko-KR" sz="1200" spc="-50" dirty="0"/>
              <a:t>&gt;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FEFEAB4C-033A-F8F8-E5D6-089478B0A0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1549" y="1007164"/>
            <a:ext cx="1687657" cy="1468427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B68336A6-C9D1-DFB1-A042-BB70B7C1916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92666" y="669736"/>
            <a:ext cx="1766952" cy="1895199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A3C92F1-0CB7-2337-3EDE-7792EE4DE7C4}"/>
              </a:ext>
            </a:extLst>
          </p:cNvPr>
          <p:cNvSpPr txBox="1"/>
          <p:nvPr/>
        </p:nvSpPr>
        <p:spPr>
          <a:xfrm>
            <a:off x="9865597" y="2485481"/>
            <a:ext cx="1206679" cy="333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en-US" altLang="ko-KR" sz="1200" spc="-50" dirty="0"/>
              <a:t>&lt;34,800</a:t>
            </a:r>
            <a:r>
              <a:rPr lang="ko-KR" altLang="en-US" sz="1200" spc="-50" dirty="0"/>
              <a:t>원</a:t>
            </a:r>
            <a:r>
              <a:rPr lang="en-US" altLang="ko-KR" sz="1200" spc="-50" dirty="0"/>
              <a:t>&gt;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4D59318-C132-A923-0D9D-214C984ED2EB}"/>
              </a:ext>
            </a:extLst>
          </p:cNvPr>
          <p:cNvSpPr txBox="1"/>
          <p:nvPr/>
        </p:nvSpPr>
        <p:spPr>
          <a:xfrm>
            <a:off x="288790" y="958844"/>
            <a:ext cx="6584671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보조배터리를 구매할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여러 고민을 하게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충전속도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보조배터리 자체가 얼마나 빨리 충전이 되는가</a:t>
            </a:r>
            <a:r>
              <a:rPr lang="en-US" altLang="ko-KR" sz="1600" spc="-50" dirty="0"/>
              <a:t>?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방전속도</a:t>
            </a:r>
            <a:r>
              <a:rPr lang="en-US" altLang="ko-KR" sz="1600" spc="-50" dirty="0"/>
              <a:t>) </a:t>
            </a:r>
            <a:r>
              <a:rPr lang="ko-KR" altLang="en-US" sz="1600" spc="-50" dirty="0" err="1"/>
              <a:t>다른기기를</a:t>
            </a:r>
            <a:r>
              <a:rPr lang="ko-KR" altLang="en-US" sz="1600" spc="-50" dirty="0"/>
              <a:t> 충전하는 속도는 얼마나 </a:t>
            </a:r>
            <a:r>
              <a:rPr lang="ko-KR" altLang="en-US" sz="1600" spc="-50" dirty="0" err="1"/>
              <a:t>빠른가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충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방전용량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내 핸드폰 완충이 몇 번 가능한가</a:t>
            </a:r>
            <a:r>
              <a:rPr lang="en-US" altLang="ko-KR" sz="1600" spc="-50" dirty="0"/>
              <a:t>?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간단한 공식으로 보조배터리의 스펙을 계산해볼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아까 얘기한 </a:t>
            </a:r>
            <a:r>
              <a:rPr lang="en-US" altLang="ko-KR" sz="1600" spc="-50" dirty="0"/>
              <a:t>Watt</a:t>
            </a:r>
            <a:r>
              <a:rPr lang="ko-KR" altLang="en-US" sz="1600" spc="-50" dirty="0"/>
              <a:t>가 전기에너지를 소비하는 속도라고 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보조배터리의</a:t>
            </a:r>
            <a:r>
              <a:rPr lang="en-US" altLang="ko-KR" sz="1600" spc="-50" dirty="0"/>
              <a:t> W</a:t>
            </a:r>
            <a:r>
              <a:rPr lang="ko-KR" altLang="en-US" sz="1600" spc="-50" dirty="0"/>
              <a:t>가 크면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충전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 속도가 빠르다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아까 얘기한 </a:t>
            </a:r>
            <a:r>
              <a:rPr lang="en-US" altLang="ko-KR" sz="1600" spc="-50" dirty="0"/>
              <a:t>Watt-hour</a:t>
            </a:r>
            <a:r>
              <a:rPr lang="ko-KR" altLang="en-US" sz="1600" spc="-50" dirty="0"/>
              <a:t>는 전기에너지의 양을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보조배터리의 </a:t>
            </a:r>
            <a:r>
              <a:rPr lang="en-US" altLang="ko-KR" sz="1600" spc="-50" dirty="0" err="1"/>
              <a:t>Wh</a:t>
            </a:r>
            <a:r>
              <a:rPr lang="ko-KR" altLang="en-US" sz="1600" spc="-50" dirty="0"/>
              <a:t>가 크면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충전을 많이 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보조배터리 판매 사이트를 보면</a:t>
            </a:r>
            <a:r>
              <a:rPr lang="en-US" altLang="ko-KR" sz="1600" spc="-50" dirty="0"/>
              <a:t>, W</a:t>
            </a:r>
            <a:r>
              <a:rPr lang="ko-KR" altLang="en-US" sz="1600" spc="-50" dirty="0"/>
              <a:t>나 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표기는 없고</a:t>
            </a:r>
            <a:r>
              <a:rPr lang="en-US" altLang="ko-KR" sz="1600" spc="-50" dirty="0"/>
              <a:t>,   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V(Volt)</a:t>
            </a:r>
            <a:r>
              <a:rPr lang="ko-KR" altLang="en-US" sz="1600" spc="-50" dirty="0"/>
              <a:t>나 </a:t>
            </a:r>
            <a:r>
              <a:rPr lang="en-US" altLang="ko-KR" sz="1600" spc="-50" dirty="0"/>
              <a:t>Ah(Ampere-hour) </a:t>
            </a:r>
            <a:r>
              <a:rPr lang="ko-KR" altLang="en-US" sz="1600" spc="-50" dirty="0"/>
              <a:t>등의 단위를 볼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쉽게 </a:t>
            </a:r>
            <a:r>
              <a:rPr lang="en-US" altLang="ko-KR" sz="1600" spc="-50" dirty="0"/>
              <a:t>W</a:t>
            </a:r>
            <a:r>
              <a:rPr lang="ko-KR" altLang="en-US" sz="1600" spc="-50" dirty="0"/>
              <a:t>와 </a:t>
            </a:r>
            <a:r>
              <a:rPr lang="en-US" altLang="ko-KR" sz="1600" spc="-50" dirty="0" err="1"/>
              <a:t>Wh</a:t>
            </a:r>
            <a:r>
              <a:rPr lang="ko-KR" altLang="en-US" sz="1600" spc="-50" dirty="0"/>
              <a:t>로 변환 가능한 단위들이다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049251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596185-6ABA-322D-5F96-2D3DB15585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보조배터리 충전</a:t>
            </a:r>
            <a:r>
              <a:rPr lang="en-US" altLang="ko-KR" sz="2400" spc="-50" dirty="0"/>
              <a:t>·</a:t>
            </a:r>
            <a:r>
              <a:rPr lang="ko-KR" altLang="en-US" dirty="0"/>
              <a:t>방전 속도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D2B37C-637D-C72B-A9E3-2BEC7ED95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3CB7EE-8E39-5F0B-31F6-4006B661CAEA}"/>
              </a:ext>
            </a:extLst>
          </p:cNvPr>
          <p:cNvSpPr txBox="1"/>
          <p:nvPr/>
        </p:nvSpPr>
        <p:spPr>
          <a:xfrm>
            <a:off x="271857" y="234930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549275" lvl="1">
              <a:lnSpc>
                <a:spcPct val="150000"/>
              </a:lnSpc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출력 부문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보조배터리→핸드폰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보면 </a:t>
            </a:r>
            <a:r>
              <a:rPr lang="en-US" altLang="ko-KR" sz="1600" spc="-50" dirty="0"/>
              <a:t>(5V, 3A), (9V, 2A), (12V, 1.67A)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15W (=5Vx3A), 18W(=9Vx2A), 20W(=12Vx1.67A)</a:t>
            </a:r>
            <a:r>
              <a:rPr lang="ko-KR" altLang="en-US" sz="1600" spc="-50" dirty="0"/>
              <a:t>를 지원한다는 뜻이다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</a:t>
            </a:r>
            <a:r>
              <a:rPr lang="ko-KR" altLang="en-US" sz="1600" spc="-50" dirty="0"/>
              <a:t>에서 최대 </a:t>
            </a:r>
            <a:r>
              <a:rPr lang="en-US" altLang="ko-KR" sz="1600" spc="-50" dirty="0"/>
              <a:t>20W</a:t>
            </a:r>
            <a:r>
              <a:rPr lang="ko-KR" altLang="en-US" sz="1600" spc="-50" dirty="0"/>
              <a:t>의 속도로 전자기기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핸드폰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충전 시킨다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가장 빠른 속도로 핸드폰을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시간 충전시키면 </a:t>
            </a:r>
            <a:r>
              <a:rPr lang="en-US" altLang="ko-KR" sz="1600" spc="-50" dirty="0"/>
              <a:t>20Wh</a:t>
            </a:r>
            <a:r>
              <a:rPr lang="ko-KR" altLang="en-US" sz="1600" spc="-50" dirty="0"/>
              <a:t>의 전기에너지가 내 핸드폰에 저장된다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입력 부문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벽에 있는 </a:t>
            </a:r>
            <a:r>
              <a:rPr lang="ko-KR" altLang="en-US" sz="1600" spc="-50" dirty="0" err="1"/>
              <a:t>콘센트→보조배터리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을 보면 </a:t>
            </a:r>
            <a:r>
              <a:rPr lang="en-US" altLang="ko-KR" sz="1600" spc="-50" dirty="0"/>
              <a:t>(5V,3A), (9V,2A), (12V,1.5A)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15W (=5Vx3A), 18W(=9Vx2A), 18W(=12Vx1.5A)</a:t>
            </a:r>
            <a:r>
              <a:rPr lang="ko-KR" altLang="en-US" sz="1600" spc="-50" dirty="0"/>
              <a:t>를 지원한다는 뜻이다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</a:t>
            </a:r>
            <a:r>
              <a:rPr lang="ko-KR" altLang="en-US" sz="1600" spc="-50" dirty="0"/>
              <a:t>에서 최대 </a:t>
            </a:r>
            <a:r>
              <a:rPr lang="en-US" altLang="ko-KR" sz="1600" spc="-50" dirty="0"/>
              <a:t>18W</a:t>
            </a:r>
            <a:r>
              <a:rPr lang="ko-KR" altLang="en-US" sz="1600" spc="-50" dirty="0"/>
              <a:t>의 속도로 보조배터리가 충전된다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보조배터리를 가장 빠른 속도로 충전시키면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시간에 </a:t>
            </a:r>
            <a:r>
              <a:rPr lang="en-US" altLang="ko-KR" sz="1600" spc="-50" dirty="0"/>
              <a:t>18Wh</a:t>
            </a:r>
            <a:r>
              <a:rPr lang="ko-KR" altLang="en-US" sz="1600" spc="-50" dirty="0"/>
              <a:t>의 전기에너지가 보조배터리 안에 충전된다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C0B261BE-A7EE-0BAE-101B-AE5EB76E0A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5617" y="1052904"/>
            <a:ext cx="2792354" cy="146842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36BB6FB2-EF18-EF8F-6945-8834057C34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4844" y="880877"/>
            <a:ext cx="1687657" cy="1468427"/>
          </a:xfrm>
          <a:prstGeom prst="rect">
            <a:avLst/>
          </a:prstGeom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F7FC47AA-6698-0CF3-424C-ECB89493BBE3}"/>
              </a:ext>
            </a:extLst>
          </p:cNvPr>
          <p:cNvSpPr/>
          <p:nvPr/>
        </p:nvSpPr>
        <p:spPr>
          <a:xfrm>
            <a:off x="8795617" y="1878626"/>
            <a:ext cx="2792354" cy="297308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solidFill>
              <a:schemeClr val="accent1">
                <a:shade val="1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6B84FE1-770E-1F16-FCCD-163C0281FE55}"/>
              </a:ext>
            </a:extLst>
          </p:cNvPr>
          <p:cNvSpPr txBox="1"/>
          <p:nvPr/>
        </p:nvSpPr>
        <p:spPr>
          <a:xfrm>
            <a:off x="271858" y="926904"/>
            <a:ext cx="6018876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보조배터리의 충전속도는 얼마일까</a:t>
            </a:r>
            <a:r>
              <a:rPr lang="en-US" altLang="ko-KR" sz="1600" spc="-50" dirty="0"/>
              <a:t>?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배운 </a:t>
            </a:r>
            <a:r>
              <a:rPr lang="en-US" altLang="ko-KR" sz="1600" spc="-50" dirty="0"/>
              <a:t>W(Watt)</a:t>
            </a:r>
            <a:r>
              <a:rPr lang="ko-KR" altLang="en-US" sz="1600" spc="-50" dirty="0"/>
              <a:t>가 몇인지 표시가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우리는</a:t>
            </a:r>
            <a:r>
              <a:rPr lang="en-US" altLang="ko-KR" sz="1600" spc="-50" dirty="0"/>
              <a:t> V(</a:t>
            </a:r>
            <a:r>
              <a:rPr lang="ko-KR" altLang="en-US" sz="1600" spc="-50" dirty="0"/>
              <a:t>전압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A(</a:t>
            </a:r>
            <a:r>
              <a:rPr lang="ko-KR" altLang="en-US" sz="1600" spc="-50" dirty="0"/>
              <a:t>전류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곱으로 구할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Watt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=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A x V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8285411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23982-D55D-3D87-1A0C-4CB120FE7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71E76E-9A61-3427-4CFF-168AF2863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보조배터리 충전</a:t>
            </a:r>
            <a:r>
              <a:rPr lang="en-US" altLang="ko-KR" sz="2400" spc="-50" dirty="0"/>
              <a:t>·</a:t>
            </a:r>
            <a:r>
              <a:rPr lang="ko-KR" altLang="en-US" dirty="0"/>
              <a:t>방전 속도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6D80DC3-DD08-733C-8F75-9AB332F45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89D1153-2A7F-3EDB-50E2-B6F75E42C979}"/>
              </a:ext>
            </a:extLst>
          </p:cNvPr>
          <p:cNvSpPr txBox="1"/>
          <p:nvPr/>
        </p:nvSpPr>
        <p:spPr>
          <a:xfrm>
            <a:off x="271857" y="2764169"/>
            <a:ext cx="11118453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출력 부문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보조배터리→핸드폰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을 보면 </a:t>
            </a:r>
            <a:r>
              <a:rPr lang="en-US" altLang="ko-KR" sz="1600" spc="-50" dirty="0"/>
              <a:t>(5V, 3A), ···, (20V, 3.25A)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 (=5Vx3A), </a:t>
            </a:r>
            <a:r>
              <a:rPr lang="ko-KR" altLang="en-US" sz="1600" spc="-50" dirty="0"/>
              <a:t>최대</a:t>
            </a:r>
            <a:r>
              <a:rPr lang="en-US" altLang="ko-KR" sz="1600" spc="-50" dirty="0"/>
              <a:t> 65W(=20Vx3.25A)</a:t>
            </a:r>
            <a:r>
              <a:rPr lang="ko-KR" altLang="en-US" sz="1600" spc="-50" dirty="0"/>
              <a:t>를 지원한다는 뜻이다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</a:t>
            </a:r>
            <a:r>
              <a:rPr lang="ko-KR" altLang="en-US" sz="1600" spc="-50" dirty="0"/>
              <a:t>에서 최대 </a:t>
            </a:r>
            <a:r>
              <a:rPr lang="en-US" altLang="ko-KR" sz="1600" spc="-50" dirty="0"/>
              <a:t>65W</a:t>
            </a:r>
            <a:r>
              <a:rPr lang="ko-KR" altLang="en-US" sz="1600" spc="-50" dirty="0"/>
              <a:t>의 속도로 보조배터리가 충전된다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가장 빠른 속도로 핸드폰을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시간 충전시키면 </a:t>
            </a:r>
            <a:r>
              <a:rPr lang="en-US" altLang="ko-KR" sz="1600" spc="-50" dirty="0"/>
              <a:t>65Wh</a:t>
            </a:r>
            <a:r>
              <a:rPr lang="ko-KR" altLang="en-US" sz="1600" spc="-50" dirty="0"/>
              <a:t>의 전기에너지가 내 핸드폰에 저장된다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입력 부문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콘센트→보조배터리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을 보면 </a:t>
            </a:r>
            <a:r>
              <a:rPr lang="en-US" altLang="ko-KR" sz="1600" spc="-50" dirty="0"/>
              <a:t>(5V, 3A), ···, (20V, 2A)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 (=5Vx3A), </a:t>
            </a:r>
            <a:r>
              <a:rPr lang="ko-KR" altLang="en-US" sz="1600" spc="-50" dirty="0"/>
              <a:t>최대</a:t>
            </a:r>
            <a:r>
              <a:rPr lang="en-US" altLang="ko-KR" sz="1600" spc="-50" dirty="0"/>
              <a:t> 40W(=20Vx2A)</a:t>
            </a:r>
            <a:r>
              <a:rPr lang="ko-KR" altLang="en-US" sz="1600" spc="-50" dirty="0"/>
              <a:t>를 지원한다는 뜻이다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</a:t>
            </a:r>
            <a:r>
              <a:rPr lang="ko-KR" altLang="en-US" sz="1600" spc="-50" dirty="0"/>
              <a:t>에서 최대 </a:t>
            </a:r>
            <a:r>
              <a:rPr lang="en-US" altLang="ko-KR" sz="1600" spc="-50" dirty="0"/>
              <a:t>40W</a:t>
            </a:r>
            <a:r>
              <a:rPr lang="ko-KR" altLang="en-US" sz="1600" spc="-50" dirty="0"/>
              <a:t>의 속도로 전자기기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핸드폰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충전 시킨다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보조배터리를 가장 빠른 속도로 충전시키면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시간에 </a:t>
            </a:r>
            <a:r>
              <a:rPr lang="en-US" altLang="ko-KR" sz="1600" spc="-50" dirty="0"/>
              <a:t>40Wh</a:t>
            </a:r>
            <a:r>
              <a:rPr lang="ko-KR" altLang="en-US" sz="1600" spc="-50" dirty="0"/>
              <a:t>의 전기에너지가 보조배터리 안에 충전된다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3AA0EDB-E730-EBC8-EFF4-E00D8E3467E6}"/>
              </a:ext>
            </a:extLst>
          </p:cNvPr>
          <p:cNvSpPr txBox="1"/>
          <p:nvPr/>
        </p:nvSpPr>
        <p:spPr>
          <a:xfrm>
            <a:off x="271858" y="926904"/>
            <a:ext cx="6018876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보조배터리의 충전속도는 얼마일까</a:t>
            </a:r>
            <a:r>
              <a:rPr lang="en-US" altLang="ko-KR" sz="1600" spc="-50" dirty="0"/>
              <a:t>? 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6AAA127-4E46-963D-002E-22B88418F8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9400" y="906101"/>
            <a:ext cx="2597128" cy="245428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506F74B-7402-0089-3342-AD060A824C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2730" y="807936"/>
            <a:ext cx="1766952" cy="1895199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6F2971F8-C2FF-1203-D957-DCE12A4C7E1E}"/>
              </a:ext>
            </a:extLst>
          </p:cNvPr>
          <p:cNvSpPr/>
          <p:nvPr/>
        </p:nvSpPr>
        <p:spPr>
          <a:xfrm>
            <a:off x="9119682" y="2331992"/>
            <a:ext cx="1456819" cy="140193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42BA030-B1B9-8834-B352-1CCB071D3C76}"/>
              </a:ext>
            </a:extLst>
          </p:cNvPr>
          <p:cNvSpPr/>
          <p:nvPr/>
        </p:nvSpPr>
        <p:spPr>
          <a:xfrm>
            <a:off x="9169400" y="1824720"/>
            <a:ext cx="2597128" cy="259420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60779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B70AE5-33CC-1959-85A2-0D4B68D8D9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1FFFE1-591D-9A87-815D-461AD5B8D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보조배터리 충전</a:t>
            </a:r>
            <a:r>
              <a:rPr lang="en-US" altLang="ko-KR" sz="2400" spc="-50" dirty="0"/>
              <a:t>·</a:t>
            </a:r>
            <a:r>
              <a:rPr lang="ko-KR" altLang="en-US" dirty="0"/>
              <a:t>방전 속도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5CF717A-CEEB-11CE-839D-96FF820DE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7A5EEE-B616-E8F3-4FE7-41A370F6F2C1}"/>
              </a:ext>
            </a:extLst>
          </p:cNvPr>
          <p:cNvSpPr txBox="1"/>
          <p:nvPr/>
        </p:nvSpPr>
        <p:spPr>
          <a:xfrm>
            <a:off x="271857" y="3992572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보조 배터리의 용량을 다시 계산해보면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일단 배터리용량 부문을 보면 </a:t>
            </a:r>
            <a:r>
              <a:rPr lang="en-US" altLang="ko-KR" sz="1600" spc="-50" dirty="0"/>
              <a:t>(5000mAh, 3.7V)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5,000mAh</a:t>
            </a:r>
            <a:r>
              <a:rPr lang="ko-KR" altLang="en-US" sz="1600" spc="-50" dirty="0"/>
              <a:t>에서 암페어부분</a:t>
            </a:r>
            <a:r>
              <a:rPr lang="en-US" altLang="ko-KR" sz="1600" spc="-50" dirty="0"/>
              <a:t>(mA)</a:t>
            </a:r>
            <a:r>
              <a:rPr lang="ko-KR" altLang="en-US" sz="1600" spc="-50" dirty="0"/>
              <a:t>과 시간</a:t>
            </a:r>
            <a:r>
              <a:rPr lang="en-US" altLang="ko-KR" sz="1600" spc="-50" dirty="0"/>
              <a:t>(h)</a:t>
            </a:r>
            <a:r>
              <a:rPr lang="ko-KR" altLang="en-US" sz="1600" spc="-50" dirty="0"/>
              <a:t> 부분을 따로 떼어 생각 해보면 아래와 같이 계산이 가능하다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5,000mA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3.7V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1hour = 18,500mA·V·hour = 18.5Wh        (</a:t>
            </a:r>
            <a:r>
              <a:rPr lang="en-US" altLang="ko-KR" sz="1600" spc="-50" dirty="0" err="1"/>
              <a:t>mili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1/1000</a:t>
            </a:r>
            <a:r>
              <a:rPr lang="ko-KR" altLang="en-US" sz="1600" spc="-50" dirty="0"/>
              <a:t>을 뜻하고</a:t>
            </a:r>
            <a:r>
              <a:rPr lang="en-US" altLang="ko-KR" sz="1600" spc="-50" dirty="0"/>
              <a:t>, A·V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W</a:t>
            </a:r>
            <a:r>
              <a:rPr lang="ko-KR" altLang="en-US" sz="1600" spc="-50" dirty="0"/>
              <a:t>로 바뀐다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보조배터리가 </a:t>
            </a:r>
            <a:r>
              <a:rPr lang="en-US" altLang="ko-KR" sz="1600" spc="-50" dirty="0"/>
              <a:t>100% </a:t>
            </a:r>
            <a:r>
              <a:rPr lang="ko-KR" altLang="en-US" sz="1600" spc="-50" dirty="0"/>
              <a:t>충전상태라면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나는 </a:t>
            </a:r>
            <a:r>
              <a:rPr lang="en-US" altLang="ko-KR" sz="1600" spc="-50" dirty="0"/>
              <a:t>18.5Wh</a:t>
            </a:r>
            <a:r>
              <a:rPr lang="ko-KR" altLang="en-US" sz="1600" spc="-50" dirty="0"/>
              <a:t>만큼의 전기에너지를 쓸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앞서 선풍기의 소비전력이 </a:t>
            </a:r>
            <a:r>
              <a:rPr lang="en-US" altLang="ko-KR" sz="1600" spc="-50" dirty="0"/>
              <a:t>50W</a:t>
            </a:r>
            <a:r>
              <a:rPr lang="ko-KR" altLang="en-US" sz="1600" spc="-50" dirty="0"/>
              <a:t>였으므로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미니 보조배터리로 선풍기를 대략 </a:t>
            </a:r>
            <a:r>
              <a:rPr lang="en-US" altLang="ko-KR" sz="1600" spc="-50" dirty="0"/>
              <a:t>22.2</a:t>
            </a:r>
            <a:r>
              <a:rPr lang="ko-KR" altLang="en-US" sz="1600" spc="-50" dirty="0"/>
              <a:t>분 돌릴 수 있다는 의미다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EF258DE9-FADF-7F38-A360-95D287DC33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5617" y="1052904"/>
            <a:ext cx="2792354" cy="146842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16CC622A-8D6D-21A9-E8D3-E5C8BA6D91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4844" y="880877"/>
            <a:ext cx="1687657" cy="1468427"/>
          </a:xfrm>
          <a:prstGeom prst="rect">
            <a:avLst/>
          </a:prstGeom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2FC20ADE-1C90-48AB-5097-E74671AEB527}"/>
              </a:ext>
            </a:extLst>
          </p:cNvPr>
          <p:cNvSpPr/>
          <p:nvPr/>
        </p:nvSpPr>
        <p:spPr>
          <a:xfrm>
            <a:off x="8795617" y="1693096"/>
            <a:ext cx="2792354" cy="201965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solidFill>
              <a:schemeClr val="accent1">
                <a:shade val="1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E30FBA1-AE4F-DE66-DF7A-01B7AB5D6562}"/>
              </a:ext>
            </a:extLst>
          </p:cNvPr>
          <p:cNvSpPr txBox="1"/>
          <p:nvPr/>
        </p:nvSpPr>
        <p:spPr>
          <a:xfrm>
            <a:off x="271857" y="926904"/>
            <a:ext cx="6544177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보조배터리가 갖고 있는 전기에너지의 양은 얼마일까</a:t>
            </a:r>
            <a:r>
              <a:rPr lang="en-US" altLang="ko-KR" sz="1600" spc="-50" dirty="0"/>
              <a:t>?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배운 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(Watt-hour)</a:t>
            </a:r>
            <a:r>
              <a:rPr lang="ko-KR" altLang="en-US" sz="1600" spc="-50" dirty="0"/>
              <a:t>가 몇인지 표시는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없고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배터리용량에 </a:t>
            </a:r>
            <a:r>
              <a:rPr lang="en-US" altLang="ko-KR" sz="1600" spc="-50" dirty="0"/>
              <a:t>(5000mAh, 3.7V)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여기서 </a:t>
            </a:r>
            <a:r>
              <a:rPr lang="en-US" altLang="ko-KR" sz="1600" spc="-50" dirty="0"/>
              <a:t>m</a:t>
            </a:r>
            <a:r>
              <a:rPr lang="ko-KR" altLang="en-US" sz="1600" spc="-50" dirty="0"/>
              <a:t>은 </a:t>
            </a:r>
            <a:r>
              <a:rPr lang="en-US" altLang="ko-KR" sz="1600" spc="-50" dirty="0" err="1"/>
              <a:t>mili</a:t>
            </a:r>
            <a:r>
              <a:rPr lang="en-US" altLang="ko-KR" sz="1600" spc="-50" dirty="0"/>
              <a:t>(10</a:t>
            </a:r>
            <a:r>
              <a:rPr lang="en-US" altLang="ko-KR" sz="1600" spc="-50" baseline="30000" dirty="0"/>
              <a:t>-3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뜻하고</a:t>
            </a:r>
            <a:r>
              <a:rPr lang="en-US" altLang="ko-KR" sz="1600" spc="-50" dirty="0"/>
              <a:t>, A</a:t>
            </a:r>
            <a:r>
              <a:rPr lang="ko-KR" altLang="en-US" sz="1600" spc="-50" dirty="0"/>
              <a:t>는 전류</a:t>
            </a:r>
            <a:r>
              <a:rPr lang="en-US" altLang="ko-KR" sz="1600" spc="-50" dirty="0"/>
              <a:t>, h</a:t>
            </a:r>
            <a:r>
              <a:rPr lang="ko-KR" altLang="en-US" sz="1600" spc="-50" dirty="0"/>
              <a:t>는 시간이다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전력</a:t>
            </a:r>
            <a:r>
              <a:rPr lang="en-US" altLang="ko-KR" sz="1600" spc="-50" dirty="0"/>
              <a:t>(W)</a:t>
            </a:r>
            <a:r>
              <a:rPr lang="ko-KR" altLang="en-US" sz="1600" spc="-50" dirty="0"/>
              <a:t>은 </a:t>
            </a:r>
            <a:r>
              <a:rPr lang="en-US" altLang="ko-KR" sz="1600" spc="-50" dirty="0"/>
              <a:t>V(</a:t>
            </a:r>
            <a:r>
              <a:rPr lang="ko-KR" altLang="en-US" sz="1600" spc="-50" dirty="0"/>
              <a:t>전압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A(</a:t>
            </a:r>
            <a:r>
              <a:rPr lang="ko-KR" altLang="en-US" sz="1600" spc="-50" dirty="0"/>
              <a:t>전류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곱으로 구할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Watt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=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A x V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전기에너지 양은 </a:t>
            </a:r>
            <a:r>
              <a:rPr lang="en-US" altLang="ko-KR" sz="1600" spc="-50" dirty="0"/>
              <a:t>W(</a:t>
            </a:r>
            <a:r>
              <a:rPr lang="ko-KR" altLang="en-US" sz="1600" spc="-50" dirty="0"/>
              <a:t>전력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과 </a:t>
            </a:r>
            <a:r>
              <a:rPr lang="en-US" altLang="ko-KR" sz="1600" spc="-50" dirty="0"/>
              <a:t>h(</a:t>
            </a:r>
            <a:r>
              <a:rPr lang="ko-KR" altLang="en-US" sz="1600" spc="-50" dirty="0"/>
              <a:t>시간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곱으로 구할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 err="1"/>
              <a:t>Wh</a:t>
            </a:r>
            <a:r>
              <a:rPr lang="en-US" altLang="ko-KR" sz="1600" spc="-50" dirty="0"/>
              <a:t> = Watt x hour</a:t>
            </a:r>
          </a:p>
        </p:txBody>
      </p:sp>
    </p:spTree>
    <p:extLst>
      <p:ext uri="{BB962C8B-B14F-4D97-AF65-F5344CB8AC3E}">
        <p14:creationId xmlns:p14="http://schemas.microsoft.com/office/powerpoint/2010/main" val="7411059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22965E-C231-C2C5-6D80-6AB661B0A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CE8672-A0FC-2DB8-BF52-06673C58F9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보조배터리 충전</a:t>
            </a:r>
            <a:r>
              <a:rPr lang="en-US" altLang="ko-KR" sz="2400" spc="-50" dirty="0"/>
              <a:t>·</a:t>
            </a:r>
            <a:r>
              <a:rPr lang="ko-KR" altLang="en-US" dirty="0"/>
              <a:t>방전 속도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56B618-8A8A-21B0-11FA-70E19C71A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A89C1F4-6C46-F06E-9943-6C1CDD616944}"/>
              </a:ext>
            </a:extLst>
          </p:cNvPr>
          <p:cNvSpPr txBox="1"/>
          <p:nvPr/>
        </p:nvSpPr>
        <p:spPr>
          <a:xfrm>
            <a:off x="271857" y="3992572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배터리용량 부문을 보면 </a:t>
            </a:r>
            <a:r>
              <a:rPr lang="en-US" altLang="ko-KR" sz="1600" spc="-50" dirty="0"/>
              <a:t>(20,000mAh, 3.8V)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이 모델은 친절히 </a:t>
            </a:r>
            <a:r>
              <a:rPr lang="en-US" altLang="ko-KR" sz="1600" spc="-50" dirty="0"/>
              <a:t>76Wh</a:t>
            </a:r>
            <a:r>
              <a:rPr lang="ko-KR" altLang="en-US" sz="1600" spc="-50" dirty="0"/>
              <a:t>로 계산이 되어 </a:t>
            </a:r>
            <a:r>
              <a:rPr lang="ko-KR" altLang="en-US" sz="1600" spc="-50" dirty="0" err="1"/>
              <a:t>있긴하다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20,000mAh</a:t>
            </a:r>
            <a:r>
              <a:rPr lang="ko-KR" altLang="en-US" sz="1600" spc="-50" dirty="0"/>
              <a:t>에서 암페어부분</a:t>
            </a:r>
            <a:r>
              <a:rPr lang="en-US" altLang="ko-KR" sz="1600" spc="-50" dirty="0"/>
              <a:t>(mA)</a:t>
            </a:r>
            <a:r>
              <a:rPr lang="ko-KR" altLang="en-US" sz="1600" spc="-50" dirty="0"/>
              <a:t>과 시간</a:t>
            </a:r>
            <a:r>
              <a:rPr lang="en-US" altLang="ko-KR" sz="1600" spc="-50" dirty="0"/>
              <a:t>(h)</a:t>
            </a:r>
            <a:r>
              <a:rPr lang="ko-KR" altLang="en-US" sz="1600" spc="-50" dirty="0"/>
              <a:t> 부분을 따로 떼어 생각 해보면 아래와 같이 계산이 가능하다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20,000mA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3.8V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1hour = 76,000mA·V·hour = 76Wh        (</a:t>
            </a:r>
            <a:r>
              <a:rPr lang="en-US" altLang="ko-KR" sz="1600" spc="-50" dirty="0" err="1"/>
              <a:t>mili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1/1000</a:t>
            </a:r>
            <a:r>
              <a:rPr lang="ko-KR" altLang="en-US" sz="1600" spc="-50" dirty="0"/>
              <a:t>을 뜻하고</a:t>
            </a:r>
            <a:r>
              <a:rPr lang="en-US" altLang="ko-KR" sz="1600" spc="-50" dirty="0"/>
              <a:t>, A·V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W</a:t>
            </a:r>
            <a:r>
              <a:rPr lang="ko-KR" altLang="en-US" sz="1600" spc="-50" dirty="0"/>
              <a:t>로 바뀐다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보조배터리가 </a:t>
            </a:r>
            <a:r>
              <a:rPr lang="en-US" altLang="ko-KR" sz="1600" spc="-50" dirty="0"/>
              <a:t>100% </a:t>
            </a:r>
            <a:r>
              <a:rPr lang="ko-KR" altLang="en-US" sz="1600" spc="-50" dirty="0"/>
              <a:t>충전상태라면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나는 </a:t>
            </a:r>
            <a:r>
              <a:rPr lang="en-US" altLang="ko-KR" sz="1600" spc="-50" dirty="0"/>
              <a:t>76Wh</a:t>
            </a:r>
            <a:r>
              <a:rPr lang="ko-KR" altLang="en-US" sz="1600" spc="-50" dirty="0"/>
              <a:t>만큼의 전기에너지를 쓸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앞서 선풍기의 소비전력이 </a:t>
            </a:r>
            <a:r>
              <a:rPr lang="en-US" altLang="ko-KR" sz="1600" spc="-50" dirty="0"/>
              <a:t>50W</a:t>
            </a:r>
            <a:r>
              <a:rPr lang="ko-KR" altLang="en-US" sz="1600" spc="-50" dirty="0"/>
              <a:t>였으므로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미니 보조배터리로 선풍기를 대략 </a:t>
            </a:r>
            <a:r>
              <a:rPr lang="en-US" altLang="ko-KR" sz="1600" spc="-50" dirty="0"/>
              <a:t>91</a:t>
            </a:r>
            <a:r>
              <a:rPr lang="ko-KR" altLang="en-US" sz="1600" spc="-50" dirty="0"/>
              <a:t>분 돌릴 수 있다는 의미다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3391507-D714-8422-8FBB-9799709C30B8}"/>
              </a:ext>
            </a:extLst>
          </p:cNvPr>
          <p:cNvSpPr txBox="1"/>
          <p:nvPr/>
        </p:nvSpPr>
        <p:spPr>
          <a:xfrm>
            <a:off x="271857" y="926904"/>
            <a:ext cx="6544177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보조배터리가 갖고 있는 전기에너지의 양은 얼마일까</a:t>
            </a:r>
            <a:r>
              <a:rPr lang="en-US" altLang="ko-KR" sz="1600" spc="-50" dirty="0"/>
              <a:t>? 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D4F9CD8-685D-D86A-0E5E-5C8FC1C870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9400" y="906101"/>
            <a:ext cx="2597128" cy="245428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4E36B469-D203-C455-D9D6-9DC9FCE2B7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2730" y="807936"/>
            <a:ext cx="1766952" cy="1895199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7641EB84-4281-7B7A-FD94-595E8F0A29EF}"/>
              </a:ext>
            </a:extLst>
          </p:cNvPr>
          <p:cNvSpPr/>
          <p:nvPr/>
        </p:nvSpPr>
        <p:spPr>
          <a:xfrm>
            <a:off x="9119682" y="2331992"/>
            <a:ext cx="1456819" cy="140193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ACA9AD31-B437-B22F-D2CE-34792A4C9BE4}"/>
              </a:ext>
            </a:extLst>
          </p:cNvPr>
          <p:cNvSpPr/>
          <p:nvPr/>
        </p:nvSpPr>
        <p:spPr>
          <a:xfrm>
            <a:off x="9169400" y="1824720"/>
            <a:ext cx="2597128" cy="259420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21529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CFF806-B994-CA21-10BB-9BF85DE315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>
            <a:extLst>
              <a:ext uri="{FF2B5EF4-FFF2-40B4-BE49-F238E27FC236}">
                <a16:creationId xmlns:a16="http://schemas.microsoft.com/office/drawing/2014/main" id="{3671B647-8CA3-39F2-13C9-E7585CF6FB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8163" y="4015891"/>
            <a:ext cx="1676458" cy="1585968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2F0D6CF-0A45-23A4-FBAC-1B5F745AF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 </a:t>
            </a:r>
            <a:r>
              <a:rPr lang="en-US" altLang="ko-KR" dirty="0"/>
              <a:t>(</a:t>
            </a:r>
            <a:r>
              <a:rPr lang="ko-KR" altLang="en-US" dirty="0"/>
              <a:t>미니 선풍기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84598B-A163-B812-DA7A-E609E0B03F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CABEEC4-80A7-DEA0-9263-389BA0F83AE1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일반 선풍기는 콘센트를 꼽지 않으면 </a:t>
            </a:r>
            <a:r>
              <a:rPr lang="ko-KR" altLang="en-US" sz="1600" spc="-50" dirty="0" err="1"/>
              <a:t>안돌아가는데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미니 선풍기는 콘센트 연결 없이 돌아간다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미니 선풍기 안에 배터리가 들어가 있기 때문에 가능하다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미니 선풍기의 입력 부문을 보면 </a:t>
            </a:r>
            <a:r>
              <a:rPr lang="en-US" altLang="ko-KR" sz="1600" spc="-50" dirty="0"/>
              <a:t>(5V, 2A)</a:t>
            </a:r>
            <a:r>
              <a:rPr lang="ko-KR" altLang="en-US" sz="1600" spc="-50" dirty="0"/>
              <a:t>로 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10W</a:t>
            </a:r>
            <a:r>
              <a:rPr lang="ko-KR" altLang="en-US" sz="1600" spc="-50" dirty="0"/>
              <a:t>의 전압으로 미니 선풍기가 충전된다는 의미다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출력 부문을 보면 </a:t>
            </a:r>
            <a:r>
              <a:rPr lang="en-US" altLang="ko-KR" sz="1600" spc="-50" dirty="0"/>
              <a:t>3.7V</a:t>
            </a:r>
            <a:r>
              <a:rPr lang="ko-KR" altLang="en-US" sz="1600" spc="-50" dirty="0"/>
              <a:t>로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표시되어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전압이 </a:t>
            </a:r>
            <a:r>
              <a:rPr lang="en-US" altLang="ko-KR" sz="1600" spc="-50" dirty="0"/>
              <a:t>5W</a:t>
            </a:r>
            <a:r>
              <a:rPr lang="ko-KR" altLang="en-US" sz="1600" spc="-50" dirty="0"/>
              <a:t>로 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역산해보면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대략 </a:t>
            </a:r>
            <a:r>
              <a:rPr lang="en-US" altLang="ko-KR" sz="1600" spc="-50" dirty="0"/>
              <a:t>1.35A </a:t>
            </a:r>
            <a:r>
              <a:rPr lang="ko-KR" altLang="en-US" sz="1600" spc="-50" dirty="0"/>
              <a:t>로 출력될 것임을 유추할 수 있다</a:t>
            </a:r>
            <a:r>
              <a:rPr lang="en-US" altLang="ko-KR" sz="1600" spc="-50" dirty="0"/>
              <a:t>. (W = V x A)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출력부문은 </a:t>
            </a:r>
            <a:r>
              <a:rPr lang="en-US" altLang="ko-KR" sz="1600" spc="-50" dirty="0"/>
              <a:t>(3.7V, 1.35A)</a:t>
            </a:r>
            <a:r>
              <a:rPr lang="ko-KR" altLang="en-US" sz="1600" spc="-50" dirty="0"/>
              <a:t>로서 </a:t>
            </a:r>
            <a:r>
              <a:rPr lang="en-US" altLang="ko-KR" sz="1600" spc="-50" dirty="0"/>
              <a:t>5W</a:t>
            </a:r>
            <a:r>
              <a:rPr lang="ko-KR" altLang="en-US" sz="1600" spc="-50" dirty="0"/>
              <a:t>의 전압으로 전기에너지를 소비한다는 의미다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</a:t>
            </a:r>
            <a:r>
              <a:rPr lang="ko-KR" altLang="en-US" sz="1600" spc="-50" dirty="0"/>
              <a:t>시간 동안 사용하면 </a:t>
            </a:r>
            <a:r>
              <a:rPr lang="en-US" altLang="ko-KR" sz="1600" spc="-50" dirty="0"/>
              <a:t>5Wh</a:t>
            </a:r>
            <a:r>
              <a:rPr lang="ko-KR" altLang="en-US" sz="1600" spc="-50" dirty="0"/>
              <a:t>의 전기에너지를 소비하게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배터리용량은 </a:t>
            </a:r>
            <a:r>
              <a:rPr lang="en-US" altLang="ko-KR" sz="1600" spc="-50" dirty="0"/>
              <a:t>4.5Ah (=4,500mAh) </a:t>
            </a:r>
            <a:r>
              <a:rPr lang="ko-KR" altLang="en-US" sz="1600" spc="-50" dirty="0"/>
              <a:t>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정격전압이 </a:t>
            </a:r>
            <a:r>
              <a:rPr lang="en-US" altLang="ko-KR" sz="1600" spc="-50" dirty="0"/>
              <a:t>3.7V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보조배터리가 </a:t>
            </a:r>
            <a:r>
              <a:rPr lang="en-US" altLang="ko-KR" sz="1600" spc="-50" dirty="0"/>
              <a:t>100% </a:t>
            </a:r>
            <a:r>
              <a:rPr lang="ko-KR" altLang="en-US" sz="1600" spc="-50" dirty="0"/>
              <a:t>충전상태라면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16.65Wh (= 4.5Ah x 3.7V) </a:t>
            </a:r>
            <a:r>
              <a:rPr lang="ko-KR" altLang="en-US" sz="1600" spc="-50" dirty="0"/>
              <a:t>만큼의 전기에너지를 쓸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10W</a:t>
            </a:r>
            <a:r>
              <a:rPr lang="ko-KR" altLang="en-US" sz="1600" spc="-50" dirty="0"/>
              <a:t>의 전압으로 충전하므로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선풍기가 </a:t>
            </a:r>
            <a:r>
              <a:rPr lang="en-US" altLang="ko-KR" sz="1600" spc="-50" dirty="0"/>
              <a:t>0%</a:t>
            </a:r>
            <a:r>
              <a:rPr lang="ko-KR" altLang="en-US" sz="1600" spc="-50" dirty="0"/>
              <a:t>에서 </a:t>
            </a:r>
            <a:r>
              <a:rPr lang="en-US" altLang="ko-KR" sz="1600" spc="-50" dirty="0"/>
              <a:t>100%</a:t>
            </a:r>
            <a:r>
              <a:rPr lang="ko-KR" altLang="en-US" sz="1600" spc="-50" dirty="0"/>
              <a:t>까지 충전되는데 </a:t>
            </a:r>
            <a:r>
              <a:rPr lang="en-US" altLang="ko-KR" sz="1600" spc="-50" dirty="0"/>
              <a:t>1.65</a:t>
            </a:r>
            <a:r>
              <a:rPr lang="ko-KR" altLang="en-US" sz="1600" spc="-50" dirty="0"/>
              <a:t>시간</a:t>
            </a:r>
            <a:r>
              <a:rPr lang="en-US" altLang="ko-KR" sz="1600" spc="-50" dirty="0"/>
              <a:t>(99</a:t>
            </a:r>
            <a:r>
              <a:rPr lang="ko-KR" altLang="en-US" sz="1600" spc="-50" dirty="0"/>
              <a:t>분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소요된다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5W</a:t>
            </a:r>
            <a:r>
              <a:rPr lang="ko-KR" altLang="en-US" sz="1600" spc="-50" dirty="0"/>
              <a:t>의 전압으로 전기를 소비하므로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선풍기는 </a:t>
            </a:r>
            <a:r>
              <a:rPr lang="en-US" altLang="ko-KR" sz="1600" spc="-50" dirty="0"/>
              <a:t>3.3</a:t>
            </a:r>
            <a:r>
              <a:rPr lang="ko-KR" altLang="en-US" sz="1600" spc="-50" dirty="0"/>
              <a:t>시간 </a:t>
            </a:r>
            <a:r>
              <a:rPr lang="en-US" altLang="ko-KR" sz="1600" spc="-50" dirty="0"/>
              <a:t>(200</a:t>
            </a:r>
            <a:r>
              <a:rPr lang="ko-KR" altLang="en-US" sz="1600" spc="-50" dirty="0"/>
              <a:t>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동안 쓸 수 있다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F45B046-4342-D746-0677-B8D162310D05}"/>
              </a:ext>
            </a:extLst>
          </p:cNvPr>
          <p:cNvSpPr txBox="1"/>
          <p:nvPr/>
        </p:nvSpPr>
        <p:spPr>
          <a:xfrm>
            <a:off x="9828090" y="5574453"/>
            <a:ext cx="2016604" cy="10618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700" dirty="0"/>
              <a:t>https://www.coupang.com/vp/products/8690517296?itemId=25231486136&amp;vendorItemId=92227684957&amp;sourceType=srp_product_ads&amp;clickEventId=81b0fc80-74f7-11f1-a7e4-fb540a9a1516&amp;korePlacement=15&amp;koreSubPlacement=1&amp;clickEventId=81b0fc80-74f7-11f1-a7e4-fb540a9a1516&amp;korePlacement=15&amp;koreSubPlacement=1&amp;traceId=mr1h97vj</a:t>
            </a:r>
            <a:endParaRPr lang="ko-KR" altLang="en-US" sz="700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58357DA-9172-B062-6020-75B010DE807A}"/>
              </a:ext>
            </a:extLst>
          </p:cNvPr>
          <p:cNvSpPr/>
          <p:nvPr/>
        </p:nvSpPr>
        <p:spPr>
          <a:xfrm>
            <a:off x="9998163" y="4884000"/>
            <a:ext cx="1409080" cy="732512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50F3D275-F4B3-0464-9312-56860D6162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6278" y="1795282"/>
            <a:ext cx="1400227" cy="2124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62073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EC162E-3D87-126C-DB34-FEDD71C97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075777-CEFF-C33F-5235-8917CB3400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AB7ABD-DD56-FC7C-E177-92FD45082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757D904-41AE-FF64-2DDD-5EBEF04821FD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종합해보면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아래와 같다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100% </a:t>
            </a:r>
            <a:r>
              <a:rPr lang="ko-KR" altLang="en-US" sz="1600" spc="-50" dirty="0"/>
              <a:t>충전된 보조배터리로 </a:t>
            </a:r>
            <a:r>
              <a:rPr lang="ko-KR" altLang="en-US" sz="1600" spc="-50" dirty="0" err="1"/>
              <a:t>미니선풍기를</a:t>
            </a:r>
            <a:r>
              <a:rPr lang="ko-KR" altLang="en-US" sz="1600" spc="-50" dirty="0"/>
              <a:t> 충전하면 아래와 같은 상황이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보조배터리는 </a:t>
            </a:r>
            <a:r>
              <a:rPr lang="en-US" altLang="ko-KR" sz="1600" spc="-50" dirty="0"/>
              <a:t>76Wh</a:t>
            </a:r>
            <a:r>
              <a:rPr lang="ko-KR" altLang="en-US" sz="1600" spc="-50" dirty="0"/>
              <a:t>의 전기에너지를 갖고 있으므로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미니 선풍기를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번 완충시키고도</a:t>
            </a:r>
            <a:r>
              <a:rPr lang="en-US" altLang="ko-KR" sz="1600" spc="-50" dirty="0"/>
              <a:t>, 59.35Wh</a:t>
            </a:r>
            <a:r>
              <a:rPr lang="ko-KR" altLang="en-US" sz="1600" spc="-50" dirty="0"/>
              <a:t>가 남는다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미니 보조배터리는 </a:t>
            </a:r>
            <a:r>
              <a:rPr lang="en-US" altLang="ko-KR" sz="1600" spc="-50" dirty="0"/>
              <a:t>18.5Wh</a:t>
            </a:r>
            <a:r>
              <a:rPr lang="ko-KR" altLang="en-US" sz="1600" spc="-50" dirty="0"/>
              <a:t>의 전기에너지를 갖고 있으므로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미니 선풍기를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번 충전시키면</a:t>
            </a:r>
            <a:r>
              <a:rPr lang="en-US" altLang="ko-KR" sz="1600" spc="-50" dirty="0"/>
              <a:t>, 1.85Wh</a:t>
            </a:r>
            <a:r>
              <a:rPr lang="ko-KR" altLang="en-US" sz="1600" spc="-50" dirty="0"/>
              <a:t>만 남는다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13147970-1BC9-69E9-4D42-38E625BC73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7869696"/>
              </p:ext>
            </p:extLst>
          </p:nvPr>
        </p:nvGraphicFramePr>
        <p:xfrm>
          <a:off x="6452245" y="2498450"/>
          <a:ext cx="4279255" cy="158278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71445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196975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  <a:gridCol w="1367822">
                  <a:extLst>
                    <a:ext uri="{9D8B030D-6E8A-4147-A177-3AD203B41FA5}">
                      <a16:colId xmlns:a16="http://schemas.microsoft.com/office/drawing/2014/main" val="1056637573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스펙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보조배터리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미니 보조배터리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방전속도</a:t>
                      </a:r>
                      <a:endParaRPr lang="en-US" altLang="ko-KR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kern="0" spc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보조배터리→핸드폰</a:t>
                      </a: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15W ~ 65W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15W ~ 20W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충전속도</a:t>
                      </a:r>
                      <a:endParaRPr lang="en-US" altLang="ko-KR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kern="0" spc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콘센트→보조배터리</a:t>
                      </a: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15W ~ 40W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15W ~ 18W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배터리 용량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76Wh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18.5Wh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</a:tbl>
          </a:graphicData>
        </a:graphic>
      </p:graphicFrame>
      <p:pic>
        <p:nvPicPr>
          <p:cNvPr id="12" name="그림 11">
            <a:extLst>
              <a:ext uri="{FF2B5EF4-FFF2-40B4-BE49-F238E27FC236}">
                <a16:creationId xmlns:a16="http://schemas.microsoft.com/office/drawing/2014/main" id="{8D66117D-A561-F3BE-ED75-F9AC98139F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26628" y="1791229"/>
            <a:ext cx="632147" cy="55003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190E2770-69B2-9663-29AE-35265C7A94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1872" y="1640833"/>
            <a:ext cx="661849" cy="709887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17FAE7A8-5C4F-2317-9759-5153F9076B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63844" y="1493576"/>
            <a:ext cx="518276" cy="880918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D2B6B473-3AB5-9AE3-8896-9FFC9179F7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54356" y="1720762"/>
            <a:ext cx="362520" cy="550030"/>
          </a:xfrm>
          <a:prstGeom prst="rect">
            <a:avLst/>
          </a:prstGeom>
        </p:spPr>
      </p:pic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2EFC5AA6-6F27-4240-88A8-78B4832BBB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1470672"/>
              </p:ext>
            </p:extLst>
          </p:nvPr>
        </p:nvGraphicFramePr>
        <p:xfrm>
          <a:off x="983403" y="2499503"/>
          <a:ext cx="4386625" cy="158278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687599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349513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349513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스펙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선풍기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0" spc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미니선풍기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충전속도</a:t>
                      </a:r>
                      <a:endParaRPr lang="en-US" altLang="ko-KR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kern="0" spc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콘센트→미니선풍기</a:t>
                      </a: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15W ~ 65W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소비전력</a:t>
                      </a:r>
                      <a:endParaRPr lang="en-US" altLang="ko-KR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50W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3722784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배터리 용량</a:t>
                      </a:r>
                      <a:endParaRPr lang="en-US" altLang="ko-KR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16.65Wh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857005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442240-BED8-8FB0-93EC-5D1F2454E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C12E416-6B4E-36AA-DB12-445C6E0845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EA39C78-1CC0-14B4-52FC-33A7A144D3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D8B9C063-DD5C-2BB0-B339-EBD9A0284C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우리집 전기요금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7093127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1801E7-3E78-2723-A42D-D0835F338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EDF6BCE-7739-C666-5FB0-1C0FE01D3E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C03D07-D125-EBBE-3052-12667E1812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020A23A-75FA-F189-CB98-1454ACDAC535}"/>
              </a:ext>
            </a:extLst>
          </p:cNvPr>
          <p:cNvSpPr txBox="1"/>
          <p:nvPr/>
        </p:nvSpPr>
        <p:spPr>
          <a:xfrm>
            <a:off x="288789" y="958844"/>
            <a:ext cx="8144011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전기사용량에 근거하여 전기요금을 직접 계산 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한전 홈페이지에 들어가서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계약자명으로 로그인을 하면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우리 집의 전기요금 상세 내역을 조회할 수 있다</a:t>
            </a:r>
            <a:r>
              <a:rPr lang="en-US" altLang="ko-KR" sz="1600" spc="-50" dirty="0"/>
              <a:t>.    </a:t>
            </a:r>
            <a:r>
              <a:rPr lang="en-US" altLang="ko-KR" sz="1600" spc="-50" dirty="0">
                <a:hlinkClick r:id="rId2"/>
              </a:rPr>
              <a:t>https://online.kepco.co.kr/MYM043D00</a:t>
            </a:r>
            <a:r>
              <a:rPr lang="en-US" altLang="ko-KR" sz="1600" spc="-50" dirty="0"/>
              <a:t>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2AA7D8B-09E6-6308-EA7C-9F03A90890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2505" y="2289875"/>
            <a:ext cx="4122192" cy="1118791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91055545-06E9-4D1A-3E59-7BDE7D04E1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1671" y="3429000"/>
            <a:ext cx="2863997" cy="533427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31C67EB6-38C4-F1B2-ED4F-34CCF5874C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33229" y="4147564"/>
            <a:ext cx="1303531" cy="2241806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650C9643-0B43-24A0-BBD6-0E7E916B6E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36155" y="4122164"/>
            <a:ext cx="1426614" cy="2305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20899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C3A48-2A03-DE37-4EF7-450DA7707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D6AD53C-A744-7D66-1AFA-2A01B93B0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5E56235-6140-5D8E-1B20-10A655CF09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694B23-26BF-505A-B95D-777FCA550546}"/>
              </a:ext>
            </a:extLst>
          </p:cNvPr>
          <p:cNvSpPr txBox="1"/>
          <p:nvPr/>
        </p:nvSpPr>
        <p:spPr>
          <a:xfrm>
            <a:off x="288790" y="958844"/>
            <a:ext cx="8027254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실제 어느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인 가구의 </a:t>
            </a:r>
            <a:r>
              <a:rPr lang="en-US" altLang="ko-KR" sz="1600" spc="-50" dirty="0"/>
              <a:t>2026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월 한달간 전기사용 내역이다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집의 계량기는 전기소비량이 누적해서 올라가기 때문에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매월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일을 기준으로 검침을 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뺀 만큼을 해당 월의 전기소비량을 계산한다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검침일은 집마다 다를 수 있음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3</a:t>
            </a:r>
            <a:r>
              <a:rPr lang="ko-KR" altLang="en-US" sz="1600" spc="-50" dirty="0"/>
              <a:t>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일 전기계량기</a:t>
            </a:r>
            <a:r>
              <a:rPr lang="en-US" altLang="ko-KR" sz="1600" spc="-50" dirty="0"/>
              <a:t>: 17,432 kWh (</a:t>
            </a:r>
            <a:r>
              <a:rPr lang="ko-KR" altLang="en-US" sz="1600" spc="-50" dirty="0"/>
              <a:t>전월지침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4</a:t>
            </a:r>
            <a:r>
              <a:rPr lang="ko-KR" altLang="en-US" sz="1600" spc="-50" dirty="0"/>
              <a:t>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일 전기계량기</a:t>
            </a:r>
            <a:r>
              <a:rPr lang="en-US" altLang="ko-KR" sz="1600" spc="-50" dirty="0"/>
              <a:t>: 17,584 kWh (</a:t>
            </a:r>
            <a:r>
              <a:rPr lang="ko-KR" altLang="en-US" sz="1600" spc="-50" dirty="0"/>
              <a:t>당월지침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3</a:t>
            </a:r>
            <a:r>
              <a:rPr lang="ko-KR" altLang="en-US" sz="1600" spc="-50" dirty="0"/>
              <a:t>월 세대사용량</a:t>
            </a:r>
            <a:r>
              <a:rPr lang="en-US" altLang="ko-KR" sz="1600" spc="-50" dirty="0"/>
              <a:t>: 152 kWh (</a:t>
            </a:r>
            <a:r>
              <a:rPr lang="ko-KR" altLang="en-US" sz="1600" spc="-50" dirty="0"/>
              <a:t>세대사용량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17,584 – 17,432 = 152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공용 사용량</a:t>
            </a:r>
            <a:r>
              <a:rPr lang="en-US" altLang="ko-KR" sz="1600" spc="-50" dirty="0"/>
              <a:t>: 62 kWh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엘리베이터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지하주차장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조명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복도 조명 등 아파트 단지 내 공동시설 전기 사용량을 세대별로 나누어 부담하는 것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종합해보면 이 가구의 </a:t>
            </a:r>
            <a:r>
              <a:rPr lang="en-US" altLang="ko-KR" sz="1600" spc="-50" dirty="0"/>
              <a:t>8</a:t>
            </a:r>
            <a:r>
              <a:rPr lang="ko-KR" altLang="en-US" sz="1600" spc="-50" dirty="0"/>
              <a:t>월 한달간 사용량</a:t>
            </a:r>
            <a:r>
              <a:rPr lang="en-US" altLang="ko-KR" sz="1600" spc="-50" dirty="0"/>
              <a:t>: 214 kWh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(=152 kWh + 62 kWh)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전월 사용량과 전년동월 사용량은 단순 참고용이다</a:t>
            </a:r>
            <a:r>
              <a:rPr lang="en-US" altLang="ko-KR" sz="1600" spc="-50" dirty="0"/>
              <a:t>. (</a:t>
            </a:r>
            <a:r>
              <a:rPr lang="ko-KR" altLang="en-US" sz="1600" spc="-50" dirty="0" err="1"/>
              <a:t>이번달</a:t>
            </a:r>
            <a:r>
              <a:rPr lang="ko-KR" altLang="en-US" sz="1600" spc="-50" dirty="0"/>
              <a:t> 전기요금과는 무관하다</a:t>
            </a:r>
            <a:r>
              <a:rPr lang="en-US" altLang="ko-KR" sz="1600" spc="-50" dirty="0"/>
              <a:t>.)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지난 달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월의 전기사용량은 </a:t>
            </a:r>
            <a:r>
              <a:rPr lang="en-US" altLang="ko-KR" sz="1600" spc="-50" dirty="0"/>
              <a:t>207 kWh (</a:t>
            </a:r>
            <a:r>
              <a:rPr lang="ko-KR" altLang="en-US" sz="1600" spc="-50" dirty="0"/>
              <a:t>전월 사용량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작년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월의 전기사용량은 </a:t>
            </a:r>
            <a:r>
              <a:rPr lang="en-US" altLang="ko-KR" sz="1600" spc="-50" dirty="0"/>
              <a:t>244 kWh (</a:t>
            </a:r>
            <a:r>
              <a:rPr lang="ko-KR" altLang="en-US" sz="1600" spc="-50" dirty="0"/>
              <a:t>전년동월 사용량</a:t>
            </a:r>
            <a:r>
              <a:rPr lang="en-US" altLang="ko-KR" sz="1600" spc="-50" dirty="0"/>
              <a:t>)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96D77212-2BAA-619B-B054-37497C16FB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6044" y="1167095"/>
            <a:ext cx="2696692" cy="4637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83620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64D992-D509-61E8-7026-B83F7FDD7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CC96A6-5ABB-BA3A-EA16-515932353F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CAABA70-6268-414C-5999-572F86FD8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E87CDDA9-2BB4-1077-0537-242315D38A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4807" y="1255702"/>
            <a:ext cx="2689760" cy="434659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59C6604-D139-D649-5F0B-94F2258D24CF}"/>
              </a:ext>
            </a:extLst>
          </p:cNvPr>
          <p:cNvSpPr txBox="1"/>
          <p:nvPr/>
        </p:nvSpPr>
        <p:spPr>
          <a:xfrm>
            <a:off x="288789" y="958844"/>
            <a:ext cx="851601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살펴 본 가구의 전기요금 세부내역이다</a:t>
            </a:r>
            <a:r>
              <a:rPr lang="en-US" altLang="ko-KR" sz="1600" spc="-50" dirty="0"/>
              <a:t>. (2026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월분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기본요금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전력 공급을 위한 기본 유지 비용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전력 설비 유지 관리 등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전기 사용량 구간에 따라 고정요금으로 부과된다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전력량요금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실제 사용한 전기에너지 생산 및 공급에 소요되는 비용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실제로 사용한 전력량</a:t>
            </a:r>
            <a:r>
              <a:rPr lang="en-US" altLang="ko-KR" sz="1600" spc="-50" dirty="0"/>
              <a:t>(kWh)</a:t>
            </a:r>
            <a:r>
              <a:rPr lang="ko-KR" altLang="en-US" sz="1600" spc="-50" dirty="0"/>
              <a:t>에 대해 요금이 부과된다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기후환경요금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깨끗하고 안전한 에너지 제공에 소요되는 비용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석탄발전 감축비용 등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기후환경요금 </a:t>
            </a:r>
            <a:r>
              <a:rPr lang="en-US" altLang="ko-KR" sz="1600" spc="-50" dirty="0"/>
              <a:t>= </a:t>
            </a:r>
            <a:r>
              <a:rPr lang="ko-KR" altLang="en-US" sz="1600" spc="-50" dirty="0"/>
              <a:t>기후환경요금 단가 </a:t>
            </a:r>
            <a:r>
              <a:rPr lang="en-US" altLang="ko-KR" sz="1600" spc="-50" dirty="0"/>
              <a:t>x </a:t>
            </a:r>
            <a:r>
              <a:rPr lang="ko-KR" altLang="en-US" sz="1600" spc="-50" dirty="0" err="1"/>
              <a:t>사용전력량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기후환경요금 단가는 매년 변동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연료비조정요금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연료비 </a:t>
            </a:r>
            <a:r>
              <a:rPr lang="ko-KR" altLang="en-US" sz="1600" spc="-50" dirty="0" err="1"/>
              <a:t>변동분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석탄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천연가스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유류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반영하는 요금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연료비조정요금 </a:t>
            </a:r>
            <a:r>
              <a:rPr lang="en-US" altLang="ko-KR" sz="1600" spc="-50" dirty="0"/>
              <a:t>= </a:t>
            </a:r>
            <a:r>
              <a:rPr lang="ko-KR" altLang="en-US" sz="1600" spc="-50" dirty="0"/>
              <a:t>연료비조정단가 </a:t>
            </a:r>
            <a:r>
              <a:rPr lang="en-US" altLang="ko-KR" sz="1600" spc="-50" dirty="0"/>
              <a:t>x </a:t>
            </a:r>
            <a:r>
              <a:rPr lang="ko-KR" altLang="en-US" sz="1600" spc="-50" dirty="0" err="1"/>
              <a:t>사용전력량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연료비조정 단가는 매분기 변동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최종 청구금액은 전기요금 </a:t>
            </a:r>
            <a:r>
              <a:rPr lang="en-US" altLang="ko-KR" sz="1600" spc="-50" dirty="0"/>
              <a:t>+ </a:t>
            </a:r>
            <a:r>
              <a:rPr lang="ko-KR" altLang="en-US" sz="1600" spc="-50" dirty="0"/>
              <a:t>부가가치세 </a:t>
            </a:r>
            <a:r>
              <a:rPr lang="en-US" altLang="ko-KR" sz="1600" spc="-50" dirty="0"/>
              <a:t>+ </a:t>
            </a:r>
            <a:r>
              <a:rPr lang="ko-KR" altLang="en-US" sz="1600" spc="-50" dirty="0"/>
              <a:t>전력기금이다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부가가치세는 전기요금의 </a:t>
            </a:r>
            <a:r>
              <a:rPr lang="en-US" altLang="ko-KR" sz="1600" spc="-50" dirty="0"/>
              <a:t>10%  (27,692 x 0.1)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전력기금은 전기요금의 </a:t>
            </a:r>
            <a:r>
              <a:rPr lang="en-US" altLang="ko-KR" sz="1600" spc="-50" dirty="0"/>
              <a:t>2.7%    (27,692 x 0.027)</a:t>
            </a:r>
          </a:p>
        </p:txBody>
      </p:sp>
    </p:spTree>
    <p:extLst>
      <p:ext uri="{BB962C8B-B14F-4D97-AF65-F5344CB8AC3E}">
        <p14:creationId xmlns:p14="http://schemas.microsoft.com/office/powerpoint/2010/main" val="31570073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0C0FE-A2B2-B1BF-5332-525CFEA23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21187D-404A-5227-78F6-39FB29CBE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37FF17-5BB2-6152-1333-49DCA3DD5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D0E6D8D-091B-9B53-8FEE-DF91F55E9A95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전기요금은 용도별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전압별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계절별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시간대별로 다르다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용도는 주택용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일반용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산업용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교육용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농사용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가로등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심야전력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기타요금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전기차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으로 나뉜다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전압은 저압</a:t>
            </a:r>
            <a:r>
              <a:rPr lang="en-US" altLang="ko-KR" sz="1600" spc="-50" dirty="0"/>
              <a:t>(110V~380V), </a:t>
            </a:r>
            <a:r>
              <a:rPr lang="ko-KR" altLang="en-US" sz="1600" spc="-50" dirty="0"/>
              <a:t>고압</a:t>
            </a:r>
            <a:r>
              <a:rPr lang="en-US" altLang="ko-KR" sz="1600" spc="-50" dirty="0"/>
              <a:t>A(3,300~66,000V), </a:t>
            </a:r>
            <a:r>
              <a:rPr lang="ko-KR" altLang="en-US" sz="1600" spc="-50" dirty="0"/>
              <a:t>고압</a:t>
            </a:r>
            <a:r>
              <a:rPr lang="en-US" altLang="ko-KR" sz="1600" spc="-50" dirty="0"/>
              <a:t>B(154,000V), </a:t>
            </a:r>
            <a:r>
              <a:rPr lang="ko-KR" altLang="en-US" sz="1600" spc="-50" dirty="0"/>
              <a:t>고압</a:t>
            </a:r>
            <a:r>
              <a:rPr lang="en-US" altLang="ko-KR" sz="1600" spc="-50" dirty="0"/>
              <a:t>C(345,000V </a:t>
            </a:r>
            <a:r>
              <a:rPr lang="ko-KR" altLang="en-US" sz="1600" spc="-50" dirty="0"/>
              <a:t>이상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로 나뉜다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계절은 여름</a:t>
            </a:r>
            <a:r>
              <a:rPr lang="en-US" altLang="ko-KR" sz="1600" spc="-50" dirty="0"/>
              <a:t>(6~8</a:t>
            </a:r>
            <a:r>
              <a:rPr lang="ko-KR" altLang="en-US" sz="1600" spc="-50" dirty="0"/>
              <a:t>월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봄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가을</a:t>
            </a:r>
            <a:r>
              <a:rPr lang="en-US" altLang="ko-KR" sz="1600" spc="-50" dirty="0"/>
              <a:t>(3~5</a:t>
            </a:r>
            <a:r>
              <a:rPr lang="ko-KR" altLang="en-US" sz="1600" spc="-50" dirty="0"/>
              <a:t>월</a:t>
            </a:r>
            <a:r>
              <a:rPr lang="en-US" altLang="ko-KR" sz="1600" spc="-50" dirty="0"/>
              <a:t>, 9~10</a:t>
            </a:r>
            <a:r>
              <a:rPr lang="ko-KR" altLang="en-US" sz="1600" spc="-50" dirty="0"/>
              <a:t>월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겨울철</a:t>
            </a:r>
            <a:r>
              <a:rPr lang="en-US" altLang="ko-KR" sz="1600" spc="-50" dirty="0"/>
              <a:t>(11~2</a:t>
            </a:r>
            <a:r>
              <a:rPr lang="ko-KR" altLang="en-US" sz="1600" spc="-50" dirty="0"/>
              <a:t>월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로 나뉜다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시간은 </a:t>
            </a:r>
            <a:r>
              <a:rPr lang="ko-KR" altLang="en-US" sz="1600" spc="-50" dirty="0" err="1"/>
              <a:t>경부하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중간부하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최대부하 로 나뉜다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아래와 같이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계절별로 시간대 구분이 다르다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현재 한전에서 제공하는 대략 </a:t>
            </a:r>
            <a:r>
              <a:rPr lang="en-US" altLang="ko-KR" sz="1600" spc="-50" dirty="0"/>
              <a:t>70</a:t>
            </a:r>
            <a:r>
              <a:rPr lang="ko-KR" altLang="en-US" sz="1600" spc="-50" dirty="0"/>
              <a:t>여개의 계약종은 용도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계절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시간 조건의 여러 조합으로 구성된다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56CB411-CBD9-1978-809A-7265D945D4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7284" y="2938670"/>
            <a:ext cx="4298873" cy="1564194"/>
          </a:xfrm>
          <a:prstGeom prst="rect">
            <a:avLst/>
          </a:prstGeom>
          <a:ln w="3175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14465939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FEA389-B420-2BA0-B81F-8FA22B51F9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48972C80-701C-65F1-CC5D-2A56DF58E4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5672087"/>
              </p:ext>
            </p:extLst>
          </p:nvPr>
        </p:nvGraphicFramePr>
        <p:xfrm>
          <a:off x="8971332" y="897437"/>
          <a:ext cx="2595828" cy="563947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59582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563947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4857FB26-5818-4997-FB93-A77A09134A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5672087"/>
              </p:ext>
            </p:extLst>
          </p:nvPr>
        </p:nvGraphicFramePr>
        <p:xfrm>
          <a:off x="6192572" y="897437"/>
          <a:ext cx="2595828" cy="563947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59582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563947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sp>
        <p:nvSpPr>
          <p:cNvPr id="2" name="제목 1">
            <a:extLst>
              <a:ext uri="{FF2B5EF4-FFF2-40B4-BE49-F238E27FC236}">
                <a16:creationId xmlns:a16="http://schemas.microsoft.com/office/drawing/2014/main" id="{D43B3A88-568D-BCB6-2D88-CBA389407B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주택용</a:t>
            </a:r>
            <a:r>
              <a:rPr lang="en-US" altLang="ko-KR" dirty="0"/>
              <a:t>, </a:t>
            </a:r>
            <a:r>
              <a:rPr lang="ko-KR" altLang="en-US" dirty="0"/>
              <a:t>교육용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4773B6-A193-E145-B1FA-91304A6FC9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BC258B-C744-2A0B-9614-F23A78743DF2}"/>
              </a:ext>
            </a:extLst>
          </p:cNvPr>
          <p:cNvSpPr txBox="1"/>
          <p:nvPr/>
        </p:nvSpPr>
        <p:spPr>
          <a:xfrm>
            <a:off x="288790" y="958844"/>
            <a:ext cx="5710639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주택용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가정집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아파트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빌라 등 사람이 거주하는 곳에서 사용하는 전기 요금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기본요금이 각 호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집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별로 다르다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기본요금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전력량요금이 사용한 전력량의 구간에 따라 다르다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교육용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학교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유치원 등 교육시설에서 사용하는 전기 요금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기본요금이 계약전력</a:t>
            </a:r>
            <a:r>
              <a:rPr lang="en-US" altLang="ko-KR" sz="1600" spc="-50" dirty="0"/>
              <a:t>(kW)</a:t>
            </a:r>
            <a:r>
              <a:rPr lang="ko-KR" altLang="en-US" sz="1600" spc="-50" dirty="0"/>
              <a:t>별로 다르다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교육용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갑</a:t>
            </a:r>
            <a:r>
              <a:rPr lang="en-US" altLang="ko-KR" sz="1600" spc="-50" dirty="0"/>
              <a:t>): </a:t>
            </a:r>
            <a:r>
              <a:rPr lang="ko-KR" altLang="en-US" sz="1600" spc="-50" dirty="0"/>
              <a:t>계약전력이 </a:t>
            </a:r>
            <a:r>
              <a:rPr lang="en-US" altLang="ko-KR" sz="1600" spc="-50" dirty="0"/>
              <a:t>1,000kW </a:t>
            </a:r>
            <a:r>
              <a:rPr lang="ko-KR" altLang="en-US" sz="1600" spc="-50" dirty="0"/>
              <a:t>미만인 경우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교육용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을</a:t>
            </a:r>
            <a:r>
              <a:rPr lang="en-US" altLang="ko-KR" sz="1600" spc="-50" dirty="0"/>
              <a:t>): </a:t>
            </a:r>
            <a:r>
              <a:rPr lang="ko-KR" altLang="en-US" sz="1600" spc="-50" dirty="0"/>
              <a:t>계약전력이 </a:t>
            </a:r>
            <a:r>
              <a:rPr lang="en-US" altLang="ko-KR" sz="1600" spc="-50" dirty="0"/>
              <a:t>1,000kW </a:t>
            </a:r>
            <a:r>
              <a:rPr lang="ko-KR" altLang="en-US" sz="1600" spc="-50" dirty="0"/>
              <a:t>이상인 경우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구분이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선택별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선택</a:t>
            </a:r>
            <a:r>
              <a:rPr lang="en-US" altLang="ko-KR" sz="1600" spc="-50" dirty="0"/>
              <a:t>I, II)</a:t>
            </a:r>
            <a:r>
              <a:rPr lang="ko-KR" altLang="en-US" sz="1600" spc="-50" dirty="0"/>
              <a:t>로도 나뉜다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선택</a:t>
            </a:r>
            <a:r>
              <a:rPr lang="en-US" altLang="ko-KR" sz="1600" spc="-50" dirty="0"/>
              <a:t>I</a:t>
            </a:r>
            <a:r>
              <a:rPr lang="ko-KR" altLang="en-US" sz="1600" spc="-50" dirty="0"/>
              <a:t>은 기본요금이 저렴한 대신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전력량요금이 비싸다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선택</a:t>
            </a:r>
            <a:r>
              <a:rPr lang="en-US" altLang="ko-KR" sz="1600" spc="-50" dirty="0"/>
              <a:t>II</a:t>
            </a:r>
            <a:r>
              <a:rPr lang="ko-KR" altLang="en-US" sz="1600" spc="-50" dirty="0"/>
              <a:t>는 기본요금이 비싼 대신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전력량요금이 저렴하다</a:t>
            </a:r>
            <a:r>
              <a:rPr lang="en-US" altLang="ko-KR" sz="1600" spc="-50" dirty="0"/>
              <a:t>.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C363C409-E572-BE2C-343E-15A5E31DDF64}"/>
              </a:ext>
            </a:extLst>
          </p:cNvPr>
          <p:cNvGrpSpPr/>
          <p:nvPr/>
        </p:nvGrpSpPr>
        <p:grpSpPr>
          <a:xfrm>
            <a:off x="6299477" y="975875"/>
            <a:ext cx="2416916" cy="5482594"/>
            <a:chOff x="6313466" y="958844"/>
            <a:chExt cx="2663257" cy="6041399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C0D0B4AF-6650-BA21-201B-5586804E9EE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313466" y="958844"/>
              <a:ext cx="2663256" cy="4602801"/>
            </a:xfrm>
            <a:prstGeom prst="rect">
              <a:avLst/>
            </a:prstGeom>
          </p:spPr>
        </p:pic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96DD4F02-5801-0FEC-03FC-5BC66B4BA84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313467" y="5586296"/>
              <a:ext cx="2663256" cy="1413947"/>
            </a:xfrm>
            <a:prstGeom prst="rect">
              <a:avLst/>
            </a:prstGeom>
          </p:spPr>
        </p:pic>
      </p:grpSp>
      <p:pic>
        <p:nvPicPr>
          <p:cNvPr id="14" name="그림 13">
            <a:extLst>
              <a:ext uri="{FF2B5EF4-FFF2-40B4-BE49-F238E27FC236}">
                <a16:creationId xmlns:a16="http://schemas.microsoft.com/office/drawing/2014/main" id="{3129AA8C-DAA5-71D9-AA42-C41E333EBC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70484" y="1535214"/>
            <a:ext cx="2393248" cy="3509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372292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4A5C37-9F86-F3AD-FFAA-18E74E555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DD24CE-B8A9-17AA-F6B8-6CE5365CF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일반용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AE77A5-7941-C79B-0245-11AC8E5905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F0FCC5-B0DB-9955-D310-BC499A58352C}"/>
              </a:ext>
            </a:extLst>
          </p:cNvPr>
          <p:cNvSpPr txBox="1"/>
          <p:nvPr/>
        </p:nvSpPr>
        <p:spPr>
          <a:xfrm>
            <a:off x="288790" y="958844"/>
            <a:ext cx="5710639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일반용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상업시설이나 업무시설에서 사용하는 전기요금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상가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사무실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음식점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카페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갑</a:t>
            </a:r>
            <a:r>
              <a:rPr lang="en-US" altLang="ko-KR" sz="1600" spc="-50" dirty="0"/>
              <a:t>) I : </a:t>
            </a:r>
            <a:r>
              <a:rPr lang="ko-KR" altLang="en-US" sz="1600" spc="-50" dirty="0"/>
              <a:t>계약전력이 </a:t>
            </a:r>
            <a:r>
              <a:rPr lang="en-US" altLang="ko-KR" sz="1600" spc="-50" dirty="0"/>
              <a:t>300kW </a:t>
            </a:r>
            <a:r>
              <a:rPr lang="ko-KR" altLang="en-US" sz="1600" spc="-50" dirty="0"/>
              <a:t>미만인 경우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갑</a:t>
            </a:r>
            <a:r>
              <a:rPr lang="en-US" altLang="ko-KR" sz="1600" spc="-50" dirty="0"/>
              <a:t>) II : </a:t>
            </a:r>
            <a:r>
              <a:rPr lang="ko-KR" altLang="en-US" sz="1600" spc="-50" dirty="0"/>
              <a:t>계약전력 </a:t>
            </a:r>
            <a:r>
              <a:rPr lang="en-US" altLang="ko-KR" sz="1600" spc="-50" dirty="0"/>
              <a:t>300kW</a:t>
            </a:r>
            <a:r>
              <a:rPr lang="ko-KR" altLang="en-US" sz="1600" spc="-50" dirty="0"/>
              <a:t>미만이고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시간대별 구분 계량기가 설치되어 있는 경우 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을</a:t>
            </a:r>
            <a:r>
              <a:rPr lang="en-US" altLang="ko-KR" sz="1600" spc="-50" dirty="0"/>
              <a:t>) : </a:t>
            </a:r>
            <a:r>
              <a:rPr lang="ko-KR" altLang="en-US" sz="1600" spc="-50" dirty="0"/>
              <a:t>계약전력이 </a:t>
            </a:r>
            <a:r>
              <a:rPr lang="en-US" altLang="ko-KR" sz="1600" spc="-50" dirty="0"/>
              <a:t>300kW </a:t>
            </a:r>
            <a:r>
              <a:rPr lang="ko-KR" altLang="en-US" sz="1600" spc="-50" dirty="0"/>
              <a:t>이상인 경우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갑</a:t>
            </a:r>
            <a:r>
              <a:rPr lang="en-US" altLang="ko-KR" sz="1600" spc="-50" dirty="0"/>
              <a:t>) II</a:t>
            </a:r>
            <a:r>
              <a:rPr lang="ko-KR" altLang="en-US" sz="1600" spc="-50" dirty="0"/>
              <a:t>에는 시간대 구분 없이 단일 요금을 적용하는 선택</a:t>
            </a:r>
            <a:r>
              <a:rPr lang="en-US" altLang="ko-KR" sz="1600" spc="-50" dirty="0"/>
              <a:t>III</a:t>
            </a:r>
            <a:r>
              <a:rPr lang="ko-KR" altLang="en-US" sz="1600" spc="-50" dirty="0"/>
              <a:t>과 선택</a:t>
            </a:r>
            <a:r>
              <a:rPr lang="en-US" altLang="ko-KR" sz="1600" spc="-50" dirty="0"/>
              <a:t>IV</a:t>
            </a:r>
            <a:r>
              <a:rPr lang="ko-KR" altLang="en-US" sz="1600" spc="-50" dirty="0"/>
              <a:t>가 추가되었다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선택</a:t>
            </a:r>
            <a:r>
              <a:rPr lang="en-US" altLang="ko-KR" sz="1600" spc="-50" dirty="0"/>
              <a:t>III : </a:t>
            </a:r>
            <a:r>
              <a:rPr lang="ko-KR" altLang="en-US" sz="1600" spc="-50" dirty="0"/>
              <a:t>기본요금이 저렴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전력량요금이 비쌈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선택</a:t>
            </a:r>
            <a:r>
              <a:rPr lang="en-US" altLang="ko-KR" sz="1600" spc="-50" dirty="0"/>
              <a:t>IV: </a:t>
            </a:r>
            <a:r>
              <a:rPr lang="ko-KR" altLang="en-US" sz="1600" spc="-50" dirty="0"/>
              <a:t>기본요금이 비싸고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전력량요금이 저렴</a:t>
            </a:r>
            <a:endParaRPr lang="en-US" altLang="ko-KR" sz="1600" spc="-50" dirty="0"/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EAA11C2D-4993-9895-C91E-DE1AA6DC16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572962"/>
              </p:ext>
            </p:extLst>
          </p:nvPr>
        </p:nvGraphicFramePr>
        <p:xfrm>
          <a:off x="6192572" y="897437"/>
          <a:ext cx="5374588" cy="563947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37458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563947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pic>
        <p:nvPicPr>
          <p:cNvPr id="20" name="그림 19">
            <a:extLst>
              <a:ext uri="{FF2B5EF4-FFF2-40B4-BE49-F238E27FC236}">
                <a16:creationId xmlns:a16="http://schemas.microsoft.com/office/drawing/2014/main" id="{F5667E1B-52B9-0158-0900-71CB30C860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5286" y="995001"/>
            <a:ext cx="2412000" cy="1216983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89A83522-A08D-60DD-3EC0-9A272B45AF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5286" y="2573261"/>
            <a:ext cx="2412000" cy="3227695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EBF1B352-0F1E-AF69-01F6-1FC316B908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2349" y="1623812"/>
            <a:ext cx="2412000" cy="2941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758670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92D7CC-D09E-7AEA-9EA9-BC34BF6F1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408875-F43B-1C07-80AA-B2D2E93DE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산업용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5A510D-09C8-B8CC-E6C4-6D2C8D81E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55FCD0-0FB7-A496-5CEE-124A460900B5}"/>
              </a:ext>
            </a:extLst>
          </p:cNvPr>
          <p:cNvSpPr txBox="1"/>
          <p:nvPr/>
        </p:nvSpPr>
        <p:spPr>
          <a:xfrm>
            <a:off x="288791" y="958844"/>
            <a:ext cx="5728778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산업용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공장 및 산업시설에서 사용하는 전기요금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반도체 공장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철강공장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자동차 공장 등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산업용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에는 고압</a:t>
            </a:r>
            <a:r>
              <a:rPr lang="en-US" altLang="ko-KR" sz="1600" spc="-50" dirty="0"/>
              <a:t>C</a:t>
            </a:r>
            <a:r>
              <a:rPr lang="ko-KR" altLang="en-US" sz="1600" spc="-50" dirty="0"/>
              <a:t>가 추가된다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산업용은 특히 대규모 전력을 효율적으로 사용하기 위해 </a:t>
            </a:r>
            <a:r>
              <a:rPr lang="ko-KR" altLang="en-US" sz="1600" spc="-50" dirty="0" err="1"/>
              <a:t>초고압</a:t>
            </a:r>
            <a:r>
              <a:rPr lang="ko-KR" altLang="en-US" sz="1600" spc="-50" dirty="0"/>
              <a:t> 전압을 사용하기도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63A4190F-1F8D-ACEE-1D4F-0683F4EC7C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4790409"/>
              </p:ext>
            </p:extLst>
          </p:nvPr>
        </p:nvGraphicFramePr>
        <p:xfrm>
          <a:off x="6192572" y="554625"/>
          <a:ext cx="5374588" cy="598228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37458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5982282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pic>
        <p:nvPicPr>
          <p:cNvPr id="5" name="그림 4">
            <a:extLst>
              <a:ext uri="{FF2B5EF4-FFF2-40B4-BE49-F238E27FC236}">
                <a16:creationId xmlns:a16="http://schemas.microsoft.com/office/drawing/2014/main" id="{7BA4EBAF-6105-2278-EAD0-CA00B65588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0225" y="1487650"/>
            <a:ext cx="2412000" cy="4219897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3E8F4E0B-4C59-E4BB-1DA0-1B161CA9F1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4882" y="609298"/>
            <a:ext cx="2412000" cy="5883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755425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F5525B-B45B-C741-49CA-6664FCB81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9CDD165D-D9A0-D9A2-C203-D8E1C0B793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3832003"/>
              </p:ext>
            </p:extLst>
          </p:nvPr>
        </p:nvGraphicFramePr>
        <p:xfrm>
          <a:off x="6192137" y="3338516"/>
          <a:ext cx="2529788" cy="3417884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52978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3417884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sp>
        <p:nvSpPr>
          <p:cNvPr id="2" name="제목 1">
            <a:extLst>
              <a:ext uri="{FF2B5EF4-FFF2-40B4-BE49-F238E27FC236}">
                <a16:creationId xmlns:a16="http://schemas.microsoft.com/office/drawing/2014/main" id="{C2D52681-B819-944F-F9B6-6229CA7AA9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농사용</a:t>
            </a:r>
            <a:r>
              <a:rPr lang="en-US" altLang="ko-KR" dirty="0"/>
              <a:t>, </a:t>
            </a:r>
            <a:r>
              <a:rPr lang="ko-KR" altLang="en-US" dirty="0"/>
              <a:t>가로등</a:t>
            </a:r>
            <a:r>
              <a:rPr lang="en-US" altLang="ko-KR" dirty="0"/>
              <a:t>, </a:t>
            </a:r>
            <a:r>
              <a:rPr lang="ko-KR" altLang="en-US" dirty="0"/>
              <a:t>심야전력</a:t>
            </a:r>
            <a:r>
              <a:rPr lang="en-US" altLang="ko-KR" dirty="0"/>
              <a:t>, </a:t>
            </a:r>
            <a:r>
              <a:rPr lang="ko-KR" altLang="en-US" dirty="0"/>
              <a:t>전기차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7F4CAB-0E90-5411-E3A8-502B8C6FB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7BBAC1-176C-ED5A-F5B0-D0CCAC8BFB6F}"/>
              </a:ext>
            </a:extLst>
          </p:cNvPr>
          <p:cNvSpPr txBox="1"/>
          <p:nvPr/>
        </p:nvSpPr>
        <p:spPr>
          <a:xfrm>
            <a:off x="288791" y="958844"/>
            <a:ext cx="533477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가로등의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계약전력에 의해 갑</a:t>
            </a:r>
            <a:r>
              <a:rPr lang="en-US" altLang="ko-KR" sz="1600" spc="-50" dirty="0"/>
              <a:t>/</a:t>
            </a:r>
            <a:r>
              <a:rPr lang="ko-KR" altLang="en-US" sz="1600" spc="-50" dirty="0"/>
              <a:t>을 구분을 하지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정액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종량에</a:t>
            </a:r>
            <a:r>
              <a:rPr lang="ko-KR" altLang="en-US" sz="1600" spc="-50" dirty="0"/>
              <a:t> 따라 갑</a:t>
            </a:r>
            <a:r>
              <a:rPr lang="en-US" altLang="ko-KR" sz="1600" spc="-50" dirty="0"/>
              <a:t>/</a:t>
            </a:r>
            <a:r>
              <a:rPr lang="ko-KR" altLang="en-US" sz="1600" spc="-50" dirty="0"/>
              <a:t>을 구분을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가로등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갑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경우 실제 전력소비량을 측정하지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가로등의</a:t>
            </a:r>
            <a:r>
              <a:rPr lang="en-US" altLang="ko-KR" sz="1600" spc="-50" dirty="0"/>
              <a:t> W(</a:t>
            </a:r>
            <a:r>
              <a:rPr lang="ko-KR" altLang="en-US" sz="1600" spc="-50" dirty="0"/>
              <a:t>전압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당 </a:t>
            </a:r>
            <a:r>
              <a:rPr lang="en-US" altLang="ko-KR" sz="1600" spc="-50" dirty="0"/>
              <a:t>47.2</a:t>
            </a:r>
            <a:r>
              <a:rPr lang="ko-KR" altLang="en-US" sz="1600" spc="-50" dirty="0"/>
              <a:t>원을 부과한다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 가로등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은 실제 전력소비량을 측정하여 소비한 전력량에 따라 전기요금을 부과한다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전기차 충전요금의 경우 자가소비용과 사업자용으로 구분된다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자가소비용의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 판매 목적이 아니고 </a:t>
            </a:r>
            <a:r>
              <a:rPr lang="ko-KR" altLang="en-US" sz="1600" spc="-50" dirty="0" err="1"/>
              <a:t>자차</a:t>
            </a:r>
            <a:r>
              <a:rPr lang="ko-KR" altLang="en-US" sz="1600" spc="-50" dirty="0"/>
              <a:t> 충전을 위해 사용하는 것을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내 집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주택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 충전기를 설치하여 내가 사용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사업자의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 판매 목적으로 전기차 충전소를 운영하는 것을 의미한다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고속도로 휴게소에서 충전기 설치 운영</a:t>
            </a:r>
            <a:endParaRPr lang="en-US" altLang="ko-KR" sz="1600" spc="-50" dirty="0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E954219C-5250-8023-D6BF-6B52B2D41E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524570"/>
              </p:ext>
            </p:extLst>
          </p:nvPr>
        </p:nvGraphicFramePr>
        <p:xfrm>
          <a:off x="6192572" y="897437"/>
          <a:ext cx="2529788" cy="126156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52978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1261563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pic>
        <p:nvPicPr>
          <p:cNvPr id="12" name="그림 11">
            <a:extLst>
              <a:ext uri="{FF2B5EF4-FFF2-40B4-BE49-F238E27FC236}">
                <a16:creationId xmlns:a16="http://schemas.microsoft.com/office/drawing/2014/main" id="{19FACBB0-49B6-5225-D96B-4590B5C612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2732" y="958844"/>
            <a:ext cx="2412000" cy="1102702"/>
          </a:xfrm>
          <a:prstGeom prst="rect">
            <a:avLst/>
          </a:prstGeom>
        </p:spPr>
      </p:pic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F45C593E-AA4E-8FA4-8AEF-348EE0C8A5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5212754"/>
              </p:ext>
            </p:extLst>
          </p:nvPr>
        </p:nvGraphicFramePr>
        <p:xfrm>
          <a:off x="6192572" y="2321700"/>
          <a:ext cx="2529788" cy="862104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52978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862104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pic>
        <p:nvPicPr>
          <p:cNvPr id="15" name="그림 14">
            <a:extLst>
              <a:ext uri="{FF2B5EF4-FFF2-40B4-BE49-F238E27FC236}">
                <a16:creationId xmlns:a16="http://schemas.microsoft.com/office/drawing/2014/main" id="{33E9D0EA-8223-B951-EA0F-94E55A535E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2732" y="2410372"/>
            <a:ext cx="2415600" cy="681991"/>
          </a:xfrm>
          <a:prstGeom prst="rect">
            <a:avLst/>
          </a:prstGeom>
        </p:spPr>
      </p:pic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1ED3A959-4BBD-D1AB-7569-60A82A2525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3299934"/>
              </p:ext>
            </p:extLst>
          </p:nvPr>
        </p:nvGraphicFramePr>
        <p:xfrm>
          <a:off x="8937615" y="487263"/>
          <a:ext cx="2529788" cy="627195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52978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627195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pic>
        <p:nvPicPr>
          <p:cNvPr id="19" name="그림 18">
            <a:extLst>
              <a:ext uri="{FF2B5EF4-FFF2-40B4-BE49-F238E27FC236}">
                <a16:creationId xmlns:a16="http://schemas.microsoft.com/office/drawing/2014/main" id="{F452F167-C357-71F4-7DFB-C2B3C1EF2B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1031" y="3363916"/>
            <a:ext cx="2412000" cy="3375950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0AC8E4E1-BACA-D6C9-C562-2091D58642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18657" y="534653"/>
            <a:ext cx="2415600" cy="1771667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1410CCE1-DEA5-D2E9-EA05-CE463664A0C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22257" y="2393017"/>
            <a:ext cx="2412000" cy="4272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927453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FB5356-F3B4-78E8-38E0-1ECD2B669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9FFABC-2591-7736-24B4-D965345D0D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93A562-F4E1-AE66-7814-AF0D7B201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E29AC8-8ADF-998B-4226-43B2D31426F3}"/>
              </a:ext>
            </a:extLst>
          </p:cNvPr>
          <p:cNvSpPr txBox="1"/>
          <p:nvPr/>
        </p:nvSpPr>
        <p:spPr>
          <a:xfrm>
            <a:off x="288791" y="958844"/>
            <a:ext cx="784429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아파트에서 살고 있다고 가정하면</a:t>
            </a:r>
            <a:r>
              <a:rPr lang="en-US" altLang="ko-KR" sz="1600" spc="-50" dirty="0"/>
              <a:t>, </a:t>
            </a:r>
            <a:r>
              <a:rPr lang="ko-KR" altLang="en-US" sz="1600" b="1" spc="-50" dirty="0"/>
              <a:t>주택용 고압</a:t>
            </a:r>
            <a:r>
              <a:rPr lang="ko-KR" altLang="en-US" sz="1600" spc="-50" dirty="0"/>
              <a:t> 요금체계를 따르게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3</a:t>
            </a:r>
            <a:r>
              <a:rPr lang="ko-KR" altLang="en-US" sz="1600" spc="-50" dirty="0"/>
              <a:t>월에 사용한 전기에 대한 요금이므로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</a:t>
            </a:r>
            <a:r>
              <a:rPr lang="ko-KR" altLang="en-US" sz="1600" b="1" spc="-50" dirty="0"/>
              <a:t>기타계절</a:t>
            </a:r>
            <a:r>
              <a:rPr lang="ko-KR" altLang="en-US" sz="1600" spc="-50" dirty="0"/>
              <a:t>의 요금표를 적용 받는다</a:t>
            </a:r>
            <a:r>
              <a:rPr lang="en-US" altLang="ko-KR" sz="1600" spc="-50" dirty="0"/>
              <a:t>.</a:t>
            </a:r>
          </a:p>
          <a:p>
            <a:pPr marL="549275" lvl="1">
              <a:lnSpc>
                <a:spcPct val="150000"/>
              </a:lnSpc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기본요금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이 가구의 전기사용량은 </a:t>
            </a:r>
            <a:r>
              <a:rPr lang="en-US" altLang="ko-KR" sz="1600" spc="-50" dirty="0"/>
              <a:t>214kWh </a:t>
            </a:r>
            <a:r>
              <a:rPr lang="ko-KR" altLang="en-US" sz="1600" spc="-50" dirty="0"/>
              <a:t>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기본요금 두번째 구간 </a:t>
            </a:r>
            <a:r>
              <a:rPr lang="en-US" altLang="ko-KR" sz="1600" spc="-50" dirty="0"/>
              <a:t>(201~400kWh)</a:t>
            </a:r>
            <a:r>
              <a:rPr lang="ko-KR" altLang="en-US" sz="1600" spc="-50" dirty="0"/>
              <a:t>에 속하기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기본요금은 </a:t>
            </a:r>
            <a:r>
              <a:rPr lang="en-US" altLang="ko-KR" sz="1600" spc="-50" dirty="0"/>
              <a:t>1,260</a:t>
            </a:r>
            <a:r>
              <a:rPr lang="ko-KR" altLang="en-US" sz="1600" spc="-50" dirty="0"/>
              <a:t>원이 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전력량요금</a:t>
            </a:r>
            <a:r>
              <a:rPr lang="en-US" altLang="ko-KR" sz="1600" spc="-50" dirty="0"/>
              <a:t>) 0~200kWh </a:t>
            </a:r>
            <a:r>
              <a:rPr lang="ko-KR" altLang="en-US" sz="1600" spc="-50" dirty="0"/>
              <a:t>구간에서는 </a:t>
            </a:r>
            <a:r>
              <a:rPr lang="en-US" altLang="ko-KR" sz="1600" spc="-50" dirty="0"/>
              <a:t>kWh</a:t>
            </a:r>
            <a:r>
              <a:rPr lang="ko-KR" altLang="en-US" sz="1600" spc="-50" dirty="0"/>
              <a:t>당</a:t>
            </a:r>
            <a:r>
              <a:rPr lang="en-US" altLang="ko-KR" sz="1600" spc="-50" dirty="0"/>
              <a:t> 105.0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, 200kWh~400kWh </a:t>
            </a:r>
            <a:r>
              <a:rPr lang="ko-KR" altLang="en-US" sz="1600" spc="-50" dirty="0"/>
              <a:t>구간에서는 </a:t>
            </a:r>
            <a:r>
              <a:rPr lang="en-US" altLang="ko-KR" sz="1600" spc="-50" dirty="0"/>
              <a:t>kWh</a:t>
            </a:r>
            <a:r>
              <a:rPr lang="ko-KR" altLang="en-US" sz="1600" spc="-50" dirty="0"/>
              <a:t>당 </a:t>
            </a:r>
            <a:r>
              <a:rPr lang="en-US" altLang="ko-KR" sz="1600" spc="-50" dirty="0"/>
              <a:t>174</a:t>
            </a:r>
            <a:r>
              <a:rPr lang="ko-KR" altLang="en-US" sz="1600" spc="-50" dirty="0"/>
              <a:t>원이다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따라서 전력량요금은 총 </a:t>
            </a:r>
            <a:r>
              <a:rPr lang="en-US" altLang="ko-KR" sz="1600" spc="-50" dirty="0"/>
              <a:t>23,436</a:t>
            </a:r>
            <a:r>
              <a:rPr lang="ko-KR" altLang="en-US" sz="1600" spc="-50" dirty="0"/>
              <a:t>원이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200kWh x 105(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/kWh) + 14kWh x 174(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/kWh) = 23,436 </a:t>
            </a:r>
            <a:r>
              <a:rPr lang="ko-KR" altLang="en-US" sz="1600" spc="-50" dirty="0"/>
              <a:t>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기후환경요금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기후환경요금 단가는 </a:t>
            </a:r>
            <a:r>
              <a:rPr lang="en-US" altLang="ko-KR" sz="1600" spc="-50" dirty="0"/>
              <a:t>9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214(kWh) x 9(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/kWh) = 1,926</a:t>
            </a:r>
            <a:r>
              <a:rPr lang="ko-KR" altLang="en-US" sz="1600" spc="-50" dirty="0"/>
              <a:t>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연료비조정요금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연료비조정요금 단가는 </a:t>
            </a:r>
            <a:r>
              <a:rPr lang="en-US" altLang="ko-KR" sz="1600" spc="-50" dirty="0"/>
              <a:t>5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214(kWh) x 5(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/kWh) = 1,070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5FDBED3-B290-9990-9C65-9749233976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69388" y="5548636"/>
            <a:ext cx="2216264" cy="120656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507F6E3-9852-0F78-D576-B9263B7FF9FA}"/>
              </a:ext>
            </a:extLst>
          </p:cNvPr>
          <p:cNvSpPr txBox="1"/>
          <p:nvPr/>
        </p:nvSpPr>
        <p:spPr>
          <a:xfrm>
            <a:off x="11982450" y="6755198"/>
            <a:ext cx="26276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/>
              <a:t>https://online.kepco.co.kr/PRM004D00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CD945FF2-D053-C754-3BE7-5BAFE1E15C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6010" y="1017151"/>
            <a:ext cx="2277110" cy="3916161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5A326222-3EBF-7495-8859-1B9463636D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1561" y="5299731"/>
            <a:ext cx="3054507" cy="1162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349824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0750E0-B534-2982-9F39-0EBDE79CB1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574235F-A908-51B3-594A-7701F3CCD5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241EB7-4FC0-9312-74DF-6AE4FB384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B22D0D1-CE71-EE36-2A54-7A31B011B1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6628" y="4482331"/>
            <a:ext cx="2216264" cy="120656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68335CE-5367-D51B-0C68-343148B19F65}"/>
              </a:ext>
            </a:extLst>
          </p:cNvPr>
          <p:cNvSpPr txBox="1"/>
          <p:nvPr/>
        </p:nvSpPr>
        <p:spPr>
          <a:xfrm>
            <a:off x="8949690" y="5688893"/>
            <a:ext cx="26276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/>
              <a:t>https://online.kepco.co.kr/PRM004D00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6529DB0-06A9-6E17-4655-2421C7F9D3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9615" y="2245916"/>
            <a:ext cx="2286162" cy="369439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06E672D-7DB1-85C7-8039-155186BADD06}"/>
              </a:ext>
            </a:extLst>
          </p:cNvPr>
          <p:cNvSpPr txBox="1"/>
          <p:nvPr/>
        </p:nvSpPr>
        <p:spPr>
          <a:xfrm>
            <a:off x="288790" y="958844"/>
            <a:ext cx="11118453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우리의 계산 과정을 종합해보면 </a:t>
            </a:r>
            <a:r>
              <a:rPr lang="en-US" altLang="ko-KR" sz="1600" spc="-50" dirty="0"/>
              <a:t>2026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월분 전기요금은 총 </a:t>
            </a:r>
            <a:r>
              <a:rPr lang="en-US" altLang="ko-KR" sz="1600" spc="-50" dirty="0"/>
              <a:t>27,692</a:t>
            </a:r>
            <a:r>
              <a:rPr lang="ko-KR" altLang="en-US" sz="1600" spc="-50" dirty="0"/>
              <a:t>원 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홈페이지에서도 똑같은 결과를 보여준다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기본요금 </a:t>
            </a:r>
            <a:r>
              <a:rPr lang="en-US" altLang="ko-KR" sz="1600" spc="-50" dirty="0"/>
              <a:t>1,260</a:t>
            </a:r>
            <a:r>
              <a:rPr lang="ko-KR" altLang="en-US" sz="1600" spc="-50" dirty="0"/>
              <a:t>원 </a:t>
            </a:r>
            <a:r>
              <a:rPr lang="en-US" altLang="ko-KR" sz="1600" spc="-50" dirty="0"/>
              <a:t>+ </a:t>
            </a:r>
            <a:r>
              <a:rPr lang="ko-KR" altLang="en-US" sz="1600" spc="-50" dirty="0"/>
              <a:t>전력량요금 </a:t>
            </a:r>
            <a:r>
              <a:rPr lang="en-US" altLang="ko-KR" sz="1600" spc="-50" dirty="0"/>
              <a:t>23,436</a:t>
            </a:r>
            <a:r>
              <a:rPr lang="ko-KR" altLang="en-US" sz="1600" spc="-50" dirty="0"/>
              <a:t>원 </a:t>
            </a:r>
            <a:r>
              <a:rPr lang="en-US" altLang="ko-KR" sz="1600" spc="-50" dirty="0"/>
              <a:t>+ </a:t>
            </a:r>
            <a:r>
              <a:rPr lang="ko-KR" altLang="en-US" sz="1600" spc="-50" dirty="0"/>
              <a:t>기후환경요금 </a:t>
            </a:r>
            <a:r>
              <a:rPr lang="en-US" altLang="ko-KR" sz="1600" spc="-50" dirty="0"/>
              <a:t>1,926</a:t>
            </a:r>
            <a:r>
              <a:rPr lang="ko-KR" altLang="en-US" sz="1600" spc="-50" dirty="0"/>
              <a:t>원 </a:t>
            </a:r>
            <a:r>
              <a:rPr lang="en-US" altLang="ko-KR" sz="1600" spc="-50" dirty="0"/>
              <a:t>+ </a:t>
            </a:r>
            <a:r>
              <a:rPr lang="ko-KR" altLang="en-US" sz="1600" spc="-50" dirty="0"/>
              <a:t>연료비조정요금 </a:t>
            </a:r>
            <a:r>
              <a:rPr lang="en-US" altLang="ko-KR" sz="1600" spc="-50" dirty="0"/>
              <a:t>1,070</a:t>
            </a:r>
            <a:r>
              <a:rPr lang="ko-KR" altLang="en-US" sz="1600" spc="-50" dirty="0"/>
              <a:t>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F4F303B6-7C51-C77F-14A0-96EB1DFA9F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30450" y="2235756"/>
            <a:ext cx="2277110" cy="3916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801505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8E5E9E-CF20-1E98-BECC-E478EEBDD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37E9BE-F36B-2286-5322-E0DB877E5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 소비 내역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D27F1C-1621-DEDD-D97C-E675B5648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395E0A0-2DB4-E301-FC98-60832484716F}"/>
              </a:ext>
            </a:extLst>
          </p:cNvPr>
          <p:cNvSpPr txBox="1"/>
          <p:nvPr/>
        </p:nvSpPr>
        <p:spPr>
          <a:xfrm>
            <a:off x="288790" y="958844"/>
            <a:ext cx="11118453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냉장고</a:t>
            </a:r>
            <a:r>
              <a:rPr lang="en-US" altLang="ko-KR" sz="1600" spc="-50" dirty="0"/>
              <a:t>, TV, </a:t>
            </a:r>
            <a:r>
              <a:rPr lang="ko-KR" altLang="en-US" sz="1600" spc="-50" dirty="0"/>
              <a:t>컴퓨터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모니터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식기세척기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세탁기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건조기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청소기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전기밥솥은 아래의 모델을 가정한다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E385FBC-A111-58D8-DF44-EA304507FA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56078" y="2993420"/>
            <a:ext cx="10635922" cy="5484693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363DC184-05A1-4620-1250-C73D5B1C4F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42517" y="4721177"/>
            <a:ext cx="5861950" cy="426124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9C3A50F-912A-7663-E787-9DDEAA337676}"/>
              </a:ext>
            </a:extLst>
          </p:cNvPr>
          <p:cNvSpPr txBox="1"/>
          <p:nvPr/>
        </p:nvSpPr>
        <p:spPr>
          <a:xfrm>
            <a:off x="11693390" y="-1001190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 세대가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월에 </a:t>
            </a:r>
            <a:r>
              <a:rPr lang="en-US" altLang="ko-KR" sz="1600" spc="-50" dirty="0"/>
              <a:t>152kWh</a:t>
            </a:r>
            <a:r>
              <a:rPr lang="ko-KR" altLang="en-US" sz="1600" spc="-50" dirty="0"/>
              <a:t>의 전기를 사용했는데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대략적으로 어디에 얼만큼 </a:t>
            </a:r>
            <a:r>
              <a:rPr lang="ko-KR" altLang="en-US" sz="1600" spc="-50" dirty="0" err="1"/>
              <a:t>썼을지</a:t>
            </a:r>
            <a:r>
              <a:rPr lang="ko-KR" altLang="en-US" sz="1600" spc="-50" dirty="0"/>
              <a:t> 추측해보자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 집에 다음의 전기기구들을 사용하고 있다고 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냉장고</a:t>
            </a:r>
            <a:r>
              <a:rPr lang="en-US" altLang="ko-KR" sz="1600" spc="-50" dirty="0"/>
              <a:t>: 24</a:t>
            </a:r>
            <a:r>
              <a:rPr lang="ko-KR" altLang="en-US" sz="1600" spc="-50" dirty="0"/>
              <a:t>시간 상시 가동하고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TV:</a:t>
            </a:r>
            <a:r>
              <a:rPr lang="ko-KR" altLang="en-US" sz="1600" spc="-50" dirty="0"/>
              <a:t> 평균적으로 하루에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시간씩 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컴퓨터</a:t>
            </a:r>
            <a:r>
              <a:rPr lang="en-US" altLang="ko-KR" sz="1600" spc="-50" dirty="0"/>
              <a:t>:</a:t>
            </a:r>
            <a:r>
              <a:rPr lang="ko-KR" altLang="en-US" sz="1600" spc="-50" dirty="0"/>
              <a:t> 평균적으로 하루에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시간씩 사용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모니터</a:t>
            </a:r>
            <a:r>
              <a:rPr lang="en-US" altLang="ko-KR" sz="1600" spc="-50" dirty="0"/>
              <a:t>:</a:t>
            </a:r>
            <a:r>
              <a:rPr lang="ko-KR" altLang="en-US" sz="1600" spc="-50" dirty="0"/>
              <a:t> 평균적으로 하루에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시간씩 사용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식기세척기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평균적으로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주일에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회 사용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세탁기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평균적으로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주일에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회 사용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건조기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평균적으로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주일에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회 사용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핸드폰 충전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평균적으로 하루에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회</a:t>
            </a:r>
            <a:r>
              <a:rPr lang="en-US" altLang="ko-KR" sz="1600" spc="-50" dirty="0"/>
              <a:t>(100%) </a:t>
            </a:r>
            <a:r>
              <a:rPr lang="ko-KR" altLang="en-US" sz="1600" spc="-50" dirty="0"/>
              <a:t>충전한다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청소기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평균적으로 하루에 </a:t>
            </a:r>
            <a:r>
              <a:rPr lang="en-US" altLang="ko-KR" sz="1600" spc="-50" dirty="0"/>
              <a:t>5</a:t>
            </a:r>
            <a:r>
              <a:rPr lang="ko-KR" altLang="en-US" sz="1600" spc="-50" dirty="0"/>
              <a:t>분씩 사용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전기밥솥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평균적으로 하루에 </a:t>
            </a:r>
            <a:r>
              <a:rPr lang="en-US" altLang="ko-KR" sz="1600" spc="-50" dirty="0"/>
              <a:t>30</a:t>
            </a:r>
            <a:r>
              <a:rPr lang="ko-KR" altLang="en-US" sz="1600" spc="-50" dirty="0"/>
              <a:t>분씩 사용한다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조명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밤에 어두우니까 필요할 때마다 키고 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대기전력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전자기기는 콘센트를 뽑아 놓지 않으면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기기를 켜지 않더라도 전력을 소비한다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FA7FCDFC-8C80-0F9E-AC98-00F8852C35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6851" y="1636868"/>
            <a:ext cx="1786854" cy="1040493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3A81D205-FDDA-CBCA-F307-25CFD606B70E}"/>
              </a:ext>
            </a:extLst>
          </p:cNvPr>
          <p:cNvSpPr txBox="1"/>
          <p:nvPr/>
        </p:nvSpPr>
        <p:spPr>
          <a:xfrm>
            <a:off x="1690608" y="2843409"/>
            <a:ext cx="2119630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https://www.lge.co.kr/tvs/75nu850bena-wall</a:t>
            </a: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8544913C-552F-2CFC-756C-C24CF69FF4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9318" y="1646933"/>
            <a:ext cx="491243" cy="1040493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79CE0228-B49F-C31C-0683-E62A5BB6F794}"/>
              </a:ext>
            </a:extLst>
          </p:cNvPr>
          <p:cNvSpPr txBox="1"/>
          <p:nvPr/>
        </p:nvSpPr>
        <p:spPr>
          <a:xfrm>
            <a:off x="3693288" y="2843409"/>
            <a:ext cx="11044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https://www.lge.co.kr/all-in-one-pc-and-desktop/b81lvax4509</a:t>
            </a:r>
          </a:p>
        </p:txBody>
      </p:sp>
      <p:pic>
        <p:nvPicPr>
          <p:cNvPr id="44" name="그림 43">
            <a:extLst>
              <a:ext uri="{FF2B5EF4-FFF2-40B4-BE49-F238E27FC236}">
                <a16:creationId xmlns:a16="http://schemas.microsoft.com/office/drawing/2014/main" id="{420CCFCF-4794-C094-870E-F94071B2302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9782" y="1562256"/>
            <a:ext cx="443143" cy="1168902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BC59EDEF-1933-CA44-0C42-DC80CFCCA6C5}"/>
              </a:ext>
            </a:extLst>
          </p:cNvPr>
          <p:cNvSpPr txBox="1"/>
          <p:nvPr/>
        </p:nvSpPr>
        <p:spPr>
          <a:xfrm>
            <a:off x="8120983" y="2843409"/>
            <a:ext cx="12204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https://www.lge.co.kr/wash-tower/wl21wdu</a:t>
            </a:r>
          </a:p>
        </p:txBody>
      </p:sp>
      <p:pic>
        <p:nvPicPr>
          <p:cNvPr id="49" name="그림 48">
            <a:extLst>
              <a:ext uri="{FF2B5EF4-FFF2-40B4-BE49-F238E27FC236}">
                <a16:creationId xmlns:a16="http://schemas.microsoft.com/office/drawing/2014/main" id="{7C3DE0EB-A779-6E10-AB3F-D956EB870ED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68185" y="1577394"/>
            <a:ext cx="1078909" cy="1138627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4DC7B264-A444-04D7-B3C3-EE49BBB52B08}"/>
              </a:ext>
            </a:extLst>
          </p:cNvPr>
          <p:cNvSpPr txBox="1"/>
          <p:nvPr/>
        </p:nvSpPr>
        <p:spPr>
          <a:xfrm>
            <a:off x="6652023" y="2843409"/>
            <a:ext cx="12204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https://www.lge.co.kr/dishwashers/due6bgl2e</a:t>
            </a:r>
          </a:p>
        </p:txBody>
      </p:sp>
      <p:pic>
        <p:nvPicPr>
          <p:cNvPr id="55" name="그림 54">
            <a:extLst>
              <a:ext uri="{FF2B5EF4-FFF2-40B4-BE49-F238E27FC236}">
                <a16:creationId xmlns:a16="http://schemas.microsoft.com/office/drawing/2014/main" id="{2E4DD31B-A2BD-B0B0-4492-B3579F250D6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18348" y="1545459"/>
            <a:ext cx="349310" cy="1212960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36743D9A-54E1-1751-327E-6A8FB257A066}"/>
              </a:ext>
            </a:extLst>
          </p:cNvPr>
          <p:cNvSpPr txBox="1"/>
          <p:nvPr/>
        </p:nvSpPr>
        <p:spPr>
          <a:xfrm>
            <a:off x="9352575" y="2843409"/>
            <a:ext cx="12204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https://www.lge.co.kr/vacuum-cleaners/ax920bwe-bkor1</a:t>
            </a:r>
          </a:p>
        </p:txBody>
      </p:sp>
      <p:pic>
        <p:nvPicPr>
          <p:cNvPr id="59" name="그림 58">
            <a:extLst>
              <a:ext uri="{FF2B5EF4-FFF2-40B4-BE49-F238E27FC236}">
                <a16:creationId xmlns:a16="http://schemas.microsoft.com/office/drawing/2014/main" id="{5EB59267-ECD2-DB9D-4A83-79BEFEA0271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1098" y="1580305"/>
            <a:ext cx="648938" cy="1226899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C6AE601A-737A-DE54-4693-A8FC738CD6C2}"/>
              </a:ext>
            </a:extLst>
          </p:cNvPr>
          <p:cNvSpPr txBox="1"/>
          <p:nvPr/>
        </p:nvSpPr>
        <p:spPr>
          <a:xfrm>
            <a:off x="726208" y="2843409"/>
            <a:ext cx="8739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https://www.lge.co.kr/refrigerators/t873mee111</a:t>
            </a:r>
          </a:p>
        </p:txBody>
      </p:sp>
      <p:pic>
        <p:nvPicPr>
          <p:cNvPr id="63" name="그림 62">
            <a:extLst>
              <a:ext uri="{FF2B5EF4-FFF2-40B4-BE49-F238E27FC236}">
                <a16:creationId xmlns:a16="http://schemas.microsoft.com/office/drawing/2014/main" id="{46C945B1-3F8D-A59E-92F1-1B523654199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51057" y="1718878"/>
            <a:ext cx="750507" cy="811418"/>
          </a:xfrm>
          <a:prstGeom prst="rect">
            <a:avLst/>
          </a:prstGeom>
        </p:spPr>
      </p:pic>
      <p:sp>
        <p:nvSpPr>
          <p:cNvPr id="65" name="TextBox 64">
            <a:extLst>
              <a:ext uri="{FF2B5EF4-FFF2-40B4-BE49-F238E27FC236}">
                <a16:creationId xmlns:a16="http://schemas.microsoft.com/office/drawing/2014/main" id="{C0E7A3C9-A508-A131-DDB6-D54DD0CF372E}"/>
              </a:ext>
            </a:extLst>
          </p:cNvPr>
          <p:cNvSpPr txBox="1"/>
          <p:nvPr/>
        </p:nvSpPr>
        <p:spPr>
          <a:xfrm>
            <a:off x="10655014" y="2843409"/>
            <a:ext cx="134730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https://www.cuckoo.co.kr/mall/productView?productNo=9921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99B3484-393C-2012-035B-12446F871B6B}"/>
              </a:ext>
            </a:extLst>
          </p:cNvPr>
          <p:cNvSpPr txBox="1"/>
          <p:nvPr/>
        </p:nvSpPr>
        <p:spPr>
          <a:xfrm>
            <a:off x="4843053" y="2843409"/>
            <a:ext cx="153678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https://www.lge.co.kr/monitors/27u631a</a:t>
            </a:r>
          </a:p>
        </p:txBody>
      </p:sp>
      <p:pic>
        <p:nvPicPr>
          <p:cNvPr id="69" name="그림 68">
            <a:extLst>
              <a:ext uri="{FF2B5EF4-FFF2-40B4-BE49-F238E27FC236}">
                <a16:creationId xmlns:a16="http://schemas.microsoft.com/office/drawing/2014/main" id="{AA33D2D8-8F82-901A-DC10-F5CB29A1736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57785" y="1602326"/>
            <a:ext cx="1522052" cy="1097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142489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B05AAC-3D45-B723-95C4-3A20CC879C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0237115-E137-3276-0BD8-A2161DF297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 소비 내역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AEE75C-7904-19D4-2BB6-EFFC6ED2AC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7C2E1AF-BDF7-D7C7-C12F-E3D7C7F9429C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우리집에서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월에 전기를 </a:t>
            </a:r>
            <a:r>
              <a:rPr lang="en-US" altLang="ko-KR" sz="1600" spc="-50" dirty="0"/>
              <a:t>152kWh</a:t>
            </a:r>
            <a:r>
              <a:rPr lang="ko-KR" altLang="en-US" sz="1600" spc="-50" dirty="0"/>
              <a:t>를 사용했는데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실제 어디에 얼만큼 쓴 걸지 추측해보자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TV : </a:t>
            </a:r>
            <a:r>
              <a:rPr lang="ko-KR" altLang="en-US" sz="1600" spc="-50" dirty="0"/>
              <a:t>소비전력 </a:t>
            </a:r>
            <a:r>
              <a:rPr lang="en-US" altLang="ko-KR" sz="1600" spc="-50" dirty="0"/>
              <a:t>84W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컴퓨터 </a:t>
            </a:r>
            <a:r>
              <a:rPr lang="en-US" altLang="ko-KR" sz="1600" spc="-50" dirty="0"/>
              <a:t>: 50W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모니터 </a:t>
            </a:r>
            <a:r>
              <a:rPr lang="en-US" altLang="ko-KR" sz="1600" spc="-50" dirty="0"/>
              <a:t>: 20W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식기세척기</a:t>
            </a:r>
            <a:r>
              <a:rPr lang="en-US" altLang="ko-KR" sz="1600" spc="-50" dirty="0"/>
              <a:t>: 1,600W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세탁기</a:t>
            </a:r>
            <a:r>
              <a:rPr lang="en-US" altLang="ko-KR" sz="1600" spc="-50" dirty="0"/>
              <a:t>: 3,500W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건조기</a:t>
            </a:r>
            <a:r>
              <a:rPr lang="en-US" altLang="ko-KR" sz="1600" spc="-50" dirty="0"/>
              <a:t>: 1,400W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핸드폰 배터리용량</a:t>
            </a:r>
            <a:r>
              <a:rPr lang="en-US" altLang="ko-KR" sz="1600" spc="-50" dirty="0"/>
              <a:t>: 20Wh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청소기</a:t>
            </a:r>
            <a:r>
              <a:rPr lang="en-US" altLang="ko-KR" sz="1600" spc="-50" dirty="0"/>
              <a:t>: 1,600W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냉장고</a:t>
            </a:r>
            <a:r>
              <a:rPr lang="en-US" altLang="ko-KR" sz="1600" spc="-50" dirty="0"/>
              <a:t>:  45kWh/</a:t>
            </a:r>
            <a:r>
              <a:rPr lang="ko-KR" altLang="en-US" sz="1600" spc="-50" dirty="0"/>
              <a:t>월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밥솥</a:t>
            </a:r>
            <a:r>
              <a:rPr lang="en-US" altLang="ko-KR" sz="1600" spc="-50" dirty="0"/>
              <a:t>: 1,090W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조명</a:t>
            </a:r>
            <a:r>
              <a:rPr lang="en-US" altLang="ko-KR" sz="1600" spc="-50" dirty="0"/>
              <a:t>: 10kWh/</a:t>
            </a:r>
            <a:r>
              <a:rPr lang="ko-KR" altLang="en-US" sz="1600" spc="-50" dirty="0"/>
              <a:t>월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공유기 및 대기전력</a:t>
            </a:r>
            <a:r>
              <a:rPr lang="en-US" altLang="ko-KR" sz="1600" spc="-50" dirty="0"/>
              <a:t>: 10kWh/</a:t>
            </a:r>
            <a:r>
              <a:rPr lang="ko-KR" altLang="en-US" sz="1600" spc="-50" dirty="0"/>
              <a:t>월</a:t>
            </a:r>
            <a:endParaRPr lang="en-US" altLang="ko-KR" sz="1600" spc="-5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64305D4-9B85-68D9-65F4-50EB9B497A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2405" y="1415315"/>
            <a:ext cx="1786854" cy="1040493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229E204C-AB5C-DEDD-EA61-BB032B4FBB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8613" y="876663"/>
            <a:ext cx="2514729" cy="42547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14C08BA1-34EE-D6DE-33C8-3E71F5AE0D96}"/>
              </a:ext>
            </a:extLst>
          </p:cNvPr>
          <p:cNvSpPr txBox="1"/>
          <p:nvPr/>
        </p:nvSpPr>
        <p:spPr>
          <a:xfrm>
            <a:off x="9346162" y="2654753"/>
            <a:ext cx="211963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/>
              <a:t>https://www.lge.co.kr/tvs/75nu850bena-wall</a:t>
            </a: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8A85FC72-C01D-31B4-53C5-A514624AF5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2411" y="4924703"/>
            <a:ext cx="491243" cy="1040493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7D85B626-3ED9-2CA6-6E9E-A7FFB5AAC60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35307" y="4375899"/>
            <a:ext cx="2201613" cy="482764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1ECF99DF-4209-5522-54E1-FF26F0FFF807}"/>
              </a:ext>
            </a:extLst>
          </p:cNvPr>
          <p:cNvSpPr txBox="1"/>
          <p:nvPr/>
        </p:nvSpPr>
        <p:spPr>
          <a:xfrm>
            <a:off x="5907292" y="6140233"/>
            <a:ext cx="251534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/>
              <a:t>https://www.lge.co.kr/monitors/27u631a</a:t>
            </a:r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8065245F-EB20-1492-31B7-71ACB38A12C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71584" y="5042940"/>
            <a:ext cx="1522052" cy="1097293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E84FC665-D5B9-BCC4-25CD-69C476FAED33}"/>
              </a:ext>
            </a:extLst>
          </p:cNvPr>
          <p:cNvSpPr txBox="1"/>
          <p:nvPr/>
        </p:nvSpPr>
        <p:spPr>
          <a:xfrm>
            <a:off x="3872869" y="5965196"/>
            <a:ext cx="180975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/>
              <a:t>https://www.lge.co.kr/all-in-one-pc-and-desktop/b81lvax4509</a:t>
            </a: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5AEBC457-C3AA-6D77-DFE6-A86AEF1AF83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49988" y="4515623"/>
            <a:ext cx="622332" cy="1641559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3DD09E9-60EB-7946-7D29-7C2C1903A64A}"/>
              </a:ext>
            </a:extLst>
          </p:cNvPr>
          <p:cNvSpPr txBox="1"/>
          <p:nvPr/>
        </p:nvSpPr>
        <p:spPr>
          <a:xfrm>
            <a:off x="8832850" y="6211790"/>
            <a:ext cx="122047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/>
              <a:t>https://www.lge.co.kr/wash-tower/wl21wdu</a:t>
            </a:r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5EE8B137-7D2E-364A-E036-7022444200B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42531" y="4760529"/>
            <a:ext cx="1078909" cy="1138627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E7211A23-4A8A-1817-7DDE-34B3B87F6486}"/>
              </a:ext>
            </a:extLst>
          </p:cNvPr>
          <p:cNvSpPr txBox="1"/>
          <p:nvPr/>
        </p:nvSpPr>
        <p:spPr>
          <a:xfrm>
            <a:off x="10355832" y="5986344"/>
            <a:ext cx="157607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/>
              <a:t>https://www.lge.co.kr/dishwashers/due6bgl2e</a:t>
            </a:r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A6B47C23-EA06-E9B5-0D64-39BE1334523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64966" y="1998003"/>
            <a:ext cx="436893" cy="1517087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A0422C77-FF6B-92E5-A854-FA11B3EF51EE}"/>
              </a:ext>
            </a:extLst>
          </p:cNvPr>
          <p:cNvSpPr txBox="1"/>
          <p:nvPr/>
        </p:nvSpPr>
        <p:spPr>
          <a:xfrm>
            <a:off x="6592570" y="3490254"/>
            <a:ext cx="174371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/>
              <a:t>https://www.lge.co.kr/vacuum-cleaners/ax920bwe-bkor1</a:t>
            </a:r>
          </a:p>
        </p:txBody>
      </p:sp>
      <p:pic>
        <p:nvPicPr>
          <p:cNvPr id="40" name="그림 39">
            <a:extLst>
              <a:ext uri="{FF2B5EF4-FFF2-40B4-BE49-F238E27FC236}">
                <a16:creationId xmlns:a16="http://schemas.microsoft.com/office/drawing/2014/main" id="{757AFFEE-20ED-B707-9DCC-FD0B2AED72E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48032" y="1868651"/>
            <a:ext cx="648938" cy="1226899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36B5FAB4-74EB-B026-1C0E-D6B1D9B574A8}"/>
              </a:ext>
            </a:extLst>
          </p:cNvPr>
          <p:cNvSpPr txBox="1"/>
          <p:nvPr/>
        </p:nvSpPr>
        <p:spPr>
          <a:xfrm>
            <a:off x="4184388" y="3161590"/>
            <a:ext cx="168529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/>
              <a:t>https://www.lge.co.kr/refrigerators/t873mee111</a:t>
            </a:r>
          </a:p>
        </p:txBody>
      </p:sp>
      <p:pic>
        <p:nvPicPr>
          <p:cNvPr id="48" name="그림 47">
            <a:extLst>
              <a:ext uri="{FF2B5EF4-FFF2-40B4-BE49-F238E27FC236}">
                <a16:creationId xmlns:a16="http://schemas.microsoft.com/office/drawing/2014/main" id="{50F5CB5B-0320-CE1E-6918-FF81375AAE3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014373" y="1415315"/>
            <a:ext cx="1200013" cy="1297405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AB62D86D-173E-3807-D6C5-493F3D81FDD4}"/>
              </a:ext>
            </a:extLst>
          </p:cNvPr>
          <p:cNvSpPr txBox="1"/>
          <p:nvPr/>
        </p:nvSpPr>
        <p:spPr>
          <a:xfrm>
            <a:off x="12072207" y="2807204"/>
            <a:ext cx="134730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/>
              <a:t>https://www.cuckoo.co.kr/mall/productView?productNo=9921</a:t>
            </a:r>
          </a:p>
        </p:txBody>
      </p:sp>
      <p:pic>
        <p:nvPicPr>
          <p:cNvPr id="52" name="그림 51">
            <a:extLst>
              <a:ext uri="{FF2B5EF4-FFF2-40B4-BE49-F238E27FC236}">
                <a16:creationId xmlns:a16="http://schemas.microsoft.com/office/drawing/2014/main" id="{34A0672A-259B-4741-D2B5-2B35B8B61734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-2833000" y="1502300"/>
            <a:ext cx="2833000" cy="2059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289732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551D27-E5D3-0A0D-AECD-CBBF009650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04CAB7-5878-A025-2BA8-F7CBFFF926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A070405-73C7-9924-6851-391371A54E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71A9BA-767E-5036-DF73-30500FAF41A6}"/>
              </a:ext>
            </a:extLst>
          </p:cNvPr>
          <p:cNvSpPr txBox="1"/>
          <p:nvPr/>
        </p:nvSpPr>
        <p:spPr>
          <a:xfrm>
            <a:off x="288790" y="958844"/>
            <a:ext cx="1111845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종합해보면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아래와 같다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육개장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사발면</a:t>
            </a:r>
            <a:r>
              <a:rPr lang="en-US" altLang="ko-KR" sz="1600" spc="-50" dirty="0"/>
              <a:t>): 375 kcal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코카콜라</a:t>
            </a:r>
            <a:r>
              <a:rPr lang="en-US" altLang="ko-KR" sz="1600" spc="-50" dirty="0"/>
              <a:t>(250ml): 108 kcal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선풍기</a:t>
            </a:r>
            <a:r>
              <a:rPr lang="en-US" altLang="ko-KR" sz="1600" spc="-50" dirty="0"/>
              <a:t>(1</a:t>
            </a:r>
            <a:r>
              <a:rPr lang="ko-KR" altLang="en-US" sz="1600" spc="-50" dirty="0"/>
              <a:t>시간 강풍기준</a:t>
            </a:r>
            <a:r>
              <a:rPr lang="en-US" altLang="ko-KR" sz="1600" spc="-50" dirty="0"/>
              <a:t>): 43 kcal</a:t>
            </a:r>
          </a:p>
        </p:txBody>
      </p:sp>
    </p:spTree>
    <p:extLst>
      <p:ext uri="{BB962C8B-B14F-4D97-AF65-F5344CB8AC3E}">
        <p14:creationId xmlns:p14="http://schemas.microsoft.com/office/powerpoint/2010/main" val="361190834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79A1D-8C53-664A-5971-933F8A4DC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FDBC57-2A45-8C9E-1CF7-5501FDF463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 </a:t>
            </a:r>
            <a:r>
              <a:rPr lang="en-US" altLang="ko-KR" dirty="0"/>
              <a:t>(</a:t>
            </a:r>
            <a:r>
              <a:rPr lang="ko-KR" altLang="en-US" dirty="0"/>
              <a:t>보조배터리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8BFD297-D665-1612-AC73-BF5AB54059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14E64E0-0A5F-0A5C-714A-7A51A3C283D0}"/>
              </a:ext>
            </a:extLst>
          </p:cNvPr>
          <p:cNvSpPr txBox="1"/>
          <p:nvPr/>
        </p:nvSpPr>
        <p:spPr>
          <a:xfrm>
            <a:off x="288790" y="958844"/>
            <a:ext cx="11118453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앞선 슬라이드에서 보조배터리에 전기가 </a:t>
            </a:r>
            <a:r>
              <a:rPr lang="ko-KR" altLang="en-US" sz="1600" spc="-50" dirty="0" err="1"/>
              <a:t>들어올때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입력</a:t>
            </a:r>
            <a:r>
              <a:rPr lang="en-US" altLang="ko-KR" sz="1600" spc="-50" dirty="0"/>
              <a:t>), </a:t>
            </a:r>
            <a:r>
              <a:rPr lang="ko-KR" altLang="en-US" sz="1600" spc="-50" dirty="0" err="1"/>
              <a:t>나갈때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출력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각각의 속도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전력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알아봤는데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보조배터리는 얼만큼의 전기에너지를 저장할 수 </a:t>
            </a:r>
            <a:r>
              <a:rPr lang="ko-KR" altLang="en-US" sz="1600" spc="-50" dirty="0" err="1"/>
              <a:t>있는걸까</a:t>
            </a:r>
            <a:r>
              <a:rPr lang="en-US" altLang="ko-KR" sz="1600" spc="-50" dirty="0"/>
              <a:t>?.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배터리 용량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) = </a:t>
            </a:r>
            <a:r>
              <a:rPr lang="ko-KR" altLang="en-US" sz="1600" spc="-50" dirty="0"/>
              <a:t>전압</a:t>
            </a:r>
            <a:r>
              <a:rPr lang="en-US" altLang="ko-KR" sz="1600" spc="-50" dirty="0"/>
              <a:t>(V) x </a:t>
            </a:r>
            <a:r>
              <a:rPr lang="ko-KR" altLang="en-US" sz="1600" spc="-50" dirty="0"/>
              <a:t>전류용량</a:t>
            </a:r>
            <a:r>
              <a:rPr lang="en-US" altLang="ko-KR" sz="1600" spc="-50" dirty="0"/>
              <a:t>(Ah)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82E9281-12BD-F43C-18F1-A96033B17DD8}"/>
              </a:ext>
            </a:extLst>
          </p:cNvPr>
          <p:cNvSpPr txBox="1"/>
          <p:nvPr/>
        </p:nvSpPr>
        <p:spPr>
          <a:xfrm>
            <a:off x="288790" y="2203267"/>
            <a:ext cx="8550409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배터리용량 부문을 보면 </a:t>
            </a:r>
            <a:r>
              <a:rPr lang="en-US" altLang="ko-KR" sz="1600" spc="-50" dirty="0"/>
              <a:t>(5,000mAh, 3.7V) </a:t>
            </a:r>
            <a:r>
              <a:rPr lang="ko-KR" altLang="en-US" sz="1600" spc="-50" dirty="0"/>
              <a:t>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보조배터리가 저장할 수 있는 전기에너지의 양은 </a:t>
            </a:r>
            <a:r>
              <a:rPr lang="en-US" altLang="ko-KR" sz="1600" spc="-50" dirty="0"/>
              <a:t>18.5Wh (=5Ah x 3.7V)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앞선 슬라이드에서 입력 부문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콘센트→보조배터리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속도가 최대 </a:t>
            </a:r>
            <a:r>
              <a:rPr lang="en-US" altLang="ko-KR" sz="1600" spc="-50" dirty="0"/>
              <a:t>18W</a:t>
            </a:r>
            <a:r>
              <a:rPr lang="ko-KR" altLang="en-US" sz="1600" spc="-50" dirty="0"/>
              <a:t>라고 했으므로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대략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시간 정도 보조배터리를 충전시키면 보조배터리는 </a:t>
            </a:r>
            <a:r>
              <a:rPr lang="ko-KR" altLang="en-US" sz="1600" spc="-50" dirty="0" err="1"/>
              <a:t>완충된다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4F29D8B-D3D7-42B0-C4B8-A45790A88C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96790" y="1922313"/>
            <a:ext cx="1709155" cy="251645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EBF692B-8C04-1EE5-6188-DDF005E18A29}"/>
              </a:ext>
            </a:extLst>
          </p:cNvPr>
          <p:cNvSpPr txBox="1"/>
          <p:nvPr/>
        </p:nvSpPr>
        <p:spPr>
          <a:xfrm>
            <a:off x="9190199" y="5982909"/>
            <a:ext cx="2616125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coupang.com/vp/products/8366830499?itemId=23627046116&amp;vendorItemId=93877214577&amp;pickType=COU_PICK&amp;q=%EB%B3%B4%EC%A1%B0%EB%B0%B0%ED%84%B0%EB%A6%AC&amp;searchId=5d33a80c64048439&amp;sourceType=search&amp;itemsCount=60&amp;searchRank=3&amp;rank=3&amp;traceId=mqymckwm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64F84A17-233A-D255-9C0A-88EE14EDBD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0199" y="4532235"/>
            <a:ext cx="2403132" cy="126374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E9CCA4D1-69FE-CD88-27CA-1B4E2375B8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1894" y="4395074"/>
            <a:ext cx="3033146" cy="202209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0D5A17C-1D5F-2EFC-492B-4A76F4C56B9F}"/>
              </a:ext>
            </a:extLst>
          </p:cNvPr>
          <p:cNvSpPr txBox="1"/>
          <p:nvPr/>
        </p:nvSpPr>
        <p:spPr>
          <a:xfrm>
            <a:off x="4916170" y="5075674"/>
            <a:ext cx="25615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spc="-50" dirty="0"/>
              <a:t>1</a:t>
            </a:r>
            <a:r>
              <a:rPr lang="ko-KR" altLang="en-US" sz="1800" spc="-50" dirty="0"/>
              <a:t>시간이면 완충 된다</a:t>
            </a:r>
            <a:r>
              <a:rPr lang="en-US" altLang="ko-KR" sz="1800" spc="-50" dirty="0"/>
              <a:t>!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0181444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E54321-199C-EBCF-1638-94ACEF3F0B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7A3396-8295-B2AC-9AF9-95EAAF78A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5827D7-DA7B-0D7A-FE7A-3AC954F20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9A4EDDA-8917-9F1A-7AF4-36A98BD228AF}"/>
              </a:ext>
            </a:extLst>
          </p:cNvPr>
          <p:cNvSpPr txBox="1"/>
          <p:nvPr/>
        </p:nvSpPr>
        <p:spPr>
          <a:xfrm>
            <a:off x="288790" y="958844"/>
            <a:ext cx="11118453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보조배터리로 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41220006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DC9445-1143-4F1B-05FF-0FD229C2E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88B9FD-EBEF-BC18-EA28-E6D4AC3640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 </a:t>
            </a:r>
            <a:r>
              <a:rPr lang="en-US" altLang="ko-KR" dirty="0"/>
              <a:t>(</a:t>
            </a:r>
            <a:r>
              <a:rPr lang="ko-KR" altLang="en-US" dirty="0"/>
              <a:t>보조배터리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133D763-6B87-0808-9372-6EA1CC917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E6076CC-778A-1365-C0D7-25B9EDEBB79D}"/>
              </a:ext>
            </a:extLst>
          </p:cNvPr>
          <p:cNvSpPr txBox="1"/>
          <p:nvPr/>
        </p:nvSpPr>
        <p:spPr>
          <a:xfrm>
            <a:off x="288790" y="958844"/>
            <a:ext cx="11118453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지금까지 살펴본 보조배터리로 갤럭시</a:t>
            </a:r>
            <a:r>
              <a:rPr lang="en-US" altLang="ko-KR" sz="1600" spc="-50" dirty="0"/>
              <a:t> S26</a:t>
            </a:r>
            <a:r>
              <a:rPr lang="ko-KR" altLang="en-US" sz="1600" spc="-50" dirty="0"/>
              <a:t>을 얼마나 충전할 수 있을까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배터리 용량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) = </a:t>
            </a:r>
            <a:r>
              <a:rPr lang="ko-KR" altLang="en-US" sz="1600" spc="-50" dirty="0"/>
              <a:t>전압</a:t>
            </a:r>
            <a:r>
              <a:rPr lang="en-US" altLang="ko-KR" sz="1600" spc="-50" dirty="0"/>
              <a:t>(V) x </a:t>
            </a:r>
            <a:r>
              <a:rPr lang="ko-KR" altLang="en-US" sz="1600" spc="-50" dirty="0"/>
              <a:t>전류용량</a:t>
            </a:r>
            <a:r>
              <a:rPr lang="en-US" altLang="ko-KR" sz="1600" spc="-50" dirty="0"/>
              <a:t>(Ah)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BADD24D-4FF2-DAD1-19D8-17E4FBFAED18}"/>
              </a:ext>
            </a:extLst>
          </p:cNvPr>
          <p:cNvSpPr txBox="1"/>
          <p:nvPr/>
        </p:nvSpPr>
        <p:spPr>
          <a:xfrm>
            <a:off x="288790" y="2203267"/>
            <a:ext cx="8550409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배터리용량이</a:t>
            </a:r>
            <a:r>
              <a:rPr lang="en-US" altLang="ko-KR" sz="1600" spc="-50" dirty="0"/>
              <a:t> 4,300mAh</a:t>
            </a:r>
            <a:r>
              <a:rPr lang="ko-KR" altLang="en-US" sz="1600" spc="-50" dirty="0"/>
              <a:t>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보조배터리가 저장할 수 있는 전기에너지의 양은 </a:t>
            </a:r>
            <a:r>
              <a:rPr lang="en-US" altLang="ko-KR" sz="1600" spc="-50" dirty="0"/>
              <a:t>18.5Wh (=5Ah x 3.7V)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앞선 슬라이드에서 입력 부문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콘센트→보조배터리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속도가 최대 </a:t>
            </a:r>
            <a:r>
              <a:rPr lang="en-US" altLang="ko-KR" sz="1600" spc="-50" dirty="0"/>
              <a:t>18W</a:t>
            </a:r>
            <a:r>
              <a:rPr lang="ko-KR" altLang="en-US" sz="1600" spc="-50" dirty="0"/>
              <a:t>라고 했으므로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대략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시간 정도 보조배터리를 충전시키면 보조배터리는 </a:t>
            </a:r>
            <a:r>
              <a:rPr lang="ko-KR" altLang="en-US" sz="1600" spc="-50" dirty="0" err="1"/>
              <a:t>완충된다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4B28BE5-71C9-E434-323D-87B010295B1A}"/>
              </a:ext>
            </a:extLst>
          </p:cNvPr>
          <p:cNvSpPr txBox="1"/>
          <p:nvPr/>
        </p:nvSpPr>
        <p:spPr>
          <a:xfrm>
            <a:off x="9190199" y="5982909"/>
            <a:ext cx="2616125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600" dirty="0"/>
              <a:t>https://www.samsung.com/sec/smartphones/galaxy-s26/specs/</a:t>
            </a:r>
            <a:endParaRPr lang="ko-KR" altLang="en-US" sz="600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F2C094BC-2D7E-DE15-DD69-84DEAF4701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2570" y="4880617"/>
            <a:ext cx="2567074" cy="73536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E7B839C-49E1-6EF4-9797-FE7DBC2989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56746" y="2475047"/>
            <a:ext cx="1111307" cy="2216264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CF229099-61DC-BA83-1492-F0013EF04C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8204" y="2208391"/>
            <a:ext cx="768389" cy="196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389921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B381B5-F69D-5A39-2273-AC354F035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F0BD26-1D88-9E78-E8E3-D0A432885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내 보조배터리는 얼마나 쓸 수 </a:t>
            </a:r>
            <a:r>
              <a:rPr lang="ko-KR" altLang="en-US" dirty="0" err="1"/>
              <a:t>있는거야</a:t>
            </a:r>
            <a:r>
              <a:rPr lang="en-US" altLang="ko-KR" dirty="0"/>
              <a:t>?</a:t>
            </a:r>
            <a:r>
              <a:rPr lang="ko-KR" altLang="en-US" dirty="0"/>
              <a:t> 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E69D38-D683-D7D0-2D30-F833D1B1B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267F87-CD27-F34A-17B4-18730B58F9B6}"/>
              </a:ext>
            </a:extLst>
          </p:cNvPr>
          <p:cNvSpPr txBox="1"/>
          <p:nvPr/>
        </p:nvSpPr>
        <p:spPr>
          <a:xfrm>
            <a:off x="288790" y="958844"/>
            <a:ext cx="11118453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전기제품으로 넘어오면</a:t>
            </a:r>
            <a:r>
              <a:rPr lang="en-US" altLang="ko-KR" sz="1600" spc="-50" dirty="0"/>
              <a:t>, 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단위는 쓰지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와트시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, Watt-hour) </a:t>
            </a:r>
            <a:r>
              <a:rPr lang="ko-KR" altLang="en-US" sz="1600" spc="-50" dirty="0"/>
              <a:t>라는 단위를 많이 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J</a:t>
            </a:r>
            <a:r>
              <a:rPr lang="ko-KR" altLang="en-US" sz="1600" spc="-50" dirty="0"/>
              <a:t>을 </a:t>
            </a:r>
            <a:r>
              <a:rPr lang="en-US" altLang="ko-KR" sz="1600" spc="-50" dirty="0" err="1"/>
              <a:t>cal</a:t>
            </a:r>
            <a:r>
              <a:rPr lang="ko-KR" altLang="en-US" sz="1600" spc="-50" dirty="0"/>
              <a:t>로 변환할 수 있었듯이</a:t>
            </a:r>
            <a:r>
              <a:rPr lang="en-US" altLang="ko-KR" sz="1600" spc="-50" dirty="0"/>
              <a:t>, J</a:t>
            </a:r>
            <a:r>
              <a:rPr lang="ko-KR" altLang="en-US" sz="1600" spc="-50" dirty="0"/>
              <a:t>은 </a:t>
            </a:r>
            <a:r>
              <a:rPr lang="en-US" altLang="ko-KR" sz="1600" spc="-50" dirty="0" err="1"/>
              <a:t>Wh</a:t>
            </a:r>
            <a:r>
              <a:rPr lang="ko-KR" altLang="en-US" sz="1600" spc="-50" dirty="0"/>
              <a:t>로도 변환이 가능하다</a:t>
            </a:r>
            <a:r>
              <a:rPr lang="en-US" altLang="ko-KR" sz="1600" spc="-50" dirty="0"/>
              <a:t>.  1J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= 0.000278 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 = 0.000000278 kWh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와트시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, Watt-hour)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Watt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hour</a:t>
            </a:r>
            <a:r>
              <a:rPr lang="ko-KR" altLang="en-US" sz="1600" spc="-50" dirty="0"/>
              <a:t>의 합성단위이다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Watt(W)</a:t>
            </a:r>
            <a:r>
              <a:rPr lang="ko-KR" altLang="en-US" sz="1600" spc="-50" dirty="0"/>
              <a:t>는 전력을 의미하고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초</a:t>
            </a:r>
            <a:r>
              <a:rPr lang="en-US" altLang="ko-KR" sz="1600" spc="-50" dirty="0"/>
              <a:t>(s, second) </a:t>
            </a:r>
            <a:r>
              <a:rPr lang="ko-KR" altLang="en-US" sz="1600" spc="-50" dirty="0"/>
              <a:t>에 몇 </a:t>
            </a:r>
            <a:r>
              <a:rPr lang="en-US" altLang="ko-KR" sz="1600" spc="-50" dirty="0"/>
              <a:t>J</a:t>
            </a:r>
            <a:r>
              <a:rPr lang="ko-KR" altLang="en-US" sz="1600" spc="-50" dirty="0"/>
              <a:t>의 에너지를 사용하는가를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1W = 1J/s </a:t>
            </a:r>
            <a:r>
              <a:rPr lang="ko-KR" altLang="en-US" sz="1600" spc="-50" dirty="0"/>
              <a:t>이므로</a:t>
            </a:r>
            <a:r>
              <a:rPr lang="en-US" altLang="ko-KR" sz="1600" spc="-50" dirty="0"/>
              <a:t>, 1W(Watt)</a:t>
            </a:r>
            <a:r>
              <a:rPr lang="ko-KR" altLang="en-US" sz="1600" spc="-50" dirty="0"/>
              <a:t>의 전력으로 </a:t>
            </a:r>
            <a:r>
              <a:rPr lang="en-US" altLang="ko-KR" sz="1600" spc="-50" dirty="0"/>
              <a:t>1h(hour)</a:t>
            </a:r>
            <a:r>
              <a:rPr lang="ko-KR" altLang="en-US" sz="1600" spc="-50" dirty="0"/>
              <a:t>을 사용하면 </a:t>
            </a:r>
            <a:r>
              <a:rPr lang="en-US" altLang="ko-KR" sz="1600" spc="-50" dirty="0"/>
              <a:t>1Wh</a:t>
            </a:r>
            <a:r>
              <a:rPr lang="ko-KR" altLang="en-US" sz="1600" spc="-50" dirty="0"/>
              <a:t>의 에너지를 사용한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전기에너지를 표현하는 와트시는 시간개념이 추가된다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03243971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AF487-C4C9-7FAA-F633-B8FD99C61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7C39212F-F168-CD77-C446-536E53BF42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6534" y="4599674"/>
            <a:ext cx="861142" cy="1147353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C020DD33-9452-FD90-2F97-D3F66C9D4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 </a:t>
            </a:r>
            <a:r>
              <a:rPr lang="en-US" altLang="ko-KR" dirty="0"/>
              <a:t>(</a:t>
            </a:r>
            <a:r>
              <a:rPr lang="ko-KR" altLang="en-US" dirty="0"/>
              <a:t>선풍기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EAC8C9-8F7A-52DB-EC41-2E42797F2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6054C5-2E78-E5FB-E011-2EE687E8C029}"/>
              </a:ext>
            </a:extLst>
          </p:cNvPr>
          <p:cNvSpPr txBox="1"/>
          <p:nvPr/>
        </p:nvSpPr>
        <p:spPr>
          <a:xfrm>
            <a:off x="288790" y="958844"/>
            <a:ext cx="11118453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선풍기가 쓰는 전기에너지를 물로 비유해보자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소비전력이 </a:t>
            </a:r>
            <a:r>
              <a:rPr lang="en-US" altLang="ko-KR" sz="1600" spc="-50" dirty="0"/>
              <a:t>50W</a:t>
            </a:r>
            <a:r>
              <a:rPr lang="ko-KR" altLang="en-US" sz="1600" spc="-50" dirty="0"/>
              <a:t>라는 말은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초에 </a:t>
            </a:r>
            <a:r>
              <a:rPr lang="en-US" altLang="ko-KR" sz="1600" spc="-50" dirty="0"/>
              <a:t>50J</a:t>
            </a:r>
            <a:r>
              <a:rPr lang="ko-KR" altLang="en-US" sz="1600" spc="-50" dirty="0"/>
              <a:t>을 쓰는 속도라는 뜻이다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DBBED47E-94BF-B32A-D29E-8B2C066E43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254" y="3128117"/>
            <a:ext cx="1889181" cy="321105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4180353E-8D0D-354B-E502-254874B164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7677" y="5899156"/>
            <a:ext cx="1387576" cy="584765"/>
          </a:xfrm>
          <a:prstGeom prst="rect">
            <a:avLst/>
          </a:prstGeom>
        </p:spPr>
      </p:pic>
      <p:sp>
        <p:nvSpPr>
          <p:cNvPr id="19" name="직사각형 18">
            <a:extLst>
              <a:ext uri="{FF2B5EF4-FFF2-40B4-BE49-F238E27FC236}">
                <a16:creationId xmlns:a16="http://schemas.microsoft.com/office/drawing/2014/main" id="{E06C7973-5430-150F-9CC9-666CE63C5090}"/>
              </a:ext>
            </a:extLst>
          </p:cNvPr>
          <p:cNvSpPr/>
          <p:nvPr/>
        </p:nvSpPr>
        <p:spPr>
          <a:xfrm>
            <a:off x="3197676" y="6124969"/>
            <a:ext cx="608190" cy="100152"/>
          </a:xfrm>
          <a:prstGeom prst="rect">
            <a:avLst/>
          </a:prstGeom>
          <a:solidFill>
            <a:srgbClr val="FFFF00">
              <a:alpha val="41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28C16129-38AE-537E-D027-549E610CB64C}"/>
              </a:ext>
            </a:extLst>
          </p:cNvPr>
          <p:cNvSpPr/>
          <p:nvPr/>
        </p:nvSpPr>
        <p:spPr>
          <a:xfrm>
            <a:off x="2380974" y="5738191"/>
            <a:ext cx="265043" cy="265044"/>
          </a:xfrm>
          <a:custGeom>
            <a:avLst/>
            <a:gdLst>
              <a:gd name="csX0" fmla="*/ 265043 w 265043"/>
              <a:gd name="csY0" fmla="*/ 0 h 265044"/>
              <a:gd name="csX1" fmla="*/ 260626 w 265043"/>
              <a:gd name="csY1" fmla="*/ 22087 h 265044"/>
              <a:gd name="csX2" fmla="*/ 251791 w 265043"/>
              <a:gd name="csY2" fmla="*/ 75096 h 265044"/>
              <a:gd name="csX3" fmla="*/ 234122 w 265043"/>
              <a:gd name="csY3" fmla="*/ 114852 h 265044"/>
              <a:gd name="csX4" fmla="*/ 203200 w 265043"/>
              <a:gd name="csY4" fmla="*/ 145774 h 265044"/>
              <a:gd name="csX5" fmla="*/ 189948 w 265043"/>
              <a:gd name="csY5" fmla="*/ 150192 h 265044"/>
              <a:gd name="csX6" fmla="*/ 167861 w 265043"/>
              <a:gd name="csY6" fmla="*/ 172279 h 265044"/>
              <a:gd name="csX7" fmla="*/ 159026 w 265043"/>
              <a:gd name="csY7" fmla="*/ 185531 h 265044"/>
              <a:gd name="csX8" fmla="*/ 132522 w 265043"/>
              <a:gd name="csY8" fmla="*/ 198783 h 265044"/>
              <a:gd name="csX9" fmla="*/ 101600 w 265043"/>
              <a:gd name="csY9" fmla="*/ 216452 h 265044"/>
              <a:gd name="csX10" fmla="*/ 66261 w 265043"/>
              <a:gd name="csY10" fmla="*/ 225287 h 265044"/>
              <a:gd name="csX11" fmla="*/ 48591 w 265043"/>
              <a:gd name="csY11" fmla="*/ 234122 h 265044"/>
              <a:gd name="csX12" fmla="*/ 30922 w 265043"/>
              <a:gd name="csY12" fmla="*/ 247374 h 265044"/>
              <a:gd name="csX13" fmla="*/ 17669 w 265043"/>
              <a:gd name="csY13" fmla="*/ 251792 h 265044"/>
              <a:gd name="csX14" fmla="*/ 0 w 265043"/>
              <a:gd name="csY14" fmla="*/ 265044 h 2650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265043" h="265044">
                <a:moveTo>
                  <a:pt x="265043" y="0"/>
                </a:moveTo>
                <a:cubicBezTo>
                  <a:pt x="263571" y="7362"/>
                  <a:pt x="261931" y="14693"/>
                  <a:pt x="260626" y="22087"/>
                </a:cubicBezTo>
                <a:cubicBezTo>
                  <a:pt x="257513" y="39728"/>
                  <a:pt x="257456" y="58102"/>
                  <a:pt x="251791" y="75096"/>
                </a:cubicBezTo>
                <a:cubicBezTo>
                  <a:pt x="246335" y="91464"/>
                  <a:pt x="245238" y="102500"/>
                  <a:pt x="234122" y="114852"/>
                </a:cubicBezTo>
                <a:cubicBezTo>
                  <a:pt x="224371" y="125687"/>
                  <a:pt x="217029" y="141164"/>
                  <a:pt x="203200" y="145774"/>
                </a:cubicBezTo>
                <a:lnTo>
                  <a:pt x="189948" y="150192"/>
                </a:lnTo>
                <a:cubicBezTo>
                  <a:pt x="182586" y="157554"/>
                  <a:pt x="174717" y="164443"/>
                  <a:pt x="167861" y="172279"/>
                </a:cubicBezTo>
                <a:cubicBezTo>
                  <a:pt x="164365" y="176274"/>
                  <a:pt x="162780" y="181777"/>
                  <a:pt x="159026" y="185531"/>
                </a:cubicBezTo>
                <a:cubicBezTo>
                  <a:pt x="148413" y="196144"/>
                  <a:pt x="145098" y="193393"/>
                  <a:pt x="132522" y="198783"/>
                </a:cubicBezTo>
                <a:cubicBezTo>
                  <a:pt x="78331" y="222007"/>
                  <a:pt x="145946" y="194279"/>
                  <a:pt x="101600" y="216452"/>
                </a:cubicBezTo>
                <a:cubicBezTo>
                  <a:pt x="92540" y="220982"/>
                  <a:pt x="74669" y="223606"/>
                  <a:pt x="66261" y="225287"/>
                </a:cubicBezTo>
                <a:cubicBezTo>
                  <a:pt x="60371" y="228232"/>
                  <a:pt x="54175" y="230632"/>
                  <a:pt x="48591" y="234122"/>
                </a:cubicBezTo>
                <a:cubicBezTo>
                  <a:pt x="42348" y="238024"/>
                  <a:pt x="37314" y="243721"/>
                  <a:pt x="30922" y="247374"/>
                </a:cubicBezTo>
                <a:cubicBezTo>
                  <a:pt x="26879" y="249684"/>
                  <a:pt x="21834" y="249710"/>
                  <a:pt x="17669" y="251792"/>
                </a:cubicBezTo>
                <a:cubicBezTo>
                  <a:pt x="7676" y="256788"/>
                  <a:pt x="6213" y="258830"/>
                  <a:pt x="0" y="265044"/>
                </a:cubicBezTo>
              </a:path>
            </a:pathLst>
          </a:custGeom>
          <a:noFill/>
          <a:ln w="349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688182-7578-DCF7-3108-F2196BAAA60B}"/>
              </a:ext>
            </a:extLst>
          </p:cNvPr>
          <p:cNvSpPr txBox="1"/>
          <p:nvPr/>
        </p:nvSpPr>
        <p:spPr>
          <a:xfrm>
            <a:off x="3486982" y="3477508"/>
            <a:ext cx="8266777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선풍기는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초에 </a:t>
            </a:r>
            <a:r>
              <a:rPr lang="en-US" altLang="ko-KR" sz="1600" spc="-50" dirty="0"/>
              <a:t>50W</a:t>
            </a:r>
            <a:r>
              <a:rPr lang="ko-KR" altLang="en-US" sz="1600" spc="-50" dirty="0"/>
              <a:t>의 물을 쓰도록 만들어졌다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선풍기를 </a:t>
            </a:r>
            <a:r>
              <a:rPr lang="en-US" altLang="ko-KR" sz="1600" spc="-50" dirty="0"/>
              <a:t>2</a:t>
            </a:r>
            <a:r>
              <a:rPr lang="ko-KR" altLang="en-US" sz="1600" spc="-50" dirty="0" err="1"/>
              <a:t>초동안</a:t>
            </a:r>
            <a:r>
              <a:rPr lang="ko-KR" altLang="en-US" sz="1600" spc="-50" dirty="0"/>
              <a:t> 쓰면 </a:t>
            </a:r>
            <a:r>
              <a:rPr lang="en-US" altLang="ko-KR" sz="1600" spc="-50" dirty="0"/>
              <a:t>100W</a:t>
            </a:r>
            <a:r>
              <a:rPr lang="ko-KR" altLang="en-US" sz="1600" spc="-50" dirty="0"/>
              <a:t>의 물을 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</a:t>
            </a:r>
            <a:r>
              <a:rPr lang="ko-KR" altLang="en-US" sz="1600" spc="-50" dirty="0"/>
              <a:t>초에 </a:t>
            </a:r>
            <a:r>
              <a:rPr lang="en-US" altLang="ko-KR" sz="1600" spc="-50" dirty="0"/>
              <a:t>50W</a:t>
            </a:r>
            <a:r>
              <a:rPr lang="ko-KR" altLang="en-US" sz="1600" spc="-50" dirty="0"/>
              <a:t>이므로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시간</a:t>
            </a:r>
            <a:r>
              <a:rPr lang="en-US" altLang="ko-KR" sz="1600" spc="-50" dirty="0"/>
              <a:t>(3,600</a:t>
            </a:r>
            <a:r>
              <a:rPr lang="ko-KR" altLang="en-US" sz="1600" spc="-50" dirty="0"/>
              <a:t>초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에는 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180,000 </a:t>
            </a:r>
          </a:p>
        </p:txBody>
      </p:sp>
    </p:spTree>
    <p:extLst>
      <p:ext uri="{BB962C8B-B14F-4D97-AF65-F5344CB8AC3E}">
        <p14:creationId xmlns:p14="http://schemas.microsoft.com/office/powerpoint/2010/main" val="26501086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10189</TotalTime>
  <Words>4457</Words>
  <Application>Microsoft Office PowerPoint</Application>
  <PresentationFormat>와이드스크린</PresentationFormat>
  <Paragraphs>493</Paragraphs>
  <Slides>39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39</vt:i4>
      </vt:variant>
    </vt:vector>
  </HeadingPairs>
  <TitlesOfParts>
    <vt:vector size="45" baseType="lpstr">
      <vt:lpstr>HY헤드라인M</vt:lpstr>
      <vt:lpstr>KoPub돋움체 Light</vt:lpstr>
      <vt:lpstr>맑은 고딕</vt:lpstr>
      <vt:lpstr>Arial</vt:lpstr>
      <vt:lpstr>Wingdings</vt:lpstr>
      <vt:lpstr>Office 테마</vt:lpstr>
      <vt:lpstr>자원·에너지 경제학</vt:lpstr>
      <vt:lpstr>Chapter 1  에너지 개론</vt:lpstr>
      <vt:lpstr>Section 1. 서 론</vt:lpstr>
      <vt:lpstr>서론</vt:lpstr>
      <vt:lpstr>Energy 어원</vt:lpstr>
      <vt:lpstr>에너지의 여러가지 형태</vt:lpstr>
      <vt:lpstr>다양한 에너지 변환</vt:lpstr>
      <vt:lpstr>에너지 측정</vt:lpstr>
      <vt:lpstr>에너지 측정</vt:lpstr>
      <vt:lpstr>(참고자료) SI 접두어</vt:lpstr>
      <vt:lpstr>에너지 단위 변환 (콜라)</vt:lpstr>
      <vt:lpstr>에너지 단위 변환 (선풍기)</vt:lpstr>
      <vt:lpstr>어떤 보조배터리를 사야할까?</vt:lpstr>
      <vt:lpstr>보조배터리 충전·방전 속도</vt:lpstr>
      <vt:lpstr>보조배터리 충전·방전 속도</vt:lpstr>
      <vt:lpstr>보조배터리 충전·방전 속도</vt:lpstr>
      <vt:lpstr>보조배터리 충전·방전 속도</vt:lpstr>
      <vt:lpstr>에너지 단위 변환 (미니 선풍기)</vt:lpstr>
      <vt:lpstr>에너지 단위 변환</vt:lpstr>
      <vt:lpstr>Section 2. 우리집 전기요금</vt:lpstr>
      <vt:lpstr>우리집 전기요금</vt:lpstr>
      <vt:lpstr>우리집 전기요금</vt:lpstr>
      <vt:lpstr>우리집 전기요금</vt:lpstr>
      <vt:lpstr>우리집 전기요금</vt:lpstr>
      <vt:lpstr>주택용, 교육용</vt:lpstr>
      <vt:lpstr>일반용</vt:lpstr>
      <vt:lpstr>산업용</vt:lpstr>
      <vt:lpstr>농사용, 가로등, 심야전력, 전기차</vt:lpstr>
      <vt:lpstr>우리집 전기요금</vt:lpstr>
      <vt:lpstr>우리집 전기요금</vt:lpstr>
      <vt:lpstr>우리집 전기 소비 내역</vt:lpstr>
      <vt:lpstr>우리집 전기 소비 내역</vt:lpstr>
      <vt:lpstr>Thank you</vt:lpstr>
      <vt:lpstr>에너지 단위 변환</vt:lpstr>
      <vt:lpstr>에너지 단위 변환 (보조배터리)</vt:lpstr>
      <vt:lpstr>에너지 단위 변환</vt:lpstr>
      <vt:lpstr>에너지 단위 변환 (보조배터리)</vt:lpstr>
      <vt:lpstr>내 보조배터리는 얼마나 쓸 수 있는거야? </vt:lpstr>
      <vt:lpstr>에너지 단위 변환 (선풍기)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364</cp:revision>
  <dcterms:created xsi:type="dcterms:W3CDTF">2025-07-05T05:15:23Z</dcterms:created>
  <dcterms:modified xsi:type="dcterms:W3CDTF">2026-07-03T09:16:54Z</dcterms:modified>
</cp:coreProperties>
</file>