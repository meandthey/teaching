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375" r:id="rId2"/>
    <p:sldId id="405" r:id="rId3"/>
    <p:sldId id="550" r:id="rId4"/>
    <p:sldId id="376" r:id="rId5"/>
    <p:sldId id="553" r:id="rId6"/>
    <p:sldId id="555" r:id="rId7"/>
    <p:sldId id="557" r:id="rId8"/>
    <p:sldId id="558" r:id="rId9"/>
    <p:sldId id="559" r:id="rId10"/>
    <p:sldId id="560" r:id="rId11"/>
    <p:sldId id="556" r:id="rId12"/>
    <p:sldId id="554" r:id="rId13"/>
    <p:sldId id="36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>
        <p:scale>
          <a:sx n="125" d="100"/>
          <a:sy n="125" d="100"/>
        </p:scale>
        <p:origin x="1620" y="4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2026-06-26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에너지 개론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지구가 어떻게 돌아가는지</a:t>
            </a:r>
            <a:r>
              <a:rPr lang="en-US" altLang="ko-KR" sz="1600" spc="-50" dirty="0"/>
              <a:t>?? (</a:t>
            </a:r>
            <a:r>
              <a:rPr lang="ko-KR" altLang="en-US" sz="1600" spc="-50" dirty="0"/>
              <a:t>우주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순환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 등등</a:t>
            </a:r>
            <a:r>
              <a:rPr lang="en-US" altLang="ko-KR" sz="1600" spc="-50"/>
              <a:t>?)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 에너지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차에너지 구분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시스템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단위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에너지란 무엇인가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일상생활에서 쓰는 에너지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9493-3237-2060-E05C-530AD0749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C7A22-C443-A102-E0E1-84852DA4B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Energy </a:t>
            </a:r>
            <a:r>
              <a:rPr lang="ko-KR" altLang="en-US" dirty="0"/>
              <a:t>어원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628BB4-220F-FFBE-B592-D8DC1F4E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93383-2897-A54A-2C79-6228A995A1E3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energy = </a:t>
            </a:r>
            <a:r>
              <a:rPr lang="en-US" altLang="ko-KR" sz="1600" spc="-50" dirty="0" err="1"/>
              <a:t>en</a:t>
            </a:r>
            <a:r>
              <a:rPr lang="en-US" altLang="ko-KR" sz="1600" spc="-50" dirty="0"/>
              <a:t> + </a:t>
            </a: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  : </a:t>
            </a:r>
            <a:r>
              <a:rPr lang="ko-KR" altLang="en-US" sz="1600" spc="-50" dirty="0"/>
              <a:t>고대 그리스어로 풀어보면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en</a:t>
            </a:r>
            <a:r>
              <a:rPr lang="en-US" altLang="ko-KR" sz="1600" spc="-50" dirty="0"/>
              <a:t> = -</a:t>
            </a:r>
            <a:r>
              <a:rPr lang="ko-KR" altLang="en-US" sz="1600" spc="-50" dirty="0"/>
              <a:t>안에</a:t>
            </a:r>
            <a:r>
              <a:rPr lang="en-US" altLang="ko-KR" sz="1600" spc="-50" dirty="0"/>
              <a:t>, -</a:t>
            </a:r>
            <a:r>
              <a:rPr lang="ko-KR" altLang="en-US" sz="1600" spc="-50" dirty="0"/>
              <a:t>내부에 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현대 영어로 넘어오면서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안에 넣다</a:t>
            </a:r>
            <a:r>
              <a:rPr lang="en-US" altLang="ko-KR" sz="1600" spc="-50" dirty="0"/>
              <a:t>‘ → ‘~</a:t>
            </a:r>
            <a:r>
              <a:rPr lang="ko-KR" altLang="en-US" sz="1600" spc="-50" dirty="0"/>
              <a:t>하게 만들다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 라는 식으로 의미 변화가 일어났다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예제</a:t>
            </a:r>
            <a:r>
              <a:rPr lang="en-US" altLang="ko-KR" sz="1600" spc="-50" dirty="0"/>
              <a:t>)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able: </a:t>
            </a:r>
            <a:r>
              <a:rPr lang="ko-KR" altLang="en-US" sz="1600" spc="-50" dirty="0"/>
              <a:t>가능하게 하다</a:t>
            </a:r>
            <a:r>
              <a:rPr lang="en-US" altLang="ko-KR" sz="1600" spc="-50" dirty="0"/>
              <a:t>, 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rich:</a:t>
            </a:r>
            <a:r>
              <a:rPr lang="ko-KR" altLang="en-US" sz="1600" spc="-50" dirty="0"/>
              <a:t> 풍요롭게 하다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en</a:t>
            </a:r>
            <a:r>
              <a:rPr lang="en-US" altLang="ko-KR" sz="1600" spc="-50" dirty="0"/>
              <a:t>courage: </a:t>
            </a:r>
            <a:r>
              <a:rPr lang="ko-KR" altLang="en-US" sz="1600" spc="-50" dirty="0"/>
              <a:t>용기를 북돋다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= </a:t>
            </a:r>
            <a:r>
              <a:rPr lang="ko-KR" altLang="en-US" sz="1600" spc="-50" dirty="0"/>
              <a:t>일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ergon</a:t>
            </a:r>
            <a:r>
              <a:rPr lang="ko-KR" altLang="en-US" sz="1600" spc="-50" dirty="0"/>
              <a:t>은 일</a:t>
            </a:r>
            <a:r>
              <a:rPr lang="en-US" altLang="ko-KR" sz="1600" spc="-50" dirty="0"/>
              <a:t>(work)</a:t>
            </a:r>
            <a:r>
              <a:rPr lang="ko-KR" altLang="en-US" sz="1600" spc="-50" dirty="0"/>
              <a:t>을 뜻하는 그리스어 단어</a:t>
            </a:r>
            <a:r>
              <a:rPr lang="en-US" altLang="ko-KR" sz="1600" spc="-50" dirty="0"/>
              <a:t>. ergon</a:t>
            </a:r>
            <a:r>
              <a:rPr lang="ko-KR" altLang="en-US" sz="1600" spc="-50" dirty="0"/>
              <a:t>의 파생형이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ergy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예제</a:t>
            </a:r>
            <a:r>
              <a:rPr lang="en-US" altLang="ko-KR" sz="1600" spc="-50" dirty="0"/>
              <a:t>) </a:t>
            </a:r>
            <a:r>
              <a:rPr lang="en-US" altLang="ko-KR" sz="1600" b="1" spc="-50" dirty="0"/>
              <a:t>erg</a:t>
            </a:r>
            <a:r>
              <a:rPr lang="en-US" altLang="ko-KR" sz="1600" spc="-50" dirty="0"/>
              <a:t>onomics: </a:t>
            </a:r>
            <a:r>
              <a:rPr lang="ko-KR" altLang="en-US" sz="1600" spc="-50" dirty="0"/>
              <a:t>인체공학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일을 효율적으로 하는 법칙</a:t>
            </a:r>
            <a:r>
              <a:rPr lang="en-US" altLang="ko-KR" sz="1600" spc="-50" dirty="0"/>
              <a:t>))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energy</a:t>
            </a:r>
            <a:r>
              <a:rPr lang="ko-KR" altLang="en-US" sz="1600" spc="-50" dirty="0"/>
              <a:t>는 원래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일</a:t>
            </a:r>
            <a:r>
              <a:rPr lang="en-US" altLang="ko-KR" sz="1600" spc="-50" dirty="0"/>
              <a:t>(work)</a:t>
            </a:r>
            <a:r>
              <a:rPr lang="ko-KR" altLang="en-US" sz="1600" spc="-50" dirty="0"/>
              <a:t>이 안에 있는 상태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를 의미한다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이것이 오늘날 </a:t>
            </a:r>
            <a:r>
              <a:rPr lang="en-US" altLang="ko-KR" sz="1600" b="1" spc="-50" dirty="0"/>
              <a:t>‘</a:t>
            </a:r>
            <a:r>
              <a:rPr lang="ko-KR" altLang="en-US" sz="1600" b="1" spc="-50" dirty="0"/>
              <a:t>일을 할 수 있는 능력</a:t>
            </a:r>
            <a:r>
              <a:rPr lang="en-US" altLang="ko-KR" sz="1600" b="1" spc="-50" dirty="0"/>
              <a:t>’</a:t>
            </a:r>
            <a:r>
              <a:rPr lang="ko-KR" altLang="en-US" sz="1600" spc="-50" dirty="0"/>
              <a:t> 이라는 의미로 발전하였다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0E6184C-191A-AA52-FF3B-32CFB93E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2284" y="3067663"/>
            <a:ext cx="2968222" cy="11073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BA0A74-7ED3-F1FC-795A-ED8D9FCD9AB5}"/>
              </a:ext>
            </a:extLst>
          </p:cNvPr>
          <p:cNvSpPr txBox="1"/>
          <p:nvPr/>
        </p:nvSpPr>
        <p:spPr>
          <a:xfrm>
            <a:off x="9070142" y="2806053"/>
            <a:ext cx="23125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spc="-50" dirty="0"/>
              <a:t>&lt;</a:t>
            </a:r>
            <a:r>
              <a:rPr lang="ko-KR" altLang="en-US" sz="1100" spc="-50" dirty="0"/>
              <a:t>인체공학 키보드의 모델명</a:t>
            </a:r>
            <a:r>
              <a:rPr lang="en-US" altLang="ko-KR" sz="1100" spc="-50" dirty="0"/>
              <a:t>:</a:t>
            </a:r>
            <a:r>
              <a:rPr lang="ko-KR" altLang="en-US" sz="1100" spc="-50" dirty="0"/>
              <a:t> </a:t>
            </a:r>
            <a:r>
              <a:rPr lang="en-US" altLang="ko-KR" sz="1100" spc="-50" dirty="0"/>
              <a:t>ergo&gt;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65993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71EBB-D2D8-9617-09A3-D11B6FF72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2F78D-FB98-8132-782C-C73E86EAE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여러가지 형태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B8E7D-C741-21A2-7291-9DF4D2462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EDD64-57EE-174F-25CE-330DED40693E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직접 눈에 보이지는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일상 생활을 하다 보면 여러가지 형태의 에너지를 감지할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빛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우리 주변을 환하게 비추어주는 햇빛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조명</a:t>
            </a:r>
            <a:r>
              <a:rPr lang="en-US" altLang="ko-KR" sz="1600" spc="-50" dirty="0"/>
              <a:t>(LED </a:t>
            </a:r>
            <a:r>
              <a:rPr lang="ko-KR" altLang="en-US" sz="1600" spc="-50" dirty="0"/>
              <a:t>및 </a:t>
            </a:r>
            <a:r>
              <a:rPr lang="ko-KR" altLang="en-US" sz="1600" spc="-50" dirty="0" err="1"/>
              <a:t>백열구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빛을 낸다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소리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사람 목소리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스피커 등에서 발생하는 소리는 공기의 진동이 우리 귀에 전달된다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열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따뜻한 커피가 담긴 컵을 만지면 열이 전달되면서 손이 따뜻하게 느껴진다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운동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달리는 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흐르는 강물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움직이는 모든 물체는 운동 에너지를 갖는다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선풍기를 콘센트와 연결하면 움직인다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자기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냉장고에 자석을 가까이 대면 저절로 움직여서 붙는다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위치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높은 곳에 있는 물체는 아래로 떨어지기 마련이다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화학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천연가스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음식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배터리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등에는 화학 결합 속에 에너지가 저장되어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핵 에너지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원자핵 내부에는 막대한 에너지가 저장되어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원자력발전을 통해 이용할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922221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3140-3073-FAD2-0D3D-7546D5E99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6CD74-A62C-1AA6-BED3-B2CCB7F56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에너지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9CD73-B454-8B86-0FC5-CC8697C9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0CC514-5395-6E71-C8E4-133A03D17712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앞서 살펴본 여러가지 에너지 형태를 상황에 맞게 편리한 형태로 바꾸어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에너지 변환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가면서 생활한다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헤어드라이기는</a:t>
            </a:r>
            <a:r>
              <a:rPr lang="ko-KR" altLang="en-US" sz="1600" spc="-50" dirty="0"/>
              <a:t> 전기를 열 에너지와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 뜨거운 바람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+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사람 몸은 화학에너지를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음식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먹으면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걷고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뛰고 </a:t>
            </a:r>
            <a:r>
              <a:rPr lang="ko-KR" altLang="en-US" sz="1600" spc="-50" dirty="0" err="1"/>
              <a:t>움직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+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일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선풍기는 전기에너지를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콘센트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꼽으면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바람이 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풍력발전은 운동에너지를 전기에너지로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바람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불면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날개가 돌아가서 전기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생성된다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자동차는 화학에너지를 열에너지로 바꾸고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열에너지가 운동에너지로 변환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화학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연소시켜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고온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고압의 가스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열에너지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가 피스톤을 움직여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바퀴가 돌아간다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운동에너지</a:t>
            </a:r>
            <a:r>
              <a:rPr lang="en-US" altLang="ko-KR" sz="1600" spc="-5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1794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4B9DF-0E27-4FE3-8CA6-663D5F89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281199-1994-9321-1DE5-4A2347B7F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측정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0A506-1B5D-1AF9-3782-5B291087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C863E-D264-ABEC-C0AC-5A8C80DED4F6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로 측정한다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물리학적으로 줄이란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뉴턴</a:t>
            </a:r>
            <a:r>
              <a:rPr lang="en-US" altLang="ko-KR" sz="1600" spc="-50" dirty="0"/>
              <a:t>(N)</a:t>
            </a:r>
            <a:r>
              <a:rPr lang="ko-KR" altLang="en-US" sz="1600" spc="-50" dirty="0"/>
              <a:t>의 힘으로 물체를 </a:t>
            </a:r>
            <a:r>
              <a:rPr lang="en-US" altLang="ko-KR" sz="1600" spc="-50" dirty="0"/>
              <a:t>1m </a:t>
            </a:r>
            <a:r>
              <a:rPr lang="ko-KR" altLang="en-US" sz="1600" spc="-50" dirty="0"/>
              <a:t>이동시키는데 필요한 에너지 로 정의된다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뉴턴이란 질량 </a:t>
            </a:r>
            <a:r>
              <a:rPr lang="en-US" altLang="ko-KR" sz="1600" spc="-50" dirty="0"/>
              <a:t>1kg</a:t>
            </a:r>
            <a:r>
              <a:rPr lang="ko-KR" altLang="en-US" sz="1600" spc="-50" dirty="0"/>
              <a:t>인 물체를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</a:t>
            </a:r>
            <a:r>
              <a:rPr lang="ko-KR" altLang="en-US" sz="1600" spc="-50" dirty="0"/>
              <a:t>의 가속도로 움직이게 하는 힘 으로 정의된다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다시 말하면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줄은 </a:t>
            </a:r>
            <a:r>
              <a:rPr lang="en-US" altLang="ko-KR" sz="1600" spc="-50" dirty="0"/>
              <a:t>1kg</a:t>
            </a:r>
            <a:r>
              <a:rPr lang="ko-KR" altLang="en-US" sz="1600" spc="-50" dirty="0"/>
              <a:t>인 물체에 </a:t>
            </a:r>
            <a:r>
              <a:rPr lang="en-US" altLang="ko-KR" sz="1600" spc="-50" dirty="0"/>
              <a:t>1m/s</a:t>
            </a:r>
            <a:r>
              <a:rPr lang="en-US" altLang="ko-KR" sz="1600" spc="-50" baseline="30000" dirty="0"/>
              <a:t>2 </a:t>
            </a:r>
            <a:r>
              <a:rPr lang="ko-KR" altLang="en-US" sz="1600" spc="-50" dirty="0"/>
              <a:t>의 가속도를 발생시키는 힘을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가하여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물체를 힘의 방향으로 </a:t>
            </a:r>
            <a:r>
              <a:rPr lang="en-US" altLang="ko-KR" sz="1600" spc="-50" dirty="0"/>
              <a:t>1m </a:t>
            </a:r>
            <a:r>
              <a:rPr lang="ko-KR" altLang="en-US" sz="1600" spc="-50" dirty="0"/>
              <a:t>이동시키는데 필요한 에너지 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6464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BF624-26E9-2E60-F460-597C1B6D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3A0CB6-A471-A379-E6F2-9D851173A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단위 변환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B18857-BE01-254C-4058-2D3ACC429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7916E-1F92-C0E3-A9D4-F760E4E298A6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줄</a:t>
            </a:r>
            <a:r>
              <a:rPr lang="en-US" altLang="ko-KR" sz="1600" spc="-50" dirty="0"/>
              <a:t>(J)</a:t>
            </a:r>
            <a:r>
              <a:rPr lang="ko-KR" altLang="en-US" sz="1600" spc="-50" dirty="0"/>
              <a:t> 이라는 단위보다 음식 포장지에 적힌 칼로리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라고 하는 단위가 더 익숙하다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줄과 칼로리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두 단위는 우리가 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inch, </a:t>
            </a:r>
            <a:r>
              <a:rPr lang="ko-KR" altLang="en-US" sz="1600" spc="-50" dirty="0"/>
              <a:t>온도를 섭씨와 화씨로 다양하게 표현하는 것처럼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에너지도 서로 다른 단위로 나타낸 것일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 </a:t>
            </a:r>
            <a:r>
              <a:rPr lang="en-US" altLang="ko-KR" sz="1600" spc="-50" dirty="0"/>
              <a:t>= 0.239</a:t>
            </a:r>
            <a:r>
              <a:rPr lang="ko-KR" altLang="en-US" sz="1600" spc="-50" dirty="0"/>
              <a:t>칼로리</a:t>
            </a:r>
            <a:r>
              <a:rPr lang="en-US" altLang="ko-KR" sz="1600" spc="-50" dirty="0"/>
              <a:t>,  </a:t>
            </a:r>
            <a:r>
              <a:rPr lang="ko-KR" altLang="en-US" sz="1600" spc="-50" dirty="0"/>
              <a:t>참고로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센티미터</a:t>
            </a:r>
            <a:r>
              <a:rPr lang="en-US" altLang="ko-KR" sz="1600" spc="-50" dirty="0"/>
              <a:t> 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0.39</a:t>
            </a:r>
            <a:r>
              <a:rPr lang="ko-KR" altLang="en-US" sz="1600" spc="-50" dirty="0"/>
              <a:t>인치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섭씨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도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화씨 </a:t>
            </a:r>
            <a:r>
              <a:rPr lang="en-US" altLang="ko-KR" sz="1600" spc="-50" dirty="0"/>
              <a:t>50</a:t>
            </a:r>
            <a:r>
              <a:rPr lang="ko-KR" altLang="en-US" sz="1600" spc="-50" dirty="0"/>
              <a:t>도와 같다</a:t>
            </a:r>
            <a:r>
              <a:rPr lang="en-US" altLang="ko-KR" sz="1600" spc="-50"/>
              <a:t>.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 간에는 스케일만 다를 뿐 같은 개념이다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(J, joule)</a:t>
            </a:r>
            <a:r>
              <a:rPr lang="ko-KR" altLang="en-US" sz="1600" spc="-50" dirty="0"/>
              <a:t>은 약 </a:t>
            </a:r>
            <a:r>
              <a:rPr lang="en-US" altLang="ko-KR" sz="1600" spc="-50" dirty="0"/>
              <a:t>0.00024 </a:t>
            </a:r>
            <a:r>
              <a:rPr lang="ko-KR" altLang="en-US" sz="1600" spc="-50" dirty="0"/>
              <a:t>칼로리 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cal</a:t>
            </a:r>
            <a:r>
              <a:rPr lang="en-US" altLang="ko-KR" sz="1600" spc="-50" dirty="0"/>
              <a:t>, calorie)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(1cm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0.394 inch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.) </a:t>
            </a:r>
            <a:r>
              <a:rPr lang="ko-KR" altLang="en-US" sz="1600" spc="-50" dirty="0"/>
              <a:t>또 다른 예로는 섭씨와 화씨</a:t>
            </a:r>
            <a:r>
              <a:rPr lang="en-US" altLang="ko-KR" sz="1600" spc="-50" dirty="0"/>
              <a:t>, km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mile </a:t>
            </a:r>
            <a:r>
              <a:rPr lang="ko-KR" altLang="en-US" sz="1600" spc="-50" dirty="0"/>
              <a:t>등이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하는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33296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381B5-F69D-5A39-2273-AC354F03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0BD26-1D88-9E78-E8E3-D0A43288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69D38-D683-D7D0-2D30-F833D1B1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267F87-CD27-F34A-17B4-18730B58F9B6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에너지의 여러가지 형태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빛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운동 </a:t>
            </a:r>
            <a:r>
              <a:rPr lang="en-US" altLang="ko-KR" sz="1600" spc="-50" dirty="0"/>
              <a:t>··· </a:t>
            </a:r>
            <a:r>
              <a:rPr lang="ko-KR" altLang="en-US" sz="1600" spc="-50" dirty="0"/>
              <a:t>등등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배웠는데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</a:t>
            </a:r>
            <a:r>
              <a:rPr lang="ko-KR" altLang="en-US" sz="1600" spc="-50" dirty="0" err="1"/>
              <a:t>형태든</a:t>
            </a:r>
            <a:r>
              <a:rPr lang="ko-KR" altLang="en-US" sz="1600" spc="-50" dirty="0"/>
              <a:t> 에너지 단위인 줄로 측정이 가능하다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03243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1F357-6A49-DE19-168B-0EAFAD3E7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92C007-A731-7516-CCAF-C63539395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3995-6988-6F83-E4A6-F6590AD7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7F5CC3-B015-C253-EFC6-F76316817558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우리의 일상은 대개 아래와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아침에 일어나서 핸드폰을 본다</a:t>
            </a:r>
            <a:r>
              <a:rPr lang="en-US" altLang="ko-KR" sz="1600" spc="-50" dirty="0"/>
              <a:t>. (</a:t>
            </a:r>
            <a:r>
              <a:rPr lang="ko-KR" altLang="en-US" sz="1600" b="1" spc="-50" dirty="0"/>
              <a:t>전기 </a:t>
            </a:r>
            <a:r>
              <a:rPr lang="ko-KR" altLang="en-US" sz="1600" spc="-50" dirty="0"/>
              <a:t>사용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간단히 온수 샤워를 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보일러를 통한 </a:t>
            </a:r>
            <a:r>
              <a:rPr lang="ko-KR" altLang="en-US" sz="1600" b="1" spc="-50" dirty="0"/>
              <a:t>가스</a:t>
            </a:r>
            <a:r>
              <a:rPr lang="ko-KR" altLang="en-US" sz="1600" spc="-50" dirty="0"/>
              <a:t> 사용 혹은 지역난방의 </a:t>
            </a:r>
            <a:r>
              <a:rPr lang="ko-KR" altLang="en-US" sz="1600" b="1" spc="-50" dirty="0"/>
              <a:t>열</a:t>
            </a:r>
            <a:r>
              <a:rPr lang="ko-KR" altLang="en-US" sz="1600" spc="-50" dirty="0"/>
              <a:t> 사용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옷을 입는다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우리가 입고 있는 옷은 대부분 합성섬유이고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합성섬유의 원료는 </a:t>
            </a:r>
            <a:r>
              <a:rPr lang="ko-KR" altLang="en-US" sz="1600" b="1" spc="-50" dirty="0"/>
              <a:t>석유제품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집을 나서서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버스나 자가용을 탄다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시내버스는 </a:t>
            </a:r>
            <a:r>
              <a:rPr lang="ko-KR" altLang="en-US" sz="1600" b="1" spc="-50" dirty="0"/>
              <a:t>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자가용은 </a:t>
            </a:r>
            <a:r>
              <a:rPr lang="ko-KR" altLang="en-US" sz="1600" b="1" spc="-50" dirty="0"/>
              <a:t>석유제품</a:t>
            </a:r>
            <a:r>
              <a:rPr lang="ko-KR" altLang="en-US" sz="1600" spc="-50" dirty="0"/>
              <a:t>을 주로 사용한다</a:t>
            </a:r>
            <a:r>
              <a:rPr lang="ko-KR" altLang="en-US" sz="1600" b="1" spc="-50" dirty="0"/>
              <a:t> 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강의실에서 에어컨 혹은 히터를 켜고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수업을 듣는다</a:t>
            </a:r>
            <a:r>
              <a:rPr lang="en-US" altLang="ko-KR" sz="1600" spc="-50" dirty="0"/>
              <a:t>. (</a:t>
            </a:r>
            <a:r>
              <a:rPr lang="ko-KR" altLang="en-US" sz="1600" b="1" spc="-50" dirty="0"/>
              <a:t>전기</a:t>
            </a:r>
            <a:r>
              <a:rPr lang="ko-KR" altLang="en-US" sz="1600" spc="-50" dirty="0"/>
              <a:t> 사용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밤이 되어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집 안에 조명을 켠다</a:t>
            </a:r>
            <a:r>
              <a:rPr lang="en-US" altLang="ko-KR" sz="1600" spc="-50" dirty="0"/>
              <a:t>. (</a:t>
            </a:r>
            <a:r>
              <a:rPr lang="ko-KR" altLang="en-US" sz="1600" b="1" spc="-50" dirty="0"/>
              <a:t>전기 </a:t>
            </a:r>
            <a:r>
              <a:rPr lang="ko-KR" altLang="en-US" sz="1600" spc="-50" dirty="0"/>
              <a:t>사용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오늘날의 현대적인 에너지 공급이 없으면 우리는 원시사회로 돌아간다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핸드폰이 없다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해의 위치 파악을 통해 시간을 알아야 한다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냇가에서 물을 길어와 나무를 태워 물을 데워 씻는다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동물의 가죽을 걸쳐 입는다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어디 가고 싶으면 걷거나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더우면 부채질을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추우면 옷을 껴입는다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해가 떨어지면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잘 안보인다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874051-1E3C-81AC-FF78-54B999A9621F}"/>
              </a:ext>
            </a:extLst>
          </p:cNvPr>
          <p:cNvSpPr txBox="1"/>
          <p:nvPr/>
        </p:nvSpPr>
        <p:spPr>
          <a:xfrm>
            <a:off x="7259433" y="3507679"/>
            <a:ext cx="4508787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현대사회에서는 내가 굳이 일을 하지 않고</a:t>
            </a:r>
            <a:r>
              <a:rPr lang="en-US" altLang="ko-KR" sz="1600" spc="-50" dirty="0"/>
              <a:t>, </a:t>
            </a:r>
            <a:r>
              <a:rPr lang="ko-KR" altLang="en-US" sz="1600" b="1" spc="-50" dirty="0"/>
              <a:t>일을 할 수 있는 능력</a:t>
            </a:r>
            <a:r>
              <a:rPr lang="en-US" altLang="ko-KR" sz="1600" b="1" spc="-50" dirty="0"/>
              <a:t>(</a:t>
            </a:r>
            <a:r>
              <a:rPr lang="ko-KR" altLang="en-US" sz="1600" b="1" spc="-50" dirty="0"/>
              <a:t>에너지</a:t>
            </a:r>
            <a:r>
              <a:rPr lang="en-US" altLang="ko-KR" sz="1600" b="1" spc="-50" dirty="0"/>
              <a:t>)</a:t>
            </a:r>
            <a:r>
              <a:rPr lang="ko-KR" altLang="en-US" sz="1600" spc="-50" dirty="0"/>
              <a:t>을 가진 전기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등을 사용해서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매우 편리한 생활을 누리고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264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4D992-D509-61E8-7026-B83F7FDD7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CC96A6-5ABB-BA3A-EA16-5159323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분류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AABA70-6268-414C-5999-572F86FD8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D77447-9B31-247A-CD25-C2B66CEED967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에너지는 여러 기준으로 나누어 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 에너지와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에너지로 나누어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1</a:t>
            </a:r>
            <a:r>
              <a:rPr lang="ko-KR" altLang="en-US" sz="1600" b="1" spc="-50" dirty="0"/>
              <a:t>차에너지</a:t>
            </a:r>
            <a:r>
              <a:rPr lang="ko-KR" altLang="en-US" sz="1600" spc="-50" dirty="0"/>
              <a:t>는 어떤 가공이나 변환을 거치지 않은 자연 상태의 에너지를 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다음과 같이 분류해볼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땅에서 채굴하는 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등은 유한하기 때문에 </a:t>
            </a:r>
            <a:r>
              <a:rPr lang="ko-KR" altLang="en-US" sz="1600" b="1" spc="-50" dirty="0" err="1"/>
              <a:t>고갈성</a:t>
            </a:r>
            <a:r>
              <a:rPr lang="ko-KR" altLang="en-US" sz="1600" b="1" spc="-50" dirty="0"/>
              <a:t> 에너지</a:t>
            </a:r>
            <a:r>
              <a:rPr lang="ko-KR" altLang="en-US" sz="1600" spc="-50" dirty="0"/>
              <a:t> 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태양으로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오는 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바람으로 부터 오는 바람에너지는 무한하기 때문에 </a:t>
            </a:r>
            <a:r>
              <a:rPr lang="ko-KR" altLang="en-US" sz="1600" b="1" spc="-50" dirty="0"/>
              <a:t>재생 에너지</a:t>
            </a:r>
            <a:r>
              <a:rPr lang="ko-KR" altLang="en-US" sz="1600" spc="-50" dirty="0"/>
              <a:t> 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2</a:t>
            </a:r>
            <a:r>
              <a:rPr lang="ko-KR" altLang="en-US" sz="1600" b="1" spc="-50" dirty="0"/>
              <a:t>차에너지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차에너지를 변환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가공하여 우리가 사용하기 편리하게 만든 에너지를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땅에서 채굴한 석유는 바로 쓸 수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불순물이 많아서 여러 석유제품들로 분류를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석유를 높은 온도에서 끓이면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아스팔트도 나오고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항공유도 나오고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휘발유도 나온다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즉 석유는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 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항공유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 등이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에너지이다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바람에너지도 바로 쓸 수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태양광이나 풍력발전기를 통해 전기에너지로 바꿔야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태양광 패널에 햇빛이 닿으면 전기가 생산되고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바람이 불어서 풍력날개가 돌아가면 전기가 생산된다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즉 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 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차에너지다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57007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8776</TotalTime>
  <Words>1078</Words>
  <Application>Microsoft Office PowerPoint</Application>
  <PresentationFormat>와이드스크린</PresentationFormat>
  <Paragraphs>113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자원·에너지 경제학</vt:lpstr>
      <vt:lpstr>Chapter 1  에너지 개론</vt:lpstr>
      <vt:lpstr>Section 1. 서 론</vt:lpstr>
      <vt:lpstr>서론</vt:lpstr>
      <vt:lpstr>Energy 어원</vt:lpstr>
      <vt:lpstr>에너지의 여러가지 형태</vt:lpstr>
      <vt:lpstr>다양한 에너지 변환</vt:lpstr>
      <vt:lpstr>에너지 측정</vt:lpstr>
      <vt:lpstr>에너지 단위 변환</vt:lpstr>
      <vt:lpstr>에너지 </vt:lpstr>
      <vt:lpstr>생활 속의 에너지</vt:lpstr>
      <vt:lpstr>에너지 분류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242</cp:revision>
  <dcterms:created xsi:type="dcterms:W3CDTF">2025-07-05T05:15:23Z</dcterms:created>
  <dcterms:modified xsi:type="dcterms:W3CDTF">2026-06-26T08:25:29Z</dcterms:modified>
</cp:coreProperties>
</file>