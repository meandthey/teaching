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60"/>
  </p:notesMasterIdLst>
  <p:sldIdLst>
    <p:sldId id="375" r:id="rId2"/>
    <p:sldId id="405" r:id="rId3"/>
    <p:sldId id="550" r:id="rId4"/>
    <p:sldId id="376" r:id="rId5"/>
    <p:sldId id="651" r:id="rId6"/>
    <p:sldId id="652" r:id="rId7"/>
    <p:sldId id="644" r:id="rId8"/>
    <p:sldId id="645" r:id="rId9"/>
    <p:sldId id="646" r:id="rId10"/>
    <p:sldId id="647" r:id="rId11"/>
    <p:sldId id="648" r:id="rId12"/>
    <p:sldId id="649" r:id="rId13"/>
    <p:sldId id="650" r:id="rId14"/>
    <p:sldId id="608" r:id="rId15"/>
    <p:sldId id="599" r:id="rId16"/>
    <p:sldId id="609" r:id="rId17"/>
    <p:sldId id="610" r:id="rId18"/>
    <p:sldId id="611" r:id="rId19"/>
    <p:sldId id="600" r:id="rId20"/>
    <p:sldId id="612" r:id="rId21"/>
    <p:sldId id="613" r:id="rId22"/>
    <p:sldId id="614" r:id="rId23"/>
    <p:sldId id="615" r:id="rId24"/>
    <p:sldId id="616" r:id="rId25"/>
    <p:sldId id="617" r:id="rId26"/>
    <p:sldId id="618" r:id="rId27"/>
    <p:sldId id="619" r:id="rId28"/>
    <p:sldId id="601" r:id="rId29"/>
    <p:sldId id="620" r:id="rId30"/>
    <p:sldId id="621" r:id="rId31"/>
    <p:sldId id="622" r:id="rId32"/>
    <p:sldId id="623" r:id="rId33"/>
    <p:sldId id="624" r:id="rId34"/>
    <p:sldId id="625" r:id="rId35"/>
    <p:sldId id="626" r:id="rId36"/>
    <p:sldId id="602" r:id="rId37"/>
    <p:sldId id="627" r:id="rId38"/>
    <p:sldId id="628" r:id="rId39"/>
    <p:sldId id="629" r:id="rId40"/>
    <p:sldId id="630" r:id="rId41"/>
    <p:sldId id="631" r:id="rId42"/>
    <p:sldId id="632" r:id="rId43"/>
    <p:sldId id="603" r:id="rId44"/>
    <p:sldId id="633" r:id="rId45"/>
    <p:sldId id="634" r:id="rId46"/>
    <p:sldId id="635" r:id="rId47"/>
    <p:sldId id="636" r:id="rId48"/>
    <p:sldId id="605" r:id="rId49"/>
    <p:sldId id="637" r:id="rId50"/>
    <p:sldId id="638" r:id="rId51"/>
    <p:sldId id="604" r:id="rId52"/>
    <p:sldId id="639" r:id="rId53"/>
    <p:sldId id="640" r:id="rId54"/>
    <p:sldId id="641" r:id="rId55"/>
    <p:sldId id="642" r:id="rId56"/>
    <p:sldId id="607" r:id="rId57"/>
    <p:sldId id="643" r:id="rId58"/>
    <p:sldId id="598" r:id="rId5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F5F"/>
    <a:srgbClr val="F8F7FC"/>
    <a:srgbClr val="2D72BE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885" autoAdjust="0"/>
  </p:normalViewPr>
  <p:slideViewPr>
    <p:cSldViewPr snapToGrid="0">
      <p:cViewPr varScale="1">
        <p:scale>
          <a:sx n="144" d="100"/>
          <a:sy n="144" d="100"/>
        </p:scale>
        <p:origin x="900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2169190"/>
            <a:ext cx="10452100" cy="935960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5400" b="1" i="0" dirty="0"/>
              <a:t>자원</a:t>
            </a:r>
            <a:r>
              <a:rPr lang="en-US" altLang="ko-KR" sz="5400" b="1" i="0" dirty="0"/>
              <a:t>·</a:t>
            </a:r>
            <a:r>
              <a:rPr lang="ko-KR" altLang="en-US" sz="5400" b="1" i="0" dirty="0"/>
              <a:t>에너지 경제학</a:t>
            </a:r>
            <a:endParaRPr lang="ko-KR" altLang="en-US" sz="4800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- 6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6</a:t>
            </a:r>
            <a:br>
              <a:rPr lang="en-US" altLang="ko-KR" sz="4000" b="1" i="0" spc="150" dirty="0"/>
            </a:br>
            <a:br>
              <a:rPr lang="en-US" altLang="ko-KR" sz="4000" b="1" i="0" spc="150"/>
            </a:br>
            <a:r>
              <a:rPr lang="ko-KR" altLang="en-US" sz="4000" b="1" i="0" spc="150"/>
              <a:t>재생에너지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개 론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8E53AA-7D50-5F4A-320F-293F31547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66E9B2-B0DB-FDCD-AA50-636EA4E5B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27E35B-63AE-3D62-3078-BE10F308BEDD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국제에너지기구</a:t>
            </a:r>
            <a:r>
              <a:rPr lang="en-US" altLang="ko-KR" sz="1600" dirty="0"/>
              <a:t>(IEA)</a:t>
            </a:r>
            <a:r>
              <a:rPr lang="ko-KR" altLang="en-US" sz="1600" dirty="0"/>
              <a:t>는 재생에너지를 </a:t>
            </a:r>
            <a:r>
              <a:rPr lang="en-US" altLang="ko-KR" sz="1600" dirty="0"/>
              <a:t>‘</a:t>
            </a:r>
            <a:r>
              <a:rPr lang="ko-KR" altLang="en-US" sz="1600" dirty="0"/>
              <a:t>자연적으로 보충되는 자원에서 파생되는 에너지로</a:t>
            </a:r>
            <a:r>
              <a:rPr lang="en-US" altLang="ko-KR" sz="1600" dirty="0"/>
              <a:t>, </a:t>
            </a:r>
            <a:r>
              <a:rPr lang="ko-KR" altLang="en-US" sz="1600" dirty="0"/>
              <a:t>태양</a:t>
            </a:r>
            <a:r>
              <a:rPr lang="en-US" altLang="ko-KR" sz="1600" dirty="0"/>
              <a:t>, </a:t>
            </a:r>
            <a:r>
              <a:rPr lang="ko-KR" altLang="en-US" sz="1600" dirty="0"/>
              <a:t>바람</a:t>
            </a:r>
            <a:r>
              <a:rPr lang="en-US" altLang="ko-KR" sz="1600" dirty="0"/>
              <a:t>, </a:t>
            </a:r>
            <a:r>
              <a:rPr lang="ko-KR" altLang="en-US" sz="1600" dirty="0"/>
              <a:t>물의 흐름</a:t>
            </a:r>
            <a:r>
              <a:rPr lang="en-US" altLang="ko-KR" sz="1600" dirty="0"/>
              <a:t>, </a:t>
            </a:r>
            <a:r>
              <a:rPr lang="ko-KR" altLang="en-US" sz="1600" dirty="0"/>
              <a:t>지열</a:t>
            </a:r>
            <a:r>
              <a:rPr lang="en-US" altLang="ko-KR" sz="1600" dirty="0"/>
              <a:t>, </a:t>
            </a:r>
            <a:r>
              <a:rPr lang="ko-KR" altLang="en-US" sz="1600" dirty="0"/>
              <a:t>생물 유기물 등을 포함한다</a:t>
            </a:r>
            <a:r>
              <a:rPr lang="en-US" altLang="ko-KR" sz="1600" dirty="0"/>
              <a:t>‘ </a:t>
            </a:r>
            <a:r>
              <a:rPr lang="ko-KR" altLang="en-US" sz="1600" dirty="0"/>
              <a:t>고 정의한다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대표적으로 태양광</a:t>
            </a:r>
            <a:r>
              <a:rPr lang="en-US" altLang="ko-KR" sz="1600" dirty="0"/>
              <a:t>, </a:t>
            </a:r>
            <a:r>
              <a:rPr lang="ko-KR" altLang="en-US" sz="1600" dirty="0"/>
              <a:t>풍력</a:t>
            </a:r>
            <a:r>
              <a:rPr lang="en-US" altLang="ko-KR" sz="1600" dirty="0"/>
              <a:t>, </a:t>
            </a:r>
            <a:r>
              <a:rPr lang="ko-KR" altLang="en-US" sz="1600" dirty="0"/>
              <a:t>수력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바이오에너지</a:t>
            </a:r>
            <a:r>
              <a:rPr lang="en-US" altLang="ko-KR" sz="1600" dirty="0"/>
              <a:t>, </a:t>
            </a:r>
            <a:r>
              <a:rPr lang="ko-KR" altLang="en-US" sz="1600" dirty="0"/>
              <a:t>지열 등이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재생에너지는 자원의 물리적 특성과 이용방식에 따라 </a:t>
            </a:r>
            <a:r>
              <a:rPr lang="ko-KR" altLang="en-US" sz="1600" dirty="0" err="1"/>
              <a:t>비고갈성</a:t>
            </a:r>
            <a:r>
              <a:rPr lang="ko-KR" altLang="en-US" sz="1600" dirty="0"/>
              <a:t> 자원과 조건부 </a:t>
            </a:r>
            <a:r>
              <a:rPr lang="ko-KR" altLang="en-US" sz="1600" dirty="0" err="1"/>
              <a:t>고갈성</a:t>
            </a:r>
            <a:r>
              <a:rPr lang="ko-KR" altLang="en-US" sz="1600" dirty="0"/>
              <a:t> 자원으로 구분되기도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비고갈성</a:t>
            </a:r>
            <a:r>
              <a:rPr lang="ko-KR" altLang="en-US" sz="1600" dirty="0"/>
              <a:t> 자원은 태양광 풍력</a:t>
            </a:r>
            <a:r>
              <a:rPr lang="en-US" altLang="ko-KR" sz="1600" dirty="0"/>
              <a:t>, </a:t>
            </a:r>
            <a:r>
              <a:rPr lang="ko-KR" altLang="en-US" sz="1600" dirty="0"/>
              <a:t>해양에너지처럼 인간의 사용으로 인해 </a:t>
            </a:r>
            <a:r>
              <a:rPr lang="ko-KR" altLang="en-US" sz="1600" dirty="0" err="1"/>
              <a:t>자원량이</a:t>
            </a:r>
            <a:r>
              <a:rPr lang="ko-KR" altLang="en-US" sz="1600" dirty="0"/>
              <a:t> 줄어들지 않으며</a:t>
            </a:r>
            <a:r>
              <a:rPr lang="en-US" altLang="ko-KR" sz="1600" dirty="0"/>
              <a:t>, </a:t>
            </a:r>
            <a:r>
              <a:rPr lang="ko-KR" altLang="en-US" sz="1600" dirty="0"/>
              <a:t>사실상 무한정 이용이 가능한 에너지원이다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조건부 </a:t>
            </a:r>
            <a:r>
              <a:rPr lang="ko-KR" altLang="en-US" sz="1600" dirty="0" err="1"/>
              <a:t>고갈성</a:t>
            </a:r>
            <a:r>
              <a:rPr lang="ko-KR" altLang="en-US" sz="1600" dirty="0"/>
              <a:t> 자원은 </a:t>
            </a:r>
            <a:r>
              <a:rPr lang="ko-KR" altLang="en-US" sz="1600" dirty="0" err="1"/>
              <a:t>바이오에너지나</a:t>
            </a:r>
            <a:r>
              <a:rPr lang="en-US" altLang="ko-KR" sz="1600" dirty="0"/>
              <a:t>, </a:t>
            </a:r>
            <a:r>
              <a:rPr lang="ko-KR" altLang="en-US" sz="1600" dirty="0"/>
              <a:t>일부 수력처럼 자연적으로 재생되기는 하지만</a:t>
            </a:r>
            <a:r>
              <a:rPr lang="en-US" altLang="ko-KR" sz="1600" dirty="0"/>
              <a:t>, </a:t>
            </a:r>
            <a:r>
              <a:rPr lang="ko-KR" altLang="en-US" sz="1600" dirty="0"/>
              <a:t>토지</a:t>
            </a:r>
            <a:r>
              <a:rPr lang="en-US" altLang="ko-KR" sz="1600" dirty="0"/>
              <a:t>, </a:t>
            </a:r>
            <a:r>
              <a:rPr lang="ko-KR" altLang="en-US" sz="1600" dirty="0"/>
              <a:t>수자원</a:t>
            </a:r>
            <a:r>
              <a:rPr lang="en-US" altLang="ko-KR" sz="1600" dirty="0"/>
              <a:t>, </a:t>
            </a:r>
            <a:r>
              <a:rPr lang="ko-KR" altLang="en-US" sz="1600" dirty="0"/>
              <a:t>생물자원 등 유한한 생태 기반에 대한 의존도가 높아 과도한 </a:t>
            </a:r>
            <a:r>
              <a:rPr lang="ko-KR" altLang="en-US" sz="1600" dirty="0" err="1"/>
              <a:t>이용시</a:t>
            </a:r>
            <a:r>
              <a:rPr lang="ko-KR" altLang="en-US" sz="1600" dirty="0"/>
              <a:t> 지속가능성에 부정적인 영향을 미칠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이와 같은 구분은 재생에너지 간에도 지속가능성의 정도가 상이할 수 있음을 시사하고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전환 정책 수립 시 자원 경쟁 및 </a:t>
            </a:r>
            <a:r>
              <a:rPr lang="ko-KR" altLang="en-US" sz="1600" dirty="0" err="1"/>
              <a:t>생태적</a:t>
            </a:r>
            <a:r>
              <a:rPr lang="ko-KR" altLang="en-US" sz="1600" dirty="0"/>
              <a:t> 부담을 평가하는 데 유용한 기준이 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최근 들어 재생에너지는 단순한 에너지 공급원을 넘어</a:t>
            </a:r>
            <a:r>
              <a:rPr lang="en-US" altLang="ko-KR" sz="1600" dirty="0"/>
              <a:t>, </a:t>
            </a:r>
            <a:r>
              <a:rPr lang="ko-KR" altLang="en-US" sz="1600" dirty="0"/>
              <a:t>탄소중립 실현과 지속가능발전목표의 달성을 위한 핵심 수단으로 인식되고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이에 따라 국제사회는 재생에너지 보급 확대를 위한 정책적</a:t>
            </a:r>
            <a:r>
              <a:rPr lang="en-US" altLang="ko-KR" sz="1600" dirty="0"/>
              <a:t>·</a:t>
            </a:r>
            <a:r>
              <a:rPr lang="ko-KR" altLang="en-US" sz="1600" dirty="0"/>
              <a:t>재정적 지원을 강화하고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3003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CD9DB-8227-87BB-C0B7-2A8E5194C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D942DA-E486-2924-FD6D-3433C95BE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E65D11-D651-8884-B7DB-3E7493570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CF5356-9090-9566-BA82-93326711C090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재생에너지는 석탄</a:t>
            </a:r>
            <a:r>
              <a:rPr lang="en-US" altLang="ko-KR" sz="1600" dirty="0"/>
              <a:t>, </a:t>
            </a:r>
            <a:r>
              <a:rPr lang="ko-KR" altLang="en-US" sz="1600" dirty="0"/>
              <a:t>석유</a:t>
            </a:r>
            <a:r>
              <a:rPr lang="en-US" altLang="ko-KR" sz="1600" dirty="0"/>
              <a:t>, </a:t>
            </a:r>
            <a:r>
              <a:rPr lang="ko-KR" altLang="en-US" sz="1600" dirty="0"/>
              <a:t>천연가스 등 전통적 화석연료 기반 에너지원과 여러 측면에서 뚜렷한 차이가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첫째</a:t>
            </a:r>
            <a:r>
              <a:rPr lang="en-US" altLang="ko-KR" sz="1600" dirty="0"/>
              <a:t>, </a:t>
            </a:r>
            <a:r>
              <a:rPr lang="ko-KR" altLang="en-US" sz="1600" dirty="0"/>
              <a:t>자원 고갈성의 여부에서 큰 차이가 나타난다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화석연료는 수억 년에 걸쳐 지질학적 과정으로 형성된 유한한 자원이므로</a:t>
            </a:r>
            <a:r>
              <a:rPr lang="en-US" altLang="ko-KR" sz="1600" dirty="0"/>
              <a:t>, </a:t>
            </a:r>
            <a:r>
              <a:rPr lang="ko-KR" altLang="en-US" sz="1600" dirty="0"/>
              <a:t>지속적 소비는 필연적으로 고갈을 초래한다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재생에너지는 태양 복사</a:t>
            </a:r>
            <a:r>
              <a:rPr lang="en-US" altLang="ko-KR" sz="1600" dirty="0"/>
              <a:t>, </a:t>
            </a:r>
            <a:r>
              <a:rPr lang="ko-KR" altLang="en-US" sz="1600" dirty="0"/>
              <a:t>바람</a:t>
            </a:r>
            <a:r>
              <a:rPr lang="en-US" altLang="ko-KR" sz="1600" dirty="0"/>
              <a:t>, </a:t>
            </a:r>
            <a:r>
              <a:rPr lang="ko-KR" altLang="en-US" sz="1600" dirty="0"/>
              <a:t>물 순환 등 자연적 흐름에 기반하므로 인위적 고갈의 우려가 없다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둘째</a:t>
            </a:r>
            <a:r>
              <a:rPr lang="en-US" altLang="ko-KR" sz="1600" dirty="0"/>
              <a:t>, </a:t>
            </a:r>
            <a:r>
              <a:rPr lang="ko-KR" altLang="en-US" sz="1600" dirty="0"/>
              <a:t>환경적 영향의 측면에서도 중요한 차별점이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화석연료의 연소는 대기 중으로 이산화탄소</a:t>
            </a:r>
            <a:r>
              <a:rPr lang="en-US" altLang="ko-KR" sz="1600" dirty="0"/>
              <a:t>, </a:t>
            </a:r>
            <a:r>
              <a:rPr lang="ko-KR" altLang="en-US" sz="1600" dirty="0"/>
              <a:t>질소산화물</a:t>
            </a:r>
            <a:r>
              <a:rPr lang="en-US" altLang="ko-KR" sz="1600" dirty="0"/>
              <a:t>, </a:t>
            </a:r>
            <a:r>
              <a:rPr lang="ko-KR" altLang="en-US" sz="1600" dirty="0"/>
              <a:t>황산화물 등 다양한 오염물질을 방출하며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기후변화의 주된 원인이다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재생에너지원은 전력 생산 과정에서 온실가스</a:t>
            </a:r>
            <a:r>
              <a:rPr lang="en-US" altLang="ko-KR" sz="1600" dirty="0"/>
              <a:t>, </a:t>
            </a:r>
            <a:r>
              <a:rPr lang="ko-KR" altLang="en-US" sz="1600" dirty="0"/>
              <a:t>대기오염물질을 거의 생성하지 않는다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셋째</a:t>
            </a:r>
            <a:r>
              <a:rPr lang="en-US" altLang="ko-KR" sz="1600" dirty="0"/>
              <a:t>, </a:t>
            </a:r>
            <a:r>
              <a:rPr lang="ko-KR" altLang="en-US" sz="1600" dirty="0"/>
              <a:t>비용 구조에서도 뚜렷한 차이를 보인다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전통적인 발전 방식은 비교적 낮은 초기 투자비용과 높은 연료비용 구조를 가진다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한편 재생에너지는 초기 고정투자비용은 크지만 이후 한계비용이 거의 </a:t>
            </a:r>
            <a:r>
              <a:rPr lang="en-US" altLang="ko-KR" sz="1600" dirty="0"/>
              <a:t>‘</a:t>
            </a:r>
            <a:r>
              <a:rPr lang="ko-KR" altLang="en-US" sz="1600" dirty="0"/>
              <a:t>제로</a:t>
            </a:r>
            <a:r>
              <a:rPr lang="en-US" altLang="ko-KR" sz="1600" dirty="0"/>
              <a:t>‘</a:t>
            </a:r>
            <a:r>
              <a:rPr lang="ko-KR" altLang="en-US" sz="1600" dirty="0"/>
              <a:t>에 가까운 구조를 가진다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712699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D486A-DBCD-FC40-5B22-432F58193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097A9-28AE-79DC-A298-5C80F5BF8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ACEB46-BD0D-3B2C-5DB4-F7CB5E09A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B14243-051C-1411-5DFC-09185FD07CA2}"/>
              </a:ext>
            </a:extLst>
          </p:cNvPr>
          <p:cNvSpPr txBox="1"/>
          <p:nvPr/>
        </p:nvSpPr>
        <p:spPr>
          <a:xfrm>
            <a:off x="288790" y="958844"/>
            <a:ext cx="11118453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넷째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안보 측면에서도 두 자원은 상반된 특성을 갖는다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전통적 화석연료는 대부분 특정 지역에 집중되어 있고</a:t>
            </a:r>
            <a:r>
              <a:rPr lang="en-US" altLang="ko-KR" sz="1600" dirty="0"/>
              <a:t>, </a:t>
            </a:r>
            <a:r>
              <a:rPr lang="ko-KR" altLang="en-US" sz="1600" dirty="0"/>
              <a:t>수입 의존도가 높은 국가에서는 가격 변동성과 공급 차단의 위험에 노출되어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재생에너지는 자국 내에서 생산이 가능하고</a:t>
            </a:r>
            <a:r>
              <a:rPr lang="en-US" altLang="ko-KR" sz="1600" dirty="0"/>
              <a:t>, </a:t>
            </a:r>
            <a:r>
              <a:rPr lang="ko-KR" altLang="en-US" sz="1600" dirty="0"/>
              <a:t>분산형으로 개발될 수 있어 에너지 자립도와 안보 측면에서 유리하다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다섯째</a:t>
            </a:r>
            <a:r>
              <a:rPr lang="en-US" altLang="ko-KR" sz="1600" dirty="0"/>
              <a:t>, </a:t>
            </a:r>
            <a:r>
              <a:rPr lang="ko-KR" altLang="en-US" sz="1600" dirty="0"/>
              <a:t>시스템 통합성과 </a:t>
            </a:r>
            <a:r>
              <a:rPr lang="ko-KR" altLang="en-US" sz="1600" dirty="0" err="1"/>
              <a:t>간헐성</a:t>
            </a:r>
            <a:r>
              <a:rPr lang="ko-KR" altLang="en-US" sz="1600" dirty="0"/>
              <a:t> 문제는 재생에너지의 한계로 자주 지적된다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태양광과 풍력은 자원의 가용성이 자연조건에 의존하기 때문에 전력 수요와 실시간 공급의 일치를 요구하는 전력 시스템 내에서는 유연성 확보와 보완적 기술</a:t>
            </a:r>
            <a:r>
              <a:rPr lang="en-US" altLang="ko-KR" sz="1600" dirty="0"/>
              <a:t>(</a:t>
            </a:r>
            <a:r>
              <a:rPr lang="ko-KR" altLang="en-US" sz="1600" dirty="0"/>
              <a:t>에너지저장</a:t>
            </a:r>
            <a:r>
              <a:rPr lang="en-US" altLang="ko-KR" sz="1600" dirty="0"/>
              <a:t>, </a:t>
            </a:r>
            <a:r>
              <a:rPr lang="ko-KR" altLang="en-US" sz="1600" dirty="0"/>
              <a:t>스마트그리드</a:t>
            </a:r>
            <a:r>
              <a:rPr lang="en-US" altLang="ko-KR" sz="1600" dirty="0"/>
              <a:t> </a:t>
            </a:r>
            <a:r>
              <a:rPr lang="ko-KR" altLang="en-US" sz="1600" dirty="0"/>
              <a:t>등</a:t>
            </a:r>
            <a:r>
              <a:rPr lang="en-US" altLang="ko-KR" sz="1600" dirty="0"/>
              <a:t>)</a:t>
            </a:r>
            <a:r>
              <a:rPr lang="ko-KR" altLang="en-US" sz="1600" dirty="0"/>
              <a:t>이 필요하다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화석연료 발전은 출력 조절이 가능하므로</a:t>
            </a:r>
            <a:r>
              <a:rPr lang="en-US" altLang="ko-KR" sz="1600"/>
              <a:t>,</a:t>
            </a:r>
            <a:r>
              <a:rPr lang="ko-KR" altLang="en-US" sz="1600"/>
              <a:t> </a:t>
            </a:r>
            <a:r>
              <a:rPr lang="ko-KR" altLang="en-US" sz="1600" dirty="0"/>
              <a:t>안정적인 기저 부하 전력을 공급하는 데 상대적으로 적합하다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944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6833D-86BF-6859-9207-AF7140182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B993FFD-8B24-A94E-0C54-D607433453C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08D733-2F04-A0F9-F00D-8686BD5A4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83B5C12A-3CFE-9EDA-3437-17E2665D3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276" y="3756991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주요 재생에너지 종류와 특성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032312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A1F07-B931-918C-C639-5CF9172FE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D11DE6-1CC8-5E8B-2085-D07483F8119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D830EE-1321-7BAC-9FF6-22CB361FB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ACF810-AF3C-C23E-5F04-75C09B6DE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/>
              <a:t>재생에너지의 경제적 특성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529728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FEC46-C795-F159-814C-E8F6F8AD0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027D70-6863-74EA-3385-3C53838102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AF13BF-B8EA-3A2D-A946-BE86C8DD1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5565C146-BBF7-1FE7-60CC-788093F7D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4. </a:t>
            </a:r>
            <a:r>
              <a:rPr lang="ko-KR" altLang="en-US" sz="4000" b="1" i="0" spc="150" dirty="0"/>
              <a:t>재생에너지의 비용추이와 경쟁력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530667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97589-78DC-578B-CC40-957E40327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90F2013-29CD-7F27-1577-D6B31B8EFA6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6BCEF3-AB97-1172-4F24-539E14AF2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DA196B2-BFD3-ADD5-D4F1-6F6E5ECA3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5. </a:t>
            </a:r>
            <a:r>
              <a:rPr lang="ko-KR" altLang="en-US" sz="4000" b="1" i="0" spc="150" dirty="0"/>
              <a:t>전력시스템 내 재생에너지의 역할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694542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DFD94-3D3D-8B63-B659-4FE8F33AB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1BB767-B954-7A46-8835-203A64ECCE8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DD62FE-4457-6E04-699D-4394298E1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4DE58E5-97B8-49D7-76B3-F3F82A86D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6. </a:t>
            </a:r>
            <a:r>
              <a:rPr lang="ko-KR" altLang="en-US" sz="4000" b="1" i="0" spc="150" dirty="0"/>
              <a:t>재생에너지에 의한 전력생산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648976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E4800-6A31-BE4A-1C3E-372090822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203F97-3BAF-41AD-F46D-57F13EE0D08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89F4BD-CC08-2E50-779F-24250045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C506F8B0-54A2-FB67-C649-ED9D81CA3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7. </a:t>
            </a:r>
            <a:r>
              <a:rPr lang="ko-KR" altLang="en-US" sz="4000" b="1" i="0" spc="150" dirty="0"/>
              <a:t>정책도구와 정부의 역할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589397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E4D2D-5A23-A453-CDA0-BA1964698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7D57F7-528C-E907-0862-13D4ECBA771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4E9D23-304B-C48E-FDF0-971C27F44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83C9CE03-867E-E3F5-173E-5E77BC819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8. </a:t>
            </a:r>
            <a:r>
              <a:rPr lang="ko-KR" altLang="en-US" sz="4000" b="1" i="0" spc="150" dirty="0"/>
              <a:t>재생에너지의 미래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529180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27917-0049-C88C-935B-66F322F73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2F910E-4024-1FCD-ABD9-94B6E6026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D4952B-C598-35A0-F648-48D57AF15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427CA5-C853-BEB2-4538-4B60F4A58147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최근</a:t>
            </a:r>
            <a:r>
              <a:rPr lang="en-US" altLang="ko-KR" sz="1600" dirty="0"/>
              <a:t> </a:t>
            </a:r>
            <a:r>
              <a:rPr lang="ko-KR" altLang="en-US" sz="1600" dirty="0"/>
              <a:t>러시아</a:t>
            </a:r>
            <a:r>
              <a:rPr lang="en-US" altLang="ko-KR" sz="1600" dirty="0"/>
              <a:t>-</a:t>
            </a:r>
            <a:r>
              <a:rPr lang="ko-KR" altLang="en-US" sz="1600" dirty="0"/>
              <a:t>우크라이나 전쟁 이후 글로벌 에너지 공급망의 지정학적 불확실성이 심화됨에 따라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원자력은 다시 한번 에너지 안보의 핵심 수단으로 재조명되고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천연가스와 석유의 수입 의존도가 높은 유럽 국가들은 러시아산 에너지에 대한 탈동조화를 추진하는 과정에서 원자력을 재평가하고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이를 통해 에너지 주권과 전력시장 안정성을 동시에 추구하고자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그러나 원자력 발전에 대한 사회적 인식은 여전히 분열되어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높은 발전 효율과 장기간 운전이 가능한 기저부하 </a:t>
            </a:r>
            <a:r>
              <a:rPr lang="ko-KR" altLang="en-US" sz="1600" dirty="0" err="1"/>
              <a:t>전원으로서의</a:t>
            </a:r>
            <a:r>
              <a:rPr lang="ko-KR" altLang="en-US" sz="1600" dirty="0"/>
              <a:t> 역할</a:t>
            </a:r>
            <a:r>
              <a:rPr lang="en-US" altLang="ko-KR" sz="1600" dirty="0"/>
              <a:t>, </a:t>
            </a:r>
            <a:r>
              <a:rPr lang="ko-KR" altLang="en-US" sz="1600" dirty="0"/>
              <a:t>탄소중립 달성에의 기여 가능성</a:t>
            </a: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한편으로는 대형사고의 잠재적 위험성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고준위</a:t>
            </a:r>
            <a:r>
              <a:rPr lang="ko-KR" altLang="en-US" sz="1600" dirty="0"/>
              <a:t> 방사성 폐기물의 장기 처리 문제</a:t>
            </a:r>
            <a:r>
              <a:rPr lang="en-US" altLang="ko-KR" sz="1600" dirty="0"/>
              <a:t>, </a:t>
            </a:r>
            <a:r>
              <a:rPr lang="ko-KR" altLang="en-US" sz="1600" dirty="0"/>
              <a:t>높은 초기 투자비용과 긴 건설 기간 등으로 인해 지속적인 사회적 논란이 존재한다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dirty="0"/>
              <a:t>2011</a:t>
            </a:r>
            <a:r>
              <a:rPr lang="ko-KR" altLang="en-US" sz="1600" dirty="0"/>
              <a:t>년 일본 후쿠시마 원전 사고는 원자력에 대한 대중의 신뢰를 크게 흔들었고</a:t>
            </a:r>
            <a:r>
              <a:rPr lang="en-US" altLang="ko-KR" sz="1600" dirty="0"/>
              <a:t>, </a:t>
            </a:r>
            <a:r>
              <a:rPr lang="ko-KR" altLang="en-US" sz="1600" dirty="0"/>
              <a:t>그 여파로 여러 국가들이 </a:t>
            </a:r>
            <a:r>
              <a:rPr lang="ko-KR" altLang="en-US" sz="1600" dirty="0" err="1"/>
              <a:t>탈원전</a:t>
            </a:r>
            <a:r>
              <a:rPr lang="ko-KR" altLang="en-US" sz="1600" dirty="0"/>
              <a:t> 정책을 채택하거나 기존 원전 운영 계획을 축소</a:t>
            </a:r>
            <a:r>
              <a:rPr lang="en-US" altLang="ko-KR" sz="1600" dirty="0"/>
              <a:t>·</a:t>
            </a:r>
            <a:r>
              <a:rPr lang="ko-KR" altLang="en-US" sz="1600" dirty="0"/>
              <a:t>보류하는 등 전략적 방향 전환이 이루어졌다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이는 원자력이 기술적</a:t>
            </a:r>
            <a:r>
              <a:rPr lang="en-US" altLang="ko-KR" sz="1600" dirty="0"/>
              <a:t>·</a:t>
            </a:r>
            <a:r>
              <a:rPr lang="ko-KR" altLang="en-US" sz="1600" dirty="0"/>
              <a:t>경제적 측면 뿐 아니라 사회적 수용성과 정치적 정당성을 동시에 </a:t>
            </a:r>
            <a:r>
              <a:rPr lang="ko-KR" altLang="en-US" sz="1600" dirty="0" err="1"/>
              <a:t>갖추어야만</a:t>
            </a:r>
            <a:r>
              <a:rPr lang="ko-KR" altLang="en-US" sz="1600" dirty="0"/>
              <a:t> 지속가능한 에너지 체계의 일부로 기능할 수 있음을 보여준다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8308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59095-EEA6-3D9D-4062-310D408F3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4955952-6312-084F-FAFD-DCA0ECCC0B0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73E685-E601-76A8-2A39-F93DE124F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86685B0-D461-BC5E-0FA1-F2024DA29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원자력에너지의 역사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507013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E04E8-AE33-A67B-7EEE-96C309D34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CCF4F3-178B-0836-CA70-0D5A34E8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원자력에너지의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298345-6BF1-4B68-5886-AEBFFDABE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3E5F5C-20FB-3934-7B44-7CFC6DED806F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원자력에너지의 기원은 </a:t>
            </a:r>
            <a:r>
              <a:rPr lang="en-US" altLang="ko-KR" sz="1600" dirty="0"/>
              <a:t>19</a:t>
            </a:r>
            <a:r>
              <a:rPr lang="ko-KR" altLang="en-US" sz="1600" dirty="0"/>
              <a:t>세기 말에서 </a:t>
            </a:r>
            <a:r>
              <a:rPr lang="en-US" altLang="ko-KR" sz="1600" dirty="0"/>
              <a:t>20</a:t>
            </a:r>
            <a:r>
              <a:rPr lang="ko-KR" altLang="en-US" sz="1600" dirty="0"/>
              <a:t>세기 초에 이르는 일련의 과학적 발견에 뿌리를 두고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1896</a:t>
            </a:r>
            <a:r>
              <a:rPr lang="ko-KR" altLang="en-US" sz="1600" dirty="0"/>
              <a:t>년 앙리 </a:t>
            </a:r>
            <a:r>
              <a:rPr lang="ko-KR" altLang="en-US" sz="1600" dirty="0" err="1"/>
              <a:t>베크렐이</a:t>
            </a:r>
            <a:r>
              <a:rPr lang="ko-KR" altLang="en-US" sz="1600" dirty="0"/>
              <a:t> 자연 방사능을 처음 발견한 것을 시작으로</a:t>
            </a:r>
            <a:r>
              <a:rPr lang="en-US" altLang="ko-KR" sz="1600" dirty="0"/>
              <a:t>, </a:t>
            </a:r>
            <a:r>
              <a:rPr lang="ko-KR" altLang="en-US" sz="1600" dirty="0"/>
              <a:t>마리 </a:t>
            </a:r>
            <a:r>
              <a:rPr lang="ko-KR" altLang="en-US" sz="1600" dirty="0" err="1"/>
              <a:t>퀴리와</a:t>
            </a:r>
            <a:r>
              <a:rPr lang="ko-KR" altLang="en-US" sz="1600" dirty="0"/>
              <a:t> </a:t>
            </a:r>
            <a:r>
              <a:rPr lang="ko-KR" altLang="en-US" sz="1600" dirty="0" err="1"/>
              <a:t>피에르</a:t>
            </a:r>
            <a:r>
              <a:rPr lang="ko-KR" altLang="en-US" sz="1600" dirty="0"/>
              <a:t> </a:t>
            </a:r>
            <a:r>
              <a:rPr lang="ko-KR" altLang="en-US" sz="1600" dirty="0" err="1"/>
              <a:t>퀴리는</a:t>
            </a:r>
            <a:r>
              <a:rPr lang="ko-KR" altLang="en-US" sz="1600" dirty="0"/>
              <a:t> 라듐과 폴로늄의 방사성 특성을 규명함으로써 원자 내부에 내재한 에너지에 대한 인류의 이해를 비약적으로 </a:t>
            </a:r>
            <a:r>
              <a:rPr lang="ko-KR" altLang="en-US" sz="1600" dirty="0" err="1"/>
              <a:t>확장시켰다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원자의 구조가 단순히 불변의 물질 단위가 아니라</a:t>
            </a:r>
            <a:r>
              <a:rPr lang="en-US" altLang="ko-KR" sz="1600" dirty="0"/>
              <a:t>, </a:t>
            </a:r>
            <a:r>
              <a:rPr lang="ko-KR" altLang="en-US" sz="1600" dirty="0"/>
              <a:t>내부에 거대한 에너지를 저장하고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이를 인위적으로 방출할 수 있다는 가능성을 시사하였다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1917</a:t>
            </a:r>
            <a:r>
              <a:rPr lang="ko-KR" altLang="en-US" sz="1600" dirty="0"/>
              <a:t>년 알파입자를 질소 원자에 충돌시켜 수소 원자핵</a:t>
            </a:r>
            <a:r>
              <a:rPr lang="en-US" altLang="ko-KR" sz="1600" dirty="0"/>
              <a:t>, </a:t>
            </a:r>
            <a:r>
              <a:rPr lang="ko-KR" altLang="en-US" sz="1600" dirty="0"/>
              <a:t>즉 양성자를 방출하는 실험을 성공시켰고</a:t>
            </a:r>
            <a:r>
              <a:rPr lang="en-US" altLang="ko-KR" sz="1600" dirty="0"/>
              <a:t>, </a:t>
            </a:r>
            <a:r>
              <a:rPr lang="ko-KR" altLang="en-US" sz="1600" dirty="0"/>
              <a:t>이를 통해 인류 최초의 인공 핵변환을 달성하였다</a:t>
            </a:r>
            <a:r>
              <a:rPr lang="en-US" altLang="ko-KR" sz="1600" dirty="0"/>
              <a:t>. 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현대적인 의미에서의 원자력에너지는 </a:t>
            </a:r>
            <a:r>
              <a:rPr lang="en-US" altLang="ko-KR" sz="1600" dirty="0"/>
              <a:t>1938</a:t>
            </a:r>
            <a:r>
              <a:rPr lang="ko-KR" altLang="en-US" sz="1600" dirty="0"/>
              <a:t>년 오토 한</a:t>
            </a:r>
            <a:r>
              <a:rPr lang="en-US" altLang="ko-KR" sz="1600" dirty="0"/>
              <a:t>(Otto Hahn)</a:t>
            </a:r>
            <a:r>
              <a:rPr lang="ko-KR" altLang="en-US" sz="1600" dirty="0"/>
              <a:t>과 </a:t>
            </a:r>
            <a:r>
              <a:rPr lang="ko-KR" altLang="en-US" sz="1600" dirty="0" err="1"/>
              <a:t>프리츠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스트라스만이</a:t>
            </a:r>
            <a:r>
              <a:rPr lang="ko-KR" altLang="en-US" sz="1600" dirty="0"/>
              <a:t> 우라늄 원자의 핵분열을 실험적으로 확인하면서 본격적으로 가능성이 열렸다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리제</a:t>
            </a:r>
            <a:r>
              <a:rPr lang="ko-KR" altLang="en-US" sz="1600" dirty="0"/>
              <a:t> </a:t>
            </a:r>
            <a:r>
              <a:rPr lang="ko-KR" altLang="en-US" sz="1600" dirty="0" err="1"/>
              <a:t>마이트너와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오포</a:t>
            </a:r>
            <a:r>
              <a:rPr lang="ko-KR" altLang="en-US" sz="1600" dirty="0"/>
              <a:t> </a:t>
            </a:r>
            <a:r>
              <a:rPr lang="ko-KR" altLang="en-US" sz="1600" dirty="0" err="1"/>
              <a:t>프리쉬는</a:t>
            </a:r>
            <a:r>
              <a:rPr lang="ko-KR" altLang="en-US" sz="1600" dirty="0"/>
              <a:t> 핵분열 현상을 이론적으로 설명하면서</a:t>
            </a:r>
            <a:r>
              <a:rPr lang="en-US" altLang="ko-KR" sz="1600" dirty="0"/>
              <a:t>, </a:t>
            </a:r>
            <a:r>
              <a:rPr lang="ko-KR" altLang="en-US" sz="1600" dirty="0"/>
              <a:t>중성자를 통한 연쇄반응과 대규모 에너지 방출 메커니즘을 과학적으로 정립하였다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핵분열은 그 자체로는 과학적 성취였지만 제 </a:t>
            </a:r>
            <a:r>
              <a:rPr lang="en-US" altLang="ko-KR" sz="1600" dirty="0"/>
              <a:t>2</a:t>
            </a:r>
            <a:r>
              <a:rPr lang="ko-KR" altLang="en-US" sz="1600" dirty="0"/>
              <a:t>차 세계대전이라는 전시 상황 속에서 군사기술로 급속히 전용되었고</a:t>
            </a:r>
            <a:r>
              <a:rPr lang="en-US" altLang="ko-KR" sz="1600" dirty="0"/>
              <a:t>, </a:t>
            </a:r>
            <a:r>
              <a:rPr lang="ko-KR" altLang="en-US" sz="1600" dirty="0"/>
              <a:t>미국의 </a:t>
            </a:r>
            <a:r>
              <a:rPr lang="ko-KR" altLang="en-US" sz="1600" dirty="0" err="1"/>
              <a:t>맨해튼계획을</a:t>
            </a:r>
            <a:r>
              <a:rPr lang="ko-KR" altLang="en-US" sz="1600" dirty="0"/>
              <a:t> 통해 핵무기 개발로 이어졌다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히로시마와 나가사키에 투하된 원자폭탄은 인류가 원자력의 파괴력을 실감하게 만든 사건인 동시에 핵기술의 통제와 평화적 이용에 대한 국제적 논의를 촉발시켰다</a:t>
            </a:r>
            <a:r>
              <a:rPr lang="en-US" altLang="ko-KR" sz="1600" dirty="0"/>
              <a:t>.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CC43EAD-8281-2F4D-FE1B-685DC5AE09BF}"/>
              </a:ext>
            </a:extLst>
          </p:cNvPr>
          <p:cNvSpPr/>
          <p:nvPr/>
        </p:nvSpPr>
        <p:spPr>
          <a:xfrm>
            <a:off x="-1578547" y="1360557"/>
            <a:ext cx="2363304" cy="236330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태양의 핵분열과 비교설명</a:t>
            </a:r>
          </a:p>
        </p:txBody>
      </p:sp>
    </p:spTree>
    <p:extLst>
      <p:ext uri="{BB962C8B-B14F-4D97-AF65-F5344CB8AC3E}">
        <p14:creationId xmlns:p14="http://schemas.microsoft.com/office/powerpoint/2010/main" val="24386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57800-0BCB-5503-592A-48F073699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85A01-CF93-6804-F59C-F463C48AA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원자력에너지의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8160C4-8E20-A32A-CAC9-24234DB3A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07EC2C-64A7-3809-A367-3B232EEBA948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전쟁 이후에는 </a:t>
            </a:r>
            <a:r>
              <a:rPr lang="en-US" altLang="ko-KR" sz="1600" dirty="0"/>
              <a:t>‘</a:t>
            </a:r>
            <a:r>
              <a:rPr lang="ko-KR" altLang="en-US" sz="1600" dirty="0"/>
              <a:t>원자력의 평화적 이용</a:t>
            </a:r>
            <a:r>
              <a:rPr lang="en-US" altLang="ko-KR" sz="1600" dirty="0"/>
              <a:t>‘ </a:t>
            </a:r>
            <a:r>
              <a:rPr lang="ko-KR" altLang="en-US" sz="1600" dirty="0"/>
              <a:t>이라는 기치 아래</a:t>
            </a:r>
            <a:r>
              <a:rPr lang="en-US" altLang="ko-KR" sz="1600" dirty="0"/>
              <a:t>, </a:t>
            </a:r>
            <a:r>
              <a:rPr lang="ko-KR" altLang="en-US" sz="1600" dirty="0"/>
              <a:t>핵 기술의 민간 활용 가능성에 대한 관심이 확산되었다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1956</a:t>
            </a:r>
            <a:r>
              <a:rPr lang="ko-KR" altLang="en-US" sz="1600" dirty="0"/>
              <a:t>년 영국의 </a:t>
            </a:r>
            <a:r>
              <a:rPr lang="ko-KR" altLang="en-US" sz="1600" dirty="0" err="1"/>
              <a:t>콜더</a:t>
            </a:r>
            <a:r>
              <a:rPr lang="ko-KR" altLang="en-US" sz="1600" dirty="0"/>
              <a:t> 홀 원자력 발전소가 세계 최초로 상업 운전을 개시하면서 원자력은 본격적인 에너지원으로서 역할을 시작했다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이후 미국</a:t>
            </a:r>
            <a:r>
              <a:rPr lang="en-US" altLang="ko-KR" sz="1600" dirty="0"/>
              <a:t>, </a:t>
            </a:r>
            <a:r>
              <a:rPr lang="ko-KR" altLang="en-US" sz="1600" dirty="0"/>
              <a:t>프랑스</a:t>
            </a:r>
            <a:r>
              <a:rPr lang="en-US" altLang="ko-KR" sz="1600" dirty="0"/>
              <a:t>, </a:t>
            </a:r>
            <a:r>
              <a:rPr lang="ko-KR" altLang="en-US" sz="1600" dirty="0"/>
              <a:t>소련</a:t>
            </a:r>
            <a:r>
              <a:rPr lang="en-US" altLang="ko-KR" sz="1600" dirty="0"/>
              <a:t>, </a:t>
            </a:r>
            <a:r>
              <a:rPr lang="ko-KR" altLang="en-US" sz="1600" dirty="0"/>
              <a:t>일본 등 주요 산업국들이 국가 주도의 원자력 개발 계획을 추진하면서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원자력은 안정적이고 대규모 전력 생산이 가능한 기술로 각광받게 되었다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특히 </a:t>
            </a:r>
            <a:r>
              <a:rPr lang="en-US" altLang="ko-KR" sz="1600" dirty="0"/>
              <a:t>1970</a:t>
            </a:r>
            <a:r>
              <a:rPr lang="ko-KR" altLang="en-US" sz="1600" dirty="0"/>
              <a:t>년대 두 차례의 석유위기 이후에는 화석연료에 대한 의존도를 줄이고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안보를 강화하기 위한 전략적 수단으로 원자력 발전이 급속히 확대되었다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발전은 발전 과정에서 온실가스를 거의 배출하지 않기 때문에</a:t>
            </a:r>
            <a:r>
              <a:rPr lang="en-US" altLang="ko-KR" sz="1600" dirty="0"/>
              <a:t> </a:t>
            </a:r>
            <a:r>
              <a:rPr lang="ko-KR" altLang="en-US" sz="1600" dirty="0"/>
              <a:t>기후변화 대응이라는 </a:t>
            </a:r>
            <a:r>
              <a:rPr lang="ko-KR" altLang="en-US" sz="1600" dirty="0" err="1"/>
              <a:t>아젠다</a:t>
            </a:r>
            <a:r>
              <a:rPr lang="ko-KR" altLang="en-US" sz="1600" dirty="0"/>
              <a:t> 속에서 중요한 저탄소 전원으로 재조명 받고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국제에너지기구</a:t>
            </a:r>
            <a:r>
              <a:rPr lang="en-US" altLang="ko-KR" sz="1600" dirty="0"/>
              <a:t>(IEA)</a:t>
            </a:r>
            <a:r>
              <a:rPr lang="ko-KR" altLang="en-US" sz="1600" dirty="0"/>
              <a:t>와 국제원자력기구</a:t>
            </a:r>
            <a:r>
              <a:rPr lang="en-US" altLang="ko-KR" sz="1600" dirty="0"/>
              <a:t>(IAEA) </a:t>
            </a:r>
            <a:r>
              <a:rPr lang="ko-KR" altLang="en-US" sz="1600" dirty="0"/>
              <a:t>등은 원자력이 재생에너지와 병행하여 탄소중립 목표 달성을 위한 핵심 기술 중 하나가 될 수 있음을 강조하고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일부 국가는 </a:t>
            </a:r>
            <a:r>
              <a:rPr lang="en-US" altLang="ko-KR" sz="1600" dirty="0"/>
              <a:t>‘</a:t>
            </a:r>
            <a:r>
              <a:rPr lang="ko-KR" altLang="en-US" sz="1600" dirty="0"/>
              <a:t>그린 </a:t>
            </a:r>
            <a:r>
              <a:rPr lang="ko-KR" altLang="en-US" sz="1600" dirty="0" err="1"/>
              <a:t>택소노미</a:t>
            </a:r>
            <a:r>
              <a:rPr lang="en-US" altLang="ko-KR" sz="1600" dirty="0"/>
              <a:t>‘ </a:t>
            </a:r>
            <a:r>
              <a:rPr lang="ko-KR" altLang="en-US" sz="1600" dirty="0"/>
              <a:t>체계에서 원자력을 친환경 투자 대상으로 포함시키는 등</a:t>
            </a:r>
            <a:r>
              <a:rPr lang="en-US" altLang="ko-KR" sz="1600" dirty="0"/>
              <a:t>, </a:t>
            </a:r>
            <a:r>
              <a:rPr lang="ko-KR" altLang="en-US" sz="1600" dirty="0"/>
              <a:t>환경 정책과의 연계를 확대하고자 하는 움직임도 나타나고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305162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9653E-4167-41FB-42EB-3C8056553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5033A3-29FA-845C-A3EB-E45886FEF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원자력에너지의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4CE044-0FA1-2A8B-3720-78035E244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76C359-781B-56DE-E4F2-E95F41B3A3C0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그러나 원자력에너지는 기술적</a:t>
            </a:r>
            <a:r>
              <a:rPr lang="en-US" altLang="ko-KR" sz="1600" dirty="0"/>
              <a:t>·</a:t>
            </a:r>
            <a:r>
              <a:rPr lang="ko-KR" altLang="en-US" sz="1600" dirty="0"/>
              <a:t>경제적</a:t>
            </a:r>
            <a:r>
              <a:rPr lang="en-US" altLang="ko-KR" sz="1600" dirty="0"/>
              <a:t>·</a:t>
            </a:r>
            <a:r>
              <a:rPr lang="ko-KR" altLang="en-US" sz="1600" dirty="0"/>
              <a:t>사회적 측면에서 복합적인 도전에 직면하고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기술적으로는 </a:t>
            </a:r>
            <a:r>
              <a:rPr lang="ko-KR" altLang="en-US" sz="1600" dirty="0" err="1"/>
              <a:t>고준위</a:t>
            </a:r>
            <a:r>
              <a:rPr lang="ko-KR" altLang="en-US" sz="1600" dirty="0"/>
              <a:t> 방사성 폐기물의 장기 보관 및 처분</a:t>
            </a:r>
            <a:r>
              <a:rPr lang="en-US" altLang="ko-KR" sz="1600" dirty="0"/>
              <a:t>, </a:t>
            </a:r>
            <a:r>
              <a:rPr lang="ko-KR" altLang="en-US" sz="1600" dirty="0"/>
              <a:t>높은 초기 자본비용과 장기 건설 기간</a:t>
            </a:r>
            <a:r>
              <a:rPr lang="en-US" altLang="ko-KR" sz="1600" dirty="0"/>
              <a:t>, </a:t>
            </a:r>
            <a:r>
              <a:rPr lang="ko-KR" altLang="en-US" sz="1600" dirty="0"/>
              <a:t>연료주기 관리 등의 문제가 여전히 완전하게 해결되지 않고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사회적으로는 </a:t>
            </a:r>
            <a:r>
              <a:rPr lang="en-US" altLang="ko-KR" sz="1600" dirty="0"/>
              <a:t>1986</a:t>
            </a:r>
            <a:r>
              <a:rPr lang="ko-KR" altLang="en-US" sz="1600" dirty="0"/>
              <a:t>년 체르노빌</a:t>
            </a:r>
            <a:r>
              <a:rPr lang="en-US" altLang="ko-KR" sz="1600" dirty="0"/>
              <a:t> </a:t>
            </a:r>
            <a:r>
              <a:rPr lang="ko-KR" altLang="en-US" sz="1600" dirty="0"/>
              <a:t>사고</a:t>
            </a:r>
            <a:r>
              <a:rPr lang="en-US" altLang="ko-KR" sz="1600" dirty="0"/>
              <a:t>, 2011</a:t>
            </a:r>
            <a:r>
              <a:rPr lang="ko-KR" altLang="en-US" sz="1600" dirty="0"/>
              <a:t>년 후쿠시마 사고 이후 원자력 안정성에 대한 대중의 신뢰가 크게 흔들렸으며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일부 국가의 </a:t>
            </a:r>
            <a:r>
              <a:rPr lang="ko-KR" altLang="en-US" sz="1600" dirty="0" err="1"/>
              <a:t>탈원전</a:t>
            </a:r>
            <a:r>
              <a:rPr lang="ko-KR" altLang="en-US" sz="1600" dirty="0"/>
              <a:t> 결정이나 신규 투자 중단으로 이어졌다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정치적으로도 시민사회의 저항</a:t>
            </a:r>
            <a:r>
              <a:rPr lang="en-US" altLang="ko-KR" sz="1600" dirty="0"/>
              <a:t>, </a:t>
            </a:r>
            <a:r>
              <a:rPr lang="ko-KR" altLang="en-US" sz="1600" dirty="0"/>
              <a:t>지역 커뮤니티의 반대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비핵확산</a:t>
            </a:r>
            <a:r>
              <a:rPr lang="ko-KR" altLang="en-US" sz="1600" dirty="0"/>
              <a:t> 체제와의 연계 등의 다양한 제약이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민주주의 체제에서의 원자력 추진은 공공참여</a:t>
            </a:r>
            <a:r>
              <a:rPr lang="en-US" altLang="ko-KR" sz="1600" dirty="0"/>
              <a:t>, </a:t>
            </a:r>
            <a:r>
              <a:rPr lang="ko-KR" altLang="en-US" sz="1600" dirty="0"/>
              <a:t>정보공개</a:t>
            </a:r>
            <a:r>
              <a:rPr lang="en-US" altLang="ko-KR" sz="1600" dirty="0"/>
              <a:t>, </a:t>
            </a:r>
            <a:r>
              <a:rPr lang="ko-KR" altLang="en-US" sz="1600" dirty="0"/>
              <a:t>투명한 의사결정과정 등을 필요로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또한 태양광</a:t>
            </a:r>
            <a:r>
              <a:rPr lang="en-US" altLang="ko-KR" sz="1600" dirty="0"/>
              <a:t>, </a:t>
            </a:r>
            <a:r>
              <a:rPr lang="ko-KR" altLang="en-US" sz="1600" dirty="0"/>
              <a:t>풍력 같은 재생에너지 기술이 빠른 속도로 발전하고 있고</a:t>
            </a:r>
            <a:r>
              <a:rPr lang="en-US" altLang="ko-KR" sz="1600" dirty="0"/>
              <a:t>, </a:t>
            </a:r>
            <a:r>
              <a:rPr lang="ko-KR" altLang="en-US" sz="1600" dirty="0"/>
              <a:t>저장기술 및 분산형 에너지 시스템이 확산됨에 따라 원자력의 경제성과 경쟁력에 대한 의문이 제기 되고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결국 원자력에너지는 에너지 전환 시대에서 중요한 저탄소 기술이지만</a:t>
            </a:r>
            <a:r>
              <a:rPr lang="en-US" altLang="ko-KR" sz="1600" dirty="0"/>
              <a:t>, </a:t>
            </a:r>
            <a:r>
              <a:rPr lang="ko-KR" altLang="en-US" sz="1600" dirty="0"/>
              <a:t>동시에 경제성</a:t>
            </a:r>
            <a:r>
              <a:rPr lang="en-US" altLang="ko-KR" sz="1600" dirty="0"/>
              <a:t>,</a:t>
            </a:r>
            <a:r>
              <a:rPr lang="ko-KR" altLang="en-US" sz="1600" dirty="0"/>
              <a:t> 안정성</a:t>
            </a:r>
            <a:r>
              <a:rPr lang="en-US" altLang="ko-KR" sz="1600" dirty="0"/>
              <a:t>, </a:t>
            </a:r>
            <a:r>
              <a:rPr lang="ko-KR" altLang="en-US" sz="1600" dirty="0"/>
              <a:t>수용성 등 다층적 쟁점을 동반하는 복합적 에너지원이다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단순히 기술적 효율</a:t>
            </a:r>
            <a:r>
              <a:rPr lang="en-US" altLang="ko-KR" sz="1600" dirty="0"/>
              <a:t>, </a:t>
            </a:r>
            <a:r>
              <a:rPr lang="ko-KR" altLang="en-US" sz="1600" dirty="0"/>
              <a:t>비용경쟁력 만으로 결정하기 보다</a:t>
            </a:r>
            <a:r>
              <a:rPr lang="en-US" altLang="ko-KR" sz="1600" dirty="0"/>
              <a:t>, </a:t>
            </a:r>
            <a:r>
              <a:rPr lang="ko-KR" altLang="en-US" sz="1600" dirty="0"/>
              <a:t>각국의 에너지 전략</a:t>
            </a:r>
            <a:r>
              <a:rPr lang="en-US" altLang="ko-KR" sz="1600" dirty="0"/>
              <a:t>, </a:t>
            </a:r>
            <a:r>
              <a:rPr lang="ko-KR" altLang="en-US" sz="1600" dirty="0"/>
              <a:t>제도</a:t>
            </a:r>
            <a:r>
              <a:rPr lang="en-US" altLang="ko-KR" sz="1600" dirty="0"/>
              <a:t>, </a:t>
            </a:r>
            <a:r>
              <a:rPr lang="ko-KR" altLang="en-US" sz="1600" dirty="0"/>
              <a:t>사회적 가치 판단에 따라 통합적인 분석을 요구한다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687906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50245-4FD0-B15D-BBEB-002FA187E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6944A5-E5CA-0FFB-5C94-0F90EBA1DA8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752AF8-77AC-B551-729B-94A7A2BA2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5F97ECD-7FC2-54D4-5BAE-474E25828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/>
              <a:t>원자력 발전의 기본 원리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803776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34D75-EE22-9C1B-2EBD-981C69554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312EB7-2F73-B26E-D3AF-A18D7B107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핵분열과 핵융합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556EE7-A851-AB41-0B16-B54F70CDE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621F9D-6FC0-81B9-A6A6-DAD8EA3B3C22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핵에너지의 방출은 원자핵 내부에 저장된 </a:t>
            </a:r>
            <a:r>
              <a:rPr lang="en-US" altLang="ko-KR" sz="1600" dirty="0"/>
              <a:t>‘</a:t>
            </a:r>
            <a:r>
              <a:rPr lang="ko-KR" altLang="en-US" sz="1600" dirty="0"/>
              <a:t>강한 </a:t>
            </a:r>
            <a:r>
              <a:rPr lang="ko-KR" altLang="en-US" sz="1600" dirty="0" err="1"/>
              <a:t>핵력</a:t>
            </a:r>
            <a:r>
              <a:rPr lang="en-US" altLang="ko-KR" sz="1600" dirty="0"/>
              <a:t>’</a:t>
            </a:r>
            <a:r>
              <a:rPr lang="ko-KR" altLang="en-US" sz="1600" dirty="0"/>
              <a:t>에 기인하며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두 가지 근본적인 과정</a:t>
            </a:r>
            <a:r>
              <a:rPr lang="en-US" altLang="ko-KR" sz="1600" dirty="0"/>
              <a:t>, </a:t>
            </a:r>
            <a:r>
              <a:rPr lang="ko-KR" altLang="en-US" sz="1600" dirty="0"/>
              <a:t>즉 핵분열 </a:t>
            </a:r>
            <a:r>
              <a:rPr lang="en-US" altLang="ko-KR" sz="1600" dirty="0"/>
              <a:t>(nuclear fission)</a:t>
            </a:r>
            <a:r>
              <a:rPr lang="ko-KR" altLang="en-US" sz="1600" dirty="0"/>
              <a:t>과 핵융합 </a:t>
            </a:r>
            <a:r>
              <a:rPr lang="en-US" altLang="ko-KR" sz="1600" dirty="0"/>
              <a:t>(nuclear fusion)</a:t>
            </a:r>
            <a:r>
              <a:rPr lang="ko-KR" altLang="en-US" sz="1600" dirty="0"/>
              <a:t>을 통해 이루어진다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핵분열은 우라늄</a:t>
            </a:r>
            <a:r>
              <a:rPr lang="en-US" altLang="ko-KR" sz="1600" dirty="0"/>
              <a:t>-235</a:t>
            </a:r>
            <a:r>
              <a:rPr lang="ko-KR" altLang="en-US" sz="1600" dirty="0"/>
              <a:t>나 플루토늄</a:t>
            </a:r>
            <a:r>
              <a:rPr lang="en-US" altLang="ko-KR" sz="1600" dirty="0"/>
              <a:t>-239</a:t>
            </a:r>
            <a:r>
              <a:rPr lang="ko-KR" altLang="en-US" sz="1600" dirty="0"/>
              <a:t>와 같은 무거운 원자핵이 중성자의 충격을 받아 두 개의 가벼운 핵분열 생성물로 분리되면서 에너지를 방출하는 과정이다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예를 들어</a:t>
            </a:r>
            <a:r>
              <a:rPr lang="en-US" altLang="ko-KR" sz="1600" dirty="0"/>
              <a:t>, </a:t>
            </a:r>
            <a:r>
              <a:rPr lang="ko-KR" altLang="en-US" sz="1600" dirty="0"/>
              <a:t>우라늄</a:t>
            </a:r>
            <a:r>
              <a:rPr lang="en-US" altLang="ko-KR" sz="1600" dirty="0"/>
              <a:t>-235 </a:t>
            </a:r>
            <a:r>
              <a:rPr lang="ko-KR" altLang="en-US" sz="1600" dirty="0"/>
              <a:t>핵이 중성자를 흡수하면 불안정해지고</a:t>
            </a:r>
            <a:r>
              <a:rPr lang="en-US" altLang="ko-KR" sz="1600" dirty="0"/>
              <a:t>, </a:t>
            </a:r>
            <a:r>
              <a:rPr lang="ko-KR" altLang="en-US" sz="1600" dirty="0"/>
              <a:t>크립톤</a:t>
            </a:r>
            <a:r>
              <a:rPr lang="en-US" altLang="ko-KR" sz="1600" dirty="0"/>
              <a:t>(Kr)</a:t>
            </a:r>
            <a:r>
              <a:rPr lang="ko-KR" altLang="en-US" sz="1600" dirty="0"/>
              <a:t>과 바륨</a:t>
            </a:r>
            <a:r>
              <a:rPr lang="en-US" altLang="ko-KR" sz="1600" dirty="0"/>
              <a:t>(Ba) </a:t>
            </a:r>
            <a:r>
              <a:rPr lang="ko-KR" altLang="en-US" sz="1600" dirty="0"/>
              <a:t>등의 분열 생성물로 나뉘며</a:t>
            </a:r>
            <a:r>
              <a:rPr lang="en-US" altLang="ko-KR" sz="1600" dirty="0"/>
              <a:t>, </a:t>
            </a:r>
            <a:r>
              <a:rPr lang="ko-KR" altLang="en-US" sz="1600" dirty="0"/>
              <a:t>이 과정에서 여분의 중성자와 약 </a:t>
            </a:r>
            <a:r>
              <a:rPr lang="en-US" altLang="ko-KR" sz="1600" dirty="0"/>
              <a:t>200MeV(</a:t>
            </a:r>
            <a:r>
              <a:rPr lang="ko-KR" altLang="en-US" sz="1600" dirty="0"/>
              <a:t>메가전자볼트</a:t>
            </a:r>
            <a:r>
              <a:rPr lang="en-US" altLang="ko-KR" sz="1600" dirty="0"/>
              <a:t>)</a:t>
            </a:r>
            <a:r>
              <a:rPr lang="ko-KR" altLang="en-US" sz="1600" dirty="0"/>
              <a:t>의 에너지가 방출된다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방출된 중성자는 다른 우라늄 핵의 분열을 유도하여 연쇄반응을 일으키며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원자로 운영의 기초가 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연쇄반응은 제어봉과 냉각재 시스템 등을 통해 안정적으로 조절되며</a:t>
            </a:r>
            <a:r>
              <a:rPr lang="en-US" altLang="ko-KR" sz="1600" dirty="0"/>
              <a:t>, </a:t>
            </a:r>
            <a:r>
              <a:rPr lang="ko-KR" altLang="en-US" sz="1600" dirty="0"/>
              <a:t>전력 생산에 활용된다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핵융합은 두 개의 가벼운 원자핵이 결합하여 더 무거운 원자핵을 형성하면서 에너지를 방출하는 과정이다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에너지 생산을 위한 일반적인 핵융합 반응은 중수소</a:t>
            </a:r>
            <a:r>
              <a:rPr lang="en-US" altLang="ko-KR" sz="1600" dirty="0"/>
              <a:t>(</a:t>
            </a:r>
            <a:r>
              <a:rPr lang="en-US" altLang="ko-KR" sz="1600" baseline="30000" dirty="0"/>
              <a:t>2</a:t>
            </a:r>
            <a:r>
              <a:rPr lang="en-US" altLang="ko-KR" sz="1600" dirty="0"/>
              <a:t>H)</a:t>
            </a:r>
            <a:r>
              <a:rPr lang="ko-KR" altLang="en-US" sz="1600" dirty="0"/>
              <a:t>와 삼중수소</a:t>
            </a:r>
            <a:r>
              <a:rPr lang="en-US" altLang="ko-KR" sz="1600" dirty="0"/>
              <a:t>(</a:t>
            </a:r>
            <a:r>
              <a:rPr lang="en-US" altLang="ko-KR" sz="1600" baseline="30000" dirty="0"/>
              <a:t>3</a:t>
            </a:r>
            <a:r>
              <a:rPr lang="en-US" altLang="ko-KR" sz="1600" dirty="0"/>
              <a:t>H)</a:t>
            </a:r>
            <a:r>
              <a:rPr lang="ko-KR" altLang="en-US" sz="1600" dirty="0"/>
              <a:t>의 결합으로</a:t>
            </a:r>
            <a:r>
              <a:rPr lang="en-US" altLang="ko-KR" sz="1600" dirty="0"/>
              <a:t>, </a:t>
            </a:r>
            <a:r>
              <a:rPr lang="ko-KR" altLang="en-US" sz="1600" dirty="0"/>
              <a:t>이들이</a:t>
            </a:r>
            <a:r>
              <a:rPr lang="en-US" altLang="ko-KR" sz="1600" dirty="0"/>
              <a:t> </a:t>
            </a:r>
            <a:r>
              <a:rPr lang="ko-KR" altLang="en-US" sz="1600" dirty="0"/>
              <a:t>충분한 운동 에너지를 가지고 충돌하면 헬륨핵과 중성자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약 </a:t>
            </a:r>
            <a:r>
              <a:rPr lang="en-US" altLang="ko-KR" sz="1600" dirty="0"/>
              <a:t>17.6MeV</a:t>
            </a:r>
            <a:r>
              <a:rPr lang="ko-KR" altLang="en-US" sz="1600" dirty="0"/>
              <a:t>의 에너지가 방출된다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태양 혹은 별의 중심에서 자연스럽게 발생하며</a:t>
            </a:r>
            <a:r>
              <a:rPr lang="en-US" altLang="ko-KR" sz="1600" dirty="0"/>
              <a:t>, </a:t>
            </a:r>
            <a:r>
              <a:rPr lang="ko-KR" altLang="en-US" sz="1600" dirty="0"/>
              <a:t>거대한 압력과 수천만 도의 고온 환경이 원자핵 간의 전자기적 반발력을 극복하게 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459759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22167-4DBB-0C24-39A7-33EF261F4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C6805E-6387-73BB-4155-79B6F7262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핵분열과 핵융합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C7542D-BCF5-3E19-F9A1-4AD34B3F9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1D96D5-84FD-1FB7-6036-C6C1866A7B5F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지구상에서 핵융합 조건을 인공적으로 재현하기 위해서는 고온 플라즈마 상태를 유지하고</a:t>
            </a:r>
            <a:r>
              <a:rPr lang="en-US" altLang="ko-KR" sz="1600" dirty="0"/>
              <a:t>, </a:t>
            </a:r>
            <a:r>
              <a:rPr lang="ko-KR" altLang="en-US" sz="1600" dirty="0"/>
              <a:t>핵융합 반응이 지속될 수 있도록 자기 가둠 방식이나 관성 가둠 방식이 활용된다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그러나 이러한 기술은 아직 상업화 단계에 도달하지 못했으며</a:t>
            </a:r>
            <a:r>
              <a:rPr lang="en-US" altLang="ko-KR" sz="1600" dirty="0"/>
              <a:t>, </a:t>
            </a:r>
            <a:r>
              <a:rPr lang="ko-KR" altLang="en-US" sz="1600" dirty="0"/>
              <a:t>핵융합은 여전히 미래 기술로 평가받고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핵 융합은 이론적으로 거의 무제한의 청정에너지 공급원이 될 수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탄소 배출이 없고</a:t>
            </a:r>
            <a:r>
              <a:rPr lang="en-US" altLang="ko-KR" sz="1600" dirty="0"/>
              <a:t>, </a:t>
            </a:r>
            <a:r>
              <a:rPr lang="ko-KR" altLang="en-US" sz="1600" dirty="0"/>
              <a:t>방사성 폐기물이 상대적으로 적다는 점에서 환경적 장점이 크다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한편</a:t>
            </a:r>
            <a:r>
              <a:rPr lang="en-US" altLang="ko-KR" sz="1600" dirty="0"/>
              <a:t>, </a:t>
            </a:r>
            <a:r>
              <a:rPr lang="ko-KR" altLang="en-US" sz="1600" dirty="0"/>
              <a:t>핵분열은 이미 전 세계적으로 널리 상용화되어 원자력 발전소의 기반이 되고 있지만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고준위</a:t>
            </a:r>
            <a:r>
              <a:rPr lang="ko-KR" altLang="en-US" sz="1600" dirty="0"/>
              <a:t> 방사성 폐기물 처리 문제</a:t>
            </a:r>
            <a:r>
              <a:rPr lang="en-US" altLang="ko-KR" sz="1600" dirty="0"/>
              <a:t>, </a:t>
            </a:r>
            <a:r>
              <a:rPr lang="ko-KR" altLang="en-US" sz="1600" dirty="0"/>
              <a:t>사고 위험성</a:t>
            </a:r>
            <a:r>
              <a:rPr lang="en-US" altLang="ko-KR" sz="1600" dirty="0"/>
              <a:t>, </a:t>
            </a:r>
            <a:r>
              <a:rPr lang="ko-KR" altLang="en-US" sz="1600" dirty="0"/>
              <a:t>높은 초기 자본 비용 등 여러 도전에 직면해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결론적으로</a:t>
            </a:r>
            <a:r>
              <a:rPr lang="en-US" altLang="ko-KR" sz="1600" dirty="0"/>
              <a:t>, </a:t>
            </a:r>
            <a:r>
              <a:rPr lang="ko-KR" altLang="en-US" sz="1600" dirty="0"/>
              <a:t>핵분열은 현재의 실용적 에너지원</a:t>
            </a:r>
            <a:r>
              <a:rPr lang="en-US" altLang="ko-KR" sz="1600" dirty="0"/>
              <a:t>, </a:t>
            </a:r>
            <a:r>
              <a:rPr lang="ko-KR" altLang="en-US" sz="1600" dirty="0"/>
              <a:t>핵융합은 장기적인 미래 에너지원으로 각각 고유한 역할과 과제를 가지고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763010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34D94-48E5-C0D1-ADA6-B14F01511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115B31-6339-3A95-492B-9FF99A568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우라늄 및 플루토늄 연료 주기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360BB6-A27F-0FAF-9439-0C90BDA41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9788B5-9316-D2A0-0862-8768D36391B1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우라늄과 플루토늄의 연료 주기는 핵연료 주기의 핵심 구성 요소로</a:t>
            </a:r>
            <a:r>
              <a:rPr lang="en-US" altLang="ko-KR" sz="1600" dirty="0"/>
              <a:t>, </a:t>
            </a:r>
            <a:r>
              <a:rPr lang="ko-KR" altLang="en-US" sz="1600" dirty="0"/>
              <a:t>핵연료의 생산</a:t>
            </a:r>
            <a:r>
              <a:rPr lang="en-US" altLang="ko-KR" sz="1600" dirty="0"/>
              <a:t>, </a:t>
            </a:r>
            <a:r>
              <a:rPr lang="ko-KR" altLang="en-US" sz="1600" dirty="0"/>
              <a:t>원자로 내 사용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사용후</a:t>
            </a:r>
            <a:r>
              <a:rPr lang="ko-KR" altLang="en-US" sz="1600" dirty="0"/>
              <a:t> 연료의 저장 및 재처리 또는 폐기까지 일련의 과정을 포함한다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주기는 자원 활용 효율성과 방사성 폐기물의 관리</a:t>
            </a:r>
            <a:r>
              <a:rPr lang="en-US" altLang="ko-KR" sz="1600" dirty="0"/>
              <a:t>, </a:t>
            </a:r>
            <a:r>
              <a:rPr lang="ko-KR" altLang="en-US" sz="1600" dirty="0"/>
              <a:t>핵확산 리스크 등 다양한 에너지</a:t>
            </a:r>
            <a:r>
              <a:rPr lang="en-US" altLang="ko-KR" sz="1600" dirty="0"/>
              <a:t>·</a:t>
            </a:r>
            <a:r>
              <a:rPr lang="ko-KR" altLang="en-US" sz="1600" dirty="0"/>
              <a:t>환경 이슈와 직결된다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우라늄 연료 주기는 일반적으로 우라늄광석의 채굴과 제련으로 시작한다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과정에서 생성된 </a:t>
            </a:r>
            <a:r>
              <a:rPr lang="ko-KR" altLang="en-US" sz="1600" dirty="0" err="1"/>
              <a:t>옐로우케이크</a:t>
            </a:r>
            <a:r>
              <a:rPr lang="en-US" altLang="ko-KR" sz="1600" dirty="0"/>
              <a:t>(U</a:t>
            </a:r>
            <a:r>
              <a:rPr lang="en-US" altLang="ko-KR" sz="1600" baseline="-25000" dirty="0"/>
              <a:t>3</a:t>
            </a:r>
            <a:r>
              <a:rPr lang="en-US" altLang="ko-KR" sz="1600" dirty="0"/>
              <a:t>O</a:t>
            </a:r>
            <a:r>
              <a:rPr lang="en-US" altLang="ko-KR" sz="1600" baseline="-25000" dirty="0"/>
              <a:t>8</a:t>
            </a:r>
            <a:r>
              <a:rPr lang="en-US" altLang="ko-KR" sz="1600" dirty="0"/>
              <a:t>)</a:t>
            </a:r>
            <a:r>
              <a:rPr lang="ko-KR" altLang="en-US" sz="1600" dirty="0"/>
              <a:t>는</a:t>
            </a:r>
            <a:r>
              <a:rPr lang="en-US" altLang="ko-KR" sz="1600" dirty="0"/>
              <a:t> </a:t>
            </a:r>
            <a:r>
              <a:rPr lang="ko-KR" altLang="en-US" sz="1600" dirty="0"/>
              <a:t>정제 및 화학변환 과정을 거쳐 </a:t>
            </a:r>
            <a:r>
              <a:rPr lang="ko-KR" altLang="en-US" sz="1600" dirty="0" err="1"/>
              <a:t>육불화우라늄</a:t>
            </a:r>
            <a:r>
              <a:rPr lang="en-US" altLang="ko-KR" sz="1600" dirty="0"/>
              <a:t>(UF</a:t>
            </a:r>
            <a:r>
              <a:rPr lang="en-US" altLang="ko-KR" sz="1600" baseline="-25000" dirty="0"/>
              <a:t>6</a:t>
            </a:r>
            <a:r>
              <a:rPr lang="en-US" altLang="ko-KR" sz="1600" dirty="0"/>
              <a:t>) </a:t>
            </a:r>
            <a:r>
              <a:rPr lang="ko-KR" altLang="en-US" sz="1600" dirty="0"/>
              <a:t>형태로 전환된다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이후 이 기체는 </a:t>
            </a:r>
            <a:r>
              <a:rPr lang="ko-KR" altLang="en-US" sz="1600" dirty="0" err="1"/>
              <a:t>가스원심분리법</a:t>
            </a:r>
            <a:r>
              <a:rPr lang="ko-KR" altLang="en-US" sz="1600" dirty="0"/>
              <a:t> 등을 통해 자연 상태의 </a:t>
            </a:r>
            <a:r>
              <a:rPr lang="en-US" altLang="ko-KR" sz="1600" dirty="0"/>
              <a:t>0.7% </a:t>
            </a:r>
            <a:r>
              <a:rPr lang="ko-KR" altLang="en-US" sz="1600" dirty="0"/>
              <a:t>우라늄</a:t>
            </a:r>
            <a:r>
              <a:rPr lang="en-US" altLang="ko-KR" sz="1600" dirty="0"/>
              <a:t>-235</a:t>
            </a:r>
            <a:r>
              <a:rPr lang="ko-KR" altLang="en-US" sz="1600" dirty="0"/>
              <a:t>를 </a:t>
            </a:r>
            <a:r>
              <a:rPr lang="en-US" altLang="ko-KR" sz="1600" dirty="0"/>
              <a:t>3~5%</a:t>
            </a:r>
            <a:r>
              <a:rPr lang="ko-KR" altLang="en-US" sz="1600" dirty="0"/>
              <a:t>로 농축하는 공정을 거친다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농축된 </a:t>
            </a:r>
            <a:r>
              <a:rPr lang="en-US" altLang="ko-KR" sz="1600" dirty="0"/>
              <a:t>UF</a:t>
            </a:r>
            <a:r>
              <a:rPr lang="en-US" altLang="ko-KR" sz="1600" baseline="-25000" dirty="0"/>
              <a:t>6</a:t>
            </a:r>
            <a:r>
              <a:rPr lang="ko-KR" altLang="en-US" sz="1600" dirty="0"/>
              <a:t>는 다시 고체 이산화우라늄 분말로 전환되어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고온에서</a:t>
            </a:r>
            <a:r>
              <a:rPr lang="ko-KR" altLang="en-US" sz="1600" dirty="0"/>
              <a:t> 소결된 연료 </a:t>
            </a:r>
            <a:r>
              <a:rPr lang="ko-KR" altLang="en-US" sz="1600" dirty="0" err="1"/>
              <a:t>펠릿으로</a:t>
            </a:r>
            <a:r>
              <a:rPr lang="ko-KR" altLang="en-US" sz="1600" dirty="0"/>
              <a:t> 가공되며</a:t>
            </a:r>
            <a:r>
              <a:rPr lang="en-US" altLang="ko-KR" sz="1600" dirty="0"/>
              <a:t>, </a:t>
            </a:r>
            <a:r>
              <a:rPr lang="ko-KR" altLang="en-US" sz="1600" dirty="0"/>
              <a:t>이들은 지르코늄 합금관에 충전되어 연료봉을 구성하고</a:t>
            </a:r>
            <a:r>
              <a:rPr lang="en-US" altLang="ko-KR" sz="1600" dirty="0"/>
              <a:t>, </a:t>
            </a:r>
            <a:r>
              <a:rPr lang="ko-KR" altLang="en-US" sz="1600" dirty="0"/>
              <a:t>다수의 연료봉이 집합체로 조립되어 원자로에 장전된다</a:t>
            </a:r>
            <a:r>
              <a:rPr lang="en-US" altLang="ko-KR" sz="160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원자로에서 가동 중</a:t>
            </a:r>
            <a:r>
              <a:rPr lang="en-US" altLang="ko-KR" sz="1600" dirty="0"/>
              <a:t>, </a:t>
            </a:r>
            <a:r>
              <a:rPr lang="ko-KR" altLang="en-US" sz="1600" dirty="0"/>
              <a:t>우라늄</a:t>
            </a:r>
            <a:r>
              <a:rPr lang="en-US" altLang="ko-KR" sz="1600" dirty="0"/>
              <a:t>235 </a:t>
            </a:r>
            <a:r>
              <a:rPr lang="ko-KR" altLang="en-US" sz="1600" dirty="0"/>
              <a:t>원자핵은 핵분열을 통해 에너지를 방출하며 전력 생산에 기여한다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연료가 점차 소모되면서 핵분열성 물질의 농도가 감소하고</a:t>
            </a:r>
            <a:r>
              <a:rPr lang="en-US" altLang="ko-KR" sz="1600" dirty="0"/>
              <a:t>, </a:t>
            </a:r>
            <a:r>
              <a:rPr lang="ko-KR" altLang="en-US" sz="1600" dirty="0"/>
              <a:t>방사성 핵분열 생성물이 축적되어 연료 효율성이 저하되므로</a:t>
            </a:r>
            <a:r>
              <a:rPr lang="en-US" altLang="ko-KR" sz="1600" dirty="0"/>
              <a:t>, </a:t>
            </a:r>
            <a:r>
              <a:rPr lang="ko-KR" altLang="en-US" sz="1600" dirty="0"/>
              <a:t>일정 주기 마다 연료를 교체해야 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이때 원자로로부터 인출된 </a:t>
            </a:r>
            <a:r>
              <a:rPr lang="en-US" altLang="ko-KR" sz="1600" dirty="0"/>
              <a:t>‘</a:t>
            </a:r>
            <a:r>
              <a:rPr lang="ko-KR" altLang="en-US" sz="1600" dirty="0" err="1"/>
              <a:t>사용후</a:t>
            </a:r>
            <a:r>
              <a:rPr lang="ko-KR" altLang="en-US" sz="1600" dirty="0"/>
              <a:t> 연료</a:t>
            </a:r>
            <a:r>
              <a:rPr lang="en-US" altLang="ko-KR" sz="1600" dirty="0"/>
              <a:t>’</a:t>
            </a:r>
            <a:r>
              <a:rPr lang="ko-KR" altLang="en-US" sz="1600" dirty="0"/>
              <a:t>는 여전히 상당한 우라늄</a:t>
            </a:r>
            <a:r>
              <a:rPr lang="en-US" altLang="ko-KR" sz="1600" dirty="0"/>
              <a:t>, </a:t>
            </a:r>
            <a:r>
              <a:rPr lang="ko-KR" altLang="en-US" sz="1600" dirty="0"/>
              <a:t>플루토늄</a:t>
            </a:r>
            <a:r>
              <a:rPr lang="en-US" altLang="ko-KR" sz="1600" dirty="0"/>
              <a:t>, </a:t>
            </a:r>
            <a:r>
              <a:rPr lang="ko-KR" altLang="en-US" sz="1600" dirty="0"/>
              <a:t>핵분열 생성물을 포함하고 있어 재처리 되거나 최종 처분을 위해 저장된다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90931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A95F6-84B4-EB60-C997-008A07C38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B3CC85-F61D-EE00-4318-D5BD3385F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우라늄 및 플루토늄 연료 주기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808A21-66EC-F34E-B916-4E79D0C59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B46B67-2614-C32D-0383-7F3808BE8B51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플루토늄 연료주기는 우라늄 주기와 밀접하게 연계된다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원자로 내부에서 우라늄</a:t>
            </a:r>
            <a:r>
              <a:rPr lang="en-US" altLang="ko-KR" sz="1600" dirty="0"/>
              <a:t>-238</a:t>
            </a:r>
            <a:r>
              <a:rPr lang="ko-KR" altLang="en-US" sz="1600" dirty="0"/>
              <a:t>이 중성자를 흡수하면 일련의 핵변환 과정을 거쳐 플루토늄</a:t>
            </a:r>
            <a:r>
              <a:rPr lang="en-US" altLang="ko-KR" sz="1600" dirty="0"/>
              <a:t>-239</a:t>
            </a:r>
            <a:r>
              <a:rPr lang="ko-KR" altLang="en-US" sz="1600" dirty="0"/>
              <a:t>로 전환된다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100" dirty="0"/>
              <a:t>플라토늄</a:t>
            </a:r>
            <a:r>
              <a:rPr lang="en-US" altLang="ko-KR" sz="1600" spc="-100" dirty="0"/>
              <a:t>-239</a:t>
            </a:r>
            <a:r>
              <a:rPr lang="ko-KR" altLang="en-US" sz="1600" spc="-100" dirty="0"/>
              <a:t>는 고에너지 핵분열이 가능한 연료로</a:t>
            </a:r>
            <a:r>
              <a:rPr lang="en-US" altLang="ko-KR" sz="1600" spc="-100" dirty="0"/>
              <a:t>, </a:t>
            </a:r>
            <a:r>
              <a:rPr lang="ko-KR" altLang="en-US" sz="1600" spc="-100" dirty="0"/>
              <a:t>재처리를 통해 회수되면 혼합산화물 연료로 재활용할 수 있다</a:t>
            </a:r>
            <a:r>
              <a:rPr lang="en-US" altLang="ko-KR" sz="1600" spc="-1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혼합산화물 연료는 우라늄과 플루토늄 산화물을 혼합한 형태로</a:t>
            </a:r>
            <a:r>
              <a:rPr lang="en-US" altLang="ko-KR" sz="1600" dirty="0"/>
              <a:t>, </a:t>
            </a:r>
            <a:r>
              <a:rPr lang="ko-KR" altLang="en-US" sz="1600" dirty="0"/>
              <a:t>일부 경수로 및 고속증식로에서 사용이 가능하며</a:t>
            </a:r>
            <a:r>
              <a:rPr lang="en-US" altLang="ko-KR" sz="1600" dirty="0"/>
              <a:t>, </a:t>
            </a:r>
            <a:r>
              <a:rPr lang="ko-KR" altLang="en-US" sz="1600" dirty="0"/>
              <a:t>플루토늄의 재활용을 통해 </a:t>
            </a:r>
            <a:r>
              <a:rPr lang="ko-KR" altLang="en-US" sz="1600" dirty="0" err="1"/>
              <a:t>고준위</a:t>
            </a:r>
            <a:r>
              <a:rPr lang="ko-KR" altLang="en-US" sz="1600" dirty="0"/>
              <a:t> 폐기물의 양을 줄이는 효과를 가진다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재처리</a:t>
            </a:r>
            <a:r>
              <a:rPr lang="en-US" altLang="ko-KR" sz="1600" dirty="0"/>
              <a:t> </a:t>
            </a:r>
            <a:r>
              <a:rPr lang="ko-KR" altLang="en-US" sz="1600" dirty="0"/>
              <a:t>과정은</a:t>
            </a:r>
            <a:r>
              <a:rPr lang="en-US" altLang="ko-KR" sz="1600" dirty="0"/>
              <a:t> </a:t>
            </a:r>
            <a:r>
              <a:rPr lang="ko-KR" altLang="en-US" sz="1600" dirty="0"/>
              <a:t>화학적 분리와 정제</a:t>
            </a:r>
            <a:r>
              <a:rPr lang="en-US" altLang="ko-KR" sz="1600" dirty="0"/>
              <a:t>, </a:t>
            </a:r>
            <a:r>
              <a:rPr lang="ko-KR" altLang="en-US" sz="1600" dirty="0"/>
              <a:t>연료 </a:t>
            </a:r>
            <a:r>
              <a:rPr lang="ko-KR" altLang="en-US" sz="1600" dirty="0" err="1"/>
              <a:t>재제조</a:t>
            </a:r>
            <a:r>
              <a:rPr lang="ko-KR" altLang="en-US" sz="1600" dirty="0"/>
              <a:t> 공정을 포함하며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사용후</a:t>
            </a:r>
            <a:r>
              <a:rPr lang="ko-KR" altLang="en-US" sz="1600" dirty="0"/>
              <a:t> 연료에 포함된 플루토늄과 우라늄의 회수율을 높임으로써 자원 효율성을 증진시킨다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과정은 기술적으로 복잡하고</a:t>
            </a:r>
            <a:r>
              <a:rPr lang="en-US" altLang="ko-KR" sz="1600" dirty="0"/>
              <a:t>, </a:t>
            </a:r>
            <a:r>
              <a:rPr lang="ko-KR" altLang="en-US" sz="1600" dirty="0"/>
              <a:t>핵무기 전용이 가능한 고순도 플루토늄의 획득 가능성이 있어 </a:t>
            </a:r>
            <a:r>
              <a:rPr lang="ko-KR" altLang="en-US" sz="1600" dirty="0" err="1"/>
              <a:t>핵비확산의</a:t>
            </a:r>
            <a:r>
              <a:rPr lang="ko-KR" altLang="en-US" sz="1600" dirty="0"/>
              <a:t> 관점에서 국제적인 감시와 규제가 요구된다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마지막으로</a:t>
            </a:r>
            <a:r>
              <a:rPr lang="en-US" altLang="ko-KR" sz="1600" dirty="0"/>
              <a:t>, </a:t>
            </a:r>
            <a:r>
              <a:rPr lang="ko-KR" altLang="en-US" sz="1600" dirty="0"/>
              <a:t>연료 주기에서 발생하는 방사성 폐기물</a:t>
            </a:r>
            <a:r>
              <a:rPr lang="en-US" altLang="ko-KR" sz="1600" dirty="0"/>
              <a:t>, </a:t>
            </a:r>
            <a:r>
              <a:rPr lang="ko-KR" altLang="en-US" sz="1600" dirty="0"/>
              <a:t>특히 </a:t>
            </a:r>
            <a:r>
              <a:rPr lang="ko-KR" altLang="en-US" sz="1600" dirty="0" err="1"/>
              <a:t>사용후</a:t>
            </a:r>
            <a:r>
              <a:rPr lang="ko-KR" altLang="en-US" sz="1600" dirty="0"/>
              <a:t> 연료와 재처리 잔여물로 구성된 </a:t>
            </a:r>
            <a:r>
              <a:rPr lang="ko-KR" altLang="en-US" sz="1600" dirty="0" err="1"/>
              <a:t>고준위</a:t>
            </a:r>
            <a:r>
              <a:rPr lang="ko-KR" altLang="en-US" sz="1600" dirty="0"/>
              <a:t> 폐기물의 처리는 가장 심각한 기술적</a:t>
            </a:r>
            <a:r>
              <a:rPr lang="en-US" altLang="ko-KR" sz="1600" dirty="0"/>
              <a:t>·</a:t>
            </a:r>
            <a:r>
              <a:rPr lang="ko-KR" altLang="en-US" sz="1600" dirty="0"/>
              <a:t>사회적 도전 중 하나로 남아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이들 폐기물은 수천 년 이상 높은 방사능을 유지하기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지질학적 처분과 같은 장기적이고 안전한 관리 전략이 필수적이다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942031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F30E4-7B32-9E60-3042-3DC4E03A1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25B2DF-CB27-26E7-AC1A-D25498AE0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원자로의 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6BC120-B690-9038-7525-6DE009FBB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9C1AF5-D123-5225-E5E1-15ACBF507FE9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원자로는 지속적인 핵분열 연쇄반응을 유지하고 통제하기 위해 설계된 복잡한 시스템으로</a:t>
            </a:r>
            <a:r>
              <a:rPr lang="en-US" altLang="ko-KR" sz="1600" dirty="0"/>
              <a:t>, </a:t>
            </a:r>
            <a:r>
              <a:rPr lang="ko-KR" altLang="en-US" sz="1600" dirty="0"/>
              <a:t>핵반응에서 생성되는 열에너지를 이용하여 전력을 생산한다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일반적인 원자로는 노심</a:t>
            </a:r>
            <a:r>
              <a:rPr lang="en-US" altLang="ko-KR" sz="1600" dirty="0"/>
              <a:t>, </a:t>
            </a:r>
            <a:r>
              <a:rPr lang="ko-KR" altLang="en-US" sz="1600" dirty="0"/>
              <a:t>제어봉</a:t>
            </a:r>
            <a:r>
              <a:rPr lang="en-US" altLang="ko-KR" sz="1600" dirty="0"/>
              <a:t>, </a:t>
            </a:r>
            <a:r>
              <a:rPr lang="ko-KR" altLang="en-US" sz="1600" dirty="0"/>
              <a:t>냉각시스템</a:t>
            </a:r>
            <a:r>
              <a:rPr lang="en-US" altLang="ko-KR" sz="1600" dirty="0"/>
              <a:t>, </a:t>
            </a:r>
            <a:r>
              <a:rPr lang="ko-KR" altLang="en-US" sz="1600" dirty="0"/>
              <a:t>압력용기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격납구조</a:t>
            </a:r>
            <a:r>
              <a:rPr lang="ko-KR" altLang="en-US" sz="1600" dirty="0"/>
              <a:t> 등 주요 구성요소로 이루어져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노심은 원자로의 핵심 부위로서 핵분열 반응이 일어나는 곳이며</a:t>
            </a:r>
            <a:r>
              <a:rPr lang="en-US" altLang="ko-KR" sz="1600" dirty="0"/>
              <a:t>, </a:t>
            </a:r>
            <a:r>
              <a:rPr lang="ko-KR" altLang="en-US" sz="1600" dirty="0"/>
              <a:t>다수의 연료봉이 집합체 형태로 배열되어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연료봉은 보통 이산화우라늄 또는 혼합산화물 연료로 채워진 연료 </a:t>
            </a:r>
            <a:r>
              <a:rPr lang="ko-KR" altLang="en-US" sz="1600" dirty="0" err="1"/>
              <a:t>펠릿으로</a:t>
            </a:r>
            <a:r>
              <a:rPr lang="ko-KR" altLang="en-US" sz="1600" dirty="0"/>
              <a:t> 구성되며</a:t>
            </a:r>
            <a:r>
              <a:rPr lang="en-US" altLang="ko-KR" sz="1600" dirty="0"/>
              <a:t>, </a:t>
            </a:r>
            <a:r>
              <a:rPr lang="ko-KR" altLang="en-US" sz="1600" dirty="0"/>
              <a:t>이 </a:t>
            </a:r>
            <a:r>
              <a:rPr lang="ko-KR" altLang="en-US" sz="1600" dirty="0" err="1"/>
              <a:t>펠릿은</a:t>
            </a:r>
            <a:r>
              <a:rPr lang="ko-KR" altLang="en-US" sz="1600" dirty="0"/>
              <a:t> 고체 상태의 원통형 덩어리로 </a:t>
            </a:r>
            <a:r>
              <a:rPr lang="ko-KR" altLang="en-US" sz="1600" dirty="0" err="1"/>
              <a:t>고온에서</a:t>
            </a:r>
            <a:r>
              <a:rPr lang="ko-KR" altLang="en-US" sz="1600" dirty="0"/>
              <a:t> 소결되어 제작된다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혼합산화물 연료는 우라늄 산화물을 혼합한 형태로 일부 원자로에서 </a:t>
            </a:r>
            <a:r>
              <a:rPr lang="ko-KR" altLang="en-US" sz="1600" dirty="0" err="1"/>
              <a:t>재처리된</a:t>
            </a:r>
            <a:r>
              <a:rPr lang="ko-KR" altLang="en-US" sz="1600" dirty="0"/>
              <a:t> 연료로 사용된다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노심 내에는 중성자 감속재인 물이나 흑연 등이 함께 채워져 있어</a:t>
            </a:r>
            <a:r>
              <a:rPr lang="en-US" altLang="ko-KR" sz="1600" dirty="0"/>
              <a:t>, </a:t>
            </a:r>
            <a:r>
              <a:rPr lang="ko-KR" altLang="en-US" sz="1600" dirty="0"/>
              <a:t>빠른 중성자를 </a:t>
            </a:r>
            <a:r>
              <a:rPr lang="ko-KR" altLang="en-US" sz="1600" dirty="0" err="1"/>
              <a:t>감속시켜</a:t>
            </a:r>
            <a:r>
              <a:rPr lang="ko-KR" altLang="en-US" sz="1600" dirty="0"/>
              <a:t> 핵분열의 확률을 증가시킨다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제어봉은 붕소</a:t>
            </a:r>
            <a:r>
              <a:rPr lang="en-US" altLang="ko-KR" sz="1600" dirty="0"/>
              <a:t>, </a:t>
            </a:r>
            <a:r>
              <a:rPr lang="ko-KR" altLang="en-US" sz="1600" dirty="0"/>
              <a:t>카드뮴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해플로이</a:t>
            </a:r>
            <a:r>
              <a:rPr lang="ko-KR" altLang="en-US" sz="1600" dirty="0"/>
              <a:t> 등 중성자를 잘 흡수하는 물질로 제작되며</a:t>
            </a:r>
            <a:r>
              <a:rPr lang="en-US" altLang="ko-KR" sz="1600" dirty="0"/>
              <a:t>, </a:t>
            </a:r>
            <a:r>
              <a:rPr lang="ko-KR" altLang="en-US" sz="1600" dirty="0"/>
              <a:t>원자로의 연쇄반응을 조절하기 위해 노심에 삽입되거나 제거된다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제어봉이 삽입되면 중성자의 수가 감소하여 반응이 억제되고</a:t>
            </a:r>
            <a:r>
              <a:rPr lang="en-US" altLang="ko-KR" sz="1600" dirty="0"/>
              <a:t>, </a:t>
            </a:r>
            <a:r>
              <a:rPr lang="ko-KR" altLang="en-US" sz="1600" dirty="0"/>
              <a:t>제거되면 반응이 다시 활성화된다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긴급정지 상황에서는 제어봉을 즉시 완전 삽입함으로써 원자로 출력을 빠르게 정지시킬 수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55899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C8B62-6868-A2E8-D90B-10C3D2FF1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08722E-F8CB-54B4-B3E4-712DA12A8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원자로의 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BCE9EF-1A30-0C82-1B51-63B1779FA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2E4163-ADF6-5FE5-53C7-9C54D5178651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냉각시스템은 핵분열로부터 발생한 열을 제거하고 이를 발전에 활용할 수 있도록 전달하는 역할을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대부분의 상용 원자로는 물을 냉각제로 사용하며</a:t>
            </a:r>
            <a:r>
              <a:rPr lang="en-US" altLang="ko-KR" sz="1600" dirty="0"/>
              <a:t>, </a:t>
            </a:r>
            <a:r>
              <a:rPr lang="ko-KR" altLang="en-US" sz="1600" dirty="0"/>
              <a:t>경우에 따라 액체 금속</a:t>
            </a:r>
            <a:r>
              <a:rPr lang="en-US" altLang="ko-KR" sz="1600" dirty="0"/>
              <a:t>(ex.</a:t>
            </a:r>
            <a:r>
              <a:rPr lang="ko-KR" altLang="en-US" sz="1600" dirty="0"/>
              <a:t>나트륨</a:t>
            </a:r>
            <a:r>
              <a:rPr lang="en-US" altLang="ko-KR" sz="1600" dirty="0"/>
              <a:t>)</a:t>
            </a:r>
            <a:r>
              <a:rPr lang="ko-KR" altLang="en-US" sz="1600" dirty="0"/>
              <a:t>이나 가스</a:t>
            </a:r>
            <a:r>
              <a:rPr lang="en-US" altLang="ko-KR" sz="1600" dirty="0"/>
              <a:t>(ex.</a:t>
            </a:r>
            <a:r>
              <a:rPr lang="ko-KR" altLang="en-US" sz="1600" dirty="0"/>
              <a:t>이산화탄소</a:t>
            </a:r>
            <a:r>
              <a:rPr lang="en-US" altLang="ko-KR" sz="1600" dirty="0"/>
              <a:t>)</a:t>
            </a:r>
            <a:r>
              <a:rPr lang="ko-KR" altLang="en-US" sz="1600" dirty="0"/>
              <a:t>를 사용하는 </a:t>
            </a:r>
            <a:r>
              <a:rPr lang="ko-KR" altLang="en-US" sz="1600" dirty="0" err="1"/>
              <a:t>고속로도</a:t>
            </a:r>
            <a:r>
              <a:rPr lang="ko-KR" altLang="en-US" sz="1600" dirty="0"/>
              <a:t> 존재한다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가압경수로의 경우</a:t>
            </a:r>
            <a:r>
              <a:rPr lang="en-US" altLang="ko-KR" sz="1600" dirty="0"/>
              <a:t>, </a:t>
            </a:r>
            <a:r>
              <a:rPr lang="ko-KR" altLang="en-US" sz="1600" dirty="0"/>
              <a:t>냉각수가 고압 상태에서 끓지 않도록 유지되며</a:t>
            </a:r>
            <a:r>
              <a:rPr lang="en-US" altLang="ko-KR" sz="1600" dirty="0"/>
              <a:t>, </a:t>
            </a:r>
            <a:r>
              <a:rPr lang="ko-KR" altLang="en-US" sz="1600" dirty="0"/>
              <a:t>열은 열교환기를 통해 </a:t>
            </a:r>
            <a:r>
              <a:rPr lang="en-US" altLang="ko-KR" sz="1600" dirty="0"/>
              <a:t>2</a:t>
            </a:r>
            <a:r>
              <a:rPr lang="ko-KR" altLang="en-US" sz="1600" dirty="0"/>
              <a:t>차 계통으로 전달되어 증기를 생성하고 터빈을 </a:t>
            </a:r>
            <a:r>
              <a:rPr lang="ko-KR" altLang="en-US" sz="1600" dirty="0" err="1"/>
              <a:t>구동시켜</a:t>
            </a:r>
            <a:r>
              <a:rPr lang="ko-KR" altLang="en-US" sz="1600" dirty="0"/>
              <a:t> 전력을 생산한다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압력용기는 두꺼운 강철로 제작된 구조물로</a:t>
            </a:r>
            <a:r>
              <a:rPr lang="en-US" altLang="ko-KR" sz="1600" dirty="0"/>
              <a:t>, </a:t>
            </a:r>
            <a:r>
              <a:rPr lang="ko-KR" altLang="en-US" sz="1600" dirty="0"/>
              <a:t>노심과 냉각제를 내부에 보관하고</a:t>
            </a:r>
            <a:r>
              <a:rPr lang="en-US" altLang="ko-KR" sz="1600" dirty="0"/>
              <a:t>, </a:t>
            </a:r>
            <a:r>
              <a:rPr lang="ko-KR" altLang="en-US" sz="1600" dirty="0"/>
              <a:t>고온</a:t>
            </a:r>
            <a:r>
              <a:rPr lang="en-US" altLang="ko-KR" sz="1600" dirty="0"/>
              <a:t>·</a:t>
            </a:r>
            <a:r>
              <a:rPr lang="ko-KR" altLang="en-US" sz="1600" dirty="0"/>
              <a:t>고압 상태를 견딜 수 있도록 설계되어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용기는 방사성 물질이 외부로 누출되지 않도록 </a:t>
            </a:r>
            <a:r>
              <a:rPr lang="en-US" altLang="ko-KR" sz="1600" dirty="0"/>
              <a:t>1</a:t>
            </a:r>
            <a:r>
              <a:rPr lang="ko-KR" altLang="en-US" sz="1600" dirty="0"/>
              <a:t>차적인 방호벽 역할을 수행한다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격납구조는</a:t>
            </a:r>
            <a:r>
              <a:rPr lang="ko-KR" altLang="en-US" sz="1600" dirty="0"/>
              <a:t> 원자로에서 사고나 이상 상황이 발생할 경우</a:t>
            </a:r>
            <a:r>
              <a:rPr lang="en-US" altLang="ko-KR" sz="1600" dirty="0"/>
              <a:t>, </a:t>
            </a:r>
            <a:r>
              <a:rPr lang="ko-KR" altLang="en-US" sz="1600" dirty="0"/>
              <a:t>방사성 물질이 외부로 방출되지 않도록 하기 위한 최종 방호 장치이다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일반적으로 고강도 콘크리트와 강철로 구성되며</a:t>
            </a:r>
            <a:r>
              <a:rPr lang="en-US" altLang="ko-KR" sz="1600" dirty="0"/>
              <a:t>, </a:t>
            </a:r>
            <a:r>
              <a:rPr lang="ko-KR" altLang="en-US" sz="1600" dirty="0"/>
              <a:t>지진</a:t>
            </a:r>
            <a:r>
              <a:rPr lang="en-US" altLang="ko-KR" sz="1600" dirty="0"/>
              <a:t>, </a:t>
            </a:r>
            <a:r>
              <a:rPr lang="ko-KR" altLang="en-US" sz="1600" dirty="0"/>
              <a:t>폭발 등의 외부 충격을 견딜 수 있도록 설계된다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다단계 방어 체계의 일환으로</a:t>
            </a:r>
            <a:r>
              <a:rPr lang="en-US" altLang="ko-KR" sz="1600" dirty="0"/>
              <a:t>, </a:t>
            </a:r>
            <a:r>
              <a:rPr lang="ko-KR" altLang="en-US" sz="1600" dirty="0"/>
              <a:t>원자로와 주변 환경의 안전을 확보하는 핵심 요소로 작용한다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519555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1ACC5-82EC-33DF-E910-933393C3F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303A85-4B30-3B89-D569-091760226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원자로의 기본 작동 원리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CDC3EA-8B93-49BF-9EE6-43150880F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6B5994-FFE7-7947-8174-1A790FFBE9AB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원자로의 작동 원리는 핵분열을 통해 생성된 열에너지를 이용하여 전력을 생산하는 데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그 핵심은 통제된 연쇄반응을 안정적으로 유지하는 것이다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원자로의 중심부인 노심에는 핵분열성 물질인 우라늄</a:t>
            </a:r>
            <a:r>
              <a:rPr lang="en-US" altLang="ko-KR" sz="1600" dirty="0"/>
              <a:t>-235 </a:t>
            </a:r>
            <a:r>
              <a:rPr lang="ko-KR" altLang="en-US" sz="1600" dirty="0"/>
              <a:t>또는 플루토늄</a:t>
            </a:r>
            <a:r>
              <a:rPr lang="en-US" altLang="ko-KR" sz="1600" dirty="0"/>
              <a:t>-239</a:t>
            </a:r>
            <a:r>
              <a:rPr lang="ko-KR" altLang="en-US" sz="1600" dirty="0"/>
              <a:t>가 </a:t>
            </a:r>
            <a:r>
              <a:rPr lang="ko-KR" altLang="en-US" sz="1600" dirty="0" err="1"/>
              <a:t>연료봉</a:t>
            </a:r>
            <a:r>
              <a:rPr lang="ko-KR" altLang="en-US" sz="1600" dirty="0"/>
              <a:t> 형태로 배열되어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노심에서 중성자가 이러한 핵분열성 원자핵에 충돌하면</a:t>
            </a:r>
            <a:r>
              <a:rPr lang="en-US" altLang="ko-KR" sz="1600" dirty="0"/>
              <a:t>, </a:t>
            </a:r>
            <a:r>
              <a:rPr lang="ko-KR" altLang="en-US" sz="1600" dirty="0"/>
              <a:t>원자핵은 둘 이상의 가벼운 핵종으로 분열하며</a:t>
            </a:r>
            <a:r>
              <a:rPr lang="en-US" altLang="ko-KR" sz="1600" dirty="0"/>
              <a:t>, </a:t>
            </a:r>
            <a:r>
              <a:rPr lang="ko-KR" altLang="en-US" sz="1600" dirty="0"/>
              <a:t>이 과정에서 다량의 열에너지와 함께 </a:t>
            </a:r>
            <a:r>
              <a:rPr lang="en-US" altLang="ko-KR" sz="1600" dirty="0"/>
              <a:t>2~3</a:t>
            </a:r>
            <a:r>
              <a:rPr lang="ko-KR" altLang="en-US" sz="1600" dirty="0"/>
              <a:t>개의 새로운 중성자가 추가로 방출된다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방출된 중성자들은 다시 주변의 다른 핵분열성 핵에 충돌함으로써 새로운 분열 반응을 유도하고</a:t>
            </a:r>
            <a:r>
              <a:rPr lang="en-US" altLang="ko-KR" sz="1600" dirty="0"/>
              <a:t>, </a:t>
            </a:r>
            <a:r>
              <a:rPr lang="ko-KR" altLang="en-US" sz="1600" dirty="0"/>
              <a:t>이러한 반복적인 반응이 자기 유지적 연쇄반응으로 이어진다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 과정에서 발생하는 열에너지는 원자로 내의 냉각제를 통해 흡수되며</a:t>
            </a:r>
            <a:r>
              <a:rPr lang="en-US" altLang="ko-KR" sz="1600" dirty="0"/>
              <a:t>, </a:t>
            </a:r>
            <a:r>
              <a:rPr lang="ko-KR" altLang="en-US" sz="1600" dirty="0"/>
              <a:t>일반적으로 경수</a:t>
            </a:r>
            <a:r>
              <a:rPr lang="en-US" altLang="ko-KR" sz="1600" dirty="0"/>
              <a:t>, </a:t>
            </a:r>
            <a:r>
              <a:rPr lang="ko-KR" altLang="en-US" sz="1600" dirty="0"/>
              <a:t>중수</a:t>
            </a:r>
            <a:r>
              <a:rPr lang="en-US" altLang="ko-KR" sz="1600" dirty="0"/>
              <a:t>, </a:t>
            </a:r>
            <a:r>
              <a:rPr lang="ko-KR" altLang="en-US" sz="1600" dirty="0"/>
              <a:t>또는 가압가스</a:t>
            </a:r>
            <a:r>
              <a:rPr lang="en-US" altLang="ko-KR" sz="1600" dirty="0"/>
              <a:t>, </a:t>
            </a:r>
            <a:r>
              <a:rPr lang="ko-KR" altLang="en-US" sz="1600" dirty="0"/>
              <a:t>액체금속 등이 사용된다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냉각제는 핵분열로 발생한 열을 열교환기로 전달하고</a:t>
            </a:r>
            <a:r>
              <a:rPr lang="en-US" altLang="ko-KR" sz="1600" dirty="0"/>
              <a:t>, </a:t>
            </a:r>
            <a:r>
              <a:rPr lang="ko-KR" altLang="en-US" sz="1600" dirty="0"/>
              <a:t>여기에서 물이 고온</a:t>
            </a:r>
            <a:r>
              <a:rPr lang="en-US" altLang="ko-KR" sz="1600" dirty="0"/>
              <a:t>·</a:t>
            </a:r>
            <a:r>
              <a:rPr lang="ko-KR" altLang="en-US" sz="1600" dirty="0"/>
              <a:t>고압의 증기로 변환된다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증기는 터빈을 회전시키며</a:t>
            </a:r>
            <a:r>
              <a:rPr lang="en-US" altLang="ko-KR" sz="1600" dirty="0"/>
              <a:t>, </a:t>
            </a:r>
            <a:r>
              <a:rPr lang="ko-KR" altLang="en-US" sz="1600" dirty="0"/>
              <a:t>터빈의 회전력은 다시 발전기로 전달되어 전기가 생산된다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일련의 과정은 전통적인 열기관과 유사하지만</a:t>
            </a:r>
            <a:r>
              <a:rPr lang="en-US" altLang="ko-KR" sz="1600" dirty="0"/>
              <a:t>, </a:t>
            </a:r>
            <a:r>
              <a:rPr lang="ko-KR" altLang="en-US" sz="1600" dirty="0"/>
              <a:t>열원이 화석연료가 아닌 핵분열 반응이라는 점에서 본질적인 차이를 가진다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70137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1BB1E-E636-B444-29B8-AAFB26CED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97D906-15AC-697F-8755-FE736E685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원자로의 기본 작동 원리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E711FF-CAC3-CA34-1FB7-62A66EBD4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122B1A-DD1E-46C4-BDA6-0EBD55770042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연쇄반응의 속도와 원자로의 열 출력은 제어봉을 통해 정밀하게 조절된다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제어봉은 붕소</a:t>
            </a:r>
            <a:r>
              <a:rPr lang="en-US" altLang="ko-KR" sz="1600" dirty="0"/>
              <a:t>, </a:t>
            </a:r>
            <a:r>
              <a:rPr lang="ko-KR" altLang="en-US" sz="1600" dirty="0"/>
              <a:t>카드뮴</a:t>
            </a:r>
            <a:r>
              <a:rPr lang="en-US" altLang="ko-KR" sz="1600" dirty="0"/>
              <a:t>, </a:t>
            </a:r>
            <a:r>
              <a:rPr lang="ko-KR" altLang="en-US" sz="1600" dirty="0"/>
              <a:t>하프늄 등 중성자를 흡수하는 물질로 구성되어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노심 내에 삽입되는 깊이를 조절함으로써 노심 내 중성자의 밀도를 조절한다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제어봉이 깊게 삽입되면 중성자의 수가 감소하여 연쇄반응이 억제되며</a:t>
            </a:r>
            <a:r>
              <a:rPr lang="en-US" altLang="ko-KR" sz="1600" dirty="0"/>
              <a:t>, </a:t>
            </a:r>
            <a:r>
              <a:rPr lang="ko-KR" altLang="en-US" sz="1600" dirty="0"/>
              <a:t>반대로 제어봉이 인출되면 연쇄반응이 강화되어 출력이 증가한다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이로써 원자로는 필요한 수준의 열 출력을 안정적으로 유지할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냉각제의 유량</a:t>
            </a:r>
            <a:r>
              <a:rPr lang="en-US" altLang="ko-KR" sz="1600" dirty="0"/>
              <a:t>, </a:t>
            </a:r>
            <a:r>
              <a:rPr lang="ko-KR" altLang="en-US" sz="1600" dirty="0"/>
              <a:t>압력</a:t>
            </a:r>
            <a:r>
              <a:rPr lang="en-US" altLang="ko-KR" sz="1600" dirty="0"/>
              <a:t>, </a:t>
            </a:r>
            <a:r>
              <a:rPr lang="ko-KR" altLang="en-US" sz="1600" dirty="0"/>
              <a:t>온도 등의 조절 역시 원자로 출력제어의 주요 수단으로 작용한다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운영 중 원자로는 수많은 자동화된 계측 및 감시 시스템에 의해 지속적으로 상태가 점검된다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주요 감시 항목에는 노심 온도</a:t>
            </a:r>
            <a:r>
              <a:rPr lang="en-US" altLang="ko-KR" sz="1600" dirty="0"/>
              <a:t>, </a:t>
            </a:r>
            <a:r>
              <a:rPr lang="ko-KR" altLang="en-US" sz="1600" dirty="0"/>
              <a:t>중성자 속도</a:t>
            </a:r>
            <a:r>
              <a:rPr lang="en-US" altLang="ko-KR" sz="1600" dirty="0"/>
              <a:t>, </a:t>
            </a:r>
            <a:r>
              <a:rPr lang="ko-KR" altLang="en-US" sz="1600" dirty="0"/>
              <a:t>압력</a:t>
            </a:r>
            <a:r>
              <a:rPr lang="en-US" altLang="ko-KR" sz="1600" dirty="0"/>
              <a:t>, </a:t>
            </a:r>
            <a:r>
              <a:rPr lang="ko-KR" altLang="en-US" sz="1600" dirty="0"/>
              <a:t>방사선 수준 등이 포함되며</a:t>
            </a:r>
            <a:r>
              <a:rPr lang="en-US" altLang="ko-KR" sz="1600" dirty="0"/>
              <a:t>, </a:t>
            </a:r>
            <a:r>
              <a:rPr lang="ko-KR" altLang="en-US" sz="1600" dirty="0"/>
              <a:t>이러한 데이터는 실시간으로 제어실에 전달되어 운영자 또는 자동제어장치에 의해 판단된다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만약 노심 내 이상 열 상승</a:t>
            </a:r>
            <a:r>
              <a:rPr lang="en-US" altLang="ko-KR" sz="1600" dirty="0"/>
              <a:t>, </a:t>
            </a:r>
            <a:r>
              <a:rPr lang="ko-KR" altLang="en-US" sz="1600" dirty="0"/>
              <a:t>냉각제 유출</a:t>
            </a:r>
            <a:r>
              <a:rPr lang="en-US" altLang="ko-KR" sz="1600" dirty="0"/>
              <a:t>, </a:t>
            </a:r>
            <a:r>
              <a:rPr lang="ko-KR" altLang="en-US" sz="1600" dirty="0"/>
              <a:t>중성자 밀도 급증 등 비정상적인 작동 조건이 감지되면</a:t>
            </a:r>
            <a:r>
              <a:rPr lang="en-US" altLang="ko-KR" sz="1600" dirty="0"/>
              <a:t>, </a:t>
            </a:r>
            <a:r>
              <a:rPr lang="ko-KR" altLang="en-US" sz="1600" dirty="0"/>
              <a:t>제어봉이 자동으로 전면 삽입되어 연쇄반응이 즉각 중단되고</a:t>
            </a:r>
            <a:r>
              <a:rPr lang="en-US" altLang="ko-KR" sz="1600" dirty="0"/>
              <a:t>, </a:t>
            </a:r>
            <a:r>
              <a:rPr lang="ko-KR" altLang="en-US" sz="1600" dirty="0"/>
              <a:t>원자로는 정지 상태로 전환된다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자동정지 시스템은 원자로 안전의 핵심 중 하나로</a:t>
            </a:r>
            <a:r>
              <a:rPr lang="en-US" altLang="ko-KR" sz="1600" dirty="0"/>
              <a:t>, </a:t>
            </a:r>
            <a:r>
              <a:rPr lang="ko-KR" altLang="en-US" sz="1600" dirty="0"/>
              <a:t>사고 예방뿐 아니라 인명 보호와 환경 재해를 방지하는 데 필수적인 장치이다</a:t>
            </a:r>
            <a:r>
              <a:rPr lang="en-US" altLang="ko-KR" sz="1600"/>
              <a:t>.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5574519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A0CD2-2BA3-AB6B-4B23-9473F793C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B68D24-A976-5587-D218-695800F71C0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68EF60-17CB-9AAB-F4CB-67B95339B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F7DF958-C831-D8BF-194E-D18FCFE80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4. </a:t>
            </a:r>
            <a:r>
              <a:rPr lang="ko-KR" altLang="en-US" sz="4000" b="1" i="0" spc="150" dirty="0"/>
              <a:t>원자력 발전소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1364065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2233F-B1D3-C97F-9CD8-73104D337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268716-BB84-E8F1-6881-9896AEFDC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원자로 유형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43D0AB-00DA-0612-4A66-EB6F7E947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464B4F-C690-A738-BBD0-804DB2D29EA4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발전소는 전력생산을 위해 핵분열로 생성된 에너지를 활용하기 위해 설계된 매우 복잡한 설비다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여러 종류의 원자로</a:t>
            </a:r>
            <a:r>
              <a:rPr lang="en-US" altLang="ko-KR" sz="1600" dirty="0"/>
              <a:t>, </a:t>
            </a:r>
            <a:r>
              <a:rPr lang="ko-KR" altLang="en-US" sz="1600" dirty="0"/>
              <a:t>발전소의 설계와 건설</a:t>
            </a:r>
            <a:r>
              <a:rPr lang="en-US" altLang="ko-KR" sz="1600" dirty="0"/>
              <a:t>, </a:t>
            </a:r>
            <a:r>
              <a:rPr lang="ko-KR" altLang="en-US" sz="1600" dirty="0"/>
              <a:t>운영 보수 등 주요한 핵심 구성요소와 과정을 포함한다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원자로는 설계 구조</a:t>
            </a:r>
            <a:r>
              <a:rPr lang="en-US" altLang="ko-KR" sz="1600" dirty="0"/>
              <a:t>, </a:t>
            </a:r>
            <a:r>
              <a:rPr lang="ko-KR" altLang="en-US" sz="1600" dirty="0"/>
              <a:t>연료 형태</a:t>
            </a:r>
            <a:r>
              <a:rPr lang="en-US" altLang="ko-KR" sz="1600" dirty="0"/>
              <a:t>, </a:t>
            </a:r>
            <a:r>
              <a:rPr lang="ko-KR" altLang="en-US" sz="1600" dirty="0"/>
              <a:t>감속재와 냉각재의 종류</a:t>
            </a:r>
            <a:r>
              <a:rPr lang="en-US" altLang="ko-KR" sz="1600" dirty="0"/>
              <a:t>, </a:t>
            </a:r>
            <a:r>
              <a:rPr lang="ko-KR" altLang="en-US" sz="1600" dirty="0"/>
              <a:t>연료 교체 방식</a:t>
            </a:r>
            <a:r>
              <a:rPr lang="en-US" altLang="ko-KR" sz="1600" dirty="0"/>
              <a:t>, </a:t>
            </a:r>
            <a:r>
              <a:rPr lang="ko-KR" altLang="en-US" sz="1600" dirty="0"/>
              <a:t>중성자 활용 방식 등에 따라 여러 유형으로 구분되며</a:t>
            </a:r>
            <a:r>
              <a:rPr lang="en-US" altLang="ko-KR" sz="1600" dirty="0"/>
              <a:t>, </a:t>
            </a:r>
            <a:r>
              <a:rPr lang="ko-KR" altLang="en-US" sz="1600" dirty="0"/>
              <a:t>각 원자로는 기술적 선택에 따라 특정한 운전 특성</a:t>
            </a:r>
            <a:r>
              <a:rPr lang="en-US" altLang="ko-KR" sz="1600" dirty="0"/>
              <a:t>, </a:t>
            </a:r>
            <a:r>
              <a:rPr lang="ko-KR" altLang="en-US" sz="1600" dirty="0"/>
              <a:t>효율성</a:t>
            </a:r>
            <a:r>
              <a:rPr lang="en-US" altLang="ko-KR" sz="1600" dirty="0"/>
              <a:t>, </a:t>
            </a:r>
            <a:r>
              <a:rPr lang="ko-KR" altLang="en-US" sz="1600" dirty="0"/>
              <a:t>안정성</a:t>
            </a:r>
            <a:r>
              <a:rPr lang="en-US" altLang="ko-KR" sz="1600" dirty="0"/>
              <a:t>, </a:t>
            </a:r>
            <a:r>
              <a:rPr lang="ko-KR" altLang="en-US" sz="1600" dirty="0"/>
              <a:t>경제성을 지닌다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현재 상용화된 원자로는 대부분 </a:t>
            </a:r>
            <a:r>
              <a:rPr lang="ko-KR" altLang="en-US" sz="1600" dirty="0" err="1"/>
              <a:t>경수로형이지만</a:t>
            </a:r>
            <a:r>
              <a:rPr lang="en-US" altLang="ko-KR" sz="1600" dirty="0"/>
              <a:t>, </a:t>
            </a:r>
            <a:r>
              <a:rPr lang="ko-KR" altLang="en-US" sz="1600" dirty="0"/>
              <a:t>국가별 전략과 기술력에 따라 중수로</a:t>
            </a:r>
            <a:r>
              <a:rPr lang="en-US" altLang="ko-KR" sz="1600" dirty="0"/>
              <a:t>, </a:t>
            </a:r>
            <a:r>
              <a:rPr lang="ko-KR" altLang="en-US" sz="1600" dirty="0"/>
              <a:t>가스냉각형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고속로</a:t>
            </a:r>
            <a:r>
              <a:rPr lang="ko-KR" altLang="en-US" sz="1600" dirty="0"/>
              <a:t> 등 다양한 설계가 존재한다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가장 널리 보급된 원자로 유형은 </a:t>
            </a:r>
            <a:r>
              <a:rPr lang="ko-KR" altLang="en-US" sz="1600" dirty="0" err="1"/>
              <a:t>가압수형</a:t>
            </a:r>
            <a:r>
              <a:rPr lang="ko-KR" altLang="en-US" sz="1600" dirty="0"/>
              <a:t> 원자로 </a:t>
            </a:r>
            <a:r>
              <a:rPr lang="en-US" altLang="ko-KR" sz="1600" dirty="0"/>
              <a:t>(Pressurized Water Reactor, PWR)</a:t>
            </a:r>
            <a:r>
              <a:rPr lang="ko-KR" altLang="en-US" sz="1600" dirty="0"/>
              <a:t>이며</a:t>
            </a:r>
            <a:r>
              <a:rPr lang="en-US" altLang="ko-KR" sz="1600" dirty="0"/>
              <a:t>, </a:t>
            </a:r>
            <a:r>
              <a:rPr lang="ko-KR" altLang="en-US" sz="1600" dirty="0"/>
              <a:t>전 세계 상업용 원자로의 약 </a:t>
            </a:r>
            <a:r>
              <a:rPr lang="en-US" altLang="ko-KR" sz="1600" dirty="0"/>
              <a:t>60% </a:t>
            </a:r>
            <a:r>
              <a:rPr lang="ko-KR" altLang="en-US" sz="1600" dirty="0"/>
              <a:t>이상이 이 방식에 기반한다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물</a:t>
            </a:r>
            <a:r>
              <a:rPr lang="en-US" altLang="ko-KR" sz="1600" dirty="0"/>
              <a:t>(</a:t>
            </a:r>
            <a:r>
              <a:rPr lang="ko-KR" altLang="en-US" sz="1600" dirty="0"/>
              <a:t>경수</a:t>
            </a:r>
            <a:r>
              <a:rPr lang="en-US" altLang="ko-KR" sz="1600" dirty="0"/>
              <a:t>, light water)</a:t>
            </a:r>
            <a:r>
              <a:rPr lang="ko-KR" altLang="en-US" sz="1600" dirty="0"/>
              <a:t>을 냉각재이자 감속재로 사용하며</a:t>
            </a:r>
            <a:r>
              <a:rPr lang="en-US" altLang="ko-KR" sz="1600" dirty="0"/>
              <a:t>, </a:t>
            </a:r>
            <a:r>
              <a:rPr lang="ko-KR" altLang="en-US" sz="1600" dirty="0"/>
              <a:t>냉각수가 노심 내에서 비등하지 않도록 </a:t>
            </a:r>
            <a:r>
              <a:rPr lang="en-US" altLang="ko-KR" sz="1600" dirty="0"/>
              <a:t>(</a:t>
            </a:r>
            <a:r>
              <a:rPr lang="ko-KR" altLang="en-US" sz="1600" dirty="0"/>
              <a:t>물이 끓지 않도록</a:t>
            </a:r>
            <a:r>
              <a:rPr lang="en-US" altLang="ko-KR" sz="1600" dirty="0"/>
              <a:t>)</a:t>
            </a:r>
            <a:r>
              <a:rPr lang="ko-KR" altLang="en-US" sz="1600" dirty="0"/>
              <a:t> 고압 상태</a:t>
            </a:r>
            <a:r>
              <a:rPr lang="en-US" altLang="ko-KR" sz="1600" dirty="0"/>
              <a:t> (</a:t>
            </a:r>
            <a:r>
              <a:rPr lang="ko-KR" altLang="en-US" sz="1600" dirty="0"/>
              <a:t>약 </a:t>
            </a:r>
            <a:r>
              <a:rPr lang="en-US" altLang="ko-KR" sz="1600" dirty="0"/>
              <a:t>150</a:t>
            </a:r>
            <a:r>
              <a:rPr lang="ko-KR" altLang="en-US" sz="1600" dirty="0"/>
              <a:t>기압</a:t>
            </a:r>
            <a:r>
              <a:rPr lang="en-US" altLang="ko-KR" sz="1600" dirty="0"/>
              <a:t>)</a:t>
            </a:r>
            <a:r>
              <a:rPr lang="ko-KR" altLang="en-US" sz="1600" dirty="0"/>
              <a:t>로 유지된다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핵분열 반응으로 발생한 열은 고압의 냉각수를 가열하고</a:t>
            </a:r>
            <a:r>
              <a:rPr lang="en-US" altLang="ko-KR" sz="1600" dirty="0"/>
              <a:t>, </a:t>
            </a:r>
            <a:r>
              <a:rPr lang="ko-KR" altLang="en-US" sz="1600" dirty="0"/>
              <a:t>이 열은 </a:t>
            </a:r>
            <a:r>
              <a:rPr lang="en-US" altLang="ko-KR" sz="1600" dirty="0"/>
              <a:t>2</a:t>
            </a:r>
            <a:r>
              <a:rPr lang="ko-KR" altLang="en-US" sz="1600" dirty="0"/>
              <a:t>차 계통의 증기발생기를 통해 별도의 증기 회로로 전달된다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이로써 </a:t>
            </a:r>
            <a:r>
              <a:rPr lang="en-US" altLang="ko-KR" sz="1600" dirty="0"/>
              <a:t>2</a:t>
            </a:r>
            <a:r>
              <a:rPr lang="ko-KR" altLang="en-US" sz="1600" dirty="0"/>
              <a:t>차 계통의 물이 증기로 변하여 터빈을 회전시키고</a:t>
            </a:r>
            <a:r>
              <a:rPr lang="en-US" altLang="ko-KR" sz="1600" dirty="0"/>
              <a:t>, </a:t>
            </a:r>
            <a:r>
              <a:rPr lang="ko-KR" altLang="en-US" sz="1600" dirty="0"/>
              <a:t>발전기를 통해 전력이 생산된다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노심과 터빈 계통이 물리적으로 분리되어 있어 방사선 관리가 용이하고</a:t>
            </a:r>
            <a:r>
              <a:rPr lang="en-US" altLang="ko-KR" sz="1600" dirty="0"/>
              <a:t>, </a:t>
            </a:r>
            <a:r>
              <a:rPr lang="ko-KR" altLang="en-US" sz="1600" dirty="0"/>
              <a:t>안정성이 높다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26020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713A2-393F-E88B-B0A2-09793D9CF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ACC7E3-CA1F-696D-9685-949DC1900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원자로 유형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376F46-70F9-FF87-7E26-9F54D6302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59E40B-AA33-493D-27A0-ED6A582A4EA3}"/>
              </a:ext>
            </a:extLst>
          </p:cNvPr>
          <p:cNvSpPr txBox="1"/>
          <p:nvPr/>
        </p:nvSpPr>
        <p:spPr>
          <a:xfrm>
            <a:off x="288790" y="958844"/>
            <a:ext cx="5950645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비등수형</a:t>
            </a:r>
            <a:r>
              <a:rPr lang="ko-KR" altLang="en-US" sz="1600" dirty="0"/>
              <a:t> 원자로</a:t>
            </a:r>
            <a:r>
              <a:rPr lang="en-US" altLang="ko-KR" sz="1600" dirty="0"/>
              <a:t>(Boiling Water Reactor, BWR) </a:t>
            </a:r>
            <a:r>
              <a:rPr lang="ko-KR" altLang="en-US" sz="1600" dirty="0"/>
              <a:t>역시 경수를 냉각재와 감소재로 사용하지만</a:t>
            </a:r>
            <a:r>
              <a:rPr lang="en-US" altLang="ko-KR" sz="1600" dirty="0"/>
              <a:t>, </a:t>
            </a:r>
            <a:r>
              <a:rPr lang="ko-KR" altLang="en-US" sz="1600" dirty="0"/>
              <a:t>냉각수가 노심에서 직접 비등하여</a:t>
            </a:r>
            <a:r>
              <a:rPr lang="en-US" altLang="ko-KR" sz="1600" dirty="0"/>
              <a:t>(</a:t>
            </a:r>
            <a:r>
              <a:rPr lang="ko-KR" altLang="en-US" sz="1600" dirty="0"/>
              <a:t>끓어</a:t>
            </a:r>
            <a:r>
              <a:rPr lang="en-US" altLang="ko-KR" sz="1600" dirty="0"/>
              <a:t>), </a:t>
            </a:r>
            <a:r>
              <a:rPr lang="ko-KR" altLang="en-US" sz="1600" dirty="0"/>
              <a:t>증기로 변환된다는 점에서 </a:t>
            </a:r>
            <a:r>
              <a:rPr lang="en-US" altLang="ko-KR" sz="1600" dirty="0"/>
              <a:t>PWR</a:t>
            </a:r>
            <a:r>
              <a:rPr lang="ko-KR" altLang="en-US" sz="1600" dirty="0"/>
              <a:t>과 구별된다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생성된 증기는 중간 열 교환기를 거치지 않고 곧바로 터빈으로 직접 공급되어 발전을 수행한다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이러한 구조는 열효율을 높이는 동시에 설계 단순화를 가능하게 하지만</a:t>
            </a:r>
            <a:r>
              <a:rPr lang="en-US" altLang="ko-KR" sz="1600" dirty="0"/>
              <a:t>, </a:t>
            </a:r>
            <a:r>
              <a:rPr lang="ko-KR" altLang="en-US" sz="1600" dirty="0"/>
              <a:t>노심에서 생성된 증기가 직접 터빈으로 유입되기 때문에 터빈 계통에도 방사성 물질이 포함될 가능성이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이에 따라 방사선 차폐 및 유지관리 기준이 상대적으로 엄격하다</a:t>
            </a:r>
            <a:r>
              <a:rPr lang="en-US" altLang="ko-KR" sz="160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7B96352-D774-C5DA-2D3E-DDEE1C15A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3324" y="260149"/>
            <a:ext cx="4192807" cy="64817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3EC377-8BA2-A45D-7694-4BD98EE24C11}"/>
              </a:ext>
            </a:extLst>
          </p:cNvPr>
          <p:cNvSpPr txBox="1"/>
          <p:nvPr/>
        </p:nvSpPr>
        <p:spPr>
          <a:xfrm>
            <a:off x="2174155" y="6350290"/>
            <a:ext cx="61352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http://www.kns.org:8116/index.php?mid=kns_board_02&amp;document_srl=270</a:t>
            </a:r>
          </a:p>
        </p:txBody>
      </p:sp>
    </p:spTree>
    <p:extLst>
      <p:ext uri="{BB962C8B-B14F-4D97-AF65-F5344CB8AC3E}">
        <p14:creationId xmlns:p14="http://schemas.microsoft.com/office/powerpoint/2010/main" val="28225246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67020-7DB5-736E-519E-593C08065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CF7CF9-8359-B3E7-6C84-E6BA000EC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발전소의 설계와 건설 과정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733FC6-9E73-E7B9-F92D-629F67054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1FDE57-A040-9601-DA62-8E9F0AA8CE6D}"/>
              </a:ext>
            </a:extLst>
          </p:cNvPr>
          <p:cNvSpPr txBox="1"/>
          <p:nvPr/>
        </p:nvSpPr>
        <p:spPr>
          <a:xfrm>
            <a:off x="288790" y="958844"/>
            <a:ext cx="11118453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발전소의 설계 및 건설은 일반적인 발전소에 비해 훨씬 더 장기적이고 복잡한 과정을 수반한다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평균 </a:t>
            </a:r>
            <a:r>
              <a:rPr lang="en-US" altLang="ko-KR" sz="1600" dirty="0"/>
              <a:t>10</a:t>
            </a:r>
            <a:r>
              <a:rPr lang="ko-KR" altLang="en-US" sz="1600" dirty="0"/>
              <a:t>년 이상의 시간</a:t>
            </a:r>
            <a:r>
              <a:rPr lang="en-US" altLang="ko-KR" sz="1600" dirty="0"/>
              <a:t>, </a:t>
            </a:r>
            <a:r>
              <a:rPr lang="ko-KR" altLang="en-US" sz="1600" dirty="0"/>
              <a:t>수십억 달러의 투자 자금</a:t>
            </a:r>
            <a:r>
              <a:rPr lang="en-US" altLang="ko-KR" sz="1600" dirty="0"/>
              <a:t>, </a:t>
            </a:r>
            <a:r>
              <a:rPr lang="ko-KR" altLang="en-US" sz="1600" dirty="0"/>
              <a:t>수많은 기술적</a:t>
            </a:r>
            <a:r>
              <a:rPr lang="en-US" altLang="ko-KR" sz="1600" dirty="0"/>
              <a:t>·</a:t>
            </a:r>
            <a:r>
              <a:rPr lang="ko-KR" altLang="en-US" sz="1600" dirty="0"/>
              <a:t>제도적 요건이 요구된다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방사선과 고온 고압 환경을 다루는 핵심 기반시설인 만큼</a:t>
            </a:r>
            <a:r>
              <a:rPr lang="en-US" altLang="ko-KR" sz="1600" dirty="0"/>
              <a:t>, </a:t>
            </a:r>
            <a:r>
              <a:rPr lang="ko-KR" altLang="en-US" sz="1600" dirty="0"/>
              <a:t>이 과정은 국가별 규제체계와 국제 안전 기준에 따라 철저히 관리되며</a:t>
            </a:r>
            <a:r>
              <a:rPr lang="en-US" altLang="ko-KR" sz="1600" dirty="0"/>
              <a:t>, </a:t>
            </a:r>
            <a:r>
              <a:rPr lang="ko-KR" altLang="en-US" sz="1600" dirty="0"/>
              <a:t>사회적 수용성과 정치적 안정성도 프로젝트의 성공에 결정적 영향을 미친다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가장 초기 단계인 부지 선정은 지질학적 안정성</a:t>
            </a:r>
            <a:r>
              <a:rPr lang="en-US" altLang="ko-KR" sz="1600" dirty="0"/>
              <a:t>, </a:t>
            </a:r>
            <a:r>
              <a:rPr lang="ko-KR" altLang="en-US" sz="1600" dirty="0"/>
              <a:t>인근 활성 단층의 유무</a:t>
            </a:r>
            <a:r>
              <a:rPr lang="en-US" altLang="ko-KR" sz="1600" dirty="0"/>
              <a:t>, </a:t>
            </a:r>
            <a:r>
              <a:rPr lang="ko-KR" altLang="en-US" sz="1600" dirty="0"/>
              <a:t>해수나 담수와 같은 냉각수원의 접근성</a:t>
            </a:r>
            <a:r>
              <a:rPr lang="en-US" altLang="ko-KR" sz="1600" dirty="0"/>
              <a:t>, </a:t>
            </a:r>
            <a:r>
              <a:rPr lang="ko-KR" altLang="en-US" sz="1600" dirty="0"/>
              <a:t>홍수</a:t>
            </a:r>
            <a:r>
              <a:rPr lang="en-US" altLang="ko-KR" sz="1600" dirty="0"/>
              <a:t>·</a:t>
            </a:r>
            <a:r>
              <a:rPr lang="ko-KR" altLang="en-US" sz="1600" dirty="0"/>
              <a:t>지진</a:t>
            </a:r>
            <a:r>
              <a:rPr lang="en-US" altLang="ko-KR" sz="1600" dirty="0"/>
              <a:t>·</a:t>
            </a:r>
            <a:r>
              <a:rPr lang="ko-KR" altLang="en-US" sz="1600" dirty="0"/>
              <a:t>해일</a:t>
            </a:r>
            <a:r>
              <a:rPr lang="en-US" altLang="ko-KR" sz="1600" dirty="0"/>
              <a:t> </a:t>
            </a:r>
            <a:r>
              <a:rPr lang="ko-KR" altLang="en-US" sz="1600" dirty="0"/>
              <a:t>등의 자연재해 위험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인구 밀집 지역과의 거리 등 복합적인 환경적</a:t>
            </a:r>
            <a:r>
              <a:rPr lang="en-US" altLang="ko-KR" sz="1600" dirty="0"/>
              <a:t>·</a:t>
            </a:r>
            <a:r>
              <a:rPr lang="ko-KR" altLang="en-US" sz="1600" dirty="0"/>
              <a:t>사회적 요인을 종합적으로 고려하여 결정하게 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부지 선정단계에서는 사전 환경영향평가</a:t>
            </a:r>
            <a:r>
              <a:rPr lang="en-US" altLang="ko-KR" sz="1600" dirty="0"/>
              <a:t>, </a:t>
            </a:r>
            <a:r>
              <a:rPr lang="ko-KR" altLang="en-US" sz="1600" dirty="0"/>
              <a:t>방사능 확산 모델링</a:t>
            </a:r>
            <a:r>
              <a:rPr lang="en-US" altLang="ko-KR" sz="1600" dirty="0"/>
              <a:t>, </a:t>
            </a:r>
            <a:r>
              <a:rPr lang="ko-KR" altLang="en-US" sz="1600" dirty="0"/>
              <a:t>비상대응계획 수립 가능성 등을 포함한다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국제원자력기구의 지침에 따르면</a:t>
            </a:r>
            <a:r>
              <a:rPr lang="en-US" altLang="ko-KR" sz="1600" dirty="0"/>
              <a:t>, </a:t>
            </a:r>
            <a:r>
              <a:rPr lang="ko-KR" altLang="en-US" sz="1600" dirty="0"/>
              <a:t>이러한 평가 과정은 기술적 타당성 뿐만 아니라 공공참여와 지역사회 의견 수렴 절차를 포함한다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87682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DA936-2B01-E8B3-0415-569695168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76DC7B-4C01-596C-B642-D3B854B60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발전소의 설계와 건설 과정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061744-BE55-86BE-78A8-8F5A8895B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49D114-CBDB-0D49-BD73-795E80033010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부지 승인이 완료되면 설계 및 엔지니어링 단계가 본격적으로 시작된다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과정에서는 원자로의 종류</a:t>
            </a:r>
            <a:r>
              <a:rPr lang="en-US" altLang="ko-KR" sz="1600" dirty="0"/>
              <a:t>(PWR, BWR </a:t>
            </a:r>
            <a:r>
              <a:rPr lang="ko-KR" altLang="en-US" sz="1600" dirty="0"/>
              <a:t>등</a:t>
            </a:r>
            <a:r>
              <a:rPr lang="en-US" altLang="ko-KR" sz="1600" dirty="0"/>
              <a:t>), </a:t>
            </a:r>
            <a:r>
              <a:rPr lang="ko-KR" altLang="en-US" sz="1600" dirty="0"/>
              <a:t>냉각 및 감속 시스템의 구성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격납건물의</a:t>
            </a:r>
            <a:r>
              <a:rPr lang="ko-KR" altLang="en-US" sz="1600" dirty="0"/>
              <a:t> 형태 등등 세부 공학설계가 이루어진다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설계는 국제원자력기구</a:t>
            </a:r>
            <a:r>
              <a:rPr lang="en-US" altLang="ko-KR" sz="1600" dirty="0"/>
              <a:t>(IAEA)</a:t>
            </a:r>
            <a:r>
              <a:rPr lang="ko-KR" altLang="en-US" sz="1600" dirty="0"/>
              <a:t>와 같은 국제 규범 및 국가별 안전 기준 </a:t>
            </a:r>
            <a:r>
              <a:rPr lang="en-US" altLang="ko-KR" sz="1600" dirty="0"/>
              <a:t>(</a:t>
            </a:r>
            <a:r>
              <a:rPr lang="ko-KR" altLang="en-US" sz="1600" dirty="0"/>
              <a:t>지진</a:t>
            </a:r>
            <a:r>
              <a:rPr lang="en-US" altLang="ko-KR" sz="1600" dirty="0"/>
              <a:t>, </a:t>
            </a:r>
            <a:r>
              <a:rPr lang="ko-KR" altLang="en-US" sz="1600" dirty="0"/>
              <a:t>항공기 충돌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내외부</a:t>
            </a:r>
            <a:r>
              <a:rPr lang="ko-KR" altLang="en-US" sz="1600" dirty="0"/>
              <a:t> 폭발</a:t>
            </a:r>
            <a:r>
              <a:rPr lang="en-US" altLang="ko-KR" sz="1600" dirty="0"/>
              <a:t>, </a:t>
            </a:r>
            <a:r>
              <a:rPr lang="ko-KR" altLang="en-US" sz="1600" dirty="0"/>
              <a:t>사이버 공격 등</a:t>
            </a:r>
            <a:r>
              <a:rPr lang="en-US" altLang="ko-KR" sz="1600" dirty="0"/>
              <a:t>)</a:t>
            </a:r>
            <a:r>
              <a:rPr lang="ko-KR" altLang="en-US" sz="1600" dirty="0"/>
              <a:t>에 부합해야 한다</a:t>
            </a:r>
            <a:r>
              <a:rPr lang="en-US" altLang="ko-KR" sz="160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이후 건설단계로 넘어가면</a:t>
            </a:r>
            <a:r>
              <a:rPr lang="en-US" altLang="ko-KR" sz="1600" dirty="0"/>
              <a:t>, </a:t>
            </a:r>
            <a:r>
              <a:rPr lang="ko-KR" altLang="en-US" sz="1600" dirty="0"/>
              <a:t>원자로 본체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격납건물</a:t>
            </a:r>
            <a:r>
              <a:rPr lang="en-US" altLang="ko-KR" sz="1600" dirty="0"/>
              <a:t>, </a:t>
            </a:r>
            <a:r>
              <a:rPr lang="ko-KR" altLang="en-US" sz="1600" dirty="0"/>
              <a:t>증기발생기</a:t>
            </a:r>
            <a:r>
              <a:rPr lang="en-US" altLang="ko-KR" sz="1600" dirty="0"/>
              <a:t>, </a:t>
            </a:r>
            <a:r>
              <a:rPr lang="ko-KR" altLang="en-US" sz="1600" dirty="0"/>
              <a:t>터빈계통</a:t>
            </a:r>
            <a:r>
              <a:rPr lang="en-US" altLang="ko-KR" sz="1600" dirty="0"/>
              <a:t>, </a:t>
            </a:r>
            <a:r>
              <a:rPr lang="ko-KR" altLang="en-US" sz="1600" dirty="0"/>
              <a:t>등등 대규모 기반시설의 시공이 진행된다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원자력 건설은 고도의 기술과 정밀성이 요구되는 동시에</a:t>
            </a:r>
            <a:r>
              <a:rPr lang="en-US" altLang="ko-KR" sz="1600" dirty="0"/>
              <a:t>, </a:t>
            </a:r>
            <a:r>
              <a:rPr lang="ko-KR" altLang="en-US" sz="1600" dirty="0"/>
              <a:t>작업자의 방사선 노출</a:t>
            </a:r>
            <a:r>
              <a:rPr lang="en-US" altLang="ko-KR" sz="1600" dirty="0"/>
              <a:t>, </a:t>
            </a:r>
            <a:r>
              <a:rPr lang="ko-KR" altLang="en-US" sz="1600" dirty="0"/>
              <a:t>고신뢰성 유지</a:t>
            </a:r>
            <a:r>
              <a:rPr lang="en-US" altLang="ko-KR" sz="1600" dirty="0"/>
              <a:t>, </a:t>
            </a:r>
            <a:r>
              <a:rPr lang="ko-KR" altLang="en-US" sz="1600" dirty="0"/>
              <a:t>공정 간 오차 허용범위 제한 등 엄격한 품질관리 요건을 수반한다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국가 규제기관의 단계별 승인과 검사를 통과해야 하고</a:t>
            </a:r>
            <a:r>
              <a:rPr lang="en-US" altLang="ko-KR" sz="1600" dirty="0"/>
              <a:t>, </a:t>
            </a:r>
            <a:r>
              <a:rPr lang="ko-KR" altLang="en-US" sz="1600" dirty="0"/>
              <a:t>오류 및 변경 시 즉각 보고 및 수정의무가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높은 규제 강도와 프로젝트 규모</a:t>
            </a:r>
            <a:r>
              <a:rPr lang="en-US" altLang="ko-KR" sz="1600" dirty="0"/>
              <a:t>, </a:t>
            </a:r>
            <a:r>
              <a:rPr lang="ko-KR" altLang="en-US" sz="1600" dirty="0"/>
              <a:t>다수의 이해관계자 조정 문제 등으로 인해 공사 기간의 지연이나 예산 초과는 매우 흔한 현상이며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원전 사업의 경제성을 저해하는 주요 리스크 중 하나로 꼽힌다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23939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FA87C-C901-C2CE-4DD1-3BFB6F88C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DFCA18-DF36-6BE2-F919-A4FA5026A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발전소의 설계와 건설 과정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C6E185-3013-BE36-AEF1-63DFDF0E4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1486C3-76BF-918B-40F6-BE6658F839AF}"/>
              </a:ext>
            </a:extLst>
          </p:cNvPr>
          <p:cNvSpPr txBox="1"/>
          <p:nvPr/>
        </p:nvSpPr>
        <p:spPr>
          <a:xfrm>
            <a:off x="288790" y="958844"/>
            <a:ext cx="11118453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건설이 완료된 후에는 원전의 안정성과 기능 적합성을 검증하기 위한 시운전 단계가 수행된다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단계에서는 원자로에 핵연료를 장전하기 전의 </a:t>
            </a:r>
            <a:r>
              <a:rPr lang="en-US" altLang="ko-KR" sz="1600" dirty="0"/>
              <a:t>‘</a:t>
            </a:r>
            <a:r>
              <a:rPr lang="ko-KR" altLang="en-US" sz="1600" dirty="0" err="1"/>
              <a:t>비핵시운전</a:t>
            </a:r>
            <a:r>
              <a:rPr lang="ko-KR" altLang="en-US" sz="1600" dirty="0"/>
              <a:t> </a:t>
            </a:r>
            <a:r>
              <a:rPr lang="en-US" altLang="ko-KR" sz="1600" dirty="0"/>
              <a:t>(non-nuclear testing)‘</a:t>
            </a:r>
            <a:r>
              <a:rPr lang="ko-KR" altLang="en-US" sz="1600" dirty="0"/>
              <a:t>과 연료 장전 후에 수행되는 </a:t>
            </a:r>
            <a:r>
              <a:rPr lang="en-US" altLang="ko-KR" sz="1600" dirty="0"/>
              <a:t>‘</a:t>
            </a:r>
            <a:r>
              <a:rPr lang="ko-KR" altLang="en-US" sz="1600" dirty="0" err="1"/>
              <a:t>핵시운전</a:t>
            </a:r>
            <a:r>
              <a:rPr lang="ko-KR" altLang="en-US" sz="1600" dirty="0"/>
              <a:t> </a:t>
            </a:r>
            <a:r>
              <a:rPr lang="en-US" altLang="ko-KR" sz="1600" dirty="0"/>
              <a:t>(nuclear testing)’</a:t>
            </a:r>
            <a:r>
              <a:rPr lang="ko-KR" altLang="en-US" sz="1600" dirty="0"/>
              <a:t>이 포함된다</a:t>
            </a:r>
            <a:r>
              <a:rPr lang="en-US" altLang="ko-KR" sz="160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주요 설비의 작동 여부</a:t>
            </a:r>
            <a:r>
              <a:rPr lang="en-US" altLang="ko-KR" sz="1600" dirty="0"/>
              <a:t>, </a:t>
            </a:r>
            <a:r>
              <a:rPr lang="ko-KR" altLang="en-US" sz="1600" dirty="0"/>
              <a:t>냉각계통과 계측제어 계통의 반응 특성</a:t>
            </a:r>
            <a:r>
              <a:rPr lang="en-US" altLang="ko-KR" sz="1600" dirty="0"/>
              <a:t>, </a:t>
            </a:r>
            <a:r>
              <a:rPr lang="ko-KR" altLang="en-US" sz="1600" dirty="0"/>
              <a:t>방호체계의 작동성을 시험하고</a:t>
            </a:r>
            <a:r>
              <a:rPr lang="en-US" altLang="ko-KR" sz="1600" dirty="0"/>
              <a:t>, </a:t>
            </a:r>
            <a:r>
              <a:rPr lang="ko-KR" altLang="en-US" sz="1600" dirty="0"/>
              <a:t>핵연료를 장전하고 연쇄반응을 개시하여 점진적으로 출력을 상승시킨다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모든 절차는 단계별 운전승인과 규제기관의 검사</a:t>
            </a:r>
            <a:r>
              <a:rPr lang="en-US" altLang="ko-KR" sz="1600" dirty="0"/>
              <a:t>·</a:t>
            </a:r>
            <a:r>
              <a:rPr lang="ko-KR" altLang="en-US" sz="1600" dirty="0"/>
              <a:t>감시 하에 이루어지며</a:t>
            </a:r>
            <a:r>
              <a:rPr lang="en-US" altLang="ko-KR" sz="1600" dirty="0"/>
              <a:t>, </a:t>
            </a:r>
            <a:r>
              <a:rPr lang="ko-KR" altLang="en-US" sz="1600" dirty="0"/>
              <a:t>문제가 발견되면 즉시 수정 또는 운전 중단 조치가 취해진다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43933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02E1A-F3A5-C096-49DE-26443780C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40430A-50F0-9CE9-D333-9D65F9840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발전소의 운영과 유지 보수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4A703E-58AA-CE0F-39FC-FC374E844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493C47-8DBF-CC7C-B958-7992CC8BF121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발전소의 운영은 고도의 기술적 정밀성과 안전성이 요구되는 복합적 과정으로</a:t>
            </a:r>
            <a:r>
              <a:rPr lang="en-US" altLang="ko-KR" sz="1600" dirty="0"/>
              <a:t>, </a:t>
            </a:r>
            <a:r>
              <a:rPr lang="ko-KR" altLang="en-US" sz="1600" dirty="0"/>
              <a:t>핵 연쇄 반응을 안정적으로 유지하면서도 지속적인 전력 공급을 보장해야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원자로 내에서의 연쇄 반응은 제어봉을 통해 중성자의 수를 조절함으로써 제어되고</a:t>
            </a:r>
            <a:r>
              <a:rPr lang="en-US" altLang="ko-KR" sz="1600" dirty="0"/>
              <a:t>, </a:t>
            </a:r>
            <a:r>
              <a:rPr lang="ko-KR" altLang="en-US" sz="1600" dirty="0"/>
              <a:t>이를 통해 핵분열 속도와 출력을 안정적으로 유지한다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제어봉은 붕소 또는 카드뮴과 같이 중성자를 흡수하는 물질로 만들어지며</a:t>
            </a:r>
            <a:r>
              <a:rPr lang="en-US" altLang="ko-KR" sz="1600" dirty="0"/>
              <a:t>, </a:t>
            </a:r>
            <a:r>
              <a:rPr lang="ko-KR" altLang="en-US" sz="1600" dirty="0"/>
              <a:t>원자로 출력 </a:t>
            </a:r>
            <a:r>
              <a:rPr lang="ko-KR" altLang="en-US" sz="1600" dirty="0" err="1"/>
              <a:t>조절뿐만</a:t>
            </a:r>
            <a:r>
              <a:rPr lang="ko-KR" altLang="en-US" sz="1600" dirty="0"/>
              <a:t> 아니라 비상시 자동 정지 기능에도 활용된다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발전소의 전반적인 운영은 제어실에서 수행되며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냉각계</a:t>
            </a:r>
            <a:r>
              <a:rPr lang="en-US" altLang="ko-KR" sz="1600" dirty="0"/>
              <a:t>, </a:t>
            </a:r>
            <a:r>
              <a:rPr lang="ko-KR" altLang="en-US" sz="1600" dirty="0"/>
              <a:t>터빈계통</a:t>
            </a:r>
            <a:r>
              <a:rPr lang="en-US" altLang="ko-KR" sz="1600" dirty="0"/>
              <a:t>, </a:t>
            </a:r>
            <a:r>
              <a:rPr lang="ko-KR" altLang="en-US" sz="1600" dirty="0"/>
              <a:t>전기 계통</a:t>
            </a:r>
            <a:r>
              <a:rPr lang="en-US" altLang="ko-KR" sz="1600" dirty="0"/>
              <a:t>, </a:t>
            </a:r>
            <a:r>
              <a:rPr lang="ko-KR" altLang="en-US" sz="1600" dirty="0"/>
              <a:t>압력 및 온도 상태 등을 포함한 주요 설비의 작동 상황이 실시간으로 감시된다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운영자는 이상 징후를 조기에 감지하고</a:t>
            </a:r>
            <a:r>
              <a:rPr lang="en-US" altLang="ko-KR" sz="1600" dirty="0"/>
              <a:t>, </a:t>
            </a:r>
            <a:r>
              <a:rPr lang="ko-KR" altLang="en-US" sz="1600" dirty="0"/>
              <a:t>즉각적인 조치를 취할 수 있도록 정밀한 감시 시스템과 자동화된 계측장비를 활용한다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방사선 관리와 인근 지역의 환경 모니터링도 병행하여</a:t>
            </a:r>
            <a:r>
              <a:rPr lang="en-US" altLang="ko-KR" sz="1600" dirty="0"/>
              <a:t>, </a:t>
            </a:r>
            <a:r>
              <a:rPr lang="ko-KR" altLang="en-US" sz="1600" dirty="0"/>
              <a:t>방사성 물질의 누출이나 환경 영향이 발생하지 않도록 관리한다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52420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2FB00-8C08-D979-C8FF-B39FAB875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CF2DA0-A258-A229-E098-9B788DADF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발전소의 운영과 유지 보수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BD4AE6-7903-FE4B-FC75-4DA72817E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D3DF25-2DA2-9ACC-3A4B-9489FA9E14F6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안전성 확보를 위한 다중 안전계통은 원자력 발전소 운영의 핵심이다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대표적인 설비로는 </a:t>
            </a:r>
            <a:r>
              <a:rPr lang="ko-KR" altLang="en-US" sz="1600" dirty="0" err="1"/>
              <a:t>비상노심냉각계통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격납건물</a:t>
            </a:r>
            <a:r>
              <a:rPr lang="en-US" altLang="ko-KR" sz="1600" dirty="0"/>
              <a:t>, </a:t>
            </a:r>
            <a:r>
              <a:rPr lang="ko-KR" altLang="en-US" sz="1600" dirty="0"/>
              <a:t>자동 정지 시스템</a:t>
            </a:r>
            <a:r>
              <a:rPr lang="en-US" altLang="ko-KR" sz="1600" dirty="0"/>
              <a:t>, </a:t>
            </a:r>
            <a:r>
              <a:rPr lang="ko-KR" altLang="en-US" sz="1600" dirty="0"/>
              <a:t>여과 배기 시스템 등이 있고</a:t>
            </a:r>
            <a:r>
              <a:rPr lang="en-US" altLang="ko-KR" sz="1600" dirty="0"/>
              <a:t>, </a:t>
            </a:r>
            <a:r>
              <a:rPr lang="ko-KR" altLang="en-US" sz="1600" dirty="0"/>
              <a:t>각 계통은 독립적으로 작동할 수 있도록 설계되어 사고 발생시 피해를 최소화 하도록 되어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발전소는 주기적인 유지</a:t>
            </a:r>
            <a:r>
              <a:rPr lang="en-US" altLang="ko-KR" sz="1600" dirty="0"/>
              <a:t>·</a:t>
            </a:r>
            <a:r>
              <a:rPr lang="ko-KR" altLang="en-US" sz="1600" dirty="0"/>
              <a:t>보수 계획에 따라 안정성과 신뢰성을 확보한다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정비 활동에는 주요 기계 부품의 마모 상태 점검</a:t>
            </a:r>
            <a:r>
              <a:rPr lang="en-US" altLang="ko-KR" sz="1600" dirty="0"/>
              <a:t>, </a:t>
            </a:r>
            <a:r>
              <a:rPr lang="ko-KR" altLang="en-US" sz="1600" dirty="0"/>
              <a:t>냉각수 화학 성분 분석</a:t>
            </a:r>
            <a:r>
              <a:rPr lang="en-US" altLang="ko-KR" sz="1600" dirty="0"/>
              <a:t>, </a:t>
            </a:r>
            <a:r>
              <a:rPr lang="ko-KR" altLang="en-US" sz="1600" dirty="0"/>
              <a:t>배관 시스템의 이상 유무 확인 등이 포함되며</a:t>
            </a:r>
            <a:r>
              <a:rPr lang="en-US" altLang="ko-KR" sz="1600" dirty="0"/>
              <a:t>, </a:t>
            </a:r>
            <a:r>
              <a:rPr lang="ko-KR" altLang="en-US" sz="1600" dirty="0"/>
              <a:t>이와 함께 약 </a:t>
            </a:r>
            <a:r>
              <a:rPr lang="en-US" altLang="ko-KR" sz="1600" dirty="0"/>
              <a:t>12~24</a:t>
            </a:r>
            <a:r>
              <a:rPr lang="ko-KR" altLang="en-US" sz="1600" dirty="0"/>
              <a:t>개월 주기로 연료 재장전이 수행된다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연료 재장전 기간에는 발전소를 일시정지 시키고</a:t>
            </a:r>
            <a:r>
              <a:rPr lang="en-US" altLang="ko-KR" sz="1600" dirty="0"/>
              <a:t>, </a:t>
            </a:r>
            <a:r>
              <a:rPr lang="ko-KR" altLang="en-US" sz="1600" dirty="0"/>
              <a:t>대규모 설비 및 안전 점검이 집중적으로 이루어진다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계획 정비는 전력 수요가 낮은 기간에 맞추어 실시되어 공급 안정성에도 영향을 주지 않도록 조율된다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운영 후 단계에서는 원자로의 수명이 종료함에 따라 </a:t>
            </a:r>
            <a:r>
              <a:rPr lang="ko-KR" altLang="en-US" sz="1600" dirty="0" err="1"/>
              <a:t>폐로가</a:t>
            </a:r>
            <a:r>
              <a:rPr lang="en-US" altLang="ko-KR" sz="1600" dirty="0"/>
              <a:t> </a:t>
            </a:r>
            <a:r>
              <a:rPr lang="ko-KR" altLang="en-US" sz="1600" dirty="0"/>
              <a:t>수행된다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원자로 정지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사용후</a:t>
            </a:r>
            <a:r>
              <a:rPr lang="ko-KR" altLang="en-US" sz="1600" dirty="0"/>
              <a:t> 핵연료의 인출 및 안전 저장</a:t>
            </a:r>
            <a:r>
              <a:rPr lang="en-US" altLang="ko-KR" sz="1600" dirty="0"/>
              <a:t>, </a:t>
            </a:r>
            <a:r>
              <a:rPr lang="ko-KR" altLang="en-US" sz="1600" dirty="0"/>
              <a:t>방사능에 오염된 장비와 구조물의 해체 부지 복원을 포함하며 수십 년에 걸쳐 단계적으로 이루어진다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67691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BF916-B823-BCC3-BF4F-A186E97AE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0061F1-EB6B-5519-0331-FAB1D3AAA78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C161A2-3828-EAB8-6C38-F676070C9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70F755C-FF7D-1BAD-5F02-03DF77711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5. </a:t>
            </a:r>
            <a:r>
              <a:rPr lang="ko-KR" altLang="en-US" sz="4000" b="1" i="0" spc="150" dirty="0"/>
              <a:t>원자력에너지의 경제성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7667165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F5EB0-E0AE-08F0-F661-C7E5C7ECF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0CF82B-9F3D-E247-0400-EA7307A5C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발전의 비용 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F21193-7F82-A286-B4E5-C685103D9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DD5963-5B30-29A1-D1D0-C588416B5436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발전소의 비용구조는 매우 복합적이고</a:t>
            </a:r>
            <a:r>
              <a:rPr lang="en-US" altLang="ko-KR" sz="1600" dirty="0"/>
              <a:t>, </a:t>
            </a:r>
            <a:r>
              <a:rPr lang="ko-KR" altLang="en-US" sz="1600" dirty="0"/>
              <a:t>각 비용 요소는 전력 생산의 전체 경제성을 결정하는 핵심 요인이다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발전비용은 자본비용</a:t>
            </a:r>
            <a:r>
              <a:rPr lang="en-US" altLang="ko-KR" sz="1600" dirty="0"/>
              <a:t>, </a:t>
            </a:r>
            <a:r>
              <a:rPr lang="ko-KR" altLang="en-US" sz="1600" dirty="0"/>
              <a:t>유지보수비용</a:t>
            </a:r>
            <a:r>
              <a:rPr lang="en-US" altLang="ko-KR" sz="1600" dirty="0"/>
              <a:t>, </a:t>
            </a:r>
            <a:r>
              <a:rPr lang="ko-KR" altLang="en-US" sz="1600" dirty="0"/>
              <a:t>연료비용</a:t>
            </a:r>
            <a:r>
              <a:rPr lang="en-US" altLang="ko-KR" sz="1600" dirty="0"/>
              <a:t>, </a:t>
            </a:r>
            <a:r>
              <a:rPr lang="ko-KR" altLang="en-US" sz="1600" dirty="0"/>
              <a:t>폐쇄비용으로 구분된다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자본비용은 전체 비용 중 가장 큰 비중을 차지한다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원자로 설계</a:t>
            </a:r>
            <a:r>
              <a:rPr lang="en-US" altLang="ko-KR" sz="1600" dirty="0"/>
              <a:t>, </a:t>
            </a:r>
            <a:r>
              <a:rPr lang="ko-KR" altLang="en-US" sz="1600" dirty="0"/>
              <a:t>부지 선정과 준비</a:t>
            </a:r>
            <a:r>
              <a:rPr lang="en-US" altLang="ko-KR" sz="1600" dirty="0"/>
              <a:t>, </a:t>
            </a:r>
            <a:r>
              <a:rPr lang="ko-KR" altLang="en-US" sz="1600" dirty="0"/>
              <a:t>인허가 획득</a:t>
            </a:r>
            <a:r>
              <a:rPr lang="en-US" altLang="ko-KR" sz="1600" dirty="0"/>
              <a:t>, </a:t>
            </a:r>
            <a:r>
              <a:rPr lang="ko-KR" altLang="en-US" sz="1600" dirty="0"/>
              <a:t>기자재 설치</a:t>
            </a:r>
            <a:r>
              <a:rPr lang="en-US" altLang="ko-KR" sz="1600" dirty="0"/>
              <a:t>, </a:t>
            </a:r>
            <a:r>
              <a:rPr lang="ko-KR" altLang="en-US" sz="1600" dirty="0"/>
              <a:t>건설</a:t>
            </a:r>
            <a:r>
              <a:rPr lang="en-US" altLang="ko-KR" sz="1600" dirty="0"/>
              <a:t>, </a:t>
            </a:r>
            <a:r>
              <a:rPr lang="ko-KR" altLang="en-US" sz="1600" dirty="0"/>
              <a:t>시운전과 관련된 일체 비용을 포함한다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원자력 발전소는 높은 수준의 안전성과 규제요건을 충족해야 하므로 건설기간이 평균 </a:t>
            </a:r>
            <a:r>
              <a:rPr lang="en-US" altLang="ko-KR" sz="1600" dirty="0"/>
              <a:t>8~12</a:t>
            </a:r>
            <a:r>
              <a:rPr lang="ko-KR" altLang="en-US" sz="1600" dirty="0"/>
              <a:t>년에 이르며</a:t>
            </a:r>
            <a:r>
              <a:rPr lang="en-US" altLang="ko-KR" sz="1600" dirty="0"/>
              <a:t>, </a:t>
            </a:r>
            <a:r>
              <a:rPr lang="ko-KR" altLang="en-US" sz="1600" dirty="0"/>
              <a:t>이로 인한 금융비용 또한 크게 발생한다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현대식 대형 경수로의 자본비용은 설치용량 당 석탄이나 천연가스 발전소보다 </a:t>
            </a:r>
            <a:r>
              <a:rPr lang="en-US" altLang="ko-KR" sz="1600" dirty="0"/>
              <a:t>2</a:t>
            </a:r>
            <a:r>
              <a:rPr lang="ko-KR" altLang="en-US" sz="1600" dirty="0"/>
              <a:t>배에서 </a:t>
            </a:r>
            <a:r>
              <a:rPr lang="en-US" altLang="ko-KR" sz="1600" dirty="0"/>
              <a:t>3</a:t>
            </a:r>
            <a:r>
              <a:rPr lang="ko-KR" altLang="en-US" sz="1600" dirty="0"/>
              <a:t>배 이상 높은 수준이다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높은 초기 투자비용은 원자력 발전소의 전체 운영 수명에 걸쳐 점진적으로 회수된다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유지보수비용은 발전소의 수명 동안 지속적으로 발생하는 비용이다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인력 운영</a:t>
            </a:r>
            <a:r>
              <a:rPr lang="en-US" altLang="ko-KR" sz="1600" dirty="0"/>
              <a:t>, </a:t>
            </a:r>
            <a:r>
              <a:rPr lang="ko-KR" altLang="en-US" sz="1600" dirty="0"/>
              <a:t>정기 점검</a:t>
            </a:r>
            <a:r>
              <a:rPr lang="en-US" altLang="ko-KR" sz="1600" dirty="0"/>
              <a:t>, </a:t>
            </a:r>
            <a:r>
              <a:rPr lang="ko-KR" altLang="en-US" sz="1600" dirty="0"/>
              <a:t>설비 교체</a:t>
            </a:r>
            <a:r>
              <a:rPr lang="en-US" altLang="ko-KR" sz="1600" dirty="0"/>
              <a:t>, </a:t>
            </a:r>
            <a:r>
              <a:rPr lang="ko-KR" altLang="en-US" sz="1600" dirty="0"/>
              <a:t>보안</a:t>
            </a:r>
            <a:r>
              <a:rPr lang="en-US" altLang="ko-KR" sz="1600" dirty="0"/>
              <a:t>, </a:t>
            </a:r>
            <a:r>
              <a:rPr lang="ko-KR" altLang="en-US" sz="1600" dirty="0"/>
              <a:t>보험</a:t>
            </a:r>
            <a:r>
              <a:rPr lang="en-US" altLang="ko-KR" sz="1600" dirty="0"/>
              <a:t>, </a:t>
            </a:r>
            <a:r>
              <a:rPr lang="ko-KR" altLang="en-US" sz="1600" dirty="0"/>
              <a:t>규제 대응 등에 따른 지출을 포함한다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자본비용과 달리 운영비는 매년 비교적 안정적으로 예측 가능하다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발전소의 안정적 운영을 위해 전문 인력과 엄격한 안전기준을 요구하기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이러한 비용은 일반적인 화석연료 발전소보다 높은 경향이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29009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53568-EEE9-DB5E-0D9C-1408D2EAC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C2A959-80B5-6E47-C5B8-E402C31DF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발전의 비용 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9C1B5C-D621-AD9F-6E2B-9B7A00533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AA9E01-C3D3-743D-24AB-E61CA3AF21A2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연료비용은 우라늄 채굴</a:t>
            </a:r>
            <a:r>
              <a:rPr lang="en-US" altLang="ko-KR" sz="1600" dirty="0"/>
              <a:t>,</a:t>
            </a:r>
            <a:r>
              <a:rPr lang="ko-KR" altLang="en-US" sz="1600" dirty="0"/>
              <a:t> 정련</a:t>
            </a:r>
            <a:r>
              <a:rPr lang="en-US" altLang="ko-KR" sz="1600" dirty="0"/>
              <a:t>, </a:t>
            </a:r>
            <a:r>
              <a:rPr lang="ko-KR" altLang="en-US" sz="1600" dirty="0"/>
              <a:t>변환</a:t>
            </a:r>
            <a:r>
              <a:rPr lang="en-US" altLang="ko-KR" sz="1600" dirty="0"/>
              <a:t>, </a:t>
            </a:r>
            <a:r>
              <a:rPr lang="ko-KR" altLang="en-US" sz="1600" dirty="0"/>
              <a:t>농축하여 연료 집합체로 가공하는 과정에서 발생한다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우라늄 가격은 국제시장에서 일정한 변동성을 보이지만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 발전의 특성상 연료비가 전체 발전단가에 미치는 영향은 석탄이나 천연가스보다 작다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연료 교체 주기가 일반적으로 </a:t>
            </a:r>
            <a:r>
              <a:rPr lang="en-US" altLang="ko-KR" sz="1600" dirty="0"/>
              <a:t>18~24</a:t>
            </a:r>
            <a:r>
              <a:rPr lang="ko-KR" altLang="en-US" sz="1600" dirty="0"/>
              <a:t>개월로 길고</a:t>
            </a:r>
            <a:r>
              <a:rPr lang="en-US" altLang="ko-KR" sz="1600" dirty="0"/>
              <a:t>, </a:t>
            </a:r>
            <a:r>
              <a:rPr lang="ko-KR" altLang="en-US" sz="1600" dirty="0"/>
              <a:t>단위 전력 생산에 필요한 연료량이 적기 때문이다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사용후연료의</a:t>
            </a:r>
            <a:r>
              <a:rPr lang="ko-KR" altLang="en-US" sz="1600" dirty="0"/>
              <a:t> 저장</a:t>
            </a:r>
            <a:r>
              <a:rPr lang="en-US" altLang="ko-KR" sz="1600" dirty="0"/>
              <a:t>, </a:t>
            </a:r>
            <a:r>
              <a:rPr lang="ko-KR" altLang="en-US" sz="1600" dirty="0"/>
              <a:t>운송</a:t>
            </a:r>
            <a:r>
              <a:rPr lang="en-US" altLang="ko-KR" sz="1600" dirty="0"/>
              <a:t>, </a:t>
            </a:r>
            <a:r>
              <a:rPr lang="ko-KR" altLang="en-US" sz="1600" dirty="0"/>
              <a:t>폐기 등 후속 관리비용도 전체 연료비용의 일부를 구성하고</a:t>
            </a:r>
            <a:r>
              <a:rPr lang="en-US" altLang="ko-KR" sz="1600" dirty="0"/>
              <a:t>, </a:t>
            </a:r>
            <a:r>
              <a:rPr lang="ko-KR" altLang="en-US" sz="1600" dirty="0"/>
              <a:t>방사성 물질의 특수한 처리 필요성으로 인해 별도의 안정성과 비용 부담을 요구한다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폐쇄비용은 원자력 발전소의 운영이 종료된 이후 발생하는 해체 및 사후관리 비용을 의미한다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방사성 물질의 제거와 처분</a:t>
            </a:r>
            <a:r>
              <a:rPr lang="en-US" altLang="ko-KR" sz="1600" dirty="0"/>
              <a:t>, </a:t>
            </a:r>
            <a:r>
              <a:rPr lang="ko-KR" altLang="en-US" sz="1600" dirty="0"/>
              <a:t>발전소 부지의 오염 제거</a:t>
            </a:r>
            <a:r>
              <a:rPr lang="en-US" altLang="ko-KR" sz="1600" dirty="0"/>
              <a:t>, </a:t>
            </a:r>
            <a:r>
              <a:rPr lang="ko-KR" altLang="en-US" sz="1600" dirty="0"/>
              <a:t>폐기물의 저장 및 처리를 포함한다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폐쇄과정은 기술적으로 매우 복잡하고 수십 년에 걸쳐 이루어지므로 비용이 상당하다</a:t>
            </a:r>
            <a:r>
              <a:rPr lang="en-US" altLang="ko-KR" sz="160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폐쇄비용은 초기 자본비용의 약 </a:t>
            </a:r>
            <a:r>
              <a:rPr lang="en-US" altLang="ko-KR" sz="1600" dirty="0"/>
              <a:t>10~15% </a:t>
            </a:r>
            <a:r>
              <a:rPr lang="ko-KR" altLang="en-US" sz="1600" dirty="0"/>
              <a:t>수준으로 추정된다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많은 국가는 이러한 비용을 사전에 확보하고자 발전소가 운영되는 동안 별도의 기금을 적립하는 법적 제도를 마련하고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63594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2FE39-3D80-666C-B15C-BE8816B78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54CDC0-39E4-9DC0-AB42-07A2E1414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발전의 비용 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B9B4AE-51DF-B1F9-7F16-DC931F6D5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E232BE-7C5B-C65D-8D1D-90AF56F97596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발전의 중요한 장점 중 하나는 발전 과정에서 이산화탄소 배출이 거의 없기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탄소중립 목표 달성에 기여할 수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그러나 원자력 발전은 방사성 폐기물의 장기적인 관리 문제와 원전 사고의 잠재적 위험이라는 중대한 외부비용을 동반한다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후쿠시마</a:t>
            </a:r>
            <a:r>
              <a:rPr lang="en-US" altLang="ko-KR" sz="1600" dirty="0"/>
              <a:t>, </a:t>
            </a:r>
            <a:r>
              <a:rPr lang="ko-KR" altLang="en-US" sz="1600" dirty="0"/>
              <a:t>체르노빌 사례에서 보듯이</a:t>
            </a:r>
            <a:r>
              <a:rPr lang="en-US" altLang="ko-KR" sz="1600" dirty="0"/>
              <a:t>, </a:t>
            </a:r>
            <a:r>
              <a:rPr lang="ko-KR" altLang="en-US" sz="1600" dirty="0"/>
              <a:t>사고 발생시 사회</a:t>
            </a:r>
            <a:r>
              <a:rPr lang="en-US" altLang="ko-KR" sz="1600" dirty="0"/>
              <a:t>·</a:t>
            </a:r>
            <a:r>
              <a:rPr lang="ko-KR" altLang="en-US" sz="1600" dirty="0"/>
              <a:t>환경</a:t>
            </a:r>
            <a:r>
              <a:rPr lang="en-US" altLang="ko-KR" sz="1600" dirty="0"/>
              <a:t>·</a:t>
            </a:r>
            <a:r>
              <a:rPr lang="ko-KR" altLang="en-US" sz="1600" dirty="0"/>
              <a:t>경제적 피해는 수십 년 이상 장기화 될 수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이와 유사하게 태양광</a:t>
            </a:r>
            <a:r>
              <a:rPr lang="en-US" altLang="ko-KR" sz="1600" dirty="0"/>
              <a:t>·</a:t>
            </a:r>
            <a:r>
              <a:rPr lang="ko-KR" altLang="en-US" sz="1600" dirty="0"/>
              <a:t>풍력 같은 재생에너지원도 전력 생산 과정에서 탄소 배출이 매우 낮고</a:t>
            </a:r>
            <a:r>
              <a:rPr lang="en-US" altLang="ko-KR" sz="1600" dirty="0"/>
              <a:t>, </a:t>
            </a:r>
            <a:r>
              <a:rPr lang="ko-KR" altLang="en-US" sz="1600" dirty="0"/>
              <a:t>장기적인 유해 폐기물을 거의 발생시키지 않는다는 점에서 환경적으로 우수한 에너지원으로 평가된다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그러나 이들 에너지원은 일사량이나 풍속 등 자연 조건에 따라 출력이 변동되는 </a:t>
            </a:r>
            <a:r>
              <a:rPr lang="ko-KR" altLang="en-US" sz="1600" dirty="0" err="1"/>
              <a:t>간헐성</a:t>
            </a:r>
            <a:r>
              <a:rPr lang="ko-KR" altLang="en-US" sz="1600" dirty="0"/>
              <a:t> 문제를 안고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이를 보완하기 위한 에너지 저장 시스템과 계통 안정화를 위한 투자 필요성이 존재한다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에너지원 간 경제성을 비교하기 위한 지표로는 균등화 발전비용 </a:t>
            </a:r>
            <a:r>
              <a:rPr lang="en-US" altLang="ko-KR" sz="1600" dirty="0"/>
              <a:t>(Levelized Cost Of Electricity, LCOE)</a:t>
            </a:r>
            <a:r>
              <a:rPr lang="ko-KR" altLang="en-US" sz="1600" dirty="0"/>
              <a:t>이 사용된다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LCOE</a:t>
            </a:r>
            <a:r>
              <a:rPr lang="ko-KR" altLang="en-US" sz="1600" dirty="0"/>
              <a:t>는 에너지원이 생산하는 전력 </a:t>
            </a:r>
            <a:r>
              <a:rPr lang="en-US" altLang="ko-KR" sz="1600" dirty="0"/>
              <a:t>1MWh</a:t>
            </a:r>
            <a:r>
              <a:rPr lang="ko-KR" altLang="en-US" sz="1600" dirty="0"/>
              <a:t> 당 평균비용을 의미한다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건설비</a:t>
            </a:r>
            <a:r>
              <a:rPr lang="en-US" altLang="ko-KR" sz="1600" dirty="0"/>
              <a:t>, </a:t>
            </a:r>
            <a:r>
              <a:rPr lang="ko-KR" altLang="en-US" sz="1600" dirty="0"/>
              <a:t>연료비</a:t>
            </a:r>
            <a:r>
              <a:rPr lang="en-US" altLang="ko-KR" sz="1600" dirty="0"/>
              <a:t>, </a:t>
            </a:r>
            <a:r>
              <a:rPr lang="ko-KR" altLang="en-US" sz="1600" dirty="0"/>
              <a:t>유지보수비</a:t>
            </a:r>
            <a:r>
              <a:rPr lang="en-US" altLang="ko-KR" sz="1600" dirty="0"/>
              <a:t>, </a:t>
            </a:r>
            <a:r>
              <a:rPr lang="ko-KR" altLang="en-US" sz="1600" dirty="0"/>
              <a:t>금융비 등을 모두 반영한 후 발전설비의 수명 기간 동안 할인된 전력 생산량으로 나누어 계산한다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단일 수치로 다양한 발전 기술의 경제성을 비교할 수 있도록 해 주는 지표이다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39140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24BAA-5048-E982-88E2-EE7B99B39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4D0951-B4DB-28EB-B0F8-B596F1521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발전의 장기적인 경제적 영향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C524BB-39A0-17F5-5F83-C1F377CFC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BF979A-09F6-3261-7EA5-CF8EB23A3BDE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발전의 장기적인 영향은 단순한 발전소 운영의 지속성 측면을 넘어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시스템</a:t>
            </a:r>
            <a:r>
              <a:rPr lang="en-US" altLang="ko-KR" sz="1600" dirty="0"/>
              <a:t>, </a:t>
            </a:r>
            <a:r>
              <a:rPr lang="ko-KR" altLang="en-US" sz="1600" dirty="0"/>
              <a:t>경제구조</a:t>
            </a:r>
            <a:r>
              <a:rPr lang="en-US" altLang="ko-KR" sz="1600" dirty="0"/>
              <a:t>, </a:t>
            </a:r>
            <a:r>
              <a:rPr lang="ko-KR" altLang="en-US" sz="1600" dirty="0"/>
              <a:t>환경 및 사회적 수용성에 이르는 다면적 이슈들을 포함한다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에너지 가격 안정성</a:t>
            </a:r>
            <a:r>
              <a:rPr lang="en-US" altLang="ko-KR" sz="1600" dirty="0"/>
              <a:t>, </a:t>
            </a:r>
            <a:r>
              <a:rPr lang="ko-KR" altLang="en-US" sz="1600" dirty="0"/>
              <a:t>폐쇄 비용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안보</a:t>
            </a:r>
            <a:r>
              <a:rPr lang="en-US" altLang="ko-KR" sz="1600" dirty="0"/>
              <a:t>, </a:t>
            </a:r>
            <a:r>
              <a:rPr lang="ko-KR" altLang="en-US" sz="1600" dirty="0"/>
              <a:t>지역 및 국가 경제에 대한 효과</a:t>
            </a:r>
            <a:r>
              <a:rPr lang="en-US" altLang="ko-KR" sz="1600" dirty="0"/>
              <a:t>, </a:t>
            </a:r>
            <a:r>
              <a:rPr lang="ko-KR" altLang="en-US" sz="1600" dirty="0"/>
              <a:t>환경적</a:t>
            </a:r>
            <a:r>
              <a:rPr lang="en-US" altLang="ko-KR" sz="1600" dirty="0"/>
              <a:t>·</a:t>
            </a:r>
            <a:r>
              <a:rPr lang="ko-KR" altLang="en-US" sz="1600" dirty="0"/>
              <a:t>사회적 비용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장기 인프라 투자 측면에서 중요한 논의점을 제공한다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첫째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 발전은 장기적인 에너지 가격의 안정성에 기여한다</a:t>
            </a:r>
            <a:r>
              <a:rPr lang="en-US" altLang="ko-KR" sz="160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연료비용이 전체 발전 비용에서 차지하는 비중이 낮고</a:t>
            </a:r>
            <a:r>
              <a:rPr lang="en-US" altLang="ko-KR" sz="1600" dirty="0"/>
              <a:t>, </a:t>
            </a:r>
            <a:r>
              <a:rPr lang="ko-KR" altLang="en-US" sz="1600" dirty="0"/>
              <a:t>우라늄 가격이 화석연료 가격에 비해 안정적이다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특성은 수십 </a:t>
            </a:r>
            <a:r>
              <a:rPr lang="ko-KR" altLang="en-US" sz="1600" dirty="0" err="1"/>
              <a:t>년간의</a:t>
            </a:r>
            <a:r>
              <a:rPr lang="ko-KR" altLang="en-US" sz="1600" dirty="0"/>
              <a:t> 운영 기간 동안 전력 공급 비용의 예측 가능성을 높이며</a:t>
            </a:r>
            <a:r>
              <a:rPr lang="en-US" altLang="ko-KR" sz="1600" dirty="0"/>
              <a:t>, </a:t>
            </a:r>
            <a:r>
              <a:rPr lang="ko-KR" altLang="en-US" sz="1600" dirty="0"/>
              <a:t>국제 연료시장 가격 급등락으로부터 일정 부분 독립적인 가격구조를 가능하게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둘째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 발전소의 폐쇄는 장기적인 재정적 도전과제를 수반한다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발전소 폐쇄는 운영 중단</a:t>
            </a:r>
            <a:r>
              <a:rPr lang="en-US" altLang="ko-KR" sz="1600" dirty="0"/>
              <a:t>, </a:t>
            </a:r>
            <a:r>
              <a:rPr lang="ko-KR" altLang="en-US" sz="1600" dirty="0"/>
              <a:t>원자로 해체</a:t>
            </a:r>
            <a:r>
              <a:rPr lang="en-US" altLang="ko-KR" sz="1600" dirty="0"/>
              <a:t>, </a:t>
            </a:r>
            <a:r>
              <a:rPr lang="ko-KR" altLang="en-US" sz="1600" dirty="0"/>
              <a:t>방사성 물질 처리 및 폐기 등 기술적 복잡성과 고비용 구조를 지닌다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초기자본의 </a:t>
            </a:r>
            <a:r>
              <a:rPr lang="en-US" altLang="ko-KR" sz="1600" dirty="0"/>
              <a:t>10~15%</a:t>
            </a:r>
            <a:r>
              <a:rPr lang="ko-KR" altLang="en-US" sz="1600" dirty="0"/>
              <a:t>에 해당하는 지출이 필요하고</a:t>
            </a:r>
            <a:r>
              <a:rPr lang="en-US" altLang="ko-KR" sz="1600" dirty="0"/>
              <a:t>, </a:t>
            </a:r>
            <a:r>
              <a:rPr lang="ko-KR" altLang="en-US" sz="1600" dirty="0"/>
              <a:t>별도의 기금 마련이 요구된다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23824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745AE-6205-9B22-E9F7-4C77D1104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F3D2BB-7DF2-9470-4968-1540FD5BE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발전의 장기적인 경제적 영향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BFF85A-06C2-2BCA-E93C-AF967D792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3CC7D4-F372-C032-0CC7-DFC24F09AB7E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셋째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 발전은 국가의 에너지 안보 강화에 기여한다</a:t>
            </a:r>
            <a:r>
              <a:rPr lang="en-US" altLang="ko-KR" sz="160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수입 화석연료에 대한 의존도를 낮추고</a:t>
            </a:r>
            <a:r>
              <a:rPr lang="en-US" altLang="ko-KR" sz="1600" dirty="0"/>
              <a:t>, </a:t>
            </a:r>
            <a:r>
              <a:rPr lang="ko-KR" altLang="en-US" sz="1600" dirty="0"/>
              <a:t>안정적이고 예측 가능한 기저부하 전원을 제공한다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국제 에너지 시장의 변동성에 대한 노출을 줄이고</a:t>
            </a:r>
            <a:r>
              <a:rPr lang="en-US" altLang="ko-KR" sz="1600" dirty="0"/>
              <a:t>, </a:t>
            </a:r>
            <a:r>
              <a:rPr lang="ko-KR" altLang="en-US" sz="1600" dirty="0"/>
              <a:t>자급적인 에너지 시스템을 구축할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에너지 자원이 제한적인 국가에게는 원자력이 에너지 믹스 다변화의 전략적 수단으로 작용할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넷째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 발전소는 지역과 국가 경제에 장기적으로 긍정적인 영향을 미치는 대규모 인프라 프로젝트이다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발전소 건설과 운영은 직접적인 고용을 창출하고</a:t>
            </a:r>
            <a:r>
              <a:rPr lang="en-US" altLang="ko-KR" sz="1600" dirty="0"/>
              <a:t>, </a:t>
            </a:r>
            <a:r>
              <a:rPr lang="ko-KR" altLang="en-US" sz="1600" dirty="0"/>
              <a:t>관련 지역에서 기술 기반 산업과 공급망을 촉진하는 효과를 유발한다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원자력 발전소는 연간 이용률이 </a:t>
            </a:r>
            <a:r>
              <a:rPr lang="en-US" altLang="ko-KR" sz="1600" dirty="0"/>
              <a:t>80~90%</a:t>
            </a:r>
            <a:r>
              <a:rPr lang="ko-KR" altLang="en-US" sz="1600" dirty="0"/>
              <a:t>에 이르는 고정적 전력 공급을 제공하여 에너지 집약적 산업의 안정성과 성장 기반을 마련하는데 기여한다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6150325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F9CE1-2F99-FD61-C0B6-0D645E240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DCAD09-C15A-71BE-6B3F-B90067FE1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발전의 장기적인 경제적 영향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43699F-7B38-C451-47D4-27E0011C2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6D683C-35B8-1AD6-D715-D34630C8BB7D}"/>
              </a:ext>
            </a:extLst>
          </p:cNvPr>
          <p:cNvSpPr txBox="1"/>
          <p:nvPr/>
        </p:nvSpPr>
        <p:spPr>
          <a:xfrm>
            <a:off x="288790" y="958844"/>
            <a:ext cx="11118453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다섯째</a:t>
            </a:r>
            <a:r>
              <a:rPr lang="en-US" altLang="ko-KR" sz="1600" dirty="0"/>
              <a:t>, </a:t>
            </a:r>
            <a:r>
              <a:rPr lang="ko-KR" altLang="en-US" sz="1600" dirty="0"/>
              <a:t>이러한 경제적 이점에도 불구하고 원자력 발전은 장기적인 환경적 및 사회적 비용을 수반한다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방사성 폐기물의 안전한 장기 처분 문제</a:t>
            </a:r>
            <a:r>
              <a:rPr lang="en-US" altLang="ko-KR" sz="1600" dirty="0"/>
              <a:t>, </a:t>
            </a:r>
            <a:r>
              <a:rPr lang="ko-KR" altLang="en-US" sz="1600" dirty="0"/>
              <a:t>원전 사고의 발생가능성은 낮지만 치명적인 위험</a:t>
            </a:r>
            <a:r>
              <a:rPr lang="en-US" altLang="ko-KR" sz="1600" dirty="0"/>
              <a:t>, </a:t>
            </a:r>
            <a:r>
              <a:rPr lang="ko-KR" altLang="en-US" sz="1600" dirty="0"/>
              <a:t>생태계이 미치는 영향</a:t>
            </a:r>
            <a:r>
              <a:rPr lang="en-US" altLang="ko-KR" sz="1600" dirty="0"/>
              <a:t> </a:t>
            </a:r>
            <a:r>
              <a:rPr lang="ko-KR" altLang="en-US" sz="1600" dirty="0"/>
              <a:t>등이 중요한 외부비용이다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이로 인한 엄격한 규제를 받고</a:t>
            </a:r>
            <a:r>
              <a:rPr lang="en-US" altLang="ko-KR" sz="1600" dirty="0"/>
              <a:t>, </a:t>
            </a:r>
            <a:r>
              <a:rPr lang="ko-KR" altLang="en-US" sz="1600" dirty="0"/>
              <a:t>사회적 수용성 부족으로 추가 비용 발생 가능성도 존재한다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사고 발생 시의 경제적 피해는 수십년 이상 지속될 수 있고</a:t>
            </a:r>
            <a:r>
              <a:rPr lang="en-US" altLang="ko-KR" sz="1600" dirty="0"/>
              <a:t>, </a:t>
            </a:r>
            <a:r>
              <a:rPr lang="ko-KR" altLang="en-US" sz="1600" dirty="0"/>
              <a:t>전통적인 비용</a:t>
            </a:r>
            <a:r>
              <a:rPr lang="en-US" altLang="ko-KR" sz="1600" dirty="0"/>
              <a:t>-</a:t>
            </a:r>
            <a:r>
              <a:rPr lang="ko-KR" altLang="en-US" sz="1600" dirty="0"/>
              <a:t>편익 분석을 넘어서는 잠재적 리스크가 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마지막으로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 발전소는 </a:t>
            </a:r>
            <a:r>
              <a:rPr lang="en-US" altLang="ko-KR" sz="1600" dirty="0"/>
              <a:t>40~60</a:t>
            </a:r>
            <a:r>
              <a:rPr lang="ko-KR" altLang="en-US" sz="1600" dirty="0"/>
              <a:t>년의 기본 운영 수명을 갖고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수명 연장을 통해 </a:t>
            </a:r>
            <a:r>
              <a:rPr lang="en-US" altLang="ko-KR" sz="1600" dirty="0"/>
              <a:t>80</a:t>
            </a:r>
            <a:r>
              <a:rPr lang="ko-KR" altLang="en-US" sz="1600" dirty="0"/>
              <a:t>년까지 가능하다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장기 인프라 특성은 정부와 민간 투자자에게 안정적이고 예측 가능한 수익 구조를 제공할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지속가능한 전력 공급을 보장하는 신뢰할 수 있는 에너지 인프라로 간주된다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1800977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2A9F9-7BBF-C3C8-B1CF-563E948F3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68B656-2B11-E488-385C-0CC9D551059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363120-2945-5444-EB75-F301FA3BC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218A4A4-DE9E-FD83-5958-D2D791653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6. </a:t>
            </a:r>
            <a:r>
              <a:rPr lang="ko-KR" altLang="en-US" sz="4000" b="1" i="0" spc="150" dirty="0"/>
              <a:t>원자력 산업 구조와 경쟁구조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4009088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300E8-DF88-6560-F50A-BC3E10055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0BC025-035A-2D6E-557F-EBBC829D9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8A1B1A-EECB-8208-246D-0B279BBD4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5A0363-7C17-2102-5E6F-EB775323943E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글로벌 원자력 산업은 소수의 기업들이 원자력에너지 가치사슬에서 활동하고 있는 규제산업이다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우라늄</a:t>
            </a:r>
            <a:r>
              <a:rPr lang="en-US" altLang="ko-KR" sz="1600" dirty="0"/>
              <a:t> </a:t>
            </a:r>
            <a:r>
              <a:rPr lang="ko-KR" altLang="en-US" sz="1600" dirty="0"/>
              <a:t>채굴</a:t>
            </a:r>
            <a:r>
              <a:rPr lang="en-US" altLang="ko-KR" sz="1600" dirty="0"/>
              <a:t>, </a:t>
            </a:r>
            <a:r>
              <a:rPr lang="ko-KR" altLang="en-US" sz="1600" dirty="0"/>
              <a:t>연료 가공부터 원자로 건설</a:t>
            </a:r>
            <a:r>
              <a:rPr lang="en-US" altLang="ko-KR" sz="1600" dirty="0"/>
              <a:t>, </a:t>
            </a:r>
            <a:r>
              <a:rPr lang="ko-KR" altLang="en-US" sz="1600" dirty="0"/>
              <a:t>운영과 폐쇄의 가치 사슬로 구성되어</a:t>
            </a:r>
            <a:r>
              <a:rPr lang="en-US" altLang="ko-KR" sz="1600" dirty="0"/>
              <a:t>, </a:t>
            </a:r>
            <a:r>
              <a:rPr lang="ko-KR" altLang="en-US" sz="1600" dirty="0"/>
              <a:t>국영기업과 다국적 기업들이 산업을 주도하고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산업은 원자력 발전을 위한 연료와 설비를 공급하는 일련의 복합적인 가치사슬로 구성되어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첫 단계는 우라늄 광석을 채굴하고 이를 정련하여 농축 가능한 형태로 가공하는 과정이다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소수의 주요 생산국에 집중되어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일부 국가는 전 세계 우라늄 공급의 대부분을 담당하고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채굴된 우라늄은 정련 및 농축 과정을 거쳐 핵연료로 가공되고</a:t>
            </a:r>
            <a:r>
              <a:rPr lang="en-US" altLang="ko-KR" sz="1600" dirty="0"/>
              <a:t>, </a:t>
            </a:r>
            <a:r>
              <a:rPr lang="ko-KR" altLang="en-US" sz="1600" dirty="0"/>
              <a:t>이 역시 제한된 수의 전문 기업들이 기술적 역량을 바탕으로 주도하고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농축된 우라늄은 연료 집합체로 제작되며</a:t>
            </a:r>
            <a:r>
              <a:rPr lang="en-US" altLang="ko-KR" sz="1600" dirty="0"/>
              <a:t>, </a:t>
            </a:r>
            <a:r>
              <a:rPr lang="ko-KR" altLang="en-US" sz="1600" dirty="0"/>
              <a:t>각국의 기술 기반에 따라 자체적으로 연료를 생산하거나 외국 기업으로부터 공급받는다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원자로의 설계와 건설은 고도의 기술과 자본을 요하는 분야로</a:t>
            </a:r>
            <a:r>
              <a:rPr lang="en-US" altLang="ko-KR" sz="1600" dirty="0"/>
              <a:t>, </a:t>
            </a:r>
            <a:r>
              <a:rPr lang="ko-KR" altLang="en-US" sz="1600" dirty="0"/>
              <a:t>세계적으로 몇몇 다국적 기업들이 이 시장을 주도하고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다수의 원전 보유국은 원자로 설계 기술을 국가 전략산업으로 간주하고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수출하기도 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한국이 개발한 고유 모델은 해외 원전 프로젝트에 성공적으로 적용된 바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19907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18E24-1682-4617-C09B-DCBE1F173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63A949-2FE1-C5D3-0A84-6D4FFE804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A4D024-111E-3BC5-4D34-7D043C7E5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017407-B80D-A33B-D94C-1C259AE57D41}"/>
              </a:ext>
            </a:extLst>
          </p:cNvPr>
          <p:cNvSpPr txBox="1"/>
          <p:nvPr/>
        </p:nvSpPr>
        <p:spPr>
          <a:xfrm>
            <a:off x="288790" y="958844"/>
            <a:ext cx="11118453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원자력 발전소의 운영은 대부분 국가에서 국영기업 또는 고도로 규제된 공익기업에 의해 이루어진다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운영 주체는 국가에 따라 민간 혹은 공공부문일 수 있으나</a:t>
            </a:r>
            <a:r>
              <a:rPr lang="en-US" altLang="ko-KR" sz="1600" dirty="0"/>
              <a:t>, </a:t>
            </a:r>
            <a:r>
              <a:rPr lang="ko-KR" altLang="en-US" sz="1600" dirty="0"/>
              <a:t>공통적으로는 높은 수준의 안전기준과 운영 효율성을 충족해야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방사성 폐기물 처리는 원자력 산업 전반에서 가장 민감하고 장기적인 과제로 간주된다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특히 </a:t>
            </a:r>
            <a:r>
              <a:rPr lang="ko-KR" altLang="en-US" sz="1600" dirty="0" err="1"/>
              <a:t>고준위</a:t>
            </a:r>
            <a:r>
              <a:rPr lang="ko-KR" altLang="en-US" sz="1600" dirty="0"/>
              <a:t> 폐기물의 안전한 처분을 위한 지질학적 처분 시설 확보는 기술적</a:t>
            </a:r>
            <a:r>
              <a:rPr lang="en-US" altLang="ko-KR" sz="1600" dirty="0"/>
              <a:t>·</a:t>
            </a:r>
            <a:r>
              <a:rPr lang="ko-KR" altLang="en-US" sz="1600" dirty="0"/>
              <a:t>정치적 난제를 수반한다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1073674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81F5F-3702-2F5B-97AF-433858BF5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B76DBF-FDFA-49BB-7E78-4419C3D07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경쟁구조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974C82-8D61-EB26-075B-60288EEF0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934504-AC9F-BEA8-573E-35E65E5451F3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 산업의 경쟁 구조는 기술 혁신</a:t>
            </a:r>
            <a:r>
              <a:rPr lang="en-US" altLang="ko-KR" sz="1600" dirty="0"/>
              <a:t>, </a:t>
            </a:r>
            <a:r>
              <a:rPr lang="ko-KR" altLang="en-US" sz="1600" dirty="0"/>
              <a:t>정부 정책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국제시장에서의 전략적 경쟁에 크게 영향을 받는다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원자력에너지가 국가 안보와 직결된 전략 산업이라는 점에서</a:t>
            </a:r>
            <a:r>
              <a:rPr lang="en-US" altLang="ko-KR" sz="1600" dirty="0"/>
              <a:t>, </a:t>
            </a:r>
            <a:r>
              <a:rPr lang="ko-KR" altLang="en-US" sz="1600" dirty="0"/>
              <a:t>많은 국가들이 국영기업 혹은 고도로 규제된 공기업 중심으로 운영하고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국제 원전 수출 시장에서</a:t>
            </a:r>
            <a:r>
              <a:rPr lang="en-US" altLang="ko-KR" sz="1600" dirty="0"/>
              <a:t>, </a:t>
            </a:r>
            <a:r>
              <a:rPr lang="ko-KR" altLang="en-US" sz="1600" dirty="0"/>
              <a:t>국가 차원의 금융 지원과 외교적 협력을 결합한 종합 패키지를 통해 새로운 프로젝트 수주에 적극적으로 참여하고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최근 수년간 중동지역에서 이루어진 원전 프로젝트는 정부의 제도적 지원과 산업의 기술력</a:t>
            </a:r>
            <a:r>
              <a:rPr lang="en-US" altLang="ko-KR" sz="1600" dirty="0"/>
              <a:t>, </a:t>
            </a:r>
            <a:r>
              <a:rPr lang="ko-KR" altLang="en-US" sz="1600" dirty="0"/>
              <a:t>사업수행 역량이 결합된 사례로</a:t>
            </a:r>
            <a:r>
              <a:rPr lang="en-US" altLang="ko-KR" sz="1600" dirty="0"/>
              <a:t>, </a:t>
            </a:r>
            <a:r>
              <a:rPr lang="ko-KR" altLang="en-US" sz="1600" dirty="0"/>
              <a:t>특정 국가가 글로벌 시장에서 경쟁력을 입증하는 데 중요한 이정표가 되었다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기술 혁신 측면에서는 </a:t>
            </a:r>
            <a:r>
              <a:rPr lang="ko-KR" altLang="en-US" sz="1600" dirty="0" err="1"/>
              <a:t>소형모듈원자로</a:t>
            </a:r>
            <a:r>
              <a:rPr lang="ko-KR" altLang="en-US" sz="1600" dirty="0"/>
              <a:t> </a:t>
            </a:r>
            <a:r>
              <a:rPr lang="en-US" altLang="ko-KR" sz="1600" dirty="0"/>
              <a:t>(Small Modular Reactor, SMR)</a:t>
            </a:r>
            <a:r>
              <a:rPr lang="ko-KR" altLang="en-US" sz="1600" dirty="0"/>
              <a:t>와 차세대 원자로 설계 개발이 가장 활발한 경쟁 분야로 부상하고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여러 국가에서는 </a:t>
            </a:r>
            <a:r>
              <a:rPr lang="ko-KR" altLang="en-US" sz="1600" dirty="0" err="1"/>
              <a:t>소형모듈</a:t>
            </a:r>
            <a:r>
              <a:rPr lang="ko-KR" altLang="en-US" sz="1600" dirty="0"/>
              <a:t> 기술이 기존 대형 원전의 안전성과 경제성 문제를 보완할 수 있는 차세대 기술로 주목되면서</a:t>
            </a:r>
            <a:r>
              <a:rPr lang="en-US" altLang="ko-KR" sz="1600" dirty="0"/>
              <a:t>, </a:t>
            </a:r>
            <a:r>
              <a:rPr lang="ko-KR" altLang="en-US" sz="1600" dirty="0"/>
              <a:t>민간과 공공 부문이 협력하여 대규모 투자를 진행하고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SMR</a:t>
            </a:r>
            <a:r>
              <a:rPr lang="ko-KR" altLang="en-US" sz="1600" dirty="0"/>
              <a:t>은 저탄소 전원 확대</a:t>
            </a:r>
            <a:r>
              <a:rPr lang="en-US" altLang="ko-KR" sz="1600" dirty="0"/>
              <a:t>, </a:t>
            </a:r>
            <a:r>
              <a:rPr lang="ko-KR" altLang="en-US" sz="1600" dirty="0"/>
              <a:t>원전의 분산형 적용</a:t>
            </a:r>
            <a:r>
              <a:rPr lang="en-US" altLang="ko-KR" sz="1600" dirty="0"/>
              <a:t>, </a:t>
            </a:r>
            <a:r>
              <a:rPr lang="ko-KR" altLang="en-US" sz="1600" dirty="0"/>
              <a:t>초기 투자비용 절감 등 다양한 정책 목표와 연계되어 시장의 주목을 받고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989302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79470-5DDA-52BD-80F0-B6E6B5C3E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D9D625-A215-713C-8327-9E3530535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경쟁구조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20D64F-A156-6331-7770-6D32A101F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1AB626-C49C-A26D-BED2-9B161FC235AC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전 세계 원자로 공급 시장은 매우 경쟁적은 구조를 보이고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다양한 국가의 공기업 및 민간 기업들이 기술력</a:t>
            </a:r>
            <a:r>
              <a:rPr lang="en-US" altLang="ko-KR" sz="1600" dirty="0"/>
              <a:t>, </a:t>
            </a:r>
            <a:r>
              <a:rPr lang="ko-KR" altLang="en-US" sz="1600" dirty="0"/>
              <a:t>금융 패키지</a:t>
            </a:r>
            <a:r>
              <a:rPr lang="en-US" altLang="ko-KR" sz="1600" dirty="0"/>
              <a:t>, </a:t>
            </a:r>
            <a:r>
              <a:rPr lang="ko-KR" altLang="en-US" sz="1600" dirty="0"/>
              <a:t>지역 협력 등의 수단을 통해 프로젝트 수주를 위한 치열한 경쟁을 벌이고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일부 기업은 설계</a:t>
            </a:r>
            <a:r>
              <a:rPr lang="en-US" altLang="ko-KR" sz="1600" dirty="0"/>
              <a:t>, </a:t>
            </a:r>
            <a:r>
              <a:rPr lang="ko-KR" altLang="en-US" sz="1600" dirty="0"/>
              <a:t>건설</a:t>
            </a:r>
            <a:r>
              <a:rPr lang="en-US" altLang="ko-KR" sz="1600" dirty="0"/>
              <a:t>, </a:t>
            </a:r>
            <a:r>
              <a:rPr lang="ko-KR" altLang="en-US" sz="1600" dirty="0"/>
              <a:t>연료 공급을 포함한 통합 솔루션을 제시하면서 시장에서의 점유율을 확대하고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경쟁은 특히 중동</a:t>
            </a:r>
            <a:r>
              <a:rPr lang="en-US" altLang="ko-KR" sz="1600" dirty="0"/>
              <a:t>, </a:t>
            </a:r>
            <a:r>
              <a:rPr lang="ko-KR" altLang="en-US" sz="1600" dirty="0"/>
              <a:t>동유럽</a:t>
            </a:r>
            <a:r>
              <a:rPr lang="en-US" altLang="ko-KR" sz="1600" dirty="0"/>
              <a:t>, </a:t>
            </a:r>
            <a:r>
              <a:rPr lang="ko-KR" altLang="en-US" sz="1600" dirty="0"/>
              <a:t>아프리카와 같은 신규시장에서 더욱 두드러진다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한국의 원자력 산업은 </a:t>
            </a:r>
            <a:r>
              <a:rPr lang="en-US" altLang="ko-KR" sz="1600" dirty="0"/>
              <a:t>1970</a:t>
            </a:r>
            <a:r>
              <a:rPr lang="ko-KR" altLang="en-US" sz="1600" dirty="0"/>
              <a:t>년대 이후 비약적인 성장을 이루었고</a:t>
            </a:r>
            <a:r>
              <a:rPr lang="en-US" altLang="ko-KR" sz="1600" dirty="0"/>
              <a:t>, </a:t>
            </a:r>
            <a:r>
              <a:rPr lang="ko-KR" altLang="en-US" sz="1600" dirty="0"/>
              <a:t>원자로 설계</a:t>
            </a:r>
            <a:r>
              <a:rPr lang="en-US" altLang="ko-KR" sz="1600" dirty="0"/>
              <a:t>, </a:t>
            </a:r>
            <a:r>
              <a:rPr lang="ko-KR" altLang="en-US" sz="1600" dirty="0"/>
              <a:t>운영</a:t>
            </a:r>
            <a:r>
              <a:rPr lang="en-US" altLang="ko-KR" sz="1600" dirty="0"/>
              <a:t>, </a:t>
            </a:r>
            <a:r>
              <a:rPr lang="ko-KR" altLang="en-US" sz="1600" dirty="0"/>
              <a:t>기술 수출 등 다양한 부문에서 역량을 축적해왔다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국내 기술로 개발된 고유 모델은 국제 프로젝트에 성공적으로 적용되어 한국을 신뢰할 수 있는 기술 파트너로 자리매김하게 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높은 수준의 안전 기준</a:t>
            </a:r>
            <a:r>
              <a:rPr lang="en-US" altLang="ko-KR" sz="1600" dirty="0"/>
              <a:t>, </a:t>
            </a:r>
            <a:r>
              <a:rPr lang="ko-KR" altLang="en-US" sz="1600" dirty="0"/>
              <a:t>운영 효율성을 기반으로 한 기술력은 기후변화 대응과 </a:t>
            </a:r>
            <a:r>
              <a:rPr lang="ko-KR" altLang="en-US" sz="1600" dirty="0" err="1"/>
              <a:t>탈탄소</a:t>
            </a:r>
            <a:r>
              <a:rPr lang="ko-KR" altLang="en-US" sz="1600" dirty="0"/>
              <a:t> 전환의 필요성이 커지고 있는 글로벌 에너지 전환의 흐름 속에서 원자력에너지를 전략적 수단으로 활용할 수 있는 중요한 경쟁 요소가 되고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13998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6E00D-775B-0F11-3C55-530EDC464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C98B59-499E-B772-96DF-E256D18D39C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0D8038-5FD2-2DF9-3BF7-B442E350D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6215163-A070-ECA0-C85F-AC08302BA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7. </a:t>
            </a:r>
            <a:r>
              <a:rPr lang="ko-KR" altLang="en-US" sz="4000" b="1" i="0" spc="150" dirty="0"/>
              <a:t>원자력 발전 </a:t>
            </a:r>
            <a:r>
              <a:rPr lang="en-US" altLang="ko-KR" sz="4000" b="1" i="0" spc="150" dirty="0"/>
              <a:t>(</a:t>
            </a:r>
            <a:r>
              <a:rPr lang="ko-KR" altLang="en-US" sz="4000" b="1" i="0" spc="150" dirty="0"/>
              <a:t>전력생산</a:t>
            </a:r>
            <a:r>
              <a:rPr lang="en-US" altLang="ko-KR" sz="4000" b="1" i="0" spc="150" dirty="0"/>
              <a:t>)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106310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BEFAB-7999-3823-8928-CC9252DB3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2DBA0-318A-CDA9-7134-B23F054C7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 </a:t>
            </a:r>
            <a:r>
              <a:rPr lang="en-US" altLang="ko-KR" dirty="0"/>
              <a:t>(</a:t>
            </a:r>
            <a:r>
              <a:rPr lang="ko-KR" altLang="en-US" dirty="0"/>
              <a:t>전력생산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3A811E-D824-8897-2068-76EED7574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CDD394-B443-3CBB-3F23-4A0931835EAE}"/>
              </a:ext>
            </a:extLst>
          </p:cNvPr>
          <p:cNvSpPr txBox="1"/>
          <p:nvPr/>
        </p:nvSpPr>
        <p:spPr>
          <a:xfrm>
            <a:off x="288790" y="958844"/>
            <a:ext cx="11118453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원자력을 이용한 전 세계 전력 생산은 </a:t>
            </a:r>
            <a:r>
              <a:rPr lang="en-US" altLang="ko-KR" sz="1600" dirty="0"/>
              <a:t>2013</a:t>
            </a:r>
            <a:r>
              <a:rPr lang="ko-KR" altLang="en-US" sz="1600" dirty="0"/>
              <a:t>년 </a:t>
            </a:r>
            <a:r>
              <a:rPr lang="en-US" altLang="ko-KR" sz="1600" dirty="0"/>
              <a:t>2,490.3TWh</a:t>
            </a:r>
            <a:r>
              <a:rPr lang="ko-KR" altLang="en-US" sz="1600" dirty="0"/>
              <a:t>에서 </a:t>
            </a:r>
            <a:r>
              <a:rPr lang="en-US" altLang="ko-KR" sz="1600" dirty="0"/>
              <a:t>2023</a:t>
            </a:r>
            <a:r>
              <a:rPr lang="ko-KR" altLang="en-US" sz="1600" dirty="0"/>
              <a:t>년 </a:t>
            </a:r>
            <a:r>
              <a:rPr lang="en-US" altLang="ko-KR" sz="1600" dirty="0"/>
              <a:t>2,737.7TWh</a:t>
            </a:r>
            <a:r>
              <a:rPr lang="ko-KR" altLang="en-US" sz="1600" dirty="0"/>
              <a:t>로 증가하였다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유럽의 경우 후쿠시마 사태 이후 탈원전의 영향으로 원자력 전력 생산이 </a:t>
            </a:r>
            <a:r>
              <a:rPr lang="en-US" altLang="ko-KR" sz="1600" dirty="0"/>
              <a:t>986.2Twh</a:t>
            </a:r>
            <a:r>
              <a:rPr lang="ko-KR" altLang="en-US" sz="1600" dirty="0"/>
              <a:t>에서 </a:t>
            </a:r>
            <a:r>
              <a:rPr lang="en-US" altLang="ko-KR" sz="1600" dirty="0"/>
              <a:t>735.9TWh</a:t>
            </a:r>
            <a:r>
              <a:rPr lang="ko-KR" altLang="en-US" sz="1600" dirty="0"/>
              <a:t>로 감소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아시아태평양지역은 중국과 인도의 원자력 전력 생산 증가에 힘입어 </a:t>
            </a:r>
            <a:r>
              <a:rPr lang="en-US" altLang="ko-KR" sz="1600" dirty="0"/>
              <a:t>344.1Twh</a:t>
            </a:r>
            <a:r>
              <a:rPr lang="ko-KR" altLang="en-US" sz="1600" dirty="0"/>
              <a:t>에서 </a:t>
            </a:r>
            <a:r>
              <a:rPr lang="en-US" altLang="ko-KR" sz="1600" dirty="0"/>
              <a:t>781.1TWh</a:t>
            </a:r>
            <a:r>
              <a:rPr lang="ko-KR" altLang="en-US" sz="1600" dirty="0"/>
              <a:t>로 증가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북미의 경우 </a:t>
            </a:r>
            <a:r>
              <a:rPr lang="en-US" altLang="ko-KR" sz="1600" dirty="0"/>
              <a:t>945.1TWh</a:t>
            </a:r>
            <a:r>
              <a:rPr lang="ko-KR" altLang="en-US" sz="1600" dirty="0"/>
              <a:t>에서 </a:t>
            </a:r>
            <a:r>
              <a:rPr lang="en-US" altLang="ko-KR" sz="1600" dirty="0"/>
              <a:t>917.6TWh</a:t>
            </a:r>
            <a:r>
              <a:rPr lang="ko-KR" altLang="en-US" sz="1600" dirty="0"/>
              <a:t>로 소폭 감소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러시아를 중심으로 한 </a:t>
            </a:r>
            <a:r>
              <a:rPr lang="en-US" altLang="ko-KR" sz="1600" dirty="0"/>
              <a:t>CIS</a:t>
            </a:r>
            <a:r>
              <a:rPr lang="ko-KR" altLang="en-US" sz="1600" dirty="0"/>
              <a:t>국가들은 같은 기간 동안 </a:t>
            </a:r>
            <a:r>
              <a:rPr lang="en-US" altLang="ko-KR" sz="1600" dirty="0"/>
              <a:t>174.9TWh</a:t>
            </a:r>
            <a:r>
              <a:rPr lang="ko-KR" altLang="en-US" sz="1600" dirty="0"/>
              <a:t>에서 </a:t>
            </a:r>
            <a:r>
              <a:rPr lang="en-US" altLang="ko-KR" sz="1600" dirty="0"/>
              <a:t>231.8TWh</a:t>
            </a:r>
            <a:r>
              <a:rPr lang="ko-KR" altLang="en-US" sz="1600" dirty="0"/>
              <a:t>로 전력 생산이 증가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중동의 경우 이란만이 원자력 발전을 하고 있으며 </a:t>
            </a:r>
            <a:r>
              <a:rPr lang="en-US" altLang="ko-KR" sz="1600" dirty="0"/>
              <a:t>4.3TWh</a:t>
            </a:r>
            <a:r>
              <a:rPr lang="ko-KR" altLang="en-US" sz="1600" dirty="0"/>
              <a:t>에서 </a:t>
            </a:r>
            <a:r>
              <a:rPr lang="en-US" altLang="ko-KR" sz="1600" dirty="0"/>
              <a:t>26.7TWh</a:t>
            </a:r>
            <a:r>
              <a:rPr lang="ko-KR" altLang="en-US" sz="1600" dirty="0"/>
              <a:t>로 증가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남아공을 중심으로 한 아프리카 전력 생산은 </a:t>
            </a:r>
            <a:r>
              <a:rPr lang="en-US" altLang="ko-KR" sz="1600" dirty="0"/>
              <a:t>14.1TWh</a:t>
            </a:r>
            <a:r>
              <a:rPr lang="ko-KR" altLang="en-US" sz="1600" dirty="0"/>
              <a:t>에서 </a:t>
            </a:r>
            <a:r>
              <a:rPr lang="en-US" altLang="ko-KR" sz="1600" dirty="0"/>
              <a:t>10.1TWh</a:t>
            </a:r>
            <a:r>
              <a:rPr lang="ko-KR" altLang="en-US" sz="1600" dirty="0"/>
              <a:t>로 감소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(</a:t>
            </a:r>
            <a:r>
              <a:rPr lang="ko-KR" altLang="en-US" sz="1600" dirty="0"/>
              <a:t>자세한 내용은 뒷장에</a:t>
            </a:r>
            <a:r>
              <a:rPr lang="en-US" altLang="ko-KR" sz="1600" dirty="0"/>
              <a:t>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10A9FD8-31D3-2E71-F08A-D4EFFB8FB9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836915" y="4197276"/>
            <a:ext cx="5397102" cy="22622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2CF9AF-5439-60E4-4B6D-9AFD16EDB320}"/>
              </a:ext>
            </a:extLst>
          </p:cNvPr>
          <p:cNvSpPr txBox="1"/>
          <p:nvPr/>
        </p:nvSpPr>
        <p:spPr>
          <a:xfrm>
            <a:off x="4270344" y="3994411"/>
            <a:ext cx="27047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원자력을 이용한 전력생산</a:t>
            </a:r>
            <a:r>
              <a:rPr lang="en-US" altLang="ko-KR" sz="1200" spc="-50" dirty="0"/>
              <a:t>(TWh)&gt;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9870273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1A0503-AB28-EB3A-F546-1B8597B9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 발전 </a:t>
            </a:r>
            <a:r>
              <a:rPr lang="en-US" altLang="ko-KR" dirty="0"/>
              <a:t>(</a:t>
            </a:r>
            <a:r>
              <a:rPr lang="ko-KR" altLang="en-US" dirty="0"/>
              <a:t>전력생산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E9C033-460B-5927-F477-D0463AF4B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50</a:t>
            </a:fld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C910E3B-A65E-0D4E-59CE-5570CAA502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470508"/>
              </p:ext>
            </p:extLst>
          </p:nvPr>
        </p:nvGraphicFramePr>
        <p:xfrm>
          <a:off x="773676" y="3147317"/>
          <a:ext cx="4748946" cy="290567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36871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046480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295703">
                  <a:extLst>
                    <a:ext uri="{9D8B030D-6E8A-4147-A177-3AD203B41FA5}">
                      <a16:colId xmlns:a16="http://schemas.microsoft.com/office/drawing/2014/main" val="4042259682"/>
                    </a:ext>
                  </a:extLst>
                </a:gridCol>
                <a:gridCol w="1069892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2013-2023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연평균 증가율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비중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(2023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북미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917.6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캐나다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816.2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중남미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유럽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735.9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프랑스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338.2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53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스페인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스웨덴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-3.1%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162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</a:t>
                      </a: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국가들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231.8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2188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러시아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217.4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D099B25-D804-A008-5A0D-93B659A58E42}"/>
              </a:ext>
            </a:extLst>
          </p:cNvPr>
          <p:cNvSpPr txBox="1"/>
          <p:nvPr/>
        </p:nvSpPr>
        <p:spPr>
          <a:xfrm>
            <a:off x="7503656" y="2747850"/>
            <a:ext cx="30572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 </a:t>
            </a:r>
            <a:r>
              <a:rPr lang="ko-KR" altLang="en-US" sz="1200" spc="-50" dirty="0"/>
              <a:t>지역별 원자력 발전량 및 비중</a:t>
            </a:r>
            <a:r>
              <a:rPr lang="en-US" altLang="ko-KR" sz="1200" spc="-50" dirty="0"/>
              <a:t> (TWh) &gt;</a:t>
            </a:r>
            <a:endParaRPr lang="ko-KR" altLang="en-US" sz="1200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417BB5C-14BA-AB5E-4CDD-0EBAFC3FA6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547998"/>
              </p:ext>
            </p:extLst>
          </p:nvPr>
        </p:nvGraphicFramePr>
        <p:xfrm>
          <a:off x="6560459" y="3147317"/>
          <a:ext cx="4748946" cy="290567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36871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046480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304538">
                  <a:extLst>
                    <a:ext uri="{9D8B030D-6E8A-4147-A177-3AD203B41FA5}">
                      <a16:colId xmlns:a16="http://schemas.microsoft.com/office/drawing/2014/main" val="4042259682"/>
                    </a:ext>
                  </a:extLst>
                </a:gridCol>
                <a:gridCol w="1061057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2091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2013-2023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연평균 증가율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비중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(2023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중동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아랍에미레이트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980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아프리카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-4.5%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848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아시아태평양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781.1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981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434.7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41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77.5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93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180.5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583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 세계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2737.7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718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1831.7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558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906.0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E1C2792-627A-DCA2-A365-11F96F515A06}"/>
              </a:ext>
            </a:extLst>
          </p:cNvPr>
          <p:cNvSpPr txBox="1"/>
          <p:nvPr/>
        </p:nvSpPr>
        <p:spPr>
          <a:xfrm>
            <a:off x="1672697" y="2747850"/>
            <a:ext cx="30572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 </a:t>
            </a:r>
            <a:r>
              <a:rPr lang="ko-KR" altLang="en-US" sz="1200" spc="-50" dirty="0"/>
              <a:t>지역별 원자력 발전량 및 비중</a:t>
            </a:r>
            <a:r>
              <a:rPr lang="en-US" altLang="ko-KR" sz="1200" spc="-50" dirty="0"/>
              <a:t> (TWh) &gt;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0AB5A7-279A-D43A-8E59-35B1ACFAC792}"/>
              </a:ext>
            </a:extLst>
          </p:cNvPr>
          <p:cNvSpPr txBox="1"/>
          <p:nvPr/>
        </p:nvSpPr>
        <p:spPr>
          <a:xfrm>
            <a:off x="288790" y="958844"/>
            <a:ext cx="11118453" cy="783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2023</a:t>
            </a:r>
            <a:r>
              <a:rPr lang="ko-KR" altLang="en-US" sz="1600" dirty="0"/>
              <a:t>년 기준으로 원자력 발전량이 가장 많은 국가는 미국</a:t>
            </a:r>
            <a:r>
              <a:rPr lang="en-US" altLang="ko-KR" sz="1600" dirty="0"/>
              <a:t>(29.8%), </a:t>
            </a:r>
            <a:r>
              <a:rPr lang="ko-KR" altLang="en-US" sz="1600" dirty="0"/>
              <a:t>중국</a:t>
            </a:r>
            <a:r>
              <a:rPr lang="en-US" altLang="ko-KR" sz="1600" dirty="0"/>
              <a:t>(15.9%), </a:t>
            </a:r>
            <a:r>
              <a:rPr lang="ko-KR" altLang="en-US" sz="1600" dirty="0"/>
              <a:t>프랑스</a:t>
            </a:r>
            <a:r>
              <a:rPr lang="en-US" altLang="ko-KR" sz="1600" dirty="0"/>
              <a:t>(12.4%), </a:t>
            </a:r>
            <a:r>
              <a:rPr lang="ko-KR" altLang="en-US" sz="1600" dirty="0"/>
              <a:t>러시아</a:t>
            </a:r>
            <a:r>
              <a:rPr lang="en-US" altLang="ko-KR" sz="1600" dirty="0"/>
              <a:t>(7.9%),        </a:t>
            </a:r>
            <a:r>
              <a:rPr lang="ko-KR" altLang="en-US" sz="1600" dirty="0"/>
              <a:t>한국 </a:t>
            </a:r>
            <a:r>
              <a:rPr lang="en-US" altLang="ko-KR" sz="1600" dirty="0"/>
              <a:t>(6.6%), </a:t>
            </a:r>
            <a:r>
              <a:rPr lang="ko-KR" altLang="en-US" sz="1600" dirty="0"/>
              <a:t>캐나다</a:t>
            </a:r>
            <a:r>
              <a:rPr lang="en-US" altLang="ko-KR" sz="1600" dirty="0"/>
              <a:t>(3.3%), </a:t>
            </a:r>
            <a:r>
              <a:rPr lang="ko-KR" altLang="en-US" sz="1600" dirty="0"/>
              <a:t>스페인</a:t>
            </a:r>
            <a:r>
              <a:rPr lang="en-US" altLang="ko-KR" sz="1600" dirty="0"/>
              <a:t>(2.1%) </a:t>
            </a:r>
            <a:r>
              <a:rPr lang="ko-KR" altLang="en-US" sz="1600" dirty="0"/>
              <a:t>이다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26364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1FFA8-0285-6BC7-89E6-7AEABF1EA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1722F1-B86F-FA7C-EC2B-E1FF5845D7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BCBED2-506E-28C2-8531-29CAC4992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8849E738-E699-EDAC-1856-3167C36F5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8. </a:t>
            </a:r>
            <a:r>
              <a:rPr lang="ko-KR" altLang="en-US" sz="4000" b="1" i="0" spc="150" dirty="0"/>
              <a:t>원자력의 미래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95078758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8A4E3-8B4F-EE28-3C87-78893D9B1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3EC2A9-6061-F3E4-3CE9-5840D47F9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소형모듈원자로와</a:t>
            </a:r>
            <a:r>
              <a:rPr lang="ko-KR" altLang="en-US" dirty="0"/>
              <a:t> 차세대 원자로 기술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3BFAB3-CFE0-5F18-C426-9AA767681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9565FB-6052-6089-674B-00AC3A67ED6A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소형모듈원자로</a:t>
            </a:r>
            <a:r>
              <a:rPr lang="en-US" altLang="ko-KR" sz="1600" dirty="0"/>
              <a:t>(SMR)</a:t>
            </a:r>
            <a:r>
              <a:rPr lang="ko-KR" altLang="en-US" sz="1600" dirty="0"/>
              <a:t>와 </a:t>
            </a:r>
            <a:r>
              <a:rPr lang="en-US" altLang="ko-KR" sz="1600" dirty="0"/>
              <a:t>4</a:t>
            </a:r>
            <a:r>
              <a:rPr lang="ko-KR" altLang="en-US" sz="1600" dirty="0"/>
              <a:t>세대 원자로 기술은 기존 대형 원자력 발전소가 지닌 높은 초기 자본비용</a:t>
            </a:r>
            <a:r>
              <a:rPr lang="en-US" altLang="ko-KR" sz="1600" dirty="0"/>
              <a:t>, </a:t>
            </a:r>
            <a:r>
              <a:rPr lang="ko-KR" altLang="en-US" sz="1600" dirty="0"/>
              <a:t>안전성 문제</a:t>
            </a:r>
            <a:r>
              <a:rPr lang="en-US" altLang="ko-KR" sz="1600" dirty="0"/>
              <a:t>, </a:t>
            </a:r>
            <a:r>
              <a:rPr lang="ko-KR" altLang="en-US" sz="1600" dirty="0"/>
              <a:t>방사성 폐기물 처리 등 구조적 문제를 보완하며 원자력 발전의 미래 대안으로 부각되고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소형모듈원자로는</a:t>
            </a:r>
            <a:r>
              <a:rPr lang="ko-KR" altLang="en-US" sz="1600" dirty="0"/>
              <a:t> 일반적으로 출력 </a:t>
            </a:r>
            <a:r>
              <a:rPr lang="en-US" altLang="ko-KR" sz="1600" dirty="0"/>
              <a:t>300MW </a:t>
            </a:r>
            <a:r>
              <a:rPr lang="ko-KR" altLang="en-US" sz="1600" dirty="0"/>
              <a:t>이하의 소형 원자로로 정의되며</a:t>
            </a:r>
            <a:r>
              <a:rPr lang="en-US" altLang="ko-KR" sz="1600" dirty="0"/>
              <a:t>, </a:t>
            </a:r>
            <a:r>
              <a:rPr lang="ko-KR" altLang="en-US" sz="1600" dirty="0"/>
              <a:t>공장에서 모듈 형태로 제작되어 현장에서 조립함으로써 건설기간과 비용을 절감하며</a:t>
            </a:r>
            <a:r>
              <a:rPr lang="en-US" altLang="ko-KR" sz="1600" dirty="0"/>
              <a:t>, </a:t>
            </a:r>
            <a:r>
              <a:rPr lang="ko-KR" altLang="en-US" sz="1600" dirty="0"/>
              <a:t>아래와 같은 장점을 가진다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첫째</a:t>
            </a:r>
            <a:r>
              <a:rPr lang="en-US" altLang="ko-KR" sz="1600" dirty="0"/>
              <a:t>, </a:t>
            </a:r>
            <a:r>
              <a:rPr lang="ko-KR" altLang="en-US" sz="1600" dirty="0"/>
              <a:t>초기 투자비용이 낮아져 금융 리스크가 감소한다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둘째</a:t>
            </a:r>
            <a:r>
              <a:rPr lang="en-US" altLang="ko-KR" sz="1600" dirty="0"/>
              <a:t>, </a:t>
            </a:r>
            <a:r>
              <a:rPr lang="ko-KR" altLang="en-US" sz="1600" dirty="0"/>
              <a:t>확장 가능성이 높아 에너지 수요에 따라 모듈을 단계적으로 추가 설치할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셋째</a:t>
            </a:r>
            <a:r>
              <a:rPr lang="en-US" altLang="ko-KR" sz="1600" dirty="0"/>
              <a:t>, </a:t>
            </a:r>
            <a:r>
              <a:rPr lang="ko-KR" altLang="en-US" sz="1600" dirty="0"/>
              <a:t>수동적 안전 시스템을 통해 비상 상황에서도 외부 전력이나 인간 개입 없이 자연 대류나 중력을 이용해 노심 냉각이 가능하다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넷째</a:t>
            </a:r>
            <a:r>
              <a:rPr lang="en-US" altLang="ko-KR" sz="1600" dirty="0"/>
              <a:t>, </a:t>
            </a:r>
            <a:r>
              <a:rPr lang="ko-KR" altLang="en-US" sz="1600" dirty="0"/>
              <a:t>소형 설계 덕분에 기존의 대형 원자로 설치가 어려운 고립 지역이나 산업 단지에도 배치가 가능하여 분산형 전원으로의 활용 가능성이 높다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현재 미국의 </a:t>
            </a:r>
            <a:r>
              <a:rPr lang="en-US" altLang="ko-KR" sz="1600" dirty="0" err="1"/>
              <a:t>NuScale</a:t>
            </a:r>
            <a:r>
              <a:rPr lang="en-US" altLang="ko-KR" sz="1600" dirty="0"/>
              <a:t> Power, </a:t>
            </a:r>
            <a:r>
              <a:rPr lang="ko-KR" altLang="en-US" sz="1600" dirty="0"/>
              <a:t>영국의 </a:t>
            </a:r>
            <a:r>
              <a:rPr lang="en-US" altLang="ko-KR" sz="1600" dirty="0"/>
              <a:t>Rolls-Royce </a:t>
            </a:r>
            <a:r>
              <a:rPr lang="ko-KR" altLang="en-US" sz="1600" dirty="0"/>
              <a:t>등이 </a:t>
            </a:r>
            <a:r>
              <a:rPr lang="en-US" altLang="ko-KR" sz="1600" dirty="0"/>
              <a:t>SMR </a:t>
            </a:r>
            <a:r>
              <a:rPr lang="ko-KR" altLang="en-US" sz="1600" dirty="0"/>
              <a:t>상용화에 앞장서고 있으며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NuScale</a:t>
            </a:r>
            <a:r>
              <a:rPr lang="ko-KR" altLang="en-US" sz="1600" dirty="0"/>
              <a:t>은 미국 원자력 규제위원회로부터 최초의 설계 인증을 받은 바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18810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0803C-5594-2B1C-AA3D-6614F45C6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41F46F-B299-E88E-BB08-7D35FC51C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소형모듈원자로와</a:t>
            </a:r>
            <a:r>
              <a:rPr lang="ko-KR" altLang="en-US" dirty="0"/>
              <a:t> 차세대 원자로 기술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4FE66E-E673-DC89-29E9-EE31E6761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FCC491-16F2-F549-B011-F59A5A02981D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4</a:t>
            </a:r>
            <a:r>
              <a:rPr lang="ko-KR" altLang="en-US" sz="1600" dirty="0"/>
              <a:t>세대 원자로는 고속 중성자 기반의 설계를 통해 연료 효율성을 극대화하고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사용후핵연료</a:t>
            </a:r>
            <a:r>
              <a:rPr lang="ko-KR" altLang="en-US" sz="1600" dirty="0"/>
              <a:t> 재활용과 핵폐기물 저감을 통해 지속가능한 원자력 기술로 평가받고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주요 기술에는 </a:t>
            </a:r>
            <a:r>
              <a:rPr lang="ko-KR" altLang="en-US" sz="1600" dirty="0" err="1"/>
              <a:t>가스냉각고속원자로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소듐냉각고속원자로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용융염원자로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납냉각</a:t>
            </a:r>
            <a:r>
              <a:rPr lang="ko-KR" altLang="en-US" sz="1600" dirty="0"/>
              <a:t> 고속원자로 등이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핵융합 원자로는 태양에서 발생하는 반응을 지상에서 구현함으로써 안전하고 사실상 무제한의 에너지를 제공하려는 기술이다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대표적으로 프랑스에서 다국적 협력으로 진행 중인 </a:t>
            </a:r>
            <a:r>
              <a:rPr lang="ko-KR" altLang="en-US" sz="1600" dirty="0" err="1"/>
              <a:t>국제열핵융합실험로</a:t>
            </a:r>
            <a:r>
              <a:rPr lang="en-US" altLang="ko-KR" sz="1600" dirty="0"/>
              <a:t>(ITER) </a:t>
            </a:r>
            <a:r>
              <a:rPr lang="ko-KR" altLang="en-US" sz="1600" dirty="0"/>
              <a:t>가 있으며</a:t>
            </a:r>
            <a:r>
              <a:rPr lang="en-US" altLang="ko-KR" sz="1600" dirty="0"/>
              <a:t>, EU, </a:t>
            </a:r>
            <a:r>
              <a:rPr lang="ko-KR" altLang="en-US" sz="1600" dirty="0"/>
              <a:t>미국</a:t>
            </a:r>
            <a:r>
              <a:rPr lang="en-US" altLang="ko-KR" sz="1600" dirty="0"/>
              <a:t>, </a:t>
            </a:r>
            <a:r>
              <a:rPr lang="ko-KR" altLang="en-US" sz="1600" dirty="0"/>
              <a:t>중국</a:t>
            </a:r>
            <a:r>
              <a:rPr lang="en-US" altLang="ko-KR" sz="1600" dirty="0"/>
              <a:t>, </a:t>
            </a:r>
            <a:r>
              <a:rPr lang="ko-KR" altLang="en-US" sz="1600" dirty="0"/>
              <a:t>일본</a:t>
            </a:r>
            <a:r>
              <a:rPr lang="en-US" altLang="ko-KR" sz="1600" dirty="0"/>
              <a:t>, </a:t>
            </a:r>
            <a:r>
              <a:rPr lang="ko-KR" altLang="en-US" sz="1600" dirty="0"/>
              <a:t>한국 등이 참여하고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핵융합 반응은 중수소와 삼중수소 등 풍부한 수소 동위원소를 연료로 사용하며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고준위</a:t>
            </a:r>
            <a:r>
              <a:rPr lang="ko-KR" altLang="en-US" sz="1600" dirty="0"/>
              <a:t> 방사성 폐기물의 생성이 거의 없고</a:t>
            </a:r>
            <a:r>
              <a:rPr lang="en-US" altLang="ko-KR" sz="1600" dirty="0"/>
              <a:t>, </a:t>
            </a:r>
            <a:r>
              <a:rPr lang="ko-KR" altLang="en-US" sz="1600" dirty="0"/>
              <a:t>반응 조건이 충족되지 않으면 즉시 중단되어 노심용해와 같은 사고 위험이 없다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다만</a:t>
            </a:r>
            <a:r>
              <a:rPr lang="en-US" altLang="ko-KR" sz="1600" dirty="0"/>
              <a:t>, </a:t>
            </a:r>
            <a:r>
              <a:rPr lang="ko-KR" altLang="en-US" sz="1600" dirty="0"/>
              <a:t>핵융합을 상업적으로 실현하기 위해서는 수억 도 이상의 고온 플라즈마를 안정적으로 유지해야 하는 과학적</a:t>
            </a:r>
            <a:r>
              <a:rPr lang="en-US" altLang="ko-KR" sz="1600" dirty="0"/>
              <a:t>·</a:t>
            </a:r>
            <a:r>
              <a:rPr lang="ko-KR" altLang="en-US" sz="1600" dirty="0"/>
              <a:t>공학적 도전이 여전히 존재한다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96094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F7C9E-3102-E890-79E0-1E79CD386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C90FEC-A0E8-9FA6-659A-A36B18461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원자력에너지와 재생가능에너지의 조화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905C0E-E929-8CDF-74DF-9533156C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6E46BA-55DD-8D85-52DE-86337DDA958F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기후변화 대응과 탈탄소화를 위한 세계 에너지 체제의 전환에 따라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원자력에너지와 재생에너지는 상호보완적으로 저탄소 에너지 시스템을 구축하는 핵심적인 에너지원으로 평가되고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두 에너지원은 각기 다른 장점과 기술적 특성을 지니며</a:t>
            </a:r>
            <a:r>
              <a:rPr lang="en-US" altLang="ko-KR" sz="1600" dirty="0"/>
              <a:t>, </a:t>
            </a:r>
            <a:r>
              <a:rPr lang="ko-KR" altLang="en-US" sz="1600" dirty="0"/>
              <a:t>이를 조화롭게 통합함으로써 에너지 안보</a:t>
            </a:r>
            <a:r>
              <a:rPr lang="en-US" altLang="ko-KR" sz="1600" dirty="0"/>
              <a:t>, </a:t>
            </a:r>
            <a:r>
              <a:rPr lang="ko-KR" altLang="en-US" sz="1600" dirty="0"/>
              <a:t>신뢰성</a:t>
            </a:r>
            <a:r>
              <a:rPr lang="en-US" altLang="ko-KR" sz="1600" dirty="0"/>
              <a:t>, </a:t>
            </a:r>
            <a:r>
              <a:rPr lang="ko-KR" altLang="en-US" sz="1600" dirty="0"/>
              <a:t>기후목표 달성측면에서 시너지를 창출할 수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원자력과 태양광</a:t>
            </a:r>
            <a:r>
              <a:rPr lang="en-US" altLang="ko-KR" sz="1600" dirty="0"/>
              <a:t>, </a:t>
            </a:r>
            <a:r>
              <a:rPr lang="ko-KR" altLang="en-US" sz="1600" dirty="0"/>
              <a:t>풍력</a:t>
            </a:r>
            <a:r>
              <a:rPr lang="en-US" altLang="ko-KR" sz="1600" dirty="0"/>
              <a:t>, </a:t>
            </a:r>
            <a:r>
              <a:rPr lang="ko-KR" altLang="en-US" sz="1600" dirty="0"/>
              <a:t>수력 등의 재생에너지는 상호보완적이다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원자력은 계절</a:t>
            </a:r>
            <a:r>
              <a:rPr lang="en-US" altLang="ko-KR" sz="1600" dirty="0"/>
              <a:t>, </a:t>
            </a:r>
            <a:r>
              <a:rPr lang="ko-KR" altLang="en-US" sz="1600" dirty="0"/>
              <a:t>날씨</a:t>
            </a:r>
            <a:r>
              <a:rPr lang="en-US" altLang="ko-KR" sz="1600" dirty="0"/>
              <a:t>, </a:t>
            </a:r>
            <a:r>
              <a:rPr lang="ko-KR" altLang="en-US" sz="1600" dirty="0"/>
              <a:t>시간대에 관계없이 연속적인 전력 공급이 가능하며 일반적으로 </a:t>
            </a:r>
            <a:r>
              <a:rPr lang="en-US" altLang="ko-KR" sz="1600" dirty="0"/>
              <a:t>90% </a:t>
            </a:r>
            <a:r>
              <a:rPr lang="ko-KR" altLang="en-US" sz="1600" dirty="0"/>
              <a:t>이상의 높은 용량계수를 유지한다는 점에서 안정적인 기저부하 전원으로 기능한다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반면 태양광과 풍력은 본질적으로 간헐성을 지니며 전력 생산량이 기후 조건에 따라 변동한다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따라서 원자력은 재생에너지의 간헐성을 보완할 수 있고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재생에너지는 원자력에 대한 연료 의존도를 줄이고 전체 시스템의 탈탄소화를 촉진한다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628441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ECD4D-1083-19B9-9A80-C28663072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307143-9897-22CE-690C-4D5477420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원자력에너지와 재생가능에너지의 조화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CE7798-D404-07B7-1234-101D12CC0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7632F1-2E4D-7A73-1C87-584D6156AAF7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재생에너지의 </a:t>
            </a:r>
            <a:r>
              <a:rPr lang="ko-KR" altLang="en-US" sz="1600" dirty="0" err="1"/>
              <a:t>전력망</a:t>
            </a:r>
            <a:r>
              <a:rPr lang="ko-KR" altLang="en-US" sz="1600" dirty="0"/>
              <a:t> 통합에서 가장 큰 도전은 간헐성과 예측 불가능성이다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전력수요와 공급이 일치하지 않으면 계통의 주파수 안정성이나 전력 품질 문제가 발생한다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이를 해결하기 위해서는 백업 전원이나 에너지 저장기술이 필요하다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원자력은 안정적인 전력을 제공함으로써 전력계통의 신뢰성 유지에 기여할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출력 조절이 가능한 원자로 설계를 통해</a:t>
            </a:r>
            <a:r>
              <a:rPr lang="en-US" altLang="ko-KR" sz="1600" dirty="0"/>
              <a:t>, </a:t>
            </a:r>
            <a:r>
              <a:rPr lang="ko-KR" altLang="en-US" sz="1600" dirty="0"/>
              <a:t>태양광이나 </a:t>
            </a:r>
            <a:r>
              <a:rPr lang="ko-KR" altLang="en-US" sz="1600" dirty="0" err="1"/>
              <a:t>풍력발전량이</a:t>
            </a:r>
            <a:r>
              <a:rPr lang="ko-KR" altLang="en-US" sz="1600" dirty="0"/>
              <a:t> 높은 시기에는 출력을 줄이고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 생산이 저조한 시기에는 출력을 늘려 계통을 </a:t>
            </a:r>
            <a:r>
              <a:rPr lang="ko-KR" altLang="en-US" sz="1600" dirty="0" err="1"/>
              <a:t>안정화할</a:t>
            </a:r>
            <a:r>
              <a:rPr lang="ko-KR" altLang="en-US" sz="1600" dirty="0"/>
              <a:t>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에너지 저장장치 역시 재생에너지의 변동성을 완화하는데 핵심적이다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배터리 저장 시스템</a:t>
            </a:r>
            <a:r>
              <a:rPr lang="en-US" altLang="ko-KR" sz="1600" dirty="0"/>
              <a:t>, </a:t>
            </a:r>
            <a:r>
              <a:rPr lang="ko-KR" altLang="en-US" sz="1600" dirty="0"/>
              <a:t>양수발전</a:t>
            </a:r>
            <a:r>
              <a:rPr lang="en-US" altLang="ko-KR" sz="1600" dirty="0"/>
              <a:t>, </a:t>
            </a:r>
            <a:r>
              <a:rPr lang="ko-KR" altLang="en-US" sz="1600" dirty="0"/>
              <a:t>열 저장</a:t>
            </a:r>
            <a:r>
              <a:rPr lang="en-US" altLang="ko-KR" sz="1600" dirty="0"/>
              <a:t>, </a:t>
            </a:r>
            <a:r>
              <a:rPr lang="ko-KR" altLang="en-US" sz="1600" dirty="0"/>
              <a:t>수소 저장 등은 초과 전력을 저장한 후 수요 피크 시간에 공급함으로써 계통 유연성을 확보한다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원자력과 재생에너지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저장기술을 통합하면 계통 운영 안정성을 향상시킬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원자력과 재생에너지의 통합적 확산을 실현하기 위해서는 정부의 정책적 지원과 전력 인프라에 대한 투자가 필수다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세제 혜택</a:t>
            </a:r>
            <a:r>
              <a:rPr lang="en-US" altLang="ko-KR" sz="1600" dirty="0"/>
              <a:t>, </a:t>
            </a:r>
            <a:r>
              <a:rPr lang="ko-KR" altLang="en-US" sz="1600" dirty="0"/>
              <a:t>보조금</a:t>
            </a:r>
            <a:r>
              <a:rPr lang="en-US" altLang="ko-KR" sz="1600" dirty="0"/>
              <a:t>, </a:t>
            </a:r>
            <a:r>
              <a:rPr lang="ko-KR" altLang="en-US" sz="1600" dirty="0"/>
              <a:t>프로젝트 금융 등의 지원수단을 포함하여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송전망</a:t>
            </a:r>
            <a:r>
              <a:rPr lang="ko-KR" altLang="en-US" sz="1600" dirty="0"/>
              <a:t> 현대화</a:t>
            </a:r>
            <a:r>
              <a:rPr lang="en-US" altLang="ko-KR" sz="1600" dirty="0"/>
              <a:t>, </a:t>
            </a:r>
            <a:r>
              <a:rPr lang="ko-KR" altLang="en-US" sz="1600" dirty="0"/>
              <a:t>디지털 계통 관리 등 다양한 에너지원 간의 통합을 </a:t>
            </a:r>
            <a:r>
              <a:rPr lang="ko-KR" altLang="en-US" sz="1600" dirty="0" err="1"/>
              <a:t>원할히</a:t>
            </a:r>
            <a:r>
              <a:rPr lang="ko-KR" altLang="en-US" sz="1600" dirty="0"/>
              <a:t> 하여</a:t>
            </a:r>
            <a:r>
              <a:rPr lang="en-US" altLang="ko-KR" sz="1600" dirty="0"/>
              <a:t>, </a:t>
            </a:r>
            <a:r>
              <a:rPr lang="ko-KR" altLang="en-US" sz="1600" dirty="0"/>
              <a:t>유연한 에너지시스템을 구축하는 데 중요한 기반이 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212449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0A312-6E61-EA12-FA9E-05F90F904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4F7032-AE86-C757-2F08-D6FE5357245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37DA62-1EF3-92DE-C66C-CAD286405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56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61C3653-E745-8894-9B1A-1F4A509C9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9. </a:t>
            </a:r>
            <a:r>
              <a:rPr lang="ko-KR" altLang="en-US" sz="4000" b="1" i="0" spc="150" dirty="0"/>
              <a:t>에너지 전환과 원자력에너지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7236204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B0452-5B1B-01AF-FAC3-D60A33824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047E40-A7F5-FD90-0A01-4C0E42A85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원자력에너지와 재생가능에너지의 조화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82B319-D7DA-C919-5087-1F9C4C5A2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D7A90C-E980-FFF5-54A8-CA33EF5E6983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종합해보면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전환은 경제성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안보</a:t>
            </a:r>
            <a:r>
              <a:rPr lang="en-US" altLang="ko-KR" sz="1600" dirty="0"/>
              <a:t>, </a:t>
            </a:r>
            <a:r>
              <a:rPr lang="ko-KR" altLang="en-US" sz="1600" dirty="0"/>
              <a:t>환경 지속가능성이라는 </a:t>
            </a:r>
            <a:r>
              <a:rPr lang="en-US" altLang="ko-KR" sz="1600" dirty="0"/>
              <a:t>‘</a:t>
            </a:r>
            <a:r>
              <a:rPr lang="ko-KR" altLang="en-US" sz="1600" dirty="0"/>
              <a:t>에너지 삼중고</a:t>
            </a:r>
            <a:r>
              <a:rPr lang="en-US" altLang="ko-KR" sz="1600" dirty="0"/>
              <a:t>‘</a:t>
            </a:r>
            <a:r>
              <a:rPr lang="ko-KR" altLang="en-US" sz="1600" dirty="0"/>
              <a:t>의 균형을 요구하는 가운데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 에너지는 아래의 </a:t>
            </a:r>
            <a:r>
              <a:rPr lang="ko-KR" altLang="en-US" sz="1600" dirty="0" err="1"/>
              <a:t>측면들에서</a:t>
            </a:r>
            <a:r>
              <a:rPr lang="ko-KR" altLang="en-US" sz="1600" dirty="0"/>
              <a:t> 중요한 역할을 수행한다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첫째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원자력은 에너지 전환에서 기저부하 발전원으로서 전략적 가치를 가진다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재생에너지의 간헐성과 출력 변동성을 보완해줄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둘째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원자력은 에너지 안보 측면에서 전략적 자산으로 기능한다</a:t>
            </a:r>
            <a:r>
              <a:rPr lang="en-US" altLang="ko-KR" sz="160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우라늄은 연료밀도가 높고</a:t>
            </a:r>
            <a:r>
              <a:rPr lang="en-US" altLang="ko-KR" sz="1600" dirty="0"/>
              <a:t>, </a:t>
            </a:r>
            <a:r>
              <a:rPr lang="ko-KR" altLang="en-US" sz="1600" dirty="0"/>
              <a:t>공급국이 비교적 다양하고</a:t>
            </a:r>
            <a:r>
              <a:rPr lang="en-US" altLang="ko-KR" sz="1600" dirty="0"/>
              <a:t>, </a:t>
            </a:r>
            <a:r>
              <a:rPr lang="ko-KR" altLang="en-US" sz="1600" dirty="0"/>
              <a:t>장기간 저장 가능해 공급 중단의 지정학적 위험이 낮다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셋째</a:t>
            </a:r>
            <a:r>
              <a:rPr lang="en-US" altLang="ko-KR" sz="1600" dirty="0"/>
              <a:t>, </a:t>
            </a:r>
            <a:r>
              <a:rPr lang="ko-KR" altLang="en-US" sz="1600" dirty="0"/>
              <a:t>정치</a:t>
            </a:r>
            <a:r>
              <a:rPr lang="en-US" altLang="ko-KR" sz="1600" dirty="0"/>
              <a:t>·</a:t>
            </a:r>
            <a:r>
              <a:rPr lang="ko-KR" altLang="en-US" sz="1600" dirty="0"/>
              <a:t>사회적 수용성과 안전성에 대한 신뢰 확보가 필수적이다</a:t>
            </a:r>
            <a:r>
              <a:rPr lang="en-US" altLang="ko-KR" sz="160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원자력 정책은 기술적</a:t>
            </a:r>
            <a:r>
              <a:rPr lang="en-US" altLang="ko-KR" sz="1600" dirty="0"/>
              <a:t>, </a:t>
            </a:r>
            <a:r>
              <a:rPr lang="ko-KR" altLang="en-US" sz="1600" dirty="0"/>
              <a:t>경제적 타당성에 대한 평가를 넘어</a:t>
            </a:r>
            <a:r>
              <a:rPr lang="en-US" altLang="ko-KR" sz="1600" dirty="0"/>
              <a:t>, </a:t>
            </a:r>
            <a:r>
              <a:rPr lang="ko-KR" altLang="en-US" sz="1600" dirty="0"/>
              <a:t>리스크 관리</a:t>
            </a:r>
            <a:r>
              <a:rPr lang="en-US" altLang="ko-KR" sz="1600" dirty="0"/>
              <a:t>, </a:t>
            </a:r>
            <a:r>
              <a:rPr lang="ko-KR" altLang="en-US" sz="1600" dirty="0"/>
              <a:t>투명한 규제</a:t>
            </a:r>
            <a:r>
              <a:rPr lang="en-US" altLang="ko-KR" sz="1600" dirty="0"/>
              <a:t>, </a:t>
            </a:r>
            <a:r>
              <a:rPr lang="ko-KR" altLang="en-US" sz="1600" dirty="0"/>
              <a:t>지역사회와의 신뢰 형성을 포함한 통합적 거버넌스 접근이 요구된다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넷째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소형모듈원자로와</a:t>
            </a:r>
            <a:r>
              <a:rPr lang="ko-KR" altLang="en-US" sz="1600" dirty="0"/>
              <a:t> 같은 차세대 기술의 상용화는 전략적 수단으로 부각되고 있다</a:t>
            </a:r>
            <a:r>
              <a:rPr lang="en-US" altLang="ko-KR" sz="160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전통적 원전보다 투자비와 건설 기간이 짧고</a:t>
            </a:r>
            <a:r>
              <a:rPr lang="en-US" altLang="ko-KR" sz="1600" dirty="0"/>
              <a:t>, </a:t>
            </a:r>
            <a:r>
              <a:rPr lang="ko-KR" altLang="en-US" sz="1600" dirty="0"/>
              <a:t>입지 조건이 비교적 까다롭지 않다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0288560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1EDDE-B308-8FA7-8116-DAD482D86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6FF0BD-25A1-7840-4B63-B2ECDF7CFA5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A03F291-495C-4A31-DF0A-8F9CC976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FC0B50-C677-27B7-56F6-14F7BF9A7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39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12635</TotalTime>
  <Words>5979</Words>
  <Application>Microsoft Office PowerPoint</Application>
  <PresentationFormat>와이드스크린</PresentationFormat>
  <Paragraphs>543</Paragraphs>
  <Slides>58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58</vt:i4>
      </vt:variant>
    </vt:vector>
  </HeadingPairs>
  <TitlesOfParts>
    <vt:vector size="64" baseType="lpstr">
      <vt:lpstr>HY헤드라인M</vt:lpstr>
      <vt:lpstr>KoPub돋움체 Light</vt:lpstr>
      <vt:lpstr>맑은 고딕</vt:lpstr>
      <vt:lpstr>Arial</vt:lpstr>
      <vt:lpstr>Wingdings</vt:lpstr>
      <vt:lpstr>Office 테마</vt:lpstr>
      <vt:lpstr>자원·에너지 경제학</vt:lpstr>
      <vt:lpstr>Chapter 6  재생에너지</vt:lpstr>
      <vt:lpstr>Section 1. 개 론</vt:lpstr>
      <vt:lpstr>서론</vt:lpstr>
      <vt:lpstr>서론</vt:lpstr>
      <vt:lpstr>서론</vt:lpstr>
      <vt:lpstr>Section 2. 주요 재생에너지 종류와 특성</vt:lpstr>
      <vt:lpstr>Section 3. 재생에너지의 경제적 특성</vt:lpstr>
      <vt:lpstr>Section 4. 재생에너지의 비용추이와 경쟁력</vt:lpstr>
      <vt:lpstr>Section 5. 전력시스템 내 재생에너지의 역할</vt:lpstr>
      <vt:lpstr>Section 6. 재생에너지에 의한 전력생산</vt:lpstr>
      <vt:lpstr>Section 7. 정책도구와 정부의 역할</vt:lpstr>
      <vt:lpstr>Section 8. 재생에너지의 미래</vt:lpstr>
      <vt:lpstr>서론</vt:lpstr>
      <vt:lpstr>Section 2. 원자력에너지의 역사</vt:lpstr>
      <vt:lpstr>원자력에너지의 역사</vt:lpstr>
      <vt:lpstr>원자력에너지의 역사</vt:lpstr>
      <vt:lpstr>원자력에너지의 역사</vt:lpstr>
      <vt:lpstr>Section 3. 원자력 발전의 기본 원리</vt:lpstr>
      <vt:lpstr>핵분열과 핵융합</vt:lpstr>
      <vt:lpstr>핵분열과 핵융합</vt:lpstr>
      <vt:lpstr>우라늄 및 플루토늄 연료 주기</vt:lpstr>
      <vt:lpstr>우라늄 및 플루토늄 연료 주기</vt:lpstr>
      <vt:lpstr>원자로의 구조</vt:lpstr>
      <vt:lpstr>원자로의 구조</vt:lpstr>
      <vt:lpstr>원자로의 기본 작동 원리</vt:lpstr>
      <vt:lpstr>원자로의 기본 작동 원리</vt:lpstr>
      <vt:lpstr>Section 4. 원자력 발전소</vt:lpstr>
      <vt:lpstr>주요 원자로 유형</vt:lpstr>
      <vt:lpstr>주요 원자로 유형</vt:lpstr>
      <vt:lpstr>원자력 발전소의 설계와 건설 과정</vt:lpstr>
      <vt:lpstr>원자력 발전소의 설계와 건설 과정</vt:lpstr>
      <vt:lpstr>원자력 발전소의 설계와 건설 과정</vt:lpstr>
      <vt:lpstr>원자력 발전소의 운영과 유지 보수</vt:lpstr>
      <vt:lpstr>원자력 발전소의 운영과 유지 보수</vt:lpstr>
      <vt:lpstr>Section 5. 원자력에너지의 경제성</vt:lpstr>
      <vt:lpstr>원자력 발전의 비용 구조</vt:lpstr>
      <vt:lpstr>원자력 발전의 비용 구조</vt:lpstr>
      <vt:lpstr>원자력 발전의 비용 구조</vt:lpstr>
      <vt:lpstr>원자력 발전의 장기적인 경제적 영향</vt:lpstr>
      <vt:lpstr>원자력 발전의 장기적인 경제적 영향</vt:lpstr>
      <vt:lpstr>원자력 발전의 장기적인 경제적 영향</vt:lpstr>
      <vt:lpstr>Section 6. 원자력 산업 구조와 경쟁구조</vt:lpstr>
      <vt:lpstr>산업구조</vt:lpstr>
      <vt:lpstr>산업구조</vt:lpstr>
      <vt:lpstr>경쟁구조</vt:lpstr>
      <vt:lpstr>경쟁구조</vt:lpstr>
      <vt:lpstr>Section 7. 원자력 발전 (전력생산)</vt:lpstr>
      <vt:lpstr>원자력 발전 (전력생산)</vt:lpstr>
      <vt:lpstr>원자력 발전 (전력생산)</vt:lpstr>
      <vt:lpstr>Section 8. 원자력의 미래</vt:lpstr>
      <vt:lpstr>소형모듈원자로와 차세대 원자로 기술</vt:lpstr>
      <vt:lpstr>소형모듈원자로와 차세대 원자로 기술</vt:lpstr>
      <vt:lpstr>원자력에너지와 재생가능에너지의 조화</vt:lpstr>
      <vt:lpstr>원자력에너지와 재생가능에너지의 조화</vt:lpstr>
      <vt:lpstr>Section 9. 에너지 전환과 원자력에너지</vt:lpstr>
      <vt:lpstr>원자력에너지와 재생가능에너지의 조화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591</cp:revision>
  <dcterms:created xsi:type="dcterms:W3CDTF">2025-07-05T05:15:23Z</dcterms:created>
  <dcterms:modified xsi:type="dcterms:W3CDTF">2026-06-23T07:30:24Z</dcterms:modified>
</cp:coreProperties>
</file>