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375" r:id="rId2"/>
    <p:sldId id="405" r:id="rId3"/>
    <p:sldId id="648" r:id="rId4"/>
    <p:sldId id="376" r:id="rId5"/>
    <p:sldId id="649" r:id="rId6"/>
    <p:sldId id="650" r:id="rId7"/>
    <p:sldId id="651" r:id="rId8"/>
    <p:sldId id="652" r:id="rId9"/>
    <p:sldId id="653" r:id="rId10"/>
    <p:sldId id="654" r:id="rId11"/>
    <p:sldId id="655" r:id="rId12"/>
    <p:sldId id="656" r:id="rId13"/>
    <p:sldId id="662" r:id="rId14"/>
    <p:sldId id="664" r:id="rId15"/>
    <p:sldId id="665" r:id="rId16"/>
    <p:sldId id="666" r:id="rId17"/>
    <p:sldId id="658" r:id="rId18"/>
    <p:sldId id="667" r:id="rId19"/>
    <p:sldId id="659" r:id="rId20"/>
    <p:sldId id="660" r:id="rId21"/>
    <p:sldId id="657" r:id="rId22"/>
    <p:sldId id="598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9" autoAdjust="0"/>
    <p:restoredTop sz="91885" autoAdjust="0"/>
  </p:normalViewPr>
  <p:slideViewPr>
    <p:cSldViewPr snapToGrid="0">
      <p:cViewPr>
        <p:scale>
          <a:sx n="100" d="100"/>
          <a:sy n="100" d="100"/>
        </p:scale>
        <p:origin x="1660" y="11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전력시장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전력시장은 경제학적으로나 기술적으로 매우 독특한 속성을 지닌 시장이다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현대 경제와 사회의 필수재로서</a:t>
            </a:r>
            <a:r>
              <a:rPr lang="en-US" altLang="ko-KR" sz="1600" dirty="0"/>
              <a:t>, </a:t>
            </a:r>
            <a:r>
              <a:rPr lang="ko-KR" altLang="en-US" sz="1600" dirty="0"/>
              <a:t>그 생산과 소비는 국가 경제의 전반적인 효율성과 지속가능성에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여타 상품과는 구별되는 독특한 속성을 지니며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전력시장은 특수한 제도적 설계와 운영방식을 필요로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위의 특성은 전력산업이 전통적으로 국가에 의해 규제되거나 공공독점 형태로 운영되어 온 역사적 이유이기도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오늘날 전력시장의 설계와 정책 결정에 핵심적 고려사항이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F796-991A-C211-A071-C8EAE870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3BA733-8A76-25CF-CA7C-309D19BB04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5A13B-2E35-7EC7-5C13-87A0E785E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804112-93AE-364B-6DCF-7FF93318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전력시장의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33239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9B9DE-EF76-0025-8288-6F23149EE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2017E6-D608-0A46-DDBD-BCA0F8DA4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12CC47-E0A0-A395-19C5-1BAF5A81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4ADA2C-2F19-6FF1-5D1B-BA5F020133A0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전력시장의 가장 핵심적인 특성은 실시간으로 수요와 공급의 균형이 유지되어야 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매 순간 발전된 전력은 곧바로 수요자에게 전달되어야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수요와 공급이 실시간으로 일치하지 않으면 전력시스템 전체의 안정성에 심각한 영향을 초래할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전력은 경제적으로 효율적인 저장이 매우 제한적이다</a:t>
            </a:r>
            <a:r>
              <a:rPr lang="en-US" altLang="ko-KR" sz="1600" dirty="0"/>
              <a:t>. (ex.</a:t>
            </a:r>
            <a:r>
              <a:rPr lang="ko-KR" altLang="en-US" sz="1600" dirty="0"/>
              <a:t> 배터리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상품시장에서는 공급자와 수요자 간의 거래가 이루어진 후</a:t>
            </a:r>
            <a:r>
              <a:rPr lang="en-US" altLang="ko-KR" sz="1600" dirty="0"/>
              <a:t>, </a:t>
            </a:r>
            <a:r>
              <a:rPr lang="ko-KR" altLang="en-US" sz="1600" dirty="0"/>
              <a:t>상품은 재고로 저장되거나 유통된다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특성은 시장 가격이 단순히 수급 균형을 반영하는 수준을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운영의 물리적 안정성과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발전량이 수요를 초과하거나 부족할 경우 전력망의 주파수나 전압이 허용 범위를 벗어나게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전체 계통의 정전이나 장비 손상으로 이어질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전력시장에서는 실시간 시장과 일전 시장</a:t>
            </a:r>
            <a:r>
              <a:rPr lang="en-US" altLang="ko-KR" sz="1600" dirty="0"/>
              <a:t>(day-ahead market)</a:t>
            </a:r>
            <a:r>
              <a:rPr lang="ko-KR" altLang="en-US" sz="1600" dirty="0"/>
              <a:t>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운영자는 수요 예측</a:t>
            </a:r>
            <a:r>
              <a:rPr lang="en-US" altLang="ko-KR" sz="1600" dirty="0"/>
              <a:t>, </a:t>
            </a:r>
            <a:r>
              <a:rPr lang="ko-KR" altLang="en-US" sz="1600" dirty="0"/>
              <a:t>발전계획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안정성 등을 모두 고려하여 실시간 균형을 유지한다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2794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32B78-6921-11C3-2240-C1288CD4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040ECE-3BAE-AC18-E4D1-2D436CB8B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9DA229-486A-A260-4FC6-F9B20C785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9C0C4D-78C0-884D-0A7E-A91B9EB0E82E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전력시장의 두번째 특징은 기술적 복잡성과 중앙 운영의 필요성이다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단순히 생산되어 소비자에게 전달되는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복잡하게 얽힌 송배전망을 통해 운송되어야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전력망은 발전소</a:t>
            </a:r>
            <a:r>
              <a:rPr lang="en-US" altLang="ko-KR" sz="1600" dirty="0"/>
              <a:t> &gt; </a:t>
            </a:r>
            <a:r>
              <a:rPr lang="ko-KR" altLang="en-US" sz="1600" dirty="0"/>
              <a:t>변전소 </a:t>
            </a:r>
            <a:r>
              <a:rPr lang="en-US" altLang="ko-KR" sz="1600" dirty="0"/>
              <a:t>&gt; </a:t>
            </a:r>
            <a:r>
              <a:rPr lang="ko-KR" altLang="en-US" sz="1600" dirty="0"/>
              <a:t>송전선로 </a:t>
            </a:r>
            <a:r>
              <a:rPr lang="en-US" altLang="ko-KR" sz="1600" dirty="0"/>
              <a:t>&gt; </a:t>
            </a:r>
            <a:r>
              <a:rPr lang="ko-KR" altLang="en-US" sz="1600" dirty="0" err="1"/>
              <a:t>배전망</a:t>
            </a:r>
            <a:r>
              <a:rPr lang="ko-KR" altLang="en-US" sz="1600" dirty="0"/>
              <a:t> </a:t>
            </a:r>
            <a:r>
              <a:rPr lang="en-US" altLang="ko-KR" sz="1600" dirty="0"/>
              <a:t>&gt; </a:t>
            </a:r>
            <a:r>
              <a:rPr lang="ko-KR" altLang="en-US" sz="1600" dirty="0"/>
              <a:t>소비자 등으로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 간의 연계가 전력의 흐름과 품질에 결정적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송전망은 </a:t>
            </a:r>
            <a:r>
              <a:rPr lang="ko-KR" altLang="en-US" sz="1600" dirty="0" err="1"/>
              <a:t>키르히호프의</a:t>
            </a:r>
            <a:r>
              <a:rPr lang="ko-KR" altLang="en-US" sz="1600" dirty="0"/>
              <a:t> 법칙에 따라 전력이 자동으로 흐르고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단순한 시장 메커니즘으로 제어하기 힘들다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기술제약으로 인해 대부분의 전력시장에서는 중립적인 중앙 운영기관</a:t>
            </a:r>
            <a:r>
              <a:rPr lang="en-US" altLang="ko-KR" sz="1600" dirty="0"/>
              <a:t>, </a:t>
            </a:r>
            <a:r>
              <a:rPr lang="ko-KR" altLang="en-US" sz="1600" dirty="0"/>
              <a:t>즉 독립계통운영자가 설치되어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발전기의 입찰 결과를 바탕으로 시스템의 전체 균형을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 혼잡을 해소하며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안정적인 주파수와 전압을 유지하는 기능을 수행한다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4967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1318D-C204-359F-05F7-5EEBE8DE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91F01-C3BE-8F8D-CFA0-F63F96DC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BC698F-5E92-A13B-9A91-29F4D4E10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111E5-BCD0-2685-245F-E37A80479FE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전력산업은 전통적으로 고정비용이 크고</a:t>
            </a:r>
            <a:r>
              <a:rPr lang="en-US" altLang="ko-KR" sz="1600" dirty="0"/>
              <a:t>, </a:t>
            </a:r>
            <a:r>
              <a:rPr lang="ko-KR" altLang="en-US" sz="1600" dirty="0"/>
              <a:t>규모의 경제가 작용하는 산업으로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송배전</a:t>
            </a:r>
            <a:r>
              <a:rPr lang="en-US" altLang="ko-KR" sz="1600" dirty="0"/>
              <a:t>(</a:t>
            </a:r>
            <a:r>
              <a:rPr lang="ko-KR" altLang="en-US" sz="1600" dirty="0"/>
              <a:t>송전</a:t>
            </a:r>
            <a:r>
              <a:rPr lang="en-US" altLang="ko-KR" sz="1600" dirty="0"/>
              <a:t>·</a:t>
            </a:r>
            <a:r>
              <a:rPr lang="ko-KR" altLang="en-US" sz="1600" dirty="0"/>
              <a:t>배전</a:t>
            </a:r>
            <a:r>
              <a:rPr lang="en-US" altLang="ko-KR" sz="1600" dirty="0"/>
              <a:t>)</a:t>
            </a:r>
            <a:r>
              <a:rPr lang="ko-KR" altLang="en-US" sz="1600" dirty="0"/>
              <a:t> 부문은 동일 지역 내에 중복된 시설을 구축하는 것이 비효율적이므로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자연독점적 성격을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국가에서 전력산업은 오랫동안 정부 혹은 공공기관에 의해 운영되어 왔다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</a:t>
            </a:r>
            <a:r>
              <a:rPr lang="en-US" altLang="ko-KR" sz="1600" dirty="0"/>
              <a:t>-</a:t>
            </a:r>
            <a:r>
              <a:rPr lang="ko-KR" altLang="en-US" sz="1600" dirty="0"/>
              <a:t>송전</a:t>
            </a:r>
            <a:r>
              <a:rPr lang="en-US" altLang="ko-KR" sz="1600" dirty="0"/>
              <a:t>-</a:t>
            </a:r>
            <a:r>
              <a:rPr lang="ko-KR" altLang="en-US" sz="1600" dirty="0"/>
              <a:t>배전</a:t>
            </a:r>
            <a:r>
              <a:rPr lang="en-US" altLang="ko-KR" sz="1600" dirty="0"/>
              <a:t>-</a:t>
            </a:r>
            <a:r>
              <a:rPr lang="ko-KR" altLang="en-US" sz="1600" dirty="0"/>
              <a:t>소매 판매로 이어지는 수직통합 구조가 일반적이었다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국가에서는 전력산업의 효율성과 경쟁 촉진을 위해 수직통합 구조를 해체하고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및 판매 부문에 경쟁을 도입하는 구조개편이 진행되었다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시장화 정책은 기술적 제약과 경제적 효율성 간의 균형을 모색하는 과정이기도 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6353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7DEA5-6DBD-41F0-BE5D-669CBBA3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C3594-17A9-62D6-6976-120D56C9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(4]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97A198-E110-8E8A-CD4C-33A149EDF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C31F0-5327-A02D-DF25-E3B11866170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전력수요는 일반적으로 단기적으로 가격에 매우 비탄력적이다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소비자들이 실시간 가격 정보를 잘 인식하지 못하고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 행태를 빠르게 조정하기 어렵기 때문이다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여름철 냉방기기의 사용은 가격과 무관하게 일정 수준 유지되고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첨두부하 시간대의 전력 수급 불균형과 가격 급등을 초래한다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전력수요는 시간대별</a:t>
            </a:r>
            <a:r>
              <a:rPr lang="en-US" altLang="ko-KR" sz="1600" dirty="0"/>
              <a:t>, </a:t>
            </a:r>
            <a:r>
              <a:rPr lang="ko-KR" altLang="en-US" sz="1600" dirty="0"/>
              <a:t>계절별로 크게 변동한다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낮과 밤</a:t>
            </a:r>
            <a:r>
              <a:rPr lang="en-US" altLang="ko-KR" sz="1600" dirty="0"/>
              <a:t>, </a:t>
            </a:r>
            <a:r>
              <a:rPr lang="ko-KR" altLang="en-US" sz="1600" dirty="0"/>
              <a:t>주중과 주말</a:t>
            </a:r>
            <a:r>
              <a:rPr lang="en-US" altLang="ko-KR" sz="1600" dirty="0"/>
              <a:t>, </a:t>
            </a:r>
            <a:r>
              <a:rPr lang="ko-KR" altLang="en-US" sz="1600" dirty="0"/>
              <a:t>여름과 겨울 간의 수요 차이는 발전소 운영 계획에 큰 영향을 미치며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발전기별로 기저부하</a:t>
            </a:r>
            <a:r>
              <a:rPr lang="en-US" altLang="ko-KR" sz="1600" dirty="0"/>
              <a:t>, </a:t>
            </a:r>
            <a:r>
              <a:rPr lang="ko-KR" altLang="en-US" sz="1600" dirty="0"/>
              <a:t>중간부하</a:t>
            </a:r>
            <a:r>
              <a:rPr lang="en-US" altLang="ko-KR" sz="1600" dirty="0"/>
              <a:t>, </a:t>
            </a:r>
            <a:r>
              <a:rPr lang="ko-KR" altLang="en-US" sz="1600" dirty="0"/>
              <a:t>첨두부하로 나누어 운영되는 이유가 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수요 반응 프로그램이나 실시간 요금제를 통해 소비자의 가격 민감도를 높이려는 정책의 필요성을 시사한다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3040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0C99-E483-72CA-2213-2F13FEFE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96F3FD-67EA-4C30-B4E6-0E56F64C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(5]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2D18F-F3CE-1493-CD8E-23E90CD81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5316FE-BD6B-8655-1579-4EF3A438509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전력은 기술적으로 동질적인 재화지만</a:t>
            </a:r>
            <a:r>
              <a:rPr lang="en-US" altLang="ko-KR" sz="1600" dirty="0"/>
              <a:t>, </a:t>
            </a:r>
            <a:r>
              <a:rPr lang="ko-KR" altLang="en-US" sz="1600" dirty="0"/>
              <a:t>물리적 송전망의 제약으로 인해 지역간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송전 선로의 혼잡과 전력 손실 때문이고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지역에서는 발전기 가동 순서가 기술적으로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상황을 반영하기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 등 주요 전력시장에서는 지역별 한계가격 체계를 도입하고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 한계가격은 각 위치에서 전력 공급의 한계비용을 반영한 가격으로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혼잡을 경제적으로 신호화하고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효율적인 송전 투자 및 수요 조정을 유도한다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770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FE3CF-2906-5FFC-EB07-0945560F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2A8E12-7244-2745-DCA2-D1BE3EE229B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45A8FA-2E4A-67C7-1F96-D5C355128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9FE9B15-6F59-7994-DB9C-18EC07C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전력시장의 운영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44396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41AB-A89F-69D9-702B-FA29285E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05E9D-D2D0-6A22-2845-3E9ECDED8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BE00E0-F8A5-F1BE-9968-C7FB07150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AC5EC-E5CC-3C6B-1079-B3F7B7E8F8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전기는 전하의 흐름이나 전기장과 같은 물리적 현상을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전기에너지는 이러한 전기를 통해 전달되거나 변환되는 에너지를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두 개념</a:t>
            </a:r>
            <a:r>
              <a:rPr lang="en-US" altLang="ko-KR" sz="1600" dirty="0"/>
              <a:t>(</a:t>
            </a:r>
            <a:r>
              <a:rPr lang="ko-KR" altLang="en-US" sz="1600" dirty="0"/>
              <a:t>전기와 전기에너지</a:t>
            </a:r>
            <a:r>
              <a:rPr lang="en-US" altLang="ko-KR" sz="1600" dirty="0"/>
              <a:t>)</a:t>
            </a:r>
            <a:r>
              <a:rPr lang="ko-KR" altLang="en-US" sz="1600" dirty="0"/>
              <a:t>는 기술적으로 구분되어야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일상적으로 같은 의미로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발전기는 새로운 전하를 만들어내는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전하를 도체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구리 전선</a:t>
            </a:r>
            <a:r>
              <a:rPr lang="en-US" altLang="ko-KR" sz="1600" dirty="0"/>
              <a:t>)</a:t>
            </a:r>
            <a:r>
              <a:rPr lang="ko-KR" altLang="en-US" sz="1600" dirty="0"/>
              <a:t> 내에서 이동시키는 방식으로 유도하며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과정을 통해 전기에너지를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전기에서 사용되는 주요 </a:t>
            </a:r>
            <a:r>
              <a:rPr lang="ko-KR" altLang="en-US" sz="1600" dirty="0" err="1"/>
              <a:t>물리량에는</a:t>
            </a:r>
            <a:r>
              <a:rPr lang="ko-KR" altLang="en-US" sz="1600" dirty="0"/>
              <a:t> 전하</a:t>
            </a:r>
            <a:r>
              <a:rPr lang="en-US" altLang="ko-KR" sz="1600" dirty="0"/>
              <a:t>, </a:t>
            </a:r>
            <a:r>
              <a:rPr lang="ko-KR" altLang="en-US" sz="1600" dirty="0"/>
              <a:t>전압</a:t>
            </a:r>
            <a:r>
              <a:rPr lang="en-US" altLang="ko-KR" sz="1600" dirty="0"/>
              <a:t>, </a:t>
            </a:r>
            <a:r>
              <a:rPr lang="ko-KR" altLang="en-US" sz="1600" dirty="0"/>
              <a:t>전류</a:t>
            </a:r>
            <a:r>
              <a:rPr lang="en-US" altLang="ko-KR" sz="1600" dirty="0"/>
              <a:t>, </a:t>
            </a:r>
            <a:r>
              <a:rPr lang="ko-KR" altLang="en-US" sz="1600" dirty="0"/>
              <a:t>전력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전하는 </a:t>
            </a:r>
            <a:r>
              <a:rPr lang="ko-KR" altLang="en-US" sz="1600" dirty="0" err="1"/>
              <a:t>쿨롬으로</a:t>
            </a:r>
            <a:r>
              <a:rPr lang="ko-KR" altLang="en-US" sz="1600" dirty="0"/>
              <a:t> 표시한다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전압은 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전기에너지는 줄로 표시한다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와트로 표시한다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90558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3E102-775A-4521-D849-A1EF81597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A13A5-4712-197A-D596-A1CD37654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47DF35-BECD-CED1-D7AD-2324BA2B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9AA78-6A49-B840-01FB-BFC7F59BE821}"/>
              </a:ext>
            </a:extLst>
          </p:cNvPr>
          <p:cNvSpPr txBox="1"/>
          <p:nvPr/>
        </p:nvSpPr>
        <p:spPr>
          <a:xfrm>
            <a:off x="288790" y="958844"/>
            <a:ext cx="659884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모든 물질은 원자로 이루어져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원자는 물질을 이루는 가장 작은 단위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화학반응을 통해 더 이상 쪼갤 수 없는 단위이다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원자는 원자핵과 그 주위를 도는 전자로 이루어져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전기의 성질을 전하라고 부른다</a:t>
            </a:r>
            <a:r>
              <a:rPr lang="en-US" altLang="ko-KR" sz="1600" dirty="0"/>
              <a:t>.</a:t>
            </a:r>
            <a:r>
              <a:rPr lang="ko-KR" altLang="en-US" sz="1600" dirty="0"/>
              <a:t> 밀고 당기는 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같은 </a:t>
            </a:r>
            <a:r>
              <a:rPr lang="ko-KR" altLang="en-US" sz="1600" dirty="0" err="1"/>
              <a:t>극끼리는</a:t>
            </a:r>
            <a:r>
              <a:rPr lang="ko-KR" altLang="en-US" sz="1600" dirty="0"/>
              <a:t> 밀어내고</a:t>
            </a:r>
            <a:r>
              <a:rPr lang="en-US" altLang="ko-KR" sz="1600" dirty="0"/>
              <a:t>, </a:t>
            </a:r>
            <a:r>
              <a:rPr lang="ko-KR" altLang="en-US" sz="1600" dirty="0"/>
              <a:t>다른 </a:t>
            </a:r>
            <a:r>
              <a:rPr lang="ko-KR" altLang="en-US" sz="1600" dirty="0" err="1"/>
              <a:t>극끼리는</a:t>
            </a:r>
            <a:r>
              <a:rPr lang="ko-KR" altLang="en-US" sz="1600" dirty="0"/>
              <a:t> 끌어 당긴다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원자핵은 </a:t>
            </a:r>
            <a:r>
              <a:rPr lang="en-US" altLang="ko-KR" sz="1600" dirty="0"/>
              <a:t>(+)</a:t>
            </a:r>
            <a:r>
              <a:rPr lang="ko-KR" altLang="en-US" sz="1600" dirty="0"/>
              <a:t>전하를 띤 양성자와 전하가 없는 중성자로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전자는 </a:t>
            </a:r>
            <a:r>
              <a:rPr lang="en-US" altLang="ko-KR" sz="1600" dirty="0"/>
              <a:t>(-)</a:t>
            </a:r>
            <a:r>
              <a:rPr lang="ko-KR" altLang="en-US" sz="1600" dirty="0"/>
              <a:t>전하를 띠고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전자가 다른 원자나 물질로 이동하면 전하의 이동이 일어난다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전기는 전자의 움직임에서 시작된다</a:t>
            </a:r>
            <a:r>
              <a:rPr lang="en-US" altLang="ko-KR" sz="16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2762FD-B02D-7A84-E948-AF0D54FB59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997"/>
          <a:stretch>
            <a:fillRect/>
          </a:stretch>
        </p:blipFill>
        <p:spPr>
          <a:xfrm>
            <a:off x="7052915" y="911466"/>
            <a:ext cx="1079320" cy="174624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CD826B-B885-DA6C-8A08-87066EA82E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425"/>
          <a:stretch>
            <a:fillRect/>
          </a:stretch>
        </p:blipFill>
        <p:spPr>
          <a:xfrm>
            <a:off x="8915583" y="1436755"/>
            <a:ext cx="1494183" cy="622620"/>
          </a:xfrm>
          <a:prstGeom prst="rect">
            <a:avLst/>
          </a:prstGeom>
        </p:spPr>
      </p:pic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21A9C8A0-3485-96DC-F8A7-113F55C41CE1}"/>
              </a:ext>
            </a:extLst>
          </p:cNvPr>
          <p:cNvSpPr/>
          <p:nvPr/>
        </p:nvSpPr>
        <p:spPr>
          <a:xfrm>
            <a:off x="8328758" y="1505749"/>
            <a:ext cx="586825" cy="48463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4D25398A-7918-CBC5-4DA0-00C21E26590B}"/>
              </a:ext>
            </a:extLst>
          </p:cNvPr>
          <p:cNvSpPr/>
          <p:nvPr/>
        </p:nvSpPr>
        <p:spPr>
          <a:xfrm rot="5400000">
            <a:off x="9319960" y="2267197"/>
            <a:ext cx="586825" cy="48463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D1B7C7E-5CA1-AE1C-7BB8-D72F318840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367" r="45940" b="89133"/>
          <a:stretch>
            <a:fillRect/>
          </a:stretch>
        </p:blipFill>
        <p:spPr>
          <a:xfrm>
            <a:off x="8640700" y="3218839"/>
            <a:ext cx="1527175" cy="3260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AA03E4A-14DE-3B69-236F-7F654E2E9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4209" y="3789858"/>
            <a:ext cx="4500158" cy="245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79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B5ED1-C8B3-1652-6212-3DC78FD02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0DEF5-5D37-7508-4B2E-5E1AEE2FA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전류</a:t>
            </a:r>
            <a:r>
              <a:rPr lang="en-US" altLang="ko-KR" dirty="0"/>
              <a:t>: </a:t>
            </a:r>
            <a:r>
              <a:rPr lang="ko-KR" altLang="en-US" dirty="0"/>
              <a:t>전자의 움직임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9958F7-1DB3-1252-997F-A58E54F4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1C3B08-51CB-316A-886D-8DAA64180B37}"/>
              </a:ext>
            </a:extLst>
          </p:cNvPr>
          <p:cNvSpPr txBox="1"/>
          <p:nvPr/>
        </p:nvSpPr>
        <p:spPr>
          <a:xfrm>
            <a:off x="288790" y="958844"/>
            <a:ext cx="1152331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전류는 전하의 흐름으로</a:t>
            </a:r>
            <a:r>
              <a:rPr lang="en-US" altLang="ko-KR" sz="1600" dirty="0"/>
              <a:t>, </a:t>
            </a:r>
            <a:r>
              <a:rPr lang="ko-KR" altLang="en-US" sz="1600" dirty="0"/>
              <a:t>단위 시간 동안에 흐른 전하의 양으로 정의된다</a:t>
            </a:r>
            <a:r>
              <a:rPr lang="en-US" altLang="ko-KR" sz="1600" dirty="0"/>
              <a:t>. A = C/s   (</a:t>
            </a:r>
            <a:r>
              <a:rPr lang="ko-KR" altLang="en-US" sz="1600" dirty="0"/>
              <a:t>암페어 </a:t>
            </a:r>
            <a:r>
              <a:rPr lang="en-US" altLang="ko-KR" sz="1600" dirty="0"/>
              <a:t>= </a:t>
            </a:r>
            <a:r>
              <a:rPr lang="ko-KR" altLang="en-US" sz="1600" dirty="0" err="1"/>
              <a:t>쿨롱</a:t>
            </a:r>
            <a:r>
              <a:rPr lang="en-US" altLang="ko-KR" sz="1600" dirty="0"/>
              <a:t>/</a:t>
            </a:r>
            <a:r>
              <a:rPr lang="ko-KR" altLang="en-US" sz="1600" dirty="0"/>
              <a:t>초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전자 </a:t>
            </a:r>
            <a:r>
              <a:rPr lang="en-US" altLang="ko-KR" sz="1600" dirty="0"/>
              <a:t>1</a:t>
            </a:r>
            <a:r>
              <a:rPr lang="ko-KR" altLang="en-US" sz="1600" dirty="0"/>
              <a:t>개의 전하 양은 </a:t>
            </a:r>
            <a:r>
              <a:rPr lang="en-US" altLang="ko-KR" sz="1600" dirty="0"/>
              <a:t>e</a:t>
            </a:r>
            <a:r>
              <a:rPr lang="ko-KR" altLang="en-US" sz="1600" dirty="0"/>
              <a:t>로 표시하고</a:t>
            </a:r>
            <a:r>
              <a:rPr lang="en-US" altLang="ko-KR" sz="1600" dirty="0"/>
              <a:t>,  e = 1.602 x 10</a:t>
            </a:r>
            <a:r>
              <a:rPr lang="en-US" altLang="ko-KR" sz="1600" baseline="30000" dirty="0"/>
              <a:t>-19</a:t>
            </a:r>
            <a:r>
              <a:rPr lang="en-US" altLang="ko-KR" sz="1600" dirty="0"/>
              <a:t>C 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88C5C-C54B-F8CB-F2EA-ED2ECE8F37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86" t="88472" r="9554" b="1867"/>
          <a:stretch>
            <a:fillRect/>
          </a:stretch>
        </p:blipFill>
        <p:spPr>
          <a:xfrm>
            <a:off x="1037626" y="5899156"/>
            <a:ext cx="7432040" cy="58400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1A72820-C083-255F-D1C3-22FD66AE63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835" b="49337"/>
          <a:stretch>
            <a:fillRect/>
          </a:stretch>
        </p:blipFill>
        <p:spPr>
          <a:xfrm>
            <a:off x="945874" y="1608368"/>
            <a:ext cx="7207526" cy="176960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1625E30-030D-0448-6218-84239B8AC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9557" b="13249"/>
          <a:stretch>
            <a:fillRect/>
          </a:stretch>
        </p:blipFill>
        <p:spPr>
          <a:xfrm>
            <a:off x="834335" y="4140200"/>
            <a:ext cx="8375881" cy="151847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ABF86B-BC57-3A46-FEC0-DCC20180CBA6}"/>
              </a:ext>
            </a:extLst>
          </p:cNvPr>
          <p:cNvSpPr/>
          <p:nvPr/>
        </p:nvSpPr>
        <p:spPr>
          <a:xfrm>
            <a:off x="4251960" y="2266003"/>
            <a:ext cx="91440" cy="1419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86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958B0-3CAA-FCC3-7C2B-39005C431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864432-842B-C0E6-6664-F7E010C21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자유전자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EE50A6-14BC-75ED-63B4-07F77FE69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DBE6C-F7E8-8B24-2A9E-66AB8C7AC281}"/>
              </a:ext>
            </a:extLst>
          </p:cNvPr>
          <p:cNvSpPr txBox="1"/>
          <p:nvPr/>
        </p:nvSpPr>
        <p:spPr>
          <a:xfrm>
            <a:off x="288790" y="958844"/>
            <a:ext cx="1152331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금속의 외곽 전자는 원자에 약하게 묶여 있어서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전체를 자유롭게 이동할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금속 속에는 자유전자가 존재한다</a:t>
            </a:r>
            <a:r>
              <a:rPr lang="en-US" altLang="ko-KR" sz="1600" dirty="0"/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F121958-8B27-AAD5-09CF-FFD18C6A7120}"/>
              </a:ext>
            </a:extLst>
          </p:cNvPr>
          <p:cNvSpPr/>
          <p:nvPr/>
        </p:nvSpPr>
        <p:spPr>
          <a:xfrm>
            <a:off x="4251960" y="3256603"/>
            <a:ext cx="91440" cy="1419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F239C60-A6F9-D3B0-3C45-BBA388932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240" y="2527847"/>
            <a:ext cx="6197919" cy="339742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A368E3F-105B-DD4D-5C74-0AD3DAE7F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960" y="2548475"/>
            <a:ext cx="2902099" cy="33402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5C48B7-9073-05A1-81BE-53F9C4E4E6DF}"/>
              </a:ext>
            </a:extLst>
          </p:cNvPr>
          <p:cNvSpPr txBox="1"/>
          <p:nvPr/>
        </p:nvSpPr>
        <p:spPr>
          <a:xfrm>
            <a:off x="9204192" y="2095494"/>
            <a:ext cx="1863858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 algn="ctr">
              <a:lnSpc>
                <a:spcPct val="150000"/>
              </a:lnSpc>
            </a:pPr>
            <a:r>
              <a:rPr lang="ko-KR" altLang="en-US" sz="1600" dirty="0"/>
              <a:t>금속 </a:t>
            </a:r>
            <a:r>
              <a:rPr lang="en-US" altLang="ko-KR" sz="1600" dirty="0"/>
              <a:t>vs. </a:t>
            </a:r>
            <a:r>
              <a:rPr lang="ko-KR" altLang="en-US" sz="1600" dirty="0"/>
              <a:t>비금속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24299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99462-B3F3-D546-5504-FEBDA94D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F482F-5A06-CFF6-B441-938C3B05C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전압</a:t>
            </a:r>
            <a:r>
              <a:rPr lang="en-US" altLang="ko-KR" dirty="0"/>
              <a:t>: </a:t>
            </a:r>
            <a:r>
              <a:rPr lang="ko-KR" altLang="en-US" dirty="0"/>
              <a:t>전자를 움직이게 하는 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952877-60DD-9EE8-CBED-64080DE3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62F378-7846-49CC-D5F7-06DD0AE66835}"/>
              </a:ext>
            </a:extLst>
          </p:cNvPr>
          <p:cNvSpPr txBox="1"/>
          <p:nvPr/>
        </p:nvSpPr>
        <p:spPr>
          <a:xfrm>
            <a:off x="288790" y="958844"/>
            <a:ext cx="1152331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음극과 양극 사이에 전위차가 없으면 자유전자는 무작위로 움직이고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한 방향으로 흐르지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전압</a:t>
            </a:r>
            <a:r>
              <a:rPr lang="en-US" altLang="ko-KR" sz="1600" dirty="0"/>
              <a:t>(</a:t>
            </a:r>
            <a:r>
              <a:rPr lang="ko-KR" altLang="en-US" sz="1600" dirty="0"/>
              <a:t>전위차</a:t>
            </a:r>
            <a:r>
              <a:rPr lang="en-US" altLang="ko-KR" sz="1600" dirty="0"/>
              <a:t>)</a:t>
            </a:r>
            <a:r>
              <a:rPr lang="ko-KR" altLang="en-US" sz="1600" dirty="0"/>
              <a:t>은 전기적 압력 차이로서</a:t>
            </a:r>
            <a:r>
              <a:rPr lang="en-US" altLang="ko-KR" sz="1600" dirty="0"/>
              <a:t>, </a:t>
            </a:r>
            <a:r>
              <a:rPr lang="ko-KR" altLang="en-US" sz="1600" dirty="0"/>
              <a:t>전자를 이동시키는 힘이다</a:t>
            </a:r>
            <a:r>
              <a:rPr lang="en-US" altLang="ko-KR" sz="1600" dirty="0"/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44A4F49-5B03-E7A3-592D-C5E6BB363E71}"/>
              </a:ext>
            </a:extLst>
          </p:cNvPr>
          <p:cNvSpPr/>
          <p:nvPr/>
        </p:nvSpPr>
        <p:spPr>
          <a:xfrm>
            <a:off x="4251960" y="2266003"/>
            <a:ext cx="91440" cy="1419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652DB0-79C7-8022-662A-4FEFEDDF5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1966039"/>
            <a:ext cx="9430235" cy="314976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299716-EB5C-9B83-9647-F52E369C3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697" y="5149433"/>
            <a:ext cx="4749804" cy="149944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16F920A-3D52-461B-857E-87A932EC2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332" y="2971800"/>
            <a:ext cx="2056582" cy="1358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92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AE505-3399-B44F-E39A-5A7D0407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A8590-0306-A4EE-2EF5-1D4589C08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전압과 전류의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53C9FF-BAC2-77B6-58E3-679FDB8B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373CD6-B64A-E75B-B8F4-BB3D1929FDD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전압은 전자를 움직이게 하는 원인이고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전압이 클수록 더 많은 전자가 이동하여 전류가 커진다</a:t>
            </a:r>
            <a:r>
              <a:rPr lang="en-US" altLang="ko-KR" sz="16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C057732-A65F-CD90-C897-4EDE65ABE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80" y="1805850"/>
            <a:ext cx="5105490" cy="277472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1808145-2E26-FEC9-474C-6292EBC1B8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20"/>
          <a:stretch>
            <a:fillRect/>
          </a:stretch>
        </p:blipFill>
        <p:spPr>
          <a:xfrm rot="16200000">
            <a:off x="8585752" y="1459541"/>
            <a:ext cx="1134546" cy="372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209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AF3B-EDFE-C413-DA68-2C603E53B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AE8A57-399A-3F7E-04D9-D1C28C1D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전력이란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EA99E4-456F-38B5-FED7-0B22332AF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EE3250-BAFA-6BCD-96FB-44DB45F73739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전압은 전자를 움직이게 하는 원인이고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전압이 클수록 더 많은 전자가 이동하여 전류가 커진다</a:t>
            </a:r>
            <a:r>
              <a:rPr lang="en-US" altLang="ko-KR" sz="16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C48EA01-989B-3682-1CC6-057078F60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80" y="1805850"/>
            <a:ext cx="5105490" cy="277472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2CCC60-72F4-87A6-63A6-A2432F1C71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20"/>
          <a:stretch>
            <a:fillRect/>
          </a:stretch>
        </p:blipFill>
        <p:spPr>
          <a:xfrm rot="16200000">
            <a:off x="8585752" y="1459541"/>
            <a:ext cx="1134546" cy="372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086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406B-3D2A-0A9D-B78D-BA8608FF8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B8111-DD36-05FE-762D-9EEE4CC3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A137FD-586F-46A6-0A57-FD729EC8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344D3-F95D-6B45-599F-1A27F0928961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전기는 전하의 흐름이나 전기장과 같은 물리적 현상을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전기에너지는 이러한 전기를 통해 전달되거나</a:t>
            </a:r>
            <a:endParaRPr lang="en-US" altLang="ko-KR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87ED31A-4181-5316-D6C3-E00EF70E5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738" y="2050290"/>
            <a:ext cx="7191375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100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28D0-282E-2364-659B-EBC2BE67B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02B7FF-675C-19E0-11E1-A8C516E61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E3F290-6C7E-CBCC-5397-BFD53779A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8FD3E4-7581-B2F7-1ED9-46996A80C5D5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전기는 전하의 흐름이나 전기장과 같은 물리적 현상을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전기에너지는 이러한 전기를 통해 전달되거나</a:t>
            </a:r>
            <a:endParaRPr lang="en-US" altLang="ko-KR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2209B66-3D96-40B2-2753-18D9F9A2748B}"/>
              </a:ext>
            </a:extLst>
          </p:cNvPr>
          <p:cNvGrpSpPr/>
          <p:nvPr/>
        </p:nvGrpSpPr>
        <p:grpSpPr>
          <a:xfrm>
            <a:off x="2822896" y="3312302"/>
            <a:ext cx="5416828" cy="3225966"/>
            <a:chOff x="2839830" y="2898278"/>
            <a:chExt cx="5416828" cy="322596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AE44DE-BD5E-9853-39C6-AB080A38A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39830" y="2898278"/>
              <a:ext cx="5416828" cy="3225966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1F2F5D8-7561-3B77-0767-5FD567C093D5}"/>
                </a:ext>
              </a:extLst>
            </p:cNvPr>
            <p:cNvSpPr/>
            <p:nvPr/>
          </p:nvSpPr>
          <p:spPr>
            <a:xfrm flipH="1">
              <a:off x="8094476" y="5079079"/>
              <a:ext cx="162181" cy="1021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75401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C7F55-9328-03C3-086F-04C3207C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56690-82C5-05BE-E495-4F34883A3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발전소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FC44B3-DCF2-D57A-8B50-C4EED59AF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97C64-F7A4-FD84-A3A5-01AB434EC6D4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 시스템에서 교류 발전기는 전하를 초당 </a:t>
            </a:r>
            <a:r>
              <a:rPr lang="en-US" altLang="ko-KR" sz="1600" dirty="0"/>
              <a:t>60</a:t>
            </a:r>
            <a:r>
              <a:rPr lang="ko-KR" altLang="en-US" sz="1600" dirty="0"/>
              <a:t>회</a:t>
            </a:r>
            <a:r>
              <a:rPr lang="en-US" altLang="ko-KR" sz="1600" dirty="0"/>
              <a:t>, </a:t>
            </a:r>
            <a:r>
              <a:rPr lang="ko-KR" altLang="en-US" sz="1600" dirty="0"/>
              <a:t>즉 </a:t>
            </a:r>
            <a:r>
              <a:rPr lang="en-US" altLang="ko-KR" sz="1600" dirty="0"/>
              <a:t>60Hz</a:t>
            </a:r>
            <a:r>
              <a:rPr lang="ko-KR" altLang="en-US" sz="1600" dirty="0"/>
              <a:t>로 왕복 운동시키며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전자기장이 형성되고 전선 주변을 따라 전력이 전달된다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9948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13789</TotalTime>
  <Words>1021</Words>
  <Application>Microsoft Office PowerPoint</Application>
  <PresentationFormat>와이드스크린</PresentationFormat>
  <Paragraphs>125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7  전력시장</vt:lpstr>
      <vt:lpstr>Section 1. 서론</vt:lpstr>
      <vt:lpstr>서론</vt:lpstr>
      <vt:lpstr>Section 2. 전력시장의 특징</vt:lpstr>
      <vt:lpstr>전력시장의 특징 (1)</vt:lpstr>
      <vt:lpstr>전력시장의 특징 (2)</vt:lpstr>
      <vt:lpstr>전력시장의 특징 (3)</vt:lpstr>
      <vt:lpstr>전력시장의 특징 (4]</vt:lpstr>
      <vt:lpstr>전력시장의 특징 (5]</vt:lpstr>
      <vt:lpstr>Section 3. 전력시장의 운영</vt:lpstr>
      <vt:lpstr>전력시스템에 관한 기본 개념</vt:lpstr>
      <vt:lpstr>원자 구조</vt:lpstr>
      <vt:lpstr>전류: 전자의 움직임</vt:lpstr>
      <vt:lpstr>자유전자</vt:lpstr>
      <vt:lpstr>전압: 전자를 움직이게 하는 힘</vt:lpstr>
      <vt:lpstr>전압과 전류의 관계</vt:lpstr>
      <vt:lpstr>전력이란</vt:lpstr>
      <vt:lpstr>전력시스템에 관한 기본 개념</vt:lpstr>
      <vt:lpstr>전력시스템에 관한 기본 개념</vt:lpstr>
      <vt:lpstr>발전소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656</cp:revision>
  <dcterms:created xsi:type="dcterms:W3CDTF">2025-07-05T05:15:23Z</dcterms:created>
  <dcterms:modified xsi:type="dcterms:W3CDTF">2026-07-14T08:36:48Z</dcterms:modified>
</cp:coreProperties>
</file>