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375" r:id="rId2"/>
    <p:sldId id="405" r:id="rId3"/>
    <p:sldId id="648" r:id="rId4"/>
    <p:sldId id="376" r:id="rId5"/>
    <p:sldId id="649" r:id="rId6"/>
    <p:sldId id="650" r:id="rId7"/>
    <p:sldId id="598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885" autoAdjust="0"/>
  </p:normalViewPr>
  <p:slideViewPr>
    <p:cSldViewPr snapToGrid="0">
      <p:cViewPr varScale="1">
        <p:scale>
          <a:sx n="144" d="100"/>
          <a:sy n="144" d="100"/>
        </p:scale>
        <p:origin x="900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2169190"/>
            <a:ext cx="10452100" cy="935960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5400" b="1" i="0" dirty="0"/>
              <a:t>자원</a:t>
            </a:r>
            <a:r>
              <a:rPr lang="en-US" altLang="ko-KR" sz="5400" b="1" i="0" dirty="0"/>
              <a:t>·</a:t>
            </a:r>
            <a:r>
              <a:rPr lang="ko-KR" altLang="en-US" sz="5400" b="1" i="0" dirty="0"/>
              <a:t>에너지 경제학</a:t>
            </a:r>
            <a:endParaRPr lang="ko-KR" altLang="en-US" sz="4800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- 7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7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전력시장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DFD94-3D3D-8B63-B659-4FE8F33AB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1BB767-B954-7A46-8835-203A64ECCE8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DD62FE-4457-6E04-699D-4394298E1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4DE58E5-97B8-49D7-76B3-F3F82A86D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서론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648976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E53AA-7D50-5F4A-320F-293F3154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66E9B2-B0DB-FDCD-AA50-636EA4E5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27E35B-63AE-3D62-3078-BE10F308BEDD}"/>
              </a:ext>
            </a:extLst>
          </p:cNvPr>
          <p:cNvSpPr txBox="1"/>
          <p:nvPr/>
        </p:nvSpPr>
        <p:spPr>
          <a:xfrm>
            <a:off x="288790" y="958844"/>
            <a:ext cx="11118453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전력시장은 경제학적으로나 기술적으로 매우 독특한 속성을 지닌 시장이다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전력은 현대 경제와 사회의 필수재로서</a:t>
            </a:r>
            <a:r>
              <a:rPr lang="en-US" altLang="ko-KR" sz="1600" dirty="0"/>
              <a:t>, </a:t>
            </a:r>
            <a:r>
              <a:rPr lang="ko-KR" altLang="en-US" sz="1600" dirty="0"/>
              <a:t>그 생산과 소비는 국가 경제의 전반적인 효율성과 지속가능성에 중대한 영향을 미친다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전력은 물리적</a:t>
            </a:r>
            <a:r>
              <a:rPr lang="en-US" altLang="ko-KR" sz="1600" dirty="0"/>
              <a:t>·</a:t>
            </a:r>
            <a:r>
              <a:rPr lang="ko-KR" altLang="en-US" sz="1600" dirty="0"/>
              <a:t>경제적 특성상 여타 상품과는 구별되는 독특한 속성을 지니며</a:t>
            </a:r>
            <a:r>
              <a:rPr lang="en-US" altLang="ko-KR" sz="1600" dirty="0"/>
              <a:t>, </a:t>
            </a:r>
            <a:r>
              <a:rPr lang="ko-KR" altLang="en-US" sz="1600" dirty="0"/>
              <a:t>이에 따라 전력시장은 특수한 제도적 설계와 운영방식을 필요로 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위의 특성은 전력산업이 전통적으로 국가에 의해 규제되거나 공공독점 형태로 운영되어 온 역사적 이유이기도 하고</a:t>
            </a:r>
            <a:r>
              <a:rPr lang="en-US" altLang="ko-KR" sz="1600" dirty="0"/>
              <a:t>, </a:t>
            </a:r>
            <a:r>
              <a:rPr lang="ko-KR" altLang="en-US" sz="1600" dirty="0"/>
              <a:t>오늘날 전력시장의 설계와 정책 결정에 핵심적 고려사항이 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3003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CF796-991A-C211-A071-C8EAE8703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3BA733-8A76-25CF-CA7C-309D19BB048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65A13B-2E35-7EC7-5C13-87A0E785E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A804112-93AE-364B-6DCF-7FF93318E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전력시장의 특징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733239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9B9DE-EF76-0025-8288-6F23149EE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2017E6-D608-0A46-DDBD-BCA0F8DA4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전력시장의 특징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12CC47-E0A0-A395-19C5-1BAF5A81D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4ADA2C-2F19-6FF1-5D1B-BA5F020133A0}"/>
              </a:ext>
            </a:extLst>
          </p:cNvPr>
          <p:cNvSpPr txBox="1"/>
          <p:nvPr/>
        </p:nvSpPr>
        <p:spPr>
          <a:xfrm>
            <a:off x="288790" y="958844"/>
            <a:ext cx="11118453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전력시장의 가장 핵심적인 특성은 실시간으로 수요와 공급의 균형이 유지되어야 한다는 점이다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매 순간 발전된 전력은 곧바로 수요자에게 전달되어야 하고</a:t>
            </a:r>
            <a:r>
              <a:rPr lang="en-US" altLang="ko-KR" sz="1600" dirty="0"/>
              <a:t>, </a:t>
            </a:r>
            <a:r>
              <a:rPr lang="ko-KR" altLang="en-US" sz="1600" dirty="0"/>
              <a:t>수요와 공급이 실시간으로 일치하지 않으면 전력시스템 전체의 안정성에 심각한 영향을 초래할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전력은 경제적으로 효율적인 저장이 매우 제한적이다</a:t>
            </a:r>
            <a:r>
              <a:rPr lang="en-US" altLang="ko-KR" sz="1600" dirty="0"/>
              <a:t>. (ex.</a:t>
            </a:r>
            <a:r>
              <a:rPr lang="ko-KR" altLang="en-US" sz="1600" dirty="0"/>
              <a:t> 배터리</a:t>
            </a:r>
            <a:r>
              <a:rPr lang="en-US" altLang="ko-KR" sz="160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반면</a:t>
            </a:r>
            <a:r>
              <a:rPr lang="en-US" altLang="ko-KR" sz="1600" dirty="0"/>
              <a:t>, </a:t>
            </a:r>
            <a:r>
              <a:rPr lang="ko-KR" altLang="en-US" sz="1600" dirty="0"/>
              <a:t>일반적인 상품시장에서는 공급자와 수요자 간의 거래가 이루어진 후</a:t>
            </a:r>
            <a:r>
              <a:rPr lang="en-US" altLang="ko-KR" sz="1600" dirty="0"/>
              <a:t>, </a:t>
            </a:r>
            <a:r>
              <a:rPr lang="ko-KR" altLang="en-US" sz="1600" dirty="0"/>
              <a:t>상품은 재고로 저장되거나 유통된다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이러한 특성은 시장 가격이 단순히 수급 균형을 반영하는 수준을 넘어</a:t>
            </a:r>
            <a:r>
              <a:rPr lang="en-US" altLang="ko-KR" sz="1600" dirty="0"/>
              <a:t>, </a:t>
            </a:r>
            <a:r>
              <a:rPr lang="ko-KR" altLang="en-US" sz="1600" dirty="0"/>
              <a:t>시스템 운영의 물리적 안정성과 직결된다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발전량이 수요를 초과하거나 부족할 경우 전력망의 주파수나 전압이 허용 범위를 벗어나게 되고</a:t>
            </a:r>
            <a:r>
              <a:rPr lang="en-US" altLang="ko-KR" sz="1600" dirty="0"/>
              <a:t>, </a:t>
            </a:r>
            <a:r>
              <a:rPr lang="ko-KR" altLang="en-US" sz="1600" dirty="0"/>
              <a:t>이는 전체 계통의 정전이나 장비 손상으로 이어질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따라서 전력시장에서는 실시간 시장과 일전 시장이 존재하고</a:t>
            </a:r>
            <a:r>
              <a:rPr lang="en-US" altLang="ko-KR" sz="1600" dirty="0"/>
              <a:t>, </a:t>
            </a:r>
            <a:r>
              <a:rPr lang="ko-KR" altLang="en-US" sz="1600" dirty="0"/>
              <a:t>계통 운영자는 수요 예측</a:t>
            </a:r>
            <a:r>
              <a:rPr lang="en-US" altLang="ko-KR" sz="1600" dirty="0"/>
              <a:t>, </a:t>
            </a:r>
            <a:r>
              <a:rPr lang="ko-KR" altLang="en-US" sz="1600" dirty="0"/>
              <a:t>발전계획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송전망</a:t>
            </a:r>
            <a:r>
              <a:rPr lang="ko-KR" altLang="en-US" sz="1600" dirty="0"/>
              <a:t> 안정성 등을 모두 고려하여 실시간 균형을 유지한다</a:t>
            </a:r>
            <a:r>
              <a:rPr lang="en-US" altLang="ko-KR" sz="1600"/>
              <a:t>.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082794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1EDDE-B308-8FA7-8116-DAD482D86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6FF0BD-25A1-7840-4B63-B2ECDF7CFA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A03F291-495C-4A31-DF0A-8F9CC976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FC0B50-C677-27B7-56F6-14F7BF9A7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39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13360</TotalTime>
  <Words>235</Words>
  <Application>Microsoft Office PowerPoint</Application>
  <PresentationFormat>와이드스크린</PresentationFormat>
  <Paragraphs>29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HY헤드라인M</vt:lpstr>
      <vt:lpstr>KoPub돋움체 Light</vt:lpstr>
      <vt:lpstr>맑은 고딕</vt:lpstr>
      <vt:lpstr>Arial</vt:lpstr>
      <vt:lpstr>Wingdings</vt:lpstr>
      <vt:lpstr>Office 테마</vt:lpstr>
      <vt:lpstr>자원·에너지 경제학</vt:lpstr>
      <vt:lpstr>Chapter 7  전력시장</vt:lpstr>
      <vt:lpstr>Section 1. 서론</vt:lpstr>
      <vt:lpstr>서론</vt:lpstr>
      <vt:lpstr>Section 2. 전력시장의 특징</vt:lpstr>
      <vt:lpstr>전력시장의 특징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645</cp:revision>
  <dcterms:created xsi:type="dcterms:W3CDTF">2025-07-05T05:15:23Z</dcterms:created>
  <dcterms:modified xsi:type="dcterms:W3CDTF">2026-07-13T08:38:41Z</dcterms:modified>
</cp:coreProperties>
</file>