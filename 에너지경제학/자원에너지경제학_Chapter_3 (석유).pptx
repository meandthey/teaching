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7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37" r:id="rId19"/>
    <p:sldId id="612" r:id="rId20"/>
    <p:sldId id="613" r:id="rId21"/>
    <p:sldId id="614" r:id="rId22"/>
    <p:sldId id="615" r:id="rId23"/>
    <p:sldId id="639" r:id="rId24"/>
    <p:sldId id="640" r:id="rId25"/>
    <p:sldId id="616" r:id="rId26"/>
    <p:sldId id="617" r:id="rId27"/>
    <p:sldId id="618" r:id="rId28"/>
    <p:sldId id="619" r:id="rId29"/>
    <p:sldId id="620" r:id="rId30"/>
    <p:sldId id="641" r:id="rId31"/>
    <p:sldId id="621" r:id="rId32"/>
    <p:sldId id="622" r:id="rId33"/>
    <p:sldId id="623" r:id="rId34"/>
    <p:sldId id="624" r:id="rId35"/>
    <p:sldId id="625" r:id="rId36"/>
    <p:sldId id="626" r:id="rId37"/>
    <p:sldId id="628" r:id="rId38"/>
    <p:sldId id="629" r:id="rId39"/>
    <p:sldId id="630" r:id="rId40"/>
    <p:sldId id="631" r:id="rId41"/>
    <p:sldId id="632" r:id="rId42"/>
    <p:sldId id="633" r:id="rId43"/>
    <p:sldId id="634" r:id="rId44"/>
    <p:sldId id="636" r:id="rId45"/>
    <p:sldId id="598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askinno.com/archives/36348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기원전 </a:t>
            </a:r>
            <a:r>
              <a:rPr lang="en-US" altLang="ko-KR" sz="1600" spc="-50" dirty="0"/>
              <a:t>3,000-4,000</a:t>
            </a:r>
            <a:r>
              <a:rPr lang="ko-KR" altLang="en-US" sz="1600" spc="-50" dirty="0"/>
              <a:t>년 전</a:t>
            </a:r>
            <a:r>
              <a:rPr lang="en-US" altLang="ko-KR" sz="1600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9287DEF-A535-C310-311D-E28971FF9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2" y="5043821"/>
            <a:ext cx="2381625" cy="13384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F9CB72-B7F0-DFA0-C4D4-2924EB3C1E43}"/>
              </a:ext>
            </a:extLst>
          </p:cNvPr>
          <p:cNvSpPr txBox="1"/>
          <p:nvPr/>
        </p:nvSpPr>
        <p:spPr>
          <a:xfrm>
            <a:off x="6628451" y="480222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</a:t>
            </a:r>
            <a:r>
              <a:rPr lang="ko-KR" altLang="en-US" sz="1050" spc="-50" dirty="0"/>
              <a:t>크리스마스 트리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석유 시추용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스탠다드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그 영향력은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분할된 기업들은 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선례가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 </a:t>
            </a:r>
            <a:r>
              <a:rPr lang="ko-KR" altLang="en-US" sz="1600" spc="-50" dirty="0"/>
              <a:t>등이 포함되었다</a:t>
            </a:r>
            <a:r>
              <a:rPr lang="en-US" altLang="ko-KR" sz="1600" spc="-50" dirty="0"/>
              <a:t>. (7</a:t>
            </a:r>
            <a:r>
              <a:rPr lang="ko-KR" altLang="en-US" sz="1600" spc="-50" dirty="0"/>
              <a:t>공주라 부른다</a:t>
            </a:r>
            <a:r>
              <a:rPr lang="en-US" altLang="ko-KR" sz="1600" spc="-50" dirty="0"/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활용하려는 경향이 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구조적 공급과잉을 반복적으로 초래하고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유전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</a:t>
            </a:r>
            <a:r>
              <a:rPr lang="en-US" altLang="ko-KR" sz="1600" spc="-50" dirty="0"/>
              <a:t>(4</a:t>
            </a:r>
            <a:r>
              <a:rPr lang="ko-KR" altLang="en-US" sz="1600" spc="-50" dirty="0"/>
              <a:t>차 중동전쟁</a:t>
            </a:r>
            <a:r>
              <a:rPr lang="en-US" altLang="ko-KR" sz="1600" spc="-50"/>
              <a:t>)</a:t>
            </a:r>
            <a:r>
              <a:rPr lang="ko-KR" altLang="en-US" sz="1600" spc="-50"/>
              <a:t> </a:t>
            </a:r>
            <a:r>
              <a:rPr lang="ko-KR" altLang="en-US" sz="1600" spc="-50" dirty="0"/>
              <a:t>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위와 같은 구조적인 초과 공급과 수요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19B00-5652-DCAF-2FB4-01920E41FDB0}"/>
              </a:ext>
            </a:extLst>
          </p:cNvPr>
          <p:cNvSpPr txBox="1"/>
          <p:nvPr/>
        </p:nvSpPr>
        <p:spPr>
          <a:xfrm>
            <a:off x="1653861" y="6282991"/>
            <a:ext cx="545527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 err="1"/>
              <a:t>셰일오일</a:t>
            </a:r>
            <a:r>
              <a:rPr lang="ko-KR" altLang="en-US" sz="1050" dirty="0"/>
              <a:t> 수평시추 </a:t>
            </a:r>
            <a:r>
              <a:rPr lang="ko-KR" altLang="en-US" sz="1050" dirty="0" err="1"/>
              <a:t>수압파쇄공법</a:t>
            </a:r>
            <a:r>
              <a:rPr lang="en-US" altLang="ko-KR" sz="1050" dirty="0"/>
              <a:t>:</a:t>
            </a:r>
            <a:r>
              <a:rPr lang="ko-KR" altLang="en-US" sz="1050" dirty="0"/>
              <a:t>https://www.youtube.com/watch?v=A_lm_BTFuKo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수요도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인수 </a:t>
            </a:r>
            <a:r>
              <a:rPr lang="ko-KR" altLang="en-US" sz="1600" spc="-50" dirty="0" err="1"/>
              <a:t>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C9048-2795-0602-AADE-FCF9B2D72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1B95-D01F-3644-6F96-A5C294F73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</a:t>
            </a:r>
            <a:r>
              <a:rPr lang="en-US" altLang="ko-KR" dirty="0"/>
              <a:t>, </a:t>
            </a:r>
            <a:r>
              <a:rPr lang="ko-KR" altLang="en-US" dirty="0"/>
              <a:t>음의 가격</a:t>
            </a:r>
            <a:r>
              <a:rPr lang="en-US" altLang="ko-KR" dirty="0"/>
              <a:t>: 2020</a:t>
            </a:r>
            <a:r>
              <a:rPr lang="ko-KR" altLang="en-US" dirty="0"/>
              <a:t>년 </a:t>
            </a:r>
            <a:r>
              <a:rPr lang="en-US" altLang="ko-KR" dirty="0"/>
              <a:t>4</a:t>
            </a:r>
            <a:r>
              <a:rPr lang="ko-KR" altLang="en-US" dirty="0"/>
              <a:t>월의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A79FE-0D1C-7CAA-16E4-B76E3FD09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F9B8142-5D96-E9DA-4CA9-96D8C515E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774" b="2156"/>
          <a:stretch>
            <a:fillRect/>
          </a:stretch>
        </p:blipFill>
        <p:spPr>
          <a:xfrm>
            <a:off x="943914" y="924999"/>
            <a:ext cx="9797066" cy="56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39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수직적 가치사슬 이란 원료가 만들어져서 최종 소비자에게 전달되기까지의 단계를 의미한다</a:t>
            </a:r>
            <a:r>
              <a:rPr lang="en-US" altLang="ko-KR" sz="1600" spc="-50" dirty="0"/>
              <a:t>.</a:t>
            </a:r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유가가 하락하는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하류 부문 간 수익을 상호 보완함으로써 기업 전체의 수익성과 안정성을 유지할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부문별 상대적 중요성은 외부 요인의 종류에 따라 변화한다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비용 절감과 정제부문의 효율화가 </a:t>
            </a:r>
            <a:r>
              <a:rPr lang="ko-KR" altLang="en-US" sz="1600" spc="-50" dirty="0" err="1"/>
              <a:t>중요해진다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산유국은 원유를 생산한다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774806" y="4661235"/>
            <a:ext cx="2802086" cy="1593608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(American Petroleum Institute)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높으면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낮아서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가볍다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API </a:t>
            </a:r>
            <a:r>
              <a:rPr lang="ko-KR" altLang="en-US" sz="1600" spc="-50" dirty="0"/>
              <a:t>중력도가 낮으면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높아서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무겁다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 </a:t>
            </a:r>
            <a:r>
              <a:rPr lang="en-US" altLang="ko-KR" sz="1600" spc="-50" dirty="0"/>
              <a:t>(Sweet crude)</a:t>
            </a:r>
            <a:r>
              <a:rPr lang="ko-KR" altLang="en-US" sz="1600" spc="-50" dirty="0"/>
              <a:t>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 </a:t>
            </a:r>
            <a:r>
              <a:rPr lang="en-US" altLang="ko-KR" sz="1600" spc="-50" dirty="0"/>
              <a:t>(Sour crude)</a:t>
            </a:r>
            <a:r>
              <a:rPr lang="ko-KR" altLang="en-US" sz="1600" spc="-50" dirty="0"/>
              <a:t>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벤치마크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C94C1-582E-A49E-D536-6EB1E67CD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석유와 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9A6B-DC57-8F17-0592-505DB0DD8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BF915E4-E029-60D4-B945-56BC4CE8F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130" y="922759"/>
            <a:ext cx="3742765" cy="561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650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참여국으로서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러시아가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아니고</a:t>
            </a:r>
            <a:r>
              <a:rPr lang="en-US" altLang="ko-KR" sz="1600" spc="-50" dirty="0"/>
              <a:t>, OPEC+ </a:t>
            </a:r>
            <a:r>
              <a:rPr lang="ko-KR" altLang="en-US" sz="1600" spc="-50" dirty="0"/>
              <a:t>회원이다</a:t>
            </a:r>
            <a:r>
              <a:rPr lang="en-US" altLang="ko-KR" sz="1600" spc="-50" dirty="0"/>
              <a:t>)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7"/>
          <a:stretch>
            <a:fillRect/>
          </a:stretch>
        </p:blipFill>
        <p:spPr>
          <a:xfrm>
            <a:off x="6490445" y="3760484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43967" y="3465931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26287-9187-A946-B786-60D4B223EEDE}"/>
              </a:ext>
            </a:extLst>
          </p:cNvPr>
          <p:cNvSpPr txBox="1"/>
          <p:nvPr/>
        </p:nvSpPr>
        <p:spPr>
          <a:xfrm>
            <a:off x="288790" y="3465931"/>
            <a:ext cx="630948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생산량은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528776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 비중은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35.4,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64.6%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생산규제에 따른 결과이다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낮은 매장량에도 불구하고 전체 생산의 </a:t>
            </a:r>
            <a:r>
              <a:rPr lang="en-US" altLang="ko-KR" sz="1600" spc="-50" dirty="0"/>
              <a:t>31.3%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현상은 미래 공급능력에 대한 불안정성을 의미한다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매장량 대비 생산비율이 높은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와 달리 비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높은 매장량 대비 낮은 생산비율을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미래에 에너지 전환이 본격화 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좌초자산 리스크를 키울 가능성이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좌초자산이란</a:t>
            </a:r>
            <a:r>
              <a:rPr lang="ko-KR" altLang="en-US" sz="1600" spc="-50" dirty="0"/>
              <a:t> 환경규제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수요감소 등의 외부요인에 의해 에너지 자산의 가치가 떨어지는 현상을 의미한다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ECCCE35-DAFA-BAA0-AB45-9F9732E01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65764"/>
              </p:ext>
            </p:extLst>
          </p:nvPr>
        </p:nvGraphicFramePr>
        <p:xfrm>
          <a:off x="5689447" y="1481588"/>
          <a:ext cx="6150530" cy="49423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1,207.5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827.1 (1)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277.9 (4)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541.7 (2)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214.3 (5)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이라크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213.0 (6)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531.7 (3)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4,514.1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3,102.5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1,597.8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12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2,916.3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2693A7D-3279-D9D8-3310-712FB290A713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생산량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5794-5C8C-27E1-0ED8-BCE326641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678F4-8446-A1DF-F8BB-87A5082C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E6259-945F-8EA0-11F7-8F2747F9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8CC18-E3DC-1377-A4C6-8DE9FC24547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소비는 지역별로 경제 발전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수용도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구조 등에 따라 뚜렷한 차이를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지역은 산업 및 수송부문 중심의 석유 의존도가 높다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지역은 에너지 효율화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수요가 정체하거나 감소하는 추세다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미국과 캐나다는 여전히 세계 최대 석유 소비 지역 중 하나이다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주로 수송부문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개인용 차량과 항공 부문에서 높은 석유 수요를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은 기후변화 대응 정책을 적극 추진하며 석유 수요 감소를 주도하고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연료세</a:t>
            </a:r>
            <a:r>
              <a:rPr lang="ko-KR" altLang="en-US" sz="1600" spc="-50" dirty="0"/>
              <a:t> 및 </a:t>
            </a:r>
            <a:r>
              <a:rPr lang="ko-KR" altLang="en-US" sz="1600" spc="-50" dirty="0" err="1"/>
              <a:t>탄소세</a:t>
            </a:r>
            <a:r>
              <a:rPr lang="ko-KR" altLang="en-US" sz="1600" spc="-50" dirty="0"/>
              <a:t>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 인프라 확충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도심 내 내연기관 차량 제한 등 다양한 정책 수단을 통해 석유 소비를 억제하고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중국은 지난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여 년간 세계 석유 수요 증가의 중심지였다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급격한 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물류 네트워크 확장 등이 주요 원인이다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최근들어</a:t>
            </a:r>
            <a:r>
              <a:rPr lang="ko-KR" altLang="en-US" sz="1600" spc="-50" dirty="0"/>
              <a:t> 경제성장률 둔화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 증가세가 점진적으로 둔화되고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1504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54B1-F356-050A-C5BC-7998C8CA8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B5D11-C33B-90D0-1D8A-AD32DBC44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58D401-C5CA-AACA-AA99-936A9B99C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4C259-EBCB-1482-B52C-272E2B309E4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전통적인 석유 수출국이나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자국 내 석유 소비도 지속적으로 증가해 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고온 기후로 인한 냉방 수요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에너지보조금이 주요 원인이었다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보조금 축소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향상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 및 재생에너지로의 전환이 추진되고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생산량의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가량을 자국 내에서 소비하고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아프리카와 중남미 지역은 현재 석유 소비 수준은 낮지만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인구 증가와 경제성장 잠재력으로 미래 수요 확대가 예상된다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 인프라 부족과 낮은 전기 접근성으로 인해 석유 기반 소규모 발전소가 여전히 널리 사용되고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D0948-A965-9575-3640-6C833068A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6014" y="3692170"/>
            <a:ext cx="5415805" cy="2919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1B9663-A58C-30E6-05FA-B51B7F9081FB}"/>
              </a:ext>
            </a:extLst>
          </p:cNvPr>
          <p:cNvSpPr txBox="1"/>
          <p:nvPr/>
        </p:nvSpPr>
        <p:spPr>
          <a:xfrm>
            <a:off x="4276012" y="36921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소비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D847-161B-B9DA-B3E6-37D215138C68}"/>
              </a:ext>
            </a:extLst>
          </p:cNvPr>
          <p:cNvSpPr txBox="1"/>
          <p:nvPr/>
        </p:nvSpPr>
        <p:spPr>
          <a:xfrm>
            <a:off x="7723413" y="6381068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0931686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8180-59A0-700A-E6A3-91956E7C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A649-419E-1C5E-10E4-0FC88D815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7B9CC9-D475-2FA7-0476-3690A18E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AD01E8-7FC2-A3D2-6940-C11AD83BC84E}"/>
              </a:ext>
            </a:extLst>
          </p:cNvPr>
          <p:cNvSpPr txBox="1"/>
          <p:nvPr/>
        </p:nvSpPr>
        <p:spPr>
          <a:xfrm>
            <a:off x="288790" y="958844"/>
            <a:ext cx="528776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세계 석유 수요를 주도했지만</a:t>
            </a:r>
            <a:r>
              <a:rPr lang="en-US" altLang="ko-KR" sz="1600" spc="-50" dirty="0"/>
              <a:t>, 2013</a:t>
            </a:r>
            <a:r>
              <a:rPr lang="ko-KR" altLang="en-US" sz="1600" spc="-50" dirty="0"/>
              <a:t>년 이후 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국가들의 수요가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를 초과하였다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이미 석유 수요 정점을 지난 것으로 평가된다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2013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기간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지역의 석유 소비는 연평균 </a:t>
            </a:r>
            <a:r>
              <a:rPr lang="en-US" altLang="ko-KR" sz="1600" spc="-50" dirty="0"/>
              <a:t>0.1%</a:t>
            </a:r>
            <a:r>
              <a:rPr lang="ko-KR" altLang="en-US" sz="1600" spc="-50" dirty="0"/>
              <a:t>씩 감소한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지역은 연평균 </a:t>
            </a:r>
            <a:r>
              <a:rPr lang="en-US" altLang="ko-KR" sz="1600" spc="-50" dirty="0"/>
              <a:t>2.1%</a:t>
            </a:r>
            <a:r>
              <a:rPr lang="ko-KR" altLang="en-US" sz="1600" spc="-50" dirty="0"/>
              <a:t>씩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한국은 연평균 </a:t>
            </a:r>
            <a:r>
              <a:rPr lang="en-US" altLang="ko-KR" sz="1600" spc="-50" dirty="0"/>
              <a:t>1.3%</a:t>
            </a:r>
            <a:r>
              <a:rPr lang="ko-KR" altLang="en-US" sz="1600" spc="-50" dirty="0"/>
              <a:t>의 증가율을 보였다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중국은 연평균 </a:t>
            </a:r>
            <a:r>
              <a:rPr lang="en-US" altLang="ko-KR" sz="1600" spc="-50" dirty="0"/>
              <a:t>4.6%</a:t>
            </a:r>
            <a:r>
              <a:rPr lang="ko-KR" altLang="en-US" sz="1600" spc="-50" dirty="0"/>
              <a:t>의 증가율을 기록했지만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둔화되고 있는 추세이다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 소비구조는 향후 석유 시장의 수급 전망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중요한 함의를 제공한다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12788-F20E-7DA3-6109-5456064DF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89544"/>
              </p:ext>
            </p:extLst>
          </p:nvPr>
        </p:nvGraphicFramePr>
        <p:xfrm>
          <a:off x="5689447" y="1481588"/>
          <a:ext cx="6150530" cy="483708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소비량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(1,000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배럴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23,296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18,984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6,445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13,904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9,646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38,061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16,577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5,446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3,366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5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100221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44731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55489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B10278-B3C7-C23A-1D1C-BE7A17693CF6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소비량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371529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1911-7340-576A-F5C9-EB0F84D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535C-F264-5932-4C12-BDF2B352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9A7B1-6BA9-905B-ADC3-9D197758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3C137-9A5F-C7E7-DFA8-6A89D256656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생산지와 소비지가 일치하지 않는 대표적인 자원으로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세계적으로 활발한 수출입이 이루어진다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무역구조는 자원의 지역적 편중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소비국의 에너지 수급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운송 인프라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요인 등에 의해 결정된다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석유 수출입은 국제 원유 시장의 물리적 흐름 뿐만 아니라 각국의 경제 및 에너지 안보 전략과도 연결되어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</a:t>
            </a:r>
            <a:r>
              <a:rPr lang="en-US" altLang="ko-KR" sz="1600" spc="-50" dirty="0"/>
              <a:t>(UAE), </a:t>
            </a:r>
            <a:r>
              <a:rPr lang="ko-KR" altLang="en-US" sz="1600" spc="-50" dirty="0"/>
              <a:t>쿠웨이트 등은 원유 생산량이 많지만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내수 수요가 적다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는 소비가 많아 수입 의존도가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미국은 수입도 많고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 또한 많은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정유설비와 관련이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 및 석유제품을 위한 고도화된 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 인프라가 구축되어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수출국은 사우디아라비아로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720</a:t>
            </a:r>
            <a:r>
              <a:rPr lang="ko-KR" altLang="en-US" sz="1600" spc="-50" dirty="0" err="1"/>
              <a:t>만배럴의</a:t>
            </a:r>
            <a:r>
              <a:rPr lang="ko-KR" altLang="en-US" sz="1600" spc="-50" dirty="0"/>
              <a:t> 원유를 주로 아시아 지역으로 수출한다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과거 유럽 중심이던 수출구조를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 이후 아시아 시장으로 수출지역을 전환하고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수입국은 중국으로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1,110</a:t>
            </a:r>
            <a:r>
              <a:rPr lang="ko-KR" altLang="en-US" sz="1600" spc="-50" dirty="0"/>
              <a:t>만 배럴을 수입하며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EU,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등이 뒤를 잇는다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수입선 다변화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 강화 등을 통해 에너지 안보를 강화하고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3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FE439-52F5-1AAA-555A-1E550D6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EC177-A8F8-0FBB-0D20-F14FE68FE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4927E-5D23-D6BD-0FA6-37868CA6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2F715-4A9F-32A4-8FC2-1E756B83CDFC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무역은 주로 초대형 유조선을 통한 해상 운송에 의존한다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파나마 운하 등이 초크포인트로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리스크를 동반한다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원유와 석유제품의 수출입이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싱가포르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등은 원유를 수입해 정제한 뒤 재수출하는 허브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등은 원유는 생산하지만 정제 능력이 부족하여 석유제품을 수입에 의존한다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46095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30A91DF-589F-AA49-45CE-1A2C40F3C1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21" y="2801983"/>
            <a:ext cx="5238759" cy="3804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7E09-C21C-CC23-0DFE-482D83B3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2762A6-44F4-6BA2-9357-11CBA1F3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37A8C6-A23E-B11D-8469-7B77515BB8F7}"/>
              </a:ext>
            </a:extLst>
          </p:cNvPr>
          <p:cNvSpPr txBox="1"/>
          <p:nvPr/>
        </p:nvSpPr>
        <p:spPr>
          <a:xfrm>
            <a:off x="1764635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수입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6B223FC-545F-BA5F-AA0E-D7A94EEC4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25088" y="3351483"/>
            <a:ext cx="5408321" cy="3151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92AD78-AA9C-2F72-3D73-A0D04D8BC904}"/>
              </a:ext>
            </a:extLst>
          </p:cNvPr>
          <p:cNvSpPr txBox="1"/>
          <p:nvPr/>
        </p:nvSpPr>
        <p:spPr>
          <a:xfrm>
            <a:off x="7323848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수출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EC29E-0C97-9AE3-68F4-9CAE22EA695A}"/>
              </a:ext>
            </a:extLst>
          </p:cNvPr>
          <p:cNvSpPr txBox="1"/>
          <p:nvPr/>
        </p:nvSpPr>
        <p:spPr>
          <a:xfrm>
            <a:off x="10466613" y="6326632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4C23B0-BFDE-9E4A-9CEE-02C74288DEE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몇 년간 세계 석유 무역 구조는 크게 변화하고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셰일</a:t>
            </a:r>
            <a:r>
              <a:rPr lang="ko-KR" altLang="en-US" sz="1600" spc="-50" dirty="0"/>
              <a:t> 혁명을 통해 </a:t>
            </a:r>
            <a:r>
              <a:rPr lang="en-US" altLang="ko-KR" sz="1600" spc="-50" dirty="0"/>
              <a:t>2010</a:t>
            </a:r>
            <a:r>
              <a:rPr lang="ko-KR" altLang="en-US" sz="1600" spc="-50" dirty="0"/>
              <a:t>년대 중반 이후 순수출국으로 전환하였다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러시아산 원유 수입을 </a:t>
            </a:r>
            <a:r>
              <a:rPr lang="ko-KR" altLang="en-US" sz="1600" spc="-50" dirty="0" err="1"/>
              <a:t>급감시키며</a:t>
            </a:r>
            <a:r>
              <a:rPr lang="ko-KR" altLang="en-US" sz="1600" spc="-50" dirty="0"/>
              <a:t>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서아프리카 등지로부터 수입을 확대하고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전환이 본격화되면서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석유 수요 감소로 수입량을 줄이는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인도와 아세안 국가들은 수요 증가로 석유 수입 의존도를 확대하고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4093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960EB-D470-92D7-5FF5-3A9AF2D5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7D74E-9EF2-B95F-12EB-DF383DA1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9AFE9-7827-E453-5320-F9E94938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F6309E-ED91-B0A9-F9AA-254D6592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석유 가격의 변동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062013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F731-3694-5A16-6DEF-F77E12A7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49B96-1181-D201-432F-A9C38EB6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581C6-9FDE-44DA-A904-8EBF7BABC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1CC88-3D6A-016A-22A9-151EBCD0EFC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1972</a:t>
            </a:r>
            <a:r>
              <a:rPr lang="ko-KR" altLang="en-US" sz="1600" spc="-50" dirty="0"/>
              <a:t>년 이후 두바이유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브렌트유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서부텍사스 </a:t>
            </a:r>
            <a:r>
              <a:rPr lang="ko-KR" altLang="en-US" sz="1600" spc="-50" dirty="0" err="1"/>
              <a:t>중질유</a:t>
            </a:r>
            <a:r>
              <a:rPr lang="ko-KR" altLang="en-US" sz="1600" spc="-50" dirty="0"/>
              <a:t> 등 원유 가격은 정치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상황에 따라 큰 변동이 있어왔다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중동 지역의 지정학적 긴장과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증가는 가격 변동의 주요 요인으로 작동하였다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벤치마크 유종 간에는 품질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유통 구조의 차이로 세부적 가격차이는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전반적인 가격 흐름 대체로 유사하게 움직여 왔다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C32AF4-C273-BAD2-3719-AE6186FB7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21383" y="3011048"/>
            <a:ext cx="6636758" cy="3474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D83E91-4414-93A2-349F-686C5190950E}"/>
              </a:ext>
            </a:extLst>
          </p:cNvPr>
          <p:cNvSpPr txBox="1"/>
          <p:nvPr/>
        </p:nvSpPr>
        <p:spPr>
          <a:xfrm>
            <a:off x="3522372" y="2575192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원유가격의 변동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달러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A1AC3-4C70-EF09-ADCC-2B860E9142B7}"/>
              </a:ext>
            </a:extLst>
          </p:cNvPr>
          <p:cNvSpPr txBox="1"/>
          <p:nvPr/>
        </p:nvSpPr>
        <p:spPr>
          <a:xfrm>
            <a:off x="7689069" y="6176641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236FFBF4-BE0C-5BF7-455E-C379ABA4CD04}"/>
              </a:ext>
            </a:extLst>
          </p:cNvPr>
          <p:cNvSpPr/>
          <p:nvPr/>
        </p:nvSpPr>
        <p:spPr>
          <a:xfrm>
            <a:off x="1354183" y="4667794"/>
            <a:ext cx="1067200" cy="386750"/>
          </a:xfrm>
          <a:prstGeom prst="wedgeRoundRectCallout">
            <a:avLst>
              <a:gd name="adj1" fmla="val 107973"/>
              <a:gd name="adj2" fmla="val 140122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</a:rPr>
              <a:t>욤키푸르</a:t>
            </a:r>
            <a:r>
              <a:rPr lang="ko-KR" altLang="en-US" sz="800" dirty="0">
                <a:solidFill>
                  <a:schemeClr val="tx1"/>
                </a:solidFill>
              </a:rPr>
              <a:t>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19468381-46AF-DD8B-51BF-EF70569FFA9C}"/>
              </a:ext>
            </a:extLst>
          </p:cNvPr>
          <p:cNvSpPr/>
          <p:nvPr/>
        </p:nvSpPr>
        <p:spPr>
          <a:xfrm>
            <a:off x="2856411" y="3936275"/>
            <a:ext cx="1067200" cy="418910"/>
          </a:xfrm>
          <a:prstGeom prst="wedgeRoundRectCallout">
            <a:avLst>
              <a:gd name="adj1" fmla="val 27187"/>
              <a:gd name="adj2" fmla="val 219061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이란혁명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이란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이라크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말풍선: 모서리가 둥근 사각형 9">
            <a:extLst>
              <a:ext uri="{FF2B5EF4-FFF2-40B4-BE49-F238E27FC236}">
                <a16:creationId xmlns:a16="http://schemas.microsoft.com/office/drawing/2014/main" id="{7E3E5DF9-843D-7000-0516-A70BF7544E3A}"/>
              </a:ext>
            </a:extLst>
          </p:cNvPr>
          <p:cNvSpPr/>
          <p:nvPr/>
        </p:nvSpPr>
        <p:spPr>
          <a:xfrm>
            <a:off x="3988526" y="3168610"/>
            <a:ext cx="1395502" cy="523824"/>
          </a:xfrm>
          <a:prstGeom prst="wedgeRoundRectCallout">
            <a:avLst>
              <a:gd name="adj1" fmla="val -11837"/>
              <a:gd name="adj2" fmla="val 32250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OPEC </a:t>
            </a:r>
            <a:r>
              <a:rPr lang="ko-KR" altLang="en-US" sz="800" dirty="0">
                <a:solidFill>
                  <a:schemeClr val="tx1"/>
                </a:solidFill>
              </a:rPr>
              <a:t>쿼터제 무력화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사우디의 공급확대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</a:t>
            </a:r>
            <a:r>
              <a:rPr lang="en-US" altLang="ko-KR" sz="800" dirty="0">
                <a:solidFill>
                  <a:schemeClr val="tx1"/>
                </a:solidFill>
              </a:rPr>
              <a:t>OPEC</a:t>
            </a:r>
            <a:r>
              <a:rPr lang="ko-KR" altLang="en-US" sz="800" dirty="0">
                <a:solidFill>
                  <a:schemeClr val="tx1"/>
                </a:solidFill>
              </a:rPr>
              <a:t>국가의 생산증가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A1AD170B-AE6B-4833-75DE-828C74B4EED4}"/>
              </a:ext>
            </a:extLst>
          </p:cNvPr>
          <p:cNvSpPr/>
          <p:nvPr/>
        </p:nvSpPr>
        <p:spPr>
          <a:xfrm>
            <a:off x="4686277" y="4222618"/>
            <a:ext cx="660786" cy="418910"/>
          </a:xfrm>
          <a:prstGeom prst="wedgeRoundRectCallout">
            <a:avLst>
              <a:gd name="adj1" fmla="val -1691"/>
              <a:gd name="adj2" fmla="val 121355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걸프전쟁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9EBA5C05-30A1-26C7-288C-96EA79A95209}"/>
              </a:ext>
            </a:extLst>
          </p:cNvPr>
          <p:cNvSpPr/>
          <p:nvPr/>
        </p:nvSpPr>
        <p:spPr>
          <a:xfrm>
            <a:off x="6365966" y="5187602"/>
            <a:ext cx="1136467" cy="418910"/>
          </a:xfrm>
          <a:prstGeom prst="wedgeRoundRectCallout">
            <a:avLst>
              <a:gd name="adj1" fmla="val 840"/>
              <a:gd name="adj2" fmla="val -215420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중국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인도 경제성장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말풍선: 모서리가 둥근 사각형 12">
            <a:extLst>
              <a:ext uri="{FF2B5EF4-FFF2-40B4-BE49-F238E27FC236}">
                <a16:creationId xmlns:a16="http://schemas.microsoft.com/office/drawing/2014/main" id="{C6F76AD4-DF4E-C449-DEA8-EBF5AB0341CE}"/>
              </a:ext>
            </a:extLst>
          </p:cNvPr>
          <p:cNvSpPr/>
          <p:nvPr/>
        </p:nvSpPr>
        <p:spPr>
          <a:xfrm>
            <a:off x="6844938" y="2592138"/>
            <a:ext cx="657496" cy="418910"/>
          </a:xfrm>
          <a:prstGeom prst="wedgeRoundRectCallout">
            <a:avLst>
              <a:gd name="adj1" fmla="val 11414"/>
              <a:gd name="adj2" fmla="val 304296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글로벌 금융위기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BDE3C0B0-FF3E-6CEB-6B01-69DAB35C41C3}"/>
              </a:ext>
            </a:extLst>
          </p:cNvPr>
          <p:cNvSpPr/>
          <p:nvPr/>
        </p:nvSpPr>
        <p:spPr>
          <a:xfrm>
            <a:off x="7621693" y="2592138"/>
            <a:ext cx="1136467" cy="418910"/>
          </a:xfrm>
          <a:prstGeom prst="wedgeRoundRectCallout">
            <a:avLst>
              <a:gd name="adj1" fmla="val -26746"/>
              <a:gd name="adj2" fmla="val 31884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미국의 </a:t>
            </a:r>
            <a:r>
              <a:rPr lang="ko-KR" altLang="en-US" sz="800" dirty="0" err="1">
                <a:solidFill>
                  <a:schemeClr val="tx1"/>
                </a:solidFill>
              </a:rPr>
              <a:t>셰일혁명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88EE8A10-2CD8-9D7E-E31F-2231A27AD3B6}"/>
              </a:ext>
            </a:extLst>
          </p:cNvPr>
          <p:cNvSpPr/>
          <p:nvPr/>
        </p:nvSpPr>
        <p:spPr>
          <a:xfrm>
            <a:off x="8131294" y="5148104"/>
            <a:ext cx="1136467" cy="418910"/>
          </a:xfrm>
          <a:prstGeom prst="wedgeRoundRectCallout">
            <a:avLst>
              <a:gd name="adj1" fmla="val -24446"/>
              <a:gd name="adj2" fmla="val -11875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말풍선: 모서리가 둥근 사각형 15">
            <a:extLst>
              <a:ext uri="{FF2B5EF4-FFF2-40B4-BE49-F238E27FC236}">
                <a16:creationId xmlns:a16="http://schemas.microsoft.com/office/drawing/2014/main" id="{9AB75A8A-3F8D-91B1-BF0D-8A7D159FF4D6}"/>
              </a:ext>
            </a:extLst>
          </p:cNvPr>
          <p:cNvSpPr/>
          <p:nvPr/>
        </p:nvSpPr>
        <p:spPr>
          <a:xfrm>
            <a:off x="8988874" y="4277107"/>
            <a:ext cx="1326429" cy="418910"/>
          </a:xfrm>
          <a:prstGeom prst="wedgeRoundRectCallout">
            <a:avLst>
              <a:gd name="adj1" fmla="val -71172"/>
              <a:gd name="adj2" fmla="val -87569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 </a:t>
            </a:r>
            <a:r>
              <a:rPr lang="ko-KR" altLang="en-US" sz="800" dirty="0">
                <a:solidFill>
                  <a:schemeClr val="tx1"/>
                </a:solidFill>
              </a:rPr>
              <a:t>회복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러시아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우크라이나 전쟁</a:t>
            </a:r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D55EB400-2E19-9E80-B21F-37AA3DA3E38E}"/>
              </a:ext>
            </a:extLst>
          </p:cNvPr>
          <p:cNvSpPr/>
          <p:nvPr/>
        </p:nvSpPr>
        <p:spPr>
          <a:xfrm>
            <a:off x="5583237" y="4222618"/>
            <a:ext cx="660786" cy="418910"/>
          </a:xfrm>
          <a:prstGeom prst="wedgeRoundRectCallout">
            <a:avLst>
              <a:gd name="adj1" fmla="val 285"/>
              <a:gd name="adj2" fmla="val 17020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아시아 금융위기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6EDA0-AEBD-AE0D-2E99-C87278E4C2B6}"/>
              </a:ext>
            </a:extLst>
          </p:cNvPr>
          <p:cNvSpPr txBox="1"/>
          <p:nvPr/>
        </p:nvSpPr>
        <p:spPr>
          <a:xfrm>
            <a:off x="9239250" y="5714490"/>
            <a:ext cx="2318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(</a:t>
            </a:r>
            <a:r>
              <a:rPr lang="ko-KR" altLang="en-US" sz="1800" spc="-50" dirty="0"/>
              <a:t>다음 슬라이드 참고</a:t>
            </a:r>
            <a:r>
              <a:rPr lang="en-US" altLang="ko-KR" sz="1800" spc="-5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27245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F67C-4CB1-5C2D-FE07-8B3D35C7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A184F-AC3E-824D-C4F3-C4D8A810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01B5FF-E22A-0D63-642B-7FDCC8B1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1340-E9D2-2967-8F18-B03A73B15BB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차 석유파동은 </a:t>
            </a:r>
            <a:r>
              <a:rPr lang="ko-KR" altLang="en-US" sz="1600" spc="-50" dirty="0" err="1"/>
              <a:t>욤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키푸르</a:t>
            </a:r>
            <a:r>
              <a:rPr lang="ko-KR" altLang="en-US" sz="1600" spc="-50" dirty="0"/>
              <a:t> 전쟁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아랍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이스라엘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OAPEC</a:t>
            </a:r>
            <a:r>
              <a:rPr lang="ko-KR" altLang="en-US" sz="1600" spc="-50" dirty="0"/>
              <a:t>의 석유 금수조치로 촉발되었다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석유파동은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이라크전쟁 발발에 따라 세계 원유 공급의 대폭 축소를 가져왔다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1985~1986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쿼터제 무력화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사우디의 공급 확대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생산증가로 공급 과잉이 심화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걸프</a:t>
            </a:r>
            <a:r>
              <a:rPr lang="ko-KR" altLang="en-US" sz="1600" spc="-50" dirty="0"/>
              <a:t> 전쟁으로 일시적으로 가격을 배럴당 </a:t>
            </a:r>
            <a:r>
              <a:rPr lang="en-US" altLang="ko-KR" sz="1600" spc="-50" dirty="0"/>
              <a:t>40$ </a:t>
            </a:r>
            <a:r>
              <a:rPr lang="ko-KR" altLang="en-US" sz="1600" spc="-50" dirty="0"/>
              <a:t>까지 폭등했지만 빠르게 안정되었다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 금융위기는 수요 감소로 이어졌지만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세계 경제가 회복되면서 가격도 반등하였다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중국과 인도의 급속한 경제성장은 석유 수요를 견인하였다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2007~2008</a:t>
            </a:r>
            <a:r>
              <a:rPr lang="ko-KR" altLang="en-US" sz="1600" spc="-50" dirty="0"/>
              <a:t>년 글로벌 금융위기로 수요가 급감하면서 가격은 절반 이하로 급락하였다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2014</a:t>
            </a:r>
            <a:r>
              <a:rPr lang="ko-KR" altLang="en-US" sz="1600" spc="-50" dirty="0"/>
              <a:t>년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급증으로 공급이 확대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 전반에 수요감소를 야기했다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~2022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</a:t>
            </a:r>
            <a:r>
              <a:rPr lang="ko-KR" altLang="en-US" sz="1600" spc="-50" dirty="0"/>
              <a:t>의 회복과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전쟁으로 가격 상승 압력이 강해졌다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두바이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WTI </a:t>
            </a:r>
            <a:r>
              <a:rPr lang="ko-KR" altLang="en-US" sz="1600" spc="-50" dirty="0"/>
              <a:t>모두 유사한 변동 패턴을 보이지만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특성에 따라 가격 차이는 조금씩 지속되고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브렌트유는 국제 거래의 대표 벤치마크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WTI</a:t>
            </a:r>
            <a:r>
              <a:rPr lang="ko-KR" altLang="en-US" sz="1600" spc="-50" dirty="0"/>
              <a:t>는 미국 내 공급 상황에 민감하게 반응한다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두바이유는 아시아 시장에서 기준 유종으로 기능하고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48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0694-1777-6B09-38EB-FF94FD86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3602B-4E1B-6E4F-F018-D611DA7EA8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0B4D6-CFBE-6023-520D-D4A6EBDA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3C375F4-6E1C-B7C0-28F6-95D569D4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석유 시장의 행태분석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397272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10310</TotalTime>
  <Words>5575</Words>
  <Application>Microsoft Office PowerPoint</Application>
  <PresentationFormat>와이드스크린</PresentationFormat>
  <Paragraphs>691</Paragraphs>
  <Slides>45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1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석유, 음의 가격: 2020년 4월의 사례</vt:lpstr>
      <vt:lpstr>Section 3. 석유의 수직적 가치사슬</vt:lpstr>
      <vt:lpstr>석유의 수직적 가치사슬</vt:lpstr>
      <vt:lpstr>석유의 수직적 가치사슬</vt:lpstr>
      <vt:lpstr>석유의 수직적 가치사슬</vt:lpstr>
      <vt:lpstr>석유의 수직적 가치사슬 (중동 원유 &gt; 국내 휘발유)</vt:lpstr>
      <vt:lpstr>석유의 수직적 가치사슬 (중동 원유 &gt; 국내 휘발유)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석유와 천연가스 매장량</vt:lpstr>
      <vt:lpstr>석유생산</vt:lpstr>
      <vt:lpstr>석유생산</vt:lpstr>
      <vt:lpstr>석유생산</vt:lpstr>
      <vt:lpstr>석유 생산</vt:lpstr>
      <vt:lpstr>석유 소비</vt:lpstr>
      <vt:lpstr>석유 소비</vt:lpstr>
      <vt:lpstr>석유 소비</vt:lpstr>
      <vt:lpstr>석유 수출입</vt:lpstr>
      <vt:lpstr>석유 수출입</vt:lpstr>
      <vt:lpstr>석유 수출입</vt:lpstr>
      <vt:lpstr>Section 5. 석유 가격의 변동</vt:lpstr>
      <vt:lpstr>석유 가격의 변동</vt:lpstr>
      <vt:lpstr>석유 가격의 변동</vt:lpstr>
      <vt:lpstr>Section 6. 석유 시장의 행태분석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312</cp:revision>
  <dcterms:created xsi:type="dcterms:W3CDTF">2025-07-05T05:15:23Z</dcterms:created>
  <dcterms:modified xsi:type="dcterms:W3CDTF">2026-09-23T03:59:17Z</dcterms:modified>
</cp:coreProperties>
</file>