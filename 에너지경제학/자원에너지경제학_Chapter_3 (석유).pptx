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0"/>
  </p:notesMasterIdLst>
  <p:sldIdLst>
    <p:sldId id="375" r:id="rId2"/>
    <p:sldId id="405" r:id="rId3"/>
    <p:sldId id="550" r:id="rId4"/>
    <p:sldId id="376" r:id="rId5"/>
    <p:sldId id="611" r:id="rId6"/>
    <p:sldId id="599" r:id="rId7"/>
    <p:sldId id="600" r:id="rId8"/>
    <p:sldId id="601" r:id="rId9"/>
    <p:sldId id="602" r:id="rId10"/>
    <p:sldId id="603" r:id="rId11"/>
    <p:sldId id="604" r:id="rId12"/>
    <p:sldId id="605" r:id="rId13"/>
    <p:sldId id="606" r:id="rId14"/>
    <p:sldId id="607" r:id="rId15"/>
    <p:sldId id="608" r:id="rId16"/>
    <p:sldId id="609" r:id="rId17"/>
    <p:sldId id="610" r:id="rId18"/>
    <p:sldId id="637" r:id="rId19"/>
    <p:sldId id="612" r:id="rId20"/>
    <p:sldId id="613" r:id="rId21"/>
    <p:sldId id="614" r:id="rId22"/>
    <p:sldId id="615" r:id="rId23"/>
    <p:sldId id="639" r:id="rId24"/>
    <p:sldId id="640" r:id="rId25"/>
    <p:sldId id="616" r:id="rId26"/>
    <p:sldId id="617" r:id="rId27"/>
    <p:sldId id="618" r:id="rId28"/>
    <p:sldId id="619" r:id="rId29"/>
    <p:sldId id="620" r:id="rId30"/>
    <p:sldId id="641" r:id="rId31"/>
    <p:sldId id="621" r:id="rId32"/>
    <p:sldId id="622" r:id="rId33"/>
    <p:sldId id="623" r:id="rId34"/>
    <p:sldId id="624" r:id="rId35"/>
    <p:sldId id="643" r:id="rId36"/>
    <p:sldId id="644" r:id="rId37"/>
    <p:sldId id="625" r:id="rId38"/>
    <p:sldId id="626" r:id="rId39"/>
    <p:sldId id="628" r:id="rId40"/>
    <p:sldId id="629" r:id="rId41"/>
    <p:sldId id="630" r:id="rId42"/>
    <p:sldId id="631" r:id="rId43"/>
    <p:sldId id="632" r:id="rId44"/>
    <p:sldId id="633" r:id="rId45"/>
    <p:sldId id="634" r:id="rId46"/>
    <p:sldId id="636" r:id="rId47"/>
    <p:sldId id="642" r:id="rId48"/>
    <p:sldId id="645" r:id="rId49"/>
    <p:sldId id="646" r:id="rId50"/>
    <p:sldId id="647" r:id="rId51"/>
    <p:sldId id="648" r:id="rId52"/>
    <p:sldId id="650" r:id="rId53"/>
    <p:sldId id="649" r:id="rId54"/>
    <p:sldId id="651" r:id="rId55"/>
    <p:sldId id="652" r:id="rId56"/>
    <p:sldId id="653" r:id="rId57"/>
    <p:sldId id="654" r:id="rId58"/>
    <p:sldId id="598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1FE"/>
    <a:srgbClr val="E15F5F"/>
    <a:srgbClr val="F8F7FC"/>
    <a:srgbClr val="2D72BE"/>
    <a:srgbClr val="070B12"/>
    <a:srgbClr val="0047A0"/>
    <a:srgbClr val="E3605B"/>
    <a:srgbClr val="FFFFFF"/>
    <a:srgbClr val="FFFDFF"/>
    <a:srgbClr val="00A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885" autoAdjust="0"/>
  </p:normalViewPr>
  <p:slideViewPr>
    <p:cSldViewPr snapToGrid="0">
      <p:cViewPr varScale="1">
        <p:scale>
          <a:sx n="78" d="100"/>
          <a:sy n="78" d="100"/>
        </p:scale>
        <p:origin x="126" y="15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1151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4A865-1E2D-8BB9-9114-29ED72F3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6990566-90A8-1972-6DD6-CB16E299C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DD5336-1FC8-89DF-55D4-742B64C57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47AC6-6EF2-318A-9874-536E9AD59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02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troleum.or.kr/industry/story_2_1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askinno.com/archives/36348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pco.co.kr/company/business-overview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25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- 3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3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석유 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석유는 현대 세계 에너지 시스템의 중추적인 역할을 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산업혁명 이후 기술발전과 더불어 교통</a:t>
            </a:r>
            <a:r>
              <a:rPr lang="en-US" altLang="ko-KR" sz="1600" dirty="0"/>
              <a:t>, </a:t>
            </a:r>
            <a:r>
              <a:rPr lang="ko-KR" altLang="en-US" sz="1600" dirty="0"/>
              <a:t>산업</a:t>
            </a:r>
            <a:r>
              <a:rPr lang="en-US" altLang="ko-KR" sz="1600" dirty="0"/>
              <a:t>, </a:t>
            </a:r>
            <a:r>
              <a:rPr lang="ko-KR" altLang="en-US" sz="1600" dirty="0"/>
              <a:t>난방 등 다양한 부문에서 사용되고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세계 </a:t>
            </a:r>
            <a:r>
              <a:rPr lang="en-US" altLang="ko-KR" sz="1600" dirty="0"/>
              <a:t>1</a:t>
            </a:r>
            <a:r>
              <a:rPr lang="ko-KR" altLang="en-US" sz="1600" dirty="0"/>
              <a:t>차 에너지 소비에서 가장 큰 비중을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단순히 연료의 의미 이상으로</a:t>
            </a:r>
            <a:r>
              <a:rPr lang="en-US" altLang="ko-KR" sz="1600" dirty="0"/>
              <a:t>, </a:t>
            </a:r>
            <a:r>
              <a:rPr lang="ko-KR" altLang="en-US" sz="1600" dirty="0"/>
              <a:t>국가 간의 외교</a:t>
            </a:r>
            <a:r>
              <a:rPr lang="en-US" altLang="ko-KR" sz="1600" dirty="0"/>
              <a:t>, </a:t>
            </a:r>
            <a:r>
              <a:rPr lang="ko-KR" altLang="en-US" sz="1600" dirty="0"/>
              <a:t>안보 분야에서 핵심 자원으로 기능하고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석유시장은 구조와 작동방식에 있어서 다른 에너지원과 구별되는 특성을 갖는다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석유는 전 지구적으로 매장되어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지역적으로 </a:t>
            </a:r>
            <a:r>
              <a:rPr lang="ko-KR" altLang="en-US" sz="1600" dirty="0" err="1"/>
              <a:t>불균형하게</a:t>
            </a:r>
            <a:r>
              <a:rPr lang="ko-KR" altLang="en-US" sz="1600" dirty="0"/>
              <a:t> 분포되어 있다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이는 자원 보유국과 수입국 간의 상호의존성을 초래한다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석유공급은 </a:t>
            </a:r>
            <a:r>
              <a:rPr lang="en-US" altLang="ko-KR" sz="1600" dirty="0"/>
              <a:t>OPEC</a:t>
            </a:r>
            <a:r>
              <a:rPr lang="ko-KR" altLang="en-US" sz="1600" dirty="0"/>
              <a:t>과 같은 산유국 협의체의 전략적 결정에 크게 좌우 되어</a:t>
            </a:r>
            <a:r>
              <a:rPr lang="en-US" altLang="ko-KR" sz="1600" dirty="0"/>
              <a:t>, </a:t>
            </a:r>
            <a:r>
              <a:rPr lang="ko-KR" altLang="en-US" sz="1600" dirty="0"/>
              <a:t>과점적 구조를 보이기도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석유시장은 공급부문에서의 충격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리스크</a:t>
            </a:r>
            <a:r>
              <a:rPr lang="en-US" altLang="ko-KR" sz="1600" dirty="0"/>
              <a:t>, </a:t>
            </a:r>
            <a:r>
              <a:rPr lang="ko-KR" altLang="en-US" sz="1600" dirty="0"/>
              <a:t>투기적 자본 등 다양한 변수에 의해 가격 변동성이 크다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현재 석유산업은 중요한 전환기를 맞고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기술혁신과 새로운 매장량의 발견이 이어지는 한편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대응을 위한 저탄소 에너지로의 전환 요구가 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A523-A14B-00FD-D1D2-89523BF90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19842E-3A29-FBE9-BD7E-BAA7821971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524D3C-B5AD-ADB0-CBF8-04B0D2F8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76B9EB5-CF30-C2A2-5727-6CBA70F3A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석유산업의 역사 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1452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1F42-0112-42EE-225F-0E6303B2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5705B2-6F95-FCB4-AF94-3F4D7E7E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0EBC54-15FD-BA37-AFDD-1C725673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289E0-EF7E-BEC3-3A2F-4DB7035E0CF1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[1]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석유의 발견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석유는 고대부터 자연적으로 지표에 흘러나오는 형태로 인간에게 알려져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문화권에서 실용적으로 활용하였다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메소포타미아 지역에서는 아스팔트 형태의 천연 타르를 건축용 방수재로 사용하였다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기원전 </a:t>
            </a:r>
            <a:r>
              <a:rPr lang="en-US" altLang="ko-KR" sz="1600" spc="-50" dirty="0"/>
              <a:t>3,000-4,000</a:t>
            </a:r>
            <a:r>
              <a:rPr lang="ko-KR" altLang="en-US" sz="1600" spc="-50" dirty="0"/>
              <a:t>년 전</a:t>
            </a:r>
            <a:r>
              <a:rPr lang="en-US" altLang="ko-KR" sz="1600" spc="-5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이집트에서는 미라 제작 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방부 처리용으로 석유 물질을 사용하였다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현대적 의미의 석유산업은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세기 중반에 출현하였다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1859</a:t>
            </a:r>
            <a:r>
              <a:rPr lang="ko-KR" altLang="en-US" sz="1600" spc="-50" dirty="0"/>
              <a:t>년 미국 </a:t>
            </a:r>
            <a:r>
              <a:rPr lang="ko-KR" altLang="en-US" sz="1600" spc="-50" dirty="0" err="1"/>
              <a:t>펜실베니아주에서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에드윈</a:t>
            </a:r>
            <a:r>
              <a:rPr lang="ko-KR" altLang="en-US" sz="1600" spc="-50" dirty="0"/>
              <a:t> 드레이크</a:t>
            </a:r>
            <a:r>
              <a:rPr lang="en-US" altLang="ko-KR" sz="1600" spc="-50" dirty="0"/>
              <a:t>(Edwin L. Drake)</a:t>
            </a:r>
            <a:r>
              <a:rPr lang="ko-KR" altLang="en-US" sz="1600" spc="-50" dirty="0"/>
              <a:t>가 최초로 유정 시추에 성공하였다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이전에는 우물수준의 얕은 곳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자연누출 등에 의존하여 석유를 얻어냈지만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드레이크는 </a:t>
            </a:r>
            <a:r>
              <a:rPr lang="en-US" altLang="ko-KR" sz="1600" spc="-50" dirty="0"/>
              <a:t>21</a:t>
            </a:r>
            <a:r>
              <a:rPr lang="ko-KR" altLang="en-US" sz="1600" spc="-50" dirty="0"/>
              <a:t>미터 깊이에서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수동펌프를 기반으로 석유를 시추하기 시작하였다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 사건을 통해 상업적 석유 채굴의 가능성을 보여주고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이후 석유 채굴과 정제 기술의 비약적인 발전을 촉진시켰다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드레이크의 성공 이후 전세계적으로 오일 붐이 확산되고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석유는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에너지 패러다임의 중심 자원으로 부상한다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51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8925A-5455-C4F4-66E3-46F75761C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9BFE2-7501-E8B7-03F6-E17A65972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C84AAC-C15C-4743-8D96-3446B762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FB3A8-5C7C-F3E3-AF8C-BFEBF78E952B}"/>
              </a:ext>
            </a:extLst>
          </p:cNvPr>
          <p:cNvSpPr txBox="1"/>
          <p:nvPr/>
        </p:nvSpPr>
        <p:spPr>
          <a:xfrm>
            <a:off x="288790" y="958844"/>
            <a:ext cx="11693660" cy="26761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[2]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석유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러쉬 기간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후반부터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초반에 걸쳐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미국을 중심으로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석유 러쉬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라고 불리는 대규모 유전 탐사 붐이 일어났다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석유는 기존의 석탄을 대체하며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철강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기계 산업에서 필수적인 연료로 자리잡기 시작했다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1901</a:t>
            </a:r>
            <a:r>
              <a:rPr lang="ko-KR" altLang="en-US" sz="1600" spc="-50" dirty="0"/>
              <a:t>년 텍사스 </a:t>
            </a:r>
            <a:r>
              <a:rPr lang="ko-KR" altLang="en-US" sz="1600" spc="-50" dirty="0" err="1"/>
              <a:t>스핀들탑이라는</a:t>
            </a:r>
            <a:r>
              <a:rPr lang="ko-KR" altLang="en-US" sz="1600" spc="-50" dirty="0"/>
              <a:t> 대규모 유전의 발견은 큰 전환점이었다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하루 약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만 배럴의 석유가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일 동안 계속 분출되었고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크리스마스 트리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라고 부르는 유정제어장치를 통해 </a:t>
            </a:r>
            <a:r>
              <a:rPr lang="ko-KR" altLang="en-US" sz="1600" spc="-50" dirty="0" err="1"/>
              <a:t>뿜어나오는</a:t>
            </a:r>
            <a:r>
              <a:rPr lang="ko-KR" altLang="en-US" sz="1600" spc="-50" dirty="0"/>
              <a:t> 석유를 제어할 수 있었다고 한다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026" name="Picture 2" descr="유정탑에서 기름이 솟구쳐 오르는 흑백 사진.">
            <a:extLst>
              <a:ext uri="{FF2B5EF4-FFF2-40B4-BE49-F238E27FC236}">
                <a16:creationId xmlns:a16="http://schemas.microsoft.com/office/drawing/2014/main" id="{2064915D-A61B-18CD-25A3-C73662008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9099" y="3640015"/>
            <a:ext cx="2063502" cy="2807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4BEA5-0C79-83EF-19E2-26C31C8E293F}"/>
              </a:ext>
            </a:extLst>
          </p:cNvPr>
          <p:cNvSpPr txBox="1"/>
          <p:nvPr/>
        </p:nvSpPr>
        <p:spPr>
          <a:xfrm>
            <a:off x="9268215" y="3378405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/>
              <a:t>&lt;1901</a:t>
            </a:r>
            <a:r>
              <a:rPr lang="ko-KR" altLang="en-US" sz="1050" spc="-50" dirty="0"/>
              <a:t>년 </a:t>
            </a:r>
            <a:r>
              <a:rPr lang="en-US" altLang="ko-KR" sz="1050" spc="-50" dirty="0"/>
              <a:t>1</a:t>
            </a:r>
            <a:r>
              <a:rPr lang="ko-KR" altLang="en-US" sz="1050" spc="-50" dirty="0"/>
              <a:t>월 </a:t>
            </a:r>
            <a:r>
              <a:rPr lang="en-US" altLang="ko-KR" sz="1050" spc="-50" dirty="0"/>
              <a:t>10</a:t>
            </a:r>
            <a:r>
              <a:rPr lang="ko-KR" altLang="en-US" sz="1050" spc="-50" dirty="0"/>
              <a:t>일 </a:t>
            </a:r>
            <a:r>
              <a:rPr lang="ko-KR" altLang="en-US" sz="1050" spc="-50" dirty="0" err="1"/>
              <a:t>스핀들탑의</a:t>
            </a:r>
            <a:r>
              <a:rPr lang="ko-KR" altLang="en-US" sz="1050" spc="-50" dirty="0"/>
              <a:t> 유정 분출</a:t>
            </a:r>
            <a:r>
              <a:rPr lang="en-US" altLang="ko-KR" sz="1050" spc="-50" dirty="0"/>
              <a:t>&gt;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EB091-4C46-C366-70F9-BA13B241FA74}"/>
              </a:ext>
            </a:extLst>
          </p:cNvPr>
          <p:cNvSpPr txBox="1"/>
          <p:nvPr/>
        </p:nvSpPr>
        <p:spPr>
          <a:xfrm>
            <a:off x="10719897" y="6421870"/>
            <a:ext cx="11591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</a:t>
            </a:r>
            <a:r>
              <a:rPr lang="ko-KR" altLang="en-US" sz="900" spc="-50" dirty="0"/>
              <a:t>위키피디아</a:t>
            </a:r>
            <a:endParaRPr lang="ko-KR" alt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46990E-8BD9-3B68-C08B-DF234BDAD29F}"/>
              </a:ext>
            </a:extLst>
          </p:cNvPr>
          <p:cNvSpPr txBox="1"/>
          <p:nvPr/>
        </p:nvSpPr>
        <p:spPr>
          <a:xfrm>
            <a:off x="288790" y="3624483"/>
            <a:ext cx="9157252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이후에도 계속해서 유전탐사가 확산 되었고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석유가격의 하락과 시장확대를 촉진하여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소비시대를 열었다</a:t>
            </a:r>
            <a:endParaRPr lang="en-US" altLang="ko-KR" sz="1600" spc="-50" dirty="0"/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민간 탐사자들에게 시추 실패는 곧바로 파산을 의미했으며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이처럼 석유 러쉬는 고위험 고수익 구조를 반영하는 산업이었다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9287DEF-A535-C310-311D-E28971FF9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32" y="5043821"/>
            <a:ext cx="2381625" cy="13384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F9CB72-B7F0-DFA0-C4D4-2924EB3C1E43}"/>
              </a:ext>
            </a:extLst>
          </p:cNvPr>
          <p:cNvSpPr txBox="1"/>
          <p:nvPr/>
        </p:nvSpPr>
        <p:spPr>
          <a:xfrm>
            <a:off x="6628451" y="4802225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spc="-50" dirty="0"/>
              <a:t>&lt;</a:t>
            </a:r>
            <a:r>
              <a:rPr lang="ko-KR" altLang="en-US" sz="1050" spc="-50" dirty="0"/>
              <a:t>크리스마스 트리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석유 시추용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09794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8100-468B-970E-6916-FACB9A2B0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829D6C-0164-4DD6-AF98-73C2BC8C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8C846F-66A1-A5DB-7415-C7B8FD4E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51C7F2-9E7D-8721-0542-BB4A8DFB5437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 시기에는 석유산업의 기술이 비약적으로 발전하였다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드릴링</a:t>
            </a:r>
            <a:r>
              <a:rPr lang="ko-KR" altLang="en-US" sz="1600" spc="-50" dirty="0"/>
              <a:t> 장비의 기계화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송유관 인프라의 발전 등은 석유의 생산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유통의 경제성을 획기적으로 높였다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기술을 바탕으로 많은 석유기업들이 수직적 통합 구조를 형성하기 시작하였다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탐사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채굴 뿐만 아니라 정제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유통까지 담당하며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훗날 스탠다드 오일과 같은 거대 기업 탄생의 토대가 되었다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러쉬는 미국에만 국한된 것은 아니었고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노벨 형제와 로스차일드 가문은 러시아 제국의 바쿠 지역에 대규모 투자를 단행하며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바쿠지역은 세계 최대 석유 생산지 중 하나로 부상하기도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전세계는 석유의 전략적 중요성을 인식하였고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제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 세계대전에서는 전쟁을 판가름 지을 필수적인 군수 연료로서 석유의 가치가 입증되었다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러쉬 기간에는 탐사와 채굴의 경제적 열풍을 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자본축적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산업조직 재편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위상 강화 등 다층적 변화를 유발한 기간이었다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58878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72541-A9BA-8EE4-6B7F-EF9941EB0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C8BFF-E437-212A-0795-E0FB7875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DEB357-3953-D711-9A6D-6C8CFED51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0F1A3-356E-EF5B-1BEB-1CA36A937ADC}"/>
              </a:ext>
            </a:extLst>
          </p:cNvPr>
          <p:cNvSpPr txBox="1"/>
          <p:nvPr/>
        </p:nvSpPr>
        <p:spPr>
          <a:xfrm>
            <a:off x="288790" y="958844"/>
            <a:ext cx="11118453" cy="56308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[3]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스탠드다 오일의 지배 기간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록펠러</a:t>
            </a:r>
            <a:r>
              <a:rPr lang="en-US" altLang="ko-KR" sz="1600" spc="-50" dirty="0"/>
              <a:t>(John D. Rockefeller)</a:t>
            </a:r>
            <a:r>
              <a:rPr lang="ko-KR" altLang="en-US" sz="1600" spc="-50" dirty="0"/>
              <a:t>가 설립한 스탠다드 오일 회사 </a:t>
            </a:r>
            <a:r>
              <a:rPr lang="en-US" altLang="ko-KR" sz="1600" spc="-50" dirty="0"/>
              <a:t>(Standard Oil Company)</a:t>
            </a:r>
            <a:r>
              <a:rPr lang="ko-KR" altLang="en-US" sz="1600" spc="-50" dirty="0"/>
              <a:t>는 석유 정제 부문에서 출발하여 미국산업 전반을 아우르는 역사상 가장 영향력 있는 민간 독점기업으로 성장하였다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1870</a:t>
            </a:r>
            <a:r>
              <a:rPr lang="ko-KR" altLang="en-US" sz="1600" spc="-50" dirty="0"/>
              <a:t>년 오하이오주에서 설립되었으며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운송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저장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유통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소매에 이르는 전 과정을 수직통합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원가절감을 통해 시장에서의 경쟁 우위를 확보하였다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1870</a:t>
            </a:r>
            <a:r>
              <a:rPr lang="ko-KR" altLang="en-US" sz="1600" spc="-50" dirty="0"/>
              <a:t>년대 미국 정유산업의 </a:t>
            </a:r>
            <a:r>
              <a:rPr lang="en-US" altLang="ko-KR" sz="1600" spc="-50" dirty="0"/>
              <a:t>95%</a:t>
            </a:r>
            <a:r>
              <a:rPr lang="ko-KR" altLang="en-US" sz="1600" spc="-50" dirty="0"/>
              <a:t>를 지배하며 독보적 위상에 올랐고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과정에서 소규모 정유업체를 대거 인수하고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</a:t>
            </a:r>
            <a:r>
              <a:rPr lang="ko-KR" altLang="en-US" sz="1600" spc="-50" dirty="0" err="1"/>
              <a:t>퇴출시켰다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철도회사와의 비밀 리베이트 계약을 통해 운송비를 낮추고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지역별 가격 차별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 제한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전략적 기업 인수합병 등을 통해 경쟁자들의 생존을 어렵게 만들었다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독점적 지위를 갖게 된 결과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단순 시장 점유율을 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가격을 조절할 수 있는 가격 결정자 기능을 하게 되었다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시장 지배력은 점차 사회적 반발과 정치적 규제 압력에 직면하게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 정부는 </a:t>
            </a:r>
            <a:r>
              <a:rPr lang="en-US" altLang="ko-KR" sz="1600" spc="-50" dirty="0"/>
              <a:t>1890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셔먼 반독점법을 제정하여 독점기업에 대한 규제근거를 마련하였다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1911</a:t>
            </a:r>
            <a:r>
              <a:rPr lang="ko-KR" altLang="en-US" sz="1600" spc="-50" dirty="0"/>
              <a:t>년 미국 대법원은 스탠다드 오일이 독점적 지위를 남용하고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자유경쟁을 제한했다는 이유로 </a:t>
            </a:r>
            <a:r>
              <a:rPr lang="en-US" altLang="ko-KR" sz="1600" spc="-50" dirty="0"/>
              <a:t>34</a:t>
            </a:r>
            <a:r>
              <a:rPr lang="ko-KR" altLang="en-US" sz="1600" spc="-50" dirty="0"/>
              <a:t>개의 독립된 기업으로 분할하라는 명령을 내렸다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01293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B899-24FF-FD52-66D2-26E02E8BA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E6A844-5F8E-9A62-5FC7-613E24A0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623405-9DC1-86F4-5700-5AD21E3C1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0CB72-5A7F-5544-5D9F-6EFB10964D8B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이러한 판결은 이후 미국 반독점 정책의 기준 판례로 자리 잡았는데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경제학적 해석은 분분했다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존 </a:t>
            </a:r>
            <a:r>
              <a:rPr lang="ko-KR" altLang="en-US" sz="1600" spc="-50" dirty="0" err="1"/>
              <a:t>맥기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(John S. McGee)</a:t>
            </a:r>
            <a:r>
              <a:rPr lang="ko-KR" altLang="en-US" sz="1600" spc="-50" dirty="0"/>
              <a:t>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논문에서 스탠다드 오일이 실제로 약탈적 가격을 사용한 증거가 부족하다고 언급한다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설령 약탈적 가격을 실행 했다고 하여도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가격을 낮추어 경쟁자를 퇴출 시킨 뒤 다시 가격을 인상하여 그 손실을 회복하는 전략은 새로운 진입자에 의해 어렵다는 점을 지적한다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스탠다드 오일의 해체 이후에도 그 영향력은 사라지지 않았다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분할된 기업들은 엑슨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셰브론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아모코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소히오</a:t>
            </a:r>
            <a:r>
              <a:rPr lang="ko-KR" altLang="en-US" sz="1600" spc="-50" dirty="0"/>
              <a:t> 등 오늘날까지 글로벌 석유 메이저의 전신이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기업들은 독립적 경영을 통해 기업을 성장시켰고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석유산업의 다핵화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글로벌화를 촉진하는 계기가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스탠다드 오일의 분할은 단순한 기업 해체 이상의 의미를 갖는다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 자본주의에서 시장의 자유와 공정 경쟁이라는 원칙이 거대 산업조직에도 적용될 수 있음을 입증하였다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미국 및 세계 각국의 반독점 정책과 대기업 규제 논의의 중요한 선례가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0963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138C-E1D1-E59E-D2E2-778EAC2D5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76492-20B9-7FC9-D113-976ACFA4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8E6268-6E34-7969-A53A-A7EFE047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E1E36-9B71-7E41-06CC-B4D7DA9D1D69}"/>
              </a:ext>
            </a:extLst>
          </p:cNvPr>
          <p:cNvSpPr txBox="1"/>
          <p:nvPr/>
        </p:nvSpPr>
        <p:spPr>
          <a:xfrm>
            <a:off x="288790" y="958844"/>
            <a:ext cx="11118453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[4]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석유산업의 국제화와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7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공주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</a:t>
            </a:r>
            <a:r>
              <a:rPr lang="ko-KR" altLang="en-US" sz="1600" spc="-50" dirty="0"/>
              <a:t>세기 초반부터 석유산업은 기존의 석탄을 대체하며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미국을 넘어 국제적 차원으로 확산되었다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내연기관의 발전과 포드자동차의 대량생산 체제를 통한 자동차 보급이 확대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 수요가 대폭 증가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세계대전에서 석유가 전략물자로 기능하였고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세계 여러 국가들이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석유 자원 확보를 국가안보와 직결된 문제로 인식하게 된다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석유에 대한 수요가 지속적으로 증가하고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고갈 가능성에 대한 우려가 커지면서 유전 탐사에 박차를 가한다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 등에서 대규모 유전이 발견되며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중동은 세계 석유산업의 전략적 중심지가 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과정에서 미국과 유럽의 대형 석유기업들이 주도권을 확보하게 된다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스탠다드 오일의 후신인 엑슨</a:t>
            </a:r>
            <a:r>
              <a:rPr lang="en-US" altLang="ko-KR" sz="1600" spc="-50" dirty="0"/>
              <a:t>(Exxon), </a:t>
            </a:r>
            <a:r>
              <a:rPr lang="ko-KR" altLang="en-US" sz="1600" spc="-50" dirty="0"/>
              <a:t>모빌</a:t>
            </a:r>
            <a:r>
              <a:rPr lang="en-US" altLang="ko-KR" sz="1600" spc="-50" dirty="0"/>
              <a:t>(Mobil), </a:t>
            </a:r>
            <a:r>
              <a:rPr lang="ko-KR" altLang="en-US" sz="1600" spc="-50" dirty="0" err="1"/>
              <a:t>셰브론</a:t>
            </a:r>
            <a:r>
              <a:rPr lang="en-US" altLang="ko-KR" sz="1600" spc="-50" dirty="0"/>
              <a:t>(Chevron) </a:t>
            </a:r>
            <a:r>
              <a:rPr lang="ko-KR" altLang="en-US" sz="1600" spc="-50" dirty="0"/>
              <a:t>뿐 아니라 </a:t>
            </a:r>
            <a:r>
              <a:rPr lang="ko-KR" altLang="en-US" sz="1600" spc="-50" dirty="0" err="1"/>
              <a:t>로열더치셸</a:t>
            </a:r>
            <a:r>
              <a:rPr lang="en-US" altLang="ko-KR" sz="1600" spc="-50" dirty="0"/>
              <a:t>(Royal Dutch Shell), </a:t>
            </a:r>
            <a:r>
              <a:rPr lang="ko-KR" altLang="en-US" sz="1600" spc="-50" dirty="0"/>
              <a:t>브리티시 </a:t>
            </a:r>
            <a:r>
              <a:rPr lang="ko-KR" altLang="en-US" sz="1600" spc="-50" dirty="0" err="1"/>
              <a:t>페트롤리엄</a:t>
            </a:r>
            <a:r>
              <a:rPr lang="en-US" altLang="ko-KR" sz="1600" spc="-50" dirty="0"/>
              <a:t>(BP), </a:t>
            </a:r>
            <a:r>
              <a:rPr lang="ko-KR" altLang="en-US" sz="1600" spc="-50" dirty="0" err="1"/>
              <a:t>걸프오일</a:t>
            </a:r>
            <a:r>
              <a:rPr lang="en-US" altLang="ko-KR" sz="1600" spc="-50" dirty="0"/>
              <a:t>(Gulf Oil), </a:t>
            </a:r>
            <a:r>
              <a:rPr lang="ko-KR" altLang="en-US" sz="1600" spc="-50" dirty="0" err="1"/>
              <a:t>텍사코</a:t>
            </a:r>
            <a:r>
              <a:rPr lang="en-US" altLang="ko-KR" sz="1600" spc="-50" dirty="0"/>
              <a:t>(Texaco) </a:t>
            </a:r>
            <a:r>
              <a:rPr lang="ko-KR" altLang="en-US" sz="1600" spc="-50" dirty="0"/>
              <a:t>등이 포함되었다</a:t>
            </a:r>
            <a:r>
              <a:rPr lang="en-US" altLang="ko-KR" sz="1600" spc="-50" dirty="0"/>
              <a:t>. (7</a:t>
            </a:r>
            <a:r>
              <a:rPr lang="ko-KR" altLang="en-US" sz="1600" spc="-50" dirty="0"/>
              <a:t>공주라 부른다</a:t>
            </a:r>
            <a:r>
              <a:rPr lang="en-US" altLang="ko-KR" sz="1600" spc="-50" dirty="0"/>
              <a:t>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7</a:t>
            </a:r>
            <a:r>
              <a:rPr lang="ko-KR" altLang="en-US" sz="1600" spc="-50" dirty="0"/>
              <a:t>공주 기업들은 </a:t>
            </a:r>
            <a:r>
              <a:rPr lang="en-US" altLang="ko-KR" sz="1600" spc="-50" dirty="0"/>
              <a:t>1940</a:t>
            </a:r>
            <a:r>
              <a:rPr lang="ko-KR" altLang="en-US" sz="1600" spc="-50" dirty="0"/>
              <a:t>년대부터 </a:t>
            </a:r>
            <a:r>
              <a:rPr lang="en-US" altLang="ko-KR" sz="1600" spc="-50" dirty="0"/>
              <a:t>1970</a:t>
            </a:r>
            <a:r>
              <a:rPr lang="ko-KR" altLang="en-US" sz="1600" spc="-50" dirty="0"/>
              <a:t>년대 초반까지 전 세계 석유 탐사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 과정에 걸쳐 과점 체제를 형성하며 국제 석유시장을 주도하였다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128134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B030A-B50C-5316-3D3C-A3C2E9FD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47BDD-DFB6-D1A0-27F4-7C90D2CF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33CCB0-CFEE-79CE-693B-F921A078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24053-7F90-5724-5F73-F2105423C458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이들 다국적 석유기업은 중동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아프리카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남미 등 자원부국 정부와의 계약을 통해 탐사권과 생산권을 확보하고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자원개발을 독점적으로 진행하였다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이들의 계약구조는 해당 국가의 이익보다는 기업의 수익 극대화에 초점을 맞추고 있었다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생산국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자원부국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수익의 상당부분을 다국적 기업에 의존하는 구조로 놓이게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기업들은 석유 생산량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수출가격 등을 조정하며 카르텔 역할을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석유를 둘러싼 정치경제적 갈등이 시작된다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개도국 입장에서는 자국 자원이 외국 자본에 의해 통제 되고 있다는 주권 침해 문제의식이 확대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자원민족주의의 확산으로 이어지는 시발점이 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위의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초중반의 석유산업 국제화는 단순한 연료 공급 확대를 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국제관계의 주요한 변수로 떠오른다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석유기업의 확산은 전세계의 에너지 흐름과 자본이동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정책주권과 산업통제력 사이의 긴장을 만들어 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역사적 맥락은 추후 나타날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등장과 자원민족주의의 운동의 확산을 이해하는데 필수적 배경이 된다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87699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9E2E-6EF9-9C44-015A-7D287158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27253-618A-8429-6E78-42541E1F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769828-D27D-599A-0645-BB9E65A5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261DD3-6763-FC6B-5D6D-C1DFD1D05B99}"/>
              </a:ext>
            </a:extLst>
          </p:cNvPr>
          <p:cNvSpPr txBox="1"/>
          <p:nvPr/>
        </p:nvSpPr>
        <p:spPr>
          <a:xfrm>
            <a:off x="288790" y="958844"/>
            <a:ext cx="11118453" cy="52615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[5] OPEC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기간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(Organization of the Petroleum Exporting Countries)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석유수출기구 </a:t>
            </a:r>
            <a:r>
              <a:rPr lang="en-US" altLang="ko-KR" sz="1600" spc="-50" dirty="0"/>
              <a:t>(OPEC)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1960</a:t>
            </a:r>
            <a:r>
              <a:rPr lang="ko-KR" altLang="en-US" sz="1600" spc="-50" dirty="0"/>
              <a:t>년 이란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쿠웨이트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베네수엘라에 의해 설립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당시 국제 석유시장을 지배하던 </a:t>
            </a:r>
            <a:r>
              <a:rPr lang="en-US" altLang="ko-KR" sz="1600" spc="-50" dirty="0"/>
              <a:t>‘7</a:t>
            </a:r>
            <a:r>
              <a:rPr lang="ko-KR" altLang="en-US" sz="1600" spc="-50" dirty="0"/>
              <a:t>공주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기업의 가격 결정권과 공급통제에 대한 대응 차원에서 추진한 것이다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개발도상국의 자원에 대한 주권 회복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수출을 통한 안정적 재정수입 확보를 위한 자원민족주의의 흐름이었다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이 창립한 시점인 </a:t>
            </a:r>
            <a:r>
              <a:rPr lang="en-US" altLang="ko-KR" sz="1600" spc="-50" dirty="0"/>
              <a:t>1960</a:t>
            </a:r>
            <a:r>
              <a:rPr lang="ko-KR" altLang="en-US" sz="1600" spc="-50" dirty="0"/>
              <a:t>년은 중동 지역에서의 석유 과잉공급으로 인해 가격 하락이 심화되고 있는 상황이었다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석유산업은 자본집약적 산업으로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규모의 경제를 실현하고자 기업들은 생산설비를 최대한 활용하려는 경향이 강하여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시장의 구조적 공급과잉을 반복적으로 초래하고 있었다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은 이에 대응하고자 회원국 간 협조를 통해 생산량을 조절하고 가격을 안정화 하고자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초기 활동은 다국적 석유기업의 지배력에 대한 정책적 대응에 집중하였다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외국회사가 독점하던 유전 운영에 대한 조세감면을 축소하고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수익 배분을 조정하는 등의 정책을 추진하였다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1968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자원에 대한 영구적 주권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을 명시한 선언을 채택하였다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추후에 국영석유회사의 설립과 자원 국유화 추진의 국제적 정당성을 얻는 기초가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2470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1639E-6A10-47B5-973A-439085220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559F0-D305-0354-4200-6B0E9399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8A0696-AE79-D507-7C54-F46D0080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DE1D7E-AB1E-1670-30FE-F07D8393B595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국제적 위상은 </a:t>
            </a:r>
            <a:r>
              <a:rPr lang="en-US" altLang="ko-KR" sz="1600" spc="-50" dirty="0"/>
              <a:t>1973</a:t>
            </a:r>
            <a:r>
              <a:rPr lang="ko-KR" altLang="en-US" sz="1600" spc="-50" dirty="0"/>
              <a:t>년 </a:t>
            </a:r>
            <a:r>
              <a:rPr lang="ko-KR" altLang="en-US" sz="1600" spc="-50" dirty="0" err="1"/>
              <a:t>욤키푸르</a:t>
            </a:r>
            <a:r>
              <a:rPr lang="ko-KR" altLang="en-US" sz="1600" spc="-50" dirty="0"/>
              <a:t> 전쟁 </a:t>
            </a:r>
            <a:r>
              <a:rPr lang="en-US" altLang="ko-KR" sz="1600" spc="-50" dirty="0"/>
              <a:t>(4</a:t>
            </a:r>
            <a:r>
              <a:rPr lang="ko-KR" altLang="en-US" sz="1600" spc="-50" dirty="0"/>
              <a:t>차 중동전쟁</a:t>
            </a:r>
            <a:r>
              <a:rPr lang="en-US" altLang="ko-KR" sz="1600" spc="-50"/>
              <a:t>)</a:t>
            </a:r>
            <a:r>
              <a:rPr lang="ko-KR" altLang="en-US" sz="1600" spc="-50"/>
              <a:t> </a:t>
            </a:r>
            <a:r>
              <a:rPr lang="ko-KR" altLang="en-US" sz="1600" spc="-50" dirty="0"/>
              <a:t>이후 급격히 상승하였다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OPEC </a:t>
            </a:r>
            <a:r>
              <a:rPr lang="ko-KR" altLang="en-US" sz="1600" spc="-50" dirty="0"/>
              <a:t>내의 아랍 회원국들 </a:t>
            </a:r>
            <a:r>
              <a:rPr lang="en-US" altLang="ko-KR" sz="1600" spc="-50" dirty="0"/>
              <a:t>(OAPEC, Arab members of OPEC)</a:t>
            </a:r>
            <a:r>
              <a:rPr lang="ko-KR" altLang="en-US" sz="1600" spc="-50" dirty="0"/>
              <a:t>은 이스라엘을 지지한 미국과 네덜란드 등 서방 국가에 대해 석유 금수조치를 단행하였다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더불어 전체적인 석유 생산량 축소를 통해 국제 원유 공급을 제한하였다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 석유 가격은 배럴당 약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달러에서 </a:t>
            </a:r>
            <a:r>
              <a:rPr lang="en-US" altLang="ko-KR" sz="1600" spc="-50" dirty="0"/>
              <a:t>1974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12</a:t>
            </a:r>
            <a:r>
              <a:rPr lang="ko-KR" altLang="en-US" sz="1600" spc="-50" dirty="0"/>
              <a:t>달러 이상으로 급등하였다</a:t>
            </a:r>
            <a:r>
              <a:rPr lang="en-US" altLang="ko-KR" sz="1600" spc="-50" dirty="0"/>
              <a:t>. </a:t>
            </a:r>
            <a:r>
              <a:rPr lang="en-US" altLang="ko-KR" sz="1600" b="1" spc="-50" dirty="0"/>
              <a:t>(1</a:t>
            </a:r>
            <a:r>
              <a:rPr lang="ko-KR" altLang="en-US" sz="1600" b="1" spc="-50" dirty="0"/>
              <a:t>차 석유 파동</a:t>
            </a:r>
            <a:r>
              <a:rPr lang="en-US" altLang="ko-KR" sz="1600" b="1" spc="-5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사건은 선진국들로 하여금 에너지 효율 제고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재생에너지 개발 등 다각적인 에너지 안보 대응 전략을 추진하게끔 하였다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1979</a:t>
            </a:r>
            <a:r>
              <a:rPr lang="ko-KR" altLang="en-US" sz="1600" spc="-50" dirty="0"/>
              <a:t>년 이란 혁명과 이란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이라크 전쟁은 다시 한번 국제 석유 공급에 충격을 주었다</a:t>
            </a:r>
            <a:r>
              <a:rPr lang="en-US" altLang="ko-KR" sz="1600" spc="-50" dirty="0"/>
              <a:t>. </a:t>
            </a:r>
            <a:r>
              <a:rPr lang="en-US" altLang="ko-KR" sz="1600" b="1" spc="-50" dirty="0"/>
              <a:t>(2</a:t>
            </a:r>
            <a:r>
              <a:rPr lang="ko-KR" altLang="en-US" sz="1600" b="1" spc="-50" dirty="0"/>
              <a:t>차 석유 파동</a:t>
            </a:r>
            <a:r>
              <a:rPr lang="en-US" altLang="ko-KR" sz="1600" b="1" spc="-50" dirty="0"/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 가격은 배럴당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달러</a:t>
            </a:r>
            <a:r>
              <a:rPr lang="en-US" altLang="ko-KR" sz="1600" spc="-50" dirty="0"/>
              <a:t>(1979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), 32</a:t>
            </a:r>
            <a:r>
              <a:rPr lang="ko-KR" altLang="en-US" sz="1600" spc="-50" dirty="0"/>
              <a:t>달러</a:t>
            </a:r>
            <a:r>
              <a:rPr lang="en-US" altLang="ko-KR" sz="1600" spc="-50" dirty="0"/>
              <a:t>(1980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), 36</a:t>
            </a:r>
            <a:r>
              <a:rPr lang="ko-KR" altLang="en-US" sz="1600" spc="-50" dirty="0"/>
              <a:t>달러</a:t>
            </a:r>
            <a:r>
              <a:rPr lang="en-US" altLang="ko-KR" sz="1600" spc="-50" dirty="0"/>
              <a:t>(1981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로 상승하였다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실제로 시장 가격은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공식가격을 상회하였고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거래의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가 현물시장에서 이루어지게 </a:t>
            </a:r>
            <a:r>
              <a:rPr lang="ko-KR" altLang="en-US" sz="1600" spc="-50" dirty="0" err="1"/>
              <a:t>됬다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일부 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회원국은 장기계약을 파기하고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고가에 판매하고자 현물거래에 나서기도 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현물시장은 투기적 거래와 가격 변동성이 심해</a:t>
            </a:r>
            <a:r>
              <a:rPr lang="en-US" altLang="ko-KR" sz="1600" spc="-50" dirty="0"/>
              <a:t>, OPEC</a:t>
            </a:r>
            <a:r>
              <a:rPr lang="ko-KR" altLang="en-US" sz="1600" spc="-50" dirty="0"/>
              <a:t>의 정책 조율 기능을 약화시키는 주요 원인이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018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B0B3A-713A-E8FE-65D5-2DF888B47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A008A-788A-78AC-51E3-8ADEE5E9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265453-3D45-A54E-EBB1-679A706BD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9CCAC-357B-F1C6-7E52-ADCB0A6D04E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1980</a:t>
            </a:r>
            <a:r>
              <a:rPr lang="ko-KR" altLang="en-US" sz="1600" spc="-50" dirty="0"/>
              <a:t>년대 초부터는 북해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멕시코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중국 등 비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국가들의 생산 확대가 두드러지고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선진국은 에너지 절약과 연료의 다변화에 나섰다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상황에서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시장 점유율이 감소하고</a:t>
            </a:r>
            <a:r>
              <a:rPr lang="en-US" altLang="ko-KR" sz="1600" spc="-50" dirty="0"/>
              <a:t>, OPEC</a:t>
            </a:r>
            <a:r>
              <a:rPr lang="ko-KR" altLang="en-US" sz="1600" spc="-50" dirty="0"/>
              <a:t>은 가격 방어 전략을 포기하고 생산을 확대하였다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결과로 </a:t>
            </a:r>
            <a:r>
              <a:rPr lang="en-US" altLang="ko-KR" sz="1600" spc="-50" dirty="0"/>
              <a:t>1986</a:t>
            </a:r>
            <a:r>
              <a:rPr lang="ko-KR" altLang="en-US" sz="1600" spc="-50" dirty="0"/>
              <a:t>년 국제 유가가 절반 이하로 폭락하는 결과를 낳았고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흔히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차 석유충격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</a:t>
            </a:r>
            <a:r>
              <a:rPr lang="ko-KR" altLang="en-US" sz="1600" spc="-50" dirty="0" err="1"/>
              <a:t>역충격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이라고 부른다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년대에는 위와 같은 구조적인 초과 공급과 수요 감소로 인해 저유가 시대가 지속되었다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세계적으로 자유시장주의와 규제완화가 확산되면서 석유 산업의 투자매력도는 하락하였다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이라크의 쿠웨이트 침공은 중동 석유시설에 큰 위협이었으나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사우디아라비아의 생산 확대로 국제시장은 비교적 빠르게 안정되었다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1997</a:t>
            </a:r>
            <a:r>
              <a:rPr lang="ko-KR" altLang="en-US" sz="1600" spc="-50" dirty="0"/>
              <a:t>년 아시아의 금융위기로 인해 아시아 지역의 수요가 급감하자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국제유가는 배럴당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달러까지 하락하였다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이에 대응하여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은 감산을 통해 유가를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달러까지 회복시켰으나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많은 회원국들이 재정 수입 확보를 위해 초과생산을 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 인해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정책 신뢰성과 집행력은 점차 약화되었다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역사는 자원 주권과 생산자 협조를 통한 시장 안정이라는 이상과 회원국간의 이해 상충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 다극화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글로벌 수급변화라는 긴장의 연속이었다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29575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3AEC5-AE46-3E98-E2AE-12F9342A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9BEF6F-284B-D532-7320-ECD02937C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A03D0-9083-7021-6F03-A64FF9C9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5A5494-A6EB-7DBD-B331-9D86369EF5DC}"/>
              </a:ext>
            </a:extLst>
          </p:cNvPr>
          <p:cNvSpPr txBox="1"/>
          <p:nvPr/>
        </p:nvSpPr>
        <p:spPr>
          <a:xfrm>
            <a:off x="288790" y="958844"/>
            <a:ext cx="11118453" cy="304551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[6] 2000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년대 이후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2000</a:t>
            </a:r>
            <a:r>
              <a:rPr lang="ko-KR" altLang="en-US" sz="1600" spc="-50" dirty="0"/>
              <a:t>년대 초반부터 중반까지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세계 경제의 성장과 함께 석유 수요가 급증하면서 석유가격이 급격히 상승하였다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중국과 인도의 급속한 산업화는 석유 수요의 주요 증가 요인이었다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고유가 시기에 많은 국가들은 대체 에너지와 에너지 효율 기술에 관심을 높이는 계기가 되었다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신재생에너지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효율 기기 등을 통해 석유 의존을 줄이기 위한 노력을 기울였다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셰일 오일 </a:t>
            </a:r>
            <a:r>
              <a:rPr lang="en-US" altLang="ko-KR" sz="1600" spc="-50" dirty="0"/>
              <a:t>(shale oil)</a:t>
            </a:r>
            <a:r>
              <a:rPr lang="ko-KR" altLang="en-US" sz="1600" spc="-50" dirty="0"/>
              <a:t> 채굴기술의 발전은 비경제적이던 </a:t>
            </a:r>
            <a:r>
              <a:rPr lang="ko-KR" altLang="en-US" sz="1600" spc="-50" dirty="0" err="1"/>
              <a:t>셰일층에서의</a:t>
            </a:r>
            <a:r>
              <a:rPr lang="ko-KR" altLang="en-US" sz="1600" spc="-50" dirty="0"/>
              <a:t> 석유 추출을 가능하게 만들었다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 개발 이전에는 </a:t>
            </a:r>
            <a:r>
              <a:rPr lang="ko-KR" altLang="en-US" sz="1600" spc="-50" dirty="0" err="1"/>
              <a:t>셰일층에</a:t>
            </a:r>
            <a:r>
              <a:rPr lang="ko-KR" altLang="en-US" sz="1600" spc="-50" dirty="0"/>
              <a:t> 갇혀 있던 석유를 거의 캐지 못했었다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026" name="Picture 2" descr="[Cover Story] 진화하는 셰일가스">
            <a:extLst>
              <a:ext uri="{FF2B5EF4-FFF2-40B4-BE49-F238E27FC236}">
                <a16:creationId xmlns:a16="http://schemas.microsoft.com/office/drawing/2014/main" id="{7919A860-649B-F953-8D47-3411E4B9E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073" y="3931483"/>
            <a:ext cx="408622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4F06D1-2106-E8B8-9534-A2A7AA80658C}"/>
              </a:ext>
            </a:extLst>
          </p:cNvPr>
          <p:cNvSpPr txBox="1"/>
          <p:nvPr/>
        </p:nvSpPr>
        <p:spPr>
          <a:xfrm>
            <a:off x="8534119" y="3669873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 err="1"/>
              <a:t>셰일가스</a:t>
            </a:r>
            <a:r>
              <a:rPr lang="ko-KR" altLang="en-US" sz="1050" spc="-50" dirty="0"/>
              <a:t> 개념도</a:t>
            </a:r>
            <a:r>
              <a:rPr lang="en-US" altLang="ko-KR" sz="1050" spc="-50" dirty="0"/>
              <a:t>&gt;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15997-B48B-4A66-4B87-3DC822E6AD2C}"/>
              </a:ext>
            </a:extLst>
          </p:cNvPr>
          <p:cNvSpPr txBox="1"/>
          <p:nvPr/>
        </p:nvSpPr>
        <p:spPr>
          <a:xfrm>
            <a:off x="10719897" y="6404698"/>
            <a:ext cx="115911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</a:t>
            </a:r>
            <a:r>
              <a:rPr lang="ko-KR" altLang="en-US" sz="900" spc="-50" dirty="0"/>
              <a:t>한국경제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F0FDE-597C-7C26-722F-BAAC7165D15C}"/>
              </a:ext>
            </a:extLst>
          </p:cNvPr>
          <p:cNvSpPr txBox="1"/>
          <p:nvPr/>
        </p:nvSpPr>
        <p:spPr>
          <a:xfrm>
            <a:off x="288791" y="4004358"/>
            <a:ext cx="72232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수평시추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수압파쇄</a:t>
            </a:r>
            <a:r>
              <a:rPr lang="ko-KR" altLang="en-US" sz="1600" spc="-50" dirty="0"/>
              <a:t> 기술의 발전으로 </a:t>
            </a:r>
            <a:r>
              <a:rPr lang="ko-KR" altLang="en-US" sz="1600" spc="-50" dirty="0" err="1"/>
              <a:t>셰일층에서</a:t>
            </a:r>
            <a:r>
              <a:rPr lang="ko-KR" altLang="en-US" sz="1600" spc="-50" dirty="0"/>
              <a:t> 석유와 가스를 추출할 수 있게 되었다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미국은 셰일 오일 생산 확대로 에너지 자립도를 향상시키고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수입의존도를 줄였다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글로벌 공급 과잉으로 </a:t>
            </a:r>
            <a:r>
              <a:rPr lang="en-US" altLang="ko-KR" sz="1600" spc="-50" dirty="0"/>
              <a:t>2014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2016</a:t>
            </a:r>
            <a:r>
              <a:rPr lang="ko-KR" altLang="en-US" sz="1600" spc="-50" dirty="0"/>
              <a:t>년 사이 유가는 배럴당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달러에서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달러로 급락하기도 하였다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619B00-5652-DCAF-2FB4-01920E41FDB0}"/>
              </a:ext>
            </a:extLst>
          </p:cNvPr>
          <p:cNvSpPr txBox="1"/>
          <p:nvPr/>
        </p:nvSpPr>
        <p:spPr>
          <a:xfrm>
            <a:off x="1653861" y="6282991"/>
            <a:ext cx="545527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 err="1"/>
              <a:t>셰일오일</a:t>
            </a:r>
            <a:r>
              <a:rPr lang="ko-KR" altLang="en-US" sz="1050" dirty="0"/>
              <a:t> 수평시추 </a:t>
            </a:r>
            <a:r>
              <a:rPr lang="ko-KR" altLang="en-US" sz="1050" dirty="0" err="1"/>
              <a:t>수압파쇄공법</a:t>
            </a:r>
            <a:r>
              <a:rPr lang="en-US" altLang="ko-KR" sz="1050" dirty="0"/>
              <a:t>:</a:t>
            </a:r>
            <a:r>
              <a:rPr lang="ko-KR" altLang="en-US" sz="1050" dirty="0"/>
              <a:t>https://www.youtube.com/watch?v=A_lm_BTFuKo</a:t>
            </a:r>
          </a:p>
        </p:txBody>
      </p:sp>
    </p:spTree>
    <p:extLst>
      <p:ext uri="{BB962C8B-B14F-4D97-AF65-F5344CB8AC3E}">
        <p14:creationId xmlns:p14="http://schemas.microsoft.com/office/powerpoint/2010/main" val="3154452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9F57-D739-791E-2017-9E1A7EC2B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396D4-BDEF-C070-13AE-3E8A0296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EC1089-85A4-8D31-E858-A1CA55D5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10C23-C665-15CA-DE45-D6E979A4D738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셰일 혁명으로 인해 유가가 하락하자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은 생산량을 조절했으나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미국의 셰일 기업들은 기술혁신과 비용 절감으로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전략적 대응을 </a:t>
            </a:r>
            <a:r>
              <a:rPr lang="ko-KR" altLang="en-US" sz="1600" spc="-50" dirty="0" err="1"/>
              <a:t>견뎌내기도</a:t>
            </a:r>
            <a:r>
              <a:rPr lang="ko-KR" altLang="en-US" sz="1600" spc="-50" dirty="0"/>
              <a:t> 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</a:t>
            </a:r>
            <a:r>
              <a:rPr lang="en-US" altLang="ko-KR" sz="1600" spc="-50" dirty="0"/>
              <a:t>2016</a:t>
            </a:r>
            <a:r>
              <a:rPr lang="ko-KR" altLang="en-US" sz="1600" spc="-50" dirty="0"/>
              <a:t>년 말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은 비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국가들과 감산 협약에 도달하였고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공급조절을 통해 유가는 회복세를 보였다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COVID-19 </a:t>
            </a:r>
            <a:r>
              <a:rPr lang="ko-KR" altLang="en-US" sz="1600" spc="-50" dirty="0"/>
              <a:t>팬데믹으로 세계 경제가 급격히 위축 되면서 석유 수요도 대폭 감소하였다</a:t>
            </a:r>
            <a:r>
              <a:rPr lang="en-US" altLang="ko-KR" sz="1600" spc="-50" dirty="0"/>
              <a:t>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월에는 유가가 일시적으로 마이너스를 기록하는 사상 초유의 사태가 발생하기도 하였다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WTI </a:t>
            </a:r>
            <a:r>
              <a:rPr lang="ko-KR" altLang="en-US" sz="1600" spc="-50" dirty="0"/>
              <a:t>선물계약은 만기가 되면 원유를 실제로 인수 </a:t>
            </a:r>
            <a:r>
              <a:rPr lang="ko-KR" altLang="en-US" sz="1600" spc="-50" dirty="0" err="1"/>
              <a:t>해야하는</a:t>
            </a:r>
            <a:r>
              <a:rPr lang="ko-KR" altLang="en-US" sz="1600" spc="-50" dirty="0"/>
              <a:t> 구조였다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만기 직전에 원유를 받아서 저장해놓을 공간이 더 이상 없었다</a:t>
            </a:r>
            <a:r>
              <a:rPr lang="en-US" altLang="ko-KR" sz="1600" spc="-50" dirty="0"/>
              <a:t>.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투자자들은 원유를 인수하거나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버리거나 둘 중 하나였고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결국 돈을 주고서라도 원유를 가져가라고 부탁을 하게 되는 상황이 되었다</a:t>
            </a:r>
            <a:r>
              <a:rPr lang="en-US" altLang="ko-KR" sz="1600" spc="-5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2026</a:t>
            </a:r>
            <a:r>
              <a:rPr lang="ko-KR" altLang="en-US" sz="1600" spc="-50" dirty="0"/>
              <a:t>년 미국의 이란 침공으로 다시 한번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석유가격이 배럴당 </a:t>
            </a:r>
            <a:r>
              <a:rPr lang="en-US" altLang="ko-KR" sz="1600" spc="-50" dirty="0"/>
              <a:t>100</a:t>
            </a:r>
            <a:r>
              <a:rPr lang="ko-KR" altLang="en-US" sz="1600" spc="-50" dirty="0"/>
              <a:t>달러가 넘는 수준까지 급등하였고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고유가는 현재까지도 지속되고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652813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9048-2795-0602-AADE-FCF9B2D7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531B95-D01F-3644-6F96-A5C294F73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</a:t>
            </a:r>
            <a:r>
              <a:rPr lang="en-US" altLang="ko-KR" dirty="0"/>
              <a:t>, </a:t>
            </a:r>
            <a:r>
              <a:rPr lang="ko-KR" altLang="en-US" dirty="0"/>
              <a:t>음의 가격</a:t>
            </a:r>
            <a:r>
              <a:rPr lang="en-US" altLang="ko-KR" dirty="0"/>
              <a:t>: 2020</a:t>
            </a:r>
            <a:r>
              <a:rPr lang="ko-KR" altLang="en-US" dirty="0"/>
              <a:t>년 </a:t>
            </a:r>
            <a:r>
              <a:rPr lang="en-US" altLang="ko-KR" dirty="0"/>
              <a:t>4</a:t>
            </a:r>
            <a:r>
              <a:rPr lang="ko-KR" altLang="en-US" dirty="0"/>
              <a:t>월의 사례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A79FE-0D1C-7CAA-16E4-B76E3FD0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F9B8142-5D96-E9DA-4CA9-96D8C515E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774" b="2156"/>
          <a:stretch>
            <a:fillRect/>
          </a:stretch>
        </p:blipFill>
        <p:spPr>
          <a:xfrm>
            <a:off x="943914" y="924999"/>
            <a:ext cx="9797066" cy="56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3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897F0-A360-906A-068E-9E10E20F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493F996-4DA3-E60E-0125-8AF708D3F0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7BC819-CF5B-BFA6-5C36-4348FB8B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C11035-F030-DBE3-A153-E488E26F1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석유의 수직적 가치사슬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90585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A31F9-CDE5-C5E8-180F-25EAC54C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37D86-1B6B-CB91-B609-ED669B0EC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2B8EA3-906F-937A-A239-D7AD9164F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221A7-975C-108C-8BA0-26F6633752B4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수직적 가치사슬 이란 원료가 만들어져서 최종 소비자에게 전달되기까지의 단계를 의미한다</a:t>
            </a:r>
            <a:r>
              <a:rPr lang="en-US" altLang="ko-KR" sz="1600" spc="-50" dirty="0"/>
              <a:t>.</a:t>
            </a:r>
          </a:p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석유산업은 원유 탐사부터 최종소비까지 다양한 공정과 활동을 포함하는 고도로 조직화된 산업이다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상류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하류의 세 부문으로 구분된다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수직적 구조는 석유의 공급 안정성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리스크 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 대응력 강화를 위한 전략적 선택이다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세기 중반 이후 거대 글로벌 석유 기업들은 각 부문을 수직적으로 통합하여 원유의 가격 변동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충격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 변화 등 다양한 외부 리스크를 </a:t>
            </a:r>
            <a:r>
              <a:rPr lang="ko-KR" altLang="en-US" sz="1600" spc="-50" dirty="0" err="1"/>
              <a:t>내부화하고자</a:t>
            </a:r>
            <a:r>
              <a:rPr lang="ko-KR" altLang="en-US" sz="1600" spc="-50" dirty="0"/>
              <a:t> 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상류부문은 석유 자원의 탐사와 개발을 의미한다</a:t>
            </a:r>
            <a:r>
              <a:rPr lang="en-US" altLang="ko-KR" sz="1600" spc="-50" dirty="0"/>
              <a:t>.</a:t>
            </a:r>
          </a:p>
          <a:p>
            <a:pPr marL="728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지질학적 조사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유정건설 등 고난이도 기술과 자본을 요구한다</a:t>
            </a:r>
            <a:r>
              <a:rPr lang="en-US" altLang="ko-KR" sz="1600" spc="-50" dirty="0"/>
              <a:t>.</a:t>
            </a:r>
          </a:p>
          <a:p>
            <a:pPr marL="1185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진입장벽이 매우 높고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자원의 존재 여부와 상업성에 대한 불확실성으로 고위험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고수익 산업의 대표적인 예이다</a:t>
            </a:r>
            <a:r>
              <a:rPr lang="en-US" altLang="ko-KR" sz="1600" spc="-50" dirty="0"/>
              <a:t>.</a:t>
            </a:r>
          </a:p>
          <a:p>
            <a:pPr marL="728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국제 유가에 직접적인 영향을 받아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유가가 상승할수록 탐사 및 생산 활동이 활성화 된다</a:t>
            </a:r>
            <a:r>
              <a:rPr lang="en-US" altLang="ko-KR" sz="1600" spc="-50" dirty="0"/>
              <a:t>.</a:t>
            </a:r>
          </a:p>
          <a:p>
            <a:pPr marL="728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최근에는 </a:t>
            </a:r>
            <a:r>
              <a:rPr lang="ko-KR" altLang="en-US" sz="1600" spc="-50" dirty="0" err="1"/>
              <a:t>해양심층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북극권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비전통</a:t>
            </a:r>
            <a:r>
              <a:rPr lang="ko-KR" altLang="en-US" sz="1600" spc="-50" dirty="0"/>
              <a:t> 자원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예</a:t>
            </a:r>
            <a:r>
              <a:rPr lang="en-US" altLang="ko-KR" sz="1600" spc="-50" dirty="0"/>
              <a:t>: </a:t>
            </a:r>
            <a:r>
              <a:rPr lang="ko-KR" altLang="en-US" sz="1600" spc="-50" dirty="0" err="1"/>
              <a:t>셰일오일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대한 탐사도 적극적으로 이루어지고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이에 따라 </a:t>
            </a:r>
            <a:r>
              <a:rPr lang="ko-KR" altLang="en-US" sz="1600" spc="-50" dirty="0" err="1"/>
              <a:t>기술리스크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환경리스크가</a:t>
            </a:r>
            <a:r>
              <a:rPr lang="ko-KR" altLang="en-US" sz="1600" spc="-50" dirty="0"/>
              <a:t> 더욱 복잡해진 형태를 띄고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6804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4BF77-8E7B-8B7D-20D0-DE2B8830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5B3B2-C271-A22A-168D-30E38D35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BE621D-48C6-7011-1822-76CD514B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4275D-C407-F9E5-6314-73A15867DB13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중류부문은 생산된 원유를 정유시설 또는 수출항만으로 수송하고 저장하는 과정을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주요 운송수단으로는 송유관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유조선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철도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트럭등이</a:t>
            </a:r>
            <a:r>
              <a:rPr lang="ko-KR" altLang="en-US" sz="1600" spc="-50" dirty="0"/>
              <a:t>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전략 비축기지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상업적 저장시설을 포함한다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기술적으로는 안정적이지만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수송 경로의 지정학적 민감성이 매우 크다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 err="1"/>
              <a:t>호르무즈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말라카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수에즈 운하 등 해상 초크포인트는 원유공급 중단 시 세계 석유 공급에 직접적인 영향을 미치므로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안보 정책의 핵심 고려대상이 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하류부문은 원유를 정제하여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디젤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항공유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나프타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아스팔트 등 다양한 석유 제품으로 전환하고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산업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발전 부문 등의 최종수요처에 공급하는 과정을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소비자들과 직접 연결되어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수요의 계절성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가격탄력성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세금 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 규제 등에 민감한 반응을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최근에는 제품의 친환경성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공정의 에너지 효율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탄소배출 저감 기술 등이 핵심 과제로 부상하고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6297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B219F-F500-DA90-956A-5D6CB450C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3B233-DE9E-E21F-84F7-4DCE4F68B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E3DD18-07B6-AE2B-459D-169D6A4F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DE16A-6819-2DD8-8EBC-336C214A8A1F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상류</a:t>
            </a:r>
            <a:r>
              <a:rPr lang="en-US" altLang="ko-KR" sz="1600" spc="-50" dirty="0"/>
              <a:t> · </a:t>
            </a:r>
            <a:r>
              <a:rPr lang="ko-KR" altLang="en-US" sz="1600" spc="-50" dirty="0"/>
              <a:t>중류</a:t>
            </a:r>
            <a:r>
              <a:rPr lang="en-US" altLang="ko-KR" sz="1600" spc="-50" dirty="0"/>
              <a:t> · </a:t>
            </a:r>
            <a:r>
              <a:rPr lang="ko-KR" altLang="en-US" sz="1600" spc="-50" dirty="0"/>
              <a:t>하류 세 부문을 독립적으로 운영하기도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대부분 대형 석유기업은 수직적으로 통합된 구조를 통해 전체 가치사슬을 내부적으로 조정하고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외부변동에 따른 리스크를 흡수할 수 있는 체계를 구축하고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유가가 하락하는 경우에도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하류 부문 간 수익을 상호 보완함으로써 기업 전체의 수익성과 안정성을 유지할 수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부문별로 기술 구조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리스크 요인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투자 특성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 창출 방식이 상이하다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부문별 상대적 중요성은 외부 요인의 종류에 따라 변화한다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예를 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고유가 시기에는 상류 부문 투자와 탐사가 확대 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저유가 시기에는 비용 절감과 정제부문의 효율화가 </a:t>
            </a:r>
            <a:r>
              <a:rPr lang="ko-KR" altLang="en-US" sz="1600" spc="-50" dirty="0" err="1"/>
              <a:t>중요해진다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최근에는 에너지 시스템의 분산화와 탈탄소화 기조 속에서 새로운 형태의 연계구조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예컨대 정유회사와 수소생산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충전 네트워크 간의 통합 등으로 진화하고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석유산업의 구조와 동향을 분석하고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정책을 설계하기 위해서는 이러한 가치사슬에 대한 입체적 이해가 필수적이다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수직적 가치사슬은 에너지 안보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환경 전략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 교역 등 다양한 영역에서 분석의 기본 단위로 작용한다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3031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C452-624A-7568-D541-60131CB2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0F758-A521-7847-2DA8-213C880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 </a:t>
            </a:r>
            <a:r>
              <a:rPr lang="en-US" altLang="ko-KR" dirty="0"/>
              <a:t>(</a:t>
            </a:r>
            <a:r>
              <a:rPr lang="ko-KR" altLang="en-US" dirty="0"/>
              <a:t>중동 원유 </a:t>
            </a:r>
            <a:r>
              <a:rPr lang="en-US" altLang="ko-KR" dirty="0"/>
              <a:t>&gt; </a:t>
            </a:r>
            <a:r>
              <a:rPr lang="ko-KR" altLang="en-US" dirty="0"/>
              <a:t>국내 휘발유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96E4D4-99D4-EB50-02DA-227CC52F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B1698-70EB-AF35-F97C-3C03FDEA88D6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주유소에서 넣는 휘발유가 어떻게 공급되어 온건지 살펴보자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산유국은 원유를 생산한다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원유를 산유국으로부터 수입한다</a:t>
            </a:r>
            <a:r>
              <a:rPr lang="en-US" altLang="ko-KR" sz="1600" spc="-50" dirty="0"/>
              <a:t>. 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2023</a:t>
            </a:r>
            <a:r>
              <a:rPr lang="ko-KR" altLang="en-US" sz="1600" spc="-50" dirty="0"/>
              <a:t>년에는 원유 수입의 </a:t>
            </a:r>
            <a:r>
              <a:rPr lang="en-US" altLang="ko-KR" sz="1600" spc="-50" dirty="0"/>
              <a:t>72%</a:t>
            </a:r>
            <a:r>
              <a:rPr lang="ko-KR" altLang="en-US" sz="1600" spc="-50" dirty="0"/>
              <a:t>를 중동국가에서 수입해왔다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사우디</a:t>
            </a:r>
            <a:r>
              <a:rPr lang="en-US" altLang="ko-KR" sz="1600" spc="-50" dirty="0"/>
              <a:t>, UAE,</a:t>
            </a:r>
            <a:r>
              <a:rPr lang="ko-KR" altLang="en-US" sz="1600" spc="-50" dirty="0"/>
              <a:t> 쿠웨이트 등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우리나라에서 빈 배가 사우디 </a:t>
            </a:r>
            <a:r>
              <a:rPr lang="ko-KR" altLang="en-US" sz="1600" spc="-50" dirty="0" err="1"/>
              <a:t>라스타누라항</a:t>
            </a:r>
            <a:r>
              <a:rPr lang="ko-KR" altLang="en-US" sz="1600" spc="-50" dirty="0"/>
              <a:t> 까지 </a:t>
            </a:r>
            <a:r>
              <a:rPr lang="en-US" altLang="ko-KR" sz="1600" spc="-50" dirty="0"/>
              <a:t>25,000km</a:t>
            </a:r>
            <a:r>
              <a:rPr lang="ko-KR" altLang="en-US" sz="1600" spc="-50" dirty="0"/>
              <a:t>를 항해</a:t>
            </a:r>
            <a:r>
              <a:rPr lang="en-US" altLang="ko-KR" sz="1600" spc="-50" dirty="0"/>
              <a:t>. (16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원유를 선적하고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싣고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출항 준비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(3~4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갔던 길을 다시 되돌아 옴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(21~22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유조선에 실려온 원유는 파이프라인을 통해 저장탱크로 이동</a:t>
            </a:r>
            <a:r>
              <a:rPr lang="en-US" altLang="ko-KR" sz="1600" spc="-50" dirty="0"/>
              <a:t> (2~3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수입한 원유는 국내 각지에서 </a:t>
            </a:r>
            <a:r>
              <a:rPr lang="en-US" altLang="ko-KR" sz="1600" spc="-50" dirty="0"/>
              <a:t>(SK: </a:t>
            </a:r>
            <a:r>
              <a:rPr lang="ko-KR" altLang="en-US" sz="1600" spc="-50" dirty="0"/>
              <a:t>울산</a:t>
            </a:r>
            <a:r>
              <a:rPr lang="en-US" altLang="ko-KR" sz="1600" spc="-50" dirty="0"/>
              <a:t>, GS: </a:t>
            </a:r>
            <a:r>
              <a:rPr lang="ko-KR" altLang="en-US" sz="1600" spc="-50" dirty="0"/>
              <a:t>여수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서산</a:t>
            </a:r>
            <a:r>
              <a:rPr lang="en-US" altLang="ko-KR" sz="1600" spc="-50" dirty="0"/>
              <a:t>, S</a:t>
            </a:r>
            <a:r>
              <a:rPr lang="ko-KR" altLang="en-US" sz="1600" spc="-50" dirty="0"/>
              <a:t>오일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울산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정유</a:t>
            </a:r>
            <a:r>
              <a:rPr lang="en-US" altLang="ko-KR" sz="1600" spc="-50" dirty="0"/>
              <a:t>(refining)</a:t>
            </a:r>
            <a:r>
              <a:rPr lang="ko-KR" altLang="en-US" sz="1600" spc="-50" dirty="0"/>
              <a:t>를 한다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원유를 끓이면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끓는 점이 낮은 성분부터 기화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액체→기체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정제 공정을 거쳐 다양한 석유제품을 만들어 낸다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여기서 석유제품이란 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납사</a:t>
            </a:r>
            <a:r>
              <a:rPr lang="ko-KR" altLang="en-US" sz="1600" spc="-50" dirty="0"/>
              <a:t> 등을 말한다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정유사들의 세계 경쟁력은 매우 우수한 편이다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E74431-EFFD-DB9D-A4D7-5C5B16D4B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4957" y="1511951"/>
            <a:ext cx="2118253" cy="159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6BBFB59-5B7F-FB75-BB4D-89AE41C43009}"/>
              </a:ext>
            </a:extLst>
          </p:cNvPr>
          <p:cNvSpPr txBox="1"/>
          <p:nvPr/>
        </p:nvSpPr>
        <p:spPr>
          <a:xfrm>
            <a:off x="9784957" y="3105310"/>
            <a:ext cx="204628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ko-KR" altLang="en-US" sz="1000" dirty="0"/>
              <a:t>대한석유협회</a:t>
            </a:r>
            <a:r>
              <a:rPr lang="en-US" altLang="ko-KR" sz="1000" dirty="0"/>
              <a:t>, </a:t>
            </a:r>
            <a:r>
              <a:rPr lang="ko-KR" altLang="en-US" sz="600" dirty="0">
                <a:hlinkClick r:id="rId3"/>
              </a:rPr>
              <a:t>https://www.petroleum.or.kr/industry/story_2_1</a:t>
            </a:r>
            <a:endParaRPr lang="en-US" altLang="ko-KR" sz="600" dirty="0"/>
          </a:p>
          <a:p>
            <a:r>
              <a:rPr lang="ko-KR" altLang="en-US" sz="600" dirty="0">
                <a:hlinkClick r:id="rId4"/>
              </a:rPr>
              <a:t>https://askinno.com/archives/36348</a:t>
            </a:r>
            <a:r>
              <a:rPr lang="ko-KR" altLang="en-US" sz="600" dirty="0"/>
              <a:t> 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A1C22D-9DA4-DC5A-4ACC-E205BC5436CB}"/>
              </a:ext>
            </a:extLst>
          </p:cNvPr>
          <p:cNvGrpSpPr/>
          <p:nvPr/>
        </p:nvGrpSpPr>
        <p:grpSpPr>
          <a:xfrm>
            <a:off x="8774806" y="4661235"/>
            <a:ext cx="2802086" cy="1593608"/>
            <a:chOff x="2218200" y="961242"/>
            <a:chExt cx="8636445" cy="553113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27BA132-B96B-D789-06E3-9993D5894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18201" y="961242"/>
              <a:ext cx="8636444" cy="553113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EE9AE12-12C9-0E92-526F-C30FD1243DD2}"/>
                </a:ext>
              </a:extLst>
            </p:cNvPr>
            <p:cNvSpPr/>
            <p:nvPr/>
          </p:nvSpPr>
          <p:spPr>
            <a:xfrm>
              <a:off x="2218200" y="961242"/>
              <a:ext cx="894115" cy="1186340"/>
            </a:xfrm>
            <a:prstGeom prst="rect">
              <a:avLst/>
            </a:prstGeom>
            <a:solidFill>
              <a:srgbClr val="EFE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62517F2-B5BF-F9B4-633D-27A39DF4A203}"/>
              </a:ext>
            </a:extLst>
          </p:cNvPr>
          <p:cNvSpPr txBox="1"/>
          <p:nvPr/>
        </p:nvSpPr>
        <p:spPr>
          <a:xfrm>
            <a:off x="8088025" y="6365679"/>
            <a:ext cx="4357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GS</a:t>
            </a:r>
            <a:r>
              <a:rPr lang="ko-KR" altLang="en-US" sz="1000" dirty="0" err="1"/>
              <a:t>칼텍스</a:t>
            </a:r>
            <a:r>
              <a:rPr lang="ko-KR" altLang="en-US" sz="1000" dirty="0"/>
              <a:t> </a:t>
            </a:r>
            <a:r>
              <a:rPr lang="en-US" altLang="ko-KR" sz="1000" dirty="0"/>
              <a:t>(</a:t>
            </a:r>
            <a:r>
              <a:rPr lang="ko-KR" altLang="en-US" sz="1000" dirty="0"/>
              <a:t>유튜브 영상</a:t>
            </a:r>
            <a:r>
              <a:rPr lang="en-US" altLang="ko-KR" sz="1000" dirty="0"/>
              <a:t>), </a:t>
            </a:r>
            <a:r>
              <a:rPr lang="en-US" altLang="ko-KR" sz="600" dirty="0"/>
              <a:t>https://www.youtube.com/watch?v=LRjQbVM5qOk</a:t>
            </a:r>
            <a:endParaRPr lang="ko-KR" altLang="en-US" sz="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B11C7-8219-7F97-DD84-C115E1CEFF51}"/>
              </a:ext>
            </a:extLst>
          </p:cNvPr>
          <p:cNvSpPr txBox="1"/>
          <p:nvPr/>
        </p:nvSpPr>
        <p:spPr>
          <a:xfrm>
            <a:off x="9868466" y="3993539"/>
            <a:ext cx="15993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정유 공정</a:t>
            </a:r>
            <a:r>
              <a:rPr lang="en-US" altLang="ko-KR" sz="1400" spc="-50" dirty="0"/>
              <a:t>: </a:t>
            </a:r>
            <a:r>
              <a:rPr lang="ko-KR" altLang="en-US" sz="1400" spc="-50" dirty="0"/>
              <a:t>증류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696797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6C156-46F3-A866-0826-7B0F3165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수직적 가치사슬 </a:t>
            </a:r>
            <a:r>
              <a:rPr lang="en-US" altLang="ko-KR" dirty="0"/>
              <a:t>(</a:t>
            </a:r>
            <a:r>
              <a:rPr lang="ko-KR" altLang="en-US" dirty="0"/>
              <a:t>중동 원유 </a:t>
            </a:r>
            <a:r>
              <a:rPr lang="en-US" altLang="ko-KR" dirty="0"/>
              <a:t>&gt; </a:t>
            </a:r>
            <a:r>
              <a:rPr lang="ko-KR" altLang="en-US" dirty="0"/>
              <a:t>국내 휘발유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DC2C71-1B10-3B3F-2A50-BD9B1329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4D1A09-48EF-EE76-C063-16EC1F02527E}"/>
              </a:ext>
            </a:extLst>
          </p:cNvPr>
          <p:cNvSpPr txBox="1"/>
          <p:nvPr/>
        </p:nvSpPr>
        <p:spPr>
          <a:xfrm>
            <a:off x="288790" y="958844"/>
            <a:ext cx="11693660" cy="59540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92175" lvl="1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600" spc="-50" dirty="0"/>
              <a:t>원유를 끓여서 다양한 석유제품을 만들었다면 이제 유통단계를 거쳐 소비자에게 판매한다</a:t>
            </a:r>
            <a:r>
              <a:rPr lang="en-US" altLang="ko-KR" sz="1600" spc="-50" dirty="0"/>
              <a:t>. 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석유제품을 수출 할 때는 유조선을 활용하고</a:t>
            </a:r>
            <a:r>
              <a:rPr lang="en-US" altLang="ko-KR" sz="1600" spc="-50" dirty="0"/>
              <a:t>,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국내에는 송유관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파이프라인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통해 수송을 할 수도 있고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오른쪽 그림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유조차를 통해 수송을 할 수도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600" spc="-50" dirty="0"/>
              <a:t>석유제품의 최종소비처는 세 개의 부문으로 나누어 볼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석유제품은 연료 혹은 원료로 사용이 된다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</a:t>
            </a:r>
            <a:r>
              <a:rPr lang="en-US" altLang="ko-KR" sz="1600" spc="-50" dirty="0"/>
              <a:t>(fuel): </a:t>
            </a:r>
            <a:r>
              <a:rPr lang="ko-KR" altLang="en-US" sz="1600" spc="-50" dirty="0"/>
              <a:t>태워서 에너지를 얻는다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석유제품이 품고 있던 탄소가 배출이 된다</a:t>
            </a:r>
            <a:r>
              <a:rPr lang="en-US" altLang="ko-KR" sz="1600" spc="-50" dirty="0"/>
              <a:t>. 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원료</a:t>
            </a:r>
            <a:r>
              <a:rPr lang="en-US" altLang="ko-KR" sz="1600" spc="-50" dirty="0"/>
              <a:t>(feedstock): </a:t>
            </a:r>
            <a:r>
              <a:rPr lang="ko-KR" altLang="en-US" sz="1600" spc="-50" dirty="0"/>
              <a:t>재료로 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탄소가 그대로 제품에 저장이 되어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산업부문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특히 화학산업 분야에서 </a:t>
            </a:r>
            <a:r>
              <a:rPr lang="ko-KR" altLang="en-US" sz="1600" b="1" spc="-50" dirty="0"/>
              <a:t>원료</a:t>
            </a:r>
            <a:r>
              <a:rPr lang="en-US" altLang="ko-KR" sz="1600" b="1" spc="-50" dirty="0"/>
              <a:t>(feedstock)</a:t>
            </a:r>
            <a:r>
              <a:rPr lang="ko-KR" altLang="en-US" sz="1600" spc="-50" dirty="0"/>
              <a:t>로 많이 쓰인다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합성섬유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옷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비료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합성고무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합성세제 등 제조에 쓰인다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건물부문</a:t>
            </a:r>
            <a:r>
              <a:rPr lang="en-US" altLang="ko-KR" sz="1600" spc="-50" dirty="0"/>
              <a:t>: LPG, </a:t>
            </a:r>
            <a:r>
              <a:rPr lang="ko-KR" altLang="en-US" sz="1600" spc="-50" dirty="0"/>
              <a:t>등유를 많이 쓴다</a:t>
            </a:r>
            <a:r>
              <a:rPr lang="en-US" altLang="ko-KR" sz="1600" spc="-50" dirty="0"/>
              <a:t>. </a:t>
            </a:r>
            <a:r>
              <a:rPr lang="ko-KR" altLang="en-US" sz="1600" b="1" spc="-50" dirty="0"/>
              <a:t>연료</a:t>
            </a:r>
            <a:r>
              <a:rPr lang="en-US" altLang="ko-KR" sz="1600" b="1" spc="-50" dirty="0"/>
              <a:t>(fuel)</a:t>
            </a:r>
            <a:r>
              <a:rPr lang="ko-KR" altLang="en-US" sz="1600" spc="-50" dirty="0"/>
              <a:t>로 쓰이며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부문에 비해 석유제품의 소비량이 상대적으로 크지 않다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주로 겨울철 난방용으로 많이 쓰인다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교통부문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승용차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항공기에 많이 쓰인다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산업부문과 달리 모든 석유제품이 </a:t>
            </a:r>
            <a:r>
              <a:rPr lang="ko-KR" altLang="en-US" sz="1600" b="1" spc="-50" dirty="0"/>
              <a:t>연료</a:t>
            </a:r>
            <a:r>
              <a:rPr lang="en-US" altLang="ko-KR" sz="1600" b="1" spc="-50" dirty="0"/>
              <a:t>(fuel)</a:t>
            </a:r>
            <a:r>
              <a:rPr lang="ko-KR" altLang="en-US" sz="1600" spc="-50" dirty="0"/>
              <a:t>로 쓰인다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C549D2F-B3BD-74C2-F03D-A7B33E723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72" y="1409349"/>
            <a:ext cx="2207191" cy="28522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75E0CA-C3BB-DADF-C960-ECCBDB22F810}"/>
              </a:ext>
            </a:extLst>
          </p:cNvPr>
          <p:cNvSpPr txBox="1"/>
          <p:nvPr/>
        </p:nvSpPr>
        <p:spPr>
          <a:xfrm>
            <a:off x="9484481" y="1101572"/>
            <a:ext cx="15993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국내 송유관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FEBCA0-6D9A-9C7D-02DE-F6CD7F37381C}"/>
              </a:ext>
            </a:extLst>
          </p:cNvPr>
          <p:cNvSpPr txBox="1"/>
          <p:nvPr/>
        </p:nvSpPr>
        <p:spPr>
          <a:xfrm>
            <a:off x="10145713" y="3955339"/>
            <a:ext cx="20462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ko-KR" altLang="en-US" sz="1000" dirty="0"/>
              <a:t>대한송유관공사</a:t>
            </a:r>
            <a:r>
              <a:rPr lang="en-US" altLang="ko-KR" sz="1000" dirty="0"/>
              <a:t>, </a:t>
            </a:r>
            <a:r>
              <a:rPr lang="ko-KR" altLang="en-US" sz="600" dirty="0">
                <a:hlinkClick r:id="rId3"/>
              </a:rPr>
              <a:t>https://www.dopco.co.kr/company/business-overview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696545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B4DE2-9D43-D55F-4012-C00111261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96DF3E8-D435-306F-3C72-ECA498875E6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80DAC3-54FD-A3E7-4A84-5F51718D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74B79A8-ADA9-CEB0-D762-D621B2A2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석유의 생산과 소비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7283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FA62F-64DD-668E-92E1-D195A73B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98FA0-C13D-9341-945C-0EFFE147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생산과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E20F15-8663-16AB-298A-55BDFE6C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2EFF8-7454-4452-854A-268B63F5D43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80000" indent="-252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원유는 그 성분과 추출 위치에 따라 다양하게 분류될 수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원유는 황 함량과 </a:t>
            </a:r>
            <a:r>
              <a:rPr lang="en-US" altLang="ko-KR" sz="1600" spc="-50" dirty="0"/>
              <a:t>API (American Petroleum Institute) </a:t>
            </a:r>
            <a:r>
              <a:rPr lang="ko-KR" altLang="en-US" sz="1600" spc="-50" dirty="0"/>
              <a:t>중력도에 따라 분류된다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이는 원유의 밀도와 정제품질을 나타내는 중요한 지표이다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API </a:t>
            </a:r>
            <a:r>
              <a:rPr lang="ko-KR" altLang="en-US" sz="1600" spc="-50" dirty="0"/>
              <a:t>중력도가 높으면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밀도가 낮아서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원유가 가볍다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API </a:t>
            </a:r>
            <a:r>
              <a:rPr lang="ko-KR" altLang="en-US" sz="1600" spc="-50" dirty="0"/>
              <a:t>중력도가 낮으면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밀도가 높아서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원유가 무겁다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 원유는 경질유와 중질유로 구분이 가능하다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경질유는 </a:t>
            </a:r>
            <a:r>
              <a:rPr lang="en-US" altLang="ko-KR" sz="1600" spc="-50" dirty="0"/>
              <a:t>API</a:t>
            </a:r>
            <a:r>
              <a:rPr lang="ko-KR" altLang="en-US" sz="1600" spc="-50" dirty="0"/>
              <a:t> 중력도가 높고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황 함량이 낮다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원유가 가볍고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단맛이 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시 고가의 연료와 제품을 더 많이 생산 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서아프리카의 </a:t>
            </a:r>
            <a:r>
              <a:rPr lang="ko-KR" altLang="en-US" sz="1600" spc="-50" dirty="0" err="1"/>
              <a:t>본니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사우디아라비아의 아라비안 라이트 등이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중질유는 </a:t>
            </a:r>
            <a:r>
              <a:rPr lang="en-US" altLang="ko-KR" sz="1600" spc="-50" dirty="0"/>
              <a:t>API </a:t>
            </a:r>
            <a:r>
              <a:rPr lang="ko-KR" altLang="en-US" sz="1600" spc="-50" dirty="0"/>
              <a:t>중력도가 낮고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황 함량이 높다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원유가 무겁기 때문에 정제 과정이 복잡하고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상대적으로 많은 </a:t>
            </a:r>
            <a:r>
              <a:rPr lang="ko-KR" altLang="en-US" sz="1600" spc="-50" dirty="0" err="1"/>
              <a:t>잔사</a:t>
            </a:r>
            <a:r>
              <a:rPr lang="en-US" altLang="ko-KR" sz="1600" spc="-50" dirty="0"/>
              <a:t>(residual fuel)</a:t>
            </a:r>
            <a:r>
              <a:rPr lang="ko-KR" altLang="en-US" sz="1600" spc="-50" dirty="0"/>
              <a:t>와 아스팔트를 생산 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베네수엘라의 </a:t>
            </a:r>
            <a:r>
              <a:rPr lang="ko-KR" altLang="en-US" sz="1600" spc="-50" dirty="0" err="1"/>
              <a:t>오리노코벨트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캐나다의 오일샌드에서 추출되는 원유 등이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2299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56DD-2788-393A-16AA-A3465C0A8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5BAFA-5257-7006-0302-002CB7D1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생산과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972A8F-6B04-25B8-01CB-C5C70619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CA1A77-9D85-1C38-F497-1594E08F0AEC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또한 원유는 단맛의 원유와 쓴맛의 원유로 구분될 수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단맛의 원유 </a:t>
            </a:r>
            <a:r>
              <a:rPr lang="en-US" altLang="ko-KR" sz="1600" spc="-50" dirty="0"/>
              <a:t>(Sweet crude)</a:t>
            </a:r>
            <a:r>
              <a:rPr lang="ko-KR" altLang="en-US" sz="1600" spc="-50" dirty="0"/>
              <a:t>는 황 함량이 낮아 환경 규제를 만족시키기 쉽고 정제 비용이 낮다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서부 텍사스 </a:t>
            </a:r>
            <a:r>
              <a:rPr lang="ko-KR" altLang="en-US" sz="1600" spc="-50" dirty="0" err="1"/>
              <a:t>중질유</a:t>
            </a:r>
            <a:r>
              <a:rPr lang="en-US" altLang="ko-KR" sz="1600" spc="-50" dirty="0"/>
              <a:t>(WTI)</a:t>
            </a:r>
            <a:r>
              <a:rPr lang="ko-KR" altLang="en-US" sz="1600" spc="-50" dirty="0"/>
              <a:t>와 북해의 </a:t>
            </a:r>
            <a:r>
              <a:rPr lang="ko-KR" altLang="en-US" sz="1600" spc="-50" dirty="0" err="1"/>
              <a:t>브렌트</a:t>
            </a:r>
            <a:r>
              <a:rPr lang="ko-KR" altLang="en-US" sz="1600" spc="-50" dirty="0"/>
              <a:t> 원유가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쓴맛의 원유 </a:t>
            </a:r>
            <a:r>
              <a:rPr lang="en-US" altLang="ko-KR" sz="1600" spc="-50" dirty="0"/>
              <a:t>(Sour crude)</a:t>
            </a:r>
            <a:r>
              <a:rPr lang="ko-KR" altLang="en-US" sz="1600" spc="-50" dirty="0"/>
              <a:t>는 황 함량이 높아 정제 시 많은 비용이 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황산화물 배출이 많아 환경 규제 이슈가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대표적으로 중동의 두바이 원유와 멕시코의 마야 중질유가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벤치마크 원유는 각 지역의 대표적인 원유로서 국제 거래에서 가격 기준점으로 주로 사용된다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북해의 </a:t>
            </a:r>
            <a:r>
              <a:rPr lang="ko-KR" altLang="en-US" sz="1600" spc="-50" dirty="0" err="1"/>
              <a:t>브렌트</a:t>
            </a:r>
            <a:r>
              <a:rPr lang="ko-KR" altLang="en-US" sz="1600" spc="-50" dirty="0"/>
              <a:t> 원유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미국의 서부 텍사스 원유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아시아의 두바이 원유 가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분류는 원유 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방법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사용 가능한 최종 제품의 유형을 결정하는데 중요한 역할을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각 유형의 원유는 특정 요구와 환경 기준에 맞추어 선택되고 사용된다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6176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AADC-8DEE-1225-044A-3F7EC72D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3431A-FA0A-A5BC-11AC-C8DF3EC47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석유의 생산과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7D085F-9CC4-41AC-B269-F3081F21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1232-6136-3A5C-37CE-2D6B3758DEB8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거래 시장에서는 주로 현물시장과 선물시장이 활발히 이용된다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현물시장에서는 석유가 매우 짧은 기간 내에 실시간 가격으로 거래되고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현물시장의 거래는 주로 긴급한 공급의 필요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재고 보충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직접적인 소비자 요구 등에 의한 것이다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런던의 </a:t>
            </a:r>
            <a:r>
              <a:rPr lang="ko-KR" altLang="en-US" sz="1600" spc="-50" dirty="0" err="1"/>
              <a:t>브렌트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뉴욕의 서부 텍사스 </a:t>
            </a:r>
            <a:r>
              <a:rPr lang="ko-KR" altLang="en-US" sz="1600" spc="-50" dirty="0" err="1"/>
              <a:t>중질유</a:t>
            </a:r>
            <a:r>
              <a:rPr lang="en-US" altLang="ko-KR" sz="1600" spc="-50" dirty="0"/>
              <a:t>(WTI) </a:t>
            </a:r>
            <a:r>
              <a:rPr lang="ko-KR" altLang="en-US" sz="1600" spc="-50" dirty="0"/>
              <a:t>등이 현물시장에서 거래되는 대표적인 석유 종류이다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선물시장에서는 정해진 미래의 날짜에 석유를 인도할 것을 약속하면서 그에 대한 계약을 체결한다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선물시장의 주요 기능은 생산자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정제업체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시장 참여자들이 미래 가격 변동으로 부터의 위험을 </a:t>
            </a:r>
            <a:r>
              <a:rPr lang="ko-KR" altLang="en-US" sz="1600" spc="-50" dirty="0" err="1"/>
              <a:t>헤지하는</a:t>
            </a:r>
            <a:r>
              <a:rPr lang="ko-KR" altLang="en-US" sz="1600" spc="-50" dirty="0"/>
              <a:t> 것이다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대표적인 석유 선물거래소에는 뉴욕상업거래소</a:t>
            </a:r>
            <a:r>
              <a:rPr lang="en-US" altLang="ko-KR" sz="1600" spc="-50" dirty="0"/>
              <a:t>(NYMEX), </a:t>
            </a:r>
            <a:r>
              <a:rPr lang="ko-KR" altLang="en-US" sz="1600" spc="-50" dirty="0"/>
              <a:t>런던석유거래소</a:t>
            </a:r>
            <a:r>
              <a:rPr lang="en-US" altLang="ko-KR" sz="1600" spc="-50" dirty="0"/>
              <a:t>(ICE)</a:t>
            </a:r>
            <a:r>
              <a:rPr lang="ko-KR" altLang="en-US" sz="1600" spc="-50" dirty="0"/>
              <a:t>가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전통적으로 석유시장은 실물의 공급과 수요에 의해 가격이 결정되는 원자재 시장으로 인식되어 왔으나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2000</a:t>
            </a:r>
            <a:r>
              <a:rPr lang="ko-KR" altLang="en-US" sz="1600" spc="-50" dirty="0"/>
              <a:t>년대 이후 부터는 금융시장과 밀접한 연결을 갖게 되었다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석유를 단순한 실물자산이 아닌 투자자산으로 인식되기 시작했음을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원유 선물시장에 대한 금융 투자자들의 참여가 확대되면서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가격은 자본의 흐름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기대심리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거시경제 지표 등 금융 요인에 의해 보다 많은 영향을 받게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436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0C10-B6B8-2ED8-2EF7-077B26FD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C04F2-C5C3-9FDD-2ECB-CCC85352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B786C-CE64-9873-9E57-D4AACE686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781DCE-549E-7161-D29B-4B79BD93109E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시장은 지난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년간 탐사기술의 발전으로 확인 매장량을 확대해왔다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 세계 석유 매장량은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년에 </a:t>
            </a:r>
            <a:r>
              <a:rPr lang="en-US" altLang="ko-KR" sz="1600" spc="-50" dirty="0"/>
              <a:t>1,300</a:t>
            </a:r>
            <a:r>
              <a:rPr lang="ko-KR" altLang="en-US" sz="1600" spc="-50" dirty="0"/>
              <a:t>조 배럴에서</a:t>
            </a:r>
            <a:r>
              <a:rPr lang="en-US" altLang="ko-KR" sz="1600" spc="-50" dirty="0"/>
              <a:t>, 2024</a:t>
            </a:r>
            <a:r>
              <a:rPr lang="ko-KR" altLang="en-US" sz="1600" spc="-50" dirty="0"/>
              <a:t>년에 </a:t>
            </a:r>
            <a:r>
              <a:rPr lang="en-US" altLang="ko-KR" sz="1600" spc="-50" dirty="0"/>
              <a:t>1,732</a:t>
            </a:r>
            <a:r>
              <a:rPr lang="ko-KR" altLang="en-US" sz="1600" spc="-50" dirty="0"/>
              <a:t>조 배럴로 증가하였다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지역적으로는 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남미와 중동 지역의 매장량이 크게 늘었다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중동지역의 매장량 비중은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53.6%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46.3%</a:t>
            </a:r>
            <a:r>
              <a:rPr lang="ko-KR" altLang="en-US" sz="1600" spc="-50" dirty="0"/>
              <a:t>로 감소하였지만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여전히 다른 지역에 비해 현저히 매장량이 크다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E77FFD-A5D0-88C0-503F-1C7AB5522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133934"/>
              </p:ext>
            </p:extLst>
          </p:nvPr>
        </p:nvGraphicFramePr>
        <p:xfrm>
          <a:off x="526880" y="3091387"/>
          <a:ext cx="9788740" cy="32354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846240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매장량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236.5 (18.2%)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220.3 (13.5%)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242.9 (14.0%)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400" spc="-50" dirty="0"/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 (7.4%)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320.1 (19.6%)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323.4 (18.7%)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151.3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 (1.6%)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 (0.8%)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13.6 (0.8%)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120.1 (9.2%)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144.2 (8.8%)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146.2 (8.4%)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696.7 (53.6%)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765.9 (46.8%)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835.9 (46.3%)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92.9 (7.1%)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124.9 (7.6%)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125.1 (7.2%)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37.7 (2.9%)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47.8 (2.9%)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45.2 (2.6%)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 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1,300.90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1636.9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1,732.4 (100%)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262.7 (20.2%)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238.5 (14.6%)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260 (15.0%)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1038.2 (79.8%)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1398.3 (85.4%)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1472.4 (85.0%)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833 (64.0%)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1137.7 (69.5%)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1214.7 (70.1%)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108.3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310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468 (26.0%)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499.1 (30.5%)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517.7 (29.9%)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9B4A3D-13C9-C344-F32C-D48A7E8ACCEB}"/>
              </a:ext>
            </a:extLst>
          </p:cNvPr>
          <p:cNvSpPr txBox="1"/>
          <p:nvPr/>
        </p:nvSpPr>
        <p:spPr>
          <a:xfrm>
            <a:off x="526880" y="6377666"/>
            <a:ext cx="97887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※ CIS: </a:t>
            </a:r>
            <a:r>
              <a:rPr lang="en-US" altLang="ko-KR" sz="900" b="1" dirty="0"/>
              <a:t>C</a:t>
            </a:r>
            <a:r>
              <a:rPr lang="en-US" altLang="ko-KR" sz="900" dirty="0"/>
              <a:t>ommonwealth of </a:t>
            </a:r>
            <a:r>
              <a:rPr lang="en-US" altLang="ko-KR" sz="900" b="1" dirty="0"/>
              <a:t>I</a:t>
            </a:r>
            <a:r>
              <a:rPr lang="en-US" altLang="ko-KR" sz="900" dirty="0"/>
              <a:t>ndependent </a:t>
            </a:r>
            <a:r>
              <a:rPr lang="en-US" altLang="ko-KR" sz="900" b="1" dirty="0"/>
              <a:t>S</a:t>
            </a:r>
            <a:r>
              <a:rPr lang="en-US" altLang="ko-KR" sz="900" dirty="0"/>
              <a:t>tates, </a:t>
            </a:r>
            <a:r>
              <a:rPr lang="ko-KR" altLang="en-US" sz="900" dirty="0"/>
              <a:t>독립국가연합</a:t>
            </a:r>
            <a:r>
              <a:rPr lang="en-US" altLang="ko-KR" sz="900" dirty="0"/>
              <a:t>, (</a:t>
            </a:r>
            <a:r>
              <a:rPr lang="ko-KR" altLang="en-US" sz="900" dirty="0"/>
              <a:t>러시아</a:t>
            </a:r>
            <a:r>
              <a:rPr lang="en-US" altLang="ko-KR" sz="900" dirty="0"/>
              <a:t>, </a:t>
            </a:r>
            <a:r>
              <a:rPr lang="ko-KR" altLang="en-US" sz="900" dirty="0"/>
              <a:t>벨라루스</a:t>
            </a:r>
            <a:r>
              <a:rPr lang="en-US" altLang="ko-KR" sz="900" dirty="0"/>
              <a:t>, </a:t>
            </a:r>
            <a:r>
              <a:rPr lang="ko-KR" altLang="en-US" sz="900" dirty="0"/>
              <a:t>아르메니아</a:t>
            </a:r>
            <a:r>
              <a:rPr lang="en-US" altLang="ko-KR" sz="900" dirty="0"/>
              <a:t>, </a:t>
            </a:r>
            <a:r>
              <a:rPr lang="ko-KR" altLang="en-US" sz="900" dirty="0"/>
              <a:t>아제르바이잔</a:t>
            </a:r>
            <a:r>
              <a:rPr lang="en-US" altLang="ko-KR" sz="900" dirty="0"/>
              <a:t>, </a:t>
            </a:r>
            <a:r>
              <a:rPr lang="ko-KR" altLang="en-US" sz="900" dirty="0"/>
              <a:t>카자흐스탄</a:t>
            </a:r>
            <a:r>
              <a:rPr lang="en-US" altLang="ko-KR" sz="900" dirty="0"/>
              <a:t>, </a:t>
            </a:r>
            <a:r>
              <a:rPr lang="ko-KR" altLang="en-US" sz="900" dirty="0"/>
              <a:t>우즈베키스탄</a:t>
            </a:r>
            <a:r>
              <a:rPr lang="en-US" altLang="ko-KR" sz="900" dirty="0"/>
              <a:t>, </a:t>
            </a:r>
            <a:r>
              <a:rPr lang="ko-KR" altLang="en-US" sz="900" dirty="0"/>
              <a:t>키르기스스탄</a:t>
            </a:r>
            <a:r>
              <a:rPr lang="en-US" altLang="ko-KR" sz="900" dirty="0"/>
              <a:t>, </a:t>
            </a:r>
            <a:r>
              <a:rPr lang="ko-KR" altLang="en-US" sz="900" dirty="0"/>
              <a:t>타지키스탄</a:t>
            </a:r>
            <a:r>
              <a:rPr lang="en-US" altLang="ko-KR" sz="900" dirty="0"/>
              <a:t>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584768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C94C1-582E-A49E-D536-6EB1E67C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석유와 천연가스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9A6B-DC57-8F17-0592-505DB0DD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F915E4-E029-60D4-B945-56BC4CE8F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30" y="922759"/>
            <a:ext cx="3742765" cy="561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650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0CB1-2C6A-DAB9-55DA-84BF750E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4D4EFC-D055-CFC8-A349-67FA08B8E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0391C7-4EBB-75BF-6532-7B6B79AC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39F96-9200-8E62-6ABB-11FA463C285E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생산은 지리적으로 매우 불균등하게 분포되어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지역은 매장량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 기술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제도적 환경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정치적 안정성 등 다양한 특성을 지닌다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지역별 차이는 석유시장의 가격형성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공급안보에 중요한 영향을 미친다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중동 지역은 세계 확인 매장량의 절반 가량을 보유하고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저비용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고생산</a:t>
            </a:r>
            <a:r>
              <a:rPr lang="ko-KR" altLang="en-US" sz="1600" spc="-50" dirty="0"/>
              <a:t> 구조를 특징으로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쿠웨이트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아랍에미리트 등 주요 산유국들은 국영 석유회사를 통해 생산을 통제한다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석유 수출이 국가 재정의 핵심 기반이 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북미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미국과 캐나다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는 기술 혁신을 통한 석유 생산 확대의 대표적 사례이다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미국은 </a:t>
            </a:r>
            <a:r>
              <a:rPr lang="ko-KR" altLang="en-US" sz="1600" spc="-50" dirty="0" err="1"/>
              <a:t>수압파쇄와</a:t>
            </a:r>
            <a:r>
              <a:rPr lang="ko-KR" altLang="en-US" sz="1600" spc="-50" dirty="0"/>
              <a:t> 수평시추 기술을 활용하여 </a:t>
            </a:r>
            <a:r>
              <a:rPr lang="en-US" altLang="ko-KR" sz="1600" spc="-50" dirty="0"/>
              <a:t>2018</a:t>
            </a:r>
            <a:r>
              <a:rPr lang="ko-KR" altLang="en-US" sz="1600" spc="-50" dirty="0"/>
              <a:t>년 이후 세계 최대 석유 생산국이 되었다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민간기업 주도의 경쟁적 시장 구조를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선물시장</a:t>
            </a:r>
            <a:r>
              <a:rPr lang="en-US" altLang="ko-KR" sz="1600" spc="-50" dirty="0"/>
              <a:t>(NYMEX)</a:t>
            </a:r>
            <a:r>
              <a:rPr lang="ko-KR" altLang="en-US" sz="1600" spc="-50" dirty="0"/>
              <a:t>과 파생상품 시장이 발달하여 글로벌 가격 변동성과 밀접하게 연결되어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91605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52365-68B4-68B4-553C-DCF940750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C0BAE-DABC-50A3-CC90-783D8194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93CFD0-6415-D218-B085-CE41ED34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B6025-6854-2EB6-D777-986C4ACA90B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러시아와 카자흐스탄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아제르바이잔 등의 유라시아 국가들도 풍부한 석유자원을 보유하고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러시아는 </a:t>
            </a:r>
            <a:r>
              <a:rPr lang="en-US" altLang="ko-KR" sz="1600" spc="-50" dirty="0"/>
              <a:t>OPEC+ (OPEC</a:t>
            </a:r>
            <a:r>
              <a:rPr lang="ko-KR" altLang="en-US" sz="1600" spc="-50" dirty="0"/>
              <a:t>회원국과 기타 산유국들로 구성된 더 큰 집단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핵심 참여국으로서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시베리아와 북극권 유전 개발을 통해 세계 석유 수급에 중대한 역할을 하고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러시아가 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회원국은 아니고</a:t>
            </a:r>
            <a:r>
              <a:rPr lang="en-US" altLang="ko-KR" sz="1600" spc="-50" dirty="0"/>
              <a:t>, OPEC+ </a:t>
            </a:r>
            <a:r>
              <a:rPr lang="ko-KR" altLang="en-US" sz="1600" spc="-50" dirty="0"/>
              <a:t>회원이다</a:t>
            </a:r>
            <a:r>
              <a:rPr lang="en-US" altLang="ko-KR" sz="1600" spc="-50" dirty="0"/>
              <a:t>)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러시아는 서방의 경제 제재와 정치적 불확실성 때문에 석유산업의 중장기 리스크 요인이 존재한다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아프리카 지역에서는 나이지리아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앙골라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알제리 등이 주요 생산국이다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해상 유전 개발과 국제 석유기업들이 활발한 투자를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정치 불안정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인프라 부족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부패 등의 구조적 문제 때문에 생산 안정성이 낮다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남미에서는 베네수엘라가 세계 최대 확인 매장량을 보유하고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경제적 혼란과 미국의 제재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생산설비의 노후화로 생산량은 급감한 상태이다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브라질은 심해 유전을 중심으로 첨단 기술을 활용하여 생산확대에 성공하였고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 석유기업과 협력도 활발하다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1549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4AFA-0678-7827-3D8F-244A7CD5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53C8F-403E-070F-317F-A050DAD34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E8BD2-00EF-96A3-36FC-A50D3474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BD595-46D6-7172-651A-7F843548309A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아시아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태평양 지역은 전반적으로 석유 순수입국이 많다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인도네시아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말레이사 등 일부 국가는 상당한 양의 석유 생산을 유지하고 있다</a:t>
            </a:r>
            <a:r>
              <a:rPr lang="en-US" altLang="ko-KR" sz="1600" spc="-50" dirty="0"/>
              <a:t>.</a:t>
            </a:r>
          </a:p>
          <a:p>
            <a:pPr marL="385200" lvl="1">
              <a:lnSpc>
                <a:spcPct val="150000"/>
              </a:lnSpc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유럽은 노르웨이와 영국의 북해 유전을 중심으로 석유를 생산했으나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매장량 감소와 </a:t>
            </a:r>
            <a:r>
              <a:rPr lang="ko-KR" altLang="en-US" sz="1600" spc="-50" dirty="0" err="1"/>
              <a:t>정점기</a:t>
            </a:r>
            <a:r>
              <a:rPr lang="ko-KR" altLang="en-US" sz="1600" spc="-50" dirty="0"/>
              <a:t> 도래로 감소세를 보이고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유럽은 재생에너지 확대와 탄소중립 목표에 맞춰 석유 생산보다는 수입 다변화와 감축에 중점을 두고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9E383F-51F3-6557-BEEA-C0132EBED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037"/>
          <a:stretch>
            <a:fillRect/>
          </a:stretch>
        </p:blipFill>
        <p:spPr>
          <a:xfrm>
            <a:off x="6490445" y="3760484"/>
            <a:ext cx="5412764" cy="25693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030C0F-D5BF-4B28-BE48-5A4207BB2C05}"/>
              </a:ext>
            </a:extLst>
          </p:cNvPr>
          <p:cNvSpPr txBox="1"/>
          <p:nvPr/>
        </p:nvSpPr>
        <p:spPr>
          <a:xfrm>
            <a:off x="8143967" y="3465931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생산 </a:t>
            </a:r>
            <a:r>
              <a:rPr lang="en-US" altLang="ko-KR" sz="1050" spc="-50" dirty="0"/>
              <a:t>(</a:t>
            </a:r>
            <a:r>
              <a:rPr lang="ko-KR" altLang="en-US" sz="1050" spc="-50" dirty="0" err="1"/>
              <a:t>백만톤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26287-9187-A946-B786-60D4B223EEDE}"/>
              </a:ext>
            </a:extLst>
          </p:cNvPr>
          <p:cNvSpPr txBox="1"/>
          <p:nvPr/>
        </p:nvSpPr>
        <p:spPr>
          <a:xfrm>
            <a:off x="288790" y="3465931"/>
            <a:ext cx="630948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생산량은 </a:t>
            </a:r>
            <a:r>
              <a:rPr lang="en-US" altLang="ko-KR" sz="1600" spc="-50" dirty="0"/>
              <a:t>2013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4,126 </a:t>
            </a:r>
            <a:r>
              <a:rPr lang="ko-KR" altLang="en-US" sz="1600" spc="-50" dirty="0" err="1"/>
              <a:t>백만톤에서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2023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4,514</a:t>
            </a:r>
            <a:r>
              <a:rPr lang="ko-KR" altLang="en-US" sz="1600" spc="-50" dirty="0" err="1"/>
              <a:t>백만톤으로</a:t>
            </a:r>
            <a:r>
              <a:rPr lang="ko-KR" altLang="en-US" sz="1600" spc="-50" dirty="0"/>
              <a:t> 증가하였다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연평균 증가율은 </a:t>
            </a:r>
            <a:r>
              <a:rPr lang="en-US" altLang="ko-KR" sz="1600" spc="-50" dirty="0"/>
              <a:t>0.9%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OPEC </a:t>
            </a:r>
            <a:r>
              <a:rPr lang="ko-KR" altLang="en-US" sz="1600" spc="-50" dirty="0"/>
              <a:t>지역은 </a:t>
            </a:r>
            <a:r>
              <a:rPr lang="en-US" altLang="ko-KR" sz="1600" spc="-50" dirty="0"/>
              <a:t>-0.4%,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지역은 </a:t>
            </a:r>
            <a:r>
              <a:rPr lang="en-US" altLang="ko-KR" sz="1600" spc="-50" dirty="0"/>
              <a:t>1.7%</a:t>
            </a:r>
            <a:r>
              <a:rPr lang="ko-KR" altLang="en-US" sz="1600" spc="-50" dirty="0"/>
              <a:t>의 증가율을 기록 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2023</a:t>
            </a:r>
            <a:r>
              <a:rPr lang="ko-KR" altLang="en-US" sz="1600" spc="-50" dirty="0"/>
              <a:t>년 기준으로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중동</a:t>
            </a:r>
            <a:r>
              <a:rPr lang="en-US" altLang="ko-KR" sz="1600" spc="-50" dirty="0"/>
              <a:t>(31.3%)</a:t>
            </a:r>
            <a:r>
              <a:rPr lang="ko-KR" altLang="en-US" sz="1600" spc="-50" dirty="0"/>
              <a:t>과 북미</a:t>
            </a:r>
            <a:r>
              <a:rPr lang="en-US" altLang="ko-KR" sz="1600" spc="-50" dirty="0"/>
              <a:t>(26.8%)</a:t>
            </a:r>
            <a:r>
              <a:rPr lang="ko-KR" altLang="en-US" sz="1600" spc="-50" dirty="0"/>
              <a:t>가 전체 생산량에서 가장 큰 비중을 차지하고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12510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9F57E-2586-5F80-7400-ADEEB678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28098F-BAD1-18A5-A549-7CFD672F2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AF07C-515F-5855-C832-2603AD4D1116}"/>
              </a:ext>
            </a:extLst>
          </p:cNvPr>
          <p:cNvSpPr txBox="1"/>
          <p:nvPr/>
        </p:nvSpPr>
        <p:spPr>
          <a:xfrm>
            <a:off x="288790" y="958844"/>
            <a:ext cx="5287762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생산 비중은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35.4,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64.6%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생산규제에 따른 결과이다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낮은 매장량에도 불구하고 전체 생산의 </a:t>
            </a:r>
            <a:r>
              <a:rPr lang="en-US" altLang="ko-KR" sz="1600" spc="-50" dirty="0"/>
              <a:t>31.3%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현상은 미래 공급능력에 대한 불안정성을 의미한다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매장량 대비 생산비율이 높은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와 달리 비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높은 매장량 대비 낮은 생산비율을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미래에 에너지 전환이 본격화 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좌초자산 리스크를 키울 가능성이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좌초자산이란</a:t>
            </a:r>
            <a:r>
              <a:rPr lang="ko-KR" altLang="en-US" sz="1600" spc="-50" dirty="0"/>
              <a:t> 환경규제 강화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기술발전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수요감소 등의 외부요인에 의해 에너지 자산의 가치가 떨어지는 현상을 의미한다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ECCCE35-DAFA-BAA0-AB45-9F9732E01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565764"/>
              </p:ext>
            </p:extLst>
          </p:nvPr>
        </p:nvGraphicFramePr>
        <p:xfrm>
          <a:off x="5689447" y="1481588"/>
          <a:ext cx="6150530" cy="494239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54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5795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생산량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순위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1,207.5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827.1 (1)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277.9 (4)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378.1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CIS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541.7 (2)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1,413.9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이란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214.3 (5)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이라크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213.0 (6)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531.7 (3)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341.5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96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345.7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59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세계 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4,514.1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7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1,411.2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9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3,102.5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68.7%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53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1,597.8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12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2,916.3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693A7D-3279-D9D8-3310-712FB290A713}"/>
              </a:ext>
            </a:extLst>
          </p:cNvPr>
          <p:cNvSpPr txBox="1"/>
          <p:nvPr/>
        </p:nvSpPr>
        <p:spPr>
          <a:xfrm>
            <a:off x="7676034" y="1150229"/>
            <a:ext cx="33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석유 생산량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차지하는 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37171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AA1AB-6F3C-604F-F6E7-F525B84B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F86E1-1F64-24F7-D254-99E0FB66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연평균 증가율 계산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00B9C-C415-1AF6-9E6D-610DC1B6B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424FC7-25B7-F39E-A2C0-E1FAE435A530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8138286" cy="374506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표에서 미국의 </a:t>
                </a:r>
                <a:r>
                  <a:rPr lang="en-US" altLang="ko-KR" sz="1600" spc="-50" dirty="0"/>
                  <a:t>2013~2023</a:t>
                </a:r>
                <a:r>
                  <a:rPr lang="ko-KR" altLang="en-US" sz="1600" spc="-50" dirty="0"/>
                  <a:t>년 평균 증가율이 </a:t>
                </a:r>
                <a:r>
                  <a:rPr lang="en-US" altLang="ko-KR" sz="1600" spc="-50" dirty="0"/>
                  <a:t>6.3% 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10</a:t>
                </a:r>
                <a:r>
                  <a:rPr lang="ko-KR" altLang="en-US" sz="1600" spc="-50" dirty="0"/>
                  <a:t>년 동안 매년 </a:t>
                </a:r>
                <a:r>
                  <a:rPr lang="en-US" altLang="ko-KR" sz="1600" spc="-50" dirty="0"/>
                  <a:t>6.3%</a:t>
                </a:r>
                <a:r>
                  <a:rPr lang="ko-KR" altLang="en-US" sz="1600" spc="-50" dirty="0"/>
                  <a:t>씩 증가했으므로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아래의 수식이 성립한다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i="1" dirty="0">
                  <a:latin typeface="Cambria Math" panose="02040503050406030204" pitchFamily="18" charset="0"/>
                </a:endParaRP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석유생산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2023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827.1 </a:t>
                </a:r>
                <a:r>
                  <a:rPr lang="ko-KR" altLang="en-US" sz="1600" spc="-50" dirty="0"/>
                  <a:t>이라 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역산을 해보면 </a:t>
                </a:r>
                <a:r>
                  <a:rPr lang="en-US" altLang="ko-KR" sz="1600" spc="-50" dirty="0"/>
                  <a:t>449.0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 식을 일반화 해보면</a:t>
                </a:r>
                <a:r>
                  <a:rPr lang="en-US" altLang="ko-KR" sz="1600" spc="-50" dirty="0"/>
                  <a:t>, t</a:t>
                </a:r>
                <a:r>
                  <a:rPr lang="ko-KR" altLang="en-US" sz="1600" spc="-50" dirty="0"/>
                  <a:t>년부터 </a:t>
                </a:r>
                <a:r>
                  <a:rPr lang="en-US" altLang="ko-KR" sz="1600" spc="-50" dirty="0" err="1"/>
                  <a:t>t+n</a:t>
                </a:r>
                <a:r>
                  <a:rPr lang="ko-KR" altLang="en-US" sz="1600" spc="-50" dirty="0"/>
                  <a:t>년까지 </a:t>
                </a:r>
                <a:r>
                  <a:rPr lang="en-US" altLang="ko-KR" sz="1600" spc="-50" dirty="0"/>
                  <a:t>n</a:t>
                </a:r>
                <a:r>
                  <a:rPr lang="ko-KR" altLang="en-US" sz="1600" spc="-50" dirty="0"/>
                  <a:t>년 간의 변화를 연평균 증가율 </a:t>
                </a:r>
                <a:r>
                  <a:rPr lang="en-US" altLang="ko-KR" sz="1600" spc="-50" dirty="0"/>
                  <a:t>(CAGR, Compound Annual Growth Rate)</a:t>
                </a:r>
                <a:r>
                  <a:rPr lang="ko-KR" altLang="en-US" sz="1600" spc="-50" dirty="0"/>
                  <a:t>로 나타내려면 아래와 같이 계산할 수 있다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424FC7-25B7-F39E-A2C0-E1FAE435A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8138286" cy="3745064"/>
              </a:xfrm>
              <a:prstGeom prst="rect">
                <a:avLst/>
              </a:prstGeom>
              <a:blipFill>
                <a:blip r:embed="rId2"/>
                <a:stretch>
                  <a:fillRect l="-3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C49C803-31DE-141F-83F5-F1684A5F2408}"/>
              </a:ext>
            </a:extLst>
          </p:cNvPr>
          <p:cNvSpPr txBox="1"/>
          <p:nvPr/>
        </p:nvSpPr>
        <p:spPr>
          <a:xfrm>
            <a:off x="8642754" y="862600"/>
            <a:ext cx="33396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지역별 석유 생산량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증가율</a:t>
            </a:r>
            <a:r>
              <a:rPr lang="en-US" altLang="ko-KR" sz="1050" spc="-50" dirty="0"/>
              <a:t>, </a:t>
            </a:r>
            <a:r>
              <a:rPr lang="ko-KR" altLang="en-US" sz="1050" spc="-50" dirty="0"/>
              <a:t>차지하는 비중</a:t>
            </a:r>
            <a:r>
              <a:rPr lang="en-US" altLang="ko-KR" sz="1050" spc="-50" dirty="0"/>
              <a:t>&gt;</a:t>
            </a:r>
            <a:endParaRPr lang="ko-KR" altLang="en-US" sz="105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FAC58B6-043F-86DB-083F-A5C6BBA7D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680" y="1107038"/>
            <a:ext cx="3354360" cy="2706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E8A135-8A87-09A6-B51C-F365CC17A2CC}"/>
                  </a:ext>
                </a:extLst>
              </p:cNvPr>
              <p:cNvSpPr txBox="1"/>
              <p:nvPr/>
            </p:nvSpPr>
            <p:spPr>
              <a:xfrm>
                <a:off x="2180823" y="4703908"/>
                <a:ext cx="3490764" cy="554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𝐶𝐴𝐺𝑅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%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=[(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−1]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FE8A135-8A87-09A6-B51C-F365CC17A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823" y="4703908"/>
                <a:ext cx="3490764" cy="554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451320-F9A3-F004-2CAE-383FE0ADE167}"/>
                  </a:ext>
                </a:extLst>
              </p:cNvPr>
              <p:cNvSpPr txBox="1"/>
              <p:nvPr/>
            </p:nvSpPr>
            <p:spPr>
              <a:xfrm>
                <a:off x="1621722" y="1952265"/>
                <a:ext cx="4746171" cy="2821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석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생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산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2013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p>
                        <m:sSup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(1+0.063)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석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생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산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2023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0451320-F9A3-F004-2CAE-383FE0ADE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722" y="1952265"/>
                <a:ext cx="4746171" cy="282193"/>
              </a:xfrm>
              <a:prstGeom prst="rect">
                <a:avLst/>
              </a:prstGeom>
              <a:blipFill>
                <a:blip r:embed="rId5"/>
                <a:stretch>
                  <a:fillRect l="-1027" t="-6383" b="-361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2699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41766-606A-E750-93DB-673FEE11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04FA3D-D9E0-EC57-7BF9-1B685E2A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로그를 활용한 연평균 증가율 계산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B2571-2B5D-9F8C-60C9-424BE453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4C904E-58CC-AB2B-8920-0B2924C2E7B0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연평균 증가율은 아래와 같이 로그함수를 활용하면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보다 간단하게 근사치를 계산할 수 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C7BFD-0B3D-80BC-8CBF-45D5F608C209}"/>
                  </a:ext>
                </a:extLst>
              </p:cNvPr>
              <p:cNvSpPr txBox="1"/>
              <p:nvPr/>
            </p:nvSpPr>
            <p:spPr>
              <a:xfrm>
                <a:off x="1001331" y="1511367"/>
                <a:ext cx="9099999" cy="33461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2023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20</m:t>
                          </m:r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</m:t>
                      </m:r>
                      <m:sSup>
                        <m:sSup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2023−2013</m:t>
                          </m:r>
                        </m:sup>
                      </m:sSup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ko-KR" sz="1600" i="0" spc="-5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i="0" spc="-5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</m:sub>
                          </m:s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spc="-5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pc="-5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altLang="ko-KR" sz="1600" b="0" i="1" spc="-5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+10</m:t>
                      </m:r>
                      <m:func>
                        <m:funcPr>
                          <m:ctrlPr>
                            <a:rPr lang="en-US" altLang="ko-KR" sz="1600" b="0" i="0" spc="-5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b="0" i="0" spc="-5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600" spc="-5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ko-KR" sz="1600" spc="-5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pc="-5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2023</m:t>
                              </m:r>
                            </m:sub>
                          </m:s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600" spc="-5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pc="-5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2013</m:t>
                              </m:r>
                            </m:sub>
                          </m:s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en-US" altLang="ko-KR" sz="1600" spc="-5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pc="-5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ko-KR" sz="1600" spc="-5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altLang="ko-KR" sz="1600" spc="-5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1600" spc="-5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2023</m:t>
                                  </m:r>
                                </m:sub>
                              </m:s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2013</m:t>
                                  </m:r>
                                </m:sub>
                              </m:s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altLang="ko-KR" sz="1600" spc="-50" dirty="0"/>
              </a:p>
              <a:p>
                <a:pPr algn="ctr">
                  <a:lnSpc>
                    <a:spcPct val="150000"/>
                  </a:lnSpc>
                </a:pPr>
                <a:r>
                  <a:rPr lang="ko-KR" altLang="en-US" sz="1600" spc="-50" dirty="0"/>
                  <a:t>변화가 아주 작을 때는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가 성립하므로</a:t>
                </a:r>
                <a:r>
                  <a:rPr lang="en-US" altLang="ko-KR" sz="1600" spc="-50" dirty="0"/>
                  <a:t>, (</a:t>
                </a:r>
                <a:r>
                  <a:rPr lang="ko-KR" altLang="en-US" sz="1600" spc="-50" dirty="0"/>
                  <a:t>변화가 크다면 오차가 커짐에 주의해야 한다</a:t>
                </a:r>
                <a:r>
                  <a:rPr lang="en-US" altLang="ko-KR" sz="1600" spc="-50" dirty="0"/>
                  <a:t>.)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1600" spc="-50" dirty="0"/>
                  <a:t>10</a:t>
                </a:r>
                <a:r>
                  <a:rPr lang="ko-KR" altLang="en-US" sz="1600" spc="-50" dirty="0"/>
                  <a:t>년간 연평균 성장률을 아래와 같이 간단하게 계산 해볼 수 있다</a:t>
                </a:r>
                <a:r>
                  <a:rPr lang="en-US" altLang="ko-KR" sz="1600" spc="-50" dirty="0"/>
                  <a:t>.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2023</m:t>
                                  </m:r>
                                </m:sub>
                              </m:s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1600" spc="-5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600" i="1" spc="-50">
                                      <a:latin typeface="Cambria Math" panose="02040503050406030204" pitchFamily="18" charset="0"/>
                                    </a:rPr>
                                    <m:t>2013</m:t>
                                  </m:r>
                                </m:sub>
                              </m:sSub>
                              <m:r>
                                <a:rPr lang="en-US" altLang="ko-KR" sz="1600" i="1" spc="-5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altLang="ko-KR" sz="1600" spc="-5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EC7BFD-0B3D-80BC-8CBF-45D5F608C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31" y="1511367"/>
                <a:ext cx="9099999" cy="33461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9662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5794-5C8C-27E1-0ED8-BCE326641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678F4-8446-A1DF-F8BB-87A5082CA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E6259-945F-8EA0-11F7-8F2747F9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78CC18-E3DC-1377-A4C6-8DE9FC24547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 석유 소비는 지역별로 경제 발전 수준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정책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 수용도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 구조 등에 따라 뚜렷한 차이를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일부 지역은 산업 및 수송부문 중심의 석유 의존도가 높다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지역은 에너지 효율화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확산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전환 정책 강화로 수요가 정체하거나 감소하는 추세다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북미 지역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미국과 캐나다는 여전히 세계 최대 석유 소비 지역 중 하나이다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주로 수송부문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개인용 차량과 항공 부문에서 높은 석유 수요를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유럽연합</a:t>
            </a:r>
            <a:r>
              <a:rPr lang="en-US" altLang="ko-KR" sz="1600" spc="-50" dirty="0"/>
              <a:t>(EU)</a:t>
            </a:r>
            <a:r>
              <a:rPr lang="ko-KR" altLang="en-US" sz="1600" spc="-50" dirty="0"/>
              <a:t>은 기후변화 대응 정책을 적극 추진하며 석유 수요 감소를 주도하고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연료세</a:t>
            </a:r>
            <a:r>
              <a:rPr lang="ko-KR" altLang="en-US" sz="1600" spc="-50" dirty="0"/>
              <a:t> 및 </a:t>
            </a:r>
            <a:r>
              <a:rPr lang="ko-KR" altLang="en-US" sz="1600" spc="-50" dirty="0" err="1"/>
              <a:t>탄소세</a:t>
            </a:r>
            <a:r>
              <a:rPr lang="ko-KR" altLang="en-US" sz="1600" spc="-50" dirty="0"/>
              <a:t> 강화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보급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대중교통 인프라 확충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도심 내 내연기관 차량 제한 등 다양한 정책 수단을 통해 석유 소비를 억제하고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중국은 지난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여 년간 세계 석유 수요 증가의 중심지였다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급격한 산업화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 보급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물류 네트워크 확장 등이 주요 원인이다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최근들어</a:t>
            </a:r>
            <a:r>
              <a:rPr lang="ko-KR" altLang="en-US" sz="1600" spc="-50" dirty="0"/>
              <a:t> 경제성장률 둔화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전기차 확산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전환 정책 강화로 수요 증가세가 점진적으로 둔화되고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711504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954B1-F356-050A-C5BC-7998C8CA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EB5D11-C33B-90D0-1D8A-AD32DBC44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58D401-C5CA-AACA-AA99-936A9B99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4C259-EBCB-1482-B52C-272E2B309E44}"/>
              </a:ext>
            </a:extLst>
          </p:cNvPr>
          <p:cNvSpPr txBox="1"/>
          <p:nvPr/>
        </p:nvSpPr>
        <p:spPr>
          <a:xfrm>
            <a:off x="288790" y="958844"/>
            <a:ext cx="11118453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중동 지역은 전통적인 석유 수출국이나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자국 내 석유 소비도 지속적으로 증가해 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고온 기후로 인한 냉방 수요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산업화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에너지보조금이 주요 원인이었다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최근에는 보조금 축소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효율 향상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 및 재생에너지로의 전환이 추진되고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사우디아라비아는 생산량의 </a:t>
            </a:r>
            <a:r>
              <a:rPr lang="en-US" altLang="ko-KR" sz="1600" spc="-50" dirty="0"/>
              <a:t>25% </a:t>
            </a:r>
            <a:r>
              <a:rPr lang="ko-KR" altLang="en-US" sz="1600" spc="-50" dirty="0"/>
              <a:t>가량을 자국 내에서 소비하고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아프리카와 중남미 지역은 현재 석유 소비 수준은 낮지만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인구 증가와 경제성장 잠재력으로 미래 수요 확대가 예상된다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교통 인프라 부족과 낮은 전기 접근성으로 인해 석유 기반 소규모 발전소가 여전히 널리 사용되고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BFD0948-A965-9575-3640-6C833068A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06014" y="3692170"/>
            <a:ext cx="5415805" cy="29197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B9663-A58C-30E6-05FA-B51B7F9081FB}"/>
              </a:ext>
            </a:extLst>
          </p:cNvPr>
          <p:cNvSpPr txBox="1"/>
          <p:nvPr/>
        </p:nvSpPr>
        <p:spPr>
          <a:xfrm>
            <a:off x="4276012" y="3692170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소비 </a:t>
            </a:r>
            <a:r>
              <a:rPr lang="en-US" altLang="ko-KR" sz="1050" spc="-50" dirty="0"/>
              <a:t>(1,000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일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6FD847-161B-B9DA-B3E6-37D215138C68}"/>
              </a:ext>
            </a:extLst>
          </p:cNvPr>
          <p:cNvSpPr txBox="1"/>
          <p:nvPr/>
        </p:nvSpPr>
        <p:spPr>
          <a:xfrm>
            <a:off x="7723413" y="6381068"/>
            <a:ext cx="15158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Energy Institute (2024)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1093168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8180-59A0-700A-E6A3-91956E7C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3A649-419E-1C5E-10E4-0FC88D81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7B9CC9-D475-2FA7-0476-3690A18E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D01E8-7FC2-A3D2-6940-C11AD83BC84E}"/>
              </a:ext>
            </a:extLst>
          </p:cNvPr>
          <p:cNvSpPr txBox="1"/>
          <p:nvPr/>
        </p:nvSpPr>
        <p:spPr>
          <a:xfrm>
            <a:off x="288790" y="958844"/>
            <a:ext cx="5287762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전통적으로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세계 석유 수요를 주도했지만</a:t>
            </a:r>
            <a:r>
              <a:rPr lang="en-US" altLang="ko-KR" sz="1600" spc="-50" dirty="0"/>
              <a:t>, 2013</a:t>
            </a:r>
            <a:r>
              <a:rPr lang="ko-KR" altLang="en-US" sz="1600" spc="-50" dirty="0"/>
              <a:t>년 이후 비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국가들의 수요가 </a:t>
            </a:r>
            <a:r>
              <a:rPr lang="en-US" altLang="ko-KR" sz="1600" spc="-50" dirty="0"/>
              <a:t>OECD</a:t>
            </a:r>
            <a:r>
              <a:rPr lang="ko-KR" altLang="en-US" sz="1600" spc="-50" dirty="0"/>
              <a:t>를 초과하였다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OECD</a:t>
            </a:r>
            <a:r>
              <a:rPr lang="ko-KR" altLang="en-US" sz="1600" spc="-50" dirty="0"/>
              <a:t> 국가들은 이미 석유 수요 정점을 지난 것으로 평가된다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2013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~2023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기간</a:t>
            </a:r>
            <a:r>
              <a:rPr lang="en-US" altLang="ko-KR" sz="1600" spc="-50" dirty="0"/>
              <a:t>, OECD </a:t>
            </a:r>
            <a:r>
              <a:rPr lang="ko-KR" altLang="en-US" sz="1600" spc="-50" dirty="0"/>
              <a:t>지역의 석유 소비는 연평균 </a:t>
            </a:r>
            <a:r>
              <a:rPr lang="en-US" altLang="ko-KR" sz="1600" spc="-50" dirty="0"/>
              <a:t>0.1%</a:t>
            </a:r>
            <a:r>
              <a:rPr lang="ko-KR" altLang="en-US" sz="1600" spc="-50" dirty="0"/>
              <a:t>씩 감소한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지역은 연평균 </a:t>
            </a:r>
            <a:r>
              <a:rPr lang="en-US" altLang="ko-KR" sz="1600" spc="-50" dirty="0"/>
              <a:t>2.1%</a:t>
            </a:r>
            <a:r>
              <a:rPr lang="ko-KR" altLang="en-US" sz="1600" spc="-50" dirty="0"/>
              <a:t>씩 증가하였다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한국은 연평균 </a:t>
            </a:r>
            <a:r>
              <a:rPr lang="en-US" altLang="ko-KR" sz="1600" spc="-50" dirty="0"/>
              <a:t>1.3%</a:t>
            </a:r>
            <a:r>
              <a:rPr lang="ko-KR" altLang="en-US" sz="1600" spc="-50" dirty="0"/>
              <a:t>의 증가율을 보였다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중국은 연평균 </a:t>
            </a:r>
            <a:r>
              <a:rPr lang="en-US" altLang="ko-KR" sz="1600" spc="-50" dirty="0"/>
              <a:t>4.6%</a:t>
            </a:r>
            <a:r>
              <a:rPr lang="ko-KR" altLang="en-US" sz="1600" spc="-50" dirty="0"/>
              <a:t>의 증가율을 기록했지만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최근 둔화되고 있는 추세이다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지역별 소비구조는 향후 석유 시장의 수급 전망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 전환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중요한 함의를 제공한다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012788-F20E-7DA3-6109-5456064DF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156449"/>
              </p:ext>
            </p:extLst>
          </p:nvPr>
        </p:nvGraphicFramePr>
        <p:xfrm>
          <a:off x="5689447" y="1481588"/>
          <a:ext cx="6150530" cy="483708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7954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5795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30651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소비량 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(1,000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배럴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전세계 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북미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23,296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18,984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6,445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유럽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13,904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CIS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중동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9,646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사우디아라비아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4,052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아프리카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4,233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아시아태평양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38,061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38.0%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764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16,577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5,446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96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3,366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596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75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세계전체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100,221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877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44,731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-0.1%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9929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55,489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995320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B10278-B3C7-C23A-1D1C-BE7A17693CF6}"/>
              </a:ext>
            </a:extLst>
          </p:cNvPr>
          <p:cNvSpPr txBox="1"/>
          <p:nvPr/>
        </p:nvSpPr>
        <p:spPr>
          <a:xfrm>
            <a:off x="7676034" y="1150229"/>
            <a:ext cx="33396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석유 소비량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증가율</a:t>
            </a:r>
            <a:r>
              <a:rPr lang="en-US" altLang="ko-KR" sz="1200" spc="-50" dirty="0"/>
              <a:t>, </a:t>
            </a:r>
            <a:r>
              <a:rPr lang="ko-KR" altLang="en-US" sz="1200" spc="-50" dirty="0"/>
              <a:t>차지하는 비중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371529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1911-7340-576A-F5C9-EB0F84D4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6535C-F264-5932-4C12-BDF2B3525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D9A7B1-6BA9-905B-ADC3-9D1977583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E3C137-9A5F-C7E7-DFA8-6A89D2566561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석유는 생산지와 소비지가 일치하지 않는 대표적인 자원으로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 세계적으로 활발한 수출입이 이루어진다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무역구조는 자원의 지역적 편중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소비국의 에너지 수급 전략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능력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운송 인프라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요인 등에 의해 결정된다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석유 수출입은 국제 원유 시장의 물리적 흐름 뿐만 아니라 각국의 경제 및 에너지 안보 전략과도 연결되어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러시아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이라크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아랍에미리트</a:t>
            </a:r>
            <a:r>
              <a:rPr lang="en-US" altLang="ko-KR" sz="1600" spc="-50" dirty="0"/>
              <a:t>(UAE), </a:t>
            </a:r>
            <a:r>
              <a:rPr lang="ko-KR" altLang="en-US" sz="1600" spc="-50" dirty="0"/>
              <a:t>쿠웨이트 등은 원유 생산량이 많지만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내수 수요가 적다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미국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유럽연합</a:t>
            </a:r>
            <a:r>
              <a:rPr lang="en-US" altLang="ko-KR" sz="1600" spc="-50" dirty="0"/>
              <a:t>(EU)</a:t>
            </a:r>
            <a:r>
              <a:rPr lang="ko-KR" altLang="en-US" sz="1600" spc="-50" dirty="0"/>
              <a:t>는 소비가 많아 수입 의존도가 높다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미국은 수입도 많고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수출 또한 많은 지역인데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정유설비와 관련이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 및 석유제품을 위한 고도화된 운송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저장 인프라가 구축되어 있다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세계 최대 수출국은 사우디아라비아로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하루 약 </a:t>
            </a:r>
            <a:r>
              <a:rPr lang="en-US" altLang="ko-KR" sz="1600" spc="-50" dirty="0"/>
              <a:t>720</a:t>
            </a:r>
            <a:r>
              <a:rPr lang="ko-KR" altLang="en-US" sz="1600" spc="-50" dirty="0" err="1"/>
              <a:t>만배럴의</a:t>
            </a:r>
            <a:r>
              <a:rPr lang="ko-KR" altLang="en-US" sz="1600" spc="-50" dirty="0"/>
              <a:t> 원유를 주로 아시아 지역으로 수출한다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러시아는 과거 유럽 중심이던 수출구조를 </a:t>
            </a:r>
            <a:r>
              <a:rPr lang="en-US" altLang="ko-KR" sz="1600" spc="-50" dirty="0"/>
              <a:t>2022</a:t>
            </a:r>
            <a:r>
              <a:rPr lang="ko-KR" altLang="en-US" sz="1600" spc="-50" dirty="0"/>
              <a:t>년 이후 아시아 시장으로 수출지역을 전환하고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세계 최대 수입국은 중국으로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하루 약 </a:t>
            </a:r>
            <a:r>
              <a:rPr lang="en-US" altLang="ko-KR" sz="1600" spc="-50" dirty="0"/>
              <a:t>1,110</a:t>
            </a:r>
            <a:r>
              <a:rPr lang="ko-KR" altLang="en-US" sz="1600" spc="-50" dirty="0"/>
              <a:t>만 배럴을 수입하며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</a:t>
            </a:r>
            <a:r>
              <a:rPr lang="en-US" altLang="ko-KR" sz="1600" spc="-50" dirty="0"/>
              <a:t>, EU, </a:t>
            </a:r>
            <a:r>
              <a:rPr lang="ko-KR" altLang="en-US" sz="1600" spc="-50" dirty="0"/>
              <a:t>일본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한국 등이 뒤를 잇는다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수입선 다변화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전략 비축 확대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정제 능력 강화 등을 통해 에너지 안보를 강화하고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9903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E439-52F5-1AAA-555A-1E550D6EE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EC177-A8F8-0FBB-0D20-F14FE68F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74927E-5D23-D6BD-0FA6-37868CA6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2F715-4A9F-32A4-8FC2-1E756B83CDFC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무역은 주로 초대형 유조선을 통한 해상 운송에 의존한다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호르무즈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수에즈 운하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말라카</a:t>
            </a:r>
            <a:r>
              <a:rPr lang="ko-KR" altLang="en-US" sz="1600" spc="-50" dirty="0"/>
              <a:t> 해협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파나마 운하 등이 초크포인트로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지정학적 리스크를 동반한다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원유와 석유제품의 수출입이 구분된다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싱가포르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네덜란드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한국 등은 원유를 수입해 정제한 뒤 재수출하는 허브 역할을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나이지리아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리비아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등은 원유는 생산하지만 정제 능력이 부족하여 석유제품을 수입에 의존한다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4609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B30A91DF-589F-AA49-45CE-1A2C40F3C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5421" y="2801983"/>
            <a:ext cx="5238759" cy="38048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9097E09-C21C-CC23-0DFE-482D83B3A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2762A6-44F4-6BA2-9357-11CBA1F3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7A8C6-A23E-B11D-8469-7B77515BB8F7}"/>
              </a:ext>
            </a:extLst>
          </p:cNvPr>
          <p:cNvSpPr txBox="1"/>
          <p:nvPr/>
        </p:nvSpPr>
        <p:spPr>
          <a:xfrm>
            <a:off x="1764635" y="3448207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수입 </a:t>
            </a:r>
            <a:r>
              <a:rPr lang="en-US" altLang="ko-KR" sz="1050" spc="-50" dirty="0"/>
              <a:t>(1,000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일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6B223FC-545F-BA5F-AA0E-D7A94EEC4D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25088" y="3351483"/>
            <a:ext cx="5408321" cy="31515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392AD78-AA9C-2F72-3D73-A0D04D8BC904}"/>
              </a:ext>
            </a:extLst>
          </p:cNvPr>
          <p:cNvSpPr txBox="1"/>
          <p:nvPr/>
        </p:nvSpPr>
        <p:spPr>
          <a:xfrm>
            <a:off x="7323848" y="3448207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석유 수출 </a:t>
            </a:r>
            <a:r>
              <a:rPr lang="en-US" altLang="ko-KR" sz="1050" spc="-50" dirty="0"/>
              <a:t>(1,000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일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EC29E-0C97-9AE3-68F4-9CAE22EA695A}"/>
              </a:ext>
            </a:extLst>
          </p:cNvPr>
          <p:cNvSpPr txBox="1"/>
          <p:nvPr/>
        </p:nvSpPr>
        <p:spPr>
          <a:xfrm>
            <a:off x="10466613" y="6326632"/>
            <a:ext cx="15158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Energy Institute (2024)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4C23B0-BFDE-9E4A-9CEE-02C74288DEEB}"/>
              </a:ext>
            </a:extLst>
          </p:cNvPr>
          <p:cNvSpPr txBox="1"/>
          <p:nvPr/>
        </p:nvSpPr>
        <p:spPr>
          <a:xfrm>
            <a:off x="288790" y="958844"/>
            <a:ext cx="11118453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최근 몇 년간 세계 석유 무역 구조는 크게 변화하고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미국은 </a:t>
            </a:r>
            <a:r>
              <a:rPr lang="ko-KR" altLang="en-US" sz="1600" spc="-50" dirty="0" err="1"/>
              <a:t>셰일</a:t>
            </a:r>
            <a:r>
              <a:rPr lang="ko-KR" altLang="en-US" sz="1600" spc="-50" dirty="0"/>
              <a:t> 혁명을 통해 </a:t>
            </a:r>
            <a:r>
              <a:rPr lang="en-US" altLang="ko-KR" sz="1600" spc="-50" dirty="0"/>
              <a:t>2010</a:t>
            </a:r>
            <a:r>
              <a:rPr lang="ko-KR" altLang="en-US" sz="1600" spc="-50" dirty="0"/>
              <a:t>년대 중반 이후 순수출국으로 전환하였다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유럽은 러시아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우크라이나 전쟁 이후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러시아산 원유 수입을 </a:t>
            </a:r>
            <a:r>
              <a:rPr lang="ko-KR" altLang="en-US" sz="1600" spc="-50" dirty="0" err="1"/>
              <a:t>급감시키며</a:t>
            </a:r>
            <a:r>
              <a:rPr lang="ko-KR" altLang="en-US" sz="1600" spc="-50" dirty="0"/>
              <a:t> 미국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서아프리카 등지로부터 수입을 확대하고 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전환이 본격화되면서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선진국은 석유 수요 감소로 수입량을 줄이는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인도와 아세안 국가들은 수요 증가로 석유 수입 의존도를 확대하고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94093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960EB-D470-92D7-5FF5-3A9AF2D5A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87D74E-9EF2-B95F-12EB-DF383DA1DA9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09AFE9-7827-E453-5320-F9E94938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F6309E-ED91-B0A9-F9AA-254D6592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석유 가격의 변동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062013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FF731-3694-5A16-6DEF-F77E12A7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49B96-1181-D201-432F-A9C38EB6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가격의 변동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D581C6-9FDE-44DA-A904-8EBF7BAB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11CC88-3D6A-016A-22A9-151EBCD0EFC5}"/>
              </a:ext>
            </a:extLst>
          </p:cNvPr>
          <p:cNvSpPr txBox="1"/>
          <p:nvPr/>
        </p:nvSpPr>
        <p:spPr>
          <a:xfrm>
            <a:off x="288790" y="958844"/>
            <a:ext cx="11118453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1972</a:t>
            </a:r>
            <a:r>
              <a:rPr lang="ko-KR" altLang="en-US" sz="1600" spc="-50" dirty="0"/>
              <a:t>년 이후 두바이유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브렌트유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서부텍사스 </a:t>
            </a:r>
            <a:r>
              <a:rPr lang="ko-KR" altLang="en-US" sz="1600" spc="-50" dirty="0" err="1"/>
              <a:t>중질유</a:t>
            </a:r>
            <a:r>
              <a:rPr lang="ko-KR" altLang="en-US" sz="1600" spc="-50" dirty="0"/>
              <a:t> 등 원유 가격은 정치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 상황에 따라 큰 변동이 있어왔다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중동 지역의 지정학적 긴장과 미국의 </a:t>
            </a:r>
            <a:r>
              <a:rPr lang="ko-KR" altLang="en-US" sz="1600" spc="-50" dirty="0" err="1"/>
              <a:t>셰일오일</a:t>
            </a:r>
            <a:r>
              <a:rPr lang="ko-KR" altLang="en-US" sz="1600" spc="-50" dirty="0"/>
              <a:t> 생산 증가는 가격 변동의 주요 요인으로 작동하였다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주요 벤치마크 유종 간에는 품질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 유통 구조의 차이로 세부적 가격차이는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전반적인 가격 흐름 대체로 유사하게 움직여 왔다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C32AF4-C273-BAD2-3719-AE6186FB78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21383" y="3011048"/>
            <a:ext cx="6636758" cy="34743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D83E91-4414-93A2-349F-686C5190950E}"/>
              </a:ext>
            </a:extLst>
          </p:cNvPr>
          <p:cNvSpPr txBox="1"/>
          <p:nvPr/>
        </p:nvSpPr>
        <p:spPr>
          <a:xfrm>
            <a:off x="3522372" y="2575192"/>
            <a:ext cx="26107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 </a:t>
            </a:r>
            <a:r>
              <a:rPr lang="ko-KR" altLang="en-US" sz="1050" spc="-50" dirty="0"/>
              <a:t>원유가격의 변동 </a:t>
            </a:r>
            <a:r>
              <a:rPr lang="en-US" altLang="ko-KR" sz="1050" spc="-50" dirty="0"/>
              <a:t>(</a:t>
            </a:r>
            <a:r>
              <a:rPr lang="ko-KR" altLang="en-US" sz="1050" spc="-50" dirty="0"/>
              <a:t>달러</a:t>
            </a:r>
            <a:r>
              <a:rPr lang="en-US" altLang="ko-KR" sz="1050" spc="-50" dirty="0"/>
              <a:t>/</a:t>
            </a:r>
            <a:r>
              <a:rPr lang="ko-KR" altLang="en-US" sz="1050" spc="-50" dirty="0"/>
              <a:t>배럴</a:t>
            </a:r>
            <a:r>
              <a:rPr lang="en-US" altLang="ko-KR" sz="1050" spc="-50" dirty="0"/>
              <a:t>) &gt;</a:t>
            </a:r>
            <a:endParaRPr lang="ko-KR" altLang="en-US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A1AC3-4C70-EF09-ADCC-2B860E9142B7}"/>
              </a:ext>
            </a:extLst>
          </p:cNvPr>
          <p:cNvSpPr txBox="1"/>
          <p:nvPr/>
        </p:nvSpPr>
        <p:spPr>
          <a:xfrm>
            <a:off x="7689069" y="6176641"/>
            <a:ext cx="151583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spc="-50" dirty="0"/>
              <a:t>출처</a:t>
            </a:r>
            <a:r>
              <a:rPr lang="en-US" altLang="ko-KR" sz="900" spc="-50" dirty="0"/>
              <a:t>: Energy Institute (2024)</a:t>
            </a:r>
            <a:endParaRPr lang="ko-KR" altLang="en-US" sz="900" dirty="0"/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236FFBF4-BE0C-5BF7-455E-C379ABA4CD04}"/>
              </a:ext>
            </a:extLst>
          </p:cNvPr>
          <p:cNvSpPr/>
          <p:nvPr/>
        </p:nvSpPr>
        <p:spPr>
          <a:xfrm>
            <a:off x="1354183" y="4667794"/>
            <a:ext cx="1067200" cy="386750"/>
          </a:xfrm>
          <a:prstGeom prst="wedgeRoundRectCallout">
            <a:avLst>
              <a:gd name="adj1" fmla="val 107973"/>
              <a:gd name="adj2" fmla="val 140122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</a:t>
            </a:r>
            <a:r>
              <a:rPr lang="ko-KR" altLang="en-US" sz="800" dirty="0">
                <a:solidFill>
                  <a:schemeClr val="tx1"/>
                </a:solidFill>
              </a:rPr>
              <a:t>차 석유파동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욤키푸르</a:t>
            </a:r>
            <a:r>
              <a:rPr lang="ko-KR" altLang="en-US" sz="800" dirty="0">
                <a:solidFill>
                  <a:schemeClr val="tx1"/>
                </a:solidFill>
              </a:rPr>
              <a:t> 전쟁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19468381-46AF-DD8B-51BF-EF70569FFA9C}"/>
              </a:ext>
            </a:extLst>
          </p:cNvPr>
          <p:cNvSpPr/>
          <p:nvPr/>
        </p:nvSpPr>
        <p:spPr>
          <a:xfrm>
            <a:off x="2856411" y="3936275"/>
            <a:ext cx="1067200" cy="418910"/>
          </a:xfrm>
          <a:prstGeom prst="wedgeRoundRectCallout">
            <a:avLst>
              <a:gd name="adj1" fmla="val 27187"/>
              <a:gd name="adj2" fmla="val 219061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2</a:t>
            </a:r>
            <a:r>
              <a:rPr lang="ko-KR" altLang="en-US" sz="800" dirty="0">
                <a:solidFill>
                  <a:schemeClr val="tx1"/>
                </a:solidFill>
              </a:rPr>
              <a:t>차 석유파동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이란혁명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이란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이라크 전쟁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7E3E5DF9-843D-7000-0516-A70BF7544E3A}"/>
              </a:ext>
            </a:extLst>
          </p:cNvPr>
          <p:cNvSpPr/>
          <p:nvPr/>
        </p:nvSpPr>
        <p:spPr>
          <a:xfrm>
            <a:off x="3988526" y="3168610"/>
            <a:ext cx="1395502" cy="523824"/>
          </a:xfrm>
          <a:prstGeom prst="wedgeRoundRectCallout">
            <a:avLst>
              <a:gd name="adj1" fmla="val -11837"/>
              <a:gd name="adj2" fmla="val 322503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OPEC </a:t>
            </a:r>
            <a:r>
              <a:rPr lang="ko-KR" altLang="en-US" sz="800" dirty="0">
                <a:solidFill>
                  <a:schemeClr val="tx1"/>
                </a:solidFill>
              </a:rPr>
              <a:t>쿼터제 무력화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사우디의 공급확대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비</a:t>
            </a:r>
            <a:r>
              <a:rPr lang="en-US" altLang="ko-KR" sz="800" dirty="0">
                <a:solidFill>
                  <a:schemeClr val="tx1"/>
                </a:solidFill>
              </a:rPr>
              <a:t>OPEC</a:t>
            </a:r>
            <a:r>
              <a:rPr lang="ko-KR" altLang="en-US" sz="800" dirty="0">
                <a:solidFill>
                  <a:schemeClr val="tx1"/>
                </a:solidFill>
              </a:rPr>
              <a:t>국가의 생산증가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A1AD170B-AE6B-4833-75DE-828C74B4EED4}"/>
              </a:ext>
            </a:extLst>
          </p:cNvPr>
          <p:cNvSpPr/>
          <p:nvPr/>
        </p:nvSpPr>
        <p:spPr>
          <a:xfrm>
            <a:off x="4686277" y="4222618"/>
            <a:ext cx="660786" cy="418910"/>
          </a:xfrm>
          <a:prstGeom prst="wedgeRoundRectCallout">
            <a:avLst>
              <a:gd name="adj1" fmla="val -1691"/>
              <a:gd name="adj2" fmla="val 121355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걸프전쟁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말풍선: 모서리가 둥근 사각형 11">
            <a:extLst>
              <a:ext uri="{FF2B5EF4-FFF2-40B4-BE49-F238E27FC236}">
                <a16:creationId xmlns:a16="http://schemas.microsoft.com/office/drawing/2014/main" id="{9EBA5C05-30A1-26C7-288C-96EA79A95209}"/>
              </a:ext>
            </a:extLst>
          </p:cNvPr>
          <p:cNvSpPr/>
          <p:nvPr/>
        </p:nvSpPr>
        <p:spPr>
          <a:xfrm>
            <a:off x="6365966" y="5187602"/>
            <a:ext cx="1136467" cy="418910"/>
          </a:xfrm>
          <a:prstGeom prst="wedgeRoundRectCallout">
            <a:avLst>
              <a:gd name="adj1" fmla="val 840"/>
              <a:gd name="adj2" fmla="val -215420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중국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인도 경제성장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C6F76AD4-DF4E-C449-DEA8-EBF5AB0341CE}"/>
              </a:ext>
            </a:extLst>
          </p:cNvPr>
          <p:cNvSpPr/>
          <p:nvPr/>
        </p:nvSpPr>
        <p:spPr>
          <a:xfrm>
            <a:off x="6844938" y="2592138"/>
            <a:ext cx="657496" cy="418910"/>
          </a:xfrm>
          <a:prstGeom prst="wedgeRoundRectCallout">
            <a:avLst>
              <a:gd name="adj1" fmla="val 11414"/>
              <a:gd name="adj2" fmla="val 304296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글로벌 금융위기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BDE3C0B0-FF3E-6CEB-6B01-69DAB35C41C3}"/>
              </a:ext>
            </a:extLst>
          </p:cNvPr>
          <p:cNvSpPr/>
          <p:nvPr/>
        </p:nvSpPr>
        <p:spPr>
          <a:xfrm>
            <a:off x="7621693" y="2592138"/>
            <a:ext cx="1136467" cy="418910"/>
          </a:xfrm>
          <a:prstGeom prst="wedgeRoundRectCallout">
            <a:avLst>
              <a:gd name="adj1" fmla="val -26746"/>
              <a:gd name="adj2" fmla="val 318848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미국의 </a:t>
            </a:r>
            <a:r>
              <a:rPr lang="ko-KR" altLang="en-US" sz="800" dirty="0" err="1">
                <a:solidFill>
                  <a:schemeClr val="tx1"/>
                </a:solidFill>
              </a:rPr>
              <a:t>셰일혁명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88EE8A10-2CD8-9D7E-E31F-2231A27AD3B6}"/>
              </a:ext>
            </a:extLst>
          </p:cNvPr>
          <p:cNvSpPr/>
          <p:nvPr/>
        </p:nvSpPr>
        <p:spPr>
          <a:xfrm>
            <a:off x="8131294" y="5148104"/>
            <a:ext cx="1136467" cy="418910"/>
          </a:xfrm>
          <a:prstGeom prst="wedgeRoundRectCallout">
            <a:avLst>
              <a:gd name="adj1" fmla="val -24446"/>
              <a:gd name="adj2" fmla="val -118753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COVID-19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말풍선: 모서리가 둥근 사각형 15">
            <a:extLst>
              <a:ext uri="{FF2B5EF4-FFF2-40B4-BE49-F238E27FC236}">
                <a16:creationId xmlns:a16="http://schemas.microsoft.com/office/drawing/2014/main" id="{9AB75A8A-3F8D-91B1-BF0D-8A7D159FF4D6}"/>
              </a:ext>
            </a:extLst>
          </p:cNvPr>
          <p:cNvSpPr/>
          <p:nvPr/>
        </p:nvSpPr>
        <p:spPr>
          <a:xfrm>
            <a:off x="8988874" y="4277107"/>
            <a:ext cx="1326429" cy="418910"/>
          </a:xfrm>
          <a:prstGeom prst="wedgeRoundRectCallout">
            <a:avLst>
              <a:gd name="adj1" fmla="val -71172"/>
              <a:gd name="adj2" fmla="val -87569"/>
              <a:gd name="adj3" fmla="val 16667"/>
            </a:avLst>
          </a:prstGeom>
          <a:solidFill>
            <a:srgbClr val="E15F5F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COVID-19 </a:t>
            </a:r>
            <a:r>
              <a:rPr lang="ko-KR" altLang="en-US" sz="800" dirty="0">
                <a:solidFill>
                  <a:schemeClr val="tx1"/>
                </a:solidFill>
              </a:rPr>
              <a:t>회복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러시아</a:t>
            </a:r>
            <a:r>
              <a:rPr lang="en-US" altLang="ko-KR" sz="800" dirty="0">
                <a:solidFill>
                  <a:schemeClr val="tx1"/>
                </a:solidFill>
              </a:rPr>
              <a:t>-</a:t>
            </a:r>
            <a:r>
              <a:rPr lang="ko-KR" altLang="en-US" sz="800" dirty="0">
                <a:solidFill>
                  <a:schemeClr val="tx1"/>
                </a:solidFill>
              </a:rPr>
              <a:t>우크라이나 전쟁</a:t>
            </a:r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D55EB400-2E19-9E80-B21F-37AA3DA3E38E}"/>
              </a:ext>
            </a:extLst>
          </p:cNvPr>
          <p:cNvSpPr/>
          <p:nvPr/>
        </p:nvSpPr>
        <p:spPr>
          <a:xfrm>
            <a:off x="5583237" y="4222618"/>
            <a:ext cx="660786" cy="418910"/>
          </a:xfrm>
          <a:prstGeom prst="wedgeRoundRectCallout">
            <a:avLst>
              <a:gd name="adj1" fmla="val 285"/>
              <a:gd name="adj2" fmla="val 170208"/>
              <a:gd name="adj3" fmla="val 16667"/>
            </a:avLst>
          </a:prstGeom>
          <a:solidFill>
            <a:srgbClr val="00B0F0">
              <a:alpha val="1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아시아 금융위기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36EDA0-AEBD-AE0D-2E99-C87278E4C2B6}"/>
              </a:ext>
            </a:extLst>
          </p:cNvPr>
          <p:cNvSpPr txBox="1"/>
          <p:nvPr/>
        </p:nvSpPr>
        <p:spPr>
          <a:xfrm>
            <a:off x="9239250" y="5714490"/>
            <a:ext cx="2318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spc="-50" dirty="0"/>
              <a:t>(</a:t>
            </a:r>
            <a:r>
              <a:rPr lang="ko-KR" altLang="en-US" sz="1800" spc="-50" dirty="0"/>
              <a:t>다음 슬라이드 참고</a:t>
            </a:r>
            <a:r>
              <a:rPr lang="en-US" altLang="ko-KR" sz="1800" spc="-5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27245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F67C-4CB1-5C2D-FE07-8B3D35C7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A184F-AC3E-824D-C4F3-C4D8A8106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 가격의 변동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01B5FF-E22A-0D63-642B-7FDCC8B1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921340-E9D2-2967-8F18-B03A73B15BBE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1973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1</a:t>
            </a:r>
            <a:r>
              <a:rPr lang="ko-KR" altLang="en-US" sz="1600" spc="-50" dirty="0"/>
              <a:t>차 석유파동은 </a:t>
            </a:r>
            <a:r>
              <a:rPr lang="ko-KR" altLang="en-US" sz="1600" spc="-50" dirty="0" err="1"/>
              <a:t>욤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키푸르</a:t>
            </a:r>
            <a:r>
              <a:rPr lang="ko-KR" altLang="en-US" sz="1600" spc="-50" dirty="0"/>
              <a:t> 전쟁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아랍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이스라엘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과 </a:t>
            </a:r>
            <a:r>
              <a:rPr lang="en-US" altLang="ko-KR" sz="1600" spc="-50" dirty="0"/>
              <a:t>OAPEC</a:t>
            </a:r>
            <a:r>
              <a:rPr lang="ko-KR" altLang="en-US" sz="1600" spc="-50" dirty="0"/>
              <a:t>의 석유 금수조치로 촉발되었다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1979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 석유파동은 이란 혁명과 이란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이라크전쟁 발발에 따라 세계 원유 공급의 대폭 축소를 가져왔다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1985~1986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의 쿼터제 무력화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사우디의 공급 확대 전략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국가들의 생산증가로 공급 과잉이 심화 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ko-KR" altLang="en-US" sz="1600" spc="-50" dirty="0" err="1"/>
              <a:t>걸프</a:t>
            </a:r>
            <a:r>
              <a:rPr lang="ko-KR" altLang="en-US" sz="1600" spc="-50" dirty="0"/>
              <a:t> 전쟁으로 일시적으로 가격을 배럴당 </a:t>
            </a:r>
            <a:r>
              <a:rPr lang="en-US" altLang="ko-KR" sz="1600" spc="-50" dirty="0"/>
              <a:t>40$ </a:t>
            </a:r>
            <a:r>
              <a:rPr lang="ko-KR" altLang="en-US" sz="1600" spc="-50" dirty="0"/>
              <a:t>까지 폭등했지만 빠르게 안정되었다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1997</a:t>
            </a:r>
            <a:r>
              <a:rPr lang="ko-KR" altLang="en-US" sz="1600" spc="-50" dirty="0"/>
              <a:t>년 아시아 금융위기는 수요 감소로 이어졌지만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이후 세계 경제가 회복되면서 가격도 반등하였다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2000</a:t>
            </a:r>
            <a:r>
              <a:rPr lang="ko-KR" altLang="en-US" sz="1600" spc="-50" dirty="0"/>
              <a:t>년대 초반부터 중국과 인도의 급속한 경제성장은 석유 수요를 견인하였다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2007~2008</a:t>
            </a:r>
            <a:r>
              <a:rPr lang="ko-KR" altLang="en-US" sz="1600" spc="-50" dirty="0"/>
              <a:t>년 글로벌 금융위기로 수요가 급감하면서 가격은 절반 이하로 급락하였다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2014</a:t>
            </a:r>
            <a:r>
              <a:rPr lang="ko-KR" altLang="en-US" sz="1600" spc="-50" dirty="0"/>
              <a:t>년 미국의 </a:t>
            </a:r>
            <a:r>
              <a:rPr lang="ko-KR" altLang="en-US" sz="1600" spc="-50" dirty="0" err="1"/>
              <a:t>셰일오일</a:t>
            </a:r>
            <a:r>
              <a:rPr lang="ko-KR" altLang="en-US" sz="1600" spc="-50" dirty="0"/>
              <a:t> 생산 급증으로 공급이 확대 되었다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COVID-19 </a:t>
            </a:r>
            <a:r>
              <a:rPr lang="ko-KR" altLang="en-US" sz="1600" spc="-50" dirty="0"/>
              <a:t>팬데믹으로 세계 경제 전반에 수요감소를 야기했다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2021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~2022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COVID-19</a:t>
            </a:r>
            <a:r>
              <a:rPr lang="ko-KR" altLang="en-US" sz="1600" spc="-50" dirty="0"/>
              <a:t>의 회복과 러시아</a:t>
            </a:r>
            <a:r>
              <a:rPr lang="en-US" altLang="ko-KR" sz="1600" spc="-50" dirty="0"/>
              <a:t>-</a:t>
            </a:r>
            <a:r>
              <a:rPr lang="ko-KR" altLang="en-US" sz="1600" spc="-50" dirty="0"/>
              <a:t>우크라이나 전쟁으로 가격 상승 압력이 강해졌다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두바이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브렌트</a:t>
            </a:r>
            <a:r>
              <a:rPr lang="en-US" altLang="ko-KR" sz="1600" spc="-50" dirty="0"/>
              <a:t>, WTI </a:t>
            </a:r>
            <a:r>
              <a:rPr lang="ko-KR" altLang="en-US" sz="1600" spc="-50" dirty="0"/>
              <a:t>모두 유사한 변동 패턴을 보이지만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 특성에 따라 가격 차이는 조금씩 지속되고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브렌트유는 국제 거래의 대표 벤치마크 역할을 하고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WTI</a:t>
            </a:r>
            <a:r>
              <a:rPr lang="ko-KR" altLang="en-US" sz="1600" spc="-50" dirty="0"/>
              <a:t>는 미국 내 공급 상황에 민감하게 반응한다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두바이유는 아시아 시장에서 기준 유종으로 기능하고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9481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0694-1777-6B09-38EB-FF94FD868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D3602B-4E1B-6E4F-F018-D611DA7EA8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B0B4D6-CFBE-6023-520D-D4A6EBDA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3C375F4-6E1C-B7C0-28F6-95D569D4E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r>
              <a:rPr lang="ko-KR" altLang="en-US" sz="4000" b="1" i="0" spc="150" dirty="0"/>
              <a:t>석유 시장의 행태분석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2397272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05E2D-C776-0E5E-5822-66018960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B389A-FC6A-22B2-24CC-049C0F232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석유시장의 행태분석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97876-D9E9-7E09-F2E6-54F6DEF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38180-A744-010C-4371-2334970F2F79}"/>
              </a:ext>
            </a:extLst>
          </p:cNvPr>
          <p:cNvSpPr txBox="1"/>
          <p:nvPr/>
        </p:nvSpPr>
        <p:spPr>
          <a:xfrm>
            <a:off x="288790" y="78712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살펴 본 바와 같이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 가격은 상당한 변동성을 가지고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석유의 수요곡선과 공급곡선은 모두 </a:t>
            </a:r>
            <a:r>
              <a:rPr lang="ko-KR" altLang="en-US" sz="1600" spc="-50" dirty="0" err="1"/>
              <a:t>비탄력적인</a:t>
            </a:r>
            <a:r>
              <a:rPr lang="ko-KR" altLang="en-US" sz="1600" spc="-50" dirty="0"/>
              <a:t> 형태를 띠고 있다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수요곡선의 경우 아주 높은 가격과 낮은 가격에 대응하는 수요를 제외한 구간에서는 수요가 매우 비탄력적이다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 수요는 자본 집약적인 산업에서 파생되기 때문에 가격변동에 대응하여 단기적으로 조정이 신축적으로 일어나지 못하기 때문이다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가격이 매우 높은 구간에서는 석유를 대체하기 위한 다른 에너지원으로의 수요 변동이 일어난다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가격이 매우 낮은 구간에서는 다른 에너지원으로부터 석유로의 대체 수요가 발생하므로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탄력적인 수요가 발생한다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석유 공급곡선의 경우 생산제약이 없는 구간에서는 생산비용을 반영하여 평평한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완만한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공급 형태를 보이다가 생산제약을 받게 되면 한계비용이 상승함에 따라 수직 형태의 공급 형태를 보인다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산유국이 현재 가동 가능한 생산설비를 최대한 가동하고 있는 상황에서는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유가가 상승하더라도 단기간에 생산량을 더 늘리기가 어렵다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25639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BB56-7FD5-06BB-8F6C-2650C8769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CCFD7-D6F2-1CA9-06F8-E496C1835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카르텔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229CE-8099-9D47-63B1-BEDE8152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1BEDF-17EC-0E4A-E69A-CA85AF3027A3}"/>
              </a:ext>
            </a:extLst>
          </p:cNvPr>
          <p:cNvSpPr txBox="1"/>
          <p:nvPr/>
        </p:nvSpPr>
        <p:spPr>
          <a:xfrm>
            <a:off x="288790" y="78712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카르텔 모형은 여러 기업이 서로 경쟁하지 않고 생산량이나 가격을 공동으로 결정하여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전체적으로 하나의 독점기업처럼 행동하는 모형이다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카르텔의 목표는 집단으로 행동하여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집단 이윤을 극대화하는 것이다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시장에서 경쟁을 제한하고 가격을 인위적으로 높게 유지하려는 기업들의 행위를 분석하는데 사용한다</a:t>
            </a:r>
            <a:r>
              <a:rPr lang="en-US" altLang="ko-KR" sz="1600" spc="-50" dirty="0"/>
              <a:t>.</a:t>
            </a:r>
          </a:p>
          <a:p>
            <a:pPr marL="1128150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주로 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회원국들의 행태에 관한 연구가 진행되었다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OPEC</a:t>
            </a:r>
            <a:r>
              <a:rPr lang="ko-KR" altLang="en-US" sz="1600" spc="-50" dirty="0"/>
              <a:t>의 입장에서 유리한 점은 개별 국가 내에서 기업들의 가격이나 생산량에 대한 </a:t>
            </a:r>
            <a:r>
              <a:rPr lang="ko-KR" altLang="en-US" sz="1600" spc="-50" dirty="0" err="1"/>
              <a:t>담합적</a:t>
            </a:r>
            <a:r>
              <a:rPr lang="ko-KR" altLang="en-US" sz="1600" spc="-50" dirty="0"/>
              <a:t> 행동은 처벌을 받게 되어 있으나</a:t>
            </a:r>
            <a:r>
              <a:rPr lang="en-US" altLang="ko-KR" sz="1600" spc="-50" dirty="0"/>
              <a:t>, OPEC</a:t>
            </a:r>
            <a:r>
              <a:rPr lang="ko-KR" altLang="en-US" sz="1600" spc="-50" dirty="0"/>
              <a:t>과 같은 조직은 국가 간의 조직이어서 이러한 적용을 받지 않는다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</a:t>
            </a:r>
            <a:r>
              <a:rPr lang="en-US" altLang="ko-KR" sz="1600" spc="-50" dirty="0"/>
              <a:t>OPEC</a:t>
            </a:r>
            <a:r>
              <a:rPr lang="ko-KR" altLang="en-US" sz="1600" spc="-50" dirty="0"/>
              <a:t>이 실제로 </a:t>
            </a:r>
            <a:r>
              <a:rPr lang="ko-KR" altLang="en-US" sz="1600" spc="-50" dirty="0" err="1"/>
              <a:t>카르텔로서의</a:t>
            </a:r>
            <a:r>
              <a:rPr lang="ko-KR" altLang="en-US" sz="1600" spc="-50" dirty="0"/>
              <a:t> 역할을 하였는지도 논쟁의 여지는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89780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F263D-A861-F8C4-53EE-DB9E6F83F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6E3ED-69B8-517D-11A7-F8A1B09D1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카르텔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F71B1F-034C-0F55-B700-91E0EDD2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EB2D46-0173-7057-06BB-BAF7618AA64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118453" cy="18913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그림에서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는 석유시장에서의 수요곡선</a:t>
                </a:r>
                <a:r>
                  <a:rPr lang="en-US" altLang="ko-KR" sz="1600" spc="-50" dirty="0"/>
                  <a:t>, S</a:t>
                </a:r>
                <a:r>
                  <a:rPr lang="ko-KR" altLang="en-US" sz="1600" spc="-50" dirty="0"/>
                  <a:t>는 개별 기업의 공급곡선인 한계비용 곡선</a:t>
                </a:r>
                <a:r>
                  <a:rPr lang="en-US" altLang="ko-KR" sz="1600" spc="-50" dirty="0"/>
                  <a:t>(MC)</a:t>
                </a:r>
                <a:r>
                  <a:rPr lang="ko-KR" altLang="en-US" sz="1600" spc="-50" dirty="0"/>
                  <a:t>의 수평 합으로 시장공급곡선을 나타낸다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카르텔 구성원 간의 합의가 없는 경우 시장수요와 공급곡선이 일치하는 점에서 균형이 이루어지고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생산량은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에서 유지될 것이다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 개별 기업은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공급하게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가격이 평균비용</a:t>
                </a:r>
                <a:r>
                  <a:rPr lang="en-US" altLang="ko-KR" sz="1600" spc="-50" dirty="0"/>
                  <a:t>(AC)</a:t>
                </a:r>
                <a:r>
                  <a:rPr lang="ko-KR" altLang="en-US" sz="1600" spc="-50" dirty="0"/>
                  <a:t>의 저점에서 형성됨에 따라 정상이윤만 획득한다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4EB2D46-0173-7057-06BB-BAF7618AA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118453" cy="1891352"/>
              </a:xfrm>
              <a:prstGeom prst="rect">
                <a:avLst/>
              </a:prstGeom>
              <a:blipFill>
                <a:blip r:embed="rId2"/>
                <a:stretch>
                  <a:fillRect l="-219" r="-219" b="-2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E7C38446-D405-0E86-44F4-6F3450FD46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377" b="9062"/>
          <a:stretch>
            <a:fillRect/>
          </a:stretch>
        </p:blipFill>
        <p:spPr>
          <a:xfrm>
            <a:off x="1347644" y="3521675"/>
            <a:ext cx="9000743" cy="306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150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D561-3E61-D517-C8D5-8FC267347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F21F-5755-B658-FA70-B069D7D2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카르텔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161D6-6739-F94E-FACF-632C899BF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9731AC-C3F4-F797-A357-B80F5C491D50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118453" cy="26300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그러나 카르텔 회원들은 독점기업과 같이 행동하면 이윤을 확대할 수 있다는 것을 알고 있다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생산량 결정은 한계수입</a:t>
                </a:r>
                <a:r>
                  <a:rPr lang="en-US" altLang="ko-KR" sz="1600" spc="-50" dirty="0"/>
                  <a:t>(MR)</a:t>
                </a:r>
                <a:r>
                  <a:rPr lang="ko-KR" altLang="en-US" sz="1600" spc="-50" dirty="0"/>
                  <a:t>과 한계비용</a:t>
                </a:r>
                <a:r>
                  <a:rPr lang="en-US" altLang="ko-KR" sz="1600" spc="-50" dirty="0"/>
                  <a:t>(MC or S)</a:t>
                </a:r>
                <a:r>
                  <a:rPr lang="ko-KR" altLang="en-US" sz="1600" spc="-50" dirty="0"/>
                  <a:t>가 일치하도록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에서 생산량이 결정이 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독점가격이 된다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카르텔 균형에서 카르텔은 생산량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개별기업에게 할당한다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n</a:t>
                </a:r>
                <a:r>
                  <a:rPr lang="ko-KR" altLang="en-US" sz="1600" spc="-50" dirty="0"/>
                  <a:t>개의 기업들에게 동일하게 할당한다면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개별 기업의 생산량은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 된다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각 기업은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판매함으로써 독점이윤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 spc="-5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얻게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독점이윤이 경쟁균형의 이윤 보다 크다면 카르텔이 유지될 수 있을 것이다</a:t>
                </a:r>
                <a:r>
                  <a:rPr lang="en-US" altLang="ko-KR" sz="1600" spc="-50" dirty="0"/>
                  <a:t>.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E9731AC-C3F4-F797-A357-B80F5C491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118453" cy="2630015"/>
              </a:xfrm>
              <a:prstGeom prst="rect">
                <a:avLst/>
              </a:prstGeom>
              <a:blipFill>
                <a:blip r:embed="rId2"/>
                <a:stretch>
                  <a:fillRect l="-219" b="-208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E0C9601-61E8-2832-1670-A9F87868CE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377" b="9062"/>
          <a:stretch>
            <a:fillRect/>
          </a:stretch>
        </p:blipFill>
        <p:spPr>
          <a:xfrm>
            <a:off x="2902467" y="3471396"/>
            <a:ext cx="9000743" cy="306551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E31E737-A420-C914-FF80-E59EB58710E8}"/>
              </a:ext>
            </a:extLst>
          </p:cNvPr>
          <p:cNvCxnSpPr>
            <a:cxnSpLocks/>
          </p:cNvCxnSpPr>
          <p:nvPr/>
        </p:nvCxnSpPr>
        <p:spPr>
          <a:xfrm>
            <a:off x="8344243" y="3988321"/>
            <a:ext cx="1280160" cy="1860556"/>
          </a:xfrm>
          <a:prstGeom prst="line">
            <a:avLst/>
          </a:prstGeom>
          <a:ln w="21590">
            <a:solidFill>
              <a:srgbClr val="0001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64DDA2C-1AA1-318B-A460-1C0E200F3759}"/>
              </a:ext>
            </a:extLst>
          </p:cNvPr>
          <p:cNvSpPr txBox="1"/>
          <p:nvPr/>
        </p:nvSpPr>
        <p:spPr>
          <a:xfrm>
            <a:off x="7941945" y="5537742"/>
            <a:ext cx="554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spc="-50" dirty="0"/>
              <a:t>MR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7307487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87BF-34D9-DC4C-4175-A82CEB25B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7554AA-835A-D721-FE7D-105C5FA02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카르텔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8A93A7-DFA0-9B1F-E5FA-B23B94B1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5963A0-7B5A-AA21-5EBE-66F1BAF9C95C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1118453" cy="2260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그러나 카르텔의 문제점은 배반의 유혹이 크기 때문에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안정적으로 유지되기가 어렵다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카르텔 균형상태에서는 가격이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고정이므로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개별 기업의 입장에서는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생산량 변동에 따른 한계수입이 된다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경우 독점가격과 개별 기업의 한계비용이 일치하도록 생산량을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까지 증가시키면 개별 기업의 이윤을 극대화할 수 있다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한 기업이 생산량을 증가시키면 연쇄적으로 다른 기업들도 보복하기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경쟁적 균형으로 가게 된다</a:t>
                </a:r>
                <a:r>
                  <a:rPr lang="en-US" altLang="ko-KR" sz="1600" spc="-50" dirty="0"/>
                  <a:t>.</a:t>
                </a:r>
              </a:p>
              <a:p>
                <a:pPr marL="270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위의 내용이 </a:t>
                </a:r>
                <a:r>
                  <a:rPr lang="ko-KR" altLang="en-US" sz="1600" spc="-50" dirty="0" err="1"/>
                  <a:t>카르텔을</a:t>
                </a:r>
                <a:r>
                  <a:rPr lang="ko-KR" altLang="en-US" sz="1600" spc="-50" dirty="0"/>
                  <a:t> 유지하기 힘든 구조적 요인이다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55963A0-7B5A-AA21-5EBE-66F1BAF9C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1118453" cy="2260683"/>
              </a:xfrm>
              <a:prstGeom prst="rect">
                <a:avLst/>
              </a:prstGeom>
              <a:blipFill>
                <a:blip r:embed="rId2"/>
                <a:stretch>
                  <a:fillRect l="-219"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18DB010-1504-877B-4C6A-6AB8563080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377" b="9062"/>
          <a:stretch>
            <a:fillRect/>
          </a:stretch>
        </p:blipFill>
        <p:spPr>
          <a:xfrm>
            <a:off x="1347644" y="3521675"/>
            <a:ext cx="9000743" cy="3065511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530ED89-2666-ED73-B5B0-63ABD2C2729F}"/>
              </a:ext>
            </a:extLst>
          </p:cNvPr>
          <p:cNvCxnSpPr>
            <a:cxnSpLocks/>
          </p:cNvCxnSpPr>
          <p:nvPr/>
        </p:nvCxnSpPr>
        <p:spPr>
          <a:xfrm>
            <a:off x="6789420" y="4038600"/>
            <a:ext cx="1280160" cy="1860556"/>
          </a:xfrm>
          <a:prstGeom prst="line">
            <a:avLst/>
          </a:prstGeom>
          <a:ln w="21590">
            <a:solidFill>
              <a:srgbClr val="0001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BD4A5C5-1F69-446E-5CFF-5DFE7AB04B2E}"/>
              </a:ext>
            </a:extLst>
          </p:cNvPr>
          <p:cNvSpPr txBox="1"/>
          <p:nvPr/>
        </p:nvSpPr>
        <p:spPr>
          <a:xfrm>
            <a:off x="7941945" y="5537742"/>
            <a:ext cx="5543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spc="-50" dirty="0"/>
              <a:t>MR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C192AE-0716-BA96-EB33-0B67F6F3EB66}"/>
              </a:ext>
            </a:extLst>
          </p:cNvPr>
          <p:cNvSpPr txBox="1"/>
          <p:nvPr/>
        </p:nvSpPr>
        <p:spPr>
          <a:xfrm>
            <a:off x="4542615" y="3255764"/>
            <a:ext cx="2610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</a:t>
            </a:r>
            <a:r>
              <a:rPr lang="ko-KR" altLang="en-US" sz="1400" spc="-50" dirty="0"/>
              <a:t>카르텔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130384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0190-8F3D-8FDB-8A8D-E2494AC5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4B9250-6F9A-2EF3-4EBC-F7CFDAA43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선도기업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D2AA73-CC0D-4296-59B1-9325BD97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F72587-4B4A-75D7-342B-A0B17626BF47}"/>
              </a:ext>
            </a:extLst>
          </p:cNvPr>
          <p:cNvSpPr txBox="1"/>
          <p:nvPr/>
        </p:nvSpPr>
        <p:spPr>
          <a:xfrm>
            <a:off x="288790" y="947763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살펴본 카르텔의 취약한 문제점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에도 불구하고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선도기업모형은 카르텔 내 선도기업의 역할을 통해서 시장지배력을 유지할 수 있음을 보여준다</a:t>
            </a:r>
            <a:r>
              <a:rPr lang="en-US" altLang="ko-KR" sz="1600" spc="-50" dirty="0"/>
              <a:t>.</a:t>
            </a:r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선도기업 모형은 한 기업이 시장에서 상당한 시장 점유율을 가지고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가격 설정에 있어 결정적인 영향을 미칠 수 있는 상황을 다룬다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선도기업은 시장에서 가격을 결정하고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나머지 기업들은 이 가격을 수용하고 자신들의 수량을 조정하는 가격 수용자 역할을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선도기업은 시장의 잔여 수요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총 시장 수요에서 경쟁 기업들의 공급을 뺀 수요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대해 최적의 생산 수량을 결정하게 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선도 기업은 시장점유율이 높고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생산설비를 유연하게 조정할 수 있는 능력이 있어야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83676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317E0-73CD-81CB-2540-DA7C6ACC3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DB637-4971-92A7-04E2-DE4E152C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선도기업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59ABF2-8EE6-41AC-B6E9-265F7AAA8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D2F246-FAF2-1F07-832B-C55C17177DB3}"/>
                  </a:ext>
                </a:extLst>
              </p:cNvPr>
              <p:cNvSpPr txBox="1"/>
              <p:nvPr/>
            </p:nvSpPr>
            <p:spPr>
              <a:xfrm>
                <a:off x="288791" y="958844"/>
                <a:ext cx="6609934" cy="559172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선도기업은 시장수요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대한 정보를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자신을 제외한 다른 카르텔 구성원들의 공급곡선이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주어진 것을 알고 있다고 하자</a:t>
                </a:r>
                <a:r>
                  <a:rPr lang="en-US" altLang="ko-KR" sz="1600" spc="-50" dirty="0"/>
                  <a:t>.</a:t>
                </a:r>
              </a:p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다른 개별기업의 한계비용을 나타내고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선도기업의 한계비용을 나타낸다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선도 기업 자신의 잔여 수요곡선은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시장가격이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높으면 시장수요는 </a:t>
                </a:r>
                <a:r>
                  <a:rPr lang="en-US" altLang="ko-KR" sz="1600" spc="-50" dirty="0"/>
                  <a:t>0 </a:t>
                </a:r>
                <a:r>
                  <a:rPr lang="ko-KR" altLang="en-US" sz="1600" spc="-50" dirty="0"/>
                  <a:t>이 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보다 낮으면 선도기업이 시장수요를 전부 차지할 수 있다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이윤 극대화를 위한 선도기업의 전략은 한계수입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𝑀𝑅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한계비용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이 일치하도록 생산량과 가격을 결정하는 것이다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선도기업은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 생산하고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설정할 것이다</a:t>
                </a:r>
                <a:r>
                  <a:rPr lang="en-US" altLang="ko-KR" sz="1600" spc="-50" dirty="0"/>
                  <a:t>.</a:t>
                </a:r>
              </a:p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다른 카르텔 회원들은 선도기업이 정한 가격을 주어진 것으로 받아들여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나머지 시장수요인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공급할 것이다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선도기업의 잔여 수요곡선의 탄력성이 시장가격 결정에 절대적인 영향을 미친다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D2F246-FAF2-1F07-832B-C55C17177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1" y="958844"/>
                <a:ext cx="6609934" cy="5591724"/>
              </a:xfrm>
              <a:prstGeom prst="rect">
                <a:avLst/>
              </a:prstGeom>
              <a:blipFill>
                <a:blip r:embed="rId2"/>
                <a:stretch>
                  <a:fillRect l="-369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F7AC58CB-82D0-BD52-87BB-E53C94D4A8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56" r="12104"/>
          <a:stretch>
            <a:fillRect/>
          </a:stretch>
        </p:blipFill>
        <p:spPr>
          <a:xfrm>
            <a:off x="6898725" y="2273851"/>
            <a:ext cx="5004486" cy="39382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EB3D5F-02C4-3FCE-8F18-9743D697B7AE}"/>
              </a:ext>
            </a:extLst>
          </p:cNvPr>
          <p:cNvSpPr txBox="1"/>
          <p:nvPr/>
        </p:nvSpPr>
        <p:spPr>
          <a:xfrm>
            <a:off x="8095568" y="1650664"/>
            <a:ext cx="2610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</a:t>
            </a:r>
            <a:r>
              <a:rPr lang="ko-KR" altLang="en-US" sz="1400" spc="-50" dirty="0"/>
              <a:t>선도기업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4496036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49EC-CEDF-BBEB-F986-82235059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C7AB8-6E18-7B63-AEE8-B09D6E6CF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선도기업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855DD8-A169-ECE0-133F-D60589D9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D21667-622C-3378-1E35-FA8F865F9F23}"/>
              </a:ext>
            </a:extLst>
          </p:cNvPr>
          <p:cNvSpPr txBox="1"/>
          <p:nvPr/>
        </p:nvSpPr>
        <p:spPr>
          <a:xfrm>
            <a:off x="288790" y="947763"/>
            <a:ext cx="11118453" cy="45997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선도기업 모형에서 선도기업의 역할과 가장 유사한 </a:t>
            </a:r>
            <a:r>
              <a:rPr lang="en-US" altLang="ko-KR" sz="1600" spc="-50" dirty="0"/>
              <a:t>OPEC </a:t>
            </a:r>
            <a:r>
              <a:rPr lang="ko-KR" altLang="en-US" sz="1600" spc="-50" dirty="0"/>
              <a:t>회원국은 사우디아라비아 라고 할 수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 사우디아라비아도 조정생산자 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선도기업과는 다소 차이가 있음을 인식할 필요가 있다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조정생산자는 생산량 조절을 통해 국제 석유시장 수급 균형과 가격에 영향력을 행사할 수 있는 국가</a:t>
            </a:r>
            <a:r>
              <a:rPr lang="en-US" altLang="ko-KR" sz="1600" spc="-50" dirty="0"/>
              <a:t>(or </a:t>
            </a:r>
            <a:r>
              <a:rPr lang="ko-KR" altLang="en-US" sz="1600" spc="-50" dirty="0"/>
              <a:t>기업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의미한다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사우디아라비아는 여유 생산능력을 바탕으로 생산량을 조절함으로써 국제 석유시장의 수급과 가격 안정에 중요한 역할을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 선도기업은 특정 산업 내에서 시장 점유율이 높고 시장에 큰 영향력을 미치는 기업을 말한다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가격 설정에 있어 결정적인 역할을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다른 경쟁 기업들은 선도기업이 결정한 가격을 따라야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자신의 가격 결정을 통해 시장 내 경쟁 기업들의 행동과 시장 진입 여부에 영향을 준다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요컨대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조정생산자는 생산량을 탄력적으로 조절하여 시장의 수급 균형과 가격 안정에 기여하는 역할에 초점을 두는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선도기업은 높은 시장점유율과 시장지배력을 바탕으로 가격 결정에 주도적인 영향을 미치는 기업을 의미한다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05697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4C0FF-0561-64F2-40DC-C881DE1A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299933-C653-C913-3869-6DF54C92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진입저지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0A980-3EFD-E491-2608-1BAD7CC81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6C96B3-91F9-6C8E-A291-AAE8F24D8ACA}"/>
              </a:ext>
            </a:extLst>
          </p:cNvPr>
          <p:cNvSpPr txBox="1"/>
          <p:nvPr/>
        </p:nvSpPr>
        <p:spPr>
          <a:xfrm>
            <a:off x="288790" y="947763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13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진입저지 모형은 시장에서 지배적인 기업이 잠재적인 경쟁자의 시장 진입을 저자하기 위해 가격을 인위적으로 낮게 설정하는 전략을 설명한다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경쟁을 제한하고 시장 지배력을 유지하기 위한 전략으로서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시장의 진입 장벽을 형성하는 데 중요한 역할을 한다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카르텔 회원이 아닌 생산자의 경쟁으로부터 카르텔이 어떻게 전략적으로 반응하는지를 잘 나타낸다</a:t>
            </a:r>
            <a:r>
              <a:rPr lang="en-US" altLang="ko-KR" sz="1600" spc="-50" dirty="0"/>
              <a:t>.</a:t>
            </a:r>
          </a:p>
          <a:p>
            <a:pPr marL="670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최근 </a:t>
            </a:r>
            <a:r>
              <a:rPr lang="ko-KR" altLang="en-US" sz="1600" spc="-50" dirty="0" err="1"/>
              <a:t>셰일오일</a:t>
            </a:r>
            <a:r>
              <a:rPr lang="ko-KR" altLang="en-US" sz="1600" spc="-50" dirty="0"/>
              <a:t> 등 비전통적 석유 생산의 증대 효과를 잘 분석할 수 있는 모형이라 할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06156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B0C2-94B5-CEA0-230D-21D80EC6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93E3C29-88EF-157A-D1AF-196E8248D9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55" r="11893"/>
          <a:stretch>
            <a:fillRect/>
          </a:stretch>
        </p:blipFill>
        <p:spPr>
          <a:xfrm>
            <a:off x="7037606" y="2362660"/>
            <a:ext cx="4944844" cy="36921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0EF95A-9DF4-0AE8-A05A-71E92B70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진입저지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62163-07D7-C654-C00B-D631A6DA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56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245715-5D34-BCC6-0179-C69AB4AD19EC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6828702" cy="304339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석유시장에서 </a:t>
                </a: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이 선도기업으로서 행동한다고 가정하자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는 비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생산자의 공급곡선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의 공급곡선이다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이면 비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생산자의 생산비용이 높으므로 시장수요는 전부 </a:t>
                </a: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에 의해 충족된다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이하면 선도기업의 잔여수요곡선과 시장수요곡선은 일치</a:t>
                </a:r>
                <a:endParaRPr lang="en-US" altLang="ko-KR" sz="1600" spc="-50" dirty="0"/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은 한계수익과 한계비용이 일치하도록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이윤 극대화 생산량을 결정하게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결정하게 될 것이다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비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 공급하게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2245715-5D34-BCC6-0179-C69AB4AD1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6828702" cy="3043397"/>
              </a:xfrm>
              <a:prstGeom prst="rect">
                <a:avLst/>
              </a:prstGeom>
              <a:blipFill>
                <a:blip r:embed="rId4"/>
                <a:stretch>
                  <a:fillRect l="-357" b="-6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79C7B63-3A15-7968-0561-F270C5D50D9C}"/>
              </a:ext>
            </a:extLst>
          </p:cNvPr>
          <p:cNvSpPr txBox="1"/>
          <p:nvPr/>
        </p:nvSpPr>
        <p:spPr>
          <a:xfrm>
            <a:off x="8268563" y="1914396"/>
            <a:ext cx="2610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</a:t>
            </a:r>
            <a:r>
              <a:rPr lang="ko-KR" altLang="en-US" sz="1400" spc="-50" dirty="0"/>
              <a:t>진입저지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077FC0-05DD-9C32-2EE7-7862231DA6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618" t="58659" r="50017" b="35645"/>
          <a:stretch>
            <a:fillRect/>
          </a:stretch>
        </p:blipFill>
        <p:spPr>
          <a:xfrm>
            <a:off x="7628388" y="3316851"/>
            <a:ext cx="171450" cy="2242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DDB7A9-7120-08A3-A218-A18D657CF0E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096" t="82172" r="20210" b="13112"/>
          <a:stretch>
            <a:fillRect/>
          </a:stretch>
        </p:blipFill>
        <p:spPr>
          <a:xfrm>
            <a:off x="11272575" y="5120009"/>
            <a:ext cx="195263" cy="18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556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A3753-EB86-76E3-A92B-9B3B612FA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81739DF0-C203-C102-86FF-200D7C2559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355" r="11893"/>
          <a:stretch>
            <a:fillRect/>
          </a:stretch>
        </p:blipFill>
        <p:spPr>
          <a:xfrm>
            <a:off x="7037606" y="2362660"/>
            <a:ext cx="4944844" cy="369215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7878725-63B0-A20D-26DE-CA296A407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진입저지 모형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38CBCE-CCFF-4A75-09D8-017C5C5AE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57</a:t>
            </a:fld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06D7C-5C23-451B-BE53-0DF7DEE53C3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6828702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이 새로운 생산자의 시장진입을 저지하기 위해 진입저지 가격을 설정하는 경우를 보자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은 비용 측면에서 비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생산자보다 우위에 있어서 </a:t>
                </a: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이 가격인하를 통하여 진입한 생산자를 몰아내거나 새로운 생산자의 시장진입을 저지하는 전략을 구사할 수 있다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그림에서 </a:t>
                </a:r>
                <a:r>
                  <a:rPr lang="en-US" altLang="ko-KR" sz="1600" spc="-50" dirty="0"/>
                  <a:t>OPEC</a:t>
                </a:r>
                <a:r>
                  <a:rPr lang="ko-KR" altLang="en-US" sz="1600" spc="-50" dirty="0"/>
                  <a:t>이 가격을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인하하는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비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생산자의 생산량은 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생산량으로 대체가 될 것이다</a:t>
                </a:r>
                <a:r>
                  <a:rPr lang="en-US" altLang="ko-KR" sz="1600" spc="-50" dirty="0"/>
                  <a:t>.</a:t>
                </a:r>
              </a:p>
              <a:p>
                <a:pPr marL="1128150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시장 수요는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확대되지만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비</a:t>
                </a:r>
                <a:r>
                  <a:rPr lang="en-US" altLang="ko-KR" sz="1600" spc="-50" dirty="0"/>
                  <a:t>OPEC </a:t>
                </a:r>
                <a:r>
                  <a:rPr lang="ko-KR" altLang="en-US" sz="1600" spc="-50" dirty="0"/>
                  <a:t>생산자의 공급은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로 축소되게 되고</a:t>
                </a:r>
                <a:r>
                  <a:rPr lang="en-US" altLang="ko-KR" sz="1600" spc="-50" dirty="0"/>
                  <a:t>, OPEC </a:t>
                </a:r>
                <a:r>
                  <a:rPr lang="ko-KR" altLang="en-US" sz="1600" spc="-50" dirty="0"/>
                  <a:t>생산자의 공급은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확대될 것이다</a:t>
                </a:r>
                <a:r>
                  <a:rPr lang="en-US" altLang="ko-KR" sz="1600" spc="-50" dirty="0"/>
                  <a:t>.</a:t>
                </a:r>
              </a:p>
              <a:p>
                <a:pPr marL="670950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최근 사우디아라비아가 비전통적 석유 생산자에 대응하여 이런 전략을 구사하였다</a:t>
                </a:r>
                <a:r>
                  <a:rPr lang="en-US" altLang="ko-KR" sz="1600" spc="-50" dirty="0"/>
                  <a:t>.</a:t>
                </a:r>
              </a:p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213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진입 저지 가격이 오랫동안 설정되면 고비용 생산자들은 시장을 떠날 수 밖에 없다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506D7C-5C23-451B-BE53-0DF7DEE53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6828702" cy="5215338"/>
              </a:xfrm>
              <a:prstGeom prst="rect">
                <a:avLst/>
              </a:prstGeom>
              <a:blipFill>
                <a:blip r:embed="rId4"/>
                <a:stretch>
                  <a:fillRect l="-357" r="-357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4365038-5956-A560-E39B-4151A910ED60}"/>
              </a:ext>
            </a:extLst>
          </p:cNvPr>
          <p:cNvSpPr txBox="1"/>
          <p:nvPr/>
        </p:nvSpPr>
        <p:spPr>
          <a:xfrm>
            <a:off x="8268563" y="1914396"/>
            <a:ext cx="2610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 </a:t>
            </a:r>
            <a:r>
              <a:rPr lang="ko-KR" altLang="en-US" sz="1400" spc="-50" dirty="0"/>
              <a:t>진입저지 모형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E2CDCB-B424-9C50-3414-FFB67ECE12B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618" t="58659" r="50017" b="35645"/>
          <a:stretch>
            <a:fillRect/>
          </a:stretch>
        </p:blipFill>
        <p:spPr>
          <a:xfrm>
            <a:off x="7628388" y="3316851"/>
            <a:ext cx="171450" cy="22429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F2CFE1-CE25-44EC-9697-C930B7B4AF6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7096" t="82172" r="20210" b="13112"/>
          <a:stretch>
            <a:fillRect/>
          </a:stretch>
        </p:blipFill>
        <p:spPr>
          <a:xfrm>
            <a:off x="11272575" y="5120009"/>
            <a:ext cx="195263" cy="18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785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10756</TotalTime>
  <Words>6859</Words>
  <Application>Microsoft Office PowerPoint</Application>
  <PresentationFormat>와이드스크린</PresentationFormat>
  <Paragraphs>817</Paragraphs>
  <Slides>58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5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자원·에너지 경제학</vt:lpstr>
      <vt:lpstr>Chapter 3  석유 시장</vt:lpstr>
      <vt:lpstr>Section 1. 개 론</vt:lpstr>
      <vt:lpstr>서론</vt:lpstr>
      <vt:lpstr>Section 2. 석유산업의 역사 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석유산업의 역사</vt:lpstr>
      <vt:lpstr>석유, 음의 가격: 2020년 4월의 사례</vt:lpstr>
      <vt:lpstr>Section 3. 석유의 수직적 가치사슬</vt:lpstr>
      <vt:lpstr>석유의 수직적 가치사슬</vt:lpstr>
      <vt:lpstr>석유의 수직적 가치사슬</vt:lpstr>
      <vt:lpstr>석유의 수직적 가치사슬</vt:lpstr>
      <vt:lpstr>석유의 수직적 가치사슬 (중동 원유 &gt; 국내 휘발유)</vt:lpstr>
      <vt:lpstr>석유의 수직적 가치사슬 (중동 원유 &gt; 국내 휘발유)</vt:lpstr>
      <vt:lpstr>Section 4. 석유의 생산과 소비</vt:lpstr>
      <vt:lpstr>석유의 생산과 소비</vt:lpstr>
      <vt:lpstr>석유의 생산과 소비</vt:lpstr>
      <vt:lpstr>석유의 생산과 소비</vt:lpstr>
      <vt:lpstr>석유매장량</vt:lpstr>
      <vt:lpstr>석유와 천연가스 매장량</vt:lpstr>
      <vt:lpstr>석유생산</vt:lpstr>
      <vt:lpstr>석유생산</vt:lpstr>
      <vt:lpstr>석유생산</vt:lpstr>
      <vt:lpstr>석유 생산</vt:lpstr>
      <vt:lpstr>연평균 증가율 계산</vt:lpstr>
      <vt:lpstr>로그를 활용한 연평균 증가율 계산</vt:lpstr>
      <vt:lpstr>석유 소비</vt:lpstr>
      <vt:lpstr>석유 소비</vt:lpstr>
      <vt:lpstr>석유 소비</vt:lpstr>
      <vt:lpstr>석유 수출입</vt:lpstr>
      <vt:lpstr>석유 수출입</vt:lpstr>
      <vt:lpstr>석유 수출입</vt:lpstr>
      <vt:lpstr>Section 5. 석유 가격의 변동</vt:lpstr>
      <vt:lpstr>석유 가격의 변동</vt:lpstr>
      <vt:lpstr>석유 가격의 변동</vt:lpstr>
      <vt:lpstr>Section 6. 석유 시장의 행태분석</vt:lpstr>
      <vt:lpstr>석유시장의 행태분석</vt:lpstr>
      <vt:lpstr>카르텔 모형</vt:lpstr>
      <vt:lpstr>카르텔 모형</vt:lpstr>
      <vt:lpstr>카르텔 모형</vt:lpstr>
      <vt:lpstr>카르텔 모형</vt:lpstr>
      <vt:lpstr>선도기업 모형</vt:lpstr>
      <vt:lpstr>선도기업 모형</vt:lpstr>
      <vt:lpstr>선도기업 모형</vt:lpstr>
      <vt:lpstr>진입저지 모형</vt:lpstr>
      <vt:lpstr>진입저지 모형</vt:lpstr>
      <vt:lpstr>진입저지 모형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344</cp:revision>
  <dcterms:created xsi:type="dcterms:W3CDTF">2025-07-05T05:15:23Z</dcterms:created>
  <dcterms:modified xsi:type="dcterms:W3CDTF">2026-09-28T13:20:30Z</dcterms:modified>
</cp:coreProperties>
</file>