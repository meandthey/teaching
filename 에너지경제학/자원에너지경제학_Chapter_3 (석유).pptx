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41" r:id="rId31"/>
    <p:sldId id="621" r:id="rId32"/>
    <p:sldId id="622" r:id="rId33"/>
    <p:sldId id="623" r:id="rId34"/>
    <p:sldId id="624" r:id="rId35"/>
    <p:sldId id="643" r:id="rId36"/>
    <p:sldId id="644" r:id="rId37"/>
    <p:sldId id="625" r:id="rId38"/>
    <p:sldId id="626" r:id="rId39"/>
    <p:sldId id="628" r:id="rId40"/>
    <p:sldId id="629" r:id="rId41"/>
    <p:sldId id="630" r:id="rId42"/>
    <p:sldId id="631" r:id="rId43"/>
    <p:sldId id="632" r:id="rId44"/>
    <p:sldId id="633" r:id="rId45"/>
    <p:sldId id="634" r:id="rId46"/>
    <p:sldId id="636" r:id="rId47"/>
    <p:sldId id="642" r:id="rId48"/>
    <p:sldId id="645" r:id="rId49"/>
    <p:sldId id="646" r:id="rId50"/>
    <p:sldId id="647" r:id="rId51"/>
    <p:sldId id="648" r:id="rId52"/>
    <p:sldId id="650" r:id="rId53"/>
    <p:sldId id="649" r:id="rId54"/>
    <p:sldId id="651" r:id="rId55"/>
    <p:sldId id="652" r:id="rId56"/>
    <p:sldId id="653" r:id="rId57"/>
    <p:sldId id="598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1FE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78" d="100"/>
          <a:sy n="78" d="100"/>
        </p:scale>
        <p:origin x="126" y="15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C94C1-582E-A49E-D536-6EB1E67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석유와 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9A6B-DC57-8F17-0592-505DB0DD8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BF915E4-E029-60D4-B945-56BC4CE8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30" y="922759"/>
            <a:ext cx="3742765" cy="561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50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A1AB-6F3C-604F-F6E7-F525B84BB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86E1-1F64-24F7-D254-99E0FB663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00B9C-C415-1AF6-9E6D-610DC1B6B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표에서 미국의 </a:t>
                </a:r>
                <a:r>
                  <a:rPr lang="en-US" altLang="ko-KR" sz="1600" spc="-50" dirty="0"/>
                  <a:t>2013~2023</a:t>
                </a:r>
                <a:r>
                  <a:rPr lang="ko-KR" altLang="en-US" sz="1600" spc="-50" dirty="0"/>
                  <a:t>년 평균 증가율이 </a:t>
                </a:r>
                <a:r>
                  <a:rPr lang="en-US" altLang="ko-KR" sz="1600" spc="-50" dirty="0"/>
                  <a:t>6.3%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 동안 매년 </a:t>
                </a:r>
                <a:r>
                  <a:rPr lang="en-US" altLang="ko-KR" sz="1600" spc="-50" dirty="0"/>
                  <a:t>6.3%</a:t>
                </a:r>
                <a:r>
                  <a:rPr lang="ko-KR" altLang="en-US" sz="1600" spc="-50" dirty="0"/>
                  <a:t>씩 증가했으므로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아래의 수식이 성립한다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석유생산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2023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</a:t>
                </a:r>
                <a:r>
                  <a:rPr lang="en-US" altLang="ko-KR" sz="1600" spc="-50" dirty="0"/>
                  <a:t>827.1 </a:t>
                </a:r>
                <a:r>
                  <a:rPr lang="ko-KR" altLang="en-US" sz="1600" spc="-50" dirty="0"/>
                  <a:t>이라 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역산을 해보면 </a:t>
                </a:r>
                <a:r>
                  <a:rPr lang="en-US" altLang="ko-KR" sz="1600" spc="-50" dirty="0"/>
                  <a:t>449.0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일반화 해보면</a:t>
                </a:r>
                <a:r>
                  <a:rPr lang="en-US" altLang="ko-KR" sz="1600" spc="-50" dirty="0"/>
                  <a:t>, t</a:t>
                </a:r>
                <a:r>
                  <a:rPr lang="ko-KR" altLang="en-US" sz="1600" spc="-50" dirty="0"/>
                  <a:t>년부터 </a:t>
                </a:r>
                <a:r>
                  <a:rPr lang="en-US" altLang="ko-KR" sz="1600" spc="-50" dirty="0" err="1"/>
                  <a:t>t+n</a:t>
                </a:r>
                <a:r>
                  <a:rPr lang="ko-KR" altLang="en-US" sz="1600" spc="-50" dirty="0"/>
                  <a:t>년까지 </a:t>
                </a:r>
                <a:r>
                  <a:rPr lang="en-US" altLang="ko-KR" sz="1600" spc="-50" dirty="0"/>
                  <a:t>n</a:t>
                </a:r>
                <a:r>
                  <a:rPr lang="ko-KR" altLang="en-US" sz="1600" spc="-50" dirty="0"/>
                  <a:t>년 간의 변화를 연평균 증가율 </a:t>
                </a:r>
                <a:r>
                  <a:rPr lang="en-US" altLang="ko-KR" sz="1600" spc="-50" dirty="0"/>
                  <a:t>(CAGR, Compound Annual Growth Rate)</a:t>
                </a:r>
                <a:r>
                  <a:rPr lang="ko-KR" altLang="en-US" sz="1600" spc="-50" dirty="0"/>
                  <a:t>로 나타내려면 아래와 같이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blipFill>
                <a:blip r:embed="rId2"/>
                <a:stretch>
                  <a:fillRect l="-3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C49C803-31DE-141F-83F5-F1684A5F2408}"/>
              </a:ext>
            </a:extLst>
          </p:cNvPr>
          <p:cNvSpPr txBox="1"/>
          <p:nvPr/>
        </p:nvSpPr>
        <p:spPr>
          <a:xfrm>
            <a:off x="8642754" y="862600"/>
            <a:ext cx="33396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지역별 석유 생산량</a:t>
            </a:r>
            <a:r>
              <a:rPr lang="en-US" altLang="ko-KR" sz="1050" spc="-50" dirty="0"/>
              <a:t>, </a:t>
            </a:r>
            <a:r>
              <a:rPr lang="ko-KR" altLang="en-US" sz="1050" spc="-50" dirty="0"/>
              <a:t>증가율</a:t>
            </a:r>
            <a:r>
              <a:rPr lang="en-US" altLang="ko-KR" sz="1050" spc="-50" dirty="0"/>
              <a:t>, </a:t>
            </a:r>
            <a:r>
              <a:rPr lang="ko-KR" altLang="en-US" sz="1050" spc="-50" dirty="0"/>
              <a:t>차지하는 비중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AC58B6-043F-86DB-083F-A5C6BBA7D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80" y="1107038"/>
            <a:ext cx="3354360" cy="2706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/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𝐶𝐴𝐺𝑅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%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=[(</m:t>
                      </m:r>
                      <m:sSup>
                        <m:sSup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−1]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/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2013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(1+0.063)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blipFill>
                <a:blip r:embed="rId5"/>
                <a:stretch>
                  <a:fillRect l="-1027"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2699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41766-606A-E750-93DB-673FEE11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4FA3D-D9E0-EC57-7BF9-1B685E2A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로그를 활용한 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2571-2B5D-9F8C-60C9-424BE453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C904E-58CC-AB2B-8920-0B2924C2E7B0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연평균 증가율은 아래와 같이 로그함수를 활용하면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간단하게 근사치를 계산할 수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/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2023−2013</m:t>
                          </m:r>
                        </m:sup>
                      </m:sSup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+10</m:t>
                      </m:r>
                      <m:func>
                        <m:funcPr>
                          <m:ctrl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2013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:r>
                  <a:rPr lang="ko-KR" altLang="en-US" sz="1600" spc="-50" dirty="0"/>
                  <a:t>변화가 아주 작을 때는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가 성립하므로</a:t>
                </a:r>
                <a:r>
                  <a:rPr lang="en-US" altLang="ko-KR" sz="1600" spc="-50" dirty="0"/>
                  <a:t>, (</a:t>
                </a:r>
                <a:r>
                  <a:rPr lang="ko-KR" altLang="en-US" sz="1600" spc="-50" dirty="0"/>
                  <a:t>변화가 크다면 오차가 커짐에 주의해야 한다</a:t>
                </a:r>
                <a:r>
                  <a:rPr lang="en-US" altLang="ko-KR" sz="1600" spc="-50" dirty="0"/>
                  <a:t>.)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년간 연평균 성장률을 아래와 같이 간단하게 계산 해볼 수 있다</a:t>
                </a:r>
                <a:r>
                  <a:rPr lang="en-US" altLang="ko-KR" sz="1600" spc="-50" dirty="0"/>
                  <a:t>.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39662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56449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55,489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흐름 뿐만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미국은 수입도 많고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 또한 많은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정유설비와 관련이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05E2D-C776-0E5E-5822-660189603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389A-FC6A-22B2-24CC-049C0F23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석유시장의 행태분석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97876-D9E9-7E09-F2E6-54F6DEF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38180-A744-010C-4371-2334970F2F79}"/>
              </a:ext>
            </a:extLst>
          </p:cNvPr>
          <p:cNvSpPr txBox="1"/>
          <p:nvPr/>
        </p:nvSpPr>
        <p:spPr>
          <a:xfrm>
            <a:off x="288790" y="78712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본 바와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상당한 변동성을 가지고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석유의 수요곡선과 공급곡선은 모두 </a:t>
            </a:r>
            <a:r>
              <a:rPr lang="ko-KR" altLang="en-US" sz="1600" spc="-50" dirty="0" err="1"/>
              <a:t>비탄력적인</a:t>
            </a:r>
            <a:r>
              <a:rPr lang="ko-KR" altLang="en-US" sz="1600" spc="-50" dirty="0"/>
              <a:t> 형태를 띠고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수요곡선의 경우 아주 높은 가격과 낮은 가격에 대응하는 수요를 제외한 구간에서는 수요가 매우 비탄력적이다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수요는 자본 집약적인 산업에서 파생되기 때문에 가격변동에 대응하여 단기적으로 조정이 신축적으로 일어나지 못하기 때문이다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가격이 매우 높은 구간에서는 석유를 대체하기 위한 다른 에너지원으로의 수요 변동이 일어난다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가격이 매우 낮은 구간에서는 다른 에너지원으로부터 석유로의 대체 수요가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탄력적인 수요가 발생한다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공급곡선의 경우 생산제약이 없는 구간에서는 생산비용을 반영하여 평평한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완만한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공급 형태를 보이다가 생산제약을 받게 되면 한계비용이 상승함에 따라 수직 형태의 공급 형태를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산유국이 현재 가동 가능한 생산설비를 최대한 가동하고 있는 상황에서는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유가가 상승하더라도 단기간에 생산량을 더 늘리기가 어렵다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2563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BB56-7FD5-06BB-8F6C-2650C8769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CCCFD7-D6F2-1CA9-06F8-E496C183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E229CE-8099-9D47-63B1-BEDE8152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31BEDF-17EC-0E4A-E69A-CA85AF3027A3}"/>
              </a:ext>
            </a:extLst>
          </p:cNvPr>
          <p:cNvSpPr txBox="1"/>
          <p:nvPr/>
        </p:nvSpPr>
        <p:spPr>
          <a:xfrm>
            <a:off x="288790" y="78712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카르텔 모형은 여러 기업이 서로 경쟁하지 않고 생산량이나 가격을 공동으로 결정하여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전체적으로 하나의 독점기업처럼 행동하는 모형이다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카르텔의 목표는 집단으로 행동하여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 이윤을 극대화하는 것이다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시장에서 경쟁을 제한하고 가격을 인위적으로 높게 유지하려는 기업들의 행위를 분석하는데 사용한다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회원국들의 행태에 관한 연구가 진행되었다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입장에서 유리한 점은 개별 국가 내에서 기업들의 가격이나 생산량에 대한 </a:t>
            </a:r>
            <a:r>
              <a:rPr lang="ko-KR" altLang="en-US" sz="1600" spc="-50" dirty="0" err="1"/>
              <a:t>담합적</a:t>
            </a:r>
            <a:r>
              <a:rPr lang="ko-KR" altLang="en-US" sz="1600" spc="-50" dirty="0"/>
              <a:t> 행동은 처벌을 받게 되어 있으나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과 같은 조직은 국가 간의 조직이어서 이러한 적용을 받지 않는다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실제로 </a:t>
            </a:r>
            <a:r>
              <a:rPr lang="ko-KR" altLang="en-US" sz="1600" spc="-50" dirty="0" err="1"/>
              <a:t>카르텔로서의</a:t>
            </a:r>
            <a:r>
              <a:rPr lang="ko-KR" altLang="en-US" sz="1600" spc="-50" dirty="0"/>
              <a:t> 역할을 하였는지도 논쟁의 여지는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289780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F263D-A861-F8C4-53EE-DB9E6F83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36E3ED-69B8-517D-11A7-F8A1B09D1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F71B1F-034C-0F55-B700-91E0EDD2C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EB2D46-0173-7057-06BB-BAF7618AA64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</a:t>
                </a:r>
                <a:r>
                  <a:rPr lang="en-US" altLang="ko-KR" sz="1600" spc="-50" dirty="0"/>
                  <a:t>D</a:t>
                </a:r>
                <a:r>
                  <a:rPr lang="ko-KR" altLang="en-US" sz="1600" spc="-50" dirty="0"/>
                  <a:t>는 석유시장에서의 수요곡선</a:t>
                </a:r>
                <a:r>
                  <a:rPr lang="en-US" altLang="ko-KR" sz="1600" spc="-50" dirty="0"/>
                  <a:t>, S</a:t>
                </a:r>
                <a:r>
                  <a:rPr lang="ko-KR" altLang="en-US" sz="1600" spc="-50" dirty="0"/>
                  <a:t>는 개별 기업의 공급곡선인 한계비용 곡선</a:t>
                </a:r>
                <a:r>
                  <a:rPr lang="en-US" altLang="ko-KR" sz="1600" spc="-50" dirty="0"/>
                  <a:t>(MC)</a:t>
                </a:r>
                <a:r>
                  <a:rPr lang="ko-KR" altLang="en-US" sz="1600" spc="-50" dirty="0"/>
                  <a:t>의 수평 합으로 시장공급곡선을 나타낸다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카르텔 구성원 간의 합의가 없는 경우 시장수요와 공급곡선이 일치하는 점에서 균형이 이루어지고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생산량은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에서 유지될 것이다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 개별 기업은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공급하게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가격이 평균비용</a:t>
                </a:r>
                <a:r>
                  <a:rPr lang="en-US" altLang="ko-KR" sz="1600" spc="-50" dirty="0"/>
                  <a:t>(AC)</a:t>
                </a:r>
                <a:r>
                  <a:rPr lang="ko-KR" altLang="en-US" sz="1600" spc="-50" dirty="0"/>
                  <a:t>의 저점에서 형성됨에 따라 정상이윤만 획득한다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EB2D46-0173-7057-06BB-BAF7618AA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1891352"/>
              </a:xfrm>
              <a:prstGeom prst="rect">
                <a:avLst/>
              </a:prstGeom>
              <a:blipFill>
                <a:blip r:embed="rId2"/>
                <a:stretch>
                  <a:fillRect l="-219" r="-219"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E7C38446-D405-0E86-44F4-6F3450FD46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1347644" y="3521675"/>
            <a:ext cx="9000743" cy="306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2150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6D561-3E61-D517-C8D5-8FC267347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EF21F-5755-B658-FA70-B069D7D2D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161D6-6739-F94E-FACF-632C899B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E9731AC-C3F4-F797-A357-B80F5C491D5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카르텔 회원들은 독점기업과 같이 행동하면 이윤을 확대할 수 있다는 것을 알고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생산량 결정은 한계수입</a:t>
                </a:r>
                <a:r>
                  <a:rPr lang="en-US" altLang="ko-KR" sz="1600" spc="-50" dirty="0"/>
                  <a:t>(MR)</a:t>
                </a:r>
                <a:r>
                  <a:rPr lang="ko-KR" altLang="en-US" sz="1600" spc="-50" dirty="0"/>
                  <a:t>과 한계비용</a:t>
                </a:r>
                <a:r>
                  <a:rPr lang="en-US" altLang="ko-KR" sz="1600" spc="-50" dirty="0"/>
                  <a:t>(MC or S)</a:t>
                </a:r>
                <a:r>
                  <a:rPr lang="ko-KR" altLang="en-US" sz="1600" spc="-50" dirty="0"/>
                  <a:t>가 일치하도록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생산량이 결정이 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독점가격이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카르텔 균형에서 카르텔은 생산량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개별기업에게 할당한다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n</a:t>
                </a:r>
                <a:r>
                  <a:rPr lang="ko-KR" altLang="en-US" sz="1600" spc="-50" dirty="0"/>
                  <a:t>개의 기업들에게 동일하게 할당한다면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개별 기업의 생산량은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기업은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판매함으로써 독점이윤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얻게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독점이윤이 경쟁균형의 이윤 보다 크다면 카르텔이 유지될 수 있을 것이다</a:t>
                </a:r>
                <a:r>
                  <a:rPr lang="en-US" altLang="ko-KR" sz="1600" spc="-50" dirty="0"/>
                  <a:t>. 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E9731AC-C3F4-F797-A357-B80F5C491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30015"/>
              </a:xfrm>
              <a:prstGeom prst="rect">
                <a:avLst/>
              </a:prstGeom>
              <a:blipFill>
                <a:blip r:embed="rId2"/>
                <a:stretch>
                  <a:fillRect l="-219"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E0C9601-61E8-2832-1670-A9F87868CE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2902467" y="3471396"/>
            <a:ext cx="9000743" cy="306551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E31E737-A420-C914-FF80-E59EB58710E8}"/>
              </a:ext>
            </a:extLst>
          </p:cNvPr>
          <p:cNvCxnSpPr>
            <a:cxnSpLocks/>
          </p:cNvCxnSpPr>
          <p:nvPr/>
        </p:nvCxnSpPr>
        <p:spPr>
          <a:xfrm>
            <a:off x="8344243" y="3988321"/>
            <a:ext cx="1280160" cy="1860556"/>
          </a:xfrm>
          <a:prstGeom prst="line">
            <a:avLst/>
          </a:prstGeom>
          <a:ln w="21590">
            <a:solidFill>
              <a:srgbClr val="0001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64DDA2C-1AA1-318B-A460-1C0E200F3759}"/>
              </a:ext>
            </a:extLst>
          </p:cNvPr>
          <p:cNvSpPr txBox="1"/>
          <p:nvPr/>
        </p:nvSpPr>
        <p:spPr>
          <a:xfrm>
            <a:off x="7941945" y="5537742"/>
            <a:ext cx="5543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spc="-50" dirty="0"/>
              <a:t>MR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07487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87BF-34D9-DC4C-4175-A82CEB25B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7554AA-835A-D721-FE7D-105C5FA02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A93A7-DFA0-9B1F-E5FA-B23B94B1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5963A0-7B5A-AA21-5EBE-66F1BAF9C95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카르텔의 문제점은 배반의 유혹이 크기 때문에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안정적으로 유지되기가 어렵다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카르텔 균형상태에서는 가격이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고정이므로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개별 기업의 입장에서는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생산량 변동에 따른 한계수입이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독점가격과 개별 기업의 한계비용이 일치하도록 생산량을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까지 증가시키면 개별 기업의 이윤을 극대화할 수 있다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한 기업이 생산량을 증가시키면 연쇄적으로 다른 기업들도 보복하기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경쟁적 균형으로 가게 된다</a:t>
                </a:r>
                <a:r>
                  <a:rPr lang="en-US" altLang="ko-KR" sz="1600" spc="-50" dirty="0"/>
                  <a:t>.</a:t>
                </a:r>
              </a:p>
              <a:p>
                <a:pPr marL="270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위의 내용이 </a:t>
                </a:r>
                <a:r>
                  <a:rPr lang="ko-KR" altLang="en-US" sz="1600" spc="-50" dirty="0" err="1"/>
                  <a:t>카르텔을</a:t>
                </a:r>
                <a:r>
                  <a:rPr lang="ko-KR" altLang="en-US" sz="1600" spc="-50" dirty="0"/>
                  <a:t> 유지하기 힘든 구조적 요인이다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5963A0-7B5A-AA21-5EBE-66F1BAF9C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260683"/>
              </a:xfrm>
              <a:prstGeom prst="rect">
                <a:avLst/>
              </a:prstGeom>
              <a:blipFill>
                <a:blip r:embed="rId2"/>
                <a:stretch>
                  <a:fillRect l="-219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318DB010-1504-877B-4C6A-6AB8563080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1347644" y="3521675"/>
            <a:ext cx="9000743" cy="306551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530ED89-2666-ED73-B5B0-63ABD2C2729F}"/>
              </a:ext>
            </a:extLst>
          </p:cNvPr>
          <p:cNvCxnSpPr>
            <a:cxnSpLocks/>
          </p:cNvCxnSpPr>
          <p:nvPr/>
        </p:nvCxnSpPr>
        <p:spPr>
          <a:xfrm>
            <a:off x="6789420" y="4038600"/>
            <a:ext cx="1280160" cy="1860556"/>
          </a:xfrm>
          <a:prstGeom prst="line">
            <a:avLst/>
          </a:prstGeom>
          <a:ln w="21590">
            <a:solidFill>
              <a:srgbClr val="0001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BD4A5C5-1F69-446E-5CFF-5DFE7AB04B2E}"/>
              </a:ext>
            </a:extLst>
          </p:cNvPr>
          <p:cNvSpPr txBox="1"/>
          <p:nvPr/>
        </p:nvSpPr>
        <p:spPr>
          <a:xfrm>
            <a:off x="7941945" y="5537742"/>
            <a:ext cx="5543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spc="-50" dirty="0"/>
              <a:t>MR</a:t>
            </a:r>
            <a:endParaRPr lang="ko-KR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C192AE-0716-BA96-EB33-0B67F6F3EB66}"/>
              </a:ext>
            </a:extLst>
          </p:cNvPr>
          <p:cNvSpPr txBox="1"/>
          <p:nvPr/>
        </p:nvSpPr>
        <p:spPr>
          <a:xfrm>
            <a:off x="4542615" y="3255764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카르텔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130384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00190-8F3D-8FDB-8A8D-E2494AC51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B9250-6F9A-2EF3-4EBC-F7CFDAA43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2AA73-CC0D-4296-59B1-9325BD979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72587-4B4A-75D7-342B-A0B17626BF47}"/>
              </a:ext>
            </a:extLst>
          </p:cNvPr>
          <p:cNvSpPr txBox="1"/>
          <p:nvPr/>
        </p:nvSpPr>
        <p:spPr>
          <a:xfrm>
            <a:off x="288790" y="947763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카르텔의 취약한 문제점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에도 불구하고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선도기업모형은 카르텔 내 선도기업의 역할을 통해서 시장지배력을 유지할 수 있음을 보여준다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선도기업 모형은 한 기업이 시장에서 상당한 시장 점유율을 가지고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 설정에 있어 결정적인 영향을 미칠 수 있는 상황을 다룬다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선도기업은 시장에서 가격을 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 기업들은 이 가격을 수용하고 자신들의 수량을 조정하는 가격 수용자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선도기업은 시장의 잔여 수요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시장 수요에서 경쟁 기업들의 공급을 뺀 수요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대해 최적의 생산 수량을 결정하게 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선도 기업은 시장점유율이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생산설비를 유연하게 조정할 수 있는 능력이 있어야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83676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317E0-73CD-81CB-2540-DA7C6ACC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4DB637-4971-92A7-04E2-DE4E152C7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59ABF2-8EE6-41AC-B6E9-265F7AAA8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D2F246-FAF2-1F07-832B-C55C17177DB3}"/>
                  </a:ext>
                </a:extLst>
              </p:cNvPr>
              <p:cNvSpPr txBox="1"/>
              <p:nvPr/>
            </p:nvSpPr>
            <p:spPr>
              <a:xfrm>
                <a:off x="288791" y="958844"/>
                <a:ext cx="6609934" cy="55917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선도기업은 시장수요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대한 정보를 알고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자신을 제외한 다른 카르텔 구성원들의 공급곡선이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주어진 것을 알고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개별기업의 한계비용을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선도기업의 한계비용을 나타낸다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선도 기업 자신의 잔여 수요곡선은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시장가격이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높으면 시장수요는 </a:t>
                </a:r>
                <a:r>
                  <a:rPr lang="en-US" altLang="ko-KR" sz="1600" spc="-50" dirty="0"/>
                  <a:t>0 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낮으면 선도기업이 시장수요를 전부 차지할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이윤 극대화를 위한 선도기업의 전략은 한계수입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𝑀𝑅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이 일치하도록 생산량과 가격을 결정하는 것이다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선도기업은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 생산하고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설정할 것이다</a:t>
                </a:r>
                <a:r>
                  <a:rPr lang="en-US" altLang="ko-KR" sz="1600" spc="-50" dirty="0"/>
                  <a:t>.</a:t>
                </a:r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다른 카르텔 회원들은 선도기업이 정한 가격을 주어진 것으로 받아들여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시장수요인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공급할 것이다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선도기업의 잔여 수요곡선의 탄력성이 시장가격 결정에 절대적인 영향을 미친다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D2F246-FAF2-1F07-832B-C55C17177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1" y="958844"/>
                <a:ext cx="6609934" cy="5591724"/>
              </a:xfrm>
              <a:prstGeom prst="rect">
                <a:avLst/>
              </a:prstGeom>
              <a:blipFill>
                <a:blip r:embed="rId2"/>
                <a:stretch>
                  <a:fillRect l="-369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F7AC58CB-82D0-BD52-87BB-E53C94D4A8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856" r="12104"/>
          <a:stretch>
            <a:fillRect/>
          </a:stretch>
        </p:blipFill>
        <p:spPr>
          <a:xfrm>
            <a:off x="6898725" y="2273851"/>
            <a:ext cx="5004486" cy="39382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EB3D5F-02C4-3FCE-8F18-9743D697B7AE}"/>
              </a:ext>
            </a:extLst>
          </p:cNvPr>
          <p:cNvSpPr txBox="1"/>
          <p:nvPr/>
        </p:nvSpPr>
        <p:spPr>
          <a:xfrm>
            <a:off x="8095568" y="1650664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선도기업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496036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F49EC-CEDF-BBEB-F986-822350599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C7AB8-6E18-7B63-AEE8-B09D6E6CF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855DD8-A169-ECE0-133F-D60589D9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D21667-622C-3378-1E35-FA8F865F9F23}"/>
              </a:ext>
            </a:extLst>
          </p:cNvPr>
          <p:cNvSpPr txBox="1"/>
          <p:nvPr/>
        </p:nvSpPr>
        <p:spPr>
          <a:xfrm>
            <a:off x="288790" y="947763"/>
            <a:ext cx="11118453" cy="45997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선도기업 모형에서 선도기업의 역할과 가장 유사한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사우디아라비아 라고 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사우디아라비아도 조정생산자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선도기업과는 다소 차이가 있음을 인식할 필요가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조정생산자는 생산량 조절을 통해 국제 석유시장 수급 균형과 가격에 영향력을 행사할 수 있는 국가</a:t>
            </a:r>
            <a:r>
              <a:rPr lang="en-US" altLang="ko-KR" sz="1600" spc="-50" dirty="0"/>
              <a:t>(or 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여유 생산능력을 바탕으로 생산량을 조절함으로써 국제 석유시장의 수급과 가격 안정에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 선도기업은 특정 산업 내에서 시장 점유율이 높고 시장에 큰 영향력을 미치는 기업을 말한다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가격 설정에 있어 결정적인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경쟁 기업들은 선도기업이 결정한 가격을 따라야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자신의 가격 결정을 통해 시장 내 경쟁 기업들의 행동과 시장 진입 여부에 영향을 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요컨대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조정생산자는 생산량을 탄력적으로 조절하여 시장의 수급 균형과 가격 안정에 기여하는 역할에 초점을 두는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선도기업은 높은 시장점유율과 시장지배력을 바탕으로 가격 결정에 주도적인 영향을 미치는 기업을 의미한다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05697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4C0FF-0561-64F2-40DC-C881DE1A9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99933-C653-C913-3869-6DF54C92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진입저지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40A980-3EFD-E491-2608-1BAD7CC8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6C96B3-91F9-6C8E-A291-AAE8F24D8ACA}"/>
              </a:ext>
            </a:extLst>
          </p:cNvPr>
          <p:cNvSpPr txBox="1"/>
          <p:nvPr/>
        </p:nvSpPr>
        <p:spPr>
          <a:xfrm>
            <a:off x="288790" y="947763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진입저지 모형은 시장에서 지배적인 기업이 잠재적인 경쟁자의 시장 진입을 저자하기 위해 가격을 인위적으로 낮게 설정하는 전략을 설명한다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경쟁을 제한하고 시장 지배력을 유지하기 위한 전략으로서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진입 장벽을 형성하는 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카르텔 회원이 아닌 생산자의 경쟁으로부터 카르텔이 어떻게 전략적으로 반응하는지를 잘 나타낸다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등 비전통적 석유 생산의 증대 효과를 잘 분석할 수 있는 모형이라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06156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CB0C2-94B5-CEA0-230D-21D80EC65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EF95A-9DF4-0AE8-A05A-71E92B70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진입저지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62163-07D7-C654-C00B-D631A6DAC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245715-5D34-BCC6-0179-C69AB4AD19EC}"/>
              </a:ext>
            </a:extLst>
          </p:cNvPr>
          <p:cNvSpPr txBox="1"/>
          <p:nvPr/>
        </p:nvSpPr>
        <p:spPr>
          <a:xfrm>
            <a:off x="288791" y="958844"/>
            <a:ext cx="6609934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석유시장에서　</a:t>
            </a:r>
            <a:r>
              <a:rPr lang="ko-KR" altLang="en-US" sz="1600" spc="-50" dirty="0" err="1"/>
              <a:t>ｄｆｓｄｆｓｄｆｓｄｆ</a:t>
            </a:r>
            <a:endParaRPr lang="en-US" altLang="ko-KR" sz="1600" spc="-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9C7B63-3A15-7968-0561-F270C5D50D9C}"/>
              </a:ext>
            </a:extLst>
          </p:cNvPr>
          <p:cNvSpPr txBox="1"/>
          <p:nvPr/>
        </p:nvSpPr>
        <p:spPr>
          <a:xfrm>
            <a:off x="8268563" y="1914396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진입저지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E3C29-88EF-157A-D1AF-196E8248D9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55" r="11893"/>
          <a:stretch>
            <a:fillRect/>
          </a:stretch>
        </p:blipFill>
        <p:spPr>
          <a:xfrm>
            <a:off x="6898725" y="2362660"/>
            <a:ext cx="5083725" cy="37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556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10734</TotalTime>
  <Words>6673</Words>
  <Application>Microsoft Office PowerPoint</Application>
  <PresentationFormat>와이드스크린</PresentationFormat>
  <Paragraphs>800</Paragraphs>
  <Slides>57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석유와 천연가스 매장량</vt:lpstr>
      <vt:lpstr>석유생산</vt:lpstr>
      <vt:lpstr>석유생산</vt:lpstr>
      <vt:lpstr>석유생산</vt:lpstr>
      <vt:lpstr>석유 생산</vt:lpstr>
      <vt:lpstr>연평균 증가율 계산</vt:lpstr>
      <vt:lpstr>로그를 활용한 연평균 증가율 계산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석유시장의 행태분석</vt:lpstr>
      <vt:lpstr>카르텔 모형</vt:lpstr>
      <vt:lpstr>카르텔 모형</vt:lpstr>
      <vt:lpstr>카르텔 모형</vt:lpstr>
      <vt:lpstr>카르텔 모형</vt:lpstr>
      <vt:lpstr>선도기업 모형</vt:lpstr>
      <vt:lpstr>선도기업 모형</vt:lpstr>
      <vt:lpstr>선도기업 모형</vt:lpstr>
      <vt:lpstr>진입저지 모형</vt:lpstr>
      <vt:lpstr>진입저지 모형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340</cp:revision>
  <dcterms:created xsi:type="dcterms:W3CDTF">2025-07-05T05:15:23Z</dcterms:created>
  <dcterms:modified xsi:type="dcterms:W3CDTF">2026-09-28T12:32:46Z</dcterms:modified>
</cp:coreProperties>
</file>