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0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41" r:id="rId31"/>
    <p:sldId id="621" r:id="rId32"/>
    <p:sldId id="622" r:id="rId33"/>
    <p:sldId id="623" r:id="rId34"/>
    <p:sldId id="624" r:id="rId35"/>
    <p:sldId id="643" r:id="rId36"/>
    <p:sldId id="644" r:id="rId37"/>
    <p:sldId id="625" r:id="rId38"/>
    <p:sldId id="626" r:id="rId39"/>
    <p:sldId id="628" r:id="rId40"/>
    <p:sldId id="629" r:id="rId41"/>
    <p:sldId id="630" r:id="rId42"/>
    <p:sldId id="631" r:id="rId43"/>
    <p:sldId id="632" r:id="rId44"/>
    <p:sldId id="633" r:id="rId45"/>
    <p:sldId id="634" r:id="rId46"/>
    <p:sldId id="636" r:id="rId47"/>
    <p:sldId id="642" r:id="rId48"/>
    <p:sldId id="598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C94C1-582E-A49E-D536-6EB1E67CD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석유와 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9A6B-DC57-8F17-0592-505DB0DD8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BF915E4-E029-60D4-B945-56BC4CE8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130" y="922759"/>
            <a:ext cx="3742765" cy="561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50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AA1AB-6F3C-604F-F6E7-F525B84BB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86E1-1F64-24F7-D254-99E0FB663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00B9C-C415-1AF6-9E6D-610DC1B6B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표에서 미국의 </a:t>
                </a:r>
                <a:r>
                  <a:rPr lang="en-US" altLang="ko-KR" sz="1600" spc="-50" dirty="0"/>
                  <a:t>2013~2023</a:t>
                </a:r>
                <a:r>
                  <a:rPr lang="ko-KR" altLang="en-US" sz="1600" spc="-50" dirty="0"/>
                  <a:t>년 평균 증가율이 </a:t>
                </a:r>
                <a:r>
                  <a:rPr lang="en-US" altLang="ko-KR" sz="1600" spc="-50" dirty="0"/>
                  <a:t>6.3% </a:t>
                </a:r>
                <a:r>
                  <a:rPr lang="ko-KR" altLang="en-US" sz="1600" spc="-50" dirty="0"/>
                  <a:t>이다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 동안 매년 </a:t>
                </a:r>
                <a:r>
                  <a:rPr lang="en-US" altLang="ko-KR" sz="1600" spc="-50" dirty="0"/>
                  <a:t>6.3%</a:t>
                </a:r>
                <a:r>
                  <a:rPr lang="ko-KR" altLang="en-US" sz="1600" spc="-50" dirty="0"/>
                  <a:t>씩 증가했으므로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아래의 수식이 성립한다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i="1" dirty="0">
                  <a:latin typeface="Cambria Math" panose="02040503050406030204" pitchFamily="18" charset="0"/>
                </a:endParaRP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석</m:t>
                        </m:r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유</m:t>
                        </m:r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생</m:t>
                        </m:r>
                        <m:r>
                          <a:rPr lang="ko-KR" altLang="en-US" sz="1600" i="1">
                            <a:latin typeface="Cambria Math" panose="02040503050406030204" pitchFamily="18" charset="0"/>
                          </a:rPr>
                          <m:t>산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2023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</a:t>
                </a:r>
                <a:r>
                  <a:rPr lang="en-US" altLang="ko-KR" sz="1600" spc="-50" dirty="0"/>
                  <a:t>827.1 </a:t>
                </a:r>
                <a:r>
                  <a:rPr lang="ko-KR" altLang="en-US" sz="1600" spc="-50" dirty="0"/>
                  <a:t>이라 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역산을 해보면 </a:t>
                </a:r>
                <a:r>
                  <a:rPr lang="en-US" altLang="ko-KR" sz="1600" spc="-50" dirty="0"/>
                  <a:t>449.0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213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일반화 해보면</a:t>
                </a:r>
                <a:r>
                  <a:rPr lang="en-US" altLang="ko-KR" sz="1600" spc="-50" dirty="0"/>
                  <a:t>, t</a:t>
                </a:r>
                <a:r>
                  <a:rPr lang="ko-KR" altLang="en-US" sz="1600" spc="-50" dirty="0"/>
                  <a:t>년부터 </a:t>
                </a:r>
                <a:r>
                  <a:rPr lang="en-US" altLang="ko-KR" sz="1600" spc="-50" dirty="0" err="1"/>
                  <a:t>t+n</a:t>
                </a:r>
                <a:r>
                  <a:rPr lang="ko-KR" altLang="en-US" sz="1600" spc="-50" dirty="0"/>
                  <a:t>년까지 </a:t>
                </a:r>
                <a:r>
                  <a:rPr lang="en-US" altLang="ko-KR" sz="1600" spc="-50" dirty="0"/>
                  <a:t>n</a:t>
                </a:r>
                <a:r>
                  <a:rPr lang="ko-KR" altLang="en-US" sz="1600" spc="-50" dirty="0"/>
                  <a:t>년 간의 변화를 연평균 증가율 </a:t>
                </a:r>
                <a:r>
                  <a:rPr lang="en-US" altLang="ko-KR" sz="1600" spc="-50" dirty="0"/>
                  <a:t>(CAGR, Compound Annual Growth Rate)</a:t>
                </a:r>
                <a:r>
                  <a:rPr lang="ko-KR" altLang="en-US" sz="1600" spc="-50" dirty="0"/>
                  <a:t>로 나타내려면 아래와 같이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670950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424FC7-25B7-F39E-A2C0-E1FAE435A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8138286" cy="3745064"/>
              </a:xfrm>
              <a:prstGeom prst="rect">
                <a:avLst/>
              </a:prstGeom>
              <a:blipFill>
                <a:blip r:embed="rId2"/>
                <a:stretch>
                  <a:fillRect l="-3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C49C803-31DE-141F-83F5-F1684A5F2408}"/>
              </a:ext>
            </a:extLst>
          </p:cNvPr>
          <p:cNvSpPr txBox="1"/>
          <p:nvPr/>
        </p:nvSpPr>
        <p:spPr>
          <a:xfrm>
            <a:off x="8642754" y="862600"/>
            <a:ext cx="33396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지역별 석유 생산량</a:t>
            </a:r>
            <a:r>
              <a:rPr lang="en-US" altLang="ko-KR" sz="1050" spc="-50" dirty="0"/>
              <a:t>, </a:t>
            </a:r>
            <a:r>
              <a:rPr lang="ko-KR" altLang="en-US" sz="1050" spc="-50" dirty="0"/>
              <a:t>증가율</a:t>
            </a:r>
            <a:r>
              <a:rPr lang="en-US" altLang="ko-KR" sz="1050" spc="-50" dirty="0"/>
              <a:t>, </a:t>
            </a:r>
            <a:r>
              <a:rPr lang="ko-KR" altLang="en-US" sz="1050" spc="-50" dirty="0"/>
              <a:t>차지하는 비중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AC58B6-043F-86DB-083F-A5C6BBA7D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80" y="1107038"/>
            <a:ext cx="3354360" cy="2706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/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𝐶𝐴𝐺𝑅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%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=[(</m:t>
                      </m:r>
                      <m:sSup>
                        <m:sSup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ko-KR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−1]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×100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8A135-8A87-09A6-B51C-F365CC17A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823" y="4703908"/>
                <a:ext cx="3490764" cy="5541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/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2013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(1+0.063)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생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산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451320-F9A3-F004-2CAE-383FE0ADE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1722" y="1952265"/>
                <a:ext cx="4746171" cy="282193"/>
              </a:xfrm>
              <a:prstGeom prst="rect">
                <a:avLst/>
              </a:prstGeom>
              <a:blipFill>
                <a:blip r:embed="rId5"/>
                <a:stretch>
                  <a:fillRect l="-1027"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2699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41766-606A-E750-93DB-673FEE11B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4FA3D-D9E0-EC57-7BF9-1B685E2A2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로그를 활용한 연평균 증가율 계산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2571-2B5D-9F8C-60C9-424BE453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4C904E-58CC-AB2B-8920-0B2924C2E7B0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연평균 증가율은 아래와 같이 로그함수를 활용하면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간단하게 근사치를 계산할 수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/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2023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 </m:t>
                      </m:r>
                      <m:sSup>
                        <m:sSup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2023−2013</m:t>
                          </m:r>
                        </m:sup>
                      </m:sSup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ko-KR" sz="1600" b="0" i="1" spc="-5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+10</m:t>
                      </m:r>
                      <m:func>
                        <m:funcPr>
                          <m:ctrl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b="0" i="0" spc="-5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2023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10</m:t>
                      </m:r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altLang="ko-KR" sz="1600" spc="-5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1600" spc="-5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b="0" i="1" spc="-5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  <a:p>
                <a:pPr algn="ctr">
                  <a:lnSpc>
                    <a:spcPct val="150000"/>
                  </a:lnSpc>
                </a:pPr>
                <a:r>
                  <a:rPr lang="ko-KR" altLang="en-US" sz="1600" spc="-50" dirty="0"/>
                  <a:t>변화가 아주 작을 때는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600" b="0" i="0" spc="-5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가 성립하므로</a:t>
                </a:r>
                <a:r>
                  <a:rPr lang="en-US" altLang="ko-KR" sz="1600" spc="-50" dirty="0"/>
                  <a:t>, (</a:t>
                </a:r>
                <a:r>
                  <a:rPr lang="ko-KR" altLang="en-US" sz="1600" spc="-50" dirty="0"/>
                  <a:t>변화가 크다면 오차가 커짐에 주의해야 한다</a:t>
                </a:r>
                <a:r>
                  <a:rPr lang="en-US" altLang="ko-KR" sz="1600" spc="-50" dirty="0"/>
                  <a:t>.)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년간 연평균 성장률을 아래와 같이 간단하게 계산 해볼 수 있다</a:t>
                </a:r>
                <a:r>
                  <a:rPr lang="en-US" altLang="ko-KR" sz="1600" spc="-50" dirty="0"/>
                  <a:t>.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altLang="ko-KR" sz="1600" b="0" i="1" spc="-50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altLang="ko-KR" sz="1600" i="1" spc="-5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2023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 spc="-5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600" i="1" spc="-50">
                                      <a:latin typeface="Cambria Math" panose="02040503050406030204" pitchFamily="18" charset="0"/>
                                    </a:rPr>
                                    <m:t>2013</m:t>
                                  </m:r>
                                </m:sub>
                              </m:sSub>
                              <m:r>
                                <a:rPr lang="en-US" altLang="ko-KR" sz="1600" i="1" spc="-5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en-US" altLang="ko-KR" sz="1600" i="1" spc="-5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altLang="ko-KR" sz="1600" spc="-5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BEC7BFD-0B3D-80BC-8CBF-45D5F608C2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331" y="1511367"/>
                <a:ext cx="9099999" cy="33461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39662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56449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55,489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흐름 뿐만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미국은 수입도 많고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 또한 많은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정유설비와 관련이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05E2D-C776-0E5E-5822-660189603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B389A-FC6A-22B2-24CC-049C0F232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석유시장의 행태분석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97876-D9E9-7E09-F2E6-54F6DEF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38180-A744-010C-4371-2334970F2F79}"/>
              </a:ext>
            </a:extLst>
          </p:cNvPr>
          <p:cNvSpPr txBox="1"/>
          <p:nvPr/>
        </p:nvSpPr>
        <p:spPr>
          <a:xfrm>
            <a:off x="288790" y="78712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본 바와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상당한 변동성을 가지고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석유의 수요곡선과 공급곡선은 모두 </a:t>
            </a:r>
            <a:r>
              <a:rPr lang="ko-KR" altLang="en-US" sz="1600" spc="-50" dirty="0" err="1"/>
              <a:t>비탄력적인</a:t>
            </a:r>
            <a:r>
              <a:rPr lang="ko-KR" altLang="en-US" sz="1600" spc="-50" dirty="0"/>
              <a:t> 형태를 띠고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수요곡선의 경우 아주 높은 가격과 낮은 가격에 대응하는 수요를 제외한 구간에서는 수요가 매우 비탄력적이다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수요는 자본 집약적인 산업에서 파생되기 때문에 가격변동에 대응하여 단기적으로 조정이 신축적으로 일어나지 못하기 때문이다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가격이 매우 높은 구간에서는 석유를 대체하기 위한 다른 에너지원으로의 수요 변동이 일어난다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가격이 매우 낮은 구간에서는 다른 에너지원으로부터 석유로의 대체 수요가 발생하므로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탄력적인 수요가 발생한다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2563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10466</TotalTime>
  <Words>5831</Words>
  <Application>Microsoft Office PowerPoint</Application>
  <PresentationFormat>와이드스크린</PresentationFormat>
  <Paragraphs>723</Paragraphs>
  <Slides>48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석유와 천연가스 매장량</vt:lpstr>
      <vt:lpstr>석유생산</vt:lpstr>
      <vt:lpstr>석유생산</vt:lpstr>
      <vt:lpstr>석유생산</vt:lpstr>
      <vt:lpstr>석유 생산</vt:lpstr>
      <vt:lpstr>연평균 증가율 계산</vt:lpstr>
      <vt:lpstr>로그를 활용한 연평균 증가율 계산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석유시장의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316</cp:revision>
  <dcterms:created xsi:type="dcterms:W3CDTF">2025-07-05T05:15:23Z</dcterms:created>
  <dcterms:modified xsi:type="dcterms:W3CDTF">2026-09-28T01:52:17Z</dcterms:modified>
</cp:coreProperties>
</file>