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3"/>
  </p:notesMasterIdLst>
  <p:sldIdLst>
    <p:sldId id="375" r:id="rId2"/>
    <p:sldId id="405" r:id="rId3"/>
    <p:sldId id="550" r:id="rId4"/>
    <p:sldId id="376" r:id="rId5"/>
    <p:sldId id="611" r:id="rId6"/>
    <p:sldId id="599" r:id="rId7"/>
    <p:sldId id="600" r:id="rId8"/>
    <p:sldId id="601" r:id="rId9"/>
    <p:sldId id="602" r:id="rId10"/>
    <p:sldId id="603" r:id="rId11"/>
    <p:sldId id="604" r:id="rId12"/>
    <p:sldId id="605" r:id="rId13"/>
    <p:sldId id="606" r:id="rId14"/>
    <p:sldId id="607" r:id="rId15"/>
    <p:sldId id="608" r:id="rId16"/>
    <p:sldId id="609" r:id="rId17"/>
    <p:sldId id="610" r:id="rId18"/>
    <p:sldId id="612" r:id="rId19"/>
    <p:sldId id="613" r:id="rId20"/>
    <p:sldId id="614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364" r:id="rId29"/>
    <p:sldId id="552" r:id="rId30"/>
    <p:sldId id="595" r:id="rId31"/>
    <p:sldId id="570" r:id="rId32"/>
    <p:sldId id="571" r:id="rId33"/>
    <p:sldId id="572" r:id="rId34"/>
    <p:sldId id="573" r:id="rId35"/>
    <p:sldId id="574" r:id="rId36"/>
    <p:sldId id="575" r:id="rId37"/>
    <p:sldId id="576" r:id="rId38"/>
    <p:sldId id="551" r:id="rId39"/>
    <p:sldId id="577" r:id="rId40"/>
    <p:sldId id="578" r:id="rId41"/>
    <p:sldId id="596" r:id="rId42"/>
    <p:sldId id="579" r:id="rId43"/>
    <p:sldId id="557" r:id="rId44"/>
    <p:sldId id="580" r:id="rId45"/>
    <p:sldId id="581" r:id="rId46"/>
    <p:sldId id="597" r:id="rId47"/>
    <p:sldId id="582" r:id="rId48"/>
    <p:sldId id="583" r:id="rId49"/>
    <p:sldId id="584" r:id="rId50"/>
    <p:sldId id="585" r:id="rId51"/>
    <p:sldId id="586" r:id="rId52"/>
    <p:sldId id="562" r:id="rId53"/>
    <p:sldId id="587" r:id="rId54"/>
    <p:sldId id="588" r:id="rId55"/>
    <p:sldId id="589" r:id="rId56"/>
    <p:sldId id="590" r:id="rId57"/>
    <p:sldId id="591" r:id="rId58"/>
    <p:sldId id="592" r:id="rId59"/>
    <p:sldId id="593" r:id="rId60"/>
    <p:sldId id="594" r:id="rId61"/>
    <p:sldId id="598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25" d="100"/>
          <a:sy n="125" d="100"/>
        </p:scale>
        <p:origin x="1620" y="5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live/4NHzaP2ocBQ" TargetMode="External"/><Relationship Id="rId7" Type="http://schemas.openxmlformats.org/officeDocument/2006/relationships/hyperlink" Target="https://finedu.mpb.go.kr/html.do?menu_code=010202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sc.go.kr/no040101?cnId=2983" TargetMode="External"/><Relationship Id="rId5" Type="http://schemas.openxmlformats.org/officeDocument/2006/relationships/hyperlink" Target="https://assembly.go.kr/portal/cnts/cntsCont/dataA.do?menuNo=600234&amp;cntsDivCd=BUDGET" TargetMode="External"/><Relationship Id="rId4" Type="http://schemas.openxmlformats.org/officeDocument/2006/relationships/hyperlink" Target="https://www.youtube.com/watch?v=d7QpBQD5HJ4" TargetMode="Externa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openfiscaldata.go.kr/op/ko/fd/UOPKOFDA03?pageIndex=1&amp;pageSize=7000&amp;totalCnt=0&amp;odtNm=%EA%B2%B0%EC%82%B0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석유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석유는 현대 세계 에너지 시스템의 중추적인 역할을 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산업혁명 이후 기술발전과 더불어 교통</a:t>
            </a:r>
            <a:r>
              <a:rPr lang="en-US" altLang="ko-KR" sz="1600" dirty="0"/>
              <a:t>, </a:t>
            </a:r>
            <a:r>
              <a:rPr lang="ko-KR" altLang="en-US" sz="1600" dirty="0"/>
              <a:t>산업</a:t>
            </a:r>
            <a:r>
              <a:rPr lang="en-US" altLang="ko-KR" sz="1600" dirty="0"/>
              <a:t>, </a:t>
            </a:r>
            <a:r>
              <a:rPr lang="ko-KR" altLang="en-US" sz="1600" dirty="0"/>
              <a:t>난방 등 다양한 부문에서 사용되고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세계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 소비에서 가장 큰 비중을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단순히 연료의 의미 이상으로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국가 간의 외교</a:t>
            </a:r>
            <a:r>
              <a:rPr lang="en-US" altLang="ko-KR" sz="1600" dirty="0"/>
              <a:t>, </a:t>
            </a:r>
            <a:r>
              <a:rPr lang="ko-KR" altLang="en-US" sz="1600" dirty="0"/>
              <a:t>안보 분야에서 핵심 자원으로 기능하고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석유시장은 구조와 작동방식에 있어서 다른 에너지원과 구별되는 특성을 갖는다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석유는 전 지구적으로 매장되어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지역적으로 </a:t>
            </a:r>
            <a:r>
              <a:rPr lang="ko-KR" altLang="en-US" sz="1600" dirty="0" err="1"/>
              <a:t>불균형하게</a:t>
            </a:r>
            <a:r>
              <a:rPr lang="ko-KR" altLang="en-US" sz="1600" dirty="0"/>
              <a:t> 분포되어 있다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이는 자원 보유국과 수입국 간의 상호의존성을 초래한다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석유공급은 </a:t>
            </a:r>
            <a:r>
              <a:rPr lang="en-US" altLang="ko-KR" sz="1600" dirty="0"/>
              <a:t>OPEC</a:t>
            </a:r>
            <a:r>
              <a:rPr lang="ko-KR" altLang="en-US" sz="1600" dirty="0"/>
              <a:t>과 같은 산유국 협의체의 전략적 결정에 크게 좌우 되어</a:t>
            </a:r>
            <a:r>
              <a:rPr lang="en-US" altLang="ko-KR" sz="1600" dirty="0"/>
              <a:t>, </a:t>
            </a:r>
            <a:r>
              <a:rPr lang="ko-KR" altLang="en-US" sz="1600" dirty="0"/>
              <a:t>과점적 구조를 보이기도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석유시장은 공급부문에서의 충격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투기적 자본 등 다양한 변수에 의해 가격 변동성이 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현재 석유산업은 중요한 전환기를 맞고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기술혁신과 새로운 매장량의 발견이 이어지는 한편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대응을 위한 저탄소 에너지로의 전환 요구가 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DA523-A14B-00FD-D1D2-89523BF90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19842E-3A29-FBE9-BD7E-BAA78219711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524D3C-B5AD-ADB0-CBF8-04B0D2F8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76B9EB5-CF30-C2A2-5727-6CBA70F3A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석유산업의 역사 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14525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1F42-0112-42EE-225F-0E6303B2E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705B2-6F95-FCB4-AF94-3F4D7E7E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0EBC54-15FD-BA37-AFDD-1C725673F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289E0-EF7E-BEC3-3A2F-4DB7035E0CF1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[1]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석유의 발견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석유는 고대부터 자연적으로 지표에 흘러나오는 형태로 인간에게 알려져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문화권에서 실용적으로 활용하였다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메소포타미아 지역에서는 아스팔트 형태의 천연 타르를 건축용 방수재로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이집트에서는 미라 제작 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방부 처리용으로 석유 물질을 사용하였다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현대적 의미의 석유산업은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세기 중반에 출현하였다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1859</a:t>
            </a:r>
            <a:r>
              <a:rPr lang="ko-KR" altLang="en-US" sz="1600" spc="-50" dirty="0"/>
              <a:t>년 미국 </a:t>
            </a:r>
            <a:r>
              <a:rPr lang="ko-KR" altLang="en-US" sz="1600" spc="-50" dirty="0" err="1"/>
              <a:t>펜실베니아주에서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에드윈</a:t>
            </a:r>
            <a:r>
              <a:rPr lang="ko-KR" altLang="en-US" sz="1600" spc="-50" dirty="0"/>
              <a:t> 드레이크</a:t>
            </a:r>
            <a:r>
              <a:rPr lang="en-US" altLang="ko-KR" sz="1600" spc="-50" dirty="0"/>
              <a:t>(Edwin L. Drake)</a:t>
            </a:r>
            <a:r>
              <a:rPr lang="ko-KR" altLang="en-US" sz="1600" spc="-50" dirty="0"/>
              <a:t>가 최초로 유정 시추에 성공하였다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이전에는 우물수준의 얕은 곳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자연누출 등에 의존하여 석유를 얻어냈지만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드레이크는 </a:t>
            </a:r>
            <a:r>
              <a:rPr lang="en-US" altLang="ko-KR" sz="1600" spc="-50" dirty="0"/>
              <a:t>21</a:t>
            </a:r>
            <a:r>
              <a:rPr lang="ko-KR" altLang="en-US" sz="1600" spc="-50" dirty="0"/>
              <a:t>미터 깊이에서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수동펌프를 기반으로 석유를 시추하기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사건을 통해 상업적 석유 채굴의 가능성을 보여주고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이후 석유 채굴과 정제 기술의 비약적인 발전을 촉진시켰다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드레이크의 성공 이후 전세계적으로 오일 붐이 확산되고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석유는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에너지 패러다임의 중심 자원으로 부상한다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7513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8925A-5455-C4F4-66E3-46F75761C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9BFE2-7501-E8B7-03F6-E17A65972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C84AAC-C15C-4743-8D96-3446B762F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FFB3A8-5C7C-F3E3-AF8C-BFEBF78E952B}"/>
              </a:ext>
            </a:extLst>
          </p:cNvPr>
          <p:cNvSpPr txBox="1"/>
          <p:nvPr/>
        </p:nvSpPr>
        <p:spPr>
          <a:xfrm>
            <a:off x="288790" y="958844"/>
            <a:ext cx="11693660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[2]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러쉬 기간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후반부터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초반에 걸쳐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중심으로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석유 러쉬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불리는 대규모 유전 탐사 붐이 일어났다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기계 산업에서 필수적인 연료로 자리잡기 시작했다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1901</a:t>
            </a:r>
            <a:r>
              <a:rPr lang="ko-KR" altLang="en-US" sz="1600" spc="-50" dirty="0"/>
              <a:t>년 텍사스 </a:t>
            </a:r>
            <a:r>
              <a:rPr lang="ko-KR" altLang="en-US" sz="1600" spc="-50" dirty="0" err="1"/>
              <a:t>스핀들탑이라는</a:t>
            </a:r>
            <a:r>
              <a:rPr lang="ko-KR" altLang="en-US" sz="1600" spc="-50" dirty="0"/>
              <a:t> 대규모 유전의 발견은 큰 전환점이었다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하루 약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만 배럴의 석유가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일 동안 계속 분출되었고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크리스마스 트리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라고 부르는 유정제어장치를 통해 </a:t>
            </a:r>
            <a:r>
              <a:rPr lang="ko-KR" altLang="en-US" sz="1600" spc="-50" dirty="0" err="1"/>
              <a:t>뿜어나오는</a:t>
            </a:r>
            <a:r>
              <a:rPr lang="ko-KR" altLang="en-US" sz="1600" spc="-50" dirty="0"/>
              <a:t> 석유를 제어할 수 있었다고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유정탑에서 기름이 솟구쳐 오르는 흑백 사진.">
            <a:extLst>
              <a:ext uri="{FF2B5EF4-FFF2-40B4-BE49-F238E27FC236}">
                <a16:creationId xmlns:a16="http://schemas.microsoft.com/office/drawing/2014/main" id="{2064915D-A61B-18CD-25A3-C73662008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79099" y="3640015"/>
            <a:ext cx="2063502" cy="2807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C4BEA5-0C79-83EF-19E2-26C31C8E293F}"/>
              </a:ext>
            </a:extLst>
          </p:cNvPr>
          <p:cNvSpPr txBox="1"/>
          <p:nvPr/>
        </p:nvSpPr>
        <p:spPr>
          <a:xfrm>
            <a:off x="9268215" y="3378405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spc="-50" dirty="0"/>
              <a:t>&lt;1901</a:t>
            </a:r>
            <a:r>
              <a:rPr lang="ko-KR" altLang="en-US" sz="1050" spc="-50" dirty="0"/>
              <a:t>년 </a:t>
            </a:r>
            <a:r>
              <a:rPr lang="en-US" altLang="ko-KR" sz="1050" spc="-50" dirty="0"/>
              <a:t>1</a:t>
            </a:r>
            <a:r>
              <a:rPr lang="ko-KR" altLang="en-US" sz="1050" spc="-50" dirty="0"/>
              <a:t>월 </a:t>
            </a:r>
            <a:r>
              <a:rPr lang="en-US" altLang="ko-KR" sz="1050" spc="-50" dirty="0"/>
              <a:t>10</a:t>
            </a:r>
            <a:r>
              <a:rPr lang="ko-KR" altLang="en-US" sz="1050" spc="-50" dirty="0"/>
              <a:t>일 </a:t>
            </a:r>
            <a:r>
              <a:rPr lang="ko-KR" altLang="en-US" sz="1050" spc="-50" dirty="0" err="1"/>
              <a:t>스핀들탑의</a:t>
            </a:r>
            <a:r>
              <a:rPr lang="ko-KR" altLang="en-US" sz="1050" spc="-50" dirty="0"/>
              <a:t> 유정 분출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EB091-4C46-C366-70F9-BA13B241FA74}"/>
              </a:ext>
            </a:extLst>
          </p:cNvPr>
          <p:cNvSpPr txBox="1"/>
          <p:nvPr/>
        </p:nvSpPr>
        <p:spPr>
          <a:xfrm>
            <a:off x="10719897" y="6421870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위키피디아</a:t>
            </a:r>
            <a:endParaRPr lang="ko-KR" altLang="en-US" sz="9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46990E-8BD9-3B68-C08B-DF234BDAD29F}"/>
              </a:ext>
            </a:extLst>
          </p:cNvPr>
          <p:cNvSpPr txBox="1"/>
          <p:nvPr/>
        </p:nvSpPr>
        <p:spPr>
          <a:xfrm>
            <a:off x="288790" y="3624483"/>
            <a:ext cx="9157252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이후에도 계속해서 유전탐사가 확산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석유가격의 하락과 시장확대를 촉진하여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소비시대를 열었다</a:t>
            </a:r>
            <a:endParaRPr lang="en-US" altLang="ko-KR" sz="1600" spc="-50" dirty="0"/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민간 탐사자들에게 시추 실패는 곧바로 파산을 의미했으며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이처럼 석유 러쉬는 고위험 고수익 구조를 반영하는 산업이었다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97942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8100-468B-970E-6916-FACB9A2B0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829D6C-0164-4DD6-AF98-73C2BC8CC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8C846F-66A1-A5DB-7415-C7B8FD4E5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1C7F2-9E7D-8721-0542-BB4A8DFB5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시기에는 석유산업의 기술이 비약적으로 발전하였다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드릴링</a:t>
            </a:r>
            <a:r>
              <a:rPr lang="ko-KR" altLang="en-US" sz="1600" spc="-50" dirty="0"/>
              <a:t> 장비의 기계화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송유관 인프라의 발전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크래킹 기술 도입 등은 석유의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유통의 경제성을 획기적으로 높였다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기술을 바탕으로 많은 석유기업들이 수직적 통합 구조를 형성하기 시작하였다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탐사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채굴 뿐만 아니라 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유통까지 담당하며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훗날 스탠다드 오일과 같은 거대 기업 탄생의 토대가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러쉬는 미국에만 국한된 것은 아니었고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노벨 형제와 로스차일드 가문은 러시아 제국의 바쿠 지역에 대규모 투자를 단행하며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바쿠지역은 세계 최대 석유 생산지 중 하나로 부상하기도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전세계는 석유의 전략적 중요성을 인식하였고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세계대전에서는 전쟁을 판가름 지을 필수적인 군수 연료로서 석유의 가치가 입증되었다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러쉬 기간에는 탐사와 채굴의 경제적 열풍을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자본축적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산업조직 재편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위상 강화 등 다층적 변화를 유발한 기간이었다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58878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72541-A9BA-8EE4-6B7F-EF9941EB0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C8BFF-E437-212A-0795-E0FB7875C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DEB357-3953-D711-9A6D-6C8CFED51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50F1A3-356E-EF5B-1BEB-1CA36A937ADC}"/>
              </a:ext>
            </a:extLst>
          </p:cNvPr>
          <p:cNvSpPr txBox="1"/>
          <p:nvPr/>
        </p:nvSpPr>
        <p:spPr>
          <a:xfrm>
            <a:off x="288790" y="958844"/>
            <a:ext cx="11118453" cy="563083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[3]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스탠드다 오일의 지배 기간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</a:t>
            </a:r>
            <a:r>
              <a:rPr lang="ko-KR" altLang="en-US" sz="1600" spc="-50" dirty="0"/>
              <a:t>세기 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록펠러</a:t>
            </a:r>
            <a:r>
              <a:rPr lang="en-US" altLang="ko-KR" sz="1600" spc="-50" dirty="0"/>
              <a:t>(John D. Rockefeller)</a:t>
            </a:r>
            <a:r>
              <a:rPr lang="ko-KR" altLang="en-US" sz="1600" spc="-50" dirty="0"/>
              <a:t>가 설립한 스탠드다 오일 회사 </a:t>
            </a:r>
            <a:r>
              <a:rPr lang="en-US" altLang="ko-KR" sz="1600" spc="-50" dirty="0"/>
              <a:t>(Standard Oil Company)</a:t>
            </a:r>
            <a:r>
              <a:rPr lang="ko-KR" altLang="en-US" sz="1600" spc="-50" dirty="0"/>
              <a:t>는 석유 정제 부문에서 출발하여 미국산업 전반을 아우르는 역사상 가장 영향력 있는 민간 독점기업으로 성장하였다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 오하이오주에서 설립되었으며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운송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저장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소매에 이르는 전 과정을 수직통합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원가절감을 통해 시장에서의 경쟁 우위를 확보하였다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1870</a:t>
            </a:r>
            <a:r>
              <a:rPr lang="ko-KR" altLang="en-US" sz="1600" spc="-50" dirty="0"/>
              <a:t>년대 미국 정유산업의 </a:t>
            </a:r>
            <a:r>
              <a:rPr lang="en-US" altLang="ko-KR" sz="1600" spc="-50" dirty="0"/>
              <a:t>95%</a:t>
            </a:r>
            <a:r>
              <a:rPr lang="ko-KR" altLang="en-US" sz="1600" spc="-50" dirty="0"/>
              <a:t>를 지배하며 독보적 위상에 올랐고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과정에서 소규모 정유업체를 대거 인수하고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</a:t>
            </a:r>
            <a:r>
              <a:rPr lang="ko-KR" altLang="en-US" sz="1600" spc="-50" dirty="0" err="1"/>
              <a:t>퇴출시켰다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철도회사와의 비밀 리베이트 계약을 통해 운송비를 낮추고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지역별 가격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제한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전략적 기업 인수합병 등을 통해 경쟁자들의 생존을 어렵게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독점적 지위를 갖게 된 결과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단순 시장 점유율을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가격을 조절할 수 있는 가격 결정자 기능을 하게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시장 지배력은 점차 사회적 반발과 정치적 규제 압력에 직면하게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 정부는 </a:t>
            </a:r>
            <a:r>
              <a:rPr lang="en-US" altLang="ko-KR" sz="1600" spc="-50" dirty="0"/>
              <a:t>1890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셔먼 반독점법을 제정하여 독점기업에 대한 규제근거를 마련하였다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1911</a:t>
            </a:r>
            <a:r>
              <a:rPr lang="ko-KR" altLang="en-US" sz="1600" spc="-50" dirty="0"/>
              <a:t>년 미국 대법원은 스탠다드 오일이 독점적 지위를 남용하고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자유경쟁을 제한했다는 이유로 </a:t>
            </a:r>
            <a:r>
              <a:rPr lang="en-US" altLang="ko-KR" sz="1600" spc="-50" dirty="0"/>
              <a:t>34</a:t>
            </a:r>
            <a:r>
              <a:rPr lang="ko-KR" altLang="en-US" sz="1600" spc="-50" dirty="0"/>
              <a:t>개의 독립된 기업으로 분할하라는 명령을 내렸다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1293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CB899-24FF-FD52-66D2-26E02E8BA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E6A844-5F8E-9A62-5FC7-613E24A08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623405-9DC1-86F4-5700-5AD21E3C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0CB72-5A7F-5544-5D9F-6EFB10964D8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판결은 이후 미국 반독점 정책의 기준 판례로 자리 잡았는데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경제학적 해석은 분분했다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존 </a:t>
            </a:r>
            <a:r>
              <a:rPr lang="ko-KR" altLang="en-US" sz="1600" spc="-50" dirty="0" err="1"/>
              <a:t>맥기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(John S. McGee)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논문에서 스탠다드 오일이 실제로 약탈적 가격을 사용한 증거가 부족하다고 언급한다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설령 약탈적 가격을 실행 했다고 하여도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가격을 낮추어 경쟁자를 퇴출 시킨 뒤 다시 가격을 인상하여 그 손실을 회복하는 전략은 새로운 진입자에 의해 어렵다는 점을 지적한다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해체 이후에도 </a:t>
            </a:r>
            <a:r>
              <a:rPr lang="ko-KR" altLang="en-US" sz="1600" spc="-50" dirty="0" err="1"/>
              <a:t>그영향력은</a:t>
            </a:r>
            <a:r>
              <a:rPr lang="ko-KR" altLang="en-US" sz="1600" spc="-50" dirty="0"/>
              <a:t> 사라지지 않았다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엑슨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아모코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소히오</a:t>
            </a:r>
            <a:r>
              <a:rPr lang="ko-KR" altLang="en-US" sz="1600" spc="-50" dirty="0"/>
              <a:t> 등 오늘날까지 글로벌 석유 메이저의 전신이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기업들은 독립적 경영을 통해 기업을 성장시켰고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석유산업의 다핵화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글로벌화를 촉진하는 계기가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스탠다드 오일의 분할은 단순한 기업 해체 이상의 의미를 갖는다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현대 자본주의에서 시장의 자유와 공정 경쟁이라는 원칙이 거대 산업조직에도 적용될 수 있음을 입증하였다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미국 및 세계 각국의 반독점 정책과 대기업 규제 논의의 중요한 </a:t>
            </a:r>
            <a:r>
              <a:rPr lang="ko-KR" altLang="en-US" sz="1600" spc="-50"/>
              <a:t>선례가 되었다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0963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9138C-E1D1-E59E-D2E2-778EAC2D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76492-20B9-7FC9-D113-976ACFA4A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8E6268-6E34-7969-A53A-A7EFE047E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9E1E36-9B71-7E41-06CC-B4D7DA9D1D69}"/>
              </a:ext>
            </a:extLst>
          </p:cNvPr>
          <p:cNvSpPr txBox="1"/>
          <p:nvPr/>
        </p:nvSpPr>
        <p:spPr>
          <a:xfrm>
            <a:off x="288790" y="958844"/>
            <a:ext cx="11118453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[4]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석유산업의 국제화와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7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공주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</a:t>
            </a:r>
            <a:r>
              <a:rPr lang="ko-KR" altLang="en-US" sz="1600" spc="-50" dirty="0"/>
              <a:t>세기 초반부터 석유산업은 기존의 석탄을 대체하며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미국을 넘어 국제적 차원으로 확산되었다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내연기관의 발전과 포드자동차의 대량생산 체제를 통한 자동차 보급이 확대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수요가 대폭 증가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세계대전에서 석유가 전략물자로 기능하였고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여러 국가들이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 자원 확보를 국가안보와 직결된 문제로 인식하게 된다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석유에 대한 수요가 지속적으로 증가하고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고갈 가능성에 대한 우려가 커지면서 유전 탐사에 박차를 가한다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 등에서 대규모 유전이 발견되며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중동은 세계 석유산업의 전략적 중심지가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과정에서 미국과 유럽의 대형 석유기업들이 주도권을 확보하게 된다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스탠다드 오일의 후신인 엑슨</a:t>
            </a:r>
            <a:r>
              <a:rPr lang="en-US" altLang="ko-KR" sz="1600" spc="-50" dirty="0"/>
              <a:t>(Exxon), </a:t>
            </a:r>
            <a:r>
              <a:rPr lang="ko-KR" altLang="en-US" sz="1600" spc="-50" dirty="0"/>
              <a:t>모빌</a:t>
            </a:r>
            <a:r>
              <a:rPr lang="en-US" altLang="ko-KR" sz="1600" spc="-50" dirty="0"/>
              <a:t>(Mobil), </a:t>
            </a:r>
            <a:r>
              <a:rPr lang="ko-KR" altLang="en-US" sz="1600" spc="-50" dirty="0" err="1"/>
              <a:t>셰브론</a:t>
            </a:r>
            <a:r>
              <a:rPr lang="en-US" altLang="ko-KR" sz="1600" spc="-50" dirty="0"/>
              <a:t>(Chevron) </a:t>
            </a:r>
            <a:r>
              <a:rPr lang="ko-KR" altLang="en-US" sz="1600" spc="-50" dirty="0"/>
              <a:t>뿐 아니라 </a:t>
            </a:r>
            <a:r>
              <a:rPr lang="ko-KR" altLang="en-US" sz="1600" spc="-50" dirty="0" err="1"/>
              <a:t>로열더치셸</a:t>
            </a:r>
            <a:r>
              <a:rPr lang="en-US" altLang="ko-KR" sz="1600" spc="-50" dirty="0"/>
              <a:t>(Royal Dutch Shell), </a:t>
            </a:r>
            <a:r>
              <a:rPr lang="ko-KR" altLang="en-US" sz="1600" spc="-50" dirty="0"/>
              <a:t>브리티시 </a:t>
            </a:r>
            <a:r>
              <a:rPr lang="ko-KR" altLang="en-US" sz="1600" spc="-50" dirty="0" err="1"/>
              <a:t>페트롤리엄</a:t>
            </a:r>
            <a:r>
              <a:rPr lang="en-US" altLang="ko-KR" sz="1600" spc="-50" dirty="0"/>
              <a:t>(BP), </a:t>
            </a:r>
            <a:r>
              <a:rPr lang="ko-KR" altLang="en-US" sz="1600" spc="-50" dirty="0" err="1"/>
              <a:t>걸프오일</a:t>
            </a:r>
            <a:r>
              <a:rPr lang="en-US" altLang="ko-KR" sz="1600" spc="-50" dirty="0"/>
              <a:t>(Gulf Oil), </a:t>
            </a:r>
            <a:r>
              <a:rPr lang="ko-KR" altLang="en-US" sz="1600" spc="-50" dirty="0" err="1"/>
              <a:t>텍사코</a:t>
            </a:r>
            <a:r>
              <a:rPr lang="en-US" altLang="ko-KR" sz="1600" spc="-50" dirty="0"/>
              <a:t>(Texaco)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7</a:t>
            </a:r>
            <a:r>
              <a:rPr lang="ko-KR" altLang="en-US" sz="1600" spc="-50" dirty="0"/>
              <a:t>공주 기업들은 </a:t>
            </a:r>
            <a:r>
              <a:rPr lang="en-US" altLang="ko-KR" sz="1600" spc="-50" dirty="0"/>
              <a:t>1940</a:t>
            </a:r>
            <a:r>
              <a:rPr lang="ko-KR" altLang="en-US" sz="1600" spc="-50" dirty="0"/>
              <a:t>년대부터 </a:t>
            </a:r>
            <a:r>
              <a:rPr lang="en-US" altLang="ko-KR" sz="1600" spc="-50" dirty="0"/>
              <a:t>1970</a:t>
            </a:r>
            <a:r>
              <a:rPr lang="ko-KR" altLang="en-US" sz="1600" spc="-50" dirty="0"/>
              <a:t>년대 초반까지 전 세계 석유 탐사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 과정에 걸쳐 과점 체제를 형성하며 국제 석유시장을 주도하였다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2813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B030A-B50C-5316-3D3C-A3C2E9FD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347BDD-DFB6-D1A0-27F4-7C90D2CF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33CCB0-CFEE-79CE-693B-F921A0788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824053-7F90-5724-5F73-F2105423C458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이들 다국적 석유기업은 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아프리카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남미 등 자원부국 정부와의 계약을 통해 탐사권과 생산권을 확보하고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자원개발을 독점적으로 진행하였다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이들의 계약구조는 해당 국가의 이익보다는 기업의 수익 극대화에 초점을 맞추고 있었다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생산국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자원부국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수익의 상당부분을 다국적 기업에 의존하는 구조로 놓이게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기업들은 석유 생산량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수출가격 등을 조정하며 카르텔 역할을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석유를 둘러싼 정치경제적 갈등이 시작된다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개도국 입장에서는 자국 자원이 외국 자본에 의해 통제 되고 있다는 주권 침해 문제의식이 확대 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자원민족주의의 확산으로 이어지는 시발점이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초중반의 석유산업 국제화는 단순한 연료 공급 확대를 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국제관계의 주요한 변수로 떠오른다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석유기업의 확산은 전세계의 에너지 흐름과 자본이동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정책주권과 산업통제력 사이의 긴장을 만들어 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역사적 맥락은 추후 나타날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등장과 자원민족주의의 운동의 확산을 이해하는데 필수적 배경이 된다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8769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F9E2E-6EF9-9C44-015A-7D287158F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927253-618A-8429-6E78-42541E1FD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769828-D27D-599A-0645-BB9E65A5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61DD3-6763-FC6B-5D6D-C1DFD1D05B99}"/>
              </a:ext>
            </a:extLst>
          </p:cNvPr>
          <p:cNvSpPr txBox="1"/>
          <p:nvPr/>
        </p:nvSpPr>
        <p:spPr>
          <a:xfrm>
            <a:off x="288790" y="958844"/>
            <a:ext cx="11118453" cy="489217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[5] OPEC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기간 </a:t>
            </a: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(Organization of the Petroleum Exporting Countries)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석유수출기구 </a:t>
            </a:r>
            <a:r>
              <a:rPr lang="en-US" altLang="ko-KR" sz="1600" spc="-50" dirty="0"/>
              <a:t>(OPEC)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 이란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이라크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쿠웨이트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베네수엘라에 의해 설립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당시 국제 석유시장을 지배하던 </a:t>
            </a:r>
            <a:r>
              <a:rPr lang="en-US" altLang="ko-KR" sz="1600" spc="-50" dirty="0"/>
              <a:t>‘7</a:t>
            </a:r>
            <a:r>
              <a:rPr lang="ko-KR" altLang="en-US" sz="1600" spc="-50" dirty="0"/>
              <a:t>공주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기업의 가격 결정권과 공급통제에 대한 대응 차원에서 추진한 것이다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개발도상국의 자원에 대한 주권 회복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수출을 통한 안정적 재정수입 확보를 위한 자원민족주의의 흐름이었다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이 창립한 시점인 </a:t>
            </a:r>
            <a:r>
              <a:rPr lang="en-US" altLang="ko-KR" sz="1600" spc="-50" dirty="0"/>
              <a:t>1960</a:t>
            </a:r>
            <a:r>
              <a:rPr lang="ko-KR" altLang="en-US" sz="1600" spc="-50" dirty="0"/>
              <a:t>년은 중동 지역에서의 석유 과잉공급으로 인해 가격 하락이 심화되고 있는 상황이었다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석유산업은 자본집약적 산업으로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경제를 실현하고자 기업들은 생산설비를 최대한 활용하고자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은 이에 대응하고자 회원국 간 협조를 통해 생산량을 조절하고 가격을 안정화 하고자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초기 활동은 다국적 석유기업의 지배력에 대한 정책적 대응에 집중하였다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외국회사가 독점하던 유준 운영에 대한 조세감면을 축소하고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수익 배분을 조정하는 등의 정책을 추진하였다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1968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자원에 대한 영구적 주권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을 명시한 선언을 채택하였다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추후에 국영석유회사의 설립과 자원 국유화 추진의 국제적 정당성을 얻는 기초가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2470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1639E-6A10-47B5-973A-43908522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9559F0-D305-0354-4200-6B0E9399A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8A0696-AE79-D507-7C54-F46D0080F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DE1D7E-AB1E-1670-30FE-F07D8393B595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국제적 위상은 </a:t>
            </a:r>
            <a:r>
              <a:rPr lang="en-US" altLang="ko-KR" sz="1600" spc="-50" dirty="0"/>
              <a:t>1973</a:t>
            </a:r>
            <a:r>
              <a:rPr lang="ko-KR" altLang="en-US" sz="1600" spc="-50" dirty="0"/>
              <a:t>년 </a:t>
            </a:r>
            <a:r>
              <a:rPr lang="ko-KR" altLang="en-US" sz="1600" spc="-50" dirty="0" err="1"/>
              <a:t>욤키푸르</a:t>
            </a:r>
            <a:r>
              <a:rPr lang="ko-KR" altLang="en-US" sz="1600" spc="-50" dirty="0"/>
              <a:t> 전쟁 이후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OPEC </a:t>
            </a:r>
            <a:r>
              <a:rPr lang="ko-KR" altLang="en-US" sz="1600" spc="-50" dirty="0"/>
              <a:t>내의 아랍 회원국들 </a:t>
            </a:r>
            <a:r>
              <a:rPr lang="en-US" altLang="ko-KR" sz="1600" spc="-50" dirty="0"/>
              <a:t>(OAPEC, Arab members of OPEC)</a:t>
            </a:r>
            <a:r>
              <a:rPr lang="ko-KR" altLang="en-US" sz="1600" spc="-50" dirty="0"/>
              <a:t>은 이스라엘을 지지한 미국과 네덜란드 등 서방 국가에 대해 석유 금수조치를 단행하였다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더불어 전체적인 석유 생산량 축소를 통해 국제 원유 공급을 제한하였다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 석유 가격은 배럴당 약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1974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</a:t>
            </a:r>
            <a:r>
              <a:rPr lang="ko-KR" altLang="en-US" sz="1600" spc="-50" dirty="0"/>
              <a:t>달러 이상으로 급등하였다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(1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사건은 선진국들로 하여금 에너지 효율 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개발 등 다각적인 에너지 안보 대응 전략을 추진하게끔 하였다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1979</a:t>
            </a:r>
            <a:r>
              <a:rPr lang="ko-KR" altLang="en-US" sz="1600" spc="-50" dirty="0"/>
              <a:t>년 이란 혁명과 이란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이라크 전쟁은 다시 한번 국제 석유 공급에 충격을 주었다</a:t>
            </a:r>
            <a:r>
              <a:rPr lang="en-US" altLang="ko-KR" sz="1600" spc="-50" dirty="0"/>
              <a:t>. </a:t>
            </a:r>
            <a:r>
              <a:rPr lang="en-US" altLang="ko-KR" sz="1600" b="1" spc="-50" dirty="0"/>
              <a:t>(2</a:t>
            </a:r>
            <a:r>
              <a:rPr lang="ko-KR" altLang="en-US" sz="1600" b="1" spc="-50" dirty="0"/>
              <a:t>차 석유 파동</a:t>
            </a:r>
            <a:r>
              <a:rPr lang="en-US" altLang="ko-KR" sz="1600" b="1" spc="-50" dirty="0"/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 가격은 배럴당 </a:t>
            </a:r>
            <a:r>
              <a:rPr lang="en-US" altLang="ko-KR" sz="1600" spc="-50" dirty="0"/>
              <a:t>24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(1979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32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(1980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), 36</a:t>
            </a:r>
            <a:r>
              <a:rPr lang="ko-KR" altLang="en-US" sz="1600" spc="-50" dirty="0"/>
              <a:t>달러</a:t>
            </a:r>
            <a:r>
              <a:rPr lang="en-US" altLang="ko-KR" sz="1600" spc="-50" dirty="0"/>
              <a:t>(1981</a:t>
            </a:r>
            <a:r>
              <a:rPr lang="ko-KR" altLang="en-US" sz="1600" spc="-50" dirty="0"/>
              <a:t>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시장 가격은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공식가격을 상회하였고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거래의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가 현물시장에서 이루어지게 </a:t>
            </a:r>
            <a:r>
              <a:rPr lang="ko-KR" altLang="en-US" sz="1600" spc="-50" dirty="0" err="1"/>
              <a:t>됬다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일부 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회원국은 장기계약을 파기하고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고가에 판매하고자 현물거래에 나서기도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현물시장은 투기적 거래와 가격 변동성이 심해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의 정책 조율 기능을 약화시키는 주요 원인이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018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B0B3A-713A-E8FE-65D5-2DF888B47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A008A-788A-78AC-51E3-8ADEE5E91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65453-3D45-A54E-EBB1-679A706B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89CCAC-357B-F1C6-7E52-ADCB0A6D04E1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1980</a:t>
            </a:r>
            <a:r>
              <a:rPr lang="ko-KR" altLang="en-US" sz="1600" spc="-50" dirty="0"/>
              <a:t>년대 초부터는 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멕시코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중국 등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국가들의 생산 확대가 두드러지고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선진국은 에너지 절약과 연료의 다변화에 나섰다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상황에서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시장 점유율이 감소하고</a:t>
            </a:r>
            <a:r>
              <a:rPr lang="en-US" altLang="ko-KR" sz="1600" spc="-50" dirty="0"/>
              <a:t>, OPEC</a:t>
            </a:r>
            <a:r>
              <a:rPr lang="ko-KR" altLang="en-US" sz="1600" spc="-50" dirty="0"/>
              <a:t>은 가격 방어 전략을 포기하고 생산을 확대하였다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결과로 </a:t>
            </a:r>
            <a:r>
              <a:rPr lang="en-US" altLang="ko-KR" sz="1600" spc="-50" dirty="0"/>
              <a:t>1986</a:t>
            </a:r>
            <a:r>
              <a:rPr lang="ko-KR" altLang="en-US" sz="1600" spc="-50" dirty="0"/>
              <a:t>년 국제 유가가 절반 이하로 폭락하는 결과를 낳았고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흔히 제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차 석유충격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</a:t>
            </a:r>
            <a:r>
              <a:rPr lang="ko-KR" altLang="en-US" sz="1600" spc="-50" dirty="0" err="1"/>
              <a:t>역충격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이라고 부른다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 위와 같은 구조적인 초과 공급과 수유 감소로 인해 저유가 시대가 지속되었다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세계적으로 자유시장주의와 규제완화가 확산되면서 석유 산업의 투자매력도는 하락하였다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이라크의 쿠웨이트 침공은 중동 석유시설에 큰 위협이었으나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생산 확대로 국제시장은 비교적 빠르게 안정되었다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1997</a:t>
            </a:r>
            <a:r>
              <a:rPr lang="ko-KR" altLang="en-US" sz="1600" spc="-50" dirty="0"/>
              <a:t>년 아시아의 금융위기로 인해 아시아 지역의 수요가 급감하자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국제유가는 배럴당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달러까지 하락하였다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이에 대응하여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감산을 통해 유가를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달러까지 회복시켰으나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회원국들이 재정 수입 확보를 위해 초과생산을 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 인해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정책 신뢰성과 집행력은 점차 약화되었다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OPEC</a:t>
            </a:r>
            <a:r>
              <a:rPr lang="ko-KR" altLang="en-US" sz="1600" spc="-50" dirty="0"/>
              <a:t>의 역사는 자원 주권과 생산자 협조를 통한 시장 안정이라는 이상과 회원국간의 이해 상충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다극화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글로벌 수급변화라는 긴장의 연속이었다</a:t>
            </a:r>
            <a:r>
              <a:rPr lang="en-US" altLang="ko-KR" sz="1600" spc="-5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629575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3AEC5-AE46-3E98-E2AE-12F9342A7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BEF6F-284B-D532-7320-ECD02937C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A03D0-9083-7021-6F03-A64FF9C9E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5A5494-A6EB-7DBD-B331-9D86369EF5DC}"/>
              </a:ext>
            </a:extLst>
          </p:cNvPr>
          <p:cNvSpPr txBox="1"/>
          <p:nvPr/>
        </p:nvSpPr>
        <p:spPr>
          <a:xfrm>
            <a:off x="288790" y="958844"/>
            <a:ext cx="11118453" cy="304551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[6] 2000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년대 이후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년대 초반부터 중반까지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세계 경제의 성장과 함께 석유 수요가 급증하면서 석유가격이 급격히 상승하였다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중국과 인도의 급속한 산업화는 석유 수요의 주요 증가 요인이었다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고유가 시기에 많은 국가들은 대체 에너지와 에너지 효율 기술에 관심을 높이는 계기가 되었다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신재생에너지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효율 기기 등을 통해 석유 의존을 줄이기 위한 노력을 기울였다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오일 </a:t>
            </a:r>
            <a:r>
              <a:rPr lang="en-US" altLang="ko-KR" sz="1600" spc="-50" dirty="0"/>
              <a:t>(shale oil)</a:t>
            </a:r>
            <a:r>
              <a:rPr lang="ko-KR" altLang="en-US" sz="1600" spc="-50" dirty="0"/>
              <a:t> 채굴기술의 발전은 비경제적이던 </a:t>
            </a:r>
            <a:r>
              <a:rPr lang="ko-KR" altLang="en-US" sz="1600" spc="-50" dirty="0" err="1"/>
              <a:t>셰일층에서의</a:t>
            </a:r>
            <a:r>
              <a:rPr lang="ko-KR" altLang="en-US" sz="1600" spc="-50" dirty="0"/>
              <a:t> 석유 추출을 가능하게 만들었다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 개발 이전에는 </a:t>
            </a:r>
            <a:r>
              <a:rPr lang="ko-KR" altLang="en-US" sz="1600" spc="-50" dirty="0" err="1"/>
              <a:t>셰일층에</a:t>
            </a:r>
            <a:r>
              <a:rPr lang="ko-KR" altLang="en-US" sz="1600" spc="-50" dirty="0"/>
              <a:t> 갇혀 있던 석유를 거의 캐지 못했었다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026" name="Picture 2" descr="[Cover Story] 진화하는 셰일가스">
            <a:extLst>
              <a:ext uri="{FF2B5EF4-FFF2-40B4-BE49-F238E27FC236}">
                <a16:creationId xmlns:a16="http://schemas.microsoft.com/office/drawing/2014/main" id="{7919A860-649B-F953-8D47-3411E4B9E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9073" y="3931483"/>
            <a:ext cx="408622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4F06D1-2106-E8B8-9534-A2A7AA80658C}"/>
              </a:ext>
            </a:extLst>
          </p:cNvPr>
          <p:cNvSpPr txBox="1"/>
          <p:nvPr/>
        </p:nvSpPr>
        <p:spPr>
          <a:xfrm>
            <a:off x="8534119" y="3669873"/>
            <a:ext cx="26107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 err="1"/>
              <a:t>셰일가스</a:t>
            </a:r>
            <a:r>
              <a:rPr lang="ko-KR" altLang="en-US" sz="1050" spc="-50" dirty="0"/>
              <a:t> 개념도</a:t>
            </a:r>
            <a:r>
              <a:rPr lang="en-US" altLang="ko-KR" sz="1050" spc="-50" dirty="0"/>
              <a:t>&gt;</a:t>
            </a:r>
            <a:endParaRPr lang="ko-KR" alt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C15997-B48B-4A66-4B87-3DC822E6AD2C}"/>
              </a:ext>
            </a:extLst>
          </p:cNvPr>
          <p:cNvSpPr txBox="1"/>
          <p:nvPr/>
        </p:nvSpPr>
        <p:spPr>
          <a:xfrm>
            <a:off x="10719897" y="6404698"/>
            <a:ext cx="115911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spc="-50" dirty="0"/>
              <a:t>출처</a:t>
            </a:r>
            <a:r>
              <a:rPr lang="en-US" altLang="ko-KR" sz="900" spc="-50" dirty="0"/>
              <a:t>: </a:t>
            </a:r>
            <a:r>
              <a:rPr lang="ko-KR" altLang="en-US" sz="900" spc="-50" dirty="0"/>
              <a:t>한국경제</a:t>
            </a:r>
            <a:endParaRPr lang="ko-KR" altLang="en-US" sz="9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CF0FDE-597C-7C26-722F-BAAC7165D15C}"/>
              </a:ext>
            </a:extLst>
          </p:cNvPr>
          <p:cNvSpPr txBox="1"/>
          <p:nvPr/>
        </p:nvSpPr>
        <p:spPr>
          <a:xfrm>
            <a:off x="288791" y="4004358"/>
            <a:ext cx="72232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수평시추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수압파쇄</a:t>
            </a:r>
            <a:r>
              <a:rPr lang="ko-KR" altLang="en-US" sz="1600" spc="-50" dirty="0"/>
              <a:t> 기술의 발전으로 </a:t>
            </a:r>
            <a:r>
              <a:rPr lang="ko-KR" altLang="en-US" sz="1600" spc="-50" dirty="0" err="1"/>
              <a:t>셰일층에서</a:t>
            </a:r>
            <a:r>
              <a:rPr lang="ko-KR" altLang="en-US" sz="1600" spc="-50" dirty="0"/>
              <a:t> 석유와 가스를 추출할 수 있게 되었다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미국은 셰일 오일 생산 확대로 에너지 자립도를 향상시키고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수입의존도를 줄였다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글로벌 공급 과잉으로 </a:t>
            </a:r>
            <a:r>
              <a:rPr lang="en-US" altLang="ko-KR" sz="1600" spc="-50" dirty="0"/>
              <a:t>2014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사이 유가는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달러로 급락하기도 하였다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544522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39F57-D739-791E-2017-9E1A7EC2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396D4-BDEF-C070-13AE-3E8A02960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EC1089-85A4-8D31-E858-A1CA55D5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D10C23-C665-15CA-DE45-D6E979A4D73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셰일 혁명으로 인해 유가가 하락하자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생산량을 조절했으나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셰일 기업들은 기술혁신과 비용 절감으로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의 전략적 대응을 </a:t>
            </a:r>
            <a:r>
              <a:rPr lang="ko-KR" altLang="en-US" sz="1600" spc="-50" dirty="0" err="1"/>
              <a:t>견뎌내기도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2016</a:t>
            </a:r>
            <a:r>
              <a:rPr lang="ko-KR" altLang="en-US" sz="1600" spc="-50" dirty="0"/>
              <a:t>년 말 </a:t>
            </a:r>
            <a:r>
              <a:rPr lang="en-US" altLang="ko-KR" sz="1600" spc="-50" dirty="0"/>
              <a:t>OPEC</a:t>
            </a:r>
            <a:r>
              <a:rPr lang="ko-KR" altLang="en-US" sz="1600" spc="-50" dirty="0"/>
              <a:t>은 비</a:t>
            </a:r>
            <a:r>
              <a:rPr lang="en-US" altLang="ko-KR" sz="1600" spc="-50" dirty="0"/>
              <a:t>OPEC </a:t>
            </a:r>
            <a:r>
              <a:rPr lang="ko-KR" altLang="en-US" sz="1600" spc="-50" dirty="0"/>
              <a:t>국가들과 감산 협약에 도달하였고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공급조절을 통해 유가는 회복세를 보였다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COVID-19 </a:t>
            </a:r>
            <a:r>
              <a:rPr lang="ko-KR" altLang="en-US" sz="1600" spc="-50" dirty="0"/>
              <a:t>팬데믹으로 세계 경제가 급격히 위축 되면서 석유 수유도 대폭 감소하였다</a:t>
            </a:r>
            <a:r>
              <a:rPr lang="en-US" altLang="ko-KR" sz="1600" spc="-50" dirty="0"/>
              <a:t>.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월에는 유가가 일시적으로 마이너스를 기록하는 사상 초유의 사태가 발생하기도 하였다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WTI </a:t>
            </a:r>
            <a:r>
              <a:rPr lang="ko-KR" altLang="en-US" sz="1600" spc="-50" dirty="0"/>
              <a:t>선물계약은 만기가 되면 원유를 실제로 </a:t>
            </a:r>
            <a:r>
              <a:rPr lang="ko-KR" altLang="en-US" sz="1600" spc="-50" dirty="0" err="1"/>
              <a:t>인수해야하는</a:t>
            </a:r>
            <a:r>
              <a:rPr lang="ko-KR" altLang="en-US" sz="1600" spc="-50" dirty="0"/>
              <a:t> 구조였다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만기 직전에 원유를 받아서 저장해놓을 공간이 더 이상 없었다</a:t>
            </a:r>
            <a:r>
              <a:rPr lang="en-US" altLang="ko-KR" sz="1600" spc="-50" dirty="0"/>
              <a:t>.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투자자들은 원유를 인수하거나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버리거나 둘 중 하나였고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 돈을 주고서라도 원유를 가져가라고 부탁을 하게 되는 상황이 되었다</a:t>
            </a:r>
            <a:r>
              <a:rPr lang="en-US" altLang="ko-KR" sz="1600" spc="-50" dirty="0"/>
              <a:t>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2026</a:t>
            </a:r>
            <a:r>
              <a:rPr lang="ko-KR" altLang="en-US" sz="1600" spc="-50" dirty="0"/>
              <a:t>년 미국의 이란 침공으로 다시 한번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석유가격이 배럴당 </a:t>
            </a:r>
            <a:r>
              <a:rPr lang="en-US" altLang="ko-KR" sz="1600" spc="-50" dirty="0"/>
              <a:t>100</a:t>
            </a:r>
            <a:r>
              <a:rPr lang="ko-KR" altLang="en-US" sz="1600" spc="-50" dirty="0"/>
              <a:t>달러가 넘는 수준까지 급등하였고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고유가는 현재까지도 지속되고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6528134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97F0-A360-906A-068E-9E10E20F6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493F996-4DA3-E60E-0125-8AF708D3F0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7BC819-CF5B-BFA6-5C36-4348FB8BF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7C11035-F030-DBE3-A153-E488E26F1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석유의 수직적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905857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A31F9-CDE5-C5E8-180F-25EAC54C0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C37D86-1B6B-CB91-B609-ED669B0EC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2B8EA3-906F-937A-A239-D7AD9164F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2221A7-975C-108C-8BA0-26F6633752B4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석유산업은 원유 탐사부터 최종소비까지 다양한 공정과 활동을 포함하는 고도로 조직화된 산업이다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상류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하류의 세 부문으로 구분된다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수직적 구조는 석유의 공급 안정성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대응력 강화를 위한 전략적 선택이다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en-US" altLang="ko-KR" sz="1600" spc="-50" dirty="0"/>
              <a:t>20</a:t>
            </a:r>
            <a:r>
              <a:rPr lang="ko-KR" altLang="en-US" sz="1600" spc="-50" dirty="0"/>
              <a:t>세기 중반 이후 거대 글로벌 석유 기업들은 각 부문을 수직적으로 통합하여 원유의 가격 변동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지정학적 충격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 변화 등 다양한 외부 리스크를 </a:t>
            </a:r>
            <a:r>
              <a:rPr lang="ko-KR" altLang="en-US" sz="1600" spc="-50" dirty="0" err="1"/>
              <a:t>내부화하고자</a:t>
            </a:r>
            <a:r>
              <a:rPr lang="ko-KR" altLang="en-US" sz="1600" spc="-50" dirty="0"/>
              <a:t> 하였다</a:t>
            </a:r>
            <a:r>
              <a:rPr lang="en-US" altLang="ko-KR" sz="1600" spc="-50" dirty="0"/>
              <a:t>.</a:t>
            </a:r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상류부문은 석유 자원의 탐사와 개발을 의미한다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지질학적 조사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유정건설 등 고난이도 기술과 자본을 요구한다</a:t>
            </a:r>
            <a:r>
              <a:rPr lang="en-US" altLang="ko-KR" sz="1600" spc="-50" dirty="0"/>
              <a:t>.</a:t>
            </a:r>
          </a:p>
          <a:p>
            <a:pPr marL="1185300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진입장벽이 매우 높고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존재 여부와 상업성에 대한 불확실성으로 고위험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고수익 산업의 대표적인 예이다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 유가에 직접적인 영향을 받아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유가가 상승할수록 탐사 및 생산 활동이 활성화 된다</a:t>
            </a:r>
            <a:r>
              <a:rPr lang="en-US" altLang="ko-KR" sz="1600" spc="-50" dirty="0"/>
              <a:t>.</a:t>
            </a:r>
          </a:p>
          <a:p>
            <a:pPr marL="728100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</a:t>
            </a:r>
            <a:r>
              <a:rPr lang="ko-KR" altLang="en-US" sz="1600" spc="-50" dirty="0" err="1"/>
              <a:t>해양심층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북극권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비전통</a:t>
            </a:r>
            <a:r>
              <a:rPr lang="ko-KR" altLang="en-US" sz="1600" spc="-50" dirty="0"/>
              <a:t> 자원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: </a:t>
            </a:r>
            <a:r>
              <a:rPr lang="ko-KR" altLang="en-US" sz="1600" spc="-50" dirty="0" err="1"/>
              <a:t>셰일오일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대한 탐사도 적극적으로 이루어지고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따라 </a:t>
            </a:r>
            <a:r>
              <a:rPr lang="ko-KR" altLang="en-US" sz="1600" spc="-50" dirty="0" err="1"/>
              <a:t>기술리스크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환경리스크가</a:t>
            </a:r>
            <a:r>
              <a:rPr lang="ko-KR" altLang="en-US" sz="1600" spc="-50" dirty="0"/>
              <a:t> 더욱 복잡해진 형태를 띄고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6804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4BF77-8E7B-8B7D-20D0-DE2B8830F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85B3B2-C271-A22A-168D-30E38D356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BE621D-48C6-7011-1822-76CD514BF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B4275D-C407-F9E5-6314-73A15867DB13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중류부문은 생산된 원유를 정유시설 또는 수출항만으로 수송하고 저장하는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주요 운송수단으로는 송유관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철도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트럭등이</a:t>
            </a:r>
            <a:r>
              <a:rPr lang="ko-KR" altLang="en-US" sz="1600" spc="-50" dirty="0"/>
              <a:t>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전략 비축기지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상업적 저장시설을 포함한다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기술적으로는 안정적이지만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 경로의 지정학적 민감성이 매우 크다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말라카</a:t>
            </a:r>
            <a:r>
              <a:rPr lang="ko-KR" altLang="en-US" sz="1600" spc="-50" dirty="0"/>
              <a:t> 해협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수에즈 운하 등 해상 초크포인트는 원유공급 중단 시 세계 석유 공급에 직접적인 영향을 미치므로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안보 정책의 핵심 고려대상이 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하류부문은 원유를 정제하여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디젤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나프타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 등 다양한 석유 제품으로 전환하고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 부문 등의 최종수요처에 공급하는 과정을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소비자들과 직접 연결되어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수요의 계절성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가격탄력성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세금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규제 등에 민감한 반응을 보인다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최근에는 제품의 친환경성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공정의 에너지 효율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탄소배출 저감 기술 등이 핵심 과제로 부상하고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62977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219F-F500-DA90-956A-5D6CB450C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E3B233-DE9E-E21F-84F7-4DCE4F68B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수직적 가치사슬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3DD18-07B6-AE2B-459D-169D6A4F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9DE16A-6819-2DD8-8EBC-336C214A8A1F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상류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중류</a:t>
            </a:r>
            <a:r>
              <a:rPr lang="en-US" altLang="ko-KR" sz="1600" spc="-50" dirty="0"/>
              <a:t>-</a:t>
            </a:r>
            <a:r>
              <a:rPr lang="ko-KR" altLang="en-US" sz="1600" spc="-50" dirty="0"/>
              <a:t>하류 세 부문을 독립적으로 운영하기도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대부분 대형 석유기업은 수직적으로 통합된 구조를 통해 전체 가치사슬을 내부적으로 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외부변동에 따른 리스크를 흡수할 수 있는 체계를 구축하고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정유 마진이 낮아지거나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수요가 급감하는 경우에도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자사의 생산 원유를 안정적으로 판매할 수 있는 구조는 기업의 </a:t>
            </a:r>
            <a:r>
              <a:rPr lang="ko-KR" altLang="en-US" sz="1600" spc="-50" dirty="0" err="1"/>
              <a:t>생존력과</a:t>
            </a:r>
            <a:r>
              <a:rPr lang="ko-KR" altLang="en-US" sz="1600" spc="-50" dirty="0"/>
              <a:t> 수익성을 유지하는데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부문별로 기술 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리스크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투자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 창출 방식이 상이하다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외부 요인의 종류에 따라 부문별 상대적 중요성이 변화함을 의미한다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고유가 시기에는 상류 부문 투자와 탐사가 확대 </a:t>
            </a:r>
            <a:r>
              <a:rPr lang="ko-KR" altLang="en-US" sz="1600" spc="-50" dirty="0" err="1"/>
              <a:t>된고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저유가 시기에는 하류 부문의 효율화 또는 신재생에너지와의 연계 전략이 부각된다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최근에는 에너지 시스템의 분산화와 탈탄소화 기조 속에서 새로운 형태의 연계구조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예컨대 정유회사와 수소생산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전기차 충전 네트워크 간의 통합 등으로 진화하고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석유산업의 구조와 동향을 분석하고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정책을 설계하기 위해서는 이러한 가치사슬에 대한 입체적 이해가 필수적이다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수직적 가치사슬은 에너지 안보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 전략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국제 교역 등 다양한 영역에서 분석의 기본 단위로 작용한다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3031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B4DE2-9D43-D55F-4012-C0011126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6DF3E8-D435-306F-3C72-ECA498875E6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80DAC3-54FD-A3E7-4A84-5F51718DC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74B79A8-ADA9-CEB0-D762-D621B2A2D7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석유의 생산과 소비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728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FA62F-64DD-668E-92E1-D195A73B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998FA0-C13D-9341-945C-0EFFE14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E20F15-8663-16AB-298A-55BDFE6C4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EFF8-7454-4452-854A-268B63F5D43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80000" indent="-2520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원유는 그 성분과 추출 위치에 따라 다양하게 분류될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원유는 황 함량과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중력도에 따라 분류된다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원유의 밀도와 정제품질을 나타내는 중요한 지표이다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원유는 경질유와 중질유로 구분이 가능하다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경질유는 </a:t>
            </a:r>
            <a:r>
              <a:rPr lang="en-US" altLang="ko-KR" sz="1600" spc="-50" dirty="0"/>
              <a:t>API</a:t>
            </a:r>
            <a:r>
              <a:rPr lang="ko-KR" altLang="en-US" sz="1600" spc="-50" dirty="0"/>
              <a:t> 중력도가 높고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가볍고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단맛이 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시 고가의 연료와 제품을 더 많이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서아프리카의 </a:t>
            </a:r>
            <a:r>
              <a:rPr lang="ko-KR" altLang="en-US" sz="1600" spc="-50" dirty="0" err="1"/>
              <a:t>본니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사우디아라비아의 아라비안 라이트 등이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중질유는 </a:t>
            </a:r>
            <a:r>
              <a:rPr lang="en-US" altLang="ko-KR" sz="1600" spc="-50" dirty="0"/>
              <a:t>API </a:t>
            </a:r>
            <a:r>
              <a:rPr lang="ko-KR" altLang="en-US" sz="1600" spc="-50" dirty="0"/>
              <a:t>중력도가 낮고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황 함량이 높다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원유가 무겁기 때문에 정제 과정이 복잡하고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많은 </a:t>
            </a:r>
            <a:r>
              <a:rPr lang="ko-KR" altLang="en-US" sz="1600" spc="-50" dirty="0" err="1"/>
              <a:t>잔사</a:t>
            </a:r>
            <a:r>
              <a:rPr lang="en-US" altLang="ko-KR" sz="1600" spc="-50" dirty="0"/>
              <a:t>(residual fuel)</a:t>
            </a:r>
            <a:r>
              <a:rPr lang="ko-KR" altLang="en-US" sz="1600" spc="-50" dirty="0"/>
              <a:t>와 아스팔트를 생산 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베네수엘라의 </a:t>
            </a:r>
            <a:r>
              <a:rPr lang="ko-KR" altLang="en-US" sz="1600" spc="-50" dirty="0" err="1"/>
              <a:t>오리노코벨트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캐나다의 오일샌드에서 추출되는 원유 등이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222993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56DD-2788-393A-16AA-A3465C0A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5BAFA-5257-7006-0302-002CB7D12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972A8F-6B04-25B8-01CB-C5C706191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CA1A77-9D85-1C38-F497-1594E08F0AEC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원유는 단맛의 원유와 쓴맛의 원유로 구분될 수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단맛의 원유는 황 함량이 낮아 환경 규제를 만족시키기 쉽고 정제 비용이 낮다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</a:t>
            </a:r>
            <a:r>
              <a:rPr lang="ko-KR" altLang="en-US" sz="1600" spc="-50" dirty="0"/>
              <a:t>와 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쓴맛의 원유는 황 함량이 높아 정제 시 많은 비용이 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황산화물 배출이 많아 환경 규제 이슈가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대표적으로 중동의 두바이 원유와 멕시코의 마야 중질유가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벤츠마크</a:t>
            </a:r>
            <a:r>
              <a:rPr lang="ko-KR" altLang="en-US" sz="1600" spc="-50" dirty="0"/>
              <a:t> 원유는 각 지역의 대표적인 원유로서 국제 거래에서 가격 기준점으로 주로 사용된다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북해의 </a:t>
            </a:r>
            <a:r>
              <a:rPr lang="ko-KR" altLang="en-US" sz="1600" spc="-50" dirty="0" err="1"/>
              <a:t>브렌트</a:t>
            </a:r>
            <a:r>
              <a:rPr lang="ko-KR" altLang="en-US" sz="1600" spc="-50" dirty="0"/>
              <a:t> 원유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아시아의 두바이 원유 가 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분류는 원유 가격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 방법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사용 가능한 최종 제품의 유형을 결정하는데 중요한 역할을 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유형의 원유는 특정 요구와 환경 기준에 맞추어 선택되고 사용된다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6176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1AADC-8DEE-1225-044A-3F7EC72DA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3431A-FA0A-A5BC-11AC-C8DF3EC47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석유의 생산과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7D085F-9CC4-41AC-B269-F3081F213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31232-6136-3A5C-37CE-2D6B3758DEB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거래 시장에서는 주로 현물시장과 선물시장이 활발히 이용된다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현물시장에서는 석유가 매우 짧은 기간 내에 실시간 가격으로 거래되고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인도된다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현물시장의 거래는 주로 긴급한 공급의 필요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재고 보충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직접적인 소비자 요구 등에 의한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런던의 </a:t>
            </a:r>
            <a:r>
              <a:rPr lang="ko-KR" altLang="en-US" sz="1600" spc="-50" dirty="0" err="1"/>
              <a:t>브렌트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뉴욕의 서부 텍사스 </a:t>
            </a:r>
            <a:r>
              <a:rPr lang="ko-KR" altLang="en-US" sz="1600" spc="-50" dirty="0" err="1"/>
              <a:t>중질유</a:t>
            </a:r>
            <a:r>
              <a:rPr lang="en-US" altLang="ko-KR" sz="1600" spc="-50" dirty="0"/>
              <a:t>(WTI) </a:t>
            </a:r>
            <a:r>
              <a:rPr lang="ko-KR" altLang="en-US" sz="1600" spc="-50" dirty="0"/>
              <a:t>등이 현물시장에서 거래되는 대표적인 석유 종류이다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선물시장에서는 정해진 미래의 날짜에 석유를 인도할 것을 약속하면서 그에 대한 계약을 체결한다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선물시장의 주요 기능은 생산자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정제업체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시장 참여자들이 미래 가격 변동으로 부터의 위험을 </a:t>
            </a:r>
            <a:r>
              <a:rPr lang="ko-KR" altLang="en-US" sz="1600" spc="-50" dirty="0" err="1"/>
              <a:t>헤지하는</a:t>
            </a:r>
            <a:r>
              <a:rPr lang="ko-KR" altLang="en-US" sz="1600" spc="-50" dirty="0"/>
              <a:t> 것이다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대표적인 석유 선물거래소에는 뉴욕상업거래소</a:t>
            </a:r>
            <a:r>
              <a:rPr lang="en-US" altLang="ko-KR" sz="1600" spc="-50" dirty="0"/>
              <a:t>(NYMEX), </a:t>
            </a:r>
            <a:r>
              <a:rPr lang="ko-KR" altLang="en-US" sz="1600" spc="-50" dirty="0"/>
              <a:t>런던석유거래소</a:t>
            </a:r>
            <a:r>
              <a:rPr lang="en-US" altLang="ko-KR" sz="1600" spc="-50" dirty="0"/>
              <a:t>(ICE)</a:t>
            </a:r>
            <a:r>
              <a:rPr lang="ko-KR" altLang="en-US" sz="1600" spc="-50" dirty="0"/>
              <a:t>가 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전통적으로 석유시장은 실물의 공급과 수요에 의해 가격이 결정되는 원자재 시장으로 인식되어 왔으나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2000</a:t>
            </a:r>
            <a:r>
              <a:rPr lang="ko-KR" altLang="en-US" sz="1600" spc="-50" dirty="0"/>
              <a:t>년대 이후 부터는 금융시장과 밀접한 연결을 갖게 되었다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석유를 단순한 실물자산이 아닌 투자자산으로 인식되기 시작했음을 의미한다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원유 선물시장에 대한 금융 투자자들의 참여가 확대되면서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 가격은 자본의 흐름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거시경제 지표 등 금융 요인에 의해 보다 많은 영향을 받게 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9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E0C10-B6B8-2ED8-2EF7-077B26FD6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CC04F2-C5C3-9FDD-2ECB-CCC85352B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B786C-CE64-9873-9E57-D4AACE68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781DCE-549E-7161-D29B-4B79BD93109E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 시장은 지난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년간 탐사기술의 발전으로 확인 매장량을 확대해왔다</a:t>
            </a:r>
            <a:r>
              <a:rPr lang="en-US" altLang="ko-KR" sz="1600" spc="-50" dirty="0"/>
              <a:t>.</a:t>
            </a:r>
          </a:p>
          <a:p>
            <a:pPr marL="6709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 세계 석유 매장량은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1,300</a:t>
            </a:r>
            <a:r>
              <a:rPr lang="ko-KR" altLang="en-US" sz="1600" spc="-50" dirty="0"/>
              <a:t>조 배럴에서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 </a:t>
            </a:r>
            <a:r>
              <a:rPr lang="en-US" altLang="ko-KR" sz="1600" spc="-50" dirty="0"/>
              <a:t>1,732</a:t>
            </a:r>
            <a:r>
              <a:rPr lang="ko-KR" altLang="en-US" sz="1600" spc="-50" dirty="0"/>
              <a:t>조 배럴로 증가하였다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지역적으로는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남미와 중동 지역의 매장량이 크게 늘었다</a:t>
            </a:r>
            <a:r>
              <a:rPr lang="en-US" altLang="ko-KR" sz="1600" spc="-50" dirty="0"/>
              <a:t>.</a:t>
            </a:r>
          </a:p>
          <a:p>
            <a:pPr marL="1128150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중동지역의 매장량 비중은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53.6%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46.3%</a:t>
            </a:r>
            <a:r>
              <a:rPr lang="ko-KR" altLang="en-US" sz="1600" spc="-50" dirty="0"/>
              <a:t>로 감소하였지만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다른 지역에 비해 현저히 매장량이 크다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BE77FFD-A5D0-88C0-503F-1C7AB5522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133934"/>
              </p:ext>
            </p:extLst>
          </p:nvPr>
        </p:nvGraphicFramePr>
        <p:xfrm>
          <a:off x="526880" y="3091387"/>
          <a:ext cx="9788740" cy="32354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846240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매장량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생산량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236.5 (18.2%)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220.3 (13.5%)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242.9 (14.0%)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400" spc="-50" dirty="0"/>
                        <a:t>·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96 (7.4%)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320.1 (19.6%)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323.4 (18.7%)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151.3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 (1.6%)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13.6 (0.8%)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120.1 (9.2%)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144.2 (8.8%)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146.2 (8.4%)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696.7 (53.6%)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765.9 (46.8%)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835.9 (46.3%)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 (7.1%)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124.9 (7.6%)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125.1 (7.2%)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37.7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47.8 (2.9%)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45.2 (2.6%)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세계 전체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1,300.90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1636.9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1,732.4 (100%)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53.5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262.7 (20.2%)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238.5 (14.6%)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260 (15.0%)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1038.2 (79.8%)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1398.3 (85.4%)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1472.4 (85.0%)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833 (64.0%)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1137.7 (69.5%)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1214.7 (70.1%)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108.3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6310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OPEC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468 (26.0%)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499.1 (30.5%)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517.7 (29.9%)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E9B4A3D-13C9-C344-F32C-D48A7E8ACCEB}"/>
              </a:ext>
            </a:extLst>
          </p:cNvPr>
          <p:cNvSpPr txBox="1"/>
          <p:nvPr/>
        </p:nvSpPr>
        <p:spPr>
          <a:xfrm>
            <a:off x="526880" y="6377666"/>
            <a:ext cx="97887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/>
              <a:t>※ CIS: </a:t>
            </a:r>
            <a:r>
              <a:rPr lang="en-US" altLang="ko-KR" sz="900" b="1" dirty="0"/>
              <a:t>C</a:t>
            </a:r>
            <a:r>
              <a:rPr lang="en-US" altLang="ko-KR" sz="900" dirty="0"/>
              <a:t>ommonwealth of </a:t>
            </a:r>
            <a:r>
              <a:rPr lang="en-US" altLang="ko-KR" sz="900" b="1" dirty="0"/>
              <a:t>I</a:t>
            </a:r>
            <a:r>
              <a:rPr lang="en-US" altLang="ko-KR" sz="900" dirty="0"/>
              <a:t>ndependent </a:t>
            </a:r>
            <a:r>
              <a:rPr lang="en-US" altLang="ko-KR" sz="900" b="1" dirty="0"/>
              <a:t>S</a:t>
            </a:r>
            <a:r>
              <a:rPr lang="en-US" altLang="ko-KR" sz="900" dirty="0"/>
              <a:t>tates, </a:t>
            </a:r>
            <a:r>
              <a:rPr lang="ko-KR" altLang="en-US" sz="900" dirty="0"/>
              <a:t>독립국가연합</a:t>
            </a:r>
            <a:r>
              <a:rPr lang="en-US" altLang="ko-KR" sz="900" dirty="0"/>
              <a:t>, (</a:t>
            </a:r>
            <a:r>
              <a:rPr lang="ko-KR" altLang="en-US" sz="900" dirty="0"/>
              <a:t>러시아</a:t>
            </a:r>
            <a:r>
              <a:rPr lang="en-US" altLang="ko-KR" sz="900" dirty="0"/>
              <a:t>, </a:t>
            </a:r>
            <a:r>
              <a:rPr lang="ko-KR" altLang="en-US" sz="900" dirty="0"/>
              <a:t>벨라루스</a:t>
            </a:r>
            <a:r>
              <a:rPr lang="en-US" altLang="ko-KR" sz="900" dirty="0"/>
              <a:t>, </a:t>
            </a:r>
            <a:r>
              <a:rPr lang="ko-KR" altLang="en-US" sz="900" dirty="0"/>
              <a:t>아르메니아</a:t>
            </a:r>
            <a:r>
              <a:rPr lang="en-US" altLang="ko-KR" sz="900" dirty="0"/>
              <a:t>, </a:t>
            </a:r>
            <a:r>
              <a:rPr lang="ko-KR" altLang="en-US" sz="900" dirty="0"/>
              <a:t>아제르바이잔</a:t>
            </a:r>
            <a:r>
              <a:rPr lang="en-US" altLang="ko-KR" sz="900" dirty="0"/>
              <a:t>, </a:t>
            </a:r>
            <a:r>
              <a:rPr lang="ko-KR" altLang="en-US" sz="900" dirty="0"/>
              <a:t>카자흐스탄</a:t>
            </a:r>
            <a:r>
              <a:rPr lang="en-US" altLang="ko-KR" sz="900" dirty="0"/>
              <a:t>, </a:t>
            </a:r>
            <a:r>
              <a:rPr lang="ko-KR" altLang="en-US" sz="900" dirty="0"/>
              <a:t>우즈베키스탄</a:t>
            </a:r>
            <a:r>
              <a:rPr lang="en-US" altLang="ko-KR" sz="900" dirty="0"/>
              <a:t>, </a:t>
            </a:r>
            <a:r>
              <a:rPr lang="ko-KR" altLang="en-US" sz="900" dirty="0"/>
              <a:t>키르기스스탄</a:t>
            </a:r>
            <a:r>
              <a:rPr lang="en-US" altLang="ko-KR" sz="900" dirty="0"/>
              <a:t>, </a:t>
            </a:r>
            <a:r>
              <a:rPr lang="ko-KR" altLang="en-US" sz="900" dirty="0"/>
              <a:t>타지키스탄</a:t>
            </a:r>
            <a:r>
              <a:rPr lang="en-US" altLang="ko-KR" sz="900" dirty="0"/>
              <a:t>)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5847681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F0CB1-2C6A-DAB9-55DA-84BF750E0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4D4EFC-D055-CFC8-A349-67FA08B8E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0391C7-4EBB-75BF-6532-7B6B79AC8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E39F96-9200-8E62-6ABB-11FA463C285E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213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세계 석유 생산은 지리적으로 매우 불균등하게 분포되어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지역은 매장량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생산 기술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제도적 환경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안정성 등 다양한 특성을 지닌다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9160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표에서 본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중앙정부의 재정은 크게 예산과 기금의 두 부분으로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매년 계획을 세워 국회의 심의를 받아 의결된 다음에 집행할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기금의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예산처럼 까다로운 과정을 거치지 않아도 집행이 가능하다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장기적 유연성 확보 목적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예산은 일반회계와 특별회계로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일반회계는 중앙정부 예산의 중추로서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중앙정부의 조세수입 대부분을 포함할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주요 재정사업을 포괄하고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특별회계는 특정한 목적을 위한 사업과 관련한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일반회계와 따로 떼어 설치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운영하는 별도의 회계를 뜻한다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674BD-7DC6-B2C2-8F07-5FD64C568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정부 예산편성 과정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1976F2-9B6A-4D34-12C9-8A538187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EAC610-634E-8381-4655-85AAF5FFC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6586" y="894520"/>
            <a:ext cx="6621099" cy="326096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8CCC24-381A-9926-7C7E-F551A7EDD4C8}"/>
              </a:ext>
            </a:extLst>
          </p:cNvPr>
          <p:cNvSpPr txBox="1"/>
          <p:nvPr/>
        </p:nvSpPr>
        <p:spPr>
          <a:xfrm>
            <a:off x="288790" y="4247282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정부가 제출한 예산요구서를 심의하고 있는 국회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3"/>
              </a:rPr>
              <a:t>https://www.youtube.com/live/4NHzaP2ocBQ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3:23:13 </a:t>
            </a:r>
            <a:r>
              <a:rPr lang="ko-KR" altLang="en-US" sz="1600" spc="-50" dirty="0"/>
              <a:t>부근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예산 관련 질의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 심의가 끝나고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국무회의를 통해 집행준비를 하는 과정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4"/>
              </a:rPr>
              <a:t>https://www.youtube.com/watch?v=d7QpBQD5HJ4</a:t>
            </a:r>
            <a:r>
              <a:rPr lang="en-US" altLang="ko-KR" sz="1600" spc="-5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국회의 예산심사 결과보고서</a:t>
            </a:r>
            <a:r>
              <a:rPr lang="en-US" altLang="ko-KR" sz="1600" spc="-50" dirty="0"/>
              <a:t>) </a:t>
            </a:r>
            <a:r>
              <a:rPr lang="en-US" altLang="ko-KR" sz="1600" spc="-50" dirty="0">
                <a:hlinkClick r:id="rId5"/>
              </a:rPr>
              <a:t>https://assembly.go.kr/portal/cnts/cntsCont/dataA.do?menuNo=600234&amp;cntsDivCd=BUDGET</a:t>
            </a:r>
            <a:r>
              <a:rPr lang="en-US" altLang="ko-KR" sz="1600" spc="-50" dirty="0"/>
              <a:t> 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관련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정무위원회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금융위원회 보고서 </a:t>
            </a:r>
            <a:r>
              <a:rPr lang="en-US" altLang="ko-KR" sz="1600" spc="-50" dirty="0"/>
              <a:t>34p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청년미래적금</a:t>
            </a:r>
            <a:r>
              <a:rPr lang="ko-KR" altLang="en-US" sz="1600" spc="-50" dirty="0"/>
              <a:t> </a:t>
            </a:r>
            <a:r>
              <a:rPr lang="en-US" altLang="ko-KR" sz="1600" spc="-50" dirty="0">
                <a:hlinkClick r:id="rId6"/>
              </a:rPr>
              <a:t>https://www.fsc.go.kr/no040101?cnId=2983</a:t>
            </a:r>
            <a:r>
              <a:rPr lang="en-US" altLang="ko-KR" sz="1600" spc="-50" dirty="0"/>
              <a:t> 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58465F1-2FD0-C986-539E-5D5DB7A43D93}"/>
              </a:ext>
            </a:extLst>
          </p:cNvPr>
          <p:cNvSpPr/>
          <p:nvPr/>
        </p:nvSpPr>
        <p:spPr>
          <a:xfrm>
            <a:off x="3219718" y="3172497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4AF17D59-9002-5623-55DF-5BB33E61D061}"/>
              </a:ext>
            </a:extLst>
          </p:cNvPr>
          <p:cNvSpPr/>
          <p:nvPr/>
        </p:nvSpPr>
        <p:spPr>
          <a:xfrm>
            <a:off x="9239250" y="4395990"/>
            <a:ext cx="193182" cy="19318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309EF2D-E56E-5D64-5974-10DEA4877CFD}"/>
              </a:ext>
            </a:extLst>
          </p:cNvPr>
          <p:cNvSpPr/>
          <p:nvPr/>
        </p:nvSpPr>
        <p:spPr>
          <a:xfrm>
            <a:off x="9772918" y="4921878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5631D23-A83E-2711-6F9F-7E8A358F52CB}"/>
              </a:ext>
            </a:extLst>
          </p:cNvPr>
          <p:cNvSpPr/>
          <p:nvPr/>
        </p:nvSpPr>
        <p:spPr>
          <a:xfrm>
            <a:off x="7609267" y="3429000"/>
            <a:ext cx="193182" cy="193182"/>
          </a:xfrm>
          <a:prstGeom prst="ellipse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E2F68-ACF4-07DF-05C1-BDBC11C55064}"/>
              </a:ext>
            </a:extLst>
          </p:cNvPr>
          <p:cNvSpPr txBox="1"/>
          <p:nvPr/>
        </p:nvSpPr>
        <p:spPr>
          <a:xfrm>
            <a:off x="5569039" y="997532"/>
            <a:ext cx="330879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spc="-50" dirty="0"/>
              <a:t>출처</a:t>
            </a:r>
            <a:r>
              <a:rPr lang="en-US" altLang="ko-KR" sz="1000" spc="-50" dirty="0"/>
              <a:t>: </a:t>
            </a:r>
            <a:r>
              <a:rPr lang="en-US" altLang="ko-KR" sz="1000" spc="-50" dirty="0">
                <a:hlinkClick r:id="rId7"/>
              </a:rPr>
              <a:t>https://finedu.mpb.go.kr/html.do?menu_code=010202</a:t>
            </a:r>
            <a:r>
              <a:rPr lang="en-US" altLang="ko-KR" sz="1000" spc="-50" dirty="0"/>
              <a:t> 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3454297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5428318"/>
              </p:ext>
            </p:extLst>
          </p:nvPr>
        </p:nvGraphicFramePr>
        <p:xfrm>
          <a:off x="701293" y="3001129"/>
          <a:ext cx="9537045" cy="35722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2,058.4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517.8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568.1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2,323.7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2,401.1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221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2,549.1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603.6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761366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68.2%,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30.6%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3959281" y="2695297"/>
            <a:ext cx="3021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EF2888-7FB1-3625-71B6-D164D330CB9C}"/>
              </a:ext>
            </a:extLst>
          </p:cNvPr>
          <p:cNvSpPr txBox="1"/>
          <p:nvPr/>
        </p:nvSpPr>
        <p:spPr>
          <a:xfrm>
            <a:off x="606380" y="6578062"/>
            <a:ext cx="963195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hlinkClick r:id="rId2"/>
              </a:rPr>
              <a:t>https://www.openfiscaldata.go.kr/op/ko/fd/UOPKOFDA03?pageIndex=1&amp;pageSize=7000&amp;totalCnt=0&amp;odtNm=%EA%B2%B0%EC%82%B0</a:t>
            </a:r>
            <a:r>
              <a:rPr lang="ko-KR" altLang="en-US" sz="1000" dirty="0"/>
              <a:t> </a:t>
            </a:r>
            <a:r>
              <a:rPr lang="en-US" altLang="ko-KR" sz="1000" dirty="0"/>
              <a:t>(2024</a:t>
            </a:r>
            <a:r>
              <a:rPr lang="ko-KR" altLang="en-US" sz="1000" dirty="0"/>
              <a:t>회계연도 결산개요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4301059"/>
              </p:ext>
            </p:extLst>
          </p:nvPr>
        </p:nvGraphicFramePr>
        <p:xfrm>
          <a:off x="7372350" y="1037080"/>
          <a:ext cx="4408152" cy="51652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(19.5)</a:t>
                      </a:r>
                      <a:endParaRPr lang="en-US" sz="11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1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269.2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(68.6)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7.1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276.3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(29.6)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324.3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8.2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(24.1)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438.4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374.8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490.6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326.7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7.3</a:t>
                      </a:r>
                    </a:p>
                    <a:p>
                      <a:pPr algn="ctr" latinLnBrk="1"/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333.9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518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319.2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(73.0)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326.2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(25.4)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1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46138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, </a:t>
            </a:r>
            <a:r>
              <a:rPr lang="ko-KR" altLang="en-US" sz="1400" spc="-50" dirty="0"/>
              <a:t>단위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조원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24584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74.6%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326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319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73.0%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수입이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(2026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</a:t>
            </a:r>
            <a:r>
              <a:rPr lang="ko-KR" altLang="en-US" sz="1600" b="1" spc="-50" dirty="0"/>
              <a:t>내국세</a:t>
            </a:r>
            <a:r>
              <a:rPr lang="ko-KR" altLang="en-US" sz="1600" spc="-50" dirty="0"/>
              <a:t>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특정한 용도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2024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61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19.9%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19.2%,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16%, 11.3%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57.9%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16.0%, 8.9%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660635" y="4102712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&lt;2024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26" name="그림 25" descr="텍스트, 폰트, 원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4BCC94-513A-04E4-A119-65E74065E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860" y="4421976"/>
            <a:ext cx="2134320" cy="1929574"/>
          </a:xfrm>
          <a:prstGeom prst="rect">
            <a:avLst/>
          </a:prstGeom>
        </p:spPr>
      </p:pic>
      <p:pic>
        <p:nvPicPr>
          <p:cNvPr id="28" name="그림 27" descr="텍스트, 폰트, 로고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C79546-201A-7A53-0E85-27D362FF8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4327541"/>
            <a:ext cx="2289430" cy="2000925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9D83BC5-FB92-A31A-9DB2-1AA197B8D14A}"/>
              </a:ext>
            </a:extLst>
          </p:cNvPr>
          <p:cNvSpPr txBox="1"/>
          <p:nvPr/>
        </p:nvSpPr>
        <p:spPr>
          <a:xfrm>
            <a:off x="3037563" y="6332999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기능별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3D000-4711-6DD9-BA31-4D9AAB5D6070}"/>
              </a:ext>
            </a:extLst>
          </p:cNvPr>
          <p:cNvSpPr txBox="1"/>
          <p:nvPr/>
        </p:nvSpPr>
        <p:spPr>
          <a:xfrm>
            <a:off x="6782373" y="6349640"/>
            <a:ext cx="124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성질별 분류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따로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8D5C0B2-F139-1877-8D93-B01F0DC7CC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8110" y="4306570"/>
            <a:ext cx="3744404" cy="220404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23.4%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(2023)&gt;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AF2C9-1633-7E1A-214E-BFC4E128C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OECD</a:t>
            </a:r>
            <a:r>
              <a:rPr lang="ko-KR" altLang="en-US" dirty="0"/>
              <a:t> 사회복지지출 통계 기준에 따른 주요국가 비교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40B067-6ABF-608C-710B-455135750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6" name="그림 5" descr="텍스트, 스크린샷, 라인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E44877-4AB4-4AD8-3612-E58BC771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512" y="1098985"/>
            <a:ext cx="6442219" cy="53727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E160DA-3C6C-2662-1079-F05AB8679DF2}"/>
              </a:ext>
            </a:extLst>
          </p:cNvPr>
          <p:cNvSpPr txBox="1"/>
          <p:nvPr/>
        </p:nvSpPr>
        <p:spPr>
          <a:xfrm>
            <a:off x="1984448" y="6421491"/>
            <a:ext cx="64422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/>
              <a:t>출처</a:t>
            </a:r>
            <a:r>
              <a:rPr lang="en-US" altLang="ko-KR" sz="900" dirty="0"/>
              <a:t>: </a:t>
            </a:r>
            <a:r>
              <a:rPr lang="ko-KR" altLang="en-US" sz="900" dirty="0"/>
              <a:t>국회예산정책처, </a:t>
            </a:r>
            <a:r>
              <a:rPr lang="ko-KR" altLang="en-US" sz="900" dirty="0" err="1"/>
              <a:t>나보포커스</a:t>
            </a:r>
            <a:r>
              <a:rPr lang="ko-KR" altLang="en-US" sz="900" dirty="0"/>
              <a:t>, 제 141호 (2026.03.1) 국제 비교로 본 한국 복지지출 수준과 신규 과제 (안태훈 분석관)</a:t>
            </a:r>
          </a:p>
        </p:txBody>
      </p:sp>
    </p:spTree>
    <p:extLst>
      <p:ext uri="{BB962C8B-B14F-4D97-AF65-F5344CB8AC3E}">
        <p14:creationId xmlns:p14="http://schemas.microsoft.com/office/powerpoint/2010/main" val="27414840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801186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18.9%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13.5%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12.7%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597464"/>
              </p:ext>
            </p:extLst>
          </p:nvPr>
        </p:nvGraphicFramePr>
        <p:xfrm>
          <a:off x="701293" y="4088467"/>
          <a:ext cx="10413753" cy="247681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058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3782635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72406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16.1%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2022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22.1%</a:t>
            </a:r>
            <a:r>
              <a:rPr lang="ko-KR" altLang="en-US" sz="1600" spc="-50" dirty="0"/>
              <a:t>까지 올라 갔다가</a:t>
            </a:r>
            <a:r>
              <a:rPr lang="en-US" altLang="ko-KR" sz="1600" spc="-50" dirty="0"/>
              <a:t>, 2024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17.6%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9903064"/>
              </p:ext>
            </p:extLst>
          </p:nvPr>
        </p:nvGraphicFramePr>
        <p:xfrm>
          <a:off x="396137" y="2944928"/>
          <a:ext cx="8366862" cy="355483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675.7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995.2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1,379.5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2,058.5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387.6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2,221.9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2,408.7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112.5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05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2,556.9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622749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 </a:t>
            </a:r>
            <a:r>
              <a:rPr lang="en-US" altLang="ko-KR" sz="1400" spc="-50" dirty="0"/>
              <a:t>2018&gt;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  <a:p>
            <a:pPr marL="1006475" lvl="2">
              <a:lnSpc>
                <a:spcPct val="150000"/>
              </a:lnSpc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다음 슬라이드 그림 참고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DD337-823B-D219-9645-6A7B7F468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조세수입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8124926-1F45-6558-5532-3A233A2CF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49" y="1164651"/>
            <a:ext cx="5261194" cy="51505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1279497" y="831322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중앙정부의 조세수입 내역 </a:t>
            </a:r>
            <a:r>
              <a:rPr lang="en-US" altLang="ko-KR" sz="1600" spc="-50" dirty="0"/>
              <a:t>(2019</a:t>
            </a:r>
            <a:r>
              <a:rPr lang="ko-KR" altLang="en-US" sz="1600" spc="-50" dirty="0"/>
              <a:t>년도</a:t>
            </a:r>
            <a:r>
              <a:rPr lang="en-US" altLang="ko-KR" sz="1600" spc="-50" dirty="0"/>
              <a:t>)&gt;</a:t>
            </a:r>
            <a:endParaRPr lang="ko-KR" altLang="en-US" sz="16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0018" y="1600463"/>
            <a:ext cx="4647820" cy="471476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7631638" y="908267"/>
            <a:ext cx="3836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spc="-50" dirty="0"/>
              <a:t>&lt;</a:t>
            </a:r>
            <a:r>
              <a:rPr lang="ko-KR" altLang="en-US" sz="1600" spc="-50" dirty="0"/>
              <a:t>현행 국세체계</a:t>
            </a:r>
            <a:r>
              <a:rPr lang="en-US" altLang="ko-KR" sz="1600" spc="-50" dirty="0"/>
              <a:t>&gt;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7176754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22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지방세 체계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8709</TotalTime>
  <Words>7609</Words>
  <Application>Microsoft Office PowerPoint</Application>
  <PresentationFormat>와이드스크린</PresentationFormat>
  <Paragraphs>1275</Paragraphs>
  <Slides>61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7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2  석유 시장</vt:lpstr>
      <vt:lpstr>Section 1. 개 론</vt:lpstr>
      <vt:lpstr>서론</vt:lpstr>
      <vt:lpstr>Section 2. 석유산업의 역사 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석유산업의 역사</vt:lpstr>
      <vt:lpstr>Section 3. 석유의 수직적 가치사슬</vt:lpstr>
      <vt:lpstr>석유의 수직적 가치사슬</vt:lpstr>
      <vt:lpstr>석유의 수직적 가치사슬</vt:lpstr>
      <vt:lpstr>석유의 수직적 가치사슬</vt:lpstr>
      <vt:lpstr>Section 4. 석유의 생산과 소비</vt:lpstr>
      <vt:lpstr>석유의 생산과 소비</vt:lpstr>
      <vt:lpstr>석유의 생산과 소비</vt:lpstr>
      <vt:lpstr>석유의 생산과 소비</vt:lpstr>
      <vt:lpstr>석유매장량</vt:lpstr>
      <vt:lpstr>석유생산</vt:lpstr>
      <vt:lpstr>Thank you</vt:lpstr>
      <vt:lpstr>중앙정부의 재정</vt:lpstr>
      <vt:lpstr>정부 예산편성 과정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OECD 사회복지지출 통계 기준에 따른 주요국가 비교</vt:lpstr>
      <vt:lpstr>지출의 구성</vt:lpstr>
      <vt:lpstr>Section 3. 조세제도</vt:lpstr>
      <vt:lpstr>조세부담률</vt:lpstr>
      <vt:lpstr>소득과세</vt:lpstr>
      <vt:lpstr>중앙정부의 조세수입 내역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지방세 체계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256</cp:revision>
  <dcterms:created xsi:type="dcterms:W3CDTF">2025-07-05T05:15:23Z</dcterms:created>
  <dcterms:modified xsi:type="dcterms:W3CDTF">2026-05-20T05:53:00Z</dcterms:modified>
</cp:coreProperties>
</file>