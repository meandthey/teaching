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5"/>
  </p:notesMasterIdLst>
  <p:sldIdLst>
    <p:sldId id="375" r:id="rId2"/>
    <p:sldId id="405" r:id="rId3"/>
    <p:sldId id="550" r:id="rId4"/>
    <p:sldId id="553" r:id="rId5"/>
    <p:sldId id="555" r:id="rId6"/>
    <p:sldId id="557" r:id="rId7"/>
    <p:sldId id="558" r:id="rId8"/>
    <p:sldId id="632" r:id="rId9"/>
    <p:sldId id="631" r:id="rId10"/>
    <p:sldId id="559" r:id="rId11"/>
    <p:sldId id="633" r:id="rId12"/>
    <p:sldId id="638" r:id="rId13"/>
    <p:sldId id="639" r:id="rId14"/>
    <p:sldId id="642" r:id="rId15"/>
    <p:sldId id="643" r:id="rId16"/>
    <p:sldId id="644" r:id="rId17"/>
    <p:sldId id="646" r:id="rId18"/>
    <p:sldId id="645" r:id="rId19"/>
    <p:sldId id="650" r:id="rId20"/>
    <p:sldId id="651" r:id="rId21"/>
    <p:sldId id="648" r:id="rId22"/>
    <p:sldId id="554" r:id="rId23"/>
    <p:sldId id="634" r:id="rId24"/>
    <p:sldId id="654" r:id="rId25"/>
    <p:sldId id="653" r:id="rId26"/>
    <p:sldId id="655" r:id="rId27"/>
    <p:sldId id="656" r:id="rId28"/>
    <p:sldId id="657" r:id="rId29"/>
    <p:sldId id="658" r:id="rId30"/>
    <p:sldId id="659" r:id="rId31"/>
    <p:sldId id="661" r:id="rId32"/>
    <p:sldId id="662" r:id="rId33"/>
    <p:sldId id="663" r:id="rId34"/>
    <p:sldId id="665" r:id="rId35"/>
    <p:sldId id="664" r:id="rId36"/>
    <p:sldId id="667" r:id="rId37"/>
    <p:sldId id="668" r:id="rId38"/>
    <p:sldId id="669" r:id="rId39"/>
    <p:sldId id="670" r:id="rId40"/>
    <p:sldId id="671" r:id="rId41"/>
    <p:sldId id="672" r:id="rId42"/>
    <p:sldId id="673" r:id="rId43"/>
    <p:sldId id="364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6" d="100"/>
          <a:sy n="146" d="100"/>
        </p:scale>
        <p:origin x="816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9T04:53:28.6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customXml" Target="../ink/ink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9264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고대 그리스어 </a:t>
            </a: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에서 유래하였다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energeia</a:t>
            </a:r>
            <a:r>
              <a:rPr lang="ko-KR" altLang="en-US" sz="1600" spc="-50" dirty="0"/>
              <a:t>는 활동</a:t>
            </a:r>
            <a:r>
              <a:rPr lang="en-US" altLang="ko-KR" sz="1600" spc="-50" dirty="0"/>
              <a:t>(activity), </a:t>
            </a:r>
            <a:r>
              <a:rPr lang="ko-KR" altLang="en-US" sz="1600" spc="-50" dirty="0"/>
              <a:t>작용</a:t>
            </a:r>
            <a:r>
              <a:rPr lang="en-US" altLang="ko-KR" sz="1600" spc="-50" dirty="0"/>
              <a:t>(operation) </a:t>
            </a:r>
            <a:r>
              <a:rPr lang="ko-KR" altLang="en-US" sz="1600" spc="-50" dirty="0"/>
              <a:t>등의 의미로 사용되었다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어원에는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뜻하는 그리스어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이 포함되어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r>
              <a:rPr lang="en-US" altLang="ko-KR" sz="1600" spc="-50" dirty="0"/>
              <a:t>(in)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 </a:t>
            </a:r>
            <a:r>
              <a:rPr lang="en-US" altLang="ko-KR" sz="1600" spc="-50" dirty="0"/>
              <a:t>(work)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 err="1"/>
              <a:t>ergeia</a:t>
            </a:r>
            <a:r>
              <a:rPr lang="ko-KR" altLang="en-US" sz="1600" spc="-50" dirty="0"/>
              <a:t>와 </a:t>
            </a:r>
            <a:r>
              <a:rPr lang="en-US" altLang="ko-KR" sz="1600" i="1" spc="-50" dirty="0" err="1"/>
              <a:t>ergy</a:t>
            </a:r>
            <a:r>
              <a:rPr lang="ko-KR" altLang="en-US" sz="1600" spc="-50" dirty="0"/>
              <a:t>는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과 어원적으로 관련된 단어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어원적으로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(work)’</a:t>
            </a:r>
            <a:r>
              <a:rPr lang="ko-KR" altLang="en-US" sz="1600" spc="-50" dirty="0"/>
              <a:t>과 밀접한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(work) + </a:t>
            </a:r>
            <a:r>
              <a:rPr lang="en-US" altLang="ko-KR" sz="1600" i="1" spc="-50" dirty="0"/>
              <a:t>nomos</a:t>
            </a:r>
            <a:r>
              <a:rPr lang="en-US" altLang="ko-KR" sz="1600" spc="-50" dirty="0"/>
              <a:t> (law, rule)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오늘날에는 에너지를  </a:t>
            </a:r>
            <a:r>
              <a:rPr lang="en-US" altLang="ko-KR" sz="2000" b="1" spc="-50" dirty="0"/>
              <a:t>‘</a:t>
            </a:r>
            <a:r>
              <a:rPr lang="ko-KR" altLang="en-US" sz="2000" b="1" spc="-50" dirty="0"/>
              <a:t>일을 할 수 있는 능력</a:t>
            </a:r>
            <a:r>
              <a:rPr lang="en-US" altLang="ko-KR" sz="2000" b="1" spc="-50" dirty="0"/>
              <a:t>’</a:t>
            </a:r>
            <a:r>
              <a:rPr lang="ko-KR" altLang="en-US" sz="1600" spc="-50" dirty="0"/>
              <a:t> 이라고 정의하고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862" y="3138153"/>
            <a:ext cx="3999026" cy="1491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8619380" y="287654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전기포트는 전기를 열 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내부의 발열체가 뜨거워져서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물을 데운다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0.1079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0.275Mm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996914"/>
              </p:ext>
            </p:extLst>
          </p:nvPr>
        </p:nvGraphicFramePr>
        <p:xfrm>
          <a:off x="917945" y="3264003"/>
          <a:ext cx="6156757" cy="148567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3CCC6E8-6898-50A6-83DA-CC693C795F1B}"/>
              </a:ext>
            </a:extLst>
          </p:cNvPr>
          <p:cNvSpPr txBox="1"/>
          <p:nvPr/>
        </p:nvSpPr>
        <p:spPr>
          <a:xfrm>
            <a:off x="7183989" y="3720140"/>
            <a:ext cx="4370446" cy="54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300" kern="0" dirty="0">
                <a:solidFill>
                  <a:srgbClr val="000000"/>
                </a:solidFill>
              </a:rPr>
              <a:t>작은 단위로는 </a:t>
            </a:r>
            <a:r>
              <a:rPr lang="en-US" altLang="ko-KR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en-US" altLang="ko-KR" sz="1300" b="0" kern="0" spc="0" baseline="3000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-30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en-US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퀙토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quecto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q),</a:t>
            </a:r>
            <a:r>
              <a:rPr lang="ko-KR" altLang="en-US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300" b="0" kern="0" spc="0" dirty="0">
              <a:solidFill>
                <a:srgbClr val="000000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큰 단위로는 </a:t>
            </a:r>
            <a:r>
              <a:rPr lang="en-US" altLang="ko-KR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en-US" altLang="ko-KR" sz="1300" b="0" kern="0" spc="0" baseline="3000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30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en-US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퀘타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quetta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Q)</a:t>
            </a:r>
            <a:r>
              <a:rPr lang="ko-KR" altLang="en-US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까지 정의되어 있음</a:t>
            </a:r>
            <a:endParaRPr lang="en-US" altLang="ko-KR" sz="1300" b="0" kern="0" spc="0" baseline="0" dirty="0">
              <a:solidFill>
                <a:srgbClr val="000000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(</a:t>
            </a:r>
            <a:r>
              <a:rPr lang="en-US" altLang="ko-KR" sz="1600" b="1" spc="-50" dirty="0"/>
              <a:t>1cal = 4.184J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x 4.184(J/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9412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497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(1Wh = 3,600J)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89" y="3023578"/>
            <a:ext cx="9802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소수점 오차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b="1" spc="-50" dirty="0"/>
              <a:t>50Wh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en-US" altLang="ko-KR" sz="1600" b="1" spc="-50" dirty="0"/>
              <a:t>180,000J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en-US" altLang="ko-KR" sz="1600" b="1" spc="-50" dirty="0"/>
              <a:t>42,985cal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791803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3" name="잉크 22">
                <a:extLst>
                  <a:ext uri="{FF2B5EF4-FFF2-40B4-BE49-F238E27FC236}">
                    <a16:creationId xmlns:a16="http://schemas.microsoft.com/office/drawing/2014/main" id="{85FFDB12-A0A9-55DB-176A-6E04EEB70428}"/>
                  </a:ext>
                </a:extLst>
              </p14:cNvPr>
              <p14:cNvContentPartPr/>
              <p14:nvPr/>
            </p14:nvContentPartPr>
            <p14:xfrm>
              <a:off x="3520286" y="1658931"/>
              <a:ext cx="360" cy="360"/>
            </p14:xfrm>
          </p:contentPart>
        </mc:Choice>
        <mc:Fallback>
          <p:pic>
            <p:nvPicPr>
              <p:cNvPr id="23" name="잉크 22">
                <a:extLst>
                  <a:ext uri="{FF2B5EF4-FFF2-40B4-BE49-F238E27FC236}">
                    <a16:creationId xmlns:a16="http://schemas.microsoft.com/office/drawing/2014/main" id="{85FFDB12-A0A9-55DB-176A-6E04EEB7042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14166" y="165281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다른 기기를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68E06B-17FE-B471-6EBE-F1E93BC53F37}"/>
              </a:ext>
            </a:extLst>
          </p:cNvPr>
          <p:cNvSpPr txBox="1"/>
          <p:nvPr/>
        </p:nvSpPr>
        <p:spPr>
          <a:xfrm>
            <a:off x="9157294" y="1655038"/>
            <a:ext cx="506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spc="-50" dirty="0"/>
              <a:t>vs.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70"/>
            <a:ext cx="4298873" cy="156419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각 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/liter,  </a:t>
            </a:r>
            <a:r>
              <a:rPr lang="ko-KR" altLang="en-US" sz="1600" spc="-50" dirty="0"/>
              <a:t>전기차 충전요금 </a:t>
            </a:r>
            <a:r>
              <a:rPr lang="en-US" altLang="ko-KR" sz="1600" spc="-50" dirty="0"/>
              <a:t>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급속충전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가는데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2,510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의 충전비용은 아반떼 연료비용의 </a:t>
            </a:r>
            <a:r>
              <a:rPr lang="en-US" altLang="ko-KR" sz="1600" spc="-50" dirty="0"/>
              <a:t>52% </a:t>
            </a:r>
            <a:r>
              <a:rPr lang="ko-KR" altLang="en-US" sz="1600" spc="-50" dirty="0"/>
              <a:t>수준이다</a:t>
            </a:r>
            <a:r>
              <a:rPr lang="en-US" altLang="ko-KR" sz="1600" spc="-50" dirty="0"/>
              <a:t>. (2,510/4,800 = 0.52)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/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blipFill>
                <a:blip r:embed="rId3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에너지효율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744754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에너지 효율은 같은 거리를 가는데 에너지를 얼마나 쓰는지 의미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아반떼는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</a:t>
            </a:r>
            <a:r>
              <a:rPr lang="en-US" altLang="ko-KR" sz="1600" spc="-50" dirty="0"/>
              <a:t> liter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40(km)/15(km/liter) = 2.7 liter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</a:t>
            </a:r>
            <a:r>
              <a:rPr lang="ko-KR" altLang="en-US" sz="1600" spc="-50" dirty="0" err="1"/>
              <a:t>표에서와</a:t>
            </a:r>
            <a:r>
              <a:rPr lang="ko-KR" altLang="en-US" sz="1600" spc="-50" dirty="0"/>
              <a:t> 같이 휘발유 </a:t>
            </a:r>
            <a:r>
              <a:rPr lang="en-US" altLang="ko-KR" sz="1600" spc="-50" dirty="0"/>
              <a:t>1liter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32.4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7,750 kcal(</a:t>
            </a:r>
            <a:r>
              <a:rPr lang="ko-KR" altLang="en-US" sz="1600" spc="-50" dirty="0"/>
              <a:t>킬로칼로리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아반떼는 </a:t>
            </a:r>
            <a:r>
              <a:rPr lang="en-US" altLang="ko-KR" sz="1600" spc="-50" dirty="0"/>
              <a:t>87.5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(2.7 x 32.4)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20,925 kcal (2.7 x 7,750)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40km/5.1(km/kWh) = 7.8 kWh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 </a:t>
            </a:r>
            <a:r>
              <a:rPr lang="en-US" altLang="ko-KR" sz="1600" spc="-50" dirty="0"/>
              <a:t>1kWh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9.6MJ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2,290 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74.9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 x 9.6)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17,862 kcal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2,290)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1DD57BE4-4F5B-FF93-D9EB-FD7B5C6EDE97}"/>
              </a:ext>
            </a:extLst>
          </p:cNvPr>
          <p:cNvSpPr/>
          <p:nvPr/>
        </p:nvSpPr>
        <p:spPr>
          <a:xfrm>
            <a:off x="8056856" y="1477048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87B0C1-07AD-5DCB-0195-2E4A3DA366DE}"/>
              </a:ext>
            </a:extLst>
          </p:cNvPr>
          <p:cNvSpPr/>
          <p:nvPr/>
        </p:nvSpPr>
        <p:spPr>
          <a:xfrm>
            <a:off x="9232079" y="1477048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B08917-6F43-601B-8413-10A1B0C071A2}"/>
              </a:ext>
            </a:extLst>
          </p:cNvPr>
          <p:cNvSpPr/>
          <p:nvPr/>
        </p:nvSpPr>
        <p:spPr>
          <a:xfrm>
            <a:off x="9653559" y="1477048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6CC028-BD3D-7108-1AEA-B919FB329787}"/>
              </a:ext>
            </a:extLst>
          </p:cNvPr>
          <p:cNvSpPr/>
          <p:nvPr/>
        </p:nvSpPr>
        <p:spPr>
          <a:xfrm>
            <a:off x="8056856" y="5217459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C7D3E6-3EFD-C153-8DB2-2F9EC1B76C78}"/>
              </a:ext>
            </a:extLst>
          </p:cNvPr>
          <p:cNvSpPr/>
          <p:nvPr/>
        </p:nvSpPr>
        <p:spPr>
          <a:xfrm>
            <a:off x="9232079" y="5217459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AB50AF-44B2-1E46-1C45-A23880273460}"/>
              </a:ext>
            </a:extLst>
          </p:cNvPr>
          <p:cNvSpPr/>
          <p:nvPr/>
        </p:nvSpPr>
        <p:spPr>
          <a:xfrm>
            <a:off x="9653559" y="5217459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41FC-39A3-C293-1C0D-CC337F69C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284A47-D6E7-787B-583A-7BD50BCABB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B81D5-ADEB-E606-3F8E-92A42A4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E91B051-A94F-C5C3-0DC7-640F303F0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도시가스 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07316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92607-0F12-2E31-62AB-1E7BD1D2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3DD91-C6CB-E783-A4CE-B36531A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8F1E9B-23E0-BF5A-F08F-378E0FCA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A35181-7F03-5702-1DBB-F6FDCC60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2713206"/>
            <a:ext cx="7261860" cy="38237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7935C7-E7C7-D26D-D462-B321CA5D9964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일상생활에서 가스를 사용하는 경우는 주방에서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요리할 때 도시가스를 사용하고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CNG </a:t>
            </a:r>
            <a:r>
              <a:rPr lang="ko-KR" altLang="en-US" sz="1600" spc="-50" dirty="0"/>
              <a:t>시내버스를 타면 그 버스의 연료는 압축천연가스</a:t>
            </a:r>
            <a:r>
              <a:rPr lang="en-US" altLang="ko-KR" sz="1600" spc="-50" dirty="0"/>
              <a:t>(CNG, Compressed Natural Gas)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휘발유와 마찬가지로 사용량에 단가를 곱하여 가스요금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가스는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 </a:t>
            </a:r>
            <a:r>
              <a:rPr lang="ko-KR" altLang="en-US" sz="1600" spc="-50" dirty="0"/>
              <a:t>라는 부피를 기준으로 에너지사용을 측정한다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4B3928-A142-852C-D14E-3B0C938E0C9C}"/>
              </a:ext>
            </a:extLst>
          </p:cNvPr>
          <p:cNvSpPr/>
          <p:nvPr/>
        </p:nvSpPr>
        <p:spPr>
          <a:xfrm>
            <a:off x="7848600" y="2730308"/>
            <a:ext cx="487680" cy="518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</a:t>
            </a:r>
            <a:r>
              <a:rPr lang="en-US" altLang="ko-KR" baseline="30000" dirty="0">
                <a:solidFill>
                  <a:schemeClr val="tx1"/>
                </a:solidFill>
              </a:rPr>
              <a:t>3</a:t>
            </a:r>
            <a:endParaRPr lang="ko-KR" altLang="en-US" baseline="3000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83414F-FDFF-212E-94F9-E95AEBDBC6E4}"/>
              </a:ext>
            </a:extLst>
          </p:cNvPr>
          <p:cNvSpPr/>
          <p:nvPr/>
        </p:nvSpPr>
        <p:spPr>
          <a:xfrm>
            <a:off x="4884420" y="3959642"/>
            <a:ext cx="487680" cy="7876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30000" dirty="0">
              <a:solidFill>
                <a:schemeClr val="tx1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3D69AE95-7D15-2C3B-1254-8D6576C49E10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5372100" y="2989388"/>
            <a:ext cx="2476500" cy="136406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C58DBAA-84DC-7628-966B-49AFD993CE90}"/>
              </a:ext>
            </a:extLst>
          </p:cNvPr>
          <p:cNvSpPr txBox="1"/>
          <p:nvPr/>
        </p:nvSpPr>
        <p:spPr>
          <a:xfrm>
            <a:off x="7632700" y="3365580"/>
            <a:ext cx="413385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가스는 기체이므로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액체 형태이므로</a:t>
            </a:r>
            <a:r>
              <a:rPr lang="en-US" altLang="ko-KR" sz="1600" spc="-50" dirty="0"/>
              <a:t>, liter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전기 형태이므로</a:t>
            </a:r>
            <a:r>
              <a:rPr lang="en-US" altLang="ko-KR" sz="1600" spc="-50" dirty="0"/>
              <a:t>, kWh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석탄은 고체 형태이므로</a:t>
            </a:r>
            <a:r>
              <a:rPr lang="en-US" altLang="ko-KR" sz="1600" spc="-50" dirty="0"/>
              <a:t>, kg</a:t>
            </a:r>
            <a:r>
              <a:rPr lang="ko-KR" altLang="en-US" sz="1600" spc="-50" dirty="0"/>
              <a:t>을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EEF3AB59-E652-EE29-2651-C819DDBF9188}"/>
              </a:ext>
            </a:extLst>
          </p:cNvPr>
          <p:cNvSpPr/>
          <p:nvPr/>
        </p:nvSpPr>
        <p:spPr>
          <a:xfrm>
            <a:off x="9729978" y="1668931"/>
            <a:ext cx="1216152" cy="1216152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C288A7-3919-FD49-4D4A-224DBED215B9}"/>
              </a:ext>
            </a:extLst>
          </p:cNvPr>
          <p:cNvSpPr/>
          <p:nvPr/>
        </p:nvSpPr>
        <p:spPr>
          <a:xfrm>
            <a:off x="9538716" y="1979749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7D17E994-9537-04C9-B42E-D97C47EFC7CE}"/>
              </a:ext>
            </a:extLst>
          </p:cNvPr>
          <p:cNvSpPr/>
          <p:nvPr/>
        </p:nvSpPr>
        <p:spPr>
          <a:xfrm rot="16200000">
            <a:off x="10109683" y="2535651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왼쪽 중괄호 28">
            <a:extLst>
              <a:ext uri="{FF2B5EF4-FFF2-40B4-BE49-F238E27FC236}">
                <a16:creationId xmlns:a16="http://schemas.microsoft.com/office/drawing/2014/main" id="{D3B4CC32-EA1C-2149-5298-886D152877CC}"/>
              </a:ext>
            </a:extLst>
          </p:cNvPr>
          <p:cNvSpPr/>
          <p:nvPr/>
        </p:nvSpPr>
        <p:spPr>
          <a:xfrm rot="13509751">
            <a:off x="10790149" y="2583354"/>
            <a:ext cx="155448" cy="432218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5230AA-27E4-365E-5CDA-7D5604407DF0}"/>
              </a:ext>
            </a:extLst>
          </p:cNvPr>
          <p:cNvSpPr/>
          <p:nvPr/>
        </p:nvSpPr>
        <p:spPr>
          <a:xfrm>
            <a:off x="9215661" y="2311351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F6079B0-94C4-8E12-026A-3757AF9D446A}"/>
              </a:ext>
            </a:extLst>
          </p:cNvPr>
          <p:cNvSpPr/>
          <p:nvPr/>
        </p:nvSpPr>
        <p:spPr>
          <a:xfrm>
            <a:off x="10003837" y="3013199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9169BA5-B0B1-AE02-97AA-DD5CAD1012B7}"/>
              </a:ext>
            </a:extLst>
          </p:cNvPr>
          <p:cNvSpPr/>
          <p:nvPr/>
        </p:nvSpPr>
        <p:spPr>
          <a:xfrm>
            <a:off x="10781728" y="2813374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430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53B8-4AB1-9763-6BA8-F519C13A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B098F-A592-3355-073E-E5F2A2EE8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487BC3-1A87-99E6-1DD8-96E944A2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C210A-1598-4F1B-1466-6E4A77D1BACE}"/>
              </a:ext>
            </a:extLst>
          </p:cNvPr>
          <p:cNvSpPr txBox="1"/>
          <p:nvPr/>
        </p:nvSpPr>
        <p:spPr>
          <a:xfrm>
            <a:off x="288791" y="958844"/>
            <a:ext cx="7396204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표에서 도시가스를 보면 단순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단위를 사용한다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</a:t>
            </a: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 상태에서의 기체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 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기압인 상태를 표준 상태라고 보통 표현한다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표준상태일 때의 기체 부피를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표준상태라고 하는 기준이 필요한 이유는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온도가 올라가면 부피는 커지고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온도가 내려가면 부피는 작아진다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압력을 높이면 부피는 작아지고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압력을 낮추면 부피는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표준상태라는 기준을 정의하지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겨울에 똑같은 양의 가스를 사용해도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여름에 가스요금을 더 많이 내게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집에서 쓰는 도시가스는 </a:t>
            </a:r>
            <a:r>
              <a:rPr lang="en-US" altLang="ko-KR" sz="1600" spc="-50" dirty="0"/>
              <a:t>LNG</a:t>
            </a:r>
            <a:r>
              <a:rPr lang="ko-KR" altLang="en-US" sz="1600" spc="-50" dirty="0"/>
              <a:t>로서</a:t>
            </a:r>
            <a:r>
              <a:rPr lang="en-US" altLang="ko-KR" sz="1600" spc="-50" dirty="0"/>
              <a:t>, 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42.7MJ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10,190kcal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3B95D6-3EB9-2169-6230-593B5CAF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64604B-77D0-72E8-D3AA-4BDEF15DCCCD}"/>
              </a:ext>
            </a:extLst>
          </p:cNvPr>
          <p:cNvSpPr/>
          <p:nvPr/>
        </p:nvSpPr>
        <p:spPr>
          <a:xfrm>
            <a:off x="8056856" y="3879477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08B08-E460-92D4-0FA7-4066DBC5D3A9}"/>
              </a:ext>
            </a:extLst>
          </p:cNvPr>
          <p:cNvSpPr/>
          <p:nvPr/>
        </p:nvSpPr>
        <p:spPr>
          <a:xfrm>
            <a:off x="9232079" y="3879477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7A1EAD-8FB8-F1BD-6875-45390C7DBEAE}"/>
              </a:ext>
            </a:extLst>
          </p:cNvPr>
          <p:cNvSpPr/>
          <p:nvPr/>
        </p:nvSpPr>
        <p:spPr>
          <a:xfrm>
            <a:off x="9653559" y="3879477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786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E2EED-ED97-05C3-7A45-9D6F19F2A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E9057-5AD5-C997-A298-BEC0194B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CE5435-EBD6-A694-B2A1-B9A2A4CA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A23AC-16A7-0CE2-9898-14CDFC1071C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요금은 아래와 같이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온압보정계수는</a:t>
            </a:r>
            <a:r>
              <a:rPr lang="ko-KR" altLang="en-US" sz="1600" spc="-50" dirty="0"/>
              <a:t> 도시가스 계량기가 측정한 가스의 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표준상태의 부피로 </a:t>
            </a:r>
            <a:r>
              <a:rPr lang="en-US" altLang="ko-KR" sz="1600" spc="-50" dirty="0"/>
              <a:t>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환산하기 위한 계수이다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/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도시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스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온압보정계수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원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blipFill>
                <a:blip r:embed="rId2"/>
                <a:stretch>
                  <a:fillRect l="-859" t="-7692" b="-256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75A88289-B9FE-1A08-255F-8DEE9B345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493" y="3307964"/>
            <a:ext cx="2042380" cy="31438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2CBC7A-F124-49B9-1F49-E458CD9CF6B8}"/>
              </a:ext>
            </a:extLst>
          </p:cNvPr>
          <p:cNvSpPr txBox="1"/>
          <p:nvPr/>
        </p:nvSpPr>
        <p:spPr>
          <a:xfrm>
            <a:off x="9609171" y="305039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&lt;2025</a:t>
            </a:r>
            <a:r>
              <a:rPr lang="ko-KR" altLang="en-US" sz="1200" spc="-50" dirty="0"/>
              <a:t>년 도시가스 </a:t>
            </a:r>
            <a:r>
              <a:rPr lang="ko-KR" altLang="en-US" sz="1200" spc="-50" dirty="0" err="1"/>
              <a:t>온압보정계수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940D92-D33A-4C34-7F25-A8203B9E5D99}"/>
              </a:ext>
            </a:extLst>
          </p:cNvPr>
          <p:cNvSpPr txBox="1"/>
          <p:nvPr/>
        </p:nvSpPr>
        <p:spPr>
          <a:xfrm>
            <a:off x="288790" y="2664989"/>
            <a:ext cx="934553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지역별로 기온과 기압이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표와 같이 </a:t>
            </a:r>
            <a:r>
              <a:rPr lang="ko-KR" altLang="en-US" sz="1600" spc="-50" dirty="0" err="1"/>
              <a:t>온압보정계수를</a:t>
            </a:r>
            <a:r>
              <a:rPr lang="ko-KR" altLang="en-US" sz="1600" spc="-50" dirty="0"/>
              <a:t> 지역별로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0.9944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제주의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0.9731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제주는 서울보다 평균 기온이 높아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같은 양의 가스 분자라도 보다 큰 부피를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제천의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0.9748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제주와 달리 충주 옆에 위치한 내륙지역임에도 불구하고 </a:t>
            </a:r>
            <a:r>
              <a:rPr lang="ko-KR" altLang="en-US" sz="1600" spc="-50" dirty="0" err="1"/>
              <a:t>온압보정계수가</a:t>
            </a:r>
            <a:r>
              <a:rPr lang="ko-KR" altLang="en-US" sz="1600" spc="-50" dirty="0"/>
              <a:t> 낮다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다른 지역보다 해발고도가 높은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해발고도가 높으면 기압이 낮아져서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양의 가스 분자라도 보다 큰 부피를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E9EB67D-3FCB-AD0D-1F48-A82326A5CBBF}"/>
              </a:ext>
            </a:extLst>
          </p:cNvPr>
          <p:cNvSpPr/>
          <p:nvPr/>
        </p:nvSpPr>
        <p:spPr>
          <a:xfrm>
            <a:off x="9885039" y="3319712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5A38100-4984-C768-D2BF-AE49B06D4A5B}"/>
              </a:ext>
            </a:extLst>
          </p:cNvPr>
          <p:cNvSpPr/>
          <p:nvPr/>
        </p:nvSpPr>
        <p:spPr>
          <a:xfrm>
            <a:off x="9885039" y="4576705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1E865AA-F37A-C658-7AFF-5E9BA125E53B}"/>
              </a:ext>
            </a:extLst>
          </p:cNvPr>
          <p:cNvSpPr/>
          <p:nvPr/>
        </p:nvSpPr>
        <p:spPr>
          <a:xfrm>
            <a:off x="10941679" y="6186911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143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5ADB1-456F-C566-8D5E-914EBC83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0007-EA5C-A92E-1DE2-75053F80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B5E98C-A9A3-4D38-1498-6225EFB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22E70-D429-13E1-C4CD-77C07439EF51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한국가스공사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도매업자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해외로부터 천연가스를 수입하여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파이프라인을 통해 국내 각지에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가스공급업자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해당지역에서 독점적 지위로서 소비자들에게 가스를 판매한다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사용단가는 지역별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공급업체별로 약간씩 다르다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업무난방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나뉘고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용도에 따라 가격이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593D00-D1B4-9F70-6E08-09815BC18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707" y="3479800"/>
            <a:ext cx="6084732" cy="27432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AA271C-1F98-92CC-6803-5456D72AA0A7}"/>
              </a:ext>
            </a:extLst>
          </p:cNvPr>
          <p:cNvSpPr txBox="1"/>
          <p:nvPr/>
        </p:nvSpPr>
        <p:spPr>
          <a:xfrm>
            <a:off x="9527540" y="6223086"/>
            <a:ext cx="22567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http://www.citygas.or.kr/info/charge.jsp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1CC7-A93C-177F-557B-561A46FDC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26" y="2868669"/>
            <a:ext cx="3543827" cy="36682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CF1DFD-0079-56C4-64F5-6E14FF23D39E}"/>
              </a:ext>
            </a:extLst>
          </p:cNvPr>
          <p:cNvSpPr txBox="1"/>
          <p:nvPr/>
        </p:nvSpPr>
        <p:spPr>
          <a:xfrm>
            <a:off x="1547211" y="307071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회사 현황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F2ECD8-06EA-5CAA-B784-A045D94CAAF7}"/>
              </a:ext>
            </a:extLst>
          </p:cNvPr>
          <p:cNvSpPr txBox="1"/>
          <p:nvPr/>
        </p:nvSpPr>
        <p:spPr>
          <a:xfrm>
            <a:off x="1852930" y="6330808"/>
            <a:ext cx="2084070" cy="20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http://www.citygas.or.kr/company/situation.jsp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659CB0-A21B-1E4A-B3BD-1C3BC3177112}"/>
              </a:ext>
            </a:extLst>
          </p:cNvPr>
          <p:cNvSpPr txBox="1"/>
          <p:nvPr/>
        </p:nvSpPr>
        <p:spPr>
          <a:xfrm>
            <a:off x="7495891" y="3290500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</a:t>
            </a:r>
            <a:r>
              <a:rPr lang="ko-KR" altLang="en-US" sz="1200" spc="-50" dirty="0" err="1"/>
              <a:t>요금표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198588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775A-C5EA-E66A-9608-DD8536D9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417AE-4BF1-B500-EF34-86E9DE24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9B1B5-6E87-E910-FA08-851ECA1E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5C9BC-54D8-3123-3CEF-FDEF0B0286A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 </a:t>
            </a:r>
            <a:r>
              <a:rPr lang="en-US" altLang="ko-KR" sz="1600" spc="-50" dirty="0"/>
              <a:t>500ml (</a:t>
            </a:r>
            <a:r>
              <a:rPr lang="ko-KR" altLang="en-US" sz="1600" spc="-50" dirty="0"/>
              <a:t>라면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봉지에 필요한 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를 끓이는 데 도시가스는 얼마나 필요하고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요금은 얼마일지 계산해보자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400,000 J (=0.4 MJ)</a:t>
            </a:r>
            <a:r>
              <a:rPr lang="ko-KR" altLang="en-US" sz="1600" spc="-50" dirty="0"/>
              <a:t>의 에너지가 필요하다고 하자</a:t>
            </a:r>
            <a:r>
              <a:rPr lang="en-US" altLang="ko-KR" sz="1600" spc="-50" dirty="0"/>
              <a:t>. (20℃ → 100℃)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도시가스는 </a:t>
            </a:r>
            <a:r>
              <a:rPr lang="en-US" altLang="ko-KR" sz="1600" spc="-50" dirty="0"/>
              <a:t>42.7MJ</a:t>
            </a:r>
            <a:r>
              <a:rPr lang="ko-KR" altLang="en-US" sz="1600" spc="-50" dirty="0"/>
              <a:t> 의 에너지를 갖고 있었다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40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 MJ x 1/42.7 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/MJ) = 0.009Nm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0.208m x 0.208m x 0.208m = 0.009 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표준상태</a:t>
            </a:r>
            <a:r>
              <a:rPr lang="en-US" altLang="ko-KR" sz="1600" spc="-50" dirty="0"/>
              <a:t>(0℃, 1</a:t>
            </a:r>
            <a:r>
              <a:rPr lang="ko-KR" altLang="en-US" sz="1600" spc="-50" dirty="0"/>
              <a:t>기압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</a:t>
            </a:r>
            <a:r>
              <a:rPr lang="en-US" altLang="ko-KR" sz="1600" spc="-50" dirty="0"/>
              <a:t>500ml </a:t>
            </a:r>
            <a:r>
              <a:rPr lang="ko-KR" altLang="en-US" sz="1600" spc="-50" dirty="0"/>
              <a:t>를 끓이기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아래와 같이 한 변이 </a:t>
            </a:r>
            <a:r>
              <a:rPr lang="en-US" altLang="ko-KR" sz="1600" spc="-50" dirty="0"/>
              <a:t>20.8cm (0.208m)</a:t>
            </a:r>
            <a:r>
              <a:rPr lang="ko-KR" altLang="en-US" sz="1600" spc="-50" dirty="0"/>
              <a:t>인 정육면체 부피 만큼의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대전지역에서 주택 취사용 도시가스의 가격은 </a:t>
            </a:r>
            <a:r>
              <a:rPr lang="en-US" altLang="ko-KR" sz="1600" spc="-50" dirty="0"/>
              <a:t>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42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= 9.1</a:t>
            </a:r>
            <a:r>
              <a:rPr lang="ko-KR" altLang="en-US" sz="1600" spc="-50" dirty="0"/>
              <a:t>원의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도시가스 요금이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BED43F26-E393-3364-D0A4-79D568F24E69}"/>
              </a:ext>
            </a:extLst>
          </p:cNvPr>
          <p:cNvSpPr/>
          <p:nvPr/>
        </p:nvSpPr>
        <p:spPr>
          <a:xfrm>
            <a:off x="3330956" y="3993818"/>
            <a:ext cx="155448" cy="5628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왼쪽 중괄호 10">
            <a:extLst>
              <a:ext uri="{FF2B5EF4-FFF2-40B4-BE49-F238E27FC236}">
                <a16:creationId xmlns:a16="http://schemas.microsoft.com/office/drawing/2014/main" id="{6A726663-8301-128C-8A45-1120C4AF13A1}"/>
              </a:ext>
            </a:extLst>
          </p:cNvPr>
          <p:cNvSpPr/>
          <p:nvPr/>
        </p:nvSpPr>
        <p:spPr>
          <a:xfrm rot="16200000">
            <a:off x="3707820" y="4392841"/>
            <a:ext cx="155448" cy="5537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왼쪽 중괄호 15">
            <a:extLst>
              <a:ext uri="{FF2B5EF4-FFF2-40B4-BE49-F238E27FC236}">
                <a16:creationId xmlns:a16="http://schemas.microsoft.com/office/drawing/2014/main" id="{17B27489-6C22-238D-24A1-F6B939034713}"/>
              </a:ext>
            </a:extLst>
          </p:cNvPr>
          <p:cNvSpPr/>
          <p:nvPr/>
        </p:nvSpPr>
        <p:spPr>
          <a:xfrm rot="13509751">
            <a:off x="4155758" y="4409090"/>
            <a:ext cx="155448" cy="265107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BC63CC-03F6-D8C8-418D-62776B40D59A}"/>
              </a:ext>
            </a:extLst>
          </p:cNvPr>
          <p:cNvSpPr/>
          <p:nvPr/>
        </p:nvSpPr>
        <p:spPr>
          <a:xfrm>
            <a:off x="3480096" y="472963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5" name="정육면체 24">
            <a:extLst>
              <a:ext uri="{FF2B5EF4-FFF2-40B4-BE49-F238E27FC236}">
                <a16:creationId xmlns:a16="http://schemas.microsoft.com/office/drawing/2014/main" id="{B2A56D92-3E7D-5DF7-786E-DBB7D501CBC3}"/>
              </a:ext>
            </a:extLst>
          </p:cNvPr>
          <p:cNvSpPr/>
          <p:nvPr/>
        </p:nvSpPr>
        <p:spPr>
          <a:xfrm>
            <a:off x="3508674" y="3819493"/>
            <a:ext cx="737164" cy="737164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C96565E-F264-E962-5321-F0B9BA191E3A}"/>
              </a:ext>
            </a:extLst>
          </p:cNvPr>
          <p:cNvSpPr/>
          <p:nvPr/>
        </p:nvSpPr>
        <p:spPr>
          <a:xfrm>
            <a:off x="4133910" y="4556657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B2E9B0-AA03-50FD-857C-06CC1A771AC7}"/>
              </a:ext>
            </a:extLst>
          </p:cNvPr>
          <p:cNvSpPr/>
          <p:nvPr/>
        </p:nvSpPr>
        <p:spPr>
          <a:xfrm>
            <a:off x="2806996" y="415167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9AC41A-FD11-0508-75D1-4EF554559C60}"/>
              </a:ext>
            </a:extLst>
          </p:cNvPr>
          <p:cNvSpPr/>
          <p:nvPr/>
        </p:nvSpPr>
        <p:spPr>
          <a:xfrm>
            <a:off x="3553701" y="4147308"/>
            <a:ext cx="530982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도시가스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04E6C29B-DB5E-00E6-427D-635A2BAB6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390" y="3617217"/>
            <a:ext cx="1902640" cy="1522655"/>
          </a:xfrm>
          <a:prstGeom prst="rect">
            <a:avLst/>
          </a:prstGeom>
        </p:spPr>
      </p:pic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D4C0D7B-EB24-6B2D-214D-328D07A3D52E}"/>
              </a:ext>
            </a:extLst>
          </p:cNvPr>
          <p:cNvCxnSpPr>
            <a:cxnSpLocks/>
            <a:stCxn id="25" idx="5"/>
            <a:endCxn id="35" idx="2"/>
          </p:cNvCxnSpPr>
          <p:nvPr/>
        </p:nvCxnSpPr>
        <p:spPr>
          <a:xfrm>
            <a:off x="4245838" y="4095930"/>
            <a:ext cx="2431872" cy="1043942"/>
          </a:xfrm>
          <a:prstGeom prst="bentConnector4">
            <a:avLst>
              <a:gd name="adj1" fmla="val 30441"/>
              <a:gd name="adj2" fmla="val 12189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1794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11760</TotalTime>
  <Words>4942</Words>
  <Application>Microsoft Office PowerPoint</Application>
  <PresentationFormat>와이드스크린</PresentationFormat>
  <Paragraphs>587</Paragraphs>
  <Slides>43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0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2  에너지 개론</vt:lpstr>
      <vt:lpstr>Section 1. 서 론</vt:lpstr>
      <vt:lpstr>Energy 어원</vt:lpstr>
      <vt:lpstr>에너지의 여러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우리집 전기요금</vt:lpstr>
      <vt:lpstr>주택용, 교육용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비용 비교 (휘발유차 vs. 전기차)</vt:lpstr>
      <vt:lpstr>에너지효율 비교 (휘발유차 vs. 전기차)</vt:lpstr>
      <vt:lpstr>Section 4. 도시가스 요금</vt:lpstr>
      <vt:lpstr>도시가스 요금</vt:lpstr>
      <vt:lpstr>도시가스 요금</vt:lpstr>
      <vt:lpstr>도시가스 요금</vt:lpstr>
      <vt:lpstr>도시가스 요금</vt:lpstr>
      <vt:lpstr>도시가스 요금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431</cp:revision>
  <dcterms:created xsi:type="dcterms:W3CDTF">2025-07-05T05:15:23Z</dcterms:created>
  <dcterms:modified xsi:type="dcterms:W3CDTF">2026-09-09T08:13:34Z</dcterms:modified>
</cp:coreProperties>
</file>