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66"/>
  </p:notesMasterIdLst>
  <p:sldIdLst>
    <p:sldId id="375" r:id="rId2"/>
    <p:sldId id="405" r:id="rId3"/>
    <p:sldId id="550" r:id="rId4"/>
    <p:sldId id="376" r:id="rId5"/>
    <p:sldId id="611" r:id="rId6"/>
    <p:sldId id="599" r:id="rId7"/>
    <p:sldId id="600" r:id="rId8"/>
    <p:sldId id="601" r:id="rId9"/>
    <p:sldId id="602" r:id="rId10"/>
    <p:sldId id="603" r:id="rId11"/>
    <p:sldId id="604" r:id="rId12"/>
    <p:sldId id="605" r:id="rId13"/>
    <p:sldId id="606" r:id="rId14"/>
    <p:sldId id="607" r:id="rId15"/>
    <p:sldId id="608" r:id="rId16"/>
    <p:sldId id="609" r:id="rId17"/>
    <p:sldId id="610" r:id="rId18"/>
    <p:sldId id="612" r:id="rId19"/>
    <p:sldId id="613" r:id="rId20"/>
    <p:sldId id="614" r:id="rId21"/>
    <p:sldId id="615" r:id="rId22"/>
    <p:sldId id="616" r:id="rId23"/>
    <p:sldId id="617" r:id="rId24"/>
    <p:sldId id="618" r:id="rId25"/>
    <p:sldId id="619" r:id="rId26"/>
    <p:sldId id="620" r:id="rId27"/>
    <p:sldId id="621" r:id="rId28"/>
    <p:sldId id="622" r:id="rId29"/>
    <p:sldId id="623" r:id="rId30"/>
    <p:sldId id="624" r:id="rId31"/>
    <p:sldId id="364" r:id="rId32"/>
    <p:sldId id="552" r:id="rId33"/>
    <p:sldId id="595" r:id="rId34"/>
    <p:sldId id="570" r:id="rId35"/>
    <p:sldId id="571" r:id="rId36"/>
    <p:sldId id="572" r:id="rId37"/>
    <p:sldId id="573" r:id="rId38"/>
    <p:sldId id="574" r:id="rId39"/>
    <p:sldId id="575" r:id="rId40"/>
    <p:sldId id="576" r:id="rId41"/>
    <p:sldId id="551" r:id="rId42"/>
    <p:sldId id="577" r:id="rId43"/>
    <p:sldId id="578" r:id="rId44"/>
    <p:sldId id="596" r:id="rId45"/>
    <p:sldId id="579" r:id="rId46"/>
    <p:sldId id="557" r:id="rId47"/>
    <p:sldId id="580" r:id="rId48"/>
    <p:sldId id="581" r:id="rId49"/>
    <p:sldId id="597" r:id="rId50"/>
    <p:sldId id="582" r:id="rId51"/>
    <p:sldId id="583" r:id="rId52"/>
    <p:sldId id="584" r:id="rId53"/>
    <p:sldId id="585" r:id="rId54"/>
    <p:sldId id="586" r:id="rId55"/>
    <p:sldId id="562" r:id="rId56"/>
    <p:sldId id="587" r:id="rId57"/>
    <p:sldId id="588" r:id="rId58"/>
    <p:sldId id="589" r:id="rId59"/>
    <p:sldId id="590" r:id="rId60"/>
    <p:sldId id="591" r:id="rId61"/>
    <p:sldId id="592" r:id="rId62"/>
    <p:sldId id="593" r:id="rId63"/>
    <p:sldId id="594" r:id="rId64"/>
    <p:sldId id="598" r:id="rId6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5F5F"/>
    <a:srgbClr val="F8F7FC"/>
    <a:srgbClr val="2D72BE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885" autoAdjust="0"/>
  </p:normalViewPr>
  <p:slideViewPr>
    <p:cSldViewPr snapToGrid="0">
      <p:cViewPr varScale="1">
        <p:scale>
          <a:sx n="148" d="100"/>
          <a:sy n="148" d="100"/>
        </p:scale>
        <p:origin x="740" y="7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2026-05-21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63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85966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2026-05-21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2026-05-21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2026-05-21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2026-05-21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2026-05-21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2026-05-21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2026-05-21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2026-05-21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2026-05-21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2026-05-21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2026-05-21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live/4NHzaP2ocBQ" TargetMode="External"/><Relationship Id="rId7" Type="http://schemas.openxmlformats.org/officeDocument/2006/relationships/hyperlink" Target="https://finedu.mpb.go.kr/html.do?menu_code=010202" TargetMode="Externa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fsc.go.kr/no040101?cnId=2983" TargetMode="External"/><Relationship Id="rId5" Type="http://schemas.openxmlformats.org/officeDocument/2006/relationships/hyperlink" Target="https://assembly.go.kr/portal/cnts/cntsCont/dataA.do?menuNo=600234&amp;cntsDivCd=BUDGET" TargetMode="External"/><Relationship Id="rId4" Type="http://schemas.openxmlformats.org/officeDocument/2006/relationships/hyperlink" Target="https://www.youtube.com/watch?v=d7QpBQD5HJ4" TargetMode="Externa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openfiscaldata.go.kr/op/ko/fd/UOPKOFDA03?pageIndex=1&amp;pageSize=7000&amp;totalCnt=0&amp;odtNm=%EA%B2%B0%EC%82%B0" TargetMode="Externa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5400" b="1" i="0" dirty="0"/>
              <a:t>자원</a:t>
            </a:r>
            <a:r>
              <a:rPr lang="en-US" altLang="ko-KR" sz="5400" b="1" i="0" dirty="0"/>
              <a:t>·</a:t>
            </a:r>
            <a:r>
              <a:rPr lang="ko-KR" altLang="en-US" sz="5400" b="1" i="0" dirty="0"/>
              <a:t>에너지 경제학</a:t>
            </a:r>
            <a:endParaRPr lang="ko-KR" altLang="en-US" sz="4800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Lecture - 2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2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석유 시장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개 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8E53AA-7D50-5F4A-320F-293F31547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66E9B2-B0DB-FDCD-AA50-636EA4E5B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B7B113-36A4-C1F3-9E9E-939A12CDC18C}"/>
              </a:ext>
            </a:extLst>
          </p:cNvPr>
          <p:cNvSpPr txBox="1"/>
          <p:nvPr/>
        </p:nvSpPr>
        <p:spPr>
          <a:xfrm>
            <a:off x="288790" y="958844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석유는 현대 세계 에너지 시스템의 중추적인 역할을 해 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산업혁명 이후 기술발전과 더불어 교통</a:t>
            </a:r>
            <a:r>
              <a:rPr lang="en-US" altLang="ko-KR" sz="1600" dirty="0"/>
              <a:t>, </a:t>
            </a:r>
            <a:r>
              <a:rPr lang="ko-KR" altLang="en-US" sz="1600" dirty="0"/>
              <a:t>산업</a:t>
            </a:r>
            <a:r>
              <a:rPr lang="en-US" altLang="ko-KR" sz="1600" dirty="0"/>
              <a:t>, </a:t>
            </a:r>
            <a:r>
              <a:rPr lang="ko-KR" altLang="en-US" sz="1600" dirty="0"/>
              <a:t>난방 등 다양한 부문에서 사용되고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세계 </a:t>
            </a:r>
            <a:r>
              <a:rPr lang="en-US" altLang="ko-KR" sz="1600" dirty="0"/>
              <a:t>1</a:t>
            </a:r>
            <a:r>
              <a:rPr lang="ko-KR" altLang="en-US" sz="1600" dirty="0"/>
              <a:t>차 에너지 소비에서 가장 큰 비중을 차지하고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단순히 연료의 의미 이상으로</a:t>
            </a:r>
            <a:r>
              <a:rPr lang="en-US" altLang="ko-KR" sz="1600" dirty="0"/>
              <a:t>, </a:t>
            </a:r>
            <a:r>
              <a:rPr lang="ko-KR" altLang="en-US" sz="1600" dirty="0"/>
              <a:t>국가 간의 외교</a:t>
            </a:r>
            <a:r>
              <a:rPr lang="en-US" altLang="ko-KR" sz="1600" dirty="0"/>
              <a:t>, </a:t>
            </a:r>
            <a:r>
              <a:rPr lang="ko-KR" altLang="en-US" sz="1600" dirty="0"/>
              <a:t>안보 분야에서 핵심 자원으로 기능하고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석유시장은 구조와 작동방식에 있어서 다른 에너지원과 구별되는 특성을 갖는다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석유는 전 지구적으로 매장되어 있으나</a:t>
            </a:r>
            <a:r>
              <a:rPr lang="en-US" altLang="ko-KR" sz="1600" dirty="0"/>
              <a:t>, </a:t>
            </a:r>
            <a:r>
              <a:rPr lang="ko-KR" altLang="en-US" sz="1600" dirty="0"/>
              <a:t>지역적으로 </a:t>
            </a:r>
            <a:r>
              <a:rPr lang="ko-KR" altLang="en-US" sz="1600" dirty="0" err="1"/>
              <a:t>불균형하게</a:t>
            </a:r>
            <a:r>
              <a:rPr lang="ko-KR" altLang="en-US" sz="1600" dirty="0"/>
              <a:t> 분포되어 있다</a:t>
            </a:r>
            <a:r>
              <a:rPr lang="en-US" altLang="ko-KR" sz="160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이는 자원 보유국과 수입국 간의 상호의존성을 초래한다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석유공급은 </a:t>
            </a:r>
            <a:r>
              <a:rPr lang="en-US" altLang="ko-KR" sz="1600" dirty="0"/>
              <a:t>OPEC</a:t>
            </a:r>
            <a:r>
              <a:rPr lang="ko-KR" altLang="en-US" sz="1600" dirty="0"/>
              <a:t>과 같은 산유국 협의체의 전략적 결정에 크게 좌우 되어</a:t>
            </a:r>
            <a:r>
              <a:rPr lang="en-US" altLang="ko-KR" sz="1600" dirty="0"/>
              <a:t>, </a:t>
            </a:r>
            <a:r>
              <a:rPr lang="ko-KR" altLang="en-US" sz="1600" dirty="0"/>
              <a:t>과점적 구조를 보이기도 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석유시장은 공급부문에서의 충격</a:t>
            </a:r>
            <a:r>
              <a:rPr lang="en-US" altLang="ko-KR" sz="1600" dirty="0"/>
              <a:t>, </a:t>
            </a:r>
            <a:r>
              <a:rPr lang="ko-KR" altLang="en-US" sz="1600" dirty="0"/>
              <a:t>지정학적 리스크</a:t>
            </a:r>
            <a:r>
              <a:rPr lang="en-US" altLang="ko-KR" sz="1600" dirty="0"/>
              <a:t>, </a:t>
            </a:r>
            <a:r>
              <a:rPr lang="ko-KR" altLang="en-US" sz="1600" dirty="0"/>
              <a:t>투기적 자본 등 다양한 변수에 의해 가격 변동성이 크다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60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현재 석유산업은 중요한 전환기를 맞고 있다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기술혁신과 새로운 매장량의 발견이 이어지는 한편</a:t>
            </a:r>
            <a:r>
              <a:rPr lang="en-US" altLang="ko-KR" sz="1600" dirty="0"/>
              <a:t>, </a:t>
            </a:r>
            <a:r>
              <a:rPr lang="ko-KR" altLang="en-US" sz="1600" dirty="0"/>
              <a:t>기후변화 대응을 위한 저탄소 에너지로의 전환 요구가 크다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21771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6DA523-A14B-00FD-D1D2-89523BF90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F19842E-3A29-FBE9-BD7E-BAA78219711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6524D3C-B5AD-ADB0-CBF8-04B0D2F8C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76B9EB5-CF30-C2A2-5727-6CBA70F3A4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석유산업의 역사 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3145252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41F42-0112-42EE-225F-0E6303B2E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5705B2-6F95-FCB4-AF94-3F4D7E7E82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0EBC54-15FD-BA37-AFDD-1C725673F8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76289E0-EF7E-BEC3-3A2F-4DB7035E0CF1}"/>
              </a:ext>
            </a:extLst>
          </p:cNvPr>
          <p:cNvSpPr txBox="1"/>
          <p:nvPr/>
        </p:nvSpPr>
        <p:spPr>
          <a:xfrm>
            <a:off x="288790" y="958844"/>
            <a:ext cx="11693660" cy="415350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[1] 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석유의 발견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석유는 고대부터 자연적으로 지표에 흘러나오는 형태로 인간에게 알려져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여러 문화권에서 실용적으로 활용하였다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메소포타미아 지역에서는 아스팔트 형태의 천연 타르를 건축용 방수재로 사용하였다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이집트에서는 미라 제작 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방부 처리용으로 석유 물질을 사용하였다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현대적 의미의 석유산업은 </a:t>
            </a:r>
            <a:r>
              <a:rPr lang="en-US" altLang="ko-KR" sz="1600" spc="-50" dirty="0"/>
              <a:t>19</a:t>
            </a:r>
            <a:r>
              <a:rPr lang="ko-KR" altLang="en-US" sz="1600" spc="-50" dirty="0"/>
              <a:t>세기 중반에 출현하였다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1859</a:t>
            </a:r>
            <a:r>
              <a:rPr lang="ko-KR" altLang="en-US" sz="1600" spc="-50" dirty="0"/>
              <a:t>년 미국 </a:t>
            </a:r>
            <a:r>
              <a:rPr lang="ko-KR" altLang="en-US" sz="1600" spc="-50" dirty="0" err="1"/>
              <a:t>펜실베니아주에서</a:t>
            </a:r>
            <a:r>
              <a:rPr lang="ko-KR" altLang="en-US" sz="1600" spc="-50" dirty="0"/>
              <a:t> </a:t>
            </a:r>
            <a:r>
              <a:rPr lang="ko-KR" altLang="en-US" sz="1600" spc="-50" dirty="0" err="1"/>
              <a:t>에드윈</a:t>
            </a:r>
            <a:r>
              <a:rPr lang="ko-KR" altLang="en-US" sz="1600" spc="-50" dirty="0"/>
              <a:t> 드레이크</a:t>
            </a:r>
            <a:r>
              <a:rPr lang="en-US" altLang="ko-KR" sz="1600" spc="-50" dirty="0"/>
              <a:t>(Edwin L. Drake)</a:t>
            </a:r>
            <a:r>
              <a:rPr lang="ko-KR" altLang="en-US" sz="1600" spc="-50" dirty="0"/>
              <a:t>가 최초로 유정 시추에 성공하였다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이전에는 우물수준의 얕은 곳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자연누출 등에 의존하여 석유를 얻어냈지만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드레이크는 </a:t>
            </a:r>
            <a:r>
              <a:rPr lang="en-US" altLang="ko-KR" sz="1600" spc="-50" dirty="0"/>
              <a:t>21</a:t>
            </a:r>
            <a:r>
              <a:rPr lang="ko-KR" altLang="en-US" sz="1600" spc="-50" dirty="0"/>
              <a:t>미터 깊이에서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수동펌프를 기반으로 석유를 시추하기 시작하였다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 사건을 통해 상업적 석유 채굴의 가능성을 보여주고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이후 석유 채굴과 정제 기술의 비약적인 발전을 촉진시켰다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드레이크의 성공 이후 전세계적으로 오일 붐이 확산되고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석유는 </a:t>
            </a:r>
            <a:r>
              <a:rPr lang="en-US" altLang="ko-KR" sz="1600" spc="-50" dirty="0"/>
              <a:t>20</a:t>
            </a:r>
            <a:r>
              <a:rPr lang="ko-KR" altLang="en-US" sz="1600" spc="-50" dirty="0"/>
              <a:t>세기 에너지 패러다임의 중심 자원으로 부상한다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475131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38925A-5455-C4F4-66E3-46F75761C8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B9BFE2-7501-E8B7-03F6-E17A65972A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C84AAC-C15C-4743-8D96-3446B762FE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2FFB3A8-5C7C-F3E3-AF8C-BFEBF78E952B}"/>
              </a:ext>
            </a:extLst>
          </p:cNvPr>
          <p:cNvSpPr txBox="1"/>
          <p:nvPr/>
        </p:nvSpPr>
        <p:spPr>
          <a:xfrm>
            <a:off x="288790" y="958844"/>
            <a:ext cx="11693660" cy="267618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[2] 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석유</a:t>
            </a: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 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러쉬 기간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</a:t>
            </a:r>
            <a:r>
              <a:rPr lang="ko-KR" altLang="en-US" sz="1600" spc="-50" dirty="0"/>
              <a:t>세기 후반부터 </a:t>
            </a:r>
            <a:r>
              <a:rPr lang="en-US" altLang="ko-KR" sz="1600" spc="-50" dirty="0"/>
              <a:t>20</a:t>
            </a:r>
            <a:r>
              <a:rPr lang="ko-KR" altLang="en-US" sz="1600" spc="-50" dirty="0"/>
              <a:t>세기 초반에 걸쳐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미국을 중심으로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석유 러쉬</a:t>
            </a:r>
            <a:r>
              <a:rPr lang="en-US" altLang="ko-KR" sz="1600" spc="-50" dirty="0"/>
              <a:t>’ </a:t>
            </a:r>
            <a:r>
              <a:rPr lang="ko-KR" altLang="en-US" sz="1600" spc="-50" dirty="0"/>
              <a:t>라고 불리는 대규모 유전 탐사 붐이 일어났다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석유는 기존의 석탄을 대체하며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철강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운송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기계 산업에서 필수적인 연료로 자리잡기 시작했다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1901</a:t>
            </a:r>
            <a:r>
              <a:rPr lang="ko-KR" altLang="en-US" sz="1600" spc="-50" dirty="0"/>
              <a:t>년 텍사스 </a:t>
            </a:r>
            <a:r>
              <a:rPr lang="ko-KR" altLang="en-US" sz="1600" spc="-50" dirty="0" err="1"/>
              <a:t>스핀들탑이라는</a:t>
            </a:r>
            <a:r>
              <a:rPr lang="ko-KR" altLang="en-US" sz="1600" spc="-50" dirty="0"/>
              <a:t> 대규모 유전의 발견은 큰 전환점이었다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하루 약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만 배럴의 석유가 </a:t>
            </a:r>
            <a:r>
              <a:rPr lang="en-US" altLang="ko-KR" sz="1600" spc="-50" dirty="0"/>
              <a:t>9</a:t>
            </a:r>
            <a:r>
              <a:rPr lang="ko-KR" altLang="en-US" sz="1600" spc="-50" dirty="0"/>
              <a:t>일 동안 계속 분출되었고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결국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크리스마스 트리</a:t>
            </a:r>
            <a:r>
              <a:rPr lang="en-US" altLang="ko-KR" sz="1600" spc="-50" dirty="0"/>
              <a:t>’ </a:t>
            </a:r>
            <a:r>
              <a:rPr lang="ko-KR" altLang="en-US" sz="1600" spc="-50" dirty="0"/>
              <a:t>라고 부르는 유정제어장치를 통해 </a:t>
            </a:r>
            <a:r>
              <a:rPr lang="ko-KR" altLang="en-US" sz="1600" spc="-50" dirty="0" err="1"/>
              <a:t>뿜어나오는</a:t>
            </a:r>
            <a:r>
              <a:rPr lang="ko-KR" altLang="en-US" sz="1600" spc="-50" dirty="0"/>
              <a:t> 석유를 제어할 수 있었다고 한다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026" name="Picture 2" descr="유정탑에서 기름이 솟구쳐 오르는 흑백 사진.">
            <a:extLst>
              <a:ext uri="{FF2B5EF4-FFF2-40B4-BE49-F238E27FC236}">
                <a16:creationId xmlns:a16="http://schemas.microsoft.com/office/drawing/2014/main" id="{2064915D-A61B-18CD-25A3-C736620087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79099" y="3640015"/>
            <a:ext cx="2063502" cy="2807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AC4BEA5-0C79-83EF-19E2-26C31C8E293F}"/>
              </a:ext>
            </a:extLst>
          </p:cNvPr>
          <p:cNvSpPr txBox="1"/>
          <p:nvPr/>
        </p:nvSpPr>
        <p:spPr>
          <a:xfrm>
            <a:off x="9268215" y="3378405"/>
            <a:ext cx="26107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spc="-50" dirty="0"/>
              <a:t>&lt;1901</a:t>
            </a:r>
            <a:r>
              <a:rPr lang="ko-KR" altLang="en-US" sz="1050" spc="-50" dirty="0"/>
              <a:t>년 </a:t>
            </a:r>
            <a:r>
              <a:rPr lang="en-US" altLang="ko-KR" sz="1050" spc="-50" dirty="0"/>
              <a:t>1</a:t>
            </a:r>
            <a:r>
              <a:rPr lang="ko-KR" altLang="en-US" sz="1050" spc="-50" dirty="0"/>
              <a:t>월 </a:t>
            </a:r>
            <a:r>
              <a:rPr lang="en-US" altLang="ko-KR" sz="1050" spc="-50" dirty="0"/>
              <a:t>10</a:t>
            </a:r>
            <a:r>
              <a:rPr lang="ko-KR" altLang="en-US" sz="1050" spc="-50" dirty="0"/>
              <a:t>일 </a:t>
            </a:r>
            <a:r>
              <a:rPr lang="ko-KR" altLang="en-US" sz="1050" spc="-50" dirty="0" err="1"/>
              <a:t>스핀들탑의</a:t>
            </a:r>
            <a:r>
              <a:rPr lang="ko-KR" altLang="en-US" sz="1050" spc="-50" dirty="0"/>
              <a:t> 유정 분출</a:t>
            </a:r>
            <a:r>
              <a:rPr lang="en-US" altLang="ko-KR" sz="1050" spc="-50" dirty="0"/>
              <a:t>&gt;</a:t>
            </a:r>
            <a:endParaRPr lang="ko-KR" altLang="en-US" sz="105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2BEB091-4C46-C366-70F9-BA13B241FA74}"/>
              </a:ext>
            </a:extLst>
          </p:cNvPr>
          <p:cNvSpPr txBox="1"/>
          <p:nvPr/>
        </p:nvSpPr>
        <p:spPr>
          <a:xfrm>
            <a:off x="10719897" y="6421870"/>
            <a:ext cx="115911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900" spc="-50" dirty="0"/>
              <a:t>출처</a:t>
            </a:r>
            <a:r>
              <a:rPr lang="en-US" altLang="ko-KR" sz="900" spc="-50" dirty="0"/>
              <a:t>: </a:t>
            </a:r>
            <a:r>
              <a:rPr lang="ko-KR" altLang="en-US" sz="900" spc="-50" dirty="0"/>
              <a:t>위키피디아</a:t>
            </a:r>
            <a:endParaRPr lang="ko-KR" altLang="en-US" sz="9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46990E-8BD9-3B68-C08B-DF234BDAD29F}"/>
              </a:ext>
            </a:extLst>
          </p:cNvPr>
          <p:cNvSpPr txBox="1"/>
          <p:nvPr/>
        </p:nvSpPr>
        <p:spPr>
          <a:xfrm>
            <a:off x="288790" y="3624483"/>
            <a:ext cx="9157252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이후에도 계속해서 유전탐사가 확산 되었고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석유가격의 하락과 시장확대를 촉진하여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 소비시대를 열었다</a:t>
            </a:r>
            <a:endParaRPr lang="en-US" altLang="ko-KR" sz="1600" spc="-50" dirty="0"/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다만 민간 탐사자들에게 시추 실패는 곧바로 파산을 의미했으며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이처럼 석유 러쉬는 고위험 고수익 구조를 반영하는 산업이었다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0979420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168100-468B-970E-6916-FACB9A2B0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829D6C-0164-4DD6-AF98-73C2BC8CC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48C846F-66A1-A5DB-7415-C7B8FD4E5A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51C7F2-9E7D-8721-0542-BB4A8DFB5437}"/>
              </a:ext>
            </a:extLst>
          </p:cNvPr>
          <p:cNvSpPr txBox="1"/>
          <p:nvPr/>
        </p:nvSpPr>
        <p:spPr>
          <a:xfrm>
            <a:off x="288790" y="958844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 시기에는 석유산업의 기술이 비약적으로 발전하였다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드릴링</a:t>
            </a:r>
            <a:r>
              <a:rPr lang="ko-KR" altLang="en-US" sz="1600" spc="-50" dirty="0"/>
              <a:t> 장비의 기계화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송유관 인프라의 발전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크래킹 기술 도입 등은 석유의 생산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유통의 경제성을 획기적으로 높였다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기술을 바탕으로 많은 석유기업들이 수직적 통합 구조를 형성하기 시작하였다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탐사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채굴 뿐만 아니라 정제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유통까지 담당하며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훗날 스탠다드 오일과 같은 거대 기업 탄생의 토대가 되었다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 러쉬는 미국에만 국한된 것은 아니었고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노벨 형제와 로스차일드 가문은 러시아 제국의 바쿠 지역에 대규모 투자를 단행하며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바쿠지역은 세계 최대 석유 생산지 중 하나로 부상하기도 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이처럼 전세계는 석유의 전략적 중요성을 인식하였고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결국 제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차 세계대전에서는 전쟁을 판가름 지을 필수적인 군수 연료로서 석유의 가치가 입증되었다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 러쉬 기간에는 탐사와 채굴의 경제적 열풍을 넘어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기술혁신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자본축적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산업조직 재편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지정학적 위상 강화 등 다층적 변화를 유발한 기간이었다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588781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B72541-A9BA-8EE4-6B7F-EF9941EB0F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BC8BFF-E437-212A-0795-E0FB7875C2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2DEB357-3953-D711-9A6D-6C8CFED511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50F1A3-356E-EF5B-1BEB-1CA36A937ADC}"/>
              </a:ext>
            </a:extLst>
          </p:cNvPr>
          <p:cNvSpPr txBox="1"/>
          <p:nvPr/>
        </p:nvSpPr>
        <p:spPr>
          <a:xfrm>
            <a:off x="288790" y="958844"/>
            <a:ext cx="11118453" cy="563083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[3] 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스탠드다 오일의 지배 기간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</a:t>
            </a:r>
            <a:r>
              <a:rPr lang="ko-KR" altLang="en-US" sz="1600" spc="-50" dirty="0"/>
              <a:t>세기 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록펠러</a:t>
            </a:r>
            <a:r>
              <a:rPr lang="en-US" altLang="ko-KR" sz="1600" spc="-50" dirty="0"/>
              <a:t>(John D. Rockefeller)</a:t>
            </a:r>
            <a:r>
              <a:rPr lang="ko-KR" altLang="en-US" sz="1600" spc="-50" dirty="0"/>
              <a:t>가 설립한 스탠드다 오일 회사 </a:t>
            </a:r>
            <a:r>
              <a:rPr lang="en-US" altLang="ko-KR" sz="1600" spc="-50" dirty="0"/>
              <a:t>(Standard Oil Company)</a:t>
            </a:r>
            <a:r>
              <a:rPr lang="ko-KR" altLang="en-US" sz="1600" spc="-50" dirty="0"/>
              <a:t>는 석유 정제 부문에서 출발하여 미국산업 전반을 아우르는 역사상 가장 영향력 있는 민간 독점기업으로 성장하였다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1870</a:t>
            </a:r>
            <a:r>
              <a:rPr lang="ko-KR" altLang="en-US" sz="1600" spc="-50" dirty="0"/>
              <a:t>년 오하이오주에서 설립되었으며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석유의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정제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운송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저장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유통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소매에 이르는 전 과정을 수직통합 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원가절감을 통해 시장에서의 경쟁 우위를 확보하였다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1870</a:t>
            </a:r>
            <a:r>
              <a:rPr lang="ko-KR" altLang="en-US" sz="1600" spc="-50" dirty="0"/>
              <a:t>년대 미국 정유산업의 </a:t>
            </a:r>
            <a:r>
              <a:rPr lang="en-US" altLang="ko-KR" sz="1600" spc="-50" dirty="0"/>
              <a:t>95%</a:t>
            </a:r>
            <a:r>
              <a:rPr lang="ko-KR" altLang="en-US" sz="1600" spc="-50" dirty="0"/>
              <a:t>를 지배하며 독보적 위상에 올랐고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과정에서 소규모 정유업체를 대거 인수하고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</a:t>
            </a:r>
            <a:r>
              <a:rPr lang="ko-KR" altLang="en-US" sz="1600" spc="-50" dirty="0" err="1"/>
              <a:t>퇴출시켰다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철도회사와의 비밀 리베이트 계약을 통해 운송비를 낮추고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지역별 가격 차별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공급 제한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전략적 기업 인수합병 등을 통해 경쟁자들의 생존을 어렵게 만들었다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독점적 지위를 갖게 된 결과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단순 시장 점유율을 넘어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 가격을 조절할 수 있는 가격 결정자 기능을 하게 되었다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이러한 시장 지배력은 점차 사회적 반발과 정치적 규제 압력에 직면하게 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미국 정부는 </a:t>
            </a:r>
            <a:r>
              <a:rPr lang="en-US" altLang="ko-KR" sz="1600" spc="-50" dirty="0"/>
              <a:t>1890</a:t>
            </a:r>
            <a:r>
              <a:rPr lang="ko-KR" altLang="en-US" sz="1600" spc="-50" dirty="0"/>
              <a:t>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셔먼 반독점법을 제정하여 독점기업에 대한 규제근거를 마련하였다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1911</a:t>
            </a:r>
            <a:r>
              <a:rPr lang="ko-KR" altLang="en-US" sz="1600" spc="-50" dirty="0"/>
              <a:t>년 미국 대법원은 스탠다드 오일이 독점적 지위를 남용하고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자유경쟁을 제한했다는 이유로 </a:t>
            </a:r>
            <a:r>
              <a:rPr lang="en-US" altLang="ko-KR" sz="1600" spc="-50" dirty="0"/>
              <a:t>34</a:t>
            </a:r>
            <a:r>
              <a:rPr lang="ko-KR" altLang="en-US" sz="1600" spc="-50" dirty="0"/>
              <a:t>개의 독립된 기업으로 분할하라는 명령을 내렸다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012934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3CB899-24FF-FD52-66D2-26E02E8BA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E6A844-5F8E-9A62-5FC7-613E24A08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623405-9DC1-86F4-5700-5AD21E3C15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10CB72-5A7F-5544-5D9F-6EFB10964D8B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이러한 판결은 이후 미국 반독점 정책의 기준 판례로 자리 잡았는데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경제학적 해석은 분분했다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존 </a:t>
            </a:r>
            <a:r>
              <a:rPr lang="ko-KR" altLang="en-US" sz="1600" spc="-50" dirty="0" err="1"/>
              <a:t>맥기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(John S. McGee)</a:t>
            </a:r>
            <a:r>
              <a:rPr lang="ko-KR" altLang="en-US" sz="1600" spc="-50" dirty="0"/>
              <a:t>는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논문에서 스탠다드 오일이 실제로 약탈적 가격을 사용한 증거가 부족하다고 언급한다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설령 약탈적 가격을 실행 했다고 하여도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가격을 낮추어 경쟁자를 퇴출 시킨 뒤 다시 가격을 인상하여 그 손실을 회복하는 전략은 새로운 진입자에 의해 어렵다는 점을 지적한다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스탠다드 오일의 해체 이후에도 </a:t>
            </a:r>
            <a:r>
              <a:rPr lang="ko-KR" altLang="en-US" sz="1600" spc="-50" dirty="0" err="1"/>
              <a:t>그영향력은</a:t>
            </a:r>
            <a:r>
              <a:rPr lang="ko-KR" altLang="en-US" sz="1600" spc="-50" dirty="0"/>
              <a:t> 사라지지 않았다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엑슨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모빌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셰브론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아모코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소히오</a:t>
            </a:r>
            <a:r>
              <a:rPr lang="ko-KR" altLang="en-US" sz="1600" spc="-50" dirty="0"/>
              <a:t> 등 오늘날까지 글로벌 석유 메이저의 전신이 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기업들은 독립적 경영을 통해 기업을 성장시켰고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석유산업의 다핵화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글로벌화를 촉진하는 계기가 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스탠다드 오일의 분할은 단순한 기업 해체 이상의 의미를 갖는다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현대 자본주의에서 시장의 자유와 공정 경쟁이라는 원칙이 거대 산업조직에도 적용될 수 있음을 입증하였다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또한 미국 및 세계 각국의 반독점 정책과 대기업 규제 논의의 중요한 </a:t>
            </a:r>
            <a:r>
              <a:rPr lang="ko-KR" altLang="en-US" sz="1600" spc="-50"/>
              <a:t>선례가 되었다</a:t>
            </a:r>
            <a:r>
              <a:rPr lang="en-US" altLang="ko-KR" sz="1600" spc="-50"/>
              <a:t>.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5609634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89138C-E1D1-E59E-D2E2-778EAC2D5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876492-20B9-7FC9-D113-976ACFA4A4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D8E6268-6E34-7969-A53A-A7EFE047E3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9E1E36-9B71-7E41-06CC-B4D7DA9D1D69}"/>
              </a:ext>
            </a:extLst>
          </p:cNvPr>
          <p:cNvSpPr txBox="1"/>
          <p:nvPr/>
        </p:nvSpPr>
        <p:spPr>
          <a:xfrm>
            <a:off x="288790" y="958844"/>
            <a:ext cx="11118453" cy="52615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[4] 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석유산업의 국제화와 </a:t>
            </a: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7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공주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</a:t>
            </a:r>
            <a:r>
              <a:rPr lang="ko-KR" altLang="en-US" sz="1600" spc="-50" dirty="0"/>
              <a:t>세기 초반부터 석유산업은 기존의 석탄을 대체하며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미국을 넘어 국제적 차원으로 확산되었다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내연기관의 발전과 포드자동차의 대량생산 체제를 통한 자동차 보급이 확대 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휘발유 수요가 대폭 증가 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</a:t>
            </a:r>
            <a:r>
              <a:rPr lang="ko-KR" altLang="en-US" sz="1600" spc="-50" dirty="0"/>
              <a:t>차 세계대전에서 석유가 전략물자로 기능하였고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세계 여러 국가들이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석유 자원 확보를 국가안보와 직결된 문제로 인식하게 된다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석유에 대한 수요가 지속적으로 증가하고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고갈 가능성에 대한 우려가 커지면서 유전 탐사에 박차를 가한다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이라크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사우디아라비아 등에서 대규모 유전이 발견되며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중동은 세계 석유산업의 전략적 중심지가 된다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과정에서 미국과 유럽의 대형 석유기업들이 주도권을 확보하게 된다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스탠다드 오일의 후신인 엑슨</a:t>
            </a:r>
            <a:r>
              <a:rPr lang="en-US" altLang="ko-KR" sz="1600" spc="-50" dirty="0"/>
              <a:t>(Exxon), </a:t>
            </a:r>
            <a:r>
              <a:rPr lang="ko-KR" altLang="en-US" sz="1600" spc="-50" dirty="0"/>
              <a:t>모빌</a:t>
            </a:r>
            <a:r>
              <a:rPr lang="en-US" altLang="ko-KR" sz="1600" spc="-50" dirty="0"/>
              <a:t>(Mobil), </a:t>
            </a:r>
            <a:r>
              <a:rPr lang="ko-KR" altLang="en-US" sz="1600" spc="-50" dirty="0" err="1"/>
              <a:t>셰브론</a:t>
            </a:r>
            <a:r>
              <a:rPr lang="en-US" altLang="ko-KR" sz="1600" spc="-50" dirty="0"/>
              <a:t>(Chevron) </a:t>
            </a:r>
            <a:r>
              <a:rPr lang="ko-KR" altLang="en-US" sz="1600" spc="-50" dirty="0"/>
              <a:t>뿐 아니라 </a:t>
            </a:r>
            <a:r>
              <a:rPr lang="ko-KR" altLang="en-US" sz="1600" spc="-50" dirty="0" err="1"/>
              <a:t>로열더치셸</a:t>
            </a:r>
            <a:r>
              <a:rPr lang="en-US" altLang="ko-KR" sz="1600" spc="-50" dirty="0"/>
              <a:t>(Royal Dutch Shell), </a:t>
            </a:r>
            <a:r>
              <a:rPr lang="ko-KR" altLang="en-US" sz="1600" spc="-50" dirty="0"/>
              <a:t>브리티시 </a:t>
            </a:r>
            <a:r>
              <a:rPr lang="ko-KR" altLang="en-US" sz="1600" spc="-50" dirty="0" err="1"/>
              <a:t>페트롤리엄</a:t>
            </a:r>
            <a:r>
              <a:rPr lang="en-US" altLang="ko-KR" sz="1600" spc="-50" dirty="0"/>
              <a:t>(BP), </a:t>
            </a:r>
            <a:r>
              <a:rPr lang="ko-KR" altLang="en-US" sz="1600" spc="-50" dirty="0" err="1"/>
              <a:t>걸프오일</a:t>
            </a:r>
            <a:r>
              <a:rPr lang="en-US" altLang="ko-KR" sz="1600" spc="-50" dirty="0"/>
              <a:t>(Gulf Oil), </a:t>
            </a:r>
            <a:r>
              <a:rPr lang="ko-KR" altLang="en-US" sz="1600" spc="-50" dirty="0" err="1"/>
              <a:t>텍사코</a:t>
            </a:r>
            <a:r>
              <a:rPr lang="en-US" altLang="ko-KR" sz="1600" spc="-50" dirty="0"/>
              <a:t>(Texaco)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7</a:t>
            </a:r>
            <a:r>
              <a:rPr lang="ko-KR" altLang="en-US" sz="1600" spc="-50" dirty="0"/>
              <a:t>공주 기업들은 </a:t>
            </a:r>
            <a:r>
              <a:rPr lang="en-US" altLang="ko-KR" sz="1600" spc="-50" dirty="0"/>
              <a:t>1940</a:t>
            </a:r>
            <a:r>
              <a:rPr lang="ko-KR" altLang="en-US" sz="1600" spc="-50" dirty="0"/>
              <a:t>년대부터 </a:t>
            </a:r>
            <a:r>
              <a:rPr lang="en-US" altLang="ko-KR" sz="1600" spc="-50" dirty="0"/>
              <a:t>1970</a:t>
            </a:r>
            <a:r>
              <a:rPr lang="ko-KR" altLang="en-US" sz="1600" spc="-50" dirty="0"/>
              <a:t>년대 초반까지 전 세계 석유 탐사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생산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유통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 과정에 걸쳐 과점 체제를 형성하며 국제 석유시장을 주도하였다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1281347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AB030A-B50C-5316-3D3C-A3C2E9FD1E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347BDD-DFB6-D1A0-27F4-7C90D2CFBD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33CCB0-CFEE-79CE-693B-F921A07884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824053-7F90-5724-5F73-F2105423C458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이들 다국적 석유기업은 중동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아프리카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남미 등 자원부국 정부와의 계약을 통해 탐사권과 생산권을 확보하고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자원개발을 독점적으로 진행하였다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이들의 계약구조는 해당 국가의 이익보다는 기업의 수익 극대화에 초점을 맞추고 있었다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생산국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자원부국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은 수익의 상당부분을 다국적 기업에 의존하는 구조로 놓이게 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기업들은 석유 생산량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수출가격 등을 조정하며 카르텔 역할을 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석유를 둘러싼 정치경제적 갈등이 시작된다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결국 개도국 입장에서는 자국 자원이 외국 자본에 의해 통제 되고 있다는 주권 침해 문제의식이 확대 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이는 자원민족주의의 확산으로 이어지는 시발점이 된다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위의 </a:t>
            </a:r>
            <a:r>
              <a:rPr lang="en-US" altLang="ko-KR" sz="1600" spc="-50" dirty="0"/>
              <a:t>20</a:t>
            </a:r>
            <a:r>
              <a:rPr lang="ko-KR" altLang="en-US" sz="1600" spc="-50" dirty="0"/>
              <a:t>세기 초중반의 석유산업 국제화는 단순한 연료 공급 확대를 넘어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국제관계의 주요한 변수로 떠오른다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석유기업의 확산은 전세계의 에너지 흐름과 자본이동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정책주권과 산업통제력 사이의 긴장을 만들어 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역사적 맥락은 추후 나타날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의 등장과 자원민족주의의 운동의 확산을 이해하는데 필수적 배경이 된다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7876994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EF9E2E-6EF9-9C44-015A-7D287158F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927253-618A-8429-6E78-42541E1FD5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769828-D27D-599A-0645-BB9E65A572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C261DD3-6763-FC6B-5D6D-C1DFD1D05B99}"/>
              </a:ext>
            </a:extLst>
          </p:cNvPr>
          <p:cNvSpPr txBox="1"/>
          <p:nvPr/>
        </p:nvSpPr>
        <p:spPr>
          <a:xfrm>
            <a:off x="288790" y="958844"/>
            <a:ext cx="11118453" cy="489217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[5] OPEC 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기간 </a:t>
            </a: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(Organization of the Petroleum Exporting Countries)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석유수출기구 </a:t>
            </a:r>
            <a:r>
              <a:rPr lang="en-US" altLang="ko-KR" sz="1600" spc="-50" dirty="0"/>
              <a:t>(OPEC)</a:t>
            </a:r>
            <a:r>
              <a:rPr lang="ko-KR" altLang="en-US" sz="1600" spc="-50" dirty="0"/>
              <a:t>은 </a:t>
            </a:r>
            <a:r>
              <a:rPr lang="en-US" altLang="ko-KR" sz="1600" spc="-50" dirty="0"/>
              <a:t>1960</a:t>
            </a:r>
            <a:r>
              <a:rPr lang="ko-KR" altLang="en-US" sz="1600" spc="-50" dirty="0"/>
              <a:t>년 이란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이라크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쿠웨이트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사우디아라비아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베네수엘라에 의해 설립 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당시 국제 석유시장을 지배하던 </a:t>
            </a:r>
            <a:r>
              <a:rPr lang="en-US" altLang="ko-KR" sz="1600" spc="-50" dirty="0"/>
              <a:t>‘7</a:t>
            </a:r>
            <a:r>
              <a:rPr lang="ko-KR" altLang="en-US" sz="1600" spc="-50" dirty="0"/>
              <a:t>공주</a:t>
            </a:r>
            <a:r>
              <a:rPr lang="en-US" altLang="ko-KR" sz="1600" spc="-50" dirty="0"/>
              <a:t>’ </a:t>
            </a:r>
            <a:r>
              <a:rPr lang="ko-KR" altLang="en-US" sz="1600" spc="-50" dirty="0"/>
              <a:t>기업의 가격 결정권과 공급통제에 대한 대응 차원에서 추진한 것이다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개발도상국의 자원에 대한 주권 회복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 수출을 통한 안정적 재정수입 확보를 위한 자원민족주의의 흐름이었다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OPEC</a:t>
            </a:r>
            <a:r>
              <a:rPr lang="ko-KR" altLang="en-US" sz="1600" spc="-50" dirty="0"/>
              <a:t>이 창립한 시점인 </a:t>
            </a:r>
            <a:r>
              <a:rPr lang="en-US" altLang="ko-KR" sz="1600" spc="-50" dirty="0"/>
              <a:t>1960</a:t>
            </a:r>
            <a:r>
              <a:rPr lang="ko-KR" altLang="en-US" sz="1600" spc="-50" dirty="0"/>
              <a:t>년은 중동 지역에서의 석유 과잉공급으로 인해 가격 하락이 심화되고 있는 상황이었다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석유산업은 자본집약적 산업으로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규모의 경제를 실현하고자 기업들은 생산설비를 최대한 활용하고자 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OPEC</a:t>
            </a:r>
            <a:r>
              <a:rPr lang="ko-KR" altLang="en-US" sz="1600" spc="-50" dirty="0"/>
              <a:t>은 이에 대응하고자 회원국 간 협조를 통해 생산량을 조절하고 가격을 안정화 하고자 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OPEC</a:t>
            </a:r>
            <a:r>
              <a:rPr lang="ko-KR" altLang="en-US" sz="1600" spc="-50" dirty="0"/>
              <a:t>의 초기 활동은 다국적 석유기업의 지배력에 대한 정책적 대응에 집중하였다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외국회사가 독점하던 유준 운영에 대한 조세감면을 축소하고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수익 배분을 조정하는 등의 정책을 추진하였다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1968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자원에 대한 영구적 주권</a:t>
            </a:r>
            <a:r>
              <a:rPr lang="en-US" altLang="ko-KR" sz="1600" spc="-50" dirty="0"/>
              <a:t>’ </a:t>
            </a:r>
            <a:r>
              <a:rPr lang="ko-KR" altLang="en-US" sz="1600" spc="-50" dirty="0"/>
              <a:t>을 명시한 선언을 채택하였다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이는 추후에 국영석유회사의 설립과 자원 국유화 추진의 국제적 정당성을 얻는 기초가 되었다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324705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21639E-6A10-47B5-973A-439085220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9559F0-D305-0354-4200-6B0E9399A9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A8A0696-AE79-D507-7C54-F46D0080F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DE1D7E-AB1E-1670-30FE-F07D8393B595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OPEC</a:t>
            </a:r>
            <a:r>
              <a:rPr lang="ko-KR" altLang="en-US" sz="1600" spc="-50" dirty="0"/>
              <a:t>의 국제적 위상은 </a:t>
            </a:r>
            <a:r>
              <a:rPr lang="en-US" altLang="ko-KR" sz="1600" spc="-50" dirty="0"/>
              <a:t>1973</a:t>
            </a:r>
            <a:r>
              <a:rPr lang="ko-KR" altLang="en-US" sz="1600" spc="-50" dirty="0"/>
              <a:t>년 </a:t>
            </a:r>
            <a:r>
              <a:rPr lang="ko-KR" altLang="en-US" sz="1600" spc="-50" dirty="0" err="1"/>
              <a:t>욤키푸르</a:t>
            </a:r>
            <a:r>
              <a:rPr lang="ko-KR" altLang="en-US" sz="1600" spc="-50" dirty="0"/>
              <a:t> 전쟁 이후 급격히 상승하였다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OPEC </a:t>
            </a:r>
            <a:r>
              <a:rPr lang="ko-KR" altLang="en-US" sz="1600" spc="-50" dirty="0"/>
              <a:t>내의 아랍 회원국들 </a:t>
            </a:r>
            <a:r>
              <a:rPr lang="en-US" altLang="ko-KR" sz="1600" spc="-50" dirty="0"/>
              <a:t>(OAPEC, Arab members of OPEC)</a:t>
            </a:r>
            <a:r>
              <a:rPr lang="ko-KR" altLang="en-US" sz="1600" spc="-50" dirty="0"/>
              <a:t>은 이스라엘을 지지한 미국과 네덜란드 등 서방 국가에 대해 석유 금수조치를 단행하였다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더불어 전체적인 석유 생산량 축소를 통해 국제 원유 공급을 제한하였다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 결과 석유 가격은 배럴당 약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달러에서 </a:t>
            </a:r>
            <a:r>
              <a:rPr lang="en-US" altLang="ko-KR" sz="1600" spc="-50" dirty="0"/>
              <a:t>1974</a:t>
            </a:r>
            <a:r>
              <a:rPr lang="ko-KR" altLang="en-US" sz="1600" spc="-50" dirty="0"/>
              <a:t>년에는 </a:t>
            </a:r>
            <a:r>
              <a:rPr lang="en-US" altLang="ko-KR" sz="1600" spc="-50" dirty="0"/>
              <a:t>12</a:t>
            </a:r>
            <a:r>
              <a:rPr lang="ko-KR" altLang="en-US" sz="1600" spc="-50" dirty="0"/>
              <a:t>달러 이상으로 급등하였다</a:t>
            </a:r>
            <a:r>
              <a:rPr lang="en-US" altLang="ko-KR" sz="1600" spc="-50" dirty="0"/>
              <a:t>. </a:t>
            </a:r>
            <a:r>
              <a:rPr lang="en-US" altLang="ko-KR" sz="1600" b="1" spc="-50" dirty="0"/>
              <a:t>(1</a:t>
            </a:r>
            <a:r>
              <a:rPr lang="ko-KR" altLang="en-US" sz="1600" b="1" spc="-50" dirty="0"/>
              <a:t>차 석유 파동</a:t>
            </a:r>
            <a:r>
              <a:rPr lang="en-US" altLang="ko-KR" sz="1600" b="1" spc="-50" dirty="0"/>
              <a:t>)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사건은 선진국들로 하여금 에너지 효율 제고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원자력 확대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재생에너지 개발 등 다각적인 에너지 안보 대응 전략을 추진하게끔 하였다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1979</a:t>
            </a:r>
            <a:r>
              <a:rPr lang="ko-KR" altLang="en-US" sz="1600" spc="-50" dirty="0"/>
              <a:t>년 이란 혁명과 이란</a:t>
            </a:r>
            <a:r>
              <a:rPr lang="en-US" altLang="ko-KR" sz="1600" spc="-50" dirty="0"/>
              <a:t>-</a:t>
            </a:r>
            <a:r>
              <a:rPr lang="ko-KR" altLang="en-US" sz="1600" spc="-50" dirty="0"/>
              <a:t>이라크 전쟁은 다시 한번 국제 석유 공급에 충격을 주었다</a:t>
            </a:r>
            <a:r>
              <a:rPr lang="en-US" altLang="ko-KR" sz="1600" spc="-50" dirty="0"/>
              <a:t>. </a:t>
            </a:r>
            <a:r>
              <a:rPr lang="en-US" altLang="ko-KR" sz="1600" b="1" spc="-50" dirty="0"/>
              <a:t>(2</a:t>
            </a:r>
            <a:r>
              <a:rPr lang="ko-KR" altLang="en-US" sz="1600" b="1" spc="-50" dirty="0"/>
              <a:t>차 석유 파동</a:t>
            </a:r>
            <a:r>
              <a:rPr lang="en-US" altLang="ko-KR" sz="1600" b="1" spc="-50" dirty="0"/>
              <a:t>)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석유 가격은 배럴당 </a:t>
            </a:r>
            <a:r>
              <a:rPr lang="en-US" altLang="ko-KR" sz="1600" spc="-50" dirty="0"/>
              <a:t>24</a:t>
            </a:r>
            <a:r>
              <a:rPr lang="ko-KR" altLang="en-US" sz="1600" spc="-50" dirty="0"/>
              <a:t>달러</a:t>
            </a:r>
            <a:r>
              <a:rPr lang="en-US" altLang="ko-KR" sz="1600" spc="-50" dirty="0"/>
              <a:t>(1979</a:t>
            </a:r>
            <a:r>
              <a:rPr lang="ko-KR" altLang="en-US" sz="1600" spc="-50" dirty="0"/>
              <a:t>년</a:t>
            </a:r>
            <a:r>
              <a:rPr lang="en-US" altLang="ko-KR" sz="1600" spc="-50" dirty="0"/>
              <a:t>), 32</a:t>
            </a:r>
            <a:r>
              <a:rPr lang="ko-KR" altLang="en-US" sz="1600" spc="-50" dirty="0"/>
              <a:t>달러</a:t>
            </a:r>
            <a:r>
              <a:rPr lang="en-US" altLang="ko-KR" sz="1600" spc="-50" dirty="0"/>
              <a:t>(1980</a:t>
            </a:r>
            <a:r>
              <a:rPr lang="ko-KR" altLang="en-US" sz="1600" spc="-50" dirty="0"/>
              <a:t>년</a:t>
            </a:r>
            <a:r>
              <a:rPr lang="en-US" altLang="ko-KR" sz="1600" spc="-50" dirty="0"/>
              <a:t>), 36</a:t>
            </a:r>
            <a:r>
              <a:rPr lang="ko-KR" altLang="en-US" sz="1600" spc="-50" dirty="0"/>
              <a:t>달러</a:t>
            </a:r>
            <a:r>
              <a:rPr lang="en-US" altLang="ko-KR" sz="1600" spc="-50" dirty="0"/>
              <a:t>(1981</a:t>
            </a:r>
            <a:r>
              <a:rPr lang="ko-KR" altLang="en-US" sz="1600" spc="-50" dirty="0"/>
              <a:t>년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로 상승하였다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실제로 시장 가격은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의 공식가격을 상회하였고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 거래의 </a:t>
            </a:r>
            <a:r>
              <a:rPr lang="en-US" altLang="ko-KR" sz="1600" spc="-50" dirty="0"/>
              <a:t>25%</a:t>
            </a:r>
            <a:r>
              <a:rPr lang="ko-KR" altLang="en-US" sz="1600" spc="-50" dirty="0"/>
              <a:t>가 현물시장에서 이루어지게 </a:t>
            </a:r>
            <a:r>
              <a:rPr lang="ko-KR" altLang="en-US" sz="1600" spc="-50" dirty="0" err="1"/>
              <a:t>됬다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일부 </a:t>
            </a:r>
            <a:r>
              <a:rPr lang="en-US" altLang="ko-KR" sz="1600" spc="-50" dirty="0"/>
              <a:t>OPEC </a:t>
            </a:r>
            <a:r>
              <a:rPr lang="ko-KR" altLang="en-US" sz="1600" spc="-50" dirty="0"/>
              <a:t>회원국은 장기계약을 파기하고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고가에 판매하고자 현물거래에 나서기도 하였다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현물시장은 투기적 거래와 가격 변동성이 심해</a:t>
            </a:r>
            <a:r>
              <a:rPr lang="en-US" altLang="ko-KR" sz="1600" spc="-50" dirty="0"/>
              <a:t>, OPEC</a:t>
            </a:r>
            <a:r>
              <a:rPr lang="ko-KR" altLang="en-US" sz="1600" spc="-50" dirty="0"/>
              <a:t>의 정책 조율 기능을 약화시키는 주요 원인이 되었다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090187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EB0B3A-713A-E8FE-65D5-2DF888B471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2A008A-788A-78AC-51E3-8ADEE5E911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265453-3D45-A54E-EBB1-679A706BD9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89CCAC-357B-F1C6-7E52-ADCB0A6D04E1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1980</a:t>
            </a:r>
            <a:r>
              <a:rPr lang="ko-KR" altLang="en-US" sz="1600" spc="-50" dirty="0"/>
              <a:t>년대 초부터는 북해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멕시코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중국 등 비</a:t>
            </a:r>
            <a:r>
              <a:rPr lang="en-US" altLang="ko-KR" sz="1600" spc="-50" dirty="0"/>
              <a:t>OPEC </a:t>
            </a:r>
            <a:r>
              <a:rPr lang="ko-KR" altLang="en-US" sz="1600" spc="-50" dirty="0"/>
              <a:t>국가들의 생산 확대가 두드러지고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선진국은 에너지 절약과 연료의 다변화에 나섰다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상황에서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의 시장 점유율이 감소하고</a:t>
            </a:r>
            <a:r>
              <a:rPr lang="en-US" altLang="ko-KR" sz="1600" spc="-50" dirty="0"/>
              <a:t>, OPEC</a:t>
            </a:r>
            <a:r>
              <a:rPr lang="ko-KR" altLang="en-US" sz="1600" spc="-50" dirty="0"/>
              <a:t>은 가격 방어 전략을 포기하고 생산을 확대하였다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 결과로 </a:t>
            </a:r>
            <a:r>
              <a:rPr lang="en-US" altLang="ko-KR" sz="1600" spc="-50" dirty="0"/>
              <a:t>1986</a:t>
            </a:r>
            <a:r>
              <a:rPr lang="ko-KR" altLang="en-US" sz="1600" spc="-50" dirty="0"/>
              <a:t>년 국제 유가가 절반 이하로 폭락하는 결과를 낳았고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흔히 제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차 석유충격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혹은 </a:t>
            </a:r>
            <a:r>
              <a:rPr lang="ko-KR" altLang="en-US" sz="1600" spc="-50" dirty="0" err="1"/>
              <a:t>역충격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이라고 부른다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1990</a:t>
            </a:r>
            <a:r>
              <a:rPr lang="ko-KR" altLang="en-US" sz="1600" spc="-50" dirty="0"/>
              <a:t>년대에는  위와 같은 구조적인 초과 공급과 수유 감소로 인해 저유가 시대가 지속되었다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세계적으로 자유시장주의와 규제완화가 확산되면서 석유 산업의 투자매력도는 하락하였다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1990</a:t>
            </a:r>
            <a:r>
              <a:rPr lang="ko-KR" altLang="en-US" sz="1600" spc="-50" dirty="0"/>
              <a:t>년 이라크의 쿠웨이트 침공은 중동 석유시설에 큰 위협이었으나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사우디아라비아의 생산 확대로 국제시장은 비교적 빠르게 안정되었다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1997</a:t>
            </a:r>
            <a:r>
              <a:rPr lang="ko-KR" altLang="en-US" sz="1600" spc="-50" dirty="0"/>
              <a:t>년 아시아의 금융위기로 인해 아시아 지역의 수요가 급감하자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국제유가는 배럴당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달러까지 하락하였다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이에 대응하여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은 감산을 통해 유가를 </a:t>
            </a:r>
            <a:r>
              <a:rPr lang="en-US" altLang="ko-KR" sz="1600" spc="-50" dirty="0"/>
              <a:t>20</a:t>
            </a:r>
            <a:r>
              <a:rPr lang="ko-KR" altLang="en-US" sz="1600" spc="-50" dirty="0"/>
              <a:t>달러까지 회복시켰으나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많은 회원국들이 재정 수입 확보를 위해 초과생산을 하였고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이로 인해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의 정책 신뢰성과 집행력은 점차 약화되었다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OPEC</a:t>
            </a:r>
            <a:r>
              <a:rPr lang="ko-KR" altLang="en-US" sz="1600" spc="-50" dirty="0"/>
              <a:t>의 역사는 자원 주권과 생산자 협조를 통한 시장 안정이라는 이상과 회원국간의 이해 상충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시장 다극화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글로벌 수급변화라는 긴장의 연속이었다</a:t>
            </a:r>
            <a:r>
              <a:rPr lang="en-US" altLang="ko-KR" sz="1600" spc="-50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6295750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13AEC5-AE46-3E98-E2AE-12F9342A7D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9BEF6F-284B-D532-7320-ECD02937C8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4A03D0-9083-7021-6F03-A64FF9C9E4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5A5494-A6EB-7DBD-B331-9D86369EF5DC}"/>
              </a:ext>
            </a:extLst>
          </p:cNvPr>
          <p:cNvSpPr txBox="1"/>
          <p:nvPr/>
        </p:nvSpPr>
        <p:spPr>
          <a:xfrm>
            <a:off x="288790" y="958844"/>
            <a:ext cx="11118453" cy="304551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[6] 2000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년대 이후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2000</a:t>
            </a:r>
            <a:r>
              <a:rPr lang="ko-KR" altLang="en-US" sz="1600" spc="-50" dirty="0"/>
              <a:t>년대 초반부터 중반까지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세계 경제의 성장과 함께 석유 수요가 급증하면서 석유가격이 급격히 상승하였다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중국과 인도의 급속한 산업화는 석유 수요의 주요 증가 요인이었다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고유가 시기에 많은 국가들은 대체 에너지와 에너지 효율 기술에 관심을 높이는 계기가 되었다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신재생에너지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에너지 효율 기기 등을 통해 석유 의존을 줄이기 위한 노력을 기울였다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셰일 오일 </a:t>
            </a:r>
            <a:r>
              <a:rPr lang="en-US" altLang="ko-KR" sz="1600" spc="-50" dirty="0"/>
              <a:t>(shale oil)</a:t>
            </a:r>
            <a:r>
              <a:rPr lang="ko-KR" altLang="en-US" sz="1600" spc="-50" dirty="0"/>
              <a:t> 채굴기술의 발전은 비경제적이던 </a:t>
            </a:r>
            <a:r>
              <a:rPr lang="ko-KR" altLang="en-US" sz="1600" spc="-50" dirty="0" err="1"/>
              <a:t>셰일층에서의</a:t>
            </a:r>
            <a:r>
              <a:rPr lang="ko-KR" altLang="en-US" sz="1600" spc="-50" dirty="0"/>
              <a:t> 석유 추출을 가능하게 만들었다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기술 개발 이전에는 </a:t>
            </a:r>
            <a:r>
              <a:rPr lang="ko-KR" altLang="en-US" sz="1600" spc="-50" dirty="0" err="1"/>
              <a:t>셰일층에</a:t>
            </a:r>
            <a:r>
              <a:rPr lang="ko-KR" altLang="en-US" sz="1600" spc="-50" dirty="0"/>
              <a:t> 갇혀 있던 석유를 거의 캐지 못했었다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026" name="Picture 2" descr="[Cover Story] 진화하는 셰일가스">
            <a:extLst>
              <a:ext uri="{FF2B5EF4-FFF2-40B4-BE49-F238E27FC236}">
                <a16:creationId xmlns:a16="http://schemas.microsoft.com/office/drawing/2014/main" id="{7919A860-649B-F953-8D47-3411E4B9ED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19073" y="3931483"/>
            <a:ext cx="4086225" cy="24669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E4F06D1-2106-E8B8-9534-A2A7AA80658C}"/>
              </a:ext>
            </a:extLst>
          </p:cNvPr>
          <p:cNvSpPr txBox="1"/>
          <p:nvPr/>
        </p:nvSpPr>
        <p:spPr>
          <a:xfrm>
            <a:off x="8534119" y="3669873"/>
            <a:ext cx="26107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</a:t>
            </a:r>
            <a:r>
              <a:rPr lang="ko-KR" altLang="en-US" sz="1050" spc="-50" dirty="0" err="1"/>
              <a:t>셰일가스</a:t>
            </a:r>
            <a:r>
              <a:rPr lang="ko-KR" altLang="en-US" sz="1050" spc="-50" dirty="0"/>
              <a:t> 개념도</a:t>
            </a:r>
            <a:r>
              <a:rPr lang="en-US" altLang="ko-KR" sz="1050" spc="-50" dirty="0"/>
              <a:t>&gt;</a:t>
            </a:r>
            <a:endParaRPr lang="ko-KR" alt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AC15997-B48B-4A66-4B87-3DC822E6AD2C}"/>
              </a:ext>
            </a:extLst>
          </p:cNvPr>
          <p:cNvSpPr txBox="1"/>
          <p:nvPr/>
        </p:nvSpPr>
        <p:spPr>
          <a:xfrm>
            <a:off x="10719897" y="6404698"/>
            <a:ext cx="115911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900" spc="-50" dirty="0"/>
              <a:t>출처</a:t>
            </a:r>
            <a:r>
              <a:rPr lang="en-US" altLang="ko-KR" sz="900" spc="-50" dirty="0"/>
              <a:t>: </a:t>
            </a:r>
            <a:r>
              <a:rPr lang="ko-KR" altLang="en-US" sz="900" spc="-50" dirty="0"/>
              <a:t>한국경제</a:t>
            </a:r>
            <a:endParaRPr lang="ko-KR" altLang="en-US" sz="9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CCF0FDE-597C-7C26-722F-BAAC7165D15C}"/>
              </a:ext>
            </a:extLst>
          </p:cNvPr>
          <p:cNvSpPr txBox="1"/>
          <p:nvPr/>
        </p:nvSpPr>
        <p:spPr>
          <a:xfrm>
            <a:off x="288791" y="4004358"/>
            <a:ext cx="7223260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수평시추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수압파쇄</a:t>
            </a:r>
            <a:r>
              <a:rPr lang="ko-KR" altLang="en-US" sz="1600" spc="-50" dirty="0"/>
              <a:t> 기술의 발전으로 </a:t>
            </a:r>
            <a:r>
              <a:rPr lang="ko-KR" altLang="en-US" sz="1600" spc="-50" dirty="0" err="1"/>
              <a:t>셰일층에서</a:t>
            </a:r>
            <a:r>
              <a:rPr lang="ko-KR" altLang="en-US" sz="1600" spc="-50" dirty="0"/>
              <a:t> 석유와 가스를 추출할 수 있게 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미국은 셰일 오일 생산 확대로 에너지 자립도를 향상시키고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수입의존도를 줄였다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글로벌 공급 과잉으로 </a:t>
            </a:r>
            <a:r>
              <a:rPr lang="en-US" altLang="ko-KR" sz="1600" spc="-50" dirty="0"/>
              <a:t>2014</a:t>
            </a:r>
            <a:r>
              <a:rPr lang="ko-KR" altLang="en-US" sz="1600" spc="-50" dirty="0"/>
              <a:t>년부터 </a:t>
            </a:r>
            <a:r>
              <a:rPr lang="en-US" altLang="ko-KR" sz="1600" spc="-50" dirty="0"/>
              <a:t>2016</a:t>
            </a:r>
            <a:r>
              <a:rPr lang="ko-KR" altLang="en-US" sz="1600" spc="-50" dirty="0"/>
              <a:t>년 사이 유가는 배럴당 </a:t>
            </a:r>
            <a:r>
              <a:rPr lang="en-US" altLang="ko-KR" sz="1600" spc="-50" dirty="0"/>
              <a:t>100</a:t>
            </a:r>
            <a:r>
              <a:rPr lang="ko-KR" altLang="en-US" sz="1600" spc="-50" dirty="0"/>
              <a:t>달러에서 </a:t>
            </a:r>
            <a:r>
              <a:rPr lang="en-US" altLang="ko-KR" sz="1600" spc="-50" dirty="0"/>
              <a:t>30</a:t>
            </a:r>
            <a:r>
              <a:rPr lang="ko-KR" altLang="en-US" sz="1600" spc="-50" dirty="0"/>
              <a:t>달러로 급락하기도 하였다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544522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339F57-D739-791E-2017-9E1A7EC2B6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4396D4-BDEF-C070-13AE-3E8A029607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EC1089-85A4-8D31-E858-A1CA55D58B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D10C23-C665-15CA-DE45-D6E979A4D738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셰일 혁명으로 인해 유가가 하락하자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은 생산량을 조절했으나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미국의 셰일 기업들은 기술혁신과 비용 절감으로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의 전략적 대응을 </a:t>
            </a:r>
            <a:r>
              <a:rPr lang="ko-KR" altLang="en-US" sz="1600" spc="-50" dirty="0" err="1"/>
              <a:t>견뎌내기도</a:t>
            </a:r>
            <a:r>
              <a:rPr lang="ko-KR" altLang="en-US" sz="1600" spc="-50" dirty="0"/>
              <a:t> 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결국 </a:t>
            </a:r>
            <a:r>
              <a:rPr lang="en-US" altLang="ko-KR" sz="1600" spc="-50" dirty="0"/>
              <a:t>2016</a:t>
            </a:r>
            <a:r>
              <a:rPr lang="ko-KR" altLang="en-US" sz="1600" spc="-50" dirty="0"/>
              <a:t>년 말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은 비</a:t>
            </a:r>
            <a:r>
              <a:rPr lang="en-US" altLang="ko-KR" sz="1600" spc="-50" dirty="0"/>
              <a:t>OPEC </a:t>
            </a:r>
            <a:r>
              <a:rPr lang="ko-KR" altLang="en-US" sz="1600" spc="-50" dirty="0"/>
              <a:t>국가들과 감산 협약에 도달하였고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공급조절을 통해 유가는 회복세를 보였다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2020</a:t>
            </a:r>
            <a:r>
              <a:rPr lang="ko-KR" altLang="en-US" sz="1600" spc="-50" dirty="0"/>
              <a:t>년에는 </a:t>
            </a:r>
            <a:r>
              <a:rPr lang="en-US" altLang="ko-KR" sz="1600" spc="-50" dirty="0"/>
              <a:t>COVID-19 </a:t>
            </a:r>
            <a:r>
              <a:rPr lang="ko-KR" altLang="en-US" sz="1600" spc="-50" dirty="0"/>
              <a:t>팬데믹으로 세계 경제가 급격히 위축 되면서 석유 수유도 대폭 감소하였다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2020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월에는 유가가 일시적으로 마이너스를 기록하는 사상 초유의 사태가 발생하기도 하였다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WTI </a:t>
            </a:r>
            <a:r>
              <a:rPr lang="ko-KR" altLang="en-US" sz="1600" spc="-50" dirty="0"/>
              <a:t>선물계약은 만기가 되면 원유를 실제로 </a:t>
            </a:r>
            <a:r>
              <a:rPr lang="ko-KR" altLang="en-US" sz="1600" spc="-50" dirty="0" err="1"/>
              <a:t>인수해야하는</a:t>
            </a:r>
            <a:r>
              <a:rPr lang="ko-KR" altLang="en-US" sz="1600" spc="-50" dirty="0"/>
              <a:t> 구조였다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만기 직전에 원유를 받아서 저장해놓을 공간이 더 이상 없었다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투자자들은 원유를 인수하거나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버리거나 둘 중 하나였고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결국 돈을 주고서라도 원유를 가져가라고 부탁을 하게 되는 상황이 되었다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2026</a:t>
            </a:r>
            <a:r>
              <a:rPr lang="ko-KR" altLang="en-US" sz="1600" spc="-50" dirty="0"/>
              <a:t>년 미국의 이란 침공으로 다시 한번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석유가격이 배럴당 </a:t>
            </a:r>
            <a:r>
              <a:rPr lang="en-US" altLang="ko-KR" sz="1600" spc="-50" dirty="0"/>
              <a:t>100</a:t>
            </a:r>
            <a:r>
              <a:rPr lang="ko-KR" altLang="en-US" sz="1600" spc="-50" dirty="0"/>
              <a:t>달러가 넘는 수준까지 급등하였고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고유가는 현재까지도 지속되고 있다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6528134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897F0-A360-906A-068E-9E10E20F64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493F996-4DA3-E60E-0125-8AF708D3F04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77BC819-CF5B-BFA6-5C36-4348FB8BFE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C7C11035-F030-DBE3-A153-E488E26F1E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석유의 수직적 가치사슬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4905857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FA31F9-CDE5-C5E8-180F-25EAC54C0F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C37D86-1B6B-CB91-B609-ED669B0ECB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석유의 수직적 가치사슬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2B8EA3-906F-937A-A239-D7AD9164F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2221A7-975C-108C-8BA0-26F6633752B4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80000" indent="-2520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석유산업은 원유 탐사부터 최종소비까지 다양한 공정과 활동을 포함하는 고도로 조직화된 산업이다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일반적으로 상류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하류의 세 부문으로 구분된다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수직적 구조는 석유의 공급 안정성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리스크 관리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시장 대응력 강화를 위한 전략적 선택이다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특히 </a:t>
            </a:r>
            <a:r>
              <a:rPr lang="en-US" altLang="ko-KR" sz="1600" spc="-50" dirty="0"/>
              <a:t>20</a:t>
            </a:r>
            <a:r>
              <a:rPr lang="ko-KR" altLang="en-US" sz="1600" spc="-50" dirty="0"/>
              <a:t>세기 중반 이후 거대 글로벌 석유 기업들은 각 부문을 수직적으로 통합하여 원유의 가격 변동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지정학적 충격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수요 변화 등 다양한 외부 리스크를 </a:t>
            </a:r>
            <a:r>
              <a:rPr lang="ko-KR" altLang="en-US" sz="1600" spc="-50" dirty="0" err="1"/>
              <a:t>내부화하고자</a:t>
            </a:r>
            <a:r>
              <a:rPr lang="ko-KR" altLang="en-US" sz="1600" spc="-50" dirty="0"/>
              <a:t> 하였다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상류부문은 석유 자원의 탐사와 개발을 의미한다</a:t>
            </a:r>
            <a:r>
              <a:rPr lang="en-US" altLang="ko-KR" sz="1600" spc="-50" dirty="0"/>
              <a:t>.</a:t>
            </a:r>
          </a:p>
          <a:p>
            <a:pPr marL="728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지질학적 조사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유정건설 등 고난이도 기술과 자본을 요구한다</a:t>
            </a:r>
            <a:r>
              <a:rPr lang="en-US" altLang="ko-KR" sz="1600" spc="-50" dirty="0"/>
              <a:t>.</a:t>
            </a:r>
          </a:p>
          <a:p>
            <a:pPr marL="1185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진입장벽이 매우 높고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자원의 존재 여부와 상업성에 대한 불확실성으로 고위험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고수익 산업의 대표적인 예이다</a:t>
            </a:r>
            <a:r>
              <a:rPr lang="en-US" altLang="ko-KR" sz="1600" spc="-50" dirty="0"/>
              <a:t>.</a:t>
            </a:r>
          </a:p>
          <a:p>
            <a:pPr marL="728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국제 유가에 직접적인 영향을 받아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유가가 상승할수록 탐사 및 생산 활동이 활성화 된다</a:t>
            </a:r>
            <a:r>
              <a:rPr lang="en-US" altLang="ko-KR" sz="1600" spc="-50" dirty="0"/>
              <a:t>.</a:t>
            </a:r>
          </a:p>
          <a:p>
            <a:pPr marL="728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최근에는 </a:t>
            </a:r>
            <a:r>
              <a:rPr lang="ko-KR" altLang="en-US" sz="1600" spc="-50" dirty="0" err="1"/>
              <a:t>해양심층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북극권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비전통</a:t>
            </a:r>
            <a:r>
              <a:rPr lang="ko-KR" altLang="en-US" sz="1600" spc="-50" dirty="0"/>
              <a:t> 자원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예</a:t>
            </a:r>
            <a:r>
              <a:rPr lang="en-US" altLang="ko-KR" sz="1600" spc="-50" dirty="0"/>
              <a:t>: </a:t>
            </a:r>
            <a:r>
              <a:rPr lang="ko-KR" altLang="en-US" sz="1600" spc="-50" dirty="0" err="1"/>
              <a:t>셰일오일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에 대한 탐사도 적극적으로 이루어지고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이에 따라 </a:t>
            </a:r>
            <a:r>
              <a:rPr lang="ko-KR" altLang="en-US" sz="1600" spc="-50" dirty="0" err="1"/>
              <a:t>기술리스크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환경리스크가</a:t>
            </a:r>
            <a:r>
              <a:rPr lang="ko-KR" altLang="en-US" sz="1600" spc="-50" dirty="0"/>
              <a:t> 더욱 복잡해진 형태를 띄고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368049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44BF77-8E7B-8B7D-20D0-DE2B8830F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85B3B2-C271-A22A-168D-30E38D356E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석유의 수직적 가치사슬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EBE621D-48C6-7011-1822-76CD514BFD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BB4275D-C407-F9E5-6314-73A15867DB13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80000" indent="-2520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중류부문은 생산된 원유를 정유시설 또는 수출항만으로 수송하고 저장하는 과정을 의미한다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주요 운송수단으로는 송유관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유조선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철도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트럭등이</a:t>
            </a:r>
            <a:r>
              <a:rPr lang="ko-KR" altLang="en-US" sz="1600" spc="-50" dirty="0"/>
              <a:t>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전략 비축기지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상업적 저장시설을 포함한다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기술적으로는 안정적이지만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수송 경로의 지정학적 민감성이 매우 크다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 err="1"/>
              <a:t>호르무즈</a:t>
            </a:r>
            <a:r>
              <a:rPr lang="ko-KR" altLang="en-US" sz="1600" spc="-50" dirty="0"/>
              <a:t> 해협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말라카</a:t>
            </a:r>
            <a:r>
              <a:rPr lang="ko-KR" altLang="en-US" sz="1600" spc="-50" dirty="0"/>
              <a:t> 해협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수에즈 운하 등 해상 초크포인트는 원유공급 중단 시 세계 석유 공급에 직접적인 영향을 미치므로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에너지 안보 정책의 핵심 고려대상이 된다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하류부문은 원유를 정제하여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휘발유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디젤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항공유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나프타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아스팔트 등 다양한 석유 제품으로 전환하고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산업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수송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발전 부문 등의 최종수요처에 공급하는 과정을 의미한다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소비자들과 직접 연결되어 있어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수요의 계절성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가격탄력성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세금 정책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환경 규제 등에 민감한 반응을 보인다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최근에는 제품의 친환경성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정제 공정의 에너지 효율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탄소배출 저감 기술 등이 핵심 과제로 부상하고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762977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AB219F-F500-DA90-956A-5D6CB450C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E3B233-DE9E-E21F-84F7-4DCE4F68B5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석유의 수직적 가치사슬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E3DD18-07B6-AE2B-459D-169D6A4FBB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9DE16A-6819-2DD8-8EBC-336C214A8A1F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80000" indent="-2520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상류</a:t>
            </a:r>
            <a:r>
              <a:rPr lang="en-US" altLang="ko-KR" sz="1600" spc="-50" dirty="0"/>
              <a:t>-</a:t>
            </a:r>
            <a:r>
              <a:rPr lang="ko-KR" altLang="en-US" sz="1600" spc="-50" dirty="0"/>
              <a:t>중류</a:t>
            </a:r>
            <a:r>
              <a:rPr lang="en-US" altLang="ko-KR" sz="1600" spc="-50" dirty="0"/>
              <a:t>-</a:t>
            </a:r>
            <a:r>
              <a:rPr lang="ko-KR" altLang="en-US" sz="1600" spc="-50" dirty="0"/>
              <a:t>하류 세 부문을 독립적으로 운영하기도 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대부분 대형 석유기업은 수직적으로 통합된 구조를 통해 전체 가치사슬을 내부적으로 조정하고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여러 외부변동에 따른 리스크를 흡수할 수 있는 체계를 구축하고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예를 들어 정유 마진이 낮아지거나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수요가 급감하는 경우에도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자사의 생산 원유를 안정적으로 판매할 수 있는 구조는 기업의 </a:t>
            </a:r>
            <a:r>
              <a:rPr lang="ko-KR" altLang="en-US" sz="1600" spc="-50" dirty="0" err="1"/>
              <a:t>생존력과</a:t>
            </a:r>
            <a:r>
              <a:rPr lang="ko-KR" altLang="en-US" sz="1600" spc="-50" dirty="0"/>
              <a:t> 수익성을 유지하는데 중요한 역할을 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보았듯이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각 부문별로 기술 구조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리스크 요인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투자 특성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부가가치 창출 방식이 상이하다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이는 외부 요인의 종류에 따라 부문별 상대적 중요성이 변화함을 의미한다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예를 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고유가 시기에는 상류 부문 투자와 탐사가 확대 </a:t>
            </a:r>
            <a:r>
              <a:rPr lang="ko-KR" altLang="en-US" sz="1600" spc="-50" dirty="0" err="1"/>
              <a:t>된고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저유가 시기에는 하류 부문의 효율화 또는 신재생에너지와의 연계 전략이 부각된다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특히 최근에는 에너지 시스템의 분산화와 탈탄소화 기조 속에서 새로운 형태의 연계구조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예컨대 정유회사와 수소생산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전기차 충전 네트워크 간의 통합 등으로 진화하고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석유산업의 구조와 동향을 분석하고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정책을 설계하기 위해서는 이러한 가치사슬에 대한 입체적 이해가 필수적이다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수직적 가치사슬은 에너지 안보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환경 전략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국제 교역 등 다양한 영역에서 분석의 기본 단위로 작용한다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330312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CB4DE2-9D43-D55F-4012-C001112612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96DF3E8-D435-306F-3C72-ECA498875E6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180DAC3-54FD-A3E7-4A84-5F51718DC7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074B79A8-ADA9-CEB0-D762-D621B2A2D7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석유의 생산과 소비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72833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0FA62F-64DD-668E-92E1-D195A73BD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998FA0-C13D-9341-945C-0EFFE14797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석유의 생산과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5E20F15-8663-16AB-298A-55BDFE6C4F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62EFF8-7454-4452-854A-268B63F5D432}"/>
              </a:ext>
            </a:extLst>
          </p:cNvPr>
          <p:cNvSpPr txBox="1"/>
          <p:nvPr/>
        </p:nvSpPr>
        <p:spPr>
          <a:xfrm>
            <a:off x="288790" y="958844"/>
            <a:ext cx="11118453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80000" indent="-2520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원유는 그 성분과 추출 위치에 따라 다양하게 분류될 수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일반적으로 원유는 황 함량과 </a:t>
            </a:r>
            <a:r>
              <a:rPr lang="en-US" altLang="ko-KR" sz="1600" spc="-50" dirty="0"/>
              <a:t>API </a:t>
            </a:r>
            <a:r>
              <a:rPr lang="ko-KR" altLang="en-US" sz="1600" spc="-50" dirty="0"/>
              <a:t>중력도에 따라 분류된다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이는 원유의 밀도와 정제품질을 나타내는 중요한 지표이다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우선 원유는 경질유와 중질유로 구분이 가능하다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경질유는 </a:t>
            </a:r>
            <a:r>
              <a:rPr lang="en-US" altLang="ko-KR" sz="1600" spc="-50" dirty="0"/>
              <a:t>API</a:t>
            </a:r>
            <a:r>
              <a:rPr lang="ko-KR" altLang="en-US" sz="1600" spc="-50" dirty="0"/>
              <a:t> 중력도가 높고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황 함량이 낮다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원유가 가볍고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단맛이 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정제 시 고가의 연료와 제품을 더 많이 생산 한다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대표적으로 서아프리카의 </a:t>
            </a:r>
            <a:r>
              <a:rPr lang="ko-KR" altLang="en-US" sz="1600" spc="-50" dirty="0" err="1"/>
              <a:t>본니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사우디아라비아의 아라비안 라이트 등이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중질유는 </a:t>
            </a:r>
            <a:r>
              <a:rPr lang="en-US" altLang="ko-KR" sz="1600" spc="-50" dirty="0"/>
              <a:t>API </a:t>
            </a:r>
            <a:r>
              <a:rPr lang="ko-KR" altLang="en-US" sz="1600" spc="-50" dirty="0"/>
              <a:t>중력도가 낮고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황 함량이 높다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원유가 무겁기 때문에 정제 과정이 복잡하고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상대적으로 많은 </a:t>
            </a:r>
            <a:r>
              <a:rPr lang="ko-KR" altLang="en-US" sz="1600" spc="-50" dirty="0" err="1"/>
              <a:t>잔사</a:t>
            </a:r>
            <a:r>
              <a:rPr lang="en-US" altLang="ko-KR" sz="1600" spc="-50" dirty="0"/>
              <a:t>(residual fuel)</a:t>
            </a:r>
            <a:r>
              <a:rPr lang="ko-KR" altLang="en-US" sz="1600" spc="-50" dirty="0"/>
              <a:t>와 아스팔트를 생산 한다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대표적으로 베네수엘라의 </a:t>
            </a:r>
            <a:r>
              <a:rPr lang="ko-KR" altLang="en-US" sz="1600" spc="-50" dirty="0" err="1"/>
              <a:t>오리노코벨트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캐나다의 오일샌드에서 추출되는 원유 등이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2229936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9A56DD-2788-393A-16AA-A3465C0A8F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65BAFA-5257-7006-0302-002CB7D128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석유의 생산과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972A8F-6B04-25B8-01CB-C5C706191F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ACA1A77-9D85-1C38-F497-1594E08F0AEC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또한 원유는 단맛의 원유와 쓴맛의 원유로 구분될 수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단맛의 원유는 황 함량이 낮아 환경 규제를 만족시키기 쉽고 정제 비용이 낮다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대표적으로 서부 텍사스 </a:t>
            </a:r>
            <a:r>
              <a:rPr lang="ko-KR" altLang="en-US" sz="1600" spc="-50" dirty="0" err="1"/>
              <a:t>중질유</a:t>
            </a:r>
            <a:r>
              <a:rPr lang="en-US" altLang="ko-KR" sz="1600" spc="-50" dirty="0"/>
              <a:t>(WTI)</a:t>
            </a:r>
            <a:r>
              <a:rPr lang="ko-KR" altLang="en-US" sz="1600" spc="-50" dirty="0"/>
              <a:t>와 북해의 </a:t>
            </a:r>
            <a:r>
              <a:rPr lang="ko-KR" altLang="en-US" sz="1600" spc="-50" dirty="0" err="1"/>
              <a:t>브렌트</a:t>
            </a:r>
            <a:r>
              <a:rPr lang="ko-KR" altLang="en-US" sz="1600" spc="-50" dirty="0"/>
              <a:t> 원유가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쓴맛의 원유는 황 함량이 높아 정제 시 많은 비용이 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황산화물 배출이 많아 환경 규제 이슈가 있다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대표적으로 중동의 두바이 원유와 멕시코의 마야 중질유가 있다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벤츠마크</a:t>
            </a:r>
            <a:r>
              <a:rPr lang="ko-KR" altLang="en-US" sz="1600" spc="-50" dirty="0"/>
              <a:t> 원유는 각 지역의 대표적인 원유로서 국제 거래에서 가격 기준점으로 주로 사용된다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북해의 </a:t>
            </a:r>
            <a:r>
              <a:rPr lang="ko-KR" altLang="en-US" sz="1600" spc="-50" dirty="0" err="1"/>
              <a:t>브렌트</a:t>
            </a:r>
            <a:r>
              <a:rPr lang="ko-KR" altLang="en-US" sz="1600" spc="-50" dirty="0"/>
              <a:t> 원유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미국의 서부 텍사스 </a:t>
            </a:r>
            <a:r>
              <a:rPr lang="ko-KR" altLang="en-US" sz="1600" spc="-50" dirty="0" err="1"/>
              <a:t>중질유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아시아의 두바이 원유 가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분류는 원유 가격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거래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정제 방법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및 사용 가능한 최종 제품의 유형을 결정하는데 중요한 역할을 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각 유형의 원유는 특정 요구와 환경 기준에 맞추어 선택되고 사용된다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361764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C1AADC-8DEE-1225-044A-3F7EC72DA8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23431A-FA0A-A5BC-11AC-C8DF3EC471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석유의 생산과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87D085F-9CC4-41AC-B269-F3081F213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631232-6136-3A5C-37CE-2D6B3758DEB8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 거래 시장에서는 주로 현물시장과 선물시장이 활발히 이용된다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현물시장에서는 석유가 매우 짧은 기간 내에 실시간 가격으로 거래되고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인도된다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현물시장의 거래는 주로 긴급한 공급의 필요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재고 보충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직접적인 소비자 요구 등에 의한 것이다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런던의 </a:t>
            </a:r>
            <a:r>
              <a:rPr lang="ko-KR" altLang="en-US" sz="1600" spc="-50" dirty="0" err="1"/>
              <a:t>브렌트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뉴욕의 서부 텍사스 </a:t>
            </a:r>
            <a:r>
              <a:rPr lang="ko-KR" altLang="en-US" sz="1600" spc="-50" dirty="0" err="1"/>
              <a:t>중질유</a:t>
            </a:r>
            <a:r>
              <a:rPr lang="en-US" altLang="ko-KR" sz="1600" spc="-50" dirty="0"/>
              <a:t>(WTI) </a:t>
            </a:r>
            <a:r>
              <a:rPr lang="ko-KR" altLang="en-US" sz="1600" spc="-50" dirty="0"/>
              <a:t>등이 현물시장에서 거래되는 대표적인 석유 종류이다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선물시장에서는 정해진 미래의 날짜에 석유를 인도할 것을 약속하면서 그에 대한 계약을 체결한다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선물시장의 주요 기능은 생산자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정제업체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 시장 참여자들이 미래 가격 변동으로 부터의 위험을 </a:t>
            </a:r>
            <a:r>
              <a:rPr lang="ko-KR" altLang="en-US" sz="1600" spc="-50" dirty="0" err="1"/>
              <a:t>헤지하는</a:t>
            </a:r>
            <a:r>
              <a:rPr lang="ko-KR" altLang="en-US" sz="1600" spc="-50" dirty="0"/>
              <a:t> 것이다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대표적인 석유 선물거래소에는 뉴욕상업거래소</a:t>
            </a:r>
            <a:r>
              <a:rPr lang="en-US" altLang="ko-KR" sz="1600" spc="-50" dirty="0"/>
              <a:t>(NYMEX), </a:t>
            </a:r>
            <a:r>
              <a:rPr lang="ko-KR" altLang="en-US" sz="1600" spc="-50" dirty="0"/>
              <a:t>런던석유거래소</a:t>
            </a:r>
            <a:r>
              <a:rPr lang="en-US" altLang="ko-KR" sz="1600" spc="-50" dirty="0"/>
              <a:t>(ICE)</a:t>
            </a:r>
            <a:r>
              <a:rPr lang="ko-KR" altLang="en-US" sz="1600" spc="-50" dirty="0"/>
              <a:t>가 있다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전통적으로 석유시장은 실물의 공급과 수요에 의해 가격이 결정되는 원자재 시장으로 인식되어 왔으나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2000</a:t>
            </a:r>
            <a:r>
              <a:rPr lang="ko-KR" altLang="en-US" sz="1600" spc="-50" dirty="0"/>
              <a:t>년대 이후 부터는 금융시장과 밀접한 연결을 갖게 되었다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석유를 단순한 실물자산이 아닌 투자자산으로 인식되기 시작했음을 의미한다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특히 원유 선물시장에 대한 금융 투자자들의 참여가 확대되면서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 가격은 자본의 흐름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기대심리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거시경제 지표 등 금융 요인에 의해 보다 많은 영향을 받게 되었다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694367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E0C10-B6B8-2ED8-2EF7-077B26FD6E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CC04F2-C5C3-9FDD-2ECB-CCC85352B4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석유매장량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BB786C-CE64-9873-9E57-D4AACE686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781DCE-549E-7161-D29B-4B79BD93109E}"/>
              </a:ext>
            </a:extLst>
          </p:cNvPr>
          <p:cNvSpPr txBox="1"/>
          <p:nvPr/>
        </p:nvSpPr>
        <p:spPr>
          <a:xfrm>
            <a:off x="288790" y="958844"/>
            <a:ext cx="11118453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 시장은 지난 </a:t>
            </a:r>
            <a:r>
              <a:rPr lang="en-US" altLang="ko-KR" sz="1600" spc="-50" dirty="0"/>
              <a:t>30</a:t>
            </a:r>
            <a:r>
              <a:rPr lang="ko-KR" altLang="en-US" sz="1600" spc="-50" dirty="0"/>
              <a:t>년간 탐사기술의 발전으로 확인 매장량을 확대해왔다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 세계 석유 매장량은 </a:t>
            </a:r>
            <a:r>
              <a:rPr lang="en-US" altLang="ko-KR" sz="1600" spc="-50" dirty="0"/>
              <a:t>2020</a:t>
            </a:r>
            <a:r>
              <a:rPr lang="ko-KR" altLang="en-US" sz="1600" spc="-50" dirty="0"/>
              <a:t>년에 </a:t>
            </a:r>
            <a:r>
              <a:rPr lang="en-US" altLang="ko-KR" sz="1600" spc="-50" dirty="0"/>
              <a:t>1,300</a:t>
            </a:r>
            <a:r>
              <a:rPr lang="ko-KR" altLang="en-US" sz="1600" spc="-50" dirty="0"/>
              <a:t>조 배럴에서</a:t>
            </a:r>
            <a:r>
              <a:rPr lang="en-US" altLang="ko-KR" sz="1600" spc="-50" dirty="0"/>
              <a:t>, 2024</a:t>
            </a:r>
            <a:r>
              <a:rPr lang="ko-KR" altLang="en-US" sz="1600" spc="-50" dirty="0"/>
              <a:t>년에 </a:t>
            </a:r>
            <a:r>
              <a:rPr lang="en-US" altLang="ko-KR" sz="1600" spc="-50" dirty="0"/>
              <a:t>1,732</a:t>
            </a:r>
            <a:r>
              <a:rPr lang="ko-KR" altLang="en-US" sz="1600" spc="-50" dirty="0"/>
              <a:t>조 배럴로 증가하였다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지역적으로는 중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남미와 중동 지역의 매장량이 크게 늘었다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중동지역의 매장량 비중은 </a:t>
            </a:r>
            <a:r>
              <a:rPr lang="en-US" altLang="ko-KR" sz="1600" spc="-50" dirty="0"/>
              <a:t>2020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53.6%</a:t>
            </a:r>
            <a:r>
              <a:rPr lang="ko-KR" altLang="en-US" sz="1600" spc="-50" dirty="0"/>
              <a:t>에서 </a:t>
            </a:r>
            <a:r>
              <a:rPr lang="en-US" altLang="ko-KR" sz="1600" spc="-50" dirty="0"/>
              <a:t>2020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46.3%</a:t>
            </a:r>
            <a:r>
              <a:rPr lang="ko-KR" altLang="en-US" sz="1600" spc="-50" dirty="0"/>
              <a:t>로 감소하였지만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여전히 다른 지역에 비해 현저히 매장량이 크다</a:t>
            </a:r>
            <a:r>
              <a:rPr lang="en-US" altLang="ko-KR" sz="1600" spc="-50" dirty="0"/>
              <a:t>.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2BE77FFD-A5D0-88C0-503F-1C7AB5522D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9133934"/>
              </p:ext>
            </p:extLst>
          </p:nvPr>
        </p:nvGraphicFramePr>
        <p:xfrm>
          <a:off x="526880" y="3091387"/>
          <a:ext cx="9788740" cy="3235479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846240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735625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735625">
                  <a:extLst>
                    <a:ext uri="{9D8B030D-6E8A-4147-A177-3AD203B41FA5}">
                      <a16:colId xmlns:a16="http://schemas.microsoft.com/office/drawing/2014/main" val="3382775548"/>
                    </a:ext>
                  </a:extLst>
                </a:gridCol>
                <a:gridCol w="1735625">
                  <a:extLst>
                    <a:ext uri="{9D8B030D-6E8A-4147-A177-3AD203B41FA5}">
                      <a16:colId xmlns:a16="http://schemas.microsoft.com/office/drawing/2014/main" val="4205076024"/>
                    </a:ext>
                  </a:extLst>
                </a:gridCol>
                <a:gridCol w="1735625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2000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매장량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생산량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 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비율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북미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236.5 (18.2%)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220.3 (13.5%)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242.9 (14.0%)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</a:t>
                      </a:r>
                      <a:r>
                        <a:rPr lang="en-US" altLang="ko-KR" sz="1400" spc="-50" dirty="0"/>
                        <a:t>·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남미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96 (7.4%)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320.1 (19.6%)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323.4 (18.7%)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151.3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유럽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 (1.6%)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13.6 (0.8%)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13.6 (0.8%)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CIS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국가들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120.1 (9.2%)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144.2 (8.8%)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146.2 (8.4%)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29.6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중동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696.7 (53.6%)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765.9 (46.8%)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835.9 (46.3%)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82.6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아프리카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92.9 (7.1%)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124.9 (7.6%)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125.1 (7.2%)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49.8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아시아태평양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37.7 (2.9%)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47.8 (2.9%)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45.2 (2.6%)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7568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세계 전체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1,300.90 (100%)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1636.9 (100%)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1,732.4 (100%)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53.5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21348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262.7 (20.2%)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238.5 (14.6%)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260 (15.0%)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214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1038.2 (79.8%)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1398.3 (85.4%)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1472.4 (85.0%)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66.9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13051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OPEC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833 (64.0%)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1137.7 (69.5%)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1214.7 (70.1%)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108.3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63103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OPEC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468 (26.0%)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499.1 (30.5%)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517.7 (29.9%)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E9B4A3D-13C9-C344-F32C-D48A7E8ACCEB}"/>
              </a:ext>
            </a:extLst>
          </p:cNvPr>
          <p:cNvSpPr txBox="1"/>
          <p:nvPr/>
        </p:nvSpPr>
        <p:spPr>
          <a:xfrm>
            <a:off x="526880" y="6377666"/>
            <a:ext cx="978874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00" dirty="0"/>
              <a:t>※ CIS: </a:t>
            </a:r>
            <a:r>
              <a:rPr lang="en-US" altLang="ko-KR" sz="900" b="1" dirty="0"/>
              <a:t>C</a:t>
            </a:r>
            <a:r>
              <a:rPr lang="en-US" altLang="ko-KR" sz="900" dirty="0"/>
              <a:t>ommonwealth of </a:t>
            </a:r>
            <a:r>
              <a:rPr lang="en-US" altLang="ko-KR" sz="900" b="1" dirty="0"/>
              <a:t>I</a:t>
            </a:r>
            <a:r>
              <a:rPr lang="en-US" altLang="ko-KR" sz="900" dirty="0"/>
              <a:t>ndependent </a:t>
            </a:r>
            <a:r>
              <a:rPr lang="en-US" altLang="ko-KR" sz="900" b="1" dirty="0"/>
              <a:t>S</a:t>
            </a:r>
            <a:r>
              <a:rPr lang="en-US" altLang="ko-KR" sz="900" dirty="0"/>
              <a:t>tates, </a:t>
            </a:r>
            <a:r>
              <a:rPr lang="ko-KR" altLang="en-US" sz="900" dirty="0"/>
              <a:t>독립국가연합</a:t>
            </a:r>
            <a:r>
              <a:rPr lang="en-US" altLang="ko-KR" sz="900" dirty="0"/>
              <a:t>, (</a:t>
            </a:r>
            <a:r>
              <a:rPr lang="ko-KR" altLang="en-US" sz="900" dirty="0"/>
              <a:t>러시아</a:t>
            </a:r>
            <a:r>
              <a:rPr lang="en-US" altLang="ko-KR" sz="900" dirty="0"/>
              <a:t>, </a:t>
            </a:r>
            <a:r>
              <a:rPr lang="ko-KR" altLang="en-US" sz="900" dirty="0"/>
              <a:t>벨라루스</a:t>
            </a:r>
            <a:r>
              <a:rPr lang="en-US" altLang="ko-KR" sz="900" dirty="0"/>
              <a:t>, </a:t>
            </a:r>
            <a:r>
              <a:rPr lang="ko-KR" altLang="en-US" sz="900" dirty="0"/>
              <a:t>아르메니아</a:t>
            </a:r>
            <a:r>
              <a:rPr lang="en-US" altLang="ko-KR" sz="900" dirty="0"/>
              <a:t>, </a:t>
            </a:r>
            <a:r>
              <a:rPr lang="ko-KR" altLang="en-US" sz="900" dirty="0"/>
              <a:t>아제르바이잔</a:t>
            </a:r>
            <a:r>
              <a:rPr lang="en-US" altLang="ko-KR" sz="900" dirty="0"/>
              <a:t>, </a:t>
            </a:r>
            <a:r>
              <a:rPr lang="ko-KR" altLang="en-US" sz="900" dirty="0"/>
              <a:t>카자흐스탄</a:t>
            </a:r>
            <a:r>
              <a:rPr lang="en-US" altLang="ko-KR" sz="900" dirty="0"/>
              <a:t>, </a:t>
            </a:r>
            <a:r>
              <a:rPr lang="ko-KR" altLang="en-US" sz="900" dirty="0"/>
              <a:t>우즈베키스탄</a:t>
            </a:r>
            <a:r>
              <a:rPr lang="en-US" altLang="ko-KR" sz="900" dirty="0"/>
              <a:t>, </a:t>
            </a:r>
            <a:r>
              <a:rPr lang="ko-KR" altLang="en-US" sz="900" dirty="0"/>
              <a:t>키르기스스탄</a:t>
            </a:r>
            <a:r>
              <a:rPr lang="en-US" altLang="ko-KR" sz="900" dirty="0"/>
              <a:t>, </a:t>
            </a:r>
            <a:r>
              <a:rPr lang="ko-KR" altLang="en-US" sz="900" dirty="0"/>
              <a:t>타지키스탄</a:t>
            </a:r>
            <a:r>
              <a:rPr lang="en-US" altLang="ko-KR" sz="900" dirty="0"/>
              <a:t>)</a:t>
            </a:r>
            <a:endParaRPr lang="ko-KR" altLang="en-US" sz="900" dirty="0"/>
          </a:p>
        </p:txBody>
      </p:sp>
    </p:spTree>
    <p:extLst>
      <p:ext uri="{BB962C8B-B14F-4D97-AF65-F5344CB8AC3E}">
        <p14:creationId xmlns:p14="http://schemas.microsoft.com/office/powerpoint/2010/main" val="258476810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1F0CB1-2C6A-DAB9-55DA-84BF750E0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4D4EFC-D055-CFC8-A349-67FA08B8E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석유생산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0391C7-4EBB-75BF-6532-7B6B79AC8B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E39F96-9200-8E62-6ABB-11FA463C285E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세계 석유 생산은 지리적으로 매우 불균등하게 분포되어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각 지역은 매장량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생산 기술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제도적 환경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정치적 안정성 등 다양한 특성을 지닌다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지역별 차이는 석유시장의 가격형성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공급안보에 중요한 영향을 미친다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중동 지역은 세계 확인 매장량의 절반 가량을 보유하고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저비용</a:t>
            </a:r>
            <a:r>
              <a:rPr lang="en-US" altLang="ko-KR" sz="1600" spc="-50" dirty="0"/>
              <a:t>·</a:t>
            </a:r>
            <a:r>
              <a:rPr lang="ko-KR" altLang="en-US" sz="1600" spc="-50" dirty="0" err="1"/>
              <a:t>고생산</a:t>
            </a:r>
            <a:r>
              <a:rPr lang="ko-KR" altLang="en-US" sz="1600" spc="-50" dirty="0"/>
              <a:t> 구조를 특징으로 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사우디아라비아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이라크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쿠웨이트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아랍에미리트 등 주요 산유국들은 국영 석유회사를 통해 생산을 통제한다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석유 수출이 국가 재정의 핵심 기반이 된다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북미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미국과 캐나다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는 기술 혁신을 통한 석유 생산 확대의 대표적 사례이다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미국은 </a:t>
            </a:r>
            <a:r>
              <a:rPr lang="ko-KR" altLang="en-US" sz="1600" spc="-50" dirty="0" err="1"/>
              <a:t>수압파쇄와</a:t>
            </a:r>
            <a:r>
              <a:rPr lang="ko-KR" altLang="en-US" sz="1600" spc="-50" dirty="0"/>
              <a:t> 수평시추 기술을 활용하여 </a:t>
            </a:r>
            <a:r>
              <a:rPr lang="en-US" altLang="ko-KR" sz="1600" spc="-50" dirty="0"/>
              <a:t>2018</a:t>
            </a:r>
            <a:r>
              <a:rPr lang="ko-KR" altLang="en-US" sz="1600" spc="-50" dirty="0"/>
              <a:t>년 이후 세계 최대 석유 생산국이 되었다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민간기업 주도의 경쟁적 시장 구조를 갖고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선물시장</a:t>
            </a:r>
            <a:r>
              <a:rPr lang="en-US" altLang="ko-KR" sz="1600" spc="-50" dirty="0"/>
              <a:t>(NYMEX)</a:t>
            </a:r>
            <a:r>
              <a:rPr lang="ko-KR" altLang="en-US" sz="1600" spc="-50" dirty="0"/>
              <a:t>과 파생상품 시장이 발달하여 글로벌 가격 변동성과 밀접하게 연결되어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6916059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52365-68B4-68B4-553C-DCF940750B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AC0BAE-DABC-50A3-CC90-783D81948E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석유생산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593CFD0-6415-D218-B085-CE41ED34F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2B6025-6854-2EB6-D777-986C4ACA90B0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러시아와 카자흐스탄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아제르바이잔 등의 유라시아 국가들도 풍부한 석유자원을 보유하고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러시아는 </a:t>
            </a:r>
            <a:r>
              <a:rPr lang="en-US" altLang="ko-KR" sz="1600" spc="-50" dirty="0"/>
              <a:t>OPEC+ (OPEC</a:t>
            </a:r>
            <a:r>
              <a:rPr lang="ko-KR" altLang="en-US" sz="1600" spc="-50" dirty="0"/>
              <a:t>회원국과 기타 산유국들로 구성된 더 큰 집단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핵심 비회원국으로서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시베리아와 북극권 유전 개발을 통해 세계 석유 수급에 중대한 역할을 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러시아는 서방의 경제 제재와 정치적 불확실성 때문에 석유산업의 중장기 리스크 요인이 존재한다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아프리카 지역에서는 나이지리아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앙골라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리비아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알제리 등이 주요 생산국이다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해상 유전 개발과 국제 석유기업들이 활발한 투자를 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정치 불안정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인프라 부족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부패 등의 구조적 문제 때문에 생산 안정성이 낮다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남미에서는 베네수엘라가 세계 최대 확인 매장량을 보유하고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정치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경제적 혼란과 미국의 제재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생산설비의 노후화로 생산량은 급감한 상태이다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브라질은 심해 유전을 중심으로 첨단 기술을 활용하여 생산확대에 성공하였고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국제 석유기업과 협력도 활발하다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3154918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7B4AFA-0678-7827-3D8F-244A7CD56B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253C8F-403E-070F-317F-A050DAD34B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석유생산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0E8BD2-00EF-96A3-36FC-A50D3474F4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1BBD595-46D6-7172-651A-7F843548309A}"/>
              </a:ext>
            </a:extLst>
          </p:cNvPr>
          <p:cNvSpPr txBox="1"/>
          <p:nvPr/>
        </p:nvSpPr>
        <p:spPr>
          <a:xfrm>
            <a:off x="288790" y="958844"/>
            <a:ext cx="11118453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아시아</a:t>
            </a:r>
            <a:r>
              <a:rPr lang="en-US" altLang="ko-KR" sz="1600" spc="-50" dirty="0"/>
              <a:t>-</a:t>
            </a:r>
            <a:r>
              <a:rPr lang="ko-KR" altLang="en-US" sz="1600" spc="-50" dirty="0"/>
              <a:t>태평양 지역은 전반적으로 석유 순수입국이 많다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중국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인도네시아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말레이사 등 일부 국가는 상당한 양의 석유 생산을 유지하고 있다</a:t>
            </a:r>
            <a:r>
              <a:rPr lang="en-US" altLang="ko-KR" sz="1600" spc="-50" dirty="0"/>
              <a:t>.</a:t>
            </a:r>
          </a:p>
          <a:p>
            <a:pPr marL="385200" lvl="1">
              <a:lnSpc>
                <a:spcPct val="150000"/>
              </a:lnSpc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유럽은 노르웨이와 영국의 북해 유전을 중심으로 석유를 생산했으나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매장량 감소와 </a:t>
            </a:r>
            <a:r>
              <a:rPr lang="ko-KR" altLang="en-US" sz="1600" spc="-50" dirty="0" err="1"/>
              <a:t>정점기</a:t>
            </a:r>
            <a:r>
              <a:rPr lang="ko-KR" altLang="en-US" sz="1600" spc="-50" dirty="0"/>
              <a:t> 도래로 감소세를 보이고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유럽은 재생에너지 확대와 탄소중립 목표에 맞춰 석유 생산보다는 수입 다변화와 감축에 중점을 두고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1251051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59F57E-2586-5F80-7400-ADEEB678F7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 생산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28098F-BAD1-18A5-A549-7CFD672F2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CAF07C-515F-5855-C832-2603AD4D1116}"/>
              </a:ext>
            </a:extLst>
          </p:cNvPr>
          <p:cNvSpPr txBox="1"/>
          <p:nvPr/>
        </p:nvSpPr>
        <p:spPr>
          <a:xfrm>
            <a:off x="288790" y="958844"/>
            <a:ext cx="11118453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 그림을 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세계 석유 생산양은 </a:t>
            </a:r>
            <a:r>
              <a:rPr lang="en-US" altLang="ko-KR" sz="1600" spc="-50" dirty="0"/>
              <a:t>2013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4,126 </a:t>
            </a:r>
            <a:r>
              <a:rPr lang="ko-KR" altLang="en-US" sz="1600" spc="-50" dirty="0" err="1"/>
              <a:t>백만톤에서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2023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4,514</a:t>
            </a:r>
            <a:r>
              <a:rPr lang="ko-KR" altLang="en-US" sz="1600" spc="-50" dirty="0" err="1"/>
              <a:t>백만톤으로</a:t>
            </a:r>
            <a:r>
              <a:rPr lang="ko-KR" altLang="en-US" sz="1600" spc="-50" dirty="0"/>
              <a:t> 증가하였다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연평균 증가율은 </a:t>
            </a:r>
            <a:r>
              <a:rPr lang="en-US" altLang="ko-KR" sz="1600" spc="-50" dirty="0"/>
              <a:t>0.9%</a:t>
            </a:r>
            <a:r>
              <a:rPr lang="ko-KR" altLang="en-US" sz="1600" spc="-50" dirty="0"/>
              <a:t>이고</a:t>
            </a:r>
            <a:r>
              <a:rPr lang="en-US" altLang="ko-KR" sz="1600" spc="-50" dirty="0"/>
              <a:t>, OPEC </a:t>
            </a:r>
            <a:r>
              <a:rPr lang="ko-KR" altLang="en-US" sz="1600" spc="-50" dirty="0"/>
              <a:t>지역은 </a:t>
            </a:r>
            <a:r>
              <a:rPr lang="en-US" altLang="ko-KR" sz="1600" spc="-50" dirty="0"/>
              <a:t>-0.4%, </a:t>
            </a:r>
            <a:r>
              <a:rPr lang="ko-KR" altLang="en-US" sz="1600" spc="-50" dirty="0"/>
              <a:t>비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지역은 </a:t>
            </a:r>
            <a:r>
              <a:rPr lang="en-US" altLang="ko-KR" sz="1600" spc="-50" dirty="0"/>
              <a:t>1.7%</a:t>
            </a:r>
            <a:r>
              <a:rPr lang="ko-KR" altLang="en-US" sz="1600" spc="-50" dirty="0"/>
              <a:t>의 증가율을 기록 하였다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2023</a:t>
            </a:r>
            <a:r>
              <a:rPr lang="ko-KR" altLang="en-US" sz="1600" spc="-50" dirty="0"/>
              <a:t>년 기준으로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중동</a:t>
            </a:r>
            <a:r>
              <a:rPr lang="en-US" altLang="ko-KR" sz="1600" spc="-50" dirty="0"/>
              <a:t>(31.3%)</a:t>
            </a:r>
            <a:r>
              <a:rPr lang="ko-KR" altLang="en-US" sz="1600" spc="-50" dirty="0"/>
              <a:t>과 북미</a:t>
            </a:r>
            <a:r>
              <a:rPr lang="en-US" altLang="ko-KR" sz="1600" spc="-50" dirty="0"/>
              <a:t>(26.8%)</a:t>
            </a:r>
            <a:r>
              <a:rPr lang="ko-KR" altLang="en-US" sz="1600" spc="-50" dirty="0"/>
              <a:t>가 전체 생산량에서 가장 큰 비중을 차지하고 있다</a:t>
            </a:r>
            <a:r>
              <a:rPr lang="en-US" altLang="ko-KR" sz="1600" spc="-50"/>
              <a:t>.</a:t>
            </a:r>
            <a:endParaRPr lang="en-US" altLang="ko-KR" sz="1600" spc="-5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459E383F-51F3-6557-BEEA-C0132EBED43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6037"/>
          <a:stretch>
            <a:fillRect/>
          </a:stretch>
        </p:blipFill>
        <p:spPr>
          <a:xfrm>
            <a:off x="6532868" y="4009623"/>
            <a:ext cx="5412764" cy="256933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4030C0F-D5BF-4B28-BE48-5A4207BB2C05}"/>
              </a:ext>
            </a:extLst>
          </p:cNvPr>
          <p:cNvSpPr txBox="1"/>
          <p:nvPr/>
        </p:nvSpPr>
        <p:spPr>
          <a:xfrm>
            <a:off x="8186390" y="3715070"/>
            <a:ext cx="26107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석유 생산 </a:t>
            </a:r>
            <a:r>
              <a:rPr lang="en-US" altLang="ko-KR" sz="1050" spc="-50" dirty="0"/>
              <a:t>(</a:t>
            </a:r>
            <a:r>
              <a:rPr lang="ko-KR" altLang="en-US" sz="1050" spc="-50" dirty="0" err="1"/>
              <a:t>백만톤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88931BE-D344-D1C3-7125-7914B0FE4BB7}"/>
              </a:ext>
            </a:extLst>
          </p:cNvPr>
          <p:cNvSpPr txBox="1"/>
          <p:nvPr/>
        </p:nvSpPr>
        <p:spPr>
          <a:xfrm>
            <a:off x="10719897" y="6404698"/>
            <a:ext cx="115911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900" spc="-50" dirty="0"/>
              <a:t>출처</a:t>
            </a:r>
            <a:r>
              <a:rPr lang="en-US" altLang="ko-KR" sz="900" spc="-50" dirty="0"/>
              <a:t>: </a:t>
            </a:r>
            <a:r>
              <a:rPr lang="ko-KR" altLang="en-US" sz="900" spc="-50" dirty="0"/>
              <a:t>한국경제</a:t>
            </a:r>
            <a:endParaRPr lang="ko-KR" altLang="en-US" sz="900" dirty="0"/>
          </a:p>
        </p:txBody>
      </p:sp>
    </p:spTree>
    <p:extLst>
      <p:ext uri="{BB962C8B-B14F-4D97-AF65-F5344CB8AC3E}">
        <p14:creationId xmlns:p14="http://schemas.microsoft.com/office/powerpoint/2010/main" val="133717137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64ACB-B8A0-8B8E-50AE-F6949A866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730496-A872-5CFB-3130-C4429F828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중앙정부의 재정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D72302-C21E-82F3-1317-6A67EB852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AEC86F-2434-0377-0126-D48FC4912B4A}"/>
              </a:ext>
            </a:extLst>
          </p:cNvPr>
          <p:cNvSpPr txBox="1"/>
          <p:nvPr/>
        </p:nvSpPr>
        <p:spPr>
          <a:xfrm>
            <a:off x="288790" y="958844"/>
            <a:ext cx="11693660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표에서 본 것처럼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우리나라 중앙정부의 재정은 크게 예산과 기금의 두 부분으로 구분할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예산의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매년 계획을 세워 국회의 심의를 받아 의결된 다음에 집행할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기금의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예산처럼 까다로운 과정을 거치지 않아도 집행이 가능하다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장기적 유연성 확보 목적</a:t>
            </a:r>
            <a:r>
              <a:rPr lang="en-US" altLang="ko-KR" sz="1600" spc="-50" dirty="0"/>
              <a:t>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중앙정부의 예산은 일반회계와 특별회계로 구분할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일반회계는 중앙정부 예산의 중추로서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중앙정부의 조세수입 대부분을 포함할 뿐 아니라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주요 재정사업을 포괄하고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특별회계는 특정한 목적을 위한 사업과 관련한 것으로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일반회계와 따로 떼어 설치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운영하는 별도의 회계를 뜻한다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60807169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F7674BD-7DC6-B2C2-8F07-5FD64C568F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정부 예산편성 과정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51976F2-9B6A-4D34-12C9-8A5381877D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  <p:pic>
        <p:nvPicPr>
          <p:cNvPr id="6" name="그림 5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EAC610-634E-8381-4655-85AAF5FFC8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6586" y="894520"/>
            <a:ext cx="6621099" cy="326096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18CCC24-381A-9926-7C7E-F551A7EDD4C8}"/>
              </a:ext>
            </a:extLst>
          </p:cNvPr>
          <p:cNvSpPr txBox="1"/>
          <p:nvPr/>
        </p:nvSpPr>
        <p:spPr>
          <a:xfrm>
            <a:off x="288790" y="4247282"/>
            <a:ext cx="11693660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정부가 제출한 예산요구서를 심의하고 있는 국회</a:t>
            </a:r>
            <a:r>
              <a:rPr lang="en-US" altLang="ko-KR" sz="1600" spc="-50" dirty="0"/>
              <a:t>) </a:t>
            </a:r>
            <a:r>
              <a:rPr lang="en-US" altLang="ko-KR" sz="1600" spc="-50" dirty="0">
                <a:hlinkClick r:id="rId3"/>
              </a:rPr>
              <a:t>https://www.youtube.com/live/4NHzaP2ocBQ</a:t>
            </a:r>
            <a:r>
              <a:rPr lang="en-US" altLang="ko-KR" sz="1600" spc="-50" dirty="0"/>
              <a:t>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3:23:13 </a:t>
            </a:r>
            <a:r>
              <a:rPr lang="ko-KR" altLang="en-US" sz="1600" spc="-50" dirty="0"/>
              <a:t>부근 </a:t>
            </a:r>
            <a:r>
              <a:rPr lang="ko-KR" altLang="en-US" sz="1600" spc="-50" dirty="0" err="1"/>
              <a:t>청년미래적금</a:t>
            </a:r>
            <a:r>
              <a:rPr lang="ko-KR" altLang="en-US" sz="1600" spc="-50" dirty="0"/>
              <a:t> 예산 관련 질의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국회의 예산 심의가 끝나고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정부가 국무회의를 통해 집행준비를 하는 과정</a:t>
            </a:r>
            <a:r>
              <a:rPr lang="en-US" altLang="ko-KR" sz="1600" spc="-50" dirty="0"/>
              <a:t>) </a:t>
            </a:r>
            <a:r>
              <a:rPr lang="en-US" altLang="ko-KR" sz="1600" spc="-50" dirty="0">
                <a:hlinkClick r:id="rId4"/>
              </a:rPr>
              <a:t>https://www.youtube.com/watch?v=d7QpBQD5HJ4</a:t>
            </a:r>
            <a:r>
              <a:rPr lang="en-US" altLang="ko-KR" sz="1600" spc="-50" dirty="0"/>
              <a:t> 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국회의 예산심사 결과보고서</a:t>
            </a:r>
            <a:r>
              <a:rPr lang="en-US" altLang="ko-KR" sz="1600" spc="-50" dirty="0"/>
              <a:t>) </a:t>
            </a:r>
            <a:r>
              <a:rPr lang="en-US" altLang="ko-KR" sz="1600" spc="-50" dirty="0">
                <a:hlinkClick r:id="rId5"/>
              </a:rPr>
              <a:t>https://assembly.go.kr/portal/cnts/cntsCont/dataA.do?menuNo=600234&amp;cntsDivCd=BUDGET</a:t>
            </a:r>
            <a:r>
              <a:rPr lang="en-US" altLang="ko-KR" sz="1600" spc="-50" dirty="0"/>
              <a:t>  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청년미래적금</a:t>
            </a:r>
            <a:r>
              <a:rPr lang="ko-KR" altLang="en-US" sz="1600" spc="-50" dirty="0"/>
              <a:t> 관련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정무위원회 </a:t>
            </a:r>
            <a:r>
              <a:rPr lang="en-US" altLang="ko-KR" sz="1600" spc="-50" dirty="0"/>
              <a:t>&gt; </a:t>
            </a:r>
            <a:r>
              <a:rPr lang="ko-KR" altLang="en-US" sz="1600" spc="-50" dirty="0"/>
              <a:t>금융위원회 보고서 </a:t>
            </a:r>
            <a:r>
              <a:rPr lang="en-US" altLang="ko-KR" sz="1600" spc="-50" dirty="0"/>
              <a:t>34p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참고</a:t>
            </a:r>
            <a:r>
              <a:rPr lang="en-US" altLang="ko-KR" sz="1600" spc="-50" dirty="0"/>
              <a:t>) </a:t>
            </a:r>
            <a:r>
              <a:rPr lang="ko-KR" altLang="en-US" sz="1600" spc="-50" dirty="0" err="1"/>
              <a:t>청년미래적금</a:t>
            </a:r>
            <a:r>
              <a:rPr lang="ko-KR" altLang="en-US" sz="1600" spc="-50" dirty="0"/>
              <a:t> </a:t>
            </a:r>
            <a:r>
              <a:rPr lang="en-US" altLang="ko-KR" sz="1600" spc="-50" dirty="0">
                <a:hlinkClick r:id="rId6"/>
              </a:rPr>
              <a:t>https://www.fsc.go.kr/no040101?cnId=2983</a:t>
            </a:r>
            <a:r>
              <a:rPr lang="en-US" altLang="ko-KR" sz="1600" spc="-50" dirty="0"/>
              <a:t> </a:t>
            </a:r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258465F1-2FD0-C986-539E-5D5DB7A43D93}"/>
              </a:ext>
            </a:extLst>
          </p:cNvPr>
          <p:cNvSpPr/>
          <p:nvPr/>
        </p:nvSpPr>
        <p:spPr>
          <a:xfrm>
            <a:off x="3219718" y="3172497"/>
            <a:ext cx="193182" cy="193182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4AF17D59-9002-5623-55DF-5BB33E61D061}"/>
              </a:ext>
            </a:extLst>
          </p:cNvPr>
          <p:cNvSpPr/>
          <p:nvPr/>
        </p:nvSpPr>
        <p:spPr>
          <a:xfrm>
            <a:off x="9239250" y="4395990"/>
            <a:ext cx="193182" cy="193182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7309EF2D-E56E-5D64-5974-10DEA4877CFD}"/>
              </a:ext>
            </a:extLst>
          </p:cNvPr>
          <p:cNvSpPr/>
          <p:nvPr/>
        </p:nvSpPr>
        <p:spPr>
          <a:xfrm>
            <a:off x="9772918" y="4921878"/>
            <a:ext cx="193182" cy="193182"/>
          </a:xfrm>
          <a:prstGeom prst="ellipse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55631D23-A83E-2711-6F9F-7E8A358F52CB}"/>
              </a:ext>
            </a:extLst>
          </p:cNvPr>
          <p:cNvSpPr/>
          <p:nvPr/>
        </p:nvSpPr>
        <p:spPr>
          <a:xfrm>
            <a:off x="7609267" y="3429000"/>
            <a:ext cx="193182" cy="193182"/>
          </a:xfrm>
          <a:prstGeom prst="ellipse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7EE2F68-ACF4-07DF-05C1-BDBC11C55064}"/>
              </a:ext>
            </a:extLst>
          </p:cNvPr>
          <p:cNvSpPr txBox="1"/>
          <p:nvPr/>
        </p:nvSpPr>
        <p:spPr>
          <a:xfrm>
            <a:off x="5569039" y="997532"/>
            <a:ext cx="3308797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spc="-50" dirty="0"/>
              <a:t>출처</a:t>
            </a:r>
            <a:r>
              <a:rPr lang="en-US" altLang="ko-KR" sz="1000" spc="-50" dirty="0"/>
              <a:t>: </a:t>
            </a:r>
            <a:r>
              <a:rPr lang="en-US" altLang="ko-KR" sz="1000" spc="-50" dirty="0">
                <a:hlinkClick r:id="rId7"/>
              </a:rPr>
              <a:t>https://finedu.mpb.go.kr/html.do?menu_code=010202</a:t>
            </a:r>
            <a:r>
              <a:rPr lang="en-US" altLang="ko-KR" sz="1000" spc="-50" dirty="0"/>
              <a:t> 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334542971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3FB948-AD36-2891-6DB7-C142F0A000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중앙정부의 재정규모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10F73B5-63BF-B5EB-866B-64C43991D9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E3A3329A-F486-5A53-6765-2BB1251C2B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5428318"/>
              </p:ext>
            </p:extLst>
          </p:nvPr>
        </p:nvGraphicFramePr>
        <p:xfrm>
          <a:off x="701293" y="3001129"/>
          <a:ext cx="9537045" cy="3572289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362435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362435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1089948">
                  <a:extLst>
                    <a:ext uri="{9D8B030D-6E8A-4147-A177-3AD203B41FA5}">
                      <a16:colId xmlns:a16="http://schemas.microsoft.com/office/drawing/2014/main" val="3365092879"/>
                    </a:ext>
                  </a:extLst>
                </a:gridCol>
                <a:gridCol w="1089948">
                  <a:extLst>
                    <a:ext uri="{9D8B030D-6E8A-4147-A177-3AD203B41FA5}">
                      <a16:colId xmlns:a16="http://schemas.microsoft.com/office/drawing/2014/main" val="1380406718"/>
                    </a:ext>
                  </a:extLst>
                </a:gridCol>
                <a:gridCol w="1089948">
                  <a:extLst>
                    <a:ext uri="{9D8B030D-6E8A-4147-A177-3AD203B41FA5}">
                      <a16:colId xmlns:a16="http://schemas.microsoft.com/office/drawing/2014/main" val="4283011541"/>
                    </a:ext>
                  </a:extLst>
                </a:gridCol>
                <a:gridCol w="1089948">
                  <a:extLst>
                    <a:ext uri="{9D8B030D-6E8A-4147-A177-3AD203B41FA5}">
                      <a16:colId xmlns:a16="http://schemas.microsoft.com/office/drawing/2014/main" val="4206849505"/>
                    </a:ext>
                  </a:extLst>
                </a:gridCol>
                <a:gridCol w="1089948">
                  <a:extLst>
                    <a:ext uri="{9D8B030D-6E8A-4147-A177-3AD203B41FA5}">
                      <a16:colId xmlns:a16="http://schemas.microsoft.com/office/drawing/2014/main" val="605825270"/>
                    </a:ext>
                  </a:extLst>
                </a:gridCol>
                <a:gridCol w="1362435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360135">
                <a:tc rowSpan="3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연도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국내총생산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명목 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GDP)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gridSpan="5"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재정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en-US" altLang="ko-KR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국내총생산 </a:t>
                      </a:r>
                      <a:r>
                        <a:rPr lang="en-US" altLang="ko-KR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(GDP)</a:t>
                      </a:r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대비 재정규모 </a:t>
                      </a:r>
                      <a:r>
                        <a:rPr lang="en-US" altLang="ko-KR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(%)</a:t>
                      </a:r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235477">
                <a:tc v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예산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기금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세입세출</a:t>
                      </a:r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외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합계</a:t>
                      </a:r>
                      <a:endParaRPr lang="en-US" altLang="ko-KR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0292284"/>
                  </a:ext>
                </a:extLst>
              </a:tr>
              <a:tr h="23547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일반회계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특별회계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56901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1990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200.6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22.8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34.0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17.0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1995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437.0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38.8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22.7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9.0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71.6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16.4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2000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651.6</a:t>
                      </a:r>
                      <a:endParaRPr lang="en-US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62.3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40.2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26.5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129.3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19.8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2005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957.4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106.6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28.6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52.8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188.0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19.6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1,322.6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156.2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37.7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59.4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254.2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19.2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1,658.0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206.0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45.1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88.0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339.4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20.5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2,058.4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320.8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44.4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147.9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517.8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7568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2021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2,221.9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339.7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50.2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172.5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568.1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21348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2022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2,323.7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379.9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50.6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206.8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11.6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652.9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27.9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214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2,401.1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343.5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59.6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171.2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580.4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8221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2024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2,549.1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344.5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67.4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185.2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603.6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D49E7DC-F89D-9E7E-9BF1-73EB25B16528}"/>
              </a:ext>
            </a:extLst>
          </p:cNvPr>
          <p:cNvSpPr txBox="1"/>
          <p:nvPr/>
        </p:nvSpPr>
        <p:spPr>
          <a:xfrm>
            <a:off x="288790" y="761366"/>
            <a:ext cx="11693660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 표는 </a:t>
            </a:r>
            <a:r>
              <a:rPr lang="en-US" altLang="ko-KR" sz="1600" spc="-50" dirty="0"/>
              <a:t>1990</a:t>
            </a:r>
            <a:r>
              <a:rPr lang="ko-KR" altLang="en-US" sz="1600" spc="-50" dirty="0"/>
              <a:t>년부터 </a:t>
            </a:r>
            <a:r>
              <a:rPr lang="en-US" altLang="ko-KR" sz="1600" spc="-50" dirty="0"/>
              <a:t>2024</a:t>
            </a:r>
            <a:r>
              <a:rPr lang="ko-KR" altLang="en-US" sz="1600" spc="-50" dirty="0"/>
              <a:t>년까지 예산과 기금으로 구성된 중앙정부의 재정규모가 어떻게 변화했는지 보여주고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1990</a:t>
            </a:r>
            <a:r>
              <a:rPr lang="ko-KR" altLang="en-US" sz="1600" spc="-50" dirty="0"/>
              <a:t>년에는 중앙정부의 재정규모가 </a:t>
            </a:r>
            <a:r>
              <a:rPr lang="en-US" altLang="ko-KR" sz="1600" spc="-50" dirty="0"/>
              <a:t>GDP</a:t>
            </a:r>
            <a:r>
              <a:rPr lang="ko-KR" altLang="en-US" sz="1600" spc="-50" dirty="0"/>
              <a:t>의 </a:t>
            </a:r>
            <a:r>
              <a:rPr lang="en-US" altLang="ko-KR" sz="1600" spc="-50" dirty="0"/>
              <a:t>17%, </a:t>
            </a:r>
            <a:r>
              <a:rPr lang="ko-KR" altLang="en-US" sz="1600" spc="-50" dirty="0"/>
              <a:t>이후 그 비중이 증가하여 </a:t>
            </a:r>
            <a:r>
              <a:rPr lang="en-US" altLang="ko-KR" sz="1600" spc="-50" dirty="0"/>
              <a:t>2024</a:t>
            </a:r>
            <a:r>
              <a:rPr lang="ko-KR" altLang="en-US" sz="1600" spc="-50" dirty="0"/>
              <a:t>년에는 </a:t>
            </a:r>
            <a:r>
              <a:rPr lang="en-US" altLang="ko-KR" sz="1600" spc="-50" dirty="0"/>
              <a:t>23.4%</a:t>
            </a:r>
            <a:r>
              <a:rPr lang="ko-KR" altLang="en-US" sz="1600" spc="-50" dirty="0"/>
              <a:t>에 이르렀다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예산과 기금 간의 비중을 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기금의 비중은 점차 증가했지만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여전히 예산이 훨씬 더 큰 비중을 차지하고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2024</a:t>
            </a:r>
            <a:r>
              <a:rPr lang="ko-KR" altLang="en-US" sz="1600" spc="-50" dirty="0"/>
              <a:t>년 중앙정부의 재정에서 예산의 비중은 </a:t>
            </a:r>
            <a:r>
              <a:rPr lang="en-US" altLang="ko-KR" sz="1600" spc="-50" dirty="0"/>
              <a:t>68.2%, </a:t>
            </a:r>
            <a:r>
              <a:rPr lang="ko-KR" altLang="en-US" sz="1600" spc="-50" dirty="0"/>
              <a:t>기금의 비중은 </a:t>
            </a:r>
            <a:r>
              <a:rPr lang="en-US" altLang="ko-KR" sz="1600" spc="-50" dirty="0"/>
              <a:t>30.6% </a:t>
            </a:r>
            <a:r>
              <a:rPr lang="ko-KR" altLang="en-US" sz="1600" spc="-50" dirty="0"/>
              <a:t>수준에 머물고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예산 내에서 일반회계와 특별회계 간의 비중을 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일반회계의 규모가 훨씬 더 큰 추세가 계속되어 왔다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85AC43-1AED-6E5B-F7EB-C610CFA82971}"/>
              </a:ext>
            </a:extLst>
          </p:cNvPr>
          <p:cNvSpPr txBox="1"/>
          <p:nvPr/>
        </p:nvSpPr>
        <p:spPr>
          <a:xfrm>
            <a:off x="3959281" y="2695297"/>
            <a:ext cx="302106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/>
              <a:t>중앙정부의 재정규모</a:t>
            </a:r>
            <a:r>
              <a:rPr lang="en-US" altLang="ko-KR" sz="1400" spc="-50" dirty="0"/>
              <a:t>, </a:t>
            </a:r>
            <a:r>
              <a:rPr lang="ko-KR" altLang="en-US" sz="1400" spc="-50" dirty="0"/>
              <a:t>단위</a:t>
            </a:r>
            <a:r>
              <a:rPr lang="en-US" altLang="ko-KR" sz="1400" spc="-50" dirty="0"/>
              <a:t>: </a:t>
            </a:r>
            <a:r>
              <a:rPr lang="ko-KR" altLang="en-US" sz="1400" spc="-50" dirty="0"/>
              <a:t>조원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EF2888-7FB1-3625-71B6-D164D330CB9C}"/>
              </a:ext>
            </a:extLst>
          </p:cNvPr>
          <p:cNvSpPr txBox="1"/>
          <p:nvPr/>
        </p:nvSpPr>
        <p:spPr>
          <a:xfrm>
            <a:off x="606380" y="6578062"/>
            <a:ext cx="963195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>
                <a:hlinkClick r:id="rId2"/>
              </a:rPr>
              <a:t>https://www.openfiscaldata.go.kr/op/ko/fd/UOPKOFDA03?pageIndex=1&amp;pageSize=7000&amp;totalCnt=0&amp;odtNm=%EA%B2%B0%EC%82%B0</a:t>
            </a:r>
            <a:r>
              <a:rPr lang="ko-KR" altLang="en-US" sz="1000" dirty="0"/>
              <a:t> </a:t>
            </a:r>
            <a:r>
              <a:rPr lang="en-US" altLang="ko-KR" sz="1000" dirty="0"/>
              <a:t>(2024</a:t>
            </a:r>
            <a:r>
              <a:rPr lang="ko-KR" altLang="en-US" sz="1000" dirty="0"/>
              <a:t>회계연도 결산개요</a:t>
            </a:r>
            <a:r>
              <a:rPr lang="en-US" altLang="ko-KR" sz="1000" dirty="0"/>
              <a:t>)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77625115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0E36DF-6AD5-9427-6DC5-81DB5261B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D88E6D-15DC-8587-9B8B-B2F0E01161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일반회계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A801AB-87C5-8A42-44DD-A58746D268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0D0AD3F6-B31F-102F-C382-2EAAC9AFE3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4301059"/>
              </p:ext>
            </p:extLst>
          </p:nvPr>
        </p:nvGraphicFramePr>
        <p:xfrm>
          <a:off x="7372350" y="1037080"/>
          <a:ext cx="4408152" cy="516524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734692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734692">
                  <a:extLst>
                    <a:ext uri="{9D8B030D-6E8A-4147-A177-3AD203B41FA5}">
                      <a16:colId xmlns:a16="http://schemas.microsoft.com/office/drawing/2014/main" val="4283011541"/>
                    </a:ext>
                  </a:extLst>
                </a:gridCol>
                <a:gridCol w="734692">
                  <a:extLst>
                    <a:ext uri="{9D8B030D-6E8A-4147-A177-3AD203B41FA5}">
                      <a16:colId xmlns:a16="http://schemas.microsoft.com/office/drawing/2014/main" val="4206849505"/>
                    </a:ext>
                  </a:extLst>
                </a:gridCol>
                <a:gridCol w="734692">
                  <a:extLst>
                    <a:ext uri="{9D8B030D-6E8A-4147-A177-3AD203B41FA5}">
                      <a16:colId xmlns:a16="http://schemas.microsoft.com/office/drawing/2014/main" val="605825270"/>
                    </a:ext>
                  </a:extLst>
                </a:gridCol>
                <a:gridCol w="734692">
                  <a:extLst>
                    <a:ext uri="{9D8B030D-6E8A-4147-A177-3AD203B41FA5}">
                      <a16:colId xmlns:a16="http://schemas.microsoft.com/office/drawing/2014/main" val="2514739121"/>
                    </a:ext>
                  </a:extLst>
                </a:gridCol>
                <a:gridCol w="734692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295048"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연도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국세</a:t>
                      </a:r>
                      <a:r>
                        <a:rPr lang="en-US" altLang="ko-KR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(</a:t>
                      </a:r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일반회계</a:t>
                      </a:r>
                      <a:r>
                        <a:rPr lang="en-US" altLang="ko-KR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en-US" altLang="ko-KR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세외수입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총계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295048">
                <a:tc v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내국세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관세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총계</a:t>
                      </a:r>
                      <a:endParaRPr lang="en-US" altLang="ko-KR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02922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1990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24.1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(76.9)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2.8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(8.8)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26.8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(85.8)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4.5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(14.2)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31.3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(100.0)</a:t>
                      </a:r>
                      <a:endParaRPr lang="en-US" altLang="ko-KR" sz="1100" b="0" kern="0" spc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1995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45.8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(86.5)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4.6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(8.8)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50.4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(95.3)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2.5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(4.7)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52.9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(100.0)</a:t>
                      </a:r>
                      <a:endParaRPr lang="en-US" sz="1100" b="0" kern="0" spc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2000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76.2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(82.3)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5.8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(6.3)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82.0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(88.5)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10.6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(11.5)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92.6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(100.0)</a:t>
                      </a:r>
                      <a:endParaRPr lang="en-US" sz="1100" b="0" kern="0" spc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2005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116.1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(85.1)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6.3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(4.6)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122.4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(89.7)</a:t>
                      </a:r>
                      <a:endParaRPr lang="en-US" sz="11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14.1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(10.3)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136.5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(100.0)</a:t>
                      </a:r>
                      <a:endParaRPr lang="en-US" altLang="ko-KR" sz="1100" b="0" kern="0" spc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160.2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(78.1)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10.7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(5.2)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170.9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(83.3)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34.3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(16.7)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205.2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(100.0)</a:t>
                      </a:r>
                      <a:endParaRPr lang="en-US" altLang="ko-KR" sz="1100" b="0" kern="0" spc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202.3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(77.2)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8.5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(3.2)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210.8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(80.5)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51.1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(19.5)</a:t>
                      </a:r>
                      <a:endParaRPr lang="en-US" sz="11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261.9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(100.0)</a:t>
                      </a:r>
                      <a:endParaRPr lang="en-US" altLang="ko-KR" sz="1100" b="0" kern="0" spc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269.2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(68.6)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7.1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(1.8)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276.3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(70.4)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116.1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(29.6)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392.4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(100)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7568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2021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324.3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(74.0)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8.2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(1.9)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332.5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(75.9)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105.9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(24.1)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438.4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(100)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21348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2022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374.8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(76.4)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10.3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(2.1)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385.2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(78.5)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105.4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(21.5)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490.6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(100)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214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326.7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(80.6)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7.3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(1.8)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333.9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(82.4)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71.2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(17.6)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405.2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(100)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85184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2024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319.2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(73.0)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7.0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(1.6)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326.2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(74.6)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111.1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(25.4)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437.3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(100)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5E5860BE-337A-C3B1-98ED-CECFF864FCCC}"/>
              </a:ext>
            </a:extLst>
          </p:cNvPr>
          <p:cNvSpPr txBox="1"/>
          <p:nvPr/>
        </p:nvSpPr>
        <p:spPr>
          <a:xfrm>
            <a:off x="8295565" y="746138"/>
            <a:ext cx="26543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/>
              <a:t>일반회계 세입</a:t>
            </a:r>
            <a:r>
              <a:rPr lang="en-US" altLang="ko-KR" sz="1400" spc="-50" dirty="0"/>
              <a:t>, </a:t>
            </a:r>
            <a:r>
              <a:rPr lang="ko-KR" altLang="en-US" sz="1400" spc="-50" dirty="0"/>
              <a:t>단위</a:t>
            </a:r>
            <a:r>
              <a:rPr lang="en-US" altLang="ko-KR" sz="1400" spc="-50" dirty="0"/>
              <a:t>: </a:t>
            </a:r>
            <a:r>
              <a:rPr lang="ko-KR" altLang="en-US" sz="1400" spc="-50" dirty="0"/>
              <a:t>조원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A0B2249-F511-CCAD-4D05-EC223BD416E1}"/>
              </a:ext>
            </a:extLst>
          </p:cNvPr>
          <p:cNvSpPr txBox="1"/>
          <p:nvPr/>
        </p:nvSpPr>
        <p:spPr>
          <a:xfrm>
            <a:off x="288790" y="958844"/>
            <a:ext cx="6962910" cy="424584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(1)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 세입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>
              <a:lnSpc>
                <a:spcPct val="150000"/>
              </a:lnSpc>
            </a:pP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일반회계의 세입은 중앙정부의 각종 내국세와 관세 등을 통해 얻는 조세수입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그리고 재산수입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경상이전수입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판매수입 등이 포함되어 있는 세외수입의 두 부분으로 구성된다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내국세는 </a:t>
            </a:r>
            <a:r>
              <a:rPr lang="ko-KR" altLang="en-US" sz="1600" spc="-50" dirty="0" err="1"/>
              <a:t>세입원</a:t>
            </a:r>
            <a:r>
              <a:rPr lang="ko-KR" altLang="en-US" sz="1600" spc="-50" dirty="0"/>
              <a:t> 중에서도 압도적인 중요성을 가지며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법인세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부가가치세 등 관세를 제외한 모든 세금이 포함된다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오른쪽 표에서 볼 수 있듯이</a:t>
            </a:r>
            <a:r>
              <a:rPr lang="en-US" altLang="ko-KR" sz="1600" spc="-50" dirty="0"/>
              <a:t>, 2024</a:t>
            </a:r>
            <a:r>
              <a:rPr lang="ko-KR" altLang="en-US" sz="1600" spc="-50" dirty="0"/>
              <a:t>년 일반회계 세입의 </a:t>
            </a:r>
            <a:r>
              <a:rPr lang="en-US" altLang="ko-KR" sz="1600" spc="-50" dirty="0"/>
              <a:t>74.6%</a:t>
            </a:r>
            <a:r>
              <a:rPr lang="ko-KR" altLang="en-US" sz="1600" spc="-50" dirty="0"/>
              <a:t>에 해당하는 </a:t>
            </a:r>
            <a:r>
              <a:rPr lang="en-US" altLang="ko-KR" sz="1600" spc="-50" dirty="0"/>
              <a:t>326</a:t>
            </a:r>
            <a:r>
              <a:rPr lang="ko-KR" altLang="en-US" sz="1600" spc="-50" dirty="0"/>
              <a:t>조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천억원이 조세수입으로 충당되고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중 내국세 수입은 </a:t>
            </a:r>
            <a:r>
              <a:rPr lang="en-US" altLang="ko-KR" sz="1600" spc="-50" dirty="0"/>
              <a:t>319</a:t>
            </a:r>
            <a:r>
              <a:rPr lang="ko-KR" altLang="en-US" sz="1600" spc="-50" dirty="0"/>
              <a:t>조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천억원으로 일반회계 세입의 </a:t>
            </a:r>
            <a:r>
              <a:rPr lang="en-US" altLang="ko-KR" sz="1600" spc="-50" dirty="0"/>
              <a:t>73.0%</a:t>
            </a:r>
            <a:r>
              <a:rPr lang="ko-KR" altLang="en-US" sz="1600" spc="-50" dirty="0"/>
              <a:t>를 차지하였다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표에는 나타나 있지 않지만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내국세 중에서도 소득세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법인세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부가가치세의 세 가지 조세로부터의 수입이 큰 비중을 차지한다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9953087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C4144E-46F8-9B14-1181-8703CF39B3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BBDCCA4-3C2B-5B33-322A-C3D926CE1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일반회계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8498EE-CB3A-80D0-2E9D-2B7047076D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2E95856-9596-86E7-0F26-2A6111102B84}"/>
              </a:ext>
            </a:extLst>
          </p:cNvPr>
          <p:cNvSpPr txBox="1"/>
          <p:nvPr/>
        </p:nvSpPr>
        <p:spPr>
          <a:xfrm>
            <a:off x="8997133" y="919156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소득세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F135E70-49C9-38CD-5BA8-09F9D66CD8BE}"/>
              </a:ext>
            </a:extLst>
          </p:cNvPr>
          <p:cNvSpPr txBox="1"/>
          <p:nvPr/>
        </p:nvSpPr>
        <p:spPr>
          <a:xfrm>
            <a:off x="8997133" y="1304474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법인세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963BE68-5F37-ACBD-2CF7-4223394C3961}"/>
              </a:ext>
            </a:extLst>
          </p:cNvPr>
          <p:cNvSpPr txBox="1"/>
          <p:nvPr/>
        </p:nvSpPr>
        <p:spPr>
          <a:xfrm>
            <a:off x="8997133" y="1692286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부가가치세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8C0349D-11FC-AFF0-26D8-68A050CFC2C2}"/>
              </a:ext>
            </a:extLst>
          </p:cNvPr>
          <p:cNvSpPr txBox="1"/>
          <p:nvPr/>
        </p:nvSpPr>
        <p:spPr>
          <a:xfrm>
            <a:off x="8997133" y="2077604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개별소비세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2632C85-8AAF-0F73-3300-B30200F9AA4B}"/>
              </a:ext>
            </a:extLst>
          </p:cNvPr>
          <p:cNvSpPr txBox="1"/>
          <p:nvPr/>
        </p:nvSpPr>
        <p:spPr>
          <a:xfrm>
            <a:off x="8997133" y="2462922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상속세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10129BA-2EBB-BE30-E3A5-44FE054C5A1D}"/>
              </a:ext>
            </a:extLst>
          </p:cNvPr>
          <p:cNvSpPr txBox="1"/>
          <p:nvPr/>
        </p:nvSpPr>
        <p:spPr>
          <a:xfrm>
            <a:off x="8997133" y="2848240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증여세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EDF9C6E-8707-109E-42CF-16A9C5B4D4F2}"/>
              </a:ext>
            </a:extLst>
          </p:cNvPr>
          <p:cNvSpPr txBox="1"/>
          <p:nvPr/>
        </p:nvSpPr>
        <p:spPr>
          <a:xfrm>
            <a:off x="8997133" y="3236052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증권거래세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BDEDA87-40F8-72B0-6B0A-767D91004723}"/>
              </a:ext>
            </a:extLst>
          </p:cNvPr>
          <p:cNvSpPr txBox="1"/>
          <p:nvPr/>
        </p:nvSpPr>
        <p:spPr>
          <a:xfrm>
            <a:off x="8997133" y="3621370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인지세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FF45D5B-C0A0-EF88-9DA8-C467F7A959B2}"/>
              </a:ext>
            </a:extLst>
          </p:cNvPr>
          <p:cNvSpPr txBox="1"/>
          <p:nvPr/>
        </p:nvSpPr>
        <p:spPr>
          <a:xfrm>
            <a:off x="8997133" y="4096442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종합부동산세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370AB43-49B2-58D3-FCC9-FF8B9AFCD78F}"/>
              </a:ext>
            </a:extLst>
          </p:cNvPr>
          <p:cNvSpPr txBox="1"/>
          <p:nvPr/>
        </p:nvSpPr>
        <p:spPr>
          <a:xfrm>
            <a:off x="8997133" y="4577010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농어촌특별세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9C4F338-8891-95B6-AB92-D08A39916BAE}"/>
              </a:ext>
            </a:extLst>
          </p:cNvPr>
          <p:cNvSpPr txBox="1"/>
          <p:nvPr/>
        </p:nvSpPr>
        <p:spPr>
          <a:xfrm>
            <a:off x="8997133" y="4964822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교육세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EA2D81D-1E06-BE90-DC4F-EB6D71A787B6}"/>
              </a:ext>
            </a:extLst>
          </p:cNvPr>
          <p:cNvSpPr txBox="1"/>
          <p:nvPr/>
        </p:nvSpPr>
        <p:spPr>
          <a:xfrm>
            <a:off x="8997133" y="5350140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kumimoji="0" lang="ko-KR" altLang="en-US" sz="1400" b="0" i="0" u="none" strike="noStrike" kern="1200" cap="none" spc="-10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교통</a:t>
            </a:r>
            <a:r>
              <a:rPr kumimoji="0" lang="en-US" altLang="ko-KR" sz="1400" b="0" i="0" u="none" strike="noStrike" kern="1200" cap="none" spc="-10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·</a:t>
            </a:r>
            <a:r>
              <a:rPr kumimoji="0" lang="ko-KR" altLang="en-US" sz="1400" b="0" i="0" u="none" strike="noStrike" kern="1200" cap="none" spc="-10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에너지</a:t>
            </a:r>
            <a:r>
              <a:rPr lang="en-US" altLang="ko-KR" sz="1400" spc="-100" dirty="0">
                <a:solidFill>
                  <a:prstClr val="black"/>
                </a:solidFill>
                <a:latin typeface="+mn-ea"/>
              </a:rPr>
              <a:t>·</a:t>
            </a:r>
            <a:r>
              <a:rPr kumimoji="0" lang="ko-KR" altLang="en-US" sz="1400" b="0" i="0" u="none" strike="noStrike" kern="1200" cap="none" spc="-100" normalizeH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환경세</a:t>
            </a:r>
            <a:endParaRPr kumimoji="0" lang="ko-KR" altLang="en-US" sz="1400" b="0" i="0" u="none" strike="noStrike" kern="1200" cap="none" spc="-100" normalizeH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E6F6718-55CB-1010-DF33-DDB95CD8FEA1}"/>
              </a:ext>
            </a:extLst>
          </p:cNvPr>
          <p:cNvSpPr txBox="1"/>
          <p:nvPr/>
        </p:nvSpPr>
        <p:spPr>
          <a:xfrm>
            <a:off x="8997133" y="5820973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주세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B30FBE5-2292-E707-5894-3E501D8EB3CB}"/>
              </a:ext>
            </a:extLst>
          </p:cNvPr>
          <p:cNvSpPr txBox="1"/>
          <p:nvPr/>
        </p:nvSpPr>
        <p:spPr>
          <a:xfrm>
            <a:off x="8997133" y="6244391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관세</a:t>
            </a:r>
          </a:p>
        </p:txBody>
      </p:sp>
      <p:sp>
        <p:nvSpPr>
          <p:cNvPr id="45" name="오른쪽 중괄호 44">
            <a:extLst>
              <a:ext uri="{FF2B5EF4-FFF2-40B4-BE49-F238E27FC236}">
                <a16:creationId xmlns:a16="http://schemas.microsoft.com/office/drawing/2014/main" id="{D3359BEB-8FE7-3B37-01E2-FFE31669923D}"/>
              </a:ext>
            </a:extLst>
          </p:cNvPr>
          <p:cNvSpPr/>
          <p:nvPr/>
        </p:nvSpPr>
        <p:spPr>
          <a:xfrm>
            <a:off x="10779125" y="1006419"/>
            <a:ext cx="152400" cy="509922"/>
          </a:xfrm>
          <a:prstGeom prst="rightBrace">
            <a:avLst>
              <a:gd name="adj1" fmla="val 147059"/>
              <a:gd name="adj2" fmla="val 50000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오른쪽 중괄호 45">
            <a:extLst>
              <a:ext uri="{FF2B5EF4-FFF2-40B4-BE49-F238E27FC236}">
                <a16:creationId xmlns:a16="http://schemas.microsoft.com/office/drawing/2014/main" id="{74EF7990-7CFA-8218-F863-95695961ECBE}"/>
              </a:ext>
            </a:extLst>
          </p:cNvPr>
          <p:cNvSpPr/>
          <p:nvPr/>
        </p:nvSpPr>
        <p:spPr>
          <a:xfrm>
            <a:off x="10779125" y="1786940"/>
            <a:ext cx="152400" cy="509922"/>
          </a:xfrm>
          <a:prstGeom prst="rightBrace">
            <a:avLst>
              <a:gd name="adj1" fmla="val 147059"/>
              <a:gd name="adj2" fmla="val 50000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오른쪽 중괄호 47">
            <a:extLst>
              <a:ext uri="{FF2B5EF4-FFF2-40B4-BE49-F238E27FC236}">
                <a16:creationId xmlns:a16="http://schemas.microsoft.com/office/drawing/2014/main" id="{C612A5A5-1795-D49B-EC66-1B1D65257DE3}"/>
              </a:ext>
            </a:extLst>
          </p:cNvPr>
          <p:cNvSpPr/>
          <p:nvPr/>
        </p:nvSpPr>
        <p:spPr>
          <a:xfrm>
            <a:off x="10779125" y="2567460"/>
            <a:ext cx="152400" cy="1682869"/>
          </a:xfrm>
          <a:prstGeom prst="rightBrace">
            <a:avLst>
              <a:gd name="adj1" fmla="val 147059"/>
              <a:gd name="adj2" fmla="val 50000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오른쪽 중괄호 48">
            <a:extLst>
              <a:ext uri="{FF2B5EF4-FFF2-40B4-BE49-F238E27FC236}">
                <a16:creationId xmlns:a16="http://schemas.microsoft.com/office/drawing/2014/main" id="{2B91C317-5D35-413F-7D7E-7020242BD832}"/>
              </a:ext>
            </a:extLst>
          </p:cNvPr>
          <p:cNvSpPr/>
          <p:nvPr/>
        </p:nvSpPr>
        <p:spPr>
          <a:xfrm>
            <a:off x="10779125" y="5489311"/>
            <a:ext cx="152400" cy="911490"/>
          </a:xfrm>
          <a:prstGeom prst="rightBrace">
            <a:avLst>
              <a:gd name="adj1" fmla="val 147059"/>
              <a:gd name="adj2" fmla="val 50000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C5AF6E3-B437-B492-6ED2-65D76458A989}"/>
              </a:ext>
            </a:extLst>
          </p:cNvPr>
          <p:cNvSpPr txBox="1"/>
          <p:nvPr/>
        </p:nvSpPr>
        <p:spPr>
          <a:xfrm>
            <a:off x="10710073" y="1086503"/>
            <a:ext cx="135094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ko-KR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소득과세</a:t>
            </a:r>
            <a:endParaRPr lang="ko-KR" altLang="en-US" sz="1400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4981550-1A93-6525-51EF-E5A678C84ACF}"/>
              </a:ext>
            </a:extLst>
          </p:cNvPr>
          <p:cNvSpPr txBox="1"/>
          <p:nvPr/>
        </p:nvSpPr>
        <p:spPr>
          <a:xfrm>
            <a:off x="10710073" y="1865895"/>
            <a:ext cx="135094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ko-KR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소비과세</a:t>
            </a:r>
            <a:endParaRPr lang="ko-KR" altLang="en-US" sz="14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F32DF57-36D6-5086-079F-9D237D442655}"/>
              </a:ext>
            </a:extLst>
          </p:cNvPr>
          <p:cNvSpPr txBox="1"/>
          <p:nvPr/>
        </p:nvSpPr>
        <p:spPr>
          <a:xfrm>
            <a:off x="10710073" y="3032214"/>
            <a:ext cx="135094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ko-KR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재산과세</a:t>
            </a:r>
            <a:endParaRPr lang="ko-KR" altLang="en-US" sz="1400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BE4DA5A-6147-EB92-8A48-A3477396F54A}"/>
              </a:ext>
            </a:extLst>
          </p:cNvPr>
          <p:cNvSpPr txBox="1"/>
          <p:nvPr/>
        </p:nvSpPr>
        <p:spPr>
          <a:xfrm>
            <a:off x="10710073" y="5788361"/>
            <a:ext cx="135094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소비과세</a:t>
            </a:r>
            <a:endParaRPr lang="ko-KR" altLang="en-US" sz="1400" dirty="0"/>
          </a:p>
        </p:txBody>
      </p:sp>
      <p:sp>
        <p:nvSpPr>
          <p:cNvPr id="55" name="왼쪽 중괄호 54">
            <a:extLst>
              <a:ext uri="{FF2B5EF4-FFF2-40B4-BE49-F238E27FC236}">
                <a16:creationId xmlns:a16="http://schemas.microsoft.com/office/drawing/2014/main" id="{E4AF541B-68DC-2BC4-67AC-D360DEFBCBD6}"/>
              </a:ext>
            </a:extLst>
          </p:cNvPr>
          <p:cNvSpPr/>
          <p:nvPr/>
        </p:nvSpPr>
        <p:spPr>
          <a:xfrm>
            <a:off x="8475133" y="1081827"/>
            <a:ext cx="507301" cy="2728171"/>
          </a:xfrm>
          <a:prstGeom prst="leftBrace">
            <a:avLst>
              <a:gd name="adj1" fmla="val 0"/>
              <a:gd name="adj2" fmla="val 55382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2D7FBB2-0D73-CC3A-8B31-45DC841F76ED}"/>
              </a:ext>
            </a:extLst>
          </p:cNvPr>
          <p:cNvSpPr txBox="1"/>
          <p:nvPr/>
        </p:nvSpPr>
        <p:spPr>
          <a:xfrm>
            <a:off x="7564119" y="2331841"/>
            <a:ext cx="913081" cy="52322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dirty="0">
                <a:solidFill>
                  <a:prstClr val="black"/>
                </a:solidFill>
                <a:latin typeface="+mn-ea"/>
              </a:rPr>
              <a:t>내국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세</a:t>
            </a:r>
            <a:endParaRPr kumimoji="0" lang="en-US" altLang="ko-KR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dirty="0">
                <a:solidFill>
                  <a:prstClr val="black"/>
                </a:solidFill>
                <a:latin typeface="+mn-ea"/>
              </a:rPr>
              <a:t>(8</a:t>
            </a:r>
            <a:r>
              <a:rPr lang="ko-KR" altLang="en-US" sz="1400" dirty="0">
                <a:solidFill>
                  <a:prstClr val="black"/>
                </a:solidFill>
                <a:latin typeface="+mn-ea"/>
              </a:rPr>
              <a:t>개</a:t>
            </a:r>
            <a:r>
              <a:rPr lang="en-US" altLang="ko-KR" sz="1400" dirty="0">
                <a:solidFill>
                  <a:prstClr val="black"/>
                </a:solidFill>
                <a:latin typeface="+mn-ea"/>
              </a:rPr>
              <a:t>)</a:t>
            </a:r>
            <a:endParaRPr kumimoji="0" lang="ko-KR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38BA25A-B97D-DC80-AFEB-E611A56374D4}"/>
              </a:ext>
            </a:extLst>
          </p:cNvPr>
          <p:cNvSpPr txBox="1"/>
          <p:nvPr/>
        </p:nvSpPr>
        <p:spPr>
          <a:xfrm>
            <a:off x="7564119" y="4857101"/>
            <a:ext cx="913081" cy="52322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목적세</a:t>
            </a:r>
            <a:endParaRPr kumimoji="0" lang="en-US" altLang="ko-KR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dirty="0">
                <a:solidFill>
                  <a:prstClr val="black"/>
                </a:solidFill>
                <a:latin typeface="+mn-ea"/>
              </a:rPr>
              <a:t>(3</a:t>
            </a:r>
            <a:r>
              <a:rPr lang="ko-KR" altLang="en-US" sz="1400" dirty="0">
                <a:solidFill>
                  <a:prstClr val="black"/>
                </a:solidFill>
                <a:latin typeface="+mn-ea"/>
              </a:rPr>
              <a:t>개</a:t>
            </a:r>
            <a:r>
              <a:rPr lang="en-US" altLang="ko-KR" sz="1400" dirty="0">
                <a:solidFill>
                  <a:prstClr val="black"/>
                </a:solidFill>
                <a:latin typeface="+mn-ea"/>
              </a:rPr>
              <a:t>)</a:t>
            </a:r>
            <a:endParaRPr kumimoji="0" lang="ko-KR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59" name="왼쪽 중괄호 58">
            <a:extLst>
              <a:ext uri="{FF2B5EF4-FFF2-40B4-BE49-F238E27FC236}">
                <a16:creationId xmlns:a16="http://schemas.microsoft.com/office/drawing/2014/main" id="{B2C7ACAD-B6ED-E709-5419-915D9E19E244}"/>
              </a:ext>
            </a:extLst>
          </p:cNvPr>
          <p:cNvSpPr/>
          <p:nvPr/>
        </p:nvSpPr>
        <p:spPr>
          <a:xfrm>
            <a:off x="8475133" y="4732052"/>
            <a:ext cx="507301" cy="757259"/>
          </a:xfrm>
          <a:prstGeom prst="leftBrace">
            <a:avLst>
              <a:gd name="adj1" fmla="val 0"/>
              <a:gd name="adj2" fmla="val 55382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895E942-44AB-4B75-8070-86CA049C86C0}"/>
              </a:ext>
            </a:extLst>
          </p:cNvPr>
          <p:cNvSpPr txBox="1"/>
          <p:nvPr/>
        </p:nvSpPr>
        <p:spPr>
          <a:xfrm>
            <a:off x="6136900" y="3429000"/>
            <a:ext cx="913081" cy="52322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dirty="0">
                <a:solidFill>
                  <a:prstClr val="black"/>
                </a:solidFill>
                <a:latin typeface="+mn-ea"/>
              </a:rPr>
              <a:t>국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세</a:t>
            </a:r>
            <a:endParaRPr kumimoji="0" lang="en-US" altLang="ko-KR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dirty="0">
                <a:solidFill>
                  <a:prstClr val="black"/>
                </a:solidFill>
                <a:latin typeface="+mn-ea"/>
              </a:rPr>
              <a:t>(14</a:t>
            </a:r>
            <a:r>
              <a:rPr lang="ko-KR" altLang="en-US" sz="1400" dirty="0">
                <a:solidFill>
                  <a:prstClr val="black"/>
                </a:solidFill>
                <a:latin typeface="+mn-ea"/>
              </a:rPr>
              <a:t>개</a:t>
            </a:r>
            <a:r>
              <a:rPr lang="en-US" altLang="ko-KR" sz="1400" dirty="0">
                <a:solidFill>
                  <a:prstClr val="black"/>
                </a:solidFill>
                <a:latin typeface="+mn-ea"/>
              </a:rPr>
              <a:t>)</a:t>
            </a:r>
            <a:endParaRPr kumimoji="0" lang="ko-KR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61" name="왼쪽 중괄호 60">
            <a:extLst>
              <a:ext uri="{FF2B5EF4-FFF2-40B4-BE49-F238E27FC236}">
                <a16:creationId xmlns:a16="http://schemas.microsoft.com/office/drawing/2014/main" id="{C0B7AAFF-3C4F-BE5F-C7EA-D9A970AD913B}"/>
              </a:ext>
            </a:extLst>
          </p:cNvPr>
          <p:cNvSpPr/>
          <p:nvPr/>
        </p:nvSpPr>
        <p:spPr>
          <a:xfrm>
            <a:off x="7051571" y="2593451"/>
            <a:ext cx="507301" cy="2562749"/>
          </a:xfrm>
          <a:prstGeom prst="leftBrace">
            <a:avLst>
              <a:gd name="adj1" fmla="val 0"/>
              <a:gd name="adj2" fmla="val 43489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3" name="직선 연결선 62">
            <a:extLst>
              <a:ext uri="{FF2B5EF4-FFF2-40B4-BE49-F238E27FC236}">
                <a16:creationId xmlns:a16="http://schemas.microsoft.com/office/drawing/2014/main" id="{283855E3-2040-3A1C-291D-154A2775B625}"/>
              </a:ext>
            </a:extLst>
          </p:cNvPr>
          <p:cNvCxnSpPr>
            <a:cxnSpLocks/>
          </p:cNvCxnSpPr>
          <p:nvPr/>
        </p:nvCxnSpPr>
        <p:spPr>
          <a:xfrm>
            <a:off x="7305221" y="2593450"/>
            <a:ext cx="0" cy="381600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1956F552-1A70-F29C-9B39-80DAFB0213B4}"/>
              </a:ext>
            </a:extLst>
          </p:cNvPr>
          <p:cNvCxnSpPr>
            <a:cxnSpLocks/>
          </p:cNvCxnSpPr>
          <p:nvPr/>
        </p:nvCxnSpPr>
        <p:spPr>
          <a:xfrm rot="16200000">
            <a:off x="8152877" y="3404330"/>
            <a:ext cx="0" cy="169200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직선 연결선 65">
            <a:extLst>
              <a:ext uri="{FF2B5EF4-FFF2-40B4-BE49-F238E27FC236}">
                <a16:creationId xmlns:a16="http://schemas.microsoft.com/office/drawing/2014/main" id="{B8E3B3A4-D193-D333-BCF7-D11E66718F18}"/>
              </a:ext>
            </a:extLst>
          </p:cNvPr>
          <p:cNvCxnSpPr>
            <a:cxnSpLocks/>
          </p:cNvCxnSpPr>
          <p:nvPr/>
        </p:nvCxnSpPr>
        <p:spPr>
          <a:xfrm rot="16200000">
            <a:off x="8152877" y="5128861"/>
            <a:ext cx="0" cy="169200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5618A7B3-C016-85FB-75D2-99A5E7682322}"/>
              </a:ext>
            </a:extLst>
          </p:cNvPr>
          <p:cNvCxnSpPr>
            <a:cxnSpLocks/>
          </p:cNvCxnSpPr>
          <p:nvPr/>
        </p:nvCxnSpPr>
        <p:spPr>
          <a:xfrm rot="16200000">
            <a:off x="8152877" y="5561619"/>
            <a:ext cx="0" cy="169200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4D96D7B5-85C1-68E6-21DA-168E4B004A04}"/>
              </a:ext>
            </a:extLst>
          </p:cNvPr>
          <p:cNvSpPr txBox="1"/>
          <p:nvPr/>
        </p:nvSpPr>
        <p:spPr>
          <a:xfrm>
            <a:off x="6145362" y="1303346"/>
            <a:ext cx="26543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/>
              <a:t>현행 국세체계 </a:t>
            </a:r>
            <a:r>
              <a:rPr lang="en-US" altLang="ko-KR" sz="1400" spc="-50" dirty="0"/>
              <a:t>(2026</a:t>
            </a:r>
            <a:r>
              <a:rPr lang="ko-KR" altLang="en-US" sz="1400" spc="-50" dirty="0"/>
              <a:t>년</a:t>
            </a:r>
            <a:r>
              <a:rPr lang="en-US" altLang="ko-KR" sz="1400" spc="-50" dirty="0"/>
              <a:t>)&gt;</a:t>
            </a:r>
            <a:endParaRPr lang="ko-KR" altLang="en-US" sz="1400" dirty="0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D1AE427-C1D7-870B-C690-94A91AF6DE49}"/>
              </a:ext>
            </a:extLst>
          </p:cNvPr>
          <p:cNvSpPr txBox="1"/>
          <p:nvPr/>
        </p:nvSpPr>
        <p:spPr>
          <a:xfrm>
            <a:off x="288789" y="958844"/>
            <a:ext cx="5800581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우리나라의 국세체계는 </a:t>
            </a:r>
            <a:r>
              <a:rPr lang="en-US" altLang="ko-KR" sz="1600" spc="-50" dirty="0"/>
              <a:t>14</a:t>
            </a:r>
            <a:r>
              <a:rPr lang="ko-KR" altLang="en-US" sz="1600" spc="-50" dirty="0"/>
              <a:t>가지의 국세로 구성된다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국세 중 소득세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법인세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부가가치세 등의 </a:t>
            </a:r>
            <a:r>
              <a:rPr lang="en-US" altLang="ko-KR" sz="1600" spc="-50" dirty="0"/>
              <a:t>8</a:t>
            </a:r>
            <a:r>
              <a:rPr lang="ko-KR" altLang="en-US" sz="1600" spc="-50" dirty="0"/>
              <a:t>가지 조세는 이로부터 거둔 수입 중 일부를 지방정부에 나눠주는 재원으로 사용할 수 있는 성격의 </a:t>
            </a:r>
            <a:r>
              <a:rPr lang="ko-KR" altLang="en-US" sz="1600" b="1" spc="-50" dirty="0"/>
              <a:t>내국세</a:t>
            </a:r>
            <a:r>
              <a:rPr lang="ko-KR" altLang="en-US" sz="1600" spc="-50" dirty="0"/>
              <a:t>로 분류된다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농어촌특별세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, 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교육세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, 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교통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·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에너지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·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환경세는 이로부터 거둬들인 수입을 </a:t>
            </a:r>
            <a:r>
              <a:rPr lang="ko-KR" altLang="en-US" sz="1600" b="1" spc="-100" dirty="0">
                <a:solidFill>
                  <a:prstClr val="black"/>
                </a:solidFill>
                <a:latin typeface="+mn-ea"/>
              </a:rPr>
              <a:t>특정한 용도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에 사용하도록 되어있는 목적세의 성격을 갖는다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과세대상에 따라 조세를 세 가지 범주로 구분할 수 있다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개인과 법인의 </a:t>
            </a:r>
            <a:r>
              <a:rPr lang="ko-KR" altLang="en-US" sz="1600" b="1" spc="-100" dirty="0">
                <a:solidFill>
                  <a:prstClr val="black"/>
                </a:solidFill>
                <a:latin typeface="+mn-ea"/>
              </a:rPr>
              <a:t>소득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이 과세대상인 경우 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(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소득세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, 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법인세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b="1" spc="-100" dirty="0">
                <a:solidFill>
                  <a:prstClr val="black"/>
                </a:solidFill>
                <a:latin typeface="+mn-ea"/>
              </a:rPr>
              <a:t>재산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이 과세대상인 경우 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(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상속세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, 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증여세 등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b="1" spc="-100" dirty="0">
                <a:solidFill>
                  <a:prstClr val="black"/>
                </a:solidFill>
                <a:latin typeface="+mn-ea"/>
              </a:rPr>
              <a:t>소비행위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가 과세대상인 경우 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(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부가가치세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, 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개별소비세 등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세금 부과 방식에 따라 조세를 두 가지로 분류하기도 한다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조세부담 주체에게 </a:t>
            </a:r>
            <a:r>
              <a:rPr lang="ko-KR" altLang="en-US" sz="1600" b="1" spc="-100" dirty="0">
                <a:solidFill>
                  <a:prstClr val="black"/>
                </a:solidFill>
                <a:latin typeface="+mn-ea"/>
              </a:rPr>
              <a:t>직접 부과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하는 직접세 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(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소득세 등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상품 등에 부과해 </a:t>
            </a:r>
            <a:r>
              <a:rPr lang="ko-KR" altLang="en-US" sz="1600" b="1" spc="-100" dirty="0">
                <a:solidFill>
                  <a:prstClr val="black"/>
                </a:solidFill>
                <a:latin typeface="+mn-ea"/>
              </a:rPr>
              <a:t>간접적으로 부과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하는 간접세 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(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부가가치세 등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)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72635888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CE79A3-DD30-3239-EBFE-8356435B59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일반회계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E9B4C24-BE6B-BD3E-F79C-8048F168E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4FF0B59-32DB-8294-F72B-55C4AD1ECB58}"/>
              </a:ext>
            </a:extLst>
          </p:cNvPr>
          <p:cNvSpPr txBox="1"/>
          <p:nvPr/>
        </p:nvSpPr>
        <p:spPr>
          <a:xfrm>
            <a:off x="288790" y="958844"/>
            <a:ext cx="11693660" cy="415350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(2) 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세출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일반회계 세출의 각 항목은 세 가지 기준에 의해 구분하고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첫번째 기준은 세출예산이 배정되는 기관을 기준으로 하는 </a:t>
            </a:r>
            <a:r>
              <a:rPr lang="ko-KR" altLang="en-US" sz="1600" b="1" spc="-50" dirty="0"/>
              <a:t>소관별 분류</a:t>
            </a:r>
            <a:r>
              <a:rPr lang="ko-KR" altLang="en-US" sz="1600" spc="-50" dirty="0"/>
              <a:t> 방식이다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2024</a:t>
            </a:r>
            <a:r>
              <a:rPr lang="ko-KR" altLang="en-US" sz="1600" spc="-50" dirty="0"/>
              <a:t>년 기준 </a:t>
            </a:r>
            <a:r>
              <a:rPr lang="en-US" altLang="ko-KR" sz="1600" spc="-50" dirty="0"/>
              <a:t>61</a:t>
            </a:r>
            <a:r>
              <a:rPr lang="ko-KR" altLang="en-US" sz="1600" spc="-50" dirty="0"/>
              <a:t>개의 소관으로 분류하고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세출예산의 대표적 분류방식으로 꼽힌다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두번째 기준은 예산사업이 수행하는 기능에 따라 분류하는 </a:t>
            </a:r>
            <a:r>
              <a:rPr lang="ko-KR" altLang="en-US" sz="1600" b="1" spc="-50" dirty="0"/>
              <a:t>기능별 분류</a:t>
            </a:r>
            <a:r>
              <a:rPr lang="ko-KR" altLang="en-US" sz="1600" spc="-50" dirty="0"/>
              <a:t> 방식이다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앞서 설명한 소관별 분류방식은 정부 지출을 통해 어떤 기능을 하는지 파악하기 힘들다는 단점을 갖고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보완할 수 있는 분류 방식이다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일반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지방행정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교육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교통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및 물류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사회복지 등 </a:t>
            </a:r>
            <a:r>
              <a:rPr lang="en-US" altLang="ko-KR" sz="1600" spc="-50" dirty="0"/>
              <a:t>16</a:t>
            </a:r>
            <a:r>
              <a:rPr lang="ko-KR" altLang="en-US" sz="1600" spc="-50" dirty="0"/>
              <a:t>가지로 나누어 분류한다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세번째 기준은 세출예산의 지출대상이 어떤 성격을 </a:t>
            </a:r>
            <a:r>
              <a:rPr lang="ko-KR" altLang="en-US" sz="1600" spc="-50" dirty="0" err="1"/>
              <a:t>갖느냐에</a:t>
            </a:r>
            <a:r>
              <a:rPr lang="ko-KR" altLang="en-US" sz="1600" spc="-50" dirty="0"/>
              <a:t> 따라 분류하는 </a:t>
            </a:r>
            <a:r>
              <a:rPr lang="ko-KR" altLang="en-US" sz="1600" b="1" spc="-50" dirty="0"/>
              <a:t>성질별 분류</a:t>
            </a:r>
            <a:r>
              <a:rPr lang="ko-KR" altLang="en-US" sz="1600" spc="-50" dirty="0"/>
              <a:t> 방식이다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앞서 설명한 기능별 분류방식과 달리 지출의 목적과 관계없이 어떤 성격을 갖는지 초점을 맞추어 분류하는 방식이다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인건비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물건비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이전지출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자산취득 등 </a:t>
            </a:r>
            <a:r>
              <a:rPr lang="en-US" altLang="ko-KR" sz="1600" spc="-50" dirty="0"/>
              <a:t>7</a:t>
            </a:r>
            <a:r>
              <a:rPr lang="ko-KR" altLang="en-US" sz="1600" spc="-50" dirty="0"/>
              <a:t>가지 범주로 나누어 분류한다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168708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477860-E011-DD32-6F15-7C8BDB81DF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7E9BFB-04A1-D925-5D24-234EF5B4FF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일반회계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5FF82B-626E-0A72-31CA-D65A24A90F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5CA9F4-75F5-9848-5A30-9E931A6FAFBE}"/>
              </a:ext>
            </a:extLst>
          </p:cNvPr>
          <p:cNvSpPr txBox="1"/>
          <p:nvPr/>
        </p:nvSpPr>
        <p:spPr>
          <a:xfrm>
            <a:off x="288790" y="958844"/>
            <a:ext cx="11693660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 그림은 </a:t>
            </a:r>
            <a:r>
              <a:rPr lang="en-US" altLang="ko-KR" sz="1600" spc="-50" dirty="0"/>
              <a:t>2024</a:t>
            </a:r>
            <a:r>
              <a:rPr lang="ko-KR" altLang="en-US" sz="1600" spc="-50" dirty="0"/>
              <a:t>년 세출예산을 기능별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성질별로 </a:t>
            </a:r>
            <a:r>
              <a:rPr lang="ko-KR" altLang="en-US" sz="1600" spc="-50" dirty="0" err="1"/>
              <a:t>분류해놓았다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기능별 기준에서 볼 때</a:t>
            </a:r>
            <a:r>
              <a:rPr lang="en-US" altLang="ko-KR" sz="1600" spc="-50" dirty="0"/>
              <a:t>, ‘</a:t>
            </a:r>
            <a:r>
              <a:rPr lang="ko-KR" altLang="en-US" sz="1600" spc="-50" dirty="0"/>
              <a:t>교육</a:t>
            </a:r>
            <a:r>
              <a:rPr lang="en-US" altLang="ko-KR" sz="1600" spc="-50" dirty="0"/>
              <a:t>’ </a:t>
            </a:r>
            <a:r>
              <a:rPr lang="ko-KR" altLang="en-US" sz="1600" spc="-50" dirty="0"/>
              <a:t>이 총 세출의 </a:t>
            </a:r>
            <a:r>
              <a:rPr lang="en-US" altLang="ko-KR" sz="1600" spc="-50" dirty="0"/>
              <a:t>19.9%</a:t>
            </a:r>
            <a:r>
              <a:rPr lang="ko-KR" altLang="en-US" sz="1600" spc="-50" dirty="0"/>
              <a:t>를 차지해 가장 큰 비중을 차지하고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다음으로 큰 비중을 차지하고 있는 것은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일반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지방행정</a:t>
            </a:r>
            <a:r>
              <a:rPr lang="en-US" altLang="ko-KR" sz="1600" spc="-50" dirty="0"/>
              <a:t>’,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사회복지</a:t>
            </a:r>
            <a:r>
              <a:rPr lang="en-US" altLang="ko-KR" sz="1600" spc="-50" dirty="0"/>
              <a:t>’, ‘</a:t>
            </a:r>
            <a:r>
              <a:rPr lang="ko-KR" altLang="en-US" sz="1600" spc="-50" dirty="0"/>
              <a:t>국방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 으로 각각 </a:t>
            </a:r>
            <a:r>
              <a:rPr lang="en-US" altLang="ko-KR" sz="1600" spc="-50" dirty="0"/>
              <a:t>19.2%,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16%, 11.3%</a:t>
            </a:r>
            <a:r>
              <a:rPr lang="ko-KR" altLang="en-US" sz="1600" spc="-50" dirty="0"/>
              <a:t>를 차지하고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성질별 기준에서 볼 때</a:t>
            </a:r>
            <a:r>
              <a:rPr lang="en-US" altLang="ko-KR" sz="1600" spc="-50" dirty="0"/>
              <a:t>, ‘</a:t>
            </a:r>
            <a:r>
              <a:rPr lang="ko-KR" altLang="en-US" sz="1600" spc="-50" dirty="0"/>
              <a:t>이전지출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의 성격을 갖는 지출이 총 세출의 </a:t>
            </a:r>
            <a:r>
              <a:rPr lang="en-US" altLang="ko-KR" sz="1600" spc="-50" dirty="0"/>
              <a:t>57.9%</a:t>
            </a:r>
            <a:r>
              <a:rPr lang="ko-KR" altLang="en-US" sz="1600" spc="-50" dirty="0"/>
              <a:t>를 차지해 압도적으로 큰 비중을 차지하고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 다음으로 큰 비중을 차지하고 있는 것은 </a:t>
            </a:r>
            <a:r>
              <a:rPr lang="en-US" altLang="ko-KR" sz="1600" spc="-50" dirty="0"/>
              <a:t>‘</a:t>
            </a:r>
            <a:r>
              <a:rPr lang="ko-KR" altLang="en-US" sz="1600" spc="-50" dirty="0" err="1"/>
              <a:t>전출금</a:t>
            </a:r>
            <a:r>
              <a:rPr lang="en-US" altLang="ko-KR" sz="1600" spc="-50" dirty="0"/>
              <a:t>’,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인건비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로 각각 </a:t>
            </a:r>
            <a:r>
              <a:rPr lang="en-US" altLang="ko-KR" sz="1600" spc="-50" dirty="0"/>
              <a:t>16.0%, 8.9%</a:t>
            </a:r>
            <a:r>
              <a:rPr lang="ko-KR" altLang="en-US" sz="1600" spc="-50" dirty="0"/>
              <a:t>를 차지하고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기능별 분류의 경우보다 직관적인 설명력이 다소 떨어진다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예산안에는 일반회계 세출예산을 소관별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기능별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성질별의 세 가지로 분류한 것을 동시에 제시하고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정부지출의 성격으로 여러 측면에서 살펴보기 위한 의도이다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697CC42-F9E6-C95A-8F2D-6929CCA2EC96}"/>
              </a:ext>
            </a:extLst>
          </p:cNvPr>
          <p:cNvSpPr txBox="1"/>
          <p:nvPr/>
        </p:nvSpPr>
        <p:spPr>
          <a:xfrm>
            <a:off x="3660635" y="4102712"/>
            <a:ext cx="35800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&lt;2024</a:t>
            </a:r>
            <a:r>
              <a:rPr lang="ko-KR" altLang="en-US" sz="1400" spc="-50" dirty="0"/>
              <a:t>년도 일반회계 세출예산 내역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  <p:pic>
        <p:nvPicPr>
          <p:cNvPr id="26" name="그림 25" descr="텍스트, 폰트, 원, 로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A4BCC94-513A-04E4-A119-65E74065E4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4860" y="4421976"/>
            <a:ext cx="2134320" cy="1929574"/>
          </a:xfrm>
          <a:prstGeom prst="rect">
            <a:avLst/>
          </a:prstGeom>
        </p:spPr>
      </p:pic>
      <p:pic>
        <p:nvPicPr>
          <p:cNvPr id="28" name="그림 27" descr="텍스트, 폰트, 로고, 원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FC79546-201A-7A53-0E85-27D362FF82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4327541"/>
            <a:ext cx="2289430" cy="2000925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49D83BC5-FB92-A31A-9DB2-1AA197B8D14A}"/>
              </a:ext>
            </a:extLst>
          </p:cNvPr>
          <p:cNvSpPr txBox="1"/>
          <p:nvPr/>
        </p:nvSpPr>
        <p:spPr>
          <a:xfrm>
            <a:off x="3037563" y="6332999"/>
            <a:ext cx="124614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기능별 분류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E93D000-4711-6DD9-BA31-4D9AAB5D6070}"/>
              </a:ext>
            </a:extLst>
          </p:cNvPr>
          <p:cNvSpPr txBox="1"/>
          <p:nvPr/>
        </p:nvSpPr>
        <p:spPr>
          <a:xfrm>
            <a:off x="6782373" y="6349640"/>
            <a:ext cx="124614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성질별 분류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08471536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4B7BEF-C226-D189-642D-662ABE3EBD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222787-6FCB-7528-CE48-5B11C5E89D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특별회계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451EC9-0BE1-0B9B-5C96-305739EDD3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3F906F-E76D-362B-BA3E-07D726B71981}"/>
              </a:ext>
            </a:extLst>
          </p:cNvPr>
          <p:cNvSpPr txBox="1"/>
          <p:nvPr/>
        </p:nvSpPr>
        <p:spPr>
          <a:xfrm>
            <a:off x="288790" y="958844"/>
            <a:ext cx="116936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정부가 수행하고 있는 예산사업의 성격상 일반회계와 별도로 특별한 회계를 만들어 관리하는 것이 바람직한 경우가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예를 들어 어떤 사업의 성격이 독특해 별도의 관리를 </a:t>
            </a:r>
            <a:r>
              <a:rPr lang="ko-KR" altLang="en-US" sz="1600" spc="-50" dirty="0" err="1"/>
              <a:t>요구한다든지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아니면 세입과 세출을 한꺼번에 묶어 따로 관리할 필요가 있는 등의 이유로 특별회계를 만들어 운영하게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설립목적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운영 주체 등 </a:t>
            </a:r>
            <a:r>
              <a:rPr lang="ko-KR" altLang="en-US" sz="1600" spc="-50" dirty="0" err="1"/>
              <a:t>여러사항들을</a:t>
            </a:r>
            <a:r>
              <a:rPr lang="ko-KR" altLang="en-US" sz="1600" spc="-50" dirty="0"/>
              <a:t> 규정한 개별 법률이 특별회계를 뒷받침하고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일반예산과 마찬가지로 행정부가 편성하고 국회의 심의를 받아 의결되는 과정을 거쳐야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우리나라에는 기업특별회계와 기타특별회계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두 범주로 나누어 운영하고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기업특별회계는 공기업과 관련된 특별회계의 범주를 의미한다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양곡관리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우편사업 등 </a:t>
            </a:r>
            <a:r>
              <a:rPr lang="en-US" altLang="ko-KR" sz="1600" spc="-50" dirty="0"/>
              <a:t>5</a:t>
            </a:r>
            <a:r>
              <a:rPr lang="ko-KR" altLang="en-US" sz="1600" spc="-50" dirty="0"/>
              <a:t>가지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기타특별회계에서는 교통시설특별회계가 특별회계 총 예산에서 가장 큰 비중</a:t>
            </a:r>
            <a:r>
              <a:rPr lang="en-US" altLang="ko-KR" sz="1600" spc="-50" dirty="0"/>
              <a:t>(22.6%)</a:t>
            </a:r>
            <a:r>
              <a:rPr lang="ko-KR" altLang="en-US" sz="1600" spc="-50" dirty="0"/>
              <a:t>을 차지하고 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그 밖에 환경개선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농어촌구조개선 등 </a:t>
            </a:r>
            <a:r>
              <a:rPr lang="en-US" altLang="ko-KR" sz="1600" spc="-50" dirty="0"/>
              <a:t>15</a:t>
            </a:r>
            <a:r>
              <a:rPr lang="ko-KR" altLang="en-US" sz="1600" spc="-50" dirty="0"/>
              <a:t>가지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특별회계의 바람직한 규모는 명확히 정할 수는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예산통일의 원칙 관점에서는 일반회계의 예외 경우인 특별회계의 수는 적을수록 바람직하다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너무 많은 특별회계를 운영하면 국회와 국민이 그 예산을 감시하고 통제하는 일이 어려워진다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반면 특별회계의 설치는 행정기관에 자유재량의 여지를 넓혀 줌으로 인해 행정능률과 경영능률 향상에 기여하는 측면이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5356256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D9BA4A-1962-A081-5985-4994B8526B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1F06C1-62E1-9E5F-EAC0-6168E4784F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869A00-DE85-CDA6-CA3C-8B3DDDF2CF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8C2F832-4628-8F54-108D-BDD4D293C282}"/>
              </a:ext>
            </a:extLst>
          </p:cNvPr>
          <p:cNvSpPr txBox="1"/>
          <p:nvPr/>
        </p:nvSpPr>
        <p:spPr>
          <a:xfrm>
            <a:off x="288790" y="958844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기금은 특별한 목적을 수행하기 위해 특정한 자금을 예산과는 독립적으로 운영할 필요가 있을 때 설치된다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설명한 일반회계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특별회계의 경우에는 국회의 심의와 의결을 거쳐야 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까다로운 규정들이 적용되기 때문에 경직성을 가질 수 밖에 없다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이러한 까다로운 규정은 행정부의 자의적 행동을 규제한다는 긍정적 측면을 갖고 있으나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경제상황의 변화에 유연한 대처가 어렵다는 단점이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이런 문제를 해결 하고자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특정한 자금을 예산의 틀 밖에서 기금을 탄력적으로 운영하고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기금은 특정한 수입을 특정한 지출에 사용할 수 있도록 하기 위해 설립되는 것이기 때문에 유용하게 활용할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예산의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특정한 세입을 특정한 세출목적과 결부시키는 것을 금지하는 목적구속금지의 원칙에 기초하고 있기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정부가 세입과 세출의 측면을 유기적으로 연관시켜 사업을 효율적으로 추진하기 힘들다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목적구속금지 원칙의 예외로 목적세가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현실적인 제약으로 인해 너무 많은 목적세를 운영할 수는 없다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우리나라는 각 부처가 경쟁적으로 수많은 기금들을 설립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운영해왔다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2020</a:t>
            </a:r>
            <a:r>
              <a:rPr lang="ko-KR" altLang="en-US" sz="1600" spc="-50" dirty="0"/>
              <a:t>년 현재 무려 </a:t>
            </a:r>
            <a:r>
              <a:rPr lang="en-US" altLang="ko-KR" sz="1600" spc="-50" dirty="0"/>
              <a:t>67</a:t>
            </a:r>
            <a:r>
              <a:rPr lang="ko-KR" altLang="en-US" sz="1600" spc="-50" dirty="0"/>
              <a:t>개의 기금이 존재하고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총 운용규모는 일반회계 예산규모의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배에 가까운 </a:t>
            </a:r>
            <a:r>
              <a:rPr lang="en-US" altLang="ko-KR" sz="1600" spc="-50" dirty="0"/>
              <a:t>724.8</a:t>
            </a:r>
            <a:r>
              <a:rPr lang="ko-KR" altLang="en-US" sz="1600" spc="-50" dirty="0"/>
              <a:t>조원이다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5569946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89AFC8-4A57-91D3-26A9-DFD7539B23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E38C70F-1F6D-D72B-53B1-B97995F0F59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9B30A23-7035-123F-C4C4-AABFA58AD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41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E9987B19-3EC7-FC76-E623-3268B9EEE7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정부지출의 수준과 구성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56202934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1BBE2F-5E20-744C-9432-8FCF8D19FA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08D5C0B2-F139-1877-8D93-B01F0DC7CC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8110" y="4306570"/>
            <a:ext cx="3744404" cy="2204047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9DEF7115-CAED-6AB9-0435-998FA0B3A7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지출수준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A17B6A6-631E-CF99-0A4F-8B916A8C67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78014B1-403E-7BFA-D5DB-8CE5492D9064}"/>
              </a:ext>
            </a:extLst>
          </p:cNvPr>
          <p:cNvSpPr txBox="1"/>
          <p:nvPr/>
        </p:nvSpPr>
        <p:spPr>
          <a:xfrm>
            <a:off x="288790" y="958844"/>
            <a:ext cx="11693660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</a:t>
            </a:r>
            <a:r>
              <a:rPr lang="en-US" altLang="ko-KR" sz="1600" spc="-50" dirty="0"/>
              <a:t>7</a:t>
            </a:r>
            <a:r>
              <a:rPr lang="ko-KR" altLang="en-US" sz="1600" spc="-50" dirty="0"/>
              <a:t>번 슬라이드의 표에는 중앙정부의 재정규모가 국내총생산</a:t>
            </a:r>
            <a:r>
              <a:rPr lang="en-US" altLang="ko-KR" sz="1600" spc="-50" dirty="0"/>
              <a:t>(GDP)</a:t>
            </a:r>
            <a:r>
              <a:rPr lang="ko-KR" altLang="en-US" sz="1600" spc="-50" dirty="0"/>
              <a:t>과 대비되어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보면 중앙정부 재정의 규모가 국내총생산보다 상대적으로 더 빠른 속도로 커져온 추세를 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중앙정부의 재정규모를 국내총생산으로 나눈 비율이 </a:t>
            </a:r>
            <a:r>
              <a:rPr lang="en-US" altLang="ko-KR" sz="1600" spc="-50" dirty="0"/>
              <a:t>1990</a:t>
            </a:r>
            <a:r>
              <a:rPr lang="ko-KR" altLang="en-US" sz="1600" spc="-50" dirty="0"/>
              <a:t>년에는 </a:t>
            </a:r>
            <a:r>
              <a:rPr lang="en-US" altLang="ko-KR" sz="1600" spc="-50" dirty="0"/>
              <a:t>17.0%</a:t>
            </a:r>
            <a:r>
              <a:rPr lang="ko-KR" altLang="en-US" sz="1600" spc="-50" dirty="0"/>
              <a:t>였지만 </a:t>
            </a:r>
            <a:r>
              <a:rPr lang="en-US" altLang="ko-KR" sz="1600" spc="-50" dirty="0"/>
              <a:t>2024</a:t>
            </a:r>
            <a:r>
              <a:rPr lang="ko-KR" altLang="en-US" sz="1600" spc="-50" dirty="0"/>
              <a:t>년에는 </a:t>
            </a:r>
            <a:r>
              <a:rPr lang="en-US" altLang="ko-KR" sz="1600" spc="-50" dirty="0"/>
              <a:t>23.4% </a:t>
            </a:r>
            <a:r>
              <a:rPr lang="ko-KR" altLang="en-US" sz="1600" spc="-50" dirty="0"/>
              <a:t>수준까지 증가하였다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</a:t>
            </a:r>
            <a:r>
              <a:rPr lang="ko-KR" altLang="en-US" sz="1600" spc="-50" dirty="0" err="1"/>
              <a:t>설명했다시피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국내총생산 대비 재정규모 비중의 적정한 수준이라는 것은 없다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다만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우리나라의 재정규모를 다른 나라와 비교를 해보면 아래의 그림과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국제통화기금</a:t>
            </a:r>
            <a:r>
              <a:rPr lang="en-US" altLang="ko-KR" sz="1600" spc="-50" dirty="0"/>
              <a:t>(IMF)</a:t>
            </a:r>
            <a:r>
              <a:rPr lang="ko-KR" altLang="en-US" sz="1600" spc="-50" dirty="0"/>
              <a:t>에서 정리한 자료로서 우리나라를 포함한 </a:t>
            </a:r>
            <a:r>
              <a:rPr lang="en-US" altLang="ko-KR" sz="1600" spc="-50" dirty="0"/>
              <a:t>9</a:t>
            </a:r>
            <a:r>
              <a:rPr lang="ko-KR" altLang="en-US" sz="1600" spc="-50" dirty="0"/>
              <a:t>개국의 국내총생산</a:t>
            </a:r>
            <a:r>
              <a:rPr lang="en-US" altLang="ko-KR" sz="1600" spc="-50" dirty="0"/>
              <a:t>(GDP)</a:t>
            </a:r>
            <a:r>
              <a:rPr lang="ko-KR" altLang="en-US" sz="1600" spc="-50" dirty="0"/>
              <a:t>에서 중앙정부의 지출이 차지하는 비중을 보여주고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현재 우리나라의 재정규모는 선진국은 물론 우리와 비슷한 소득수준의 다른 나라들에 비해 작은 편에 속한다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이러한 사실을 토대로 우리나라 재정규모가 더 커지는 것이 </a:t>
            </a:r>
            <a:r>
              <a:rPr lang="ko-KR" altLang="en-US" sz="1600" spc="-50" dirty="0" err="1"/>
              <a:t>바람직</a:t>
            </a:r>
            <a:endParaRPr lang="en-US" altLang="ko-KR" sz="1600" spc="-50" dirty="0"/>
          </a:p>
          <a:p>
            <a:pPr marL="549275" lvl="1">
              <a:lnSpc>
                <a:spcPct val="150000"/>
              </a:lnSpc>
            </a:pPr>
            <a:r>
              <a:rPr lang="ko-KR" altLang="en-US" sz="1600" spc="-50" dirty="0"/>
              <a:t>     하다는 규범적인 주장까지 이르면 문제가 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나라마다 여건이 다르므로 반드시 선례를 따를 이유는 없기 때문이다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98E4DD-2FD6-1F2A-1559-15F0CAE69303}"/>
              </a:ext>
            </a:extLst>
          </p:cNvPr>
          <p:cNvSpPr txBox="1"/>
          <p:nvPr/>
        </p:nvSpPr>
        <p:spPr>
          <a:xfrm>
            <a:off x="8081759" y="4073566"/>
            <a:ext cx="3580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중앙정부 지출이 </a:t>
            </a:r>
            <a:r>
              <a:rPr lang="en-US" altLang="ko-KR" sz="1200" spc="-50" dirty="0"/>
              <a:t>GDP</a:t>
            </a:r>
            <a:r>
              <a:rPr lang="ko-KR" altLang="en-US" sz="1200" spc="-50" dirty="0"/>
              <a:t>에서 차지하는 비중 </a:t>
            </a:r>
            <a:r>
              <a:rPr lang="en-US" altLang="ko-KR" sz="1200" spc="-50" dirty="0"/>
              <a:t>(2023)&gt;</a:t>
            </a:r>
            <a:endParaRPr lang="ko-KR" altLang="en-US" sz="1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F0DF43-2152-49C6-FC05-5CEDCC8D6E3D}"/>
              </a:ext>
            </a:extLst>
          </p:cNvPr>
          <p:cNvSpPr txBox="1"/>
          <p:nvPr/>
        </p:nvSpPr>
        <p:spPr>
          <a:xfrm>
            <a:off x="10901159" y="6259908"/>
            <a:ext cx="68632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200" spc="-50" dirty="0"/>
              <a:t>단위</a:t>
            </a:r>
            <a:r>
              <a:rPr lang="en-US" altLang="ko-KR" sz="1200" spc="-50" dirty="0"/>
              <a:t>: %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82127912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B3C622-CBE5-AFFA-6202-009FA890AC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지출수준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BDAA2D-1A0A-BA9E-036C-2D652B1DCF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5B70C85-8A88-3D62-8E68-86852C71FC03}"/>
              </a:ext>
            </a:extLst>
          </p:cNvPr>
          <p:cNvSpPr txBox="1"/>
          <p:nvPr/>
        </p:nvSpPr>
        <p:spPr>
          <a:xfrm>
            <a:off x="288790" y="958844"/>
            <a:ext cx="11693660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현재의 재정규모가 적정한 것인지 평가 하려면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정부가 하는 일을 자세히 살펴보아야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정부가 낭비를 삼가고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꼭 필요한 활동만 효율적으로 하면 작은 정부라면 문제가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한편 정부가 당연히 해야 할 일도 하지 못하는 작은 정부라면 문제가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아래의 표를 보면 우리나라의 국내총생산 대비 공공부문 사회적 지출 비중이 </a:t>
            </a:r>
            <a:r>
              <a:rPr lang="en-US" altLang="ko-KR" sz="1600" spc="-50" dirty="0"/>
              <a:t>OECD </a:t>
            </a:r>
            <a:r>
              <a:rPr lang="ko-KR" altLang="en-US" sz="1600" spc="-50" dirty="0"/>
              <a:t>국가들 중 최하위인 것을 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선진국들은 국내총생산의 </a:t>
            </a:r>
            <a:r>
              <a:rPr lang="en-US" altLang="ko-KR" sz="1600" spc="-50" dirty="0"/>
              <a:t>20% </a:t>
            </a:r>
            <a:r>
              <a:rPr lang="ko-KR" altLang="en-US" sz="1600" spc="-50" dirty="0"/>
              <a:t>내외를 사회적 지출로 사용하지만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우리나라는 </a:t>
            </a:r>
            <a:r>
              <a:rPr lang="en-US" altLang="ko-KR" sz="1600" spc="-50" dirty="0"/>
              <a:t>10%</a:t>
            </a:r>
            <a:r>
              <a:rPr lang="ko-KR" altLang="en-US" sz="1600" spc="-50" dirty="0"/>
              <a:t>대에 머물고 있다</a:t>
            </a:r>
            <a:r>
              <a:rPr lang="en-US" altLang="ko-KR" sz="1600" spc="-50" dirty="0"/>
              <a:t>.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B333A60E-5062-F52A-B60E-6DB915EAA6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9984225"/>
              </p:ext>
            </p:extLst>
          </p:nvPr>
        </p:nvGraphicFramePr>
        <p:xfrm>
          <a:off x="701293" y="3427852"/>
          <a:ext cx="10413750" cy="2971356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735625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735625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1735625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735625">
                  <a:extLst>
                    <a:ext uri="{9D8B030D-6E8A-4147-A177-3AD203B41FA5}">
                      <a16:colId xmlns:a16="http://schemas.microsoft.com/office/drawing/2014/main" val="3382775548"/>
                    </a:ext>
                  </a:extLst>
                </a:gridCol>
                <a:gridCol w="1735625">
                  <a:extLst>
                    <a:ext uri="{9D8B030D-6E8A-4147-A177-3AD203B41FA5}">
                      <a16:colId xmlns:a16="http://schemas.microsoft.com/office/drawing/2014/main" val="4205076024"/>
                    </a:ext>
                  </a:extLst>
                </a:gridCol>
                <a:gridCol w="1735625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연도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1990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2000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2015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2018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오스트레일리아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캐나다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덴마크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29.9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29.0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프랑스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독일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한국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7568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노르웨이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21348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스웨덴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27.9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214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영국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13051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FEBF603-E318-D48E-639D-893C9CC291FE}"/>
              </a:ext>
            </a:extLst>
          </p:cNvPr>
          <p:cNvSpPr txBox="1"/>
          <p:nvPr/>
        </p:nvSpPr>
        <p:spPr>
          <a:xfrm>
            <a:off x="2801470" y="3122020"/>
            <a:ext cx="533669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&lt;OECD </a:t>
            </a:r>
            <a:r>
              <a:rPr lang="ko-KR" altLang="en-US" sz="1400" spc="-50" dirty="0"/>
              <a:t>국가들의 국내총생산 대비 공공부문 사회적 지출의 비율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418853004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4AF2C9-1633-7E1A-214E-BFC4E128C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OECD</a:t>
            </a:r>
            <a:r>
              <a:rPr lang="ko-KR" altLang="en-US" dirty="0"/>
              <a:t> 사회복지지출 통계 기준에 따른 주요국가 비교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40B067-6ABF-608C-710B-4551357506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44</a:t>
            </a:fld>
            <a:endParaRPr lang="ko-KR" altLang="en-US"/>
          </a:p>
        </p:txBody>
      </p:sp>
      <p:pic>
        <p:nvPicPr>
          <p:cNvPr id="6" name="그림 5" descr="텍스트, 스크린샷, 라인, 평행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BE44877-4AB4-4AD8-3612-E58BC771FC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7512" y="1098985"/>
            <a:ext cx="6442219" cy="537276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DE160DA-3C6C-2662-1079-F05AB8679DF2}"/>
              </a:ext>
            </a:extLst>
          </p:cNvPr>
          <p:cNvSpPr txBox="1"/>
          <p:nvPr/>
        </p:nvSpPr>
        <p:spPr>
          <a:xfrm>
            <a:off x="1984448" y="6421491"/>
            <a:ext cx="644221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900" dirty="0"/>
              <a:t>출처</a:t>
            </a:r>
            <a:r>
              <a:rPr lang="en-US" altLang="ko-KR" sz="900" dirty="0"/>
              <a:t>: </a:t>
            </a:r>
            <a:r>
              <a:rPr lang="ko-KR" altLang="en-US" sz="900" dirty="0"/>
              <a:t>국회예산정책처, </a:t>
            </a:r>
            <a:r>
              <a:rPr lang="ko-KR" altLang="en-US" sz="900" dirty="0" err="1"/>
              <a:t>나보포커스</a:t>
            </a:r>
            <a:r>
              <a:rPr lang="ko-KR" altLang="en-US" sz="900" dirty="0"/>
              <a:t>, 제 141호 (2026.03.1) 국제 비교로 본 한국 복지지출 수준과 신규 과제 (안태훈 분석관)</a:t>
            </a:r>
          </a:p>
        </p:txBody>
      </p:sp>
    </p:spTree>
    <p:extLst>
      <p:ext uri="{BB962C8B-B14F-4D97-AF65-F5344CB8AC3E}">
        <p14:creationId xmlns:p14="http://schemas.microsoft.com/office/powerpoint/2010/main" val="274148402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90F98-1AB4-900F-C3D7-72007327F9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508D5E-778D-8BCA-A514-0192E7917A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지출의</a:t>
            </a:r>
            <a:r>
              <a:rPr lang="en-US" altLang="ko-KR" dirty="0"/>
              <a:t> </a:t>
            </a:r>
            <a:r>
              <a:rPr lang="ko-KR" altLang="en-US" dirty="0"/>
              <a:t>구성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2BCB87-B27B-FC9A-83F3-F5996A19A5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7139C8-8E95-9150-3056-2BF0CF453D31}"/>
              </a:ext>
            </a:extLst>
          </p:cNvPr>
          <p:cNvSpPr txBox="1"/>
          <p:nvPr/>
        </p:nvSpPr>
        <p:spPr>
          <a:xfrm>
            <a:off x="288790" y="801186"/>
            <a:ext cx="11693660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 표는 정부 지출의 기능별 배분 추이를 </a:t>
            </a:r>
            <a:r>
              <a:rPr lang="en-US" altLang="ko-KR" sz="1600" spc="-50" dirty="0"/>
              <a:t>1990</a:t>
            </a:r>
            <a:r>
              <a:rPr lang="ko-KR" altLang="en-US" sz="1600" spc="-50" dirty="0"/>
              <a:t>년부터 </a:t>
            </a:r>
            <a:r>
              <a:rPr lang="en-US" altLang="ko-KR" sz="1600" spc="-50" dirty="0"/>
              <a:t>2024</a:t>
            </a:r>
            <a:r>
              <a:rPr lang="ko-KR" altLang="en-US" sz="1600" spc="-50" dirty="0"/>
              <a:t>년까지 보여주고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사회복지 부문의 경우 </a:t>
            </a:r>
            <a:r>
              <a:rPr lang="en-US" altLang="ko-KR" sz="1600" spc="-50" dirty="0"/>
              <a:t>1990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8.9%</a:t>
            </a:r>
            <a:r>
              <a:rPr lang="ko-KR" altLang="en-US" sz="1600" spc="-50" dirty="0"/>
              <a:t>에서 </a:t>
            </a:r>
            <a:r>
              <a:rPr lang="en-US" altLang="ko-KR" sz="1600" spc="-50" dirty="0"/>
              <a:t>2024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18.9%</a:t>
            </a:r>
            <a:r>
              <a:rPr lang="ko-KR" altLang="en-US" sz="1600" spc="-50" dirty="0"/>
              <a:t>에 이르는 수준으로 크게 높아졌다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정부가 국민의 삶의 질 향상을 위해 지속적으로 노력한 결과라고 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국방비의 경우 </a:t>
            </a:r>
            <a:r>
              <a:rPr lang="en-US" altLang="ko-KR" sz="1600" spc="-50" dirty="0"/>
              <a:t>1990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25%</a:t>
            </a:r>
            <a:r>
              <a:rPr lang="ko-KR" altLang="en-US" sz="1600" spc="-50" dirty="0"/>
              <a:t>에서 </a:t>
            </a:r>
            <a:r>
              <a:rPr lang="en-US" altLang="ko-KR" sz="1600" spc="-50" dirty="0"/>
              <a:t>2024</a:t>
            </a:r>
            <a:r>
              <a:rPr lang="ko-KR" altLang="en-US" sz="1600" spc="-50" dirty="0"/>
              <a:t>년에는 </a:t>
            </a:r>
            <a:r>
              <a:rPr lang="en-US" altLang="ko-KR" sz="1600" spc="-50" dirty="0"/>
              <a:t>13.5%</a:t>
            </a:r>
            <a:r>
              <a:rPr lang="ko-KR" altLang="en-US" sz="1600" spc="-50" dirty="0"/>
              <a:t>의 수준으로 그 비중이 계속 줄어들었다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다른 나라에 비하면 여전히 우리나라의 국방비 지출 비중은 상대적으로 높은 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교육분야의 경우 꾸준히 </a:t>
            </a:r>
            <a:r>
              <a:rPr lang="en-US" altLang="ko-KR" sz="1600" spc="-50" dirty="0"/>
              <a:t>20% </a:t>
            </a:r>
            <a:r>
              <a:rPr lang="ko-KR" altLang="en-US" sz="1600" spc="-50" dirty="0"/>
              <a:t>내외 수준을 유지하고 있어 중요한 비중을 차지하고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경제분야의 경우 </a:t>
            </a:r>
            <a:r>
              <a:rPr lang="en-US" altLang="ko-KR" sz="1600" spc="-50" dirty="0"/>
              <a:t>1990</a:t>
            </a:r>
            <a:r>
              <a:rPr lang="ko-KR" altLang="en-US" sz="1600" spc="-50" dirty="0"/>
              <a:t>년대에는 </a:t>
            </a:r>
            <a:r>
              <a:rPr lang="en-US" altLang="ko-KR" sz="1600" spc="-50" dirty="0"/>
              <a:t>20% </a:t>
            </a:r>
            <a:r>
              <a:rPr lang="ko-KR" altLang="en-US" sz="1600" spc="-50" dirty="0"/>
              <a:t>수준이었으나</a:t>
            </a:r>
            <a:r>
              <a:rPr lang="en-US" altLang="ko-KR" sz="1600" spc="-50" dirty="0"/>
              <a:t>, 2024</a:t>
            </a:r>
            <a:r>
              <a:rPr lang="ko-KR" altLang="en-US" sz="1600" spc="-50" dirty="0"/>
              <a:t>년에는 </a:t>
            </a:r>
            <a:r>
              <a:rPr lang="en-US" altLang="ko-KR" sz="1600" spc="-50" dirty="0"/>
              <a:t>12.7%</a:t>
            </a:r>
            <a:r>
              <a:rPr lang="ko-KR" altLang="en-US" sz="1600" spc="-50" dirty="0"/>
              <a:t>까지 줄어들었다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경제발전 초기에는 정부가 경제에 깊숙이 개입했지만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현재는 개입의 범위를 줄여가고 있다</a:t>
            </a:r>
            <a:r>
              <a:rPr lang="en-US" altLang="ko-KR" sz="1600" spc="-50" dirty="0"/>
              <a:t>.</a:t>
            </a: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54C7F84E-379F-A9A9-B6D6-CB8F23EF0D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0597464"/>
              </p:ext>
            </p:extLst>
          </p:nvPr>
        </p:nvGraphicFramePr>
        <p:xfrm>
          <a:off x="701293" y="4088467"/>
          <a:ext cx="10413753" cy="247681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487679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487679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1487679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487679">
                  <a:extLst>
                    <a:ext uri="{9D8B030D-6E8A-4147-A177-3AD203B41FA5}">
                      <a16:colId xmlns:a16="http://schemas.microsoft.com/office/drawing/2014/main" val="3382775548"/>
                    </a:ext>
                  </a:extLst>
                </a:gridCol>
                <a:gridCol w="1487679">
                  <a:extLst>
                    <a:ext uri="{9D8B030D-6E8A-4147-A177-3AD203B41FA5}">
                      <a16:colId xmlns:a16="http://schemas.microsoft.com/office/drawing/2014/main" val="1783205468"/>
                    </a:ext>
                  </a:extLst>
                </a:gridCol>
                <a:gridCol w="1487679">
                  <a:extLst>
                    <a:ext uri="{9D8B030D-6E8A-4147-A177-3AD203B41FA5}">
                      <a16:colId xmlns:a16="http://schemas.microsoft.com/office/drawing/2014/main" val="4205076024"/>
                    </a:ext>
                  </a:extLst>
                </a:gridCol>
                <a:gridCol w="1487679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연도</a:t>
                      </a:r>
                      <a:endParaRPr lang="en-US" altLang="ko-KR" sz="105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사회복지</a:t>
                      </a:r>
                      <a:endParaRPr lang="en-US" altLang="ko-KR" sz="105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국방</a:t>
                      </a:r>
                      <a:endParaRPr lang="en-US" altLang="ko-KR" sz="105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교육</a:t>
                      </a:r>
                      <a:endParaRPr lang="en-US" altLang="ko-KR" sz="105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경제</a:t>
                      </a:r>
                      <a:endParaRPr lang="en-US" altLang="ko-KR" sz="105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기타</a:t>
                      </a:r>
                      <a:endParaRPr lang="en-US" altLang="ko-KR" sz="105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합계</a:t>
                      </a:r>
                      <a:endParaRPr lang="en-US" altLang="ko-KR" sz="105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1990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1995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2000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27.3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2005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2010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</a:t>
                      </a:r>
                      <a:endParaRPr lang="en-US" sz="105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2015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33.8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</a:t>
                      </a:r>
                      <a:endParaRPr lang="en-US" sz="105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2020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7568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2021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35.7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21348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2022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214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2023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058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2024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35.0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8255B126-01FB-50EE-F291-9D2B7A1CBFCA}"/>
              </a:ext>
            </a:extLst>
          </p:cNvPr>
          <p:cNvSpPr txBox="1"/>
          <p:nvPr/>
        </p:nvSpPr>
        <p:spPr>
          <a:xfrm>
            <a:off x="2801470" y="3782635"/>
            <a:ext cx="533669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/>
              <a:t>일반회계의 기능별 세출비중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84103084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209412-C19A-4290-3307-F76585F27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488FA50-5A64-CB2C-A9CC-AC1B6182F7B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EFBBE6E-76A7-CC95-FDC2-5AFB7A5D4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46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48298C76-ECF9-2277-6763-6ECCF0FAAA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조세제도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68056537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D86259-671B-F062-8351-75E300F380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BB8EBF-4393-A8DD-8CF1-E9B724A25C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조세부담률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5E98386-B654-43BA-2A03-B2E4BAFB4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158D68F-139D-CBA8-A14E-41372BE66B81}"/>
              </a:ext>
            </a:extLst>
          </p:cNvPr>
          <p:cNvSpPr txBox="1"/>
          <p:nvPr/>
        </p:nvSpPr>
        <p:spPr>
          <a:xfrm>
            <a:off x="288790" y="724064"/>
            <a:ext cx="11693660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슬라이드 </a:t>
            </a:r>
            <a:r>
              <a:rPr lang="en-US" altLang="ko-KR" sz="1600" spc="-50" dirty="0"/>
              <a:t>7</a:t>
            </a:r>
            <a:r>
              <a:rPr lang="ko-KR" altLang="en-US" sz="1600" spc="-50" dirty="0"/>
              <a:t>에서 보았듯이 우리나라의 재정규모는 경제성장 속도보다 더 빠른 속도로 팽창해왔다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아래 왼쪽 표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아래 표에서 </a:t>
            </a:r>
            <a:r>
              <a:rPr lang="ko-KR" altLang="en-US" sz="1600" spc="-50" dirty="0" err="1"/>
              <a:t>조세부담률</a:t>
            </a:r>
            <a:r>
              <a:rPr lang="ko-KR" altLang="en-US" sz="1600" spc="-50" dirty="0"/>
              <a:t> 추이를 보면 </a:t>
            </a:r>
            <a:r>
              <a:rPr lang="en-US" altLang="ko-KR" sz="1600" spc="-50" dirty="0"/>
              <a:t>1990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16.1% </a:t>
            </a:r>
            <a:r>
              <a:rPr lang="ko-KR" altLang="en-US" sz="1600" spc="-50" dirty="0"/>
              <a:t>수준이었던 것이 꾸준히 상승하여 </a:t>
            </a:r>
            <a:r>
              <a:rPr lang="en-US" altLang="ko-KR" sz="1600" spc="-50" dirty="0"/>
              <a:t>2022</a:t>
            </a:r>
            <a:r>
              <a:rPr lang="ko-KR" altLang="en-US" sz="1600" spc="-50" dirty="0"/>
              <a:t>년에는 </a:t>
            </a:r>
            <a:r>
              <a:rPr lang="en-US" altLang="ko-KR" sz="1600" spc="-50" dirty="0"/>
              <a:t>22.1%</a:t>
            </a:r>
            <a:r>
              <a:rPr lang="ko-KR" altLang="en-US" sz="1600" spc="-50" dirty="0"/>
              <a:t>까지 올라 갔다가</a:t>
            </a:r>
            <a:r>
              <a:rPr lang="en-US" altLang="ko-KR" sz="1600" spc="-50" dirty="0"/>
              <a:t>, 2024</a:t>
            </a:r>
            <a:r>
              <a:rPr lang="ko-KR" altLang="en-US" sz="1600" spc="-50" dirty="0"/>
              <a:t>년에는 </a:t>
            </a:r>
            <a:r>
              <a:rPr lang="en-US" altLang="ko-KR" sz="1600" spc="-50" dirty="0"/>
              <a:t>17.6%</a:t>
            </a:r>
            <a:r>
              <a:rPr lang="ko-KR" altLang="en-US" sz="1600" spc="-50" dirty="0"/>
              <a:t>까지 높아졌다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외국과 비교해보면 우리나라의 </a:t>
            </a:r>
            <a:r>
              <a:rPr lang="ko-KR" altLang="en-US" sz="1600" spc="-50" dirty="0" err="1"/>
              <a:t>조세부담률은</a:t>
            </a:r>
            <a:r>
              <a:rPr lang="ko-KR" altLang="en-US" sz="1600" spc="-50" dirty="0"/>
              <a:t> 상대적으로 낮은 수준이다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아래 오른쪽 표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선진국들의 </a:t>
            </a:r>
            <a:r>
              <a:rPr lang="ko-KR" altLang="en-US" sz="1600" spc="-50" dirty="0" err="1"/>
              <a:t>조세부담률이</a:t>
            </a:r>
            <a:r>
              <a:rPr lang="ko-KR" altLang="en-US" sz="1600" spc="-50" dirty="0"/>
              <a:t> 높은 것은 정부가 사회복지 측면에서 적극적인 활동을 벌이고 있기 때문이다</a:t>
            </a:r>
            <a:r>
              <a:rPr lang="en-US" altLang="ko-KR" sz="1600" spc="-50" dirty="0"/>
              <a:t>.</a:t>
            </a: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0880D263-E644-2D6C-2D79-6935DD9AD6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9903064"/>
              </p:ext>
            </p:extLst>
          </p:nvPr>
        </p:nvGraphicFramePr>
        <p:xfrm>
          <a:off x="396137" y="2944928"/>
          <a:ext cx="8366862" cy="355483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394477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394477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1394477">
                  <a:extLst>
                    <a:ext uri="{9D8B030D-6E8A-4147-A177-3AD203B41FA5}">
                      <a16:colId xmlns:a16="http://schemas.microsoft.com/office/drawing/2014/main" val="3365092879"/>
                    </a:ext>
                  </a:extLst>
                </a:gridCol>
                <a:gridCol w="1394477">
                  <a:extLst>
                    <a:ext uri="{9D8B030D-6E8A-4147-A177-3AD203B41FA5}">
                      <a16:colId xmlns:a16="http://schemas.microsoft.com/office/drawing/2014/main" val="4206849505"/>
                    </a:ext>
                  </a:extLst>
                </a:gridCol>
                <a:gridCol w="1394477">
                  <a:extLst>
                    <a:ext uri="{9D8B030D-6E8A-4147-A177-3AD203B41FA5}">
                      <a16:colId xmlns:a16="http://schemas.microsoft.com/office/drawing/2014/main" val="605825270"/>
                    </a:ext>
                  </a:extLst>
                </a:gridCol>
                <a:gridCol w="1394477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360135"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연도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국내총생산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명목 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GDP)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국민조세부담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en-US" altLang="ko-KR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100" b="1" kern="0" spc="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조세부담률</a:t>
                      </a:r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(%)</a:t>
                      </a:r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470954">
                <a:tc v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국세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지방세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합계</a:t>
                      </a:r>
                      <a:endParaRPr lang="en-US" altLang="ko-KR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02922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1990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206.7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33.2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1995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452.2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56.8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72.1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2000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675.7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92.9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113.5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2005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995.2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127.5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36.0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163.4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2010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1,379.5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177.7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49.2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226.9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2015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1,740.8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217.9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71.0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288.9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2020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2,058.5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285.5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102.0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387.6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7568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2021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2,221.9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344.1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112.8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456.9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21348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2022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2,323.8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395.9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118.6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514.5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214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2023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2,408.7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344.1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112.5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456.5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9053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2024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2,556.9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336.5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114.1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450.6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3B3480EA-11E9-68E9-83E5-0606E65C5675}"/>
              </a:ext>
            </a:extLst>
          </p:cNvPr>
          <p:cNvSpPr txBox="1"/>
          <p:nvPr/>
        </p:nvSpPr>
        <p:spPr>
          <a:xfrm>
            <a:off x="2948509" y="2622749"/>
            <a:ext cx="26543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 err="1"/>
              <a:t>조세부담률의</a:t>
            </a:r>
            <a:r>
              <a:rPr lang="ko-KR" altLang="en-US" sz="1400" spc="-50" dirty="0"/>
              <a:t> 변화 추이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2CDBD6CB-3D32-8E54-4162-057E2F9AD9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9715283"/>
              </p:ext>
            </p:extLst>
          </p:nvPr>
        </p:nvGraphicFramePr>
        <p:xfrm>
          <a:off x="8932334" y="3157765"/>
          <a:ext cx="2975358" cy="3307221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487679">
                  <a:extLst>
                    <a:ext uri="{9D8B030D-6E8A-4147-A177-3AD203B41FA5}">
                      <a16:colId xmlns:a16="http://schemas.microsoft.com/office/drawing/2014/main" val="2325053829"/>
                    </a:ext>
                  </a:extLst>
                </a:gridCol>
                <a:gridCol w="1487679">
                  <a:extLst>
                    <a:ext uri="{9D8B030D-6E8A-4147-A177-3AD203B41FA5}">
                      <a16:colId xmlns:a16="http://schemas.microsoft.com/office/drawing/2014/main" val="1849595612"/>
                    </a:ext>
                  </a:extLst>
                </a:gridCol>
              </a:tblGrid>
              <a:tr h="367469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국가</a:t>
                      </a:r>
                      <a:endParaRPr lang="en-US" altLang="ko-KR" sz="105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1" kern="0" spc="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조세부담률</a:t>
                      </a:r>
                      <a:endParaRPr lang="en-US" altLang="ko-KR" sz="105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3654906"/>
                  </a:ext>
                </a:extLst>
              </a:tr>
              <a:tr h="367469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한국</a:t>
                      </a:r>
                      <a:endParaRPr lang="en-US" sz="105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4839663"/>
                  </a:ext>
                </a:extLst>
              </a:tr>
              <a:tr h="367469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일본</a:t>
                      </a:r>
                      <a:endParaRPr lang="en-US" sz="105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5486497"/>
                  </a:ext>
                </a:extLst>
              </a:tr>
              <a:tr h="367469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sz="105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423549"/>
                  </a:ext>
                </a:extLst>
              </a:tr>
              <a:tr h="367469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영국</a:t>
                      </a:r>
                      <a:endParaRPr lang="en-US" sz="105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9046706"/>
                  </a:ext>
                </a:extLst>
              </a:tr>
              <a:tr h="367469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프랑스</a:t>
                      </a:r>
                      <a:endParaRPr lang="en-US" sz="105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98820"/>
                  </a:ext>
                </a:extLst>
              </a:tr>
              <a:tr h="367469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독일</a:t>
                      </a:r>
                      <a:endParaRPr lang="en-US" sz="105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2336293"/>
                  </a:ext>
                </a:extLst>
              </a:tr>
              <a:tr h="367469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덴마크</a:t>
                      </a:r>
                      <a:endParaRPr lang="en-US" sz="105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44.8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7704078"/>
                  </a:ext>
                </a:extLst>
              </a:tr>
              <a:tr h="36746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 </a:t>
                      </a:r>
                      <a:r>
                        <a:rPr lang="ko-KR" alt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평균</a:t>
                      </a:r>
                      <a:endParaRPr lang="en-US" altLang="ko-KR" sz="105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2998991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85F8CDE6-9CBB-6D08-0B29-C34011522AD7}"/>
              </a:ext>
            </a:extLst>
          </p:cNvPr>
          <p:cNvSpPr txBox="1"/>
          <p:nvPr/>
        </p:nvSpPr>
        <p:spPr>
          <a:xfrm>
            <a:off x="9092863" y="2835586"/>
            <a:ext cx="26543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 err="1"/>
              <a:t>조세부담률의</a:t>
            </a:r>
            <a:r>
              <a:rPr lang="ko-KR" altLang="en-US" sz="1400" spc="-50" dirty="0"/>
              <a:t> 국제비교 </a:t>
            </a:r>
            <a:r>
              <a:rPr lang="en-US" altLang="ko-KR" sz="1400" spc="-50" dirty="0"/>
              <a:t>2018&gt;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86705630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761B86-662E-5586-CCE7-4623081741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DB12154-34D1-9A9C-04FE-D23C7D471A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소득과세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D243109-A14D-3C51-5731-77D81EB9F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CE9470-75AB-024D-4B37-29607FCC6B5F}"/>
              </a:ext>
            </a:extLst>
          </p:cNvPr>
          <p:cNvSpPr txBox="1"/>
          <p:nvPr/>
        </p:nvSpPr>
        <p:spPr>
          <a:xfrm>
            <a:off x="288790" y="958844"/>
            <a:ext cx="11693660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슬라이드 </a:t>
            </a:r>
            <a:r>
              <a:rPr lang="en-US" altLang="ko-KR" sz="1600" spc="-50" dirty="0"/>
              <a:t>9</a:t>
            </a:r>
            <a:r>
              <a:rPr lang="ko-KR" altLang="en-US" sz="1600" spc="-50" dirty="0"/>
              <a:t>에서 보았듯이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우리나라 국세는 과세대상이 무엇인가에 따라 소득과세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소비과세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재산과세로 분류한다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소득세와 법인세로 구성된 소득과세가 전체 국세수입의 </a:t>
            </a:r>
            <a:r>
              <a:rPr lang="en-US" altLang="ko-KR" sz="1600" spc="-50" dirty="0"/>
              <a:t>53.1%</a:t>
            </a:r>
            <a:r>
              <a:rPr lang="ko-KR" altLang="en-US" sz="1600" spc="-50" dirty="0"/>
              <a:t>를 차지하고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소득세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법인세 모두 경제주체에게 직접적으로 세금을 부과하는 직접세의 성격을 갖는다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직접세는 납세자의 조세부담 능력에 따라 세금의 크기를 결정하는 것이므로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통해 </a:t>
            </a:r>
            <a:r>
              <a:rPr lang="ko-KR" altLang="en-US" sz="1600" spc="-50" dirty="0" err="1"/>
              <a:t>어느정도의</a:t>
            </a:r>
            <a:r>
              <a:rPr lang="ko-KR" altLang="en-US" sz="1600" spc="-50" dirty="0"/>
              <a:t> 소득 재분배 효과를 얻을 수 있다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반면 소비과세 중심의 간접세는 상품이나 경제활동을 대상으로 부과하므로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누가 그 세금을 부담하게 될지 알 수 없다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간접세의 경우 납세자의 조세부담 능력에 맞춰 세금의 크기를 결정하기 어렵다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이러한 측면에서 직접세의 비중이 클 수록 </a:t>
            </a:r>
            <a:r>
              <a:rPr lang="ko-KR" altLang="en-US" sz="1600" spc="-50" dirty="0" err="1"/>
              <a:t>공평성</a:t>
            </a:r>
            <a:r>
              <a:rPr lang="ko-KR" altLang="en-US" sz="1600" spc="-50" dirty="0"/>
              <a:t> 측면에서 바람직하다고 여기는 경향이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직접세와 간접세 간의 비중만을 두고 모든 것을 판단할 수 없다</a:t>
            </a:r>
            <a:r>
              <a:rPr lang="en-US" altLang="ko-KR" sz="1600" spc="-50" dirty="0"/>
              <a:t>.</a:t>
            </a:r>
          </a:p>
          <a:p>
            <a:pPr marL="1006475" lvl="2">
              <a:lnSpc>
                <a:spcPct val="150000"/>
              </a:lnSpc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다음 슬라이드 그림 참고</a:t>
            </a:r>
            <a:r>
              <a:rPr lang="en-US" altLang="ko-KR" sz="1600" spc="-5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2404956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7DD337-823B-D219-9645-6A7B7F468F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중앙정부의 조세수입 내역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8124926-1F45-6558-5532-3A233A2CF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49</a:t>
            </a:fld>
            <a:endParaRPr lang="ko-KR" altLang="en-US"/>
          </a:p>
        </p:txBody>
      </p:sp>
      <p:pic>
        <p:nvPicPr>
          <p:cNvPr id="6" name="그림 5" descr="텍스트, 원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F3621AE-0A91-A814-745A-B6755106B3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049" y="1164651"/>
            <a:ext cx="5261194" cy="515057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593426A-B47D-7F3E-2CE4-B4353507D63D}"/>
              </a:ext>
            </a:extLst>
          </p:cNvPr>
          <p:cNvSpPr txBox="1"/>
          <p:nvPr/>
        </p:nvSpPr>
        <p:spPr>
          <a:xfrm>
            <a:off x="1279497" y="831322"/>
            <a:ext cx="3836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spc="-50" dirty="0"/>
              <a:t>&lt;</a:t>
            </a:r>
            <a:r>
              <a:rPr lang="ko-KR" altLang="en-US" sz="1600" spc="-50" dirty="0"/>
              <a:t>중앙정부의 조세수입 내역 </a:t>
            </a:r>
            <a:r>
              <a:rPr lang="en-US" altLang="ko-KR" sz="1600" spc="-50" dirty="0"/>
              <a:t>(2019</a:t>
            </a:r>
            <a:r>
              <a:rPr lang="ko-KR" altLang="en-US" sz="1600" spc="-50" dirty="0"/>
              <a:t>년도</a:t>
            </a:r>
            <a:r>
              <a:rPr lang="en-US" altLang="ko-KR" sz="1600" spc="-50" dirty="0"/>
              <a:t>)&gt;</a:t>
            </a:r>
            <a:endParaRPr lang="ko-KR" altLang="en-US" sz="16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42C74370-63C0-454B-6B74-3D86AA1A5C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0018" y="1600463"/>
            <a:ext cx="4647820" cy="471476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2A4F0993-12F7-6AE6-2169-C13653F22D72}"/>
              </a:ext>
            </a:extLst>
          </p:cNvPr>
          <p:cNvSpPr txBox="1"/>
          <p:nvPr/>
        </p:nvSpPr>
        <p:spPr>
          <a:xfrm>
            <a:off x="7631638" y="908267"/>
            <a:ext cx="3836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spc="-50" dirty="0"/>
              <a:t>&lt;</a:t>
            </a:r>
            <a:r>
              <a:rPr lang="ko-KR" altLang="en-US" sz="1600" spc="-50" dirty="0"/>
              <a:t>현행 국세체계</a:t>
            </a:r>
            <a:r>
              <a:rPr lang="en-US" altLang="ko-KR" sz="1600" spc="-50" dirty="0"/>
              <a:t>&gt;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71767540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2D1B66-8063-CE95-696C-4A21AC30F9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소득과세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42DF105-A148-7096-4ADF-D126DF7C2C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1D0E20-B15F-780F-0CE9-F5F80446BD4A}"/>
              </a:ext>
            </a:extLst>
          </p:cNvPr>
          <p:cNvSpPr txBox="1"/>
          <p:nvPr/>
        </p:nvSpPr>
        <p:spPr>
          <a:xfrm>
            <a:off x="288790" y="958844"/>
            <a:ext cx="116936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실제로 조세부담이 공평하게 분배되고 있는지는 어떤 종류의 조세가 어떤 방식으로 부과되고 있는지 직접 관찰하는 방법을 통해서만 알아볼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납세자의 경제적 능력을 감안해 과세한다는 점에서 소득세가 가장 바람직하다고 볼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실제로 소득세가 어떻게 운영되고 있는지에 따라 부담이 분배되는 양상이 크게 달라질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예컨대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하위 소득계층의 주요 수입원인 근로소득에 대한 과세를 강화한다면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외형상의 수치가 시사하는 바와는 정반대의 실질적 결과가 나타날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우리나라에서 공평한 조세부담의 분배가 이루어지지 못하고 있는 것은 다음과 같은 측면에서 문제점을 갖고 있기 때문이다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매우 큰 규모의 탈세가 행해지고 있는 지하경제가 만연하고 있기 때문이다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근로소득은 빠짐없이 과세대상에 포함이 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사업소득의 경우 과세대상에서 빠져 나가는 부분이 크다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의사나 변호사 같은 전문직 종사자들의 납세액은 실제 소득에 비해 굉장히 적다는 사실은 널리 알려져 있다</a:t>
            </a:r>
            <a:r>
              <a:rPr lang="en-US" altLang="ko-KR" sz="1600" spc="-50" dirty="0"/>
              <a:t>.)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상속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증여세를 제대로 부과하지 못하면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아무런 세금 부담 없이 다음 세대로 부를 </a:t>
            </a:r>
            <a:r>
              <a:rPr lang="ko-KR" altLang="en-US" sz="1600" spc="-50" dirty="0" err="1"/>
              <a:t>세습시킬</a:t>
            </a:r>
            <a:r>
              <a:rPr lang="ko-KR" altLang="en-US" sz="1600" spc="-50" dirty="0"/>
              <a:t> 수 있기 때문이다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우리나라의 경우 상속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증여세는 납세자들이 내려는 의도가 있을 때만 거둘 수 있다는 느낌을 받는다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위에서 언급한 소득세와 상속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증여세의 문제점을 개선하면 직접세의 비중은 자연히 커질 것이고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공평한 조세체계를 달성할 수 있을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17294531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40C352-A9D3-46F3-351F-2399FCA65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161A15-39D2-2449-6F3D-C6DB220091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소비과세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FD821A-7952-090A-A5B7-A79F9B1C80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CEA7051-15F0-FDF4-28A1-334455FBFB01}"/>
              </a:ext>
            </a:extLst>
          </p:cNvPr>
          <p:cNvSpPr txBox="1"/>
          <p:nvPr/>
        </p:nvSpPr>
        <p:spPr>
          <a:xfrm>
            <a:off x="288790" y="958844"/>
            <a:ext cx="11693660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소비과세에는 부가가치세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개별소비세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교통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에너지</a:t>
            </a:r>
            <a:r>
              <a:rPr lang="en-US" altLang="ko-KR" sz="1600" spc="-50" dirty="0"/>
              <a:t>·</a:t>
            </a:r>
            <a:r>
              <a:rPr lang="ko-KR" altLang="en-US" sz="1600" spc="-50" dirty="0" err="1"/>
              <a:t>환경세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주세 등이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세금은 보통 재화나 서비스를 판매하는 사람이 세금을 납부하도록 되어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실제 조세부담은 소비자들이 진다는 의미에서 간접세로 분류된다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슬라이드 </a:t>
            </a:r>
            <a:r>
              <a:rPr lang="en-US" altLang="ko-KR" sz="1600" spc="-50" dirty="0"/>
              <a:t>22</a:t>
            </a:r>
            <a:r>
              <a:rPr lang="ko-KR" altLang="en-US" sz="1600" spc="-50" dirty="0"/>
              <a:t>를 보면</a:t>
            </a:r>
            <a:r>
              <a:rPr lang="en-US" altLang="ko-KR" sz="1600" spc="-50" dirty="0"/>
              <a:t>, 2019</a:t>
            </a:r>
            <a:r>
              <a:rPr lang="ko-KR" altLang="en-US" sz="1600" spc="-50" dirty="0"/>
              <a:t>년 중앙정부의 조세수입 중 소비과세로부터의 수입이 </a:t>
            </a:r>
            <a:r>
              <a:rPr lang="en-US" altLang="ko-KR" sz="1600" spc="-50" dirty="0"/>
              <a:t>36.3%</a:t>
            </a:r>
            <a:r>
              <a:rPr lang="ko-KR" altLang="en-US" sz="1600" spc="-50" dirty="0"/>
              <a:t>의 비중을 차지 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중에서도 부가가치세가 </a:t>
            </a:r>
            <a:r>
              <a:rPr lang="en-US" altLang="ko-KR" sz="1600" spc="-50" dirty="0"/>
              <a:t>66.5%</a:t>
            </a:r>
            <a:r>
              <a:rPr lang="ko-KR" altLang="en-US" sz="1600" spc="-50" dirty="0"/>
              <a:t>로 가장 큰 비중을 차지하고 있었다</a:t>
            </a:r>
            <a:r>
              <a:rPr lang="en-US" altLang="ko-KR" sz="1600" spc="-5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부가가치세 수입은 전체 조세수입 중 </a:t>
            </a:r>
            <a:r>
              <a:rPr lang="en-US" altLang="ko-KR" sz="1600" spc="-50" dirty="0"/>
              <a:t>24.1%</a:t>
            </a:r>
            <a:r>
              <a:rPr lang="ko-KR" altLang="en-US" sz="1600" spc="-50" dirty="0"/>
              <a:t>를 차지하여 법인세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소득세에 이어 세번째로 높은 비중을 차지한다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부가가치세는 </a:t>
            </a:r>
            <a:r>
              <a:rPr lang="en-US" altLang="ko-KR" sz="1600" spc="-50" dirty="0"/>
              <a:t>10%</a:t>
            </a:r>
            <a:r>
              <a:rPr lang="ko-KR" altLang="en-US" sz="1600" spc="-50" dirty="0"/>
              <a:t>의 단일세율을 적용하고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거의 모든 상품을 부과대상으로 하므로 단 </a:t>
            </a:r>
            <a:r>
              <a:rPr lang="en-US" altLang="ko-KR" sz="1600" spc="-50" dirty="0"/>
              <a:t>1%</a:t>
            </a:r>
            <a:r>
              <a:rPr lang="ko-KR" altLang="en-US" sz="1600" spc="-50" dirty="0"/>
              <a:t>포인트만 올려도 조세수입이 큰 폭으로 늘어난다</a:t>
            </a:r>
            <a:r>
              <a:rPr lang="en-US" altLang="ko-KR" sz="1600" spc="-50" dirty="0"/>
              <a:t>. 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부가가치세는 </a:t>
            </a:r>
            <a:r>
              <a:rPr lang="ko-KR" altLang="en-US" sz="1600" spc="-50" dirty="0" err="1"/>
              <a:t>단일세율이므로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소득수준이 높을수록 소득에서 부가가치세가 차지하는 비중이 낮아지는 경향이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개별소비세는 이와 같은 부가가치세의 역진성을 상쇄시키는 역할을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개별소비세는 귀금속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고급 운동기구 등 사치재의 성격을 갖는 상품에 선별적으로 부과하는 경우가 많다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상품은 주로 중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고소득계층이 많이 소비하기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어느 정도의 누진성을 갖게 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6973338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03BDD3-DFE5-E83E-E7C1-0B30CCF13F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A6AAEA2-B924-3EE0-C3AA-663D5B446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소비과세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1212A78-6CBF-EC1C-54F3-FD13F03076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F0B9FEB-257C-0B0F-82D5-ED31EFFEEDCB}"/>
              </a:ext>
            </a:extLst>
          </p:cNvPr>
          <p:cNvSpPr txBox="1"/>
          <p:nvPr/>
        </p:nvSpPr>
        <p:spPr>
          <a:xfrm>
            <a:off x="288790" y="958844"/>
            <a:ext cx="11693660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하지만 개별소비세에 대해서는 다음과 같은 문제점이 나타난다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제한된 품목에만 선별적으로 적용하기 때문에 소비자 선택에 교란을 일으킨다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예컨대 어떤 상품에 개별소비세가 부과될 예정이라는 것이 알려지면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해당 상품의 수요가 급등하게 된다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시간이 지남에 따라 더 이상 사치재로 볼 수 없어졌음에도 불구하고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계속해서 개별소비세가 부과되는 경우이다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조세당국이 여건 변화에 적응하는 데 시차가 있을 수 밖에 없고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업계의 이해관계가 얽혀 있어 문제가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교통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에너지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환경세는 소비세의 일종이지만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대기오염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교통혼잡 등을 감소시키는 목적으로 부과되고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소비자 선택에 변화를 가져와 사회적으로 바람직한 결과를 이끌어낸다는 의미에서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앞서 개별소비세의 단점으로 지적한 소비자 선택의 교란과는 좋은 대조를 이룬다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또한 교통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에너지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환경세는 우리나라 조세수입의 </a:t>
            </a:r>
            <a:r>
              <a:rPr lang="en-US" altLang="ko-KR" sz="1600" spc="-50" dirty="0"/>
              <a:t>5%</a:t>
            </a:r>
            <a:r>
              <a:rPr lang="ko-KR" altLang="en-US" sz="1600" spc="-50" dirty="0"/>
              <a:t>의 비중을 차지하고 있어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부가가치세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법인세에 이어 정부의 중요한 재원조달 수단으로 활용되고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96988352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1A5C6F-952C-587C-E2DA-CEFD7FFFB0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ECD242-AD5E-82FC-5605-25FD4E5339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재산과세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6FA944-F78B-3E0B-B809-C46AF320CD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118860-0159-C3D0-3F82-BFF6D7A12E68}"/>
              </a:ext>
            </a:extLst>
          </p:cNvPr>
          <p:cNvSpPr txBox="1"/>
          <p:nvPr/>
        </p:nvSpPr>
        <p:spPr>
          <a:xfrm>
            <a:off x="288790" y="958844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재산과세는 부동산이나 주식과 같은 재산에 대해 부과하는 세금이다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재산을 거래할 때 부과되는 세금과 보유단계에 부과되는 세금으로 구분할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국세 중에서는 상속세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증여세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증권거래세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인지세는 거래단계에서 부과되는 재산세이고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한편 종합부동산세는 보유단계에서 부과되는 재산세이다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지방세 중에서는 취득세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재산세 등이 재산과세로 분류된다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슬라이드 </a:t>
            </a:r>
            <a:r>
              <a:rPr lang="en-US" altLang="ko-KR" sz="1600" spc="-50" dirty="0"/>
              <a:t>22</a:t>
            </a:r>
            <a:r>
              <a:rPr lang="ko-KR" altLang="en-US" sz="1600" spc="-50" dirty="0"/>
              <a:t>를 보면 </a:t>
            </a:r>
            <a:r>
              <a:rPr lang="en-US" altLang="ko-KR" sz="1600" spc="-50" dirty="0"/>
              <a:t>2019</a:t>
            </a:r>
            <a:r>
              <a:rPr lang="ko-KR" altLang="en-US" sz="1600" spc="-50" dirty="0"/>
              <a:t>년 중앙정부의 조세수입 중 </a:t>
            </a:r>
            <a:r>
              <a:rPr lang="en-US" altLang="ko-KR" sz="1600" spc="-50" dirty="0"/>
              <a:t>5.5% </a:t>
            </a:r>
            <a:r>
              <a:rPr lang="ko-KR" altLang="en-US" sz="1600" spc="-50" dirty="0"/>
              <a:t>정도만이 재산과세에 해당한다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소비과세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소득과세에 비해 자산과세의 비중은 매우 작다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재산과세 중 절반 가까운 비중을 상속세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증여세가 차지하고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뒤를 증권거래세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종합부동산세가 잇고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지방정부의 조세수입에서 재산과세가 차지하는 비중은 중앙정부보다 훨씬 더 높게 나타난다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뒤에서 배우겠지만 우리나라 지방세 수입에서 취득세와 재산세 같은 재산과세가 차지하는 비중은 상당히 높다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사실은 다른 </a:t>
            </a:r>
            <a:r>
              <a:rPr lang="ko-KR" altLang="en-US" sz="1600" spc="-50" dirty="0" err="1"/>
              <a:t>나라들에서도</a:t>
            </a:r>
            <a:r>
              <a:rPr lang="ko-KR" altLang="en-US" sz="1600" spc="-50" dirty="0"/>
              <a:t> 공통적으로 나타난다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2018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OECD </a:t>
            </a:r>
            <a:r>
              <a:rPr lang="ko-KR" altLang="en-US" sz="1600" spc="-50" dirty="0"/>
              <a:t>국가 통계를 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재산과세가 중앙정부의 조세수입에서 차지하는 비중은 평균 </a:t>
            </a:r>
            <a:r>
              <a:rPr lang="en-US" altLang="ko-KR" sz="1600" spc="-50" dirty="0"/>
              <a:t>3.3% </a:t>
            </a:r>
            <a:r>
              <a:rPr lang="ko-KR" altLang="en-US" sz="1600" spc="-50" dirty="0"/>
              <a:t>였으나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지방정부의 조세수입에서는 </a:t>
            </a:r>
            <a:r>
              <a:rPr lang="en-US" altLang="ko-KR" sz="1600" spc="-50" dirty="0"/>
              <a:t>47.1%</a:t>
            </a:r>
            <a:r>
              <a:rPr lang="ko-KR" altLang="en-US" sz="1600" spc="-50" dirty="0"/>
              <a:t>에 이르는 높은 비중을 차지하고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8435749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78860D-2BCA-D94F-E924-91A412DD9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재산과세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97E1FC-E91E-264A-2BFF-AA787A449F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9E1FA4C-BB35-FE53-CB20-B282BBD3BE43}"/>
              </a:ext>
            </a:extLst>
          </p:cNvPr>
          <p:cNvSpPr txBox="1"/>
          <p:nvPr/>
        </p:nvSpPr>
        <p:spPr>
          <a:xfrm>
            <a:off x="288790" y="958844"/>
            <a:ext cx="116936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이처럼 지방정부의 조세수입에서 재산과세가 높은 비중을 차지하고 있는 이유는 다음과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첫째로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편익성의 원칙에 비추어 볼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재산과세가 적합한 조세징수 수단이 될 수 있기 때문이다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편익성의 원칙은 지역주민들이 지방정부가 제공하는 공공서비스로부터 얻은 편익에 대한 대가로 세금을 납부한다는 개념이다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예컨대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어떤 지역의 부동산 가격이 높은 것은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해당 지역정부가 교통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교육 등의 측면에서 좋은 여건을 제공한 덕분이라고 볼 수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따라서 이 지역의 부동산을 보유한 사람들은 재산과세를 통해 이에 대한 대가를 지불하는 것이 적합하다고 보는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둘째로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안정성의 원칙을 들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안정성의 원칙은 지방정부가 지속적 운영을 하려면 안정적인 조세수입을 확보하고 있어야 한다는 원칙이다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사람들은 세금부담을 피하고자 다른 지역으로 쉽게 이동할 수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토지나 건물 같은 부동산은 세금부담을 피하고자 다른 지역으로 이동해 가는 것이 불가능하다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따라서 사람들의 소득에 세금을 부과하는 것보다 지역 내 부동산에 대해 세금을 부과하는 것이 지방정부의 안정적인 조세수입 확보 측면에서 더 낫다고 볼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다만 재산세를 지방세의 중심축으로 삼는 것은 지역간 재정불균형을 </a:t>
            </a:r>
            <a:r>
              <a:rPr lang="ko-KR" altLang="en-US" sz="1600" spc="-50" dirty="0" err="1"/>
              <a:t>심화시키는</a:t>
            </a:r>
            <a:r>
              <a:rPr lang="ko-KR" altLang="en-US" sz="1600" spc="-50" dirty="0"/>
              <a:t> 문제를 야기할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서울과 지방의 주택 가격은 현저한 차이가 있으므로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이로부터 거둬들이는 세금의 규모도 큰 차이가 날 수 밖에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우리나라 지역간 재정불균형이 심하게 나타나는 것은 재산과세의 형태로 거두는 지방세 수입 차이에 기인하는 바가 크다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0161256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0C8CA-C4F9-74A9-2D8E-EB13DDC9F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B954D35-4A38-FBE2-F0C5-35FE8185040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242638-489F-762B-19A2-A0904024A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55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4BA2A62-6583-91F7-FA37-1A59F7B395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지방재정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67740170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E17FE1-B59E-E933-8902-AC710633F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FF7794-0B7B-BAD8-6E7C-372E802D2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재방재정의 구성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98545B2-678A-65D2-E325-73C481D61C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1D4ABA5-AB69-7519-AE6D-8070BF07DD7A}"/>
              </a:ext>
            </a:extLst>
          </p:cNvPr>
          <p:cNvSpPr txBox="1"/>
          <p:nvPr/>
        </p:nvSpPr>
        <p:spPr>
          <a:xfrm>
            <a:off x="288790" y="958844"/>
            <a:ext cx="11693660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중앙정부가 모든 일을 도맡아서 하는 체제하에서는 재정운영도 획일적으로 이루어질 수 밖에 없으므로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각 지역의 특수한 사정과 지역주민들의 선호가 반영될 수 있도록 중앙정부와 지방정부 사이의 적절한 역할 분담이 필요하다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우리나라는 오랫동안 중앙집권 체제를 유지해왔기 때문에 지방재정의 역할은 제한되어 있는 것이 사실이다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슬라이드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의 표를 참고하면 지방재정의 구성에 대한 윤곽을 확인할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넓은 의미에서 지방정부의 재정은 일반적인 지방정부가 관리하는 재정과 시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도 교육청이 관리하는 교육재정으로 구성된다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그러나 교육재정은 지방재정과 별개로 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지방재정이라고 하면 교육재정을 제외한 지방정부의 재정을 의미하는 것이 보통이다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4D10DD79-4AE4-7606-A894-292A8ECE33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715" y="3782551"/>
            <a:ext cx="9264569" cy="266835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C292C710-7F3C-6323-C4B3-5B5F81EB0A2A}"/>
              </a:ext>
            </a:extLst>
          </p:cNvPr>
          <p:cNvSpPr/>
          <p:nvPr/>
        </p:nvSpPr>
        <p:spPr>
          <a:xfrm>
            <a:off x="1463715" y="3581486"/>
            <a:ext cx="7741246" cy="1330147"/>
          </a:xfrm>
          <a:prstGeom prst="rect">
            <a:avLst/>
          </a:prstGeom>
          <a:solidFill>
            <a:schemeClr val="bg1">
              <a:alpha val="84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F153D0E-3599-3DE8-181F-7F07EC1BC9E3}"/>
              </a:ext>
            </a:extLst>
          </p:cNvPr>
          <p:cNvSpPr/>
          <p:nvPr/>
        </p:nvSpPr>
        <p:spPr>
          <a:xfrm>
            <a:off x="1463714" y="4820194"/>
            <a:ext cx="3164892" cy="1600234"/>
          </a:xfrm>
          <a:prstGeom prst="rect">
            <a:avLst/>
          </a:prstGeom>
          <a:solidFill>
            <a:schemeClr val="bg1">
              <a:alpha val="84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378085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EF6C48-17CB-08B7-ADF4-26B639E90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4A1B44-8978-E390-8646-957FA982F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재방재정의 구성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B72F1B-32CC-F03E-EDB5-C4098A06E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A4035F-DDCA-1778-281A-B6C0852D74E3}"/>
              </a:ext>
            </a:extLst>
          </p:cNvPr>
          <p:cNvSpPr txBox="1"/>
          <p:nvPr/>
        </p:nvSpPr>
        <p:spPr>
          <a:xfrm>
            <a:off x="288790" y="958844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중앙정부의 재정과 마찬가지로 지방정부의 재정도 예산과 기금으로 구성되며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예산은 일반회계와 특별회계로 구분된다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아래의 그림은 우리나라 지방재정의 구성을 보여주고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예산이 지방정부의 대부분을 차지하고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예산 중에서도 일반회계가 매우 큰 비중을 차지하고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지방정부의 재정수입은 지방정부가 자체적으로 조달하는 자체재원과 중앙정부나 상위 지방정부로부터 지원받는 의존재원으로 구분할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자체재원은 지방정부가 거둬들이는 지방세 수입과 각종 사용료나 수수료 등의 세외수입이 포함된다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의존재원에는 지방교부세와 보조금이 포함된다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지방교부세와 보조금은 중앙정부 또는 상위 지방정부가 자신의 재원 중 일부를 지방정부에게 지원해주는 것을 뜻한다</a:t>
            </a:r>
            <a:r>
              <a:rPr lang="en-US" altLang="ko-KR" sz="1600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지방교부세는 지방정부의 일반적인 행정운영에 사용할 수 있는 반면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보조금은 특정 목적을 위해서만 사용할 수 있도록 되어 있다는 점에서 차이가 있다</a:t>
            </a:r>
            <a:r>
              <a:rPr lang="en-US" altLang="ko-KR" sz="1600" spc="-10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또한 지방정부는 필요에 따라 지방채 발행을 통해 재원을 마련할 수도 있다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442DBDF-B080-5823-0E4C-5ACAC11CC2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0331" y="5453674"/>
            <a:ext cx="3344087" cy="104446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61AE4A8-C53C-1BF6-6128-EB39E4BD246C}"/>
              </a:ext>
            </a:extLst>
          </p:cNvPr>
          <p:cNvSpPr txBox="1"/>
          <p:nvPr/>
        </p:nvSpPr>
        <p:spPr>
          <a:xfrm>
            <a:off x="3818279" y="5174790"/>
            <a:ext cx="35800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100" spc="-50" dirty="0"/>
              <a:t>&lt;</a:t>
            </a:r>
            <a:r>
              <a:rPr lang="ko-KR" altLang="en-US" sz="1100" spc="-50" dirty="0"/>
              <a:t>지방재정의 구성 </a:t>
            </a:r>
            <a:r>
              <a:rPr lang="en-US" altLang="ko-KR" sz="1100" spc="-50" dirty="0"/>
              <a:t>(2019</a:t>
            </a:r>
            <a:r>
              <a:rPr lang="ko-KR" altLang="en-US" sz="1100" spc="-50" dirty="0"/>
              <a:t>년</a:t>
            </a:r>
            <a:r>
              <a:rPr lang="en-US" altLang="ko-KR" sz="1100" spc="-50" dirty="0"/>
              <a:t>)&gt;</a:t>
            </a:r>
            <a:endParaRPr lang="ko-KR" altLang="en-US" sz="11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B8EEA7-630A-289B-00F4-767928AAAADA}"/>
              </a:ext>
            </a:extLst>
          </p:cNvPr>
          <p:cNvSpPr txBox="1"/>
          <p:nvPr/>
        </p:nvSpPr>
        <p:spPr>
          <a:xfrm>
            <a:off x="5076796" y="5452724"/>
            <a:ext cx="106304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700" dirty="0"/>
              <a:t>일반회계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50645FF-7430-3500-3129-273086A29360}"/>
              </a:ext>
            </a:extLst>
          </p:cNvPr>
          <p:cNvSpPr txBox="1"/>
          <p:nvPr/>
        </p:nvSpPr>
        <p:spPr>
          <a:xfrm>
            <a:off x="4963586" y="5959735"/>
            <a:ext cx="106304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700" dirty="0"/>
              <a:t>일반회계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43059EB-3EBB-D457-4006-A421B810C14A}"/>
              </a:ext>
            </a:extLst>
          </p:cNvPr>
          <p:cNvSpPr txBox="1"/>
          <p:nvPr/>
        </p:nvSpPr>
        <p:spPr>
          <a:xfrm>
            <a:off x="6712881" y="5345002"/>
            <a:ext cx="43543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700" dirty="0"/>
              <a:t>특별</a:t>
            </a:r>
            <a:endParaRPr lang="en-US" altLang="ko-KR" sz="700" dirty="0"/>
          </a:p>
          <a:p>
            <a:pPr algn="ctr"/>
            <a:r>
              <a:rPr lang="ko-KR" altLang="en-US" sz="700" dirty="0"/>
              <a:t>회계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C544C09-D14F-B6AC-9D89-B43C60C7F45D}"/>
              </a:ext>
            </a:extLst>
          </p:cNvPr>
          <p:cNvSpPr txBox="1"/>
          <p:nvPr/>
        </p:nvSpPr>
        <p:spPr>
          <a:xfrm>
            <a:off x="6574968" y="5887834"/>
            <a:ext cx="43543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700" dirty="0"/>
              <a:t>특별</a:t>
            </a:r>
            <a:endParaRPr lang="en-US" altLang="ko-KR" sz="700" dirty="0"/>
          </a:p>
          <a:p>
            <a:pPr algn="ctr"/>
            <a:r>
              <a:rPr lang="ko-KR" altLang="en-US" sz="700" dirty="0"/>
              <a:t>회계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FCA471C-410D-0C94-BAAE-2917BD1B4B2F}"/>
              </a:ext>
            </a:extLst>
          </p:cNvPr>
          <p:cNvSpPr txBox="1"/>
          <p:nvPr/>
        </p:nvSpPr>
        <p:spPr>
          <a:xfrm>
            <a:off x="6894693" y="5959734"/>
            <a:ext cx="43543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700"/>
              <a:t>기금</a:t>
            </a:r>
            <a:endParaRPr lang="ko-KR" altLang="en-US" sz="7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0D2F349-C61C-68DA-B017-14FBC986F2B7}"/>
              </a:ext>
            </a:extLst>
          </p:cNvPr>
          <p:cNvSpPr txBox="1"/>
          <p:nvPr/>
        </p:nvSpPr>
        <p:spPr>
          <a:xfrm>
            <a:off x="6930596" y="5442158"/>
            <a:ext cx="43543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700"/>
              <a:t>기금</a:t>
            </a:r>
            <a:endParaRPr lang="ko-KR" altLang="en-US" sz="700" dirty="0"/>
          </a:p>
        </p:txBody>
      </p:sp>
    </p:spTree>
    <p:extLst>
      <p:ext uri="{BB962C8B-B14F-4D97-AF65-F5344CB8AC3E}">
        <p14:creationId xmlns:p14="http://schemas.microsoft.com/office/powerpoint/2010/main" val="270261342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DA346A-23C0-E3DD-4A0A-B9AF589FD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재방재정의 구성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4F4BD86-3CC4-7A0A-61E3-F3025ADB7E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58</a:t>
            </a:fld>
            <a:endParaRPr lang="ko-KR" altLang="en-US"/>
          </a:p>
        </p:txBody>
      </p:sp>
      <p:pic>
        <p:nvPicPr>
          <p:cNvPr id="6" name="그림 5" descr="텍스트, 원, 도표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8EBED4D-98DC-3897-3F9F-8342DEB037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6091" y="4177245"/>
            <a:ext cx="2508995" cy="243465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7A1EEA5-57FC-3BEA-2F81-F770598B1DC7}"/>
              </a:ext>
            </a:extLst>
          </p:cNvPr>
          <p:cNvSpPr txBox="1"/>
          <p:nvPr/>
        </p:nvSpPr>
        <p:spPr>
          <a:xfrm>
            <a:off x="288790" y="958844"/>
            <a:ext cx="11693660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 그림은 지방정부의 재원구성을 보여주고 있다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조세수입은 정부 재원의 중요한 구성요소이지만 우리나라 지방재정의 재원에서 지방세로부터의 수입이 차지하는 비중은 </a:t>
            </a:r>
            <a:r>
              <a:rPr lang="en-US" altLang="ko-KR" sz="1600" spc="-50" dirty="0"/>
              <a:t>31.4%</a:t>
            </a:r>
            <a:r>
              <a:rPr lang="ko-KR" altLang="en-US" sz="1600" spc="-50" dirty="0"/>
              <a:t>에 불과하고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자체수입에 의한 재원조달 비중도 </a:t>
            </a:r>
            <a:r>
              <a:rPr lang="en-US" altLang="ko-KR" sz="1600" spc="-50" dirty="0"/>
              <a:t>41.0%</a:t>
            </a:r>
            <a:r>
              <a:rPr lang="ko-KR" altLang="en-US" sz="1600" spc="-50" dirty="0"/>
              <a:t>에 불과하다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지방정부는 재정운영에 필요한 재원의 </a:t>
            </a:r>
            <a:r>
              <a:rPr lang="en-US" altLang="ko-KR" sz="1600" spc="-50" dirty="0"/>
              <a:t>43.0%</a:t>
            </a:r>
            <a:r>
              <a:rPr lang="ko-KR" altLang="en-US" sz="1600" spc="-50" dirty="0"/>
              <a:t>를 중앙정부나 상위 지방정부가 지방교부세나 보조금의 형태로 제공하는 지원에 의존하고 있는 실정이다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이처럼 지방정부가 재정적으로 지방정부에 의존하는 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독자적인 사업을 운영하는데 제약을 받을 수 밖에 없다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지방교부세의 형태로 재정보조를 해줄 때는 아무런 조건을 달지 않고 지원을 해주는 것이 원칙이나 실제로는 중앙정부의 입김이 어떤 형태로든 작용하는 경우가 많다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5137FF-3351-7231-616F-8EC8E10BBD3C}"/>
              </a:ext>
            </a:extLst>
          </p:cNvPr>
          <p:cNvSpPr txBox="1"/>
          <p:nvPr/>
        </p:nvSpPr>
        <p:spPr>
          <a:xfrm>
            <a:off x="4009868" y="3862273"/>
            <a:ext cx="35800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100" spc="-50" dirty="0"/>
              <a:t>&lt;</a:t>
            </a:r>
            <a:r>
              <a:rPr lang="ko-KR" altLang="en-US" sz="1100" spc="-50" dirty="0"/>
              <a:t>지방재정의 재원구성 </a:t>
            </a:r>
            <a:r>
              <a:rPr lang="en-US" altLang="ko-KR" sz="1100" spc="-50" dirty="0"/>
              <a:t>(2019</a:t>
            </a:r>
            <a:r>
              <a:rPr lang="ko-KR" altLang="en-US" sz="1100" spc="-50" dirty="0"/>
              <a:t>년</a:t>
            </a:r>
            <a:r>
              <a:rPr lang="en-US" altLang="ko-KR" sz="1100" spc="-50" dirty="0"/>
              <a:t>)&gt;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100806897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FD9B21-16B6-A643-7C51-DA3C56D07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지방재정의 구성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7393EF5-9151-A28E-9470-1B06C02E5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59</a:t>
            </a:fld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DC5BBDB-BCE5-56D0-1EC2-D68EBBC198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7609" y="3787373"/>
            <a:ext cx="4596782" cy="274953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4563F7F-80BB-AE35-D09E-5A888F216528}"/>
              </a:ext>
            </a:extLst>
          </p:cNvPr>
          <p:cNvSpPr txBox="1"/>
          <p:nvPr/>
        </p:nvSpPr>
        <p:spPr>
          <a:xfrm>
            <a:off x="4305960" y="3525763"/>
            <a:ext cx="35800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100" spc="-50" dirty="0"/>
              <a:t>&lt;</a:t>
            </a:r>
            <a:r>
              <a:rPr lang="ko-KR" altLang="en-US" sz="1100" spc="-50" dirty="0"/>
              <a:t>지방정부의 분야별 지출 비중 </a:t>
            </a:r>
            <a:r>
              <a:rPr lang="en-US" altLang="ko-KR" sz="1100" spc="-50" dirty="0"/>
              <a:t>(2019</a:t>
            </a:r>
            <a:r>
              <a:rPr lang="ko-KR" altLang="en-US" sz="1100" spc="-50" dirty="0"/>
              <a:t>년</a:t>
            </a:r>
            <a:r>
              <a:rPr lang="en-US" altLang="ko-KR" sz="1100" spc="-50" dirty="0"/>
              <a:t>)&gt;</a:t>
            </a:r>
            <a:endParaRPr lang="ko-KR" altLang="en-US" sz="11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5D1426B-9502-390D-71EE-AA71B4B2F27C}"/>
              </a:ext>
            </a:extLst>
          </p:cNvPr>
          <p:cNvSpPr txBox="1"/>
          <p:nvPr/>
        </p:nvSpPr>
        <p:spPr>
          <a:xfrm>
            <a:off x="288790" y="958844"/>
            <a:ext cx="11693660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 그림은 우리나라 지방정부가 분야별로 재원을 어떻게 사용했는지 보여준다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지방정부의 재정지출에서 가장 비중이 큰 것은 사회복지 관련 지출로 전체의 </a:t>
            </a:r>
            <a:r>
              <a:rPr lang="en-US" altLang="ko-KR" sz="1600" spc="-50" dirty="0"/>
              <a:t>29.8%</a:t>
            </a:r>
            <a:r>
              <a:rPr lang="ko-KR" altLang="en-US" sz="1600" spc="-50" dirty="0"/>
              <a:t>를 차지하고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사회적 수요가 커짐에 따라 사회복지와 관련한 지방정부의 재정지출은 지속적으로 증가하는 추세를 보이고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적절한 재원이 마련되지 않은 채 복지를 위한 재정지출만 증가하면 재정적으로 부담이 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사회복지 관련 지출에 이어 큰 비중을 차지하는 항목은 인력운영비와 환경보호 관련 지출로 각각 </a:t>
            </a:r>
            <a:r>
              <a:rPr lang="en-US" altLang="ko-KR" sz="1600" spc="-50" dirty="0"/>
              <a:t>12.5%, 10.1%</a:t>
            </a:r>
            <a:r>
              <a:rPr lang="ko-KR" altLang="en-US" sz="1600" spc="-50" dirty="0"/>
              <a:t> 의 비중을 차지하고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41618117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FA4883-9B9A-588B-EAE2-A625EB2D6E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지방재정의 구성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A2E316-59FE-3C1F-77B2-2F9377A4A0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60</a:t>
            </a:fld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AED3D6F-AD4E-80EA-1AC5-1E385C7711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8424" y="4634914"/>
            <a:ext cx="3180688" cy="1916894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0927BB8E-84A1-9016-B039-C337F6FD79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5637" y="4635842"/>
            <a:ext cx="3193410" cy="192113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370FB96-002B-F016-978B-00F56E65DB63}"/>
              </a:ext>
            </a:extLst>
          </p:cNvPr>
          <p:cNvSpPr txBox="1"/>
          <p:nvPr/>
        </p:nvSpPr>
        <p:spPr>
          <a:xfrm>
            <a:off x="288790" y="958844"/>
            <a:ext cx="11693660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우리나라는 지방자치제도가 정착되어 나가면서 지방정부의 역할이 커지고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전체 재정에서 중앙정부가 차지하는 비중은 지방정부에 비해 상당히 크다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아래 그림을 보면 </a:t>
            </a:r>
            <a:r>
              <a:rPr lang="en-US" altLang="ko-KR" sz="1600" spc="-50" dirty="0"/>
              <a:t>1990</a:t>
            </a:r>
            <a:r>
              <a:rPr lang="ko-KR" altLang="en-US" sz="1600" spc="-50" dirty="0"/>
              <a:t>년 이래로 중앙정부의 예산이 지방정부의 예산보다 줄곧 더 큰 규모로 유지되어 왔다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2019</a:t>
            </a:r>
            <a:r>
              <a:rPr lang="ko-KR" altLang="en-US" sz="1600" spc="-50" dirty="0"/>
              <a:t>년 전체에서 중앙정부가 차지하는 비중은 </a:t>
            </a:r>
            <a:r>
              <a:rPr lang="en-US" altLang="ko-KR" sz="1600" spc="-50" dirty="0"/>
              <a:t>59% </a:t>
            </a:r>
            <a:r>
              <a:rPr lang="ko-KR" altLang="en-US" sz="1600" spc="-50" dirty="0"/>
              <a:t>인 데 반해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지방정부는 </a:t>
            </a:r>
            <a:r>
              <a:rPr lang="en-US" altLang="ko-KR" sz="1600" spc="-50" dirty="0"/>
              <a:t>41%</a:t>
            </a:r>
            <a:r>
              <a:rPr lang="ko-KR" altLang="en-US" sz="1600" spc="-50" dirty="0"/>
              <a:t>에 불과하였다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조세수입 측면에서 보면 불균형은 한층 더 심하다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1990</a:t>
            </a:r>
            <a:r>
              <a:rPr lang="ko-KR" altLang="en-US" sz="1600" spc="-50" dirty="0"/>
              <a:t>년 이래 전체에서 지방정부가 거둬들이는 지방세 수입 비중이 </a:t>
            </a:r>
            <a:r>
              <a:rPr lang="en-US" altLang="ko-KR" sz="1600" spc="-50" dirty="0"/>
              <a:t>20%</a:t>
            </a:r>
            <a:r>
              <a:rPr lang="ko-KR" altLang="en-US" sz="1600" spc="-50" dirty="0"/>
              <a:t>수준을 크게 벗어나지 못하고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진정한 지방자치시대로 나아가기 위해서는 지방정부의 재정자립도를 높이기 위한 근본 대책이 마련되어야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충분한 지방세 수입을 확보해야 하는데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그러기 위해서는 지방세 세율을 높이거나 새로운 지방세 도입이 필요하다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다만 지역 간 경제력에 매우 큰 차이가 있어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지역간 빈익빈 부익부 현상이 심화될 가능성이 있다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7E252DF-71D5-E136-E05C-F80B968E8534}"/>
              </a:ext>
            </a:extLst>
          </p:cNvPr>
          <p:cNvSpPr txBox="1"/>
          <p:nvPr/>
        </p:nvSpPr>
        <p:spPr>
          <a:xfrm>
            <a:off x="3207385" y="4372238"/>
            <a:ext cx="133944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100" spc="-50" dirty="0"/>
              <a:t>&lt;</a:t>
            </a:r>
            <a:r>
              <a:rPr lang="ko-KR" altLang="en-US" sz="1100" spc="-50" dirty="0"/>
              <a:t>일반회계</a:t>
            </a:r>
            <a:r>
              <a:rPr lang="en-US" altLang="ko-KR" sz="1100" spc="-50" dirty="0"/>
              <a:t>(</a:t>
            </a:r>
            <a:r>
              <a:rPr lang="ko-KR" altLang="en-US" sz="1100" spc="-50" dirty="0" err="1"/>
              <a:t>순계</a:t>
            </a:r>
            <a:r>
              <a:rPr lang="en-US" altLang="ko-KR" sz="1100" spc="-50" dirty="0"/>
              <a:t>)&gt;</a:t>
            </a:r>
            <a:endParaRPr lang="ko-KR" altLang="en-US" sz="11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8C87CED-2DAD-44D6-949E-70799C22B4CC}"/>
              </a:ext>
            </a:extLst>
          </p:cNvPr>
          <p:cNvSpPr txBox="1"/>
          <p:nvPr/>
        </p:nvSpPr>
        <p:spPr>
          <a:xfrm>
            <a:off x="7791983" y="4372238"/>
            <a:ext cx="133944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100" spc="-50" dirty="0"/>
              <a:t>&lt;</a:t>
            </a:r>
            <a:r>
              <a:rPr lang="ko-KR" altLang="en-US" sz="1100" spc="-50" dirty="0"/>
              <a:t>조세수입</a:t>
            </a:r>
            <a:r>
              <a:rPr lang="en-US" altLang="ko-KR" sz="1100" spc="-50" dirty="0"/>
              <a:t>&gt;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144999791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0820D-FE08-14C8-9238-2CF4F17275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지방재정의 구성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9B5081-BE46-9929-DFD9-007405274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61</a:t>
            </a:fld>
            <a:endParaRPr lang="ko-KR" altLang="en-US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DB918C39-07D3-EA56-9065-D7FEC3890E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7021442"/>
              </p:ext>
            </p:extLst>
          </p:nvPr>
        </p:nvGraphicFramePr>
        <p:xfrm>
          <a:off x="2258493" y="3922669"/>
          <a:ext cx="3550884" cy="247196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87721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887721">
                  <a:extLst>
                    <a:ext uri="{9D8B030D-6E8A-4147-A177-3AD203B41FA5}">
                      <a16:colId xmlns:a16="http://schemas.microsoft.com/office/drawing/2014/main" val="3365092879"/>
                    </a:ext>
                  </a:extLst>
                </a:gridCol>
                <a:gridCol w="887721">
                  <a:extLst>
                    <a:ext uri="{9D8B030D-6E8A-4147-A177-3AD203B41FA5}">
                      <a16:colId xmlns:a16="http://schemas.microsoft.com/office/drawing/2014/main" val="4206849505"/>
                    </a:ext>
                  </a:extLst>
                </a:gridCol>
                <a:gridCol w="887721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40474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1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000" b="1" kern="0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특별시</a:t>
                      </a:r>
                      <a:endParaRPr lang="en-US" altLang="ko-KR" sz="1000" b="1" kern="0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ko-KR" altLang="en-US" sz="1000" b="1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광역시</a:t>
                      </a:r>
                      <a:endParaRPr lang="en-US" altLang="ko-KR" sz="1000" b="1" kern="0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ko-KR" altLang="en-US" sz="1000" b="1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특별자치시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자치구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1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군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서울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79.4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35.5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부산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49.2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36.5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대구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50.5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37.2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인천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59.8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광주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대전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46.0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울산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56.2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7568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세종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64.8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21348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214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평균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60.9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29.0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613D90CF-D40C-378B-8258-1129C7076B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7546285"/>
              </p:ext>
            </p:extLst>
          </p:nvPr>
        </p:nvGraphicFramePr>
        <p:xfrm>
          <a:off x="6352320" y="3922669"/>
          <a:ext cx="3550884" cy="2471035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87721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887721">
                  <a:extLst>
                    <a:ext uri="{9D8B030D-6E8A-4147-A177-3AD203B41FA5}">
                      <a16:colId xmlns:a16="http://schemas.microsoft.com/office/drawing/2014/main" val="3365092879"/>
                    </a:ext>
                  </a:extLst>
                </a:gridCol>
                <a:gridCol w="887721">
                  <a:extLst>
                    <a:ext uri="{9D8B030D-6E8A-4147-A177-3AD203B41FA5}">
                      <a16:colId xmlns:a16="http://schemas.microsoft.com/office/drawing/2014/main" val="4206849505"/>
                    </a:ext>
                  </a:extLst>
                </a:gridCol>
                <a:gridCol w="887721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489575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1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000" b="1" kern="0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도</a:t>
                      </a:r>
                      <a:endParaRPr lang="en-US" altLang="ko-KR" sz="1000" b="1" kern="0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ko-KR" altLang="en-US" sz="1000" b="1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특별자치도</a:t>
                      </a:r>
                      <a:endParaRPr lang="en-US" altLang="ko-KR" sz="1000" b="1" kern="0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시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1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군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경기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55.7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44.8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강원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충북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충남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36.3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29.5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전북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전남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경북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7568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경남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35.7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21348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제주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40.1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214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평균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39.4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33.5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A943D3C7-33C1-F6A1-6EF1-D58EF8B08CE5}"/>
              </a:ext>
            </a:extLst>
          </p:cNvPr>
          <p:cNvSpPr txBox="1"/>
          <p:nvPr/>
        </p:nvSpPr>
        <p:spPr>
          <a:xfrm>
            <a:off x="6750797" y="3577666"/>
            <a:ext cx="275393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시도별 재정자립도 현황 </a:t>
            </a:r>
            <a:r>
              <a:rPr lang="en-US" altLang="ko-KR" sz="1200" spc="-50" dirty="0"/>
              <a:t>(2019&gt;</a:t>
            </a:r>
            <a:endParaRPr lang="ko-KR" altLang="en-US" sz="1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E6325B6-F397-E631-5D64-04A4BD477F08}"/>
              </a:ext>
            </a:extLst>
          </p:cNvPr>
          <p:cNvSpPr txBox="1"/>
          <p:nvPr/>
        </p:nvSpPr>
        <p:spPr>
          <a:xfrm>
            <a:off x="2732470" y="3577666"/>
            <a:ext cx="275393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시도별 재정자립도 현황 </a:t>
            </a:r>
            <a:r>
              <a:rPr lang="en-US" altLang="ko-KR" sz="1200" spc="-50" dirty="0"/>
              <a:t>(2019&gt;</a:t>
            </a:r>
            <a:endParaRPr lang="ko-KR" altLang="en-US" sz="1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0ADB0B3-4E34-962C-EFFD-8FA7DF066296}"/>
              </a:ext>
            </a:extLst>
          </p:cNvPr>
          <p:cNvSpPr txBox="1"/>
          <p:nvPr/>
        </p:nvSpPr>
        <p:spPr>
          <a:xfrm>
            <a:off x="288790" y="958844"/>
            <a:ext cx="11693660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지역간 재정불균형의 정도는 지방정부의 전체 예산에서 자체재원이 얼마나 되는지를 측정한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재정자립도</a:t>
            </a:r>
            <a:r>
              <a:rPr lang="en-US" altLang="ko-KR" sz="1600" spc="-50" dirty="0"/>
              <a:t>’ </a:t>
            </a:r>
            <a:r>
              <a:rPr lang="ko-KR" altLang="en-US" sz="1600" spc="-50" dirty="0"/>
              <a:t>라는 지표를 통해 측정할 수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아래 표는 우리나라의 지역별 재정자립도 현황을 보여주고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특별시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광역시의 재정자립도가 평균적으로 도보다 높다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서울의 재정자립도는 </a:t>
            </a:r>
            <a:r>
              <a:rPr lang="en-US" altLang="ko-KR" sz="1600" spc="-50" dirty="0"/>
              <a:t>79.4%</a:t>
            </a:r>
            <a:r>
              <a:rPr lang="ko-KR" altLang="en-US" sz="1600" spc="-50" dirty="0"/>
              <a:t>인데 반해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전남의 재정자립도는 </a:t>
            </a:r>
            <a:r>
              <a:rPr lang="en-US" altLang="ko-KR" sz="1600" spc="-50" dirty="0"/>
              <a:t>26.5%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상위 지방자치단체에서 하위로 갈수록 재정자립도가 더 낮아진다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특별시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광역시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특별자치시의 재정자립도 평균은 </a:t>
            </a:r>
            <a:r>
              <a:rPr lang="en-US" altLang="ko-KR" sz="1600" spc="-50" dirty="0"/>
              <a:t>60.9%</a:t>
            </a:r>
            <a:r>
              <a:rPr lang="ko-KR" altLang="en-US" sz="1600" spc="-50" dirty="0"/>
              <a:t>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이들 자치구들의 평균은 </a:t>
            </a:r>
            <a:r>
              <a:rPr lang="en-US" altLang="ko-KR" sz="1600" spc="-50" dirty="0"/>
              <a:t>29%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258055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AB68AC-2CD6-B732-C2FE-FDBD6E8C48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지방세 체계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F513F8-E1DB-9C35-4AE1-F0180AE15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62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F90497-7C99-416C-2A40-8FD2AF4E5806}"/>
              </a:ext>
            </a:extLst>
          </p:cNvPr>
          <p:cNvSpPr txBox="1"/>
          <p:nvPr/>
        </p:nvSpPr>
        <p:spPr>
          <a:xfrm>
            <a:off x="288790" y="958844"/>
            <a:ext cx="11693660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2020</a:t>
            </a:r>
            <a:r>
              <a:rPr lang="ko-KR" altLang="en-US" sz="1600" spc="-50" dirty="0"/>
              <a:t>년 지방세 체계는 아래의 표와 같이 </a:t>
            </a:r>
            <a:r>
              <a:rPr lang="en-US" altLang="ko-KR" sz="1600" spc="-50" dirty="0"/>
              <a:t>11</a:t>
            </a:r>
            <a:r>
              <a:rPr lang="ko-KR" altLang="en-US" sz="1600" spc="-50" dirty="0"/>
              <a:t>가지의 지방세로 구성되어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지방세 징수 주체에 따라 도세와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시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군세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그리고 또 광역시세와 자치구세로 구분할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더 나아가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세수가 일반적인 세입인지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아니면 특정 용도로만 사용되는지에 따라 보통세와 목적세로 구분한다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40A4A95-EAA7-B4B6-05D7-9B87C6F1427F}"/>
              </a:ext>
            </a:extLst>
          </p:cNvPr>
          <p:cNvSpPr txBox="1"/>
          <p:nvPr/>
        </p:nvSpPr>
        <p:spPr>
          <a:xfrm>
            <a:off x="3009304" y="3260695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취득세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7196BD5-A50D-CAE3-32C5-06AE18CA3D33}"/>
              </a:ext>
            </a:extLst>
          </p:cNvPr>
          <p:cNvSpPr txBox="1"/>
          <p:nvPr/>
        </p:nvSpPr>
        <p:spPr>
          <a:xfrm>
            <a:off x="3009304" y="3511170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등록면허세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2AAA6C9-96BE-CDE0-19DF-747CE4CAE825}"/>
              </a:ext>
            </a:extLst>
          </p:cNvPr>
          <p:cNvSpPr txBox="1"/>
          <p:nvPr/>
        </p:nvSpPr>
        <p:spPr>
          <a:xfrm>
            <a:off x="3009304" y="3761645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레저세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1AB9BC3-7F33-84DA-38EF-138442B65355}"/>
              </a:ext>
            </a:extLst>
          </p:cNvPr>
          <p:cNvSpPr txBox="1"/>
          <p:nvPr/>
        </p:nvSpPr>
        <p:spPr>
          <a:xfrm>
            <a:off x="3009304" y="4012120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지방소비세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47A3054-05FA-544A-8323-DA62DCDCA049}"/>
              </a:ext>
            </a:extLst>
          </p:cNvPr>
          <p:cNvSpPr txBox="1"/>
          <p:nvPr/>
        </p:nvSpPr>
        <p:spPr>
          <a:xfrm>
            <a:off x="3009304" y="4262594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지역자원시설세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29909F9-10C6-6E1F-0887-86EA1142EBA3}"/>
              </a:ext>
            </a:extLst>
          </p:cNvPr>
          <p:cNvSpPr txBox="1"/>
          <p:nvPr/>
        </p:nvSpPr>
        <p:spPr>
          <a:xfrm>
            <a:off x="3009304" y="4513068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지방교육세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A91D563-5862-A70E-98D5-93C027999337}"/>
              </a:ext>
            </a:extLst>
          </p:cNvPr>
          <p:cNvSpPr txBox="1"/>
          <p:nvPr/>
        </p:nvSpPr>
        <p:spPr>
          <a:xfrm>
            <a:off x="3009304" y="4763543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주민세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BAF0C36-61F0-D7E0-8D46-BC5BA1EA501F}"/>
              </a:ext>
            </a:extLst>
          </p:cNvPr>
          <p:cNvSpPr txBox="1"/>
          <p:nvPr/>
        </p:nvSpPr>
        <p:spPr>
          <a:xfrm>
            <a:off x="3009304" y="5014018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재산세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C3AEDB5-FF5C-9E28-E7D1-489DCD46EE8C}"/>
              </a:ext>
            </a:extLst>
          </p:cNvPr>
          <p:cNvSpPr txBox="1"/>
          <p:nvPr/>
        </p:nvSpPr>
        <p:spPr>
          <a:xfrm>
            <a:off x="3009304" y="5264493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자동차세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50A9B0D-65D7-0D15-D0C7-E83BB088B467}"/>
              </a:ext>
            </a:extLst>
          </p:cNvPr>
          <p:cNvSpPr txBox="1"/>
          <p:nvPr/>
        </p:nvSpPr>
        <p:spPr>
          <a:xfrm>
            <a:off x="3009304" y="5514967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담배소비세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C7355C8-05D6-5EA2-D543-9A7DA11F278B}"/>
              </a:ext>
            </a:extLst>
          </p:cNvPr>
          <p:cNvSpPr txBox="1"/>
          <p:nvPr/>
        </p:nvSpPr>
        <p:spPr>
          <a:xfrm>
            <a:off x="3009304" y="5765441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지방소득세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7E8A242-A8AC-9524-6885-F530B4620490}"/>
              </a:ext>
            </a:extLst>
          </p:cNvPr>
          <p:cNvSpPr txBox="1"/>
          <p:nvPr/>
        </p:nvSpPr>
        <p:spPr>
          <a:xfrm>
            <a:off x="2098885" y="3454705"/>
            <a:ext cx="702139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보통세</a:t>
            </a:r>
          </a:p>
        </p:txBody>
      </p:sp>
      <p:sp>
        <p:nvSpPr>
          <p:cNvPr id="52" name="왼쪽 중괄호 51">
            <a:extLst>
              <a:ext uri="{FF2B5EF4-FFF2-40B4-BE49-F238E27FC236}">
                <a16:creationId xmlns:a16="http://schemas.microsoft.com/office/drawing/2014/main" id="{21168BD2-9B99-1A7A-9123-185FC1D2B4FA}"/>
              </a:ext>
            </a:extLst>
          </p:cNvPr>
          <p:cNvSpPr/>
          <p:nvPr/>
        </p:nvSpPr>
        <p:spPr>
          <a:xfrm>
            <a:off x="2802900" y="3376110"/>
            <a:ext cx="206404" cy="802905"/>
          </a:xfrm>
          <a:prstGeom prst="leftBrace">
            <a:avLst>
              <a:gd name="adj1" fmla="val 0"/>
              <a:gd name="adj2" fmla="val 24142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406A0DA-177E-90D2-1221-9323666F076C}"/>
              </a:ext>
            </a:extLst>
          </p:cNvPr>
          <p:cNvSpPr txBox="1"/>
          <p:nvPr/>
        </p:nvSpPr>
        <p:spPr>
          <a:xfrm>
            <a:off x="2098885" y="4378010"/>
            <a:ext cx="702139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목적세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E0D20EB-AB72-39E2-B5AB-EAB714CB5555}"/>
              </a:ext>
            </a:extLst>
          </p:cNvPr>
          <p:cNvSpPr txBox="1"/>
          <p:nvPr/>
        </p:nvSpPr>
        <p:spPr>
          <a:xfrm>
            <a:off x="2098885" y="5264493"/>
            <a:ext cx="702139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보통세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DC16A74-346E-7DE3-A10E-FD3BFAFEDC7E}"/>
              </a:ext>
            </a:extLst>
          </p:cNvPr>
          <p:cNvSpPr txBox="1"/>
          <p:nvPr/>
        </p:nvSpPr>
        <p:spPr>
          <a:xfrm>
            <a:off x="1195316" y="3810801"/>
            <a:ext cx="702139" cy="3693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도세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(6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개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)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685AEE2-D724-64A7-1A4B-C1BDE3CC6BE0}"/>
              </a:ext>
            </a:extLst>
          </p:cNvPr>
          <p:cNvSpPr txBox="1"/>
          <p:nvPr/>
        </p:nvSpPr>
        <p:spPr>
          <a:xfrm>
            <a:off x="283218" y="4462186"/>
            <a:ext cx="702139" cy="3693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지방세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900" dirty="0">
                <a:solidFill>
                  <a:prstClr val="black"/>
                </a:solidFill>
                <a:latin typeface="+mn-ea"/>
              </a:rPr>
              <a:t>(11</a:t>
            </a:r>
            <a:r>
              <a:rPr lang="ko-KR" altLang="en-US" sz="900" dirty="0">
                <a:solidFill>
                  <a:prstClr val="black"/>
                </a:solidFill>
                <a:latin typeface="+mn-ea"/>
              </a:rPr>
              <a:t>개</a:t>
            </a:r>
            <a:r>
              <a:rPr lang="en-US" altLang="ko-KR" sz="900" dirty="0">
                <a:solidFill>
                  <a:prstClr val="black"/>
                </a:solidFill>
                <a:latin typeface="+mn-ea"/>
              </a:rPr>
              <a:t>)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60" name="왼쪽 중괄호 59">
            <a:extLst>
              <a:ext uri="{FF2B5EF4-FFF2-40B4-BE49-F238E27FC236}">
                <a16:creationId xmlns:a16="http://schemas.microsoft.com/office/drawing/2014/main" id="{49331248-C34B-4BE0-DDE5-8C97F7095DA8}"/>
              </a:ext>
            </a:extLst>
          </p:cNvPr>
          <p:cNvSpPr/>
          <p:nvPr/>
        </p:nvSpPr>
        <p:spPr>
          <a:xfrm>
            <a:off x="2802900" y="4362091"/>
            <a:ext cx="206404" cy="286038"/>
          </a:xfrm>
          <a:prstGeom prst="leftBrace">
            <a:avLst>
              <a:gd name="adj1" fmla="val 0"/>
              <a:gd name="adj2" fmla="val 43567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왼쪽 중괄호 60">
            <a:extLst>
              <a:ext uri="{FF2B5EF4-FFF2-40B4-BE49-F238E27FC236}">
                <a16:creationId xmlns:a16="http://schemas.microsoft.com/office/drawing/2014/main" id="{9A7B4811-C9DF-F73D-8DAC-088A351770C2}"/>
              </a:ext>
            </a:extLst>
          </p:cNvPr>
          <p:cNvSpPr/>
          <p:nvPr/>
        </p:nvSpPr>
        <p:spPr>
          <a:xfrm>
            <a:off x="2802900" y="4863040"/>
            <a:ext cx="206404" cy="1021505"/>
          </a:xfrm>
          <a:prstGeom prst="leftBrace">
            <a:avLst>
              <a:gd name="adj1" fmla="val 0"/>
              <a:gd name="adj2" fmla="val 50251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왼쪽 중괄호 61">
            <a:extLst>
              <a:ext uri="{FF2B5EF4-FFF2-40B4-BE49-F238E27FC236}">
                <a16:creationId xmlns:a16="http://schemas.microsoft.com/office/drawing/2014/main" id="{A870EF76-2432-BC2D-AE4B-FBA323F9F99B}"/>
              </a:ext>
            </a:extLst>
          </p:cNvPr>
          <p:cNvSpPr/>
          <p:nvPr/>
        </p:nvSpPr>
        <p:spPr>
          <a:xfrm>
            <a:off x="1892481" y="3546961"/>
            <a:ext cx="206404" cy="966107"/>
          </a:xfrm>
          <a:prstGeom prst="leftBrace">
            <a:avLst>
              <a:gd name="adj1" fmla="val 0"/>
              <a:gd name="adj2" fmla="val 46818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29235CB-53B2-C7BB-7E9C-C86A9CC15900}"/>
              </a:ext>
            </a:extLst>
          </p:cNvPr>
          <p:cNvSpPr txBox="1"/>
          <p:nvPr/>
        </p:nvSpPr>
        <p:spPr>
          <a:xfrm>
            <a:off x="1195316" y="5195478"/>
            <a:ext cx="702139" cy="3693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시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·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군세 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(5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개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)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206C884C-CB14-2CC6-AD6F-173130802DBD}"/>
              </a:ext>
            </a:extLst>
          </p:cNvPr>
          <p:cNvCxnSpPr>
            <a:cxnSpLocks/>
            <a:stCxn id="63" idx="3"/>
            <a:endCxn id="54" idx="1"/>
          </p:cNvCxnSpPr>
          <p:nvPr/>
        </p:nvCxnSpPr>
        <p:spPr>
          <a:xfrm flipV="1">
            <a:off x="1897455" y="5379909"/>
            <a:ext cx="201430" cy="235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왼쪽 중괄호 67">
            <a:extLst>
              <a:ext uri="{FF2B5EF4-FFF2-40B4-BE49-F238E27FC236}">
                <a16:creationId xmlns:a16="http://schemas.microsoft.com/office/drawing/2014/main" id="{63748D88-C801-F583-E0F6-72D53A576E69}"/>
              </a:ext>
            </a:extLst>
          </p:cNvPr>
          <p:cNvSpPr/>
          <p:nvPr/>
        </p:nvSpPr>
        <p:spPr>
          <a:xfrm>
            <a:off x="986295" y="3999799"/>
            <a:ext cx="206404" cy="1380110"/>
          </a:xfrm>
          <a:prstGeom prst="leftBrace">
            <a:avLst>
              <a:gd name="adj1" fmla="val 0"/>
              <a:gd name="adj2" fmla="val 46818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B07F978-D918-A7E2-26C4-2C8BDFEC50B3}"/>
              </a:ext>
            </a:extLst>
          </p:cNvPr>
          <p:cNvSpPr txBox="1"/>
          <p:nvPr/>
        </p:nvSpPr>
        <p:spPr>
          <a:xfrm>
            <a:off x="8725548" y="3260695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취득세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C7BFABB-A51F-3C9A-5645-F60E75571C01}"/>
              </a:ext>
            </a:extLst>
          </p:cNvPr>
          <p:cNvSpPr txBox="1"/>
          <p:nvPr/>
        </p:nvSpPr>
        <p:spPr>
          <a:xfrm>
            <a:off x="8725548" y="3511170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레저세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5C369BE-CEF9-236D-C5EC-A15EB6239917}"/>
              </a:ext>
            </a:extLst>
          </p:cNvPr>
          <p:cNvSpPr txBox="1"/>
          <p:nvPr/>
        </p:nvSpPr>
        <p:spPr>
          <a:xfrm>
            <a:off x="8725548" y="3761645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담배소비세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937109F-27C7-F4F3-940A-99EDE964EEB1}"/>
              </a:ext>
            </a:extLst>
          </p:cNvPr>
          <p:cNvSpPr txBox="1"/>
          <p:nvPr/>
        </p:nvSpPr>
        <p:spPr>
          <a:xfrm>
            <a:off x="8725548" y="4012120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지방소비세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2508E75-4C75-4346-7533-F7D3E2DC687F}"/>
              </a:ext>
            </a:extLst>
          </p:cNvPr>
          <p:cNvSpPr txBox="1"/>
          <p:nvPr/>
        </p:nvSpPr>
        <p:spPr>
          <a:xfrm>
            <a:off x="8725548" y="4262594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주민세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798F867-A261-FCFA-4B7A-25264121B49F}"/>
              </a:ext>
            </a:extLst>
          </p:cNvPr>
          <p:cNvSpPr txBox="1"/>
          <p:nvPr/>
        </p:nvSpPr>
        <p:spPr>
          <a:xfrm>
            <a:off x="8725548" y="4513068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지방소득세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E57B5C89-55DE-66F0-ADA0-373F4F570BC4}"/>
              </a:ext>
            </a:extLst>
          </p:cNvPr>
          <p:cNvSpPr txBox="1"/>
          <p:nvPr/>
        </p:nvSpPr>
        <p:spPr>
          <a:xfrm>
            <a:off x="8725548" y="4763543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자동차세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A88838F-D8E0-C502-7F22-21895B722889}"/>
              </a:ext>
            </a:extLst>
          </p:cNvPr>
          <p:cNvSpPr txBox="1"/>
          <p:nvPr/>
        </p:nvSpPr>
        <p:spPr>
          <a:xfrm>
            <a:off x="8725548" y="5014018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지역자원시설세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AA3EE7E-1331-2465-9E77-FCC65E1CBD9D}"/>
              </a:ext>
            </a:extLst>
          </p:cNvPr>
          <p:cNvSpPr txBox="1"/>
          <p:nvPr/>
        </p:nvSpPr>
        <p:spPr>
          <a:xfrm>
            <a:off x="8725548" y="5264493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지방교육세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4D2C2E8-E078-C375-5AE9-9F230EDC6D6D}"/>
              </a:ext>
            </a:extLst>
          </p:cNvPr>
          <p:cNvSpPr txBox="1"/>
          <p:nvPr/>
        </p:nvSpPr>
        <p:spPr>
          <a:xfrm>
            <a:off x="8725548" y="5514967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등록면허세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924395A-655A-CA29-0675-25E42C9C1978}"/>
              </a:ext>
            </a:extLst>
          </p:cNvPr>
          <p:cNvSpPr txBox="1"/>
          <p:nvPr/>
        </p:nvSpPr>
        <p:spPr>
          <a:xfrm>
            <a:off x="8725548" y="5765441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재산세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BBD39BA7-1FE8-6B91-802D-897F3B1B9F99}"/>
              </a:ext>
            </a:extLst>
          </p:cNvPr>
          <p:cNvSpPr txBox="1"/>
          <p:nvPr/>
        </p:nvSpPr>
        <p:spPr>
          <a:xfrm>
            <a:off x="7815129" y="3454705"/>
            <a:ext cx="702139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보통세</a:t>
            </a:r>
          </a:p>
        </p:txBody>
      </p:sp>
      <p:sp>
        <p:nvSpPr>
          <p:cNvPr id="82" name="왼쪽 중괄호 81">
            <a:extLst>
              <a:ext uri="{FF2B5EF4-FFF2-40B4-BE49-F238E27FC236}">
                <a16:creationId xmlns:a16="http://schemas.microsoft.com/office/drawing/2014/main" id="{3D32521D-BCFB-71DA-B987-FFCFA5F95A20}"/>
              </a:ext>
            </a:extLst>
          </p:cNvPr>
          <p:cNvSpPr/>
          <p:nvPr/>
        </p:nvSpPr>
        <p:spPr>
          <a:xfrm>
            <a:off x="8519144" y="3376110"/>
            <a:ext cx="206404" cy="1499384"/>
          </a:xfrm>
          <a:prstGeom prst="leftBrace">
            <a:avLst>
              <a:gd name="adj1" fmla="val 0"/>
              <a:gd name="adj2" fmla="val 12990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7A4AEB4B-C82F-19BB-ACA6-35FCB62AEDA8}"/>
              </a:ext>
            </a:extLst>
          </p:cNvPr>
          <p:cNvSpPr txBox="1"/>
          <p:nvPr/>
        </p:nvSpPr>
        <p:spPr>
          <a:xfrm>
            <a:off x="7815129" y="5146360"/>
            <a:ext cx="702139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목적세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7FCCDEB3-3FCF-92EE-68F0-5D05BCEB2D57}"/>
              </a:ext>
            </a:extLst>
          </p:cNvPr>
          <p:cNvSpPr txBox="1"/>
          <p:nvPr/>
        </p:nvSpPr>
        <p:spPr>
          <a:xfrm>
            <a:off x="7815129" y="5643376"/>
            <a:ext cx="702139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보통세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79E7A9A8-D64C-76DC-C1E2-12A9FBFC2F91}"/>
              </a:ext>
            </a:extLst>
          </p:cNvPr>
          <p:cNvSpPr txBox="1"/>
          <p:nvPr/>
        </p:nvSpPr>
        <p:spPr>
          <a:xfrm>
            <a:off x="6909443" y="3810801"/>
            <a:ext cx="702139" cy="3693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광역시세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(9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개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)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87" name="왼쪽 중괄호 86">
            <a:extLst>
              <a:ext uri="{FF2B5EF4-FFF2-40B4-BE49-F238E27FC236}">
                <a16:creationId xmlns:a16="http://schemas.microsoft.com/office/drawing/2014/main" id="{6359183B-426A-3459-2E38-267FA01EDD78}"/>
              </a:ext>
            </a:extLst>
          </p:cNvPr>
          <p:cNvSpPr/>
          <p:nvPr/>
        </p:nvSpPr>
        <p:spPr>
          <a:xfrm>
            <a:off x="8519144" y="5130441"/>
            <a:ext cx="206404" cy="268811"/>
          </a:xfrm>
          <a:prstGeom prst="leftBrace">
            <a:avLst>
              <a:gd name="adj1" fmla="val 0"/>
              <a:gd name="adj2" fmla="val 50654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왼쪽 중괄호 88">
            <a:extLst>
              <a:ext uri="{FF2B5EF4-FFF2-40B4-BE49-F238E27FC236}">
                <a16:creationId xmlns:a16="http://schemas.microsoft.com/office/drawing/2014/main" id="{91DE40EB-DA21-C8D9-2DEA-D3587618E7B1}"/>
              </a:ext>
            </a:extLst>
          </p:cNvPr>
          <p:cNvSpPr/>
          <p:nvPr/>
        </p:nvSpPr>
        <p:spPr>
          <a:xfrm>
            <a:off x="7608725" y="3563897"/>
            <a:ext cx="206404" cy="1699594"/>
          </a:xfrm>
          <a:prstGeom prst="leftBrace">
            <a:avLst>
              <a:gd name="adj1" fmla="val 0"/>
              <a:gd name="adj2" fmla="val 25522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AFC98A4-314D-2A91-308E-9214FC4E2DDF}"/>
              </a:ext>
            </a:extLst>
          </p:cNvPr>
          <p:cNvSpPr txBox="1"/>
          <p:nvPr/>
        </p:nvSpPr>
        <p:spPr>
          <a:xfrm>
            <a:off x="6909443" y="5574361"/>
            <a:ext cx="702139" cy="3693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자치구세 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(2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개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)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cxnSp>
        <p:nvCxnSpPr>
          <p:cNvPr id="91" name="직선 연결선 90">
            <a:extLst>
              <a:ext uri="{FF2B5EF4-FFF2-40B4-BE49-F238E27FC236}">
                <a16:creationId xmlns:a16="http://schemas.microsoft.com/office/drawing/2014/main" id="{50696374-FD04-A479-ABFE-EF64BEA5CDB7}"/>
              </a:ext>
            </a:extLst>
          </p:cNvPr>
          <p:cNvCxnSpPr>
            <a:cxnSpLocks/>
            <a:stCxn id="90" idx="3"/>
            <a:endCxn id="84" idx="1"/>
          </p:cNvCxnSpPr>
          <p:nvPr/>
        </p:nvCxnSpPr>
        <p:spPr>
          <a:xfrm flipV="1">
            <a:off x="7611582" y="5758792"/>
            <a:ext cx="203547" cy="235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왼쪽 중괄호 91">
            <a:extLst>
              <a:ext uri="{FF2B5EF4-FFF2-40B4-BE49-F238E27FC236}">
                <a16:creationId xmlns:a16="http://schemas.microsoft.com/office/drawing/2014/main" id="{081074D2-3CD9-D319-B019-29561300D12B}"/>
              </a:ext>
            </a:extLst>
          </p:cNvPr>
          <p:cNvSpPr/>
          <p:nvPr/>
        </p:nvSpPr>
        <p:spPr>
          <a:xfrm>
            <a:off x="6702539" y="3999798"/>
            <a:ext cx="206404" cy="1758993"/>
          </a:xfrm>
          <a:prstGeom prst="leftBrace">
            <a:avLst>
              <a:gd name="adj1" fmla="val 0"/>
              <a:gd name="adj2" fmla="val 36421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왼쪽 중괄호 92">
            <a:extLst>
              <a:ext uri="{FF2B5EF4-FFF2-40B4-BE49-F238E27FC236}">
                <a16:creationId xmlns:a16="http://schemas.microsoft.com/office/drawing/2014/main" id="{E9737CBA-9454-9DC1-1607-BA1D72784711}"/>
              </a:ext>
            </a:extLst>
          </p:cNvPr>
          <p:cNvSpPr/>
          <p:nvPr/>
        </p:nvSpPr>
        <p:spPr>
          <a:xfrm>
            <a:off x="8519144" y="5630383"/>
            <a:ext cx="206404" cy="250175"/>
          </a:xfrm>
          <a:prstGeom prst="leftBrace">
            <a:avLst>
              <a:gd name="adj1" fmla="val 0"/>
              <a:gd name="adj2" fmla="val 50251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F5698BD8-93EA-74C9-C03F-359EFAA5B414}"/>
              </a:ext>
            </a:extLst>
          </p:cNvPr>
          <p:cNvSpPr txBox="1"/>
          <p:nvPr/>
        </p:nvSpPr>
        <p:spPr>
          <a:xfrm>
            <a:off x="4051811" y="2732695"/>
            <a:ext cx="275393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현행 지방세 체계 </a:t>
            </a:r>
            <a:r>
              <a:rPr lang="en-US" altLang="ko-KR" sz="1200" spc="-50" dirty="0"/>
              <a:t>(2020</a:t>
            </a:r>
            <a:r>
              <a:rPr lang="ko-KR" altLang="en-US" sz="1200" spc="-50" dirty="0"/>
              <a:t>년</a:t>
            </a:r>
            <a:r>
              <a:rPr lang="en-US" altLang="ko-KR" sz="1200" spc="-50" dirty="0"/>
              <a:t>)&gt;</a:t>
            </a:r>
            <a:endParaRPr lang="ko-KR" altLang="en-US" sz="1200" dirty="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910D30F4-F54B-6987-E5A9-44D8678A60ED}"/>
              </a:ext>
            </a:extLst>
          </p:cNvPr>
          <p:cNvSpPr txBox="1"/>
          <p:nvPr/>
        </p:nvSpPr>
        <p:spPr>
          <a:xfrm>
            <a:off x="6001247" y="4462186"/>
            <a:ext cx="702139" cy="3693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지방세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900" dirty="0">
                <a:solidFill>
                  <a:prstClr val="black"/>
                </a:solidFill>
                <a:latin typeface="+mn-ea"/>
              </a:rPr>
              <a:t>(11</a:t>
            </a:r>
            <a:r>
              <a:rPr lang="ko-KR" altLang="en-US" sz="900" dirty="0">
                <a:solidFill>
                  <a:prstClr val="black"/>
                </a:solidFill>
                <a:latin typeface="+mn-ea"/>
              </a:rPr>
              <a:t>개</a:t>
            </a:r>
            <a:r>
              <a:rPr lang="en-US" altLang="ko-KR" sz="900" dirty="0">
                <a:solidFill>
                  <a:prstClr val="black"/>
                </a:solidFill>
                <a:latin typeface="+mn-ea"/>
              </a:rPr>
              <a:t>)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95905553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0D6765-AD75-D0AA-7E89-9AF17DADA8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지방세 체계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47D615A-0676-29EC-3183-87E8A101D1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63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A804746-9001-0706-654B-67BEBED7DE4A}"/>
              </a:ext>
            </a:extLst>
          </p:cNvPr>
          <p:cNvSpPr txBox="1"/>
          <p:nvPr/>
        </p:nvSpPr>
        <p:spPr>
          <a:xfrm>
            <a:off x="288790" y="958844"/>
            <a:ext cx="11693660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 그림은 </a:t>
            </a:r>
            <a:r>
              <a:rPr lang="en-US" altLang="ko-KR" sz="1600" spc="-50" dirty="0"/>
              <a:t>2020</a:t>
            </a:r>
            <a:r>
              <a:rPr lang="ko-KR" altLang="en-US" sz="1600" spc="-50" dirty="0"/>
              <a:t>년도 우리나라 지방세 수입의 구성비율을 보여주고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지방세 중 가장 많은 수입을 올리고 있는 것은 부동산이나 자동차 등의 자산을 </a:t>
            </a:r>
            <a:r>
              <a:rPr lang="ko-KR" altLang="en-US" sz="1600" spc="-50" dirty="0" err="1"/>
              <a:t>취득할때</a:t>
            </a:r>
            <a:r>
              <a:rPr lang="ko-KR" altLang="en-US" sz="1600" spc="-50" dirty="0"/>
              <a:t> 부과하는 취득세로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전체 지방세 수입의 </a:t>
            </a:r>
            <a:r>
              <a:rPr lang="en-US" altLang="ko-KR" sz="1600" spc="-50" dirty="0"/>
              <a:t>24.5%</a:t>
            </a:r>
            <a:r>
              <a:rPr lang="ko-KR" altLang="en-US" sz="1600" spc="-50" dirty="0"/>
              <a:t>에 이르는 비중을 차지하였다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 다음으로는 </a:t>
            </a:r>
            <a:r>
              <a:rPr lang="ko-KR" altLang="en-US" sz="1600" spc="-50" dirty="0" err="1"/>
              <a:t>지방소비세인데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전체 지방세수 중 </a:t>
            </a:r>
            <a:r>
              <a:rPr lang="en-US" altLang="ko-KR" sz="1600" spc="-50" dirty="0"/>
              <a:t>17.7%</a:t>
            </a:r>
            <a:r>
              <a:rPr lang="ko-KR" altLang="en-US" sz="1600" spc="-50" dirty="0"/>
              <a:t>를 차지하고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그리고 국세인 소득세나 법인세와 별개로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개인이나 법인의 소득에 부과되는 지방소득세가 </a:t>
            </a:r>
            <a:r>
              <a:rPr lang="en-US" altLang="ko-KR" sz="1600" spc="-50" dirty="0"/>
              <a:t>16.6%</a:t>
            </a:r>
            <a:r>
              <a:rPr lang="ko-KR" altLang="en-US" sz="1600" spc="-50" dirty="0"/>
              <a:t>의 비중을 차지하고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토지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선박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항공기 등의 자산에 대해 부과되는 재산세는 </a:t>
            </a:r>
            <a:r>
              <a:rPr lang="en-US" altLang="ko-KR" sz="1600" spc="-50" dirty="0"/>
              <a:t>14.1%</a:t>
            </a:r>
            <a:r>
              <a:rPr lang="ko-KR" altLang="en-US" sz="1600" spc="-50" dirty="0"/>
              <a:t>의 비중을 차지하고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 지방세 구조를 </a:t>
            </a:r>
            <a:r>
              <a:rPr lang="ko-KR" altLang="en-US" sz="1600" spc="-50" dirty="0" err="1"/>
              <a:t>다른나라들과</a:t>
            </a:r>
            <a:r>
              <a:rPr lang="ko-KR" altLang="en-US" sz="1600" spc="-50" dirty="0"/>
              <a:t> 비교해보면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재산과세의 비중이 높다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80" dirty="0"/>
              <a:t>우리나라처럼 지역간 경제 격차가 클 때</a:t>
            </a:r>
            <a:r>
              <a:rPr lang="en-US" altLang="ko-KR" sz="1600" spc="-80" dirty="0"/>
              <a:t>,</a:t>
            </a:r>
            <a:r>
              <a:rPr lang="ko-KR" altLang="en-US" sz="1600" spc="-80" dirty="0"/>
              <a:t> 재산과세의 비중이 높은 것은 지역간 재정불균형을 </a:t>
            </a:r>
            <a:r>
              <a:rPr lang="ko-KR" altLang="en-US" sz="1600" spc="-80" dirty="0" err="1"/>
              <a:t>심화시키는</a:t>
            </a:r>
            <a:r>
              <a:rPr lang="ko-KR" altLang="en-US" sz="1600" spc="-80" dirty="0"/>
              <a:t> 요인으로 작용한다</a:t>
            </a:r>
            <a:r>
              <a:rPr lang="en-US" altLang="ko-KR" sz="1600" spc="-8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30" dirty="0"/>
              <a:t>재산과세 중에서도 취득세 같은 거래단계에서의 과세가 재산세 같은 보유단계에서의 과세보다 더 큰 비중을 차지한다는 특징이 있다</a:t>
            </a:r>
            <a:r>
              <a:rPr lang="en-US" altLang="ko-KR" sz="1600" spc="-13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보유단계보다 거래단계에서의 과세 비중이 높은 것은 경제상황에 따라 큰 폭의 변화를 동반하여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조세수입의 안정성 측면에서 문제가 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3D7E299-911F-4119-9FA2-CFEEEC4580EA}"/>
              </a:ext>
            </a:extLst>
          </p:cNvPr>
          <p:cNvSpPr txBox="1"/>
          <p:nvPr/>
        </p:nvSpPr>
        <p:spPr>
          <a:xfrm>
            <a:off x="2217740" y="5640553"/>
            <a:ext cx="12903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 dirty="0"/>
              <a:t>지방세 수입 구성비율</a:t>
            </a:r>
            <a:endParaRPr lang="en-US" altLang="ko-KR" sz="900" spc="-50" dirty="0"/>
          </a:p>
          <a:p>
            <a:pPr algn="ctr"/>
            <a:r>
              <a:rPr lang="en-US" altLang="ko-KR" sz="900" spc="-50" dirty="0"/>
              <a:t>(2020</a:t>
            </a:r>
            <a:r>
              <a:rPr lang="ko-KR" altLang="en-US" sz="900" spc="-50" dirty="0"/>
              <a:t>년도 예산</a:t>
            </a:r>
            <a:r>
              <a:rPr lang="en-US" altLang="ko-KR" sz="900" spc="-50" dirty="0"/>
              <a:t>)</a:t>
            </a:r>
            <a:endParaRPr lang="ko-KR" altLang="en-US" sz="90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15EFE439-F2EA-0E9E-873E-BE8B71B032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41" t="35360" r="453" b="26545"/>
          <a:stretch>
            <a:fillRect/>
          </a:stretch>
        </p:blipFill>
        <p:spPr>
          <a:xfrm>
            <a:off x="3598863" y="5516000"/>
            <a:ext cx="4994275" cy="58911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998B3C7-36F7-2348-213C-ACD0C7532FB7}"/>
              </a:ext>
            </a:extLst>
          </p:cNvPr>
          <p:cNvSpPr txBox="1"/>
          <p:nvPr/>
        </p:nvSpPr>
        <p:spPr>
          <a:xfrm>
            <a:off x="3908743" y="5342341"/>
            <a:ext cx="56705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/>
              <a:t>취득세</a:t>
            </a:r>
            <a:endParaRPr lang="ko-KR" altLang="en-US" sz="9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CF30C2-5837-BE0D-CD40-19467DE299E5}"/>
              </a:ext>
            </a:extLst>
          </p:cNvPr>
          <p:cNvSpPr txBox="1"/>
          <p:nvPr/>
        </p:nvSpPr>
        <p:spPr>
          <a:xfrm>
            <a:off x="4883787" y="5342341"/>
            <a:ext cx="74866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/>
              <a:t>지방소비세</a:t>
            </a:r>
            <a:endParaRPr lang="ko-KR" altLang="en-US" sz="9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7EFA42F-2641-58D5-7E98-3B1517464755}"/>
              </a:ext>
            </a:extLst>
          </p:cNvPr>
          <p:cNvSpPr txBox="1"/>
          <p:nvPr/>
        </p:nvSpPr>
        <p:spPr>
          <a:xfrm>
            <a:off x="5721669" y="5342341"/>
            <a:ext cx="74866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/>
              <a:t>지방소득세</a:t>
            </a:r>
            <a:endParaRPr lang="ko-KR" altLang="en-US" sz="9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DAD2AF5-06EA-29B2-0B3A-CEA3AC2B8F77}"/>
              </a:ext>
            </a:extLst>
          </p:cNvPr>
          <p:cNvSpPr txBox="1"/>
          <p:nvPr/>
        </p:nvSpPr>
        <p:spPr>
          <a:xfrm>
            <a:off x="6470331" y="5342341"/>
            <a:ext cx="74866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/>
              <a:t>재산세</a:t>
            </a:r>
            <a:endParaRPr lang="ko-KR" altLang="en-US" sz="9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FAC3DE3-39F8-06EC-E8FB-34A4C474A969}"/>
              </a:ext>
            </a:extLst>
          </p:cNvPr>
          <p:cNvSpPr txBox="1"/>
          <p:nvPr/>
        </p:nvSpPr>
        <p:spPr>
          <a:xfrm>
            <a:off x="7071044" y="5205181"/>
            <a:ext cx="7486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 dirty="0"/>
              <a:t>자동차</a:t>
            </a:r>
            <a:endParaRPr lang="en-US" altLang="ko-KR" sz="900" spc="-50" dirty="0"/>
          </a:p>
          <a:p>
            <a:pPr algn="ctr"/>
            <a:r>
              <a:rPr lang="ko-KR" altLang="en-US" sz="900" spc="-50" dirty="0"/>
              <a:t>세</a:t>
            </a:r>
            <a:endParaRPr lang="ko-KR" altLang="en-US" sz="9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ECB07CD-E4DE-9E7B-BA10-EA8D8CA11BC0}"/>
              </a:ext>
            </a:extLst>
          </p:cNvPr>
          <p:cNvSpPr txBox="1"/>
          <p:nvPr/>
        </p:nvSpPr>
        <p:spPr>
          <a:xfrm>
            <a:off x="7440321" y="5210261"/>
            <a:ext cx="7486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 dirty="0"/>
              <a:t>지방</a:t>
            </a:r>
            <a:endParaRPr lang="en-US" altLang="ko-KR" sz="900" spc="-50" dirty="0"/>
          </a:p>
          <a:p>
            <a:pPr algn="ctr"/>
            <a:r>
              <a:rPr lang="ko-KR" altLang="en-US" sz="900" spc="-50" dirty="0"/>
              <a:t>교육세</a:t>
            </a:r>
            <a:endParaRPr lang="ko-KR" altLang="en-US" sz="9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6750A51-1E95-C958-E255-6C5A5EBE8810}"/>
              </a:ext>
            </a:extLst>
          </p:cNvPr>
          <p:cNvSpPr txBox="1"/>
          <p:nvPr/>
        </p:nvSpPr>
        <p:spPr>
          <a:xfrm>
            <a:off x="7719723" y="4987013"/>
            <a:ext cx="74866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 dirty="0"/>
              <a:t>담배소비세</a:t>
            </a:r>
            <a:endParaRPr lang="ko-KR" altLang="en-US" sz="9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641A2D3-1961-E852-CE9E-D8F64FFFA9D4}"/>
              </a:ext>
            </a:extLst>
          </p:cNvPr>
          <p:cNvSpPr txBox="1"/>
          <p:nvPr/>
        </p:nvSpPr>
        <p:spPr>
          <a:xfrm>
            <a:off x="7865136" y="6118919"/>
            <a:ext cx="74866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 dirty="0"/>
              <a:t>주민세</a:t>
            </a:r>
            <a:endParaRPr lang="ko-KR" altLang="en-US" sz="9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44D2000-801F-FA08-C530-FC0A726831F0}"/>
              </a:ext>
            </a:extLst>
          </p:cNvPr>
          <p:cNvSpPr txBox="1"/>
          <p:nvPr/>
        </p:nvSpPr>
        <p:spPr>
          <a:xfrm>
            <a:off x="8216269" y="5281513"/>
            <a:ext cx="4336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 dirty="0"/>
              <a:t>기타</a:t>
            </a:r>
            <a:endParaRPr lang="ko-KR" altLang="en-US" sz="900" dirty="0"/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4A76FE13-ABE1-AD7B-7365-D35C87233CEF}"/>
              </a:ext>
            </a:extLst>
          </p:cNvPr>
          <p:cNvCxnSpPr>
            <a:cxnSpLocks/>
          </p:cNvCxnSpPr>
          <p:nvPr/>
        </p:nvCxnSpPr>
        <p:spPr>
          <a:xfrm>
            <a:off x="8095004" y="5205181"/>
            <a:ext cx="0" cy="338368"/>
          </a:xfrm>
          <a:prstGeom prst="line">
            <a:avLst/>
          </a:prstGeom>
          <a:ln w="317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73185FF3-0C39-C4C5-067D-C7F40FDA1C0F}"/>
              </a:ext>
            </a:extLst>
          </p:cNvPr>
          <p:cNvCxnSpPr>
            <a:cxnSpLocks/>
          </p:cNvCxnSpPr>
          <p:nvPr/>
        </p:nvCxnSpPr>
        <p:spPr>
          <a:xfrm>
            <a:off x="8239467" y="6095951"/>
            <a:ext cx="0" cy="72000"/>
          </a:xfrm>
          <a:prstGeom prst="line">
            <a:avLst/>
          </a:prstGeom>
          <a:ln w="317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044FFB28-13F2-47B8-CCE5-9F46865513DD}"/>
              </a:ext>
            </a:extLst>
          </p:cNvPr>
          <p:cNvCxnSpPr>
            <a:cxnSpLocks/>
          </p:cNvCxnSpPr>
          <p:nvPr/>
        </p:nvCxnSpPr>
        <p:spPr>
          <a:xfrm>
            <a:off x="8439469" y="5469441"/>
            <a:ext cx="0" cy="72000"/>
          </a:xfrm>
          <a:prstGeom prst="line">
            <a:avLst/>
          </a:prstGeom>
          <a:ln w="317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053925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21EDDE-B308-8FA7-8116-DAD482D86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96FF0BD-25A1-7840-4B63-B2ECDF7CFA5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CA03F291-495C-4A31-DF0A-8F9CC9767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FC0B50-C677-27B7-56F6-14F7BF9A7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9391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8733</TotalTime>
  <Words>7979</Words>
  <Application>Microsoft Office PowerPoint</Application>
  <PresentationFormat>와이드스크린</PresentationFormat>
  <Paragraphs>1311</Paragraphs>
  <Slides>64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64</vt:i4>
      </vt:variant>
    </vt:vector>
  </HeadingPairs>
  <TitlesOfParts>
    <vt:vector size="70" baseType="lpstr">
      <vt:lpstr>HY헤드라인M</vt:lpstr>
      <vt:lpstr>KoPub돋움체 Light</vt:lpstr>
      <vt:lpstr>맑은 고딕</vt:lpstr>
      <vt:lpstr>Arial</vt:lpstr>
      <vt:lpstr>Wingdings</vt:lpstr>
      <vt:lpstr>Office 테마</vt:lpstr>
      <vt:lpstr>자원·에너지 경제학</vt:lpstr>
      <vt:lpstr>Chapter 2  석유 시장</vt:lpstr>
      <vt:lpstr>Section 1. 개 론</vt:lpstr>
      <vt:lpstr>서론</vt:lpstr>
      <vt:lpstr>Section 2. 석유산업의 역사 </vt:lpstr>
      <vt:lpstr>석유산업의 역사</vt:lpstr>
      <vt:lpstr>석유산업의 역사</vt:lpstr>
      <vt:lpstr>석유산업의 역사</vt:lpstr>
      <vt:lpstr>석유산업의 역사</vt:lpstr>
      <vt:lpstr>석유산업의 역사</vt:lpstr>
      <vt:lpstr>석유산업의 역사</vt:lpstr>
      <vt:lpstr>석유산업의 역사</vt:lpstr>
      <vt:lpstr>석유산업의 역사</vt:lpstr>
      <vt:lpstr>석유산업의 역사</vt:lpstr>
      <vt:lpstr>석유산업의 역사</vt:lpstr>
      <vt:lpstr>석유산업의 역사</vt:lpstr>
      <vt:lpstr>석유산업의 역사</vt:lpstr>
      <vt:lpstr>Section 3. 석유의 수직적 가치사슬</vt:lpstr>
      <vt:lpstr>석유의 수직적 가치사슬</vt:lpstr>
      <vt:lpstr>석유의 수직적 가치사슬</vt:lpstr>
      <vt:lpstr>석유의 수직적 가치사슬</vt:lpstr>
      <vt:lpstr>Section 4. 석유의 생산과 소비</vt:lpstr>
      <vt:lpstr>석유의 생산과 소비</vt:lpstr>
      <vt:lpstr>석유의 생산과 소비</vt:lpstr>
      <vt:lpstr>석유의 생산과 소비</vt:lpstr>
      <vt:lpstr>석유매장량</vt:lpstr>
      <vt:lpstr>석유생산</vt:lpstr>
      <vt:lpstr>석유생산</vt:lpstr>
      <vt:lpstr>석유생산</vt:lpstr>
      <vt:lpstr>석유 생산</vt:lpstr>
      <vt:lpstr>Thank you</vt:lpstr>
      <vt:lpstr>중앙정부의 재정</vt:lpstr>
      <vt:lpstr>정부 예산편성 과정</vt:lpstr>
      <vt:lpstr>중앙정부의 재정규모</vt:lpstr>
      <vt:lpstr>일반회계</vt:lpstr>
      <vt:lpstr>일반회계</vt:lpstr>
      <vt:lpstr>일반회계</vt:lpstr>
      <vt:lpstr>일반회계</vt:lpstr>
      <vt:lpstr>특별회계</vt:lpstr>
      <vt:lpstr>기금</vt:lpstr>
      <vt:lpstr>Section 2. 정부지출의 수준과 구성</vt:lpstr>
      <vt:lpstr>지출수준</vt:lpstr>
      <vt:lpstr>지출수준</vt:lpstr>
      <vt:lpstr>OECD 사회복지지출 통계 기준에 따른 주요국가 비교</vt:lpstr>
      <vt:lpstr>지출의 구성</vt:lpstr>
      <vt:lpstr>Section 3. 조세제도</vt:lpstr>
      <vt:lpstr>조세부담률</vt:lpstr>
      <vt:lpstr>소득과세</vt:lpstr>
      <vt:lpstr>중앙정부의 조세수입 내역</vt:lpstr>
      <vt:lpstr>소득과세</vt:lpstr>
      <vt:lpstr>소비과세</vt:lpstr>
      <vt:lpstr>소비과세</vt:lpstr>
      <vt:lpstr>재산과세</vt:lpstr>
      <vt:lpstr>재산과세</vt:lpstr>
      <vt:lpstr>Section 4. 지방재정</vt:lpstr>
      <vt:lpstr>재방재정의 구성</vt:lpstr>
      <vt:lpstr>재방재정의 구성</vt:lpstr>
      <vt:lpstr>재방재정의 구성</vt:lpstr>
      <vt:lpstr>지방재정의 구성</vt:lpstr>
      <vt:lpstr>지방재정의 구성</vt:lpstr>
      <vt:lpstr>지방재정의 구성</vt:lpstr>
      <vt:lpstr>지방세 체계</vt:lpstr>
      <vt:lpstr>지방세 체계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260</cp:revision>
  <dcterms:created xsi:type="dcterms:W3CDTF">2025-07-05T05:15:23Z</dcterms:created>
  <dcterms:modified xsi:type="dcterms:W3CDTF">2026-05-21T08:37:01Z</dcterms:modified>
</cp:coreProperties>
</file>