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0"/>
  </p:notesMasterIdLst>
  <p:sldIdLst>
    <p:sldId id="375" r:id="rId2"/>
    <p:sldId id="405" r:id="rId3"/>
    <p:sldId id="550" r:id="rId4"/>
    <p:sldId id="553" r:id="rId5"/>
    <p:sldId id="555" r:id="rId6"/>
    <p:sldId id="557" r:id="rId7"/>
    <p:sldId id="558" r:id="rId8"/>
    <p:sldId id="632" r:id="rId9"/>
    <p:sldId id="631" r:id="rId10"/>
    <p:sldId id="559" r:id="rId11"/>
    <p:sldId id="633" r:id="rId12"/>
    <p:sldId id="638" r:id="rId13"/>
    <p:sldId id="639" r:id="rId14"/>
    <p:sldId id="643" r:id="rId15"/>
    <p:sldId id="642" r:id="rId16"/>
    <p:sldId id="644" r:id="rId17"/>
    <p:sldId id="646" r:id="rId18"/>
    <p:sldId id="645" r:id="rId19"/>
    <p:sldId id="650" r:id="rId20"/>
    <p:sldId id="651" r:id="rId21"/>
    <p:sldId id="648" r:id="rId22"/>
    <p:sldId id="554" r:id="rId23"/>
    <p:sldId id="674" r:id="rId24"/>
    <p:sldId id="675" r:id="rId25"/>
    <p:sldId id="676" r:id="rId26"/>
    <p:sldId id="634" r:id="rId27"/>
    <p:sldId id="654" r:id="rId28"/>
    <p:sldId id="677" r:id="rId29"/>
    <p:sldId id="679" r:id="rId30"/>
    <p:sldId id="653" r:id="rId31"/>
    <p:sldId id="655" r:id="rId32"/>
    <p:sldId id="656" r:id="rId33"/>
    <p:sldId id="657" r:id="rId34"/>
    <p:sldId id="658" r:id="rId35"/>
    <p:sldId id="659" r:id="rId36"/>
    <p:sldId id="661" r:id="rId37"/>
    <p:sldId id="662" r:id="rId38"/>
    <p:sldId id="663" r:id="rId39"/>
    <p:sldId id="665" r:id="rId40"/>
    <p:sldId id="664" r:id="rId41"/>
    <p:sldId id="667" r:id="rId42"/>
    <p:sldId id="668" r:id="rId43"/>
    <p:sldId id="669" r:id="rId44"/>
    <p:sldId id="670" r:id="rId45"/>
    <p:sldId id="671" r:id="rId46"/>
    <p:sldId id="672" r:id="rId47"/>
    <p:sldId id="673" r:id="rId48"/>
    <p:sldId id="364" r:id="rId4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885" autoAdjust="0"/>
  </p:normalViewPr>
  <p:slideViewPr>
    <p:cSldViewPr snapToGrid="0">
      <p:cViewPr varScale="1">
        <p:scale>
          <a:sx n="81" d="100"/>
          <a:sy n="81" d="100"/>
        </p:scale>
        <p:origin x="80" y="15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04:53:28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66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online.kepco.co.kr/MYM043D0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2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에너지 개론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9493-3237-2060-E05C-530AD074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C7A22-C443-A102-E0E1-84852DA4B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Energy </a:t>
            </a:r>
            <a:r>
              <a:rPr lang="ko-KR" altLang="en-US" dirty="0"/>
              <a:t>어원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628BB4-220F-FFBE-B592-D8DC1F4E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93383-2897-A54A-2C79-6228A995A1E3}"/>
              </a:ext>
            </a:extLst>
          </p:cNvPr>
          <p:cNvSpPr txBox="1"/>
          <p:nvPr/>
        </p:nvSpPr>
        <p:spPr>
          <a:xfrm>
            <a:off x="288790" y="958844"/>
            <a:ext cx="11693660" cy="52958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energy </a:t>
            </a:r>
            <a:r>
              <a:rPr lang="ko-KR" altLang="en-US" sz="1600" spc="-50" dirty="0"/>
              <a:t>라는 단어는 고대 그리스어 </a:t>
            </a:r>
            <a:r>
              <a:rPr lang="en-US" altLang="ko-KR" sz="1600" i="1" spc="-50" dirty="0"/>
              <a:t>energeia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에서 유래하였다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energeia</a:t>
            </a:r>
            <a:r>
              <a:rPr lang="ko-KR" altLang="en-US" sz="1600" spc="-50" dirty="0"/>
              <a:t>는 활동</a:t>
            </a:r>
            <a:r>
              <a:rPr lang="en-US" altLang="ko-KR" sz="1600" spc="-50" dirty="0"/>
              <a:t>(activity), </a:t>
            </a:r>
            <a:r>
              <a:rPr lang="ko-KR" altLang="en-US" sz="1600" spc="-50" dirty="0"/>
              <a:t>작용</a:t>
            </a:r>
            <a:r>
              <a:rPr lang="en-US" altLang="ko-KR" sz="1600" spc="-50" dirty="0"/>
              <a:t>(operation) </a:t>
            </a:r>
            <a:r>
              <a:rPr lang="ko-KR" altLang="en-US" sz="1600" spc="-50" dirty="0"/>
              <a:t>등의 의미로 사용되었다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i="1" spc="-50" dirty="0"/>
              <a:t>energeia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의 어원에는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을 뜻하는 그리스어 </a:t>
            </a:r>
            <a:r>
              <a:rPr lang="en-US" altLang="ko-KR" sz="1600" i="1" spc="-50" dirty="0"/>
              <a:t>ergon</a:t>
            </a:r>
            <a:r>
              <a:rPr lang="ko-KR" altLang="en-US" sz="1600" spc="-50" dirty="0"/>
              <a:t>이 포함되어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i="1" spc="-50" dirty="0" err="1"/>
              <a:t>en</a:t>
            </a:r>
            <a:r>
              <a:rPr lang="en-US" altLang="ko-KR" sz="1600" spc="-50" dirty="0"/>
              <a:t> = -</a:t>
            </a:r>
            <a:r>
              <a:rPr lang="ko-KR" altLang="en-US" sz="1600" spc="-50" dirty="0"/>
              <a:t>안에</a:t>
            </a:r>
            <a:r>
              <a:rPr lang="en-US" altLang="ko-KR" sz="1600" spc="-50" dirty="0"/>
              <a:t>, -</a:t>
            </a:r>
            <a:r>
              <a:rPr lang="ko-KR" altLang="en-US" sz="1600" spc="-50" dirty="0"/>
              <a:t>내부에 </a:t>
            </a:r>
            <a:r>
              <a:rPr lang="en-US" altLang="ko-KR" sz="1600" spc="-50" dirty="0"/>
              <a:t>(in)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i="1" spc="-50" dirty="0"/>
              <a:t>ergon</a:t>
            </a:r>
            <a:r>
              <a:rPr lang="en-US" altLang="ko-KR" sz="1600" spc="-50" dirty="0"/>
              <a:t> = </a:t>
            </a:r>
            <a:r>
              <a:rPr lang="ko-KR" altLang="en-US" sz="1600" spc="-50" dirty="0"/>
              <a:t>일 </a:t>
            </a:r>
            <a:r>
              <a:rPr lang="en-US" altLang="ko-KR" sz="1600" spc="-50" dirty="0"/>
              <a:t>(work)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i="1" spc="-50" dirty="0" err="1"/>
              <a:t>ergeia</a:t>
            </a:r>
            <a:r>
              <a:rPr lang="ko-KR" altLang="en-US" sz="1600" spc="-50" dirty="0"/>
              <a:t>와 </a:t>
            </a:r>
            <a:r>
              <a:rPr lang="en-US" altLang="ko-KR" sz="1600" i="1" spc="-50" dirty="0" err="1"/>
              <a:t>ergy</a:t>
            </a:r>
            <a:r>
              <a:rPr lang="ko-KR" altLang="en-US" sz="1600" spc="-50" dirty="0"/>
              <a:t>는 </a:t>
            </a:r>
            <a:r>
              <a:rPr lang="en-US" altLang="ko-KR" sz="1600" i="1" spc="-50" dirty="0"/>
              <a:t>ergon</a:t>
            </a:r>
            <a:r>
              <a:rPr lang="ko-KR" altLang="en-US" sz="1600" spc="-50" dirty="0"/>
              <a:t>과 어원적으로 관련된 단어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energy </a:t>
            </a:r>
            <a:r>
              <a:rPr lang="ko-KR" altLang="en-US" sz="1600" spc="-50" dirty="0"/>
              <a:t>라는 단어는 어원적으로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(work)’</a:t>
            </a:r>
            <a:r>
              <a:rPr lang="ko-KR" altLang="en-US" sz="1600" spc="-50" dirty="0"/>
              <a:t>과 밀접한 관련이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예제</a:t>
            </a:r>
            <a:r>
              <a:rPr lang="en-US" altLang="ko-KR" sz="1600" spc="-50" dirty="0"/>
              <a:t>) </a:t>
            </a:r>
            <a:r>
              <a:rPr lang="en-US" altLang="ko-KR" sz="1600" b="1" spc="-50" dirty="0"/>
              <a:t>erg</a:t>
            </a:r>
            <a:r>
              <a:rPr lang="en-US" altLang="ko-KR" sz="1600" spc="-50" dirty="0"/>
              <a:t>onomics: </a:t>
            </a:r>
            <a:r>
              <a:rPr lang="ko-KR" altLang="en-US" sz="1600" spc="-50" dirty="0"/>
              <a:t>인체공학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일을 효율적으로 하는 법칙</a:t>
            </a:r>
            <a:r>
              <a:rPr lang="en-US" altLang="ko-KR" sz="1600" spc="-50" dirty="0"/>
              <a:t>))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i="1" spc="-50" dirty="0"/>
              <a:t>ergon</a:t>
            </a:r>
            <a:r>
              <a:rPr lang="en-US" altLang="ko-KR" sz="1600" spc="-50" dirty="0"/>
              <a:t> (work) + </a:t>
            </a:r>
            <a:r>
              <a:rPr lang="en-US" altLang="ko-KR" sz="1600" i="1" spc="-50" dirty="0"/>
              <a:t>nomos</a:t>
            </a:r>
            <a:r>
              <a:rPr lang="en-US" altLang="ko-KR" sz="1600" spc="-50" dirty="0"/>
              <a:t> (law, rule) = ergonomics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oikos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가정</a:t>
            </a:r>
            <a:r>
              <a:rPr lang="en-US" altLang="ko-KR" sz="1600" spc="-50" dirty="0"/>
              <a:t>, household) + nomos (law, rule) = economics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오늘날에는 에너지를  </a:t>
            </a:r>
            <a:r>
              <a:rPr lang="en-US" altLang="ko-KR" sz="2000" b="1" spc="-50" dirty="0"/>
              <a:t>‘</a:t>
            </a:r>
            <a:r>
              <a:rPr lang="ko-KR" altLang="en-US" sz="2000" b="1" spc="-50" dirty="0"/>
              <a:t>일을 할 수 있는 능력</a:t>
            </a:r>
            <a:r>
              <a:rPr lang="en-US" altLang="ko-KR" sz="2000" b="1" spc="-50" dirty="0"/>
              <a:t>’</a:t>
            </a:r>
            <a:r>
              <a:rPr lang="ko-KR" altLang="en-US" sz="1600" spc="-50" dirty="0"/>
              <a:t> 이라고 정의하고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E6184C-191A-AA52-FF3B-32CFB93EF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862" y="3138153"/>
            <a:ext cx="3999026" cy="14919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BA0A74-7ED3-F1FC-795A-ED8D9FCD9AB5}"/>
              </a:ext>
            </a:extLst>
          </p:cNvPr>
          <p:cNvSpPr txBox="1"/>
          <p:nvPr/>
        </p:nvSpPr>
        <p:spPr>
          <a:xfrm>
            <a:off x="8619380" y="2876543"/>
            <a:ext cx="23125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&lt;</a:t>
            </a:r>
            <a:r>
              <a:rPr lang="ko-KR" altLang="en-US" sz="1100" spc="-50" dirty="0"/>
              <a:t>인체공학 키보드의 모델명</a:t>
            </a:r>
            <a:r>
              <a:rPr lang="en-US" altLang="ko-KR" sz="1100" spc="-50" dirty="0"/>
              <a:t>:</a:t>
            </a:r>
            <a:r>
              <a:rPr lang="ko-KR" altLang="en-US" sz="1100" spc="-50" dirty="0"/>
              <a:t> </a:t>
            </a:r>
            <a:r>
              <a:rPr lang="en-US" altLang="ko-KR" sz="1100" spc="-50" dirty="0"/>
              <a:t>ergo&gt;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5993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71EBB-D2D8-9617-09A3-D11B6FF7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2F78D-FB98-8132-782C-C73E86EA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에너지의 여러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B8E7D-C741-21A2-7291-9DF4D246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EDD64-57EE-174F-25CE-330DED40693E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직접 눈에 보이지는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일상 생활을 하다 보면 여러가지 형태의 에너지를 감지할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빛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햇빛이나 조명</a:t>
            </a:r>
            <a:r>
              <a:rPr lang="en-US" altLang="ko-KR" sz="1600" spc="-50" dirty="0"/>
              <a:t>(LED, </a:t>
            </a:r>
            <a:r>
              <a:rPr lang="ko-KR" altLang="en-US" sz="1600" spc="-50" dirty="0"/>
              <a:t>백열등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빛은 주변을 밝게 비추고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빛이 우리 눈에 들어와 사물을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소리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사람 목소리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스피커 등에서 발생하는 소리는 공기의 진동이 우리 귀에 전달된다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열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따뜻한 커피가 담긴 컵을 만지면 열이 전달되면서 손이 따뜻하게 느껴진다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운동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달리는 자동차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흐르는 강물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움직이는 모든 물체는 운동 에너지를 갖는다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충전된 핸드폰으로 여러가지 일을 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자기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냉장고에 자석을 가까이 대면 저절로 움직여서 붙는다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위치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높은 곳에 있는 물체는 아래로 떨어지기 마련이다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화학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천연가스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음식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배터리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등에는 화학 결합 속에 에너지가 저장되어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핵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원자핵 내부에는 막대한 에너지가 저장되어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원자력발전을 통해 이용할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2221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3140-3073-FAD2-0D3D-7546D5E9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6CD74-A62C-1AA6-BED3-B2CCB7F5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다양한 에너지 변환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A9CD73-B454-8B86-0FC5-CC8697C9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CC514-5395-6E71-C8E4-133A03D1771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다양한 에너지 형태를 상황에 맞게 편리한 형태로 바꾸어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에너지 변환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가면서 생활한다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전기포트는 전기를 열 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콘센트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꼽으면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내부의 발열체가 뜨거워져서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물을 데운다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사람 몸은 화학에너지를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음식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화학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먹으면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걷고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뛰고 </a:t>
            </a:r>
            <a:r>
              <a:rPr lang="ko-KR" altLang="en-US" sz="1600" spc="-50" dirty="0" err="1"/>
              <a:t>움직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+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일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선풍기는 전기에너지를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콘센트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꼽으면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날개가 돌아가서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바람이 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풍력발전은 운동에너지를 전기에너지로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바람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불면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날개가 돌아가서 전기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생성된다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자동차는 화학에너지를 열에너지로 바꾸고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열에너지는 다시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휘발유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화학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연소시켜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고온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고압의 가스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열에너지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피스톤을 움직여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바퀴가 돌아간다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운동에너지</a:t>
            </a:r>
            <a:r>
              <a:rPr lang="en-US" altLang="ko-KR" sz="1600" spc="-5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1794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4B9DF-0E27-4FE3-8CA6-663D5F892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281199-1994-9321-1DE5-4A2347B7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40A506-1B5D-1AF9-3782-5B291087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C863E-D264-ABEC-C0AC-5A8C80DED4F6}"/>
              </a:ext>
            </a:extLst>
          </p:cNvPr>
          <p:cNvSpPr txBox="1"/>
          <p:nvPr/>
        </p:nvSpPr>
        <p:spPr>
          <a:xfrm>
            <a:off x="288790" y="958844"/>
            <a:ext cx="11222932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단위는 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로 측정한다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물리학적으로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줄이란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뉴턴</a:t>
            </a:r>
            <a:r>
              <a:rPr lang="en-US" altLang="ko-KR" sz="1600" spc="-50" dirty="0"/>
              <a:t>(N, Newton)</a:t>
            </a:r>
            <a:r>
              <a:rPr lang="ko-KR" altLang="en-US" sz="1600" spc="-50" dirty="0"/>
              <a:t>의 힘으로 물체를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미터 </a:t>
            </a:r>
            <a:r>
              <a:rPr lang="en-US" altLang="ko-KR" sz="1600" spc="-50" dirty="0"/>
              <a:t>(m, meter) </a:t>
            </a:r>
            <a:r>
              <a:rPr lang="ko-KR" altLang="en-US" sz="1600" spc="-50" dirty="0"/>
              <a:t>이동시키는데 필요한 에너지로 정의된다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여기서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뉴턴이란 질량 </a:t>
            </a:r>
            <a:r>
              <a:rPr lang="en-US" altLang="ko-KR" sz="1600" spc="-50" dirty="0"/>
              <a:t>1kg</a:t>
            </a:r>
            <a:r>
              <a:rPr lang="ko-KR" altLang="en-US" sz="1600" spc="-50" dirty="0"/>
              <a:t>인 물체를 </a:t>
            </a:r>
            <a:r>
              <a:rPr lang="en-US" altLang="ko-KR" sz="1600" spc="-50" dirty="0"/>
              <a:t>1m/s</a:t>
            </a:r>
            <a:r>
              <a:rPr lang="en-US" altLang="ko-KR" sz="1600" spc="-50" baseline="30000" dirty="0"/>
              <a:t>2 </a:t>
            </a:r>
            <a:r>
              <a:rPr lang="ko-KR" altLang="en-US" sz="1600" spc="-50" dirty="0"/>
              <a:t>의 가속도로 움직이게 하는 힘 으로 정의된다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1kg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짜리</a:t>
            </a:r>
            <a:r>
              <a:rPr lang="ko-KR" altLang="en-US" sz="1600" spc="-50" dirty="0"/>
              <a:t> 물체에 </a:t>
            </a:r>
            <a:r>
              <a:rPr lang="en-US" altLang="ko-KR" sz="1600" spc="-50" dirty="0"/>
              <a:t>1N</a:t>
            </a:r>
            <a:r>
              <a:rPr lang="ko-KR" altLang="en-US" sz="1600" spc="-50" dirty="0"/>
              <a:t>의 힘을 가하면 그 물체는 </a:t>
            </a:r>
            <a:r>
              <a:rPr lang="en-US" altLang="ko-KR" sz="1600" spc="-50" dirty="0"/>
              <a:t>1m/s</a:t>
            </a:r>
            <a:r>
              <a:rPr lang="en-US" altLang="ko-KR" sz="1600" spc="-50" baseline="30000" dirty="0"/>
              <a:t>2  </a:t>
            </a:r>
            <a:r>
              <a:rPr lang="ko-KR" altLang="en-US" sz="1600" spc="-50" dirty="0"/>
              <a:t>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가속도를 갖는다는 말로 이해해도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1N</a:t>
            </a:r>
            <a:r>
              <a:rPr lang="ko-KR" altLang="en-US" sz="1600" spc="-50" dirty="0"/>
              <a:t>의 힘으로 물체를 </a:t>
            </a:r>
            <a:r>
              <a:rPr lang="en-US" altLang="ko-KR" sz="1600" spc="-50" dirty="0"/>
              <a:t>1m </a:t>
            </a:r>
            <a:r>
              <a:rPr lang="ko-KR" altLang="en-US" sz="1600" spc="-50" dirty="0"/>
              <a:t>이동시키면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그때 사용된 에너지는 </a:t>
            </a:r>
            <a:r>
              <a:rPr lang="en-US" altLang="ko-KR" sz="1600" spc="-50" dirty="0"/>
              <a:t>1J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참고로</a:t>
            </a:r>
            <a:r>
              <a:rPr lang="en-US" altLang="ko-KR" sz="1600" spc="-50" dirty="0"/>
              <a:t>, 1N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100g</a:t>
            </a:r>
            <a:r>
              <a:rPr lang="ko-KR" altLang="en-US" sz="1600" spc="-50" dirty="0"/>
              <a:t>의 물체를 손으로 들고 있을 때 필요한 힘과 비슷하다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달걀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</a:t>
            </a:r>
            <a:r>
              <a:rPr lang="en-US" altLang="ko-KR" sz="1600" spc="-50" dirty="0"/>
              <a:t>   </a:t>
            </a:r>
            <a:r>
              <a:rPr lang="ko-KR" altLang="en-US" sz="1600" spc="-50" dirty="0"/>
              <a:t>혹은  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물이 </a:t>
            </a:r>
            <a:r>
              <a:rPr lang="ko-KR" altLang="en-US" sz="1600" spc="-50" dirty="0" err="1"/>
              <a:t>반쯤</a:t>
            </a:r>
            <a:r>
              <a:rPr lang="ko-KR" altLang="en-US" sz="1600" spc="-50" dirty="0"/>
              <a:t> 담긴 종이컵   정도가 </a:t>
            </a:r>
            <a:r>
              <a:rPr lang="en-US" altLang="ko-KR" sz="1600" spc="-50" dirty="0"/>
              <a:t>100g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내가 달걀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개를 들고 있을 때 손에 주고 있는 힘이 약 </a:t>
            </a:r>
            <a:r>
              <a:rPr lang="en-US" altLang="ko-KR" sz="1600" spc="-50" dirty="0"/>
              <a:t>1N</a:t>
            </a:r>
            <a:r>
              <a:rPr lang="ko-KR" altLang="en-US" sz="1600" spc="-50" dirty="0"/>
              <a:t>이라고 생각하면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646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A1B6-E47A-D862-B031-D34E3D08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F8651-5FC5-5703-3451-0D53AEC0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E82B3-8268-AAE8-34C5-6EA6C6D7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8F547-D35E-D5EC-2E7E-29A19E15EA4C}"/>
              </a:ext>
            </a:extLst>
          </p:cNvPr>
          <p:cNvSpPr txBox="1"/>
          <p:nvPr/>
        </p:nvSpPr>
        <p:spPr>
          <a:xfrm>
            <a:off x="288790" y="958844"/>
            <a:ext cx="11222932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모든 에너지 형태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빛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운동 </a:t>
            </a:r>
            <a:r>
              <a:rPr lang="en-US" altLang="ko-KR" sz="1600" spc="-50" dirty="0"/>
              <a:t>··· </a:t>
            </a:r>
            <a:r>
              <a:rPr lang="ko-KR" altLang="en-US" sz="1600" spc="-50" dirty="0"/>
              <a:t>등등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에 대해 그 에너지의 양은 모두 줄</a:t>
            </a:r>
            <a:r>
              <a:rPr lang="en-US" altLang="ko-KR" sz="1600" spc="-50" dirty="0"/>
              <a:t>(J)</a:t>
            </a:r>
            <a:r>
              <a:rPr lang="ko-KR" altLang="en-US" sz="1600" spc="-50" dirty="0"/>
              <a:t>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측정이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우리가 생활하면서 보는 에너지 대부분의 단위는 </a:t>
            </a:r>
            <a:r>
              <a:rPr lang="en-US" altLang="ko-KR" sz="1600" spc="-50" dirty="0"/>
              <a:t>kcal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kWh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다음 슬라이드부터 에너지의 단위 변환에 대해 알아보자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328AF8-A4BE-AA60-0ED1-7AF2A271E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831" y="2723134"/>
            <a:ext cx="2072588" cy="25157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12B3A1-5734-C2EE-0F96-5F5D8386F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02" y="2696634"/>
            <a:ext cx="2653659" cy="25687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5322CA7-4791-1675-D425-2B68AD88A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497" y="2892413"/>
            <a:ext cx="1536740" cy="4418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F6AFC56-BEF0-3EB4-DDE5-9A4DEED31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756" y="3334226"/>
            <a:ext cx="3099997" cy="16322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41F93ED-B891-E568-5130-D67E2B769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090" y="2588467"/>
            <a:ext cx="2369256" cy="326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73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3222F-C683-AD65-D283-AE30AFDA8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참고자료</a:t>
            </a:r>
            <a:r>
              <a:rPr lang="en-US" altLang="ko-KR" dirty="0"/>
              <a:t>) SI </a:t>
            </a:r>
            <a:r>
              <a:rPr lang="ko-KR" altLang="en-US" dirty="0"/>
              <a:t>접두어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8583F4-A729-47CF-A318-D08799C0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A2FB6-C5ED-9F02-34BB-9636C91CEC3B}"/>
              </a:ext>
            </a:extLst>
          </p:cNvPr>
          <p:cNvSpPr txBox="1"/>
          <p:nvPr/>
        </p:nvSpPr>
        <p:spPr>
          <a:xfrm>
            <a:off x="288790" y="958844"/>
            <a:ext cx="11229216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평소에 들어본 킬로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메가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기가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이런 단위가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뭘까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킬로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메가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기가와 같은 단위를 </a:t>
            </a:r>
            <a:r>
              <a:rPr lang="en-US" altLang="ko-KR" sz="1600" spc="-50" dirty="0"/>
              <a:t>SI </a:t>
            </a:r>
            <a:r>
              <a:rPr lang="ko-KR" altLang="en-US" sz="1600" spc="-50" dirty="0" err="1"/>
              <a:t>접두어라고</a:t>
            </a:r>
            <a:r>
              <a:rPr lang="ko-KR" altLang="en-US" sz="1600" spc="-50" dirty="0"/>
              <a:t>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너무 큰 숫자를 표기할 때</a:t>
            </a:r>
            <a:r>
              <a:rPr lang="en-US" altLang="ko-KR" sz="1600" spc="-50" dirty="0"/>
              <a:t>, 0</a:t>
            </a:r>
            <a:r>
              <a:rPr lang="ko-KR" altLang="en-US" sz="1600" spc="-50" dirty="0"/>
              <a:t>을 보기 힘들게 많이 표시하지 말고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접두어를</a:t>
            </a:r>
            <a:r>
              <a:rPr lang="ko-KR" altLang="en-US" sz="1600" spc="-50" dirty="0"/>
              <a:t> 활용하자는 약속이다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파일의 크기는 눈에 쉽게 들어오고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읽기도 편하다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오른쪽 예시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파일의 크기는 바로 눈에 쉽게 안 들어오고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읽기 불편하다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불편함을 없애고자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배씩 단위를 만들어 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SI </a:t>
            </a:r>
            <a:r>
              <a:rPr lang="ko-KR" altLang="en-US" sz="1600" spc="-50" dirty="0" err="1"/>
              <a:t>접두어를</a:t>
            </a:r>
            <a:r>
              <a:rPr lang="ko-KR" altLang="en-US" sz="1600" spc="-50" dirty="0"/>
              <a:t> 활용해서 두번째 파일을 읽어보면 </a:t>
            </a:r>
            <a:r>
              <a:rPr lang="en-US" altLang="ko-KR" sz="1600" spc="-50" dirty="0"/>
              <a:t>107.9</a:t>
            </a:r>
            <a:r>
              <a:rPr lang="ko-KR" altLang="en-US" sz="1600" spc="-50" dirty="0"/>
              <a:t>메가바이트 혹은 </a:t>
            </a:r>
            <a:r>
              <a:rPr lang="en-US" altLang="ko-KR" sz="1600" spc="-50" dirty="0"/>
              <a:t>0.1079 </a:t>
            </a:r>
            <a:r>
              <a:rPr lang="ko-KR" altLang="en-US" sz="1600" spc="-50" dirty="0"/>
              <a:t>기가바이트 라고 읽을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한밭대에서 부산역까지 거리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고속도로 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</a:t>
            </a:r>
            <a:r>
              <a:rPr lang="en-US" altLang="ko-KR" sz="1600" spc="-50" dirty="0"/>
              <a:t>275km</a:t>
            </a:r>
            <a:r>
              <a:rPr lang="ko-KR" altLang="en-US" sz="1600" spc="-50" dirty="0"/>
              <a:t>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</a:t>
            </a:r>
            <a:r>
              <a:rPr lang="en-US" altLang="ko-KR" sz="1600" spc="-50" dirty="0"/>
              <a:t>0.275Mm (</a:t>
            </a:r>
            <a:r>
              <a:rPr lang="ko-KR" altLang="en-US" sz="1600" spc="-50" dirty="0" err="1"/>
              <a:t>메가미터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표현할 수도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 몸무게를 </a:t>
            </a:r>
            <a:r>
              <a:rPr lang="en-US" altLang="ko-KR" sz="1600" spc="-50" dirty="0"/>
              <a:t>70,000g </a:t>
            </a:r>
            <a:r>
              <a:rPr lang="ko-KR" altLang="en-US" sz="1600" spc="-50" dirty="0"/>
              <a:t>이라고 이야기할 수도 있고</a:t>
            </a:r>
            <a:r>
              <a:rPr lang="en-US" altLang="ko-KR" sz="1600" spc="-50" dirty="0"/>
              <a:t>, 70kg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0.07Mg </a:t>
            </a:r>
            <a:r>
              <a:rPr lang="ko-KR" altLang="en-US" sz="1600" spc="-50" dirty="0"/>
              <a:t>이라고 표현할 수도 있다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 </a:t>
            </a:r>
            <a:r>
              <a:rPr lang="ko-KR" altLang="en-US" sz="1600" spc="-50" dirty="0"/>
              <a:t>이런 식으로 읽어도 틀린 말은 아니지만 보통 일상생활에서는 상대방이 알아듣기 쉽게 적절한 단위를 쓰며 생활하자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039E972-0D3D-2DAA-CAEB-C7C3ABFC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852" y="2368348"/>
            <a:ext cx="4339358" cy="76951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7D570E-DFCE-B125-7566-3F3CB9847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996914"/>
              </p:ext>
            </p:extLst>
          </p:nvPr>
        </p:nvGraphicFramePr>
        <p:xfrm>
          <a:off x="917945" y="3264003"/>
          <a:ext cx="6156757" cy="148567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918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3919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65536541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기호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거듭제곱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십진법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밀리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킬로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352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65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59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1,000,000,000,000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9227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CCC6E8-6898-50A6-83DA-CC693C795F1B}"/>
              </a:ext>
            </a:extLst>
          </p:cNvPr>
          <p:cNvSpPr txBox="1"/>
          <p:nvPr/>
        </p:nvSpPr>
        <p:spPr>
          <a:xfrm>
            <a:off x="7183989" y="3720140"/>
            <a:ext cx="4370446" cy="54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kern="0" dirty="0">
                <a:solidFill>
                  <a:srgbClr val="000000"/>
                </a:solidFill>
              </a:rPr>
              <a:t>작은 단위로는 </a:t>
            </a:r>
            <a:r>
              <a:rPr lang="en-US" altLang="ko-KR" sz="1300" b="0" kern="0" spc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en-US" altLang="ko-KR" sz="1300" b="0" kern="0" spc="0" baseline="300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-30</a:t>
            </a:r>
            <a:r>
              <a:rPr lang="en-US" altLang="ko-KR" sz="1300" b="0" kern="0" spc="0" baseline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en-US" sz="1300" b="0" kern="0" spc="0" baseline="0" dirty="0" err="1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퀙토</a:t>
            </a:r>
            <a:r>
              <a:rPr lang="en-US" altLang="ko-KR" sz="1300" b="0" kern="0" spc="0" baseline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300" b="0" kern="0" spc="0" baseline="0" dirty="0" err="1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quecto</a:t>
            </a:r>
            <a:r>
              <a:rPr lang="en-US" altLang="ko-KR" sz="1300" b="0" kern="0" spc="0" baseline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, q),</a:t>
            </a:r>
            <a:r>
              <a:rPr lang="ko-KR" altLang="en-US" sz="1300" b="0" kern="0" spc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300" b="0" kern="0" spc="0" dirty="0">
              <a:solidFill>
                <a:srgbClr val="000000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0" kern="0" spc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큰 단위로는 </a:t>
            </a:r>
            <a:r>
              <a:rPr lang="en-US" altLang="ko-KR" sz="1300" b="0" kern="0" spc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en-US" altLang="ko-KR" sz="1300" b="0" kern="0" spc="0" baseline="3000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en-US" altLang="ko-KR" sz="1300" b="0" kern="0" spc="0" baseline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en-US" sz="1300" b="0" kern="0" spc="0" baseline="0" dirty="0" err="1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퀘타</a:t>
            </a:r>
            <a:r>
              <a:rPr lang="en-US" altLang="ko-KR" sz="1300" b="0" kern="0" spc="0" baseline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300" b="0" kern="0" spc="0" baseline="0" dirty="0" err="1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quetta</a:t>
            </a:r>
            <a:r>
              <a:rPr lang="en-US" altLang="ko-KR" sz="1300" b="0" kern="0" spc="0" baseline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, Q)</a:t>
            </a:r>
            <a:r>
              <a:rPr lang="ko-KR" altLang="en-US" sz="1300" b="0" kern="0" spc="0" baseline="0" dirty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까지 정의되어 있음</a:t>
            </a:r>
            <a:endParaRPr lang="en-US" altLang="ko-KR" sz="1300" b="0" kern="0" spc="0" baseline="0" dirty="0">
              <a:solidFill>
                <a:srgbClr val="000000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1146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BF624-26E9-2E60-F460-597C1B6D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A0CB6-A471-A379-E6F2-9D851173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단위 변환 </a:t>
            </a:r>
            <a:r>
              <a:rPr lang="en-US" altLang="ko-KR" dirty="0"/>
              <a:t>(</a:t>
            </a:r>
            <a:r>
              <a:rPr lang="ko-KR" altLang="en-US" dirty="0"/>
              <a:t>콜라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B18857-BE01-254C-4058-2D3ACC42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7916E-1F92-C0E3-A9D4-F760E4E298A6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줄</a:t>
            </a:r>
            <a:r>
              <a:rPr lang="en-US" altLang="ko-KR" sz="1600" spc="-50" dirty="0"/>
              <a:t>(J)</a:t>
            </a:r>
            <a:r>
              <a:rPr lang="ko-KR" altLang="en-US" sz="1600" spc="-50" dirty="0"/>
              <a:t> 이라는 단위보다 음식 포장지에 적힌 칼로리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, calorie)</a:t>
            </a:r>
            <a:r>
              <a:rPr lang="ko-KR" altLang="en-US" sz="1600" spc="-50" dirty="0"/>
              <a:t> 라고 하는 단위가 더 익숙하다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우리가 길이를 </a:t>
            </a:r>
            <a:r>
              <a:rPr lang="en-US" altLang="ko-KR" sz="1600" spc="-50" dirty="0"/>
              <a:t>cm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inch, </a:t>
            </a:r>
            <a:r>
              <a:rPr lang="ko-KR" altLang="en-US" sz="1600" spc="-50" dirty="0"/>
              <a:t>온도를 섭씨와 화씨로 다양하게 표현하는 것처럼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줄과 칼로리 모두 에너지양을 측정하는 단위로서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크기로 에너지 양을 나타내는 것일 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         </a:t>
            </a:r>
            <a:r>
              <a:rPr lang="ko-KR" altLang="en-US" sz="1600" spc="-50" dirty="0"/>
              <a:t>이 직선의 길이는 </a:t>
            </a:r>
            <a:r>
              <a:rPr lang="en-US" altLang="ko-KR" sz="1600" spc="-50" dirty="0"/>
              <a:t>1cm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0.39inch,</a:t>
            </a:r>
            <a:r>
              <a:rPr lang="ko-KR" altLang="en-US" sz="1600" spc="-50" dirty="0"/>
              <a:t> 혹은 </a:t>
            </a:r>
            <a:r>
              <a:rPr lang="en-US" altLang="ko-KR" sz="1600" spc="-50" dirty="0"/>
              <a:t>0.0000062mile,</a:t>
            </a:r>
            <a:r>
              <a:rPr lang="ko-KR" altLang="en-US" sz="1600" spc="-50" dirty="0"/>
              <a:t>  어떤 단위로 표현해도 무방하다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온도를 나타내는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℃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섭씨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℉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화씨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모니터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크기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집 크기 등등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에너지도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마찬가지로 </a:t>
            </a:r>
            <a:r>
              <a:rPr lang="en-US" altLang="ko-KR" sz="1600" b="1" spc="-50" dirty="0"/>
              <a:t>1J</a:t>
            </a:r>
            <a:r>
              <a:rPr lang="ko-KR" altLang="en-US" sz="1600" b="1" spc="-50" dirty="0"/>
              <a:t> </a:t>
            </a:r>
            <a:r>
              <a:rPr lang="en-US" altLang="ko-KR" sz="1600" b="1" spc="-50" dirty="0"/>
              <a:t>= 0.239cal</a:t>
            </a:r>
            <a:r>
              <a:rPr lang="en-US" altLang="ko-KR" sz="1600" spc="-50" dirty="0"/>
              <a:t>  (</a:t>
            </a:r>
            <a:r>
              <a:rPr lang="en-US" altLang="ko-KR" sz="1600" b="1" spc="-50" dirty="0"/>
              <a:t>1cal = 4.184J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A3B9CB-390C-1C34-AC08-A1178D3F1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598" y="3184939"/>
            <a:ext cx="852132" cy="18814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5D3A79-264D-03C4-1562-ADA8A051A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757" y="5159269"/>
            <a:ext cx="2469815" cy="1188612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AD9EF54-5960-AC20-47F3-09BEC3CC5499}"/>
              </a:ext>
            </a:extLst>
          </p:cNvPr>
          <p:cNvCxnSpPr>
            <a:cxnSpLocks/>
          </p:cNvCxnSpPr>
          <p:nvPr/>
        </p:nvCxnSpPr>
        <p:spPr>
          <a:xfrm>
            <a:off x="1760883" y="2302566"/>
            <a:ext cx="3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2EAA17-942A-9156-DDC8-3B111DC76A9F}"/>
              </a:ext>
            </a:extLst>
          </p:cNvPr>
          <p:cNvSpPr txBox="1"/>
          <p:nvPr/>
        </p:nvSpPr>
        <p:spPr>
          <a:xfrm>
            <a:off x="288790" y="3227901"/>
            <a:ext cx="862237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오른쪽에 보이는 </a:t>
            </a:r>
            <a:r>
              <a:rPr lang="en-US" altLang="ko-KR" sz="1600" spc="-50" dirty="0"/>
              <a:t>250</a:t>
            </a:r>
            <a:r>
              <a:rPr lang="ko-KR" altLang="en-US" sz="1600" spc="-50" dirty="0"/>
              <a:t>밀리리터</a:t>
            </a:r>
            <a:r>
              <a:rPr lang="en-US" altLang="ko-KR" sz="1600" spc="-50" dirty="0"/>
              <a:t>(ml, milli liter)</a:t>
            </a:r>
            <a:r>
              <a:rPr lang="ko-KR" altLang="en-US" sz="1600" spc="-50" dirty="0" err="1"/>
              <a:t>짜리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캔콜라는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108kcal (108,000cal)</a:t>
            </a:r>
            <a:r>
              <a:rPr lang="ko-KR" altLang="en-US" sz="1600" spc="-50" dirty="0"/>
              <a:t> 의 에너지를 갖고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콜라가 갖고 있는 에너지 형태는 화학에너지이다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줄</a:t>
            </a:r>
            <a:r>
              <a:rPr lang="en-US" altLang="ko-KR" sz="1600" spc="-50" dirty="0"/>
              <a:t>(J)</a:t>
            </a:r>
            <a:r>
              <a:rPr lang="ko-KR" altLang="en-US" sz="1600" spc="-50" dirty="0"/>
              <a:t> 단위로 환산하면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대략 </a:t>
            </a:r>
            <a:r>
              <a:rPr lang="en-US" altLang="ko-KR" sz="1600" spc="-50" dirty="0"/>
              <a:t>451,882 J (=108,000(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) x 4.184(J/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))</a:t>
            </a:r>
            <a:r>
              <a:rPr lang="ko-KR" altLang="en-US" sz="1600" spc="-50" dirty="0"/>
              <a:t>의 에너지를 갖고 있는 것과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SI </a:t>
            </a:r>
            <a:r>
              <a:rPr lang="ko-KR" altLang="en-US" sz="1600" spc="-50" dirty="0" err="1"/>
              <a:t>접두어를</a:t>
            </a:r>
            <a:r>
              <a:rPr lang="ko-KR" altLang="en-US" sz="1600" spc="-50" dirty="0"/>
              <a:t> 활용하면 </a:t>
            </a:r>
            <a:r>
              <a:rPr lang="en-US" altLang="ko-KR" sz="1600" spc="-50" dirty="0"/>
              <a:t>451.882 kJ(</a:t>
            </a:r>
            <a:r>
              <a:rPr lang="ko-KR" altLang="en-US" sz="1600" spc="-50" dirty="0"/>
              <a:t>킬로 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0.451882 MJ(</a:t>
            </a:r>
            <a:r>
              <a:rPr lang="ko-KR" altLang="en-US" sz="1600" spc="-50" dirty="0" err="1"/>
              <a:t>메가줄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줄</a:t>
            </a:r>
            <a:r>
              <a:rPr lang="en-US" altLang="ko-KR" sz="1600" spc="-50" dirty="0"/>
              <a:t>(J)</a:t>
            </a:r>
            <a:r>
              <a:rPr lang="ko-KR" altLang="en-US" sz="1600" spc="-50" dirty="0"/>
              <a:t>의 정의에 따라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콜라</a:t>
            </a:r>
            <a:r>
              <a:rPr lang="en-US" altLang="ko-KR" sz="1600" spc="-50" dirty="0"/>
              <a:t>(250ml)</a:t>
            </a:r>
            <a:r>
              <a:rPr lang="ko-KR" altLang="en-US" sz="1600" spc="-50" dirty="0"/>
              <a:t>가 갖고 있는 에너지는 </a:t>
            </a:r>
            <a:r>
              <a:rPr lang="en-US" altLang="ko-KR" sz="1600" spc="-50" dirty="0"/>
              <a:t>1N</a:t>
            </a:r>
            <a:r>
              <a:rPr lang="ko-KR" altLang="en-US" sz="1600" spc="-50" dirty="0"/>
              <a:t>의 힘으로 물체를 대략 </a:t>
            </a:r>
            <a:r>
              <a:rPr lang="en-US" altLang="ko-KR" sz="1600" spc="-50" dirty="0"/>
              <a:t>452km </a:t>
            </a:r>
            <a:r>
              <a:rPr lang="ko-KR" altLang="en-US" sz="1600" spc="-50" dirty="0"/>
              <a:t>이동시키는 일의 양과 비슷하다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콜라 한 캔을 마셨을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이만큼의 일을 해야 칼로리를 소비한다는 것을 의미하지는 않는다</a:t>
            </a:r>
            <a:r>
              <a:rPr lang="en-US" altLang="ko-KR" sz="1600" spc="-50" dirty="0"/>
              <a:t>.  (</a:t>
            </a:r>
            <a:r>
              <a:rPr lang="ko-KR" altLang="en-US" sz="1600" spc="-50" dirty="0"/>
              <a:t>사람은 마셨을 때 다른 곳에도 에너지를 쓰기 때문이다</a:t>
            </a:r>
            <a:r>
              <a:rPr lang="en-US" altLang="ko-KR" sz="1600" spc="-50" dirty="0"/>
              <a:t>.)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877138-F0BE-AC84-B15C-B9CB5C912DBF}"/>
              </a:ext>
            </a:extLst>
          </p:cNvPr>
          <p:cNvSpPr/>
          <p:nvPr/>
        </p:nvSpPr>
        <p:spPr>
          <a:xfrm>
            <a:off x="10736730" y="5108291"/>
            <a:ext cx="914400" cy="441609"/>
          </a:xfrm>
          <a:prstGeom prst="rect">
            <a:avLst/>
          </a:prstGeom>
          <a:solidFill>
            <a:srgbClr val="FFFF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29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78DC-6714-7BB2-0471-849C495A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E18469E-3BC0-DC94-9C18-544784CA3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412" y="4550500"/>
            <a:ext cx="1939522" cy="143015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9215071-B201-A020-08FE-ECAEDEADB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497" y="2039522"/>
            <a:ext cx="1457814" cy="24778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9F4D8B-574D-DBF8-C357-01A0B42C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단위 변환 </a:t>
            </a:r>
            <a:r>
              <a:rPr lang="en-US" altLang="ko-KR" dirty="0"/>
              <a:t>(</a:t>
            </a:r>
            <a:r>
              <a:rPr lang="ko-KR" altLang="en-US" dirty="0"/>
              <a:t>선풍기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E0334F-D152-904A-0252-8BB01DB8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0531F-D7E7-05C0-02E3-D4012B3C5F43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전기제품으로 넘어오면</a:t>
            </a:r>
            <a:r>
              <a:rPr lang="en-US" altLang="ko-KR" sz="1600" spc="-50" dirty="0"/>
              <a:t>, 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단위는 쓰지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와트시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, Watt-hour) </a:t>
            </a:r>
            <a:r>
              <a:rPr lang="ko-KR" altLang="en-US" sz="1600" spc="-50" dirty="0"/>
              <a:t>라는 단위를 많이 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J</a:t>
            </a:r>
            <a:r>
              <a:rPr lang="ko-KR" altLang="en-US" sz="1600" spc="-50" dirty="0"/>
              <a:t>을 </a:t>
            </a:r>
            <a:r>
              <a:rPr lang="en-US" altLang="ko-KR" sz="1600" spc="-50" dirty="0" err="1"/>
              <a:t>cal</a:t>
            </a:r>
            <a:r>
              <a:rPr lang="ko-KR" altLang="en-US" sz="1600" spc="-50" dirty="0"/>
              <a:t>로 변환할 수 있었듯이</a:t>
            </a:r>
            <a:r>
              <a:rPr lang="en-US" altLang="ko-KR" sz="1600" spc="-50" dirty="0"/>
              <a:t>, J</a:t>
            </a:r>
            <a:r>
              <a:rPr lang="ko-KR" altLang="en-US" sz="1600" spc="-50" dirty="0"/>
              <a:t>은 </a:t>
            </a:r>
            <a:r>
              <a:rPr lang="en-US" altLang="ko-KR" sz="1600" spc="-50" dirty="0" err="1"/>
              <a:t>Wh</a:t>
            </a:r>
            <a:r>
              <a:rPr lang="ko-KR" altLang="en-US" sz="1600" spc="-50" dirty="0"/>
              <a:t>로도 변환이 가능하다</a:t>
            </a:r>
            <a:r>
              <a:rPr lang="en-US" altLang="ko-KR" sz="1600" spc="-50" dirty="0"/>
              <a:t>.  </a:t>
            </a:r>
            <a:r>
              <a:rPr lang="en-US" altLang="ko-KR" sz="1600" b="1" spc="-50" dirty="0"/>
              <a:t>1J</a:t>
            </a:r>
            <a:r>
              <a:rPr lang="ko-KR" altLang="en-US" sz="1600" b="1" spc="-50" dirty="0"/>
              <a:t> </a:t>
            </a:r>
            <a:r>
              <a:rPr lang="en-US" altLang="ko-KR" sz="1600" b="1" spc="-50" dirty="0"/>
              <a:t>= 0.000278 </a:t>
            </a:r>
            <a:r>
              <a:rPr lang="en-US" altLang="ko-KR" sz="1600" b="1" spc="-50" dirty="0" err="1"/>
              <a:t>Wh</a:t>
            </a:r>
            <a:r>
              <a:rPr lang="en-US" altLang="ko-KR" sz="1600" b="1" spc="-50" dirty="0"/>
              <a:t> (1Wh = 3,600J)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와트시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, Watt-hour)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Watt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hour</a:t>
            </a:r>
            <a:r>
              <a:rPr lang="ko-KR" altLang="en-US" sz="1600" spc="-50" dirty="0"/>
              <a:t>의 합성단위이다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전기는 시간 개념이 필요한 에너지 형태이다</a:t>
            </a:r>
            <a:r>
              <a:rPr lang="en-US" altLang="ko-KR" sz="1600" spc="-50" dirty="0"/>
              <a:t>.)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Watt(W)</a:t>
            </a:r>
            <a:r>
              <a:rPr lang="ko-KR" altLang="en-US" sz="1600" spc="-50" dirty="0"/>
              <a:t>는 전력을 의미하고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초</a:t>
            </a:r>
            <a:r>
              <a:rPr lang="en-US" altLang="ko-KR" sz="1600" spc="-50" dirty="0"/>
              <a:t>(s, second) </a:t>
            </a:r>
            <a:r>
              <a:rPr lang="ko-KR" altLang="en-US" sz="1600" spc="-50" dirty="0"/>
              <a:t>에 몇 </a:t>
            </a:r>
            <a:r>
              <a:rPr lang="en-US" altLang="ko-KR" sz="1600" spc="-50" dirty="0"/>
              <a:t>J</a:t>
            </a:r>
            <a:r>
              <a:rPr lang="ko-KR" altLang="en-US" sz="1600" spc="-50" dirty="0"/>
              <a:t>의 에너지를 사용하는가를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1W = 1J/s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1W(Watt)</a:t>
            </a:r>
            <a:r>
              <a:rPr lang="ko-KR" altLang="en-US" sz="1600" spc="-50" dirty="0"/>
              <a:t>의 전력으로 </a:t>
            </a:r>
            <a:r>
              <a:rPr lang="en-US" altLang="ko-KR" sz="1600" spc="-50" dirty="0"/>
              <a:t>1h(hour)</a:t>
            </a:r>
            <a:r>
              <a:rPr lang="ko-KR" altLang="en-US" sz="1600" spc="-50" dirty="0"/>
              <a:t>을 사용하면 </a:t>
            </a:r>
            <a:r>
              <a:rPr lang="en-US" altLang="ko-KR" sz="1600" spc="-50" dirty="0"/>
              <a:t>1Wh</a:t>
            </a:r>
            <a:r>
              <a:rPr lang="ko-KR" altLang="en-US" sz="1600" spc="-50" dirty="0"/>
              <a:t>으로 표현한다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45BDD1-6E47-5CD6-B17B-DAF45C1E9EBC}"/>
              </a:ext>
            </a:extLst>
          </p:cNvPr>
          <p:cNvSpPr txBox="1"/>
          <p:nvPr/>
        </p:nvSpPr>
        <p:spPr>
          <a:xfrm>
            <a:off x="288789" y="3023578"/>
            <a:ext cx="980226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오른쪽의 선풍기는 소비전력이 </a:t>
            </a:r>
            <a:r>
              <a:rPr lang="en-US" altLang="ko-KR" sz="1600" spc="-50" dirty="0"/>
              <a:t>50W</a:t>
            </a:r>
            <a:r>
              <a:rPr lang="ko-KR" altLang="en-US" sz="1600" spc="-50" dirty="0"/>
              <a:t>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선풍기는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초당 </a:t>
            </a:r>
            <a:r>
              <a:rPr lang="en-US" altLang="ko-KR" sz="1600" spc="-50" dirty="0"/>
              <a:t>50J</a:t>
            </a:r>
            <a:r>
              <a:rPr lang="ko-KR" altLang="en-US" sz="1600" spc="-50" dirty="0"/>
              <a:t>의 전기에너지를 소비한다는 의미이다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선풍기를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 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전기에너지를 </a:t>
            </a:r>
            <a:r>
              <a:rPr lang="en-US" altLang="ko-KR" sz="1600" spc="-50" dirty="0"/>
              <a:t>50Wh</a:t>
            </a:r>
            <a:r>
              <a:rPr lang="ko-KR" altLang="en-US" sz="1600" spc="-50" dirty="0"/>
              <a:t>사용하게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Watt(W)</a:t>
            </a:r>
            <a:r>
              <a:rPr lang="ko-KR" altLang="en-US" sz="1600" spc="-50" dirty="0"/>
              <a:t>의 정의에 따라</a:t>
            </a:r>
            <a:r>
              <a:rPr lang="en-US" altLang="ko-KR" sz="1600" spc="-50" dirty="0"/>
              <a:t>, 180,000J (50J/s x 60s x 60m(minutes))</a:t>
            </a:r>
            <a:r>
              <a:rPr lang="ko-KR" altLang="en-US" sz="1600" spc="-50" dirty="0"/>
              <a:t>을 사용하는 것 과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변환계수를 사용해도 비슷한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소수점 오차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결과를 얻는다</a:t>
            </a:r>
            <a:r>
              <a:rPr lang="en-US" altLang="ko-KR" sz="1600" spc="-50" dirty="0"/>
              <a:t>. 50Wh / 0.000278(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/J) = 179,856J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50Wh</a:t>
            </a:r>
            <a:r>
              <a:rPr lang="ko-KR" altLang="en-US" sz="1600" spc="-50" dirty="0"/>
              <a:t>를 칼로리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변환하면 대략 </a:t>
            </a:r>
            <a:r>
              <a:rPr lang="en-US" altLang="ko-KR" sz="1600" spc="-50" dirty="0"/>
              <a:t>42,985cal (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42.985kcal)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50 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 ÷ 0.000278 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/J x 0.239 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/J   = 42,985 </a:t>
            </a:r>
            <a:r>
              <a:rPr lang="en-US" altLang="ko-KR" sz="1600" spc="-50" dirty="0" err="1"/>
              <a:t>cal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종합해보면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선풍기는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시간에 </a:t>
            </a:r>
            <a:r>
              <a:rPr lang="en-US" altLang="ko-KR" sz="1600" b="1" spc="-50" dirty="0"/>
              <a:t>50Wh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</a:t>
            </a:r>
            <a:r>
              <a:rPr lang="en-US" altLang="ko-KR" sz="1600" b="1" spc="-50" dirty="0"/>
              <a:t>180,000J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</a:t>
            </a:r>
            <a:r>
              <a:rPr lang="en-US" altLang="ko-KR" sz="1600" b="1" spc="-50" dirty="0"/>
              <a:t>42,985cal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의 에너지를 사용한다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3020A-7A71-A263-9174-CBCB48AAE402}"/>
              </a:ext>
            </a:extLst>
          </p:cNvPr>
          <p:cNvSpPr txBox="1"/>
          <p:nvPr/>
        </p:nvSpPr>
        <p:spPr>
          <a:xfrm>
            <a:off x="9791803" y="6046893"/>
            <a:ext cx="20166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https://www.coupang.com/vp/products/7212367661?itemId=18255669809&amp;vendorItemId=85402293544&amp;q=%EC%84%A0%ED%92%8D%EA%B8%B0&amp;searchId=c317d35b66775999&amp;sourceType=search&amp;itemsCount=60&amp;searchRank=3&amp;rank=3&amp;traceId=mqyu4fmz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A38336-32B5-6A06-75A0-BD992DC1FEF6}"/>
              </a:ext>
            </a:extLst>
          </p:cNvPr>
          <p:cNvSpPr/>
          <p:nvPr/>
        </p:nvSpPr>
        <p:spPr>
          <a:xfrm>
            <a:off x="9878207" y="5202104"/>
            <a:ext cx="962071" cy="171116"/>
          </a:xfrm>
          <a:prstGeom prst="rect">
            <a:avLst/>
          </a:prstGeom>
          <a:solidFill>
            <a:srgbClr val="FFFF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85FFDB12-A0A9-55DB-176A-6E04EEB70428}"/>
                  </a:ext>
                </a:extLst>
              </p14:cNvPr>
              <p14:cNvContentPartPr/>
              <p14:nvPr/>
            </p14:nvContentPartPr>
            <p14:xfrm>
              <a:off x="3520286" y="1658931"/>
              <a:ext cx="360" cy="3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85FFDB12-A0A9-55DB-176A-6E04EEB704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14166" y="165281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4361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7523F-9CDF-8874-D177-634F152F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어떤 보조배터리를 </a:t>
            </a:r>
            <a:r>
              <a:rPr lang="ko-KR" altLang="en-US" dirty="0" err="1"/>
              <a:t>사야할까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4EE485-568C-823A-D054-38BD81EE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F47C11-023E-622F-D686-A0A4087CB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790" y="3217117"/>
            <a:ext cx="2369256" cy="32645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10650B6-AD51-46A4-D530-6AB05A4D6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766" y="3041018"/>
            <a:ext cx="2197424" cy="34344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40ABC0-0FCD-D3FF-88FE-0819BC3C4F03}"/>
              </a:ext>
            </a:extLst>
          </p:cNvPr>
          <p:cNvSpPr txBox="1"/>
          <p:nvPr/>
        </p:nvSpPr>
        <p:spPr>
          <a:xfrm>
            <a:off x="7360937" y="2485481"/>
            <a:ext cx="1206679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en-US" altLang="ko-KR" sz="1200" spc="-50" dirty="0"/>
              <a:t>&lt;13,900</a:t>
            </a:r>
            <a:r>
              <a:rPr lang="ko-KR" altLang="en-US" sz="1200" spc="-50" dirty="0"/>
              <a:t>원</a:t>
            </a:r>
            <a:r>
              <a:rPr lang="en-US" altLang="ko-KR" sz="1200" spc="-50" dirty="0"/>
              <a:t>&gt;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EFEAB4C-033A-F8F8-E5D6-089478B0A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549" y="1007164"/>
            <a:ext cx="1687657" cy="14684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68336A6-C9D1-DFB1-A042-BB70B7C191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2666" y="669736"/>
            <a:ext cx="1766952" cy="18951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3C92F1-0CB7-2337-3EDE-7792EE4DE7C4}"/>
              </a:ext>
            </a:extLst>
          </p:cNvPr>
          <p:cNvSpPr txBox="1"/>
          <p:nvPr/>
        </p:nvSpPr>
        <p:spPr>
          <a:xfrm>
            <a:off x="9865597" y="2485481"/>
            <a:ext cx="1206679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en-US" altLang="ko-KR" sz="1200" spc="-50" dirty="0"/>
              <a:t>&lt;34,800</a:t>
            </a:r>
            <a:r>
              <a:rPr lang="ko-KR" altLang="en-US" sz="1200" spc="-50" dirty="0"/>
              <a:t>원</a:t>
            </a:r>
            <a:r>
              <a:rPr lang="en-US" altLang="ko-KR" sz="1200" spc="-50" dirty="0"/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D59318-C132-A923-0D9D-214C984ED2EB}"/>
              </a:ext>
            </a:extLst>
          </p:cNvPr>
          <p:cNvSpPr txBox="1"/>
          <p:nvPr/>
        </p:nvSpPr>
        <p:spPr>
          <a:xfrm>
            <a:off x="288790" y="958844"/>
            <a:ext cx="6584671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보조배터리를 구매할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여러 고민을 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충전속도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보조배터리 자체가 얼마나 빨리 충전이 되는가</a:t>
            </a:r>
            <a:r>
              <a:rPr lang="en-US" altLang="ko-KR" sz="1600" spc="-50" dirty="0"/>
              <a:t>?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방전속도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다른 기기를 충전하는 속도는 얼마나 </a:t>
            </a:r>
            <a:r>
              <a:rPr lang="ko-KR" altLang="en-US" sz="1600" spc="-50" dirty="0" err="1"/>
              <a:t>빠른가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충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방전용량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내 핸드폰 완충이 몇 번 가능한가</a:t>
            </a:r>
            <a:r>
              <a:rPr lang="en-US" altLang="ko-KR" sz="1600" spc="-50" dirty="0"/>
              <a:t>?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간단한 공식으로 보조배터리의 스펙을 계산해볼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아까 얘기한 </a:t>
            </a:r>
            <a:r>
              <a:rPr lang="en-US" altLang="ko-KR" sz="1600" spc="-50" dirty="0"/>
              <a:t>Watt</a:t>
            </a:r>
            <a:r>
              <a:rPr lang="ko-KR" altLang="en-US" sz="1600" spc="-50" dirty="0"/>
              <a:t>가 전기에너지를 소비하는 속도라고 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보조배터리의</a:t>
            </a:r>
            <a:r>
              <a:rPr lang="en-US" altLang="ko-KR" sz="1600" spc="-50" dirty="0"/>
              <a:t> W</a:t>
            </a:r>
            <a:r>
              <a:rPr lang="ko-KR" altLang="en-US" sz="1600" spc="-50" dirty="0"/>
              <a:t>가 크면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충전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 속도가 빠르다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아까 얘기한 </a:t>
            </a:r>
            <a:r>
              <a:rPr lang="en-US" altLang="ko-KR" sz="1600" spc="-50" dirty="0"/>
              <a:t>Watt-hour</a:t>
            </a:r>
            <a:r>
              <a:rPr lang="ko-KR" altLang="en-US" sz="1600" spc="-50" dirty="0"/>
              <a:t>는 전기에너지의 양을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보조배터리의 </a:t>
            </a:r>
            <a:r>
              <a:rPr lang="en-US" altLang="ko-KR" sz="1600" spc="-50" dirty="0" err="1"/>
              <a:t>Wh</a:t>
            </a:r>
            <a:r>
              <a:rPr lang="ko-KR" altLang="en-US" sz="1600" spc="-50" dirty="0"/>
              <a:t>가 크면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충전을 많이 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보조배터리 판매 사이트를 보면</a:t>
            </a:r>
            <a:r>
              <a:rPr lang="en-US" altLang="ko-KR" sz="1600" spc="-50" dirty="0"/>
              <a:t>, W</a:t>
            </a:r>
            <a:r>
              <a:rPr lang="ko-KR" altLang="en-US" sz="1600" spc="-50" dirty="0"/>
              <a:t>나 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표기는 없고</a:t>
            </a:r>
            <a:r>
              <a:rPr lang="en-US" altLang="ko-KR" sz="1600" spc="-50" dirty="0"/>
              <a:t>,   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V(Volt)</a:t>
            </a:r>
            <a:r>
              <a:rPr lang="ko-KR" altLang="en-US" sz="1600" spc="-50" dirty="0"/>
              <a:t>나 </a:t>
            </a:r>
            <a:r>
              <a:rPr lang="en-US" altLang="ko-KR" sz="1600" spc="-50" dirty="0"/>
              <a:t>Ah(Ampere-hour) </a:t>
            </a:r>
            <a:r>
              <a:rPr lang="ko-KR" altLang="en-US" sz="1600" spc="-50" dirty="0"/>
              <a:t>등의 단위를 볼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쉽게 </a:t>
            </a:r>
            <a:r>
              <a:rPr lang="en-US" altLang="ko-KR" sz="1600" spc="-50" dirty="0"/>
              <a:t>W</a:t>
            </a:r>
            <a:r>
              <a:rPr lang="ko-KR" altLang="en-US" sz="1600" spc="-50" dirty="0"/>
              <a:t>와 </a:t>
            </a:r>
            <a:r>
              <a:rPr lang="en-US" altLang="ko-KR" sz="1600" spc="-50" dirty="0" err="1"/>
              <a:t>Wh</a:t>
            </a:r>
            <a:r>
              <a:rPr lang="ko-KR" altLang="en-US" sz="1600" spc="-50" dirty="0"/>
              <a:t>로 변환 가능한 단위들이다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8E06B-17FE-B471-6EBE-F1E93BC53F37}"/>
              </a:ext>
            </a:extLst>
          </p:cNvPr>
          <p:cNvSpPr txBox="1"/>
          <p:nvPr/>
        </p:nvSpPr>
        <p:spPr>
          <a:xfrm>
            <a:off x="9157294" y="1655038"/>
            <a:ext cx="506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spc="-50" dirty="0"/>
              <a:t>vs.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04925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96185-6ABA-322D-5F96-2D3DB1558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보조배터리 충전</a:t>
            </a:r>
            <a:r>
              <a:rPr lang="en-US" altLang="ko-KR" sz="2400" spc="-50" dirty="0"/>
              <a:t>·</a:t>
            </a:r>
            <a:r>
              <a:rPr lang="ko-KR" altLang="en-US" dirty="0"/>
              <a:t>방전 속도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2B37C-637D-C72B-A9E3-2BEC7ED9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CB7EE-8E39-5F0B-31F6-4006B661CAEA}"/>
              </a:ext>
            </a:extLst>
          </p:cNvPr>
          <p:cNvSpPr txBox="1"/>
          <p:nvPr/>
        </p:nvSpPr>
        <p:spPr>
          <a:xfrm>
            <a:off x="271857" y="234930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출력 부문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보조배터리→핸드폰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보면 </a:t>
            </a:r>
            <a:r>
              <a:rPr lang="en-US" altLang="ko-KR" sz="1600" spc="-50" dirty="0"/>
              <a:t>(5V, 3A), (9V, 2A), (12V, 1.67A)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15W (=5Vx3A), 18W(=9Vx2A), 20W(=12Vx1.67A)</a:t>
            </a:r>
            <a:r>
              <a:rPr lang="ko-KR" altLang="en-US" sz="1600" spc="-50" dirty="0"/>
              <a:t>를 지원한다는 뜻이다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</a:t>
            </a:r>
            <a:r>
              <a:rPr lang="ko-KR" altLang="en-US" sz="1600" spc="-50" dirty="0"/>
              <a:t>에서 최대 </a:t>
            </a:r>
            <a:r>
              <a:rPr lang="en-US" altLang="ko-KR" sz="1600" spc="-50" dirty="0"/>
              <a:t>20W</a:t>
            </a:r>
            <a:r>
              <a:rPr lang="ko-KR" altLang="en-US" sz="1600" spc="-50" dirty="0"/>
              <a:t>의 속도로 전자기기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핸드폰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충전 시킨다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빠른 속도로 핸드폰을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 충전시키면 </a:t>
            </a:r>
            <a:r>
              <a:rPr lang="en-US" altLang="ko-KR" sz="1600" spc="-50" dirty="0"/>
              <a:t>20Wh</a:t>
            </a:r>
            <a:r>
              <a:rPr lang="ko-KR" altLang="en-US" sz="1600" spc="-50" dirty="0"/>
              <a:t>의 전기에너지가 내 핸드폰에 저장된다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입력 부문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벽에 있는 </a:t>
            </a:r>
            <a:r>
              <a:rPr lang="ko-KR" altLang="en-US" sz="1600" spc="-50" dirty="0" err="1"/>
              <a:t>콘센트→보조배터리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을 보면 </a:t>
            </a:r>
            <a:r>
              <a:rPr lang="en-US" altLang="ko-KR" sz="1600" spc="-50" dirty="0"/>
              <a:t>(5V,3A), (9V,2A), (12V,1.5A)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15W (=5Vx3A), 18W(=9Vx2A), 18W(=12Vx1.5A)</a:t>
            </a:r>
            <a:r>
              <a:rPr lang="ko-KR" altLang="en-US" sz="1600" spc="-50" dirty="0"/>
              <a:t>를 지원한다는 뜻이다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</a:t>
            </a:r>
            <a:r>
              <a:rPr lang="ko-KR" altLang="en-US" sz="1600" spc="-50" dirty="0"/>
              <a:t>에서 최대 </a:t>
            </a:r>
            <a:r>
              <a:rPr lang="en-US" altLang="ko-KR" sz="1600" spc="-50" dirty="0"/>
              <a:t>18W</a:t>
            </a:r>
            <a:r>
              <a:rPr lang="ko-KR" altLang="en-US" sz="1600" spc="-50" dirty="0"/>
              <a:t>의 속도로 보조배터리가 충전된다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보조배터리를 가장 빠른 속도로 충전시키면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시간에 </a:t>
            </a:r>
            <a:r>
              <a:rPr lang="en-US" altLang="ko-KR" sz="1600" spc="-50" dirty="0"/>
              <a:t>18Wh</a:t>
            </a:r>
            <a:r>
              <a:rPr lang="ko-KR" altLang="en-US" sz="1600" spc="-50" dirty="0"/>
              <a:t>의 전기에너지가 보조배터리 안에 충전된다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0B261BE-A7EE-0BAE-101B-AE5EB76E0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617" y="1052904"/>
            <a:ext cx="2792354" cy="14684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6BB6FB2-EF18-EF8F-6945-8834057C3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44" y="880877"/>
            <a:ext cx="1687657" cy="146842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FC47AA-6698-0CF3-424C-ECB89493BBE3}"/>
              </a:ext>
            </a:extLst>
          </p:cNvPr>
          <p:cNvSpPr/>
          <p:nvPr/>
        </p:nvSpPr>
        <p:spPr>
          <a:xfrm>
            <a:off x="8795617" y="1878626"/>
            <a:ext cx="2792354" cy="297308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solidFill>
              <a:schemeClr val="accent1">
                <a:shade val="1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B84FE1-770E-1F16-FCCD-163C0281FE55}"/>
              </a:ext>
            </a:extLst>
          </p:cNvPr>
          <p:cNvSpPr txBox="1"/>
          <p:nvPr/>
        </p:nvSpPr>
        <p:spPr>
          <a:xfrm>
            <a:off x="271858" y="926904"/>
            <a:ext cx="6018876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보조배터리의 충전속도는 얼마일까</a:t>
            </a:r>
            <a:r>
              <a:rPr lang="en-US" altLang="ko-KR" sz="1600" spc="-50" dirty="0"/>
              <a:t>?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배운 </a:t>
            </a:r>
            <a:r>
              <a:rPr lang="en-US" altLang="ko-KR" sz="1600" spc="-50" dirty="0"/>
              <a:t>W(Watt)</a:t>
            </a:r>
            <a:r>
              <a:rPr lang="ko-KR" altLang="en-US" sz="1600" spc="-50" dirty="0"/>
              <a:t>가 몇인지 표시가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우리는</a:t>
            </a:r>
            <a:r>
              <a:rPr lang="en-US" altLang="ko-KR" sz="1600" spc="-50" dirty="0"/>
              <a:t> V(</a:t>
            </a:r>
            <a:r>
              <a:rPr lang="ko-KR" altLang="en-US" sz="1600" spc="-50" dirty="0"/>
              <a:t>전압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A(</a:t>
            </a:r>
            <a:r>
              <a:rPr lang="ko-KR" altLang="en-US" sz="1600" spc="-50" dirty="0"/>
              <a:t>전류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곱으로 구할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Watt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= V x A</a:t>
            </a:r>
          </a:p>
        </p:txBody>
      </p:sp>
    </p:spTree>
    <p:extLst>
      <p:ext uri="{BB962C8B-B14F-4D97-AF65-F5344CB8AC3E}">
        <p14:creationId xmlns:p14="http://schemas.microsoft.com/office/powerpoint/2010/main" val="382854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0AE5-33CC-1959-85A2-0D4B68D8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FFFE1-591D-9A87-815D-461AD5B8D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보조배터리 충전</a:t>
            </a:r>
            <a:r>
              <a:rPr lang="en-US" altLang="ko-KR" sz="2400" spc="-50" dirty="0"/>
              <a:t>·</a:t>
            </a:r>
            <a:r>
              <a:rPr lang="ko-KR" altLang="en-US" dirty="0"/>
              <a:t>방전 속도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CF717A-CEEB-11CE-839D-96FF820D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A5EEE-B616-E8F3-4FE7-41A370F6F2C1}"/>
              </a:ext>
            </a:extLst>
          </p:cNvPr>
          <p:cNvSpPr txBox="1"/>
          <p:nvPr/>
        </p:nvSpPr>
        <p:spPr>
          <a:xfrm>
            <a:off x="271857" y="3992572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보조 배터리의 용량을 다시 계산해보면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일단 배터리용량 부문을 보면 </a:t>
            </a:r>
            <a:r>
              <a:rPr lang="en-US" altLang="ko-KR" sz="1600" spc="-50" dirty="0"/>
              <a:t>(5000mAh, 3.7V)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5,000mAh</a:t>
            </a:r>
            <a:r>
              <a:rPr lang="ko-KR" altLang="en-US" sz="1600" spc="-50" dirty="0"/>
              <a:t>에서 암페어부분</a:t>
            </a:r>
            <a:r>
              <a:rPr lang="en-US" altLang="ko-KR" sz="1600" spc="-50" dirty="0"/>
              <a:t>(mA)</a:t>
            </a:r>
            <a:r>
              <a:rPr lang="ko-KR" altLang="en-US" sz="1600" spc="-50" dirty="0"/>
              <a:t>과 시간</a:t>
            </a:r>
            <a:r>
              <a:rPr lang="en-US" altLang="ko-KR" sz="1600" spc="-50" dirty="0"/>
              <a:t>(h)</a:t>
            </a:r>
            <a:r>
              <a:rPr lang="ko-KR" altLang="en-US" sz="1600" spc="-50" dirty="0"/>
              <a:t> 부분을 따로 떼어 생각 해보면 아래와 같이 계산이 가능하다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5,000mA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3.7V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1hour = 18,500mA·V·hour = 18.5Wh        (</a:t>
            </a:r>
            <a:r>
              <a:rPr lang="en-US" altLang="ko-KR" sz="1600" spc="-50" dirty="0" err="1"/>
              <a:t>mili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1/1000</a:t>
            </a:r>
            <a:r>
              <a:rPr lang="ko-KR" altLang="en-US" sz="1600" spc="-50" dirty="0"/>
              <a:t>을 뜻하고</a:t>
            </a:r>
            <a:r>
              <a:rPr lang="en-US" altLang="ko-KR" sz="1600" spc="-50" dirty="0"/>
              <a:t>, A·V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W</a:t>
            </a:r>
            <a:r>
              <a:rPr lang="ko-KR" altLang="en-US" sz="1600" spc="-50" dirty="0"/>
              <a:t>로 바뀐다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보조배터리가 </a:t>
            </a:r>
            <a:r>
              <a:rPr lang="en-US" altLang="ko-KR" sz="1600" spc="-50" dirty="0"/>
              <a:t>100% </a:t>
            </a:r>
            <a:r>
              <a:rPr lang="ko-KR" altLang="en-US" sz="1600" spc="-50" dirty="0"/>
              <a:t>충전상태라면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나는 </a:t>
            </a:r>
            <a:r>
              <a:rPr lang="en-US" altLang="ko-KR" sz="1600" spc="-50" dirty="0"/>
              <a:t>18.5Wh</a:t>
            </a:r>
            <a:r>
              <a:rPr lang="ko-KR" altLang="en-US" sz="1600" spc="-50" dirty="0"/>
              <a:t>만큼의 전기에너지를 쓸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스마트폰 용량이 보통 </a:t>
            </a:r>
            <a:r>
              <a:rPr lang="en-US" altLang="ko-KR" sz="1600" spc="-50" dirty="0"/>
              <a:t>15~20Wh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미니 보조배터리로 핸드폰을 대략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번 정도 완충할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258DE9-FADF-7F38-A360-95D287DC3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617" y="1052904"/>
            <a:ext cx="2792354" cy="14684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6CC622A-8D6D-21A9-E8D3-E5C8BA6D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44" y="880877"/>
            <a:ext cx="1687657" cy="146842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C20ADE-1C90-48AB-5097-E74671AEB527}"/>
              </a:ext>
            </a:extLst>
          </p:cNvPr>
          <p:cNvSpPr/>
          <p:nvPr/>
        </p:nvSpPr>
        <p:spPr>
          <a:xfrm>
            <a:off x="8795617" y="1693096"/>
            <a:ext cx="2792354" cy="201965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solidFill>
              <a:schemeClr val="accent1">
                <a:shade val="1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30FBA1-AE4F-DE66-DF7A-01B7AB5D6562}"/>
              </a:ext>
            </a:extLst>
          </p:cNvPr>
          <p:cNvSpPr txBox="1"/>
          <p:nvPr/>
        </p:nvSpPr>
        <p:spPr>
          <a:xfrm>
            <a:off x="271857" y="926904"/>
            <a:ext cx="666298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보조배터리가 갖고 있는 전기에너지의 양은 얼마일까</a:t>
            </a:r>
            <a:r>
              <a:rPr lang="en-US" altLang="ko-KR" sz="1600" spc="-50" dirty="0"/>
              <a:t>?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배운 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(Watt-hour)</a:t>
            </a:r>
            <a:r>
              <a:rPr lang="ko-KR" altLang="en-US" sz="1600" spc="-50" dirty="0"/>
              <a:t>가 몇인지 표시는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배터리용량에 </a:t>
            </a:r>
            <a:r>
              <a:rPr lang="en-US" altLang="ko-KR" sz="1600" spc="-50" dirty="0"/>
              <a:t>(5000mAh, 3.7V)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여기서 </a:t>
            </a:r>
            <a:r>
              <a:rPr lang="en-US" altLang="ko-KR" sz="1600" spc="-50" dirty="0"/>
              <a:t>m</a:t>
            </a:r>
            <a:r>
              <a:rPr lang="ko-KR" altLang="en-US" sz="1600" spc="-50" dirty="0"/>
              <a:t>은 밀리</a:t>
            </a:r>
            <a:r>
              <a:rPr lang="en-US" altLang="ko-KR" sz="1600" spc="-50" dirty="0"/>
              <a:t>, </a:t>
            </a:r>
            <a:r>
              <a:rPr lang="en-US" altLang="ko-KR" sz="1600" spc="-50" dirty="0" err="1"/>
              <a:t>mili</a:t>
            </a:r>
            <a:r>
              <a:rPr lang="en-US" altLang="ko-KR" sz="1600" spc="-50" dirty="0"/>
              <a:t>(10</a:t>
            </a:r>
            <a:r>
              <a:rPr lang="en-US" altLang="ko-KR" sz="1600" spc="-50" baseline="30000" dirty="0"/>
              <a:t>-3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뜻하고</a:t>
            </a:r>
            <a:r>
              <a:rPr lang="en-US" altLang="ko-KR" sz="1600" spc="-50" dirty="0"/>
              <a:t>, A</a:t>
            </a:r>
            <a:r>
              <a:rPr lang="ko-KR" altLang="en-US" sz="1600" spc="-50" dirty="0"/>
              <a:t>는 전류</a:t>
            </a:r>
            <a:r>
              <a:rPr lang="en-US" altLang="ko-KR" sz="1600" spc="-50" dirty="0"/>
              <a:t>, h</a:t>
            </a:r>
            <a:r>
              <a:rPr lang="ko-KR" altLang="en-US" sz="1600" spc="-50" dirty="0"/>
              <a:t>는 시간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전력</a:t>
            </a:r>
            <a:r>
              <a:rPr lang="en-US" altLang="ko-KR" sz="1600" spc="-50" dirty="0"/>
              <a:t>(W)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V(</a:t>
            </a:r>
            <a:r>
              <a:rPr lang="ko-KR" altLang="en-US" sz="1600" spc="-50" dirty="0"/>
              <a:t>전압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A(</a:t>
            </a:r>
            <a:r>
              <a:rPr lang="ko-KR" altLang="en-US" sz="1600" spc="-50" dirty="0"/>
              <a:t>전류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곱으로 구할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Watt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A x V   (5,000mA  x  3.7V = 18,500mW = 18.5W)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전기에너지 양은 </a:t>
            </a:r>
            <a:r>
              <a:rPr lang="en-US" altLang="ko-KR" sz="1600" spc="-50" dirty="0"/>
              <a:t>W(</a:t>
            </a:r>
            <a:r>
              <a:rPr lang="ko-KR" altLang="en-US" sz="1600" spc="-50" dirty="0"/>
              <a:t>전력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h(</a:t>
            </a:r>
            <a:r>
              <a:rPr lang="ko-KR" altLang="en-US" sz="1600" spc="-50" dirty="0"/>
              <a:t>시간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곱으로 구할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 err="1"/>
              <a:t>Wh</a:t>
            </a:r>
            <a:r>
              <a:rPr lang="en-US" altLang="ko-KR" sz="1600" spc="-50" dirty="0"/>
              <a:t> = Watt x hour    (18.5W  x  1h = 18.5Wh)</a:t>
            </a:r>
          </a:p>
        </p:txBody>
      </p:sp>
    </p:spTree>
    <p:extLst>
      <p:ext uri="{BB962C8B-B14F-4D97-AF65-F5344CB8AC3E}">
        <p14:creationId xmlns:p14="http://schemas.microsoft.com/office/powerpoint/2010/main" val="741105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23982-D55D-3D87-1A0C-4CB120FE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1E76E-9A61-3427-4CFF-168AF286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보조배터리 충전</a:t>
            </a:r>
            <a:r>
              <a:rPr lang="en-US" altLang="ko-KR" sz="2400" spc="-50" dirty="0"/>
              <a:t>·</a:t>
            </a:r>
            <a:r>
              <a:rPr lang="ko-KR" altLang="en-US" dirty="0"/>
              <a:t>방전 속도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D80DC3-DD08-733C-8F75-9AB332F4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D1153-2A7F-3EDB-50E2-B6F75E42C979}"/>
              </a:ext>
            </a:extLst>
          </p:cNvPr>
          <p:cNvSpPr txBox="1"/>
          <p:nvPr/>
        </p:nvSpPr>
        <p:spPr>
          <a:xfrm>
            <a:off x="271857" y="2764169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출력 부문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보조배터리→핸드폰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을 보면 </a:t>
            </a:r>
            <a:r>
              <a:rPr lang="en-US" altLang="ko-KR" sz="1600" spc="-50" dirty="0"/>
              <a:t>(5V, 3A), ···, (20V, 3.25A)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 (=5Vx3A), </a:t>
            </a:r>
            <a:r>
              <a:rPr lang="ko-KR" altLang="en-US" sz="1600" spc="-50" dirty="0"/>
              <a:t>최대</a:t>
            </a:r>
            <a:r>
              <a:rPr lang="en-US" altLang="ko-KR" sz="1600" spc="-50" dirty="0"/>
              <a:t> 65W(=20Vx3.25A)</a:t>
            </a:r>
            <a:r>
              <a:rPr lang="ko-KR" altLang="en-US" sz="1600" spc="-50" dirty="0"/>
              <a:t>를 지원한다는 뜻이다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</a:t>
            </a:r>
            <a:r>
              <a:rPr lang="ko-KR" altLang="en-US" sz="1600" spc="-50" dirty="0"/>
              <a:t>에서 최대 </a:t>
            </a:r>
            <a:r>
              <a:rPr lang="en-US" altLang="ko-KR" sz="1600" spc="-50" dirty="0"/>
              <a:t>65W</a:t>
            </a:r>
            <a:r>
              <a:rPr lang="ko-KR" altLang="en-US" sz="1600" spc="-50" dirty="0"/>
              <a:t>의 속도로 전자기기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핸드폰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충전시킨다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빠른 속도로 핸드폰을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 충전시키면 </a:t>
            </a:r>
            <a:r>
              <a:rPr lang="en-US" altLang="ko-KR" sz="1600" spc="-50" dirty="0"/>
              <a:t>65Wh</a:t>
            </a:r>
            <a:r>
              <a:rPr lang="ko-KR" altLang="en-US" sz="1600" spc="-50" dirty="0"/>
              <a:t>의 전기에너지가 내 핸드폰에 저장된다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입력 부문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콘센트→보조배터리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을 보면 </a:t>
            </a:r>
            <a:r>
              <a:rPr lang="en-US" altLang="ko-KR" sz="1600" spc="-50" dirty="0"/>
              <a:t>(5V, 3A), ···, (20V, 2A)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 (=5Vx3A), </a:t>
            </a:r>
            <a:r>
              <a:rPr lang="ko-KR" altLang="en-US" sz="1600" spc="-50" dirty="0"/>
              <a:t>최대</a:t>
            </a:r>
            <a:r>
              <a:rPr lang="en-US" altLang="ko-KR" sz="1600" spc="-50" dirty="0"/>
              <a:t> 40W(=20Vx2A)</a:t>
            </a:r>
            <a:r>
              <a:rPr lang="ko-KR" altLang="en-US" sz="1600" spc="-50" dirty="0"/>
              <a:t>를 지원한다는 뜻이다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</a:t>
            </a:r>
            <a:r>
              <a:rPr lang="ko-KR" altLang="en-US" sz="1600" spc="-50" dirty="0"/>
              <a:t>에서 최대 </a:t>
            </a:r>
            <a:r>
              <a:rPr lang="en-US" altLang="ko-KR" sz="1600" spc="-50" dirty="0"/>
              <a:t>40W</a:t>
            </a:r>
            <a:r>
              <a:rPr lang="ko-KR" altLang="en-US" sz="1600" spc="-50" dirty="0"/>
              <a:t>의 속도로 보조배터리를 충전한다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보조배터리를 가장 빠른 속도로 충전시키면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시간에 </a:t>
            </a:r>
            <a:r>
              <a:rPr lang="en-US" altLang="ko-KR" sz="1600" spc="-50" dirty="0"/>
              <a:t>40Wh</a:t>
            </a:r>
            <a:r>
              <a:rPr lang="ko-KR" altLang="en-US" sz="1600" spc="-50" dirty="0"/>
              <a:t>의 전기에너지가 보조배터리 안에 충전된다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A0EDB-E730-EBC8-EFF4-E00D8E3467E6}"/>
              </a:ext>
            </a:extLst>
          </p:cNvPr>
          <p:cNvSpPr txBox="1"/>
          <p:nvPr/>
        </p:nvSpPr>
        <p:spPr>
          <a:xfrm>
            <a:off x="271858" y="926904"/>
            <a:ext cx="6018876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보조배터리의 충전속도는 얼마일까</a:t>
            </a:r>
            <a:r>
              <a:rPr lang="en-US" altLang="ko-KR" sz="1600" spc="-50" dirty="0"/>
              <a:t>?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AAA127-4E46-963D-002E-22B88418F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400" y="906101"/>
            <a:ext cx="2597128" cy="24542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06F74B-7402-0089-3342-AD060A824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730" y="807936"/>
            <a:ext cx="1766952" cy="189519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F2971F8-C2FF-1203-D957-DCE12A4C7E1E}"/>
              </a:ext>
            </a:extLst>
          </p:cNvPr>
          <p:cNvSpPr/>
          <p:nvPr/>
        </p:nvSpPr>
        <p:spPr>
          <a:xfrm>
            <a:off x="9119682" y="2331992"/>
            <a:ext cx="1456819" cy="140193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2BA030-B1B9-8834-B352-1CCB071D3C76}"/>
              </a:ext>
            </a:extLst>
          </p:cNvPr>
          <p:cNvSpPr/>
          <p:nvPr/>
        </p:nvSpPr>
        <p:spPr>
          <a:xfrm>
            <a:off x="9169400" y="1824720"/>
            <a:ext cx="2597128" cy="259420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077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2965E-C231-C2C5-6D80-6AB661B0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E8672-A0FC-2DB8-BF52-06673C58F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보조배터리 충전</a:t>
            </a:r>
            <a:r>
              <a:rPr lang="en-US" altLang="ko-KR" sz="2400" spc="-50" dirty="0"/>
              <a:t>·</a:t>
            </a:r>
            <a:r>
              <a:rPr lang="ko-KR" altLang="en-US" dirty="0"/>
              <a:t>방전 속도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6B618-8A8A-21B0-11FA-70E19C71A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9C1F4-6C46-F06E-9943-6C1CDD616944}"/>
              </a:ext>
            </a:extLst>
          </p:cNvPr>
          <p:cNvSpPr txBox="1"/>
          <p:nvPr/>
        </p:nvSpPr>
        <p:spPr>
          <a:xfrm>
            <a:off x="271857" y="3992572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배터리용량 부문을 보면 </a:t>
            </a:r>
            <a:r>
              <a:rPr lang="en-US" altLang="ko-KR" sz="1600" spc="-50" dirty="0"/>
              <a:t>(20,000mAh, 3.8V)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이 모델은 친절히 </a:t>
            </a:r>
            <a:r>
              <a:rPr lang="en-US" altLang="ko-KR" sz="1600" spc="-50" dirty="0"/>
              <a:t>76Wh</a:t>
            </a:r>
            <a:r>
              <a:rPr lang="ko-KR" altLang="en-US" sz="1600" spc="-50" dirty="0"/>
              <a:t>로 계산이 되어 </a:t>
            </a:r>
            <a:r>
              <a:rPr lang="ko-KR" altLang="en-US" sz="1600" spc="-50" dirty="0" err="1"/>
              <a:t>있긴하다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20,000mAh</a:t>
            </a:r>
            <a:r>
              <a:rPr lang="ko-KR" altLang="en-US" sz="1600" spc="-50" dirty="0"/>
              <a:t>에서 암페어부분</a:t>
            </a:r>
            <a:r>
              <a:rPr lang="en-US" altLang="ko-KR" sz="1600" spc="-50" dirty="0"/>
              <a:t>(mA)</a:t>
            </a:r>
            <a:r>
              <a:rPr lang="ko-KR" altLang="en-US" sz="1600" spc="-50" dirty="0"/>
              <a:t>과 시간</a:t>
            </a:r>
            <a:r>
              <a:rPr lang="en-US" altLang="ko-KR" sz="1600" spc="-50" dirty="0"/>
              <a:t>(h)</a:t>
            </a:r>
            <a:r>
              <a:rPr lang="ko-KR" altLang="en-US" sz="1600" spc="-50" dirty="0"/>
              <a:t> 부분을 따로 떼어 생각 해보면 아래와 같이 계산이 가능하다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20,000mA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3.8V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1hour = 76,000mA·V·hour = 76Wh        (</a:t>
            </a:r>
            <a:r>
              <a:rPr lang="en-US" altLang="ko-KR" sz="1600" spc="-50" dirty="0" err="1"/>
              <a:t>mili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1/1000</a:t>
            </a:r>
            <a:r>
              <a:rPr lang="ko-KR" altLang="en-US" sz="1600" spc="-50" dirty="0"/>
              <a:t>을 뜻하고</a:t>
            </a:r>
            <a:r>
              <a:rPr lang="en-US" altLang="ko-KR" sz="1600" spc="-50" dirty="0"/>
              <a:t>, A·V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W</a:t>
            </a:r>
            <a:r>
              <a:rPr lang="ko-KR" altLang="en-US" sz="1600" spc="-50" dirty="0"/>
              <a:t>로 바뀐다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보조배터리가 </a:t>
            </a:r>
            <a:r>
              <a:rPr lang="en-US" altLang="ko-KR" sz="1600" spc="-50" dirty="0"/>
              <a:t>100% </a:t>
            </a:r>
            <a:r>
              <a:rPr lang="ko-KR" altLang="en-US" sz="1600" spc="-50" dirty="0"/>
              <a:t>충전상태라면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나는 </a:t>
            </a:r>
            <a:r>
              <a:rPr lang="en-US" altLang="ko-KR" sz="1600" spc="-50" dirty="0"/>
              <a:t>76Wh</a:t>
            </a:r>
            <a:r>
              <a:rPr lang="ko-KR" altLang="en-US" sz="1600" spc="-50" dirty="0"/>
              <a:t>만큼의 전기에너지를 쓸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스마트폰 용량이 보통 </a:t>
            </a:r>
            <a:r>
              <a:rPr lang="en-US" altLang="ko-KR" sz="1600" spc="-50" dirty="0"/>
              <a:t>15~20Wh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미니 보조배터리로 핸드폰을 대략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번 정도 완충할 수 있다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391507-D714-8422-8FBB-9799709C30B8}"/>
              </a:ext>
            </a:extLst>
          </p:cNvPr>
          <p:cNvSpPr txBox="1"/>
          <p:nvPr/>
        </p:nvSpPr>
        <p:spPr>
          <a:xfrm>
            <a:off x="271857" y="926904"/>
            <a:ext cx="6544177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보조배터리가 갖고 있는 전기에너지의 양은 얼마일까</a:t>
            </a:r>
            <a:r>
              <a:rPr lang="en-US" altLang="ko-KR" sz="1600" spc="-50" dirty="0"/>
              <a:t>?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4F9CD8-685D-D86A-0E5E-5C8FC1C87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400" y="906101"/>
            <a:ext cx="2597128" cy="24542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36B469-D203-C455-D9D6-9DC9FCE2B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730" y="807936"/>
            <a:ext cx="1766952" cy="189519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641EB84-4281-7B7A-FD94-595E8F0A29EF}"/>
              </a:ext>
            </a:extLst>
          </p:cNvPr>
          <p:cNvSpPr/>
          <p:nvPr/>
        </p:nvSpPr>
        <p:spPr>
          <a:xfrm>
            <a:off x="9119682" y="2331992"/>
            <a:ext cx="1456819" cy="140193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A9AD31-B437-B22F-D2CE-34792A4C9BE4}"/>
              </a:ext>
            </a:extLst>
          </p:cNvPr>
          <p:cNvSpPr/>
          <p:nvPr/>
        </p:nvSpPr>
        <p:spPr>
          <a:xfrm>
            <a:off x="9169400" y="1824720"/>
            <a:ext cx="2597128" cy="259420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152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F806-B994-CA21-10BB-9BF85DE3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3671B647-8CA3-39F2-13C9-E7585CF6F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163" y="4015891"/>
            <a:ext cx="1676458" cy="15859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F0D6CF-0A45-23A4-FBAC-1B5F745AF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단위 변환 </a:t>
            </a:r>
            <a:r>
              <a:rPr lang="en-US" altLang="ko-KR" dirty="0"/>
              <a:t>(</a:t>
            </a:r>
            <a:r>
              <a:rPr lang="ko-KR" altLang="en-US" dirty="0"/>
              <a:t>미니 선풍기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84598B-A163-B812-DA7A-E609E0B0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BEEC4-80A7-DEA0-9263-389BA0F83AE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 선풍기는 콘센트를 꼽지 않으면 안 돌아가는데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미니 선풍기는 콘센트 연결 없이 돌아간다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미니 선풍기 안에 배터리가 들어가 있기 때문에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미니 선풍기의 입력 부문을 보면 </a:t>
            </a:r>
            <a:r>
              <a:rPr lang="en-US" altLang="ko-KR" sz="1600" spc="-50" dirty="0"/>
              <a:t>(5V, 2A)</a:t>
            </a:r>
            <a:r>
              <a:rPr lang="ko-KR" altLang="en-US" sz="1600" spc="-50" dirty="0"/>
              <a:t>로 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10W</a:t>
            </a:r>
            <a:r>
              <a:rPr lang="ko-KR" altLang="en-US" sz="1600" spc="-50" dirty="0"/>
              <a:t>의 전압으로 미니 선풍기가 충전된다는 의미다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출력 부문을 보면 </a:t>
            </a:r>
            <a:r>
              <a:rPr lang="en-US" altLang="ko-KR" sz="1600" spc="-50" dirty="0"/>
              <a:t>3.7V</a:t>
            </a:r>
            <a:r>
              <a:rPr lang="ko-KR" altLang="en-US" sz="1600" spc="-50" dirty="0"/>
              <a:t>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표시되어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전압이 </a:t>
            </a:r>
            <a:r>
              <a:rPr lang="en-US" altLang="ko-KR" sz="1600" spc="-50" dirty="0"/>
              <a:t>5W</a:t>
            </a:r>
            <a:r>
              <a:rPr lang="ko-KR" altLang="en-US" sz="1600" spc="-50" dirty="0"/>
              <a:t>로 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역산해보면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대략 </a:t>
            </a:r>
            <a:r>
              <a:rPr lang="en-US" altLang="ko-KR" sz="1600" spc="-50" dirty="0"/>
              <a:t>1.35A </a:t>
            </a:r>
            <a:r>
              <a:rPr lang="ko-KR" altLang="en-US" sz="1600" spc="-50" dirty="0"/>
              <a:t>로 출력될 것임을 유추할 수 있다</a:t>
            </a:r>
            <a:r>
              <a:rPr lang="en-US" altLang="ko-KR" sz="1600" spc="-50" dirty="0"/>
              <a:t>. (W = V x A)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출력부문은 </a:t>
            </a:r>
            <a:r>
              <a:rPr lang="en-US" altLang="ko-KR" sz="1600" spc="-50" dirty="0"/>
              <a:t>(3.7V, 1.35A)</a:t>
            </a:r>
            <a:r>
              <a:rPr lang="ko-KR" altLang="en-US" sz="1600" spc="-50" dirty="0"/>
              <a:t>로서 </a:t>
            </a:r>
            <a:r>
              <a:rPr lang="en-US" altLang="ko-KR" sz="1600" spc="-50" dirty="0"/>
              <a:t>5W</a:t>
            </a:r>
            <a:r>
              <a:rPr lang="ko-KR" altLang="en-US" sz="1600" spc="-50" dirty="0"/>
              <a:t>의 전압으로 전기에너지를 소비한다는 의미다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시간 동안 사용하면 </a:t>
            </a:r>
            <a:r>
              <a:rPr lang="en-US" altLang="ko-KR" sz="1600" spc="-50" dirty="0"/>
              <a:t>5Wh</a:t>
            </a:r>
            <a:r>
              <a:rPr lang="ko-KR" altLang="en-US" sz="1600" spc="-50" dirty="0"/>
              <a:t>의 전기에너지를 소비하게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배터리용량은 </a:t>
            </a:r>
            <a:r>
              <a:rPr lang="en-US" altLang="ko-KR" sz="1600" spc="-50" dirty="0"/>
              <a:t>4.5Ah (=4,500mAh)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정격전압이 </a:t>
            </a:r>
            <a:r>
              <a:rPr lang="en-US" altLang="ko-KR" sz="1600" spc="-50" dirty="0"/>
              <a:t>3.7V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보조배터리가 </a:t>
            </a:r>
            <a:r>
              <a:rPr lang="en-US" altLang="ko-KR" sz="1600" spc="-50" dirty="0"/>
              <a:t>100% </a:t>
            </a:r>
            <a:r>
              <a:rPr lang="ko-KR" altLang="en-US" sz="1600" spc="-50" dirty="0"/>
              <a:t>충전상태라면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16.65Wh (= 4.5Ah x 3.7V) </a:t>
            </a:r>
            <a:r>
              <a:rPr lang="ko-KR" altLang="en-US" sz="1600" spc="-50" dirty="0"/>
              <a:t>만큼의 전기에너지를 쓸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10W</a:t>
            </a:r>
            <a:r>
              <a:rPr lang="ko-KR" altLang="en-US" sz="1600" spc="-50" dirty="0"/>
              <a:t>의 전압으로 충전되므로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선풍기가 </a:t>
            </a:r>
            <a:r>
              <a:rPr lang="en-US" altLang="ko-KR" sz="1600" spc="-50" dirty="0"/>
              <a:t>0%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100%</a:t>
            </a:r>
            <a:r>
              <a:rPr lang="ko-KR" altLang="en-US" sz="1600" spc="-50" dirty="0"/>
              <a:t>까지 충전되는데 </a:t>
            </a:r>
            <a:r>
              <a:rPr lang="en-US" altLang="ko-KR" sz="1600" spc="-50" dirty="0"/>
              <a:t>1.65</a:t>
            </a:r>
            <a:r>
              <a:rPr lang="ko-KR" altLang="en-US" sz="1600" spc="-50" dirty="0"/>
              <a:t>시간</a:t>
            </a:r>
            <a:r>
              <a:rPr lang="en-US" altLang="ko-KR" sz="1600" spc="-50" dirty="0"/>
              <a:t>(99</a:t>
            </a:r>
            <a:r>
              <a:rPr lang="ko-KR" altLang="en-US" sz="1600" spc="-50" dirty="0"/>
              <a:t>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소요된다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5W</a:t>
            </a:r>
            <a:r>
              <a:rPr lang="ko-KR" altLang="en-US" sz="1600" spc="-50" dirty="0"/>
              <a:t>의 전압으로 전기를 소비하므로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선풍기는 </a:t>
            </a:r>
            <a:r>
              <a:rPr lang="en-US" altLang="ko-KR" sz="1600" spc="-50" dirty="0"/>
              <a:t>3.3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(200</a:t>
            </a:r>
            <a:r>
              <a:rPr lang="ko-KR" altLang="en-US" sz="1600" spc="-50" dirty="0"/>
              <a:t>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동안 쓸 수 있다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5B046-4342-D746-0677-B8D162310D05}"/>
              </a:ext>
            </a:extLst>
          </p:cNvPr>
          <p:cNvSpPr txBox="1"/>
          <p:nvPr/>
        </p:nvSpPr>
        <p:spPr>
          <a:xfrm>
            <a:off x="9828090" y="5574453"/>
            <a:ext cx="201660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www.coupang.com/vp/products/8690517296?itemId=25231486136&amp;vendorItemId=92227684957&amp;sourceType=srp_product_ads&amp;clickEventId=81b0fc80-74f7-11f1-a7e4-fb540a9a1516&amp;korePlacement=15&amp;koreSubPlacement=1&amp;clickEventId=81b0fc80-74f7-11f1-a7e4-fb540a9a1516&amp;korePlacement=15&amp;koreSubPlacement=1&amp;traceId=mr1h97vj</a:t>
            </a:r>
            <a:endParaRPr lang="ko-KR" altLang="en-US" sz="7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8357DA-9172-B062-6020-75B010DE807A}"/>
              </a:ext>
            </a:extLst>
          </p:cNvPr>
          <p:cNvSpPr/>
          <p:nvPr/>
        </p:nvSpPr>
        <p:spPr>
          <a:xfrm>
            <a:off x="9998163" y="4884000"/>
            <a:ext cx="1409080" cy="73251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0F3D275-F4B3-0464-9312-56860D616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278" y="1795282"/>
            <a:ext cx="1400227" cy="21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07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162E-3D87-126C-DB34-FEDD71C97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75777-CEFF-C33F-5235-8917CB34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단위 변환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B7ABD-DD56-FC7C-E177-92FD4508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7D904-41AE-FF64-2DDD-5EBEF04821FD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종합해보면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아래와 같다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100% </a:t>
            </a:r>
            <a:r>
              <a:rPr lang="ko-KR" altLang="en-US" sz="1600" spc="-50" dirty="0"/>
              <a:t>충전된 보조배터리로 </a:t>
            </a:r>
            <a:r>
              <a:rPr lang="ko-KR" altLang="en-US" sz="1600" spc="-50" dirty="0" err="1"/>
              <a:t>미니선풍기를</a:t>
            </a:r>
            <a:r>
              <a:rPr lang="ko-KR" altLang="en-US" sz="1600" spc="-50" dirty="0"/>
              <a:t> 충전하면 아래와 같은 상황이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보조배터리는 </a:t>
            </a:r>
            <a:r>
              <a:rPr lang="en-US" altLang="ko-KR" sz="1600" spc="-50" dirty="0"/>
              <a:t>76Wh</a:t>
            </a:r>
            <a:r>
              <a:rPr lang="ko-KR" altLang="en-US" sz="1600" spc="-50" dirty="0"/>
              <a:t>의 전기에너지를 갖고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미니 선풍기를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번 완충시키고도</a:t>
            </a:r>
            <a:r>
              <a:rPr lang="en-US" altLang="ko-KR" sz="1600" spc="-50" dirty="0"/>
              <a:t>, 59.35Wh</a:t>
            </a:r>
            <a:r>
              <a:rPr lang="ko-KR" altLang="en-US" sz="1600" spc="-50" dirty="0"/>
              <a:t>가 남는다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미니 보조배터리는 </a:t>
            </a:r>
            <a:r>
              <a:rPr lang="en-US" altLang="ko-KR" sz="1600" spc="-50" dirty="0"/>
              <a:t>18.5Wh</a:t>
            </a:r>
            <a:r>
              <a:rPr lang="ko-KR" altLang="en-US" sz="1600" spc="-50" dirty="0"/>
              <a:t>의 전기에너지를 갖고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미니 선풍기를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번 충전시키면</a:t>
            </a:r>
            <a:r>
              <a:rPr lang="en-US" altLang="ko-KR" sz="1600" spc="-50" dirty="0"/>
              <a:t>, 1.85Wh</a:t>
            </a:r>
            <a:r>
              <a:rPr lang="ko-KR" altLang="en-US" sz="1600" spc="-50" dirty="0"/>
              <a:t>만 남는다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3147970-1BC9-69E9-4D42-38E625BC7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869696"/>
              </p:ext>
            </p:extLst>
          </p:nvPr>
        </p:nvGraphicFramePr>
        <p:xfrm>
          <a:off x="6452245" y="2498450"/>
          <a:ext cx="4279255" cy="15827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1445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  <a:gridCol w="1367822">
                  <a:extLst>
                    <a:ext uri="{9D8B030D-6E8A-4147-A177-3AD203B41FA5}">
                      <a16:colId xmlns:a16="http://schemas.microsoft.com/office/drawing/2014/main" val="1056637573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스펙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보조배터리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 보조배터리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방전속도</a:t>
                      </a:r>
                      <a:endParaRPr lang="en-US" altLang="ko-KR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보조배터리→핸드폰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15W ~ 65W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15W ~ 20W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충전속도</a:t>
                      </a:r>
                      <a:endParaRPr lang="en-US" altLang="ko-KR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콘센트→보조배터리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15W ~ 40W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15W ~ 18W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배터리 용량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18.5Wh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8D66117D-A561-F3BE-ED75-F9AC98139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6628" y="1791229"/>
            <a:ext cx="632147" cy="5500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90E2770-69B2-9663-29AE-35265C7A9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872" y="1640833"/>
            <a:ext cx="661849" cy="70988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FAE7A8-5C4F-2317-9759-5153F9076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844" y="1493576"/>
            <a:ext cx="518276" cy="8809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2B6B473-3AB5-9AE3-8896-9FFC9179F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356" y="1720762"/>
            <a:ext cx="362520" cy="550030"/>
          </a:xfrm>
          <a:prstGeom prst="rect">
            <a:avLst/>
          </a:prstGeom>
        </p:spPr>
      </p:pic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EFC5AA6-6F27-4240-88A8-78B4832BB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470672"/>
              </p:ext>
            </p:extLst>
          </p:nvPr>
        </p:nvGraphicFramePr>
        <p:xfrm>
          <a:off x="983403" y="2499503"/>
          <a:ext cx="4386625" cy="15827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8759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49513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349513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스펙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선풍기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미니선풍기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충전속도</a:t>
                      </a:r>
                      <a:endParaRPr lang="en-US" altLang="ko-KR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콘센트→미니선풍기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15W ~ 65W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소비전력</a:t>
                      </a:r>
                      <a:endParaRPr lang="en-US" altLang="ko-KR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722784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배터리 용량</a:t>
                      </a:r>
                      <a:endParaRPr lang="en-US" altLang="ko-KR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16.65Wh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700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42240-BED8-8FB0-93EC-5D1F2454E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12E416-6B4E-36AA-DB12-445C6E0845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A39C78-1CC0-14B4-52FC-33A7A144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8B9C063-DD5C-2BB0-B339-EBD9A028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우리집 전기요금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709312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01E7-3E78-2723-A42D-D0835F338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F6BCE-7739-C666-5FB0-1C0FE01D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C03D07-D125-EBBE-3052-12667E18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0A23A-75FA-F189-CB98-1454ACDAC535}"/>
              </a:ext>
            </a:extLst>
          </p:cNvPr>
          <p:cNvSpPr txBox="1"/>
          <p:nvPr/>
        </p:nvSpPr>
        <p:spPr>
          <a:xfrm>
            <a:off x="288789" y="958844"/>
            <a:ext cx="8144011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전기사용량에 근거하여 전기요금을 직접 계산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한전 홈페이지에 들어가서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계약자명으로 로그인을 하면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우리 집의 전기요금 상세 내역을 조회할 수 있다</a:t>
            </a:r>
            <a:r>
              <a:rPr lang="en-US" altLang="ko-KR" sz="1600" spc="-50" dirty="0"/>
              <a:t>.    </a:t>
            </a:r>
            <a:r>
              <a:rPr lang="en-US" altLang="ko-KR" sz="1600" spc="-50" dirty="0">
                <a:hlinkClick r:id="rId2"/>
              </a:rPr>
              <a:t>https://online.kepco.co.kr/MYM043D00</a:t>
            </a: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AA7D8B-09E6-6308-EA7C-9F03A9089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505" y="2289875"/>
            <a:ext cx="4122192" cy="11187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1055545-06E9-4D1A-3E59-7BDE7D04E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671" y="3429000"/>
            <a:ext cx="2863997" cy="53342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1C67EB6-38C4-F1B2-ED4F-34CCF5874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229" y="4147564"/>
            <a:ext cx="1303531" cy="224180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50C9643-0B43-24A0-BBD6-0E7E916B6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155" y="4122164"/>
            <a:ext cx="1426614" cy="230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8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C3A48-2A03-DE37-4EF7-450DA770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AD53C-A744-7D66-1AFA-2A01B93B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56235-6140-5D8E-1B20-10A655CF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94B23-26BF-505A-B95D-777FCA550546}"/>
              </a:ext>
            </a:extLst>
          </p:cNvPr>
          <p:cNvSpPr txBox="1"/>
          <p:nvPr/>
        </p:nvSpPr>
        <p:spPr>
          <a:xfrm>
            <a:off x="288790" y="958844"/>
            <a:ext cx="8027254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실제 어느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인 가구의 </a:t>
            </a:r>
            <a:r>
              <a:rPr lang="en-US" altLang="ko-KR" sz="1600" spc="-50" dirty="0"/>
              <a:t>2026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 한달간 전기사용 내역이다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집의 계량기는 전기소비량이 누적해서 올라가기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매월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일을 기준으로 검침을 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뺀 만큼을 해당 월의 전기소비량을 계산한다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검침일은 집마다 다를 수 있음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일 전기계량기</a:t>
            </a:r>
            <a:r>
              <a:rPr lang="en-US" altLang="ko-KR" sz="1600" spc="-50" dirty="0"/>
              <a:t>: 17,432 kWh (</a:t>
            </a:r>
            <a:r>
              <a:rPr lang="ko-KR" altLang="en-US" sz="1600" spc="-50" dirty="0"/>
              <a:t>전월지침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일 전기계량기</a:t>
            </a:r>
            <a:r>
              <a:rPr lang="en-US" altLang="ko-KR" sz="1600" spc="-50" dirty="0"/>
              <a:t>: 17,584 kWh (</a:t>
            </a:r>
            <a:r>
              <a:rPr lang="ko-KR" altLang="en-US" sz="1600" spc="-50" dirty="0"/>
              <a:t>당월지침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 세대사용량</a:t>
            </a:r>
            <a:r>
              <a:rPr lang="en-US" altLang="ko-KR" sz="1600" spc="-50" dirty="0"/>
              <a:t>: 152 kWh (</a:t>
            </a:r>
            <a:r>
              <a:rPr lang="ko-KR" altLang="en-US" sz="1600" spc="-50" dirty="0"/>
              <a:t>세대사용량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17,584 – 17,432 = 152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공용 사용량</a:t>
            </a:r>
            <a:r>
              <a:rPr lang="en-US" altLang="ko-KR" sz="1600" spc="-50" dirty="0"/>
              <a:t>: 62 kWh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엘리베이터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지하주차장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복도 조명 등 아파트 단지 내 공동시설 전기 사용량을 세대별로 나누어 부담하는 것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종합해보면 이 가구의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월 한달간 사용량</a:t>
            </a:r>
            <a:r>
              <a:rPr lang="en-US" altLang="ko-KR" sz="1600" spc="-50" dirty="0"/>
              <a:t>: 214 kWh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(=152 kWh + 62 kWh)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전월 사용량과 전년동월 사용량은 단순 참고용이다</a:t>
            </a:r>
            <a:r>
              <a:rPr lang="en-US" altLang="ko-KR" sz="1600" spc="-50" dirty="0"/>
              <a:t>. (</a:t>
            </a:r>
            <a:r>
              <a:rPr lang="ko-KR" altLang="en-US" sz="1600" spc="-50" dirty="0" err="1"/>
              <a:t>이번달</a:t>
            </a:r>
            <a:r>
              <a:rPr lang="ko-KR" altLang="en-US" sz="1600" spc="-50" dirty="0"/>
              <a:t> 전기요금과는 무관하다</a:t>
            </a:r>
            <a:r>
              <a:rPr lang="en-US" altLang="ko-KR" sz="1600" spc="-50" dirty="0"/>
              <a:t>.)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지난 달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월의 전기사용량은 </a:t>
            </a:r>
            <a:r>
              <a:rPr lang="en-US" altLang="ko-KR" sz="1600" spc="-50" dirty="0"/>
              <a:t>207 kWh (</a:t>
            </a:r>
            <a:r>
              <a:rPr lang="ko-KR" altLang="en-US" sz="1600" spc="-50" dirty="0"/>
              <a:t>전월 사용량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작년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월의 전기사용량은 </a:t>
            </a:r>
            <a:r>
              <a:rPr lang="en-US" altLang="ko-KR" sz="1600" spc="-50" dirty="0"/>
              <a:t>244 kWh (</a:t>
            </a:r>
            <a:r>
              <a:rPr lang="ko-KR" altLang="en-US" sz="1600" spc="-50" dirty="0"/>
              <a:t>전년동월 사용량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6D77212-2BAA-619B-B054-37497C16F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044" y="1167095"/>
            <a:ext cx="2696692" cy="463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62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4D992-D509-61E8-7026-B83F7FDD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C96A6-5ABB-BA3A-EA16-5159323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AABA70-6268-414C-5999-572F86FD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87CDDA9-2BB4-1077-0537-242315D3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807" y="1255702"/>
            <a:ext cx="2689760" cy="43465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9C6604-D139-D649-5F0B-94F2258D24CF}"/>
              </a:ext>
            </a:extLst>
          </p:cNvPr>
          <p:cNvSpPr txBox="1"/>
          <p:nvPr/>
        </p:nvSpPr>
        <p:spPr>
          <a:xfrm>
            <a:off x="288789" y="958844"/>
            <a:ext cx="851601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 본 가구의 전기요금 세부내역이다</a:t>
            </a:r>
            <a:r>
              <a:rPr lang="en-US" altLang="ko-KR" sz="1600" spc="-50" dirty="0"/>
              <a:t>. (2026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월분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기본요금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전력 공급을 위한 기본 유지 비용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전력 설비 유지 관리 등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전기 사용량 구간에 따라 고정요금으로 부과된다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전력량요금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실제 사용한 전기에너지 생산 및 공급에 소요되는 비용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실제로 사용한 전력량</a:t>
            </a:r>
            <a:r>
              <a:rPr lang="en-US" altLang="ko-KR" sz="1600" spc="-50" dirty="0"/>
              <a:t>(kWh)</a:t>
            </a:r>
            <a:r>
              <a:rPr lang="ko-KR" altLang="en-US" sz="1600" spc="-50" dirty="0"/>
              <a:t>에 대해 요금이 부과된다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기후환경요금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깨끗하고 안전한 에너지 제공에 소요되는 비용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석탄발전 감축비용 등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기후환경요금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기후환경요금 단가 </a:t>
            </a:r>
            <a:r>
              <a:rPr lang="en-US" altLang="ko-KR" sz="1600" spc="-50" dirty="0"/>
              <a:t>x </a:t>
            </a:r>
            <a:r>
              <a:rPr lang="ko-KR" altLang="en-US" sz="1600" spc="-50" dirty="0" err="1"/>
              <a:t>사용전력량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기후환경요금 단가는 매년 변동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연료비조정요금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연료비 </a:t>
            </a:r>
            <a:r>
              <a:rPr lang="ko-KR" altLang="en-US" sz="1600" spc="-50" dirty="0" err="1"/>
              <a:t>변동분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천연가스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반영하는 요금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연료비조정요금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연료비조정단가 </a:t>
            </a:r>
            <a:r>
              <a:rPr lang="en-US" altLang="ko-KR" sz="1600" spc="-50" dirty="0"/>
              <a:t>x </a:t>
            </a:r>
            <a:r>
              <a:rPr lang="ko-KR" altLang="en-US" sz="1600" spc="-50" dirty="0" err="1"/>
              <a:t>사용전력량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연료비조정 단가는 매분기 변동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최종 청구금액은 전기요금 </a:t>
            </a:r>
            <a:r>
              <a:rPr lang="en-US" altLang="ko-KR" sz="1600" spc="-50" dirty="0"/>
              <a:t>+ </a:t>
            </a:r>
            <a:r>
              <a:rPr lang="ko-KR" altLang="en-US" sz="1600" spc="-50" dirty="0"/>
              <a:t>부가가치세 </a:t>
            </a:r>
            <a:r>
              <a:rPr lang="en-US" altLang="ko-KR" sz="1600" spc="-50" dirty="0"/>
              <a:t>+ </a:t>
            </a:r>
            <a:r>
              <a:rPr lang="ko-KR" altLang="en-US" sz="1600" spc="-50" dirty="0"/>
              <a:t>전력기금이다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부가가치세는 전기요금의 </a:t>
            </a:r>
            <a:r>
              <a:rPr lang="en-US" altLang="ko-KR" sz="1600" spc="-50" dirty="0"/>
              <a:t>10%  (27,692 x 0.1)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전력기금은 전기요금의 </a:t>
            </a:r>
            <a:r>
              <a:rPr lang="en-US" altLang="ko-KR" sz="1600" spc="-50" dirty="0"/>
              <a:t>2.7%    (27,692 x 0.027)</a:t>
            </a:r>
          </a:p>
        </p:txBody>
      </p:sp>
    </p:spTree>
    <p:extLst>
      <p:ext uri="{BB962C8B-B14F-4D97-AF65-F5344CB8AC3E}">
        <p14:creationId xmlns:p14="http://schemas.microsoft.com/office/powerpoint/2010/main" val="3157007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56A3E-420C-41CD-2622-1622EDE6A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BF8A8-8536-5314-6974-8EF590CBA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기후환경요금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3F1696-66DA-C7B6-BACD-35925616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5C5C2B-DF14-79CE-8DD3-492832655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814" y="4361905"/>
            <a:ext cx="5791131" cy="2083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4E0CFA-13E4-5D40-4038-E0FBEEB46987}"/>
              </a:ext>
            </a:extLst>
          </p:cNvPr>
          <p:cNvSpPr txBox="1"/>
          <p:nvPr/>
        </p:nvSpPr>
        <p:spPr>
          <a:xfrm>
            <a:off x="288790" y="958844"/>
            <a:ext cx="1111845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기후환경요금은 깨끗하고 안전한 에너지 제공에 소요되는 비용으로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아래의 정책에 소요되는 비용을 충당하고자 소비자에게 청구하고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신재생에너지 공급의무화제도 </a:t>
            </a:r>
            <a:r>
              <a:rPr lang="en-US" altLang="ko-KR" sz="1600" spc="-50" dirty="0"/>
              <a:t>(RPS,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Renewable Portfolio Standard)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규모가 큰 발전사업자에게 발전량의 일정 비율을 신재생에너지로 공급하도록 의무를 부과하는 제도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거래제 </a:t>
            </a:r>
            <a:r>
              <a:rPr lang="en-US" altLang="ko-KR" sz="1600" spc="-50" dirty="0"/>
              <a:t>(ETS, Emission Trading Scheme)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기업별로 온실가스 배출 권리를 할당하고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기업들이 서로 배출권을 사고 팔 수 있게 하는 제도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석탄발전 감축비용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정부는 미세먼지 계절관리제를 통해 미세먼지가 심한 날에는 석탄발전의 </a:t>
            </a:r>
            <a:r>
              <a:rPr lang="ko-KR" altLang="en-US" sz="1600" spc="-50"/>
              <a:t>가동을 제한 시킨다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4477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8075C-03D5-113C-2347-D114AD40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5AEC7-1D3A-C854-FF3E-BB975E2E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연료비조정요금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65D42-ACE9-33B2-97C8-756F73AA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9205C-D25F-D077-341F-0A6A41048C04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연료비조정요금은 발전연료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LNG, BC</a:t>
            </a:r>
            <a:r>
              <a:rPr lang="ko-KR" altLang="en-US" sz="1600" spc="-50" dirty="0"/>
              <a:t>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가격의 변동을 전기요금에 반영하기 위한 요금이다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최근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개월간 석탄</a:t>
            </a:r>
            <a:r>
              <a:rPr lang="en-US" altLang="ko-KR" sz="1600" spc="-50" dirty="0"/>
              <a:t>, LNG, BC</a:t>
            </a:r>
            <a:r>
              <a:rPr lang="ko-KR" altLang="en-US" sz="1600" spc="-50" dirty="0"/>
              <a:t>유의 가격을 이용하여 실적연료비를 산정한다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실적연료비와 기준연료비의 차이를 전력량</a:t>
            </a:r>
            <a:r>
              <a:rPr lang="en-US" altLang="ko-KR" sz="1600" spc="-50" dirty="0"/>
              <a:t>(1kWh)</a:t>
            </a:r>
            <a:r>
              <a:rPr lang="ko-KR" altLang="en-US" sz="1600" spc="-50" dirty="0"/>
              <a:t>당 금액으로 환산한다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실적연료비가 기준연료비보다 크다면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작다면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연료비조정단가는 양수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음수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다만 조정단가가 </a:t>
            </a:r>
            <a:r>
              <a:rPr lang="en-US" altLang="ko-KR" sz="1600" spc="-50" dirty="0"/>
              <a:t>±5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 </a:t>
            </a:r>
            <a:r>
              <a:rPr lang="ko-KR" altLang="en-US" sz="1600" spc="-50" dirty="0"/>
              <a:t>초과 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상하한</a:t>
            </a:r>
            <a:r>
              <a:rPr lang="en-US" altLang="ko-KR" sz="1600" spc="-50" dirty="0"/>
              <a:t> ±5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 </a:t>
            </a:r>
            <a:r>
              <a:rPr lang="ko-KR" altLang="en-US" sz="1600" spc="-50" dirty="0"/>
              <a:t>으로 적용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60AA5B6-D81A-ABEC-A04F-F3C503AC8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61" y="3429000"/>
            <a:ext cx="11120477" cy="286727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1D6423F-9F97-F06B-EAE7-3F4CE374BA72}"/>
              </a:ext>
            </a:extLst>
          </p:cNvPr>
          <p:cNvSpPr/>
          <p:nvPr/>
        </p:nvSpPr>
        <p:spPr>
          <a:xfrm>
            <a:off x="2706912" y="4460383"/>
            <a:ext cx="914400" cy="225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원</a:t>
            </a:r>
            <a:r>
              <a:rPr lang="en-US" altLang="ko-KR" sz="1050" dirty="0">
                <a:solidFill>
                  <a:schemeClr val="tx1"/>
                </a:solidFill>
              </a:rPr>
              <a:t>/kg)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6F963B-72CD-3165-6755-665DC92A66C3}"/>
              </a:ext>
            </a:extLst>
          </p:cNvPr>
          <p:cNvSpPr/>
          <p:nvPr/>
        </p:nvSpPr>
        <p:spPr>
          <a:xfrm>
            <a:off x="4967155" y="4419600"/>
            <a:ext cx="914400" cy="225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원</a:t>
            </a:r>
            <a:r>
              <a:rPr lang="en-US" altLang="ko-KR" sz="1050" dirty="0">
                <a:solidFill>
                  <a:schemeClr val="tx1"/>
                </a:solidFill>
              </a:rPr>
              <a:t>/kg)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7C5BF9-4A50-FA8A-8AA6-72B46D326F32}"/>
              </a:ext>
            </a:extLst>
          </p:cNvPr>
          <p:cNvSpPr/>
          <p:nvPr/>
        </p:nvSpPr>
        <p:spPr>
          <a:xfrm>
            <a:off x="4967155" y="5611621"/>
            <a:ext cx="914400" cy="225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(</a:t>
            </a:r>
            <a:r>
              <a:rPr lang="ko-KR" altLang="en-US" sz="1050" dirty="0">
                <a:solidFill>
                  <a:schemeClr val="tx1"/>
                </a:solidFill>
              </a:rPr>
              <a:t>원</a:t>
            </a:r>
            <a:r>
              <a:rPr lang="en-US" altLang="ko-KR" sz="1050" dirty="0">
                <a:solidFill>
                  <a:schemeClr val="tx1"/>
                </a:solidFill>
              </a:rPr>
              <a:t>/kg)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947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DE575-3871-E1D9-E8E9-803B0C53D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E1D078-F6CA-6C5B-0D0D-F1110ED3D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전력기금 </a:t>
            </a:r>
            <a:r>
              <a:rPr lang="en-US" altLang="ko-KR" dirty="0"/>
              <a:t>(</a:t>
            </a:r>
            <a:r>
              <a:rPr lang="ko-KR" altLang="en-US" dirty="0"/>
              <a:t>전력산업기반 기금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27DA36-0B91-14C3-6DBD-DCA51D41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7D4D0-E8AF-0941-58D9-5D4A6001BA3D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전력기금은 전력산업의 안정적인 발전과 전력수급의 원활한 운영을 지원하기 위해 조성되는 특별회계이다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전기요금에 포함된 전력산업기반기금을 통해 재원을 마련한다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전기사용량</a:t>
            </a:r>
            <a:r>
              <a:rPr lang="en-US" altLang="ko-KR" sz="1600" spc="-50" dirty="0"/>
              <a:t>(kWh)</a:t>
            </a:r>
            <a:r>
              <a:rPr lang="ko-KR" altLang="en-US" sz="1600" spc="-50" dirty="0"/>
              <a:t>당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일정 금액이 부과 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전기요금의 </a:t>
            </a:r>
            <a:r>
              <a:rPr lang="en-US" altLang="ko-KR" sz="1600" spc="-50" dirty="0"/>
              <a:t>2.7%)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조성된 기금은 전력산업의 경쟁력 강화와 에너지 전환을 위한 사업에 사용된다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전력계통 안정화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신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재생에너지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전력산업 인프라 구축 등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전기요금 할인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취약계층 지원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등 전력복지 사업에도 활용된다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2489F9-118C-E85D-F7CC-879D1178A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3261069"/>
            <a:ext cx="11245850" cy="330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99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C0FE-A2B2-B1BF-5332-525CFEA23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1187D-404A-5227-78F6-39FB29CBE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7FF17-5BB2-6152-1333-49DCA3DD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E6D8D-091B-9B53-8FEE-DF91F55E9A95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전기요금은 용도별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전압별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계절별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시간대별로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용도는 주택용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농사용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가로등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심야전력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기타요금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전기차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으로 나뉜다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전압은 저압</a:t>
            </a:r>
            <a:r>
              <a:rPr lang="en-US" altLang="ko-KR" sz="1600" spc="-50" dirty="0"/>
              <a:t>(110V~380V), </a:t>
            </a:r>
            <a:r>
              <a:rPr lang="ko-KR" altLang="en-US" sz="1600" spc="-50" dirty="0"/>
              <a:t>고압</a:t>
            </a:r>
            <a:r>
              <a:rPr lang="en-US" altLang="ko-KR" sz="1600" spc="-50" dirty="0"/>
              <a:t>A(3,300~66,000V), </a:t>
            </a:r>
            <a:r>
              <a:rPr lang="ko-KR" altLang="en-US" sz="1600" spc="-50" dirty="0"/>
              <a:t>고압</a:t>
            </a:r>
            <a:r>
              <a:rPr lang="en-US" altLang="ko-KR" sz="1600" spc="-50" dirty="0"/>
              <a:t>B(154,000V), </a:t>
            </a:r>
            <a:r>
              <a:rPr lang="ko-KR" altLang="en-US" sz="1600" spc="-50" dirty="0"/>
              <a:t>고압</a:t>
            </a:r>
            <a:r>
              <a:rPr lang="en-US" altLang="ko-KR" sz="1600" spc="-50" dirty="0"/>
              <a:t>C(345,000V </a:t>
            </a:r>
            <a:r>
              <a:rPr lang="ko-KR" altLang="en-US" sz="1600" spc="-50" dirty="0"/>
              <a:t>이상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로 나뉜다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계절은 여름</a:t>
            </a:r>
            <a:r>
              <a:rPr lang="en-US" altLang="ko-KR" sz="1600" spc="-50" dirty="0"/>
              <a:t>(6~8</a:t>
            </a:r>
            <a:r>
              <a:rPr lang="ko-KR" altLang="en-US" sz="1600" spc="-50" dirty="0"/>
              <a:t>월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봄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가을</a:t>
            </a:r>
            <a:r>
              <a:rPr lang="en-US" altLang="ko-KR" sz="1600" spc="-50" dirty="0"/>
              <a:t>(3~5</a:t>
            </a:r>
            <a:r>
              <a:rPr lang="ko-KR" altLang="en-US" sz="1600" spc="-50" dirty="0"/>
              <a:t>월</a:t>
            </a:r>
            <a:r>
              <a:rPr lang="en-US" altLang="ko-KR" sz="1600" spc="-50" dirty="0"/>
              <a:t>, 9~10</a:t>
            </a:r>
            <a:r>
              <a:rPr lang="ko-KR" altLang="en-US" sz="1600" spc="-50" dirty="0"/>
              <a:t>월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겨울철</a:t>
            </a:r>
            <a:r>
              <a:rPr lang="en-US" altLang="ko-KR" sz="1600" spc="-50" dirty="0"/>
              <a:t>(11~2</a:t>
            </a:r>
            <a:r>
              <a:rPr lang="ko-KR" altLang="en-US" sz="1600" spc="-50" dirty="0"/>
              <a:t>월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로 나뉜다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시간은 </a:t>
            </a:r>
            <a:r>
              <a:rPr lang="ko-KR" altLang="en-US" sz="1600" spc="-50" dirty="0" err="1"/>
              <a:t>경부하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중간부하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최대부하 로 나뉜다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아래와 같이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계절별로 시간대 구분이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 한전에서 제공하는 대략 </a:t>
            </a:r>
            <a:r>
              <a:rPr lang="en-US" altLang="ko-KR" sz="1600" spc="-50" dirty="0"/>
              <a:t>70</a:t>
            </a:r>
            <a:r>
              <a:rPr lang="ko-KR" altLang="en-US" sz="1600" spc="-50" dirty="0"/>
              <a:t>여개의 계약종은 용도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 조건의 여러 조합으로 구성된다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6CB411-CBD9-1978-809A-7265D945D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284" y="2938669"/>
            <a:ext cx="5421166" cy="197255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44659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EA389-B420-2BA0-B81F-8FA22B51F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8972C80-701C-65F1-CC5D-2A56DF58E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72087"/>
              </p:ext>
            </p:extLst>
          </p:nvPr>
        </p:nvGraphicFramePr>
        <p:xfrm>
          <a:off x="8971332" y="897437"/>
          <a:ext cx="2595828" cy="56394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82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56394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857FB26-5818-4997-FB93-A77A0913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72087"/>
              </p:ext>
            </p:extLst>
          </p:nvPr>
        </p:nvGraphicFramePr>
        <p:xfrm>
          <a:off x="6192572" y="897437"/>
          <a:ext cx="2595828" cy="56394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82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56394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D43B3A88-568D-BCB6-2D88-CBA389407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주택용</a:t>
            </a:r>
            <a:r>
              <a:rPr lang="en-US" altLang="ko-KR" dirty="0"/>
              <a:t>, </a:t>
            </a:r>
            <a:r>
              <a:rPr lang="ko-KR" altLang="en-US" dirty="0"/>
              <a:t>교육용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4773B6-A193-E145-B1FA-91304A6F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C258B-C744-2A0B-9614-F23A78743DF2}"/>
              </a:ext>
            </a:extLst>
          </p:cNvPr>
          <p:cNvSpPr txBox="1"/>
          <p:nvPr/>
        </p:nvSpPr>
        <p:spPr>
          <a:xfrm>
            <a:off x="288790" y="958844"/>
            <a:ext cx="5710639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주택용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가정집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아파트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빌라 등 사람이 거주하는 곳에서 사용하는 전기 요금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기본요금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전력량요금이 사용한 전력량의 구간에 따라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교육용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학교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유치원 등 교육시설에서 사용하는 전기 요금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기본요금이 계약전력</a:t>
            </a:r>
            <a:r>
              <a:rPr lang="en-US" altLang="ko-KR" sz="1600" spc="-50" dirty="0"/>
              <a:t>(kW)</a:t>
            </a:r>
            <a:r>
              <a:rPr lang="ko-KR" altLang="en-US" sz="1600" spc="-50" dirty="0"/>
              <a:t>별로 다르다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교육용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갑</a:t>
            </a:r>
            <a:r>
              <a:rPr lang="en-US" altLang="ko-KR" sz="1600" spc="-50" dirty="0"/>
              <a:t>): </a:t>
            </a:r>
            <a:r>
              <a:rPr lang="ko-KR" altLang="en-US" sz="1600" spc="-50" dirty="0"/>
              <a:t>계약전력이 </a:t>
            </a:r>
            <a:r>
              <a:rPr lang="en-US" altLang="ko-KR" sz="1600" spc="-50" dirty="0"/>
              <a:t>1,000kW </a:t>
            </a:r>
            <a:r>
              <a:rPr lang="ko-KR" altLang="en-US" sz="1600" spc="-50" dirty="0"/>
              <a:t>미만인 경우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교육용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을</a:t>
            </a:r>
            <a:r>
              <a:rPr lang="en-US" altLang="ko-KR" sz="1600" spc="-50" dirty="0"/>
              <a:t>): </a:t>
            </a:r>
            <a:r>
              <a:rPr lang="ko-KR" altLang="en-US" sz="1600" spc="-50" dirty="0"/>
              <a:t>계약전력이 </a:t>
            </a:r>
            <a:r>
              <a:rPr lang="en-US" altLang="ko-KR" sz="1600" spc="-50" dirty="0"/>
              <a:t>1,000kW </a:t>
            </a:r>
            <a:r>
              <a:rPr lang="ko-KR" altLang="en-US" sz="1600" spc="-50" dirty="0"/>
              <a:t>이상인 경우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구분이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선택별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선택</a:t>
            </a:r>
            <a:r>
              <a:rPr lang="en-US" altLang="ko-KR" sz="1600" spc="-50" dirty="0"/>
              <a:t>I, II)</a:t>
            </a:r>
            <a:r>
              <a:rPr lang="ko-KR" altLang="en-US" sz="1600" spc="-50" dirty="0"/>
              <a:t>로도 나뉜다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선택</a:t>
            </a:r>
            <a:r>
              <a:rPr lang="en-US" altLang="ko-KR" sz="1600" spc="-50" dirty="0"/>
              <a:t>I</a:t>
            </a:r>
            <a:r>
              <a:rPr lang="ko-KR" altLang="en-US" sz="1600" spc="-50" dirty="0"/>
              <a:t>은 기본요금이 저렴한 대신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전력량요금이 비싸다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선택</a:t>
            </a:r>
            <a:r>
              <a:rPr lang="en-US" altLang="ko-KR" sz="1600" spc="-50" dirty="0"/>
              <a:t>II</a:t>
            </a:r>
            <a:r>
              <a:rPr lang="ko-KR" altLang="en-US" sz="1600" spc="-50" dirty="0"/>
              <a:t>는 기본요금이 비싼 대신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전력량요금이 저렴하다</a:t>
            </a:r>
            <a:r>
              <a:rPr lang="en-US" altLang="ko-KR" sz="1600" spc="-50" dirty="0"/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63C409-E572-BE2C-343E-15A5E31DDF64}"/>
              </a:ext>
            </a:extLst>
          </p:cNvPr>
          <p:cNvGrpSpPr/>
          <p:nvPr/>
        </p:nvGrpSpPr>
        <p:grpSpPr>
          <a:xfrm>
            <a:off x="6299477" y="975875"/>
            <a:ext cx="2416916" cy="5482594"/>
            <a:chOff x="6313466" y="958844"/>
            <a:chExt cx="2663257" cy="604139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0D0B4AF-6650-BA21-201B-5586804E9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13466" y="958844"/>
              <a:ext cx="2663256" cy="460280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6DD4F02-5801-0FEC-03FC-5BC66B4BA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3467" y="5586296"/>
              <a:ext cx="2663256" cy="1413947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3129AA8C-DAA5-71D9-AA42-C41E333EB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484" y="1535214"/>
            <a:ext cx="2393248" cy="350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22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25A26-5C2C-B83A-B239-CE5BFF454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4FE28-FC18-09D7-E4F6-057C0E74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계약전력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BF444D-AD42-358A-DC40-773577E3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C1A08-FCB9-2AAC-F1DA-89EA5F2B3729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계약전력은 전기사용자가 한전과 계약한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사용 가능한 전력의 규모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실제로 사용하는 전력량</a:t>
            </a:r>
            <a:r>
              <a:rPr lang="en-US" altLang="ko-KR" sz="1600" spc="-50" dirty="0"/>
              <a:t>(kWh)</a:t>
            </a:r>
            <a:r>
              <a:rPr lang="ko-KR" altLang="en-US" sz="1600" spc="-50" dirty="0"/>
              <a:t>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전력을 이용할 수 있는 용량</a:t>
            </a:r>
            <a:r>
              <a:rPr lang="en-US" altLang="ko-KR" sz="1600" spc="-50" dirty="0"/>
              <a:t>(kW)</a:t>
            </a:r>
            <a:r>
              <a:rPr lang="ko-KR" altLang="en-US" sz="1600" spc="-50" dirty="0"/>
              <a:t>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교육용을 제외한 나머지 용도의 요금에서 기본요금을 결정하는 기준이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기본적으로 요금표에 명시된 기본요금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/kW)</a:t>
            </a:r>
            <a:r>
              <a:rPr lang="ko-KR" altLang="en-US" sz="1600" spc="-50" dirty="0"/>
              <a:t>에 따라 계약전력</a:t>
            </a:r>
            <a:r>
              <a:rPr lang="en-US" altLang="ko-KR" sz="1600" spc="-50" dirty="0"/>
              <a:t>(kW)</a:t>
            </a:r>
            <a:r>
              <a:rPr lang="ko-KR" altLang="en-US" sz="1600" spc="-50" dirty="0"/>
              <a:t>에 비례하여 기본요금을 청구한다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계약한 계약전력을 초과하여 사용하는 경우 아래와 같이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번의 경우와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번의 경우로 나누어 적용한다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최대수요전력을 계량할 수 있는 전력량계가 설치된 사용자의 경우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최대수요전력이 계약전력을 초과하는 초과횟수에 따라 아래와 같이 적용한다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최대수요전력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전력량계가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분 단위로 계산한 평균 수요전력 중 가장 큰 값</a:t>
            </a:r>
            <a:endParaRPr lang="en-US" altLang="ko-KR" sz="1600" spc="-50" dirty="0"/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들어</a:t>
            </a:r>
            <a:r>
              <a:rPr lang="en-US" altLang="ko-KR" sz="1600" spc="-50" dirty="0"/>
              <a:t>, 15</a:t>
            </a:r>
            <a:r>
              <a:rPr lang="ko-KR" altLang="en-US" sz="1600" spc="-50" dirty="0"/>
              <a:t>분 동안 </a:t>
            </a:r>
            <a:r>
              <a:rPr lang="en-US" altLang="ko-KR" sz="1600" spc="-50" dirty="0"/>
              <a:t>10kWh</a:t>
            </a:r>
            <a:r>
              <a:rPr lang="ko-KR" altLang="en-US" sz="1600" spc="-50" dirty="0"/>
              <a:t>를 사용했다면</a:t>
            </a:r>
            <a:r>
              <a:rPr lang="en-US" altLang="ko-KR" sz="1600" spc="-50" dirty="0"/>
              <a:t> 10kWh ÷ 0.25h (15/60) = 40kW  </a:t>
            </a:r>
            <a:r>
              <a:rPr lang="ko-KR" altLang="en-US" sz="1600" spc="-50" dirty="0"/>
              <a:t>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분 구간의 수요전력은 </a:t>
            </a:r>
            <a:r>
              <a:rPr lang="en-US" altLang="ko-KR" sz="1600" spc="-50" dirty="0"/>
              <a:t>40kW</a:t>
            </a:r>
            <a:r>
              <a:rPr lang="ko-KR" altLang="en-US" sz="1600" spc="-50" dirty="0"/>
              <a:t>가 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670038-FFF4-BACC-30BB-973F30BC558A}"/>
              </a:ext>
            </a:extLst>
          </p:cNvPr>
          <p:cNvSpPr txBox="1"/>
          <p:nvPr/>
        </p:nvSpPr>
        <p:spPr>
          <a:xfrm>
            <a:off x="4768850" y="-515352"/>
            <a:ext cx="6134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spc="-50" dirty="0"/>
              <a:t>제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장 요금의 계산 및 납부</a:t>
            </a:r>
            <a:r>
              <a:rPr lang="en-US" altLang="ko-KR" sz="1600" spc="-50" dirty="0"/>
              <a:t>.  &gt;&gt; 67</a:t>
            </a:r>
            <a:r>
              <a:rPr lang="ko-KR" altLang="en-US" sz="1600" spc="-50" dirty="0"/>
              <a:t>조의 </a:t>
            </a:r>
            <a:r>
              <a:rPr lang="en-US" altLang="ko-KR" sz="1600" spc="-50" dirty="0"/>
              <a:t>3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8005616-1B20-2A57-5794-9CFD1AC35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016" y="4655284"/>
            <a:ext cx="5823897" cy="179951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4759D8-D9EB-CFB1-2677-FCB214320E6C}"/>
              </a:ext>
            </a:extLst>
          </p:cNvPr>
          <p:cNvSpPr txBox="1"/>
          <p:nvPr/>
        </p:nvSpPr>
        <p:spPr>
          <a:xfrm>
            <a:off x="288791" y="5001178"/>
            <a:ext cx="5197610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계약전력이 </a:t>
            </a:r>
            <a:r>
              <a:rPr lang="en-US" altLang="ko-KR" sz="1600" spc="-50" dirty="0"/>
              <a:t>5kW</a:t>
            </a:r>
            <a:r>
              <a:rPr lang="ko-KR" altLang="en-US" sz="1600" spc="-50" dirty="0"/>
              <a:t>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이번 달 최대수요전력이 </a:t>
            </a:r>
            <a:r>
              <a:rPr lang="en-US" altLang="ko-KR" sz="1600" spc="-50" dirty="0"/>
              <a:t>6kW</a:t>
            </a:r>
            <a:r>
              <a:rPr lang="ko-KR" altLang="en-US" sz="1600" spc="-50" dirty="0"/>
              <a:t>로 측정되었다면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계약전력을 초과하여 사용한 것이다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초과사용횟수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회가 늘어난다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7054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A879D-BCEB-5BCF-92A9-34C8F62E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093F5-D355-7A05-317C-984F2E679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계약전력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85F85F-0B6E-E880-6429-45ECB24B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3662E-021D-45D5-D3A4-FADC31B4B2A4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92175" lvl="1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600" spc="-50" dirty="0"/>
              <a:t>앞선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번의 적용대상 이외의 경우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최대수요전력으로 초과사용 여부를 판단하지 않는 고객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월 </a:t>
            </a:r>
            <a:r>
              <a:rPr lang="ko-KR" altLang="en-US" sz="1600" spc="-50" dirty="0" err="1"/>
              <a:t>사용전력량이</a:t>
            </a:r>
            <a:r>
              <a:rPr lang="ko-KR" altLang="en-US" sz="1600" spc="-50" dirty="0"/>
              <a:t> 계약전력 </a:t>
            </a:r>
            <a:r>
              <a:rPr lang="en-US" altLang="ko-KR" sz="1600" spc="-50" dirty="0"/>
              <a:t>1kW</a:t>
            </a:r>
            <a:r>
              <a:rPr lang="ko-KR" altLang="en-US" sz="1600" spc="-50" dirty="0"/>
              <a:t>당 </a:t>
            </a:r>
            <a:r>
              <a:rPr lang="en-US" altLang="ko-KR" sz="1600" spc="-50" dirty="0"/>
              <a:t>450kWh</a:t>
            </a:r>
            <a:r>
              <a:rPr lang="ko-KR" altLang="en-US" sz="1600" spc="-50" dirty="0"/>
              <a:t>를 초과하는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초과사용으로 판단한다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기준 </a:t>
            </a:r>
            <a:r>
              <a:rPr lang="ko-KR" altLang="en-US" sz="1600" spc="-50" dirty="0" err="1"/>
              <a:t>사용전력량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계약전력</a:t>
            </a:r>
            <a:r>
              <a:rPr lang="en-US" altLang="ko-KR" sz="1600" spc="-50" dirty="0"/>
              <a:t>(kW) 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450h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만약 계약전력이 </a:t>
            </a:r>
            <a:r>
              <a:rPr lang="en-US" altLang="ko-KR" sz="1600" spc="-50" dirty="0"/>
              <a:t>5kW</a:t>
            </a:r>
            <a:r>
              <a:rPr lang="ko-KR" altLang="en-US" sz="1600" spc="-50" dirty="0"/>
              <a:t>라면</a:t>
            </a:r>
            <a:r>
              <a:rPr lang="en-US" altLang="ko-KR" sz="1600" spc="-50" dirty="0"/>
              <a:t>, 2,250kWh (5kW x 450h) </a:t>
            </a:r>
            <a:r>
              <a:rPr lang="ko-KR" altLang="en-US" sz="1600" spc="-50" dirty="0"/>
              <a:t>까지 사용해야 초과하지 않음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계약전력이 </a:t>
            </a:r>
            <a:r>
              <a:rPr lang="en-US" altLang="ko-KR" sz="1600" spc="-50" dirty="0"/>
              <a:t>5kW</a:t>
            </a:r>
            <a:r>
              <a:rPr lang="ko-KR" altLang="en-US" sz="1600" spc="-50" dirty="0"/>
              <a:t>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월에 </a:t>
            </a:r>
            <a:r>
              <a:rPr lang="en-US" altLang="ko-KR" sz="1600" spc="-50" dirty="0"/>
              <a:t>2,300kWh</a:t>
            </a:r>
            <a:r>
              <a:rPr lang="ko-KR" altLang="en-US" sz="1600" spc="-50" dirty="0"/>
              <a:t>의 전력량을 소비했다면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초과사용 횟수가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회 늘어난다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C60D15-66AD-0432-A6F1-EEF6D227E951}"/>
              </a:ext>
            </a:extLst>
          </p:cNvPr>
          <p:cNvSpPr txBox="1"/>
          <p:nvPr/>
        </p:nvSpPr>
        <p:spPr>
          <a:xfrm>
            <a:off x="9594850" y="1738898"/>
            <a:ext cx="2476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※ 15h/</a:t>
            </a:r>
            <a:r>
              <a:rPr lang="ko-KR" altLang="en-US" sz="1200" spc="-50" dirty="0"/>
              <a:t>일 </a:t>
            </a:r>
            <a:r>
              <a:rPr lang="en-US" altLang="ko-KR" sz="1200" spc="-50" dirty="0"/>
              <a:t>x 30</a:t>
            </a:r>
            <a:r>
              <a:rPr lang="ko-KR" altLang="en-US" sz="1200" spc="-50" dirty="0"/>
              <a:t>일 </a:t>
            </a:r>
            <a:r>
              <a:rPr lang="en-US" altLang="ko-KR" sz="1200" spc="-50" dirty="0"/>
              <a:t>= 450h</a:t>
            </a: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71B4FD-1222-2C80-6C1C-F846802A5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791" y="3079750"/>
            <a:ext cx="5666409" cy="328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29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A5C37-9F86-F3AD-FFAA-18E74E55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D24CE-B8A9-17AA-F6B8-6CE5365C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AE77A5-7941-C79B-0245-11AC8E59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0FCC5-B0DB-9955-D310-BC499A58352C}"/>
              </a:ext>
            </a:extLst>
          </p:cNvPr>
          <p:cNvSpPr txBox="1"/>
          <p:nvPr/>
        </p:nvSpPr>
        <p:spPr>
          <a:xfrm>
            <a:off x="288790" y="958844"/>
            <a:ext cx="5710639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일반용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상업시설이나 업무시설에서 사용하는 전기요금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상가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사무실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음식점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카페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갑</a:t>
            </a:r>
            <a:r>
              <a:rPr lang="en-US" altLang="ko-KR" sz="1600" spc="-50" dirty="0"/>
              <a:t>) I : </a:t>
            </a:r>
            <a:r>
              <a:rPr lang="ko-KR" altLang="en-US" sz="1600" spc="-50" dirty="0"/>
              <a:t>계약전력이 </a:t>
            </a:r>
            <a:r>
              <a:rPr lang="en-US" altLang="ko-KR" sz="1600" spc="-50" dirty="0"/>
              <a:t>300kW </a:t>
            </a:r>
            <a:r>
              <a:rPr lang="ko-KR" altLang="en-US" sz="1600" spc="-50" dirty="0"/>
              <a:t>미만인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갑</a:t>
            </a:r>
            <a:r>
              <a:rPr lang="en-US" altLang="ko-KR" sz="1600" spc="-50" dirty="0"/>
              <a:t>) II : </a:t>
            </a:r>
            <a:r>
              <a:rPr lang="ko-KR" altLang="en-US" sz="1600" spc="-50" dirty="0"/>
              <a:t>계약전력 </a:t>
            </a:r>
            <a:r>
              <a:rPr lang="en-US" altLang="ko-KR" sz="1600" spc="-50" dirty="0"/>
              <a:t>300kW</a:t>
            </a:r>
            <a:r>
              <a:rPr lang="ko-KR" altLang="en-US" sz="1600" spc="-50" dirty="0"/>
              <a:t>미만이고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시간대별 구분 계량기가 설치되어 있는 경우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을</a:t>
            </a:r>
            <a:r>
              <a:rPr lang="en-US" altLang="ko-KR" sz="1600" spc="-50" dirty="0"/>
              <a:t>) : </a:t>
            </a:r>
            <a:r>
              <a:rPr lang="ko-KR" altLang="en-US" sz="1600" spc="-50" dirty="0"/>
              <a:t>계약전력이 </a:t>
            </a:r>
            <a:r>
              <a:rPr lang="en-US" altLang="ko-KR" sz="1600" spc="-50" dirty="0"/>
              <a:t>300kW </a:t>
            </a:r>
            <a:r>
              <a:rPr lang="ko-KR" altLang="en-US" sz="1600" spc="-50" dirty="0"/>
              <a:t>이상인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갑</a:t>
            </a:r>
            <a:r>
              <a:rPr lang="en-US" altLang="ko-KR" sz="1600" spc="-50" dirty="0"/>
              <a:t>) II</a:t>
            </a:r>
            <a:r>
              <a:rPr lang="ko-KR" altLang="en-US" sz="1600" spc="-50" dirty="0"/>
              <a:t>에는 시간대 구분 없이 단일 요금을 적용하는 선택</a:t>
            </a:r>
            <a:r>
              <a:rPr lang="en-US" altLang="ko-KR" sz="1600" spc="-50" dirty="0"/>
              <a:t>III</a:t>
            </a:r>
            <a:r>
              <a:rPr lang="ko-KR" altLang="en-US" sz="1600" spc="-50" dirty="0"/>
              <a:t>과 선택</a:t>
            </a:r>
            <a:r>
              <a:rPr lang="en-US" altLang="ko-KR" sz="1600" spc="-50" dirty="0"/>
              <a:t>IV</a:t>
            </a:r>
            <a:r>
              <a:rPr lang="ko-KR" altLang="en-US" sz="1600" spc="-50" dirty="0"/>
              <a:t>가 추가되었다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선택</a:t>
            </a:r>
            <a:r>
              <a:rPr lang="en-US" altLang="ko-KR" sz="1600" spc="-50" dirty="0"/>
              <a:t>III : </a:t>
            </a:r>
            <a:r>
              <a:rPr lang="ko-KR" altLang="en-US" sz="1600" spc="-50" dirty="0"/>
              <a:t>기본요금이 저렴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전력량요금이 비쌈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선택</a:t>
            </a:r>
            <a:r>
              <a:rPr lang="en-US" altLang="ko-KR" sz="1600" spc="-50" dirty="0"/>
              <a:t>IV: </a:t>
            </a:r>
            <a:r>
              <a:rPr lang="ko-KR" altLang="en-US" sz="1600" spc="-50" dirty="0"/>
              <a:t>기본요금이 비싸고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전력량요금이 저렴</a:t>
            </a:r>
            <a:endParaRPr lang="en-US" altLang="ko-KR" sz="1600" spc="-5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AA11C2D-4993-9895-C91E-DE1AA6DC1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72962"/>
              </p:ext>
            </p:extLst>
          </p:nvPr>
        </p:nvGraphicFramePr>
        <p:xfrm>
          <a:off x="6192572" y="897437"/>
          <a:ext cx="5374588" cy="56394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3745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56394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F5667E1B-52B9-0158-0900-71CB30C86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286" y="995001"/>
            <a:ext cx="2412000" cy="121698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9A83522-A08D-60DD-3EC0-9A272B45A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286" y="2573261"/>
            <a:ext cx="2412000" cy="322769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BF1B352-0F1E-AF69-01F6-1FC316B90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349" y="1623812"/>
            <a:ext cx="2412000" cy="294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867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2D7CC-D09E-7AEA-9EA9-BC34BF6F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08875-F43B-1C07-80AA-B2D2E93D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A510D-09C8-B8CC-E6C4-6D2C8D81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5FCD0-0FB7-A496-5CEE-124A460900B5}"/>
              </a:ext>
            </a:extLst>
          </p:cNvPr>
          <p:cNvSpPr txBox="1"/>
          <p:nvPr/>
        </p:nvSpPr>
        <p:spPr>
          <a:xfrm>
            <a:off x="288791" y="958844"/>
            <a:ext cx="5728778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산업용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공장 및 산업시설에서 사용하는 전기요금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반도체 공장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철강공장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 공장 등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산업용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에는 고압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추가된다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산업용은 특히 대규모 전력을 효율적으로 사용하기 위해 </a:t>
            </a:r>
            <a:r>
              <a:rPr lang="ko-KR" altLang="en-US" sz="1600" spc="-50" dirty="0" err="1"/>
              <a:t>초고압</a:t>
            </a:r>
            <a:r>
              <a:rPr lang="ko-KR" altLang="en-US" sz="1600" spc="-50" dirty="0"/>
              <a:t> 전압을 사용하기도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63A4190F-1F8D-ACEE-1D4F-0683F4EC7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790409"/>
              </p:ext>
            </p:extLst>
          </p:nvPr>
        </p:nvGraphicFramePr>
        <p:xfrm>
          <a:off x="6192572" y="554625"/>
          <a:ext cx="5374588" cy="59822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3745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59822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7BA4EBAF-6105-2278-EAD0-CA00B6558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225" y="1487650"/>
            <a:ext cx="2412000" cy="42198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8F4E0B-4C59-E4BB-1DA0-1B161CA9F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882" y="609298"/>
            <a:ext cx="2412000" cy="588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54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5525B-B45B-C741-49CA-6664FCB8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9CDD165D-D9A0-D9A2-C203-D8E1C0B79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32003"/>
              </p:ext>
            </p:extLst>
          </p:nvPr>
        </p:nvGraphicFramePr>
        <p:xfrm>
          <a:off x="6192137" y="3338516"/>
          <a:ext cx="2529788" cy="34178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297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34178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C2D52681-B819-944F-F9B6-6229CA7A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농사용</a:t>
            </a:r>
            <a:r>
              <a:rPr lang="en-US" altLang="ko-KR" dirty="0"/>
              <a:t>, </a:t>
            </a:r>
            <a:r>
              <a:rPr lang="ko-KR" altLang="en-US" dirty="0"/>
              <a:t>가로등</a:t>
            </a:r>
            <a:r>
              <a:rPr lang="en-US" altLang="ko-KR" dirty="0"/>
              <a:t>, </a:t>
            </a:r>
            <a:r>
              <a:rPr lang="ko-KR" altLang="en-US" dirty="0"/>
              <a:t>심야전력</a:t>
            </a:r>
            <a:r>
              <a:rPr lang="en-US" altLang="ko-KR" dirty="0"/>
              <a:t>, </a:t>
            </a:r>
            <a:r>
              <a:rPr lang="ko-KR" altLang="en-US" dirty="0"/>
              <a:t>전기차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F4CAB-0E90-5411-E3A8-502B8C6F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7BBAC1-176C-ED5A-F5B0-D0CCAC8BFB6F}"/>
              </a:ext>
            </a:extLst>
          </p:cNvPr>
          <p:cNvSpPr txBox="1"/>
          <p:nvPr/>
        </p:nvSpPr>
        <p:spPr>
          <a:xfrm>
            <a:off x="288791" y="958844"/>
            <a:ext cx="533477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가로등의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계약전력에 의해 갑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을 구분을 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정액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종량에</a:t>
            </a:r>
            <a:r>
              <a:rPr lang="ko-KR" altLang="en-US" sz="1600" spc="-50" dirty="0"/>
              <a:t> 따라 갑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을 구분을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가로등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갑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경우 실제 전력소비량을 측정하지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가로등의</a:t>
            </a:r>
            <a:r>
              <a:rPr lang="en-US" altLang="ko-KR" sz="1600" spc="-50" dirty="0"/>
              <a:t> W(</a:t>
            </a:r>
            <a:r>
              <a:rPr lang="ko-KR" altLang="en-US" sz="1600" spc="-50" dirty="0"/>
              <a:t>전압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당 </a:t>
            </a:r>
            <a:r>
              <a:rPr lang="en-US" altLang="ko-KR" sz="1600" spc="-50" dirty="0"/>
              <a:t>47.2</a:t>
            </a:r>
            <a:r>
              <a:rPr lang="ko-KR" altLang="en-US" sz="1600" spc="-50" dirty="0"/>
              <a:t>원을 부과한다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 가로등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실제 전력소비량을 측정하여 소비한 전력량에 따라 전기요금을 부과한다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전기차 충전요금의 경우 자가소비용과 사업자용으로 구분된다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자가소비용의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 판매 목적이 아니고 </a:t>
            </a:r>
            <a:r>
              <a:rPr lang="ko-KR" altLang="en-US" sz="1600" spc="-50" dirty="0" err="1"/>
              <a:t>자차</a:t>
            </a:r>
            <a:r>
              <a:rPr lang="ko-KR" altLang="en-US" sz="1600" spc="-50" dirty="0"/>
              <a:t> 충전을 위해 사용하는 것을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내 집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주택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충전기를 설치하여 내가 사용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사업자의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 판매 목적으로 전기차 충전소를 운영하는 것을 의미한다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고속도로 휴게소에서 충전기 설치 운영</a:t>
            </a:r>
            <a:endParaRPr lang="en-US" altLang="ko-KR" sz="1600" spc="-5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54219C-5250-8023-D6BF-6B52B2D41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24570"/>
              </p:ext>
            </p:extLst>
          </p:nvPr>
        </p:nvGraphicFramePr>
        <p:xfrm>
          <a:off x="6192572" y="897437"/>
          <a:ext cx="2529788" cy="126156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297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12615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19FACBB0-49B6-5225-D96B-4590B5C61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32" y="958844"/>
            <a:ext cx="2412000" cy="1102702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45C593E-AA4E-8FA4-8AEF-348EE0C8A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212754"/>
              </p:ext>
            </p:extLst>
          </p:nvPr>
        </p:nvGraphicFramePr>
        <p:xfrm>
          <a:off x="6192572" y="2321700"/>
          <a:ext cx="2529788" cy="8621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297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8621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33E9D0EA-8223-B951-EA0F-94E55A535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732" y="2410372"/>
            <a:ext cx="2415600" cy="681991"/>
          </a:xfrm>
          <a:prstGeom prst="rect">
            <a:avLst/>
          </a:prstGeom>
        </p:spPr>
      </p:pic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ED3A959-4BBD-D1AB-7569-60A82A252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299934"/>
              </p:ext>
            </p:extLst>
          </p:nvPr>
        </p:nvGraphicFramePr>
        <p:xfrm>
          <a:off x="8937615" y="487263"/>
          <a:ext cx="2529788" cy="627195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297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62719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F452F167-C357-71F4-7DFB-C2B3C1EF2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031" y="3363916"/>
            <a:ext cx="2412000" cy="337595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AC8E4E1-BACA-D6C9-C562-2091D5864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8657" y="534653"/>
            <a:ext cx="2415600" cy="177166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410CCE1-DEA5-D2E9-EA05-CE463664A0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2257" y="2393017"/>
            <a:ext cx="2412000" cy="427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74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B5356-F3B4-78E8-38E0-1ECD2B66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FFABC-2591-7736-24B4-D965345D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93A562-F4E1-AE66-7814-AF0D7B20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29AC8-8ADF-998B-4226-43B2D31426F3}"/>
              </a:ext>
            </a:extLst>
          </p:cNvPr>
          <p:cNvSpPr txBox="1"/>
          <p:nvPr/>
        </p:nvSpPr>
        <p:spPr>
          <a:xfrm>
            <a:off x="288791" y="958844"/>
            <a:ext cx="784429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아파트에서 살고 있다고 가정하면</a:t>
            </a:r>
            <a:r>
              <a:rPr lang="en-US" altLang="ko-KR" sz="1600" spc="-50" dirty="0"/>
              <a:t>, </a:t>
            </a:r>
            <a:r>
              <a:rPr lang="ko-KR" altLang="en-US" sz="1600" b="1" spc="-50" dirty="0"/>
              <a:t>주택용 고압</a:t>
            </a:r>
            <a:r>
              <a:rPr lang="ko-KR" altLang="en-US" sz="1600" spc="-50" dirty="0"/>
              <a:t> 요금체계를 따르게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월에 사용한 전기에 대한 요금이므로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ko-KR" altLang="en-US" sz="1600" b="1" spc="-50" dirty="0"/>
              <a:t>기타계절</a:t>
            </a:r>
            <a:r>
              <a:rPr lang="ko-KR" altLang="en-US" sz="1600" spc="-50" dirty="0"/>
              <a:t>의 요금표를 적용 받는다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기본요금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 가구의 전기사용량은 </a:t>
            </a:r>
            <a:r>
              <a:rPr lang="en-US" altLang="ko-KR" sz="1600" spc="-50" dirty="0"/>
              <a:t>214kWh 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기본요금 두번째 구간 </a:t>
            </a:r>
            <a:r>
              <a:rPr lang="en-US" altLang="ko-KR" sz="1600" spc="-50" dirty="0"/>
              <a:t>(201~400kWh)</a:t>
            </a:r>
            <a:r>
              <a:rPr lang="ko-KR" altLang="en-US" sz="1600" spc="-50" dirty="0"/>
              <a:t>에 속하기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기본요금은 </a:t>
            </a:r>
            <a:r>
              <a:rPr lang="en-US" altLang="ko-KR" sz="1600" spc="-50" dirty="0"/>
              <a:t>1,260</a:t>
            </a:r>
            <a:r>
              <a:rPr lang="ko-KR" altLang="en-US" sz="1600" spc="-50" dirty="0"/>
              <a:t>원이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전력량요금</a:t>
            </a:r>
            <a:r>
              <a:rPr lang="en-US" altLang="ko-KR" sz="1600" spc="-50" dirty="0"/>
              <a:t>) 0~200kWh </a:t>
            </a:r>
            <a:r>
              <a:rPr lang="ko-KR" altLang="en-US" sz="1600" spc="-50" dirty="0"/>
              <a:t>구간에서는 </a:t>
            </a:r>
            <a:r>
              <a:rPr lang="en-US" altLang="ko-KR" sz="1600" spc="-50" dirty="0"/>
              <a:t>kWh</a:t>
            </a:r>
            <a:r>
              <a:rPr lang="ko-KR" altLang="en-US" sz="1600" spc="-50" dirty="0"/>
              <a:t>당</a:t>
            </a:r>
            <a:r>
              <a:rPr lang="en-US" altLang="ko-KR" sz="1600" spc="-50" dirty="0"/>
              <a:t> 105.0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200kWh~400kWh </a:t>
            </a:r>
            <a:r>
              <a:rPr lang="ko-KR" altLang="en-US" sz="1600" spc="-50" dirty="0"/>
              <a:t>구간에서는 </a:t>
            </a:r>
            <a:r>
              <a:rPr lang="en-US" altLang="ko-KR" sz="1600" spc="-50" dirty="0"/>
              <a:t>kWh</a:t>
            </a:r>
            <a:r>
              <a:rPr lang="ko-KR" altLang="en-US" sz="1600" spc="-50" dirty="0"/>
              <a:t>당 </a:t>
            </a:r>
            <a:r>
              <a:rPr lang="en-US" altLang="ko-KR" sz="1600" spc="-50" dirty="0"/>
              <a:t>174</a:t>
            </a:r>
            <a:r>
              <a:rPr lang="ko-KR" altLang="en-US" sz="1600" spc="-50" dirty="0"/>
              <a:t>원이다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전력량요금은 총 </a:t>
            </a:r>
            <a:r>
              <a:rPr lang="en-US" altLang="ko-KR" sz="1600" spc="-50" dirty="0"/>
              <a:t>23,436</a:t>
            </a:r>
            <a:r>
              <a:rPr lang="ko-KR" altLang="en-US" sz="1600" spc="-50" dirty="0"/>
              <a:t>원이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200kWh x 105(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/kWh) + 14kWh x 174(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/kWh) = 23,436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기후환경요금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기후환경요금 단가는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214(kWh) x 9(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/kWh) = 1,926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연료비조정요금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연료비조정요금 단가는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214(kWh) x 5(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/kWh) = 1,070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D945FF2-D053-C754-3BE7-5BAFE1E15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010" y="1017151"/>
            <a:ext cx="2277110" cy="39161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A326222-3EBF-7495-8859-1B9463636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561" y="5299731"/>
            <a:ext cx="3054507" cy="11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98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50E0-B534-2982-9F39-0EBDE79CB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4235F-A908-51B3-594A-7701F3CC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241EB7-4FC0-9312-74DF-6AE4FB3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22D0D1-CE71-EE36-2A54-7A31B011B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628" y="4482331"/>
            <a:ext cx="2216264" cy="12065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335CE-5367-D51B-0C68-343148B19F65}"/>
              </a:ext>
            </a:extLst>
          </p:cNvPr>
          <p:cNvSpPr txBox="1"/>
          <p:nvPr/>
        </p:nvSpPr>
        <p:spPr>
          <a:xfrm>
            <a:off x="8949690" y="5688893"/>
            <a:ext cx="26276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https://online.kepco.co.kr/PRM004D00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529DB0-06A9-6E17-4655-2421C7F9D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615" y="2245916"/>
            <a:ext cx="2286162" cy="3694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6E672D-7DB1-85C7-8039-155186BADD06}"/>
              </a:ext>
            </a:extLst>
          </p:cNvPr>
          <p:cNvSpPr txBox="1"/>
          <p:nvPr/>
        </p:nvSpPr>
        <p:spPr>
          <a:xfrm>
            <a:off x="288790" y="958844"/>
            <a:ext cx="11118453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우리의 계산 과정을 종합해보면 </a:t>
            </a:r>
            <a:r>
              <a:rPr lang="en-US" altLang="ko-KR" sz="1600" spc="-50" dirty="0"/>
              <a:t>2026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월분 전기요금은 총 </a:t>
            </a:r>
            <a:r>
              <a:rPr lang="en-US" altLang="ko-KR" sz="1600" spc="-50" dirty="0"/>
              <a:t>27,692</a:t>
            </a:r>
            <a:r>
              <a:rPr lang="ko-KR" altLang="en-US" sz="1600" spc="-50" dirty="0"/>
              <a:t>원 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홈페이지에서도 똑같은 결과를 보여준다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기본요금 </a:t>
            </a:r>
            <a:r>
              <a:rPr lang="en-US" altLang="ko-KR" sz="1600" spc="-50" dirty="0"/>
              <a:t>1,260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+ </a:t>
            </a:r>
            <a:r>
              <a:rPr lang="ko-KR" altLang="en-US" sz="1600" spc="-50" dirty="0"/>
              <a:t>전력량요금 </a:t>
            </a:r>
            <a:r>
              <a:rPr lang="en-US" altLang="ko-KR" sz="1600" spc="-50" dirty="0"/>
              <a:t>23,436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+ </a:t>
            </a:r>
            <a:r>
              <a:rPr lang="ko-KR" altLang="en-US" sz="1600" spc="-50" dirty="0"/>
              <a:t>기후환경요금 </a:t>
            </a:r>
            <a:r>
              <a:rPr lang="en-US" altLang="ko-KR" sz="1600" spc="-50" dirty="0"/>
              <a:t>1,926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+ </a:t>
            </a:r>
            <a:r>
              <a:rPr lang="ko-KR" altLang="en-US" sz="1600" spc="-50" dirty="0"/>
              <a:t>연료비조정요금 </a:t>
            </a:r>
            <a:r>
              <a:rPr lang="en-US" altLang="ko-KR" sz="1600" spc="-50" dirty="0"/>
              <a:t>1,070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4F303B6-7C51-C77F-14A0-96EB1DFA9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" y="2235756"/>
            <a:ext cx="2277110" cy="391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15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5E9E-CF20-1E98-BECC-E478EEBD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7E9BE-F36B-2286-5322-E0DB877E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 소비 내역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27F1C-1621-DEDD-D97C-E675B564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5E0A0-2DB4-E301-FC98-60832484716F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냉장고</a:t>
            </a:r>
            <a:r>
              <a:rPr lang="en-US" altLang="ko-KR" sz="1600" spc="-50" dirty="0"/>
              <a:t>, TV, </a:t>
            </a:r>
            <a:r>
              <a:rPr lang="ko-KR" altLang="en-US" sz="1600" spc="-50" dirty="0"/>
              <a:t>컴퓨터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모니터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식기세척기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세탁기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건조기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청소기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전기밥솥은 아래의 모델을 가정한다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전자기기의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홈페이지에서 </a:t>
            </a:r>
            <a:r>
              <a:rPr lang="ko-KR" altLang="en-US" sz="1600" spc="-50" dirty="0" err="1"/>
              <a:t>상세스펙을</a:t>
            </a:r>
            <a:r>
              <a:rPr lang="ko-KR" altLang="en-US" sz="1600" spc="-50" dirty="0"/>
              <a:t> 살펴보면 대부분 소비전력이 고지되어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소비전력은 해당기기가 최대로 작동하고 있을 때의 </a:t>
            </a:r>
            <a:r>
              <a:rPr lang="ko-KR" altLang="en-US" sz="1600" spc="-50" dirty="0" err="1"/>
              <a:t>전력값을</a:t>
            </a:r>
            <a:r>
              <a:rPr lang="ko-KR" altLang="en-US" sz="1600" spc="-50" dirty="0"/>
              <a:t> 의미한다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위에 보이는 가전기기의 출처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홈페이지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들어가보면 각각 소비전력을 알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냉장고의 소비전력은 </a:t>
            </a:r>
            <a:r>
              <a:rPr lang="en-US" altLang="ko-KR" sz="1600" spc="-50" dirty="0"/>
              <a:t>43.7kWh/</a:t>
            </a:r>
            <a:r>
              <a:rPr lang="ko-KR" altLang="en-US" sz="1600" spc="-50" dirty="0"/>
              <a:t>월  으로 표시되어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TV</a:t>
            </a:r>
            <a:r>
              <a:rPr lang="ko-KR" altLang="en-US" sz="1600" spc="-50" dirty="0"/>
              <a:t>의 소비전력은 </a:t>
            </a:r>
            <a:r>
              <a:rPr lang="en-US" altLang="ko-KR" sz="1600" spc="-50" dirty="0"/>
              <a:t>84W  </a:t>
            </a:r>
            <a:r>
              <a:rPr lang="ko-KR" altLang="en-US" sz="1600" spc="-50" dirty="0"/>
              <a:t>으로 표시되어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세탁기와 건조기의 경우 사용패턴에 따라 소비전력의 변동이 매우 크다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홈페이지에 고지된 소비전력보다는 적게 전력을 사용할 가능성이 높다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A7FCDFC-8C80-0F9E-AC98-00F8852C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851" y="1636868"/>
            <a:ext cx="1786854" cy="104049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81D205-FDDA-CBCA-F307-25CFD606B70E}"/>
              </a:ext>
            </a:extLst>
          </p:cNvPr>
          <p:cNvSpPr txBox="1"/>
          <p:nvPr/>
        </p:nvSpPr>
        <p:spPr>
          <a:xfrm>
            <a:off x="1690608" y="2843409"/>
            <a:ext cx="211963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https://www.lge.co.kr/tvs/75nu850bena-wall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544913C-552F-2CFC-756C-C24CF69FF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318" y="1646933"/>
            <a:ext cx="491243" cy="104049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9CE0228-B49F-C31C-0683-E62A5BB6F794}"/>
              </a:ext>
            </a:extLst>
          </p:cNvPr>
          <p:cNvSpPr txBox="1"/>
          <p:nvPr/>
        </p:nvSpPr>
        <p:spPr>
          <a:xfrm>
            <a:off x="3693288" y="2843409"/>
            <a:ext cx="1104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https://www.lge.co.kr/all-in-one-pc-and-desktop/b81lvax4509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420CCFCF-4794-C094-870E-F94071B23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782" y="1562256"/>
            <a:ext cx="443143" cy="116890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C59EDEF-1933-CA44-0C42-DC80CFCCA6C5}"/>
              </a:ext>
            </a:extLst>
          </p:cNvPr>
          <p:cNvSpPr txBox="1"/>
          <p:nvPr/>
        </p:nvSpPr>
        <p:spPr>
          <a:xfrm>
            <a:off x="8120983" y="2843409"/>
            <a:ext cx="122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https://www.lge.co.kr/wash-tower/wl21wdu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C3DE0EB-A779-6E10-AB3F-D956EB870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185" y="1577394"/>
            <a:ext cx="1078909" cy="113862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DC7B264-A444-04D7-B3C3-EE49BBB52B08}"/>
              </a:ext>
            </a:extLst>
          </p:cNvPr>
          <p:cNvSpPr txBox="1"/>
          <p:nvPr/>
        </p:nvSpPr>
        <p:spPr>
          <a:xfrm>
            <a:off x="6652023" y="2843409"/>
            <a:ext cx="122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https://www.lge.co.kr/dishwashers/due6bgl2e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2E4DD31B-A2BD-B0B0-4492-B3579F250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8348" y="1545459"/>
            <a:ext cx="349310" cy="121296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6743D9A-54E1-1751-327E-6A8FB257A066}"/>
              </a:ext>
            </a:extLst>
          </p:cNvPr>
          <p:cNvSpPr txBox="1"/>
          <p:nvPr/>
        </p:nvSpPr>
        <p:spPr>
          <a:xfrm>
            <a:off x="9352575" y="2843409"/>
            <a:ext cx="122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https://www.lge.co.kr/vacuum-cleaners/ax920bwe-bkor1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5EB59267-ECD2-DB9D-4A83-79BEFEA027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98" y="1580305"/>
            <a:ext cx="648938" cy="122689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6AE601A-737A-DE54-4693-A8FC738CD6C2}"/>
              </a:ext>
            </a:extLst>
          </p:cNvPr>
          <p:cNvSpPr txBox="1"/>
          <p:nvPr/>
        </p:nvSpPr>
        <p:spPr>
          <a:xfrm>
            <a:off x="726208" y="2843409"/>
            <a:ext cx="873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https://www.lge.co.kr/refrigerators/t873mee111</a:t>
            </a: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46C945B1-3F8D-A59E-92F1-1B52365419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1057" y="1718878"/>
            <a:ext cx="750507" cy="81141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0E7A3C9-A508-A131-DDB6-D54DD0CF372E}"/>
              </a:ext>
            </a:extLst>
          </p:cNvPr>
          <p:cNvSpPr txBox="1"/>
          <p:nvPr/>
        </p:nvSpPr>
        <p:spPr>
          <a:xfrm>
            <a:off x="10655014" y="2843409"/>
            <a:ext cx="13473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https://www.cuckoo.co.kr/mall/productView?productNo=9921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9B3484-393C-2012-035B-12446F871B6B}"/>
              </a:ext>
            </a:extLst>
          </p:cNvPr>
          <p:cNvSpPr txBox="1"/>
          <p:nvPr/>
        </p:nvSpPr>
        <p:spPr>
          <a:xfrm>
            <a:off x="4843053" y="2843409"/>
            <a:ext cx="1536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https://www.lge.co.kr/monitors/27u631a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AA33D2D8-8F82-901A-DC10-F5CB29A173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85" y="1602326"/>
            <a:ext cx="1522052" cy="109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24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AB987-4D4D-C6DF-4DC3-467E42D3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B5002-2DD6-CA27-2729-C51E6E3E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 소비 내역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ECAA4E-0B59-5B37-B086-D52C7BC5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D9647-DCDE-F4C0-4027-432A110D5155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월에 해당 가구에서 사용한 </a:t>
            </a:r>
            <a:r>
              <a:rPr lang="en-US" altLang="ko-KR" sz="1600" spc="-50" dirty="0"/>
              <a:t>152kWh</a:t>
            </a:r>
            <a:r>
              <a:rPr lang="ko-KR" altLang="en-US" sz="1600" spc="-50" dirty="0"/>
              <a:t>는 아래와 같이 가전기기 소비를 가정하여 추정해볼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월이기 때문에 냉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난방을 하지 않았다고 가정한다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가전기기는 최신형으로 임의 가정한다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사용시간은 대략적으로 가정한다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A585CB0-F838-9755-21EC-AD14F2EC0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416166"/>
              </p:ext>
            </p:extLst>
          </p:nvPr>
        </p:nvGraphicFramePr>
        <p:xfrm>
          <a:off x="1810148" y="2817703"/>
          <a:ext cx="7111602" cy="34665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5540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전자기기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사용시간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전기에너지 소비량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냉장고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상시 가동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84W x 4h/day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컴퓨터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50W x 1h/day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모니터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20W x 1h/day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식기세척기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1.2kWh/time x 4times/week x 4weeks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세탁기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1.0kWh/time x 4times/week x 4weeks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건조기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2.0kWh/time x 4times/week x 4weeks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34.3kWh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청소기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1,600W x 0.08h/day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전기밥솥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1,090W x 0.5h/day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99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조명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수시로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459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핸드폰 충전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20Wh/day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88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공유기 및 대기전력 등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상시 가동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49877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156.2kWh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7358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629B-6FB8-AFE1-FD42-A0A2CBD9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FBF3B1-5A73-F6DC-49FA-DEE6E72866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A3538B-D621-6953-45A2-20903A8F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D56F34F-4002-7CF6-3C1E-88CDBFA2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휘발유 차 </a:t>
            </a:r>
            <a:r>
              <a:rPr lang="en-US" altLang="ko-KR" sz="4000" b="1" i="0" spc="150" dirty="0"/>
              <a:t>vs. </a:t>
            </a:r>
            <a:r>
              <a:rPr lang="ko-KR" altLang="en-US" sz="4000" b="1" i="0" spc="150" dirty="0"/>
              <a:t>전기 차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3996846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21131-49FC-5E59-765B-09583F21A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F3914-DEA8-A8DB-5991-37F82D975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휘발유차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0D34A-1FF1-0E4F-0883-D4B1585B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B5154-EF85-D93D-4A2A-FDEBB1B52670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새차를</a:t>
            </a:r>
            <a:r>
              <a:rPr lang="ko-KR" altLang="en-US" sz="1600" spc="-50" dirty="0"/>
              <a:t> 구입하려고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휘발유차와 전기차 둘 중에 고민을 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후보는 아반떼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스펙은 다음과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복합연비</a:t>
            </a:r>
            <a:r>
              <a:rPr lang="en-US" altLang="ko-KR" sz="1600" spc="-50" dirty="0"/>
              <a:t>: 15km/liter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 가득일 때 주행거리</a:t>
            </a:r>
            <a:r>
              <a:rPr lang="en-US" altLang="ko-KR" sz="1600" spc="-50" dirty="0"/>
              <a:t>: 47liter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 15km/liter = 705km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6D4CF4E-B8B6-563E-ABCD-50F0F7205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274" y="2689126"/>
            <a:ext cx="3206915" cy="385464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7692489-E849-9B74-1F63-1544AC2B0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67" y="3368631"/>
            <a:ext cx="3225966" cy="278144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C210F9B-CBF5-F077-022C-62AAEECCB6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240"/>
          <a:stretch>
            <a:fillRect/>
          </a:stretch>
        </p:blipFill>
        <p:spPr>
          <a:xfrm>
            <a:off x="8137607" y="2983118"/>
            <a:ext cx="3168813" cy="177623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785147-A011-FE9C-C881-B57375E41D78}"/>
              </a:ext>
            </a:extLst>
          </p:cNvPr>
          <p:cNvSpPr/>
          <p:nvPr/>
        </p:nvSpPr>
        <p:spPr>
          <a:xfrm>
            <a:off x="10302963" y="2983118"/>
            <a:ext cx="1003457" cy="5030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117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E77B1-56D3-893A-0CA5-0202CA8A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A08C9F3-C916-5F99-6E9A-F05C57A62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52" y="5255300"/>
            <a:ext cx="10854911" cy="98587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DB4DB0-381A-1C97-6700-64F2B7F88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전기차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151520-508C-DF95-EE85-E46B221B9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D0B7F25-4BAC-7368-7B27-B80C237ACB4B}"/>
              </a:ext>
            </a:extLst>
          </p:cNvPr>
          <p:cNvSpPr/>
          <p:nvPr/>
        </p:nvSpPr>
        <p:spPr>
          <a:xfrm>
            <a:off x="8556713" y="5647640"/>
            <a:ext cx="1003457" cy="5935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48E9A3-7D86-4063-C480-3248CAE78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838" y="2470982"/>
            <a:ext cx="2705321" cy="26448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B618B9-85C8-B242-58C8-66FDD2918C83}"/>
              </a:ext>
            </a:extLst>
          </p:cNvPr>
          <p:cNvSpPr txBox="1"/>
          <p:nvPr/>
        </p:nvSpPr>
        <p:spPr>
          <a:xfrm>
            <a:off x="288790" y="958844"/>
            <a:ext cx="11118453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후보는 </a:t>
            </a:r>
            <a:r>
              <a:rPr lang="ko-KR" altLang="en-US" sz="1600" spc="-50" dirty="0" err="1"/>
              <a:t>아이오닉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스펙은 다음과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복합연비</a:t>
            </a:r>
            <a:r>
              <a:rPr lang="en-US" altLang="ko-KR" sz="1600" spc="-50" dirty="0"/>
              <a:t>: 5.1km/kWh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회 충전 주행거리 </a:t>
            </a:r>
            <a:r>
              <a:rPr lang="en-US" altLang="ko-KR" sz="1600" spc="-50" dirty="0"/>
              <a:t>368km (</a:t>
            </a:r>
            <a:r>
              <a:rPr lang="ko-KR" altLang="en-US" sz="1600" spc="-50" dirty="0" err="1"/>
              <a:t>복합연비기준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38853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7D9F-252D-998B-077D-1417AFF31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CCF47-3A02-014B-5F0D-5179428A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 비교 </a:t>
            </a:r>
            <a:r>
              <a:rPr lang="en-US" altLang="ko-KR" dirty="0"/>
              <a:t>(</a:t>
            </a:r>
            <a:r>
              <a:rPr lang="ko-KR" altLang="en-US" dirty="0"/>
              <a:t>휘발유차 </a:t>
            </a:r>
            <a:r>
              <a:rPr lang="en-US" altLang="ko-KR" dirty="0"/>
              <a:t>vs. </a:t>
            </a:r>
            <a:r>
              <a:rPr lang="ko-KR" altLang="en-US" dirty="0"/>
              <a:t>전기차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25580B-7FD7-9902-2B0B-6E7A8BF8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D9980-5E76-88EE-C0A9-8E0D6D5E299A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집에서 학교까지 편도 </a:t>
            </a:r>
            <a:r>
              <a:rPr lang="en-US" altLang="ko-KR" sz="1600" spc="-50" dirty="0"/>
              <a:t>20km(</a:t>
            </a:r>
            <a:r>
              <a:rPr lang="ko-KR" altLang="en-US" sz="1600" spc="-50" dirty="0"/>
              <a:t>왕복</a:t>
            </a:r>
            <a:r>
              <a:rPr lang="en-US" altLang="ko-KR" sz="1600" spc="-50" dirty="0"/>
              <a:t>40km) </a:t>
            </a:r>
            <a:r>
              <a:rPr lang="ko-KR" altLang="en-US" sz="1600" spc="-50" dirty="0"/>
              <a:t>를 가정한다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휘발유 가격은 </a:t>
            </a:r>
            <a:r>
              <a:rPr lang="en-US" altLang="ko-KR" sz="1600" spc="-50" dirty="0"/>
              <a:t>1,800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/liter,  </a:t>
            </a:r>
            <a:r>
              <a:rPr lang="ko-KR" altLang="en-US" sz="1600" spc="-50" dirty="0"/>
              <a:t>전기차 충전요금 </a:t>
            </a:r>
            <a:r>
              <a:rPr lang="en-US" altLang="ko-KR" sz="1600" spc="-50" dirty="0"/>
              <a:t>320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급속충전 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을 가정한다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아까 본 아반떼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연비</a:t>
            </a:r>
            <a:r>
              <a:rPr lang="en-US" altLang="ko-KR" sz="1600" spc="-50" dirty="0"/>
              <a:t>: 15km/liter)</a:t>
            </a:r>
            <a:r>
              <a:rPr lang="ko-KR" altLang="en-US" sz="1600" spc="-50" dirty="0"/>
              <a:t>를 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연료비는 다음의 식으로 계산할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1,800(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/liter) x 1/15(liter/km) x 40km = 4,800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아까 본 </a:t>
            </a:r>
            <a:r>
              <a:rPr lang="ko-KR" altLang="en-US" sz="1600" spc="-50" dirty="0" err="1"/>
              <a:t>아이오닉</a:t>
            </a:r>
            <a:r>
              <a:rPr lang="en-US" altLang="ko-KR" sz="1600" spc="-50" dirty="0"/>
              <a:t>5(</a:t>
            </a:r>
            <a:r>
              <a:rPr lang="ko-KR" altLang="en-US" sz="1600" spc="-50" dirty="0"/>
              <a:t>전비</a:t>
            </a:r>
            <a:r>
              <a:rPr lang="en-US" altLang="ko-KR" sz="1600" spc="-50" dirty="0"/>
              <a:t>: 5.1km/liter)</a:t>
            </a:r>
            <a:r>
              <a:rPr lang="ko-KR" altLang="en-US" sz="1600" spc="-50" dirty="0"/>
              <a:t>를 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충전비용은 다음의 식으로 계산할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320(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/kWh) x 1/5.1(kWh/km) x 40km = 2,510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같은 </a:t>
            </a:r>
            <a:r>
              <a:rPr lang="en-US" altLang="ko-KR" sz="1600" spc="-50" dirty="0"/>
              <a:t>40km</a:t>
            </a:r>
            <a:r>
              <a:rPr lang="ko-KR" altLang="en-US" sz="1600" spc="-50" dirty="0"/>
              <a:t>를 가는데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아반떼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4,800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아이오닉</a:t>
            </a:r>
            <a:r>
              <a:rPr lang="en-US" altLang="ko-KR" sz="1600" spc="-50" dirty="0"/>
              <a:t>5(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2,510</a:t>
            </a:r>
            <a:r>
              <a:rPr lang="ko-KR" altLang="en-US" sz="1600" spc="-50" dirty="0"/>
              <a:t>원의 비용이 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아이오닉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의 충전비용은 아반떼 연료비용의 </a:t>
            </a:r>
            <a:r>
              <a:rPr lang="en-US" altLang="ko-KR" sz="1600" spc="-50" dirty="0"/>
              <a:t>52% </a:t>
            </a:r>
            <a:r>
              <a:rPr lang="ko-KR" altLang="en-US" sz="1600" spc="-50" dirty="0"/>
              <a:t>수준이다</a:t>
            </a:r>
            <a:r>
              <a:rPr lang="en-US" altLang="ko-KR" sz="1600" spc="-50" dirty="0"/>
              <a:t>. (2,510/4,800 = 0.52)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870053-AD0E-EBB3-81A7-285BCA554000}"/>
                  </a:ext>
                </a:extLst>
              </p:cNvPr>
              <p:cNvSpPr txBox="1"/>
              <p:nvPr/>
            </p:nvSpPr>
            <p:spPr>
              <a:xfrm>
                <a:off x="522474" y="2458517"/>
                <a:ext cx="7387007" cy="329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연료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휘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연비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870053-AD0E-EBB3-81A7-285BCA55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74" y="2458517"/>
                <a:ext cx="7387007" cy="329386"/>
              </a:xfrm>
              <a:prstGeom prst="rect">
                <a:avLst/>
              </a:prstGeom>
              <a:blipFill>
                <a:blip r:embed="rId2"/>
                <a:stretch>
                  <a:fillRect t="-125926" b="-20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00081B-9D9E-19F1-35EF-D46FDB0F0BB7}"/>
                  </a:ext>
                </a:extLst>
              </p:cNvPr>
              <p:cNvSpPr txBox="1"/>
              <p:nvPr/>
            </p:nvSpPr>
            <p:spPr>
              <a:xfrm>
                <a:off x="428340" y="4287576"/>
                <a:ext cx="7387007" cy="329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충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전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충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전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요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𝑘𝑊ℎ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전</m:t>
                          </m:r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𝑘𝑊ℎ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00081B-9D9E-19F1-35EF-D46FDB0F0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40" y="4287576"/>
                <a:ext cx="7387007" cy="329386"/>
              </a:xfrm>
              <a:prstGeom prst="rect">
                <a:avLst/>
              </a:prstGeom>
              <a:blipFill>
                <a:blip r:embed="rId3"/>
                <a:stretch>
                  <a:fillRect t="-125926" b="-20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5099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D866A-9ECF-735C-D9AF-0403D5FD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BD43C-D839-C93C-91E9-7FD2DC0F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에너지효율 비교 </a:t>
            </a:r>
            <a:r>
              <a:rPr lang="en-US" altLang="ko-KR" dirty="0"/>
              <a:t>(</a:t>
            </a:r>
            <a:r>
              <a:rPr lang="ko-KR" altLang="en-US" dirty="0"/>
              <a:t>휘발유차 </a:t>
            </a:r>
            <a:r>
              <a:rPr lang="en-US" altLang="ko-KR" dirty="0"/>
              <a:t>vs. </a:t>
            </a:r>
            <a:r>
              <a:rPr lang="ko-KR" altLang="en-US" dirty="0"/>
              <a:t>전기차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D015D3-005F-48FC-4C72-BFA03A09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6F131-777C-659F-7141-3D47F1086ABC}"/>
              </a:ext>
            </a:extLst>
          </p:cNvPr>
          <p:cNvSpPr txBox="1"/>
          <p:nvPr/>
        </p:nvSpPr>
        <p:spPr>
          <a:xfrm>
            <a:off x="288790" y="958844"/>
            <a:ext cx="7447546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이번에는 에너지 효율 측면에서 비교해 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에너지 효율은 같은 거리를 가는데 에너지를 얼마나 쓰는지 의미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아반떼는 </a:t>
            </a:r>
            <a:r>
              <a:rPr lang="en-US" altLang="ko-KR" sz="1600" spc="-50" dirty="0"/>
              <a:t>40km </a:t>
            </a:r>
            <a:r>
              <a:rPr lang="ko-KR" altLang="en-US" sz="1600" spc="-50" dirty="0"/>
              <a:t>가는데 몇</a:t>
            </a:r>
            <a:r>
              <a:rPr lang="en-US" altLang="ko-KR" sz="1600" spc="-50" dirty="0"/>
              <a:t> liter</a:t>
            </a:r>
            <a:r>
              <a:rPr lang="ko-KR" altLang="en-US" sz="1600" spc="-50" dirty="0"/>
              <a:t>의 휘발유를 소비할까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40(km)/15(km/liter) = 2.7 liter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</a:t>
            </a:r>
            <a:r>
              <a:rPr lang="ko-KR" altLang="en-US" sz="1600" spc="-50" dirty="0" err="1"/>
              <a:t>표에서와</a:t>
            </a:r>
            <a:r>
              <a:rPr lang="ko-KR" altLang="en-US" sz="1600" spc="-50" dirty="0"/>
              <a:t> 같이 휘발유 </a:t>
            </a:r>
            <a:r>
              <a:rPr lang="en-US" altLang="ko-KR" sz="1600" spc="-50" dirty="0"/>
              <a:t>1liter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32.4 MJ(</a:t>
            </a:r>
            <a:r>
              <a:rPr lang="ko-KR" altLang="en-US" sz="1600" spc="-50" dirty="0" err="1"/>
              <a:t>메가줄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7,750 kcal(</a:t>
            </a:r>
            <a:r>
              <a:rPr lang="ko-KR" altLang="en-US" sz="1600" spc="-50" dirty="0"/>
              <a:t>킬로칼로리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에너지를 갖고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아반떼는 </a:t>
            </a:r>
            <a:r>
              <a:rPr lang="en-US" altLang="ko-KR" sz="1600" spc="-50" dirty="0"/>
              <a:t>87.5 MJ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(2.7 x 32.4)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20,925 kcal (2.7 x 7,750)</a:t>
            </a:r>
            <a:r>
              <a:rPr lang="ko-KR" altLang="en-US" sz="1600" spc="-50" dirty="0"/>
              <a:t>의 에너지를 사용해야 </a:t>
            </a:r>
            <a:r>
              <a:rPr lang="en-US" altLang="ko-KR" sz="1600" spc="-50" dirty="0"/>
              <a:t>40km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갈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아이오닉은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40km </a:t>
            </a:r>
            <a:r>
              <a:rPr lang="ko-KR" altLang="en-US" sz="1600" spc="-50" dirty="0"/>
              <a:t>가는데 몇 </a:t>
            </a:r>
            <a:r>
              <a:rPr lang="en-US" altLang="ko-KR" sz="1600" spc="-50" dirty="0"/>
              <a:t>kWh</a:t>
            </a:r>
            <a:r>
              <a:rPr lang="ko-KR" altLang="en-US" sz="1600" spc="-50" dirty="0"/>
              <a:t>의 휘발유를 소비할까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40km/5.1(km/kWh) = 7.8 kWh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 </a:t>
            </a:r>
            <a:r>
              <a:rPr lang="en-US" altLang="ko-KR" sz="1600" spc="-50" dirty="0"/>
              <a:t>1kWh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9.6MJ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2,290 kcal</a:t>
            </a:r>
            <a:r>
              <a:rPr lang="ko-KR" altLang="en-US" sz="1600" spc="-50" dirty="0"/>
              <a:t>의 에너지를 갖고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오른쪽 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ko-KR" altLang="en-US" sz="1600" spc="-50" dirty="0" err="1"/>
              <a:t>아이오닉은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74.9 MJ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(7.8 x 9.6)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17,862 kcal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(7.8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2,290)</a:t>
            </a:r>
            <a:r>
              <a:rPr lang="ko-KR" altLang="en-US" sz="1600" spc="-50" dirty="0"/>
              <a:t>의 에너지를 사용해야 </a:t>
            </a:r>
            <a:r>
              <a:rPr lang="en-US" altLang="ko-KR" sz="1600" spc="-50" dirty="0"/>
              <a:t>40km</a:t>
            </a:r>
            <a:r>
              <a:rPr lang="ko-KR" altLang="en-US" sz="1600" spc="-50" dirty="0"/>
              <a:t>를 갈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E7C012-9201-085C-3DED-279F6B7D0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336" y="794231"/>
            <a:ext cx="4163980" cy="557806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DD57BE4-4F5B-FF93-D9EB-FD7B5C6EDE97}"/>
              </a:ext>
            </a:extLst>
          </p:cNvPr>
          <p:cNvSpPr/>
          <p:nvPr/>
        </p:nvSpPr>
        <p:spPr>
          <a:xfrm>
            <a:off x="8056856" y="1477048"/>
            <a:ext cx="3843460" cy="16349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87B0C1-07AD-5DCB-0195-2E4A3DA366DE}"/>
              </a:ext>
            </a:extLst>
          </p:cNvPr>
          <p:cNvSpPr/>
          <p:nvPr/>
        </p:nvSpPr>
        <p:spPr>
          <a:xfrm>
            <a:off x="9232079" y="1477048"/>
            <a:ext cx="379600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B08917-6F43-601B-8413-10A1B0C071A2}"/>
              </a:ext>
            </a:extLst>
          </p:cNvPr>
          <p:cNvSpPr/>
          <p:nvPr/>
        </p:nvSpPr>
        <p:spPr>
          <a:xfrm>
            <a:off x="9653559" y="1477048"/>
            <a:ext cx="402291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6CC028-BD3D-7108-1AEA-B919FB329787}"/>
              </a:ext>
            </a:extLst>
          </p:cNvPr>
          <p:cNvSpPr/>
          <p:nvPr/>
        </p:nvSpPr>
        <p:spPr>
          <a:xfrm>
            <a:off x="8056856" y="5217459"/>
            <a:ext cx="3843460" cy="16349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C7D3E6-3EFD-C153-8DB2-2F9EC1B76C78}"/>
              </a:ext>
            </a:extLst>
          </p:cNvPr>
          <p:cNvSpPr/>
          <p:nvPr/>
        </p:nvSpPr>
        <p:spPr>
          <a:xfrm>
            <a:off x="9232079" y="5217459"/>
            <a:ext cx="379600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AB50AF-44B2-1E46-1C45-A23880273460}"/>
              </a:ext>
            </a:extLst>
          </p:cNvPr>
          <p:cNvSpPr/>
          <p:nvPr/>
        </p:nvSpPr>
        <p:spPr>
          <a:xfrm>
            <a:off x="9653559" y="5217459"/>
            <a:ext cx="402291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274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541FC-39A3-C293-1C0D-CC337F69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284A47-D6E7-787B-583A-7BD50BCABB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B81D5-ADEB-E606-3F8E-92A42A42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E91B051-A94F-C5C3-0DC7-640F303F0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도시가스 요금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5073163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92607-0F12-2E31-62AB-1E7BD1D2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3DD91-C6CB-E783-A4CE-B36531A1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도시가스 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8F1E9B-23E0-BF5A-F08F-378E0FCA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AA35181-7F03-5702-1DBB-F6FDCC60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2713206"/>
            <a:ext cx="7261860" cy="38237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7935C7-E7C7-D26D-D462-B321CA5D9964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우리가 일상생활에서 가스를 사용하는 경우는 주방에서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요리할 때 도시가스를 사용하고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CNG </a:t>
            </a:r>
            <a:r>
              <a:rPr lang="ko-KR" altLang="en-US" sz="1600" spc="-50" dirty="0"/>
              <a:t>시내버스를 타면 그 버스의 연료는 압축천연가스</a:t>
            </a:r>
            <a:r>
              <a:rPr lang="en-US" altLang="ko-KR" sz="1600" spc="-50" dirty="0"/>
              <a:t>(CNG, Compressed Natural Gas)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가스도 전기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휘발유와 마찬가지로 사용량에 단가를 곱하여 가스요금 계산할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가스는 </a:t>
            </a:r>
            <a:r>
              <a:rPr lang="en-US" altLang="ko-KR" sz="1600" spc="-50" dirty="0"/>
              <a:t>m</a:t>
            </a:r>
            <a:r>
              <a:rPr lang="en-US" altLang="ko-KR" sz="1600" spc="-50" baseline="30000" dirty="0"/>
              <a:t>3 </a:t>
            </a:r>
            <a:r>
              <a:rPr lang="ko-KR" altLang="en-US" sz="1600" spc="-50" dirty="0"/>
              <a:t>라는 부피를 기준으로 에너지사용을 측정한다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4B3928-A142-852C-D14E-3B0C938E0C9C}"/>
              </a:ext>
            </a:extLst>
          </p:cNvPr>
          <p:cNvSpPr/>
          <p:nvPr/>
        </p:nvSpPr>
        <p:spPr>
          <a:xfrm>
            <a:off x="7848600" y="2730308"/>
            <a:ext cx="4876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</a:t>
            </a:r>
            <a:r>
              <a:rPr lang="en-US" altLang="ko-KR" baseline="30000" dirty="0">
                <a:solidFill>
                  <a:schemeClr val="tx1"/>
                </a:solidFill>
              </a:rPr>
              <a:t>3</a:t>
            </a:r>
            <a:endParaRPr lang="ko-KR" altLang="en-US" baseline="30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83414F-FDFF-212E-94F9-E95AEBDBC6E4}"/>
              </a:ext>
            </a:extLst>
          </p:cNvPr>
          <p:cNvSpPr/>
          <p:nvPr/>
        </p:nvSpPr>
        <p:spPr>
          <a:xfrm>
            <a:off x="4884420" y="3959642"/>
            <a:ext cx="487680" cy="78761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aseline="30000" dirty="0">
              <a:solidFill>
                <a:schemeClr val="tx1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3D69AE95-7D15-2C3B-1254-8D6576C49E10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5372100" y="2989388"/>
            <a:ext cx="2476500" cy="136406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C58DBAA-84DC-7628-966B-49AFD993CE90}"/>
              </a:ext>
            </a:extLst>
          </p:cNvPr>
          <p:cNvSpPr txBox="1"/>
          <p:nvPr/>
        </p:nvSpPr>
        <p:spPr>
          <a:xfrm>
            <a:off x="7632700" y="3365580"/>
            <a:ext cx="413385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가스는 기체이므로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부피</a:t>
            </a:r>
            <a:r>
              <a:rPr lang="en-US" altLang="ko-KR" sz="1600" spc="-50" dirty="0"/>
              <a:t>(m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측정한다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휘발유는 액체 형태이므로</a:t>
            </a:r>
            <a:r>
              <a:rPr lang="en-US" altLang="ko-KR" sz="1600" spc="-50" dirty="0"/>
              <a:t>, liter</a:t>
            </a:r>
            <a:r>
              <a:rPr lang="ko-KR" altLang="en-US" sz="1600" spc="-50" dirty="0"/>
              <a:t>를 사용한다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전기는 전기 형태이므로</a:t>
            </a:r>
            <a:r>
              <a:rPr lang="en-US" altLang="ko-KR" sz="1600" spc="-50" dirty="0"/>
              <a:t>, kWh</a:t>
            </a:r>
            <a:r>
              <a:rPr lang="ko-KR" altLang="en-US" sz="1600" spc="-50" dirty="0"/>
              <a:t>를 사용한다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석탄은 고체 형태이므로</a:t>
            </a:r>
            <a:r>
              <a:rPr lang="en-US" altLang="ko-KR" sz="1600" spc="-50" dirty="0"/>
              <a:t>, kg</a:t>
            </a:r>
            <a:r>
              <a:rPr lang="ko-KR" altLang="en-US" sz="1600" spc="-50" dirty="0"/>
              <a:t>을 사용한다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3" name="정육면체 22">
            <a:extLst>
              <a:ext uri="{FF2B5EF4-FFF2-40B4-BE49-F238E27FC236}">
                <a16:creationId xmlns:a16="http://schemas.microsoft.com/office/drawing/2014/main" id="{EEF3AB59-E652-EE29-2651-C819DDBF9188}"/>
              </a:ext>
            </a:extLst>
          </p:cNvPr>
          <p:cNvSpPr/>
          <p:nvPr/>
        </p:nvSpPr>
        <p:spPr>
          <a:xfrm>
            <a:off x="9729978" y="1668931"/>
            <a:ext cx="1216152" cy="1216152"/>
          </a:xfrm>
          <a:prstGeom prst="cub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왼쪽 중괄호 25">
            <a:extLst>
              <a:ext uri="{FF2B5EF4-FFF2-40B4-BE49-F238E27FC236}">
                <a16:creationId xmlns:a16="http://schemas.microsoft.com/office/drawing/2014/main" id="{F2C288A7-3919-FD49-4D4A-224DBED215B9}"/>
              </a:ext>
            </a:extLst>
          </p:cNvPr>
          <p:cNvSpPr/>
          <p:nvPr/>
        </p:nvSpPr>
        <p:spPr>
          <a:xfrm>
            <a:off x="9538716" y="1979749"/>
            <a:ext cx="155448" cy="905334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왼쪽 중괄호 27">
            <a:extLst>
              <a:ext uri="{FF2B5EF4-FFF2-40B4-BE49-F238E27FC236}">
                <a16:creationId xmlns:a16="http://schemas.microsoft.com/office/drawing/2014/main" id="{7D17E994-9537-04C9-B42E-D97C47EFC7CE}"/>
              </a:ext>
            </a:extLst>
          </p:cNvPr>
          <p:cNvSpPr/>
          <p:nvPr/>
        </p:nvSpPr>
        <p:spPr>
          <a:xfrm rot="16200000">
            <a:off x="10109683" y="2535651"/>
            <a:ext cx="155448" cy="905334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왼쪽 중괄호 28">
            <a:extLst>
              <a:ext uri="{FF2B5EF4-FFF2-40B4-BE49-F238E27FC236}">
                <a16:creationId xmlns:a16="http://schemas.microsoft.com/office/drawing/2014/main" id="{D3B4CC32-EA1C-2149-5298-886D152877CC}"/>
              </a:ext>
            </a:extLst>
          </p:cNvPr>
          <p:cNvSpPr/>
          <p:nvPr/>
        </p:nvSpPr>
        <p:spPr>
          <a:xfrm rot="13509751">
            <a:off x="10790149" y="2583354"/>
            <a:ext cx="155448" cy="432218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95230AA-27E4-365E-5CDA-7D5604407DF0}"/>
              </a:ext>
            </a:extLst>
          </p:cNvPr>
          <p:cNvSpPr/>
          <p:nvPr/>
        </p:nvSpPr>
        <p:spPr>
          <a:xfrm>
            <a:off x="9215661" y="2311351"/>
            <a:ext cx="386525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6079B0-94C4-8E12-026A-3757AF9D446A}"/>
              </a:ext>
            </a:extLst>
          </p:cNvPr>
          <p:cNvSpPr/>
          <p:nvPr/>
        </p:nvSpPr>
        <p:spPr>
          <a:xfrm>
            <a:off x="10003837" y="3013199"/>
            <a:ext cx="386525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9169BA5-B0B1-AE02-97AA-DD5CAD1012B7}"/>
              </a:ext>
            </a:extLst>
          </p:cNvPr>
          <p:cNvSpPr/>
          <p:nvPr/>
        </p:nvSpPr>
        <p:spPr>
          <a:xfrm>
            <a:off x="10781728" y="2813374"/>
            <a:ext cx="386525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3430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53B8-4AB1-9763-6BA8-F519C13A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B098F-A592-3355-073E-E5F2A2EE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도시가스 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487BC3-1A87-99E6-1DD8-96E944A2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7C210A-1598-4F1B-1466-6E4A77D1BACE}"/>
              </a:ext>
            </a:extLst>
          </p:cNvPr>
          <p:cNvSpPr txBox="1"/>
          <p:nvPr/>
        </p:nvSpPr>
        <p:spPr>
          <a:xfrm>
            <a:off x="288791" y="958844"/>
            <a:ext cx="7396204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표에서 도시가스를 보면 단순 </a:t>
            </a:r>
            <a:r>
              <a:rPr lang="en-US" altLang="ko-KR" sz="1600" spc="-50" dirty="0"/>
              <a:t>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 아니라</a:t>
            </a:r>
            <a:r>
              <a:rPr lang="en-US" altLang="ko-KR" sz="1600" spc="-50" dirty="0"/>
              <a:t>, Nm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란 단위를 사용한다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1Nm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란 </a:t>
            </a:r>
            <a:r>
              <a:rPr lang="en-US" altLang="ko-KR" sz="1600" spc="-50" dirty="0"/>
              <a:t>0℃, 1</a:t>
            </a:r>
            <a:r>
              <a:rPr lang="ko-KR" altLang="en-US" sz="1600" spc="-50" dirty="0"/>
              <a:t>기압 상태에서의 기체 </a:t>
            </a:r>
            <a:r>
              <a:rPr lang="en-US" altLang="ko-KR" sz="1600" spc="-50" dirty="0"/>
              <a:t>1m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 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0℃, 1</a:t>
            </a:r>
            <a:r>
              <a:rPr lang="ko-KR" altLang="en-US" sz="1600" spc="-50" dirty="0"/>
              <a:t>기압인 상태를 표준 상태라고 보통 표현한다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표준상태일 때의 기체 부피를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표준상태라고 하는 기준이 필요한 이유는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온도가 올라가면 부피는 커지고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온도가 내려가면 부피는 작아진다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압력을 높이면 부피는 작아지고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압력을 낮추면 부피는 커진다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표준상태라는 기준을 정의하지 않으면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여름과 겨울에 똑같은 양의 가스를 사용해도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여름에 가스요금을 더 많이 내게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우리가 집에서 쓰는 도시가스는 </a:t>
            </a:r>
            <a:r>
              <a:rPr lang="en-US" altLang="ko-KR" sz="1600" spc="-50" dirty="0"/>
              <a:t>LNG</a:t>
            </a:r>
            <a:r>
              <a:rPr lang="ko-KR" altLang="en-US" sz="1600" spc="-50" dirty="0"/>
              <a:t>로서</a:t>
            </a:r>
            <a:r>
              <a:rPr lang="en-US" altLang="ko-KR" sz="1600" spc="-50" dirty="0"/>
              <a:t>, 1Nm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당 </a:t>
            </a:r>
            <a:r>
              <a:rPr lang="en-US" altLang="ko-KR" sz="1600" spc="-50" dirty="0"/>
              <a:t>42.7MJ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10,190kcal</a:t>
            </a:r>
            <a:r>
              <a:rPr lang="ko-KR" altLang="en-US" sz="1600" spc="-50" dirty="0"/>
              <a:t>의 에너지를 갖고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3B95D6-3EB9-2169-6230-593B5CAF6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336" y="794231"/>
            <a:ext cx="4163980" cy="557806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64604B-77D0-72E8-D3AA-4BDEF15DCCCD}"/>
              </a:ext>
            </a:extLst>
          </p:cNvPr>
          <p:cNvSpPr/>
          <p:nvPr/>
        </p:nvSpPr>
        <p:spPr>
          <a:xfrm>
            <a:off x="8056856" y="3879477"/>
            <a:ext cx="3843460" cy="16349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108B08-E460-92D4-0FA7-4066DBC5D3A9}"/>
              </a:ext>
            </a:extLst>
          </p:cNvPr>
          <p:cNvSpPr/>
          <p:nvPr/>
        </p:nvSpPr>
        <p:spPr>
          <a:xfrm>
            <a:off x="9232079" y="3879477"/>
            <a:ext cx="379600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7A1EAD-8FB8-F1BD-6875-45390C7DBEAE}"/>
              </a:ext>
            </a:extLst>
          </p:cNvPr>
          <p:cNvSpPr/>
          <p:nvPr/>
        </p:nvSpPr>
        <p:spPr>
          <a:xfrm>
            <a:off x="9653559" y="3879477"/>
            <a:ext cx="402291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5786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2EED-ED97-05C3-7A45-9D6F19F2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E9057-5AD5-C997-A298-BEC0194B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도시가스 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CE5435-EBD6-A694-B2A1-B9A2A4CA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A23AC-16A7-0CE2-9898-14CDFC1071C3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도시가스 요금은 아래와 같이 계산한다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온압보정계수는</a:t>
            </a:r>
            <a:r>
              <a:rPr lang="ko-KR" altLang="en-US" sz="1600" spc="-50" dirty="0"/>
              <a:t> 도시가스 계량기가 측정한 가스의 부피</a:t>
            </a:r>
            <a:r>
              <a:rPr lang="en-US" altLang="ko-KR" sz="1600" spc="-50" dirty="0"/>
              <a:t>(m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표준상태의 부피로 </a:t>
            </a:r>
            <a:r>
              <a:rPr lang="en-US" altLang="ko-KR" sz="1600" spc="-50" dirty="0"/>
              <a:t>(Nm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환산하기 위한 계수이다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D9C6E6-E2A3-D67D-FF57-11D2E985C96A}"/>
                  </a:ext>
                </a:extLst>
              </p:cNvPr>
              <p:cNvSpPr txBox="1"/>
              <p:nvPr/>
            </p:nvSpPr>
            <p:spPr>
              <a:xfrm>
                <a:off x="1176251" y="1430033"/>
                <a:ext cx="8515506" cy="2431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도시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스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요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금</m:t>
                      </m:r>
                      <m:d>
                        <m:d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온압보정계수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균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𝑀𝐽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단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원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𝑀𝐽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D9C6E6-E2A3-D67D-FF57-11D2E985C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251" y="1430033"/>
                <a:ext cx="8515506" cy="243143"/>
              </a:xfrm>
              <a:prstGeom prst="rect">
                <a:avLst/>
              </a:prstGeom>
              <a:blipFill>
                <a:blip r:embed="rId2"/>
                <a:stretch>
                  <a:fillRect l="-859" t="-7692" b="-256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75A88289-B9FE-1A08-255F-8DEE9B345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493" y="3307964"/>
            <a:ext cx="2042380" cy="31438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2CBC7A-F124-49B9-1F49-E458CD9CF6B8}"/>
              </a:ext>
            </a:extLst>
          </p:cNvPr>
          <p:cNvSpPr txBox="1"/>
          <p:nvPr/>
        </p:nvSpPr>
        <p:spPr>
          <a:xfrm>
            <a:off x="9609171" y="3050394"/>
            <a:ext cx="24498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&lt;2025</a:t>
            </a:r>
            <a:r>
              <a:rPr lang="ko-KR" altLang="en-US" sz="1200" spc="-50" dirty="0"/>
              <a:t>년 도시가스 </a:t>
            </a:r>
            <a:r>
              <a:rPr lang="ko-KR" altLang="en-US" sz="1200" spc="-50" dirty="0" err="1"/>
              <a:t>온압보정계수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940D92-D33A-4C34-7F25-A8203B9E5D99}"/>
              </a:ext>
            </a:extLst>
          </p:cNvPr>
          <p:cNvSpPr txBox="1"/>
          <p:nvPr/>
        </p:nvSpPr>
        <p:spPr>
          <a:xfrm>
            <a:off x="288790" y="2664989"/>
            <a:ext cx="9345539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지역별로 기온과 기압이 다르므로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오른쪽 표와 같이 </a:t>
            </a:r>
            <a:r>
              <a:rPr lang="ko-KR" altLang="en-US" sz="1600" spc="-50" dirty="0" err="1"/>
              <a:t>온압보정계수를</a:t>
            </a:r>
            <a:r>
              <a:rPr lang="ko-KR" altLang="en-US" sz="1600" spc="-50" dirty="0"/>
              <a:t> 지역별로 적용한다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서울의 경우 </a:t>
            </a:r>
            <a:r>
              <a:rPr lang="en-US" altLang="ko-KR" sz="1600" spc="-50" dirty="0"/>
              <a:t>1m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의 가스는 표준상태로 환산해보면 </a:t>
            </a:r>
            <a:r>
              <a:rPr lang="en-US" altLang="ko-KR" sz="1600" spc="-50" dirty="0"/>
              <a:t>0.9944 Nm</a:t>
            </a:r>
            <a:r>
              <a:rPr lang="en-US" altLang="ko-KR" sz="1600" spc="-50" baseline="30000" dirty="0"/>
              <a:t>3</a:t>
            </a:r>
            <a:r>
              <a:rPr lang="ko-KR" altLang="en-US" sz="1600" spc="-50" baseline="30000" dirty="0"/>
              <a:t>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제주의 경우 </a:t>
            </a:r>
            <a:r>
              <a:rPr lang="en-US" altLang="ko-KR" sz="1600" spc="-50" dirty="0"/>
              <a:t>1m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의 가스는 표준상태로 환산해보면 </a:t>
            </a:r>
            <a:r>
              <a:rPr lang="en-US" altLang="ko-KR" sz="1600" spc="-50" dirty="0"/>
              <a:t>0.9731 Nm</a:t>
            </a:r>
            <a:r>
              <a:rPr lang="en-US" altLang="ko-KR" sz="1600" spc="-50" baseline="30000" dirty="0"/>
              <a:t>3</a:t>
            </a:r>
            <a:r>
              <a:rPr lang="ko-KR" altLang="en-US" sz="1600" spc="-50" baseline="30000" dirty="0"/>
              <a:t>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제주는 서울보다 평균 기온이 높아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같은 양의 가스 분자라도 보다 큰 부피를 갖는다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보정을 해주지 않으면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사용량이 과대측정되기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낮은 보정계수를 적용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제천의 경우 </a:t>
            </a:r>
            <a:r>
              <a:rPr lang="en-US" altLang="ko-KR" sz="1600" spc="-50" dirty="0"/>
              <a:t>1m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의 가스는 표준상태로 환산해보면 </a:t>
            </a:r>
            <a:r>
              <a:rPr lang="en-US" altLang="ko-KR" sz="1600" spc="-50" dirty="0"/>
              <a:t>0.9748 Nm</a:t>
            </a:r>
            <a:r>
              <a:rPr lang="en-US" altLang="ko-KR" sz="1600" spc="-50" baseline="30000" dirty="0"/>
              <a:t>3</a:t>
            </a:r>
            <a:r>
              <a:rPr lang="ko-KR" altLang="en-US" sz="1600" spc="-50" baseline="30000" dirty="0"/>
              <a:t>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제천은 제주와 달리 충주 옆에 위치한 내륙지역임에도 불구하고 </a:t>
            </a:r>
            <a:r>
              <a:rPr lang="ko-KR" altLang="en-US" sz="1600" spc="-50" dirty="0" err="1"/>
              <a:t>온압보정계수가</a:t>
            </a:r>
            <a:r>
              <a:rPr lang="ko-KR" altLang="en-US" sz="1600" spc="-50" dirty="0"/>
              <a:t> 낮다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제천은 다른 지역보다 해발고도가 높은 지역인데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해발고도가 높으면 기압이 낮아져서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같은 양의 가스 분자라도 보다 큰 부피를 차지한다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보정을 해주지 않으면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사용량이 과대측정되기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낮은 보정계수를 적용</a:t>
            </a:r>
            <a:r>
              <a:rPr lang="en-US" altLang="ko-KR" sz="1600" spc="-50" dirty="0"/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9EB67D-3FCB-AD0D-1F48-A82326A5CBBF}"/>
              </a:ext>
            </a:extLst>
          </p:cNvPr>
          <p:cNvSpPr/>
          <p:nvPr/>
        </p:nvSpPr>
        <p:spPr>
          <a:xfrm>
            <a:off x="9885039" y="3319712"/>
            <a:ext cx="897128" cy="1359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5A38100-4984-C768-D2BF-AE49B06D4A5B}"/>
              </a:ext>
            </a:extLst>
          </p:cNvPr>
          <p:cNvSpPr/>
          <p:nvPr/>
        </p:nvSpPr>
        <p:spPr>
          <a:xfrm>
            <a:off x="9885039" y="4576705"/>
            <a:ext cx="897128" cy="1359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E865AA-F37A-C658-7AFF-5E9BA125E53B}"/>
              </a:ext>
            </a:extLst>
          </p:cNvPr>
          <p:cNvSpPr/>
          <p:nvPr/>
        </p:nvSpPr>
        <p:spPr>
          <a:xfrm>
            <a:off x="10941679" y="6186911"/>
            <a:ext cx="897128" cy="1359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5143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ADB1-456F-C566-8D5E-914EBC83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70007-EA5C-A92E-1DE2-75053F80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도시가스 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5E98C-A9A3-4D38-1498-6225EFBD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22E70-D429-13E1-C4CD-77C07439EF51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한국가스공사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도매업자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해외로부터 천연가스를 수입하여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파이프라인을 통해 국내 각지에 공급하고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지역의 가스공급업자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소매업자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해당지역에서 독점적 지위로서 소비자들에게 가스를 판매한다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도시가스 사용단가는 지역별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공급업체별로 약간씩 다르다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용도별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주택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업무난방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나뉘고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용도에 따라 가격이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593D00-D1B4-9F70-6E08-09815BC18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707" y="3479800"/>
            <a:ext cx="6084732" cy="27432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AA271C-1F98-92CC-6803-5456D72AA0A7}"/>
              </a:ext>
            </a:extLst>
          </p:cNvPr>
          <p:cNvSpPr txBox="1"/>
          <p:nvPr/>
        </p:nvSpPr>
        <p:spPr>
          <a:xfrm>
            <a:off x="9527540" y="6223086"/>
            <a:ext cx="2256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 </a:t>
            </a:r>
            <a:r>
              <a:rPr lang="ko-KR" altLang="en-US" sz="800" dirty="0"/>
              <a:t>http://www.citygas.or.kr/info/charge.jsp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501CC7-A93C-177F-557B-561A46FDC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26" y="2868669"/>
            <a:ext cx="3543827" cy="36682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CF1DFD-0079-56C4-64F5-6E14FF23D39E}"/>
              </a:ext>
            </a:extLst>
          </p:cNvPr>
          <p:cNvSpPr txBox="1"/>
          <p:nvPr/>
        </p:nvSpPr>
        <p:spPr>
          <a:xfrm>
            <a:off x="1547211" y="3070714"/>
            <a:ext cx="24498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도시가스 회사 현황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F2ECD8-06EA-5CAA-B784-A045D94CAAF7}"/>
              </a:ext>
            </a:extLst>
          </p:cNvPr>
          <p:cNvSpPr txBox="1"/>
          <p:nvPr/>
        </p:nvSpPr>
        <p:spPr>
          <a:xfrm>
            <a:off x="1852930" y="6330808"/>
            <a:ext cx="2084070" cy="20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http://www.citygas.or.kr/company/situation.jsp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659CB0-A21B-1E4A-B3BD-1C3BC3177112}"/>
              </a:ext>
            </a:extLst>
          </p:cNvPr>
          <p:cNvSpPr txBox="1"/>
          <p:nvPr/>
        </p:nvSpPr>
        <p:spPr>
          <a:xfrm>
            <a:off x="7495891" y="3290500"/>
            <a:ext cx="24498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도시가스 </a:t>
            </a:r>
            <a:r>
              <a:rPr lang="ko-KR" altLang="en-US" sz="1200" spc="-50" dirty="0" err="1"/>
              <a:t>요금표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19858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5775A-C5EA-E66A-9608-DD8536D9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417AE-4BF1-B500-EF34-86E9DE24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도시가스 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D9B1B5-6E87-E910-FA08-851ECA1E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5C9BC-54D8-3123-3CEF-FDEF0B0286A5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물 </a:t>
            </a:r>
            <a:r>
              <a:rPr lang="en-US" altLang="ko-KR" sz="1600" spc="-50" dirty="0"/>
              <a:t>500ml (</a:t>
            </a:r>
            <a:r>
              <a:rPr lang="ko-KR" altLang="en-US" sz="1600" spc="-50" dirty="0"/>
              <a:t>라면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봉지에 필요한 물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를 끓이는 데 도시가스는 얼마나 필요하고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요금은 얼마일지 계산해보자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대략 </a:t>
            </a:r>
            <a:r>
              <a:rPr lang="en-US" altLang="ko-KR" sz="1600" spc="-50" dirty="0"/>
              <a:t>400,000 J (=0.4 MJ)</a:t>
            </a:r>
            <a:r>
              <a:rPr lang="ko-KR" altLang="en-US" sz="1600" spc="-50" dirty="0"/>
              <a:t>의 에너지가 필요하다고 하자</a:t>
            </a:r>
            <a:r>
              <a:rPr lang="en-US" altLang="ko-KR" sz="1600" spc="-50" dirty="0"/>
              <a:t>. (20℃ → 100℃)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</a:t>
            </a:r>
            <a:r>
              <a:rPr lang="en-US" altLang="ko-KR" sz="1600" spc="-50" dirty="0"/>
              <a:t>1Nm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의 도시가스는 </a:t>
            </a:r>
            <a:r>
              <a:rPr lang="en-US" altLang="ko-KR" sz="1600" spc="-50" dirty="0"/>
              <a:t>42.7MJ</a:t>
            </a:r>
            <a:r>
              <a:rPr lang="ko-KR" altLang="en-US" sz="1600" spc="-50" dirty="0"/>
              <a:t> 의 에너지를 갖고 있었다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40 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0.4 MJ x 1/42.7 (Nm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/MJ) = 0.009Nm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의 도시가스가 필요하다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대략 </a:t>
            </a:r>
            <a:r>
              <a:rPr lang="en-US" altLang="ko-KR" sz="1600" spc="-50" dirty="0"/>
              <a:t>0.208m x 0.208m x 0.208m = 0.009 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  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표준상태</a:t>
            </a:r>
            <a:r>
              <a:rPr lang="en-US" altLang="ko-KR" sz="1600" spc="-50" dirty="0"/>
              <a:t>(0℃, 1</a:t>
            </a:r>
            <a:r>
              <a:rPr lang="ko-KR" altLang="en-US" sz="1600" spc="-50" dirty="0"/>
              <a:t>기압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일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 </a:t>
            </a:r>
            <a:r>
              <a:rPr lang="en-US" altLang="ko-KR" sz="1600" spc="-50" dirty="0"/>
              <a:t>500ml </a:t>
            </a:r>
            <a:r>
              <a:rPr lang="ko-KR" altLang="en-US" sz="1600" spc="-50" dirty="0"/>
              <a:t>를 끓이기 위해서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아래와 같이 한 변이 </a:t>
            </a:r>
            <a:r>
              <a:rPr lang="en-US" altLang="ko-KR" sz="1600" spc="-50" dirty="0"/>
              <a:t>20.8cm (0.208m)</a:t>
            </a:r>
            <a:r>
              <a:rPr lang="ko-KR" altLang="en-US" sz="1600" spc="-50" dirty="0"/>
              <a:t>인 정육면체 부피 만큼의 도시가스가 필요하다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대전지역에서 주택 취사용 도시가스의 가격은 </a:t>
            </a:r>
            <a:r>
              <a:rPr lang="en-US" altLang="ko-KR" sz="1600" spc="-50" dirty="0"/>
              <a:t>22.8732 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42 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0.4MJ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 22.8732 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/MJ = 9.1</a:t>
            </a:r>
            <a:r>
              <a:rPr lang="ko-KR" altLang="en-US" sz="1600" spc="-50" dirty="0"/>
              <a:t>원의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도시가스 요금이 발생한다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BED43F26-E393-3364-D0A4-79D568F24E69}"/>
              </a:ext>
            </a:extLst>
          </p:cNvPr>
          <p:cNvSpPr/>
          <p:nvPr/>
        </p:nvSpPr>
        <p:spPr>
          <a:xfrm>
            <a:off x="3330956" y="3993818"/>
            <a:ext cx="155448" cy="562839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 중괄호 10">
            <a:extLst>
              <a:ext uri="{FF2B5EF4-FFF2-40B4-BE49-F238E27FC236}">
                <a16:creationId xmlns:a16="http://schemas.microsoft.com/office/drawing/2014/main" id="{6A726663-8301-128C-8A45-1120C4AF13A1}"/>
              </a:ext>
            </a:extLst>
          </p:cNvPr>
          <p:cNvSpPr/>
          <p:nvPr/>
        </p:nvSpPr>
        <p:spPr>
          <a:xfrm rot="16200000">
            <a:off x="3707820" y="4392841"/>
            <a:ext cx="155448" cy="553739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왼쪽 중괄호 15">
            <a:extLst>
              <a:ext uri="{FF2B5EF4-FFF2-40B4-BE49-F238E27FC236}">
                <a16:creationId xmlns:a16="http://schemas.microsoft.com/office/drawing/2014/main" id="{17B27489-6C22-238D-24A1-F6B939034713}"/>
              </a:ext>
            </a:extLst>
          </p:cNvPr>
          <p:cNvSpPr/>
          <p:nvPr/>
        </p:nvSpPr>
        <p:spPr>
          <a:xfrm rot="13509751">
            <a:off x="4155758" y="4409090"/>
            <a:ext cx="155448" cy="265107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BC63CC-03F6-D8C8-418D-62776B40D59A}"/>
              </a:ext>
            </a:extLst>
          </p:cNvPr>
          <p:cNvSpPr/>
          <p:nvPr/>
        </p:nvSpPr>
        <p:spPr>
          <a:xfrm>
            <a:off x="3480096" y="4729639"/>
            <a:ext cx="618761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20.8cm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sp>
        <p:nvSpPr>
          <p:cNvPr id="25" name="정육면체 24">
            <a:extLst>
              <a:ext uri="{FF2B5EF4-FFF2-40B4-BE49-F238E27FC236}">
                <a16:creationId xmlns:a16="http://schemas.microsoft.com/office/drawing/2014/main" id="{B2A56D92-3E7D-5DF7-786E-DBB7D501CBC3}"/>
              </a:ext>
            </a:extLst>
          </p:cNvPr>
          <p:cNvSpPr/>
          <p:nvPr/>
        </p:nvSpPr>
        <p:spPr>
          <a:xfrm>
            <a:off x="3508674" y="3819493"/>
            <a:ext cx="737164" cy="737164"/>
          </a:xfrm>
          <a:prstGeom prst="cub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C96565E-F264-E962-5321-F0B9BA191E3A}"/>
              </a:ext>
            </a:extLst>
          </p:cNvPr>
          <p:cNvSpPr/>
          <p:nvPr/>
        </p:nvSpPr>
        <p:spPr>
          <a:xfrm>
            <a:off x="4133910" y="4556657"/>
            <a:ext cx="618761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20.8cm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B2E9B0-AA03-50FD-857C-06CC1A771AC7}"/>
              </a:ext>
            </a:extLst>
          </p:cNvPr>
          <p:cNvSpPr/>
          <p:nvPr/>
        </p:nvSpPr>
        <p:spPr>
          <a:xfrm>
            <a:off x="2806996" y="4151679"/>
            <a:ext cx="618761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20.8cm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9AC41A-FD11-0508-75D1-4EF554559C60}"/>
              </a:ext>
            </a:extLst>
          </p:cNvPr>
          <p:cNvSpPr/>
          <p:nvPr/>
        </p:nvSpPr>
        <p:spPr>
          <a:xfrm>
            <a:off x="3553701" y="4147308"/>
            <a:ext cx="530982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도시가스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04E6C29B-DB5E-00E6-427D-635A2BAB6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390" y="3617217"/>
            <a:ext cx="1902640" cy="1522655"/>
          </a:xfrm>
          <a:prstGeom prst="rect">
            <a:avLst/>
          </a:prstGeom>
        </p:spPr>
      </p:pic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AD4C0D7B-EB24-6B2D-214D-328D07A3D52E}"/>
              </a:ext>
            </a:extLst>
          </p:cNvPr>
          <p:cNvCxnSpPr>
            <a:cxnSpLocks/>
            <a:stCxn id="25" idx="5"/>
            <a:endCxn id="35" idx="2"/>
          </p:cNvCxnSpPr>
          <p:nvPr/>
        </p:nvCxnSpPr>
        <p:spPr>
          <a:xfrm>
            <a:off x="4245838" y="4095930"/>
            <a:ext cx="2431872" cy="1043942"/>
          </a:xfrm>
          <a:prstGeom prst="bentConnector4">
            <a:avLst>
              <a:gd name="adj1" fmla="val 30441"/>
              <a:gd name="adj2" fmla="val 1218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1794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12379</TotalTime>
  <Words>5471</Words>
  <Application>Microsoft Office PowerPoint</Application>
  <PresentationFormat>와이드스크린</PresentationFormat>
  <Paragraphs>636</Paragraphs>
  <Slides>48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5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자원·에너지 경제학</vt:lpstr>
      <vt:lpstr>Chapter 2  에너지 개론</vt:lpstr>
      <vt:lpstr>Section 1. 서 론</vt:lpstr>
      <vt:lpstr>Energy 어원</vt:lpstr>
      <vt:lpstr>에너지의 여러 형태</vt:lpstr>
      <vt:lpstr>다양한 에너지 변환</vt:lpstr>
      <vt:lpstr>에너지 측정</vt:lpstr>
      <vt:lpstr>에너지 측정</vt:lpstr>
      <vt:lpstr>(참고자료) SI 접두어</vt:lpstr>
      <vt:lpstr>에너지 단위 변환 (콜라)</vt:lpstr>
      <vt:lpstr>에너지 단위 변환 (선풍기)</vt:lpstr>
      <vt:lpstr>어떤 보조배터리를 사야할까?</vt:lpstr>
      <vt:lpstr>보조배터리 충전·방전 속도</vt:lpstr>
      <vt:lpstr>보조배터리 충전·방전 속도</vt:lpstr>
      <vt:lpstr>보조배터리 충전·방전 속도</vt:lpstr>
      <vt:lpstr>보조배터리 충전·방전 속도</vt:lpstr>
      <vt:lpstr>에너지 단위 변환 (미니 선풍기)</vt:lpstr>
      <vt:lpstr>에너지 단위 변환</vt:lpstr>
      <vt:lpstr>Section 2. 우리집 전기요금</vt:lpstr>
      <vt:lpstr>우리집 전기요금</vt:lpstr>
      <vt:lpstr>우리집 전기요금</vt:lpstr>
      <vt:lpstr>우리집 전기요금</vt:lpstr>
      <vt:lpstr>기후환경요금</vt:lpstr>
      <vt:lpstr>연료비조정요금</vt:lpstr>
      <vt:lpstr>전력기금 (전력산업기반 기금)</vt:lpstr>
      <vt:lpstr>우리집 전기요금</vt:lpstr>
      <vt:lpstr>주택용, 교육용</vt:lpstr>
      <vt:lpstr>계약전력</vt:lpstr>
      <vt:lpstr>계약전력</vt:lpstr>
      <vt:lpstr>일반용</vt:lpstr>
      <vt:lpstr>산업용</vt:lpstr>
      <vt:lpstr>농사용, 가로등, 심야전력, 전기차</vt:lpstr>
      <vt:lpstr>우리집 전기요금</vt:lpstr>
      <vt:lpstr>우리집 전기요금</vt:lpstr>
      <vt:lpstr>우리집 전기 소비 내역</vt:lpstr>
      <vt:lpstr>우리집 전기 소비 내역</vt:lpstr>
      <vt:lpstr>Section 3. 휘발유 차 vs. 전기 차</vt:lpstr>
      <vt:lpstr>휘발유차</vt:lpstr>
      <vt:lpstr>전기차</vt:lpstr>
      <vt:lpstr>비용 비교 (휘발유차 vs. 전기차)</vt:lpstr>
      <vt:lpstr>에너지효율 비교 (휘발유차 vs. 전기차)</vt:lpstr>
      <vt:lpstr>Section 4. 도시가스 요금</vt:lpstr>
      <vt:lpstr>도시가스 요금</vt:lpstr>
      <vt:lpstr>도시가스 요금</vt:lpstr>
      <vt:lpstr>도시가스 요금</vt:lpstr>
      <vt:lpstr>도시가스 요금</vt:lpstr>
      <vt:lpstr>도시가스 요금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456</cp:revision>
  <dcterms:created xsi:type="dcterms:W3CDTF">2025-07-05T05:15:23Z</dcterms:created>
  <dcterms:modified xsi:type="dcterms:W3CDTF">2026-09-15T00:57:24Z</dcterms:modified>
</cp:coreProperties>
</file>