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0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3" r:id="rId15"/>
    <p:sldId id="642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74" r:id="rId24"/>
    <p:sldId id="675" r:id="rId25"/>
    <p:sldId id="676" r:id="rId26"/>
    <p:sldId id="634" r:id="rId27"/>
    <p:sldId id="654" r:id="rId28"/>
    <p:sldId id="677" r:id="rId29"/>
    <p:sldId id="679" r:id="rId30"/>
    <p:sldId id="653" r:id="rId31"/>
    <p:sldId id="655" r:id="rId32"/>
    <p:sldId id="656" r:id="rId33"/>
    <p:sldId id="657" r:id="rId34"/>
    <p:sldId id="658" r:id="rId35"/>
    <p:sldId id="659" r:id="rId36"/>
    <p:sldId id="661" r:id="rId37"/>
    <p:sldId id="662" r:id="rId38"/>
    <p:sldId id="663" r:id="rId39"/>
    <p:sldId id="665" r:id="rId40"/>
    <p:sldId id="664" r:id="rId41"/>
    <p:sldId id="667" r:id="rId42"/>
    <p:sldId id="668" r:id="rId43"/>
    <p:sldId id="669" r:id="rId44"/>
    <p:sldId id="670" r:id="rId45"/>
    <p:sldId id="671" r:id="rId46"/>
    <p:sldId id="672" r:id="rId47"/>
    <p:sldId id="673" r:id="rId48"/>
    <p:sldId id="364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9T04:53:28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52958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 = ergonomics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oikos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household) + nomos (law, rule) = economics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1" y="27231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F6AFC56-BEF0-3EB4-DDE5-9A4DEED311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756" y="3334226"/>
            <a:ext cx="3099997" cy="16322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41F93ED-B891-E568-5130-D67E2B769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090" y="2588467"/>
            <a:ext cx="2369256" cy="326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0.1079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0.275Mm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996914"/>
              </p:ext>
            </p:extLst>
          </p:nvPr>
        </p:nvGraphicFramePr>
        <p:xfrm>
          <a:off x="917945" y="3264003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CCC6E8-6898-50A6-83DA-CC693C795F1B}"/>
              </a:ext>
            </a:extLst>
          </p:cNvPr>
          <p:cNvSpPr txBox="1"/>
          <p:nvPr/>
        </p:nvSpPr>
        <p:spPr>
          <a:xfrm>
            <a:off x="7183989" y="3720140"/>
            <a:ext cx="4370446" cy="54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kern="0" dirty="0">
                <a:solidFill>
                  <a:srgbClr val="000000"/>
                </a:solidFill>
              </a:rPr>
              <a:t>작은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-30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퀙토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quecto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q),</a:t>
            </a: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300" b="0" kern="0" spc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큰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퀘타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quetta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</a:t>
            </a:r>
            <a:r>
              <a:rPr lang="ko-KR" altLang="en-US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까지 정의되어 있음</a:t>
            </a:r>
            <a:endParaRPr lang="en-US" altLang="ko-KR" sz="1300" b="0" kern="0" spc="0" baseline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크기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 크기 등등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(</a:t>
            </a:r>
            <a:r>
              <a:rPr lang="en-US" altLang="ko-KR" sz="1600" b="1" spc="-50" dirty="0"/>
              <a:t>1cal = 4.184J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 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x 4.184(J/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412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497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(1Wh = 3,600J)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89" y="3023578"/>
            <a:ext cx="9802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소수점 오차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b="1" spc="-50" dirty="0"/>
              <a:t>50Wh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180,000J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42,985cal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791803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14:cNvPr>
              <p14:cNvContentPartPr/>
              <p14:nvPr/>
            </p14:nvContentPartPr>
            <p14:xfrm>
              <a:off x="3520286" y="1658931"/>
              <a:ext cx="360" cy="360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4166" y="165281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다른 기기를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8E06B-17FE-B471-6EBE-F1E93BC53F37}"/>
              </a:ext>
            </a:extLst>
          </p:cNvPr>
          <p:cNvSpPr txBox="1"/>
          <p:nvPr/>
        </p:nvSpPr>
        <p:spPr>
          <a:xfrm>
            <a:off x="9157294" y="1655038"/>
            <a:ext cx="506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spc="-50" dirty="0"/>
              <a:t>vs.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V x A</a:t>
            </a:r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66298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밀리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   (5,000mA  x  3.7V = 18,500mW = 18.5W)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    (18.5W  x  1h = 18.5Wh)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충전시킨다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보조배터리를 충전한다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안 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56A3E-420C-41CD-2622-1622EDE6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BF8A8-8536-5314-6974-8EF590CBA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기후환경요금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F1696-66DA-C7B6-BACD-359256166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5C2B-DF14-79CE-8DD3-492832655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814" y="4361905"/>
            <a:ext cx="5791131" cy="20837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4E0CFA-13E4-5D40-4038-E0FBEEB46987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기후환경요금은 깨끗하고 안전한 에너지 제공에 소요되는 비용으로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아래의 정책에 소요되는 비용을 충당하고자 소비자에게 청구하고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 공급의무화제도 </a:t>
            </a:r>
            <a:r>
              <a:rPr lang="en-US" altLang="ko-KR" sz="1600" spc="-50" dirty="0"/>
              <a:t>(RPS,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Renewable Portfolio Standard)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규모가 큰 발전사업자에게 발전량의 일정 비율을 신재생에너지로 공급하도록 의무를 부과하는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거래제 </a:t>
            </a:r>
            <a:r>
              <a:rPr lang="en-US" altLang="ko-KR" sz="1600" spc="-50" dirty="0"/>
              <a:t>(ETS, Emission Trading Scheme)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기업별로 온실가스 배출 권리를 할당하고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기업들이 서로 배출권을 사고 팔 수 있게 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석탄발전 감축비용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정부는 미세먼지 계절관리제를 통해 미세먼지가 심한 날에는 석탄발전의 </a:t>
            </a:r>
            <a:r>
              <a:rPr lang="ko-KR" altLang="en-US" sz="1600" spc="-50"/>
              <a:t>가동을 제한 시킨다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4477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8075C-03D5-113C-2347-D114AD40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05AEC7-1D3A-C854-FF3E-BB975E2E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연료비조정요금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65D42-ACE9-33B2-97C8-756F73AA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9205C-D25F-D077-341F-0A6A41048C04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연료비조정요금은 발전연료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가격의 변동을 전기요금에 반영하기 위한 요금이다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개월간 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유의 가격을 이용하여 실적연료비를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실적연료비와 기준연료비의 차이를 전력량</a:t>
            </a:r>
            <a:r>
              <a:rPr lang="en-US" altLang="ko-KR" sz="1600" spc="-50" dirty="0"/>
              <a:t>(1kWh)</a:t>
            </a:r>
            <a:r>
              <a:rPr lang="ko-KR" altLang="en-US" sz="1600" spc="-50" dirty="0"/>
              <a:t>당 금액으로 환산한다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실적연료비가 기준연료비보다 크다면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작다면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연료비조정단가는 양수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음수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조정단가가 </a:t>
            </a:r>
            <a:r>
              <a:rPr lang="en-US" altLang="ko-KR" sz="1600" spc="-50" dirty="0"/>
              <a:t>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초과 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상하한</a:t>
            </a:r>
            <a:r>
              <a:rPr lang="en-US" altLang="ko-KR" sz="1600" spc="-50" dirty="0"/>
              <a:t> 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으로 적용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60AA5B6-D81A-ABEC-A04F-F3C503AC8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61" y="3429000"/>
            <a:ext cx="11120477" cy="286727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11D6423F-9F97-F06B-EAE7-3F4CE374BA72}"/>
              </a:ext>
            </a:extLst>
          </p:cNvPr>
          <p:cNvSpPr/>
          <p:nvPr/>
        </p:nvSpPr>
        <p:spPr>
          <a:xfrm>
            <a:off x="2706912" y="4460383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6F963B-72CD-3165-6755-665DC92A66C3}"/>
              </a:ext>
            </a:extLst>
          </p:cNvPr>
          <p:cNvSpPr/>
          <p:nvPr/>
        </p:nvSpPr>
        <p:spPr>
          <a:xfrm>
            <a:off x="4967155" y="4419600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7C5BF9-4A50-FA8A-8AA6-72B46D326F32}"/>
              </a:ext>
            </a:extLst>
          </p:cNvPr>
          <p:cNvSpPr/>
          <p:nvPr/>
        </p:nvSpPr>
        <p:spPr>
          <a:xfrm>
            <a:off x="4967155" y="5611621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947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E575-3871-E1D9-E8E9-803B0C53D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E1D078-F6CA-6C5B-0D0D-F1110ED3D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전력기금 </a:t>
            </a:r>
            <a:r>
              <a:rPr lang="en-US" altLang="ko-KR" dirty="0"/>
              <a:t>(</a:t>
            </a:r>
            <a:r>
              <a:rPr lang="ko-KR" altLang="en-US" dirty="0"/>
              <a:t>전력산업기반 기금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27DA36-0B91-14C3-6DBD-DCA51D41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7D4D0-E8AF-0941-58D9-5D4A6001BA3D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전력기금은 전력산업의 안정적인 발전과 전력수급의 원활한 운영을 지원하기 위해 조성되는 특별회계이다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전기요금에 포함된 전력산업기반기금을 통해 재원을 마련한다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전기사용량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일정 금액이 부과 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전기요금의 </a:t>
            </a:r>
            <a:r>
              <a:rPr lang="en-US" altLang="ko-KR" sz="1600" spc="-50" dirty="0"/>
              <a:t>2.7%)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조성된 기금은 전력산업의 경쟁력 강화와 에너지 전환을 위한 사업에 사용된다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전력계통 안정화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재생에너지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전력산업 인프라 구축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전기요금 할인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취약계층 지원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등 전력복지 사업에도 활용된다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2489F9-118C-E85D-F7CC-879D1178A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75" y="3261069"/>
            <a:ext cx="11245850" cy="3309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99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69"/>
            <a:ext cx="5421166" cy="197255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5A26-5C2C-B83A-B239-CE5BFF45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44FE28-FC18-09D7-E4F6-057C0E74A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BF444D-AD42-358A-DC40-773577E30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C1A08-FCB9-2AAC-F1DA-89EA5F2B372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계약전력은 전기사용자가 한전과 계약한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사용 가능한 전력의 규모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사용하는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전력을 이용할 수 있는 용량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주택용을 제외한 나머지 용도의 요금에서 기본요금을 결정하는 기준이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기본적으로 요금표에 명시된 기본요금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/kW)</a:t>
            </a:r>
            <a:r>
              <a:rPr lang="ko-KR" altLang="en-US" sz="1600" spc="-50" dirty="0"/>
              <a:t>에 따라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에 비례하여 기본요금을 청구한다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계약한 계약전력을 초과하여 사용하는 경우 아래와 같이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경우와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번의 경우로 나누어 적용한다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최대수요전력을 계량할 수 있는 전력량계가 설치된 사용자의 경우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최대수요전력이 계약전력을 초과하는 초과횟수에 따라 아래와 같이 적용한다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전력량계가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단위로 계산한 평균 수요전력 중 가장 큰 값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15</a:t>
            </a:r>
            <a:r>
              <a:rPr lang="ko-KR" altLang="en-US" sz="1600" spc="-50" dirty="0"/>
              <a:t>분 동안 </a:t>
            </a:r>
            <a:r>
              <a:rPr lang="en-US" altLang="ko-KR" sz="1600" spc="-50" dirty="0"/>
              <a:t>10kWh</a:t>
            </a:r>
            <a:r>
              <a:rPr lang="ko-KR" altLang="en-US" sz="1600" spc="-50" dirty="0"/>
              <a:t>를 사용했다면</a:t>
            </a:r>
            <a:r>
              <a:rPr lang="en-US" altLang="ko-KR" sz="1600" spc="-50" dirty="0"/>
              <a:t> 10kWh ÷ 0.25h (15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/60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= 40kW  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구간의 수요전력은 </a:t>
            </a:r>
            <a:r>
              <a:rPr lang="en-US" altLang="ko-KR" sz="1600" spc="-50" dirty="0"/>
              <a:t>40kW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670038-FFF4-BACC-30BB-973F30BC558A}"/>
              </a:ext>
            </a:extLst>
          </p:cNvPr>
          <p:cNvSpPr txBox="1"/>
          <p:nvPr/>
        </p:nvSpPr>
        <p:spPr>
          <a:xfrm>
            <a:off x="4768850" y="-515352"/>
            <a:ext cx="61341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spc="-50" dirty="0"/>
              <a:t>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장 요금의 계산 및 납부</a:t>
            </a:r>
            <a:r>
              <a:rPr lang="en-US" altLang="ko-KR" sz="1600" spc="-50" dirty="0"/>
              <a:t>.  &gt;&gt; 67</a:t>
            </a:r>
            <a:r>
              <a:rPr lang="ko-KR" altLang="en-US" sz="1600" spc="-50" dirty="0"/>
              <a:t>조의 </a:t>
            </a:r>
            <a:r>
              <a:rPr lang="en-US" altLang="ko-KR" sz="1600" spc="-50" dirty="0"/>
              <a:t>3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8005616-1B20-2A57-5794-9CFD1AC3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016" y="4655284"/>
            <a:ext cx="5823897" cy="17995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74759D8-D9EB-CFB1-2677-FCB214320E6C}"/>
              </a:ext>
            </a:extLst>
          </p:cNvPr>
          <p:cNvSpPr txBox="1"/>
          <p:nvPr/>
        </p:nvSpPr>
        <p:spPr>
          <a:xfrm>
            <a:off x="288791" y="5001178"/>
            <a:ext cx="519761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35kW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 달 최대수요전력이 </a:t>
            </a:r>
            <a:r>
              <a:rPr lang="en-US" altLang="ko-KR" sz="1600" spc="-50" dirty="0"/>
              <a:t>40kW</a:t>
            </a:r>
            <a:r>
              <a:rPr lang="ko-KR" altLang="en-US" sz="1600" spc="-50" dirty="0"/>
              <a:t>로 측정되었다면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계약전력을 초과하여 사용한 것이다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초과사용횟수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회가 늘어난다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7054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A879D-BCEB-5BCF-92A9-34C8F62E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093F5-D355-7A05-317C-984F2E679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5F85F-0B6E-E880-6429-45ECB24B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662E-021D-45D5-D3A4-FADC31B4B2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앞선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적용대상 이외의 경우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최대수요전력으로 초과사용 여부를 판단하지 않는 고객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 </a:t>
            </a:r>
            <a:r>
              <a:rPr lang="ko-KR" altLang="en-US" sz="1600" spc="-50" dirty="0" err="1"/>
              <a:t>사용전력량이</a:t>
            </a:r>
            <a:r>
              <a:rPr lang="ko-KR" altLang="en-US" sz="1600" spc="-50" dirty="0"/>
              <a:t> 계약전력 </a:t>
            </a:r>
            <a:r>
              <a:rPr lang="en-US" altLang="ko-KR" sz="1600" spc="-50" dirty="0"/>
              <a:t>1kW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450kWh</a:t>
            </a:r>
            <a:r>
              <a:rPr lang="ko-KR" altLang="en-US" sz="1600" spc="-50" dirty="0"/>
              <a:t>를 초과하는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초과사용으로 판단한다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기준 </a:t>
            </a:r>
            <a:r>
              <a:rPr lang="ko-KR" altLang="en-US" sz="1600" spc="-50" dirty="0" err="1"/>
              <a:t>사용전력량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계약전력</a:t>
            </a:r>
            <a:r>
              <a:rPr lang="en-US" altLang="ko-KR" sz="1600" spc="-50" dirty="0"/>
              <a:t>(kW) 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450h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2kW</a:t>
            </a:r>
            <a:r>
              <a:rPr lang="ko-KR" altLang="en-US" sz="1600" spc="-50" dirty="0"/>
              <a:t>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월 사용 전력량이 </a:t>
            </a:r>
            <a:r>
              <a:rPr lang="en-US" altLang="ko-KR" sz="1600" spc="-50" dirty="0"/>
              <a:t>900kWh (2kW x 450h)</a:t>
            </a:r>
            <a:r>
              <a:rPr lang="ko-KR" altLang="en-US" sz="1600" spc="-50" dirty="0"/>
              <a:t> 을 초과하지 않아야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2kW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월에 </a:t>
            </a:r>
            <a:r>
              <a:rPr lang="en-US" altLang="ko-KR" sz="1600" spc="-50" dirty="0"/>
              <a:t>900kWh</a:t>
            </a:r>
            <a:r>
              <a:rPr lang="ko-KR" altLang="en-US" sz="1600" spc="-50" dirty="0"/>
              <a:t>의 전력량을 소비했다면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 횟수가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 늘어난다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C60D15-66AD-0432-A6F1-EEF6D227E951}"/>
              </a:ext>
            </a:extLst>
          </p:cNvPr>
          <p:cNvSpPr txBox="1"/>
          <p:nvPr/>
        </p:nvSpPr>
        <p:spPr>
          <a:xfrm>
            <a:off x="9594850" y="1738898"/>
            <a:ext cx="2476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 15h/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x 30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= 450h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71B4FD-1222-2C80-6C1C-F846802A5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791" y="3079750"/>
            <a:ext cx="5666409" cy="328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29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B8B40D-EAC8-1A04-B4A9-38BACE553E8D}"/>
              </a:ext>
            </a:extLst>
          </p:cNvPr>
          <p:cNvSpPr/>
          <p:nvPr/>
        </p:nvSpPr>
        <p:spPr>
          <a:xfrm>
            <a:off x="7495171" y="6033875"/>
            <a:ext cx="313720" cy="1995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68A9F6B-9FD4-6677-0164-45B9E1FC6CE6}"/>
              </a:ext>
            </a:extLst>
          </p:cNvPr>
          <p:cNvSpPr/>
          <p:nvPr/>
        </p:nvSpPr>
        <p:spPr>
          <a:xfrm>
            <a:off x="10961323" y="5647640"/>
            <a:ext cx="682649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(normal cubic meter)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 자체만 가열하는 데 필요한 이론적 에너지는 </a:t>
            </a:r>
            <a:r>
              <a:rPr lang="en-US" altLang="ko-KR" sz="1600" spc="-50" dirty="0"/>
              <a:t>0.17MJ </a:t>
            </a:r>
            <a:r>
              <a:rPr lang="ko-KR" altLang="en-US" sz="1600" spc="-50" dirty="0"/>
              <a:t>정도 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가스레인지의 연소열이 전부 물로 전달되지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냄비를 데우고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공기로도 열이 빠져 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효율을 대략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로 가정한 결과이다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44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4030707" y="4670326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4407571" y="5069349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855509" y="5085598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4179847" y="540614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4208425" y="4496001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833661" y="5233165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6533283" y="4585268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4253452" y="4823816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141" y="4293725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1"/>
          </p:cNvCxnSpPr>
          <p:nvPr/>
        </p:nvCxnSpPr>
        <p:spPr>
          <a:xfrm>
            <a:off x="4945589" y="4772438"/>
            <a:ext cx="1480552" cy="282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12458</TotalTime>
  <Words>5519</Words>
  <Application>Microsoft Office PowerPoint</Application>
  <PresentationFormat>와이드스크린</PresentationFormat>
  <Paragraphs>636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기후환경요금</vt:lpstr>
      <vt:lpstr>연료비조정요금</vt:lpstr>
      <vt:lpstr>전력기금 (전력산업기반 기금)</vt:lpstr>
      <vt:lpstr>우리집 전기요금</vt:lpstr>
      <vt:lpstr>주택용, 교육용</vt:lpstr>
      <vt:lpstr>계약전력</vt:lpstr>
      <vt:lpstr>계약전력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466</cp:revision>
  <dcterms:created xsi:type="dcterms:W3CDTF">2025-07-05T05:15:23Z</dcterms:created>
  <dcterms:modified xsi:type="dcterms:W3CDTF">2026-09-22T00:18:28Z</dcterms:modified>
</cp:coreProperties>
</file>